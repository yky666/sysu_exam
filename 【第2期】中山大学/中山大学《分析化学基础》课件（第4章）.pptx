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444" y="672198"/>
            <a:ext cx="4409211" cy="92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16813" y="1760956"/>
            <a:ext cx="3776472" cy="572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53" y="550456"/>
            <a:ext cx="4436592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4101" y="734756"/>
            <a:ext cx="2890520" cy="888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288868" y="3352425"/>
            <a:ext cx="708025" cy="10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16451" y="3353670"/>
            <a:ext cx="43942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cesgf@mail.sysu.edu.cn" TargetMode="External"/><Relationship Id="rId6" Type="http://schemas.openxmlformats.org/officeDocument/2006/relationships/hyperlink" Target="http://202.116.83.148/" TargetMode="External"/><Relationship Id="rId7" Type="http://schemas.openxmlformats.org/officeDocument/2006/relationships/slide" Target="slide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slide" Target="slide1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6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9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26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3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3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7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31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33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2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42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9.png"/><Relationship Id="rId5" Type="http://schemas.openxmlformats.org/officeDocument/2006/relationships/image" Target="../media/image44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43.png"/><Relationship Id="rId4" Type="http://schemas.openxmlformats.org/officeDocument/2006/relationships/image" Target="../media/image35.png"/><Relationship Id="rId5" Type="http://schemas.openxmlformats.org/officeDocument/2006/relationships/image" Target="../media/image52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4.png"/><Relationship Id="rId6" Type="http://schemas.openxmlformats.org/officeDocument/2006/relationships/slide" Target="slide1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81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Relationship Id="rId3" Type="http://schemas.openxmlformats.org/officeDocument/2006/relationships/image" Target="../media/image43.png"/><Relationship Id="rId4" Type="http://schemas.openxmlformats.org/officeDocument/2006/relationships/image" Target="../media/image16.png"/><Relationship Id="rId5" Type="http://schemas.openxmlformats.org/officeDocument/2006/relationships/image" Target="../media/image59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43.png"/><Relationship Id="rId4" Type="http://schemas.openxmlformats.org/officeDocument/2006/relationships/image" Target="../media/image9.png"/><Relationship Id="rId5" Type="http://schemas.openxmlformats.org/officeDocument/2006/relationships/image" Target="../media/image64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43.png"/><Relationship Id="rId4" Type="http://schemas.openxmlformats.org/officeDocument/2006/relationships/image" Target="../media/image9.png"/><Relationship Id="rId5" Type="http://schemas.openxmlformats.org/officeDocument/2006/relationships/image" Target="../media/image65.pn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66.pn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68.png"/><Relationship Id="rId4" Type="http://schemas.openxmlformats.org/officeDocument/2006/relationships/image" Target="../media/image62.png"/><Relationship Id="rId5" Type="http://schemas.openxmlformats.org/officeDocument/2006/relationships/image" Target="../media/image72.png"/><Relationship Id="rId6" Type="http://schemas.openxmlformats.org/officeDocument/2006/relationships/slide" Target="slide99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5.xml"/><Relationship Id="rId3" Type="http://schemas.openxmlformats.org/officeDocument/2006/relationships/slide" Target="slide99.xml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27.png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jpg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74.png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Relationship Id="rId3" Type="http://schemas.openxmlformats.org/officeDocument/2006/relationships/image" Target="../media/image55.png"/></Relationships>
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16.png"/><Relationship Id="rId4" Type="http://schemas.openxmlformats.org/officeDocument/2006/relationships/image" Target="../media/image77.png"/></Relationships>
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Relationship Id="rId3" Type="http://schemas.openxmlformats.org/officeDocument/2006/relationships/image" Target="../media/image55.png"/><Relationship Id="rId4" Type="http://schemas.openxmlformats.org/officeDocument/2006/relationships/image" Target="../media/image78.png"/></Relationships>
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80.png"/></Relationships>
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82.png"/></Relationships>
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Relationship Id="rId3" Type="http://schemas.openxmlformats.org/officeDocument/2006/relationships/image" Target="../media/image2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
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Relationship Id="rId3" Type="http://schemas.openxmlformats.org/officeDocument/2006/relationships/image" Target="../media/image23.png"/><Relationship Id="rId4" Type="http://schemas.openxmlformats.org/officeDocument/2006/relationships/image" Target="../media/image84.png"/><Relationship Id="rId5" Type="http://schemas.openxmlformats.org/officeDocument/2006/relationships/image" Target="../media/image86.png"/></Relationships>
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959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00651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99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46569"/>
            <a:ext cx="50749" cy="359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40428"/>
            <a:ext cx="4432935" cy="417195"/>
          </a:xfrm>
          <a:custGeom>
            <a:avLst/>
            <a:gdLst/>
            <a:ahLst/>
            <a:cxnLst/>
            <a:rect l="l" t="t" r="r" b="b"/>
            <a:pathLst>
              <a:path w="4432935" h="417194">
                <a:moveTo>
                  <a:pt x="4432566" y="0"/>
                </a:moveTo>
                <a:lnTo>
                  <a:pt x="0" y="0"/>
                </a:lnTo>
                <a:lnTo>
                  <a:pt x="0" y="366084"/>
                </a:lnTo>
                <a:lnTo>
                  <a:pt x="4008" y="385808"/>
                </a:lnTo>
                <a:lnTo>
                  <a:pt x="14922" y="401961"/>
                </a:lnTo>
                <a:lnTo>
                  <a:pt x="31075" y="412876"/>
                </a:lnTo>
                <a:lnTo>
                  <a:pt x="50800" y="416884"/>
                </a:lnTo>
                <a:lnTo>
                  <a:pt x="4381765" y="416884"/>
                </a:lnTo>
                <a:lnTo>
                  <a:pt x="4401490" y="412876"/>
                </a:lnTo>
                <a:lnTo>
                  <a:pt x="4417643" y="401961"/>
                </a:lnTo>
                <a:lnTo>
                  <a:pt x="4428558" y="385808"/>
                </a:lnTo>
                <a:lnTo>
                  <a:pt x="4432566" y="366084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84666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3408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719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592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465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58214" y="639940"/>
            <a:ext cx="2151380" cy="3448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solidFill>
                  <a:srgbClr val="FFFFFF"/>
                </a:solidFill>
              </a:rPr>
              <a:t>分</a:t>
            </a:r>
            <a:r>
              <a:rPr dirty="0" sz="2100" spc="-15">
                <a:solidFill>
                  <a:srgbClr val="FFFFFF"/>
                </a:solidFill>
              </a:rPr>
              <a:t>析</a:t>
            </a:r>
            <a:r>
              <a:rPr dirty="0" sz="2100" spc="-10">
                <a:solidFill>
                  <a:srgbClr val="FFFFFF"/>
                </a:solidFill>
              </a:rPr>
              <a:t>化学</a:t>
            </a:r>
            <a:r>
              <a:rPr dirty="0" sz="2100" spc="-15">
                <a:solidFill>
                  <a:srgbClr val="FFFFFF"/>
                </a:solidFill>
              </a:rPr>
              <a:t>基</a:t>
            </a:r>
            <a:r>
              <a:rPr dirty="0" sz="2100" spc="-10">
                <a:solidFill>
                  <a:srgbClr val="FFFFFF"/>
                </a:solidFill>
              </a:rPr>
              <a:t>础</a:t>
            </a:r>
            <a:r>
              <a:rPr dirty="0" sz="2100" spc="-15">
                <a:solidFill>
                  <a:srgbClr val="FFFFFF"/>
                </a:solidFill>
              </a:rPr>
              <a:t>教</a:t>
            </a:r>
            <a:r>
              <a:rPr dirty="0" sz="2100" spc="-10">
                <a:solidFill>
                  <a:srgbClr val="FFFFFF"/>
                </a:solidFill>
              </a:rPr>
              <a:t>程</a:t>
            </a:r>
            <a:endParaRPr sz="2100"/>
          </a:p>
        </p:txBody>
      </p:sp>
      <p:sp>
        <p:nvSpPr>
          <p:cNvPr id="12" name="object 12"/>
          <p:cNvSpPr txBox="1"/>
          <p:nvPr/>
        </p:nvSpPr>
        <p:spPr>
          <a:xfrm>
            <a:off x="1268730" y="1251432"/>
            <a:ext cx="2070735" cy="145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甘峰</a:t>
            </a:r>
            <a:r>
              <a:rPr dirty="0" sz="1600" spc="10">
                <a:latin typeface="Arial Unicode MS"/>
                <a:cs typeface="Arial Unicode MS"/>
              </a:rPr>
              <a:t> </a:t>
            </a:r>
            <a:r>
              <a:rPr dirty="0" sz="1600" spc="-10">
                <a:latin typeface="Arial Unicode MS"/>
                <a:cs typeface="Arial Unicode MS"/>
              </a:rPr>
              <a:t>教授</a:t>
            </a:r>
            <a:endParaRPr sz="16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000" spc="-20">
                <a:latin typeface="Georgia"/>
                <a:cs typeface="Georgia"/>
              </a:rPr>
              <a:t>Email: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5"/>
              </a:rPr>
              <a:t>cesgf@mail.sysu.edu.cn</a:t>
            </a:r>
            <a:endParaRPr sz="1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000" spc="-40">
                <a:latin typeface="Georgia"/>
                <a:cs typeface="Georgia"/>
              </a:rPr>
              <a:t>Homepage: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6"/>
              </a:rPr>
              <a:t>http://202.116.83.148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900" spc="-5">
                <a:latin typeface="Arial Unicode MS"/>
                <a:cs typeface="Arial Unicode MS"/>
              </a:rPr>
              <a:t>中山大</a:t>
            </a:r>
            <a:r>
              <a:rPr dirty="0" sz="900" spc="-60">
                <a:latin typeface="Arial Unicode MS"/>
                <a:cs typeface="Arial Unicode MS"/>
              </a:rPr>
              <a:t>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化学与化学工程学院</a:t>
            </a:r>
            <a:endParaRPr sz="9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65">
                <a:latin typeface="Georgia"/>
                <a:cs typeface="Georgia"/>
              </a:rPr>
              <a:t>2010 </a:t>
            </a:r>
            <a:r>
              <a:rPr dirty="0" sz="1200" spc="-5">
                <a:latin typeface="Arial Unicode MS"/>
                <a:cs typeface="Arial Unicode MS"/>
              </a:rPr>
              <a:t>年 </a:t>
            </a:r>
            <a:r>
              <a:rPr dirty="0" sz="1100" spc="-65">
                <a:latin typeface="Georgia"/>
                <a:cs typeface="Georgia"/>
              </a:rPr>
              <a:t>3 </a:t>
            </a:r>
            <a:r>
              <a:rPr dirty="0" sz="1200" spc="-5">
                <a:latin typeface="Arial Unicode MS"/>
                <a:cs typeface="Arial Unicode MS"/>
              </a:rPr>
              <a:t>月 </a:t>
            </a:r>
            <a:r>
              <a:rPr dirty="0" sz="1100" spc="5">
                <a:latin typeface="Georgia"/>
                <a:cs typeface="Georgia"/>
              </a:rPr>
              <a:t>31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7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7258" y="723625"/>
            <a:ext cx="1733550" cy="12807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650" spc="409">
                <a:latin typeface="Arial Unicode MS"/>
                <a:cs typeface="Arial Unicode MS"/>
              </a:rPr>
              <a:t>第</a:t>
            </a:r>
            <a:r>
              <a:rPr dirty="0" sz="5100" spc="395">
                <a:latin typeface="Perpetua"/>
                <a:cs typeface="Perpetua"/>
              </a:rPr>
              <a:t>4</a:t>
            </a:r>
            <a:r>
              <a:rPr dirty="0" sz="2650" spc="35">
                <a:latin typeface="Arial Unicode MS"/>
                <a:cs typeface="Arial Unicode MS"/>
              </a:rPr>
              <a:t>章</a:t>
            </a:r>
            <a:endParaRPr sz="26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650" spc="35">
                <a:latin typeface="Arial Unicode MS"/>
                <a:cs typeface="Arial Unicode MS"/>
              </a:rPr>
              <a:t>酸碱滴定法</a:t>
            </a:r>
            <a:endParaRPr sz="26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5692" y="1019555"/>
            <a:ext cx="2566670" cy="708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学而不思则</a:t>
            </a:r>
            <a:r>
              <a:rPr dirty="0" sz="1200" spc="-80">
                <a:latin typeface="Arial Unicode MS"/>
                <a:cs typeface="Arial Unicode MS"/>
              </a:rPr>
              <a:t>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思而不学则</a:t>
            </a:r>
            <a:r>
              <a:rPr dirty="0" sz="1200" spc="-20">
                <a:latin typeface="Arial Unicode MS"/>
                <a:cs typeface="Arial Unicode MS"/>
              </a:rPr>
              <a:t>殆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Arial Unicode MS"/>
              <a:cs typeface="Arial Unicode MS"/>
            </a:endParaRPr>
          </a:p>
          <a:p>
            <a:pPr algn="r" marR="5080">
              <a:lnSpc>
                <a:spcPct val="100000"/>
              </a:lnSpc>
            </a:pP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孔子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19456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4.1</a:t>
            </a:r>
            <a:r>
              <a:rPr dirty="0" sz="1400" spc="13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常见的酸碱反应类型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749706"/>
            <a:ext cx="4319905" cy="22034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强酸与强碱的反应是酸碱反应最常见的一个例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其反应式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87630">
              <a:lnSpc>
                <a:spcPct val="100000"/>
              </a:lnSpc>
              <a:spcBef>
                <a:spcPts val="425"/>
              </a:spcBef>
              <a:tabLst>
                <a:tab pos="1014730" algn="l"/>
                <a:tab pos="1283970" algn="l"/>
              </a:tabLst>
            </a:pPr>
            <a:r>
              <a:rPr dirty="0" sz="1100" spc="-25">
                <a:latin typeface="Georgia"/>
                <a:cs typeface="Georgia"/>
              </a:rPr>
              <a:t>NaOH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HCl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5">
                <a:latin typeface="Georgia"/>
                <a:cs typeface="Georgia"/>
              </a:rPr>
              <a:t>NaCl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just" marL="38100" marR="30480" indent="303530">
              <a:lnSpc>
                <a:spcPct val="122300"/>
              </a:lnSpc>
              <a:spcBef>
                <a:spcPts val="665"/>
              </a:spcBef>
            </a:pPr>
            <a:r>
              <a:rPr dirty="0" sz="1200" spc="-5">
                <a:latin typeface="Arial Unicode MS"/>
                <a:cs typeface="Arial Unicode MS"/>
              </a:rPr>
              <a:t>这个反应的最终产物是中性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5">
                <a:latin typeface="Georgia"/>
                <a:cs typeface="Georgia"/>
              </a:rPr>
              <a:t>NaCl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50">
                <a:latin typeface="Georgia"/>
                <a:cs typeface="Georgia"/>
              </a:rPr>
              <a:t>H</a:t>
            </a:r>
            <a:r>
              <a:rPr dirty="0" baseline="-13888" sz="900" spc="-75">
                <a:latin typeface="Times New Roman"/>
                <a:cs typeface="Times New Roman"/>
              </a:rPr>
              <a:t>2</a:t>
            </a:r>
            <a:r>
              <a:rPr dirty="0" sz="1100" spc="-50">
                <a:latin typeface="Georgia"/>
                <a:cs typeface="Georgia"/>
              </a:rPr>
              <a:t>O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这个反应 也称为中和反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上式中起关键作用的</a:t>
            </a:r>
            <a:r>
              <a:rPr dirty="0" sz="1200" spc="175">
                <a:latin typeface="Arial Unicode MS"/>
                <a:cs typeface="Arial Unicode MS"/>
              </a:rPr>
              <a:t>是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</a:t>
            </a:r>
            <a:r>
              <a:rPr dirty="0" baseline="37037" sz="900" spc="30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45">
                <a:latin typeface="Georgia"/>
                <a:cs typeface="Georgia"/>
              </a:rPr>
              <a:t>OH</a:t>
            </a:r>
            <a:r>
              <a:rPr dirty="0" baseline="37037" sz="900" spc="-67">
                <a:latin typeface="Lucida Sans Unicode"/>
                <a:cs typeface="Lucida Sans Unicode"/>
              </a:rPr>
              <a:t>−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这个 反应有时也写</a:t>
            </a:r>
            <a:r>
              <a:rPr dirty="0" sz="1200" spc="-90">
                <a:latin typeface="Arial Unicode MS"/>
                <a:cs typeface="Arial Unicode MS"/>
              </a:rPr>
              <a:t>作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87630">
              <a:lnSpc>
                <a:spcPts val="990"/>
              </a:lnSpc>
              <a:spcBef>
                <a:spcPts val="425"/>
              </a:spcBef>
              <a:tabLst>
                <a:tab pos="859790" algn="l"/>
                <a:tab pos="1129030" algn="l"/>
              </a:tabLst>
            </a:pPr>
            <a:r>
              <a:rPr dirty="0" sz="1100" spc="15">
                <a:latin typeface="Georgia"/>
                <a:cs typeface="Georgia"/>
              </a:rPr>
              <a:t>OH</a:t>
            </a:r>
            <a:r>
              <a:rPr dirty="0" baseline="41666" sz="900" spc="22">
                <a:latin typeface="Lucida Sans Unicode"/>
                <a:cs typeface="Lucida Sans Unicode"/>
              </a:rPr>
              <a:t>−</a:t>
            </a:r>
            <a:r>
              <a:rPr dirty="0" baseline="41666" sz="900" spc="15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41666" sz="900" spc="104">
                <a:latin typeface="Times New Roman"/>
                <a:cs typeface="Times New Roman"/>
              </a:rPr>
              <a:t>+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ctr" marL="1118870">
              <a:lnSpc>
                <a:spcPts val="39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Unicode MS"/>
                <a:cs typeface="Arial Unicode MS"/>
              </a:rPr>
              <a:t>上式表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当等量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15">
                <a:latin typeface="Georgia"/>
                <a:cs typeface="Georgia"/>
              </a:rPr>
              <a:t>OH</a:t>
            </a:r>
            <a:r>
              <a:rPr dirty="0" baseline="37037" sz="900" spc="22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反应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最终生成了中性的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水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强酸与强碱反应的这个特</a:t>
            </a:r>
            <a:r>
              <a:rPr dirty="0" sz="1200" spc="-80">
                <a:latin typeface="Arial Unicode MS"/>
                <a:cs typeface="Arial Unicode MS"/>
              </a:rPr>
              <a:t>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使得其定量分析相对简</a:t>
            </a:r>
            <a:r>
              <a:rPr dirty="0" sz="1200" spc="-20">
                <a:latin typeface="Arial Unicode MS"/>
                <a:cs typeface="Arial Unicode MS"/>
              </a:rPr>
              <a:t>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719315"/>
            <a:ext cx="21405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强碱与弱酸反应的一个例子</a:t>
            </a:r>
            <a:r>
              <a:rPr dirty="0" spc="-90"/>
              <a:t>是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4969" y="1193559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Arial Unicode MS"/>
                <a:cs typeface="Arial Unicode MS"/>
              </a:rPr>
              <a:t>、</a:t>
            </a:r>
            <a:r>
              <a:rPr dirty="0" baseline="24691" sz="675" spc="142">
                <a:latin typeface="Arial Unicode MS"/>
                <a:cs typeface="Arial Unicode MS"/>
              </a:rPr>
              <a:t> </a:t>
            </a:r>
            <a:r>
              <a:rPr dirty="0" baseline="24691" sz="675" spc="345">
                <a:latin typeface="Arial Unicode MS"/>
                <a:cs typeface="Arial Unicode MS"/>
              </a:rPr>
              <a:t> </a:t>
            </a:r>
            <a:r>
              <a:rPr dirty="0" sz="450" spc="155">
                <a:latin typeface="Arial Unicode MS"/>
                <a:cs typeface="Arial Unicode MS"/>
              </a:rPr>
              <a:t> </a:t>
            </a:r>
            <a:r>
              <a:rPr dirty="0" baseline="24691" sz="675" spc="-472">
                <a:latin typeface="Arial Unicode MS"/>
                <a:cs typeface="Arial Unicode MS"/>
              </a:rPr>
              <a:t> </a:t>
            </a: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5943" y="1095476"/>
            <a:ext cx="2169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345565" algn="l"/>
              </a:tabLst>
            </a:pPr>
            <a:r>
              <a:rPr dirty="0" sz="1100" spc="-25">
                <a:latin typeface="Georgia"/>
                <a:cs typeface="Georgia"/>
              </a:rPr>
              <a:t>NaOH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HAc	</a:t>
            </a:r>
            <a:r>
              <a:rPr dirty="0" sz="1100" spc="5">
                <a:latin typeface="Georgia"/>
                <a:cs typeface="Georgia"/>
              </a:rPr>
              <a:t>NaAc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44" y="1403565"/>
            <a:ext cx="4446270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从形式上</a:t>
            </a:r>
            <a:r>
              <a:rPr dirty="0" sz="1200" spc="-80">
                <a:latin typeface="Arial Unicode MS"/>
                <a:cs typeface="Arial Unicode MS"/>
              </a:rPr>
              <a:t>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这个反应与前述的反应在形式上是非常相似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-10">
                <a:latin typeface="Arial Unicode MS"/>
                <a:cs typeface="Arial Unicode MS"/>
              </a:rPr>
              <a:t>但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正如在反应式中使用了可逆反应的符</a:t>
            </a:r>
            <a:r>
              <a:rPr dirty="0" sz="1200" spc="-325">
                <a:latin typeface="Arial Unicode MS"/>
                <a:cs typeface="Arial Unicode MS"/>
              </a:rPr>
              <a:t>号</a:t>
            </a: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482">
                <a:latin typeface="Arial Unicode MS"/>
                <a:cs typeface="Arial Unicode MS"/>
              </a:rPr>
              <a:t> </a:t>
            </a:r>
            <a:r>
              <a:rPr dirty="0" sz="1200" spc="-30">
                <a:latin typeface="Arial Unicode MS"/>
                <a:cs typeface="Arial Unicode MS"/>
              </a:rPr>
              <a:t>”，</a:t>
            </a:r>
            <a:r>
              <a:rPr dirty="0" sz="1200" spc="-10">
                <a:latin typeface="Arial Unicode MS"/>
                <a:cs typeface="Arial Unicode MS"/>
              </a:rPr>
              <a:t>这表明这</a:t>
            </a:r>
            <a:r>
              <a:rPr dirty="0" sz="1200" spc="-5">
                <a:latin typeface="Arial Unicode MS"/>
                <a:cs typeface="Arial Unicode MS"/>
              </a:rPr>
              <a:t>个 反应有其特殊之</a:t>
            </a:r>
            <a:r>
              <a:rPr dirty="0" sz="1200" spc="-20">
                <a:latin typeface="Arial Unicode MS"/>
                <a:cs typeface="Arial Unicode MS"/>
              </a:rPr>
              <a:t>处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弱酸体系中可逆反应的存在增加了反应的复 杂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也使得弱酸的定量分析相对较复</a:t>
            </a:r>
            <a:r>
              <a:rPr dirty="0" sz="1200" spc="-20">
                <a:latin typeface="Arial Unicode MS"/>
                <a:cs typeface="Arial Unicode MS"/>
              </a:rPr>
              <a:t>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898283"/>
            <a:ext cx="21405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强酸与弱碱反应的一个例子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274432"/>
            <a:ext cx="4407535" cy="7810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79500">
              <a:lnSpc>
                <a:spcPct val="100000"/>
              </a:lnSpc>
              <a:spcBef>
                <a:spcPts val="90"/>
              </a:spcBef>
              <a:tabLst>
                <a:tab pos="2159635" algn="l"/>
                <a:tab pos="2428875" algn="l"/>
              </a:tabLst>
            </a:pP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NaHCO</a:t>
            </a:r>
            <a:r>
              <a:rPr dirty="0" baseline="-13888" sz="900" spc="15">
                <a:latin typeface="Times New Roman"/>
                <a:cs typeface="Times New Roman"/>
              </a:rPr>
              <a:t>3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5">
                <a:latin typeface="Georgia"/>
                <a:cs typeface="Georgia"/>
              </a:rPr>
              <a:t>NaCl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endParaRPr baseline="-13888" sz="9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  <a:spcBef>
                <a:spcPts val="1435"/>
              </a:spcBef>
            </a:pPr>
            <a:r>
              <a:rPr dirty="0" sz="1200" spc="-10">
                <a:latin typeface="Arial Unicode MS"/>
                <a:cs typeface="Arial Unicode MS"/>
              </a:rPr>
              <a:t>在加热的情况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这个反应是可以进行完全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因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遇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热会分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从而促使反应向右边移</a:t>
            </a:r>
            <a:r>
              <a:rPr dirty="0" sz="1200" spc="-20">
                <a:latin typeface="Arial Unicode MS"/>
                <a:cs typeface="Arial Unicode MS"/>
              </a:rPr>
              <a:t>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44" y="898575"/>
            <a:ext cx="4410710" cy="1157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弱酸与弱碱反应的一个例子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064895">
              <a:lnSpc>
                <a:spcPct val="100000"/>
              </a:lnSpc>
              <a:tabLst>
                <a:tab pos="2172335" algn="l"/>
                <a:tab pos="2441575" algn="l"/>
              </a:tabLst>
            </a:pP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NaHCO</a:t>
            </a:r>
            <a:r>
              <a:rPr dirty="0" baseline="-13888" sz="900" spc="7">
                <a:latin typeface="Times New Roman"/>
                <a:cs typeface="Times New Roman"/>
              </a:rPr>
              <a:t>3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5">
                <a:latin typeface="Georgia"/>
                <a:cs typeface="Georgia"/>
              </a:rPr>
              <a:t>NaAc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endParaRPr baseline="-13888" sz="900">
              <a:latin typeface="Times New Roman"/>
              <a:cs typeface="Times New Roman"/>
            </a:endParaRPr>
          </a:p>
          <a:p>
            <a:pPr marL="354330">
              <a:lnSpc>
                <a:spcPct val="100000"/>
              </a:lnSpc>
              <a:spcBef>
                <a:spcPts val="1440"/>
              </a:spcBef>
            </a:pPr>
            <a:r>
              <a:rPr dirty="0" sz="1200" spc="-5">
                <a:latin typeface="Arial Unicode MS"/>
                <a:cs typeface="Arial Unicode MS"/>
              </a:rPr>
              <a:t>在加热的情况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这个反应是可以进行完全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但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这个时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候溶液却是偏碱性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58750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4.2</a:t>
            </a:r>
            <a:r>
              <a:rPr dirty="0" sz="1400" spc="12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酸碱质子理论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94270"/>
            <a:ext cx="4356735" cy="1591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酸和碱的概念最早是由阿累尼乌</a:t>
            </a:r>
            <a:r>
              <a:rPr dirty="0" sz="1200" spc="-260">
                <a:latin typeface="Arial Unicode MS"/>
                <a:cs typeface="Arial Unicode MS"/>
              </a:rPr>
              <a:t>斯</a:t>
            </a:r>
            <a:r>
              <a:rPr dirty="0" sz="1200" spc="-45">
                <a:latin typeface="Arial Unicode MS"/>
                <a:cs typeface="Arial Unicode MS"/>
              </a:rPr>
              <a:t>（</a:t>
            </a:r>
            <a:r>
              <a:rPr dirty="0" sz="1100" spc="-45">
                <a:latin typeface="Georgia"/>
                <a:cs typeface="Georgia"/>
              </a:rPr>
              <a:t>Arrhenius</a:t>
            </a:r>
            <a:r>
              <a:rPr dirty="0" sz="1200" spc="-45">
                <a:latin typeface="Arial Unicode MS"/>
                <a:cs typeface="Arial Unicode MS"/>
              </a:rPr>
              <a:t>）</a:t>
            </a:r>
            <a:r>
              <a:rPr dirty="0" sz="1200" spc="-10">
                <a:latin typeface="Arial Unicode MS"/>
                <a:cs typeface="Arial Unicode MS"/>
              </a:rPr>
              <a:t>基于他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-10">
                <a:latin typeface="Arial Unicode MS"/>
                <a:cs typeface="Arial Unicode MS"/>
              </a:rPr>
              <a:t>电</a:t>
            </a:r>
            <a:r>
              <a:rPr dirty="0" sz="1200" spc="-5">
                <a:latin typeface="Arial Unicode MS"/>
                <a:cs typeface="Arial Unicode MS"/>
              </a:rPr>
              <a:t>离 </a:t>
            </a:r>
            <a:r>
              <a:rPr dirty="0" sz="1200" spc="-10">
                <a:latin typeface="Arial Unicode MS"/>
                <a:cs typeface="Arial Unicode MS"/>
              </a:rPr>
              <a:t>理论提出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按照阿累尼乌斯的酸碱理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酸离解成某种氢离子</a:t>
            </a:r>
            <a:r>
              <a:rPr dirty="0" sz="1200" spc="-5">
                <a:latin typeface="Arial Unicode MS"/>
                <a:cs typeface="Arial Unicode MS"/>
              </a:rPr>
              <a:t>和 </a:t>
            </a:r>
            <a:r>
              <a:rPr dirty="0" sz="1200" spc="-10">
                <a:latin typeface="Arial Unicode MS"/>
                <a:cs typeface="Arial Unicode MS"/>
              </a:rPr>
              <a:t>某种阴离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而碱离解成氢氧根离子和相应的阳离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阿累尼乌</a:t>
            </a:r>
            <a:r>
              <a:rPr dirty="0" sz="1200" spc="-5">
                <a:latin typeface="Arial Unicode MS"/>
                <a:cs typeface="Arial Unicode MS"/>
              </a:rPr>
              <a:t>斯 </a:t>
            </a:r>
            <a:r>
              <a:rPr dirty="0" sz="1200" spc="-5">
                <a:latin typeface="Arial Unicode MS"/>
                <a:cs typeface="Arial Unicode MS"/>
              </a:rPr>
              <a:t>用酸的电离度的大小来解释酸的强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2667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阿累尼乌斯的酸碱理论在解释有机物酸碱性时遇到了 </a:t>
            </a:r>
            <a:r>
              <a:rPr dirty="0" sz="1200" spc="-5">
                <a:latin typeface="Arial Unicode MS"/>
                <a:cs typeface="Arial Unicode MS"/>
              </a:rPr>
              <a:t>困</a:t>
            </a:r>
            <a:r>
              <a:rPr dirty="0" sz="1200" spc="-20">
                <a:latin typeface="Arial Unicode MS"/>
                <a:cs typeface="Arial Unicode MS"/>
              </a:rPr>
              <a:t>难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乙醚中的氨溶液显碱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但这样的溶液中并不存在氢 </a:t>
            </a:r>
            <a:r>
              <a:rPr dirty="0" sz="1200" spc="-5">
                <a:latin typeface="Arial Unicode MS"/>
                <a:cs typeface="Arial Unicode MS"/>
              </a:rPr>
              <a:t>氧根离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布朗斯特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酸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碱质子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理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论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774750"/>
            <a:ext cx="435673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-35">
                <a:latin typeface="Georgia"/>
                <a:cs typeface="Georgia"/>
              </a:rPr>
              <a:t>1923</a:t>
            </a:r>
            <a:r>
              <a:rPr dirty="0" spc="-80"/>
              <a:t>年</a:t>
            </a:r>
            <a:r>
              <a:rPr dirty="0" spc="-185"/>
              <a:t>，</a:t>
            </a:r>
            <a:r>
              <a:rPr dirty="0" spc="-5"/>
              <a:t>布朗斯</a:t>
            </a:r>
            <a:r>
              <a:rPr dirty="0" spc="-260"/>
              <a:t>特</a:t>
            </a:r>
            <a:r>
              <a:rPr dirty="0" spc="-10"/>
              <a:t>（</a:t>
            </a:r>
            <a:r>
              <a:rPr dirty="0" sz="1100" spc="-10">
                <a:latin typeface="Georgia"/>
                <a:cs typeface="Georgia"/>
              </a:rPr>
              <a:t>N.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Br¨onsted</a:t>
            </a:r>
            <a:r>
              <a:rPr dirty="0" spc="-95"/>
              <a:t>）</a:t>
            </a:r>
            <a:r>
              <a:rPr dirty="0" spc="-5"/>
              <a:t>提出了酸碱的质子理</a:t>
            </a:r>
            <a:r>
              <a:rPr dirty="0" spc="-80"/>
              <a:t>论</a:t>
            </a:r>
            <a:r>
              <a:rPr dirty="0" spc="-185"/>
              <a:t>，</a:t>
            </a:r>
            <a:r>
              <a:rPr dirty="0" spc="-5"/>
              <a:t>定 </a:t>
            </a:r>
            <a:r>
              <a:rPr dirty="0" spc="-10"/>
              <a:t>义酸是质子的给予</a:t>
            </a:r>
            <a:r>
              <a:rPr dirty="0" spc="-80"/>
              <a:t>体</a:t>
            </a:r>
            <a:r>
              <a:rPr dirty="0" spc="-204"/>
              <a:t>，</a:t>
            </a:r>
            <a:r>
              <a:rPr dirty="0" spc="-10"/>
              <a:t>碱是质子的接受</a:t>
            </a:r>
            <a:r>
              <a:rPr dirty="0" spc="-20"/>
              <a:t>体</a:t>
            </a:r>
            <a:r>
              <a:rPr dirty="0" spc="-254"/>
              <a:t>。</a:t>
            </a:r>
            <a:r>
              <a:rPr dirty="0" spc="-10"/>
              <a:t>酸给出质子后变成了</a:t>
            </a:r>
            <a:r>
              <a:rPr dirty="0" spc="-5"/>
              <a:t>它 </a:t>
            </a:r>
            <a:r>
              <a:rPr dirty="0" spc="-10"/>
              <a:t>的共轭</a:t>
            </a:r>
            <a:r>
              <a:rPr dirty="0" spc="-70"/>
              <a:t>碱</a:t>
            </a:r>
            <a:r>
              <a:rPr dirty="0" spc="-215"/>
              <a:t>；</a:t>
            </a:r>
            <a:r>
              <a:rPr dirty="0" spc="-10"/>
              <a:t>碱接受质子后变成了它的共轭</a:t>
            </a:r>
            <a:r>
              <a:rPr dirty="0" spc="-20"/>
              <a:t>酸</a:t>
            </a:r>
            <a:r>
              <a:rPr dirty="0" spc="-254"/>
              <a:t>。</a:t>
            </a:r>
            <a:r>
              <a:rPr dirty="0" spc="-10"/>
              <a:t>酸与其共轭碱之间</a:t>
            </a:r>
            <a:r>
              <a:rPr dirty="0" spc="-5"/>
              <a:t>构 </a:t>
            </a:r>
            <a:r>
              <a:rPr dirty="0" spc="-5"/>
              <a:t>成了一个共轭酸碱</a:t>
            </a:r>
            <a:r>
              <a:rPr dirty="0" spc="-80"/>
              <a:t>对</a:t>
            </a:r>
            <a:r>
              <a:rPr dirty="0" spc="-185"/>
              <a:t>，</a:t>
            </a:r>
            <a:r>
              <a:rPr dirty="0" spc="-5"/>
              <a:t>存在如下的关</a:t>
            </a:r>
            <a:r>
              <a:rPr dirty="0" spc="-90"/>
              <a:t>系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701" y="1850225"/>
            <a:ext cx="3393440" cy="930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8684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酸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752">
                <a:latin typeface="Arial Unicode MS"/>
                <a:cs typeface="Arial Unicode MS"/>
              </a:rPr>
              <a:t> </a:t>
            </a:r>
            <a:r>
              <a:rPr dirty="0" sz="1200" spc="235">
                <a:latin typeface="Arial Unicode MS"/>
                <a:cs typeface="Arial Unicode MS"/>
              </a:rPr>
              <a:t>碱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质子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弱酸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与其共轭碱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85">
                <a:latin typeface="Georgia"/>
                <a:cs typeface="Georgia"/>
              </a:rPr>
              <a:t>A</a:t>
            </a:r>
            <a:r>
              <a:rPr dirty="0" baseline="37037" sz="900" spc="127">
                <a:latin typeface="Lucida Sans Unicode"/>
                <a:cs typeface="Lucida Sans Unicode"/>
              </a:rPr>
              <a:t>−</a:t>
            </a:r>
            <a:r>
              <a:rPr dirty="0" baseline="37037" sz="900" spc="307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存在如下的平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107440">
              <a:lnSpc>
                <a:spcPts val="635"/>
              </a:lnSpc>
            </a:pPr>
            <a:r>
              <a:rPr dirty="0" sz="1100">
                <a:latin typeface="Georgia"/>
                <a:cs typeface="Georgia"/>
              </a:rPr>
              <a:t>HA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752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sz="1100" spc="11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80">
                <a:latin typeface="Georgia"/>
                <a:cs typeface="Georgia"/>
              </a:rPr>
              <a:t>A</a:t>
            </a:r>
            <a:endParaRPr sz="1100">
              <a:latin typeface="Georgia"/>
              <a:cs typeface="Georgia"/>
            </a:endParaRPr>
          </a:p>
          <a:p>
            <a:pPr algn="r" marR="648970">
              <a:lnSpc>
                <a:spcPts val="135"/>
              </a:lnSpc>
              <a:tabLst>
                <a:tab pos="349885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2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水合氢离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子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结构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2106" y="681672"/>
            <a:ext cx="2501677" cy="20134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14386" y="2865920"/>
            <a:ext cx="1579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8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65">
                <a:latin typeface="Georgia"/>
                <a:cs typeface="Georgia"/>
              </a:rPr>
              <a:t>H</a:t>
            </a:r>
            <a:r>
              <a:rPr dirty="0" baseline="-11904" sz="1050" spc="97">
                <a:latin typeface="Times New Roman"/>
                <a:cs typeface="Times New Roman"/>
              </a:rPr>
              <a:t>3</a:t>
            </a:r>
            <a:r>
              <a:rPr dirty="0" sz="1000" spc="65">
                <a:latin typeface="Georgia"/>
                <a:cs typeface="Georgia"/>
              </a:rPr>
              <a:t>O</a:t>
            </a:r>
            <a:r>
              <a:rPr dirty="0" baseline="27777" sz="1050" spc="97">
                <a:latin typeface="Times New Roman"/>
                <a:cs typeface="Times New Roman"/>
              </a:rPr>
              <a:t>+</a:t>
            </a:r>
            <a:r>
              <a:rPr dirty="0" baseline="27777" sz="1050" spc="277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-10">
                <a:latin typeface="Arial Unicode MS"/>
                <a:cs typeface="Arial Unicode MS"/>
              </a:rPr>
              <a:t>结</a:t>
            </a:r>
            <a:r>
              <a:rPr dirty="0" sz="1050" spc="-5">
                <a:latin typeface="Arial Unicode MS"/>
                <a:cs typeface="Arial Unicode MS"/>
              </a:rPr>
              <a:t>构形态图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  <a:hlinkClick r:id="rId3" action="ppaction://hlinksldjump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共轭酸碱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对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举例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6045" y="1046404"/>
            <a:ext cx="259079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15">
                <a:latin typeface="Arial Unicode MS"/>
                <a:cs typeface="Arial Unicode MS"/>
              </a:rPr>
              <a:t> </a:t>
            </a:r>
            <a:r>
              <a:rPr dirty="0" sz="450" spc="-31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9587" y="1055598"/>
            <a:ext cx="7810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8455" algn="l"/>
                <a:tab pos="521970" algn="l"/>
              </a:tabLst>
            </a:pPr>
            <a:r>
              <a:rPr dirty="0" sz="600" spc="65">
                <a:latin typeface="Times New Roman"/>
                <a:cs typeface="Times New Roman"/>
              </a:rPr>
              <a:t>3	2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6931" y="977607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1777" y="972185"/>
            <a:ext cx="16871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05840" algn="l"/>
              </a:tabLst>
            </a:pPr>
            <a:r>
              <a:rPr dirty="0" sz="1100" spc="-55">
                <a:latin typeface="Georgia"/>
                <a:cs typeface="Georgia"/>
              </a:rPr>
              <a:t>NH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-25">
                <a:latin typeface="Georgia"/>
                <a:cs typeface="Georgia"/>
              </a:rPr>
              <a:t>OH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3509" y="977607"/>
            <a:ext cx="9652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600" spc="135">
                <a:latin typeface="Times New Roman"/>
                <a:cs typeface="Times New Roman"/>
              </a:rPr>
              <a:t>+ 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6751" y="1278128"/>
            <a:ext cx="1828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35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HAc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5">
                <a:latin typeface="Georgia"/>
                <a:cs typeface="Georgia"/>
              </a:rPr>
              <a:t>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729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sz="1100" spc="11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0">
                <a:latin typeface="Georgia"/>
                <a:cs typeface="Georgia"/>
              </a:rPr>
              <a:t>Ac</a:t>
            </a:r>
            <a:endParaRPr sz="1100">
              <a:latin typeface="Georgia"/>
              <a:cs typeface="Georgia"/>
            </a:endParaRPr>
          </a:p>
          <a:p>
            <a:pPr algn="r" marR="30480">
              <a:lnSpc>
                <a:spcPts val="135"/>
              </a:lnSpc>
              <a:tabLst>
                <a:tab pos="41148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6045" y="1658290"/>
            <a:ext cx="259079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15">
                <a:latin typeface="Arial Unicode MS"/>
                <a:cs typeface="Arial Unicode MS"/>
              </a:rPr>
              <a:t> </a:t>
            </a:r>
            <a:r>
              <a:rPr dirty="0" sz="450" spc="-31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2430" y="1667472"/>
            <a:ext cx="11042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9259" algn="l"/>
                <a:tab pos="755650" algn="l"/>
                <a:tab pos="939165" algn="l"/>
              </a:tabLst>
            </a:pPr>
            <a:r>
              <a:rPr dirty="0" sz="600" spc="65">
                <a:latin typeface="Times New Roman"/>
                <a:cs typeface="Times New Roman"/>
              </a:rPr>
              <a:t>2   </a:t>
            </a:r>
            <a:r>
              <a:rPr dirty="0" sz="600" spc="7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5	2	2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23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72933" y="1682141"/>
            <a:ext cx="1377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6931" y="158948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75749" y="1667472"/>
            <a:ext cx="2286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2367" y="1584071"/>
            <a:ext cx="2306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15085" algn="l"/>
              </a:tabLst>
            </a:pP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NH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1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-25">
                <a:latin typeface="Georgia"/>
                <a:cs typeface="Georgia"/>
              </a:rPr>
              <a:t>OH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2919" y="1589481"/>
            <a:ext cx="96520" cy="208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600" spc="135">
                <a:latin typeface="Times New Roman"/>
                <a:cs typeface="Times New Roman"/>
              </a:rPr>
              <a:t>+  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4113" y="2015274"/>
            <a:ext cx="37318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多元酸在水溶液中存在分步解离的情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337">
                <a:latin typeface="Times New Roman"/>
                <a:cs typeface="Times New Roman"/>
              </a:rPr>
              <a:t> 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46045" y="2465642"/>
            <a:ext cx="259079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15">
                <a:latin typeface="Arial Unicode MS"/>
                <a:cs typeface="Arial Unicode MS"/>
              </a:rPr>
              <a:t> </a:t>
            </a:r>
            <a:r>
              <a:rPr dirty="0" sz="450" spc="-31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9060" y="2474836"/>
            <a:ext cx="12223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  <a:tab pos="598805" algn="l"/>
                <a:tab pos="782320" algn="l"/>
                <a:tab pos="116268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r>
              <a:rPr dirty="0" baseline="6172" sz="675">
                <a:latin typeface="Arial Unicode MS"/>
                <a:cs typeface="Arial Unicode MS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79649" y="239684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5148" y="2391422"/>
            <a:ext cx="19983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62685" algn="l"/>
              </a:tabLst>
            </a:pPr>
            <a:r>
              <a:rPr dirty="0" sz="1100" spc="-80">
                <a:latin typeface="Georgia"/>
                <a:cs typeface="Georgia"/>
              </a:rPr>
              <a:t>H  </a:t>
            </a:r>
            <a:r>
              <a:rPr dirty="0" sz="1100" spc="55">
                <a:latin typeface="Georgia"/>
                <a:cs typeface="Georgia"/>
              </a:rPr>
              <a:t>CO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30">
                <a:latin typeface="Georgia"/>
                <a:cs typeface="Georgia"/>
              </a:rPr>
              <a:t>O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HCO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8030" y="2396845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8030" y="248829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18640" y="2759722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18640" y="285117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6906" y="2754299"/>
            <a:ext cx="850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HCO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71306" y="2837713"/>
            <a:ext cx="6356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580" algn="l"/>
                <a:tab pos="57594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r>
              <a:rPr dirty="0" baseline="6172" sz="675">
                <a:latin typeface="Arial Unicode MS"/>
                <a:cs typeface="Arial Unicode MS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95397" y="275972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36406" y="2754299"/>
            <a:ext cx="1064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772">
                <a:latin typeface="Arial Unicode MS"/>
                <a:cs typeface="Arial Unicode MS"/>
              </a:rPr>
              <a:t> </a:t>
            </a:r>
            <a:r>
              <a:rPr dirty="0" baseline="6172" sz="675" spc="937">
                <a:latin typeface="Arial Unicode MS"/>
                <a:cs typeface="Arial Unicode MS"/>
              </a:rPr>
              <a:t> </a:t>
            </a:r>
            <a:r>
              <a:rPr dirty="0" baseline="6172" sz="675" spc="82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49879" y="275972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49879" y="285117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两性物质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887260"/>
            <a:ext cx="431482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在溶液中既可以给出质子又可以接受质子的物质称为两性物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sz="1100" spc="-15">
                <a:latin typeface="Georgia"/>
                <a:cs typeface="Georgia"/>
              </a:rPr>
              <a:t>Ac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sz="1100" spc="-15">
                <a:latin typeface="Georgia"/>
                <a:cs typeface="Georgia"/>
              </a:rPr>
              <a:t>F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7324" y="16113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0353" y="154033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0353" y="16248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513" y="1514703"/>
            <a:ext cx="24536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Ac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在水溶液中解离为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Ac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1960" y="1464424"/>
            <a:ext cx="3536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160">
                <a:latin typeface="Lucida Sans Unicode"/>
                <a:cs typeface="Lucida Sans Unicode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后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2566" y="154033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2566" y="16248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5685" y="1514703"/>
            <a:ext cx="12452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0">
                <a:latin typeface="Arial Unicode MS"/>
                <a:cs typeface="Arial Unicode MS"/>
              </a:rPr>
              <a:t>，</a:t>
            </a:r>
            <a:r>
              <a:rPr dirty="0" sz="1100" spc="-100">
                <a:latin typeface="Georgia"/>
                <a:cs typeface="Georgia"/>
              </a:rPr>
              <a:t>NH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能够给出质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444" y="1738401"/>
            <a:ext cx="17697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子而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Ac</a:t>
            </a:r>
            <a:r>
              <a:rPr dirty="0" baseline="37037" sz="900" spc="75">
                <a:latin typeface="Lucida Sans Unicode"/>
                <a:cs typeface="Lucida Sans Unicode"/>
              </a:rPr>
              <a:t>−</a:t>
            </a:r>
            <a:r>
              <a:rPr dirty="0" baseline="37037" sz="900" spc="284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能够接受质</a:t>
            </a:r>
            <a:r>
              <a:rPr dirty="0" sz="1200" spc="-9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4289" y="221143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45347" y="2188782"/>
            <a:ext cx="259079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15">
                <a:latin typeface="Arial Unicode MS"/>
                <a:cs typeface="Arial Unicode MS"/>
              </a:rPr>
              <a:t> </a:t>
            </a:r>
            <a:r>
              <a:rPr dirty="0" sz="450" spc="-31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54847" y="2197963"/>
            <a:ext cx="10655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580" algn="l"/>
                <a:tab pos="680085" algn="l"/>
                <a:tab pos="100584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r>
              <a:rPr dirty="0" baseline="6172" sz="675">
                <a:latin typeface="Arial Unicode MS"/>
                <a:cs typeface="Arial Unicode MS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6466" y="2114562"/>
            <a:ext cx="1737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0605" algn="l"/>
              </a:tabLst>
            </a:pPr>
            <a:r>
              <a:rPr dirty="0" sz="1100" spc="-55">
                <a:latin typeface="Georgia"/>
                <a:cs typeface="Georgia"/>
              </a:rPr>
              <a:t>NH 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-55">
                <a:latin typeface="Georgia"/>
                <a:cs typeface="Georgia"/>
              </a:rPr>
              <a:t>NH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04289" y="2119985"/>
            <a:ext cx="16014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17015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2062" y="2477439"/>
            <a:ext cx="1778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0">
                <a:latin typeface="Georgia"/>
                <a:cs typeface="Georgia"/>
              </a:rPr>
              <a:t>Ac</a:t>
            </a:r>
            <a:r>
              <a:rPr dirty="0" baseline="41666" sz="900" spc="75">
                <a:latin typeface="Lucida Sans Unicode"/>
                <a:cs typeface="Lucida Sans Unicode"/>
              </a:rPr>
              <a:t>−</a:t>
            </a:r>
            <a:r>
              <a:rPr dirty="0" baseline="41666" sz="900" spc="135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729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OH</a:t>
            </a:r>
            <a:r>
              <a:rPr dirty="0" baseline="41666" sz="900" spc="22">
                <a:latin typeface="Lucida Sans Unicode"/>
                <a:cs typeface="Lucida Sans Unicode"/>
              </a:rPr>
              <a:t>−</a:t>
            </a:r>
            <a:endParaRPr baseline="41666" sz="9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3849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4.3</a:t>
            </a:r>
            <a:r>
              <a:rPr dirty="0" sz="1400" spc="114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相关的参数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201" y="1099261"/>
            <a:ext cx="911225" cy="0"/>
          </a:xfrm>
          <a:custGeom>
            <a:avLst/>
            <a:gdLst/>
            <a:ahLst/>
            <a:cxnLst/>
            <a:rect l="l" t="t" r="r" b="b"/>
            <a:pathLst>
              <a:path w="911225" h="0">
                <a:moveTo>
                  <a:pt x="0" y="0"/>
                </a:moveTo>
                <a:lnTo>
                  <a:pt x="91098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5844" y="622807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酸或碱在水溶液中的解离程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取决于酸或碱自身的特</a:t>
            </a:r>
            <a:r>
              <a:rPr dirty="0" sz="1200" spc="-80">
                <a:latin typeface="Arial Unicode MS"/>
                <a:cs typeface="Arial Unicode MS"/>
              </a:rPr>
              <a:t>征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常用解离平衡常数来衡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考虑如下的酸碱平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966" y="1264170"/>
            <a:ext cx="718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HA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2949" y="1362253"/>
            <a:ext cx="32258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Arial Unicode MS"/>
                <a:cs typeface="Arial Unicode MS"/>
              </a:rPr>
              <a:t>、</a:t>
            </a:r>
            <a:r>
              <a:rPr dirty="0" baseline="24691" sz="675" spc="142">
                <a:latin typeface="Arial Unicode MS"/>
                <a:cs typeface="Arial Unicode MS"/>
              </a:rPr>
              <a:t> </a:t>
            </a:r>
            <a:r>
              <a:rPr dirty="0" baseline="24691" sz="675" spc="345">
                <a:latin typeface="Arial Unicode MS"/>
                <a:cs typeface="Arial Unicode MS"/>
              </a:rPr>
              <a:t> </a:t>
            </a:r>
            <a:r>
              <a:rPr dirty="0" sz="450" spc="155">
                <a:latin typeface="Arial Unicode MS"/>
                <a:cs typeface="Arial Unicode MS"/>
              </a:rPr>
              <a:t> </a:t>
            </a:r>
            <a:r>
              <a:rPr dirty="0" baseline="24691" sz="675" spc="-472">
                <a:latin typeface="Arial Unicode MS"/>
                <a:cs typeface="Arial Unicode MS"/>
              </a:rPr>
              <a:t> </a:t>
            </a: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1465" y="1264170"/>
            <a:ext cx="7645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35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H</a:t>
            </a:r>
            <a:r>
              <a:rPr dirty="0" baseline="-13888" sz="900" spc="22">
                <a:latin typeface="Times New Roman"/>
                <a:cs typeface="Times New Roman"/>
              </a:rPr>
              <a:t>3</a:t>
            </a:r>
            <a:r>
              <a:rPr dirty="0" sz="1100" spc="15">
                <a:latin typeface="Georgia"/>
                <a:cs typeface="Georgia"/>
              </a:rPr>
              <a:t>O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80">
                <a:latin typeface="Georgia"/>
                <a:cs typeface="Georgia"/>
              </a:rPr>
              <a:t>A</a:t>
            </a:r>
            <a:endParaRPr sz="1100">
              <a:latin typeface="Georgia"/>
              <a:cs typeface="Georgia"/>
            </a:endParaRPr>
          </a:p>
          <a:p>
            <a:pPr marL="302260">
              <a:lnSpc>
                <a:spcPts val="135"/>
              </a:lnSpc>
              <a:tabLst>
                <a:tab pos="652780" algn="l"/>
              </a:tabLst>
            </a:pPr>
            <a:r>
              <a:rPr dirty="0" sz="600" spc="220">
                <a:latin typeface="Times New Roman"/>
                <a:cs typeface="Times New Roman"/>
              </a:rPr>
              <a:t>+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501" y="1613763"/>
            <a:ext cx="32035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水溶液中各种离子的浓度之间存在如下的关</a:t>
            </a:r>
            <a:r>
              <a:rPr dirty="0" sz="1200" spc="-9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0356" y="1911781"/>
            <a:ext cx="755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[H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sz="1100" spc="10">
                <a:latin typeface="Georgia"/>
                <a:cs typeface="Georgia"/>
              </a:rPr>
              <a:t>O</a:t>
            </a:r>
            <a:r>
              <a:rPr dirty="0" baseline="37037" sz="900" spc="15">
                <a:latin typeface="Times New Roman"/>
                <a:cs typeface="Times New Roman"/>
              </a:rPr>
              <a:t>+</a:t>
            </a:r>
            <a:r>
              <a:rPr dirty="0" sz="1100" spc="10">
                <a:latin typeface="Georgia"/>
                <a:cs typeface="Georgia"/>
              </a:rPr>
              <a:t>][A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sz="1100" spc="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78443" y="2122119"/>
            <a:ext cx="679450" cy="0"/>
          </a:xfrm>
          <a:custGeom>
            <a:avLst/>
            <a:gdLst/>
            <a:ahLst/>
            <a:cxnLst/>
            <a:rect l="l" t="t" r="r" b="b"/>
            <a:pathLst>
              <a:path w="679450" h="0">
                <a:moveTo>
                  <a:pt x="0" y="0"/>
                </a:moveTo>
                <a:lnTo>
                  <a:pt x="6789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719349" y="21839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7291" y="2100541"/>
            <a:ext cx="1372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7878" sz="1650" spc="67" b="0" i="1">
                <a:latin typeface="Bookman Old Style"/>
                <a:cs typeface="Bookman Old Style"/>
              </a:rPr>
              <a:t>K</a:t>
            </a:r>
            <a:r>
              <a:rPr dirty="0" baseline="37878" sz="1650" spc="67">
                <a:latin typeface="Georgia"/>
                <a:cs typeface="Georgia"/>
              </a:rPr>
              <a:t>(HA) </a:t>
            </a:r>
            <a:r>
              <a:rPr dirty="0" baseline="37878" sz="1650" spc="209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[HA][H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O]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9722" y="2005507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7744" y="2348534"/>
            <a:ext cx="4347210" cy="986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 marR="4318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sz="1100" spc="5">
                <a:latin typeface="Georgia"/>
                <a:cs typeface="Georgia"/>
              </a:rPr>
              <a:t>(HA)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是酸解离平衡常</a:t>
            </a:r>
            <a:r>
              <a:rPr dirty="0" sz="1200" spc="-65">
                <a:latin typeface="Arial Unicode MS"/>
                <a:cs typeface="Arial Unicode MS"/>
              </a:rPr>
              <a:t>数</a:t>
            </a:r>
            <a:r>
              <a:rPr dirty="0" sz="1200" spc="-85">
                <a:latin typeface="Arial Unicode MS"/>
                <a:cs typeface="Arial Unicode MS"/>
              </a:rPr>
              <a:t>；</a:t>
            </a:r>
            <a:r>
              <a:rPr dirty="0" sz="1100" spc="-85">
                <a:latin typeface="Georgia"/>
                <a:cs typeface="Georgia"/>
              </a:rPr>
              <a:t>[HA]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是溶液中游离酸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的平 衡浓度</a:t>
            </a:r>
            <a:r>
              <a:rPr dirty="0" baseline="37037" sz="900" spc="-37">
                <a:latin typeface="Times New Roman"/>
                <a:cs typeface="Times New Roman"/>
              </a:rPr>
              <a:t>1</a:t>
            </a:r>
            <a:r>
              <a:rPr dirty="0" sz="1200" spc="-25">
                <a:latin typeface="Arial Unicode MS"/>
                <a:cs typeface="Arial Unicode MS"/>
              </a:rPr>
              <a:t>；</a:t>
            </a:r>
            <a:r>
              <a:rPr dirty="0" sz="1100" spc="-25">
                <a:latin typeface="Georgia"/>
                <a:cs typeface="Georgia"/>
              </a:rPr>
              <a:t>[A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sz="1100" spc="-25">
                <a:latin typeface="Georgia"/>
                <a:cs typeface="Georgia"/>
              </a:rPr>
              <a:t>]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的共轭碱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85">
                <a:latin typeface="Georgia"/>
                <a:cs typeface="Georgia"/>
              </a:rPr>
              <a:t>A</a:t>
            </a:r>
            <a:r>
              <a:rPr dirty="0" baseline="37037" sz="900" spc="127">
                <a:latin typeface="Lucida Sans Unicode"/>
                <a:cs typeface="Lucida Sans Unicode"/>
              </a:rPr>
              <a:t>−</a:t>
            </a:r>
            <a:r>
              <a:rPr dirty="0" baseline="37037" sz="900" spc="315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的平衡浓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15">
                <a:latin typeface="Arial Unicode MS"/>
                <a:cs typeface="Arial Unicode MS"/>
              </a:rPr>
              <a:t>；</a:t>
            </a:r>
            <a:r>
              <a:rPr dirty="0" sz="1100" spc="-15">
                <a:latin typeface="Georgia"/>
                <a:cs typeface="Georgia"/>
              </a:rPr>
              <a:t>[H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sz="1100" spc="-15">
                <a:latin typeface="Georgia"/>
                <a:cs typeface="Georgia"/>
              </a:rPr>
              <a:t>O</a:t>
            </a:r>
            <a:r>
              <a:rPr dirty="0" baseline="37037" sz="900" spc="-22">
                <a:latin typeface="Times New Roman"/>
                <a:cs typeface="Times New Roman"/>
              </a:rPr>
              <a:t>+</a:t>
            </a:r>
            <a:r>
              <a:rPr dirty="0" sz="1100" spc="-15">
                <a:latin typeface="Georgia"/>
                <a:cs typeface="Georgia"/>
              </a:rPr>
              <a:t>]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是水合氢 离子的平衡浓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35">
                <a:latin typeface="Arial Unicode MS"/>
                <a:cs typeface="Arial Unicode MS"/>
              </a:rPr>
              <a:t>；</a:t>
            </a:r>
            <a:r>
              <a:rPr dirty="0" sz="1100" spc="-35">
                <a:latin typeface="Georgia"/>
                <a:cs typeface="Georgia"/>
              </a:rPr>
              <a:t>H</a:t>
            </a:r>
            <a:r>
              <a:rPr dirty="0" baseline="-13888" sz="900" spc="-52">
                <a:latin typeface="Times New Roman"/>
                <a:cs typeface="Times New Roman"/>
              </a:rPr>
              <a:t>2</a:t>
            </a:r>
            <a:r>
              <a:rPr dirty="0" sz="1100" spc="-35">
                <a:latin typeface="Georgia"/>
                <a:cs typeface="Georgia"/>
              </a:rPr>
              <a:t>O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是溶液中水的平衡浓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650">
              <a:latin typeface="Arial Unicode MS"/>
              <a:cs typeface="Arial Unicode MS"/>
            </a:endParaRPr>
          </a:p>
          <a:p>
            <a:pPr marL="208279">
              <a:lnSpc>
                <a:spcPct val="100000"/>
              </a:lnSpc>
              <a:spcBef>
                <a:spcPts val="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1</a:t>
            </a:r>
            <a:r>
              <a:rPr dirty="0" sz="900" spc="-5">
                <a:latin typeface="Arial Unicode MS"/>
                <a:cs typeface="Arial Unicode MS"/>
              </a:rPr>
              <a:t>习惯</a:t>
            </a:r>
            <a:r>
              <a:rPr dirty="0" sz="900" spc="-60">
                <a:latin typeface="Arial Unicode MS"/>
                <a:cs typeface="Arial Unicode MS"/>
              </a:rPr>
              <a:t>上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平衡浓度以中括号表</a:t>
            </a:r>
            <a:r>
              <a:rPr dirty="0" sz="900" spc="-15">
                <a:latin typeface="Arial Unicode MS"/>
                <a:cs typeface="Arial Unicode MS"/>
              </a:rPr>
              <a:t>示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897191"/>
            <a:ext cx="4164329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通</a:t>
            </a:r>
            <a:r>
              <a:rPr dirty="0" sz="1200" spc="-80">
                <a:latin typeface="Arial Unicode MS"/>
                <a:cs typeface="Arial Unicode MS"/>
              </a:rPr>
              <a:t>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当酸的浓度很低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我们不考</a:t>
            </a:r>
            <a:r>
              <a:rPr dirty="0" sz="1200" spc="175">
                <a:latin typeface="Arial Unicode MS"/>
                <a:cs typeface="Arial Unicode MS"/>
              </a:rPr>
              <a:t>虑</a:t>
            </a:r>
            <a:r>
              <a:rPr dirty="0" sz="1100" spc="-35">
                <a:latin typeface="Georgia"/>
                <a:cs typeface="Georgia"/>
              </a:rPr>
              <a:t>[H</a:t>
            </a:r>
            <a:r>
              <a:rPr dirty="0" baseline="-13888" sz="900" spc="-52">
                <a:latin typeface="Times New Roman"/>
                <a:cs typeface="Times New Roman"/>
              </a:rPr>
              <a:t>2</a:t>
            </a:r>
            <a:r>
              <a:rPr dirty="0" sz="1100" spc="-35">
                <a:latin typeface="Georgia"/>
                <a:cs typeface="Georgia"/>
              </a:rPr>
              <a:t>O]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而将其并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入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(HA)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而依然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(HA)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表示酸解离常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2691" y="1559776"/>
            <a:ext cx="615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K</a:t>
            </a:r>
            <a:r>
              <a:rPr dirty="0" sz="1100" spc="45">
                <a:latin typeface="Georgia"/>
                <a:cs typeface="Georgia"/>
              </a:rPr>
              <a:t>(HA)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78443" y="1676387"/>
            <a:ext cx="679450" cy="0"/>
          </a:xfrm>
          <a:custGeom>
            <a:avLst/>
            <a:gdLst/>
            <a:ahLst/>
            <a:cxnLst/>
            <a:rect l="l" t="t" r="r" b="b"/>
            <a:pathLst>
              <a:path w="679450" h="0">
                <a:moveTo>
                  <a:pt x="0" y="0"/>
                </a:moveTo>
                <a:lnTo>
                  <a:pt x="6789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40356" y="1443543"/>
            <a:ext cx="75565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30480" indent="-19748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40">
                <a:latin typeface="Georgia"/>
                <a:cs typeface="Georgia"/>
              </a:rPr>
              <a:t>][</a:t>
            </a:r>
            <a:r>
              <a:rPr dirty="0" sz="1100" spc="-75">
                <a:latin typeface="Georgia"/>
                <a:cs typeface="Georgia"/>
              </a:rPr>
              <a:t>A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55">
                <a:latin typeface="Georgia"/>
                <a:cs typeface="Georgia"/>
              </a:rPr>
              <a:t>[HA]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9722" y="1559776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80162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4.4</a:t>
            </a:r>
            <a:r>
              <a:rPr dirty="0" sz="1400" spc="14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酸碱溶液中各种型体的分布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86243"/>
            <a:ext cx="4356735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化学体系都具有自发趋于平衡状态的能</a:t>
            </a:r>
            <a:r>
              <a:rPr dirty="0" sz="1200" spc="-20">
                <a:latin typeface="Arial Unicode MS"/>
                <a:cs typeface="Arial Unicode MS"/>
              </a:rPr>
              <a:t>力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当酸或碱与水混 </a:t>
            </a:r>
            <a:r>
              <a:rPr dirty="0" sz="1200" spc="-10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由于水分子与酸或碱分子的相互作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会出现质子的传递</a:t>
            </a:r>
            <a:r>
              <a:rPr dirty="0" sz="1200" spc="-5">
                <a:latin typeface="Arial Unicode MS"/>
                <a:cs typeface="Arial Unicode MS"/>
              </a:rPr>
              <a:t>过 </a:t>
            </a:r>
            <a:r>
              <a:rPr dirty="0" sz="1200" spc="-20">
                <a:latin typeface="Arial Unicode MS"/>
                <a:cs typeface="Arial Unicode MS"/>
              </a:rPr>
              <a:t>程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这个过程会一直持续下</a:t>
            </a:r>
            <a:r>
              <a:rPr dirty="0" sz="1200" spc="-80">
                <a:latin typeface="Arial Unicode MS"/>
                <a:cs typeface="Arial Unicode MS"/>
              </a:rPr>
              <a:t>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直到达到一个相对的平衡状</a:t>
            </a:r>
            <a:r>
              <a:rPr dirty="0" sz="1200" spc="-20">
                <a:latin typeface="Arial Unicode MS"/>
                <a:cs typeface="Arial Unicode MS"/>
              </a:rPr>
              <a:t>态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 </a:t>
            </a:r>
            <a:r>
              <a:rPr dirty="0" sz="1200" spc="-10">
                <a:latin typeface="Arial Unicode MS"/>
                <a:cs typeface="Arial Unicode MS"/>
              </a:rPr>
              <a:t>个时</a:t>
            </a:r>
            <a:r>
              <a:rPr dirty="0" sz="1200" spc="-80">
                <a:latin typeface="Arial Unicode MS"/>
                <a:cs typeface="Arial Unicode MS"/>
              </a:rPr>
              <a:t>候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溶液中存在着不同的酸碱形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而正确计算溶液体系中</a:t>
            </a:r>
            <a:r>
              <a:rPr dirty="0" sz="1200" spc="-5">
                <a:latin typeface="Arial Unicode MS"/>
                <a:cs typeface="Arial Unicode MS"/>
              </a:rPr>
              <a:t>各 </a:t>
            </a:r>
            <a:r>
              <a:rPr dirty="0" sz="1200" spc="-5">
                <a:latin typeface="Arial Unicode MS"/>
                <a:cs typeface="Arial Unicode MS"/>
              </a:rPr>
              <a:t>种酸碱形式的浓度是掌握酸碱平衡的关</a:t>
            </a:r>
            <a:r>
              <a:rPr dirty="0" sz="1200" spc="-20">
                <a:latin typeface="Arial Unicode MS"/>
                <a:cs typeface="Arial Unicode MS"/>
              </a:rPr>
              <a:t>键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我们将分几种情况进 行讨</a:t>
            </a:r>
            <a:r>
              <a:rPr dirty="0" sz="1200" spc="-20">
                <a:latin typeface="Arial Unicode MS"/>
                <a:cs typeface="Arial Unicode MS"/>
              </a:rPr>
              <a:t>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34581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4.3.1</a:t>
            </a:r>
            <a:r>
              <a:rPr dirty="0" sz="1400" spc="13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一元弱酸溶液中各种型体的分布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550456"/>
            <a:ext cx="23190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它的解离平衡如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8274" y="919530"/>
            <a:ext cx="295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HAc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7722" y="881570"/>
            <a:ext cx="480059" cy="229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baseline="9259" sz="900" spc="187" i="1">
                <a:latin typeface="Arial"/>
                <a:cs typeface="Arial"/>
              </a:rPr>
              <a:t>K</a:t>
            </a:r>
            <a:r>
              <a:rPr dirty="0" sz="500" spc="125" i="1">
                <a:latin typeface="Century Gothic"/>
                <a:cs typeface="Century Gothic"/>
              </a:rPr>
              <a:t>a</a:t>
            </a:r>
            <a:endParaRPr sz="5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450" spc="-400">
                <a:latin typeface="Arial Unicode MS"/>
                <a:cs typeface="Arial Unicode MS"/>
              </a:rPr>
              <a:t>、</a:t>
            </a:r>
            <a:r>
              <a:rPr dirty="0" baseline="24691" sz="675" spc="127">
                <a:latin typeface="Arial Unicode MS"/>
                <a:cs typeface="Arial Unicode MS"/>
              </a:rPr>
              <a:t> </a:t>
            </a:r>
            <a:r>
              <a:rPr dirty="0" baseline="24691" sz="675" spc="345">
                <a:latin typeface="Arial Unicode MS"/>
                <a:cs typeface="Arial Unicode MS"/>
              </a:rPr>
              <a:t> </a:t>
            </a:r>
            <a:r>
              <a:rPr dirty="0" sz="450" spc="290">
                <a:latin typeface="Arial Unicode MS"/>
                <a:cs typeface="Arial Unicode MS"/>
              </a:rPr>
              <a:t>   </a:t>
            </a:r>
            <a:r>
              <a:rPr dirty="0" sz="450" spc="145">
                <a:latin typeface="Arial Unicode MS"/>
                <a:cs typeface="Arial Unicode MS"/>
              </a:rPr>
              <a:t> </a:t>
            </a:r>
            <a:r>
              <a:rPr dirty="0" baseline="24691" sz="675" spc="-457">
                <a:latin typeface="Arial Unicode MS"/>
                <a:cs typeface="Arial Unicode MS"/>
              </a:rPr>
              <a:t> </a:t>
            </a:r>
            <a:r>
              <a:rPr dirty="0" sz="450" spc="85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2763" y="924953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8852" y="919530"/>
            <a:ext cx="541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Ac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4903" y="924953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8713" y="1275041"/>
            <a:ext cx="2719070" cy="919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设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的初始浓度</a:t>
            </a:r>
            <a:r>
              <a:rPr dirty="0" baseline="37037" sz="900" spc="165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9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800">
              <a:latin typeface="Arial Unicode MS"/>
              <a:cs typeface="Arial Unicode MS"/>
            </a:endParaRPr>
          </a:p>
          <a:p>
            <a:pPr marL="1195070">
              <a:lnSpc>
                <a:spcPct val="100000"/>
              </a:lnSpc>
              <a:spcBef>
                <a:spcPts val="5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[HAc]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eorgia"/>
              <a:cs typeface="Georgia"/>
            </a:endParaRPr>
          </a:p>
          <a:p>
            <a:pPr marL="62865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定义分布分数如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7948" y="2370074"/>
            <a:ext cx="615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δ</a:t>
            </a:r>
            <a:r>
              <a:rPr dirty="0" sz="1100" spc="-15">
                <a:latin typeface="Georgia"/>
                <a:cs typeface="Georgia"/>
              </a:rPr>
              <a:t>(HAc)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64538" y="2486685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4" h="0">
                <a:moveTo>
                  <a:pt x="0" y="0"/>
                </a:moveTo>
                <a:lnTo>
                  <a:pt x="43710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97202" y="2276348"/>
            <a:ext cx="1224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4869" algn="l"/>
              </a:tabLst>
            </a:pPr>
            <a:r>
              <a:rPr dirty="0" sz="1100" spc="-50">
                <a:latin typeface="Georgia"/>
                <a:cs typeface="Georgia"/>
              </a:rPr>
              <a:t>[HAc]</a:t>
            </a:r>
            <a:r>
              <a:rPr dirty="0" sz="1100" spc="-50">
                <a:latin typeface="Georgia"/>
                <a:cs typeface="Georgia"/>
              </a:rPr>
              <a:t>	</a:t>
            </a:r>
            <a:r>
              <a:rPr dirty="0" sz="1100" spc="-50">
                <a:latin typeface="Georgia"/>
                <a:cs typeface="Georgia"/>
              </a:rPr>
              <a:t>[HAc]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16734" y="2486685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75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942604" y="2370074"/>
            <a:ext cx="1186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64895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3587" y="2276348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69411" y="2486685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2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26438" y="2465108"/>
            <a:ext cx="2378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89610" algn="l"/>
                <a:tab pos="1742439" algn="l"/>
              </a:tabLst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	</a:t>
            </a:r>
            <a:r>
              <a:rPr dirty="0" sz="1100" spc="-50">
                <a:latin typeface="Georgia"/>
                <a:cs typeface="Georgia"/>
              </a:rPr>
              <a:t>[HAc]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2777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	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9722" y="2370074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791" y="2842120"/>
            <a:ext cx="642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δ</a:t>
            </a:r>
            <a:r>
              <a:rPr dirty="0" sz="1100" spc="20">
                <a:latin typeface="Georgia"/>
                <a:cs typeface="Georgia"/>
              </a:rPr>
              <a:t>(Ac</a:t>
            </a:r>
            <a:r>
              <a:rPr dirty="0" baseline="41666" sz="900" spc="30">
                <a:latin typeface="Lucida Sans Unicode"/>
                <a:cs typeface="Lucida Sans Unicode"/>
              </a:rPr>
              <a:t>−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52295" y="2958731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4" h="0">
                <a:moveTo>
                  <a:pt x="0" y="0"/>
                </a:moveTo>
                <a:lnTo>
                  <a:pt x="43710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59102" y="2748394"/>
            <a:ext cx="1276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902969" algn="l"/>
              </a:tabLst>
            </a:pP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	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104491" y="2958731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75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30374" y="2842120"/>
            <a:ext cx="1186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64895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32835" y="2748394"/>
            <a:ext cx="245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57169" y="2958731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2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414195" y="2937154"/>
            <a:ext cx="2378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89610" algn="l"/>
                <a:tab pos="1742439" algn="l"/>
              </a:tabLst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	</a:t>
            </a:r>
            <a:r>
              <a:rPr dirty="0" sz="1100" spc="-50">
                <a:latin typeface="Georgia"/>
                <a:cs typeface="Georgia"/>
              </a:rPr>
              <a:t>[HAc]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2777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	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79722" y="2842120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58394" y="3172599"/>
            <a:ext cx="147066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2</a:t>
            </a:r>
            <a:r>
              <a:rPr dirty="0" sz="900" spc="-5">
                <a:latin typeface="Arial Unicode MS"/>
                <a:cs typeface="Arial Unicode MS"/>
              </a:rPr>
              <a:t>亦称为分析浓</a:t>
            </a:r>
            <a:r>
              <a:rPr dirty="0" sz="900" spc="-60">
                <a:latin typeface="Arial Unicode MS"/>
                <a:cs typeface="Arial Unicode MS"/>
              </a:rPr>
              <a:t>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总浓</a:t>
            </a:r>
            <a:r>
              <a:rPr dirty="0" sz="900" spc="-15">
                <a:latin typeface="Arial Unicode MS"/>
                <a:cs typeface="Arial Unicode MS"/>
              </a:rPr>
              <a:t>度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分布分数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曲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8603" y="827847"/>
            <a:ext cx="2165985" cy="0"/>
          </a:xfrm>
          <a:custGeom>
            <a:avLst/>
            <a:gdLst/>
            <a:ahLst/>
            <a:cxnLst/>
            <a:rect l="l" t="t" r="r" b="b"/>
            <a:pathLst>
              <a:path w="2165985" h="0">
                <a:moveTo>
                  <a:pt x="0" y="0"/>
                </a:moveTo>
                <a:lnTo>
                  <a:pt x="21654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8603" y="827847"/>
            <a:ext cx="2165985" cy="1707514"/>
          </a:xfrm>
          <a:custGeom>
            <a:avLst/>
            <a:gdLst/>
            <a:ahLst/>
            <a:cxnLst/>
            <a:rect l="l" t="t" r="r" b="b"/>
            <a:pathLst>
              <a:path w="2165985" h="1707514">
                <a:moveTo>
                  <a:pt x="0" y="1707071"/>
                </a:moveTo>
                <a:lnTo>
                  <a:pt x="2165439" y="1707071"/>
                </a:lnTo>
                <a:lnTo>
                  <a:pt x="21654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58603" y="827847"/>
            <a:ext cx="0" cy="1707514"/>
          </a:xfrm>
          <a:custGeom>
            <a:avLst/>
            <a:gdLst/>
            <a:ahLst/>
            <a:cxnLst/>
            <a:rect l="l" t="t" r="r" b="b"/>
            <a:pathLst>
              <a:path w="0" h="1707514">
                <a:moveTo>
                  <a:pt x="0" y="17070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58603" y="2534919"/>
            <a:ext cx="2165985" cy="0"/>
          </a:xfrm>
          <a:custGeom>
            <a:avLst/>
            <a:gdLst/>
            <a:ahLst/>
            <a:cxnLst/>
            <a:rect l="l" t="t" r="r" b="b"/>
            <a:pathLst>
              <a:path w="2165985" h="0">
                <a:moveTo>
                  <a:pt x="0" y="0"/>
                </a:moveTo>
                <a:lnTo>
                  <a:pt x="21654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58603" y="827847"/>
            <a:ext cx="0" cy="1707514"/>
          </a:xfrm>
          <a:custGeom>
            <a:avLst/>
            <a:gdLst/>
            <a:ahLst/>
            <a:cxnLst/>
            <a:rect l="l" t="t" r="r" b="b"/>
            <a:pathLst>
              <a:path w="0" h="1707514">
                <a:moveTo>
                  <a:pt x="0" y="17070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58603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58603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24498" y="2530294"/>
            <a:ext cx="68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67950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67950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33846" y="2530294"/>
            <a:ext cx="68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77297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77297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43195" y="2530294"/>
            <a:ext cx="68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86649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86649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95996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95996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05343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05343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871241" y="2530294"/>
            <a:ext cx="68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14695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14695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180590" y="2530294"/>
            <a:ext cx="68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7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24042" y="2513111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180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24042" y="827847"/>
            <a:ext cx="0" cy="21590"/>
          </a:xfrm>
          <a:custGeom>
            <a:avLst/>
            <a:gdLst/>
            <a:ahLst/>
            <a:cxnLst/>
            <a:rect l="l" t="t" r="r" b="b"/>
            <a:pathLst>
              <a:path w="0" h="21590">
                <a:moveTo>
                  <a:pt x="0" y="0"/>
                </a:moveTo>
                <a:lnTo>
                  <a:pt x="0" y="21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489938" y="2530294"/>
            <a:ext cx="68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358603" y="2534919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02235" y="2534919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288959" y="2473351"/>
            <a:ext cx="68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58603" y="2364090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502235" y="2364090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58603" y="2193262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02235" y="2193262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58603" y="2022434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502235" y="2022434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58603" y="1852008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02235" y="185200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358603" y="1681179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502235" y="1681179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58603" y="1510351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502235" y="1510351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358603" y="1339925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502235" y="133992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224343" y="1278361"/>
            <a:ext cx="133350" cy="11430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">
                <a:latin typeface="Arial"/>
                <a:cs typeface="Arial"/>
              </a:rPr>
              <a:t>0.7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600" spc="-5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600" spc="-5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600" spc="-5">
                <a:latin typeface="Arial"/>
                <a:cs typeface="Arial"/>
              </a:rPr>
              <a:t>0.4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600" spc="-5">
                <a:latin typeface="Arial"/>
                <a:cs typeface="Arial"/>
              </a:rPr>
              <a:t>0.3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600" spc="-5">
                <a:latin typeface="Arial"/>
                <a:cs typeface="Arial"/>
              </a:rPr>
              <a:t>0.2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600" spc="-5">
                <a:latin typeface="Arial"/>
                <a:cs typeface="Arial"/>
              </a:rPr>
              <a:t>0.1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358603" y="1169097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502235" y="1169097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358603" y="998268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502235" y="99826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58603" y="827847"/>
            <a:ext cx="21590" cy="0"/>
          </a:xfrm>
          <a:custGeom>
            <a:avLst/>
            <a:gdLst/>
            <a:ahLst/>
            <a:cxnLst/>
            <a:rect l="l" t="t" r="r" b="b"/>
            <a:pathLst>
              <a:path w="21590" h="0">
                <a:moveTo>
                  <a:pt x="0" y="0"/>
                </a:moveTo>
                <a:lnTo>
                  <a:pt x="214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502235" y="827847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180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224343" y="766279"/>
            <a:ext cx="133350" cy="459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620"/>
              </a:spcBef>
            </a:pPr>
            <a:r>
              <a:rPr dirty="0" sz="600" spc="-5">
                <a:latin typeface="Arial"/>
                <a:cs typeface="Arial"/>
              </a:rPr>
              <a:t>0.9</a:t>
            </a:r>
            <a:endParaRPr sz="6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625"/>
              </a:spcBef>
            </a:pPr>
            <a:r>
              <a:rPr dirty="0" sz="600" spc="-5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58603" y="827847"/>
            <a:ext cx="2165985" cy="0"/>
          </a:xfrm>
          <a:custGeom>
            <a:avLst/>
            <a:gdLst/>
            <a:ahLst/>
            <a:cxnLst/>
            <a:rect l="l" t="t" r="r" b="b"/>
            <a:pathLst>
              <a:path w="2165985" h="0">
                <a:moveTo>
                  <a:pt x="0" y="0"/>
                </a:moveTo>
                <a:lnTo>
                  <a:pt x="21654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58603" y="827847"/>
            <a:ext cx="2165985" cy="1707514"/>
          </a:xfrm>
          <a:custGeom>
            <a:avLst/>
            <a:gdLst/>
            <a:ahLst/>
            <a:cxnLst/>
            <a:rect l="l" t="t" r="r" b="b"/>
            <a:pathLst>
              <a:path w="2165985" h="1707514">
                <a:moveTo>
                  <a:pt x="0" y="1707071"/>
                </a:moveTo>
                <a:lnTo>
                  <a:pt x="2165439" y="1707071"/>
                </a:lnTo>
                <a:lnTo>
                  <a:pt x="21654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58603" y="827847"/>
            <a:ext cx="0" cy="1707514"/>
          </a:xfrm>
          <a:custGeom>
            <a:avLst/>
            <a:gdLst/>
            <a:ahLst/>
            <a:cxnLst/>
            <a:rect l="l" t="t" r="r" b="b"/>
            <a:pathLst>
              <a:path w="0" h="1707514">
                <a:moveTo>
                  <a:pt x="0" y="17070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58603" y="827847"/>
            <a:ext cx="2165985" cy="1706245"/>
          </a:xfrm>
          <a:custGeom>
            <a:avLst/>
            <a:gdLst/>
            <a:ahLst/>
            <a:cxnLst/>
            <a:rect l="l" t="t" r="r" b="b"/>
            <a:pathLst>
              <a:path w="2165985" h="1706245">
                <a:moveTo>
                  <a:pt x="0" y="0"/>
                </a:moveTo>
                <a:lnTo>
                  <a:pt x="56133" y="402"/>
                </a:lnTo>
                <a:lnTo>
                  <a:pt x="117113" y="402"/>
                </a:lnTo>
                <a:lnTo>
                  <a:pt x="178097" y="804"/>
                </a:lnTo>
                <a:lnTo>
                  <a:pt x="238675" y="1613"/>
                </a:lnTo>
                <a:lnTo>
                  <a:pt x="299654" y="2825"/>
                </a:lnTo>
                <a:lnTo>
                  <a:pt x="360634" y="4439"/>
                </a:lnTo>
                <a:lnTo>
                  <a:pt x="421618" y="6862"/>
                </a:lnTo>
                <a:lnTo>
                  <a:pt x="482598" y="10903"/>
                </a:lnTo>
                <a:lnTo>
                  <a:pt x="543578" y="17363"/>
                </a:lnTo>
                <a:lnTo>
                  <a:pt x="604562" y="27458"/>
                </a:lnTo>
                <a:lnTo>
                  <a:pt x="665542" y="42806"/>
                </a:lnTo>
                <a:lnTo>
                  <a:pt x="726119" y="66228"/>
                </a:lnTo>
                <a:lnTo>
                  <a:pt x="787099" y="102172"/>
                </a:lnTo>
                <a:lnTo>
                  <a:pt x="848083" y="155882"/>
                </a:lnTo>
                <a:lnTo>
                  <a:pt x="909063" y="233019"/>
                </a:lnTo>
                <a:lnTo>
                  <a:pt x="970043" y="340037"/>
                </a:lnTo>
                <a:lnTo>
                  <a:pt x="1031027" y="480577"/>
                </a:lnTo>
                <a:lnTo>
                  <a:pt x="1092007" y="651003"/>
                </a:lnTo>
                <a:lnTo>
                  <a:pt x="1152986" y="840814"/>
                </a:lnTo>
                <a:lnTo>
                  <a:pt x="1213564" y="1031832"/>
                </a:lnTo>
                <a:lnTo>
                  <a:pt x="1274548" y="1205490"/>
                </a:lnTo>
                <a:lnTo>
                  <a:pt x="1335528" y="1350067"/>
                </a:lnTo>
                <a:lnTo>
                  <a:pt x="1396508" y="1461529"/>
                </a:lnTo>
                <a:lnTo>
                  <a:pt x="1457492" y="1542300"/>
                </a:lnTo>
                <a:lnTo>
                  <a:pt x="1518472" y="1598434"/>
                </a:lnTo>
                <a:lnTo>
                  <a:pt x="1579451" y="1636394"/>
                </a:lnTo>
                <a:lnTo>
                  <a:pt x="1640436" y="1661434"/>
                </a:lnTo>
                <a:lnTo>
                  <a:pt x="1701416" y="1677587"/>
                </a:lnTo>
                <a:lnTo>
                  <a:pt x="1761993" y="1688088"/>
                </a:lnTo>
                <a:lnTo>
                  <a:pt x="1822973" y="1694956"/>
                </a:lnTo>
                <a:lnTo>
                  <a:pt x="1883957" y="1699395"/>
                </a:lnTo>
                <a:lnTo>
                  <a:pt x="1944937" y="1702225"/>
                </a:lnTo>
                <a:lnTo>
                  <a:pt x="2005916" y="1703839"/>
                </a:lnTo>
                <a:lnTo>
                  <a:pt x="2066901" y="1705050"/>
                </a:lnTo>
                <a:lnTo>
                  <a:pt x="2127881" y="1705452"/>
                </a:lnTo>
                <a:lnTo>
                  <a:pt x="2165841" y="1705859"/>
                </a:lnTo>
              </a:path>
            </a:pathLst>
          </a:custGeom>
          <a:ln w="969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58603" y="828652"/>
            <a:ext cx="2165985" cy="1706245"/>
          </a:xfrm>
          <a:custGeom>
            <a:avLst/>
            <a:gdLst/>
            <a:ahLst/>
            <a:cxnLst/>
            <a:rect l="l" t="t" r="r" b="b"/>
            <a:pathLst>
              <a:path w="2165985" h="1706245">
                <a:moveTo>
                  <a:pt x="0" y="1705859"/>
                </a:moveTo>
                <a:lnTo>
                  <a:pt x="56133" y="1705457"/>
                </a:lnTo>
                <a:lnTo>
                  <a:pt x="117113" y="1705457"/>
                </a:lnTo>
                <a:lnTo>
                  <a:pt x="178097" y="1705055"/>
                </a:lnTo>
                <a:lnTo>
                  <a:pt x="238675" y="1704246"/>
                </a:lnTo>
                <a:lnTo>
                  <a:pt x="299654" y="1703034"/>
                </a:lnTo>
                <a:lnTo>
                  <a:pt x="360634" y="1701420"/>
                </a:lnTo>
                <a:lnTo>
                  <a:pt x="421618" y="1698997"/>
                </a:lnTo>
                <a:lnTo>
                  <a:pt x="482598" y="1694956"/>
                </a:lnTo>
                <a:lnTo>
                  <a:pt x="543578" y="1688496"/>
                </a:lnTo>
                <a:lnTo>
                  <a:pt x="604562" y="1678401"/>
                </a:lnTo>
                <a:lnTo>
                  <a:pt x="665542" y="1663053"/>
                </a:lnTo>
                <a:lnTo>
                  <a:pt x="726119" y="1639631"/>
                </a:lnTo>
                <a:lnTo>
                  <a:pt x="787099" y="1603687"/>
                </a:lnTo>
                <a:lnTo>
                  <a:pt x="848083" y="1549977"/>
                </a:lnTo>
                <a:lnTo>
                  <a:pt x="909063" y="1472840"/>
                </a:lnTo>
                <a:lnTo>
                  <a:pt x="970043" y="1365821"/>
                </a:lnTo>
                <a:lnTo>
                  <a:pt x="1031027" y="1225282"/>
                </a:lnTo>
                <a:lnTo>
                  <a:pt x="1092007" y="1054856"/>
                </a:lnTo>
                <a:lnTo>
                  <a:pt x="1152986" y="865045"/>
                </a:lnTo>
                <a:lnTo>
                  <a:pt x="1213564" y="674027"/>
                </a:lnTo>
                <a:lnTo>
                  <a:pt x="1274548" y="500369"/>
                </a:lnTo>
                <a:lnTo>
                  <a:pt x="1335528" y="355792"/>
                </a:lnTo>
                <a:lnTo>
                  <a:pt x="1396508" y="244330"/>
                </a:lnTo>
                <a:lnTo>
                  <a:pt x="1457492" y="163559"/>
                </a:lnTo>
                <a:lnTo>
                  <a:pt x="1518472" y="107425"/>
                </a:lnTo>
                <a:lnTo>
                  <a:pt x="1579451" y="69465"/>
                </a:lnTo>
                <a:lnTo>
                  <a:pt x="1640436" y="44425"/>
                </a:lnTo>
                <a:lnTo>
                  <a:pt x="1701416" y="28272"/>
                </a:lnTo>
                <a:lnTo>
                  <a:pt x="1761993" y="17770"/>
                </a:lnTo>
                <a:lnTo>
                  <a:pt x="1822973" y="10903"/>
                </a:lnTo>
                <a:lnTo>
                  <a:pt x="1883957" y="6464"/>
                </a:lnTo>
                <a:lnTo>
                  <a:pt x="1944937" y="3634"/>
                </a:lnTo>
                <a:lnTo>
                  <a:pt x="2005916" y="2020"/>
                </a:lnTo>
                <a:lnTo>
                  <a:pt x="2066901" y="809"/>
                </a:lnTo>
                <a:lnTo>
                  <a:pt x="2127881" y="407"/>
                </a:lnTo>
                <a:lnTo>
                  <a:pt x="2165841" y="0"/>
                </a:lnTo>
              </a:path>
            </a:pathLst>
          </a:custGeom>
          <a:ln w="9692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252544" y="2530294"/>
            <a:ext cx="378460" cy="193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655"/>
              </a:lnSpc>
              <a:spcBef>
                <a:spcPts val="110"/>
              </a:spcBef>
              <a:tabLst>
                <a:tab pos="309245" algn="l"/>
              </a:tabLst>
            </a:pPr>
            <a:r>
              <a:rPr dirty="0" sz="600" spc="5">
                <a:latin typeface="Arial"/>
                <a:cs typeface="Arial"/>
              </a:rPr>
              <a:t>4</a:t>
            </a:r>
            <a:r>
              <a:rPr dirty="0" sz="600" spc="5">
                <a:latin typeface="Arial"/>
                <a:cs typeface="Arial"/>
              </a:rPr>
              <a:t>	</a:t>
            </a:r>
            <a:r>
              <a:rPr dirty="0" sz="600" spc="5"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ts val="655"/>
              </a:lnSpc>
            </a:pPr>
            <a:r>
              <a:rPr dirty="0" sz="600" spc="5">
                <a:latin typeface="Times New Roman"/>
                <a:cs typeface="Times New Roman"/>
              </a:rPr>
              <a:t>pH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01219" y="1649549"/>
            <a:ext cx="127000" cy="64135"/>
          </a:xfrm>
          <a:prstGeom prst="rect">
            <a:avLst/>
          </a:prstGeom>
        </p:spPr>
        <p:txBody>
          <a:bodyPr wrap="square" lIns="0" tIns="14604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>
                <a:latin typeface="Symbol"/>
                <a:cs typeface="Symbol"/>
              </a:rPr>
              <a:t></a:t>
            </a:r>
            <a:endParaRPr sz="600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56676" y="1195976"/>
            <a:ext cx="17208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Times New Roman"/>
                <a:cs typeface="Times New Roman"/>
              </a:rPr>
              <a:t>HAc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39627" y="1191129"/>
            <a:ext cx="19939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Times New Roman"/>
                <a:cs typeface="Times New Roman"/>
              </a:rPr>
              <a:t>Ac</a:t>
            </a:r>
            <a:r>
              <a:rPr dirty="0" baseline="37037" sz="675">
                <a:latin typeface="Times New Roman"/>
                <a:cs typeface="Times New Roman"/>
              </a:rPr>
              <a:t>−</a:t>
            </a:r>
            <a:endParaRPr baseline="37037" sz="675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55002" y="2892247"/>
            <a:ext cx="369824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0">
                <a:solidFill>
                  <a:srgbClr val="3333B2"/>
                </a:solidFill>
                <a:latin typeface="Georgia"/>
                <a:cs typeface="Georgia"/>
              </a:rPr>
              <a:t>2:</a:t>
            </a:r>
            <a:r>
              <a:rPr dirty="0" sz="1000" spc="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醋酸溶</a:t>
            </a:r>
            <a:r>
              <a:rPr dirty="0" sz="1050" spc="-10">
                <a:latin typeface="Arial Unicode MS"/>
                <a:cs typeface="Arial Unicode MS"/>
              </a:rPr>
              <a:t>液</a:t>
            </a:r>
            <a:r>
              <a:rPr dirty="0" sz="1050" spc="-5">
                <a:latin typeface="Arial Unicode MS"/>
                <a:cs typeface="Arial Unicode MS"/>
              </a:rPr>
              <a:t>中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5">
                <a:latin typeface="Georgia"/>
                <a:cs typeface="Georgia"/>
              </a:rPr>
              <a:t>HAc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90">
                <a:latin typeface="Georgia"/>
                <a:cs typeface="Georgia"/>
              </a:rPr>
              <a:t>Ac</a:t>
            </a:r>
            <a:r>
              <a:rPr dirty="0" baseline="27777" sz="1050" spc="135" i="1">
                <a:latin typeface="Arial"/>
                <a:cs typeface="Arial"/>
              </a:rPr>
              <a:t>−</a:t>
            </a:r>
            <a:r>
              <a:rPr dirty="0" baseline="27777" sz="1050" spc="270" i="1">
                <a:latin typeface="Arial"/>
                <a:cs typeface="Arial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分</a:t>
            </a:r>
            <a:r>
              <a:rPr dirty="0" sz="1050" spc="-10">
                <a:latin typeface="Arial Unicode MS"/>
                <a:cs typeface="Arial Unicode MS"/>
              </a:rPr>
              <a:t>布</a:t>
            </a:r>
            <a:r>
              <a:rPr dirty="0" sz="1050" spc="-5">
                <a:latin typeface="Arial Unicode MS"/>
                <a:cs typeface="Arial Unicode MS"/>
              </a:rPr>
              <a:t>分数与溶液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-10">
                <a:latin typeface="Arial Unicode MS"/>
                <a:cs typeface="Arial Unicode MS"/>
              </a:rPr>
              <a:t>关</a:t>
            </a:r>
            <a:r>
              <a:rPr dirty="0" sz="1050" spc="-5">
                <a:latin typeface="Arial Unicode MS"/>
                <a:cs typeface="Arial Unicode MS"/>
              </a:rPr>
              <a:t>系曲线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34581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4.4.2</a:t>
            </a:r>
            <a:r>
              <a:rPr dirty="0" sz="1400" spc="13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一元弱碱溶液中各种型体的分布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536" y="675995"/>
            <a:ext cx="441071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17195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一元弱碱在水溶液中各种型体的分布系数可直接</a:t>
            </a:r>
            <a:r>
              <a:rPr dirty="0" sz="1200" spc="-260">
                <a:latin typeface="Arial Unicode MS"/>
                <a:cs typeface="Arial Unicode MS"/>
              </a:rPr>
              <a:t>用</a:t>
            </a:r>
            <a:r>
              <a:rPr dirty="0" sz="1200" spc="-105">
                <a:latin typeface="Arial Unicode MS"/>
                <a:cs typeface="Arial Unicode MS"/>
              </a:rPr>
              <a:t>（</a:t>
            </a:r>
            <a:r>
              <a:rPr dirty="0" sz="1100" spc="-105">
                <a:latin typeface="Georgia"/>
                <a:cs typeface="Georgia"/>
                <a:hlinkClick r:id="rId2" action="ppaction://hlinksldjump"/>
              </a:rPr>
              <a:t>3</a:t>
            </a:r>
            <a:r>
              <a:rPr dirty="0" sz="1200" spc="-10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110">
                <a:latin typeface="Arial Unicode MS"/>
                <a:cs typeface="Arial Unicode MS"/>
              </a:rPr>
              <a:t>（</a:t>
            </a:r>
            <a:r>
              <a:rPr dirty="0" sz="1100" spc="-110">
                <a:latin typeface="Georgia"/>
                <a:cs typeface="Georgia"/>
                <a:hlinkClick r:id="rId2" action="ppaction://hlinksldjump"/>
              </a:rPr>
              <a:t>4</a:t>
            </a:r>
            <a:r>
              <a:rPr dirty="0" sz="1200" spc="-11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式来计</a:t>
            </a:r>
            <a:r>
              <a:rPr dirty="0" sz="1200" spc="-20">
                <a:latin typeface="Arial Unicode MS"/>
                <a:cs typeface="Arial Unicode MS"/>
              </a:rPr>
              <a:t>算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100" spc="-60">
                <a:latin typeface="Georgia"/>
                <a:cs typeface="Georgia"/>
              </a:rPr>
              <a:t>NH</a:t>
            </a:r>
            <a:r>
              <a:rPr dirty="0" baseline="-13888" sz="900" spc="-89">
                <a:latin typeface="Times New Roman"/>
                <a:cs typeface="Times New Roman"/>
              </a:rPr>
              <a:t>3</a:t>
            </a:r>
            <a:r>
              <a:rPr dirty="0" baseline="-13888" sz="900" spc="-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在水中存在如下平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1833" y="1400759"/>
            <a:ext cx="9245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63855" algn="l"/>
                <a:tab pos="639445" algn="l"/>
              </a:tabLst>
            </a:pPr>
            <a:r>
              <a:rPr dirty="0" sz="600" spc="65">
                <a:latin typeface="Times New Roman"/>
                <a:cs typeface="Times New Roman"/>
              </a:rPr>
              <a:t>3	2	</a:t>
            </a:r>
            <a:r>
              <a:rPr dirty="0" baseline="6172" sz="675" spc="-600">
                <a:latin typeface="Arial Unicode MS"/>
                <a:cs typeface="Arial Unicode MS"/>
              </a:rPr>
              <a:t>、</a:t>
            </a:r>
            <a:r>
              <a:rPr dirty="0" baseline="30864" sz="675" spc="142">
                <a:latin typeface="Arial Unicode MS"/>
                <a:cs typeface="Arial Unicode MS"/>
              </a:rPr>
              <a:t> </a:t>
            </a:r>
            <a:r>
              <a:rPr dirty="0" baseline="30864" sz="675" spc="345">
                <a:latin typeface="Arial Unicode MS"/>
                <a:cs typeface="Arial Unicode MS"/>
              </a:rPr>
              <a:t> </a:t>
            </a:r>
            <a:r>
              <a:rPr dirty="0" baseline="6172" sz="675" spc="232">
                <a:latin typeface="Arial Unicode MS"/>
                <a:cs typeface="Arial Unicode MS"/>
              </a:rPr>
              <a:t> </a:t>
            </a:r>
            <a:r>
              <a:rPr dirty="0" baseline="30864" sz="675" spc="-472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5450" y="1322768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5450" y="141423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9410" y="1317358"/>
            <a:ext cx="1870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90625" algn="l"/>
              </a:tabLst>
            </a:pPr>
            <a:r>
              <a:rPr dirty="0" sz="1100" spc="-55">
                <a:latin typeface="Georgia"/>
                <a:cs typeface="Georgia"/>
              </a:rPr>
              <a:t>NH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-55">
                <a:latin typeface="Georgia"/>
                <a:cs typeface="Georgia"/>
              </a:rPr>
              <a:t>NH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3768" y="1322768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3591" y="176363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8327" y="1692580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78327" y="177711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513" y="1666951"/>
            <a:ext cx="39757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溶液中存在的型体为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所以分布分数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3341" y="212651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4830" y="2043112"/>
            <a:ext cx="607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b="0" i="1">
                <a:latin typeface="Bookman Old Style"/>
                <a:cs typeface="Bookman Old Style"/>
              </a:rPr>
              <a:t>δ</a:t>
            </a:r>
            <a:r>
              <a:rPr dirty="0" sz="1100" spc="-50">
                <a:latin typeface="Georgia"/>
                <a:cs typeface="Georgia"/>
              </a:rPr>
              <a:t>(NH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8209" y="1949373"/>
            <a:ext cx="245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12542" y="2159711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2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845041" y="2221547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1034" y="2527668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81034" y="261912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2511" y="2522245"/>
            <a:ext cx="631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b="0" i="1">
                <a:latin typeface="Bookman Old Style"/>
                <a:cs typeface="Bookman Old Style"/>
              </a:rPr>
              <a:t>δ</a:t>
            </a:r>
            <a:r>
              <a:rPr dirty="0" sz="1100" spc="-50">
                <a:latin typeface="Georgia"/>
                <a:cs typeface="Georgia"/>
              </a:rPr>
              <a:t>(NH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4442" y="2138146"/>
            <a:ext cx="62166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  <a:p>
            <a:pPr marL="222250">
              <a:lnSpc>
                <a:spcPct val="100000"/>
              </a:lnSpc>
              <a:spcBef>
                <a:spcPts val="965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24836" y="2638856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2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286736" y="2617279"/>
            <a:ext cx="621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57347" y="2700680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7118" y="2946514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6693" y="287545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6693" y="29599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844" y="2849829"/>
            <a:ext cx="21094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 b="0" i="1">
                <a:latin typeface="Bookman Old Style"/>
                <a:cs typeface="Bookman Old Style"/>
              </a:rPr>
              <a:t>K</a:t>
            </a:r>
            <a:r>
              <a:rPr dirty="0" sz="1100" spc="15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的解离常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34581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4.4.3</a:t>
            </a:r>
            <a:r>
              <a:rPr dirty="0" sz="1400" spc="13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二元弱酸溶液中各种型体的分布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566648"/>
            <a:ext cx="433578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以草酸为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在水溶液中存在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C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HC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</a:t>
            </a:r>
            <a:r>
              <a:rPr dirty="0" baseline="37037" sz="900" spc="-22">
                <a:latin typeface="Lucida Sans Unicode"/>
                <a:cs typeface="Lucida Sans Unicode"/>
              </a:rPr>
              <a:t>−</a:t>
            </a:r>
            <a:r>
              <a:rPr dirty="0" baseline="-23148" sz="900" spc="-22">
                <a:latin typeface="Times New Roman"/>
                <a:cs typeface="Times New Roman"/>
              </a:rPr>
              <a:t>4</a:t>
            </a:r>
            <a:r>
              <a:rPr dirty="0" baseline="-2314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C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sz="1100" spc="-40">
                <a:latin typeface="Georgia"/>
                <a:cs typeface="Georgia"/>
              </a:rPr>
              <a:t>O</a:t>
            </a:r>
            <a:r>
              <a:rPr dirty="0" baseline="37037" sz="900" spc="-60">
                <a:latin typeface="Lucida Sans Unicode"/>
                <a:cs typeface="Lucida Sans Unicode"/>
              </a:rPr>
              <a:t>−</a:t>
            </a:r>
            <a:r>
              <a:rPr dirty="0" baseline="-23148" sz="900" spc="-60">
                <a:latin typeface="Times New Roman"/>
                <a:cs typeface="Times New Roman"/>
              </a:rPr>
              <a:t>4</a:t>
            </a:r>
            <a:r>
              <a:rPr dirty="0" baseline="-23148" sz="900" spc="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三种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型</a:t>
            </a:r>
            <a:r>
              <a:rPr dirty="0" sz="1200" spc="-80">
                <a:latin typeface="Arial Unicode MS"/>
                <a:cs typeface="Arial Unicode MS"/>
              </a:rPr>
              <a:t>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这三种的型体的总浓度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040" y="1291412"/>
            <a:ext cx="16351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9460" algn="l"/>
                <a:tab pos="157543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     </a:t>
            </a:r>
            <a:r>
              <a:rPr dirty="0" sz="600" spc="-6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     </a:t>
            </a:r>
            <a:r>
              <a:rPr dirty="0" sz="600" spc="-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     </a:t>
            </a:r>
            <a:r>
              <a:rPr dirty="0" sz="600" spc="-6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     </a:t>
            </a:r>
            <a:r>
              <a:rPr dirty="0" sz="600" spc="-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6735" y="121342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6735" y="13048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2528" y="129141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3005" y="121342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3005" y="13048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5299" y="1208011"/>
            <a:ext cx="2717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0">
                <a:latin typeface="Georgia"/>
                <a:cs typeface="Georgia"/>
              </a:rPr>
              <a:t>[HC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13" y="1557604"/>
            <a:ext cx="168528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三种型体的分布分数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4941" y="2031542"/>
            <a:ext cx="3854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341" y="1948129"/>
            <a:ext cx="8166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4678" y="1854403"/>
            <a:ext cx="623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[H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C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57401" y="2064740"/>
            <a:ext cx="638175" cy="0"/>
          </a:xfrm>
          <a:custGeom>
            <a:avLst/>
            <a:gdLst/>
            <a:ahLst/>
            <a:cxnLst/>
            <a:rect l="l" t="t" r="r" b="b"/>
            <a:pathLst>
              <a:path w="638175" h="0">
                <a:moveTo>
                  <a:pt x="0" y="0"/>
                </a:moveTo>
                <a:lnTo>
                  <a:pt x="6375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62442" y="2126576"/>
            <a:ext cx="3854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4701" y="2043163"/>
            <a:ext cx="663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35962" y="194812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33408" y="1854403"/>
            <a:ext cx="623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[H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C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10092" y="2064740"/>
            <a:ext cx="1870075" cy="0"/>
          </a:xfrm>
          <a:custGeom>
            <a:avLst/>
            <a:gdLst/>
            <a:ahLst/>
            <a:cxnLst/>
            <a:rect l="l" t="t" r="r" b="b"/>
            <a:pathLst>
              <a:path w="1870075" h="0">
                <a:moveTo>
                  <a:pt x="0" y="0"/>
                </a:moveTo>
                <a:lnTo>
                  <a:pt x="18696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316503" y="2047532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02773" y="204753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39784" y="2129155"/>
            <a:ext cx="16351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8675" algn="l"/>
                <a:tab pos="1414780" algn="l"/>
              </a:tabLst>
            </a:pPr>
            <a:r>
              <a:rPr dirty="0" sz="600" spc="65">
                <a:latin typeface="Times New Roman"/>
                <a:cs typeface="Times New Roman"/>
              </a:rPr>
              <a:t>2  </a:t>
            </a:r>
            <a:r>
              <a:rPr dirty="0" sz="600" spc="25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   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	2   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	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97392" y="2043163"/>
            <a:ext cx="1895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0">
                <a:latin typeface="Georgia"/>
                <a:cs typeface="Georgia"/>
              </a:rPr>
              <a:t>[HC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9722" y="1948129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8009" y="251067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8486" y="252413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7933" y="2427274"/>
            <a:ext cx="841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δ</a:t>
            </a:r>
            <a:r>
              <a:rPr dirty="0" sz="1100" spc="-20">
                <a:latin typeface="Georgia"/>
                <a:cs typeface="Georgia"/>
              </a:rPr>
              <a:t>(HC 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41666" sz="900" spc="89">
                <a:latin typeface="Lucida Sans Unicode"/>
                <a:cs typeface="Lucida Sans Unicode"/>
              </a:rPr>
              <a:t>−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64678" y="2333548"/>
            <a:ext cx="597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[HC</a:t>
            </a:r>
            <a:r>
              <a:rPr dirty="0" baseline="-13888" sz="900" spc="-89">
                <a:latin typeface="Times New Roman"/>
                <a:cs typeface="Times New Roman"/>
              </a:rPr>
              <a:t>2</a:t>
            </a:r>
            <a:r>
              <a:rPr dirty="0" sz="1100" spc="-60">
                <a:latin typeface="Georgia"/>
                <a:cs typeface="Georgia"/>
              </a:rPr>
              <a:t>O</a:t>
            </a:r>
            <a:r>
              <a:rPr dirty="0" baseline="37037" sz="900" spc="-89">
                <a:latin typeface="Lucida Sans Unicode"/>
                <a:cs typeface="Lucida Sans Unicode"/>
              </a:rPr>
              <a:t>−</a:t>
            </a:r>
            <a:r>
              <a:rPr dirty="0" baseline="-23148" sz="900" spc="-89">
                <a:latin typeface="Times New Roman"/>
                <a:cs typeface="Times New Roman"/>
              </a:rPr>
              <a:t>4</a:t>
            </a:r>
            <a:r>
              <a:rPr dirty="0" baseline="-23148" sz="900" spc="-15">
                <a:latin typeface="Times New Roman"/>
                <a:cs typeface="Times New Roman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44396" y="2543886"/>
            <a:ext cx="638175" cy="0"/>
          </a:xfrm>
          <a:custGeom>
            <a:avLst/>
            <a:gdLst/>
            <a:ahLst/>
            <a:cxnLst/>
            <a:rect l="l" t="t" r="r" b="b"/>
            <a:pathLst>
              <a:path w="638175" h="0">
                <a:moveTo>
                  <a:pt x="0" y="0"/>
                </a:moveTo>
                <a:lnTo>
                  <a:pt x="6375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549438" y="2605709"/>
            <a:ext cx="3854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31696" y="2522309"/>
            <a:ext cx="663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22957" y="2427274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33408" y="2333548"/>
            <a:ext cx="597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[HC</a:t>
            </a:r>
            <a:r>
              <a:rPr dirty="0" baseline="-13888" sz="900" spc="-89">
                <a:latin typeface="Times New Roman"/>
                <a:cs typeface="Times New Roman"/>
              </a:rPr>
              <a:t>2</a:t>
            </a:r>
            <a:r>
              <a:rPr dirty="0" sz="1100" spc="-60">
                <a:latin typeface="Georgia"/>
                <a:cs typeface="Georgia"/>
              </a:rPr>
              <a:t>O</a:t>
            </a:r>
            <a:r>
              <a:rPr dirty="0" baseline="37037" sz="900" spc="-89">
                <a:latin typeface="Lucida Sans Unicode"/>
                <a:cs typeface="Lucida Sans Unicode"/>
              </a:rPr>
              <a:t>−</a:t>
            </a:r>
            <a:r>
              <a:rPr dirty="0" baseline="-23148" sz="900" spc="-89">
                <a:latin typeface="Times New Roman"/>
                <a:cs typeface="Times New Roman"/>
              </a:rPr>
              <a:t>4</a:t>
            </a:r>
            <a:r>
              <a:rPr dirty="0" baseline="-23148" sz="900" spc="-15">
                <a:latin typeface="Times New Roman"/>
                <a:cs typeface="Times New Roman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197087" y="2543886"/>
            <a:ext cx="1870075" cy="0"/>
          </a:xfrm>
          <a:custGeom>
            <a:avLst/>
            <a:gdLst/>
            <a:ahLst/>
            <a:cxnLst/>
            <a:rect l="l" t="t" r="r" b="b"/>
            <a:pathLst>
              <a:path w="1870075" h="0">
                <a:moveTo>
                  <a:pt x="0" y="0"/>
                </a:moveTo>
                <a:lnTo>
                  <a:pt x="186969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303498" y="2526665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26779" y="2608300"/>
            <a:ext cx="10490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8675" algn="l"/>
              </a:tabLst>
            </a:pPr>
            <a:r>
              <a:rPr dirty="0" sz="600" spc="65">
                <a:latin typeface="Times New Roman"/>
                <a:cs typeface="Times New Roman"/>
              </a:rPr>
              <a:t>2  </a:t>
            </a:r>
            <a:r>
              <a:rPr dirty="0" sz="600" spc="25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   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	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9768" y="252666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29291" y="2608300"/>
            <a:ext cx="232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84387" y="2522309"/>
            <a:ext cx="1895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0">
                <a:latin typeface="Georgia"/>
                <a:cs typeface="Georgia"/>
              </a:rPr>
              <a:t>[HC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79722" y="2427274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2850" y="293287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23328" y="285489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3328" y="294634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2099" y="2849473"/>
            <a:ext cx="732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δ</a:t>
            </a:r>
            <a:r>
              <a:rPr dirty="0" sz="1100">
                <a:latin typeface="Georgia"/>
                <a:cs typeface="Georgia"/>
              </a:rPr>
              <a:t>(C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02943" y="2852623"/>
            <a:ext cx="663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8780" algn="l"/>
                <a:tab pos="649605" algn="l"/>
              </a:tabLst>
            </a:pP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	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64678" y="2755747"/>
            <a:ext cx="5397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[C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37037" sz="900" spc="37">
                <a:latin typeface="Times New Roman"/>
                <a:cs typeface="Times New Roman"/>
              </a:rPr>
              <a:t>2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994204" y="284947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55634" y="2852623"/>
            <a:ext cx="18954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4730" algn="l"/>
                <a:tab pos="1882139" algn="l"/>
              </a:tabLst>
            </a:pP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	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33408" y="2755747"/>
            <a:ext cx="5397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[C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37037" sz="900" spc="37">
                <a:latin typeface="Times New Roman"/>
                <a:cs typeface="Times New Roman"/>
              </a:rPr>
              <a:t>2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20685" y="3027908"/>
            <a:ext cx="1162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9940" algn="l"/>
              </a:tabLst>
            </a:pPr>
            <a:r>
              <a:rPr dirty="0" sz="600" spc="65">
                <a:latin typeface="Times New Roman"/>
                <a:cs typeface="Times New Roman"/>
              </a:rPr>
              <a:t>2  </a:t>
            </a:r>
            <a:r>
              <a:rPr dirty="0" sz="600" spc="25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   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	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114268" y="3030499"/>
            <a:ext cx="232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274745" y="2948863"/>
            <a:ext cx="731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880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00538" y="3030499"/>
            <a:ext cx="232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02943" y="2944507"/>
            <a:ext cx="2748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4869" algn="l"/>
              </a:tabLst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0">
                <a:latin typeface="Georgia"/>
                <a:cs typeface="Georgia"/>
              </a:rPr>
              <a:t>[HC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279722" y="2849473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草酸的分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布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550456"/>
            <a:ext cx="12299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借助如下关系</a:t>
            </a:r>
            <a:r>
              <a:rPr dirty="0" spc="-90"/>
              <a:t>式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6682" y="852919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4473" y="1024890"/>
            <a:ext cx="90296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2 2 4</a:t>
            </a:r>
            <a:r>
              <a:rPr dirty="0" sz="600" spc="50">
                <a:latin typeface="Times New Roman"/>
                <a:cs typeface="Times New Roman"/>
              </a:rPr>
              <a:t> </a:t>
            </a:r>
            <a:r>
              <a:rPr dirty="0" baseline="6172" sz="675" spc="434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    </a:t>
            </a:r>
            <a:r>
              <a:rPr dirty="0" baseline="6172" sz="675" spc="307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5673" y="94691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6294" y="102489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162" y="941489"/>
            <a:ext cx="181546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89635" algn="l"/>
              </a:tabLst>
            </a:pP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2525" sz="1650" spc="44">
                <a:latin typeface="Georgia"/>
                <a:cs typeface="Georgia"/>
              </a:rPr>
              <a:t>	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HC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6772" y="946912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6772" y="103836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3299" y="941489"/>
            <a:ext cx="143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5564" y="1024890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60992" y="882015"/>
            <a:ext cx="10172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60425" algn="l"/>
              </a:tabLst>
            </a:pPr>
            <a:r>
              <a:rPr dirty="0" baseline="-22727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600" spc="-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2409" y="847763"/>
            <a:ext cx="8553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3703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][HC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</a:t>
            </a:r>
            <a:r>
              <a:rPr dirty="0" baseline="37037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6305" y="1119924"/>
            <a:ext cx="3854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3912" y="1036523"/>
            <a:ext cx="5727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5047" y="150999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085" y="1426591"/>
            <a:ext cx="389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HC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5524" y="143200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1196" y="1338008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4973" y="1500797"/>
            <a:ext cx="50101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4490" algn="l"/>
              </a:tabLst>
            </a:pPr>
            <a:r>
              <a:rPr dirty="0" sz="450" spc="204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r>
              <a:rPr dirty="0" sz="450">
                <a:latin typeface="Arial Unicode MS"/>
                <a:cs typeface="Arial Unicode MS"/>
              </a:rPr>
              <a:t>	</a:t>
            </a:r>
            <a:r>
              <a:rPr dirty="0" sz="450" spc="-430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8052" y="1524660"/>
            <a:ext cx="513715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290">
                <a:latin typeface="Arial Unicode MS"/>
                <a:cs typeface="Arial Unicode MS"/>
              </a:rPr>
              <a:t>、</a:t>
            </a:r>
            <a:r>
              <a:rPr dirty="0" sz="450" spc="290">
                <a:latin typeface="Arial Unicode MS"/>
                <a:cs typeface="Arial Unicode MS"/>
              </a:rPr>
              <a:t>     </a:t>
            </a:r>
            <a:r>
              <a:rPr dirty="0" sz="450" spc="204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00186" y="1432001"/>
            <a:ext cx="6521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943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5524" y="1523454"/>
            <a:ext cx="13036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43965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96275" y="1426591"/>
            <a:ext cx="1157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26160" algn="l"/>
              </a:tabLst>
            </a:pP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80">
                <a:latin typeface="Georgia"/>
                <a:cs typeface="Georgia"/>
              </a:rPr>
              <a:t>  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21496" y="1509991"/>
            <a:ext cx="86486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1882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47987" y="1367104"/>
            <a:ext cx="9594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56285" algn="l"/>
              </a:tabLst>
            </a:pPr>
            <a:r>
              <a:rPr dirty="0" baseline="-22727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6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09404" y="1332852"/>
            <a:ext cx="7981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[H</a:t>
            </a:r>
            <a:r>
              <a:rPr dirty="0" baseline="37037" sz="900" spc="22">
                <a:latin typeface="Times New Roman"/>
                <a:cs typeface="Times New Roman"/>
              </a:rPr>
              <a:t>+</a:t>
            </a:r>
            <a:r>
              <a:rPr dirty="0" sz="1100" spc="15">
                <a:latin typeface="Georgia"/>
                <a:cs typeface="Georgia"/>
              </a:rPr>
              <a:t>][C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</a:t>
            </a:r>
            <a:r>
              <a:rPr dirty="0" baseline="37037" sz="900" spc="22">
                <a:latin typeface="Times New Roman"/>
                <a:cs typeface="Times New Roman"/>
              </a:rPr>
              <a:t>2</a:t>
            </a:r>
            <a:r>
              <a:rPr dirty="0" baseline="37037" sz="900" spc="22">
                <a:latin typeface="Lucida Sans Unicode"/>
                <a:cs typeface="Lucida Sans Unicode"/>
              </a:rPr>
              <a:t>−</a:t>
            </a:r>
            <a:r>
              <a:rPr dirty="0" sz="1100" spc="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77602" y="1607616"/>
            <a:ext cx="232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09747" y="1521625"/>
            <a:ext cx="597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[HC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O</a:t>
            </a:r>
            <a:r>
              <a:rPr dirty="0" baseline="41666" sz="900" spc="22">
                <a:latin typeface="Lucida Sans Unicode"/>
                <a:cs typeface="Lucida Sans Unicode"/>
              </a:rPr>
              <a:t>−</a:t>
            </a:r>
            <a:r>
              <a:rPr dirty="0" sz="1100" spc="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7624" y="1737423"/>
            <a:ext cx="29984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5">
                <a:latin typeface="Arial Unicode MS"/>
                <a:cs typeface="Arial Unicode MS"/>
              </a:rPr>
              <a:t>（</a:t>
            </a:r>
            <a:r>
              <a:rPr dirty="0" sz="1100" spc="-95">
                <a:latin typeface="Georgia"/>
                <a:cs typeface="Georgia"/>
                <a:hlinkClick r:id="rId2" action="ppaction://hlinksldjump"/>
              </a:rPr>
              <a:t>5</a:t>
            </a:r>
            <a:r>
              <a:rPr dirty="0" sz="1200" spc="-95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340">
                <a:latin typeface="Arial Unicode MS"/>
                <a:cs typeface="Arial Unicode MS"/>
              </a:rPr>
              <a:t>，（</a:t>
            </a:r>
            <a:r>
              <a:rPr dirty="0" sz="1100" spc="-340">
                <a:latin typeface="Georgia"/>
                <a:cs typeface="Georgia"/>
                <a:hlinkClick r:id="rId2" action="ppaction://hlinksldjump"/>
              </a:rPr>
              <a:t>6</a:t>
            </a:r>
            <a:r>
              <a:rPr dirty="0" sz="1200" spc="-34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260">
                <a:latin typeface="Arial Unicode MS"/>
                <a:cs typeface="Arial Unicode MS"/>
              </a:rPr>
              <a:t>和</a:t>
            </a:r>
            <a:r>
              <a:rPr dirty="0" sz="1200" spc="-90">
                <a:latin typeface="Arial Unicode MS"/>
                <a:cs typeface="Arial Unicode MS"/>
              </a:rPr>
              <a:t>（</a:t>
            </a:r>
            <a:r>
              <a:rPr dirty="0" sz="1100" spc="-90">
                <a:latin typeface="Georgia"/>
                <a:cs typeface="Georgia"/>
                <a:hlinkClick r:id="rId2" action="ppaction://hlinksldjump"/>
              </a:rPr>
              <a:t>7</a:t>
            </a:r>
            <a:r>
              <a:rPr dirty="0" sz="1200" spc="-9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式可整理成如下形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25039" y="2005749"/>
            <a:ext cx="381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3703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37037" sz="900">
                <a:latin typeface="Times New Roman"/>
                <a:cs typeface="Times New Roman"/>
              </a:rPr>
              <a:t>2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927783" y="2216086"/>
            <a:ext cx="1581785" cy="0"/>
          </a:xfrm>
          <a:custGeom>
            <a:avLst/>
            <a:gdLst/>
            <a:ahLst/>
            <a:cxnLst/>
            <a:rect l="l" t="t" r="r" b="b"/>
            <a:pathLst>
              <a:path w="1581785" h="0">
                <a:moveTo>
                  <a:pt x="0" y="0"/>
                </a:moveTo>
                <a:lnTo>
                  <a:pt x="15816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045324" y="2099475"/>
            <a:ext cx="1518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30" b="0" i="1">
                <a:latin typeface="Bookman Old Style"/>
                <a:cs typeface="Bookman Old Style"/>
              </a:rPr>
              <a:t>δ</a:t>
            </a:r>
            <a:r>
              <a:rPr dirty="0" sz="1100" spc="30">
                <a:latin typeface="Georgia"/>
                <a:cs typeface="Georgia"/>
              </a:rPr>
              <a:t>(H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C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4</a:t>
            </a:r>
            <a:r>
              <a:rPr dirty="0" sz="1100" spc="3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>
                <a:latin typeface="Georgia"/>
                <a:cs typeface="Georgia"/>
              </a:rPr>
              <a:t>[H</a:t>
            </a:r>
            <a:r>
              <a:rPr dirty="0" baseline="-41666" sz="900">
                <a:latin typeface="Times New Roman"/>
                <a:cs typeface="Times New Roman"/>
              </a:rPr>
              <a:t>+</a:t>
            </a:r>
            <a:r>
              <a:rPr dirty="0" baseline="-37878" sz="1650">
                <a:latin typeface="Georgia"/>
                <a:cs typeface="Georgia"/>
              </a:rPr>
              <a:t>]</a:t>
            </a:r>
            <a:r>
              <a:rPr dirty="0" baseline="-41666" sz="900">
                <a:latin typeface="Times New Roman"/>
                <a:cs typeface="Times New Roman"/>
              </a:rPr>
              <a:t>2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89">
                <a:latin typeface="Georgia"/>
                <a:cs typeface="Georgia"/>
              </a:rPr>
              <a:t> </a:t>
            </a:r>
            <a:r>
              <a:rPr dirty="0" baseline="-37878" sz="1650" spc="195" b="0" i="1">
                <a:latin typeface="Bookman Old Style"/>
                <a:cs typeface="Bookman Old Style"/>
              </a:rPr>
              <a:t>K</a:t>
            </a:r>
            <a:endParaRPr baseline="-37878" sz="165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87612" y="2277922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94546" y="2194509"/>
            <a:ext cx="846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254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39744" y="2277922"/>
            <a:ext cx="3956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2255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08391" y="26338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68869" y="26473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83729" y="2550439"/>
            <a:ext cx="790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δ</a:t>
            </a:r>
            <a:r>
              <a:rPr dirty="0" sz="1100" spc="-20">
                <a:latin typeface="Georgia"/>
                <a:cs typeface="Georgia"/>
              </a:rPr>
              <a:t>(HC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68869" y="2555862"/>
            <a:ext cx="19405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5440" algn="l"/>
                <a:tab pos="1063625" algn="l"/>
                <a:tab pos="192722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	</a:t>
            </a:r>
            <a:r>
              <a:rPr dirty="0" u="sng" sz="600" spc="9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	</a:t>
            </a:r>
            <a:r>
              <a:rPr dirty="0" u="sng" sz="500" spc="8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	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426080" y="2456713"/>
            <a:ext cx="559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r>
              <a:rPr dirty="0" baseline="-13888" sz="900" spc="315" i="1">
                <a:latin typeface="Arial"/>
                <a:cs typeface="Arial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76691" y="2645473"/>
            <a:ext cx="1551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2777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27777" sz="90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33246" y="30331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93723" y="295512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93723" y="304657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12481" y="2949702"/>
            <a:ext cx="732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δ</a:t>
            </a:r>
            <a:r>
              <a:rPr dirty="0" sz="1100">
                <a:latin typeface="Georgia"/>
                <a:cs typeface="Georgia"/>
              </a:rPr>
              <a:t>(C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01417" y="2709168"/>
            <a:ext cx="1133475" cy="33845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250"/>
              </a:spcBef>
              <a:tabLst>
                <a:tab pos="763270" algn="l"/>
                <a:tab pos="987425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</a:t>
            </a:r>
            <a:endParaRPr baseline="-11111"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886026" y="3066313"/>
            <a:ext cx="1581785" cy="0"/>
          </a:xfrm>
          <a:custGeom>
            <a:avLst/>
            <a:gdLst/>
            <a:ahLst/>
            <a:cxnLst/>
            <a:rect l="l" t="t" r="r" b="b"/>
            <a:pathLst>
              <a:path w="1581785" h="0">
                <a:moveTo>
                  <a:pt x="0" y="0"/>
                </a:moveTo>
                <a:lnTo>
                  <a:pt x="15816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835226" y="3044736"/>
            <a:ext cx="1683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397">
                <a:latin typeface="Times New Roman"/>
                <a:cs typeface="Times New Roman"/>
              </a:rPr>
              <a:t>+</a:t>
            </a:r>
            <a:r>
              <a:rPr dirty="0" sz="1100" spc="-114">
                <a:latin typeface="Georgia"/>
                <a:cs typeface="Georgia"/>
              </a:rPr>
              <a:t>]</a:t>
            </a:r>
            <a:r>
              <a:rPr dirty="0" baseline="27777" sz="900" spc="97">
                <a:latin typeface="Times New Roman"/>
                <a:cs typeface="Times New Roman"/>
              </a:rPr>
              <a:t>2</a:t>
            </a:r>
            <a:r>
              <a:rPr dirty="0" baseline="27777" sz="900">
                <a:latin typeface="Times New Roman"/>
                <a:cs typeface="Times New Roman"/>
              </a:rPr>
              <a:t> </a:t>
            </a:r>
            <a:r>
              <a:rPr dirty="0" baseline="27777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397">
                <a:latin typeface="Times New Roman"/>
                <a:cs typeface="Times New Roman"/>
              </a:rPr>
              <a:t>+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54774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4.4.4</a:t>
            </a:r>
            <a:r>
              <a:rPr dirty="0" sz="1400" spc="14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三元弱酸碱溶液中各种型体的分布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639965"/>
            <a:ext cx="39731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三元弱酸溶液中各种型体的分布分数的计算方式与二元弱酸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893" y="960361"/>
            <a:ext cx="2441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1850389" algn="l"/>
                <a:tab pos="2105660" algn="l"/>
                <a:tab pos="238188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7348" y="889305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7348" y="9738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863663"/>
            <a:ext cx="38823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类</a:t>
            </a:r>
            <a:r>
              <a:rPr dirty="0" sz="1200" spc="-20">
                <a:latin typeface="Arial Unicode MS"/>
                <a:cs typeface="Arial Unicode MS"/>
              </a:rPr>
              <a:t>似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1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水溶液中存在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135">
                <a:latin typeface="Arial Unicode MS"/>
                <a:cs typeface="Arial Unicode MS"/>
              </a:rPr>
              <a:t>，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280">
                <a:latin typeface="Georgia"/>
                <a:cs typeface="Georgia"/>
              </a:rPr>
              <a:t> 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HPO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2669" y="88930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2669" y="9738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9563" y="111300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9563" y="119752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113" y="1087361"/>
            <a:ext cx="12560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r>
              <a:rPr dirty="0" baseline="37037" sz="900" spc="29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四种型体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99780" y="1087361"/>
            <a:ext cx="16624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它们的分布分数如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95791" y="1390637"/>
            <a:ext cx="381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3703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37037" sz="900">
                <a:latin typeface="Times New Roman"/>
                <a:cs typeface="Times New Roman"/>
              </a:rPr>
              <a:t>3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21511" y="1600974"/>
            <a:ext cx="2736215" cy="0"/>
          </a:xfrm>
          <a:custGeom>
            <a:avLst/>
            <a:gdLst/>
            <a:ahLst/>
            <a:cxnLst/>
            <a:rect l="l" t="t" r="r" b="b"/>
            <a:pathLst>
              <a:path w="2736215" h="0">
                <a:moveTo>
                  <a:pt x="0" y="0"/>
                </a:moveTo>
                <a:lnTo>
                  <a:pt x="27356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97535" y="1484363"/>
            <a:ext cx="1460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δ</a:t>
            </a:r>
            <a:r>
              <a:rPr dirty="0" sz="1100" spc="20">
                <a:latin typeface="Georgia"/>
                <a:cs typeface="Georgia"/>
              </a:rPr>
              <a:t>(H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sz="1100" spc="20">
                <a:latin typeface="Georgia"/>
                <a:cs typeface="Georgia"/>
              </a:rPr>
              <a:t>PO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1100" spc="2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>
                <a:latin typeface="Georgia"/>
                <a:cs typeface="Georgia"/>
              </a:rPr>
              <a:t>[H</a:t>
            </a:r>
            <a:r>
              <a:rPr dirty="0" baseline="-41666" sz="900">
                <a:latin typeface="Times New Roman"/>
                <a:cs typeface="Times New Roman"/>
              </a:rPr>
              <a:t>+</a:t>
            </a:r>
            <a:r>
              <a:rPr dirty="0" baseline="-37878" sz="1650">
                <a:latin typeface="Georgia"/>
                <a:cs typeface="Georgia"/>
              </a:rPr>
              <a:t>]</a:t>
            </a:r>
            <a:r>
              <a:rPr dirty="0" baseline="-41666" sz="900">
                <a:latin typeface="Times New Roman"/>
                <a:cs typeface="Times New Roman"/>
              </a:rPr>
              <a:t>3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82">
                <a:latin typeface="Georgia"/>
                <a:cs typeface="Georgia"/>
              </a:rPr>
              <a:t> </a:t>
            </a:r>
            <a:r>
              <a:rPr dirty="0" baseline="-37878" sz="1650" spc="195" b="0" i="1">
                <a:latin typeface="Bookman Old Style"/>
                <a:cs typeface="Bookman Old Style"/>
              </a:rPr>
              <a:t>K</a:t>
            </a:r>
            <a:endParaRPr baseline="-37878" sz="165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81327" y="1662811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75561" y="1579397"/>
            <a:ext cx="2132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405">
                <a:latin typeface="Times New Roman"/>
                <a:cs typeface="Times New Roman"/>
              </a:rPr>
              <a:t>+</a:t>
            </a:r>
            <a:r>
              <a:rPr dirty="0" sz="1100" spc="-114">
                <a:latin typeface="Georgia"/>
                <a:cs typeface="Georgia"/>
              </a:rPr>
              <a:t>]</a:t>
            </a:r>
            <a:r>
              <a:rPr dirty="0" baseline="27777" sz="900" spc="97">
                <a:latin typeface="Times New Roman"/>
                <a:cs typeface="Times New Roman"/>
              </a:rPr>
              <a:t>2</a:t>
            </a:r>
            <a:r>
              <a:rPr dirty="0" baseline="27777" sz="900">
                <a:latin typeface="Times New Roman"/>
                <a:cs typeface="Times New Roman"/>
              </a:rPr>
              <a:t> </a:t>
            </a:r>
            <a:r>
              <a:rPr dirty="0" baseline="27777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97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397">
                <a:latin typeface="Times New Roman"/>
                <a:cs typeface="Times New Roman"/>
              </a:rPr>
              <a:t>+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3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4174" y="204767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8949" y="20611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9574" y="1964270"/>
            <a:ext cx="784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8949" y="1969693"/>
            <a:ext cx="30943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5440" algn="l"/>
                <a:tab pos="1614805" algn="l"/>
                <a:tab pos="3081020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	</a:t>
            </a:r>
            <a:r>
              <a:rPr dirty="0" u="sng" sz="600" spc="9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	</a:t>
            </a:r>
            <a:r>
              <a:rPr dirty="0" u="sng" sz="500" spc="8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	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6845" y="1870544"/>
            <a:ext cx="605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r>
              <a:rPr dirty="0" baseline="-13888" sz="900" spc="322" i="1">
                <a:latin typeface="Arial"/>
                <a:cs typeface="Arial"/>
              </a:rPr>
              <a:t> </a:t>
            </a:r>
            <a:r>
              <a:rPr dirty="0" sz="1100" spc="5">
                <a:latin typeface="Georgia"/>
                <a:cs typeface="Georgia"/>
              </a:rPr>
              <a:t>[H</a:t>
            </a:r>
            <a:r>
              <a:rPr dirty="0" baseline="37037" sz="900" spc="7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]</a:t>
            </a:r>
            <a:r>
              <a:rPr dirty="0" baseline="37037" sz="900" spc="7">
                <a:latin typeface="Times New Roman"/>
                <a:cs typeface="Times New Roman"/>
              </a:rPr>
              <a:t>2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96758" y="2059305"/>
            <a:ext cx="2705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[H</a:t>
            </a:r>
            <a:r>
              <a:rPr dirty="0" baseline="27777" sz="900" spc="7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]</a:t>
            </a:r>
            <a:r>
              <a:rPr dirty="0" baseline="27777" sz="900" spc="7">
                <a:latin typeface="Times New Roman"/>
                <a:cs typeface="Times New Roman"/>
              </a:rPr>
              <a:t>3</a:t>
            </a:r>
            <a:r>
              <a:rPr dirty="0" baseline="27777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5" b="0" i="1">
                <a:latin typeface="Bookman Old Style"/>
                <a:cs typeface="Bookman Old Style"/>
              </a:rPr>
              <a:t> </a:t>
            </a: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2777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27777" sz="900">
                <a:latin typeface="Times New Roman"/>
                <a:cs typeface="Times New Roman"/>
              </a:rPr>
              <a:t>2</a:t>
            </a:r>
            <a:r>
              <a:rPr dirty="0" baseline="27777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5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5" b="0" i="1">
                <a:latin typeface="Bookman Old Style"/>
                <a:cs typeface="Bookman Old Style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0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5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69274" y="2142718"/>
            <a:ext cx="22396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767715" algn="l"/>
                <a:tab pos="992505" algn="l"/>
                <a:tab pos="1644650" algn="l"/>
                <a:tab pos="1869439" algn="l"/>
                <a:tab pos="209423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3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9393" y="24841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2737" y="2387244"/>
            <a:ext cx="778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δ</a:t>
            </a:r>
            <a:r>
              <a:rPr dirty="0" sz="1100" spc="-15">
                <a:latin typeface="Georgia"/>
                <a:cs typeface="Georgia"/>
              </a:rPr>
              <a:t>(HPO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9393" y="2392654"/>
            <a:ext cx="31407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1795" algn="l"/>
                <a:tab pos="1574800" algn="l"/>
                <a:tab pos="1799589" algn="l"/>
                <a:tab pos="3127375" algn="l"/>
              </a:tabLst>
            </a:pPr>
            <a:r>
              <a:rPr dirty="0" sz="600" spc="80">
                <a:latin typeface="Times New Roman"/>
                <a:cs typeface="Times New Roman"/>
              </a:rPr>
              <a:t>2</a:t>
            </a:r>
            <a:r>
              <a:rPr dirty="0" sz="600" spc="80">
                <a:latin typeface="Lucida Sans Unicode"/>
                <a:cs typeface="Lucida Sans Unicode"/>
              </a:rPr>
              <a:t>−	</a:t>
            </a:r>
            <a:r>
              <a:rPr dirty="0" u="sng" sz="600" spc="8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	</a:t>
            </a:r>
            <a:r>
              <a:rPr dirty="0" u="sng" sz="500" spc="8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	2	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07729" y="2293518"/>
            <a:ext cx="784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r>
              <a:rPr dirty="0" baseline="-13888" sz="900" spc="157" i="1">
                <a:latin typeface="Arial"/>
                <a:cs typeface="Arial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91512" y="2565679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93596" y="2482278"/>
            <a:ext cx="2705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2777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27777" sz="900">
                <a:latin typeface="Times New Roman"/>
                <a:cs typeface="Times New Roman"/>
              </a:rPr>
              <a:t>3</a:t>
            </a:r>
            <a:r>
              <a:rPr dirty="0" baseline="27777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9" b="0" i="1">
                <a:latin typeface="Bookman Old Style"/>
                <a:cs typeface="Bookman Old Style"/>
              </a:rPr>
              <a:t> </a:t>
            </a: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2777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27777" sz="900">
                <a:latin typeface="Times New Roman"/>
                <a:cs typeface="Times New Roman"/>
              </a:rPr>
              <a:t>2</a:t>
            </a:r>
            <a:r>
              <a:rPr dirty="0" baseline="27777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9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5" b="0" i="1">
                <a:latin typeface="Bookman Old Style"/>
                <a:cs typeface="Bookman Old Style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9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5" b="0" i="1">
                <a:latin typeface="Bookman Old Style"/>
                <a:cs typeface="Bookman Old Styl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7437" y="280639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7437" y="289784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4692" y="2800972"/>
            <a:ext cx="674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δ</a:t>
            </a:r>
            <a:r>
              <a:rPr dirty="0" sz="1100">
                <a:latin typeface="Georgia"/>
                <a:cs typeface="Georgia"/>
              </a:rPr>
              <a:t>(PO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59876" y="2538026"/>
            <a:ext cx="1845945" cy="3613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74015">
              <a:lnSpc>
                <a:spcPct val="100000"/>
              </a:lnSpc>
              <a:spcBef>
                <a:spcPts val="315"/>
              </a:spcBef>
              <a:tabLst>
                <a:tab pos="598805" algn="l"/>
                <a:tab pos="1250950" algn="l"/>
                <a:tab pos="1475740" algn="l"/>
                <a:tab pos="1699895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3</a:t>
            </a:r>
            <a:endParaRPr baseline="-11111" sz="75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3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279740" y="2917583"/>
            <a:ext cx="2736215" cy="0"/>
          </a:xfrm>
          <a:custGeom>
            <a:avLst/>
            <a:gdLst/>
            <a:ahLst/>
            <a:cxnLst/>
            <a:rect l="l" t="t" r="r" b="b"/>
            <a:pathLst>
              <a:path w="2736215" h="0">
                <a:moveTo>
                  <a:pt x="0" y="0"/>
                </a:moveTo>
                <a:lnTo>
                  <a:pt x="27356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228940" y="2896006"/>
            <a:ext cx="28378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405">
                <a:latin typeface="Times New Roman"/>
                <a:cs typeface="Times New Roman"/>
              </a:rPr>
              <a:t>+</a:t>
            </a:r>
            <a:r>
              <a:rPr dirty="0" sz="1100" spc="-114">
                <a:latin typeface="Georgia"/>
                <a:cs typeface="Georgia"/>
              </a:rPr>
              <a:t>]</a:t>
            </a:r>
            <a:r>
              <a:rPr dirty="0" baseline="27777" sz="900" spc="97">
                <a:latin typeface="Times New Roman"/>
                <a:cs typeface="Times New Roman"/>
              </a:rPr>
              <a:t>3</a:t>
            </a:r>
            <a:r>
              <a:rPr dirty="0" baseline="27777" sz="900">
                <a:latin typeface="Times New Roman"/>
                <a:cs typeface="Times New Roman"/>
              </a:rPr>
              <a:t> </a:t>
            </a:r>
            <a:r>
              <a:rPr dirty="0" baseline="27777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397">
                <a:latin typeface="Times New Roman"/>
                <a:cs typeface="Times New Roman"/>
              </a:rPr>
              <a:t>+</a:t>
            </a:r>
            <a:r>
              <a:rPr dirty="0" sz="1100" spc="-114">
                <a:latin typeface="Georgia"/>
                <a:cs typeface="Georgia"/>
              </a:rPr>
              <a:t>]</a:t>
            </a:r>
            <a:r>
              <a:rPr dirty="0" baseline="27777" sz="900" spc="97">
                <a:latin typeface="Times New Roman"/>
                <a:cs typeface="Times New Roman"/>
              </a:rPr>
              <a:t>2</a:t>
            </a:r>
            <a:r>
              <a:rPr dirty="0" baseline="27777" sz="900">
                <a:latin typeface="Times New Roman"/>
                <a:cs typeface="Times New Roman"/>
              </a:rPr>
              <a:t> </a:t>
            </a:r>
            <a:r>
              <a:rPr dirty="0" baseline="27777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405">
                <a:latin typeface="Times New Roman"/>
                <a:cs typeface="Times New Roman"/>
              </a:rPr>
              <a:t>+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97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3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211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磷酸的分</a:t>
            </a:r>
            <a:r>
              <a:rPr dirty="0" sz="1050" spc="-10">
                <a:solidFill>
                  <a:srgbClr val="FFFFFF"/>
                </a:solidFill>
              </a:rPr>
              <a:t>布</a:t>
            </a:r>
            <a:r>
              <a:rPr dirty="0" sz="1050" spc="-5">
                <a:solidFill>
                  <a:srgbClr val="FFFFFF"/>
                </a:solidFill>
              </a:rPr>
              <a:t>分数曲线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1287140" y="745396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29" h="0">
                <a:moveTo>
                  <a:pt x="0" y="0"/>
                </a:moveTo>
                <a:lnTo>
                  <a:pt x="22209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87140" y="2496219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29" h="0">
                <a:moveTo>
                  <a:pt x="0" y="0"/>
                </a:moveTo>
                <a:lnTo>
                  <a:pt x="22209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08078" y="745396"/>
            <a:ext cx="0" cy="1751330"/>
          </a:xfrm>
          <a:custGeom>
            <a:avLst/>
            <a:gdLst/>
            <a:ahLst/>
            <a:cxnLst/>
            <a:rect l="l" t="t" r="r" b="b"/>
            <a:pathLst>
              <a:path w="0" h="1751330">
                <a:moveTo>
                  <a:pt x="0" y="175082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87140" y="745396"/>
            <a:ext cx="0" cy="1751330"/>
          </a:xfrm>
          <a:custGeom>
            <a:avLst/>
            <a:gdLst/>
            <a:ahLst/>
            <a:cxnLst/>
            <a:rect l="l" t="t" r="r" b="b"/>
            <a:pathLst>
              <a:path w="0" h="1751330">
                <a:moveTo>
                  <a:pt x="0" y="175082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87140" y="2496219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29" h="0">
                <a:moveTo>
                  <a:pt x="0" y="0"/>
                </a:moveTo>
                <a:lnTo>
                  <a:pt x="22209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7140" y="745396"/>
            <a:ext cx="0" cy="1751330"/>
          </a:xfrm>
          <a:custGeom>
            <a:avLst/>
            <a:gdLst/>
            <a:ahLst/>
            <a:cxnLst/>
            <a:rect l="l" t="t" r="r" b="b"/>
            <a:pathLst>
              <a:path w="0" h="1751330">
                <a:moveTo>
                  <a:pt x="0" y="175082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87140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7140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55385" y="2492630"/>
            <a:ext cx="641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5"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04416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04416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72662" y="2492630"/>
            <a:ext cx="641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5"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21691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21691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889939" y="2492630"/>
            <a:ext cx="641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5"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38971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38971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56247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56247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524494" y="2492630"/>
            <a:ext cx="641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5">
                <a:latin typeface="Arial"/>
                <a:cs typeface="Arial"/>
              </a:rPr>
              <a:t>8</a:t>
            </a:r>
            <a:endParaRPr sz="5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73522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73522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822303" y="2492630"/>
            <a:ext cx="102870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10</a:t>
            </a:r>
            <a:endParaRPr sz="5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90803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90803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139581" y="2492630"/>
            <a:ext cx="102870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12</a:t>
            </a:r>
            <a:endParaRPr sz="5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508078" y="2473852"/>
            <a:ext cx="0" cy="22860"/>
          </a:xfrm>
          <a:custGeom>
            <a:avLst/>
            <a:gdLst/>
            <a:ahLst/>
            <a:cxnLst/>
            <a:rect l="l" t="t" r="r" b="b"/>
            <a:pathLst>
              <a:path w="0" h="22860">
                <a:moveTo>
                  <a:pt x="0" y="223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08078" y="74539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9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456858" y="2492630"/>
            <a:ext cx="102870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14</a:t>
            </a:r>
            <a:endParaRPr sz="5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87140" y="2496219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485712" y="2496219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221421" y="2439612"/>
            <a:ext cx="6413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5"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87140" y="2321013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85712" y="2321013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163433" y="2264405"/>
            <a:ext cx="12255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0.1</a:t>
            </a:r>
            <a:endParaRPr sz="55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87140" y="2145806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85712" y="2145806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163433" y="2089199"/>
            <a:ext cx="12255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0.2</a:t>
            </a:r>
            <a:endParaRPr sz="5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87140" y="1970600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85712" y="1970600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163433" y="1913992"/>
            <a:ext cx="12255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0.3</a:t>
            </a:r>
            <a:endParaRPr sz="5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287140" y="179580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485712" y="1795805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87140" y="1620599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485712" y="1620599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87140" y="1445392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85712" y="1445392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7140" y="127059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485712" y="1270598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163433" y="1213995"/>
            <a:ext cx="12255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0.7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 spc="-10">
                <a:latin typeface="Arial"/>
                <a:cs typeface="Arial"/>
              </a:rPr>
              <a:t>0.6</a:t>
            </a:r>
            <a:endParaRPr sz="55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287140" y="1095392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485712" y="1095392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163433" y="1038788"/>
            <a:ext cx="122555" cy="109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10">
                <a:latin typeface="Arial"/>
                <a:cs typeface="Arial"/>
              </a:rPr>
              <a:t>0.8</a:t>
            </a:r>
            <a:endParaRPr sz="5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287140" y="92018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485712" y="920185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287140" y="745396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19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485712" y="745396"/>
            <a:ext cx="22860" cy="0"/>
          </a:xfrm>
          <a:custGeom>
            <a:avLst/>
            <a:gdLst/>
            <a:ahLst/>
            <a:cxnLst/>
            <a:rect l="l" t="t" r="r" b="b"/>
            <a:pathLst>
              <a:path w="22860" h="0">
                <a:moveTo>
                  <a:pt x="22366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163433" y="688789"/>
            <a:ext cx="12255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 sz="550" spc="-5"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 spc="-10">
                <a:latin typeface="Arial"/>
                <a:cs typeface="Arial"/>
              </a:rPr>
              <a:t>0.9</a:t>
            </a:r>
            <a:endParaRPr sz="55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287140" y="745396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29" h="0">
                <a:moveTo>
                  <a:pt x="0" y="0"/>
                </a:moveTo>
                <a:lnTo>
                  <a:pt x="22209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287140" y="2496219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29" h="0">
                <a:moveTo>
                  <a:pt x="0" y="0"/>
                </a:moveTo>
                <a:lnTo>
                  <a:pt x="222093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508078" y="745396"/>
            <a:ext cx="0" cy="1751330"/>
          </a:xfrm>
          <a:custGeom>
            <a:avLst/>
            <a:gdLst/>
            <a:ahLst/>
            <a:cxnLst/>
            <a:rect l="l" t="t" r="r" b="b"/>
            <a:pathLst>
              <a:path w="0" h="1751330">
                <a:moveTo>
                  <a:pt x="0" y="175082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87140" y="745396"/>
            <a:ext cx="0" cy="1751330"/>
          </a:xfrm>
          <a:custGeom>
            <a:avLst/>
            <a:gdLst/>
            <a:ahLst/>
            <a:cxnLst/>
            <a:rect l="l" t="t" r="r" b="b"/>
            <a:pathLst>
              <a:path w="0" h="1751330">
                <a:moveTo>
                  <a:pt x="0" y="175082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87140" y="758235"/>
            <a:ext cx="2031364" cy="1737995"/>
          </a:xfrm>
          <a:custGeom>
            <a:avLst/>
            <a:gdLst/>
            <a:ahLst/>
            <a:cxnLst/>
            <a:rect l="l" t="t" r="r" b="b"/>
            <a:pathLst>
              <a:path w="2031364" h="1737995">
                <a:moveTo>
                  <a:pt x="0" y="0"/>
                </a:moveTo>
                <a:lnTo>
                  <a:pt x="62129" y="19051"/>
                </a:lnTo>
                <a:lnTo>
                  <a:pt x="124672" y="64615"/>
                </a:lnTo>
                <a:lnTo>
                  <a:pt x="156150" y="106451"/>
                </a:lnTo>
                <a:lnTo>
                  <a:pt x="187215" y="167750"/>
                </a:lnTo>
                <a:lnTo>
                  <a:pt x="218697" y="255975"/>
                </a:lnTo>
                <a:lnTo>
                  <a:pt x="249762" y="376095"/>
                </a:lnTo>
                <a:lnTo>
                  <a:pt x="280827" y="529760"/>
                </a:lnTo>
                <a:lnTo>
                  <a:pt x="312305" y="712422"/>
                </a:lnTo>
                <a:lnTo>
                  <a:pt x="343370" y="909170"/>
                </a:lnTo>
                <a:lnTo>
                  <a:pt x="374847" y="1101773"/>
                </a:lnTo>
                <a:lnTo>
                  <a:pt x="405912" y="1272009"/>
                </a:lnTo>
                <a:lnTo>
                  <a:pt x="437395" y="1409938"/>
                </a:lnTo>
                <a:lnTo>
                  <a:pt x="468460" y="1514316"/>
                </a:lnTo>
                <a:lnTo>
                  <a:pt x="499937" y="1588872"/>
                </a:lnTo>
                <a:lnTo>
                  <a:pt x="531002" y="1640231"/>
                </a:lnTo>
                <a:lnTo>
                  <a:pt x="562067" y="1674611"/>
                </a:lnTo>
                <a:lnTo>
                  <a:pt x="593545" y="1696978"/>
                </a:lnTo>
                <a:lnTo>
                  <a:pt x="662675" y="1722561"/>
                </a:lnTo>
                <a:lnTo>
                  <a:pt x="701696" y="1729170"/>
                </a:lnTo>
                <a:lnTo>
                  <a:pt x="741212" y="1732832"/>
                </a:lnTo>
                <a:lnTo>
                  <a:pt x="780765" y="1735081"/>
                </a:lnTo>
                <a:lnTo>
                  <a:pt x="827696" y="1736366"/>
                </a:lnTo>
                <a:lnTo>
                  <a:pt x="874574" y="1737073"/>
                </a:lnTo>
                <a:lnTo>
                  <a:pt x="921455" y="1737406"/>
                </a:lnTo>
                <a:lnTo>
                  <a:pt x="968397" y="1737566"/>
                </a:lnTo>
                <a:lnTo>
                  <a:pt x="1017510" y="1737566"/>
                </a:lnTo>
                <a:lnTo>
                  <a:pt x="1066623" y="1737566"/>
                </a:lnTo>
                <a:lnTo>
                  <a:pt x="1312185" y="1737566"/>
                </a:lnTo>
                <a:lnTo>
                  <a:pt x="1363513" y="1737603"/>
                </a:lnTo>
                <a:lnTo>
                  <a:pt x="1414843" y="1737615"/>
                </a:lnTo>
                <a:lnTo>
                  <a:pt x="1466174" y="1737610"/>
                </a:lnTo>
                <a:lnTo>
                  <a:pt x="1517507" y="1737592"/>
                </a:lnTo>
                <a:lnTo>
                  <a:pt x="1568839" y="1737568"/>
                </a:lnTo>
                <a:lnTo>
                  <a:pt x="1620173" y="1737542"/>
                </a:lnTo>
                <a:lnTo>
                  <a:pt x="1671506" y="1737522"/>
                </a:lnTo>
                <a:lnTo>
                  <a:pt x="1722839" y="1737511"/>
                </a:lnTo>
                <a:lnTo>
                  <a:pt x="1774172" y="1737517"/>
                </a:lnTo>
                <a:lnTo>
                  <a:pt x="1825504" y="1737544"/>
                </a:lnTo>
                <a:lnTo>
                  <a:pt x="1876835" y="1737599"/>
                </a:lnTo>
                <a:lnTo>
                  <a:pt x="1928165" y="1737687"/>
                </a:lnTo>
                <a:lnTo>
                  <a:pt x="1979494" y="1737813"/>
                </a:lnTo>
                <a:lnTo>
                  <a:pt x="2030820" y="1737984"/>
                </a:lnTo>
              </a:path>
            </a:pathLst>
          </a:custGeom>
          <a:ln w="994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287140" y="755179"/>
            <a:ext cx="2031364" cy="1741170"/>
          </a:xfrm>
          <a:custGeom>
            <a:avLst/>
            <a:gdLst/>
            <a:ahLst/>
            <a:cxnLst/>
            <a:rect l="l" t="t" r="r" b="b"/>
            <a:pathLst>
              <a:path w="2031364" h="1741170">
                <a:moveTo>
                  <a:pt x="0" y="1727783"/>
                </a:moveTo>
                <a:lnTo>
                  <a:pt x="62129" y="1708732"/>
                </a:lnTo>
                <a:lnTo>
                  <a:pt x="124672" y="1663168"/>
                </a:lnTo>
                <a:lnTo>
                  <a:pt x="156150" y="1621332"/>
                </a:lnTo>
                <a:lnTo>
                  <a:pt x="187215" y="1560033"/>
                </a:lnTo>
                <a:lnTo>
                  <a:pt x="218697" y="1471808"/>
                </a:lnTo>
                <a:lnTo>
                  <a:pt x="249762" y="1351688"/>
                </a:lnTo>
                <a:lnTo>
                  <a:pt x="280827" y="1198023"/>
                </a:lnTo>
                <a:lnTo>
                  <a:pt x="312305" y="1015361"/>
                </a:lnTo>
                <a:lnTo>
                  <a:pt x="343370" y="818613"/>
                </a:lnTo>
                <a:lnTo>
                  <a:pt x="374847" y="626010"/>
                </a:lnTo>
                <a:lnTo>
                  <a:pt x="405912" y="455774"/>
                </a:lnTo>
                <a:lnTo>
                  <a:pt x="437395" y="317845"/>
                </a:lnTo>
                <a:lnTo>
                  <a:pt x="468460" y="213467"/>
                </a:lnTo>
                <a:lnTo>
                  <a:pt x="499937" y="138911"/>
                </a:lnTo>
                <a:lnTo>
                  <a:pt x="531002" y="87964"/>
                </a:lnTo>
                <a:lnTo>
                  <a:pt x="562067" y="53589"/>
                </a:lnTo>
                <a:lnTo>
                  <a:pt x="593545" y="31222"/>
                </a:lnTo>
                <a:lnTo>
                  <a:pt x="675855" y="4576"/>
                </a:lnTo>
                <a:lnTo>
                  <a:pt x="733595" y="0"/>
                </a:lnTo>
                <a:lnTo>
                  <a:pt x="791517" y="3164"/>
                </a:lnTo>
                <a:lnTo>
                  <a:pt x="843307" y="13826"/>
                </a:lnTo>
                <a:lnTo>
                  <a:pt x="905855" y="45716"/>
                </a:lnTo>
                <a:lnTo>
                  <a:pt x="937332" y="75538"/>
                </a:lnTo>
                <a:lnTo>
                  <a:pt x="968397" y="120689"/>
                </a:lnTo>
                <a:lnTo>
                  <a:pt x="999875" y="186960"/>
                </a:lnTo>
                <a:lnTo>
                  <a:pt x="1030940" y="281397"/>
                </a:lnTo>
                <a:lnTo>
                  <a:pt x="1062005" y="408555"/>
                </a:lnTo>
                <a:lnTo>
                  <a:pt x="1093487" y="569268"/>
                </a:lnTo>
                <a:lnTo>
                  <a:pt x="1124552" y="756070"/>
                </a:lnTo>
                <a:lnTo>
                  <a:pt x="1156030" y="953644"/>
                </a:lnTo>
                <a:lnTo>
                  <a:pt x="1187095" y="1142519"/>
                </a:lnTo>
                <a:lnTo>
                  <a:pt x="1218572" y="1306542"/>
                </a:lnTo>
                <a:lnTo>
                  <a:pt x="1249637" y="1437428"/>
                </a:lnTo>
                <a:lnTo>
                  <a:pt x="1281120" y="1535181"/>
                </a:lnTo>
                <a:lnTo>
                  <a:pt x="1312185" y="1604354"/>
                </a:lnTo>
                <a:lnTo>
                  <a:pt x="1343250" y="1651572"/>
                </a:lnTo>
                <a:lnTo>
                  <a:pt x="1374727" y="1683050"/>
                </a:lnTo>
                <a:lnTo>
                  <a:pt x="1437270" y="1717013"/>
                </a:lnTo>
                <a:lnTo>
                  <a:pt x="1499817" y="1731099"/>
                </a:lnTo>
                <a:lnTo>
                  <a:pt x="1561947" y="1736894"/>
                </a:lnTo>
                <a:lnTo>
                  <a:pt x="1601007" y="1738786"/>
                </a:lnTo>
                <a:lnTo>
                  <a:pt x="1640183" y="1739655"/>
                </a:lnTo>
                <a:lnTo>
                  <a:pt x="1679383" y="1740075"/>
                </a:lnTo>
                <a:lnTo>
                  <a:pt x="1718515" y="1740622"/>
                </a:lnTo>
                <a:lnTo>
                  <a:pt x="1978770" y="1740622"/>
                </a:lnTo>
                <a:lnTo>
                  <a:pt x="2030820" y="1740622"/>
                </a:lnTo>
              </a:path>
            </a:pathLst>
          </a:custGeom>
          <a:ln w="994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87140" y="754369"/>
            <a:ext cx="2031364" cy="1741805"/>
          </a:xfrm>
          <a:custGeom>
            <a:avLst/>
            <a:gdLst/>
            <a:ahLst/>
            <a:cxnLst/>
            <a:rect l="l" t="t" r="r" b="b"/>
            <a:pathLst>
              <a:path w="2031364" h="1741805">
                <a:moveTo>
                  <a:pt x="0" y="1741432"/>
                </a:moveTo>
                <a:lnTo>
                  <a:pt x="0" y="1741432"/>
                </a:lnTo>
                <a:lnTo>
                  <a:pt x="405912" y="1741432"/>
                </a:lnTo>
                <a:lnTo>
                  <a:pt x="460595" y="1741421"/>
                </a:lnTo>
                <a:lnTo>
                  <a:pt x="515266" y="1741473"/>
                </a:lnTo>
                <a:lnTo>
                  <a:pt x="569936" y="1741297"/>
                </a:lnTo>
                <a:lnTo>
                  <a:pt x="624610" y="1740607"/>
                </a:lnTo>
                <a:lnTo>
                  <a:pt x="678567" y="1739590"/>
                </a:lnTo>
                <a:lnTo>
                  <a:pt x="735122" y="1737033"/>
                </a:lnTo>
                <a:lnTo>
                  <a:pt x="791094" y="1730877"/>
                </a:lnTo>
                <a:lnTo>
                  <a:pt x="843307" y="1719065"/>
                </a:lnTo>
                <a:lnTo>
                  <a:pt x="905855" y="1686345"/>
                </a:lnTo>
                <a:lnTo>
                  <a:pt x="937332" y="1656523"/>
                </a:lnTo>
                <a:lnTo>
                  <a:pt x="968397" y="1610959"/>
                </a:lnTo>
                <a:lnTo>
                  <a:pt x="999875" y="1544689"/>
                </a:lnTo>
                <a:lnTo>
                  <a:pt x="1030940" y="1450251"/>
                </a:lnTo>
                <a:lnTo>
                  <a:pt x="1062005" y="1323094"/>
                </a:lnTo>
                <a:lnTo>
                  <a:pt x="1093487" y="1162381"/>
                </a:lnTo>
                <a:lnTo>
                  <a:pt x="1124552" y="975578"/>
                </a:lnTo>
                <a:lnTo>
                  <a:pt x="1156030" y="778005"/>
                </a:lnTo>
                <a:lnTo>
                  <a:pt x="1187095" y="589130"/>
                </a:lnTo>
                <a:lnTo>
                  <a:pt x="1218572" y="425107"/>
                </a:lnTo>
                <a:lnTo>
                  <a:pt x="1249637" y="294221"/>
                </a:lnTo>
                <a:lnTo>
                  <a:pt x="1281120" y="196468"/>
                </a:lnTo>
                <a:lnTo>
                  <a:pt x="1312185" y="127295"/>
                </a:lnTo>
                <a:lnTo>
                  <a:pt x="1343250" y="80494"/>
                </a:lnTo>
                <a:lnTo>
                  <a:pt x="1374727" y="49011"/>
                </a:lnTo>
                <a:lnTo>
                  <a:pt x="1437270" y="15461"/>
                </a:lnTo>
                <a:lnTo>
                  <a:pt x="1488126" y="4078"/>
                </a:lnTo>
                <a:lnTo>
                  <a:pt x="1546302" y="0"/>
                </a:lnTo>
                <a:lnTo>
                  <a:pt x="1604636" y="2927"/>
                </a:lnTo>
                <a:lnTo>
                  <a:pt x="1655967" y="12563"/>
                </a:lnTo>
                <a:lnTo>
                  <a:pt x="1718515" y="41973"/>
                </a:lnTo>
                <a:lnTo>
                  <a:pt x="1749580" y="69310"/>
                </a:lnTo>
                <a:lnTo>
                  <a:pt x="1781057" y="111141"/>
                </a:lnTo>
                <a:lnTo>
                  <a:pt x="1812122" y="172859"/>
                </a:lnTo>
                <a:lnTo>
                  <a:pt x="1843187" y="261083"/>
                </a:lnTo>
                <a:lnTo>
                  <a:pt x="1874665" y="381616"/>
                </a:lnTo>
                <a:lnTo>
                  <a:pt x="1905730" y="535698"/>
                </a:lnTo>
                <a:lnTo>
                  <a:pt x="1937213" y="718773"/>
                </a:lnTo>
                <a:lnTo>
                  <a:pt x="1968277" y="915521"/>
                </a:lnTo>
                <a:lnTo>
                  <a:pt x="1999755" y="1107706"/>
                </a:lnTo>
                <a:lnTo>
                  <a:pt x="2030820" y="1277530"/>
                </a:lnTo>
              </a:path>
            </a:pathLst>
          </a:custGeom>
          <a:ln w="994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87140" y="1209298"/>
            <a:ext cx="2031364" cy="1287145"/>
          </a:xfrm>
          <a:custGeom>
            <a:avLst/>
            <a:gdLst/>
            <a:ahLst/>
            <a:cxnLst/>
            <a:rect l="l" t="t" r="r" b="b"/>
            <a:pathLst>
              <a:path w="2031364" h="1287145">
                <a:moveTo>
                  <a:pt x="0" y="1286920"/>
                </a:moveTo>
                <a:lnTo>
                  <a:pt x="49607" y="1286926"/>
                </a:lnTo>
                <a:lnTo>
                  <a:pt x="99214" y="1286916"/>
                </a:lnTo>
                <a:lnTo>
                  <a:pt x="148820" y="1286893"/>
                </a:lnTo>
                <a:lnTo>
                  <a:pt x="198427" y="1286858"/>
                </a:lnTo>
                <a:lnTo>
                  <a:pt x="248032" y="1286814"/>
                </a:lnTo>
                <a:lnTo>
                  <a:pt x="297638" y="1286764"/>
                </a:lnTo>
                <a:lnTo>
                  <a:pt x="347243" y="1286710"/>
                </a:lnTo>
                <a:lnTo>
                  <a:pt x="396849" y="1286655"/>
                </a:lnTo>
                <a:lnTo>
                  <a:pt x="446454" y="1286601"/>
                </a:lnTo>
                <a:lnTo>
                  <a:pt x="496060" y="1286550"/>
                </a:lnTo>
                <a:lnTo>
                  <a:pt x="545665" y="1286506"/>
                </a:lnTo>
                <a:lnTo>
                  <a:pt x="595271" y="1286470"/>
                </a:lnTo>
                <a:lnTo>
                  <a:pt x="644877" y="1286445"/>
                </a:lnTo>
                <a:lnTo>
                  <a:pt x="694484" y="1286433"/>
                </a:lnTo>
                <a:lnTo>
                  <a:pt x="744091" y="1286437"/>
                </a:lnTo>
                <a:lnTo>
                  <a:pt x="793699" y="1286460"/>
                </a:lnTo>
                <a:lnTo>
                  <a:pt x="843307" y="1286503"/>
                </a:lnTo>
                <a:lnTo>
                  <a:pt x="894098" y="1286503"/>
                </a:lnTo>
                <a:lnTo>
                  <a:pt x="1249637" y="1286503"/>
                </a:lnTo>
                <a:lnTo>
                  <a:pt x="1304346" y="1286552"/>
                </a:lnTo>
                <a:lnTo>
                  <a:pt x="1358986" y="1286444"/>
                </a:lnTo>
                <a:lnTo>
                  <a:pt x="1413626" y="1286055"/>
                </a:lnTo>
                <a:lnTo>
                  <a:pt x="1468335" y="1285260"/>
                </a:lnTo>
                <a:lnTo>
                  <a:pt x="1523195" y="1283550"/>
                </a:lnTo>
                <a:lnTo>
                  <a:pt x="1579687" y="1279957"/>
                </a:lnTo>
                <a:lnTo>
                  <a:pt x="1635178" y="1271249"/>
                </a:lnTo>
                <a:lnTo>
                  <a:pt x="1687032" y="1254195"/>
                </a:lnTo>
                <a:lnTo>
                  <a:pt x="1749580" y="1208637"/>
                </a:lnTo>
                <a:lnTo>
                  <a:pt x="1781057" y="1166801"/>
                </a:lnTo>
                <a:lnTo>
                  <a:pt x="1812122" y="1104671"/>
                </a:lnTo>
                <a:lnTo>
                  <a:pt x="1843187" y="1016446"/>
                </a:lnTo>
                <a:lnTo>
                  <a:pt x="1874665" y="895914"/>
                </a:lnTo>
                <a:lnTo>
                  <a:pt x="1905730" y="741832"/>
                </a:lnTo>
                <a:lnTo>
                  <a:pt x="1937213" y="558757"/>
                </a:lnTo>
                <a:lnTo>
                  <a:pt x="1968277" y="362009"/>
                </a:lnTo>
                <a:lnTo>
                  <a:pt x="1999755" y="169823"/>
                </a:lnTo>
                <a:lnTo>
                  <a:pt x="2030820" y="0"/>
                </a:lnTo>
              </a:path>
            </a:pathLst>
          </a:custGeom>
          <a:ln w="9940">
            <a:solidFill>
              <a:srgbClr val="00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2207216" y="2527837"/>
            <a:ext cx="229870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aseline="50505" sz="825" spc="-7">
                <a:latin typeface="Arial"/>
                <a:cs typeface="Arial"/>
              </a:rPr>
              <a:t>6</a:t>
            </a:r>
            <a:r>
              <a:rPr dirty="0" baseline="50505" sz="825" spc="172">
                <a:latin typeface="Arial"/>
                <a:cs typeface="Arial"/>
              </a:rPr>
              <a:t> </a:t>
            </a:r>
            <a:r>
              <a:rPr dirty="0" sz="750" spc="20">
                <a:latin typeface="Times New Roman"/>
                <a:cs typeface="Times New Roman"/>
              </a:rPr>
              <a:t>pH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10873" y="1545766"/>
            <a:ext cx="300355" cy="3028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750" spc="-70" i="1">
                <a:latin typeface="Arial"/>
                <a:cs typeface="Arial"/>
              </a:rPr>
              <a:t>δ   </a:t>
            </a:r>
            <a:r>
              <a:rPr dirty="0" sz="750" spc="-65" i="1">
                <a:latin typeface="Arial"/>
                <a:cs typeface="Arial"/>
              </a:rPr>
              <a:t> </a:t>
            </a:r>
            <a:r>
              <a:rPr dirty="0" baseline="10101" sz="825" spc="-15">
                <a:latin typeface="Arial"/>
                <a:cs typeface="Arial"/>
              </a:rPr>
              <a:t>0.5</a:t>
            </a:r>
            <a:endParaRPr baseline="10101" sz="825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590"/>
              </a:spcBef>
            </a:pPr>
            <a:r>
              <a:rPr dirty="0" sz="550" spc="-10">
                <a:latin typeface="Arial"/>
                <a:cs typeface="Arial"/>
              </a:rPr>
              <a:t>0.4</a:t>
            </a:r>
            <a:endParaRPr sz="5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47454" y="2063933"/>
            <a:ext cx="22796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20" b="1">
                <a:latin typeface="Times New Roman"/>
                <a:cs typeface="Times New Roman"/>
              </a:rPr>
              <a:t>H</a:t>
            </a:r>
            <a:r>
              <a:rPr dirty="0" sz="600" spc="15" b="1">
                <a:latin typeface="Times New Roman"/>
                <a:cs typeface="Times New Roman"/>
              </a:rPr>
              <a:t> PO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809170" y="2123578"/>
            <a:ext cx="195580" cy="97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5" b="1">
                <a:latin typeface="Times New Roman"/>
                <a:cs typeface="Times New Roman"/>
              </a:rPr>
              <a:t>3</a:t>
            </a:r>
            <a:r>
              <a:rPr dirty="0" sz="450" spc="80" b="1">
                <a:latin typeface="Times New Roman"/>
                <a:cs typeface="Times New Roman"/>
              </a:rPr>
              <a:t> </a:t>
            </a:r>
            <a:r>
              <a:rPr dirty="0" sz="450" spc="5" b="1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845206" y="1028433"/>
            <a:ext cx="195580" cy="97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5" b="1">
                <a:latin typeface="Times New Roman"/>
                <a:cs typeface="Times New Roman"/>
              </a:rPr>
              <a:t>2</a:t>
            </a:r>
            <a:r>
              <a:rPr dirty="0" sz="450" spc="80" b="1">
                <a:latin typeface="Times New Roman"/>
                <a:cs typeface="Times New Roman"/>
              </a:rPr>
              <a:t> </a:t>
            </a:r>
            <a:r>
              <a:rPr dirty="0" sz="450" spc="5" b="1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758090" y="968789"/>
            <a:ext cx="31242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600" spc="20" b="1">
                <a:latin typeface="Times New Roman"/>
                <a:cs typeface="Times New Roman"/>
              </a:rPr>
              <a:t>H</a:t>
            </a:r>
            <a:r>
              <a:rPr dirty="0" sz="600" spc="4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PO</a:t>
            </a:r>
            <a:r>
              <a:rPr dirty="0" baseline="37037" sz="675" spc="15" b="1">
                <a:latin typeface="Times New Roman"/>
                <a:cs typeface="Times New Roman"/>
              </a:rPr>
              <a:t>−</a:t>
            </a:r>
            <a:endParaRPr baseline="37037" sz="675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784611" y="1028433"/>
            <a:ext cx="55244" cy="97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5" b="1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586904" y="968789"/>
            <a:ext cx="31242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600" spc="10" b="1">
                <a:latin typeface="Times New Roman"/>
                <a:cs typeface="Times New Roman"/>
              </a:rPr>
              <a:t>HPO</a:t>
            </a:r>
            <a:r>
              <a:rPr dirty="0" baseline="37037" sz="675" spc="15" b="1">
                <a:latin typeface="Times New Roman"/>
                <a:cs typeface="Times New Roman"/>
              </a:rPr>
              <a:t>2−</a:t>
            </a:r>
            <a:endParaRPr baseline="37037" sz="675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993782" y="2113637"/>
            <a:ext cx="55244" cy="97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5" b="1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858205" y="2014231"/>
            <a:ext cx="25019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27777" sz="900" spc="15" b="1">
                <a:latin typeface="Times New Roman"/>
                <a:cs typeface="Times New Roman"/>
              </a:rPr>
              <a:t>PO</a:t>
            </a:r>
            <a:r>
              <a:rPr dirty="0" sz="450" spc="10" b="1">
                <a:latin typeface="Times New Roman"/>
                <a:cs typeface="Times New Roman"/>
              </a:rPr>
              <a:t>3−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706449" y="1541627"/>
            <a:ext cx="192405" cy="156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5"/>
              </a:spcBef>
            </a:pPr>
            <a:r>
              <a:rPr dirty="0" sz="600" spc="10" b="1">
                <a:latin typeface="Times New Roman"/>
                <a:cs typeface="Times New Roman"/>
              </a:rPr>
              <a:t>p</a:t>
            </a:r>
            <a:r>
              <a:rPr dirty="0" sz="600" spc="10" b="1" i="1">
                <a:latin typeface="Times New Roman"/>
                <a:cs typeface="Times New Roman"/>
              </a:rPr>
              <a:t>Ka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5" b="1" i="1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494671" y="1547011"/>
            <a:ext cx="192405" cy="156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5"/>
              </a:spcBef>
            </a:pPr>
            <a:r>
              <a:rPr dirty="0" sz="600" spc="10" b="1">
                <a:latin typeface="Times New Roman"/>
                <a:cs typeface="Times New Roman"/>
              </a:rPr>
              <a:t>p</a:t>
            </a:r>
            <a:r>
              <a:rPr dirty="0" sz="600" spc="10" b="1" i="1">
                <a:latin typeface="Times New Roman"/>
                <a:cs typeface="Times New Roman"/>
              </a:rPr>
              <a:t>Ka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5" b="1" i="1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944907" y="1551982"/>
            <a:ext cx="192405" cy="156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590"/>
              </a:lnSpc>
              <a:spcBef>
                <a:spcPts val="125"/>
              </a:spcBef>
            </a:pPr>
            <a:r>
              <a:rPr dirty="0" sz="600" spc="10" b="1">
                <a:latin typeface="Times New Roman"/>
                <a:cs typeface="Times New Roman"/>
              </a:rPr>
              <a:t>p</a:t>
            </a:r>
            <a:r>
              <a:rPr dirty="0" sz="600" spc="10" b="1" i="1">
                <a:latin typeface="Times New Roman"/>
                <a:cs typeface="Times New Roman"/>
              </a:rPr>
              <a:t>Ka</a:t>
            </a:r>
            <a:endParaRPr sz="600">
              <a:latin typeface="Times New Roman"/>
              <a:cs typeface="Times New Roman"/>
            </a:endParaRPr>
          </a:p>
          <a:p>
            <a:pPr algn="r" marR="5080">
              <a:lnSpc>
                <a:spcPts val="409"/>
              </a:lnSpc>
            </a:pPr>
            <a:r>
              <a:rPr dirty="0" sz="450" spc="5" b="1" i="1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63650" y="2838538"/>
            <a:ext cx="24809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Georgia"/>
                <a:cs typeface="Georgia"/>
              </a:rPr>
              <a:t>3: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磷酸溶</a:t>
            </a:r>
            <a:r>
              <a:rPr dirty="0" sz="1050" spc="-10">
                <a:latin typeface="Arial Unicode MS"/>
                <a:cs typeface="Arial Unicode MS"/>
              </a:rPr>
              <a:t>液</a:t>
            </a:r>
            <a:r>
              <a:rPr dirty="0" sz="1050" spc="-5">
                <a:latin typeface="Arial Unicode MS"/>
                <a:cs typeface="Arial Unicode MS"/>
              </a:rPr>
              <a:t>中各种型</a:t>
            </a:r>
            <a:r>
              <a:rPr dirty="0" sz="1050" spc="-10">
                <a:latin typeface="Arial Unicode MS"/>
                <a:cs typeface="Arial Unicode MS"/>
              </a:rPr>
              <a:t>体</a:t>
            </a:r>
            <a:r>
              <a:rPr dirty="0" sz="1050" spc="-5">
                <a:latin typeface="Arial Unicode MS"/>
                <a:cs typeface="Arial Unicode MS"/>
              </a:rPr>
              <a:t>的分布</a:t>
            </a:r>
            <a:r>
              <a:rPr dirty="0" sz="1050" spc="-10">
                <a:latin typeface="Arial Unicode MS"/>
                <a:cs typeface="Arial Unicode MS"/>
              </a:rPr>
              <a:t>分</a:t>
            </a:r>
            <a:r>
              <a:rPr dirty="0" sz="1050" spc="-5">
                <a:latin typeface="Arial Unicode MS"/>
                <a:cs typeface="Arial Unicode MS"/>
              </a:rPr>
              <a:t>数曲线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9" name="object 8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22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00418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4.5</a:t>
            </a:r>
            <a:r>
              <a:rPr dirty="0" sz="1400" spc="14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酸碱溶液中氢离子浓度的计算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38733"/>
            <a:ext cx="4356735" cy="173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从前面的学习中可以看</a:t>
            </a:r>
            <a:r>
              <a:rPr dirty="0" sz="1200" spc="-80">
                <a:latin typeface="Arial Unicode MS"/>
                <a:cs typeface="Arial Unicode MS"/>
              </a:rPr>
              <a:t>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酸碱溶液体系中各种型体的平衡 </a:t>
            </a:r>
            <a:r>
              <a:rPr dirty="0" sz="1200" spc="-10">
                <a:latin typeface="Arial Unicode MS"/>
                <a:cs typeface="Arial Unicode MS"/>
              </a:rPr>
              <a:t>浓度的大小是与溶液中的氢离子浓度相关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如果要对酸</a:t>
            </a:r>
            <a:r>
              <a:rPr dirty="0" sz="1200" spc="-5">
                <a:latin typeface="Arial Unicode MS"/>
                <a:cs typeface="Arial Unicode MS"/>
              </a:rPr>
              <a:t>碱 </a:t>
            </a:r>
            <a:r>
              <a:rPr dirty="0" sz="1200" spc="-5">
                <a:latin typeface="Arial Unicode MS"/>
                <a:cs typeface="Arial Unicode MS"/>
              </a:rPr>
              <a:t>溶液体系中中各种成分进行分</a:t>
            </a:r>
            <a:r>
              <a:rPr dirty="0" sz="1200" spc="-80">
                <a:latin typeface="Arial Unicode MS"/>
                <a:cs typeface="Arial Unicode MS"/>
              </a:rPr>
              <a:t>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就必须首先解决酸碱溶液中氢 </a:t>
            </a:r>
            <a:r>
              <a:rPr dirty="0" sz="1200" spc="-10">
                <a:latin typeface="Arial Unicode MS"/>
                <a:cs typeface="Arial Unicode MS"/>
              </a:rPr>
              <a:t>离子浓度的计算问</a:t>
            </a:r>
            <a:r>
              <a:rPr dirty="0" sz="1200" spc="-20">
                <a:latin typeface="Arial Unicode MS"/>
                <a:cs typeface="Arial Unicode MS"/>
              </a:rPr>
              <a:t>题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在后面的络合滴定分</a:t>
            </a:r>
            <a:r>
              <a:rPr dirty="0" sz="1200" spc="-80">
                <a:latin typeface="Arial Unicode MS"/>
                <a:cs typeface="Arial Unicode MS"/>
              </a:rPr>
              <a:t>析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氧化还原滴定分</a:t>
            </a:r>
            <a:r>
              <a:rPr dirty="0" sz="1200" spc="-5">
                <a:latin typeface="Arial Unicode MS"/>
                <a:cs typeface="Arial Unicode MS"/>
              </a:rPr>
              <a:t>析 </a:t>
            </a:r>
            <a:r>
              <a:rPr dirty="0" sz="1200" spc="-5">
                <a:latin typeface="Arial Unicode MS"/>
                <a:cs typeface="Arial Unicode MS"/>
              </a:rPr>
              <a:t>等方法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氢离子浓度依然是一个非常重要的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10">
                <a:latin typeface="Arial Unicode MS"/>
                <a:cs typeface="Arial Unicode MS"/>
              </a:rPr>
              <a:t>本节将从化学平衡出</a:t>
            </a:r>
            <a:r>
              <a:rPr dirty="0" sz="1200" spc="-80">
                <a:latin typeface="Arial Unicode MS"/>
                <a:cs typeface="Arial Unicode MS"/>
              </a:rPr>
              <a:t>发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建立酸碱溶液中的质子条件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再</a:t>
            </a:r>
            <a:r>
              <a:rPr dirty="0" sz="1200" spc="-5">
                <a:latin typeface="Arial Unicode MS"/>
                <a:cs typeface="Arial Unicode MS"/>
              </a:rPr>
              <a:t>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过质子条件式计算酸碱溶液中的氢离子浓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22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3214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4.5.1</a:t>
            </a:r>
            <a:r>
              <a:rPr dirty="0" sz="1400" spc="10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质子条件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936" y="803706"/>
            <a:ext cx="4432300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按照布朗斯特的酸碱质子理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酸碱反应的实质是物质间质 子转</a:t>
            </a:r>
            <a:r>
              <a:rPr dirty="0" sz="1200" spc="-260">
                <a:latin typeface="Arial Unicode MS"/>
                <a:cs typeface="Arial Unicode MS"/>
              </a:rPr>
              <a:t>移</a:t>
            </a:r>
            <a:r>
              <a:rPr dirty="0" sz="1200" spc="-5">
                <a:latin typeface="Arial Unicode MS"/>
                <a:cs typeface="Arial Unicode MS"/>
              </a:rPr>
              <a:t>（或再分</a:t>
            </a:r>
            <a:r>
              <a:rPr dirty="0" sz="1200" spc="30">
                <a:latin typeface="Arial Unicode MS"/>
                <a:cs typeface="Arial Unicode MS"/>
              </a:rPr>
              <a:t>配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的结</a:t>
            </a:r>
            <a:r>
              <a:rPr dirty="0" sz="1200" spc="-20">
                <a:latin typeface="Arial Unicode MS"/>
                <a:cs typeface="Arial Unicode MS"/>
              </a:rPr>
              <a:t>果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当酸碱溶液体系达到平衡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质子转 </a:t>
            </a:r>
            <a:r>
              <a:rPr dirty="0" sz="1200" spc="-10">
                <a:latin typeface="Arial Unicode MS"/>
                <a:cs typeface="Arial Unicode MS"/>
              </a:rPr>
              <a:t>移过程也停</a:t>
            </a:r>
            <a:r>
              <a:rPr dirty="0" sz="1200" spc="-80">
                <a:latin typeface="Arial Unicode MS"/>
                <a:cs typeface="Arial Unicode MS"/>
              </a:rPr>
              <a:t>止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体系随之达到一个动态的平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此时酸碱溶液体</a:t>
            </a:r>
            <a:r>
              <a:rPr dirty="0" sz="1200" spc="-5">
                <a:latin typeface="Arial Unicode MS"/>
                <a:cs typeface="Arial Unicode MS"/>
              </a:rPr>
              <a:t>系 </a:t>
            </a:r>
            <a:r>
              <a:rPr dirty="0" sz="1200" spc="-5">
                <a:latin typeface="Arial Unicode MS"/>
                <a:cs typeface="Arial Unicode MS"/>
              </a:rPr>
              <a:t>中各种物质型体之间存在着一个确定的定量关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称为质子条件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25">
                <a:latin typeface="Arial Unicode MS"/>
                <a:cs typeface="Arial Unicode MS"/>
              </a:rPr>
              <a:t>（</a:t>
            </a:r>
            <a:r>
              <a:rPr dirty="0" sz="1100" spc="-25">
                <a:latin typeface="Georgia"/>
                <a:cs typeface="Georgia"/>
              </a:rPr>
              <a:t>proton balane equation,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PBE</a:t>
            </a:r>
            <a:r>
              <a:rPr dirty="0" sz="1200" spc="-120">
                <a:latin typeface="Arial Unicode MS"/>
                <a:cs typeface="Arial Unicode MS"/>
              </a:rPr>
              <a:t>）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91795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建立酸碱溶液体系中的质子条件通常有两种方</a:t>
            </a:r>
            <a:r>
              <a:rPr dirty="0" sz="1200" spc="-9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243432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24191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2695978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26808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553" y="2284450"/>
            <a:ext cx="3510279" cy="549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由酸碱溶液中的物料平衡和电荷平衡列出质子条</a:t>
            </a:r>
            <a:r>
              <a:rPr dirty="0" sz="1200" spc="-65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； </a:t>
            </a:r>
            <a:r>
              <a:rPr dirty="0" sz="1200" spc="-5">
                <a:latin typeface="Arial Unicode MS"/>
                <a:cs typeface="Arial Unicode MS"/>
              </a:rPr>
              <a:t>由酸碱溶液中的得失质子关系列出质子条</a:t>
            </a:r>
            <a:r>
              <a:rPr dirty="0" sz="1200" spc="-2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22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211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质量平衡</a:t>
            </a:r>
            <a:r>
              <a:rPr dirty="0" sz="1050" spc="-10">
                <a:solidFill>
                  <a:srgbClr val="FFFFFF"/>
                </a:solidFill>
              </a:rPr>
              <a:t>和</a:t>
            </a:r>
            <a:r>
              <a:rPr dirty="0" sz="1050" spc="-5">
                <a:solidFill>
                  <a:srgbClr val="FFFFFF"/>
                </a:solidFill>
              </a:rPr>
              <a:t>电荷平衡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760641"/>
            <a:ext cx="434657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采用质量平</a:t>
            </a:r>
            <a:r>
              <a:rPr dirty="0" sz="1200" spc="-260">
                <a:latin typeface="Arial Unicode MS"/>
                <a:cs typeface="Arial Unicode MS"/>
              </a:rPr>
              <a:t>衡</a:t>
            </a:r>
            <a:r>
              <a:rPr dirty="0" sz="1200" spc="-35">
                <a:latin typeface="Arial Unicode MS"/>
                <a:cs typeface="Arial Unicode MS"/>
              </a:rPr>
              <a:t>（</a:t>
            </a:r>
            <a:r>
              <a:rPr dirty="0" sz="1100" spc="-35">
                <a:latin typeface="Georgia"/>
                <a:cs typeface="Georgia"/>
              </a:rPr>
              <a:t>mass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balance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equation</a:t>
            </a:r>
            <a:r>
              <a:rPr dirty="0" sz="1200" spc="-5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和电荷平</a:t>
            </a:r>
            <a:r>
              <a:rPr dirty="0" sz="1200" spc="-260">
                <a:latin typeface="Arial Unicode MS"/>
                <a:cs typeface="Arial Unicode MS"/>
              </a:rPr>
              <a:t>衡</a:t>
            </a:r>
            <a:r>
              <a:rPr dirty="0" sz="1200" spc="-30">
                <a:latin typeface="Arial Unicode MS"/>
                <a:cs typeface="Arial Unicode MS"/>
              </a:rPr>
              <a:t>（</a:t>
            </a:r>
            <a:r>
              <a:rPr dirty="0" sz="1100" spc="-30">
                <a:latin typeface="Georgia"/>
                <a:cs typeface="Georgia"/>
              </a:rPr>
              <a:t>charge  </a:t>
            </a:r>
            <a:r>
              <a:rPr dirty="0" sz="1100" spc="-25">
                <a:latin typeface="Georgia"/>
                <a:cs typeface="Georgia"/>
              </a:rPr>
              <a:t>balance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equation</a:t>
            </a:r>
            <a:r>
              <a:rPr dirty="0" sz="1200" spc="-5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的方法来列出质子条件是一个广泛适用的方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，  它包含三个关键的步</a:t>
            </a:r>
            <a:r>
              <a:rPr dirty="0" sz="1200" spc="-90">
                <a:latin typeface="Arial Unicode MS"/>
                <a:cs typeface="Arial Unicode MS"/>
              </a:rPr>
              <a:t>骤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758121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74297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2019779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200463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2505135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24899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553" y="1608239"/>
            <a:ext cx="3973195" cy="12579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准确写出每一种物质的各种存在型</a:t>
            </a:r>
            <a:r>
              <a:rPr dirty="0" sz="1200" spc="-65">
                <a:latin typeface="Arial Unicode MS"/>
                <a:cs typeface="Arial Unicode MS"/>
              </a:rPr>
              <a:t>体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准确写出每一种物质的分析浓度与其各种型体平衡浓度的关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系</a:t>
            </a:r>
            <a:r>
              <a:rPr dirty="0" sz="1200" spc="-65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 marR="5080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准确写出溶液中所有正离子的平衡浓度与负离子的平衡浓度 </a:t>
            </a:r>
            <a:r>
              <a:rPr dirty="0" sz="1200" spc="-5">
                <a:latin typeface="Arial Unicode MS"/>
                <a:cs typeface="Arial Unicode MS"/>
              </a:rPr>
              <a:t>的等量关系</a:t>
            </a: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25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电荷平衡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进一步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解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释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867295"/>
            <a:ext cx="3314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设有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AB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在水溶液中存在如下的解离平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1202" y="1243457"/>
            <a:ext cx="10998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65">
                <a:latin typeface="Georgia"/>
                <a:cs typeface="Georgia"/>
              </a:rPr>
              <a:t>AB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700">
                <a:latin typeface="Arial Unicode MS"/>
                <a:cs typeface="Arial Unicode MS"/>
              </a:rPr>
              <a:t> </a:t>
            </a:r>
            <a:r>
              <a:rPr dirty="0" sz="1100" spc="150">
                <a:latin typeface="Georgia"/>
                <a:cs typeface="Georgia"/>
              </a:rPr>
              <a:t>A</a:t>
            </a:r>
            <a:r>
              <a:rPr dirty="0" baseline="41666" sz="900" spc="225">
                <a:latin typeface="Times New Roman"/>
                <a:cs typeface="Times New Roman"/>
              </a:rPr>
              <a:t>+</a:t>
            </a:r>
            <a:r>
              <a:rPr dirty="0" baseline="41666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B</a:t>
            </a:r>
            <a:r>
              <a:rPr dirty="0" baseline="41666" sz="900" spc="112">
                <a:latin typeface="Lucida Sans Unicode"/>
                <a:cs typeface="Lucida Sans Unicode"/>
              </a:rPr>
              <a:t>−</a:t>
            </a:r>
            <a:endParaRPr baseline="41666" sz="9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713" y="1551546"/>
            <a:ext cx="2891155" cy="11391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algn="ctr" marL="959485">
              <a:lnSpc>
                <a:spcPct val="100000"/>
              </a:lnSpc>
              <a:spcBef>
                <a:spcPts val="320"/>
              </a:spcBef>
            </a:pPr>
            <a:r>
              <a:rPr dirty="0" sz="1100" spc="170">
                <a:latin typeface="Georgia"/>
                <a:cs typeface="Georgia"/>
              </a:rPr>
              <a:t>A</a:t>
            </a:r>
            <a:r>
              <a:rPr dirty="0" baseline="41666" sz="900" spc="254">
                <a:latin typeface="Times New Roman"/>
                <a:cs typeface="Times New Roman"/>
              </a:rPr>
              <a:t>+</a:t>
            </a:r>
            <a:r>
              <a:rPr dirty="0" sz="1200" spc="-5">
                <a:latin typeface="Arial Unicode MS"/>
                <a:cs typeface="Arial Unicode MS"/>
              </a:rPr>
              <a:t>的粒子数</a:t>
            </a:r>
            <a:r>
              <a:rPr dirty="0" sz="1200" spc="-55">
                <a:latin typeface="Arial Unicode MS"/>
                <a:cs typeface="Arial Unicode MS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B</a:t>
            </a:r>
            <a:r>
              <a:rPr dirty="0" baseline="41666" sz="900" spc="112">
                <a:latin typeface="Lucida Sans Unicode"/>
                <a:cs typeface="Lucida Sans Unicode"/>
              </a:rPr>
              <a:t>−</a:t>
            </a:r>
            <a:r>
              <a:rPr dirty="0" baseline="41666" sz="900" spc="29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的粒子数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969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电荷平衡要求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959485">
              <a:lnSpc>
                <a:spcPct val="100000"/>
              </a:lnSpc>
            </a:pPr>
            <a:r>
              <a:rPr dirty="0" sz="1100" spc="30">
                <a:latin typeface="Georgia"/>
                <a:cs typeface="Georgia"/>
              </a:rPr>
              <a:t>[A</a:t>
            </a:r>
            <a:r>
              <a:rPr dirty="0" baseline="41666" sz="900" spc="44">
                <a:latin typeface="Times New Roman"/>
                <a:cs typeface="Times New Roman"/>
              </a:rPr>
              <a:t>+</a:t>
            </a:r>
            <a:r>
              <a:rPr dirty="0" sz="1100" spc="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[B</a:t>
            </a:r>
            <a:r>
              <a:rPr dirty="0" baseline="41666" sz="900" spc="-15">
                <a:latin typeface="Lucida Sans Unicode"/>
                <a:cs typeface="Lucida Sans Unicode"/>
              </a:rPr>
              <a:t>−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25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101" y="572528"/>
            <a:ext cx="31140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又如有 </a:t>
            </a:r>
            <a:r>
              <a:rPr dirty="0" sz="1100" spc="80">
                <a:latin typeface="Georgia"/>
                <a:cs typeface="Georgia"/>
              </a:rPr>
              <a:t>A</a:t>
            </a:r>
            <a:r>
              <a:rPr dirty="0" baseline="-13888" sz="900" spc="120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Georgia"/>
                <a:cs typeface="Georgia"/>
              </a:rPr>
              <a:t>B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在溶液中存在如下的平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7001" y="948677"/>
            <a:ext cx="12680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35"/>
              </a:lnSpc>
              <a:spcBef>
                <a:spcPts val="90"/>
              </a:spcBef>
            </a:pPr>
            <a:r>
              <a:rPr dirty="0" sz="1100" spc="80">
                <a:latin typeface="Georgia"/>
                <a:cs typeface="Georgia"/>
              </a:rPr>
              <a:t>A</a:t>
            </a:r>
            <a:r>
              <a:rPr dirty="0" baseline="-13888" sz="900" spc="120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Georgia"/>
                <a:cs typeface="Georgia"/>
              </a:rPr>
              <a:t>B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722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2A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B</a:t>
            </a:r>
            <a:endParaRPr sz="1100">
              <a:latin typeface="Georgia"/>
              <a:cs typeface="Georgia"/>
            </a:endParaRPr>
          </a:p>
          <a:p>
            <a:pPr marL="765175">
              <a:lnSpc>
                <a:spcPts val="135"/>
              </a:lnSpc>
              <a:tabLst>
                <a:tab pos="1109980" algn="l"/>
              </a:tabLst>
            </a:pPr>
            <a:r>
              <a:rPr dirty="0" sz="600" spc="220">
                <a:latin typeface="Times New Roman"/>
                <a:cs typeface="Times New Roman"/>
              </a:rPr>
              <a:t>+	</a:t>
            </a:r>
            <a:r>
              <a:rPr dirty="0" sz="600" spc="80">
                <a:latin typeface="Times New Roman"/>
                <a:cs typeface="Times New Roman"/>
              </a:rPr>
              <a:t>2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401" y="1256766"/>
            <a:ext cx="3169920" cy="11391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algn="ctr" marL="654685">
              <a:lnSpc>
                <a:spcPct val="100000"/>
              </a:lnSpc>
              <a:spcBef>
                <a:spcPts val="320"/>
              </a:spcBef>
            </a:pPr>
            <a:r>
              <a:rPr dirty="0" sz="1100" spc="145">
                <a:latin typeface="Georgia"/>
                <a:cs typeface="Georgia"/>
              </a:rPr>
              <a:t>A</a:t>
            </a:r>
            <a:r>
              <a:rPr dirty="0" baseline="41666" sz="900" spc="217">
                <a:latin typeface="Times New Roman"/>
                <a:cs typeface="Times New Roman"/>
              </a:rPr>
              <a:t>+</a:t>
            </a:r>
            <a:r>
              <a:rPr dirty="0" baseline="41666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的粒子数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倍的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B</a:t>
            </a:r>
            <a:r>
              <a:rPr dirty="0" baseline="41666" sz="900" spc="104">
                <a:latin typeface="Times New Roman"/>
                <a:cs typeface="Times New Roman"/>
              </a:rPr>
              <a:t>2</a:t>
            </a:r>
            <a:r>
              <a:rPr dirty="0" baseline="41666" sz="900" spc="104">
                <a:latin typeface="Lucida Sans Unicode"/>
                <a:cs typeface="Lucida Sans Unicode"/>
              </a:rPr>
              <a:t>−</a:t>
            </a:r>
            <a:r>
              <a:rPr dirty="0" baseline="41666" sz="900" spc="315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的粒子数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969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电荷平衡要求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655320">
              <a:lnSpc>
                <a:spcPct val="100000"/>
              </a:lnSpc>
            </a:pPr>
            <a:r>
              <a:rPr dirty="0" sz="1100" spc="30">
                <a:latin typeface="Georgia"/>
                <a:cs typeface="Georgia"/>
              </a:rPr>
              <a:t>[A</a:t>
            </a:r>
            <a:r>
              <a:rPr dirty="0" baseline="41666" sz="900" spc="44">
                <a:latin typeface="Times New Roman"/>
                <a:cs typeface="Times New Roman"/>
              </a:rPr>
              <a:t>+</a:t>
            </a:r>
            <a:r>
              <a:rPr dirty="0" sz="1100" spc="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2[B</a:t>
            </a:r>
            <a:r>
              <a:rPr dirty="0" baseline="41666" sz="900" spc="-7">
                <a:latin typeface="Times New Roman"/>
                <a:cs typeface="Times New Roman"/>
              </a:rPr>
              <a:t>2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25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854214"/>
            <a:ext cx="430149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上述的情况可推广到溶液中有多种物质的情</a:t>
            </a:r>
            <a:r>
              <a:rPr dirty="0" sz="1200" spc="-20">
                <a:latin typeface="Arial Unicode MS"/>
                <a:cs typeface="Arial Unicode MS"/>
              </a:rPr>
              <a:t>形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设溶液中存 </a:t>
            </a:r>
            <a:r>
              <a:rPr dirty="0" sz="1200" spc="-5">
                <a:latin typeface="Arial Unicode MS"/>
                <a:cs typeface="Arial Unicode MS"/>
              </a:rPr>
              <a:t>在有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A</a:t>
            </a:r>
            <a:r>
              <a:rPr dirty="0" baseline="-13888" sz="900" spc="120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Georgia"/>
                <a:cs typeface="Georgia"/>
              </a:rPr>
              <a:t>B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AC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A</a:t>
            </a:r>
            <a:r>
              <a:rPr dirty="0" baseline="-13888" sz="900" spc="97">
                <a:latin typeface="Times New Roman"/>
                <a:cs typeface="Times New Roman"/>
              </a:rPr>
              <a:t>3</a:t>
            </a:r>
            <a:r>
              <a:rPr dirty="0" sz="1100" spc="65">
                <a:latin typeface="Georgia"/>
                <a:cs typeface="Georgia"/>
              </a:rPr>
              <a:t>D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三种物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每一种物质都按照它自己的平 衡方程进行电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溶液总体的电中性要求下式成</a:t>
            </a:r>
            <a:r>
              <a:rPr dirty="0" sz="1200" spc="-90">
                <a:latin typeface="Arial Unicode MS"/>
                <a:cs typeface="Arial Unicode MS"/>
              </a:rPr>
              <a:t>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854214"/>
            <a:ext cx="430149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上述的情况可推广到溶液中有多种物质的情</a:t>
            </a:r>
            <a:r>
              <a:rPr dirty="0" spc="-20"/>
              <a:t>形</a:t>
            </a:r>
            <a:r>
              <a:rPr dirty="0" spc="-235"/>
              <a:t>。</a:t>
            </a:r>
            <a:r>
              <a:rPr dirty="0" spc="-5"/>
              <a:t>设溶液中存 </a:t>
            </a:r>
            <a:r>
              <a:rPr dirty="0" spc="-5"/>
              <a:t>在有</a:t>
            </a:r>
            <a:r>
              <a:rPr dirty="0" spc="10"/>
              <a:t> </a:t>
            </a:r>
            <a:r>
              <a:rPr dirty="0" sz="1100" spc="80">
                <a:latin typeface="Georgia"/>
                <a:cs typeface="Georgia"/>
              </a:rPr>
              <a:t>A</a:t>
            </a:r>
            <a:r>
              <a:rPr dirty="0" baseline="-13888" sz="900" spc="120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Georgia"/>
                <a:cs typeface="Georgia"/>
              </a:rPr>
              <a:t>B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200" spc="-20"/>
              <a:t>，</a:t>
            </a:r>
            <a:r>
              <a:rPr dirty="0" sz="1100" spc="-20">
                <a:latin typeface="Georgia"/>
                <a:cs typeface="Georgia"/>
              </a:rPr>
              <a:t>AC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/>
              <a:t>和</a:t>
            </a:r>
            <a:r>
              <a:rPr dirty="0" sz="1200" spc="10"/>
              <a:t> </a:t>
            </a:r>
            <a:r>
              <a:rPr dirty="0" sz="1100" spc="65">
                <a:latin typeface="Georgia"/>
                <a:cs typeface="Georgia"/>
              </a:rPr>
              <a:t>A</a:t>
            </a:r>
            <a:r>
              <a:rPr dirty="0" baseline="-13888" sz="900" spc="97">
                <a:latin typeface="Times New Roman"/>
                <a:cs typeface="Times New Roman"/>
              </a:rPr>
              <a:t>3</a:t>
            </a:r>
            <a:r>
              <a:rPr dirty="0" sz="1100" spc="65">
                <a:latin typeface="Georgia"/>
                <a:cs typeface="Georgia"/>
              </a:rPr>
              <a:t>D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/>
              <a:t>三种物</a:t>
            </a:r>
            <a:r>
              <a:rPr dirty="0" sz="1200" spc="-80"/>
              <a:t>质</a:t>
            </a:r>
            <a:r>
              <a:rPr dirty="0" sz="1200" spc="-185"/>
              <a:t>，</a:t>
            </a:r>
            <a:r>
              <a:rPr dirty="0" sz="1200" spc="-5"/>
              <a:t>每一种物质都按照它自己的平 衡方程进行电</a:t>
            </a:r>
            <a:r>
              <a:rPr dirty="0" sz="1200" spc="-80"/>
              <a:t>离</a:t>
            </a:r>
            <a:r>
              <a:rPr dirty="0" sz="1200" spc="-185"/>
              <a:t>，</a:t>
            </a:r>
            <a:r>
              <a:rPr dirty="0" sz="1200" spc="-5"/>
              <a:t>溶液总体的电中性要求下式成</a:t>
            </a:r>
            <a:r>
              <a:rPr dirty="0" sz="1200" spc="-90"/>
              <a:t>立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2831" y="1719275"/>
            <a:ext cx="1862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[A</a:t>
            </a:r>
            <a:r>
              <a:rPr dirty="0" baseline="41666" sz="900" spc="44">
                <a:latin typeface="Times New Roman"/>
                <a:cs typeface="Times New Roman"/>
              </a:rPr>
              <a:t>+</a:t>
            </a:r>
            <a:r>
              <a:rPr dirty="0" sz="1100" spc="30">
                <a:latin typeface="Georgia"/>
                <a:cs typeface="Georgia"/>
              </a:rPr>
              <a:t>]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2[B</a:t>
            </a:r>
            <a:r>
              <a:rPr dirty="0" baseline="41666" sz="900" spc="-7">
                <a:latin typeface="Times New Roman"/>
                <a:cs typeface="Times New Roman"/>
              </a:rPr>
              <a:t>2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[C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3[D</a:t>
            </a:r>
            <a:r>
              <a:rPr dirty="0" baseline="41666" sz="900" spc="-22">
                <a:latin typeface="Times New Roman"/>
                <a:cs typeface="Times New Roman"/>
              </a:rPr>
              <a:t>3</a:t>
            </a:r>
            <a:r>
              <a:rPr dirty="0" baseline="41666" sz="900" spc="-22">
                <a:latin typeface="Lucida Sans Unicode"/>
                <a:cs typeface="Lucida Sans Unicode"/>
              </a:rPr>
              <a:t>−</a:t>
            </a:r>
            <a:r>
              <a:rPr dirty="0" sz="1100" spc="-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6282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3839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3960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2690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07060"/>
            <a:ext cx="50749" cy="3325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682662"/>
            <a:ext cx="4432935" cy="208279"/>
          </a:xfrm>
          <a:custGeom>
            <a:avLst/>
            <a:gdLst/>
            <a:ahLst/>
            <a:cxnLst/>
            <a:rect l="l" t="t" r="r" b="b"/>
            <a:pathLst>
              <a:path w="4432935" h="208280">
                <a:moveTo>
                  <a:pt x="4432566" y="0"/>
                </a:moveTo>
                <a:lnTo>
                  <a:pt x="0" y="0"/>
                </a:lnTo>
                <a:lnTo>
                  <a:pt x="0" y="156947"/>
                </a:lnTo>
                <a:lnTo>
                  <a:pt x="4008" y="176671"/>
                </a:lnTo>
                <a:lnTo>
                  <a:pt x="14922" y="192824"/>
                </a:lnTo>
                <a:lnTo>
                  <a:pt x="31075" y="203739"/>
                </a:lnTo>
                <a:lnTo>
                  <a:pt x="50800" y="207747"/>
                </a:lnTo>
                <a:lnTo>
                  <a:pt x="4381765" y="207747"/>
                </a:lnTo>
                <a:lnTo>
                  <a:pt x="4401490" y="203739"/>
                </a:lnTo>
                <a:lnTo>
                  <a:pt x="4417643" y="192824"/>
                </a:lnTo>
                <a:lnTo>
                  <a:pt x="4428558" y="176671"/>
                </a:lnTo>
                <a:lnTo>
                  <a:pt x="4432566" y="15694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45156"/>
            <a:ext cx="0" cy="313690"/>
          </a:xfrm>
          <a:custGeom>
            <a:avLst/>
            <a:gdLst/>
            <a:ahLst/>
            <a:cxnLst/>
            <a:rect l="l" t="t" r="r" b="b"/>
            <a:pathLst>
              <a:path w="0" h="313690">
                <a:moveTo>
                  <a:pt x="0" y="31350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3245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1975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0705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5844" y="402640"/>
            <a:ext cx="2125345" cy="46100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4.3</a:t>
            </a:r>
            <a:endParaRPr sz="12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写出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NaAc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水溶液的质子条</a:t>
            </a:r>
            <a:r>
              <a:rPr dirty="0" sz="1200" spc="-2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6282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3839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3960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2690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07060"/>
            <a:ext cx="50749" cy="3325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682662"/>
            <a:ext cx="4432935" cy="208279"/>
          </a:xfrm>
          <a:custGeom>
            <a:avLst/>
            <a:gdLst/>
            <a:ahLst/>
            <a:cxnLst/>
            <a:rect l="l" t="t" r="r" b="b"/>
            <a:pathLst>
              <a:path w="4432935" h="208280">
                <a:moveTo>
                  <a:pt x="4432566" y="0"/>
                </a:moveTo>
                <a:lnTo>
                  <a:pt x="0" y="0"/>
                </a:lnTo>
                <a:lnTo>
                  <a:pt x="0" y="156947"/>
                </a:lnTo>
                <a:lnTo>
                  <a:pt x="4008" y="176671"/>
                </a:lnTo>
                <a:lnTo>
                  <a:pt x="14922" y="192824"/>
                </a:lnTo>
                <a:lnTo>
                  <a:pt x="31075" y="203739"/>
                </a:lnTo>
                <a:lnTo>
                  <a:pt x="50800" y="207747"/>
                </a:lnTo>
                <a:lnTo>
                  <a:pt x="4381765" y="207747"/>
                </a:lnTo>
                <a:lnTo>
                  <a:pt x="4401490" y="203739"/>
                </a:lnTo>
                <a:lnTo>
                  <a:pt x="4417643" y="192824"/>
                </a:lnTo>
                <a:lnTo>
                  <a:pt x="4428558" y="176671"/>
                </a:lnTo>
                <a:lnTo>
                  <a:pt x="4432566" y="15694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45156"/>
            <a:ext cx="0" cy="313690"/>
          </a:xfrm>
          <a:custGeom>
            <a:avLst/>
            <a:gdLst/>
            <a:ahLst/>
            <a:cxnLst/>
            <a:rect l="l" t="t" r="r" b="b"/>
            <a:pathLst>
              <a:path w="0" h="313690">
                <a:moveTo>
                  <a:pt x="0" y="31350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3245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1975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0705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5844" y="402640"/>
            <a:ext cx="4287520" cy="102933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4.3</a:t>
            </a:r>
            <a:endParaRPr sz="12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写出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NaAc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水溶液的质子条</a:t>
            </a:r>
            <a:r>
              <a:rPr dirty="0" sz="1200" spc="-2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设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NaAc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的分析浓度为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3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(NaAc)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水溶液中存在如下两个电离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1876" y="1612747"/>
            <a:ext cx="1398270" cy="567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NaAc</a:t>
            </a:r>
            <a:r>
              <a:rPr dirty="0" sz="1100" spc="275">
                <a:latin typeface="Georgia"/>
                <a:cs typeface="Georgia"/>
              </a:rPr>
              <a:t> </a:t>
            </a:r>
            <a:r>
              <a:rPr dirty="0" sz="450" spc="800">
                <a:latin typeface="Arial Unicode MS"/>
                <a:cs typeface="Arial Unicode MS"/>
              </a:rPr>
              <a:t>►</a:t>
            </a:r>
            <a:r>
              <a:rPr dirty="0" sz="450" spc="195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Na</a:t>
            </a:r>
            <a:r>
              <a:rPr dirty="0" baseline="37037" sz="900" spc="89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0">
                <a:latin typeface="Georgia"/>
                <a:cs typeface="Georgia"/>
              </a:rPr>
              <a:t>Ac</a:t>
            </a:r>
            <a:r>
              <a:rPr dirty="0" baseline="37037" sz="900" spc="75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Lucida Sans Unicode"/>
              <a:cs typeface="Lucida Sans Unicode"/>
            </a:endParaRPr>
          </a:p>
          <a:p>
            <a:pPr marL="99060">
              <a:lnSpc>
                <a:spcPct val="100000"/>
              </a:lnSpc>
              <a:spcBef>
                <a:spcPts val="5"/>
              </a:spcBef>
            </a:pPr>
            <a:r>
              <a:rPr dirty="0" sz="1100" spc="15">
                <a:latin typeface="Georgia"/>
                <a:cs typeface="Georgia"/>
              </a:rPr>
              <a:t>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O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271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OH</a:t>
            </a:r>
            <a:r>
              <a:rPr dirty="0" baseline="37037" sz="900" spc="22">
                <a:latin typeface="Lucida Sans Unicode"/>
                <a:cs typeface="Lucida Sans Unicode"/>
              </a:rPr>
              <a:t>−</a:t>
            </a:r>
            <a:endParaRPr baseline="37037" sz="9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144" y="2309025"/>
            <a:ext cx="42557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这</a:t>
            </a:r>
            <a:r>
              <a:rPr dirty="0" sz="1200" spc="-80">
                <a:latin typeface="Arial Unicode MS"/>
                <a:cs typeface="Arial Unicode MS"/>
              </a:rPr>
              <a:t>样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在水溶液中就有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HAc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Ac</a:t>
            </a:r>
            <a:r>
              <a:rPr dirty="0" baseline="37037" sz="900" spc="-22">
                <a:latin typeface="Lucida Sans Unicode"/>
                <a:cs typeface="Lucida Sans Unicode"/>
              </a:rPr>
              <a:t>−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Na</a:t>
            </a:r>
            <a:r>
              <a:rPr dirty="0" baseline="37037" sz="900" spc="-22">
                <a:latin typeface="Times New Roman"/>
                <a:cs typeface="Times New Roman"/>
              </a:rPr>
              <a:t>+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H</a:t>
            </a:r>
            <a:r>
              <a:rPr dirty="0" baseline="37037" sz="900" spc="-22">
                <a:latin typeface="Times New Roman"/>
                <a:cs typeface="Times New Roman"/>
              </a:rPr>
              <a:t>+</a:t>
            </a:r>
            <a:r>
              <a:rPr dirty="0" baseline="37037" sz="900" spc="15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OH</a:t>
            </a:r>
            <a:r>
              <a:rPr dirty="0" baseline="37037" sz="900" spc="22">
                <a:latin typeface="Lucida Sans Unicode"/>
                <a:cs typeface="Lucida Sans Unicode"/>
              </a:rPr>
              <a:t>−</a:t>
            </a:r>
            <a:r>
              <a:rPr dirty="0" baseline="37037" sz="900" spc="307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五种型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体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218452"/>
            <a:ext cx="1114425" cy="381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其物料平衡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r" marR="5080">
              <a:lnSpc>
                <a:spcPct val="100000"/>
              </a:lnSpc>
              <a:spcBef>
                <a:spcPts val="45"/>
              </a:spcBef>
            </a:pPr>
            <a:r>
              <a:rPr dirty="0" sz="1100" spc="570">
                <a:latin typeface="Arial Unicode MS"/>
                <a:cs typeface="Arial Unicode MS"/>
              </a:rPr>
              <a:t>f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1623" y="55497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8843" y="542632"/>
            <a:ext cx="1044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(NaAc)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[Na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443" y="766330"/>
            <a:ext cx="1605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(NaAc)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[HAc]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218452"/>
            <a:ext cx="10775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其物料平衡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1623" y="55497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8843" y="542632"/>
            <a:ext cx="1044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(NaAc)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[Na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443" y="766330"/>
            <a:ext cx="1605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(NaAc)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[HAc]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501" y="407466"/>
            <a:ext cx="1114425" cy="859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"/>
              </a:spcBef>
            </a:pPr>
            <a:r>
              <a:rPr dirty="0" sz="1100" spc="570">
                <a:latin typeface="Arial Unicode MS"/>
                <a:cs typeface="Arial Unicode MS"/>
              </a:rPr>
              <a:t>f</a:t>
            </a:r>
            <a:endParaRPr sz="11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1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其电荷平衡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6392" y="1410195"/>
            <a:ext cx="187578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3703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218452"/>
            <a:ext cx="10775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其物料平衡</a:t>
            </a:r>
            <a:r>
              <a:rPr dirty="0" spc="-90"/>
              <a:t>为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1623" y="55497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8843" y="542632"/>
            <a:ext cx="1044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(NaAc)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[Na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443" y="766330"/>
            <a:ext cx="1605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(NaAc)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[HAc]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501" y="407466"/>
            <a:ext cx="1114425" cy="859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"/>
              </a:spcBef>
            </a:pPr>
            <a:r>
              <a:rPr dirty="0" sz="1100" spc="570">
                <a:latin typeface="Arial Unicode MS"/>
                <a:cs typeface="Arial Unicode MS"/>
              </a:rPr>
              <a:t>f</a:t>
            </a:r>
            <a:endParaRPr sz="11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1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其电荷平衡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701" y="1410195"/>
            <a:ext cx="3156585" cy="15424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694055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3703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将物料平衡式带入电荷平衡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得</a:t>
            </a:r>
            <a:r>
              <a:rPr dirty="0" sz="1200" spc="-90">
                <a:latin typeface="Arial Unicode MS"/>
                <a:cs typeface="Arial Unicode MS"/>
              </a:rPr>
              <a:t>到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 marL="694055">
              <a:lnSpc>
                <a:spcPct val="100000"/>
              </a:lnSpc>
            </a:pPr>
            <a:r>
              <a:rPr dirty="0" sz="1100" spc="-50">
                <a:latin typeface="Georgia"/>
                <a:cs typeface="Georgia"/>
              </a:rPr>
              <a:t>[HAc]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37037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将上式整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即得质子条</a:t>
            </a:r>
            <a:r>
              <a:rPr dirty="0" sz="1200" spc="-9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 marL="694055">
              <a:lnSpc>
                <a:spcPct val="100000"/>
              </a:lnSpc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[HAc]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8055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5610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66317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53617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24789"/>
            <a:ext cx="50749" cy="3415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00393"/>
            <a:ext cx="4432935" cy="217170"/>
          </a:xfrm>
          <a:custGeom>
            <a:avLst/>
            <a:gdLst/>
            <a:ahLst/>
            <a:cxnLst/>
            <a:rect l="l" t="t" r="r" b="b"/>
            <a:pathLst>
              <a:path w="4432935" h="217169">
                <a:moveTo>
                  <a:pt x="4432566" y="0"/>
                </a:moveTo>
                <a:lnTo>
                  <a:pt x="0" y="0"/>
                </a:lnTo>
                <a:lnTo>
                  <a:pt x="0" y="165924"/>
                </a:lnTo>
                <a:lnTo>
                  <a:pt x="4008" y="185649"/>
                </a:lnTo>
                <a:lnTo>
                  <a:pt x="14922" y="201802"/>
                </a:lnTo>
                <a:lnTo>
                  <a:pt x="31075" y="212716"/>
                </a:lnTo>
                <a:lnTo>
                  <a:pt x="50800" y="216724"/>
                </a:lnTo>
                <a:lnTo>
                  <a:pt x="4381765" y="216724"/>
                </a:lnTo>
                <a:lnTo>
                  <a:pt x="4401490" y="212716"/>
                </a:lnTo>
                <a:lnTo>
                  <a:pt x="4417643" y="201802"/>
                </a:lnTo>
                <a:lnTo>
                  <a:pt x="4428558" y="185649"/>
                </a:lnTo>
                <a:lnTo>
                  <a:pt x="4432566" y="16592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62887"/>
            <a:ext cx="0" cy="322580"/>
          </a:xfrm>
          <a:custGeom>
            <a:avLst/>
            <a:gdLst/>
            <a:ahLst/>
            <a:cxnLst/>
            <a:rect l="l" t="t" r="r" b="b"/>
            <a:pathLst>
              <a:path w="0" h="322580">
                <a:moveTo>
                  <a:pt x="0" y="32248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5018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3748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2478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0444" y="420370"/>
            <a:ext cx="2769235" cy="46100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4.4</a:t>
            </a:r>
            <a:endParaRPr sz="12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写出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(NH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HPO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水溶液的质子条件</a:t>
            </a: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83794" y="3181153"/>
            <a:ext cx="1875155" cy="15494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3</a:t>
            </a:r>
            <a:r>
              <a:rPr dirty="0" sz="900" spc="-5">
                <a:latin typeface="Arial Unicode MS"/>
                <a:cs typeface="Arial Unicode MS"/>
              </a:rPr>
              <a:t>不再明确提及水的电离平</a:t>
            </a:r>
            <a:r>
              <a:rPr dirty="0" sz="900" spc="-60">
                <a:latin typeface="Arial Unicode MS"/>
                <a:cs typeface="Arial Unicode MS"/>
              </a:rPr>
              <a:t>衡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下</a:t>
            </a:r>
            <a:r>
              <a:rPr dirty="0" sz="900" spc="-15">
                <a:latin typeface="Arial Unicode MS"/>
                <a:cs typeface="Arial Unicode MS"/>
              </a:rPr>
              <a:t>同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8055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5610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66317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53617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24789"/>
            <a:ext cx="50749" cy="3415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00393"/>
            <a:ext cx="4432935" cy="217170"/>
          </a:xfrm>
          <a:custGeom>
            <a:avLst/>
            <a:gdLst/>
            <a:ahLst/>
            <a:cxnLst/>
            <a:rect l="l" t="t" r="r" b="b"/>
            <a:pathLst>
              <a:path w="4432935" h="217169">
                <a:moveTo>
                  <a:pt x="4432566" y="0"/>
                </a:moveTo>
                <a:lnTo>
                  <a:pt x="0" y="0"/>
                </a:lnTo>
                <a:lnTo>
                  <a:pt x="0" y="165924"/>
                </a:lnTo>
                <a:lnTo>
                  <a:pt x="4008" y="185649"/>
                </a:lnTo>
                <a:lnTo>
                  <a:pt x="14922" y="201802"/>
                </a:lnTo>
                <a:lnTo>
                  <a:pt x="31075" y="212716"/>
                </a:lnTo>
                <a:lnTo>
                  <a:pt x="50800" y="216724"/>
                </a:lnTo>
                <a:lnTo>
                  <a:pt x="4381765" y="216724"/>
                </a:lnTo>
                <a:lnTo>
                  <a:pt x="4401490" y="212716"/>
                </a:lnTo>
                <a:lnTo>
                  <a:pt x="4417643" y="201802"/>
                </a:lnTo>
                <a:lnTo>
                  <a:pt x="4428558" y="185649"/>
                </a:lnTo>
                <a:lnTo>
                  <a:pt x="4432566" y="16592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62887"/>
            <a:ext cx="0" cy="322580"/>
          </a:xfrm>
          <a:custGeom>
            <a:avLst/>
            <a:gdLst/>
            <a:ahLst/>
            <a:cxnLst/>
            <a:rect l="l" t="t" r="r" b="b"/>
            <a:pathLst>
              <a:path w="0" h="322580">
                <a:moveTo>
                  <a:pt x="0" y="32248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5018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3748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24787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420370"/>
            <a:ext cx="3216910" cy="81470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4.4</a:t>
            </a:r>
            <a:endParaRPr sz="12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写出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(NH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HPO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水溶液的质子条件</a:t>
            </a: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>
                <a:latin typeface="Arial Unicode MS"/>
                <a:cs typeface="Arial Unicode MS"/>
              </a:rPr>
              <a:t>：</a:t>
            </a:r>
            <a:r>
              <a:rPr dirty="0" sz="1100">
                <a:latin typeface="Georgia"/>
                <a:cs typeface="Georgia"/>
              </a:rPr>
              <a:t>(NH</a:t>
            </a:r>
            <a:r>
              <a:rPr dirty="0" baseline="-13888" sz="900">
                <a:latin typeface="Times New Roman"/>
                <a:cs typeface="Times New Roman"/>
              </a:rPr>
              <a:t>4</a:t>
            </a:r>
            <a:r>
              <a:rPr dirty="0" sz="1100">
                <a:latin typeface="Georgia"/>
                <a:cs typeface="Georgia"/>
              </a:rPr>
              <a:t>)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HPO</a:t>
            </a:r>
            <a:r>
              <a:rPr dirty="0" baseline="-13888" sz="900">
                <a:latin typeface="Times New Roman"/>
                <a:cs typeface="Times New Roman"/>
              </a:rPr>
              <a:t>4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在水溶液中的解离平衡如下</a:t>
            </a:r>
            <a:r>
              <a:rPr dirty="0" baseline="37037" sz="900" spc="15">
                <a:latin typeface="Times New Roman"/>
                <a:cs typeface="Times New Roman"/>
              </a:rPr>
              <a:t>3</a:t>
            </a:r>
            <a:r>
              <a:rPr dirty="0" sz="1200" spc="10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3790" y="1477328"/>
            <a:ext cx="259079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95">
                <a:latin typeface="Arial Unicode MS"/>
                <a:cs typeface="Arial Unicode MS"/>
              </a:rPr>
              <a:t> </a:t>
            </a:r>
            <a:r>
              <a:rPr dirty="0" sz="450" spc="515">
                <a:latin typeface="Arial Unicode MS"/>
                <a:cs typeface="Arial Unicode MS"/>
              </a:rPr>
              <a:t> </a:t>
            </a:r>
            <a:r>
              <a:rPr dirty="0" sz="450" spc="-31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5772" y="1486509"/>
            <a:ext cx="812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7520" algn="l"/>
              </a:tabLst>
            </a:pPr>
            <a:r>
              <a:rPr dirty="0" sz="600" spc="65">
                <a:latin typeface="Times New Roman"/>
                <a:cs typeface="Times New Roman"/>
              </a:rPr>
              <a:t>4 </a:t>
            </a:r>
            <a:r>
              <a:rPr dirty="0" sz="600" spc="10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	4 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30093" y="1408519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30093" y="14999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4076" y="1403108"/>
            <a:ext cx="19342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90930" algn="l"/>
              </a:tabLst>
            </a:pPr>
            <a:r>
              <a:rPr dirty="0" sz="1100" spc="-35">
                <a:latin typeface="Georgia"/>
                <a:cs typeface="Georgia"/>
              </a:rPr>
              <a:t>(NH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HPO	</a:t>
            </a:r>
            <a:r>
              <a:rPr dirty="0" sz="1100" spc="-60">
                <a:latin typeface="Georgia"/>
                <a:cs typeface="Georgia"/>
              </a:rPr>
              <a:t>2NH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HPO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82696" y="140851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82696" y="14999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2404" y="1752701"/>
            <a:ext cx="811530" cy="381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物料平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100" spc="570">
                <a:latin typeface="Arial Unicode MS"/>
                <a:cs typeface="Arial Unicode MS"/>
              </a:rPr>
              <a:t>f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02320" y="208922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02320" y="217375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9426" y="2160282"/>
            <a:ext cx="16065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7520" algn="l"/>
                <a:tab pos="1546860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4621" y="2076881"/>
            <a:ext cx="2096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2</a:t>
            </a:r>
            <a:r>
              <a:rPr dirty="0" sz="1100" spc="-40" b="0" i="1">
                <a:latin typeface="Bookman Old Style"/>
                <a:cs typeface="Bookman Old Style"/>
              </a:rPr>
              <a:t>c</a:t>
            </a:r>
            <a:r>
              <a:rPr dirty="0" sz="1100" spc="-40">
                <a:latin typeface="Georgia"/>
                <a:cs typeface="Georgia"/>
              </a:rPr>
              <a:t>((NH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5">
                <a:latin typeface="Georgia"/>
                <a:cs typeface="Georgia"/>
              </a:rPr>
              <a:t>HPO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5">
                <a:latin typeface="Georgia"/>
                <a:cs typeface="Georgia"/>
              </a:rPr>
              <a:t>[NH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[NH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0147" y="2383980"/>
            <a:ext cx="5372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7520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27275" y="23974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27275" y="2312924"/>
            <a:ext cx="82359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024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05354" y="23974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81388" y="23839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608" y="2300579"/>
            <a:ext cx="28073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c</a:t>
            </a:r>
            <a:r>
              <a:rPr dirty="0" sz="1100" spc="-30">
                <a:latin typeface="Georgia"/>
                <a:cs typeface="Georgia"/>
              </a:rPr>
              <a:t>((NH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5">
                <a:latin typeface="Georgia"/>
                <a:cs typeface="Georgia"/>
              </a:rPr>
              <a:t>HPO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">
                <a:latin typeface="Georgia"/>
                <a:cs typeface="Georgia"/>
              </a:rPr>
              <a:t>[PO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[HPO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36150" y="2312924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36150" y="23974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65791" y="2383980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15576" y="2300579"/>
            <a:ext cx="721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83794" y="3181153"/>
            <a:ext cx="1875155" cy="15494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3</a:t>
            </a:r>
            <a:r>
              <a:rPr dirty="0" sz="900" spc="-5">
                <a:latin typeface="Arial Unicode MS"/>
                <a:cs typeface="Arial Unicode MS"/>
              </a:rPr>
              <a:t>不再明确提及水的电离平</a:t>
            </a:r>
            <a:r>
              <a:rPr dirty="0" sz="900" spc="-60">
                <a:latin typeface="Arial Unicode MS"/>
                <a:cs typeface="Arial Unicode MS"/>
              </a:rPr>
              <a:t>衡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下</a:t>
            </a:r>
            <a:r>
              <a:rPr dirty="0" sz="900" spc="-15">
                <a:latin typeface="Arial Unicode MS"/>
                <a:cs typeface="Arial Unicode MS"/>
              </a:rPr>
              <a:t>同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784377"/>
            <a:ext cx="77406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电荷平</a:t>
            </a:r>
            <a:r>
              <a:rPr dirty="0" spc="-90"/>
              <a:t>衡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6322" y="125741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877" y="1165961"/>
            <a:ext cx="11811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3560" algn="l"/>
                <a:tab pos="109474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6647" y="124393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1409" y="116596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1409" y="125741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2373" y="116596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2373" y="125741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5806" y="116596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5806" y="125741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2485" y="1160538"/>
            <a:ext cx="344360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[NH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5">
                <a:latin typeface="Georgia"/>
                <a:cs typeface="Georgia"/>
              </a:rPr>
              <a:t>2[HPO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0">
                <a:latin typeface="Georgia"/>
                <a:cs typeface="Georgia"/>
              </a:rPr>
              <a:t>3[PO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501" y="1510131"/>
            <a:ext cx="30200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将物料平衡式带入电荷平衡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整理后得</a:t>
            </a:r>
            <a:r>
              <a:rPr dirty="0" sz="1200" spc="-90">
                <a:latin typeface="Arial Unicode MS"/>
                <a:cs typeface="Arial Unicode MS"/>
              </a:rPr>
              <a:t>到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2015" y="1891715"/>
            <a:ext cx="17303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3245" algn="l"/>
                <a:tab pos="159766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7305" y="198316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6239" y="1969693"/>
            <a:ext cx="10490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9330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98101" y="1891715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98101" y="198316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7021" y="1969693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9610" y="1886293"/>
            <a:ext cx="332930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[NH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[PO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90">
                <a:latin typeface="Georgia"/>
                <a:cs typeface="Georgia"/>
              </a:rPr>
              <a:t>2[H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61988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按得失质</a:t>
            </a:r>
            <a:r>
              <a:rPr dirty="0" sz="1050" spc="-10">
                <a:solidFill>
                  <a:srgbClr val="FFFFFF"/>
                </a:solidFill>
              </a:rPr>
              <a:t>子</a:t>
            </a:r>
            <a:r>
              <a:rPr dirty="0" sz="1050" spc="-5">
                <a:solidFill>
                  <a:srgbClr val="FFFFFF"/>
                </a:solidFill>
              </a:rPr>
              <a:t>数来写</a:t>
            </a:r>
            <a:r>
              <a:rPr dirty="0" sz="1050" spc="-10">
                <a:solidFill>
                  <a:srgbClr val="FFFFFF"/>
                </a:solidFill>
              </a:rPr>
              <a:t>质</a:t>
            </a:r>
            <a:r>
              <a:rPr dirty="0" sz="1050" spc="-5">
                <a:solidFill>
                  <a:srgbClr val="FFFFFF"/>
                </a:solidFill>
              </a:rPr>
              <a:t>子条件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1028217"/>
            <a:ext cx="4356735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按照酸碱质子理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当溶液中质子的交换达到平衡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酸给</a:t>
            </a:r>
            <a:r>
              <a:rPr dirty="0" sz="1200" spc="-5">
                <a:latin typeface="Arial Unicode MS"/>
                <a:cs typeface="Arial Unicode MS"/>
              </a:rPr>
              <a:t>出 </a:t>
            </a:r>
            <a:r>
              <a:rPr dirty="0" sz="1200" spc="-5">
                <a:latin typeface="Arial Unicode MS"/>
                <a:cs typeface="Arial Unicode MS"/>
              </a:rPr>
              <a:t>的质子数和碱得到的质子数目是相等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这种得失关系的数量表 达式就是是质子条</a:t>
            </a:r>
            <a:r>
              <a:rPr dirty="0" sz="1200" spc="-2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algn="just" marL="12700" marR="70485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采用这种方法写出质子条件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关键要选择某些组分作为质 </a:t>
            </a:r>
            <a:r>
              <a:rPr dirty="0" sz="1200" spc="-5">
                <a:latin typeface="Arial Unicode MS"/>
                <a:cs typeface="Arial Unicode MS"/>
              </a:rPr>
              <a:t>子转移的参考水</a:t>
            </a:r>
            <a:r>
              <a:rPr dirty="0" sz="1200" spc="-260">
                <a:latin typeface="Arial Unicode MS"/>
                <a:cs typeface="Arial Unicode MS"/>
              </a:rPr>
              <a:t>准</a:t>
            </a:r>
            <a:r>
              <a:rPr dirty="0" sz="1200" spc="-5">
                <a:latin typeface="Arial Unicode MS"/>
                <a:cs typeface="Arial Unicode MS"/>
              </a:rPr>
              <a:t>（又叫零水</a:t>
            </a:r>
            <a:r>
              <a:rPr dirty="0" sz="1200" spc="30">
                <a:latin typeface="Arial Unicode MS"/>
                <a:cs typeface="Arial Unicode MS"/>
              </a:rPr>
              <a:t>准</a:t>
            </a:r>
            <a:r>
              <a:rPr dirty="0" sz="1200" spc="-655">
                <a:latin typeface="Arial Unicode MS"/>
                <a:cs typeface="Arial Unicode MS"/>
              </a:rPr>
              <a:t>）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构成参考水准的物质通常是溶 </a:t>
            </a:r>
            <a:r>
              <a:rPr dirty="0" sz="1200" spc="-5">
                <a:latin typeface="Arial Unicode MS"/>
                <a:cs typeface="Arial Unicode MS"/>
              </a:rPr>
              <a:t>液中大量存在并参与质子转移的物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如酸碱组分本身及</a:t>
            </a:r>
            <a:r>
              <a:rPr dirty="0" sz="1200" spc="-20">
                <a:latin typeface="Arial Unicode MS"/>
                <a:cs typeface="Arial Unicode MS"/>
              </a:rPr>
              <a:t>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801" y="364693"/>
            <a:ext cx="4078604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以一元弱</a:t>
            </a:r>
            <a:r>
              <a:rPr dirty="0" spc="-5"/>
              <a:t>酸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pc="-10"/>
              <a:t>为</a:t>
            </a:r>
            <a:r>
              <a:rPr dirty="0" spc="-80"/>
              <a:t>例</a:t>
            </a:r>
            <a:r>
              <a:rPr dirty="0" spc="-220"/>
              <a:t>，</a:t>
            </a:r>
            <a:r>
              <a:rPr dirty="0" spc="-10"/>
              <a:t>质子参考水准应选</a:t>
            </a:r>
            <a:r>
              <a:rPr dirty="0" spc="-5"/>
              <a:t>择</a:t>
            </a:r>
            <a:r>
              <a:rPr dirty="0"/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pc="-5"/>
              <a:t>和</a:t>
            </a:r>
            <a:r>
              <a:rPr dirty="0"/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200" spc="-220"/>
              <a:t>，</a:t>
            </a:r>
            <a:r>
              <a:rPr dirty="0" sz="1200" spc="-5"/>
              <a:t>它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588391"/>
            <a:ext cx="3086735" cy="668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们得失质子的情况如下表所</a:t>
            </a:r>
            <a:r>
              <a:rPr dirty="0" sz="1200" spc="-9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 Unicode MS"/>
              <a:cs typeface="Arial Unicode MS"/>
            </a:endParaRPr>
          </a:p>
          <a:p>
            <a:pPr marL="1282065">
              <a:lnSpc>
                <a:spcPct val="100000"/>
              </a:lnSpc>
              <a:spcBef>
                <a:spcPts val="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表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6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参考水</a:t>
            </a:r>
            <a:r>
              <a:rPr dirty="0" sz="1050" spc="-10">
                <a:latin typeface="Arial Unicode MS"/>
                <a:cs typeface="Arial Unicode MS"/>
              </a:rPr>
              <a:t>准</a:t>
            </a:r>
            <a:r>
              <a:rPr dirty="0" sz="1050" spc="-5">
                <a:latin typeface="Arial Unicode MS"/>
                <a:cs typeface="Arial Unicode MS"/>
              </a:rPr>
              <a:t>及得失</a:t>
            </a:r>
            <a:r>
              <a:rPr dirty="0" sz="1050" spc="-10">
                <a:latin typeface="Arial Unicode MS"/>
                <a:cs typeface="Arial Unicode MS"/>
              </a:rPr>
              <a:t>质</a:t>
            </a:r>
            <a:r>
              <a:rPr dirty="0" sz="1050" spc="-5">
                <a:latin typeface="Arial Unicode MS"/>
                <a:cs typeface="Arial Unicode MS"/>
              </a:rPr>
              <a:t>子情况</a:t>
            </a:r>
            <a:endParaRPr sz="1050">
              <a:latin typeface="Arial Unicode MS"/>
              <a:cs typeface="Arial Unicode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17104" y="1343609"/>
          <a:ext cx="1974214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060"/>
                <a:gridCol w="758825"/>
                <a:gridCol w="607060"/>
              </a:tblGrid>
              <a:tr h="2287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得质子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参考水准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失质子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–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50">
                          <a:latin typeface="Georgia"/>
                          <a:cs typeface="Georgia"/>
                        </a:rPr>
                        <a:t>[HAc]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5">
                          <a:latin typeface="Georgia"/>
                          <a:cs typeface="Georgia"/>
                        </a:rPr>
                        <a:t>[Ac</a:t>
                      </a:r>
                      <a:r>
                        <a:rPr dirty="0" baseline="37037" sz="900" spc="-7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12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15">
                          <a:latin typeface="Georgia"/>
                          <a:cs typeface="Georgia"/>
                        </a:rPr>
                        <a:t>[H</a:t>
                      </a:r>
                      <a:r>
                        <a:rPr dirty="0" baseline="-13888" sz="900" spc="22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O</a:t>
                      </a:r>
                      <a:r>
                        <a:rPr dirty="0" baseline="37037" sz="900" spc="22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spc="15">
                          <a:latin typeface="Georgia"/>
                          <a:cs typeface="Georgia"/>
                        </a:rPr>
                        <a:t>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35">
                          <a:latin typeface="Georgia"/>
                          <a:cs typeface="Georgia"/>
                        </a:rPr>
                        <a:t>[H</a:t>
                      </a:r>
                      <a:r>
                        <a:rPr dirty="0" baseline="-13888" sz="900" spc="-52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100" spc="-35">
                          <a:latin typeface="Georgia"/>
                          <a:cs typeface="Georgia"/>
                        </a:rPr>
                        <a:t>O]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30">
                          <a:latin typeface="Georgia"/>
                          <a:cs typeface="Georgia"/>
                        </a:rPr>
                        <a:t>[OH</a:t>
                      </a:r>
                      <a:r>
                        <a:rPr dirty="0" baseline="37037" sz="900" spc="-44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100" spc="-30">
                          <a:latin typeface="Georgia"/>
                          <a:cs typeface="Georgia"/>
                        </a:rPr>
                        <a:t>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16801" y="2139670"/>
            <a:ext cx="3652520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从表中的得失质子情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可以很容易地写出质子条</a:t>
            </a:r>
            <a:r>
              <a:rPr dirty="0" sz="1200" spc="-9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155700">
              <a:lnSpc>
                <a:spcPts val="635"/>
              </a:lnSpc>
            </a:pPr>
            <a:r>
              <a:rPr dirty="0" sz="1100" spc="-15">
                <a:latin typeface="Georgia"/>
                <a:cs typeface="Georgia"/>
              </a:rPr>
              <a:t>[H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sz="1100" spc="-15">
                <a:latin typeface="Georgia"/>
                <a:cs typeface="Georgia"/>
              </a:rPr>
              <a:t>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[Ac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1458595">
              <a:lnSpc>
                <a:spcPts val="135"/>
              </a:lnSpc>
              <a:tabLst>
                <a:tab pos="2009139" algn="l"/>
                <a:tab pos="2499995" algn="l"/>
              </a:tabLst>
            </a:pPr>
            <a:r>
              <a:rPr dirty="0" sz="600" spc="220">
                <a:latin typeface="Times New Roman"/>
                <a:cs typeface="Times New Roman"/>
              </a:rPr>
              <a:t>+	</a:t>
            </a:r>
            <a:r>
              <a:rPr dirty="0" sz="600" spc="95">
                <a:latin typeface="Lucida Sans Unicode"/>
                <a:cs typeface="Lucida Sans Unicode"/>
              </a:rPr>
              <a:t>−	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基本步骤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429501" y="607403"/>
            <a:ext cx="33553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利用得失质子情况写出质子条件的步骤可归纳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977439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96227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53" y="865505"/>
            <a:ext cx="40906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以溶液中大量存在</a:t>
            </a:r>
            <a:r>
              <a:rPr dirty="0" sz="1200" spc="-5">
                <a:latin typeface="Arial Unicode MS"/>
                <a:cs typeface="Arial Unicode MS"/>
              </a:rPr>
              <a:t>并</a:t>
            </a:r>
            <a:r>
              <a:rPr dirty="0" sz="1200" spc="-10">
                <a:latin typeface="Arial Unicode MS"/>
                <a:cs typeface="Arial Unicode MS"/>
              </a:rPr>
              <a:t>参与质</a:t>
            </a:r>
            <a:r>
              <a:rPr dirty="0" sz="1200" spc="-5">
                <a:latin typeface="Arial Unicode MS"/>
                <a:cs typeface="Arial Unicode MS"/>
              </a:rPr>
              <a:t>子</a:t>
            </a:r>
            <a:r>
              <a:rPr dirty="0" sz="1200" spc="-10">
                <a:latin typeface="Arial Unicode MS"/>
                <a:cs typeface="Arial Unicode MS"/>
              </a:rPr>
              <a:t>转移的物质为质子参考水</a:t>
            </a:r>
            <a:r>
              <a:rPr dirty="0" sz="1200" spc="-80">
                <a:latin typeface="Arial Unicode MS"/>
                <a:cs typeface="Arial Unicode MS"/>
              </a:rPr>
              <a:t>准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常是原始的酸碱组分及</a:t>
            </a:r>
            <a:r>
              <a:rPr dirty="0" sz="1200" spc="-65">
                <a:latin typeface="Arial Unicode MS"/>
                <a:cs typeface="Arial Unicode MS"/>
              </a:rPr>
              <a:t>水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1462795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144763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540" y="1350861"/>
            <a:ext cx="4090670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写出质子参考水准</a:t>
            </a:r>
            <a:r>
              <a:rPr dirty="0" sz="1200" spc="-5">
                <a:latin typeface="Arial Unicode MS"/>
                <a:cs typeface="Arial Unicode MS"/>
              </a:rPr>
              <a:t>得</a:t>
            </a:r>
            <a:r>
              <a:rPr dirty="0" sz="1200" spc="-10">
                <a:latin typeface="Arial Unicode MS"/>
                <a:cs typeface="Arial Unicode MS"/>
              </a:rPr>
              <a:t>到质子后的产物和失去质子后的产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 </a:t>
            </a:r>
            <a:r>
              <a:rPr dirty="0" sz="1200" spc="-10">
                <a:latin typeface="Arial Unicode MS"/>
                <a:cs typeface="Arial Unicode MS"/>
              </a:rPr>
              <a:t>将所</a:t>
            </a:r>
            <a:r>
              <a:rPr dirty="0" sz="1200" spc="-5">
                <a:latin typeface="Arial Unicode MS"/>
                <a:cs typeface="Arial Unicode MS"/>
              </a:rPr>
              <a:t>得</a:t>
            </a:r>
            <a:r>
              <a:rPr dirty="0" sz="1200" spc="-10">
                <a:latin typeface="Arial Unicode MS"/>
                <a:cs typeface="Arial Unicode MS"/>
              </a:rPr>
              <a:t>到质子后的产物平衡浓</a:t>
            </a:r>
            <a:r>
              <a:rPr dirty="0" sz="1200" spc="-5">
                <a:latin typeface="Arial Unicode MS"/>
                <a:cs typeface="Arial Unicode MS"/>
              </a:rPr>
              <a:t>度</a:t>
            </a:r>
            <a:r>
              <a:rPr dirty="0" sz="1200" spc="-10">
                <a:latin typeface="Arial Unicode MS"/>
                <a:cs typeface="Arial Unicode MS"/>
              </a:rPr>
              <a:t>的总和写在等式的一</a:t>
            </a:r>
            <a:r>
              <a:rPr dirty="0" sz="1200" spc="-80">
                <a:latin typeface="Arial Unicode MS"/>
                <a:cs typeface="Arial Unicode MS"/>
              </a:rPr>
              <a:t>边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5">
                <a:latin typeface="Arial Unicode MS"/>
                <a:cs typeface="Arial Unicode MS"/>
              </a:rPr>
              <a:t>有 </a:t>
            </a:r>
            <a:r>
              <a:rPr dirty="0" sz="1200" spc="-10">
                <a:latin typeface="Arial Unicode MS"/>
                <a:cs typeface="Arial Unicode MS"/>
              </a:rPr>
              <a:t>失去质子后的产物平衡浓</a:t>
            </a:r>
            <a:r>
              <a:rPr dirty="0" sz="1200" spc="-5">
                <a:latin typeface="Arial Unicode MS"/>
                <a:cs typeface="Arial Unicode MS"/>
              </a:rPr>
              <a:t>度</a:t>
            </a:r>
            <a:r>
              <a:rPr dirty="0" sz="1200" spc="-10">
                <a:latin typeface="Arial Unicode MS"/>
                <a:cs typeface="Arial Unicode MS"/>
              </a:rPr>
              <a:t>的总和写在等式的另一</a:t>
            </a:r>
            <a:r>
              <a:rPr dirty="0" sz="1200" spc="-80">
                <a:latin typeface="Arial Unicode MS"/>
                <a:cs typeface="Arial Unicode MS"/>
              </a:rPr>
              <a:t>边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得到 </a:t>
            </a:r>
            <a:r>
              <a:rPr dirty="0" sz="1200" spc="-5">
                <a:latin typeface="Arial Unicode MS"/>
                <a:cs typeface="Arial Unicode MS"/>
              </a:rPr>
              <a:t>质子条</a:t>
            </a:r>
            <a:r>
              <a:rPr dirty="0" sz="1200" spc="-65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395534"/>
            <a:ext cx="110658" cy="1106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38038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2846" y="2657192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2277" y="264204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553" y="2245652"/>
            <a:ext cx="4090670" cy="7727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在处理多元酸碱时应注意平衡浓度项前的系</a:t>
            </a:r>
            <a:r>
              <a:rPr dirty="0" sz="1200" spc="-65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在质子条件中不应出现作为质子参考水准的物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因为这些</a:t>
            </a:r>
            <a:r>
              <a:rPr dirty="0" sz="1200" spc="-5">
                <a:latin typeface="Arial Unicode MS"/>
                <a:cs typeface="Arial Unicode MS"/>
              </a:rPr>
              <a:t>物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质不管失去质子或是接受质子都不会生成它本</a:t>
            </a:r>
            <a:r>
              <a:rPr dirty="0" sz="1200" spc="-20">
                <a:latin typeface="Arial Unicode MS"/>
                <a:cs typeface="Arial Unicode MS"/>
              </a:rPr>
              <a:t>身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5123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2679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28015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1531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95465"/>
            <a:ext cx="50749" cy="3325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71067"/>
            <a:ext cx="4432935" cy="208279"/>
          </a:xfrm>
          <a:custGeom>
            <a:avLst/>
            <a:gdLst/>
            <a:ahLst/>
            <a:cxnLst/>
            <a:rect l="l" t="t" r="r" b="b"/>
            <a:pathLst>
              <a:path w="4432935" h="208279">
                <a:moveTo>
                  <a:pt x="4432566" y="0"/>
                </a:moveTo>
                <a:lnTo>
                  <a:pt x="0" y="0"/>
                </a:lnTo>
                <a:lnTo>
                  <a:pt x="0" y="156947"/>
                </a:lnTo>
                <a:lnTo>
                  <a:pt x="4008" y="176671"/>
                </a:lnTo>
                <a:lnTo>
                  <a:pt x="14922" y="192824"/>
                </a:lnTo>
                <a:lnTo>
                  <a:pt x="31075" y="203739"/>
                </a:lnTo>
                <a:lnTo>
                  <a:pt x="50800" y="207747"/>
                </a:lnTo>
                <a:lnTo>
                  <a:pt x="4381765" y="207747"/>
                </a:lnTo>
                <a:lnTo>
                  <a:pt x="4401490" y="203739"/>
                </a:lnTo>
                <a:lnTo>
                  <a:pt x="4417643" y="192824"/>
                </a:lnTo>
                <a:lnTo>
                  <a:pt x="4428558" y="176671"/>
                </a:lnTo>
                <a:lnTo>
                  <a:pt x="4432566" y="15694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33561"/>
            <a:ext cx="0" cy="313690"/>
          </a:xfrm>
          <a:custGeom>
            <a:avLst/>
            <a:gdLst/>
            <a:ahLst/>
            <a:cxnLst/>
            <a:rect l="l" t="t" r="r" b="b"/>
            <a:pathLst>
              <a:path w="0" h="313690">
                <a:moveTo>
                  <a:pt x="0" y="31350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208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081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954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0444" y="191046"/>
            <a:ext cx="2172335" cy="46100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4.5</a:t>
            </a:r>
            <a:endParaRPr sz="12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写出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  </a:t>
            </a:r>
            <a:r>
              <a:rPr dirty="0" sz="1200" spc="-5">
                <a:latin typeface="Arial Unicode MS"/>
                <a:cs typeface="Arial Unicode MS"/>
              </a:rPr>
              <a:t>溶液的质子条</a:t>
            </a:r>
            <a:r>
              <a:rPr dirty="0" sz="1200" spc="-2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5123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26796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628015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61531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95465"/>
            <a:ext cx="50749" cy="3325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71067"/>
            <a:ext cx="4432935" cy="208279"/>
          </a:xfrm>
          <a:custGeom>
            <a:avLst/>
            <a:gdLst/>
            <a:ahLst/>
            <a:cxnLst/>
            <a:rect l="l" t="t" r="r" b="b"/>
            <a:pathLst>
              <a:path w="4432935" h="208279">
                <a:moveTo>
                  <a:pt x="4432566" y="0"/>
                </a:moveTo>
                <a:lnTo>
                  <a:pt x="0" y="0"/>
                </a:lnTo>
                <a:lnTo>
                  <a:pt x="0" y="156947"/>
                </a:lnTo>
                <a:lnTo>
                  <a:pt x="4008" y="176671"/>
                </a:lnTo>
                <a:lnTo>
                  <a:pt x="14922" y="192824"/>
                </a:lnTo>
                <a:lnTo>
                  <a:pt x="31075" y="203739"/>
                </a:lnTo>
                <a:lnTo>
                  <a:pt x="50800" y="207747"/>
                </a:lnTo>
                <a:lnTo>
                  <a:pt x="4381765" y="207747"/>
                </a:lnTo>
                <a:lnTo>
                  <a:pt x="4401490" y="203739"/>
                </a:lnTo>
                <a:lnTo>
                  <a:pt x="4417643" y="192824"/>
                </a:lnTo>
                <a:lnTo>
                  <a:pt x="4428558" y="176671"/>
                </a:lnTo>
                <a:lnTo>
                  <a:pt x="4432566" y="15694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33561"/>
            <a:ext cx="0" cy="313690"/>
          </a:xfrm>
          <a:custGeom>
            <a:avLst/>
            <a:gdLst/>
            <a:ahLst/>
            <a:cxnLst/>
            <a:rect l="l" t="t" r="r" b="b"/>
            <a:pathLst>
              <a:path w="0" h="313690">
                <a:moveTo>
                  <a:pt x="0" y="31350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208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081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954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0444" y="191046"/>
            <a:ext cx="2172335" cy="461009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dirty="0" spc="190">
                <a:solidFill>
                  <a:srgbClr val="FFFFFF"/>
                </a:solidFill>
              </a:rPr>
              <a:t>例</a:t>
            </a:r>
            <a:r>
              <a:rPr dirty="0" spc="35">
                <a:solidFill>
                  <a:srgbClr val="FFFFFF"/>
                </a:solidFill>
                <a:latin typeface="Garamond"/>
                <a:cs typeface="Garamond"/>
              </a:rPr>
              <a:t>4.5</a:t>
            </a:r>
          </a:p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dirty="0" spc="-5"/>
              <a:t>写出</a:t>
            </a:r>
            <a:r>
              <a:rPr dirty="0"/>
              <a:t>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  </a:t>
            </a:r>
            <a:r>
              <a:rPr dirty="0" sz="1200" spc="-5"/>
              <a:t>溶液的质子条</a:t>
            </a:r>
            <a:r>
              <a:rPr dirty="0" sz="1200" spc="-20"/>
              <a:t>件</a:t>
            </a:r>
            <a:r>
              <a:rPr dirty="0" sz="1200" spc="-5"/>
              <a:t>。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444" y="788644"/>
            <a:ext cx="4304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由于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Na</a:t>
            </a:r>
            <a:r>
              <a:rPr dirty="0" baseline="37037" sz="900" spc="89">
                <a:latin typeface="Times New Roman"/>
                <a:cs typeface="Times New Roman"/>
              </a:rPr>
              <a:t>+</a:t>
            </a:r>
            <a:r>
              <a:rPr dirty="0" baseline="37037" sz="900" spc="3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离子既不能接受质子也没有质子可以失</a:t>
            </a:r>
            <a:r>
              <a:rPr dirty="0" sz="1200" spc="-80">
                <a:latin typeface="Arial Unicode MS"/>
                <a:cs typeface="Arial Unicode MS"/>
              </a:rPr>
              <a:t>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所以质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1012342"/>
            <a:ext cx="1190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子参考水准为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0827" y="112250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5427" y="962063"/>
            <a:ext cx="4000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2</a:t>
            </a:r>
            <a:r>
              <a:rPr dirty="0" sz="600" spc="80">
                <a:latin typeface="Lucida Sans Unicode"/>
                <a:cs typeface="Lucida Sans Unicode"/>
              </a:rPr>
              <a:t>−</a:t>
            </a:r>
            <a:r>
              <a:rPr dirty="0" sz="600" spc="165">
                <a:latin typeface="Lucida Sans Unicode"/>
                <a:cs typeface="Lucida Sans Unicode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和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4753" y="11090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0842" y="1012342"/>
            <a:ext cx="19177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114">
                <a:latin typeface="Georgia"/>
                <a:cs typeface="Georgia"/>
              </a:rPr>
              <a:t>O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得失质子情况如下</a:t>
            </a:r>
            <a:r>
              <a:rPr dirty="0" sz="1200" spc="-90">
                <a:latin typeface="Arial Unicode MS"/>
                <a:cs typeface="Arial Unicode MS"/>
              </a:rPr>
              <a:t>表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90015" y="1364856"/>
            <a:ext cx="2628265" cy="0"/>
          </a:xfrm>
          <a:custGeom>
            <a:avLst/>
            <a:gdLst/>
            <a:ahLst/>
            <a:cxnLst/>
            <a:rect l="l" t="t" r="r" b="b"/>
            <a:pathLst>
              <a:path w="2628265" h="0">
                <a:moveTo>
                  <a:pt x="0" y="0"/>
                </a:moveTo>
                <a:lnTo>
                  <a:pt x="26279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380312" y="1359446"/>
            <a:ext cx="21748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46785" algn="l"/>
                <a:tab pos="1705610" algn="l"/>
              </a:tabLst>
            </a:pPr>
            <a:r>
              <a:rPr dirty="0" sz="1200" spc="-5">
                <a:latin typeface="Arial Unicode MS"/>
                <a:cs typeface="Arial Unicode MS"/>
              </a:rPr>
              <a:t>得质子</a:t>
            </a:r>
            <a:r>
              <a:rPr dirty="0" sz="1200" spc="-5">
                <a:latin typeface="Arial Unicode MS"/>
                <a:cs typeface="Arial Unicode MS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参考水准</a:t>
            </a:r>
            <a:r>
              <a:rPr dirty="0" sz="1200" spc="-5">
                <a:latin typeface="Arial Unicode MS"/>
                <a:cs typeface="Arial Unicode MS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失质子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0015" y="1593608"/>
            <a:ext cx="2628265" cy="0"/>
          </a:xfrm>
          <a:custGeom>
            <a:avLst/>
            <a:gdLst/>
            <a:ahLst/>
            <a:cxnLst/>
            <a:rect l="l" t="t" r="r" b="b"/>
            <a:pathLst>
              <a:path w="2628265" h="0">
                <a:moveTo>
                  <a:pt x="0" y="0"/>
                </a:moveTo>
                <a:lnTo>
                  <a:pt x="26279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64894" y="16848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44979" y="1613827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44979" y="169835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3236" y="1601482"/>
            <a:ext cx="11353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latin typeface="Georgia"/>
                <a:cs typeface="Georgia"/>
              </a:rPr>
              <a:t>2[H </a:t>
            </a:r>
            <a:r>
              <a:rPr dirty="0" sz="1100" spc="-20">
                <a:latin typeface="Georgia"/>
                <a:cs typeface="Georgia"/>
              </a:rPr>
              <a:t>CO3]</a:t>
            </a:r>
            <a:r>
              <a:rPr dirty="0" sz="1100" spc="-20" b="0" i="1">
                <a:latin typeface="Bookman Old Style"/>
                <a:cs typeface="Bookman Old Style"/>
              </a:rPr>
              <a:t>, </a:t>
            </a:r>
            <a:r>
              <a:rPr dirty="0" sz="1100" spc="-20">
                <a:latin typeface="Georgia"/>
                <a:cs typeface="Georgia"/>
              </a:rPr>
              <a:t>[HCO</a:t>
            </a:r>
            <a:r>
              <a:rPr dirty="0" sz="1100" spc="21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59379" y="1613827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13131" y="1601482"/>
            <a:ext cx="436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[CO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79630" y="1601482"/>
            <a:ext cx="698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00" spc="-165">
                <a:latin typeface="Georgia"/>
                <a:cs typeface="Georgia"/>
              </a:rPr>
              <a:t>–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73327" y="1825180"/>
            <a:ext cx="495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[H</a:t>
            </a:r>
            <a:r>
              <a:rPr dirty="0" baseline="-13888" sz="900" spc="22">
                <a:latin typeface="Times New Roman"/>
                <a:cs typeface="Times New Roman"/>
              </a:rPr>
              <a:t>3</a:t>
            </a:r>
            <a:r>
              <a:rPr dirty="0" sz="1100" spc="15">
                <a:latin typeface="Georgia"/>
                <a:cs typeface="Georgia"/>
              </a:rPr>
              <a:t>O</a:t>
            </a:r>
            <a:r>
              <a:rPr dirty="0" baseline="37037" sz="900" spc="22">
                <a:latin typeface="Times New Roman"/>
                <a:cs typeface="Times New Roman"/>
              </a:rPr>
              <a:t>+</a:t>
            </a:r>
            <a:r>
              <a:rPr dirty="0" sz="1100" spc="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09567" y="1678785"/>
            <a:ext cx="1127125" cy="33845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250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  <a:tabLst>
                <a:tab pos="720090" algn="l"/>
              </a:tabLst>
            </a:pPr>
            <a:r>
              <a:rPr dirty="0" sz="1100" spc="-35">
                <a:latin typeface="Georgia"/>
                <a:cs typeface="Georgia"/>
              </a:rPr>
              <a:t>[H</a:t>
            </a:r>
            <a:r>
              <a:rPr dirty="0" baseline="-13888" sz="900" spc="-52">
                <a:latin typeface="Times New Roman"/>
                <a:cs typeface="Times New Roman"/>
              </a:rPr>
              <a:t>2</a:t>
            </a:r>
            <a:r>
              <a:rPr dirty="0" sz="1100" spc="-35">
                <a:latin typeface="Georgia"/>
                <a:cs typeface="Georgia"/>
              </a:rPr>
              <a:t>O]	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90015" y="2046071"/>
            <a:ext cx="2628265" cy="0"/>
          </a:xfrm>
          <a:custGeom>
            <a:avLst/>
            <a:gdLst/>
            <a:ahLst/>
            <a:cxnLst/>
            <a:rect l="l" t="t" r="r" b="b"/>
            <a:pathLst>
              <a:path w="2628265" h="0">
                <a:moveTo>
                  <a:pt x="0" y="0"/>
                </a:moveTo>
                <a:lnTo>
                  <a:pt x="26279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35342" y="21749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5342" y="225944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61096" y="2245982"/>
            <a:ext cx="25190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  <a:tab pos="2198370" algn="l"/>
                <a:tab pos="245935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4101" y="2149297"/>
            <a:ext cx="399605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从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r>
              <a:rPr dirty="0" baseline="37037" sz="900" spc="32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时要得到两个质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项要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5844" y="2372995"/>
            <a:ext cx="14668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乘于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sz="1100" spc="-85">
                <a:latin typeface="Georgia"/>
                <a:cs typeface="Georgia"/>
              </a:rPr>
              <a:t>2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43101" y="2754566"/>
            <a:ext cx="12871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3245" algn="l"/>
                <a:tab pos="1200785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31249" y="284601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30156" y="2832557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00708" y="2749156"/>
            <a:ext cx="2206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20">
                <a:latin typeface="Georgia"/>
                <a:cs typeface="Georgia"/>
              </a:rPr>
              <a:t>[HCO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90">
                <a:latin typeface="Georgia"/>
                <a:cs typeface="Georgia"/>
              </a:rPr>
              <a:t>2[H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54774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4.5.2</a:t>
            </a:r>
            <a:r>
              <a:rPr dirty="0" sz="1400" spc="14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一元强酸溶液中氢离子浓度的计算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9754" y="850709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101" y="550456"/>
            <a:ext cx="3680460" cy="1355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119380">
              <a:lnSpc>
                <a:spcPct val="100000"/>
              </a:lnSpc>
              <a:spcBef>
                <a:spcPts val="919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1200" spc="-5">
                <a:latin typeface="Arial Unicode MS"/>
                <a:cs typeface="Arial Unicode MS"/>
              </a:rPr>
              <a:t>对上式进行整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利用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K</a:t>
            </a:r>
            <a:r>
              <a:rPr dirty="0" baseline="-13888" sz="900" spc="172" i="1">
                <a:latin typeface="Arial"/>
                <a:cs typeface="Arial"/>
              </a:rPr>
              <a:t>w</a:t>
            </a:r>
            <a:r>
              <a:rPr dirty="0" baseline="-13888" sz="900" spc="277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[H</a:t>
            </a:r>
            <a:r>
              <a:rPr dirty="0" baseline="37037" sz="900" spc="-30">
                <a:latin typeface="Times New Roman"/>
                <a:cs typeface="Times New Roman"/>
              </a:rPr>
              <a:t>+</a:t>
            </a:r>
            <a:r>
              <a:rPr dirty="0" sz="1100" spc="-20">
                <a:latin typeface="Georgia"/>
                <a:cs typeface="Georgia"/>
              </a:rPr>
              <a:t>][OH</a:t>
            </a:r>
            <a:r>
              <a:rPr dirty="0" baseline="37037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119380">
              <a:lnSpc>
                <a:spcPts val="990"/>
              </a:lnSpc>
              <a:spcBef>
                <a:spcPts val="920"/>
              </a:spcBef>
            </a:pP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41666" sz="900">
                <a:latin typeface="Times New Roman"/>
                <a:cs typeface="Times New Roman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  <a:p>
            <a:pPr marL="2452370">
              <a:lnSpc>
                <a:spcPts val="390"/>
              </a:lnSpc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上式的解为</a:t>
            </a:r>
            <a:r>
              <a:rPr dirty="0" baseline="37037" sz="900" spc="15">
                <a:latin typeface="Times New Roman"/>
                <a:cs typeface="Times New Roman"/>
              </a:rPr>
              <a:t>4</a:t>
            </a:r>
            <a:r>
              <a:rPr dirty="0" sz="1200" spc="10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471" y="2046084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4079" y="2040661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1694" y="1825917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2939" y="1974392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 h="0">
                <a:moveTo>
                  <a:pt x="0" y="0"/>
                </a:moveTo>
                <a:lnTo>
                  <a:pt x="100309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88170" y="196697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2193" y="1944370"/>
            <a:ext cx="1670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0250" algn="l"/>
              </a:tabLst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5">
                <a:latin typeface="Georgia"/>
                <a:cs typeface="Georgia"/>
              </a:rPr>
              <a:t>(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(HCl))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4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7161" y="2027770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64893" y="2157272"/>
            <a:ext cx="1721485" cy="0"/>
          </a:xfrm>
          <a:custGeom>
            <a:avLst/>
            <a:gdLst/>
            <a:ahLst/>
            <a:cxnLst/>
            <a:rect l="l" t="t" r="r" b="b"/>
            <a:pathLst>
              <a:path w="1721485" h="0">
                <a:moveTo>
                  <a:pt x="0" y="0"/>
                </a:moveTo>
                <a:lnTo>
                  <a:pt x="172114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78125" y="2135695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8544" y="3190544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7744" y="2272830"/>
            <a:ext cx="4432935" cy="10864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在强酸溶液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强酸提供的氢离子数往往占主要部</a:t>
            </a:r>
            <a:r>
              <a:rPr dirty="0" sz="1200" spc="-80">
                <a:latin typeface="Arial Unicode MS"/>
                <a:cs typeface="Arial Unicode MS"/>
              </a:rPr>
              <a:t>分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而由</a:t>
            </a:r>
            <a:r>
              <a:rPr dirty="0" sz="1200" spc="-5">
                <a:latin typeface="Arial Unicode MS"/>
                <a:cs typeface="Arial Unicode MS"/>
              </a:rPr>
              <a:t>水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提供的氢离子数相对较</a:t>
            </a:r>
            <a:r>
              <a:rPr dirty="0" sz="1200" spc="-80">
                <a:latin typeface="Arial Unicode MS"/>
                <a:cs typeface="Arial Unicode MS"/>
              </a:rPr>
              <a:t>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260">
                <a:latin typeface="Arial Unicode MS"/>
                <a:cs typeface="Arial Unicode MS"/>
              </a:rPr>
              <a:t>据</a:t>
            </a:r>
            <a:r>
              <a:rPr dirty="0" sz="1200" spc="-120">
                <a:latin typeface="Arial Unicode MS"/>
                <a:cs typeface="Arial Unicode MS"/>
              </a:rPr>
              <a:t>（</a:t>
            </a:r>
            <a:r>
              <a:rPr dirty="0" sz="1100" spc="-120">
                <a:latin typeface="Georgia"/>
                <a:cs typeface="Georgia"/>
                <a:hlinkClick r:id="rId2" action="ppaction://hlinksldjump"/>
              </a:rPr>
              <a:t>8</a:t>
            </a:r>
            <a:r>
              <a:rPr dirty="0" sz="1200" spc="-12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式我们得到如下的最简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10">
                <a:latin typeface="Lucida Sans Unicode"/>
                <a:cs typeface="Lucida Sans Unicode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endParaRPr sz="1100">
              <a:latin typeface="Georgia"/>
              <a:cs typeface="Georgia"/>
            </a:endParaRPr>
          </a:p>
          <a:p>
            <a:pPr marL="208279">
              <a:lnSpc>
                <a:spcPct val="100000"/>
              </a:lnSpc>
              <a:spcBef>
                <a:spcPts val="151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sz="900" spc="-5">
                <a:latin typeface="Arial Unicode MS"/>
                <a:cs typeface="Arial Unicode MS"/>
              </a:rPr>
              <a:t>保留正根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近似处理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判据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523176"/>
            <a:ext cx="441198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在分析化学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计算溶液中的氢离子浓度时允许</a:t>
            </a:r>
            <a:r>
              <a:rPr dirty="0" spc="-15"/>
              <a:t> </a:t>
            </a:r>
            <a:r>
              <a:rPr dirty="0" sz="1100" spc="-15">
                <a:latin typeface="Georgia"/>
                <a:cs typeface="Georgia"/>
              </a:rPr>
              <a:t>5%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pc="-5"/>
              <a:t>的误</a:t>
            </a:r>
            <a:r>
              <a:rPr dirty="0" spc="-80"/>
              <a:t>差</a:t>
            </a:r>
            <a:r>
              <a:rPr dirty="0" spc="-5"/>
              <a:t>，  所</a:t>
            </a:r>
            <a:r>
              <a:rPr dirty="0" spc="-80"/>
              <a:t>以</a:t>
            </a:r>
            <a:r>
              <a:rPr dirty="0" spc="-185"/>
              <a:t>，</a:t>
            </a:r>
            <a:r>
              <a:rPr dirty="0" spc="-5"/>
              <a:t>只要当</a:t>
            </a:r>
            <a:r>
              <a:rPr dirty="0" spc="25"/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20[OH</a:t>
            </a:r>
            <a:r>
              <a:rPr dirty="0" baseline="37037" sz="900" spc="-75">
                <a:latin typeface="Lucida Sans Unicode"/>
                <a:cs typeface="Lucida Sans Unicode"/>
              </a:rPr>
              <a:t>−</a:t>
            </a:r>
            <a:r>
              <a:rPr dirty="0" sz="1100" spc="-50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/>
              <a:t>时</a:t>
            </a:r>
            <a:r>
              <a:rPr dirty="0" sz="1200" spc="-350"/>
              <a:t>，（</a:t>
            </a:r>
            <a:r>
              <a:rPr dirty="0" sz="1100" spc="-350">
                <a:latin typeface="Georgia"/>
                <a:cs typeface="Georgia"/>
                <a:hlinkClick r:id="rId2" action="ppaction://hlinksldjump"/>
              </a:rPr>
              <a:t>8</a:t>
            </a:r>
            <a:r>
              <a:rPr dirty="0" sz="1200" spc="-350"/>
              <a:t>）</a:t>
            </a:r>
            <a:r>
              <a:rPr dirty="0" sz="1200" spc="-5"/>
              <a:t>式中的</a:t>
            </a:r>
            <a:r>
              <a:rPr dirty="0" sz="1200" spc="30"/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/>
              <a:t>可以忽</a:t>
            </a:r>
            <a:r>
              <a:rPr dirty="0" sz="1200" spc="-20"/>
              <a:t>略</a:t>
            </a:r>
            <a:r>
              <a:rPr dirty="0" sz="1200" spc="-5"/>
              <a:t>。 由于此时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8149" y="1478178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7997" y="1472755"/>
            <a:ext cx="5403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25967" y="1379029"/>
            <a:ext cx="1752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5814" y="1462430"/>
            <a:ext cx="133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u="sng" sz="6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7828" y="147275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≈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9258" y="1379029"/>
            <a:ext cx="2514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5089" y="1462430"/>
            <a:ext cx="2101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u="sng" sz="600" spc="-8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0567" y="1567789"/>
            <a:ext cx="96011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511175" algn="l"/>
              </a:tabLst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	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86280" y="2369426"/>
            <a:ext cx="410209" cy="0"/>
          </a:xfrm>
          <a:custGeom>
            <a:avLst/>
            <a:gdLst/>
            <a:ahLst/>
            <a:cxnLst/>
            <a:rect l="l" t="t" r="r" b="b"/>
            <a:pathLst>
              <a:path w="410210" h="0">
                <a:moveTo>
                  <a:pt x="0" y="0"/>
                </a:moveTo>
                <a:lnTo>
                  <a:pt x="41017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11552" y="2369426"/>
            <a:ext cx="410209" cy="0"/>
          </a:xfrm>
          <a:custGeom>
            <a:avLst/>
            <a:gdLst/>
            <a:ahLst/>
            <a:cxnLst/>
            <a:rect l="l" t="t" r="r" b="b"/>
            <a:pathLst>
              <a:path w="410210" h="0">
                <a:moveTo>
                  <a:pt x="0" y="0"/>
                </a:moveTo>
                <a:lnTo>
                  <a:pt x="41017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10751" y="2973717"/>
            <a:ext cx="320040" cy="0"/>
          </a:xfrm>
          <a:custGeom>
            <a:avLst/>
            <a:gdLst/>
            <a:ahLst/>
            <a:cxnLst/>
            <a:rect l="l" t="t" r="r" b="b"/>
            <a:pathLst>
              <a:path w="320039" h="0">
                <a:moveTo>
                  <a:pt x="0" y="0"/>
                </a:moveTo>
                <a:lnTo>
                  <a:pt x="3199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6001" y="1792135"/>
            <a:ext cx="4176395" cy="1352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 </a:t>
            </a:r>
            <a:r>
              <a:rPr dirty="0" sz="1100" spc="-30">
                <a:latin typeface="Lucida Sans Unicode"/>
                <a:cs typeface="Lucida Sans Unicode"/>
              </a:rPr>
              <a:t>≥ </a:t>
            </a:r>
            <a:r>
              <a:rPr dirty="0" sz="1100" spc="-50">
                <a:latin typeface="Georgia"/>
                <a:cs typeface="Georgia"/>
              </a:rPr>
              <a:t>20[OH</a:t>
            </a:r>
            <a:r>
              <a:rPr dirty="0" baseline="37037" sz="900" spc="-75">
                <a:latin typeface="Lucida Sans Unicode"/>
                <a:cs typeface="Lucida Sans Unicode"/>
              </a:rPr>
              <a:t>−</a:t>
            </a:r>
            <a:r>
              <a:rPr dirty="0" sz="1100" spc="-50">
                <a:latin typeface="Georgia"/>
                <a:cs typeface="Georgia"/>
              </a:rPr>
              <a:t>]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 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419860" marR="1712595" indent="107950">
              <a:lnSpc>
                <a:spcPct val="112599"/>
              </a:lnSpc>
              <a:spcBef>
                <a:spcPts val="1275"/>
              </a:spcBef>
              <a:tabLst>
                <a:tab pos="2045335" algn="l"/>
                <a:tab pos="2181225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w</a:t>
            </a:r>
            <a:r>
              <a:rPr dirty="0" baseline="-13888" sz="900" spc="150" i="1">
                <a:latin typeface="Arial"/>
                <a:cs typeface="Arial"/>
              </a:rPr>
              <a:t>	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(HCl) 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baseline="37878" sz="1650" spc="-44">
                <a:latin typeface="Lucida Sans Unicode"/>
                <a:cs typeface="Lucida Sans Unicode"/>
              </a:rPr>
              <a:t>≤		</a:t>
            </a:r>
            <a:r>
              <a:rPr dirty="0" sz="1100" spc="-100">
                <a:latin typeface="Georgia"/>
                <a:cs typeface="Georgia"/>
              </a:rPr>
              <a:t>20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489"/>
              </a:spcBef>
            </a:pP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强酸溶液中计算氢离子浓度时能否采用最简式的判</a:t>
            </a:r>
            <a:r>
              <a:rPr dirty="0" sz="1200" spc="-95">
                <a:latin typeface="Arial Unicode MS"/>
                <a:cs typeface="Arial Unicode MS"/>
              </a:rPr>
              <a:t>据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410970">
              <a:lnSpc>
                <a:spcPct val="100000"/>
              </a:lnSpc>
              <a:tabLst>
                <a:tab pos="3926204" algn="l"/>
              </a:tabLst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baseline="50505" sz="1650" spc="67">
                <a:latin typeface="Arial Unicode MS"/>
                <a:cs typeface="Arial Unicode MS"/>
              </a:rPr>
              <a:t>✓</a:t>
            </a:r>
            <a:r>
              <a:rPr dirty="0" sz="1100" spc="45">
                <a:latin typeface="Georgia"/>
                <a:cs typeface="Georgia"/>
              </a:rPr>
              <a:t>20K</a:t>
            </a:r>
            <a:r>
              <a:rPr dirty="0" baseline="-13888" sz="900" spc="67">
                <a:latin typeface="Times New Roman"/>
                <a:cs typeface="Times New Roman"/>
              </a:rPr>
              <a:t>w	</a:t>
            </a:r>
            <a:r>
              <a:rPr dirty="0" sz="1100" spc="-20">
                <a:latin typeface="Georgia"/>
                <a:cs typeface="Georgia"/>
              </a:rPr>
              <a:t>(9)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54774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4.5.3</a:t>
            </a:r>
            <a:r>
              <a:rPr dirty="0" sz="1400" spc="14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一元弱酸溶液中氢离子浓度的计算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550456"/>
            <a:ext cx="27127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一元弱酸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其解离平衡方程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5562" y="848728"/>
            <a:ext cx="238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80" b="0" i="1">
                <a:latin typeface="Bookman Old Style"/>
                <a:cs typeface="Bookman Old Style"/>
              </a:rPr>
              <a:t>K</a:t>
            </a:r>
            <a:r>
              <a:rPr dirty="0" baseline="-11904" sz="1050" spc="120" i="1">
                <a:latin typeface="Arial"/>
                <a:cs typeface="Arial"/>
              </a:rPr>
              <a:t>a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9926" y="1039685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3406" y="956272"/>
            <a:ext cx="1921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561465" algn="l"/>
              </a:tabLst>
            </a:pPr>
            <a:r>
              <a:rPr dirty="0" sz="1100">
                <a:latin typeface="Georgia"/>
                <a:cs typeface="Georgia"/>
              </a:rPr>
              <a:t>HA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5265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H</a:t>
            </a:r>
            <a:r>
              <a:rPr dirty="0" baseline="41666" sz="900" spc="97">
                <a:latin typeface="Times New Roman"/>
                <a:cs typeface="Times New Roman"/>
              </a:rPr>
              <a:t>+</a:t>
            </a:r>
            <a:r>
              <a:rPr dirty="0" baseline="41666" sz="900" spc="8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A</a:t>
            </a:r>
            <a:r>
              <a:rPr dirty="0" baseline="41666" sz="900" spc="127">
                <a:latin typeface="Lucida Sans Unicode"/>
                <a:cs typeface="Lucida Sans Unicode"/>
              </a:rPr>
              <a:t>−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35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80093" y="1072883"/>
            <a:ext cx="518795" cy="0"/>
          </a:xfrm>
          <a:custGeom>
            <a:avLst/>
            <a:gdLst/>
            <a:ahLst/>
            <a:cxnLst/>
            <a:rect l="l" t="t" r="r" b="b"/>
            <a:pathLst>
              <a:path w="518795" h="0">
                <a:moveTo>
                  <a:pt x="0" y="0"/>
                </a:moveTo>
                <a:lnTo>
                  <a:pt x="51850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42005" y="840038"/>
            <a:ext cx="59499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940" marR="30480" indent="-11747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40">
                <a:latin typeface="Georgia"/>
                <a:cs typeface="Georgia"/>
              </a:rPr>
              <a:t>][</a:t>
            </a:r>
            <a:r>
              <a:rPr dirty="0" sz="1100" spc="-75">
                <a:latin typeface="Georgia"/>
                <a:cs typeface="Georgia"/>
              </a:rPr>
              <a:t>A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55">
                <a:latin typeface="Georgia"/>
                <a:cs typeface="Georgia"/>
              </a:rPr>
              <a:t>[HA]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3568" y="298608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01" y="1329728"/>
            <a:ext cx="2865120" cy="1717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800">
              <a:latin typeface="Arial Unicode MS"/>
              <a:cs typeface="Arial Unicode MS"/>
            </a:endParaRPr>
          </a:p>
          <a:p>
            <a:pPr algn="r" marR="299085">
              <a:lnSpc>
                <a:spcPct val="100000"/>
              </a:lnSpc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eorgia"/>
              <a:cs typeface="Georgia"/>
            </a:endParaRPr>
          </a:p>
          <a:p>
            <a:pPr marL="76200">
              <a:lnSpc>
                <a:spcPts val="1345"/>
              </a:lnSpc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084580">
              <a:lnSpc>
                <a:spcPts val="1225"/>
              </a:lnSpc>
            </a:pPr>
            <a:r>
              <a:rPr dirty="0" baseline="-37878" sz="1650" spc="-15">
                <a:latin typeface="Georgia"/>
                <a:cs typeface="Georgia"/>
              </a:rPr>
              <a:t>[H</a:t>
            </a:r>
            <a:r>
              <a:rPr dirty="0" baseline="-27777" sz="900" spc="-15">
                <a:latin typeface="Times New Roman"/>
                <a:cs typeface="Times New Roman"/>
              </a:rPr>
              <a:t>+</a:t>
            </a:r>
            <a:r>
              <a:rPr dirty="0" baseline="-37878" sz="1650" spc="-15">
                <a:latin typeface="Georgia"/>
                <a:cs typeface="Georgia"/>
              </a:rPr>
              <a:t>]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baseline="-13888" sz="900" spc="17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baseline="-13888" sz="900" spc="172" i="1">
                <a:latin typeface="Arial"/>
                <a:cs typeface="Arial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112">
                <a:latin typeface="Georgia"/>
                <a:cs typeface="Georgia"/>
              </a:rPr>
              <a:t> </a:t>
            </a:r>
            <a:r>
              <a:rPr dirty="0" u="sng" sz="1100" spc="-80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sz="1100" spc="600" b="0" i="1">
                <a:latin typeface="Bookman Old Style"/>
                <a:cs typeface="Bookman Old Style"/>
              </a:rPr>
              <a:t> </a:t>
            </a:r>
            <a:r>
              <a:rPr dirty="0" u="sng" baseline="-13888" sz="900" spc="-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(HA)[HA]</a:t>
            </a:r>
            <a:endParaRPr sz="1100">
              <a:latin typeface="Georgia"/>
              <a:cs typeface="Georgia"/>
            </a:endParaRPr>
          </a:p>
          <a:p>
            <a:pPr algn="r" marR="339725">
              <a:lnSpc>
                <a:spcPct val="100000"/>
              </a:lnSpc>
              <a:spcBef>
                <a:spcPts val="165"/>
              </a:spcBef>
              <a:tabLst>
                <a:tab pos="716280" algn="l"/>
              </a:tabLst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397">
                <a:latin typeface="Times New Roman"/>
                <a:cs typeface="Times New Roman"/>
              </a:rPr>
              <a:t>+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27777" sz="900" spc="397">
                <a:latin typeface="Times New Roman"/>
                <a:cs typeface="Times New Roman"/>
              </a:rPr>
              <a:t>+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75565">
              <a:lnSpc>
                <a:spcPct val="100000"/>
              </a:lnSpc>
              <a:spcBef>
                <a:spcPts val="445"/>
              </a:spcBef>
            </a:pPr>
            <a:r>
              <a:rPr dirty="0" sz="1200" spc="-5">
                <a:latin typeface="Arial Unicode MS"/>
                <a:cs typeface="Arial Unicode MS"/>
              </a:rPr>
              <a:t>上式整理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314960">
              <a:lnSpc>
                <a:spcPct val="100000"/>
              </a:lnSpc>
              <a:spcBef>
                <a:spcPts val="475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25345" y="3003918"/>
            <a:ext cx="1139190" cy="0"/>
          </a:xfrm>
          <a:custGeom>
            <a:avLst/>
            <a:gdLst/>
            <a:ahLst/>
            <a:cxnLst/>
            <a:rect l="l" t="t" r="r" b="b"/>
            <a:pathLst>
              <a:path w="1139189" h="0">
                <a:moveTo>
                  <a:pt x="0" y="0"/>
                </a:moveTo>
                <a:lnTo>
                  <a:pt x="11387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130323" y="3064065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1175" y="2980664"/>
            <a:ext cx="1670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25">
                <a:latin typeface="Georgia"/>
                <a:cs typeface="Georgia"/>
              </a:rPr>
              <a:t>(HA)[HA]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5241" y="3064065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0456" y="298066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(10)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39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准确解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1144968"/>
            <a:ext cx="1778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3172" y="1381950"/>
            <a:ext cx="13995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[HA]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(HA)</a:t>
            </a:r>
            <a:r>
              <a:rPr dirty="0" sz="1100" spc="-15" b="0" i="1">
                <a:latin typeface="Bookman Old Style"/>
                <a:cs typeface="Bookman Old Style"/>
              </a:rPr>
              <a:t>δ</a:t>
            </a:r>
            <a:r>
              <a:rPr dirty="0" sz="1100" spc="-15">
                <a:latin typeface="Georgia"/>
                <a:cs typeface="Georgia"/>
              </a:rPr>
              <a:t>(HA)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3212" y="1498549"/>
            <a:ext cx="633730" cy="0"/>
          </a:xfrm>
          <a:custGeom>
            <a:avLst/>
            <a:gdLst/>
            <a:ahLst/>
            <a:cxnLst/>
            <a:rect l="l" t="t" r="r" b="b"/>
            <a:pathLst>
              <a:path w="633729" h="0">
                <a:moveTo>
                  <a:pt x="0" y="0"/>
                </a:moveTo>
                <a:lnTo>
                  <a:pt x="63373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55112" y="1265717"/>
            <a:ext cx="71056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815" marR="30480" indent="-6350">
              <a:lnSpc>
                <a:spcPct val="112599"/>
              </a:lnSpc>
              <a:spcBef>
                <a:spcPts val="10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(HA)[</a:t>
            </a:r>
            <a:r>
              <a:rPr dirty="0" sz="1100" spc="-45">
                <a:latin typeface="Georgia"/>
                <a:cs typeface="Georgia"/>
              </a:rPr>
              <a:t>H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114" b="0" i="1">
                <a:latin typeface="Bookman Old Style"/>
                <a:cs typeface="Bookman Old Style"/>
              </a:rPr>
              <a:t>K</a:t>
            </a:r>
            <a:r>
              <a:rPr dirty="0" baseline="-13888" sz="900" spc="172" i="1">
                <a:latin typeface="Arial"/>
                <a:cs typeface="Arial"/>
              </a:rPr>
              <a:t>w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818" y="1706194"/>
            <a:ext cx="4257040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065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代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80">
                <a:latin typeface="Arial Unicode MS"/>
                <a:cs typeface="Arial Unicode MS"/>
              </a:rPr>
              <a:t>（</a:t>
            </a:r>
            <a:r>
              <a:rPr dirty="0" sz="1100" spc="-80">
                <a:latin typeface="Georgia"/>
                <a:cs typeface="Georgia"/>
                <a:hlinkClick r:id="rId2" action="ppaction://hlinksldjump"/>
              </a:rPr>
              <a:t>10</a:t>
            </a:r>
            <a:r>
              <a:rPr dirty="0" sz="1200" spc="-80">
                <a:latin typeface="Arial Unicode MS"/>
                <a:cs typeface="Arial Unicode MS"/>
              </a:rPr>
              <a:t>）式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50800">
              <a:lnSpc>
                <a:spcPts val="990"/>
              </a:lnSpc>
            </a:pPr>
            <a:r>
              <a:rPr dirty="0" sz="1100" spc="5">
                <a:latin typeface="Georgia"/>
                <a:cs typeface="Georgia"/>
              </a:rPr>
              <a:t>[H</a:t>
            </a:r>
            <a:r>
              <a:rPr dirty="0" baseline="41666" sz="900" spc="7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]</a:t>
            </a:r>
            <a:r>
              <a:rPr dirty="0" baseline="41666" sz="900" spc="7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5">
                <a:latin typeface="Georgia"/>
                <a:cs typeface="Georgia"/>
              </a:rPr>
              <a:t>(HA)[H</a:t>
            </a:r>
            <a:r>
              <a:rPr dirty="0" baseline="41666" sz="900" spc="7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]</a:t>
            </a:r>
            <a:r>
              <a:rPr dirty="0" baseline="41666" sz="900" spc="7">
                <a:latin typeface="Times New Roman"/>
                <a:cs typeface="Times New Roman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70">
                <a:latin typeface="Georgia"/>
                <a:cs typeface="Georgia"/>
              </a:rPr>
              <a:t>(</a:t>
            </a:r>
            <a:r>
              <a:rPr dirty="0" sz="1100" spc="70" b="0" i="1">
                <a:latin typeface="Bookman Old Style"/>
                <a:cs typeface="Bookman Old Style"/>
              </a:rPr>
              <a:t>K </a:t>
            </a:r>
            <a:r>
              <a:rPr dirty="0" sz="1100" spc="-5">
                <a:latin typeface="Georgia"/>
                <a:cs typeface="Georgia"/>
              </a:rPr>
              <a:t>(HA)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5">
                <a:latin typeface="Georgia"/>
                <a:cs typeface="Georgia"/>
              </a:rPr>
              <a:t>)[H</a:t>
            </a:r>
            <a:r>
              <a:rPr dirty="0" baseline="41666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30">
                <a:latin typeface="Georgia"/>
                <a:cs typeface="Georgia"/>
              </a:rPr>
              <a:t>(HA)</a:t>
            </a:r>
            <a:r>
              <a:rPr dirty="0" sz="1100" spc="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  <a:p>
            <a:pPr marL="648335">
              <a:lnSpc>
                <a:spcPts val="390"/>
              </a:lnSpc>
              <a:tabLst>
                <a:tab pos="1673225" algn="l"/>
                <a:tab pos="2708910" algn="l"/>
                <a:tab pos="3383915" algn="l"/>
                <a:tab pos="3874770" algn="l"/>
              </a:tabLst>
            </a:pPr>
            <a:r>
              <a:rPr dirty="0" sz="600" spc="65" i="1">
                <a:latin typeface="Arial"/>
                <a:cs typeface="Arial"/>
              </a:rPr>
              <a:t>a	a	</a:t>
            </a:r>
            <a:r>
              <a:rPr dirty="0" sz="600" spc="100" i="1">
                <a:latin typeface="Arial"/>
                <a:cs typeface="Arial"/>
              </a:rPr>
              <a:t>w	</a:t>
            </a:r>
            <a:r>
              <a:rPr dirty="0" sz="600" spc="65" i="1">
                <a:latin typeface="Arial"/>
                <a:cs typeface="Arial"/>
              </a:rPr>
              <a:t>a	</a:t>
            </a: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近似处理一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550456"/>
            <a:ext cx="100266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对</a:t>
            </a:r>
            <a:r>
              <a:rPr dirty="0" spc="-260"/>
              <a:t>于</a:t>
            </a:r>
            <a:r>
              <a:rPr dirty="0" spc="-5"/>
              <a:t>（</a:t>
            </a:r>
            <a:r>
              <a:rPr dirty="0" sz="1100" spc="-25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100">
                <a:latin typeface="Georgia"/>
                <a:cs typeface="Georgia"/>
                <a:hlinkClick r:id="rId2" action="ppaction://hlinksldjump"/>
              </a:rPr>
              <a:t>0</a:t>
            </a:r>
            <a:r>
              <a:rPr dirty="0" spc="-280"/>
              <a:t>）</a:t>
            </a:r>
            <a:r>
              <a:rPr dirty="0" spc="-90"/>
              <a:t>式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3568" y="919111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4100" y="788466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5345" y="936942"/>
            <a:ext cx="1139190" cy="0"/>
          </a:xfrm>
          <a:custGeom>
            <a:avLst/>
            <a:gdLst/>
            <a:ahLst/>
            <a:cxnLst/>
            <a:rect l="l" t="t" r="r" b="b"/>
            <a:pathLst>
              <a:path w="1139189" h="0">
                <a:moveTo>
                  <a:pt x="0" y="0"/>
                </a:moveTo>
                <a:lnTo>
                  <a:pt x="11387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30323" y="997089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1175" y="913688"/>
            <a:ext cx="1670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25">
                <a:latin typeface="Georgia"/>
                <a:cs typeface="Georgia"/>
              </a:rPr>
              <a:t>(HA)[HA]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241" y="997089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101" y="1250340"/>
            <a:ext cx="40316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baseline="-13888" sz="900" spc="7" i="1">
                <a:latin typeface="Arial"/>
                <a:cs typeface="Arial"/>
              </a:rPr>
              <a:t>a</a:t>
            </a:r>
            <a:r>
              <a:rPr dirty="0" sz="1100" spc="5">
                <a:latin typeface="Georgia"/>
                <a:cs typeface="Georgia"/>
              </a:rPr>
              <a:t>[HA]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baseline="-13888" sz="900" spc="44" i="1">
                <a:latin typeface="Arial"/>
                <a:cs typeface="Arial"/>
              </a:rPr>
              <a:t>a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(HA)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Georgia"/>
                <a:cs typeface="Georgia"/>
              </a:rPr>
              <a:t>20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baseline="-13888" sz="900" spc="7" i="1">
                <a:latin typeface="Arial"/>
                <a:cs typeface="Arial"/>
              </a:rPr>
              <a:t>w</a:t>
            </a:r>
            <a:r>
              <a:rPr dirty="0" baseline="-13888" sz="900" spc="112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baseline="-13888" sz="900" spc="22" i="1">
                <a:latin typeface="Arial"/>
                <a:cs typeface="Arial"/>
              </a:rPr>
              <a:t>w</a:t>
            </a:r>
            <a:r>
              <a:rPr dirty="0" baseline="-13888" sz="900" spc="104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项可以忽</a:t>
            </a:r>
            <a:r>
              <a:rPr dirty="0" sz="1200" spc="-80">
                <a:latin typeface="Arial Unicode MS"/>
                <a:cs typeface="Arial Unicode MS"/>
              </a:rPr>
              <a:t>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此时上式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474038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变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2950" y="1716443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3482" y="158579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64727" y="1734273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 h="0">
                <a:moveTo>
                  <a:pt x="0" y="0"/>
                </a:moveTo>
                <a:lnTo>
                  <a:pt x="46001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69692" y="1794433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70557" y="1711020"/>
            <a:ext cx="1067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-55">
                <a:latin typeface="Georgia"/>
                <a:cs typeface="Georgia"/>
              </a:rPr>
              <a:t>[HA]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36" y="171102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0">
                <a:latin typeface="Georgia"/>
                <a:cs typeface="Georgia"/>
              </a:rPr>
              <a:t>(11)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9933" y="236585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1401" y="1936046"/>
            <a:ext cx="2362835" cy="49085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75"/>
              </a:spcBef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为</a:t>
            </a:r>
            <a:r>
              <a:rPr dirty="0" sz="1200" spc="-85">
                <a:latin typeface="Arial Unicode MS"/>
                <a:cs typeface="Arial Unicode MS"/>
              </a:rPr>
              <a:t>，</a:t>
            </a:r>
            <a:r>
              <a:rPr dirty="0" sz="1100" spc="-85">
                <a:latin typeface="Georgia"/>
                <a:cs typeface="Georgia"/>
              </a:rPr>
              <a:t>[HA]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60">
                <a:latin typeface="Georgia"/>
                <a:cs typeface="Georgia"/>
              </a:rPr>
              <a:t>[H</a:t>
            </a:r>
            <a:r>
              <a:rPr dirty="0" baseline="37037" sz="900" spc="-89">
                <a:latin typeface="Times New Roman"/>
                <a:cs typeface="Times New Roman"/>
              </a:rPr>
              <a:t>+</a:t>
            </a:r>
            <a:r>
              <a:rPr dirty="0" sz="1100" spc="-60">
                <a:latin typeface="Georgia"/>
                <a:cs typeface="Georgia"/>
              </a:rPr>
              <a:t>]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819150">
              <a:lnSpc>
                <a:spcPct val="100000"/>
              </a:lnSpc>
              <a:spcBef>
                <a:spcPts val="43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51710" y="2383701"/>
            <a:ext cx="1086485" cy="0"/>
          </a:xfrm>
          <a:custGeom>
            <a:avLst/>
            <a:gdLst/>
            <a:ahLst/>
            <a:cxnLst/>
            <a:rect l="l" t="t" r="r" b="b"/>
            <a:pathLst>
              <a:path w="1086485" h="0">
                <a:moveTo>
                  <a:pt x="0" y="0"/>
                </a:moveTo>
                <a:lnTo>
                  <a:pt x="10860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56675" y="2443848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57540" y="2360447"/>
            <a:ext cx="8362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5378" y="2383040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68118" y="2360447"/>
            <a:ext cx="882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10461" y="2360447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9501" y="2697099"/>
            <a:ext cx="6242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整理</a:t>
            </a:r>
            <a:r>
              <a:rPr dirty="0" sz="1200" spc="-8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16786" y="2982531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4394" y="2977108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57920" y="2964218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84819" y="2762364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36063" y="2910840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9" h="0">
                <a:moveTo>
                  <a:pt x="0" y="0"/>
                </a:moveTo>
                <a:lnTo>
                  <a:pt x="9696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450947" y="29034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32495" y="2880817"/>
            <a:ext cx="1035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3250" algn="l"/>
              </a:tabLst>
            </a:pPr>
            <a:r>
              <a:rPr dirty="0" sz="1100" spc="50">
                <a:latin typeface="Lucida Sans Unicode"/>
                <a:cs typeface="Lucida Sans Unicode"/>
              </a:rPr>
              <a:t>−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36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7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59938" y="2964218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42260" y="2880817"/>
            <a:ext cx="576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5" b="0" i="1">
                <a:latin typeface="Bookman Old Style"/>
                <a:cs typeface="Bookman Old Style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45195" y="3093720"/>
            <a:ext cx="1560830" cy="0"/>
          </a:xfrm>
          <a:custGeom>
            <a:avLst/>
            <a:gdLst/>
            <a:ahLst/>
            <a:cxnLst/>
            <a:rect l="l" t="t" r="r" b="b"/>
            <a:pathLst>
              <a:path w="1560829" h="0">
                <a:moveTo>
                  <a:pt x="0" y="0"/>
                </a:moveTo>
                <a:lnTo>
                  <a:pt x="15605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441028" y="2977692"/>
            <a:ext cx="132080" cy="286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2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10456" y="2977108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近似处理二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801" y="613994"/>
            <a:ext cx="40386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如果在平衡态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很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[HA]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50" b="0" i="1">
                <a:latin typeface="Bookman Old Style"/>
                <a:cs typeface="Bookman Old Style"/>
              </a:rPr>
              <a:t>c</a:t>
            </a:r>
            <a:r>
              <a:rPr dirty="0" sz="1100" spc="-50">
                <a:latin typeface="Georgia"/>
                <a:cs typeface="Georgia"/>
              </a:rPr>
              <a:t>(HA)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36" y="837692"/>
            <a:ext cx="7308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100" spc="35">
                <a:latin typeface="Georgia"/>
                <a:cs typeface="Georgia"/>
                <a:hlinkClick r:id="rId2" action="ppaction://hlinksldjump"/>
              </a:rPr>
              <a:t>2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9933" y="1080084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0466" y="949452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1710" y="1097927"/>
            <a:ext cx="1086485" cy="0"/>
          </a:xfrm>
          <a:custGeom>
            <a:avLst/>
            <a:gdLst/>
            <a:ahLst/>
            <a:cxnLst/>
            <a:rect l="l" t="t" r="r" b="b"/>
            <a:pathLst>
              <a:path w="1086485" h="0">
                <a:moveTo>
                  <a:pt x="0" y="0"/>
                </a:moveTo>
                <a:lnTo>
                  <a:pt x="10860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56675" y="1158075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7540" y="1074674"/>
            <a:ext cx="8362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5378" y="109726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8118" y="1074674"/>
            <a:ext cx="882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501" y="1367320"/>
            <a:ext cx="774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可简化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7573" y="160972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8105" y="1479080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19350" y="1627555"/>
            <a:ext cx="551180" cy="0"/>
          </a:xfrm>
          <a:custGeom>
            <a:avLst/>
            <a:gdLst/>
            <a:ahLst/>
            <a:cxnLst/>
            <a:rect l="l" t="t" r="r" b="b"/>
            <a:pathLst>
              <a:path w="551180" h="0">
                <a:moveTo>
                  <a:pt x="0" y="0"/>
                </a:moveTo>
                <a:lnTo>
                  <a:pt x="55076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424328" y="1687715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5180" y="1604302"/>
            <a:ext cx="11582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5" b="0" i="1">
                <a:latin typeface="Bookman Old Style"/>
                <a:cs typeface="Bookman Old Style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10468" y="160430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844" y="1855457"/>
            <a:ext cx="424688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这是计算一元弱酸溶液中氢离子浓度的最简公</a:t>
            </a: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采用这个 </a:t>
            </a:r>
            <a:r>
              <a:rPr dirty="0" sz="1200" spc="-5">
                <a:latin typeface="Arial Unicode MS"/>
                <a:cs typeface="Arial Unicode MS"/>
              </a:rPr>
              <a:t>公式计算溶液中氢离子浓度必须满足两个条</a:t>
            </a:r>
            <a:r>
              <a:rPr dirty="0" sz="1200" spc="-90">
                <a:latin typeface="Arial Unicode MS"/>
                <a:cs typeface="Arial Unicode MS"/>
              </a:rPr>
              <a:t>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0085" y="2471356"/>
            <a:ext cx="12979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53030" sz="1650" spc="855">
                <a:latin typeface="Arial Unicode MS"/>
                <a:cs typeface="Arial Unicode MS"/>
              </a:rPr>
              <a:t>f</a:t>
            </a:r>
            <a:r>
              <a:rPr dirty="0" baseline="53030" sz="1650" spc="30">
                <a:latin typeface="Arial Unicode MS"/>
                <a:cs typeface="Arial Unicode MS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baseline="-13888" sz="900" spc="44" i="1">
                <a:latin typeface="Arial"/>
                <a:cs typeface="Arial"/>
              </a:rPr>
              <a:t>a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(HA) </a:t>
            </a:r>
            <a:r>
              <a:rPr dirty="0" sz="1100" spc="-30">
                <a:latin typeface="Lucida Sans Unicode"/>
                <a:cs typeface="Lucida Sans Unicode"/>
              </a:rPr>
              <a:t>≥ </a:t>
            </a:r>
            <a:r>
              <a:rPr dirty="0" sz="1100" spc="5">
                <a:latin typeface="Georgia"/>
                <a:cs typeface="Georgia"/>
              </a:rPr>
              <a:t>20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baseline="-13888" sz="900" spc="7" i="1">
                <a:latin typeface="Arial"/>
                <a:cs typeface="Arial"/>
              </a:rPr>
              <a:t>w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10456" y="2573109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(15)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6813" y="2695054"/>
            <a:ext cx="3924300" cy="5257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21209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10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500</a:t>
            </a:r>
            <a:r>
              <a:rPr dirty="0" sz="1100" spc="-20" b="0" i="1">
                <a:latin typeface="Bookman Old Style"/>
                <a:cs typeface="Bookman Old Style"/>
              </a:rPr>
              <a:t>K</a:t>
            </a:r>
            <a:r>
              <a:rPr dirty="0" baseline="-13888" sz="900" spc="-30" i="1"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190"/>
              </a:spcBef>
            </a:pPr>
            <a:r>
              <a:rPr dirty="0" sz="1200" spc="-5">
                <a:latin typeface="Arial Unicode MS"/>
                <a:cs typeface="Arial Unicode MS"/>
              </a:rPr>
              <a:t>第二个条件可以确保按最简式计算时产生的误差小于</a:t>
            </a:r>
            <a:r>
              <a:rPr dirty="0" sz="1200" spc="-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5%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近似处理三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1172743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果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2605" y="1321508"/>
            <a:ext cx="1336040" cy="47307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baseline="53030" sz="1650" spc="855">
                <a:latin typeface="Arial Unicode MS"/>
                <a:cs typeface="Arial Unicode MS"/>
              </a:rPr>
              <a:t>f</a:t>
            </a:r>
            <a:r>
              <a:rPr dirty="0" baseline="53030" sz="1650" spc="-112">
                <a:latin typeface="Arial Unicode MS"/>
                <a:cs typeface="Arial Unicode MS"/>
              </a:rPr>
              <a:t> </a:t>
            </a:r>
            <a:r>
              <a:rPr dirty="0" sz="1100" spc="30" b="0" i="1">
                <a:latin typeface="Bookman Old Style"/>
                <a:cs typeface="Bookman Old Style"/>
              </a:rPr>
              <a:t>K</a:t>
            </a:r>
            <a:r>
              <a:rPr dirty="0" baseline="-13888" sz="900" spc="44" i="1">
                <a:latin typeface="Arial"/>
                <a:cs typeface="Arial"/>
              </a:rPr>
              <a:t>a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(HA) </a:t>
            </a:r>
            <a:r>
              <a:rPr dirty="0" sz="1100" spc="185" b="0" i="1">
                <a:latin typeface="Bookman Old Style"/>
                <a:cs typeface="Bookman Old Style"/>
              </a:rPr>
              <a:t>&lt; </a:t>
            </a:r>
            <a:r>
              <a:rPr dirty="0" sz="1100" spc="5">
                <a:latin typeface="Georgia"/>
                <a:cs typeface="Georgia"/>
              </a:rPr>
              <a:t>20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baseline="-13888" sz="900" spc="7" i="1">
                <a:latin typeface="Arial"/>
                <a:cs typeface="Arial"/>
              </a:rPr>
              <a:t>w</a:t>
            </a:r>
            <a:endParaRPr baseline="-13888" sz="900">
              <a:latin typeface="Arial"/>
              <a:cs typeface="Arial"/>
            </a:endParaRPr>
          </a:p>
          <a:p>
            <a:pPr algn="ctr" marL="52069">
              <a:lnSpc>
                <a:spcPct val="100000"/>
              </a:lnSpc>
              <a:spcBef>
                <a:spcPts val="445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-30">
                <a:latin typeface="Lucida Sans Unicode"/>
                <a:cs typeface="Lucida Sans Unicode"/>
              </a:rPr>
              <a:t>≥ </a:t>
            </a:r>
            <a:r>
              <a:rPr dirty="0" sz="1100" spc="-20">
                <a:latin typeface="Georgia"/>
                <a:cs typeface="Georgia"/>
              </a:rPr>
              <a:t>500</a:t>
            </a:r>
            <a:r>
              <a:rPr dirty="0" sz="1100" spc="-20" b="0" i="1">
                <a:latin typeface="Bookman Old Style"/>
                <a:cs typeface="Bookman Old Style"/>
              </a:rPr>
              <a:t>K</a:t>
            </a:r>
            <a:r>
              <a:rPr dirty="0" baseline="-13888" sz="900" spc="-30" i="1"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501" y="185977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5988" y="2102180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6521" y="1971535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37765" y="212001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394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42731" y="2180158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3596" y="2096757"/>
            <a:ext cx="8426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0256" y="2096757"/>
            <a:ext cx="628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62821" y="2180158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456" y="2096757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(16)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公式对比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647484"/>
            <a:ext cx="30200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为便于对</a:t>
            </a:r>
            <a:r>
              <a:rPr dirty="0" spc="-80"/>
              <a:t>比</a:t>
            </a:r>
            <a:r>
              <a:rPr dirty="0" spc="-185"/>
              <a:t>，</a:t>
            </a:r>
            <a:r>
              <a:rPr dirty="0" spc="-5"/>
              <a:t>现将上述讨论的结果列举如</a:t>
            </a:r>
            <a:r>
              <a:rPr dirty="0" spc="-90"/>
              <a:t>下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274599" y="100791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853" y="867638"/>
            <a:ext cx="398272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(HA)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-13888" sz="900" spc="30" i="1">
                <a:latin typeface="Arial"/>
                <a:cs typeface="Arial"/>
              </a:rPr>
              <a:t>a</a:t>
            </a:r>
            <a:r>
              <a:rPr dirty="0" sz="1100" spc="20">
                <a:latin typeface="Georgia"/>
                <a:cs typeface="Georgia"/>
              </a:rPr>
              <a:t>(HA)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20</a:t>
            </a:r>
            <a:r>
              <a:rPr dirty="0" sz="1100" spc="-35" b="0" i="1">
                <a:latin typeface="Bookman Old Style"/>
                <a:cs typeface="Bookman Old Style"/>
              </a:rPr>
              <a:t>K</a:t>
            </a:r>
            <a:r>
              <a:rPr dirty="0" baseline="-13888" sz="900" spc="-52" i="1">
                <a:latin typeface="Arial"/>
                <a:cs typeface="Arial"/>
              </a:rPr>
              <a:t>w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5">
                <a:latin typeface="Georgia"/>
                <a:cs typeface="Georgia"/>
              </a:rPr>
              <a:t>500</a:t>
            </a:r>
            <a:r>
              <a:rPr dirty="0" sz="1100" spc="-5" b="0" i="1">
                <a:latin typeface="Bookman Old Style"/>
                <a:cs typeface="Bookman Old Style"/>
              </a:rPr>
              <a:t>K</a:t>
            </a:r>
            <a:r>
              <a:rPr dirty="0" baseline="-13888" sz="900" spc="-7" i="1">
                <a:latin typeface="Arial"/>
                <a:cs typeface="Arial"/>
              </a:rPr>
              <a:t>a</a:t>
            </a:r>
            <a:r>
              <a:rPr dirty="0" sz="1100" spc="-5">
                <a:latin typeface="Georgia"/>
                <a:cs typeface="Georgia"/>
              </a:rPr>
              <a:t>(HA)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用最简 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0427" y="137524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0960" y="1244600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2204" y="1393075"/>
            <a:ext cx="551180" cy="0"/>
          </a:xfrm>
          <a:custGeom>
            <a:avLst/>
            <a:gdLst/>
            <a:ahLst/>
            <a:cxnLst/>
            <a:rect l="l" t="t" r="r" b="b"/>
            <a:pathLst>
              <a:path w="551180" h="0">
                <a:moveTo>
                  <a:pt x="0" y="0"/>
                </a:moveTo>
                <a:lnTo>
                  <a:pt x="55076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57170" y="1453223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8035" y="1369822"/>
            <a:ext cx="8426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4696" y="1369822"/>
            <a:ext cx="3416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4599" y="176123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66153" y="1662480"/>
            <a:ext cx="40081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(HA)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-13888" sz="900" spc="30" i="1">
                <a:latin typeface="Arial"/>
                <a:cs typeface="Arial"/>
              </a:rPr>
              <a:t>a</a:t>
            </a:r>
            <a:r>
              <a:rPr dirty="0" sz="1100" spc="20">
                <a:latin typeface="Georgia"/>
                <a:cs typeface="Georgia"/>
              </a:rPr>
              <a:t>(HA)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20</a:t>
            </a:r>
            <a:r>
              <a:rPr dirty="0" sz="1100" spc="-35" b="0" i="1">
                <a:latin typeface="Bookman Old Style"/>
                <a:cs typeface="Bookman Old Style"/>
              </a:rPr>
              <a:t>K</a:t>
            </a:r>
            <a:r>
              <a:rPr dirty="0" baseline="-13888" sz="900" spc="-52" i="1">
                <a:latin typeface="Arial"/>
                <a:cs typeface="Arial"/>
              </a:rPr>
              <a:t>w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5">
                <a:latin typeface="Georgia"/>
                <a:cs typeface="Georgia"/>
              </a:rPr>
              <a:t>500</a:t>
            </a:r>
            <a:r>
              <a:rPr dirty="0" sz="1100" spc="-5" b="0" i="1">
                <a:latin typeface="Bookman Old Style"/>
                <a:cs typeface="Bookman Old Style"/>
              </a:rPr>
              <a:t>K</a:t>
            </a:r>
            <a:r>
              <a:rPr dirty="0" baseline="-13888" sz="900" spc="-7" i="1">
                <a:latin typeface="Arial"/>
                <a:cs typeface="Arial"/>
              </a:rPr>
              <a:t>a</a:t>
            </a:r>
            <a:r>
              <a:rPr dirty="0" sz="1100" spc="-5">
                <a:latin typeface="Georgia"/>
                <a:cs typeface="Georgia"/>
              </a:rPr>
              <a:t>(HA)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用近似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553" y="1886178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6274" y="2164308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3881" y="2158898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7408" y="2146007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9876" y="1944141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11133" y="2092617"/>
            <a:ext cx="1600835" cy="0"/>
          </a:xfrm>
          <a:custGeom>
            <a:avLst/>
            <a:gdLst/>
            <a:ahLst/>
            <a:cxnLst/>
            <a:rect l="l" t="t" r="r" b="b"/>
            <a:pathLst>
              <a:path w="1600835" h="0">
                <a:moveTo>
                  <a:pt x="0" y="0"/>
                </a:moveTo>
                <a:lnTo>
                  <a:pt x="160080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26004" y="208520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16098" y="2159482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1983" y="2062607"/>
            <a:ext cx="16668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dirty="0" sz="1100" spc="50">
                <a:latin typeface="Lucida Sans Unicode"/>
                <a:cs typeface="Lucida Sans Unicode"/>
              </a:rPr>
              <a:t>−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120" b="0" i="1">
                <a:latin typeface="Bookman Old Style"/>
                <a:cs typeface="Bookman Old Style"/>
              </a:rPr>
              <a:t> </a:t>
            </a:r>
            <a:r>
              <a:rPr dirty="0" sz="1100" spc="5">
                <a:latin typeface="Georgia"/>
                <a:cs typeface="Georgia"/>
              </a:rPr>
              <a:t>(HA)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5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50577" y="2146007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32899" y="2062607"/>
            <a:ext cx="892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65" b="0" i="1">
                <a:latin typeface="Bookman Old Style"/>
                <a:cs typeface="Bookman Old Style"/>
              </a:rPr>
              <a:t> </a:t>
            </a:r>
            <a:r>
              <a:rPr dirty="0" sz="1100" spc="-5">
                <a:latin typeface="Georgia"/>
                <a:cs typeface="Georgia"/>
              </a:rPr>
              <a:t>(HA)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404683" y="2275497"/>
            <a:ext cx="2507615" cy="0"/>
          </a:xfrm>
          <a:custGeom>
            <a:avLst/>
            <a:gdLst/>
            <a:ahLst/>
            <a:cxnLst/>
            <a:rect l="l" t="t" r="r" b="b"/>
            <a:pathLst>
              <a:path w="2507615" h="0">
                <a:moveTo>
                  <a:pt x="0" y="0"/>
                </a:moveTo>
                <a:lnTo>
                  <a:pt x="25072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610980" y="225393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4599" y="2550312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12835" y="2850959"/>
            <a:ext cx="1229995" cy="0"/>
          </a:xfrm>
          <a:custGeom>
            <a:avLst/>
            <a:gdLst/>
            <a:ahLst/>
            <a:cxnLst/>
            <a:rect l="l" t="t" r="r" b="b"/>
            <a:pathLst>
              <a:path w="1229995" h="0">
                <a:moveTo>
                  <a:pt x="0" y="0"/>
                </a:moveTo>
                <a:lnTo>
                  <a:pt x="12295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66153" y="2451544"/>
            <a:ext cx="4149725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(HA)</a:t>
            </a: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-13888" sz="900" spc="30" i="1">
                <a:latin typeface="Arial"/>
                <a:cs typeface="Arial"/>
              </a:rPr>
              <a:t>a</a:t>
            </a:r>
            <a:r>
              <a:rPr dirty="0" sz="1100" spc="20">
                <a:latin typeface="Georgia"/>
                <a:cs typeface="Georgia"/>
              </a:rPr>
              <a:t>(HA)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-35">
                <a:latin typeface="Georgia"/>
                <a:cs typeface="Georgia"/>
              </a:rPr>
              <a:t>20</a:t>
            </a:r>
            <a:r>
              <a:rPr dirty="0" sz="1100" spc="-35" b="0" i="1">
                <a:latin typeface="Bookman Old Style"/>
                <a:cs typeface="Bookman Old Style"/>
              </a:rPr>
              <a:t>K</a:t>
            </a:r>
            <a:r>
              <a:rPr dirty="0" baseline="-13888" sz="900" spc="-52" i="1">
                <a:latin typeface="Arial"/>
                <a:cs typeface="Arial"/>
              </a:rPr>
              <a:t>w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5">
                <a:latin typeface="Georgia"/>
                <a:cs typeface="Georgia"/>
              </a:rPr>
              <a:t>500</a:t>
            </a:r>
            <a:r>
              <a:rPr dirty="0" sz="1100" spc="-5" b="0" i="1">
                <a:latin typeface="Bookman Old Style"/>
                <a:cs typeface="Bookman Old Style"/>
              </a:rPr>
              <a:t>K</a:t>
            </a:r>
            <a:r>
              <a:rPr dirty="0" baseline="-13888" sz="900" spc="-7" i="1">
                <a:latin typeface="Arial"/>
                <a:cs typeface="Arial"/>
              </a:rPr>
              <a:t>a</a:t>
            </a:r>
            <a:r>
              <a:rPr dirty="0" sz="1100" spc="-5">
                <a:latin typeface="Georgia"/>
                <a:cs typeface="Georgia"/>
              </a:rPr>
              <a:t>(HA)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用下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164590">
              <a:lnSpc>
                <a:spcPts val="990"/>
              </a:lnSpc>
              <a:spcBef>
                <a:spcPts val="1515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50505" sz="1650" spc="75">
                <a:latin typeface="Arial Unicode MS"/>
                <a:cs typeface="Arial Unicode MS"/>
              </a:rPr>
              <a:t>✓</a:t>
            </a:r>
            <a:r>
              <a:rPr dirty="0" sz="1100" spc="50" b="0" i="1">
                <a:latin typeface="Bookman Old Style"/>
                <a:cs typeface="Bookman Old Style"/>
              </a:rPr>
              <a:t>c</a:t>
            </a:r>
            <a:r>
              <a:rPr dirty="0" sz="1100" spc="50">
                <a:latin typeface="Georgia"/>
                <a:cs typeface="Georgia"/>
              </a:rPr>
              <a:t>(HA)</a:t>
            </a:r>
            <a:r>
              <a:rPr dirty="0" sz="1100" spc="50" b="0" i="1">
                <a:latin typeface="Bookman Old Style"/>
                <a:cs typeface="Bookman Old Style"/>
              </a:rPr>
              <a:t>K </a:t>
            </a:r>
            <a:r>
              <a:rPr dirty="0" sz="1100" spc="5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  <a:p>
            <a:pPr marL="2239645">
              <a:lnSpc>
                <a:spcPts val="390"/>
              </a:lnSpc>
              <a:tabLst>
                <a:tab pos="2899410" algn="l"/>
              </a:tabLst>
            </a:pPr>
            <a:r>
              <a:rPr dirty="0" sz="600" spc="65" i="1">
                <a:latin typeface="Arial"/>
                <a:cs typeface="Arial"/>
              </a:rPr>
              <a:t>a	</a:t>
            </a: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09904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8545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0566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9296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54139"/>
            <a:ext cx="50749" cy="551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29740"/>
            <a:ext cx="4432935" cy="426720"/>
          </a:xfrm>
          <a:custGeom>
            <a:avLst/>
            <a:gdLst/>
            <a:ahLst/>
            <a:cxnLst/>
            <a:rect l="l" t="t" r="r" b="b"/>
            <a:pathLst>
              <a:path w="4432935" h="426719">
                <a:moveTo>
                  <a:pt x="4432566" y="0"/>
                </a:moveTo>
                <a:lnTo>
                  <a:pt x="0" y="0"/>
                </a:lnTo>
                <a:lnTo>
                  <a:pt x="0" y="375922"/>
                </a:lnTo>
                <a:lnTo>
                  <a:pt x="4008" y="395646"/>
                </a:lnTo>
                <a:lnTo>
                  <a:pt x="14922" y="411799"/>
                </a:lnTo>
                <a:lnTo>
                  <a:pt x="31075" y="422713"/>
                </a:lnTo>
                <a:lnTo>
                  <a:pt x="50800" y="426722"/>
                </a:lnTo>
                <a:lnTo>
                  <a:pt x="4381765" y="426722"/>
                </a:lnTo>
                <a:lnTo>
                  <a:pt x="4401490" y="422713"/>
                </a:lnTo>
                <a:lnTo>
                  <a:pt x="4417643" y="411799"/>
                </a:lnTo>
                <a:lnTo>
                  <a:pt x="4428558" y="395646"/>
                </a:lnTo>
                <a:lnTo>
                  <a:pt x="4432566" y="37592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92233"/>
            <a:ext cx="0" cy="532765"/>
          </a:xfrm>
          <a:custGeom>
            <a:avLst/>
            <a:gdLst/>
            <a:ahLst/>
            <a:cxnLst/>
            <a:rect l="l" t="t" r="r" b="b"/>
            <a:pathLst>
              <a:path w="0" h="532765">
                <a:moveTo>
                  <a:pt x="0" y="5324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795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668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541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449567"/>
            <a:ext cx="4358005" cy="685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4.6</a:t>
            </a:r>
            <a:endParaRPr sz="12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r>
              <a:rPr dirty="0" baseline="-13888" sz="900" spc="270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4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09904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8545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0566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9296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54139"/>
            <a:ext cx="50749" cy="551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29740"/>
            <a:ext cx="4432935" cy="426720"/>
          </a:xfrm>
          <a:custGeom>
            <a:avLst/>
            <a:gdLst/>
            <a:ahLst/>
            <a:cxnLst/>
            <a:rect l="l" t="t" r="r" b="b"/>
            <a:pathLst>
              <a:path w="4432935" h="426719">
                <a:moveTo>
                  <a:pt x="4432566" y="0"/>
                </a:moveTo>
                <a:lnTo>
                  <a:pt x="0" y="0"/>
                </a:lnTo>
                <a:lnTo>
                  <a:pt x="0" y="375922"/>
                </a:lnTo>
                <a:lnTo>
                  <a:pt x="4008" y="395646"/>
                </a:lnTo>
                <a:lnTo>
                  <a:pt x="14922" y="411799"/>
                </a:lnTo>
                <a:lnTo>
                  <a:pt x="31075" y="422713"/>
                </a:lnTo>
                <a:lnTo>
                  <a:pt x="50800" y="426722"/>
                </a:lnTo>
                <a:lnTo>
                  <a:pt x="4381765" y="426722"/>
                </a:lnTo>
                <a:lnTo>
                  <a:pt x="4401490" y="422713"/>
                </a:lnTo>
                <a:lnTo>
                  <a:pt x="4417643" y="411799"/>
                </a:lnTo>
                <a:lnTo>
                  <a:pt x="4428558" y="395646"/>
                </a:lnTo>
                <a:lnTo>
                  <a:pt x="4432566" y="37592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92233"/>
            <a:ext cx="0" cy="532765"/>
          </a:xfrm>
          <a:custGeom>
            <a:avLst/>
            <a:gdLst/>
            <a:ahLst/>
            <a:cxnLst/>
            <a:rect l="l" t="t" r="r" b="b"/>
            <a:pathLst>
              <a:path w="0" h="532765">
                <a:moveTo>
                  <a:pt x="0" y="5324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795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668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541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344" y="449567"/>
            <a:ext cx="4408805" cy="19716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4.6</a:t>
            </a:r>
            <a:endParaRPr sz="12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r>
              <a:rPr dirty="0" baseline="-13888" sz="900" spc="270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4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123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因为</a:t>
            </a:r>
            <a:r>
              <a:rPr dirty="0" sz="1100" spc="-45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Georgia"/>
              <a:cs typeface="Georgia"/>
            </a:endParaRPr>
          </a:p>
          <a:p>
            <a:pPr algn="ctr" marL="66040">
              <a:lnSpc>
                <a:spcPts val="635"/>
              </a:lnSpc>
              <a:tabLst>
                <a:tab pos="2950845" algn="l"/>
              </a:tabLst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(HF)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baseline="-13888" sz="900" spc="22" i="1">
                <a:latin typeface="Arial"/>
                <a:cs typeface="Arial"/>
              </a:rPr>
              <a:t>a</a:t>
            </a:r>
            <a:r>
              <a:rPr dirty="0" sz="1100" spc="15">
                <a:latin typeface="Georgia"/>
                <a:cs typeface="Georgia"/>
              </a:rPr>
              <a:t>(HF)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41666" sz="900" spc="15">
                <a:latin typeface="Lucida Sans Unicode"/>
                <a:cs typeface="Lucida Sans Unicode"/>
              </a:rPr>
              <a:t>− 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5">
                <a:latin typeface="Georgia"/>
                <a:cs typeface="Georgia"/>
              </a:rPr>
              <a:t>20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baseline="-13888" sz="900" spc="7" i="1">
                <a:latin typeface="Arial"/>
                <a:cs typeface="Arial"/>
              </a:rPr>
              <a:t>w</a:t>
            </a:r>
            <a:endParaRPr baseline="-13888" sz="900">
              <a:latin typeface="Arial"/>
              <a:cs typeface="Arial"/>
            </a:endParaRPr>
          </a:p>
          <a:p>
            <a:pPr marL="2557780">
              <a:lnSpc>
                <a:spcPts val="135"/>
              </a:lnSpc>
              <a:tabLst>
                <a:tab pos="3279775" algn="l"/>
              </a:tabLst>
            </a:pPr>
            <a:r>
              <a:rPr dirty="0" sz="600" spc="65">
                <a:latin typeface="Times New Roman"/>
                <a:cs typeface="Times New Roman"/>
              </a:rPr>
              <a:t>4	</a:t>
            </a:r>
            <a:r>
              <a:rPr dirty="0" sz="600" spc="75">
                <a:latin typeface="Lucida Sans Unicode"/>
                <a:cs typeface="Lucida Sans Unicode"/>
              </a:rPr>
              <a:t>−</a:t>
            </a:r>
            <a:r>
              <a:rPr dirty="0" sz="600" spc="7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379730">
              <a:lnSpc>
                <a:spcPct val="100000"/>
              </a:lnSpc>
              <a:spcBef>
                <a:spcPts val="840"/>
              </a:spcBef>
            </a:pPr>
            <a:r>
              <a:rPr dirty="0" sz="1200" spc="-5">
                <a:latin typeface="Arial Unicode MS"/>
                <a:cs typeface="Arial Unicode MS"/>
              </a:rPr>
              <a:t>但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74295">
              <a:lnSpc>
                <a:spcPct val="100000"/>
              </a:lnSpc>
              <a:spcBef>
                <a:spcPts val="42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(HF)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 </a:t>
            </a:r>
            <a:r>
              <a:rPr dirty="0" sz="1100" spc="185" b="0" i="1">
                <a:latin typeface="Bookman Old Style"/>
                <a:cs typeface="Bookman Old Style"/>
              </a:rPr>
              <a:t>&lt; </a:t>
            </a:r>
            <a:r>
              <a:rPr dirty="0" sz="1100" spc="-10">
                <a:latin typeface="Georgia"/>
                <a:cs typeface="Georgia"/>
              </a:rPr>
              <a:t>500</a:t>
            </a:r>
            <a:r>
              <a:rPr dirty="0" sz="1100" spc="-10" b="0" i="1">
                <a:latin typeface="Bookman Old Style"/>
                <a:cs typeface="Bookman Old Style"/>
              </a:rPr>
              <a:t>K</a:t>
            </a:r>
            <a:r>
              <a:rPr dirty="0" baseline="-13888" sz="900" spc="-15" i="1">
                <a:latin typeface="Arial"/>
                <a:cs typeface="Arial"/>
              </a:rPr>
              <a:t>a</a:t>
            </a:r>
            <a:r>
              <a:rPr dirty="0" sz="1100" spc="-10">
                <a:latin typeface="Georgia"/>
                <a:cs typeface="Georgia"/>
              </a:rPr>
              <a:t>(HF)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33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09904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8545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0566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9296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554139"/>
            <a:ext cx="50749" cy="551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29740"/>
            <a:ext cx="4432935" cy="426720"/>
          </a:xfrm>
          <a:custGeom>
            <a:avLst/>
            <a:gdLst/>
            <a:ahLst/>
            <a:cxnLst/>
            <a:rect l="l" t="t" r="r" b="b"/>
            <a:pathLst>
              <a:path w="4432935" h="426719">
                <a:moveTo>
                  <a:pt x="4432566" y="0"/>
                </a:moveTo>
                <a:lnTo>
                  <a:pt x="0" y="0"/>
                </a:lnTo>
                <a:lnTo>
                  <a:pt x="0" y="375922"/>
                </a:lnTo>
                <a:lnTo>
                  <a:pt x="4008" y="395646"/>
                </a:lnTo>
                <a:lnTo>
                  <a:pt x="14922" y="411799"/>
                </a:lnTo>
                <a:lnTo>
                  <a:pt x="31075" y="422713"/>
                </a:lnTo>
                <a:lnTo>
                  <a:pt x="50800" y="426722"/>
                </a:lnTo>
                <a:lnTo>
                  <a:pt x="4381765" y="426722"/>
                </a:lnTo>
                <a:lnTo>
                  <a:pt x="4401490" y="422713"/>
                </a:lnTo>
                <a:lnTo>
                  <a:pt x="4417643" y="411799"/>
                </a:lnTo>
                <a:lnTo>
                  <a:pt x="4428558" y="395646"/>
                </a:lnTo>
                <a:lnTo>
                  <a:pt x="4432566" y="37592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92233"/>
            <a:ext cx="0" cy="532765"/>
          </a:xfrm>
          <a:custGeom>
            <a:avLst/>
            <a:gdLst/>
            <a:ahLst/>
            <a:cxnLst/>
            <a:rect l="l" t="t" r="r" b="b"/>
            <a:pathLst>
              <a:path w="0" h="532765">
                <a:moveTo>
                  <a:pt x="0" y="5324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5795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5668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55413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344" y="449567"/>
            <a:ext cx="4408805" cy="19716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4.6</a:t>
            </a:r>
            <a:endParaRPr sz="12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5">
                <a:latin typeface="Georgia"/>
                <a:cs typeface="Georgia"/>
              </a:rPr>
              <a:t>0.10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r>
              <a:rPr dirty="0" baseline="-13888" sz="900" spc="270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4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123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因为</a:t>
            </a:r>
            <a:r>
              <a:rPr dirty="0" sz="1100" spc="-45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Georgia"/>
              <a:cs typeface="Georgia"/>
            </a:endParaRPr>
          </a:p>
          <a:p>
            <a:pPr algn="ctr" marL="66040">
              <a:lnSpc>
                <a:spcPts val="635"/>
              </a:lnSpc>
              <a:tabLst>
                <a:tab pos="2950845" algn="l"/>
              </a:tabLst>
            </a:pP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(HF)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baseline="-13888" sz="900" spc="22" i="1">
                <a:latin typeface="Arial"/>
                <a:cs typeface="Arial"/>
              </a:rPr>
              <a:t>a</a:t>
            </a:r>
            <a:r>
              <a:rPr dirty="0" sz="1100" spc="15">
                <a:latin typeface="Georgia"/>
                <a:cs typeface="Georgia"/>
              </a:rPr>
              <a:t>(HF)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41666" sz="900" spc="15">
                <a:latin typeface="Lucida Sans Unicode"/>
                <a:cs typeface="Lucida Sans Unicode"/>
              </a:rPr>
              <a:t>− 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5">
                <a:latin typeface="Georgia"/>
                <a:cs typeface="Georgia"/>
              </a:rPr>
              <a:t>20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baseline="-13888" sz="900" spc="7" i="1">
                <a:latin typeface="Arial"/>
                <a:cs typeface="Arial"/>
              </a:rPr>
              <a:t>w</a:t>
            </a:r>
            <a:endParaRPr baseline="-13888" sz="900">
              <a:latin typeface="Arial"/>
              <a:cs typeface="Arial"/>
            </a:endParaRPr>
          </a:p>
          <a:p>
            <a:pPr marL="2557780">
              <a:lnSpc>
                <a:spcPts val="135"/>
              </a:lnSpc>
              <a:tabLst>
                <a:tab pos="3279775" algn="l"/>
              </a:tabLst>
            </a:pPr>
            <a:r>
              <a:rPr dirty="0" sz="600" spc="65">
                <a:latin typeface="Times New Roman"/>
                <a:cs typeface="Times New Roman"/>
              </a:rPr>
              <a:t>4	</a:t>
            </a:r>
            <a:r>
              <a:rPr dirty="0" sz="600" spc="75">
                <a:latin typeface="Lucida Sans Unicode"/>
                <a:cs typeface="Lucida Sans Unicode"/>
              </a:rPr>
              <a:t>−</a:t>
            </a:r>
            <a:r>
              <a:rPr dirty="0" sz="600" spc="7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379730">
              <a:lnSpc>
                <a:spcPct val="100000"/>
              </a:lnSpc>
              <a:spcBef>
                <a:spcPts val="840"/>
              </a:spcBef>
            </a:pPr>
            <a:r>
              <a:rPr dirty="0" sz="1200" spc="-5">
                <a:latin typeface="Arial Unicode MS"/>
                <a:cs typeface="Arial Unicode MS"/>
              </a:rPr>
              <a:t>但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74295">
              <a:lnSpc>
                <a:spcPct val="100000"/>
              </a:lnSpc>
              <a:spcBef>
                <a:spcPts val="42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(HF)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 </a:t>
            </a:r>
            <a:r>
              <a:rPr dirty="0" sz="1100" spc="185" b="0" i="1">
                <a:latin typeface="Bookman Old Style"/>
                <a:cs typeface="Bookman Old Style"/>
              </a:rPr>
              <a:t>&lt; </a:t>
            </a:r>
            <a:r>
              <a:rPr dirty="0" sz="1100" spc="-10">
                <a:latin typeface="Georgia"/>
                <a:cs typeface="Georgia"/>
              </a:rPr>
              <a:t>500</a:t>
            </a:r>
            <a:r>
              <a:rPr dirty="0" sz="1100" spc="-10" b="0" i="1">
                <a:latin typeface="Bookman Old Style"/>
                <a:cs typeface="Bookman Old Style"/>
              </a:rPr>
              <a:t>K</a:t>
            </a:r>
            <a:r>
              <a:rPr dirty="0" baseline="-13888" sz="900" spc="-15" i="1">
                <a:latin typeface="Arial"/>
                <a:cs typeface="Arial"/>
              </a:rPr>
              <a:t>a</a:t>
            </a:r>
            <a:r>
              <a:rPr dirty="0" sz="1100" spc="-10">
                <a:latin typeface="Georgia"/>
                <a:cs typeface="Georgia"/>
              </a:rPr>
              <a:t>(HF)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33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815759"/>
            <a:ext cx="13817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用近似式进行计</a:t>
            </a:r>
            <a:r>
              <a:rPr dirty="0" spc="-90"/>
              <a:t>算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064" y="123459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672" y="1229169"/>
            <a:ext cx="5181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9290" y="1014425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90534" y="1162901"/>
            <a:ext cx="1621790" cy="0"/>
          </a:xfrm>
          <a:custGeom>
            <a:avLst/>
            <a:gdLst/>
            <a:ahLst/>
            <a:cxnLst/>
            <a:rect l="l" t="t" r="r" b="b"/>
            <a:pathLst>
              <a:path w="1621789" h="0">
                <a:moveTo>
                  <a:pt x="0" y="0"/>
                </a:moveTo>
                <a:lnTo>
                  <a:pt x="162152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10297" y="1216291"/>
            <a:ext cx="8623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7560" algn="l"/>
              </a:tabLst>
            </a:pPr>
            <a:r>
              <a:rPr dirty="0" sz="600" spc="65" i="1">
                <a:latin typeface="Arial"/>
                <a:cs typeface="Arial"/>
              </a:rPr>
              <a:t>a</a:t>
            </a:r>
            <a:r>
              <a:rPr dirty="0" sz="600" spc="65" i="1">
                <a:latin typeface="Arial"/>
                <a:cs typeface="Arial"/>
              </a:rPr>
              <a:t>	</a:t>
            </a: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5176" y="11554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4872" y="1132890"/>
            <a:ext cx="16871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05510" algn="l"/>
              </a:tabLst>
            </a:pPr>
            <a:r>
              <a:rPr dirty="0" sz="1100" spc="50">
                <a:latin typeface="Lucida Sans Unicode"/>
                <a:cs typeface="Lucida Sans Unicode"/>
              </a:rPr>
              <a:t>−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125" b="0" i="1">
                <a:latin typeface="Bookman Old Style"/>
                <a:cs typeface="Bookman Old Style"/>
              </a:rPr>
              <a:t> </a:t>
            </a:r>
            <a:r>
              <a:rPr dirty="0" sz="1100" spc="-5">
                <a:latin typeface="Georgia"/>
                <a:cs typeface="Georgia"/>
              </a:rPr>
              <a:t>(HF)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5">
                <a:latin typeface="Georgia"/>
                <a:cs typeface="Georgia"/>
              </a:rPr>
              <a:t>(HF)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4167" y="1216291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6489" y="1132890"/>
            <a:ext cx="563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" b="0" i="1">
                <a:latin typeface="Bookman Old Style"/>
                <a:cs typeface="Bookman Old Style"/>
              </a:rPr>
              <a:t> </a:t>
            </a:r>
            <a:r>
              <a:rPr dirty="0" sz="1100" spc="-15">
                <a:latin typeface="Georgia"/>
                <a:cs typeface="Georgia"/>
              </a:rPr>
              <a:t>(HF)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3788" y="1132890"/>
            <a:ext cx="3416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97572" y="1345781"/>
            <a:ext cx="2514600" cy="0"/>
          </a:xfrm>
          <a:custGeom>
            <a:avLst/>
            <a:gdLst/>
            <a:ahLst/>
            <a:cxnLst/>
            <a:rect l="l" t="t" r="r" b="b"/>
            <a:pathLst>
              <a:path w="2514600" h="0">
                <a:moveTo>
                  <a:pt x="0" y="0"/>
                </a:moveTo>
                <a:lnTo>
                  <a:pt x="25144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07475" y="1324216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5406" y="1600644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7530" y="151671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2691" y="1385900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23935" y="1534376"/>
            <a:ext cx="2205990" cy="0"/>
          </a:xfrm>
          <a:custGeom>
            <a:avLst/>
            <a:gdLst/>
            <a:ahLst/>
            <a:cxnLst/>
            <a:rect l="l" t="t" r="r" b="b"/>
            <a:pathLst>
              <a:path w="2205990" h="0">
                <a:moveTo>
                  <a:pt x="0" y="0"/>
                </a:moveTo>
                <a:lnTo>
                  <a:pt x="22055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84872" y="1504365"/>
            <a:ext cx="12134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61365" algn="l"/>
                <a:tab pos="1038860" algn="l"/>
              </a:tabLst>
            </a:pP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30">
                <a:latin typeface="Georgia"/>
                <a:cs typeface="Georgia"/>
              </a:rPr>
              <a:t>(</a:t>
            </a:r>
            <a:r>
              <a:rPr dirty="0" sz="1100" spc="-45">
                <a:latin typeface="Georgia"/>
                <a:cs typeface="Georgia"/>
              </a:rPr>
              <a:t>6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0020" y="1526959"/>
            <a:ext cx="2520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75">
                <a:latin typeface="Lucida Sans Unicode"/>
                <a:cs typeface="Lucida Sans Unicode"/>
              </a:rPr>
              <a:t>−</a:t>
            </a:r>
            <a:r>
              <a:rPr dirty="0" sz="600" spc="75">
                <a:latin typeface="Times New Roman"/>
                <a:cs typeface="Times New Roman"/>
              </a:rPr>
              <a:t>4</a:t>
            </a:r>
            <a:r>
              <a:rPr dirty="0" sz="600" spc="24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72868" y="1504365"/>
            <a:ext cx="1112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59645" y="1504365"/>
            <a:ext cx="4800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6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13772" y="1504365"/>
            <a:ext cx="402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3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90923" y="152695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97572" y="1717256"/>
            <a:ext cx="3232150" cy="0"/>
          </a:xfrm>
          <a:custGeom>
            <a:avLst/>
            <a:gdLst/>
            <a:ahLst/>
            <a:cxnLst/>
            <a:rect l="l" t="t" r="r" b="b"/>
            <a:pathLst>
              <a:path w="3232150" h="0">
                <a:moveTo>
                  <a:pt x="0" y="0"/>
                </a:moveTo>
                <a:lnTo>
                  <a:pt x="32318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66161" y="1695691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006" y="1862302"/>
            <a:ext cx="14973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0">
                <a:latin typeface="Georgia"/>
                <a:cs typeface="Georgia"/>
              </a:rPr>
              <a:t>7</a:t>
            </a:r>
            <a:r>
              <a:rPr dirty="0" sz="1100" spc="-40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9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41666" sz="900" spc="37">
                <a:latin typeface="Lucida Sans Unicode"/>
                <a:cs typeface="Lucida Sans Unicode"/>
              </a:rPr>
              <a:t>−</a:t>
            </a:r>
            <a:r>
              <a:rPr dirty="0" baseline="41666" sz="900" spc="37">
                <a:latin typeface="Times New Roman"/>
                <a:cs typeface="Times New Roman"/>
              </a:rPr>
              <a:t>3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41666" sz="900" spc="82">
                <a:latin typeface="Lucida Sans Unicode"/>
                <a:cs typeface="Lucida Sans Unicode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1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54774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4.5.4</a:t>
            </a:r>
            <a:r>
              <a:rPr dirty="0" sz="1400" spc="14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多元酸溶液中的氢离子浓度的计算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164" y="1924291"/>
            <a:ext cx="930910" cy="0"/>
          </a:xfrm>
          <a:custGeom>
            <a:avLst/>
            <a:gdLst/>
            <a:ahLst/>
            <a:cxnLst/>
            <a:rect l="l" t="t" r="r" b="b"/>
            <a:pathLst>
              <a:path w="930910" h="0">
                <a:moveTo>
                  <a:pt x="0" y="0"/>
                </a:moveTo>
                <a:lnTo>
                  <a:pt x="9304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34552" y="1924291"/>
            <a:ext cx="1523365" cy="0"/>
          </a:xfrm>
          <a:custGeom>
            <a:avLst/>
            <a:gdLst/>
            <a:ahLst/>
            <a:cxnLst/>
            <a:rect l="l" t="t" r="r" b="b"/>
            <a:pathLst>
              <a:path w="1523364" h="0">
                <a:moveTo>
                  <a:pt x="0" y="0"/>
                </a:moveTo>
                <a:lnTo>
                  <a:pt x="15233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3301" y="690181"/>
            <a:ext cx="3839210" cy="17043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A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62230">
              <a:lnSpc>
                <a:spcPct val="100000"/>
              </a:lnSpc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[HA</a:t>
            </a:r>
            <a:r>
              <a:rPr dirty="0" baseline="41666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2[A</a:t>
            </a:r>
            <a:r>
              <a:rPr dirty="0" baseline="41666" sz="900" spc="-7">
                <a:latin typeface="Times New Roman"/>
                <a:cs typeface="Times New Roman"/>
              </a:rPr>
              <a:t>2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Georgia"/>
              <a:cs typeface="Georgia"/>
            </a:endParaRPr>
          </a:p>
          <a:p>
            <a:pPr marL="88265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将右边各项平衡浓度的计算式带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46990">
              <a:lnSpc>
                <a:spcPct val="100000"/>
              </a:lnSpc>
              <a:spcBef>
                <a:spcPts val="900"/>
              </a:spcBef>
            </a:pPr>
            <a:r>
              <a:rPr dirty="0" baseline="-37878" sz="1650" spc="-89">
                <a:latin typeface="Georgia"/>
                <a:cs typeface="Georgia"/>
              </a:rPr>
              <a:t>[</a:t>
            </a:r>
            <a:r>
              <a:rPr dirty="0" baseline="-37878" sz="1650" spc="-202">
                <a:latin typeface="Georgia"/>
                <a:cs typeface="Georgia"/>
              </a:rPr>
              <a:t>H</a:t>
            </a:r>
            <a:r>
              <a:rPr dirty="0" baseline="-27777" sz="900" spc="397">
                <a:latin typeface="Times New Roman"/>
                <a:cs typeface="Times New Roman"/>
              </a:rPr>
              <a:t>+</a:t>
            </a:r>
            <a:r>
              <a:rPr dirty="0" baseline="-37878" sz="1650" spc="-165">
                <a:latin typeface="Georgia"/>
                <a:cs typeface="Georgia"/>
              </a:rPr>
              <a:t>]</a:t>
            </a:r>
            <a:r>
              <a:rPr dirty="0" baseline="-37878" sz="1650" spc="52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>
                <a:latin typeface="Georgia"/>
                <a:cs typeface="Georgia"/>
              </a:rPr>
              <a:t> </a:t>
            </a:r>
            <a:r>
              <a:rPr dirty="0" baseline="-37878" sz="1650" spc="-16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A)[</a:t>
            </a:r>
            <a:r>
              <a:rPr dirty="0" sz="1100" spc="-40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A]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37">
                <a:latin typeface="Georgia"/>
                <a:cs typeface="Georgia"/>
              </a:rPr>
              <a:t> </a:t>
            </a:r>
            <a:r>
              <a:rPr dirty="0" baseline="-37878" sz="1650" spc="-104">
                <a:latin typeface="Georgia"/>
                <a:cs typeface="Georgia"/>
              </a:rPr>
              <a:t>2</a:t>
            </a:r>
            <a:r>
              <a:rPr dirty="0" baseline="-37878" sz="1650" spc="-2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A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A)[</a:t>
            </a:r>
            <a:r>
              <a:rPr dirty="0" sz="1100" spc="-40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A]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142">
                <a:latin typeface="Georgia"/>
                <a:cs typeface="Georgia"/>
              </a:rPr>
              <a:t> 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baseline="-13888" sz="900" spc="1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u="sng" baseline="-13888" sz="900" spc="-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  <a:p>
            <a:pPr marL="917575">
              <a:lnSpc>
                <a:spcPct val="100000"/>
              </a:lnSpc>
              <a:spcBef>
                <a:spcPts val="165"/>
              </a:spcBef>
              <a:tabLst>
                <a:tab pos="2386965" algn="l"/>
                <a:tab pos="3503929" algn="l"/>
              </a:tabLst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	</a:t>
            </a: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27777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27777" sz="900">
                <a:latin typeface="Times New Roman"/>
                <a:cs typeface="Times New Roman"/>
              </a:rPr>
              <a:t>2	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88900">
              <a:lnSpc>
                <a:spcPct val="100000"/>
              </a:lnSpc>
              <a:spcBef>
                <a:spcPts val="925"/>
              </a:spcBef>
            </a:pPr>
            <a:r>
              <a:rPr dirty="0" sz="1200" spc="-5">
                <a:latin typeface="Arial Unicode MS"/>
                <a:cs typeface="Arial Unicode MS"/>
              </a:rPr>
              <a:t>上式整理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8844" y="2537523"/>
            <a:ext cx="2452370" cy="0"/>
          </a:xfrm>
          <a:custGeom>
            <a:avLst/>
            <a:gdLst/>
            <a:ahLst/>
            <a:cxnLst/>
            <a:rect l="l" t="t" r="r" b="b"/>
            <a:pathLst>
              <a:path w="2452370" h="0">
                <a:moveTo>
                  <a:pt x="0" y="0"/>
                </a:moveTo>
                <a:lnTo>
                  <a:pt x="24517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48409" y="2722372"/>
            <a:ext cx="740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553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261" y="2638971"/>
            <a:ext cx="1588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98484" sz="1650" spc="682">
                <a:latin typeface="Arial Unicode MS"/>
                <a:cs typeface="Arial Unicode MS"/>
              </a:rPr>
              <a:t>I</a:t>
            </a:r>
            <a:r>
              <a:rPr dirty="0" sz="1100" spc="4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8348" y="2628646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8480" y="26286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6804" y="2545245"/>
            <a:ext cx="687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39504" y="2755569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5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03398" y="2734005"/>
            <a:ext cx="334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09634" y="2443619"/>
            <a:ext cx="1160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45210" algn="l"/>
              </a:tabLst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r>
              <a:rPr dirty="0" sz="1100" spc="-300">
                <a:latin typeface="Arial Unicode MS"/>
                <a:cs typeface="Arial Unicode MS"/>
              </a:rPr>
              <a:t>	</a:t>
            </a: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34956" y="2638971"/>
            <a:ext cx="622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060" algn="l"/>
              </a:tabLst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1755" y="2722372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准确计算式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44" y="633882"/>
            <a:ext cx="4471035" cy="23437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2908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如果我们</a:t>
            </a:r>
            <a:r>
              <a:rPr dirty="0" sz="1200" spc="-5">
                <a:latin typeface="Arial Unicode MS"/>
                <a:cs typeface="Arial Unicode MS"/>
              </a:rPr>
              <a:t>将 </a:t>
            </a:r>
            <a:r>
              <a:rPr dirty="0" sz="1100" spc="-25">
                <a:latin typeface="Georgia"/>
                <a:cs typeface="Georgia"/>
              </a:rPr>
              <a:t>[H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A]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用其分析浓度来表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则可以得到如下的</a:t>
            </a:r>
            <a:r>
              <a:rPr dirty="0" sz="1200" spc="-5">
                <a:latin typeface="Arial Unicode MS"/>
                <a:cs typeface="Arial Unicode MS"/>
              </a:rPr>
              <a:t>精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确计算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R="4445">
              <a:lnSpc>
                <a:spcPts val="990"/>
              </a:lnSpc>
            </a:pP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41666" sz="900">
                <a:latin typeface="Times New Roman"/>
                <a:cs typeface="Times New Roman"/>
              </a:rPr>
              <a:t>4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P </a:t>
            </a:r>
            <a:r>
              <a:rPr dirty="0" sz="1100">
                <a:latin typeface="Georgia"/>
                <a:cs typeface="Georgia"/>
              </a:rPr>
              <a:t>[H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baseline="41666" sz="900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P </a:t>
            </a:r>
            <a:r>
              <a:rPr dirty="0" sz="1100" spc="5">
                <a:latin typeface="Georgia"/>
                <a:cs typeface="Georgia"/>
              </a:rPr>
              <a:t>[H</a:t>
            </a:r>
            <a:r>
              <a:rPr dirty="0" baseline="41666" sz="900" spc="7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]</a:t>
            </a:r>
            <a:r>
              <a:rPr dirty="0" baseline="41666" sz="900" spc="7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P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P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  <a:p>
            <a:pPr algn="ctr" marL="294005">
              <a:lnSpc>
                <a:spcPts val="390"/>
              </a:lnSpc>
              <a:tabLst>
                <a:tab pos="915669" algn="l"/>
                <a:tab pos="1537335" algn="l"/>
                <a:tab pos="2106930" algn="l"/>
              </a:tabLst>
            </a:pPr>
            <a:r>
              <a:rPr dirty="0" sz="600" spc="65">
                <a:latin typeface="Times New Roman"/>
                <a:cs typeface="Times New Roman"/>
              </a:rPr>
              <a:t>1	2	3	4   </a:t>
            </a:r>
            <a:r>
              <a:rPr dirty="0" sz="600" spc="165">
                <a:latin typeface="Times New Roman"/>
                <a:cs typeface="Times New Roman"/>
              </a:rPr>
              <a:t> </a:t>
            </a: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9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just" marL="549910">
              <a:lnSpc>
                <a:spcPct val="100000"/>
              </a:lnSpc>
            </a:pPr>
            <a:r>
              <a:rPr dirty="0" sz="1100" spc="40" b="0" i="1">
                <a:latin typeface="Bookman Old Style"/>
                <a:cs typeface="Bookman Old Style"/>
              </a:rPr>
              <a:t>P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 spc="97">
                <a:latin typeface="Times New Roman"/>
                <a:cs typeface="Times New Roman"/>
              </a:rPr>
              <a:t>      </a:t>
            </a:r>
            <a:r>
              <a:rPr dirty="0" baseline="-13888" sz="900" spc="-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   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  <a:p>
            <a:pPr algn="just" marL="549910" marR="554990">
              <a:lnSpc>
                <a:spcPct val="156100"/>
              </a:lnSpc>
            </a:pPr>
            <a:r>
              <a:rPr dirty="0" sz="1100" spc="40" b="0" i="1">
                <a:latin typeface="Bookman Old Style"/>
                <a:cs typeface="Bookman Old Style"/>
              </a:rPr>
              <a:t>P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 spc="97">
                <a:latin typeface="Times New Roman"/>
                <a:cs typeface="Times New Roman"/>
              </a:rPr>
              <a:t>      </a:t>
            </a:r>
            <a:r>
              <a:rPr dirty="0" baseline="-13888" sz="900" spc="-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   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A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A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w</a:t>
            </a:r>
            <a:r>
              <a:rPr dirty="0" baseline="-13888" sz="900" spc="-157" i="1">
                <a:latin typeface="Arial"/>
                <a:cs typeface="Arial"/>
              </a:rPr>
              <a:t> </a:t>
            </a:r>
            <a:r>
              <a:rPr dirty="0" sz="1100" spc="5">
                <a:latin typeface="Georgia"/>
                <a:cs typeface="Georgia"/>
              </a:rPr>
              <a:t>)  </a:t>
            </a:r>
            <a:r>
              <a:rPr dirty="0" sz="1100" spc="40" b="0" i="1">
                <a:latin typeface="Bookman Old Style"/>
                <a:cs typeface="Bookman Old Style"/>
              </a:rPr>
              <a:t>P</a:t>
            </a:r>
            <a:r>
              <a:rPr dirty="0" baseline="-13888" sz="900" spc="97">
                <a:latin typeface="Times New Roman"/>
                <a:cs typeface="Times New Roman"/>
              </a:rPr>
              <a:t>3</a:t>
            </a:r>
            <a:r>
              <a:rPr dirty="0" baseline="-13888" sz="900">
                <a:latin typeface="Times New Roman"/>
                <a:cs typeface="Times New Roman"/>
              </a:rPr>
              <a:t>      </a:t>
            </a:r>
            <a:r>
              <a:rPr dirty="0" baseline="-13888" sz="900" spc="-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   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w</a:t>
            </a:r>
            <a:r>
              <a:rPr dirty="0" baseline="-13888" sz="900" i="1">
                <a:latin typeface="Arial"/>
                <a:cs typeface="Arial"/>
              </a:rPr>
              <a:t> </a:t>
            </a:r>
            <a:r>
              <a:rPr dirty="0" baseline="-13888" sz="900" spc="-37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A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A))  </a:t>
            </a:r>
            <a:r>
              <a:rPr dirty="0" sz="1100" spc="40" b="0" i="1">
                <a:latin typeface="Bookman Old Style"/>
                <a:cs typeface="Bookman Old Style"/>
              </a:rPr>
              <a:t>P</a:t>
            </a:r>
            <a:r>
              <a:rPr dirty="0" baseline="-13888" sz="900" spc="97">
                <a:latin typeface="Times New Roman"/>
                <a:cs typeface="Times New Roman"/>
              </a:rPr>
              <a:t>4</a:t>
            </a:r>
            <a:r>
              <a:rPr dirty="0" baseline="-13888" sz="900">
                <a:latin typeface="Times New Roman"/>
                <a:cs typeface="Times New Roman"/>
              </a:rPr>
              <a:t>      </a:t>
            </a:r>
            <a:r>
              <a:rPr dirty="0" baseline="-13888" sz="900" spc="-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   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A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97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48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9857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简化处理一</a:t>
            </a:r>
            <a:r>
              <a:rPr dirty="0" sz="1050" spc="5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水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电离产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生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的氢离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子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是否有影</a:t>
            </a:r>
            <a:r>
              <a:rPr dirty="0" sz="1050" spc="55">
                <a:solidFill>
                  <a:srgbClr val="FFFFFF"/>
                </a:solidFill>
                <a:latin typeface="Arial Unicode MS"/>
                <a:cs typeface="Arial Unicode MS"/>
              </a:rPr>
              <a:t>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？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799007"/>
            <a:ext cx="6223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对于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68844" y="1145095"/>
            <a:ext cx="2452370" cy="0"/>
          </a:xfrm>
          <a:custGeom>
            <a:avLst/>
            <a:gdLst/>
            <a:ahLst/>
            <a:cxnLst/>
            <a:rect l="l" t="t" r="r" b="b"/>
            <a:pathLst>
              <a:path w="2452370" h="0">
                <a:moveTo>
                  <a:pt x="0" y="0"/>
                </a:moveTo>
                <a:lnTo>
                  <a:pt x="24517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48409" y="1329931"/>
            <a:ext cx="740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553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261" y="1246530"/>
            <a:ext cx="1588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98484" sz="1650" spc="682">
                <a:latin typeface="Arial Unicode MS"/>
                <a:cs typeface="Arial Unicode MS"/>
              </a:rPr>
              <a:t>I</a:t>
            </a:r>
            <a:r>
              <a:rPr dirty="0" sz="1100" spc="4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9634" y="1051179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39504" y="1363141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5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88704" y="1130297"/>
            <a:ext cx="76390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729" marR="43180" indent="-202565">
              <a:lnSpc>
                <a:spcPct val="112599"/>
              </a:lnSpc>
              <a:spcBef>
                <a:spcPts val="10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A) 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2766" y="1051179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4956" y="1246530"/>
            <a:ext cx="622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060" algn="l"/>
              </a:tabLst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1755" y="1329931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9857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简化处理一</a:t>
            </a:r>
            <a:r>
              <a:rPr dirty="0" sz="1050" spc="5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水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电离产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生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的氢离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子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是否有影</a:t>
            </a:r>
            <a:r>
              <a:rPr dirty="0" sz="1050" spc="55">
                <a:solidFill>
                  <a:srgbClr val="FFFFFF"/>
                </a:solidFill>
                <a:latin typeface="Arial Unicode MS"/>
                <a:cs typeface="Arial Unicode MS"/>
              </a:rPr>
              <a:t>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？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799007"/>
            <a:ext cx="62230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对于</a:t>
            </a:r>
            <a:r>
              <a:rPr dirty="0" spc="-90"/>
              <a:t>式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1368844" y="1145095"/>
            <a:ext cx="2452370" cy="0"/>
          </a:xfrm>
          <a:custGeom>
            <a:avLst/>
            <a:gdLst/>
            <a:ahLst/>
            <a:cxnLst/>
            <a:rect l="l" t="t" r="r" b="b"/>
            <a:pathLst>
              <a:path w="2452370" h="0">
                <a:moveTo>
                  <a:pt x="0" y="0"/>
                </a:moveTo>
                <a:lnTo>
                  <a:pt x="24517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48409" y="1329931"/>
            <a:ext cx="740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553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261" y="1246530"/>
            <a:ext cx="1588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98484" sz="1650" spc="682">
                <a:latin typeface="Arial Unicode MS"/>
                <a:cs typeface="Arial Unicode MS"/>
              </a:rPr>
              <a:t>I</a:t>
            </a:r>
            <a:r>
              <a:rPr dirty="0" sz="1100" spc="4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9634" y="1051179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39504" y="1363141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5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88704" y="1130297"/>
            <a:ext cx="76390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2729" marR="43180" indent="-202565">
              <a:lnSpc>
                <a:spcPct val="112599"/>
              </a:lnSpc>
              <a:spcBef>
                <a:spcPts val="10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A) 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2766" y="1051179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4956" y="1246530"/>
            <a:ext cx="6223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060" algn="l"/>
              </a:tabLst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1755" y="1329931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144" y="1617624"/>
            <a:ext cx="436181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A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35" i="1">
                <a:latin typeface="Arial"/>
                <a:cs typeface="Arial"/>
              </a:rPr>
              <a:t>w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水解离产生的氢离子浓度可以忽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此时上式简化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10080" y="2235746"/>
            <a:ext cx="1969770" cy="0"/>
          </a:xfrm>
          <a:custGeom>
            <a:avLst/>
            <a:gdLst/>
            <a:ahLst/>
            <a:cxnLst/>
            <a:rect l="l" t="t" r="r" b="b"/>
            <a:pathLst>
              <a:path w="1969770" h="0">
                <a:moveTo>
                  <a:pt x="0" y="0"/>
                </a:moveTo>
                <a:lnTo>
                  <a:pt x="19693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89646" y="2419934"/>
            <a:ext cx="740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553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0511" y="2336533"/>
            <a:ext cx="164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98484" sz="1650" spc="682">
                <a:latin typeface="Arial Unicode MS"/>
                <a:cs typeface="Arial Unicode MS"/>
              </a:rPr>
              <a:t>I</a:t>
            </a:r>
            <a:r>
              <a:rPr dirty="0" sz="1100" spc="4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A](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6845" y="2242807"/>
            <a:ext cx="687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09545" y="2453144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4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758389" y="2318396"/>
            <a:ext cx="387350" cy="30543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  <a:tabLst>
                <a:tab pos="30226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04997" y="2336533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4466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简化处理二</a:t>
            </a:r>
            <a:r>
              <a:rPr dirty="0" sz="1050" spc="4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当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第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二级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电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离可以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忽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略时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682231"/>
            <a:ext cx="925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对于简化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0080" y="1028306"/>
            <a:ext cx="1969770" cy="0"/>
          </a:xfrm>
          <a:custGeom>
            <a:avLst/>
            <a:gdLst/>
            <a:ahLst/>
            <a:cxnLst/>
            <a:rect l="l" t="t" r="r" b="b"/>
            <a:pathLst>
              <a:path w="1969770" h="0">
                <a:moveTo>
                  <a:pt x="0" y="0"/>
                </a:moveTo>
                <a:lnTo>
                  <a:pt x="19693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89646" y="1212494"/>
            <a:ext cx="740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553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511" y="1129093"/>
            <a:ext cx="164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98484" sz="1650" spc="682">
                <a:latin typeface="Arial Unicode MS"/>
                <a:cs typeface="Arial Unicode MS"/>
              </a:rPr>
              <a:t>I</a:t>
            </a:r>
            <a:r>
              <a:rPr dirty="0" sz="1100" spc="4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A](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6845" y="1035367"/>
            <a:ext cx="687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09545" y="1245704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4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58389" y="1110957"/>
            <a:ext cx="387350" cy="30543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  <a:tabLst>
                <a:tab pos="30226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4997" y="1129093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4466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简化处理二</a:t>
            </a:r>
            <a:r>
              <a:rPr dirty="0" sz="1050" spc="4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当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第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二级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电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离可以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忽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略时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682231"/>
            <a:ext cx="9258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对于简化</a:t>
            </a:r>
            <a:r>
              <a:rPr dirty="0" spc="-90"/>
              <a:t>式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1610080" y="1028306"/>
            <a:ext cx="1969770" cy="0"/>
          </a:xfrm>
          <a:custGeom>
            <a:avLst/>
            <a:gdLst/>
            <a:ahLst/>
            <a:cxnLst/>
            <a:rect l="l" t="t" r="r" b="b"/>
            <a:pathLst>
              <a:path w="1969770" h="0">
                <a:moveTo>
                  <a:pt x="0" y="0"/>
                </a:moveTo>
                <a:lnTo>
                  <a:pt x="19693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89646" y="1212494"/>
            <a:ext cx="740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553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511" y="1129093"/>
            <a:ext cx="164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98484" sz="1650" spc="682">
                <a:latin typeface="Arial Unicode MS"/>
                <a:cs typeface="Arial Unicode MS"/>
              </a:rPr>
              <a:t>I</a:t>
            </a:r>
            <a:r>
              <a:rPr dirty="0" sz="1100" spc="4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A](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6845" y="1035367"/>
            <a:ext cx="687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9545" y="1245704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4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58389" y="1110957"/>
            <a:ext cx="387350" cy="30543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  <a:tabLst>
                <a:tab pos="30226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04997" y="1129093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01" y="167148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当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0000" y="2025078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5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31900" y="1792234"/>
            <a:ext cx="73850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marR="30480" indent="-202565">
              <a:lnSpc>
                <a:spcPct val="112599"/>
              </a:lnSpc>
              <a:spcBef>
                <a:spcPts val="10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A) 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7933" y="1814741"/>
            <a:ext cx="738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75">
                <a:latin typeface="Georgia"/>
                <a:cs typeface="Georgia"/>
              </a:rPr>
              <a:t>2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47265" y="2025078"/>
            <a:ext cx="1160145" cy="0"/>
          </a:xfrm>
          <a:custGeom>
            <a:avLst/>
            <a:gdLst/>
            <a:ahLst/>
            <a:cxnLst/>
            <a:rect l="l" t="t" r="r" b="b"/>
            <a:pathLst>
              <a:path w="1160145" h="0">
                <a:moveTo>
                  <a:pt x="0" y="0"/>
                </a:moveTo>
                <a:lnTo>
                  <a:pt x="11597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73148" y="1908467"/>
            <a:ext cx="325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10">
                <a:latin typeface="Lucida Sans Unicode"/>
                <a:cs typeface="Lucida Sans Unicode"/>
              </a:rPr>
              <a:t> </a:t>
            </a:r>
            <a:r>
              <a:rPr dirty="0" baseline="2525" sz="1650" spc="390">
                <a:latin typeface="Arial Unicode MS"/>
                <a:cs typeface="Arial Unicode MS"/>
              </a:rPr>
              <a:t>✓</a:t>
            </a:r>
            <a:endParaRPr baseline="2525" sz="165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85809" y="2052790"/>
            <a:ext cx="1021715" cy="0"/>
          </a:xfrm>
          <a:custGeom>
            <a:avLst/>
            <a:gdLst/>
            <a:ahLst/>
            <a:cxnLst/>
            <a:rect l="l" t="t" r="r" b="b"/>
            <a:pathLst>
              <a:path w="1021714" h="0">
                <a:moveTo>
                  <a:pt x="0" y="0"/>
                </a:moveTo>
                <a:lnTo>
                  <a:pt x="10211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073109" y="2022386"/>
            <a:ext cx="4540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65464" y="2105787"/>
            <a:ext cx="7156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65760" algn="l"/>
                <a:tab pos="630555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01366" y="1908467"/>
            <a:ext cx="1064895" cy="306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59130">
              <a:lnSpc>
                <a:spcPts val="1110"/>
              </a:lnSpc>
              <a:spcBef>
                <a:spcPts val="90"/>
              </a:spcBef>
            </a:pP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11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4466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简化处理二</a:t>
            </a:r>
            <a:r>
              <a:rPr dirty="0" sz="1050" spc="4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00" spc="3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当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第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二级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电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离可以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忽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略时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682231"/>
            <a:ext cx="9258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对于简化</a:t>
            </a:r>
            <a:r>
              <a:rPr dirty="0" spc="-90"/>
              <a:t>式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1610080" y="1028306"/>
            <a:ext cx="1969770" cy="0"/>
          </a:xfrm>
          <a:custGeom>
            <a:avLst/>
            <a:gdLst/>
            <a:ahLst/>
            <a:cxnLst/>
            <a:rect l="l" t="t" r="r" b="b"/>
            <a:pathLst>
              <a:path w="1969770" h="0">
                <a:moveTo>
                  <a:pt x="0" y="0"/>
                </a:moveTo>
                <a:lnTo>
                  <a:pt x="19693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89646" y="1212494"/>
            <a:ext cx="740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553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511" y="1129093"/>
            <a:ext cx="164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98484" sz="1650" spc="682">
                <a:latin typeface="Arial Unicode MS"/>
                <a:cs typeface="Arial Unicode MS"/>
              </a:rPr>
              <a:t>I</a:t>
            </a:r>
            <a:r>
              <a:rPr dirty="0" sz="1100" spc="4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A](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6845" y="1035367"/>
            <a:ext cx="687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9545" y="1245704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4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58389" y="1110957"/>
            <a:ext cx="387350" cy="30543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  <a:tabLst>
                <a:tab pos="30226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04997" y="1129093"/>
            <a:ext cx="287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01" y="167148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当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0000" y="2025078"/>
            <a:ext cx="662305" cy="0"/>
          </a:xfrm>
          <a:custGeom>
            <a:avLst/>
            <a:gdLst/>
            <a:ahLst/>
            <a:cxnLst/>
            <a:rect l="l" t="t" r="r" b="b"/>
            <a:pathLst>
              <a:path w="662305" h="0">
                <a:moveTo>
                  <a:pt x="0" y="0"/>
                </a:moveTo>
                <a:lnTo>
                  <a:pt x="6621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31900" y="1792234"/>
            <a:ext cx="73850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marR="30480" indent="-202565">
              <a:lnSpc>
                <a:spcPct val="112599"/>
              </a:lnSpc>
              <a:spcBef>
                <a:spcPts val="10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A) 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7933" y="1814741"/>
            <a:ext cx="738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75">
                <a:latin typeface="Georgia"/>
                <a:cs typeface="Georgia"/>
              </a:rPr>
              <a:t>2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47265" y="2025078"/>
            <a:ext cx="1160145" cy="0"/>
          </a:xfrm>
          <a:custGeom>
            <a:avLst/>
            <a:gdLst/>
            <a:ahLst/>
            <a:cxnLst/>
            <a:rect l="l" t="t" r="r" b="b"/>
            <a:pathLst>
              <a:path w="1160145" h="0">
                <a:moveTo>
                  <a:pt x="0" y="0"/>
                </a:moveTo>
                <a:lnTo>
                  <a:pt x="11597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73148" y="1908467"/>
            <a:ext cx="3257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10">
                <a:latin typeface="Lucida Sans Unicode"/>
                <a:cs typeface="Lucida Sans Unicode"/>
              </a:rPr>
              <a:t> </a:t>
            </a:r>
            <a:r>
              <a:rPr dirty="0" baseline="2525" sz="1650" spc="390">
                <a:latin typeface="Arial Unicode MS"/>
                <a:cs typeface="Arial Unicode MS"/>
              </a:rPr>
              <a:t>✓</a:t>
            </a:r>
            <a:endParaRPr baseline="2525" sz="165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85809" y="2052790"/>
            <a:ext cx="1021715" cy="0"/>
          </a:xfrm>
          <a:custGeom>
            <a:avLst/>
            <a:gdLst/>
            <a:ahLst/>
            <a:cxnLst/>
            <a:rect l="l" t="t" r="r" b="b"/>
            <a:pathLst>
              <a:path w="1021714" h="0">
                <a:moveTo>
                  <a:pt x="0" y="0"/>
                </a:moveTo>
                <a:lnTo>
                  <a:pt x="10211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073109" y="2022386"/>
            <a:ext cx="4540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65464" y="2105787"/>
            <a:ext cx="7156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65760" algn="l"/>
                <a:tab pos="630555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01366" y="1908467"/>
            <a:ext cx="1064895" cy="306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59130">
              <a:lnSpc>
                <a:spcPts val="1110"/>
              </a:lnSpc>
              <a:spcBef>
                <a:spcPts val="90"/>
              </a:spcBef>
            </a:pP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11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9672" y="2798851"/>
            <a:ext cx="930910" cy="0"/>
          </a:xfrm>
          <a:custGeom>
            <a:avLst/>
            <a:gdLst/>
            <a:ahLst/>
            <a:cxnLst/>
            <a:rect l="l" t="t" r="r" b="b"/>
            <a:pathLst>
              <a:path w="930910" h="0">
                <a:moveTo>
                  <a:pt x="0" y="0"/>
                </a:moveTo>
                <a:lnTo>
                  <a:pt x="9304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43352" y="2798851"/>
            <a:ext cx="1557020" cy="0"/>
          </a:xfrm>
          <a:custGeom>
            <a:avLst/>
            <a:gdLst/>
            <a:ahLst/>
            <a:cxnLst/>
            <a:rect l="l" t="t" r="r" b="b"/>
            <a:pathLst>
              <a:path w="1557020" h="0">
                <a:moveTo>
                  <a:pt x="0" y="0"/>
                </a:moveTo>
                <a:lnTo>
                  <a:pt x="15564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4101" y="2399055"/>
            <a:ext cx="3634104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表明第二级解离产生的氢离子浓度可以忽</a:t>
            </a:r>
            <a:r>
              <a:rPr dirty="0" sz="1200" spc="-80">
                <a:latin typeface="Arial Unicode MS"/>
                <a:cs typeface="Arial Unicode MS"/>
              </a:rPr>
              <a:t>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65735">
              <a:lnSpc>
                <a:spcPts val="990"/>
              </a:lnSpc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50505" sz="1650" spc="292">
                <a:latin typeface="Arial Unicode MS"/>
                <a:cs typeface="Arial Unicode MS"/>
              </a:rPr>
              <a:t>✓</a:t>
            </a:r>
            <a:r>
              <a:rPr dirty="0" sz="1100" spc="19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25">
                <a:latin typeface="Georgia"/>
                <a:cs typeface="Georgia"/>
              </a:rPr>
              <a:t>A)[H </a:t>
            </a:r>
            <a:r>
              <a:rPr dirty="0" sz="1100" spc="-15">
                <a:latin typeface="Georgia"/>
                <a:cs typeface="Georgia"/>
              </a:rPr>
              <a:t>A]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50505" sz="1650" spc="292">
                <a:latin typeface="Arial Unicode MS"/>
                <a:cs typeface="Arial Unicode MS"/>
              </a:rPr>
              <a:t>✓</a:t>
            </a:r>
            <a:r>
              <a:rPr dirty="0" sz="1100" spc="19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5">
                <a:latin typeface="Georgia"/>
                <a:cs typeface="Georgia"/>
              </a:rPr>
              <a:t>A)(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(H </a:t>
            </a:r>
            <a:r>
              <a:rPr dirty="0" sz="1100" spc="45">
                <a:latin typeface="Georgia"/>
                <a:cs typeface="Georgia"/>
              </a:rPr>
              <a:t>A)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254">
                <a:latin typeface="Lucida Sans Unicode"/>
                <a:cs typeface="Lucida Sans Unicode"/>
              </a:rPr>
              <a:t> </a:t>
            </a:r>
            <a:r>
              <a:rPr dirty="0" sz="1100" spc="-5">
                <a:latin typeface="Georgia"/>
                <a:cs typeface="Georgia"/>
              </a:rPr>
              <a:t>[H</a:t>
            </a:r>
            <a:r>
              <a:rPr dirty="0" baseline="27777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])</a:t>
            </a:r>
            <a:endParaRPr sz="1100">
              <a:latin typeface="Georgia"/>
              <a:cs typeface="Georgia"/>
            </a:endParaRPr>
          </a:p>
          <a:p>
            <a:pPr algn="ctr" marL="219075">
              <a:lnSpc>
                <a:spcPts val="390"/>
              </a:lnSpc>
              <a:tabLst>
                <a:tab pos="483870" algn="l"/>
                <a:tab pos="836930" algn="l"/>
                <a:tab pos="1472565" algn="l"/>
                <a:tab pos="1737360" algn="l"/>
                <a:tab pos="221996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最简式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1090650"/>
            <a:ext cx="1778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6801" y="1327632"/>
            <a:ext cx="2645410" cy="638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179830">
              <a:lnSpc>
                <a:spcPct val="100000"/>
              </a:lnSpc>
              <a:spcBef>
                <a:spcPts val="9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100">
                <a:latin typeface="Georgia"/>
                <a:cs typeface="Georgia"/>
              </a:rPr>
              <a:t>500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得到如下的最简公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4158" y="2243150"/>
            <a:ext cx="1021715" cy="0"/>
          </a:xfrm>
          <a:custGeom>
            <a:avLst/>
            <a:gdLst/>
            <a:ahLst/>
            <a:cxnLst/>
            <a:rect l="l" t="t" r="r" b="b"/>
            <a:pathLst>
              <a:path w="1021714" h="0">
                <a:moveTo>
                  <a:pt x="0" y="0"/>
                </a:moveTo>
                <a:lnTo>
                  <a:pt x="10211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64589" y="2219515"/>
            <a:ext cx="1678939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99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50505" sz="1650" spc="292">
                <a:latin typeface="Arial Unicode MS"/>
                <a:cs typeface="Arial Unicode MS"/>
              </a:rPr>
              <a:t>✓</a:t>
            </a:r>
            <a:r>
              <a:rPr dirty="0" sz="1100" spc="19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10">
                <a:latin typeface="Georgia"/>
                <a:cs typeface="Georgia"/>
              </a:rPr>
              <a:t>A)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  <a:p>
            <a:pPr marL="737235">
              <a:lnSpc>
                <a:spcPts val="390"/>
              </a:lnSpc>
              <a:tabLst>
                <a:tab pos="1001394" algn="l"/>
                <a:tab pos="14300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0407" y="2219515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>
                <a:latin typeface="Georgia"/>
                <a:cs typeface="Georgia"/>
              </a:rPr>
              <a:t>(17)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32104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07669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4247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2977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76339"/>
            <a:ext cx="50749" cy="566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51936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543"/>
                </a:lnTo>
                <a:lnTo>
                  <a:pt x="4008" y="410267"/>
                </a:lnTo>
                <a:lnTo>
                  <a:pt x="14922" y="426420"/>
                </a:lnTo>
                <a:lnTo>
                  <a:pt x="31075" y="437334"/>
                </a:lnTo>
                <a:lnTo>
                  <a:pt x="50800" y="441343"/>
                </a:lnTo>
                <a:lnTo>
                  <a:pt x="4381765" y="441343"/>
                </a:lnTo>
                <a:lnTo>
                  <a:pt x="4401490" y="437334"/>
                </a:lnTo>
                <a:lnTo>
                  <a:pt x="4417643" y="426420"/>
                </a:lnTo>
                <a:lnTo>
                  <a:pt x="4428558" y="410267"/>
                </a:lnTo>
                <a:lnTo>
                  <a:pt x="4432566" y="39054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14430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69">
                <a:moveTo>
                  <a:pt x="0" y="5470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017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890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763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71767"/>
            <a:ext cx="4253865" cy="70294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4.8</a:t>
            </a:r>
            <a:endParaRPr sz="1200">
              <a:latin typeface="Garamond"/>
              <a:cs typeface="Garamond"/>
            </a:endParaRPr>
          </a:p>
          <a:p>
            <a:pPr marL="628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4 </a:t>
            </a:r>
            <a:r>
              <a:rPr dirty="0" sz="1200" spc="-5">
                <a:latin typeface="Arial Unicode MS"/>
                <a:cs typeface="Arial Unicode MS"/>
              </a:rPr>
              <a:t>溶液的氢离子浓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ts val="1210"/>
              </a:lnSpc>
              <a:spcBef>
                <a:spcPts val="320"/>
              </a:spcBef>
            </a:pP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4 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9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2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45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5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946150">
              <a:lnSpc>
                <a:spcPts val="370"/>
              </a:lnSpc>
              <a:tabLst>
                <a:tab pos="2085975" algn="l"/>
              </a:tabLst>
            </a:pPr>
            <a:r>
              <a:rPr dirty="0" sz="500" spc="85">
                <a:latin typeface="Book Antiqua"/>
                <a:cs typeface="Book Antiqua"/>
              </a:rPr>
              <a:t>1	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32104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07669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4247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2977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76339"/>
            <a:ext cx="50749" cy="566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51936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543"/>
                </a:lnTo>
                <a:lnTo>
                  <a:pt x="4008" y="410267"/>
                </a:lnTo>
                <a:lnTo>
                  <a:pt x="14922" y="426420"/>
                </a:lnTo>
                <a:lnTo>
                  <a:pt x="31075" y="437334"/>
                </a:lnTo>
                <a:lnTo>
                  <a:pt x="50800" y="441343"/>
                </a:lnTo>
                <a:lnTo>
                  <a:pt x="4381765" y="441343"/>
                </a:lnTo>
                <a:lnTo>
                  <a:pt x="4401490" y="437334"/>
                </a:lnTo>
                <a:lnTo>
                  <a:pt x="4417643" y="426420"/>
                </a:lnTo>
                <a:lnTo>
                  <a:pt x="4428558" y="410267"/>
                </a:lnTo>
                <a:lnTo>
                  <a:pt x="4432566" y="39054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14430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69">
                <a:moveTo>
                  <a:pt x="0" y="5470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017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890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7633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644" y="271767"/>
            <a:ext cx="4304665" cy="137350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4.8</a:t>
            </a:r>
            <a:endParaRPr sz="1200">
              <a:latin typeface="Garamond"/>
              <a:cs typeface="Garamond"/>
            </a:endParaRPr>
          </a:p>
          <a:p>
            <a:pPr marL="882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endParaRPr sz="1200">
              <a:latin typeface="Arial Unicode MS"/>
              <a:cs typeface="Arial Unicode MS"/>
            </a:endParaRPr>
          </a:p>
          <a:p>
            <a:pPr marL="88900">
              <a:lnSpc>
                <a:spcPts val="1210"/>
              </a:lnSpc>
              <a:spcBef>
                <a:spcPts val="320"/>
              </a:spcBef>
            </a:pP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4 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9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2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45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5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971550">
              <a:lnSpc>
                <a:spcPts val="370"/>
              </a:lnSpc>
              <a:tabLst>
                <a:tab pos="2111375" algn="l"/>
              </a:tabLst>
            </a:pPr>
            <a:r>
              <a:rPr dirty="0" sz="500" spc="85">
                <a:latin typeface="Book Antiqua"/>
                <a:cs typeface="Book Antiqua"/>
              </a:rPr>
              <a:t>1	2</a:t>
            </a:r>
            <a:endParaRPr sz="5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600">
              <a:latin typeface="Book Antiqua"/>
              <a:cs typeface="Book Antiqua"/>
            </a:endParaRPr>
          </a:p>
          <a:p>
            <a:pPr marL="88265">
              <a:lnSpc>
                <a:spcPct val="100000"/>
              </a:lnSpc>
              <a:spcBef>
                <a:spcPts val="46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-8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 marL="203835">
              <a:lnSpc>
                <a:spcPts val="480"/>
              </a:lnSpc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4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r>
              <a:rPr dirty="0" baseline="37037" sz="900">
                <a:latin typeface="Lucida Sans Unicode"/>
                <a:cs typeface="Lucida Sans Unicode"/>
              </a:rPr>
              <a:t>  </a:t>
            </a:r>
            <a:r>
              <a:rPr dirty="0" baseline="37037" sz="900" spc="127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w</a:t>
            </a:r>
            <a:r>
              <a:rPr dirty="0" baseline="-13888" sz="900" spc="-157" i="1">
                <a:latin typeface="Arial"/>
                <a:cs typeface="Arial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  <a:p>
            <a:pPr marL="2833370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0142" y="1958454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8910" y="1931174"/>
            <a:ext cx="6565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dirty="0" u="sng" sz="600" spc="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sz="600" spc="65" i="1">
                <a:latin typeface="Arial"/>
                <a:cs typeface="Arial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211" y="1847773"/>
            <a:ext cx="13944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0985" algn="l"/>
                <a:tab pos="138112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dirty="0" u="sng" sz="1100" spc="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sz="1100" spc="30" b="0" i="1">
                <a:latin typeface="Bookman Old Style"/>
                <a:cs typeface="Bookman Old Style"/>
              </a:rPr>
              <a:t>  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</a:t>
            </a:r>
            <a:r>
              <a:rPr dirty="0" sz="1100" spc="-35">
                <a:latin typeface="Georgia"/>
                <a:cs typeface="Georgia"/>
              </a:rPr>
              <a:t>  </a:t>
            </a:r>
            <a:r>
              <a:rPr dirty="0" u="sng" sz="1100" spc="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sz="1100" spc="185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3211" y="1937347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54455" y="2085822"/>
            <a:ext cx="1230630" cy="0"/>
          </a:xfrm>
          <a:custGeom>
            <a:avLst/>
            <a:gdLst/>
            <a:ahLst/>
            <a:cxnLst/>
            <a:rect l="l" t="t" r="r" b="b"/>
            <a:pathLst>
              <a:path w="1230630" h="0">
                <a:moveTo>
                  <a:pt x="0" y="0"/>
                </a:moveTo>
                <a:lnTo>
                  <a:pt x="12305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34097" y="2138819"/>
            <a:ext cx="1029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65760" algn="l"/>
                <a:tab pos="630555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20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1755" y="2055418"/>
            <a:ext cx="12560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</a:t>
            </a:r>
            <a:r>
              <a:rPr dirty="0" sz="1100" spc="70">
                <a:latin typeface="Georgia"/>
                <a:cs typeface="Georgia"/>
              </a:rPr>
              <a:t>A)</a:t>
            </a:r>
            <a:r>
              <a:rPr dirty="0" sz="1100" spc="7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5929" y="194149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3553" y="1847773"/>
            <a:ext cx="9194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5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0046" y="2058111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 h="0">
                <a:moveTo>
                  <a:pt x="0" y="0"/>
                </a:moveTo>
                <a:lnTo>
                  <a:pt x="10725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15501" y="2085822"/>
            <a:ext cx="957580" cy="0"/>
          </a:xfrm>
          <a:custGeom>
            <a:avLst/>
            <a:gdLst/>
            <a:ahLst/>
            <a:cxnLst/>
            <a:rect l="l" t="t" r="r" b="b"/>
            <a:pathLst>
              <a:path w="957579" h="0">
                <a:moveTo>
                  <a:pt x="0" y="0"/>
                </a:moveTo>
                <a:lnTo>
                  <a:pt x="9570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61946" y="2046173"/>
            <a:ext cx="13106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42929" sz="1650" spc="-30">
                <a:latin typeface="Lucida Sans Unicode"/>
                <a:cs typeface="Lucida Sans Unicode"/>
              </a:rPr>
              <a:t>√</a:t>
            </a:r>
            <a:r>
              <a:rPr dirty="0" sz="1100" spc="-20">
                <a:latin typeface="Georgia"/>
                <a:cs typeface="Georgia"/>
              </a:rPr>
              <a:t>0</a:t>
            </a:r>
            <a:r>
              <a:rPr dirty="0" sz="1100" spc="-20" b="0" i="1">
                <a:latin typeface="Bookman Old Style"/>
                <a:cs typeface="Bookman Old Style"/>
              </a:rPr>
              <a:t>.</a:t>
            </a:r>
            <a:r>
              <a:rPr dirty="0" sz="1100" spc="-2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9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2</a:t>
            </a:r>
            <a:r>
              <a:rPr dirty="0" baseline="27777" sz="900" spc="187">
                <a:latin typeface="Times New Roman"/>
                <a:cs typeface="Times New Roman"/>
              </a:rPr>
              <a:t> </a:t>
            </a:r>
            <a:r>
              <a:rPr dirty="0" baseline="40404" sz="1650" spc="277" b="0" i="1">
                <a:latin typeface="Bookman Old Style"/>
                <a:cs typeface="Bookman Old Style"/>
              </a:rPr>
              <a:t>&lt;</a:t>
            </a:r>
            <a:endParaRPr baseline="40404" sz="165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59809" y="1941499"/>
            <a:ext cx="310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</a:t>
            </a:r>
            <a:r>
              <a:rPr dirty="0" sz="1100" spc="-30" b="0" i="1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33257" y="2635999"/>
            <a:ext cx="610870" cy="0"/>
          </a:xfrm>
          <a:custGeom>
            <a:avLst/>
            <a:gdLst/>
            <a:ahLst/>
            <a:cxnLst/>
            <a:rect l="l" t="t" r="r" b="b"/>
            <a:pathLst>
              <a:path w="610869" h="0">
                <a:moveTo>
                  <a:pt x="0" y="0"/>
                </a:moveTo>
                <a:lnTo>
                  <a:pt x="61073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52411" y="2403155"/>
            <a:ext cx="1736089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65"/>
              </a:spcBef>
              <a:tabLst>
                <a:tab pos="126238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</a:t>
            </a:r>
            <a:r>
              <a:rPr dirty="0" u="sng" baseline="-13888" sz="900" spc="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</a:t>
            </a:r>
            <a:r>
              <a:rPr dirty="0" u="sng" baseline="-13888" sz="900" spc="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u="sng" baseline="-13888" sz="900" spc="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 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	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170"/>
              </a:spcBef>
              <a:tabLst>
                <a:tab pos="1080770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45">
                <a:latin typeface="Georgia"/>
                <a:cs typeface="Georgia"/>
              </a:rPr>
              <a:t>5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135">
                <a:latin typeface="Lucida Sans Unicode"/>
                <a:cs typeface="Lucida Sans Unicode"/>
              </a:rPr>
              <a:t>−</a:t>
            </a:r>
            <a:r>
              <a:rPr dirty="0" baseline="27777" sz="900" spc="97">
                <a:latin typeface="Times New Roman"/>
                <a:cs typeface="Times New Roman"/>
              </a:rPr>
              <a:t>2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4945" y="2519388"/>
            <a:ext cx="379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-100">
                <a:latin typeface="Georgia"/>
                <a:cs typeface="Georgia"/>
              </a:rPr>
              <a:t>500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452158"/>
            <a:ext cx="19570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所</a:t>
            </a:r>
            <a:r>
              <a:rPr dirty="0" spc="-80"/>
              <a:t>以</a:t>
            </a:r>
            <a:r>
              <a:rPr dirty="0" spc="-185"/>
              <a:t>，</a:t>
            </a:r>
            <a:r>
              <a:rPr dirty="0" spc="-5"/>
              <a:t>应采用如下的近似</a:t>
            </a:r>
            <a:r>
              <a:rPr dirty="0" spc="-90"/>
              <a:t>式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6786" y="877824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4394" y="872413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7920" y="859523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4819" y="657669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6063" y="806145"/>
            <a:ext cx="970280" cy="0"/>
          </a:xfrm>
          <a:custGeom>
            <a:avLst/>
            <a:gdLst/>
            <a:ahLst/>
            <a:cxnLst/>
            <a:rect l="l" t="t" r="r" b="b"/>
            <a:pathLst>
              <a:path w="970279" h="0">
                <a:moveTo>
                  <a:pt x="0" y="0"/>
                </a:moveTo>
                <a:lnTo>
                  <a:pt x="9696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50947" y="7987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2495" y="776122"/>
            <a:ext cx="1035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3250" algn="l"/>
              </a:tabLst>
            </a:pPr>
            <a:r>
              <a:rPr dirty="0" sz="1100" spc="50">
                <a:latin typeface="Lucida Sans Unicode"/>
                <a:cs typeface="Lucida Sans Unicode"/>
              </a:rPr>
              <a:t>−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36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7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9938" y="859523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2260" y="776122"/>
            <a:ext cx="576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5" b="0" i="1">
                <a:latin typeface="Bookman Old Style"/>
                <a:cs typeface="Bookman Old Style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45195" y="989025"/>
            <a:ext cx="1560830" cy="0"/>
          </a:xfrm>
          <a:custGeom>
            <a:avLst/>
            <a:gdLst/>
            <a:ahLst/>
            <a:cxnLst/>
            <a:rect l="l" t="t" r="r" b="b"/>
            <a:pathLst>
              <a:path w="1560829" h="0">
                <a:moveTo>
                  <a:pt x="0" y="0"/>
                </a:moveTo>
                <a:lnTo>
                  <a:pt x="15605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41028" y="872998"/>
            <a:ext cx="132080" cy="286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2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236" y="1779994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1774571"/>
            <a:ext cx="5181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0056" y="1761299"/>
            <a:ext cx="701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20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9501" y="1341831"/>
            <a:ext cx="1574165" cy="410209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200" spc="-5">
                <a:latin typeface="Arial Unicode MS"/>
                <a:cs typeface="Arial Unicode MS"/>
              </a:rPr>
              <a:t>氢离子浓度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r" marR="5080">
              <a:lnSpc>
                <a:spcPct val="100000"/>
              </a:lnSpc>
              <a:spcBef>
                <a:spcPts val="125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90623" y="1708302"/>
            <a:ext cx="2533650" cy="0"/>
          </a:xfrm>
          <a:custGeom>
            <a:avLst/>
            <a:gdLst/>
            <a:ahLst/>
            <a:cxnLst/>
            <a:rect l="l" t="t" r="r" b="b"/>
            <a:pathLst>
              <a:path w="2533650" h="0">
                <a:moveTo>
                  <a:pt x="0" y="0"/>
                </a:moveTo>
                <a:lnTo>
                  <a:pt x="253342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780169" y="170049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031" y="1677898"/>
            <a:ext cx="3139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29995" algn="l"/>
              </a:tabLst>
            </a:pPr>
            <a:r>
              <a:rPr dirty="0" sz="1100" spc="50">
                <a:latin typeface="Lucida Sans Unicode"/>
                <a:cs typeface="Lucida Sans Unicode"/>
              </a:rPr>
              <a:t>−</a:t>
            </a:r>
            <a:r>
              <a:rPr dirty="0" sz="1100" spc="50" b="0" i="1">
                <a:latin typeface="Bookman Old Style"/>
                <a:cs typeface="Bookman Old Style"/>
              </a:rPr>
              <a:t>K  </a:t>
            </a:r>
            <a:r>
              <a:rPr dirty="0" sz="1100" spc="-35">
                <a:latin typeface="Georgia"/>
                <a:cs typeface="Georgia"/>
              </a:rPr>
              <a:t>(H 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24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5">
                <a:latin typeface="Georgia"/>
                <a:cs typeface="Georgia"/>
              </a:rPr>
              <a:t>4</a:t>
            </a:r>
            <a:r>
              <a:rPr dirty="0" sz="1100" spc="2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63760" y="1761299"/>
            <a:ext cx="13385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93980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  </a:t>
            </a:r>
            <a:r>
              <a:rPr dirty="0" sz="600" spc="25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   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	2 2</a:t>
            </a:r>
            <a:r>
              <a:rPr dirty="0" sz="600" spc="20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3741" y="1677898"/>
            <a:ext cx="663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</a:t>
            </a:r>
            <a:r>
              <a:rPr dirty="0" sz="1100" spc="80">
                <a:latin typeface="Georgia"/>
                <a:cs typeface="Georgia"/>
              </a:rPr>
              <a:t>C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2731" y="1891182"/>
            <a:ext cx="3751579" cy="0"/>
          </a:xfrm>
          <a:custGeom>
            <a:avLst/>
            <a:gdLst/>
            <a:ahLst/>
            <a:cxnLst/>
            <a:rect l="l" t="t" r="r" b="b"/>
            <a:pathLst>
              <a:path w="3751579" h="0">
                <a:moveTo>
                  <a:pt x="0" y="0"/>
                </a:moveTo>
                <a:lnTo>
                  <a:pt x="37513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70188" y="1751873"/>
            <a:ext cx="701040" cy="30988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  <a:tabLst>
                <a:tab pos="30226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20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 algn="r" marR="80010">
              <a:lnSpc>
                <a:spcPct val="100000"/>
              </a:lnSpc>
              <a:spcBef>
                <a:spcPts val="125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65" y="2146046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47863" y="1931301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99107" y="2079777"/>
            <a:ext cx="2205990" cy="0"/>
          </a:xfrm>
          <a:custGeom>
            <a:avLst/>
            <a:gdLst/>
            <a:ahLst/>
            <a:cxnLst/>
            <a:rect l="l" t="t" r="r" b="b"/>
            <a:pathLst>
              <a:path w="2205990" h="0">
                <a:moveTo>
                  <a:pt x="0" y="0"/>
                </a:moveTo>
                <a:lnTo>
                  <a:pt x="22055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327302" y="2072360"/>
            <a:ext cx="12750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10285" algn="l"/>
              </a:tabLst>
            </a:pPr>
            <a:r>
              <a:rPr dirty="0" baseline="9259" sz="900" spc="112">
                <a:latin typeface="Lucida Sans Unicode"/>
                <a:cs typeface="Lucida Sans Unicode"/>
              </a:rPr>
              <a:t>−</a:t>
            </a:r>
            <a:r>
              <a:rPr dirty="0" baseline="9259" sz="900" spc="112">
                <a:latin typeface="Times New Roman"/>
                <a:cs typeface="Times New Roman"/>
              </a:rPr>
              <a:t>2	</a:t>
            </a:r>
            <a:r>
              <a:rPr dirty="0" sz="600" spc="75">
                <a:latin typeface="Lucida Sans Unicode"/>
                <a:cs typeface="Lucida Sans Unicode"/>
              </a:rPr>
              <a:t>−</a:t>
            </a:r>
            <a:r>
              <a:rPr dirty="0" sz="600" spc="75">
                <a:latin typeface="Times New Roman"/>
                <a:cs typeface="Times New Roman"/>
              </a:rPr>
              <a:t>2</a:t>
            </a:r>
            <a:r>
              <a:rPr dirty="0" sz="600" spc="26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0031" y="2049754"/>
            <a:ext cx="2338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61365" algn="l"/>
                <a:tab pos="1038860" algn="l"/>
              </a:tabLst>
            </a:pPr>
            <a:r>
              <a:rPr dirty="0" sz="1100" spc="-45">
                <a:latin typeface="Lucida Sans Unicode"/>
                <a:cs typeface="Lucida Sans Unicode"/>
              </a:rPr>
              <a:t>−</a:t>
            </a:r>
            <a:r>
              <a:rPr dirty="0" sz="1100" spc="-45">
                <a:latin typeface="Georgia"/>
                <a:cs typeface="Georgia"/>
              </a:rPr>
              <a:t>5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35">
                <a:latin typeface="Georgia"/>
                <a:cs typeface="Georgia"/>
              </a:rPr>
              <a:t>(5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9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1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5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50450" y="207236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73311" y="2049754"/>
            <a:ext cx="9442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46100" algn="l"/>
              </a:tabLst>
            </a:pP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60">
                <a:latin typeface="Lucida Sans Unicode"/>
                <a:cs typeface="Lucida Sans Unicode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2731" y="2262657"/>
            <a:ext cx="3232150" cy="0"/>
          </a:xfrm>
          <a:custGeom>
            <a:avLst/>
            <a:gdLst/>
            <a:ahLst/>
            <a:cxnLst/>
            <a:rect l="l" t="t" r="r" b="b"/>
            <a:pathLst>
              <a:path w="3232150" h="0">
                <a:moveTo>
                  <a:pt x="0" y="0"/>
                </a:moveTo>
                <a:lnTo>
                  <a:pt x="32318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341333" y="2241080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5165" y="2407704"/>
            <a:ext cx="14973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41666" sz="900" spc="37">
                <a:latin typeface="Lucida Sans Unicode"/>
                <a:cs typeface="Lucida Sans Unicode"/>
              </a:rPr>
              <a:t>−</a:t>
            </a:r>
            <a:r>
              <a:rPr dirty="0" baseline="41666" sz="900" spc="37">
                <a:latin typeface="Times New Roman"/>
                <a:cs typeface="Times New Roman"/>
              </a:rPr>
              <a:t>2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11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41666" sz="900" spc="82">
                <a:latin typeface="Lucida Sans Unicode"/>
                <a:cs typeface="Lucida Sans Unicode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1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1563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9119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02646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1376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459867"/>
            <a:ext cx="50749" cy="5665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635466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998"/>
                </a:lnTo>
                <a:lnTo>
                  <a:pt x="4008" y="410723"/>
                </a:lnTo>
                <a:lnTo>
                  <a:pt x="14922" y="426876"/>
                </a:lnTo>
                <a:lnTo>
                  <a:pt x="31075" y="437790"/>
                </a:lnTo>
                <a:lnTo>
                  <a:pt x="50800" y="441798"/>
                </a:lnTo>
                <a:lnTo>
                  <a:pt x="4381765" y="441798"/>
                </a:lnTo>
                <a:lnTo>
                  <a:pt x="4401490" y="437790"/>
                </a:lnTo>
                <a:lnTo>
                  <a:pt x="4417643" y="426876"/>
                </a:lnTo>
                <a:lnTo>
                  <a:pt x="4428558" y="410723"/>
                </a:lnTo>
                <a:lnTo>
                  <a:pt x="4432566" y="390998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97959"/>
            <a:ext cx="0" cy="548005"/>
          </a:xfrm>
          <a:custGeom>
            <a:avLst/>
            <a:gdLst/>
            <a:ahLst/>
            <a:cxnLst/>
            <a:rect l="l" t="t" r="r" b="b"/>
            <a:pathLst>
              <a:path w="0" h="548005">
                <a:moveTo>
                  <a:pt x="0" y="54755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8525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47255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45985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354837"/>
            <a:ext cx="4422140" cy="70358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4.9</a:t>
            </a:r>
            <a:endParaRPr sz="1200">
              <a:latin typeface="Garamond"/>
              <a:cs typeface="Garamond"/>
            </a:endParaRPr>
          </a:p>
          <a:p>
            <a:pPr marL="628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溶液的氢氧根离子浓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ts val="121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知 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 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7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10</a:t>
            </a:r>
            <a:r>
              <a:rPr dirty="0" baseline="37037" sz="900" spc="60">
                <a:latin typeface="Lucida Sans Unicode"/>
                <a:cs typeface="Lucida Sans Unicode"/>
              </a:rPr>
              <a:t>−</a:t>
            </a:r>
            <a:r>
              <a:rPr dirty="0" baseline="37037" sz="900" spc="60">
                <a:latin typeface="Times New Roman"/>
                <a:cs typeface="Times New Roman"/>
              </a:rPr>
              <a:t>11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137920">
              <a:lnSpc>
                <a:spcPts val="370"/>
              </a:lnSpc>
              <a:tabLst>
                <a:tab pos="2277745" algn="l"/>
              </a:tabLst>
            </a:pPr>
            <a:r>
              <a:rPr dirty="0" sz="500" spc="85">
                <a:latin typeface="Book Antiqua"/>
                <a:cs typeface="Book Antiqua"/>
              </a:rPr>
              <a:t>1	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1563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9119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02646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1376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459867"/>
            <a:ext cx="50749" cy="5665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635466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998"/>
                </a:lnTo>
                <a:lnTo>
                  <a:pt x="4008" y="410723"/>
                </a:lnTo>
                <a:lnTo>
                  <a:pt x="14922" y="426876"/>
                </a:lnTo>
                <a:lnTo>
                  <a:pt x="31075" y="437790"/>
                </a:lnTo>
                <a:lnTo>
                  <a:pt x="50800" y="441798"/>
                </a:lnTo>
                <a:lnTo>
                  <a:pt x="4381765" y="441798"/>
                </a:lnTo>
                <a:lnTo>
                  <a:pt x="4401490" y="437790"/>
                </a:lnTo>
                <a:lnTo>
                  <a:pt x="4417643" y="426876"/>
                </a:lnTo>
                <a:lnTo>
                  <a:pt x="4428558" y="410723"/>
                </a:lnTo>
                <a:lnTo>
                  <a:pt x="4432566" y="390998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97959"/>
            <a:ext cx="0" cy="548005"/>
          </a:xfrm>
          <a:custGeom>
            <a:avLst/>
            <a:gdLst/>
            <a:ahLst/>
            <a:cxnLst/>
            <a:rect l="l" t="t" r="r" b="b"/>
            <a:pathLst>
              <a:path w="0" h="548005">
                <a:moveTo>
                  <a:pt x="0" y="54755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8525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47255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45985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354837"/>
            <a:ext cx="4422140" cy="70358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8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5">
                <a:solidFill>
                  <a:srgbClr val="FFFFFF"/>
                </a:solidFill>
                <a:latin typeface="Garamond"/>
                <a:cs typeface="Garamond"/>
              </a:rPr>
              <a:t>4.9</a:t>
            </a:r>
            <a:endParaRPr sz="1200">
              <a:latin typeface="Garamond"/>
              <a:cs typeface="Garamond"/>
            </a:endParaRPr>
          </a:p>
          <a:p>
            <a:pPr marL="628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计算分析浓度为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溶液的氢氧根离子浓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ts val="121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知 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 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7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10</a:t>
            </a:r>
            <a:r>
              <a:rPr dirty="0" baseline="37037" sz="900" spc="60">
                <a:latin typeface="Lucida Sans Unicode"/>
                <a:cs typeface="Lucida Sans Unicode"/>
              </a:rPr>
              <a:t>−</a:t>
            </a:r>
            <a:r>
              <a:rPr dirty="0" baseline="37037" sz="900" spc="60">
                <a:latin typeface="Times New Roman"/>
                <a:cs typeface="Times New Roman"/>
              </a:rPr>
              <a:t>11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137920">
              <a:lnSpc>
                <a:spcPts val="370"/>
              </a:lnSpc>
              <a:tabLst>
                <a:tab pos="2277745" algn="l"/>
              </a:tabLst>
            </a:pPr>
            <a:r>
              <a:rPr dirty="0" sz="500" spc="85">
                <a:latin typeface="Book Antiqua"/>
                <a:cs typeface="Book Antiqua"/>
              </a:rPr>
              <a:t>1	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958" y="12127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6958" y="12972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444" y="1187094"/>
            <a:ext cx="104584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20">
                <a:latin typeface="Arial Unicode MS"/>
                <a:cs typeface="Arial Unicode MS"/>
              </a:rPr>
              <a:t>：</a:t>
            </a:r>
            <a:r>
              <a:rPr dirty="0" sz="1100" spc="-20">
                <a:latin typeface="Georgia"/>
                <a:cs typeface="Georgia"/>
              </a:rPr>
              <a:t>CO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r>
              <a:rPr dirty="0" baseline="37037" sz="900" spc="284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离子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2624" y="1187094"/>
            <a:ext cx="199008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在溶液中存在如下两个平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9856" y="162440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9856" y="171587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2033" y="1618996"/>
            <a:ext cx="7931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6555" algn="l"/>
              </a:tabLst>
            </a:pPr>
            <a:r>
              <a:rPr dirty="0" sz="1100" spc="55">
                <a:latin typeface="Georgia"/>
                <a:cs typeface="Georgia"/>
              </a:rPr>
              <a:t>CO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5625" y="1530413"/>
            <a:ext cx="271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82" b="0" i="1">
                <a:latin typeface="Bookman Old Style"/>
                <a:cs typeface="Bookman Old Style"/>
              </a:rPr>
              <a:t>K</a:t>
            </a:r>
            <a:r>
              <a:rPr dirty="0" baseline="7936" sz="1050" spc="82" i="1">
                <a:latin typeface="Arial"/>
                <a:cs typeface="Arial"/>
              </a:rPr>
              <a:t>b</a:t>
            </a:r>
            <a:r>
              <a:rPr dirty="0" sz="500" spc="55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9415" y="1693215"/>
            <a:ext cx="49085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dirty="0" sz="450" spc="165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r>
              <a:rPr dirty="0" sz="450">
                <a:latin typeface="Arial Unicode MS"/>
                <a:cs typeface="Arial Unicode MS"/>
              </a:rPr>
              <a:t>	</a:t>
            </a:r>
            <a:r>
              <a:rPr dirty="0" sz="450" spc="-390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8915" y="1702397"/>
            <a:ext cx="6870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58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baseline="6172" sz="675" spc="375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    </a:t>
            </a:r>
            <a:r>
              <a:rPr dirty="0" baseline="6172" sz="675" spc="247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20431" y="1788109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2050" y="171587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32050" y="1624406"/>
            <a:ext cx="5594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307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4929" y="1618996"/>
            <a:ext cx="14408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28065" algn="l"/>
              </a:tabLst>
            </a:pPr>
            <a:r>
              <a:rPr dirty="0" sz="1100" spc="10">
                <a:latin typeface="Georgia"/>
                <a:cs typeface="Georgia"/>
              </a:rPr>
              <a:t>HCO</a:t>
            </a:r>
            <a:r>
              <a:rPr dirty="0" sz="1100" spc="10">
                <a:latin typeface="Georgia"/>
                <a:cs typeface="Georgia"/>
              </a:rPr>
              <a:t>  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OH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-22" i="1">
                <a:latin typeface="Arial"/>
                <a:cs typeface="Arial"/>
              </a:rPr>
              <a:t>b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99917" y="1502763"/>
            <a:ext cx="30099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u="sng" sz="1100" spc="-1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baseline="-13888" sz="900" spc="17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u="sng" baseline="-13888" sz="900" spc="3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03600" y="1618996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34739" y="162440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1997" y="2371648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1997" y="246310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0276" y="2366225"/>
            <a:ext cx="8509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HCO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41386" y="2277656"/>
            <a:ext cx="271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82" b="0" i="1">
                <a:latin typeface="Bookman Old Style"/>
                <a:cs typeface="Bookman Old Style"/>
              </a:rPr>
              <a:t>K</a:t>
            </a:r>
            <a:r>
              <a:rPr dirty="0" baseline="7936" sz="1050" spc="82" i="1">
                <a:latin typeface="Arial"/>
                <a:cs typeface="Arial"/>
              </a:rPr>
              <a:t>b</a:t>
            </a:r>
            <a:r>
              <a:rPr dirty="0" sz="500" spc="55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6576" y="2449639"/>
            <a:ext cx="1191260" cy="263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695"/>
              </a:lnSpc>
              <a:spcBef>
                <a:spcPts val="95"/>
              </a:spcBef>
              <a:tabLst>
                <a:tab pos="233679" algn="l"/>
                <a:tab pos="845819" algn="l"/>
                <a:tab pos="110617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baseline="6172" sz="675" spc="-600">
                <a:latin typeface="Arial Unicode MS"/>
                <a:cs typeface="Arial Unicode MS"/>
              </a:rPr>
              <a:t>、</a:t>
            </a:r>
            <a:r>
              <a:rPr dirty="0" baseline="6172" sz="675" spc="-600">
                <a:latin typeface="Arial Unicode MS"/>
                <a:cs typeface="Arial Unicode MS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	3</a:t>
            </a:r>
            <a:endParaRPr sz="600">
              <a:latin typeface="Times New Roman"/>
              <a:cs typeface="Times New Roman"/>
            </a:endParaRPr>
          </a:p>
          <a:p>
            <a:pPr marL="367665">
              <a:lnSpc>
                <a:spcPts val="1175"/>
              </a:lnSpc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36077" y="2366225"/>
            <a:ext cx="8235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55">
                <a:latin typeface="Georgia"/>
                <a:cs typeface="Georgia"/>
              </a:rPr>
              <a:t>CO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34246" y="2371648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26817" y="2366225"/>
            <a:ext cx="437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-22" i="1">
                <a:latin typeface="Arial"/>
                <a:cs typeface="Arial"/>
              </a:rPr>
              <a:t>b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>
                <a:latin typeface="Book Antiqua"/>
                <a:cs typeface="Book Antiqua"/>
              </a:rPr>
              <a:t>  </a:t>
            </a:r>
            <a:r>
              <a:rPr dirty="0" baseline="-33333" sz="750" spc="37">
                <a:latin typeface="Book Antiqua"/>
                <a:cs typeface="Book Antiqu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41675" y="2249993"/>
            <a:ext cx="30099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u="sng" sz="1100" spc="-1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baseline="-13888" sz="900" spc="17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dirty="0" u="sng" baseline="-13888" sz="900" spc="3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baseline="-13888"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endParaRPr baseline="-33333" sz="750">
              <a:latin typeface="Book Antiqua"/>
              <a:cs typeface="Book Antiqu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45357" y="2366225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2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5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76509" y="237164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257797"/>
            <a:ext cx="4718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-8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607745"/>
            <a:ext cx="68008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(Na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265" y="691146"/>
            <a:ext cx="551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  <a:tab pos="49720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-10" i="1">
                <a:latin typeface="Arial"/>
                <a:cs typeface="Arial"/>
              </a:rPr>
              <a:t>b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7053" y="62009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9654" y="705777"/>
            <a:ext cx="3892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9565" algn="l"/>
              </a:tabLst>
            </a:pPr>
            <a:r>
              <a:rPr dirty="0" sz="500" spc="85">
                <a:latin typeface="Book Antiqua"/>
                <a:cs typeface="Book Antiqua"/>
              </a:rPr>
              <a:t>1</a:t>
            </a:r>
            <a:r>
              <a:rPr dirty="0" sz="500" spc="85">
                <a:latin typeface="Book Antiqua"/>
                <a:cs typeface="Book Antiqua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0409" y="607745"/>
            <a:ext cx="974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40">
                <a:latin typeface="Georgia"/>
                <a:cs typeface="Georgia"/>
              </a:rPr>
              <a:t>(CO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82024" y="62009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9239" y="607745"/>
            <a:ext cx="1198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9644" algn="l"/>
              </a:tabLst>
            </a:pP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7475" y="62009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842" y="607745"/>
            <a:ext cx="10083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2455" algn="l"/>
              </a:tabLst>
            </a:pP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8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20</a:t>
            </a:r>
            <a:r>
              <a:rPr dirty="0" sz="1100" spc="-25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4238" y="691146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734" y="1085862"/>
            <a:ext cx="67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 i="1">
                <a:latin typeface="Arial"/>
                <a:cs typeface="Arial"/>
              </a:rPr>
              <a:t>b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5301" y="1113155"/>
            <a:ext cx="6858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85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2712" y="101480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2712" y="109933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6790" y="1002461"/>
            <a:ext cx="7512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K </a:t>
            </a:r>
            <a:r>
              <a:rPr dirty="0" sz="1100" spc="40">
                <a:latin typeface="Georgia"/>
                <a:cs typeface="Georgia"/>
              </a:rPr>
              <a:t>(CO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4134" y="1212799"/>
            <a:ext cx="1396365" cy="0"/>
          </a:xfrm>
          <a:custGeom>
            <a:avLst/>
            <a:gdLst/>
            <a:ahLst/>
            <a:cxnLst/>
            <a:rect l="l" t="t" r="r" b="b"/>
            <a:pathLst>
              <a:path w="1396364" h="0">
                <a:moveTo>
                  <a:pt x="0" y="0"/>
                </a:moveTo>
                <a:lnTo>
                  <a:pt x="139632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01434" y="1092035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2678" y="1240510"/>
            <a:ext cx="1257935" cy="0"/>
          </a:xfrm>
          <a:custGeom>
            <a:avLst/>
            <a:gdLst/>
            <a:ahLst/>
            <a:cxnLst/>
            <a:rect l="l" t="t" r="r" b="b"/>
            <a:pathLst>
              <a:path w="1257935" h="0">
                <a:moveTo>
                  <a:pt x="0" y="0"/>
                </a:moveTo>
                <a:lnTo>
                  <a:pt x="12577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39978" y="1211745"/>
            <a:ext cx="6273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(NaCO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18069" y="121610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421" y="1295146"/>
            <a:ext cx="7061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2255" algn="l"/>
                <a:tab pos="621030" algn="l"/>
              </a:tabLst>
            </a:pPr>
            <a:r>
              <a:rPr dirty="0" sz="600" spc="65">
                <a:latin typeface="Times New Roman"/>
                <a:cs typeface="Times New Roman"/>
              </a:rPr>
              <a:t>3	</a:t>
            </a:r>
            <a:r>
              <a:rPr dirty="0" sz="600" spc="35" i="1">
                <a:latin typeface="Arial"/>
                <a:cs typeface="Arial"/>
              </a:rPr>
              <a:t>b</a:t>
            </a:r>
            <a:r>
              <a:rPr dirty="0" baseline="-11111" sz="750" spc="5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1412" y="1211745"/>
            <a:ext cx="681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40">
                <a:latin typeface="Georgia"/>
                <a:cs typeface="Georgia"/>
              </a:rPr>
              <a:t>(CO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51431" y="109618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33701" y="1002461"/>
            <a:ext cx="9194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0">
                <a:latin typeface="Georgia"/>
                <a:cs typeface="Georgia"/>
              </a:rPr>
              <a:t>2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8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5561" y="1212799"/>
            <a:ext cx="1142365" cy="0"/>
          </a:xfrm>
          <a:custGeom>
            <a:avLst/>
            <a:gdLst/>
            <a:ahLst/>
            <a:cxnLst/>
            <a:rect l="l" t="t" r="r" b="b"/>
            <a:pathLst>
              <a:path w="1142364" h="0">
                <a:moveTo>
                  <a:pt x="0" y="0"/>
                </a:moveTo>
                <a:lnTo>
                  <a:pt x="11418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41017" y="1240510"/>
            <a:ext cx="1026794" cy="0"/>
          </a:xfrm>
          <a:custGeom>
            <a:avLst/>
            <a:gdLst/>
            <a:ahLst/>
            <a:cxnLst/>
            <a:rect l="l" t="t" r="r" b="b"/>
            <a:pathLst>
              <a:path w="1026794" h="0">
                <a:moveTo>
                  <a:pt x="0" y="0"/>
                </a:moveTo>
                <a:lnTo>
                  <a:pt x="102636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87461" y="1200861"/>
            <a:ext cx="12122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42929" sz="1650" spc="-67">
                <a:latin typeface="Lucida Sans Unicode"/>
                <a:cs typeface="Lucida Sans Unicode"/>
              </a:rPr>
              <a:t>√</a:t>
            </a:r>
            <a:r>
              <a:rPr dirty="0" sz="1100" spc="-45">
                <a:latin typeface="Georgia"/>
                <a:cs typeface="Georgia"/>
              </a:rPr>
              <a:t>0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10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20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4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08350" y="1096187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1</a:t>
            </a:r>
            <a:r>
              <a:rPr dirty="0" sz="1100" spc="35" b="0" i="1">
                <a:latin typeface="Bookman Old Style"/>
                <a:cs typeface="Bookman Old Style"/>
              </a:rPr>
              <a:t>.</a:t>
            </a:r>
            <a:r>
              <a:rPr dirty="0" sz="1100" spc="35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39502" y="110161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03802" y="1096187"/>
            <a:ext cx="418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9559" y="1663750"/>
            <a:ext cx="3390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1434" y="1580350"/>
            <a:ext cx="681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CO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8090" y="177347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3700" y="1867141"/>
            <a:ext cx="4819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96875" algn="l"/>
              </a:tabLst>
            </a:pPr>
            <a:r>
              <a:rPr dirty="0" baseline="9259" sz="900" spc="52" i="1">
                <a:latin typeface="Arial"/>
                <a:cs typeface="Arial"/>
              </a:rPr>
              <a:t>b</a:t>
            </a:r>
            <a:r>
              <a:rPr dirty="0" sz="500" spc="35">
                <a:latin typeface="Book Antiqua"/>
                <a:cs typeface="Book Antiqua"/>
              </a:rPr>
              <a:t>1	</a:t>
            </a:r>
            <a:r>
              <a:rPr dirty="0" baseline="9259" sz="900" spc="97">
                <a:latin typeface="Times New Roman"/>
                <a:cs typeface="Times New Roman"/>
              </a:rPr>
              <a:t>3</a:t>
            </a:r>
            <a:endParaRPr baseline="9259"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2883" y="1580350"/>
            <a:ext cx="6362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4310" algn="l"/>
                <a:tab pos="62293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6034" y="1769110"/>
            <a:ext cx="1552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09319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34" b="0" i="1">
                <a:latin typeface="Bookman Old Style"/>
                <a:cs typeface="Bookman Old Style"/>
              </a:rPr>
              <a:t> </a:t>
            </a:r>
            <a:r>
              <a:rPr dirty="0" sz="1100" spc="40">
                <a:latin typeface="Georgia"/>
                <a:cs typeface="Georgia"/>
              </a:rPr>
              <a:t>(CO  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4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68422" y="167949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1453" y="1674076"/>
            <a:ext cx="1927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38200" algn="l"/>
              </a:tabLst>
            </a:pPr>
            <a:r>
              <a:rPr dirty="0" sz="1100" spc="140">
                <a:latin typeface="Georgia"/>
                <a:cs typeface="Georgia"/>
              </a:rPr>
              <a:t>=	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25" b="0" i="1">
                <a:latin typeface="Bookman Old Style"/>
                <a:cs typeface="Bookman Old Style"/>
              </a:rPr>
              <a:t> </a:t>
            </a:r>
            <a:r>
              <a:rPr dirty="0" sz="1100" spc="-100">
                <a:latin typeface="Georgia"/>
                <a:cs typeface="Georgia"/>
              </a:rPr>
              <a:t>500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9501" y="2027165"/>
            <a:ext cx="1838325" cy="42862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所以可以采用最简式计</a:t>
            </a:r>
            <a:r>
              <a:rPr dirty="0" sz="1200" spc="-80">
                <a:latin typeface="Arial Unicode MS"/>
                <a:cs typeface="Arial Unicode MS"/>
              </a:rPr>
              <a:t>算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algn="ctr" marL="258445">
              <a:lnSpc>
                <a:spcPct val="100000"/>
              </a:lnSpc>
              <a:spcBef>
                <a:spcPts val="190"/>
              </a:spcBef>
            </a:pPr>
            <a:r>
              <a:rPr dirty="0" sz="1100" spc="540">
                <a:latin typeface="Arial Unicode MS"/>
                <a:cs typeface="Arial Unicode MS"/>
              </a:rPr>
              <a:t>v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547418" y="2412161"/>
            <a:ext cx="1310640" cy="0"/>
          </a:xfrm>
          <a:custGeom>
            <a:avLst/>
            <a:gdLst/>
            <a:ahLst/>
            <a:cxnLst/>
            <a:rect l="l" t="t" r="r" b="b"/>
            <a:pathLst>
              <a:path w="1310639" h="0">
                <a:moveTo>
                  <a:pt x="0" y="0"/>
                </a:moveTo>
                <a:lnTo>
                  <a:pt x="131050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665514" y="243608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96326" y="2515133"/>
            <a:ext cx="96646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98450" algn="l"/>
                <a:tab pos="522605" algn="l"/>
                <a:tab pos="881380" algn="l"/>
              </a:tabLst>
            </a:pPr>
            <a:r>
              <a:rPr dirty="0" sz="600" spc="65">
                <a:latin typeface="Times New Roman"/>
                <a:cs typeface="Times New Roman"/>
              </a:rPr>
              <a:t>2	3	</a:t>
            </a:r>
            <a:r>
              <a:rPr dirty="0" sz="600" spc="35" i="1">
                <a:latin typeface="Arial"/>
                <a:cs typeface="Arial"/>
              </a:rPr>
              <a:t>b</a:t>
            </a:r>
            <a:r>
              <a:rPr dirty="0" baseline="-11111" sz="750" spc="5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6496" y="2431732"/>
            <a:ext cx="22796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930275" algn="l"/>
              </a:tabLst>
            </a:pP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  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-2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(Na </a:t>
            </a:r>
            <a:r>
              <a:rPr dirty="0" sz="1100" spc="55">
                <a:latin typeface="Georgia"/>
                <a:cs typeface="Georgia"/>
              </a:rPr>
              <a:t>CO </a:t>
            </a:r>
            <a:r>
              <a:rPr dirty="0" sz="1100" spc="70">
                <a:latin typeface="Georgia"/>
                <a:cs typeface="Georgia"/>
              </a:rPr>
              <a:t>)</a:t>
            </a:r>
            <a:r>
              <a:rPr dirty="0" sz="1100" spc="70" b="0" i="1">
                <a:latin typeface="Bookman Old Style"/>
                <a:cs typeface="Bookman Old Style"/>
              </a:rPr>
              <a:t>K </a:t>
            </a:r>
            <a:r>
              <a:rPr dirty="0" sz="1100" spc="40">
                <a:latin typeface="Georgia"/>
                <a:cs typeface="Georgia"/>
              </a:rPr>
              <a:t>(CO</a:t>
            </a:r>
            <a:r>
              <a:rPr dirty="0" sz="1100" spc="3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24317" y="2726258"/>
            <a:ext cx="1026794" cy="0"/>
          </a:xfrm>
          <a:custGeom>
            <a:avLst/>
            <a:gdLst/>
            <a:ahLst/>
            <a:cxnLst/>
            <a:rect l="l" t="t" r="r" b="b"/>
            <a:pathLst>
              <a:path w="1026794" h="0">
                <a:moveTo>
                  <a:pt x="0" y="0"/>
                </a:moveTo>
                <a:lnTo>
                  <a:pt x="102636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136484" y="2693378"/>
            <a:ext cx="2823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45454" sz="1650" spc="-60">
                <a:latin typeface="Lucida Sans Unicode"/>
                <a:cs typeface="Lucida Sans Unicode"/>
              </a:rPr>
              <a:t>√</a:t>
            </a:r>
            <a:r>
              <a:rPr dirty="0" sz="1100" spc="-40">
                <a:latin typeface="Georgia"/>
                <a:cs typeface="Georgia"/>
              </a:rPr>
              <a:t>0</a:t>
            </a:r>
            <a:r>
              <a:rPr dirty="0" sz="1100" spc="-40" b="0" i="1">
                <a:latin typeface="Bookman Old Style"/>
                <a:cs typeface="Bookman Old Style"/>
              </a:rPr>
              <a:t>.</a:t>
            </a:r>
            <a:r>
              <a:rPr dirty="0" sz="1100" spc="-40">
                <a:latin typeface="Georgia"/>
                <a:cs typeface="Georgia"/>
              </a:rPr>
              <a:t>10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4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41666" sz="900" spc="37">
                <a:latin typeface="Lucida Sans Unicode"/>
                <a:cs typeface="Lucida Sans Unicode"/>
              </a:rPr>
              <a:t>−</a:t>
            </a:r>
            <a:r>
              <a:rPr dirty="0" baseline="41666" sz="900" spc="37">
                <a:latin typeface="Times New Roman"/>
                <a:cs typeface="Times New Roman"/>
              </a:rPr>
              <a:t>3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41666" sz="900" spc="82">
                <a:latin typeface="Lucida Sans Unicode"/>
                <a:cs typeface="Lucida Sans Unicode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1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55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334581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4.5.5</a:t>
            </a:r>
            <a:r>
              <a:rPr dirty="0" sz="1400" spc="13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混合酸溶液中氢离子浓度的计算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508952"/>
            <a:ext cx="4081779" cy="7575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035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设有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的混合酸溶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二者的分析浓度分别为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(HAc)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则混合酸溶液的质子条件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325755">
              <a:lnSpc>
                <a:spcPct val="100000"/>
              </a:lnSpc>
              <a:spcBef>
                <a:spcPts val="919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34581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4.5.5</a:t>
            </a:r>
            <a:r>
              <a:rPr dirty="0" sz="1400" spc="13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混合酸溶液中氢离子浓度的计算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508952"/>
            <a:ext cx="4111625" cy="12706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29845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设有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的混合酸溶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二者的分析浓度分别为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(HAc)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则混合酸溶液的质子条件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320675">
              <a:lnSpc>
                <a:spcPct val="100000"/>
              </a:lnSpc>
              <a:spcBef>
                <a:spcPts val="919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300">
              <a:latin typeface="Georgia"/>
              <a:cs typeface="Georgia"/>
            </a:endParaRPr>
          </a:p>
          <a:p>
            <a:pPr algn="ctr" marL="303530">
              <a:lnSpc>
                <a:spcPct val="100000"/>
              </a:lnSpc>
              <a:spcBef>
                <a:spcPts val="112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都较大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可以忽略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700" y="1893252"/>
            <a:ext cx="3189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u="sng" baseline="37878" sz="1650" spc="1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baseline="37878" sz="1650" spc="22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baseline="50925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baseline="37878" sz="1650" spc="22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</a:t>
            </a:r>
            <a:r>
              <a:rPr dirty="0" u="sng" baseline="37878" sz="1650" spc="22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baseline="37878" sz="1650" spc="22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0220" y="1988286"/>
            <a:ext cx="10566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0456" y="189325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(18)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34581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4.5.5</a:t>
            </a:r>
            <a:r>
              <a:rPr dirty="0" sz="1400" spc="13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混合酸溶液中氢离子浓度的计算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508952"/>
            <a:ext cx="4111625" cy="12706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29845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设有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的混合酸溶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二者的分析浓度分别为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(HAc)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则混合酸溶液的质子条件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320675">
              <a:lnSpc>
                <a:spcPct val="100000"/>
              </a:lnSpc>
              <a:spcBef>
                <a:spcPts val="919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300">
              <a:latin typeface="Georgia"/>
              <a:cs typeface="Georgia"/>
            </a:endParaRPr>
          </a:p>
          <a:p>
            <a:pPr algn="ctr" marL="303530">
              <a:lnSpc>
                <a:spcPct val="100000"/>
              </a:lnSpc>
              <a:spcBef>
                <a:spcPts val="112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都较大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可以忽略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700" y="1893252"/>
            <a:ext cx="3189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u="sng" baseline="37878" sz="1650" spc="1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baseline="37878" sz="1650" spc="22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baseline="50925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baseline="37878" sz="1650" spc="22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</a:t>
            </a:r>
            <a:r>
              <a:rPr dirty="0" u="sng" baseline="37878" sz="1650" spc="22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baseline="37878" sz="1650" spc="22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0220" y="1988286"/>
            <a:ext cx="10566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0456" y="189325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(18)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01" y="2390622"/>
            <a:ext cx="18370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整理后得到近似计算公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766" y="273424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476" y="2635097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176" y="284543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10476" y="2823857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374" y="2728823"/>
            <a:ext cx="645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7850" algn="l"/>
              </a:tabLst>
            </a:pP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0">
                <a:latin typeface="Georgia"/>
                <a:cs typeface="Georgia"/>
              </a:rPr>
              <a:t>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9072" y="2812224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1905" y="2728823"/>
            <a:ext cx="1488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05" b="0" i="1">
                <a:latin typeface="Bookman Old Style"/>
                <a:cs typeface="Bookman Old Style"/>
              </a:rPr>
              <a:t> </a:t>
            </a:r>
            <a:r>
              <a:rPr dirty="0" sz="1100">
                <a:latin typeface="Georgia"/>
                <a:cs typeface="Georgia"/>
              </a:rPr>
              <a:t>(HAc)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6170" y="3057055"/>
            <a:ext cx="3208020" cy="0"/>
          </a:xfrm>
          <a:custGeom>
            <a:avLst/>
            <a:gdLst/>
            <a:ahLst/>
            <a:cxnLst/>
            <a:rect l="l" t="t" r="r" b="b"/>
            <a:pathLst>
              <a:path w="3208020" h="0">
                <a:moveTo>
                  <a:pt x="0" y="0"/>
                </a:moveTo>
                <a:lnTo>
                  <a:pt x="32077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29526" y="3033801"/>
            <a:ext cx="3505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165" indent="-139700">
              <a:lnSpc>
                <a:spcPct val="100000"/>
              </a:lnSpc>
              <a:spcBef>
                <a:spcPts val="90"/>
              </a:spcBef>
              <a:buSzPct val="90909"/>
              <a:buFont typeface="Arial Unicode MS"/>
              <a:buChar char="✓"/>
              <a:tabLst>
                <a:tab pos="177800" algn="l"/>
              </a:tabLst>
            </a:pPr>
            <a:r>
              <a:rPr dirty="0" sz="1100" spc="-10">
                <a:latin typeface="Georgia"/>
                <a:cs typeface="Georgia"/>
              </a:rPr>
              <a:t>(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(HAc))</a:t>
            </a:r>
            <a:r>
              <a:rPr dirty="0" baseline="27777" sz="900" spc="52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">
                <a:latin typeface="Georgia"/>
                <a:cs typeface="Georgia"/>
              </a:rPr>
              <a:t>4</a:t>
            </a:r>
            <a:r>
              <a:rPr dirty="0" sz="1100" spc="5" b="0" i="1">
                <a:latin typeface="Bookman Old Style"/>
                <a:cs typeface="Bookman Old Style"/>
              </a:rPr>
              <a:t>K</a:t>
            </a:r>
            <a:r>
              <a:rPr dirty="0" baseline="-13888" sz="900" spc="7" i="1">
                <a:latin typeface="Arial"/>
                <a:cs typeface="Arial"/>
              </a:rPr>
              <a:t>a</a:t>
            </a:r>
            <a:r>
              <a:rPr dirty="0" sz="1100" spc="5">
                <a:latin typeface="Georgia"/>
                <a:cs typeface="Georgia"/>
              </a:rPr>
              <a:t>(HAc)(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(HCl)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65">
                <a:latin typeface="Georgia"/>
                <a:cs typeface="Georgia"/>
              </a:rPr>
              <a:t>(HAc))</a:t>
            </a:r>
            <a:r>
              <a:rPr dirty="0" baseline="60606" sz="1650" spc="-97">
                <a:latin typeface="Arial Unicode MS"/>
                <a:cs typeface="Arial Unicode MS"/>
              </a:rPr>
              <a:t>）</a:t>
            </a:r>
            <a:endParaRPr baseline="60606" sz="165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56" y="3033801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(19)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1401" y="192722"/>
            <a:ext cx="4157345" cy="873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弱酸混合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溶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液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</a:pPr>
            <a:r>
              <a:rPr dirty="0" sz="1200" spc="-15">
                <a:latin typeface="Arial Unicode MS"/>
                <a:cs typeface="Arial Unicode MS"/>
              </a:rPr>
              <a:t>如果混合酸体系由两种弱</a:t>
            </a:r>
            <a:r>
              <a:rPr dirty="0" sz="1200" spc="-5">
                <a:latin typeface="Arial Unicode MS"/>
                <a:cs typeface="Arial Unicode MS"/>
              </a:rPr>
              <a:t>酸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组</a:t>
            </a:r>
            <a:r>
              <a:rPr dirty="0" sz="1200" spc="-85">
                <a:latin typeface="Arial Unicode MS"/>
                <a:cs typeface="Arial Unicode MS"/>
              </a:rPr>
              <a:t>成</a:t>
            </a:r>
            <a:r>
              <a:rPr dirty="0" sz="1200" spc="-260">
                <a:latin typeface="Arial Unicode MS"/>
                <a:cs typeface="Arial Unicode MS"/>
              </a:rPr>
              <a:t>，</a:t>
            </a:r>
            <a:r>
              <a:rPr dirty="0" sz="1200" spc="-15">
                <a:latin typeface="Arial Unicode MS"/>
                <a:cs typeface="Arial Unicode MS"/>
              </a:rPr>
              <a:t>其质子条件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baseline="37037" sz="900" spc="15">
                <a:latin typeface="Times New Roman"/>
                <a:cs typeface="Times New Roman"/>
              </a:rPr>
              <a:t>5</a:t>
            </a:r>
            <a:r>
              <a:rPr dirty="0" sz="1200" spc="10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323850">
              <a:lnSpc>
                <a:spcPct val="100000"/>
              </a:lnSpc>
              <a:spcBef>
                <a:spcPts val="111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[B</a:t>
            </a:r>
            <a:r>
              <a:rPr dirty="0" baseline="41666" sz="900" spc="37">
                <a:latin typeface="Times New Roman"/>
                <a:cs typeface="Times New Roman"/>
              </a:rPr>
              <a:t>+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3794" y="3181153"/>
            <a:ext cx="1102360" cy="27432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5</a:t>
            </a:r>
            <a:r>
              <a:rPr dirty="0" sz="900" spc="-5">
                <a:latin typeface="Arial Unicode MS"/>
                <a:cs typeface="Arial Unicode MS"/>
              </a:rPr>
              <a:t>忽略水的电离影</a:t>
            </a:r>
            <a:r>
              <a:rPr dirty="0" sz="900" spc="-15">
                <a:latin typeface="Arial Unicode MS"/>
                <a:cs typeface="Arial Unicode MS"/>
              </a:rPr>
              <a:t>响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  <a:p>
            <a:pPr marL="216535">
              <a:lnSpc>
                <a:spcPct val="100000"/>
              </a:lnSpc>
              <a:spcBef>
                <a:spcPts val="19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2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弱酸混合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溶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液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如果混合酸体系由两种弱</a:t>
            </a:r>
            <a:r>
              <a:rPr dirty="0" spc="-5"/>
              <a:t>酸</a:t>
            </a:r>
            <a:r>
              <a:rPr dirty="0" spc="-25"/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pc="-5"/>
              <a:t>和</a:t>
            </a:r>
            <a:r>
              <a:rPr dirty="0" spc="-20"/>
              <a:t> 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pc="-15"/>
              <a:t>组</a:t>
            </a:r>
            <a:r>
              <a:rPr dirty="0" spc="-85"/>
              <a:t>成</a:t>
            </a:r>
            <a:r>
              <a:rPr dirty="0" spc="-260"/>
              <a:t>，</a:t>
            </a:r>
            <a:r>
              <a:rPr dirty="0" spc="-15"/>
              <a:t>其质子条件</a:t>
            </a:r>
            <a:r>
              <a:rPr dirty="0" spc="-5"/>
              <a:t>为</a:t>
            </a:r>
            <a:r>
              <a:rPr dirty="0" baseline="37037" sz="900" spc="15">
                <a:latin typeface="Times New Roman"/>
                <a:cs typeface="Times New Roman"/>
              </a:rPr>
              <a:t>5</a:t>
            </a:r>
            <a:r>
              <a:rPr dirty="0" sz="1200" spc="10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801" y="874585"/>
            <a:ext cx="2487930" cy="50545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2461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[B</a:t>
            </a:r>
            <a:r>
              <a:rPr dirty="0" baseline="41666" sz="900" spc="37">
                <a:latin typeface="Times New Roman"/>
                <a:cs typeface="Times New Roman"/>
              </a:rPr>
              <a:t>+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1025"/>
              </a:spcBef>
            </a:pPr>
            <a:r>
              <a:rPr dirty="0" sz="1200" spc="-5">
                <a:latin typeface="Arial Unicode MS"/>
                <a:cs typeface="Arial Unicode MS"/>
              </a:rPr>
              <a:t>上式整理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9501" y="1519529"/>
            <a:ext cx="1891030" cy="0"/>
          </a:xfrm>
          <a:custGeom>
            <a:avLst/>
            <a:gdLst/>
            <a:ahLst/>
            <a:cxnLst/>
            <a:rect l="l" t="t" r="r" b="b"/>
            <a:pathLst>
              <a:path w="1891029" h="0">
                <a:moveTo>
                  <a:pt x="0" y="0"/>
                </a:moveTo>
                <a:lnTo>
                  <a:pt x="189045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29931" y="1496276"/>
            <a:ext cx="254825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99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50505" sz="1650" spc="292">
                <a:latin typeface="Arial Unicode MS"/>
                <a:cs typeface="Arial Unicode MS"/>
              </a:rPr>
              <a:t>✓</a:t>
            </a:r>
            <a:r>
              <a:rPr dirty="0" sz="1100" spc="195" b="0" i="1">
                <a:latin typeface="Bookman Old Style"/>
                <a:cs typeface="Bookman Old Style"/>
              </a:rPr>
              <a:t>K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5">
                <a:latin typeface="Georgia"/>
                <a:cs typeface="Georgia"/>
              </a:rPr>
              <a:t>(HA)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10">
                <a:latin typeface="Georgia"/>
                <a:cs typeface="Georgia"/>
              </a:rPr>
              <a:t>(HB)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(HB)</a:t>
            </a:r>
            <a:endParaRPr sz="1100">
              <a:latin typeface="Georgia"/>
              <a:cs typeface="Georgia"/>
            </a:endParaRPr>
          </a:p>
          <a:p>
            <a:pPr algn="ctr" marL="12700">
              <a:lnSpc>
                <a:spcPts val="390"/>
              </a:lnSpc>
              <a:tabLst>
                <a:tab pos="1048385" algn="l"/>
              </a:tabLst>
            </a:pPr>
            <a:r>
              <a:rPr dirty="0" sz="600" spc="65" i="1">
                <a:latin typeface="Arial"/>
                <a:cs typeface="Arial"/>
              </a:rPr>
              <a:t>a	a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0415" y="149627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(20)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3794" y="3181153"/>
            <a:ext cx="1102360" cy="27432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5</a:t>
            </a:r>
            <a:r>
              <a:rPr dirty="0" sz="900" spc="-5">
                <a:latin typeface="Arial Unicode MS"/>
                <a:cs typeface="Arial Unicode MS"/>
              </a:rPr>
              <a:t>忽略水的电离影</a:t>
            </a:r>
            <a:r>
              <a:rPr dirty="0" sz="900" spc="-15">
                <a:latin typeface="Arial Unicode MS"/>
                <a:cs typeface="Arial Unicode MS"/>
              </a:rPr>
              <a:t>响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  <a:p>
            <a:pPr marL="216535">
              <a:lnSpc>
                <a:spcPct val="100000"/>
              </a:lnSpc>
              <a:spcBef>
                <a:spcPts val="19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2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弱酸混合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溶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液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如果混合酸体系由两种弱</a:t>
            </a:r>
            <a:r>
              <a:rPr dirty="0" spc="-5"/>
              <a:t>酸</a:t>
            </a:r>
            <a:r>
              <a:rPr dirty="0" spc="-25"/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pc="-5"/>
              <a:t>和</a:t>
            </a:r>
            <a:r>
              <a:rPr dirty="0" spc="-20"/>
              <a:t> 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pc="-15"/>
              <a:t>组</a:t>
            </a:r>
            <a:r>
              <a:rPr dirty="0" spc="-85"/>
              <a:t>成</a:t>
            </a:r>
            <a:r>
              <a:rPr dirty="0" spc="-260"/>
              <a:t>，</a:t>
            </a:r>
            <a:r>
              <a:rPr dirty="0" spc="-15"/>
              <a:t>其质子条件</a:t>
            </a:r>
            <a:r>
              <a:rPr dirty="0" spc="-5"/>
              <a:t>为</a:t>
            </a:r>
            <a:r>
              <a:rPr dirty="0" baseline="37037" sz="900" spc="15">
                <a:latin typeface="Times New Roman"/>
                <a:cs typeface="Times New Roman"/>
              </a:rPr>
              <a:t>5</a:t>
            </a:r>
            <a:r>
              <a:rPr dirty="0" sz="1200" spc="10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7724" y="1501698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01" y="874585"/>
            <a:ext cx="2513330" cy="688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3731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[B</a:t>
            </a:r>
            <a:r>
              <a:rPr dirty="0" baseline="41666" sz="900" spc="37">
                <a:latin typeface="Times New Roman"/>
                <a:cs typeface="Times New Roman"/>
              </a:rPr>
              <a:t>+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025"/>
              </a:spcBef>
            </a:pPr>
            <a:r>
              <a:rPr dirty="0" sz="1200" spc="-5">
                <a:latin typeface="Arial Unicode MS"/>
                <a:cs typeface="Arial Unicode MS"/>
              </a:rPr>
              <a:t>上式整理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153035">
              <a:lnSpc>
                <a:spcPct val="100000"/>
              </a:lnSpc>
              <a:spcBef>
                <a:spcPts val="125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49501" y="1519529"/>
            <a:ext cx="1891030" cy="0"/>
          </a:xfrm>
          <a:custGeom>
            <a:avLst/>
            <a:gdLst/>
            <a:ahLst/>
            <a:cxnLst/>
            <a:rect l="l" t="t" r="r" b="b"/>
            <a:pathLst>
              <a:path w="1891029" h="0">
                <a:moveTo>
                  <a:pt x="0" y="0"/>
                </a:moveTo>
                <a:lnTo>
                  <a:pt x="189045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54479" y="1579676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5331" y="1496276"/>
            <a:ext cx="1097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3725" algn="l"/>
              </a:tabLst>
            </a:pP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5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90139" y="1579676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27605" y="1496276"/>
            <a:ext cx="1115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114" b="0" i="1">
                <a:latin typeface="Bookman Old Style"/>
                <a:cs typeface="Bookman Old Style"/>
              </a:rPr>
              <a:t> </a:t>
            </a:r>
            <a:r>
              <a:rPr dirty="0" sz="1100" spc="-15">
                <a:latin typeface="Georgia"/>
                <a:cs typeface="Georgia"/>
              </a:rPr>
              <a:t>(HB)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17468" y="1496276"/>
            <a:ext cx="335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(HB)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415" y="149627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(20)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61565" y="2762910"/>
            <a:ext cx="866775" cy="0"/>
          </a:xfrm>
          <a:custGeom>
            <a:avLst/>
            <a:gdLst/>
            <a:ahLst/>
            <a:cxnLst/>
            <a:rect l="l" t="t" r="r" b="b"/>
            <a:pathLst>
              <a:path w="866775" h="0">
                <a:moveTo>
                  <a:pt x="0" y="0"/>
                </a:moveTo>
                <a:lnTo>
                  <a:pt x="86633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91413" y="1793837"/>
            <a:ext cx="3853179" cy="1146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上式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果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600">
              <a:latin typeface="Arial Unicode MS"/>
              <a:cs typeface="Arial Unicode MS"/>
            </a:endParaRPr>
          </a:p>
          <a:p>
            <a:pPr algn="ctr" marR="19685">
              <a:lnSpc>
                <a:spcPct val="100000"/>
              </a:lnSpc>
            </a:pP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baseline="-13888" sz="900" spc="30" i="1">
                <a:latin typeface="Arial"/>
                <a:cs typeface="Arial"/>
              </a:rPr>
              <a:t>a</a:t>
            </a:r>
            <a:r>
              <a:rPr dirty="0" sz="1100" spc="20">
                <a:latin typeface="Georgia"/>
                <a:cs typeface="Georgia"/>
              </a:rPr>
              <a:t>(HA)</a:t>
            </a: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(HA) </a:t>
            </a:r>
            <a:r>
              <a:rPr dirty="0" sz="1100" spc="509">
                <a:latin typeface="Lucida Sans Unicode"/>
                <a:cs typeface="Lucida Sans Unicode"/>
              </a:rPr>
              <a:t>»</a:t>
            </a:r>
            <a:r>
              <a:rPr dirty="0" sz="1100" spc="-35">
                <a:latin typeface="Lucida Sans Unicode"/>
                <a:cs typeface="Lucida Sans Unicode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baseline="-13888" sz="900" spc="22" i="1">
                <a:latin typeface="Arial"/>
                <a:cs typeface="Arial"/>
              </a:rPr>
              <a:t>a</a:t>
            </a:r>
            <a:r>
              <a:rPr dirty="0" sz="1100" spc="15">
                <a:latin typeface="Georgia"/>
                <a:cs typeface="Georgia"/>
              </a:rPr>
              <a:t>(HB)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(HB)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1030"/>
              </a:spcBef>
            </a:pPr>
            <a:r>
              <a:rPr dirty="0" sz="1200" spc="-5">
                <a:latin typeface="Arial Unicode MS"/>
                <a:cs typeface="Arial Unicode MS"/>
              </a:rPr>
              <a:t>则只有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一种酸对溶液中的氢离子浓度有贡</a:t>
            </a:r>
            <a:r>
              <a:rPr dirty="0" sz="1200" spc="-80">
                <a:latin typeface="Arial Unicode MS"/>
                <a:cs typeface="Arial Unicode MS"/>
              </a:rPr>
              <a:t>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algn="ctr" marR="19685">
              <a:lnSpc>
                <a:spcPts val="990"/>
              </a:lnSpc>
              <a:spcBef>
                <a:spcPts val="1105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50505" sz="1650" spc="292">
                <a:latin typeface="Arial Unicode MS"/>
                <a:cs typeface="Arial Unicode MS"/>
              </a:rPr>
              <a:t>✓</a:t>
            </a:r>
            <a:r>
              <a:rPr dirty="0" sz="1100" spc="195" b="0" i="1">
                <a:latin typeface="Bookman Old Style"/>
                <a:cs typeface="Bookman Old Style"/>
              </a:rPr>
              <a:t>K</a:t>
            </a:r>
            <a:r>
              <a:rPr dirty="0" sz="1100" spc="50" b="0" i="1">
                <a:latin typeface="Bookman Old Style"/>
                <a:cs typeface="Bookman Old Style"/>
              </a:rPr>
              <a:t> </a:t>
            </a:r>
            <a:r>
              <a:rPr dirty="0" sz="1100" spc="-5">
                <a:latin typeface="Georgia"/>
                <a:cs typeface="Georgia"/>
              </a:rPr>
              <a:t>(HA)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  <a:p>
            <a:pPr algn="ctr" marR="17780">
              <a:lnSpc>
                <a:spcPts val="390"/>
              </a:lnSpc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83794" y="3181153"/>
            <a:ext cx="1102360" cy="27432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5</a:t>
            </a:r>
            <a:r>
              <a:rPr dirty="0" sz="900" spc="-5">
                <a:latin typeface="Arial Unicode MS"/>
                <a:cs typeface="Arial Unicode MS"/>
              </a:rPr>
              <a:t>忽略水的电离影</a:t>
            </a:r>
            <a:r>
              <a:rPr dirty="0" sz="900" spc="-15">
                <a:latin typeface="Arial Unicode MS"/>
                <a:cs typeface="Arial Unicode MS"/>
              </a:rPr>
              <a:t>响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  <a:p>
            <a:pPr marL="216535">
              <a:lnSpc>
                <a:spcPct val="100000"/>
              </a:lnSpc>
              <a:spcBef>
                <a:spcPts val="19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2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48843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2440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4460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3190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93077"/>
            <a:ext cx="50749" cy="551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68678"/>
            <a:ext cx="4432935" cy="426720"/>
          </a:xfrm>
          <a:custGeom>
            <a:avLst/>
            <a:gdLst/>
            <a:ahLst/>
            <a:cxnLst/>
            <a:rect l="l" t="t" r="r" b="b"/>
            <a:pathLst>
              <a:path w="4432935" h="426719">
                <a:moveTo>
                  <a:pt x="4432566" y="0"/>
                </a:moveTo>
                <a:lnTo>
                  <a:pt x="0" y="0"/>
                </a:lnTo>
                <a:lnTo>
                  <a:pt x="0" y="375922"/>
                </a:lnTo>
                <a:lnTo>
                  <a:pt x="4008" y="395646"/>
                </a:lnTo>
                <a:lnTo>
                  <a:pt x="14922" y="411799"/>
                </a:lnTo>
                <a:lnTo>
                  <a:pt x="31075" y="422713"/>
                </a:lnTo>
                <a:lnTo>
                  <a:pt x="50800" y="426722"/>
                </a:lnTo>
                <a:lnTo>
                  <a:pt x="4381765" y="426722"/>
                </a:lnTo>
                <a:lnTo>
                  <a:pt x="4401490" y="422713"/>
                </a:lnTo>
                <a:lnTo>
                  <a:pt x="4417643" y="411799"/>
                </a:lnTo>
                <a:lnTo>
                  <a:pt x="4428558" y="395646"/>
                </a:lnTo>
                <a:lnTo>
                  <a:pt x="4432566" y="37592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31172"/>
            <a:ext cx="0" cy="532765"/>
          </a:xfrm>
          <a:custGeom>
            <a:avLst/>
            <a:gdLst/>
            <a:ahLst/>
            <a:cxnLst/>
            <a:rect l="l" t="t" r="r" b="b"/>
            <a:pathLst>
              <a:path w="0" h="532765">
                <a:moveTo>
                  <a:pt x="0" y="5324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184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057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930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188506"/>
            <a:ext cx="4013835" cy="685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4.10</a:t>
            </a:r>
            <a:endParaRPr sz="12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00">
                <a:latin typeface="Georgia"/>
                <a:cs typeface="Georgia"/>
              </a:rPr>
              <a:t>HSO</a:t>
            </a:r>
            <a:r>
              <a:rPr dirty="0" baseline="37037" sz="900" spc="-150">
                <a:latin typeface="Lucida Sans Unicode"/>
                <a:cs typeface="Lucida Sans Unicode"/>
              </a:rPr>
              <a:t>−</a:t>
            </a:r>
            <a:r>
              <a:rPr dirty="0" baseline="-23148" sz="900" spc="-150">
                <a:latin typeface="Times New Roman"/>
                <a:cs typeface="Times New Roman"/>
              </a:rPr>
              <a:t>4</a:t>
            </a:r>
            <a:r>
              <a:rPr dirty="0" baseline="-23148" sz="900" spc="-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2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48843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2440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4460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3190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93077"/>
            <a:ext cx="50749" cy="551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68678"/>
            <a:ext cx="4432935" cy="426720"/>
          </a:xfrm>
          <a:custGeom>
            <a:avLst/>
            <a:gdLst/>
            <a:ahLst/>
            <a:cxnLst/>
            <a:rect l="l" t="t" r="r" b="b"/>
            <a:pathLst>
              <a:path w="4432935" h="426719">
                <a:moveTo>
                  <a:pt x="4432566" y="0"/>
                </a:moveTo>
                <a:lnTo>
                  <a:pt x="0" y="0"/>
                </a:lnTo>
                <a:lnTo>
                  <a:pt x="0" y="375922"/>
                </a:lnTo>
                <a:lnTo>
                  <a:pt x="4008" y="395646"/>
                </a:lnTo>
                <a:lnTo>
                  <a:pt x="14922" y="411799"/>
                </a:lnTo>
                <a:lnTo>
                  <a:pt x="31075" y="422713"/>
                </a:lnTo>
                <a:lnTo>
                  <a:pt x="50800" y="426722"/>
                </a:lnTo>
                <a:lnTo>
                  <a:pt x="4381765" y="426722"/>
                </a:lnTo>
                <a:lnTo>
                  <a:pt x="4401490" y="422713"/>
                </a:lnTo>
                <a:lnTo>
                  <a:pt x="4417643" y="411799"/>
                </a:lnTo>
                <a:lnTo>
                  <a:pt x="4428558" y="395646"/>
                </a:lnTo>
                <a:lnTo>
                  <a:pt x="4432566" y="37592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31172"/>
            <a:ext cx="0" cy="532765"/>
          </a:xfrm>
          <a:custGeom>
            <a:avLst/>
            <a:gdLst/>
            <a:ahLst/>
            <a:cxnLst/>
            <a:rect l="l" t="t" r="r" b="b"/>
            <a:pathLst>
              <a:path w="0" h="532765">
                <a:moveTo>
                  <a:pt x="0" y="5324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184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057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930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88506"/>
            <a:ext cx="4248150" cy="10248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4.10</a:t>
            </a:r>
            <a:endParaRPr sz="12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0">
                <a:latin typeface="Georgia"/>
                <a:cs typeface="Georgia"/>
              </a:rPr>
              <a:t>HSO</a:t>
            </a:r>
            <a:r>
              <a:rPr dirty="0" baseline="37037" sz="900" spc="-150">
                <a:latin typeface="Lucida Sans Unicode"/>
                <a:cs typeface="Lucida Sans Unicode"/>
              </a:rPr>
              <a:t>−</a:t>
            </a:r>
            <a:r>
              <a:rPr dirty="0" baseline="-23148" sz="900" spc="-150">
                <a:latin typeface="Times New Roman"/>
                <a:cs typeface="Times New Roman"/>
              </a:rPr>
              <a:t>4</a:t>
            </a:r>
            <a:r>
              <a:rPr dirty="0" baseline="-23148" sz="900" spc="-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2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123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硫酸可以看成是强酸与弱酸的混合</a:t>
            </a:r>
            <a:r>
              <a:rPr dirty="0" sz="1200" spc="-80">
                <a:latin typeface="Arial Unicode MS"/>
                <a:cs typeface="Arial Unicode MS"/>
              </a:rPr>
              <a:t>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假定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0">
                <a:latin typeface="Georgia"/>
                <a:cs typeface="Georgia"/>
              </a:rPr>
              <a:t>0</a:t>
            </a:r>
            <a:r>
              <a:rPr dirty="0" sz="1100" spc="-100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10</a:t>
            </a:r>
            <a:r>
              <a:rPr dirty="0" sz="1200" spc="-1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5692" y="1408036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692" y="14994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579" y="1402613"/>
            <a:ext cx="617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[HSO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1188" y="1392301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1264" y="132123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1264" y="14057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3523" y="1308887"/>
            <a:ext cx="736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15">
                <a:latin typeface="Georgia"/>
                <a:cs typeface="Georgia"/>
              </a:rPr>
              <a:t>(HSO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)</a:t>
            </a:r>
            <a:r>
              <a:rPr dirty="0" sz="1100" spc="-25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32317" y="1392301"/>
            <a:ext cx="309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76223" y="1519224"/>
            <a:ext cx="1212850" cy="0"/>
          </a:xfrm>
          <a:custGeom>
            <a:avLst/>
            <a:gdLst/>
            <a:ahLst/>
            <a:cxnLst/>
            <a:rect l="l" t="t" r="r" b="b"/>
            <a:pathLst>
              <a:path w="1212850" h="0">
                <a:moveTo>
                  <a:pt x="0" y="0"/>
                </a:moveTo>
                <a:lnTo>
                  <a:pt x="121283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73035" y="1520253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75916" y="1502016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75841" y="1583639"/>
            <a:ext cx="4724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115" algn="l"/>
              </a:tabLst>
            </a:pPr>
            <a:r>
              <a:rPr dirty="0" sz="600" spc="65" i="1">
                <a:latin typeface="Arial"/>
                <a:cs typeface="Arial"/>
              </a:rPr>
              <a:t>a</a:t>
            </a:r>
            <a:r>
              <a:rPr dirty="0" sz="600" spc="65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76359" y="132123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74532" y="1308887"/>
            <a:ext cx="1769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8980" algn="l"/>
                <a:tab pos="1370965" algn="l"/>
              </a:tabLst>
            </a:pP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04147" y="1519224"/>
            <a:ext cx="1026794" cy="0"/>
          </a:xfrm>
          <a:custGeom>
            <a:avLst/>
            <a:gdLst/>
            <a:ahLst/>
            <a:cxnLst/>
            <a:rect l="l" t="t" r="r" b="b"/>
            <a:pathLst>
              <a:path w="1026795" h="0">
                <a:moveTo>
                  <a:pt x="0" y="0"/>
                </a:moveTo>
                <a:lnTo>
                  <a:pt x="102636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205242" y="1497647"/>
            <a:ext cx="24574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398270" algn="l"/>
              </a:tabLst>
            </a:pPr>
            <a:r>
              <a:rPr dirty="0" sz="1100" spc="-95">
                <a:latin typeface="Georgia"/>
                <a:cs typeface="Georgia"/>
              </a:rPr>
              <a:t>[H    </a:t>
            </a:r>
            <a:r>
              <a:rPr dirty="0" sz="1100" spc="-110">
                <a:latin typeface="Georgia"/>
                <a:cs typeface="Georgia"/>
              </a:rPr>
              <a:t>]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185" b="0" i="1">
                <a:latin typeface="Bookman Old Style"/>
                <a:cs typeface="Bookman Old Style"/>
              </a:rPr>
              <a:t> </a:t>
            </a:r>
            <a:r>
              <a:rPr dirty="0" sz="1100" spc="-15">
                <a:latin typeface="Georgia"/>
                <a:cs typeface="Georgia"/>
              </a:rPr>
              <a:t>(HSO 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10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2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30030" y="1402613"/>
            <a:ext cx="165988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53490" algn="l"/>
              </a:tabLst>
            </a:pPr>
            <a:r>
              <a:rPr dirty="0" sz="1100" spc="140">
                <a:latin typeface="Georgia"/>
                <a:cs typeface="Georgia"/>
              </a:rPr>
              <a:t>=	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48843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42440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4460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31900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93077"/>
            <a:ext cx="50749" cy="551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468678"/>
            <a:ext cx="4432935" cy="426720"/>
          </a:xfrm>
          <a:custGeom>
            <a:avLst/>
            <a:gdLst/>
            <a:ahLst/>
            <a:cxnLst/>
            <a:rect l="l" t="t" r="r" b="b"/>
            <a:pathLst>
              <a:path w="4432935" h="426719">
                <a:moveTo>
                  <a:pt x="4432566" y="0"/>
                </a:moveTo>
                <a:lnTo>
                  <a:pt x="0" y="0"/>
                </a:lnTo>
                <a:lnTo>
                  <a:pt x="0" y="375922"/>
                </a:lnTo>
                <a:lnTo>
                  <a:pt x="4008" y="395646"/>
                </a:lnTo>
                <a:lnTo>
                  <a:pt x="14922" y="411799"/>
                </a:lnTo>
                <a:lnTo>
                  <a:pt x="31075" y="422713"/>
                </a:lnTo>
                <a:lnTo>
                  <a:pt x="50800" y="426722"/>
                </a:lnTo>
                <a:lnTo>
                  <a:pt x="4381765" y="426722"/>
                </a:lnTo>
                <a:lnTo>
                  <a:pt x="4401490" y="422713"/>
                </a:lnTo>
                <a:lnTo>
                  <a:pt x="4417643" y="411799"/>
                </a:lnTo>
                <a:lnTo>
                  <a:pt x="4428558" y="395646"/>
                </a:lnTo>
                <a:lnTo>
                  <a:pt x="4432566" y="37592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331172"/>
            <a:ext cx="0" cy="532765"/>
          </a:xfrm>
          <a:custGeom>
            <a:avLst/>
            <a:gdLst/>
            <a:ahLst/>
            <a:cxnLst/>
            <a:rect l="l" t="t" r="r" b="b"/>
            <a:pathLst>
              <a:path w="0" h="532765">
                <a:moveTo>
                  <a:pt x="0" y="53247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184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057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93072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0444" y="188506"/>
            <a:ext cx="3988435" cy="461645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dirty="0" spc="190">
                <a:solidFill>
                  <a:srgbClr val="FFFFFF"/>
                </a:solidFill>
              </a:rPr>
              <a:t>例</a:t>
            </a:r>
            <a:r>
              <a:rPr dirty="0" spc="30">
                <a:solidFill>
                  <a:srgbClr val="FFFFFF"/>
                </a:solidFill>
                <a:latin typeface="Garamond"/>
                <a:cs typeface="Garamond"/>
              </a:rPr>
              <a:t>4.10</a:t>
            </a:r>
          </a:p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dirty="0" spc="-5"/>
              <a:t>计算</a:t>
            </a:r>
            <a:r>
              <a:rPr dirty="0" spc="25"/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/>
              <a:t>溶液中的氢离子浓</a:t>
            </a:r>
            <a:r>
              <a:rPr dirty="0" sz="1200" spc="-20"/>
              <a:t>度</a:t>
            </a:r>
            <a:r>
              <a:rPr dirty="0" sz="1200" spc="-235"/>
              <a:t>。</a:t>
            </a:r>
            <a:r>
              <a:rPr dirty="0" sz="1200" spc="-5"/>
              <a:t>已知</a:t>
            </a:r>
            <a:r>
              <a:rPr dirty="0" sz="1200" spc="30"/>
              <a:t> </a:t>
            </a:r>
            <a:r>
              <a:rPr dirty="0" sz="1100" spc="-100">
                <a:latin typeface="Georgia"/>
                <a:cs typeface="Georgia"/>
              </a:rPr>
              <a:t>HSO</a:t>
            </a:r>
            <a:r>
              <a:rPr dirty="0" baseline="37037" sz="900" spc="-150">
                <a:latin typeface="Lucida Sans Unicode"/>
                <a:cs typeface="Lucida Sans Unicode"/>
              </a:rPr>
              <a:t>−</a:t>
            </a:r>
            <a:r>
              <a:rPr dirty="0" baseline="-23148" sz="900" spc="-150">
                <a:latin typeface="Times New Roman"/>
                <a:cs typeface="Times New Roman"/>
              </a:rPr>
              <a:t>4</a:t>
            </a:r>
            <a:r>
              <a:rPr dirty="0" baseline="-23148" sz="900" spc="-127">
                <a:latin typeface="Times New Roman"/>
                <a:cs typeface="Times New Roman"/>
              </a:rPr>
              <a:t> </a:t>
            </a:r>
            <a:r>
              <a:rPr dirty="0" sz="1200" spc="-5"/>
              <a:t>的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44" y="665670"/>
            <a:ext cx="4235450" cy="547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2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硫酸可以看成是强酸与弱酸的混合</a:t>
            </a:r>
            <a:r>
              <a:rPr dirty="0" sz="1200" spc="-80">
                <a:latin typeface="Arial Unicode MS"/>
                <a:cs typeface="Arial Unicode MS"/>
              </a:rPr>
              <a:t>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假定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0">
                <a:latin typeface="Georgia"/>
                <a:cs typeface="Georgia"/>
              </a:rPr>
              <a:t>0</a:t>
            </a:r>
            <a:r>
              <a:rPr dirty="0" sz="1100" spc="-100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10</a:t>
            </a:r>
            <a:r>
              <a:rPr dirty="0" sz="1200" spc="-1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692" y="1408036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5692" y="14994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8579" y="1402613"/>
            <a:ext cx="617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[HSO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1188" y="1392301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1264" y="132123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81264" y="140576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3523" y="1308887"/>
            <a:ext cx="736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15">
                <a:latin typeface="Georgia"/>
                <a:cs typeface="Georgia"/>
              </a:rPr>
              <a:t>(HSO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)</a:t>
            </a:r>
            <a:r>
              <a:rPr dirty="0" sz="1100" spc="-25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2317" y="1392301"/>
            <a:ext cx="309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76223" y="1519224"/>
            <a:ext cx="1212850" cy="0"/>
          </a:xfrm>
          <a:custGeom>
            <a:avLst/>
            <a:gdLst/>
            <a:ahLst/>
            <a:cxnLst/>
            <a:rect l="l" t="t" r="r" b="b"/>
            <a:pathLst>
              <a:path w="1212850" h="0">
                <a:moveTo>
                  <a:pt x="0" y="0"/>
                </a:moveTo>
                <a:lnTo>
                  <a:pt x="121283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373035" y="1520253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75916" y="1502016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75841" y="1583639"/>
            <a:ext cx="4724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115" algn="l"/>
              </a:tabLst>
            </a:pPr>
            <a:r>
              <a:rPr dirty="0" sz="600" spc="65" i="1">
                <a:latin typeface="Arial"/>
                <a:cs typeface="Arial"/>
              </a:rPr>
              <a:t>a</a:t>
            </a:r>
            <a:r>
              <a:rPr dirty="0" sz="600" spc="65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6359" y="132123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4532" y="1308887"/>
            <a:ext cx="1769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8980" algn="l"/>
                <a:tab pos="1370965" algn="l"/>
              </a:tabLst>
            </a:pP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604147" y="1519224"/>
            <a:ext cx="1026794" cy="0"/>
          </a:xfrm>
          <a:custGeom>
            <a:avLst/>
            <a:gdLst/>
            <a:ahLst/>
            <a:cxnLst/>
            <a:rect l="l" t="t" r="r" b="b"/>
            <a:pathLst>
              <a:path w="1026795" h="0">
                <a:moveTo>
                  <a:pt x="0" y="0"/>
                </a:moveTo>
                <a:lnTo>
                  <a:pt x="102636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205242" y="1497647"/>
            <a:ext cx="24574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398270" algn="l"/>
              </a:tabLst>
            </a:pPr>
            <a:r>
              <a:rPr dirty="0" sz="1100" spc="-95">
                <a:latin typeface="Georgia"/>
                <a:cs typeface="Georgia"/>
              </a:rPr>
              <a:t>[H    </a:t>
            </a:r>
            <a:r>
              <a:rPr dirty="0" sz="1100" spc="-110">
                <a:latin typeface="Georgia"/>
                <a:cs typeface="Georgia"/>
              </a:rPr>
              <a:t>]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185" b="0" i="1">
                <a:latin typeface="Bookman Old Style"/>
                <a:cs typeface="Bookman Old Style"/>
              </a:rPr>
              <a:t> </a:t>
            </a:r>
            <a:r>
              <a:rPr dirty="0" sz="1100" spc="-15">
                <a:latin typeface="Georgia"/>
                <a:cs typeface="Georgia"/>
              </a:rPr>
              <a:t>(HSO 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10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2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30030" y="1402613"/>
            <a:ext cx="165988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53490" algn="l"/>
              </a:tabLst>
            </a:pPr>
            <a:r>
              <a:rPr dirty="0" sz="1100" spc="140">
                <a:latin typeface="Georgia"/>
                <a:cs typeface="Georgia"/>
              </a:rPr>
              <a:t>=	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09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3144" y="1780159"/>
            <a:ext cx="4407535" cy="36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8930">
              <a:lnSpc>
                <a:spcPts val="1355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显</a:t>
            </a:r>
            <a:r>
              <a:rPr dirty="0" sz="1200" spc="-80">
                <a:latin typeface="Arial Unicode MS"/>
                <a:cs typeface="Arial Unicode MS"/>
              </a:rPr>
              <a:t>然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100" spc="-10">
                <a:latin typeface="Georgia"/>
                <a:cs typeface="Georgia"/>
              </a:rPr>
              <a:t>SO</a:t>
            </a:r>
            <a:r>
              <a:rPr dirty="0" baseline="-13888" sz="900" spc="-15">
                <a:latin typeface="Times New Roman"/>
                <a:cs typeface="Times New Roman"/>
              </a:rPr>
              <a:t>4</a:t>
            </a:r>
            <a:r>
              <a:rPr dirty="0" sz="1100" spc="-10">
                <a:latin typeface="Georgia"/>
                <a:cs typeface="Georgia"/>
              </a:rPr>
              <a:t>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100">
                <a:latin typeface="Georgia"/>
                <a:cs typeface="Georgia"/>
              </a:rPr>
              <a:t>20[HSO</a:t>
            </a:r>
            <a:r>
              <a:rPr dirty="0" baseline="37037" sz="900" spc="-150">
                <a:latin typeface="Lucida Sans Unicode"/>
                <a:cs typeface="Lucida Sans Unicode"/>
              </a:rPr>
              <a:t>−</a:t>
            </a:r>
            <a:r>
              <a:rPr dirty="0" baseline="-23148" sz="900" spc="-150">
                <a:latin typeface="Times New Roman"/>
                <a:cs typeface="Times New Roman"/>
              </a:rPr>
              <a:t>4</a:t>
            </a:r>
            <a:r>
              <a:rPr dirty="0" baseline="-23148" sz="900" spc="-142">
                <a:latin typeface="Times New Roman"/>
                <a:cs typeface="Times New Roman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30">
                <a:latin typeface="Lucida Sans Unicode"/>
                <a:cs typeface="Lucida Sans Unicode"/>
              </a:rPr>
              <a:t> 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09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90">
                <a:latin typeface="Georgia"/>
                <a:cs typeface="Georgia"/>
              </a:rPr>
              <a:t>1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8</a:t>
            </a:r>
            <a:r>
              <a:rPr dirty="0" sz="1200" spc="-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所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100">
                <a:latin typeface="Georgia"/>
                <a:cs typeface="Georgia"/>
              </a:rPr>
              <a:t>HSO</a:t>
            </a:r>
            <a:r>
              <a:rPr dirty="0" baseline="37037" sz="900" spc="-150">
                <a:latin typeface="Lucida Sans Unicode"/>
                <a:cs typeface="Lucida Sans Unicode"/>
              </a:rPr>
              <a:t>−</a:t>
            </a:r>
            <a:r>
              <a:rPr dirty="0" baseline="-23148" sz="900" spc="-150">
                <a:latin typeface="Times New Roman"/>
                <a:cs typeface="Times New Roman"/>
              </a:rPr>
              <a:t>4</a:t>
            </a:r>
            <a:r>
              <a:rPr dirty="0" baseline="-23148" sz="900" spc="-14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解</a:t>
            </a:r>
            <a:r>
              <a:rPr dirty="0" sz="1200" spc="-5">
                <a:latin typeface="Arial Unicode MS"/>
                <a:cs typeface="Arial Unicode MS"/>
              </a:rPr>
              <a:t>离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ts val="1355"/>
              </a:lnSpc>
            </a:pPr>
            <a:r>
              <a:rPr dirty="0" sz="1200" spc="-5">
                <a:latin typeface="Arial Unicode MS"/>
                <a:cs typeface="Arial Unicode MS"/>
              </a:rPr>
              <a:t>出来的氢离子浓度不能忽</a:t>
            </a:r>
            <a:r>
              <a:rPr dirty="0" sz="1200" spc="-80">
                <a:latin typeface="Arial Unicode MS"/>
                <a:cs typeface="Arial Unicode MS"/>
              </a:rPr>
              <a:t>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</a:t>
            </a:r>
            <a:r>
              <a:rPr dirty="0" sz="1200" spc="-260">
                <a:latin typeface="Arial Unicode MS"/>
                <a:cs typeface="Arial Unicode MS"/>
              </a:rPr>
              <a:t>按</a:t>
            </a:r>
            <a:r>
              <a:rPr dirty="0" sz="1200" spc="-65">
                <a:latin typeface="Arial Unicode MS"/>
                <a:cs typeface="Arial Unicode MS"/>
              </a:rPr>
              <a:t>（</a:t>
            </a:r>
            <a:r>
              <a:rPr dirty="0" sz="1100" spc="-65">
                <a:latin typeface="Georgia"/>
                <a:cs typeface="Georgia"/>
                <a:hlinkClick r:id="rId6" action="ppaction://hlinksldjump"/>
              </a:rPr>
              <a:t>19</a:t>
            </a:r>
            <a:r>
              <a:rPr dirty="0" sz="1200" spc="-6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式计</a:t>
            </a:r>
            <a:r>
              <a:rPr dirty="0" sz="1200" spc="-90">
                <a:latin typeface="Arial Unicode MS"/>
                <a:cs typeface="Arial Unicode MS"/>
              </a:rPr>
              <a:t>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922" y="2343988"/>
            <a:ext cx="9080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204">
                <a:latin typeface="Book Antiqua"/>
                <a:cs typeface="Book Antiqua"/>
              </a:rPr>
              <a:t>+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5168" y="2369515"/>
            <a:ext cx="415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>
                <a:latin typeface="Times New Roman"/>
                <a:cs typeface="Times New Roman"/>
              </a:rPr>
              <a:t>[H </a:t>
            </a:r>
            <a:r>
              <a:rPr dirty="0" sz="600" spc="10">
                <a:latin typeface="Times New Roman"/>
                <a:cs typeface="Times New Roman"/>
              </a:rPr>
              <a:t>]</a:t>
            </a:r>
            <a:r>
              <a:rPr dirty="0" sz="600" spc="60">
                <a:latin typeface="Times New Roman"/>
                <a:cs typeface="Times New Roman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=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76425" y="2291448"/>
            <a:ext cx="2043430" cy="0"/>
          </a:xfrm>
          <a:custGeom>
            <a:avLst/>
            <a:gdLst/>
            <a:ahLst/>
            <a:cxnLst/>
            <a:rect l="l" t="t" r="r" b="b"/>
            <a:pathLst>
              <a:path w="2043429" h="0">
                <a:moveTo>
                  <a:pt x="0" y="0"/>
                </a:moveTo>
                <a:lnTo>
                  <a:pt x="2042858" y="0"/>
                </a:lnTo>
              </a:path>
            </a:pathLst>
          </a:custGeom>
          <a:ln w="36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11809" y="2298204"/>
            <a:ext cx="30460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Times New Roman"/>
                <a:cs typeface="Times New Roman"/>
              </a:rPr>
              <a:t>(</a:t>
            </a:r>
            <a:r>
              <a:rPr dirty="0" sz="600" spc="95" i="1">
                <a:latin typeface="Arial"/>
                <a:cs typeface="Arial"/>
              </a:rPr>
              <a:t>c</a:t>
            </a:r>
            <a:r>
              <a:rPr dirty="0" sz="600" spc="95">
                <a:latin typeface="Times New Roman"/>
                <a:cs typeface="Times New Roman"/>
              </a:rPr>
              <a:t>(H</a:t>
            </a:r>
            <a:r>
              <a:rPr dirty="0" baseline="-11111" sz="750" spc="142">
                <a:latin typeface="Book Antiqua"/>
                <a:cs typeface="Book Antiqua"/>
              </a:rPr>
              <a:t>2</a:t>
            </a:r>
            <a:r>
              <a:rPr dirty="0" sz="600" spc="95">
                <a:latin typeface="Times New Roman"/>
                <a:cs typeface="Times New Roman"/>
              </a:rPr>
              <a:t>SO</a:t>
            </a:r>
            <a:r>
              <a:rPr dirty="0" baseline="-11111" sz="750" spc="142">
                <a:latin typeface="Book Antiqua"/>
                <a:cs typeface="Book Antiqua"/>
              </a:rPr>
              <a:t>4</a:t>
            </a:r>
            <a:r>
              <a:rPr dirty="0" sz="600" spc="95">
                <a:latin typeface="Times New Roman"/>
                <a:cs typeface="Times New Roman"/>
              </a:rPr>
              <a:t>)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-30">
                <a:latin typeface="Lucida Sans Unicode"/>
                <a:cs typeface="Lucida Sans Unicode"/>
              </a:rPr>
              <a:t> </a:t>
            </a:r>
            <a:r>
              <a:rPr dirty="0" sz="600" spc="125" i="1">
                <a:latin typeface="Arial"/>
                <a:cs typeface="Arial"/>
              </a:rPr>
              <a:t>K</a:t>
            </a:r>
            <a:r>
              <a:rPr dirty="0" baseline="-11111" sz="750" spc="187" i="1">
                <a:latin typeface="Century Gothic"/>
                <a:cs typeface="Century Gothic"/>
              </a:rPr>
              <a:t>a</a:t>
            </a:r>
            <a:r>
              <a:rPr dirty="0" baseline="-11111" sz="750" spc="-135" i="1">
                <a:latin typeface="Century Gothic"/>
                <a:cs typeface="Century Gothic"/>
              </a:rPr>
              <a:t> 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baseline="69444" sz="900" spc="179">
                <a:latin typeface="Arial"/>
                <a:cs typeface="Arial"/>
              </a:rPr>
              <a:t>q</a:t>
            </a:r>
            <a:r>
              <a:rPr dirty="0" sz="600" spc="120">
                <a:latin typeface="Times New Roman"/>
                <a:cs typeface="Times New Roman"/>
              </a:rPr>
              <a:t>(</a:t>
            </a:r>
            <a:r>
              <a:rPr dirty="0" sz="600" spc="120" i="1">
                <a:latin typeface="Arial"/>
                <a:cs typeface="Arial"/>
              </a:rPr>
              <a:t>c</a:t>
            </a:r>
            <a:r>
              <a:rPr dirty="0" sz="600" spc="120">
                <a:latin typeface="Times New Roman"/>
                <a:cs typeface="Times New Roman"/>
              </a:rPr>
              <a:t>(H</a:t>
            </a:r>
            <a:r>
              <a:rPr dirty="0" baseline="-11111" sz="750" spc="179">
                <a:latin typeface="Book Antiqua"/>
                <a:cs typeface="Book Antiqua"/>
              </a:rPr>
              <a:t>2</a:t>
            </a:r>
            <a:r>
              <a:rPr dirty="0" sz="600" spc="120">
                <a:latin typeface="Times New Roman"/>
                <a:cs typeface="Times New Roman"/>
              </a:rPr>
              <a:t>SO</a:t>
            </a:r>
            <a:r>
              <a:rPr dirty="0" baseline="-11111" sz="750" spc="179">
                <a:latin typeface="Book Antiqua"/>
                <a:cs typeface="Book Antiqua"/>
              </a:rPr>
              <a:t>4</a:t>
            </a:r>
            <a:r>
              <a:rPr dirty="0" sz="600" spc="120">
                <a:latin typeface="Times New Roman"/>
                <a:cs typeface="Times New Roman"/>
              </a:rPr>
              <a:t>)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-25">
                <a:latin typeface="Lucida Sans Unicode"/>
                <a:cs typeface="Lucida Sans Unicode"/>
              </a:rPr>
              <a:t> </a:t>
            </a:r>
            <a:r>
              <a:rPr dirty="0" sz="600" spc="125" i="1">
                <a:latin typeface="Arial"/>
                <a:cs typeface="Arial"/>
              </a:rPr>
              <a:t>K</a:t>
            </a:r>
            <a:r>
              <a:rPr dirty="0" baseline="-11111" sz="750" spc="187" i="1">
                <a:latin typeface="Century Gothic"/>
                <a:cs typeface="Century Gothic"/>
              </a:rPr>
              <a:t>a</a:t>
            </a:r>
            <a:r>
              <a:rPr dirty="0" baseline="-11111" sz="750" spc="-142" i="1">
                <a:latin typeface="Century Gothic"/>
                <a:cs typeface="Century Gothic"/>
              </a:rPr>
              <a:t> 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r>
              <a:rPr dirty="0" baseline="16666" sz="750" spc="127">
                <a:latin typeface="Book Antiqua"/>
                <a:cs typeface="Book Antiqua"/>
              </a:rPr>
              <a:t>2</a:t>
            </a:r>
            <a:r>
              <a:rPr dirty="0" baseline="16666" sz="750" spc="135">
                <a:latin typeface="Book Antiqua"/>
                <a:cs typeface="Book Antiqua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4</a:t>
            </a:r>
            <a:r>
              <a:rPr dirty="0" sz="600" spc="105" i="1">
                <a:latin typeface="Arial"/>
                <a:cs typeface="Arial"/>
              </a:rPr>
              <a:t>K</a:t>
            </a:r>
            <a:r>
              <a:rPr dirty="0" baseline="-11111" sz="750" spc="157" i="1">
                <a:latin typeface="Century Gothic"/>
                <a:cs typeface="Century Gothic"/>
              </a:rPr>
              <a:t>a</a:t>
            </a:r>
            <a:r>
              <a:rPr dirty="0" baseline="-11111" sz="750" spc="-135" i="1">
                <a:latin typeface="Century Gothic"/>
                <a:cs typeface="Century Gothic"/>
              </a:rPr>
              <a:t> </a:t>
            </a:r>
            <a:r>
              <a:rPr dirty="0" sz="600" spc="95">
                <a:latin typeface="Times New Roman"/>
                <a:cs typeface="Times New Roman"/>
              </a:rPr>
              <a:t>(</a:t>
            </a:r>
            <a:r>
              <a:rPr dirty="0" sz="600" spc="95" i="1">
                <a:latin typeface="Arial"/>
                <a:cs typeface="Arial"/>
              </a:rPr>
              <a:t>c</a:t>
            </a:r>
            <a:r>
              <a:rPr dirty="0" sz="600" spc="95">
                <a:latin typeface="Times New Roman"/>
                <a:cs typeface="Times New Roman"/>
              </a:rPr>
              <a:t>(H</a:t>
            </a:r>
            <a:r>
              <a:rPr dirty="0" baseline="-11111" sz="750" spc="142">
                <a:latin typeface="Book Antiqua"/>
                <a:cs typeface="Book Antiqua"/>
              </a:rPr>
              <a:t>2</a:t>
            </a:r>
            <a:r>
              <a:rPr dirty="0" sz="600" spc="95">
                <a:latin typeface="Times New Roman"/>
                <a:cs typeface="Times New Roman"/>
              </a:rPr>
              <a:t>SO</a:t>
            </a:r>
            <a:r>
              <a:rPr dirty="0" baseline="-11111" sz="750" spc="142">
                <a:latin typeface="Book Antiqua"/>
                <a:cs typeface="Book Antiqua"/>
              </a:rPr>
              <a:t>4</a:t>
            </a:r>
            <a:r>
              <a:rPr dirty="0" sz="600" spc="95">
                <a:latin typeface="Times New Roman"/>
                <a:cs typeface="Times New Roman"/>
              </a:rPr>
              <a:t>)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30" i="1">
                <a:latin typeface="Arial"/>
                <a:cs typeface="Arial"/>
              </a:rPr>
              <a:t>c</a:t>
            </a:r>
            <a:r>
              <a:rPr dirty="0" sz="600" spc="30">
                <a:latin typeface="Times New Roman"/>
                <a:cs typeface="Times New Roman"/>
              </a:rPr>
              <a:t>(HSO</a:t>
            </a:r>
            <a:r>
              <a:rPr dirty="0" baseline="33333" sz="750" spc="44" i="1">
                <a:latin typeface="Arial"/>
                <a:cs typeface="Arial"/>
              </a:rPr>
              <a:t>−</a:t>
            </a:r>
            <a:r>
              <a:rPr dirty="0" baseline="-27777" sz="750" spc="44">
                <a:latin typeface="Book Antiqua"/>
                <a:cs typeface="Book Antiqua"/>
              </a:rPr>
              <a:t>4</a:t>
            </a:r>
            <a:r>
              <a:rPr dirty="0" baseline="-27777" sz="750" spc="179">
                <a:latin typeface="Book Antiqua"/>
                <a:cs typeface="Book Antiqua"/>
              </a:rPr>
              <a:t> </a:t>
            </a:r>
            <a:r>
              <a:rPr dirty="0" sz="600" spc="85">
                <a:latin typeface="Times New Roman"/>
                <a:cs typeface="Times New Roman"/>
              </a:rPr>
              <a:t>))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49909" y="2439162"/>
            <a:ext cx="2969895" cy="0"/>
          </a:xfrm>
          <a:custGeom>
            <a:avLst/>
            <a:gdLst/>
            <a:ahLst/>
            <a:cxnLst/>
            <a:rect l="l" t="t" r="r" b="b"/>
            <a:pathLst>
              <a:path w="2969895" h="0">
                <a:moveTo>
                  <a:pt x="0" y="0"/>
                </a:moveTo>
                <a:lnTo>
                  <a:pt x="2969374" y="0"/>
                </a:lnTo>
              </a:path>
            </a:pathLst>
          </a:custGeom>
          <a:ln w="36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955101" y="2579840"/>
            <a:ext cx="2219960" cy="0"/>
          </a:xfrm>
          <a:custGeom>
            <a:avLst/>
            <a:gdLst/>
            <a:ahLst/>
            <a:cxnLst/>
            <a:rect l="l" t="t" r="r" b="b"/>
            <a:pathLst>
              <a:path w="2219960" h="0">
                <a:moveTo>
                  <a:pt x="0" y="0"/>
                </a:moveTo>
                <a:lnTo>
                  <a:pt x="2219858" y="0"/>
                </a:lnTo>
              </a:path>
            </a:pathLst>
          </a:custGeom>
          <a:ln w="36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49909" y="2727553"/>
            <a:ext cx="3225165" cy="0"/>
          </a:xfrm>
          <a:custGeom>
            <a:avLst/>
            <a:gdLst/>
            <a:ahLst/>
            <a:cxnLst/>
            <a:rect l="l" t="t" r="r" b="b"/>
            <a:pathLst>
              <a:path w="3225165" h="0">
                <a:moveTo>
                  <a:pt x="0" y="0"/>
                </a:moveTo>
                <a:lnTo>
                  <a:pt x="3225050" y="0"/>
                </a:lnTo>
              </a:path>
            </a:pathLst>
          </a:custGeom>
          <a:ln w="36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86396" y="2435072"/>
            <a:ext cx="357759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73025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262890">
              <a:lnSpc>
                <a:spcPts val="650"/>
              </a:lnSpc>
              <a:spcBef>
                <a:spcPts val="455"/>
              </a:spcBef>
            </a:pPr>
            <a:r>
              <a:rPr dirty="0" sz="600" spc="65">
                <a:latin typeface="Times New Roman"/>
                <a:cs typeface="Times New Roman"/>
              </a:rPr>
              <a:t>(0</a:t>
            </a:r>
            <a:r>
              <a:rPr dirty="0" sz="600" spc="6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10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-25">
                <a:latin typeface="Lucida Sans Unicode"/>
                <a:cs typeface="Lucida Sans Unicode"/>
              </a:rPr>
              <a:t> </a:t>
            </a:r>
            <a:r>
              <a:rPr dirty="0" sz="600" spc="60">
                <a:latin typeface="Times New Roman"/>
                <a:cs typeface="Times New Roman"/>
              </a:rPr>
              <a:t>1</a:t>
            </a:r>
            <a:r>
              <a:rPr dirty="0" sz="600" spc="60" i="1">
                <a:latin typeface="Arial"/>
                <a:cs typeface="Arial"/>
              </a:rPr>
              <a:t>.</a:t>
            </a:r>
            <a:r>
              <a:rPr dirty="0" sz="600" spc="60">
                <a:latin typeface="Times New Roman"/>
                <a:cs typeface="Times New Roman"/>
              </a:rPr>
              <a:t>0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×</a:t>
            </a:r>
            <a:r>
              <a:rPr dirty="0" sz="600" spc="-20">
                <a:latin typeface="Lucida Sans Unicode"/>
                <a:cs typeface="Lucida Sans Unicode"/>
              </a:rPr>
              <a:t> </a:t>
            </a:r>
            <a:r>
              <a:rPr dirty="0" sz="600" spc="120">
                <a:latin typeface="Times New Roman"/>
                <a:cs typeface="Times New Roman"/>
              </a:rPr>
              <a:t>10</a:t>
            </a:r>
            <a:r>
              <a:rPr dirty="0" baseline="27777" sz="750" spc="179" i="1">
                <a:latin typeface="Arial"/>
                <a:cs typeface="Arial"/>
              </a:rPr>
              <a:t>−</a:t>
            </a:r>
            <a:r>
              <a:rPr dirty="0" baseline="27777" sz="750" spc="179">
                <a:latin typeface="Book Antiqua"/>
                <a:cs typeface="Book Antiqua"/>
              </a:rPr>
              <a:t>2</a:t>
            </a:r>
            <a:r>
              <a:rPr dirty="0" sz="600" spc="120">
                <a:latin typeface="Times New Roman"/>
                <a:cs typeface="Times New Roman"/>
              </a:rPr>
              <a:t>)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baseline="64814" sz="900" spc="165">
                <a:latin typeface="Arial"/>
                <a:cs typeface="Arial"/>
              </a:rPr>
              <a:t>q</a:t>
            </a:r>
            <a:r>
              <a:rPr dirty="0" sz="600" spc="110">
                <a:latin typeface="Times New Roman"/>
                <a:cs typeface="Times New Roman"/>
              </a:rPr>
              <a:t>(0</a:t>
            </a:r>
            <a:r>
              <a:rPr dirty="0" sz="600" spc="110" i="1">
                <a:latin typeface="Arial"/>
                <a:cs typeface="Arial"/>
              </a:rPr>
              <a:t>.</a:t>
            </a:r>
            <a:r>
              <a:rPr dirty="0" sz="600" spc="110">
                <a:latin typeface="Times New Roman"/>
                <a:cs typeface="Times New Roman"/>
              </a:rPr>
              <a:t>10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-25">
                <a:latin typeface="Lucida Sans Unicode"/>
                <a:cs typeface="Lucida Sans Unicode"/>
              </a:rPr>
              <a:t> </a:t>
            </a:r>
            <a:r>
              <a:rPr dirty="0" sz="600" spc="60">
                <a:latin typeface="Times New Roman"/>
                <a:cs typeface="Times New Roman"/>
              </a:rPr>
              <a:t>1</a:t>
            </a:r>
            <a:r>
              <a:rPr dirty="0" sz="600" spc="60" i="1">
                <a:latin typeface="Arial"/>
                <a:cs typeface="Arial"/>
              </a:rPr>
              <a:t>.</a:t>
            </a:r>
            <a:r>
              <a:rPr dirty="0" sz="600" spc="60">
                <a:latin typeface="Times New Roman"/>
                <a:cs typeface="Times New Roman"/>
              </a:rPr>
              <a:t>0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×</a:t>
            </a:r>
            <a:r>
              <a:rPr dirty="0" sz="600" spc="-20">
                <a:latin typeface="Lucida Sans Unicode"/>
                <a:cs typeface="Lucida Sans Unicode"/>
              </a:rPr>
              <a:t> </a:t>
            </a:r>
            <a:r>
              <a:rPr dirty="0" sz="600" spc="110">
                <a:latin typeface="Times New Roman"/>
                <a:cs typeface="Times New Roman"/>
              </a:rPr>
              <a:t>10</a:t>
            </a:r>
            <a:r>
              <a:rPr dirty="0" baseline="16666" sz="750" spc="165" i="1">
                <a:latin typeface="Arial"/>
                <a:cs typeface="Arial"/>
              </a:rPr>
              <a:t>−</a:t>
            </a:r>
            <a:r>
              <a:rPr dirty="0" baseline="16666" sz="750" spc="165">
                <a:latin typeface="Book Antiqua"/>
                <a:cs typeface="Book Antiqua"/>
              </a:rPr>
              <a:t>2</a:t>
            </a:r>
            <a:r>
              <a:rPr dirty="0" sz="600" spc="110">
                <a:latin typeface="Times New Roman"/>
                <a:cs typeface="Times New Roman"/>
              </a:rPr>
              <a:t>)</a:t>
            </a:r>
            <a:r>
              <a:rPr dirty="0" baseline="16666" sz="750" spc="165">
                <a:latin typeface="Book Antiqua"/>
                <a:cs typeface="Book Antiqua"/>
              </a:rPr>
              <a:t>2</a:t>
            </a:r>
            <a:r>
              <a:rPr dirty="0" baseline="16666" sz="750" spc="135">
                <a:latin typeface="Book Antiqua"/>
                <a:cs typeface="Book Antiqua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×</a:t>
            </a:r>
            <a:r>
              <a:rPr dirty="0" sz="600" spc="-25">
                <a:latin typeface="Lucida Sans Unicode"/>
                <a:cs typeface="Lucida Sans Unicode"/>
              </a:rPr>
              <a:t> </a:t>
            </a:r>
            <a:r>
              <a:rPr dirty="0" sz="600" spc="60">
                <a:latin typeface="Times New Roman"/>
                <a:cs typeface="Times New Roman"/>
              </a:rPr>
              <a:t>1</a:t>
            </a:r>
            <a:r>
              <a:rPr dirty="0" sz="600" spc="60" i="1">
                <a:latin typeface="Arial"/>
                <a:cs typeface="Arial"/>
              </a:rPr>
              <a:t>.</a:t>
            </a:r>
            <a:r>
              <a:rPr dirty="0" sz="600" spc="60">
                <a:latin typeface="Times New Roman"/>
                <a:cs typeface="Times New Roman"/>
              </a:rPr>
              <a:t>0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×</a:t>
            </a:r>
            <a:r>
              <a:rPr dirty="0" sz="600" spc="-20">
                <a:latin typeface="Lucida Sans Unicode"/>
                <a:cs typeface="Lucida Sans Unicode"/>
              </a:rPr>
              <a:t> </a:t>
            </a:r>
            <a:r>
              <a:rPr dirty="0" sz="600" spc="114">
                <a:latin typeface="Times New Roman"/>
                <a:cs typeface="Times New Roman"/>
              </a:rPr>
              <a:t>10</a:t>
            </a:r>
            <a:r>
              <a:rPr dirty="0" baseline="16666" sz="750" spc="172" i="1">
                <a:latin typeface="Arial"/>
                <a:cs typeface="Arial"/>
              </a:rPr>
              <a:t>−</a:t>
            </a:r>
            <a:r>
              <a:rPr dirty="0" baseline="16666" sz="750" spc="172">
                <a:latin typeface="Book Antiqua"/>
                <a:cs typeface="Book Antiqua"/>
              </a:rPr>
              <a:t>2</a:t>
            </a:r>
            <a:r>
              <a:rPr dirty="0" baseline="16666" sz="750" spc="135">
                <a:latin typeface="Book Antiqua"/>
                <a:cs typeface="Book Antiqua"/>
              </a:rPr>
              <a:t> </a:t>
            </a:r>
            <a:r>
              <a:rPr dirty="0" sz="600" spc="95">
                <a:latin typeface="Lucida Sans Unicode"/>
                <a:cs typeface="Lucida Sans Unicode"/>
              </a:rPr>
              <a:t>×</a:t>
            </a:r>
            <a:r>
              <a:rPr dirty="0" sz="600" spc="-25">
                <a:latin typeface="Lucida Sans Unicode"/>
                <a:cs typeface="Lucida Sans Unicode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(0</a:t>
            </a:r>
            <a:r>
              <a:rPr dirty="0" sz="600" spc="6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10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10)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ts val="550"/>
              </a:lnSpc>
            </a:pPr>
            <a:r>
              <a:rPr dirty="0" sz="600" spc="220">
                <a:latin typeface="Times New Roman"/>
                <a:cs typeface="Times New Roman"/>
              </a:rPr>
              <a:t>=</a:t>
            </a:r>
            <a:endParaRPr sz="600">
              <a:latin typeface="Times New Roman"/>
              <a:cs typeface="Times New Roman"/>
            </a:endParaRPr>
          </a:p>
          <a:p>
            <a:pPr marL="1852295">
              <a:lnSpc>
                <a:spcPts val="62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dirty="0" sz="600" spc="220">
                <a:latin typeface="Times New Roman"/>
                <a:cs typeface="Times New Roman"/>
              </a:rPr>
              <a:t>= </a:t>
            </a:r>
            <a:r>
              <a:rPr dirty="0" sz="600" spc="60">
                <a:latin typeface="Times New Roman"/>
                <a:cs typeface="Times New Roman"/>
              </a:rPr>
              <a:t>0</a:t>
            </a:r>
            <a:r>
              <a:rPr dirty="0" sz="600" spc="60" i="1">
                <a:latin typeface="Arial"/>
                <a:cs typeface="Arial"/>
              </a:rPr>
              <a:t>.</a:t>
            </a:r>
            <a:r>
              <a:rPr dirty="0" sz="600" spc="60">
                <a:latin typeface="Times New Roman"/>
                <a:cs typeface="Times New Roman"/>
              </a:rPr>
              <a:t>11</a:t>
            </a:r>
            <a:r>
              <a:rPr dirty="0" sz="600" spc="-25">
                <a:latin typeface="Times New Roman"/>
                <a:cs typeface="Times New Roman"/>
              </a:rPr>
              <a:t> </a:t>
            </a:r>
            <a:r>
              <a:rPr dirty="0" sz="600" spc="105">
                <a:latin typeface="Times New Roman"/>
                <a:cs typeface="Times New Roman"/>
              </a:rPr>
              <a:t>mol</a:t>
            </a:r>
            <a:r>
              <a:rPr dirty="0" sz="600" spc="105" i="1">
                <a:latin typeface="Arial"/>
                <a:cs typeface="Arial"/>
              </a:rPr>
              <a:t>/</a:t>
            </a:r>
            <a:r>
              <a:rPr dirty="0" sz="600" spc="105">
                <a:latin typeface="Times New Roman"/>
                <a:cs typeface="Times New Roman"/>
              </a:rPr>
              <a:t>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14325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4.5.6</a:t>
            </a:r>
            <a:r>
              <a:rPr dirty="0" sz="1400" spc="13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两性物质中氢离子浓度的计算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508952"/>
            <a:ext cx="4041775" cy="7861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035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NaHA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为例来讨论两性物质水溶液中氢离子浓度的计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算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-10">
                <a:latin typeface="Georgia"/>
                <a:cs typeface="Georgia"/>
              </a:rPr>
              <a:t>NaHA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在水溶液中的质子条件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365125">
              <a:lnSpc>
                <a:spcPts val="990"/>
              </a:lnSpc>
              <a:spcBef>
                <a:spcPts val="108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5">
                <a:latin typeface="Georgia"/>
                <a:cs typeface="Georgia"/>
              </a:rPr>
              <a:t>A]</a:t>
            </a:r>
            <a:r>
              <a:rPr dirty="0" baseline="2525" sz="1650" spc="-22">
                <a:latin typeface="Georgia"/>
                <a:cs typeface="Georgia"/>
              </a:rPr>
              <a:t>  </a:t>
            </a:r>
            <a:r>
              <a:rPr dirty="0" sz="1100" spc="10">
                <a:latin typeface="Georgia"/>
                <a:cs typeface="Georgia"/>
              </a:rPr>
              <a:t>[A</a:t>
            </a:r>
            <a:r>
              <a:rPr dirty="0" baseline="41666" sz="900" spc="15">
                <a:latin typeface="Times New Roman"/>
                <a:cs typeface="Times New Roman"/>
              </a:rPr>
              <a:t>2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r>
              <a:rPr dirty="0" sz="1100" spc="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algn="ctr" marL="83820">
              <a:lnSpc>
                <a:spcPts val="390"/>
              </a:lnSpc>
              <a:tabLst>
                <a:tab pos="30226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14325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4.5.6</a:t>
            </a:r>
            <a:r>
              <a:rPr dirty="0" sz="1400" spc="13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两性物质中氢离子浓度的计算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508952"/>
            <a:ext cx="4041775" cy="108712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035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NaHA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为例来讨论两性物质水溶液中氢离子浓度的计</a:t>
            </a:r>
            <a:endParaRPr sz="1200">
              <a:latin typeface="Arial Unicode MS"/>
              <a:cs typeface="Arial Unicode MS"/>
            </a:endParaRPr>
          </a:p>
          <a:p>
            <a:pPr algn="ctr" marR="1445895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算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-10">
                <a:latin typeface="Georgia"/>
                <a:cs typeface="Georgia"/>
              </a:rPr>
              <a:t>NaHA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在水溶液中的质子条件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365125">
              <a:lnSpc>
                <a:spcPts val="990"/>
              </a:lnSpc>
              <a:spcBef>
                <a:spcPts val="108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5">
                <a:latin typeface="Georgia"/>
                <a:cs typeface="Georgia"/>
              </a:rPr>
              <a:t>A]</a:t>
            </a:r>
            <a:r>
              <a:rPr dirty="0" baseline="2525" sz="1650" spc="-22">
                <a:latin typeface="Georgia"/>
                <a:cs typeface="Georgia"/>
              </a:rPr>
              <a:t>  </a:t>
            </a:r>
            <a:r>
              <a:rPr dirty="0" sz="1100" spc="10">
                <a:latin typeface="Georgia"/>
                <a:cs typeface="Georgia"/>
              </a:rPr>
              <a:t>[A</a:t>
            </a:r>
            <a:r>
              <a:rPr dirty="0" baseline="41666" sz="900" spc="15">
                <a:latin typeface="Times New Roman"/>
                <a:cs typeface="Times New Roman"/>
              </a:rPr>
              <a:t>2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r>
              <a:rPr dirty="0" sz="1100" spc="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algn="ctr" marL="83820">
              <a:lnSpc>
                <a:spcPts val="390"/>
              </a:lnSpc>
              <a:tabLst>
                <a:tab pos="30226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500">
              <a:latin typeface="Arial Unicode MS"/>
              <a:cs typeface="Arial Unicode MS"/>
            </a:endParaRPr>
          </a:p>
          <a:p>
            <a:pPr algn="ctr" marR="148844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根据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A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的各级解离平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776" y="1758518"/>
            <a:ext cx="36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701" y="1669948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5478" y="1832737"/>
            <a:ext cx="50101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4490" algn="l"/>
              </a:tabLst>
            </a:pPr>
            <a:r>
              <a:rPr dirty="0" sz="450" spc="204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r>
              <a:rPr dirty="0" sz="450">
                <a:latin typeface="Arial Unicode MS"/>
                <a:cs typeface="Arial Unicode MS"/>
              </a:rPr>
              <a:t>	</a:t>
            </a:r>
            <a:r>
              <a:rPr dirty="0" sz="450" spc="-430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168" y="1841919"/>
            <a:ext cx="7785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baseline="6172" sz="675" spc="434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    </a:t>
            </a:r>
            <a:r>
              <a:rPr dirty="0" baseline="6172" sz="675" spc="307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2261" y="1763941"/>
            <a:ext cx="6305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356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0979" y="1841919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9869" y="1758518"/>
            <a:ext cx="1465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1405" algn="l"/>
                <a:tab pos="1344295" algn="l"/>
              </a:tabLst>
            </a:pP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[HA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7824" y="1664792"/>
            <a:ext cx="699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[H</a:t>
            </a:r>
            <a:r>
              <a:rPr dirty="0" baseline="37037" sz="900" spc="-22">
                <a:latin typeface="Times New Roman"/>
                <a:cs typeface="Times New Roman"/>
              </a:rPr>
              <a:t>+</a:t>
            </a:r>
            <a:r>
              <a:rPr dirty="0" sz="1100" spc="-15">
                <a:latin typeface="Georgia"/>
                <a:cs typeface="Georgia"/>
              </a:rPr>
              <a:t>][HA</a:t>
            </a:r>
            <a:r>
              <a:rPr dirty="0" baseline="37037" sz="900" spc="-22">
                <a:latin typeface="Lucida Sans Unicode"/>
                <a:cs typeface="Lucida Sans Unicode"/>
              </a:rPr>
              <a:t>−</a:t>
            </a:r>
            <a:r>
              <a:rPr dirty="0" sz="1100" spc="-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05924" y="1875129"/>
            <a:ext cx="622935" cy="0"/>
          </a:xfrm>
          <a:custGeom>
            <a:avLst/>
            <a:gdLst/>
            <a:ahLst/>
            <a:cxnLst/>
            <a:rect l="l" t="t" r="r" b="b"/>
            <a:pathLst>
              <a:path w="622935" h="0">
                <a:moveTo>
                  <a:pt x="0" y="0"/>
                </a:moveTo>
                <a:lnTo>
                  <a:pt x="6224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78085" y="193696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5680" y="1853552"/>
            <a:ext cx="36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2567" y="2128228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4340" y="2300198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7834" y="2216797"/>
            <a:ext cx="244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036445" algn="l"/>
                <a:tab pos="2299335" algn="l"/>
              </a:tabLst>
            </a:pPr>
            <a:r>
              <a:rPr dirty="0" sz="1100" spc="-20">
                <a:latin typeface="Georgia"/>
                <a:cs typeface="Georgia"/>
              </a:rPr>
              <a:t>[HA</a:t>
            </a:r>
            <a:r>
              <a:rPr dirty="0" baseline="41666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 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610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[A</a:t>
            </a:r>
            <a:r>
              <a:rPr dirty="0" baseline="41666" sz="900" spc="15">
                <a:latin typeface="Times New Roman"/>
                <a:cs typeface="Times New Roman"/>
              </a:rPr>
              <a:t>2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r>
              <a:rPr dirty="0" sz="1100" spc="10">
                <a:latin typeface="Georgia"/>
                <a:cs typeface="Georgia"/>
              </a:rPr>
              <a:t>]	</a:t>
            </a:r>
            <a:r>
              <a:rPr dirty="0" sz="1100" spc="130" b="0" i="1">
                <a:latin typeface="Bookman Old Style"/>
                <a:cs typeface="Bookman Old Style"/>
              </a:rPr>
              <a:t>K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19284" y="2333409"/>
            <a:ext cx="565150" cy="0"/>
          </a:xfrm>
          <a:custGeom>
            <a:avLst/>
            <a:gdLst/>
            <a:ahLst/>
            <a:cxnLst/>
            <a:rect l="l" t="t" r="r" b="b"/>
            <a:pathLst>
              <a:path w="565150" h="0">
                <a:moveTo>
                  <a:pt x="0" y="0"/>
                </a:moveTo>
                <a:lnTo>
                  <a:pt x="56489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81184" y="2100564"/>
            <a:ext cx="64135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 marR="30480" indent="-10096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40">
                <a:latin typeface="Georgia"/>
                <a:cs typeface="Georgia"/>
              </a:rPr>
              <a:t>][</a:t>
            </a:r>
            <a:r>
              <a:rPr dirty="0" sz="1100" spc="-75">
                <a:latin typeface="Georgia"/>
                <a:cs typeface="Georgia"/>
              </a:rPr>
              <a:t>A</a:t>
            </a:r>
            <a:r>
              <a:rPr dirty="0" baseline="37037" sz="900" spc="97">
                <a:latin typeface="Times New Roman"/>
                <a:cs typeface="Times New Roman"/>
              </a:rPr>
              <a:t>2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25">
                <a:latin typeface="Georgia"/>
                <a:cs typeface="Georgia"/>
              </a:rPr>
              <a:t>[HA]</a:t>
            </a:r>
            <a:r>
              <a:rPr dirty="0" baseline="27777" sz="900" spc="-37">
                <a:latin typeface="Lucida Sans Unicode"/>
                <a:cs typeface="Lucida Sans Unicode"/>
              </a:rPr>
              <a:t>−</a:t>
            </a:r>
            <a:endParaRPr baseline="27777" sz="9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314325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4.5.6</a:t>
            </a:r>
            <a:r>
              <a:rPr dirty="0" sz="1400" spc="13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两性物质中氢离子浓度的计算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508952"/>
            <a:ext cx="4041775" cy="108712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035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NaHA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为例来讨论两性物质水溶液中氢离子浓度的计</a:t>
            </a:r>
            <a:endParaRPr sz="1200">
              <a:latin typeface="Arial Unicode MS"/>
              <a:cs typeface="Arial Unicode MS"/>
            </a:endParaRPr>
          </a:p>
          <a:p>
            <a:pPr algn="ctr" marR="1445895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算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-10">
                <a:latin typeface="Georgia"/>
                <a:cs typeface="Georgia"/>
              </a:rPr>
              <a:t>NaHA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在水溶液中的质子条件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365125">
              <a:lnSpc>
                <a:spcPts val="990"/>
              </a:lnSpc>
              <a:spcBef>
                <a:spcPts val="108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5">
                <a:latin typeface="Georgia"/>
                <a:cs typeface="Georgia"/>
              </a:rPr>
              <a:t>A]</a:t>
            </a:r>
            <a:r>
              <a:rPr dirty="0" baseline="2525" sz="1650" spc="-22">
                <a:latin typeface="Georgia"/>
                <a:cs typeface="Georgia"/>
              </a:rPr>
              <a:t>  </a:t>
            </a:r>
            <a:r>
              <a:rPr dirty="0" sz="1100" spc="10">
                <a:latin typeface="Georgia"/>
                <a:cs typeface="Georgia"/>
              </a:rPr>
              <a:t>[A</a:t>
            </a:r>
            <a:r>
              <a:rPr dirty="0" baseline="41666" sz="900" spc="15">
                <a:latin typeface="Times New Roman"/>
                <a:cs typeface="Times New Roman"/>
              </a:rPr>
              <a:t>2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r>
              <a:rPr dirty="0" sz="1100" spc="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algn="ctr" marL="83820">
              <a:lnSpc>
                <a:spcPts val="390"/>
              </a:lnSpc>
              <a:tabLst>
                <a:tab pos="30226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baseline="6172" sz="675" spc="270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142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500">
              <a:latin typeface="Arial Unicode MS"/>
              <a:cs typeface="Arial Unicode MS"/>
            </a:endParaRPr>
          </a:p>
          <a:p>
            <a:pPr algn="ctr" marR="148844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根据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A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的各级解离平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776" y="1758518"/>
            <a:ext cx="36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701" y="1669948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1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5478" y="1832737"/>
            <a:ext cx="50101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4490" algn="l"/>
              </a:tabLst>
            </a:pPr>
            <a:r>
              <a:rPr dirty="0" sz="450" spc="204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r>
              <a:rPr dirty="0" sz="450">
                <a:latin typeface="Arial Unicode MS"/>
                <a:cs typeface="Arial Unicode MS"/>
              </a:rPr>
              <a:t>	</a:t>
            </a:r>
            <a:r>
              <a:rPr dirty="0" sz="450" spc="-430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168" y="1841919"/>
            <a:ext cx="7785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6860" algn="l"/>
              </a:tabLst>
            </a:pP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baseline="6172" sz="675" spc="434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    </a:t>
            </a:r>
            <a:r>
              <a:rPr dirty="0" baseline="6172" sz="675" spc="307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endParaRPr baseline="6172" sz="675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2261" y="1763941"/>
            <a:ext cx="6305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356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0979" y="1841919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9869" y="1758518"/>
            <a:ext cx="1465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1405" algn="l"/>
                <a:tab pos="1344295" algn="l"/>
              </a:tabLst>
            </a:pP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[HA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7824" y="1664792"/>
            <a:ext cx="699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[H</a:t>
            </a:r>
            <a:r>
              <a:rPr dirty="0" baseline="37037" sz="900" spc="-22">
                <a:latin typeface="Times New Roman"/>
                <a:cs typeface="Times New Roman"/>
              </a:rPr>
              <a:t>+</a:t>
            </a:r>
            <a:r>
              <a:rPr dirty="0" sz="1100" spc="-15">
                <a:latin typeface="Georgia"/>
                <a:cs typeface="Georgia"/>
              </a:rPr>
              <a:t>][HA</a:t>
            </a:r>
            <a:r>
              <a:rPr dirty="0" baseline="37037" sz="900" spc="-22">
                <a:latin typeface="Lucida Sans Unicode"/>
                <a:cs typeface="Lucida Sans Unicode"/>
              </a:rPr>
              <a:t>−</a:t>
            </a:r>
            <a:r>
              <a:rPr dirty="0" sz="1100" spc="-1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05924" y="1875129"/>
            <a:ext cx="622935" cy="0"/>
          </a:xfrm>
          <a:custGeom>
            <a:avLst/>
            <a:gdLst/>
            <a:ahLst/>
            <a:cxnLst/>
            <a:rect l="l" t="t" r="r" b="b"/>
            <a:pathLst>
              <a:path w="622935" h="0">
                <a:moveTo>
                  <a:pt x="0" y="0"/>
                </a:moveTo>
                <a:lnTo>
                  <a:pt x="6224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478085" y="193696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5680" y="1853552"/>
            <a:ext cx="363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2567" y="2128228"/>
            <a:ext cx="281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3888" sz="1500" spc="120" b="0" i="1">
                <a:latin typeface="Bookman Old Style"/>
                <a:cs typeface="Bookman Old Style"/>
              </a:rPr>
              <a:t>K</a:t>
            </a:r>
            <a:r>
              <a:rPr dirty="0" baseline="7936" sz="1050" spc="120" i="1">
                <a:latin typeface="Arial"/>
                <a:cs typeface="Arial"/>
              </a:rPr>
              <a:t>a</a:t>
            </a:r>
            <a:r>
              <a:rPr dirty="0" sz="500" spc="80">
                <a:latin typeface="Book Antiqua"/>
                <a:cs typeface="Book Antiqua"/>
              </a:rPr>
              <a:t>2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4340" y="2300198"/>
            <a:ext cx="170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</a:t>
            </a:r>
            <a:endParaRPr baseline="-11111" sz="75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7834" y="2216797"/>
            <a:ext cx="244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036445" algn="l"/>
                <a:tab pos="2299335" algn="l"/>
              </a:tabLst>
            </a:pPr>
            <a:r>
              <a:rPr dirty="0" sz="1100" spc="-20">
                <a:latin typeface="Georgia"/>
                <a:cs typeface="Georgia"/>
              </a:rPr>
              <a:t>[HA</a:t>
            </a:r>
            <a:r>
              <a:rPr dirty="0" baseline="41666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 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610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[A</a:t>
            </a:r>
            <a:r>
              <a:rPr dirty="0" baseline="41666" sz="900" spc="15">
                <a:latin typeface="Times New Roman"/>
                <a:cs typeface="Times New Roman"/>
              </a:rPr>
              <a:t>2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r>
              <a:rPr dirty="0" sz="1100" spc="10">
                <a:latin typeface="Georgia"/>
                <a:cs typeface="Georgia"/>
              </a:rPr>
              <a:t>]	</a:t>
            </a:r>
            <a:r>
              <a:rPr dirty="0" sz="1100" spc="130" b="0" i="1">
                <a:latin typeface="Bookman Old Style"/>
                <a:cs typeface="Bookman Old Style"/>
              </a:rPr>
              <a:t>K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19284" y="2333409"/>
            <a:ext cx="565150" cy="0"/>
          </a:xfrm>
          <a:custGeom>
            <a:avLst/>
            <a:gdLst/>
            <a:ahLst/>
            <a:cxnLst/>
            <a:rect l="l" t="t" r="r" b="b"/>
            <a:pathLst>
              <a:path w="565150" h="0">
                <a:moveTo>
                  <a:pt x="0" y="0"/>
                </a:moveTo>
                <a:lnTo>
                  <a:pt x="56489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81184" y="2100564"/>
            <a:ext cx="64135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 marR="30480" indent="-10096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40">
                <a:latin typeface="Georgia"/>
                <a:cs typeface="Georgia"/>
              </a:rPr>
              <a:t>][</a:t>
            </a:r>
            <a:r>
              <a:rPr dirty="0" sz="1100" spc="-75">
                <a:latin typeface="Georgia"/>
                <a:cs typeface="Georgia"/>
              </a:rPr>
              <a:t>A</a:t>
            </a:r>
            <a:r>
              <a:rPr dirty="0" baseline="37037" sz="900" spc="97">
                <a:latin typeface="Times New Roman"/>
                <a:cs typeface="Times New Roman"/>
              </a:rPr>
              <a:t>2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25">
                <a:latin typeface="Georgia"/>
                <a:cs typeface="Georgia"/>
              </a:rPr>
              <a:t>[HA]</a:t>
            </a:r>
            <a:r>
              <a:rPr dirty="0" baseline="27777" sz="900" spc="-37">
                <a:latin typeface="Lucida Sans Unicode"/>
                <a:cs typeface="Lucida Sans Unicode"/>
              </a:rPr>
              <a:t>−</a:t>
            </a:r>
            <a:endParaRPr baseline="27777" sz="9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9501" y="2507691"/>
            <a:ext cx="774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可以得</a:t>
            </a:r>
            <a:r>
              <a:rPr dirty="0" sz="1200" spc="-90">
                <a:latin typeface="Arial Unicode MS"/>
                <a:cs typeface="Arial Unicode MS"/>
              </a:rPr>
              <a:t>到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0691" y="2840799"/>
            <a:ext cx="473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91500" y="2957410"/>
            <a:ext cx="622935" cy="0"/>
          </a:xfrm>
          <a:custGeom>
            <a:avLst/>
            <a:gdLst/>
            <a:ahLst/>
            <a:cxnLst/>
            <a:rect l="l" t="t" r="r" b="b"/>
            <a:pathLst>
              <a:path w="622935" h="0">
                <a:moveTo>
                  <a:pt x="0" y="0"/>
                </a:moveTo>
                <a:lnTo>
                  <a:pt x="6224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029485" y="2782481"/>
            <a:ext cx="13487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68300" algn="l"/>
                <a:tab pos="1156335" algn="l"/>
              </a:tabLst>
            </a:pPr>
            <a:r>
              <a:rPr dirty="0" baseline="-22727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sz="500" spc="8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2	</a:t>
            </a:r>
            <a:r>
              <a:rPr dirty="0" baseline="-22727" sz="1650" spc="209">
                <a:latin typeface="Georgia"/>
                <a:cs typeface="Georgia"/>
              </a:rPr>
              <a:t>+</a:t>
            </a:r>
            <a:endParaRPr baseline="-22727" sz="165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40700" y="2724566"/>
            <a:ext cx="231394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 marR="43180" indent="-15240">
              <a:lnSpc>
                <a:spcPct val="112599"/>
              </a:lnSpc>
              <a:spcBef>
                <a:spcPts val="100"/>
              </a:spcBef>
              <a:tabLst>
                <a:tab pos="887730" algn="l"/>
                <a:tab pos="2077085" algn="l"/>
              </a:tabLst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55">
                <a:latin typeface="Georgia"/>
                <a:cs typeface="Georgia"/>
              </a:rPr>
              <a:t>][H</a:t>
            </a:r>
            <a:r>
              <a:rPr dirty="0" sz="1100" spc="-70">
                <a:latin typeface="Georgia"/>
                <a:cs typeface="Georgia"/>
              </a:rPr>
              <a:t>A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97" i="1">
                <a:latin typeface="Arial"/>
                <a:cs typeface="Arial"/>
              </a:rPr>
              <a:t>a</a:t>
            </a:r>
            <a:r>
              <a:rPr dirty="0" baseline="-13888" sz="900" i="1">
                <a:latin typeface="Arial"/>
                <a:cs typeface="Arial"/>
              </a:rPr>
              <a:t>  </a:t>
            </a:r>
            <a:r>
              <a:rPr dirty="0" baseline="-13888" sz="900" spc="-97" i="1">
                <a:latin typeface="Arial"/>
                <a:cs typeface="Arial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A)[H</a:t>
            </a:r>
            <a:r>
              <a:rPr dirty="0" sz="1100" spc="-10">
                <a:latin typeface="Georgia"/>
                <a:cs typeface="Georgia"/>
              </a:rPr>
              <a:t>A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97" i="1">
                <a:latin typeface="Arial"/>
                <a:cs typeface="Arial"/>
              </a:rPr>
              <a:t>w </a:t>
            </a:r>
            <a:r>
              <a:rPr dirty="0" baseline="-13888" sz="900" spc="52" i="1">
                <a:latin typeface="Arial"/>
                <a:cs typeface="Arial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85832" y="2957410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 h="0">
                <a:moveTo>
                  <a:pt x="0" y="0"/>
                </a:moveTo>
                <a:lnTo>
                  <a:pt x="2582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27668" y="2935833"/>
            <a:ext cx="1167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857885" algn="l"/>
              </a:tabLst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	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准确式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911517"/>
            <a:ext cx="382142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上式经整理后可得求两性物质水溶液中氢离子浓度的准确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113521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372" y="1135215"/>
            <a:ext cx="21120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98675" algn="l"/>
              </a:tabLst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7295" y="144748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902" y="1442059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7827" y="1193190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7550" y="1370939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8426" y="1431747"/>
            <a:ext cx="19431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327660" algn="l"/>
                <a:tab pos="709930" algn="l"/>
                <a:tab pos="974725" algn="l"/>
                <a:tab pos="18364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1561" y="1348333"/>
            <a:ext cx="2046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55">
                <a:latin typeface="Georgia"/>
                <a:cs typeface="Georgia"/>
              </a:rPr>
              <a:t>A)(</a:t>
            </a:r>
            <a:r>
              <a:rPr dirty="0" sz="1100" spc="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5">
                <a:latin typeface="Georgia"/>
                <a:cs typeface="Georgia"/>
              </a:rPr>
              <a:t>A)[HA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84261" y="1558671"/>
            <a:ext cx="2021205" cy="0"/>
          </a:xfrm>
          <a:custGeom>
            <a:avLst/>
            <a:gdLst/>
            <a:ahLst/>
            <a:cxnLst/>
            <a:rect l="l" t="t" r="r" b="b"/>
            <a:pathLst>
              <a:path w="2021204" h="0">
                <a:moveTo>
                  <a:pt x="0" y="0"/>
                </a:moveTo>
                <a:lnTo>
                  <a:pt x="202096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993404" y="1537093"/>
            <a:ext cx="12026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[HA</a:t>
            </a:r>
            <a:r>
              <a:rPr dirty="0" baseline="27777" sz="900" spc="209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0456" y="1442059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(21)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准确式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911517"/>
            <a:ext cx="382142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上式经整理后可得求两性物质水溶液中氢离子浓度的准确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113521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372" y="1135215"/>
            <a:ext cx="21120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98675" algn="l"/>
              </a:tabLst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7295" y="144748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902" y="1442059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7827" y="1193190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7550" y="1370939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8426" y="1431747"/>
            <a:ext cx="19431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327660" algn="l"/>
                <a:tab pos="709930" algn="l"/>
                <a:tab pos="974725" algn="l"/>
                <a:tab pos="183642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1561" y="1348333"/>
            <a:ext cx="2046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55">
                <a:latin typeface="Georgia"/>
                <a:cs typeface="Georgia"/>
              </a:rPr>
              <a:t>A)(</a:t>
            </a:r>
            <a:r>
              <a:rPr dirty="0" sz="1100" spc="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-5">
                <a:latin typeface="Georgia"/>
                <a:cs typeface="Georgia"/>
              </a:rPr>
              <a:t>A)[HA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84261" y="1558671"/>
            <a:ext cx="2021205" cy="0"/>
          </a:xfrm>
          <a:custGeom>
            <a:avLst/>
            <a:gdLst/>
            <a:ahLst/>
            <a:cxnLst/>
            <a:rect l="l" t="t" r="r" b="b"/>
            <a:pathLst>
              <a:path w="2021204" h="0">
                <a:moveTo>
                  <a:pt x="0" y="0"/>
                </a:moveTo>
                <a:lnTo>
                  <a:pt x="202096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993404" y="1537093"/>
            <a:ext cx="12026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[HA</a:t>
            </a:r>
            <a:r>
              <a:rPr dirty="0" baseline="27777" sz="900" spc="209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0456" y="1442059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(21)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4599" y="209514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4599" y="235678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4599" y="2618447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66153" y="1916912"/>
            <a:ext cx="2544445" cy="8108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100" spc="114" b="0" i="1">
                <a:latin typeface="Bookman Old Style"/>
                <a:cs typeface="Bookman Old Style"/>
              </a:rPr>
              <a:t>K</a:t>
            </a:r>
            <a:r>
              <a:rPr dirty="0" baseline="-13888" sz="900" spc="172" i="1">
                <a:latin typeface="Arial"/>
                <a:cs typeface="Arial"/>
              </a:rPr>
              <a:t>w</a:t>
            </a:r>
            <a:r>
              <a:rPr dirty="0" baseline="-13888" sz="900" spc="375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项是否可以省</a:t>
            </a:r>
            <a:r>
              <a:rPr dirty="0" sz="1200" spc="65">
                <a:latin typeface="Arial Unicode MS"/>
                <a:cs typeface="Arial Unicode MS"/>
              </a:rPr>
              <a:t>略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100" spc="30">
                <a:latin typeface="Georgia"/>
                <a:cs typeface="Georgia"/>
              </a:rPr>
              <a:t>HA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254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表现为失去质子还是得到质</a:t>
            </a:r>
            <a:r>
              <a:rPr dirty="0" sz="1200" spc="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A)[H</a:t>
            </a:r>
            <a:r>
              <a:rPr dirty="0" sz="1100" spc="-10">
                <a:latin typeface="Georgia"/>
                <a:cs typeface="Georgia"/>
              </a:rPr>
              <a:t>A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是否可以简</a:t>
            </a:r>
            <a:r>
              <a:rPr dirty="0" sz="1200" spc="65">
                <a:latin typeface="Arial Unicode MS"/>
                <a:cs typeface="Arial Unicode MS"/>
              </a:rPr>
              <a:t>化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914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44" y="841260"/>
            <a:ext cx="4047490" cy="833119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在很多情况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HA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baseline="37037" sz="900" spc="2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得到质子和失去质子的趋势相互制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约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[HA</a:t>
            </a:r>
            <a:r>
              <a:rPr dirty="0" baseline="37037" sz="900" spc="-67">
                <a:latin typeface="Lucida Sans Unicode"/>
                <a:cs typeface="Lucida Sans Unicode"/>
              </a:rPr>
              <a:t>−</a:t>
            </a:r>
            <a:r>
              <a:rPr dirty="0" sz="1100" spc="-45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的变化实际上并不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</a:t>
            </a:r>
            <a:r>
              <a:rPr dirty="0" sz="1100" spc="-45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Georgia"/>
              <a:cs typeface="Georgia"/>
            </a:endParaRPr>
          </a:p>
          <a:p>
            <a:pPr algn="ctr" marL="385445">
              <a:lnSpc>
                <a:spcPct val="100000"/>
              </a:lnSpc>
            </a:pPr>
            <a:r>
              <a:rPr dirty="0" sz="1100" spc="-20">
                <a:latin typeface="Georgia"/>
                <a:cs typeface="Georgia"/>
              </a:rPr>
              <a:t>[HA</a:t>
            </a:r>
            <a:r>
              <a:rPr dirty="0" baseline="41666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>
                <a:latin typeface="Lucida Sans Unicode"/>
                <a:cs typeface="Lucida Sans Unicode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914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5042" y="229200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650" y="2286584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044" y="841260"/>
            <a:ext cx="4072890" cy="13881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在很多情况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HA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baseline="37037" sz="900" spc="30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得到质子和失去质子的趋势相互制</a:t>
            </a:r>
            <a:endParaRPr sz="1200">
              <a:latin typeface="Arial Unicode MS"/>
              <a:cs typeface="Arial Unicode MS"/>
            </a:endParaRPr>
          </a:p>
          <a:p>
            <a:pPr algn="ctr" marR="157861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约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[HA</a:t>
            </a:r>
            <a:r>
              <a:rPr dirty="0" baseline="37037" sz="900" spc="-67">
                <a:latin typeface="Lucida Sans Unicode"/>
                <a:cs typeface="Lucida Sans Unicode"/>
              </a:rPr>
              <a:t>−</a:t>
            </a:r>
            <a:r>
              <a:rPr dirty="0" sz="1100" spc="-45">
                <a:latin typeface="Georgia"/>
                <a:cs typeface="Georgia"/>
              </a:rPr>
              <a:t>]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的变化实际上并不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</a:t>
            </a:r>
            <a:r>
              <a:rPr dirty="0" sz="1100" spc="-45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Georgia"/>
              <a:cs typeface="Georgia"/>
            </a:endParaRPr>
          </a:p>
          <a:p>
            <a:pPr algn="ctr" marL="385445">
              <a:lnSpc>
                <a:spcPct val="100000"/>
              </a:lnSpc>
            </a:pPr>
            <a:r>
              <a:rPr dirty="0" sz="1100" spc="-20">
                <a:latin typeface="Georgia"/>
                <a:cs typeface="Georgia"/>
              </a:rPr>
              <a:t>[HA</a:t>
            </a:r>
            <a:r>
              <a:rPr dirty="0" baseline="41666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>
                <a:latin typeface="Lucida Sans Unicode"/>
                <a:cs typeface="Lucida Sans Unicode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  <a:p>
            <a:pPr algn="ctr" marR="1548765">
              <a:lnSpc>
                <a:spcPct val="100000"/>
              </a:lnSpc>
              <a:spcBef>
                <a:spcPts val="144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54">
                <a:latin typeface="Arial Unicode MS"/>
                <a:cs typeface="Arial Unicode MS"/>
              </a:rPr>
              <a:t>，（</a:t>
            </a:r>
            <a:r>
              <a:rPr dirty="0" sz="1100" spc="-254">
                <a:latin typeface="Georgia"/>
                <a:cs typeface="Georgia"/>
                <a:hlinkClick r:id="rId2" action="ppaction://hlinksldjump"/>
              </a:rPr>
              <a:t>21</a:t>
            </a:r>
            <a:r>
              <a:rPr dirty="0" sz="1200" spc="-254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式可以简化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63015">
              <a:lnSpc>
                <a:spcPct val="100000"/>
              </a:lnSpc>
              <a:spcBef>
                <a:spcPts val="175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76819" y="2186190"/>
            <a:ext cx="2235835" cy="0"/>
          </a:xfrm>
          <a:custGeom>
            <a:avLst/>
            <a:gdLst/>
            <a:ahLst/>
            <a:cxnLst/>
            <a:rect l="l" t="t" r="r" b="b"/>
            <a:pathLst>
              <a:path w="2235835" h="0">
                <a:moveTo>
                  <a:pt x="0" y="0"/>
                </a:moveTo>
                <a:lnTo>
                  <a:pt x="2235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58874" y="2276271"/>
            <a:ext cx="10598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14960" algn="l"/>
                <a:tab pos="697230" algn="l"/>
                <a:tab pos="962025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9308" y="2192858"/>
            <a:ext cx="12655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55">
                <a:latin typeface="Georgia"/>
                <a:cs typeface="Georgia"/>
              </a:rPr>
              <a:t>A)(</a:t>
            </a:r>
            <a:r>
              <a:rPr dirty="0" sz="1100" spc="5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54704" y="2276271"/>
            <a:ext cx="93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8993" y="2192858"/>
            <a:ext cx="991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(NaHA)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" b="0" i="1">
                <a:latin typeface="Bookman Old Style"/>
                <a:cs typeface="Bookman Old Style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92008" y="2403195"/>
            <a:ext cx="2205990" cy="0"/>
          </a:xfrm>
          <a:custGeom>
            <a:avLst/>
            <a:gdLst/>
            <a:ahLst/>
            <a:cxnLst/>
            <a:rect l="l" t="t" r="r" b="b"/>
            <a:pathLst>
              <a:path w="2205990" h="0">
                <a:moveTo>
                  <a:pt x="0" y="0"/>
                </a:moveTo>
                <a:lnTo>
                  <a:pt x="22054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01164" y="2381618"/>
            <a:ext cx="1387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456" y="228658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(22)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最简式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0513" y="146353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8120" y="1458112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401" y="862471"/>
            <a:ext cx="2823845" cy="5384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(NaHA)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w</a:t>
            </a:r>
            <a:r>
              <a:rPr dirty="0" baseline="-13888" sz="900" i="1">
                <a:latin typeface="Arial"/>
                <a:cs typeface="Arial"/>
              </a:rPr>
              <a:t>  </a:t>
            </a:r>
            <a:r>
              <a:rPr dirty="0" baseline="-13888" sz="900" spc="-112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0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35">
                <a:latin typeface="Georgia"/>
                <a:cs typeface="Georgia"/>
              </a:rPr>
              <a:t>2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式简化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312420">
              <a:lnSpc>
                <a:spcPct val="100000"/>
              </a:lnSpc>
              <a:spcBef>
                <a:spcPts val="61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12290" y="1357718"/>
            <a:ext cx="1765300" cy="0"/>
          </a:xfrm>
          <a:custGeom>
            <a:avLst/>
            <a:gdLst/>
            <a:ahLst/>
            <a:cxnLst/>
            <a:rect l="l" t="t" r="r" b="b"/>
            <a:pathLst>
              <a:path w="1765300" h="0">
                <a:moveTo>
                  <a:pt x="0" y="0"/>
                </a:moveTo>
                <a:lnTo>
                  <a:pt x="17648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07044" y="1447800"/>
            <a:ext cx="9804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30555" algn="l"/>
                <a:tab pos="89535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779" y="1364386"/>
            <a:ext cx="1760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70">
                <a:latin typeface="Georgia"/>
                <a:cs typeface="Georgia"/>
              </a:rPr>
              <a:t>A)</a:t>
            </a:r>
            <a:r>
              <a:rPr dirty="0" sz="1100" spc="7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A)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27479" y="1574723"/>
            <a:ext cx="1734820" cy="0"/>
          </a:xfrm>
          <a:custGeom>
            <a:avLst/>
            <a:gdLst/>
            <a:ahLst/>
            <a:cxnLst/>
            <a:rect l="l" t="t" r="r" b="b"/>
            <a:pathLst>
              <a:path w="1734820" h="0">
                <a:moveTo>
                  <a:pt x="0" y="0"/>
                </a:moveTo>
                <a:lnTo>
                  <a:pt x="17345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01164" y="1553146"/>
            <a:ext cx="1387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456" y="145811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(23)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最简式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101" y="948525"/>
            <a:ext cx="279844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当</a:t>
            </a:r>
            <a:r>
              <a:rPr dirty="0" spc="30"/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(NaHA)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w</a:t>
            </a:r>
            <a:r>
              <a:rPr dirty="0" baseline="-13888" sz="900" i="1">
                <a:latin typeface="Arial"/>
                <a:cs typeface="Arial"/>
              </a:rPr>
              <a:t>  </a:t>
            </a:r>
            <a:r>
              <a:rPr dirty="0" baseline="-13888" sz="900" spc="-112" i="1">
                <a:latin typeface="Arial"/>
                <a:cs typeface="Arial"/>
              </a:rPr>
              <a:t> </a:t>
            </a:r>
            <a:r>
              <a:rPr dirty="0" sz="1200" spc="-80"/>
              <a:t>时</a:t>
            </a:r>
            <a:r>
              <a:rPr dirty="0" sz="1200" spc="-1025"/>
              <a:t>，</a:t>
            </a:r>
            <a:r>
              <a:rPr dirty="0" sz="1200" spc="-5"/>
              <a:t>（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35">
                <a:latin typeface="Georgia"/>
                <a:cs typeface="Georgia"/>
              </a:rPr>
              <a:t>2</a:t>
            </a:r>
            <a:r>
              <a:rPr dirty="0" sz="1200" spc="-280"/>
              <a:t>）</a:t>
            </a:r>
            <a:r>
              <a:rPr dirty="0" sz="1200" spc="-5"/>
              <a:t>式简化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0513" y="146353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8120" y="1458112"/>
            <a:ext cx="430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1045" y="1209243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12290" y="1357718"/>
            <a:ext cx="1765300" cy="0"/>
          </a:xfrm>
          <a:custGeom>
            <a:avLst/>
            <a:gdLst/>
            <a:ahLst/>
            <a:cxnLst/>
            <a:rect l="l" t="t" r="r" b="b"/>
            <a:pathLst>
              <a:path w="1765300" h="0">
                <a:moveTo>
                  <a:pt x="0" y="0"/>
                </a:moveTo>
                <a:lnTo>
                  <a:pt x="17648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07044" y="1447800"/>
            <a:ext cx="9804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630555" algn="l"/>
                <a:tab pos="89535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779" y="1364386"/>
            <a:ext cx="1760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70">
                <a:latin typeface="Georgia"/>
                <a:cs typeface="Georgia"/>
              </a:rPr>
              <a:t>A)</a:t>
            </a:r>
            <a:r>
              <a:rPr dirty="0" sz="1100" spc="7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A)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27479" y="1574723"/>
            <a:ext cx="1734820" cy="0"/>
          </a:xfrm>
          <a:custGeom>
            <a:avLst/>
            <a:gdLst/>
            <a:ahLst/>
            <a:cxnLst/>
            <a:rect l="l" t="t" r="r" b="b"/>
            <a:pathLst>
              <a:path w="1734820" h="0">
                <a:moveTo>
                  <a:pt x="0" y="0"/>
                </a:moveTo>
                <a:lnTo>
                  <a:pt x="17345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901164" y="1553146"/>
            <a:ext cx="1387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456" y="145811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(23)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01837" y="2211578"/>
            <a:ext cx="1186180" cy="0"/>
          </a:xfrm>
          <a:custGeom>
            <a:avLst/>
            <a:gdLst/>
            <a:ahLst/>
            <a:cxnLst/>
            <a:rect l="l" t="t" r="r" b="b"/>
            <a:pathLst>
              <a:path w="1186180" h="0">
                <a:moveTo>
                  <a:pt x="0" y="0"/>
                </a:moveTo>
                <a:lnTo>
                  <a:pt x="118581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04101" y="1811782"/>
            <a:ext cx="2821940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当上式的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(NaHA)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1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A)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016000">
              <a:lnSpc>
                <a:spcPts val="990"/>
              </a:lnSpc>
              <a:spcBef>
                <a:spcPts val="1515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50505" sz="1650" spc="292">
                <a:latin typeface="Arial Unicode MS"/>
                <a:cs typeface="Arial Unicode MS"/>
              </a:rPr>
              <a:t>✓</a:t>
            </a:r>
            <a:r>
              <a:rPr dirty="0" sz="1100" spc="195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70">
                <a:latin typeface="Georgia"/>
                <a:cs typeface="Georgia"/>
              </a:rPr>
              <a:t>A)</a:t>
            </a:r>
            <a:r>
              <a:rPr dirty="0" sz="1100" spc="7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A)</a:t>
            </a:r>
            <a:endParaRPr sz="1100">
              <a:latin typeface="Georgia"/>
              <a:cs typeface="Georgia"/>
            </a:endParaRPr>
          </a:p>
          <a:p>
            <a:pPr marL="1715135">
              <a:lnSpc>
                <a:spcPts val="390"/>
              </a:lnSpc>
              <a:tabLst>
                <a:tab pos="1979930" algn="l"/>
                <a:tab pos="2308225" algn="l"/>
                <a:tab pos="2572385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1	</a:t>
            </a:r>
            <a:r>
              <a:rPr dirty="0" sz="600" spc="65">
                <a:latin typeface="Times New Roman"/>
                <a:cs typeface="Times New Roman"/>
              </a:rPr>
              <a:t>2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0433" y="218794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(24)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2533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0090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3572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2302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69582"/>
            <a:ext cx="50749" cy="566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45180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543"/>
                </a:lnTo>
                <a:lnTo>
                  <a:pt x="4008" y="410267"/>
                </a:lnTo>
                <a:lnTo>
                  <a:pt x="14922" y="426420"/>
                </a:lnTo>
                <a:lnTo>
                  <a:pt x="31075" y="437334"/>
                </a:lnTo>
                <a:lnTo>
                  <a:pt x="50800" y="441343"/>
                </a:lnTo>
                <a:lnTo>
                  <a:pt x="4381765" y="441343"/>
                </a:lnTo>
                <a:lnTo>
                  <a:pt x="4401490" y="437334"/>
                </a:lnTo>
                <a:lnTo>
                  <a:pt x="4417643" y="426420"/>
                </a:lnTo>
                <a:lnTo>
                  <a:pt x="4428558" y="410267"/>
                </a:lnTo>
                <a:lnTo>
                  <a:pt x="4432566" y="39054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07674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69">
                <a:moveTo>
                  <a:pt x="0" y="5470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949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822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695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264998"/>
            <a:ext cx="4281805" cy="70294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4.11</a:t>
            </a:r>
            <a:endParaRPr sz="1200">
              <a:latin typeface="Garamond"/>
              <a:cs typeface="Garamond"/>
            </a:endParaRPr>
          </a:p>
          <a:p>
            <a:pPr marL="628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010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20">
                <a:latin typeface="Georgia"/>
                <a:cs typeface="Georgia"/>
              </a:rPr>
              <a:t>Na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HPO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PO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endParaRPr baseline="-13888" sz="900">
              <a:latin typeface="Times New Roman"/>
              <a:cs typeface="Times New Roman"/>
            </a:endParaRPr>
          </a:p>
          <a:p>
            <a:pPr marL="63500">
              <a:lnSpc>
                <a:spcPts val="121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7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3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6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8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</a:t>
            </a:r>
            <a:r>
              <a:rPr dirty="0" baseline="-13888" sz="900" spc="2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40">
                <a:latin typeface="Georgia"/>
                <a:cs typeface="Georgia"/>
              </a:rPr>
              <a:t>10</a:t>
            </a:r>
            <a:r>
              <a:rPr dirty="0" baseline="37037" sz="900" spc="60">
                <a:latin typeface="Lucida Sans Unicode"/>
                <a:cs typeface="Lucida Sans Unicode"/>
              </a:rPr>
              <a:t>−</a:t>
            </a:r>
            <a:r>
              <a:rPr dirty="0" baseline="37037" sz="900" spc="60">
                <a:latin typeface="Times New Roman"/>
                <a:cs typeface="Times New Roman"/>
              </a:rPr>
              <a:t>13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429895">
              <a:lnSpc>
                <a:spcPts val="370"/>
              </a:lnSpc>
              <a:tabLst>
                <a:tab pos="1570355" algn="l"/>
                <a:tab pos="2710180" algn="l"/>
              </a:tabLst>
            </a:pPr>
            <a:r>
              <a:rPr dirty="0" sz="500" spc="85">
                <a:latin typeface="Book Antiqua"/>
                <a:cs typeface="Book Antiqua"/>
              </a:rPr>
              <a:t>1	2	3</a:t>
            </a:r>
            <a:endParaRPr sz="500">
              <a:latin typeface="Book Antiqua"/>
              <a:cs typeface="Book Antiqu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25335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00900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3572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2302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369582"/>
            <a:ext cx="50749" cy="566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45180"/>
            <a:ext cx="4432935" cy="441959"/>
          </a:xfrm>
          <a:custGeom>
            <a:avLst/>
            <a:gdLst/>
            <a:ahLst/>
            <a:cxnLst/>
            <a:rect l="l" t="t" r="r" b="b"/>
            <a:pathLst>
              <a:path w="4432935" h="441959">
                <a:moveTo>
                  <a:pt x="4432566" y="0"/>
                </a:moveTo>
                <a:lnTo>
                  <a:pt x="0" y="0"/>
                </a:lnTo>
                <a:lnTo>
                  <a:pt x="0" y="390543"/>
                </a:lnTo>
                <a:lnTo>
                  <a:pt x="4008" y="410267"/>
                </a:lnTo>
                <a:lnTo>
                  <a:pt x="14922" y="426420"/>
                </a:lnTo>
                <a:lnTo>
                  <a:pt x="31075" y="437334"/>
                </a:lnTo>
                <a:lnTo>
                  <a:pt x="50800" y="441343"/>
                </a:lnTo>
                <a:lnTo>
                  <a:pt x="4381765" y="441343"/>
                </a:lnTo>
                <a:lnTo>
                  <a:pt x="4401490" y="437334"/>
                </a:lnTo>
                <a:lnTo>
                  <a:pt x="4417643" y="426420"/>
                </a:lnTo>
                <a:lnTo>
                  <a:pt x="4428558" y="410267"/>
                </a:lnTo>
                <a:lnTo>
                  <a:pt x="4432566" y="39054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07674"/>
            <a:ext cx="0" cy="547370"/>
          </a:xfrm>
          <a:custGeom>
            <a:avLst/>
            <a:gdLst/>
            <a:ahLst/>
            <a:cxnLst/>
            <a:rect l="l" t="t" r="r" b="b"/>
            <a:pathLst>
              <a:path w="0" h="547369">
                <a:moveTo>
                  <a:pt x="0" y="5470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3949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3822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3695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0444" y="264998"/>
            <a:ext cx="4243705" cy="461645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dirty="0" spc="190">
                <a:solidFill>
                  <a:srgbClr val="FFFFFF"/>
                </a:solidFill>
              </a:rPr>
              <a:t>例</a:t>
            </a:r>
            <a:r>
              <a:rPr dirty="0" spc="30">
                <a:solidFill>
                  <a:srgbClr val="FFFFFF"/>
                </a:solidFill>
                <a:latin typeface="Garamond"/>
                <a:cs typeface="Garamond"/>
              </a:rPr>
              <a:t>4.11</a:t>
            </a:r>
          </a:p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dirty="0" spc="-5"/>
              <a:t>计算</a:t>
            </a:r>
            <a:r>
              <a:rPr dirty="0" spc="25"/>
              <a:t>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010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20">
                <a:latin typeface="Georgia"/>
                <a:cs typeface="Georgia"/>
              </a:rPr>
              <a:t>Na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HPO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/>
              <a:t>溶液中的氢离子浓</a:t>
            </a:r>
            <a:r>
              <a:rPr dirty="0" sz="1200" spc="-20"/>
              <a:t>度</a:t>
            </a:r>
            <a:r>
              <a:rPr dirty="0" sz="1200" spc="-235"/>
              <a:t>。</a:t>
            </a:r>
            <a:r>
              <a:rPr dirty="0" sz="1200" spc="-5"/>
              <a:t>已知</a:t>
            </a:r>
            <a:r>
              <a:rPr dirty="0" sz="1200" spc="30"/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PO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572" y="1745119"/>
            <a:ext cx="5689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140">
                <a:latin typeface="Georgia"/>
                <a:cs typeface="Georgia"/>
              </a:rPr>
              <a:t> 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44" y="742162"/>
            <a:ext cx="4479925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ts val="121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7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3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6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Lucida Sans Unicode"/>
                <a:cs typeface="Lucida Sans Unicode"/>
              </a:rPr>
              <a:t>−</a:t>
            </a:r>
            <a:r>
              <a:rPr dirty="0" baseline="37037" sz="900" spc="15">
                <a:latin typeface="Times New Roman"/>
                <a:cs typeface="Times New Roman"/>
              </a:rPr>
              <a:t>8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 b="0" i="1">
                <a:latin typeface="Bookman Old Style"/>
                <a:cs typeface="Bookman Old Style"/>
              </a:rPr>
              <a:t>K</a:t>
            </a:r>
            <a:r>
              <a:rPr dirty="0" baseline="-13888" sz="900" spc="15" i="1">
                <a:latin typeface="Arial"/>
                <a:cs typeface="Arial"/>
              </a:rPr>
              <a:t>a</a:t>
            </a:r>
            <a:r>
              <a:rPr dirty="0" baseline="-13888" sz="900" spc="2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40">
                <a:latin typeface="Georgia"/>
                <a:cs typeface="Georgia"/>
              </a:rPr>
              <a:t>10</a:t>
            </a:r>
            <a:r>
              <a:rPr dirty="0" baseline="37037" sz="900" spc="60">
                <a:latin typeface="Lucida Sans Unicode"/>
                <a:cs typeface="Lucida Sans Unicode"/>
              </a:rPr>
              <a:t>−</a:t>
            </a:r>
            <a:r>
              <a:rPr dirty="0" baseline="37037" sz="900" spc="60">
                <a:latin typeface="Times New Roman"/>
                <a:cs typeface="Times New Roman"/>
              </a:rPr>
              <a:t>13 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442595">
              <a:lnSpc>
                <a:spcPts val="370"/>
              </a:lnSpc>
              <a:tabLst>
                <a:tab pos="1583055" algn="l"/>
                <a:tab pos="2722880" algn="l"/>
              </a:tabLst>
            </a:pPr>
            <a:r>
              <a:rPr dirty="0" sz="500" spc="85">
                <a:latin typeface="Book Antiqua"/>
                <a:cs typeface="Book Antiqua"/>
              </a:rPr>
              <a:t>1	2	3</a:t>
            </a:r>
            <a:endParaRPr sz="5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600">
              <a:latin typeface="Book Antiqua"/>
              <a:cs typeface="Book Antiqua"/>
            </a:endParaRPr>
          </a:p>
          <a:p>
            <a:pPr marL="75565">
              <a:lnSpc>
                <a:spcPct val="100000"/>
              </a:lnSpc>
              <a:spcBef>
                <a:spcPts val="464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由于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3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3</a:t>
            </a:r>
            <a:r>
              <a:rPr dirty="0" sz="1100" spc="45">
                <a:latin typeface="Georgia"/>
                <a:cs typeface="Georgia"/>
              </a:rPr>
              <a:t>P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4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(N</a:t>
            </a:r>
            <a:r>
              <a:rPr dirty="0" sz="1100" spc="-15">
                <a:latin typeface="Georgia"/>
                <a:cs typeface="Georgia"/>
              </a:rPr>
              <a:t>a</a:t>
            </a:r>
            <a:r>
              <a:rPr dirty="0" baseline="-13888" sz="900" spc="165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HP</a:t>
            </a:r>
            <a:r>
              <a:rPr dirty="0" sz="110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135" i="1">
                <a:latin typeface="Arial"/>
                <a:cs typeface="Arial"/>
              </a:rPr>
              <a:t>w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故应采</a:t>
            </a:r>
            <a:r>
              <a:rPr dirty="0" sz="1200" spc="-26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35">
                <a:latin typeface="Georgia"/>
                <a:cs typeface="Georgia"/>
              </a:rPr>
              <a:t>2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式计</a:t>
            </a:r>
            <a:r>
              <a:rPr dirty="0" sz="1200" spc="-90">
                <a:latin typeface="Arial Unicode MS"/>
                <a:cs typeface="Arial Unicode MS"/>
              </a:rPr>
              <a:t>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Arial Unicode MS"/>
              <a:cs typeface="Arial Unicode MS"/>
            </a:endParaRPr>
          </a:p>
          <a:p>
            <a:pPr marL="1111250">
              <a:lnSpc>
                <a:spcPct val="100000"/>
              </a:lnSpc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12227" y="1644726"/>
            <a:ext cx="2741295" cy="0"/>
          </a:xfrm>
          <a:custGeom>
            <a:avLst/>
            <a:gdLst/>
            <a:ahLst/>
            <a:cxnLst/>
            <a:rect l="l" t="t" r="r" b="b"/>
            <a:pathLst>
              <a:path w="2741295" h="0">
                <a:moveTo>
                  <a:pt x="0" y="0"/>
                </a:moveTo>
                <a:lnTo>
                  <a:pt x="27411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14703" y="1651393"/>
            <a:ext cx="1567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)(</a:t>
            </a:r>
            <a:r>
              <a:rPr dirty="0" sz="1100" spc="5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4269" y="1734794"/>
            <a:ext cx="26200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14960" algn="l"/>
                <a:tab pos="570230" algn="l"/>
                <a:tab pos="848360" algn="l"/>
                <a:tab pos="1112520" algn="l"/>
                <a:tab pos="1367790" algn="l"/>
                <a:tab pos="1761489" algn="l"/>
                <a:tab pos="2119630" algn="l"/>
                <a:tab pos="2513330" algn="l"/>
              </a:tabLst>
            </a:pP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2	</a:t>
            </a:r>
            <a:r>
              <a:rPr dirty="0" sz="600" spc="65">
                <a:latin typeface="Times New Roman"/>
                <a:cs typeface="Times New Roman"/>
              </a:rPr>
              <a:t>3	4	</a:t>
            </a:r>
            <a:r>
              <a:rPr dirty="0" sz="600" spc="75" i="1">
                <a:latin typeface="Arial"/>
                <a:cs typeface="Arial"/>
              </a:rPr>
              <a:t>a</a:t>
            </a:r>
            <a:r>
              <a:rPr dirty="0" baseline="-11111" sz="750" spc="112">
                <a:latin typeface="Book Antiqua"/>
                <a:cs typeface="Book Antiqua"/>
              </a:rPr>
              <a:t>3	</a:t>
            </a:r>
            <a:r>
              <a:rPr dirty="0" sz="600" spc="65">
                <a:latin typeface="Times New Roman"/>
                <a:cs typeface="Times New Roman"/>
              </a:rPr>
              <a:t>3	4	2	4	</a:t>
            </a:r>
            <a:r>
              <a:rPr dirty="0" sz="600" spc="10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56102" y="1651393"/>
            <a:ext cx="1195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(Na </a:t>
            </a:r>
            <a:r>
              <a:rPr dirty="0" sz="1100" spc="5">
                <a:latin typeface="Georgia"/>
                <a:cs typeface="Georgia"/>
              </a:rPr>
              <a:t>HPO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75" b="0" i="1">
                <a:latin typeface="Bookman Old Style"/>
                <a:cs typeface="Bookman Old Style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27403" y="1861731"/>
            <a:ext cx="2710815" cy="0"/>
          </a:xfrm>
          <a:custGeom>
            <a:avLst/>
            <a:gdLst/>
            <a:ahLst/>
            <a:cxnLst/>
            <a:rect l="l" t="t" r="r" b="b"/>
            <a:pathLst>
              <a:path w="2710815" h="0">
                <a:moveTo>
                  <a:pt x="0" y="0"/>
                </a:moveTo>
                <a:lnTo>
                  <a:pt x="27107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13775" y="1840153"/>
            <a:ext cx="1538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baseline="-13888" sz="900" spc="89" i="1">
                <a:latin typeface="Arial"/>
                <a:cs typeface="Arial"/>
              </a:rPr>
              <a:t>a</a:t>
            </a:r>
            <a:r>
              <a:rPr dirty="0" baseline="-33333" sz="750" spc="127">
                <a:latin typeface="Book Antiqua"/>
                <a:cs typeface="Book Antiqua"/>
              </a:rPr>
              <a:t>2</a:t>
            </a:r>
            <a:r>
              <a:rPr dirty="0" baseline="-33333" sz="750" spc="-44">
                <a:latin typeface="Book Antiqua"/>
                <a:cs typeface="Book Antiqua"/>
              </a:rPr>
              <a:t> </a:t>
            </a:r>
            <a:r>
              <a:rPr dirty="0" sz="1100" spc="-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165">
                <a:latin typeface="Times New Roman"/>
                <a:cs typeface="Times New Roman"/>
              </a:rPr>
              <a:t>3</a:t>
            </a:r>
            <a:r>
              <a:rPr dirty="0" sz="1100" spc="45">
                <a:latin typeface="Georgia"/>
                <a:cs typeface="Georgia"/>
              </a:rPr>
              <a:t>P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16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6693" y="2187270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60983" y="1968030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12227" y="2116505"/>
            <a:ext cx="2717800" cy="0"/>
          </a:xfrm>
          <a:custGeom>
            <a:avLst/>
            <a:gdLst/>
            <a:ahLst/>
            <a:cxnLst/>
            <a:rect l="l" t="t" r="r" b="b"/>
            <a:pathLst>
              <a:path w="2717800" h="0">
                <a:moveTo>
                  <a:pt x="0" y="0"/>
                </a:moveTo>
                <a:lnTo>
                  <a:pt x="271734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799615" y="2116150"/>
            <a:ext cx="8559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6910" algn="l"/>
              </a:tabLst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8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4703" y="2093544"/>
            <a:ext cx="21094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64615" algn="l"/>
              </a:tabLst>
            </a:pPr>
            <a:r>
              <a:rPr dirty="0" sz="1100" spc="-60">
                <a:latin typeface="Georgia"/>
                <a:cs typeface="Georgia"/>
              </a:rPr>
              <a:t>6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    </a:t>
            </a:r>
            <a:r>
              <a:rPr dirty="0" sz="1100" spc="-45">
                <a:latin typeface="Georgia"/>
                <a:cs typeface="Georgia"/>
              </a:rPr>
              <a:t>(4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4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010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1</a:t>
            </a:r>
            <a:r>
              <a:rPr dirty="0" sz="1100" spc="2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75583" y="2116150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98430" y="2093544"/>
            <a:ext cx="6292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1975" algn="l"/>
              </a:tabLst>
            </a:pP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27403" y="2303881"/>
            <a:ext cx="2687320" cy="0"/>
          </a:xfrm>
          <a:custGeom>
            <a:avLst/>
            <a:gdLst/>
            <a:ahLst/>
            <a:cxnLst/>
            <a:rect l="l" t="t" r="r" b="b"/>
            <a:pathLst>
              <a:path w="2687320" h="0">
                <a:moveTo>
                  <a:pt x="0" y="0"/>
                </a:moveTo>
                <a:lnTo>
                  <a:pt x="26869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084971" y="2282317"/>
            <a:ext cx="11722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6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8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9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1293" y="2448928"/>
            <a:ext cx="13931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5">
                <a:latin typeface="Georgia"/>
                <a:cs typeface="Georgia"/>
              </a:rPr>
              <a:t>3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41666" sz="900" spc="44">
                <a:latin typeface="Lucida Sans Unicode"/>
                <a:cs typeface="Lucida Sans Unicode"/>
              </a:rPr>
              <a:t>−</a:t>
            </a:r>
            <a:r>
              <a:rPr dirty="0" baseline="41666" sz="900" spc="44">
                <a:latin typeface="Times New Roman"/>
                <a:cs typeface="Times New Roman"/>
              </a:rPr>
              <a:t>10</a:t>
            </a:r>
            <a:r>
              <a:rPr dirty="0" baseline="41666" sz="900" spc="254">
                <a:latin typeface="Times New Roman"/>
                <a:cs typeface="Times New Roman"/>
              </a:rPr>
              <a:t> 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1058113"/>
            <a:ext cx="443738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对于</a:t>
            </a:r>
            <a:r>
              <a:rPr dirty="0" sz="1200" spc="-15">
                <a:latin typeface="Arial Unicode MS"/>
                <a:cs typeface="Arial Unicode MS"/>
              </a:rPr>
              <a:t>由</a:t>
            </a:r>
            <a:r>
              <a:rPr dirty="0" sz="1200" spc="-10">
                <a:latin typeface="Arial Unicode MS"/>
                <a:cs typeface="Arial Unicode MS"/>
              </a:rPr>
              <a:t>弱酸弱碱反应生成的</a:t>
            </a:r>
            <a:r>
              <a:rPr dirty="0" sz="1200" spc="-85">
                <a:latin typeface="Arial Unicode MS"/>
                <a:cs typeface="Arial Unicode MS"/>
              </a:rPr>
              <a:t>盐</a:t>
            </a:r>
            <a:r>
              <a:rPr dirty="0" sz="1200" spc="-24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sz="1100" spc="-15">
                <a:latin typeface="Georgia"/>
                <a:cs typeface="Georgia"/>
              </a:rPr>
              <a:t>Ac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sz="1100" spc="-15">
                <a:latin typeface="Georgia"/>
                <a:cs typeface="Georgia"/>
              </a:rPr>
              <a:t>F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(NH</a:t>
            </a:r>
            <a:r>
              <a:rPr dirty="0" baseline="-13888" sz="900" spc="-22">
                <a:latin typeface="Times New Roman"/>
                <a:cs typeface="Times New Roman"/>
              </a:rPr>
              <a:t>4</a:t>
            </a:r>
            <a:r>
              <a:rPr dirty="0" sz="1100" spc="-15">
                <a:latin typeface="Georgia"/>
                <a:cs typeface="Georgia"/>
              </a:rPr>
              <a:t>)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CO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sz="1200" spc="-15">
                <a:latin typeface="Arial Unicode MS"/>
                <a:cs typeface="Arial Unicode MS"/>
              </a:rPr>
              <a:t>，  </a:t>
            </a:r>
            <a:r>
              <a:rPr dirty="0" sz="1100" spc="20">
                <a:latin typeface="Georgia"/>
                <a:cs typeface="Georgia"/>
              </a:rPr>
              <a:t>(NH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HPO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它们进行质子传递的过程更趋复杂</a:t>
            </a:r>
            <a:r>
              <a:rPr dirty="0" sz="1200" spc="-80">
                <a:latin typeface="Arial Unicode MS"/>
                <a:cs typeface="Arial Unicode MS"/>
              </a:rPr>
              <a:t>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通常要根 据具体情况采用简化处</a:t>
            </a:r>
            <a:r>
              <a:rPr dirty="0" sz="1200" spc="-20">
                <a:latin typeface="Arial Unicode MS"/>
                <a:cs typeface="Arial Unicode MS"/>
              </a:rPr>
              <a:t>理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参</a:t>
            </a:r>
            <a:r>
              <a:rPr dirty="0" sz="1200" spc="175">
                <a:latin typeface="Arial Unicode MS"/>
                <a:cs typeface="Arial Unicode MS"/>
              </a:rPr>
              <a:t>见</a:t>
            </a:r>
            <a:r>
              <a:rPr dirty="0" sz="1100" spc="-45">
                <a:latin typeface="Georgia"/>
                <a:cs typeface="Georgia"/>
              </a:rPr>
              <a:t>p.42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p.43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2591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01472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03553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2283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470154"/>
            <a:ext cx="50749" cy="565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645755"/>
            <a:ext cx="4432935" cy="440690"/>
          </a:xfrm>
          <a:custGeom>
            <a:avLst/>
            <a:gdLst/>
            <a:ahLst/>
            <a:cxnLst/>
            <a:rect l="l" t="t" r="r" b="b"/>
            <a:pathLst>
              <a:path w="4432935" h="440690">
                <a:moveTo>
                  <a:pt x="4432566" y="0"/>
                </a:moveTo>
                <a:lnTo>
                  <a:pt x="0" y="0"/>
                </a:lnTo>
                <a:lnTo>
                  <a:pt x="0" y="389776"/>
                </a:lnTo>
                <a:lnTo>
                  <a:pt x="4008" y="409501"/>
                </a:lnTo>
                <a:lnTo>
                  <a:pt x="14922" y="425654"/>
                </a:lnTo>
                <a:lnTo>
                  <a:pt x="31075" y="436568"/>
                </a:lnTo>
                <a:lnTo>
                  <a:pt x="50800" y="440577"/>
                </a:lnTo>
                <a:lnTo>
                  <a:pt x="4381765" y="440577"/>
                </a:lnTo>
                <a:lnTo>
                  <a:pt x="4401490" y="436568"/>
                </a:lnTo>
                <a:lnTo>
                  <a:pt x="4417643" y="425654"/>
                </a:lnTo>
                <a:lnTo>
                  <a:pt x="4428558" y="409501"/>
                </a:lnTo>
                <a:lnTo>
                  <a:pt x="4432566" y="389776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08249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54633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955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4828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4701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365595"/>
            <a:ext cx="4440555" cy="685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4.12</a:t>
            </a:r>
            <a:endParaRPr sz="1200">
              <a:latin typeface="Garamond"/>
              <a:cs typeface="Garamond"/>
            </a:endParaRPr>
          </a:p>
          <a:p>
            <a:pPr marL="501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20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KF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混合溶液中的氢离子浓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5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 i="1">
                <a:latin typeface="Arial"/>
                <a:cs typeface="Arial"/>
              </a:rPr>
              <a:t>b</a:t>
            </a:r>
            <a:r>
              <a:rPr dirty="0" sz="1100" spc="25">
                <a:latin typeface="Georgia"/>
                <a:cs typeface="Georgia"/>
              </a:rPr>
              <a:t>(F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1</a:t>
            </a:r>
            <a:r>
              <a:rPr dirty="0" sz="1100" b="0" i="1">
                <a:latin typeface="Bookman Old Style"/>
                <a:cs typeface="Bookman Old Style"/>
              </a:rPr>
              <a:t>.</a:t>
            </a:r>
            <a:r>
              <a:rPr dirty="0" sz="1100">
                <a:latin typeface="Georgia"/>
                <a:cs typeface="Georgia"/>
              </a:rPr>
              <a:t>5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10</a:t>
            </a:r>
            <a:r>
              <a:rPr dirty="0" baseline="37037" sz="900" spc="60">
                <a:latin typeface="Lucida Sans Unicode"/>
                <a:cs typeface="Lucida Sans Unicode"/>
              </a:rPr>
              <a:t>−</a:t>
            </a:r>
            <a:r>
              <a:rPr dirty="0" baseline="37037" sz="900" spc="60">
                <a:latin typeface="Times New Roman"/>
                <a:cs typeface="Times New Roman"/>
              </a:rPr>
              <a:t>11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425919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601472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03553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02283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470154"/>
            <a:ext cx="50749" cy="565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645755"/>
            <a:ext cx="4432935" cy="440690"/>
          </a:xfrm>
          <a:custGeom>
            <a:avLst/>
            <a:gdLst/>
            <a:ahLst/>
            <a:cxnLst/>
            <a:rect l="l" t="t" r="r" b="b"/>
            <a:pathLst>
              <a:path w="4432935" h="440690">
                <a:moveTo>
                  <a:pt x="4432566" y="0"/>
                </a:moveTo>
                <a:lnTo>
                  <a:pt x="0" y="0"/>
                </a:lnTo>
                <a:lnTo>
                  <a:pt x="0" y="389776"/>
                </a:lnTo>
                <a:lnTo>
                  <a:pt x="4008" y="409501"/>
                </a:lnTo>
                <a:lnTo>
                  <a:pt x="14922" y="425654"/>
                </a:lnTo>
                <a:lnTo>
                  <a:pt x="31075" y="436568"/>
                </a:lnTo>
                <a:lnTo>
                  <a:pt x="50800" y="440577"/>
                </a:lnTo>
                <a:lnTo>
                  <a:pt x="4381765" y="440577"/>
                </a:lnTo>
                <a:lnTo>
                  <a:pt x="4401490" y="436568"/>
                </a:lnTo>
                <a:lnTo>
                  <a:pt x="4417643" y="425654"/>
                </a:lnTo>
                <a:lnTo>
                  <a:pt x="4428558" y="409501"/>
                </a:lnTo>
                <a:lnTo>
                  <a:pt x="4432566" y="389776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508249"/>
            <a:ext cx="0" cy="546735"/>
          </a:xfrm>
          <a:custGeom>
            <a:avLst/>
            <a:gdLst/>
            <a:ahLst/>
            <a:cxnLst/>
            <a:rect l="l" t="t" r="r" b="b"/>
            <a:pathLst>
              <a:path w="0" h="546735">
                <a:moveTo>
                  <a:pt x="0" y="546332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955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4828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4701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944" y="365595"/>
            <a:ext cx="4542155" cy="21247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4.12</a:t>
            </a:r>
            <a:endParaRPr sz="1200">
              <a:latin typeface="Garamond"/>
              <a:cs typeface="Garamond"/>
            </a:endParaRPr>
          </a:p>
          <a:p>
            <a:pPr algn="ctr" marL="247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计算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20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KF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混合溶液中的氢离子浓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016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已知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5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 i="1">
                <a:latin typeface="Arial"/>
                <a:cs typeface="Arial"/>
              </a:rPr>
              <a:t>b</a:t>
            </a:r>
            <a:r>
              <a:rPr dirty="0" sz="1100" spc="25">
                <a:latin typeface="Georgia"/>
                <a:cs typeface="Georgia"/>
              </a:rPr>
              <a:t>(F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1</a:t>
            </a:r>
            <a:r>
              <a:rPr dirty="0" sz="1100" b="0" i="1">
                <a:latin typeface="Bookman Old Style"/>
                <a:cs typeface="Bookman Old Style"/>
              </a:rPr>
              <a:t>.</a:t>
            </a:r>
            <a:r>
              <a:rPr dirty="0" sz="1100">
                <a:latin typeface="Georgia"/>
                <a:cs typeface="Georgia"/>
              </a:rPr>
              <a:t>5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10</a:t>
            </a:r>
            <a:r>
              <a:rPr dirty="0" baseline="37037" sz="900" spc="60">
                <a:latin typeface="Lucida Sans Unicode"/>
                <a:cs typeface="Lucida Sans Unicode"/>
              </a:rPr>
              <a:t>−</a:t>
            </a:r>
            <a:r>
              <a:rPr dirty="0" baseline="37037" sz="900" spc="60">
                <a:latin typeface="Times New Roman"/>
                <a:cs typeface="Times New Roman"/>
              </a:rPr>
              <a:t>11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00965">
              <a:lnSpc>
                <a:spcPct val="100000"/>
              </a:lnSpc>
              <a:spcBef>
                <a:spcPts val="134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质子条件式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[HF]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Georgia"/>
              <a:cs typeface="Georgia"/>
            </a:endParaRPr>
          </a:p>
          <a:p>
            <a:pPr marL="4051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由于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(KF)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足够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上式简化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65">
                <a:latin typeface="Georgia"/>
                <a:cs typeface="Georgia"/>
              </a:rPr>
              <a:t>[HF] 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453606"/>
            <a:ext cx="387985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根据平衡关</a:t>
            </a:r>
            <a:r>
              <a:rPr dirty="0" spc="-80"/>
              <a:t>系</a:t>
            </a:r>
            <a:r>
              <a:rPr dirty="0" spc="-185"/>
              <a:t>，</a:t>
            </a:r>
            <a:r>
              <a:rPr dirty="0" spc="-5"/>
              <a:t>及</a:t>
            </a:r>
            <a:r>
              <a:rPr dirty="0" spc="25"/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[HAc]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pc="-5"/>
              <a:t>和</a:t>
            </a:r>
            <a:r>
              <a:rPr dirty="0" spc="30"/>
              <a:t> 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(KF)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60">
                <a:latin typeface="Georgia"/>
                <a:cs typeface="Georgia"/>
              </a:rPr>
              <a:t>[F</a:t>
            </a:r>
            <a:r>
              <a:rPr dirty="0" baseline="37037" sz="900" spc="-89">
                <a:latin typeface="Lucida Sans Unicode"/>
                <a:cs typeface="Lucida Sans Unicode"/>
              </a:rPr>
              <a:t>−</a:t>
            </a:r>
            <a:r>
              <a:rPr dirty="0" sz="1100" spc="-60">
                <a:latin typeface="Georgia"/>
                <a:cs typeface="Georgia"/>
              </a:rPr>
              <a:t>]</a:t>
            </a:r>
            <a:r>
              <a:rPr dirty="0" sz="1200" spc="-60"/>
              <a:t>，</a:t>
            </a:r>
            <a:r>
              <a:rPr dirty="0" sz="1200" spc="-5"/>
              <a:t>可</a:t>
            </a:r>
            <a:r>
              <a:rPr dirty="0" sz="1200" spc="-90"/>
              <a:t>得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89659" y="967600"/>
            <a:ext cx="624205" cy="0"/>
          </a:xfrm>
          <a:custGeom>
            <a:avLst/>
            <a:gdLst/>
            <a:ahLst/>
            <a:cxnLst/>
            <a:rect l="l" t="t" r="r" b="b"/>
            <a:pathLst>
              <a:path w="624205" h="0">
                <a:moveTo>
                  <a:pt x="0" y="0"/>
                </a:moveTo>
                <a:lnTo>
                  <a:pt x="62411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28862" y="967600"/>
            <a:ext cx="989965" cy="0"/>
          </a:xfrm>
          <a:custGeom>
            <a:avLst/>
            <a:gdLst/>
            <a:ahLst/>
            <a:cxnLst/>
            <a:rect l="l" t="t" r="r" b="b"/>
            <a:pathLst>
              <a:path w="989964" h="0">
                <a:moveTo>
                  <a:pt x="0" y="0"/>
                </a:moveTo>
                <a:lnTo>
                  <a:pt x="9894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45527" y="1680553"/>
            <a:ext cx="5689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8545" marR="68580" indent="-73660">
              <a:lnSpc>
                <a:spcPct val="112599"/>
              </a:lnSpc>
              <a:spcBef>
                <a:spcPts val="100"/>
              </a:spcBef>
              <a:tabLst>
                <a:tab pos="2190115" algn="l"/>
              </a:tabLst>
            </a:pPr>
            <a:r>
              <a:rPr dirty="0" spc="5"/>
              <a:t>[H</a:t>
            </a:r>
            <a:r>
              <a:rPr dirty="0" baseline="37037" sz="900" spc="7">
                <a:latin typeface="Times New Roman"/>
                <a:cs typeface="Times New Roman"/>
              </a:rPr>
              <a:t>+</a:t>
            </a:r>
            <a:r>
              <a:rPr dirty="0" sz="1100" spc="5"/>
              <a:t>]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/>
              <a:t>(KF) </a:t>
            </a:r>
            <a:r>
              <a:rPr dirty="0" baseline="-37878" sz="1650" spc="209"/>
              <a:t>= </a:t>
            </a: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baseline="-13888" sz="900" spc="22" i="1">
                <a:latin typeface="Arial"/>
                <a:cs typeface="Arial"/>
              </a:rPr>
              <a:t>a</a:t>
            </a:r>
            <a:r>
              <a:rPr dirty="0" sz="1100" spc="15"/>
              <a:t>(HAc)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/>
              <a:t>(HAc)  </a:t>
            </a:r>
            <a:r>
              <a:rPr dirty="0" sz="1100" spc="40" b="0" i="1">
                <a:latin typeface="Bookman Old Style"/>
                <a:cs typeface="Bookman Old Style"/>
              </a:rPr>
              <a:t>K</a:t>
            </a:r>
            <a:r>
              <a:rPr dirty="0" baseline="-13888" sz="900" spc="60" i="1">
                <a:latin typeface="Arial"/>
                <a:cs typeface="Arial"/>
              </a:rPr>
              <a:t>a</a:t>
            </a:r>
            <a:r>
              <a:rPr dirty="0" sz="1100" spc="40"/>
              <a:t>(HF)	</a:t>
            </a:r>
            <a:r>
              <a:rPr dirty="0" sz="1100" spc="-10"/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/>
              <a:t>]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15"/>
              </a:spcBef>
            </a:pPr>
            <a:r>
              <a:rPr dirty="0" sz="1200" spc="-5">
                <a:latin typeface="Arial Unicode MS"/>
                <a:cs typeface="Arial Unicode MS"/>
              </a:rPr>
              <a:t>整理后得</a:t>
            </a:r>
            <a:r>
              <a:rPr dirty="0" sz="1200" spc="-90">
                <a:latin typeface="Arial Unicode MS"/>
                <a:cs typeface="Arial Unicode MS"/>
              </a:rPr>
              <a:t>到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346710">
              <a:lnSpc>
                <a:spcPct val="100000"/>
              </a:lnSpc>
              <a:spcBef>
                <a:spcPts val="145"/>
              </a:spcBef>
            </a:pPr>
            <a:r>
              <a:rPr dirty="0" spc="785">
                <a:latin typeface="Arial Unicode MS"/>
                <a:cs typeface="Arial Unicode MS"/>
              </a:rPr>
              <a:t>I</a:t>
            </a:r>
          </a:p>
        </p:txBody>
      </p:sp>
      <p:sp>
        <p:nvSpPr>
          <p:cNvPr id="7" name="object 7"/>
          <p:cNvSpPr/>
          <p:nvPr/>
        </p:nvSpPr>
        <p:spPr>
          <a:xfrm>
            <a:off x="1741182" y="1579778"/>
            <a:ext cx="1497330" cy="0"/>
          </a:xfrm>
          <a:custGeom>
            <a:avLst/>
            <a:gdLst/>
            <a:ahLst/>
            <a:cxnLst/>
            <a:rect l="l" t="t" r="r" b="b"/>
            <a:pathLst>
              <a:path w="1497330" h="0">
                <a:moveTo>
                  <a:pt x="0" y="0"/>
                </a:moveTo>
                <a:lnTo>
                  <a:pt x="14971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43671" y="1586826"/>
            <a:ext cx="462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9270" y="1775587"/>
            <a:ext cx="3917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(K</a:t>
            </a:r>
            <a:r>
              <a:rPr dirty="0" sz="1100" spc="45">
                <a:latin typeface="Georgia"/>
                <a:cs typeface="Georgia"/>
              </a:rPr>
              <a:t>F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0557" y="1680553"/>
            <a:ext cx="11061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(HF)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5661" y="212078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9938" y="1903095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85">
                <a:latin typeface="Arial Unicode MS"/>
                <a:cs typeface="Arial Unicode MS"/>
              </a:rPr>
              <a:t>I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41182" y="2051570"/>
            <a:ext cx="1883410" cy="0"/>
          </a:xfrm>
          <a:custGeom>
            <a:avLst/>
            <a:gdLst/>
            <a:ahLst/>
            <a:cxnLst/>
            <a:rect l="l" t="t" r="r" b="b"/>
            <a:pathLst>
              <a:path w="1883410" h="0">
                <a:moveTo>
                  <a:pt x="0" y="0"/>
                </a:moveTo>
                <a:lnTo>
                  <a:pt x="18831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743671" y="2004552"/>
            <a:ext cx="27178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100" spc="-9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 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00">
                <a:latin typeface="Georgia"/>
                <a:cs typeface="Georgia"/>
              </a:rPr>
              <a:t>20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9392" y="212620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5936" y="2120785"/>
            <a:ext cx="10134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92480" algn="l"/>
              </a:tabLst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23819" y="2120785"/>
            <a:ext cx="441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5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9452" y="2126208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30248" y="2382443"/>
            <a:ext cx="13468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7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41666" sz="900" spc="37">
                <a:latin typeface="Lucida Sans Unicode"/>
                <a:cs typeface="Lucida Sans Unicode"/>
              </a:rPr>
              <a:t>−</a:t>
            </a:r>
            <a:r>
              <a:rPr dirty="0" baseline="41666" sz="900" spc="37">
                <a:latin typeface="Times New Roman"/>
                <a:cs typeface="Times New Roman"/>
              </a:rPr>
              <a:t>5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58750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4.6</a:t>
            </a:r>
            <a:r>
              <a:rPr dirty="0" sz="1400" spc="12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酸碱缓冲溶液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04976"/>
            <a:ext cx="4407535" cy="1815464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酸碱缓冲溶液通常由浓度较大的弱酸及其共轭碱所组</a:t>
            </a:r>
            <a:r>
              <a:rPr dirty="0" sz="1200" spc="-80">
                <a:latin typeface="Arial Unicode MS"/>
                <a:cs typeface="Arial Unicode MS"/>
              </a:rPr>
              <a:t>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NaAc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NH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sz="1100" spc="-20">
                <a:latin typeface="Georgia"/>
                <a:cs typeface="Georgia"/>
              </a:rPr>
              <a:t>Cl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NH</a:t>
            </a:r>
            <a:r>
              <a:rPr dirty="0" baseline="-13888" sz="900" spc="-15">
                <a:latin typeface="Times New Roman"/>
                <a:cs typeface="Times New Roman"/>
              </a:rPr>
              <a:t>3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100" spc="-10">
                <a:latin typeface="Georgia"/>
                <a:cs typeface="Georgia"/>
              </a:rPr>
              <a:t>NaH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100" spc="-10">
                <a:latin typeface="Georgia"/>
                <a:cs typeface="Georgia"/>
              </a:rPr>
              <a:t>PO</a:t>
            </a:r>
            <a:r>
              <a:rPr dirty="0" baseline="-13888" sz="900" spc="-15">
                <a:latin typeface="Times New Roman"/>
                <a:cs typeface="Times New Roman"/>
              </a:rPr>
              <a:t>4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Na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HPO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 marR="304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在分析化学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有时也用强</a:t>
            </a:r>
            <a:r>
              <a:rPr dirty="0" sz="1200" spc="-260">
                <a:latin typeface="Arial Unicode MS"/>
                <a:cs typeface="Arial Unicode MS"/>
              </a:rPr>
              <a:t>酸</a:t>
            </a:r>
            <a:r>
              <a:rPr dirty="0" sz="1200" spc="-35">
                <a:latin typeface="Arial Unicode MS"/>
                <a:cs typeface="Arial Unicode MS"/>
              </a:rPr>
              <a:t>（</a:t>
            </a:r>
            <a:r>
              <a:rPr dirty="0" sz="1100" spc="-35">
                <a:latin typeface="Georgia"/>
                <a:cs typeface="Georgia"/>
              </a:rPr>
              <a:t>pH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-160">
                <a:latin typeface="Georgia"/>
                <a:cs typeface="Georgia"/>
              </a:rPr>
              <a:t>2</a:t>
            </a:r>
            <a:r>
              <a:rPr dirty="0" sz="1200" spc="-1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或强</a:t>
            </a:r>
            <a:r>
              <a:rPr dirty="0" sz="1200" spc="-260">
                <a:latin typeface="Arial Unicode MS"/>
                <a:cs typeface="Arial Unicode MS"/>
              </a:rPr>
              <a:t>碱</a:t>
            </a:r>
            <a:r>
              <a:rPr dirty="0" sz="1200" spc="-35">
                <a:latin typeface="Arial Unicode MS"/>
                <a:cs typeface="Arial Unicode MS"/>
              </a:rPr>
              <a:t>（</a:t>
            </a:r>
            <a:r>
              <a:rPr dirty="0" sz="1100" spc="-35">
                <a:latin typeface="Georgia"/>
                <a:cs typeface="Georgia"/>
              </a:rPr>
              <a:t>pH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-85">
                <a:latin typeface="Georgia"/>
                <a:cs typeface="Georgia"/>
              </a:rPr>
              <a:t>12</a:t>
            </a:r>
            <a:r>
              <a:rPr dirty="0" sz="1200" spc="-8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来 </a:t>
            </a:r>
            <a:r>
              <a:rPr dirty="0" sz="1200" spc="-10">
                <a:latin typeface="Arial Unicode MS"/>
                <a:cs typeface="Arial Unicode MS"/>
              </a:rPr>
              <a:t>稳定溶液的酸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因为在强酸或强碱溶液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H</a:t>
            </a:r>
            <a:r>
              <a:rPr dirty="0" baseline="37037" sz="900" spc="-37">
                <a:latin typeface="Times New Roman"/>
                <a:cs typeface="Times New Roman"/>
              </a:rPr>
              <a:t>+ </a:t>
            </a:r>
            <a:r>
              <a:rPr dirty="0" sz="1200" spc="-5">
                <a:latin typeface="Arial Unicode MS"/>
                <a:cs typeface="Arial Unicode MS"/>
              </a:rPr>
              <a:t>或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OH</a:t>
            </a:r>
            <a:r>
              <a:rPr dirty="0" baseline="37037" sz="900" spc="22">
                <a:latin typeface="Lucida Sans Unicode"/>
                <a:cs typeface="Lucida Sans Unicode"/>
              </a:rPr>
              <a:t>−</a:t>
            </a:r>
            <a:r>
              <a:rPr dirty="0" baseline="37037" sz="900" spc="284">
                <a:latin typeface="Lucida Sans Unicode"/>
                <a:cs typeface="Lucida Sans Unicode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浓度本</a:t>
            </a:r>
            <a:r>
              <a:rPr dirty="0" sz="1200" spc="-5">
                <a:latin typeface="Arial Unicode MS"/>
                <a:cs typeface="Arial Unicode MS"/>
              </a:rPr>
              <a:t>来 </a:t>
            </a:r>
            <a:r>
              <a:rPr dirty="0" sz="1200" spc="-10">
                <a:latin typeface="Arial Unicode MS"/>
                <a:cs typeface="Arial Unicode MS"/>
              </a:rPr>
              <a:t>就很</a:t>
            </a:r>
            <a:r>
              <a:rPr dirty="0" sz="1200" spc="-80">
                <a:latin typeface="Arial Unicode MS"/>
                <a:cs typeface="Arial Unicode MS"/>
              </a:rPr>
              <a:t>高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外加入少量酸或碱不会对溶液的酸度产生太大的影</a:t>
            </a:r>
            <a:r>
              <a:rPr dirty="0" sz="1200" spc="-80">
                <a:latin typeface="Arial Unicode MS"/>
                <a:cs typeface="Arial Unicode MS"/>
              </a:rPr>
              <a:t>响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 </a:t>
            </a:r>
            <a:r>
              <a:rPr dirty="0" sz="1200" spc="-5">
                <a:latin typeface="Arial Unicode MS"/>
                <a:cs typeface="Arial Unicode MS"/>
              </a:rPr>
              <a:t>这类溶液在经一定程度的稀释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值会发生改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缓冲溶液的基本作用是控制体系的酸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而有一些可作为校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正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时的参照溶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称为标准缓冲溶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67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48285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4.6.1</a:t>
            </a:r>
            <a:r>
              <a:rPr dirty="0" sz="1400" spc="14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缓冲溶液</a:t>
            </a:r>
            <a:r>
              <a:rPr dirty="0" sz="1600" spc="5">
                <a:solidFill>
                  <a:srgbClr val="FFFFFF"/>
                </a:solidFill>
              </a:rPr>
              <a:t> </a:t>
            </a:r>
            <a:r>
              <a:rPr dirty="0" sz="1400" spc="25">
                <a:solidFill>
                  <a:srgbClr val="FFFFFF"/>
                </a:solidFill>
                <a:latin typeface="Garamond"/>
                <a:cs typeface="Garamond"/>
              </a:rPr>
              <a:t>pH</a:t>
            </a:r>
            <a:r>
              <a:rPr dirty="0" sz="1400" spc="10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值的计算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40181"/>
            <a:ext cx="430720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对于由弱酸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NaA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所组成的缓冲溶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在溶液中依然存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在如下的平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152" y="1516799"/>
            <a:ext cx="23367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HA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7017" y="1409242"/>
            <a:ext cx="51562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80" b="0" i="1">
                <a:latin typeface="Bookman Old Style"/>
                <a:cs typeface="Bookman Old Style"/>
              </a:rPr>
              <a:t>K</a:t>
            </a:r>
            <a:r>
              <a:rPr dirty="0" baseline="-11904" sz="1050" spc="120" i="1">
                <a:latin typeface="Arial"/>
                <a:cs typeface="Arial"/>
              </a:rPr>
              <a:t>a</a:t>
            </a:r>
            <a:endParaRPr baseline="-11904"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450" spc="-400">
                <a:latin typeface="Arial Unicode MS"/>
                <a:cs typeface="Arial Unicode MS"/>
              </a:rPr>
              <a:t>、</a:t>
            </a:r>
            <a:r>
              <a:rPr dirty="0" baseline="24691" sz="675" spc="337">
                <a:latin typeface="Arial Unicode MS"/>
                <a:cs typeface="Arial Unicode MS"/>
              </a:rPr>
              <a:t> </a:t>
            </a:r>
            <a:r>
              <a:rPr dirty="0" baseline="24691" sz="675" spc="345">
                <a:latin typeface="Arial Unicode MS"/>
                <a:cs typeface="Arial Unicode MS"/>
              </a:rPr>
              <a:t> </a:t>
            </a:r>
            <a:r>
              <a:rPr dirty="0" sz="450" spc="290">
                <a:latin typeface="Arial Unicode MS"/>
                <a:cs typeface="Arial Unicode MS"/>
              </a:rPr>
              <a:t>   </a:t>
            </a:r>
            <a:r>
              <a:rPr dirty="0" sz="450" spc="285">
                <a:latin typeface="Arial Unicode MS"/>
                <a:cs typeface="Arial Unicode MS"/>
              </a:rPr>
              <a:t> </a:t>
            </a:r>
            <a:r>
              <a:rPr dirty="0" baseline="24691" sz="675" spc="-667">
                <a:latin typeface="Arial Unicode MS"/>
                <a:cs typeface="Arial Unicode MS"/>
              </a:rPr>
              <a:t> </a:t>
            </a:r>
            <a:r>
              <a:rPr dirty="0" sz="450" spc="225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2293" y="1600200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5530" y="1516799"/>
            <a:ext cx="12217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861694" algn="l"/>
              </a:tabLst>
            </a:pP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41666" sz="900" spc="104">
                <a:latin typeface="Times New Roman"/>
                <a:cs typeface="Times New Roman"/>
              </a:rPr>
              <a:t>+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A</a:t>
            </a:r>
            <a:r>
              <a:rPr dirty="0" baseline="41666" sz="900" spc="127">
                <a:latin typeface="Lucida Sans Unicode"/>
                <a:cs typeface="Lucida Sans Unicode"/>
              </a:rPr>
              <a:t>−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36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72460" y="1633397"/>
            <a:ext cx="518795" cy="0"/>
          </a:xfrm>
          <a:custGeom>
            <a:avLst/>
            <a:gdLst/>
            <a:ahLst/>
            <a:cxnLst/>
            <a:rect l="l" t="t" r="r" b="b"/>
            <a:pathLst>
              <a:path w="518795" h="0">
                <a:moveTo>
                  <a:pt x="0" y="0"/>
                </a:moveTo>
                <a:lnTo>
                  <a:pt x="51850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34360" y="1400566"/>
            <a:ext cx="59499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940" marR="30480" indent="-11747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405">
                <a:latin typeface="Times New Roman"/>
                <a:cs typeface="Times New Roman"/>
              </a:rPr>
              <a:t>+</a:t>
            </a:r>
            <a:r>
              <a:rPr dirty="0" sz="1100" spc="-40">
                <a:latin typeface="Georgia"/>
                <a:cs typeface="Georgia"/>
              </a:rPr>
              <a:t>][</a:t>
            </a:r>
            <a:r>
              <a:rPr dirty="0" sz="1100" spc="-75">
                <a:latin typeface="Georgia"/>
                <a:cs typeface="Georgia"/>
              </a:rPr>
              <a:t>A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55">
                <a:latin typeface="Georgia"/>
                <a:cs typeface="Georgia"/>
              </a:rPr>
              <a:t>[HA]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48285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4.6.1</a:t>
            </a:r>
            <a:r>
              <a:rPr dirty="0" sz="1400" spc="14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缓冲溶液</a:t>
            </a:r>
            <a:r>
              <a:rPr dirty="0" sz="1600" spc="5">
                <a:solidFill>
                  <a:srgbClr val="FFFFFF"/>
                </a:solidFill>
              </a:rPr>
              <a:t> </a:t>
            </a:r>
            <a:r>
              <a:rPr dirty="0" sz="1400" spc="25">
                <a:solidFill>
                  <a:srgbClr val="FFFFFF"/>
                </a:solidFill>
                <a:latin typeface="Garamond"/>
                <a:cs typeface="Garamond"/>
              </a:rPr>
              <a:t>pH</a:t>
            </a:r>
            <a:r>
              <a:rPr dirty="0" sz="1400" spc="10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值的计算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40181"/>
            <a:ext cx="430720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对于由弱酸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NaA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所组成的缓冲溶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在溶液中依然存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在如下的平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152" y="1516799"/>
            <a:ext cx="23367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HA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7017" y="1409242"/>
            <a:ext cx="51562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80" b="0" i="1">
                <a:latin typeface="Bookman Old Style"/>
                <a:cs typeface="Bookman Old Style"/>
              </a:rPr>
              <a:t>K</a:t>
            </a:r>
            <a:r>
              <a:rPr dirty="0" baseline="-11904" sz="1050" spc="120" i="1">
                <a:latin typeface="Arial"/>
                <a:cs typeface="Arial"/>
              </a:rPr>
              <a:t>a</a:t>
            </a:r>
            <a:endParaRPr baseline="-11904"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450" spc="-400">
                <a:latin typeface="Arial Unicode MS"/>
                <a:cs typeface="Arial Unicode MS"/>
              </a:rPr>
              <a:t>、</a:t>
            </a:r>
            <a:r>
              <a:rPr dirty="0" baseline="24691" sz="675" spc="337">
                <a:latin typeface="Arial Unicode MS"/>
                <a:cs typeface="Arial Unicode MS"/>
              </a:rPr>
              <a:t> </a:t>
            </a:r>
            <a:r>
              <a:rPr dirty="0" baseline="24691" sz="675" spc="345">
                <a:latin typeface="Arial Unicode MS"/>
                <a:cs typeface="Arial Unicode MS"/>
              </a:rPr>
              <a:t> </a:t>
            </a:r>
            <a:r>
              <a:rPr dirty="0" sz="450" spc="290">
                <a:latin typeface="Arial Unicode MS"/>
                <a:cs typeface="Arial Unicode MS"/>
              </a:rPr>
              <a:t>   </a:t>
            </a:r>
            <a:r>
              <a:rPr dirty="0" sz="450" spc="285">
                <a:latin typeface="Arial Unicode MS"/>
                <a:cs typeface="Arial Unicode MS"/>
              </a:rPr>
              <a:t> </a:t>
            </a:r>
            <a:r>
              <a:rPr dirty="0" baseline="24691" sz="675" spc="-667">
                <a:latin typeface="Arial Unicode MS"/>
                <a:cs typeface="Arial Unicode MS"/>
              </a:rPr>
              <a:t> </a:t>
            </a:r>
            <a:r>
              <a:rPr dirty="0" sz="450" spc="225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2293" y="1600200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5530" y="1516799"/>
            <a:ext cx="12217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861694" algn="l"/>
              </a:tabLst>
            </a:pP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41666" sz="900" spc="104">
                <a:latin typeface="Times New Roman"/>
                <a:cs typeface="Times New Roman"/>
              </a:rPr>
              <a:t>+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A</a:t>
            </a:r>
            <a:r>
              <a:rPr dirty="0" baseline="41666" sz="900" spc="127">
                <a:latin typeface="Lucida Sans Unicode"/>
                <a:cs typeface="Lucida Sans Unicode"/>
              </a:rPr>
              <a:t>−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36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72460" y="1633397"/>
            <a:ext cx="518795" cy="0"/>
          </a:xfrm>
          <a:custGeom>
            <a:avLst/>
            <a:gdLst/>
            <a:ahLst/>
            <a:cxnLst/>
            <a:rect l="l" t="t" r="r" b="b"/>
            <a:pathLst>
              <a:path w="518795" h="0">
                <a:moveTo>
                  <a:pt x="0" y="0"/>
                </a:moveTo>
                <a:lnTo>
                  <a:pt x="51850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34360" y="1400566"/>
            <a:ext cx="59499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940" marR="30480" indent="-11747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405">
                <a:latin typeface="Times New Roman"/>
                <a:cs typeface="Times New Roman"/>
              </a:rPr>
              <a:t>+</a:t>
            </a:r>
            <a:r>
              <a:rPr dirty="0" sz="1100" spc="-40">
                <a:latin typeface="Georgia"/>
                <a:cs typeface="Georgia"/>
              </a:rPr>
              <a:t>][</a:t>
            </a:r>
            <a:r>
              <a:rPr dirty="0" sz="1100" spc="-75">
                <a:latin typeface="Georgia"/>
                <a:cs typeface="Georgia"/>
              </a:rPr>
              <a:t>A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55">
                <a:latin typeface="Georgia"/>
                <a:cs typeface="Georgia"/>
              </a:rPr>
              <a:t>[HA]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501" y="1896148"/>
            <a:ext cx="1501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氢离子浓度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9254" y="2293620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27452" y="2371610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6862" y="2288209"/>
            <a:ext cx="9594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5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28468" y="240482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4" h="0">
                <a:moveTo>
                  <a:pt x="0" y="0"/>
                </a:moveTo>
                <a:lnTo>
                  <a:pt x="28478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90368" y="2171976"/>
            <a:ext cx="36131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z="1100" spc="-55">
                <a:latin typeface="Georgia"/>
                <a:cs typeface="Georgia"/>
              </a:rPr>
              <a:t>[HA]</a:t>
            </a:r>
            <a:endParaRPr sz="1100">
              <a:latin typeface="Georgia"/>
              <a:cs typeface="Georgia"/>
            </a:endParaRPr>
          </a:p>
          <a:p>
            <a:pPr marL="50165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27777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456" y="2288209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(25)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401" y="95694"/>
            <a:ext cx="2933700" cy="1154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质量平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967740">
              <a:lnSpc>
                <a:spcPct val="100000"/>
              </a:lnSpc>
            </a:pPr>
            <a:r>
              <a:rPr dirty="0" sz="1100" spc="-55">
                <a:latin typeface="Georgia"/>
                <a:cs typeface="Georgia"/>
              </a:rPr>
              <a:t>[HA]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电荷平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043305">
              <a:lnSpc>
                <a:spcPct val="100000"/>
              </a:lnSpc>
              <a:spcBef>
                <a:spcPts val="42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95694"/>
            <a:ext cx="77406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质量平</a:t>
            </a:r>
            <a:r>
              <a:rPr dirty="0" spc="-90"/>
              <a:t>衡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401" y="471855"/>
            <a:ext cx="2933700" cy="10871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6774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[HA]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电荷平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043305">
              <a:lnSpc>
                <a:spcPct val="100000"/>
              </a:lnSpc>
              <a:spcBef>
                <a:spcPts val="425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985"/>
              </a:spcBef>
            </a:pPr>
            <a:r>
              <a:rPr dirty="0" sz="1200" spc="-5">
                <a:latin typeface="Arial Unicode MS"/>
                <a:cs typeface="Arial Unicode MS"/>
              </a:rPr>
              <a:t>从上面两式可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8237" y="1631845"/>
            <a:ext cx="2131695" cy="54927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1100" spc="-55">
                <a:latin typeface="Georgia"/>
                <a:cs typeface="Georgia"/>
              </a:rPr>
              <a:t>[HA]     </a:t>
            </a:r>
            <a:r>
              <a:rPr dirty="0" sz="1100" spc="140">
                <a:latin typeface="Georgia"/>
                <a:cs typeface="Georgia"/>
              </a:rPr>
              <a:t>= 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15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62230">
              <a:lnSpc>
                <a:spcPct val="100000"/>
              </a:lnSpc>
              <a:spcBef>
                <a:spcPts val="740"/>
              </a:spcBef>
            </a:pP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    </a:t>
            </a:r>
            <a:r>
              <a:rPr dirty="0" sz="1100" spc="140">
                <a:latin typeface="Georgia"/>
                <a:cs typeface="Georgia"/>
              </a:rPr>
              <a:t>= 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6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0456" y="1631845"/>
            <a:ext cx="271780" cy="54927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 spc="-35">
                <a:latin typeface="Georgia"/>
                <a:cs typeface="Georgia"/>
              </a:rPr>
              <a:t>(26)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00" spc="-15">
                <a:latin typeface="Georgia"/>
                <a:cs typeface="Georgia"/>
              </a:rPr>
              <a:t>(27)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95694"/>
            <a:ext cx="77406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质量平</a:t>
            </a:r>
            <a:r>
              <a:rPr dirty="0" spc="-90"/>
              <a:t>衡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401" y="471855"/>
            <a:ext cx="2933700" cy="10871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6774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[HA]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电荷平</a:t>
            </a:r>
            <a:r>
              <a:rPr dirty="0" sz="1200" spc="-90">
                <a:latin typeface="Arial Unicode MS"/>
                <a:cs typeface="Arial Unicode MS"/>
              </a:rPr>
              <a:t>衡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043305">
              <a:lnSpc>
                <a:spcPct val="100000"/>
              </a:lnSpc>
              <a:spcBef>
                <a:spcPts val="425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985"/>
              </a:spcBef>
            </a:pPr>
            <a:r>
              <a:rPr dirty="0" sz="1200" spc="-5">
                <a:latin typeface="Arial Unicode MS"/>
                <a:cs typeface="Arial Unicode MS"/>
              </a:rPr>
              <a:t>从上面两式可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0456" y="1631845"/>
            <a:ext cx="271780" cy="54927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 spc="-35">
                <a:latin typeface="Georgia"/>
                <a:cs typeface="Georgia"/>
              </a:rPr>
              <a:t>(26)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00" spc="-15">
                <a:latin typeface="Georgia"/>
                <a:cs typeface="Georgia"/>
              </a:rPr>
              <a:t>(27)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01" y="1631845"/>
            <a:ext cx="2966085" cy="9144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871855">
              <a:lnSpc>
                <a:spcPct val="100000"/>
              </a:lnSpc>
              <a:spcBef>
                <a:spcPts val="840"/>
              </a:spcBef>
            </a:pPr>
            <a:r>
              <a:rPr dirty="0" sz="1100" spc="-55">
                <a:latin typeface="Georgia"/>
                <a:cs typeface="Georgia"/>
              </a:rPr>
              <a:t>[HA]     </a:t>
            </a:r>
            <a:r>
              <a:rPr dirty="0" sz="1100" spc="140">
                <a:latin typeface="Georgia"/>
                <a:cs typeface="Georgia"/>
              </a:rPr>
              <a:t>= 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15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896619">
              <a:lnSpc>
                <a:spcPct val="100000"/>
              </a:lnSpc>
              <a:spcBef>
                <a:spcPts val="740"/>
              </a:spcBef>
            </a:pP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    </a:t>
            </a:r>
            <a:r>
              <a:rPr dirty="0" sz="1100" spc="140">
                <a:latin typeface="Georgia"/>
                <a:cs typeface="Georgia"/>
              </a:rPr>
              <a:t>= 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6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dirty="0" sz="1200" spc="-260">
                <a:latin typeface="Arial Unicode MS"/>
                <a:cs typeface="Arial Unicode MS"/>
              </a:rPr>
              <a:t>将</a:t>
            </a:r>
            <a:r>
              <a:rPr dirty="0" sz="1200" spc="-100">
                <a:latin typeface="Arial Unicode MS"/>
                <a:cs typeface="Arial Unicode MS"/>
              </a:rPr>
              <a:t>（</a:t>
            </a:r>
            <a:r>
              <a:rPr dirty="0" sz="1100" spc="-100">
                <a:latin typeface="Georgia"/>
                <a:cs typeface="Georgia"/>
              </a:rPr>
              <a:t>26</a:t>
            </a:r>
            <a:r>
              <a:rPr dirty="0" sz="1200" spc="-10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260">
                <a:latin typeface="Arial Unicode MS"/>
                <a:cs typeface="Arial Unicode MS"/>
              </a:rPr>
              <a:t>和</a:t>
            </a:r>
            <a:r>
              <a:rPr dirty="0" sz="1200" spc="-85">
                <a:latin typeface="Arial Unicode MS"/>
                <a:cs typeface="Arial Unicode MS"/>
              </a:rPr>
              <a:t>（</a:t>
            </a:r>
            <a:r>
              <a:rPr dirty="0" sz="1100" spc="-85">
                <a:latin typeface="Georgia"/>
                <a:cs typeface="Georgia"/>
              </a:rPr>
              <a:t>27</a:t>
            </a:r>
            <a:r>
              <a:rPr dirty="0" sz="1200" spc="-8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式带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90">
                <a:latin typeface="Arial Unicode MS"/>
                <a:cs typeface="Arial Unicode MS"/>
              </a:rPr>
              <a:t>（</a:t>
            </a:r>
            <a:r>
              <a:rPr dirty="0" sz="1100" spc="-90">
                <a:latin typeface="Georgia"/>
                <a:cs typeface="Georgia"/>
              </a:rPr>
              <a:t>25</a:t>
            </a:r>
            <a:r>
              <a:rPr dirty="0" sz="1200" spc="-9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6784" y="2735669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1" y="2730246"/>
            <a:ext cx="5861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4982" y="2813647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65997" y="2846857"/>
            <a:ext cx="1410335" cy="0"/>
          </a:xfrm>
          <a:custGeom>
            <a:avLst/>
            <a:gdLst/>
            <a:ahLst/>
            <a:cxnLst/>
            <a:rect l="l" t="t" r="r" b="b"/>
            <a:pathLst>
              <a:path w="1410335" h="0">
                <a:moveTo>
                  <a:pt x="0" y="0"/>
                </a:moveTo>
                <a:lnTo>
                  <a:pt x="14097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97139" y="2614013"/>
            <a:ext cx="181673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baseline="-37878" sz="1650" spc="7">
                <a:latin typeface="Georgia"/>
                <a:cs typeface="Georgia"/>
              </a:rPr>
              <a:t>(HA)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15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368300">
              <a:lnSpc>
                <a:spcPct val="100000"/>
              </a:lnSpc>
              <a:spcBef>
                <a:spcPts val="170"/>
              </a:spcBef>
            </a:pP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2777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456" y="273024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(28)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914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简化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801" y="1056093"/>
            <a:ext cx="40519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作为缓冲溶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都较大</a:t>
            </a:r>
            <a:r>
              <a:rPr dirty="0" baseline="37037" sz="900" spc="-112">
                <a:latin typeface="Times New Roman"/>
                <a:cs typeface="Times New Roman"/>
              </a:rPr>
              <a:t>6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295">
                <a:latin typeface="Arial Unicode MS"/>
                <a:cs typeface="Arial Unicode MS"/>
              </a:rPr>
              <a:t>，（</a:t>
            </a:r>
            <a:r>
              <a:rPr dirty="0" sz="1100" spc="-295">
                <a:latin typeface="Georgia"/>
                <a:cs typeface="Georgia"/>
              </a:rPr>
              <a:t>28</a:t>
            </a:r>
            <a:r>
              <a:rPr dirty="0" sz="1200" spc="-29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式可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1279791"/>
            <a:ext cx="774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以简化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9244" y="152219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7442" y="1600174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6852" y="1516773"/>
            <a:ext cx="9594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5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48458" y="1633385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 h="0">
                <a:moveTo>
                  <a:pt x="0" y="0"/>
                </a:moveTo>
                <a:lnTo>
                  <a:pt x="4448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35758" y="1400540"/>
            <a:ext cx="470534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(NaA)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456" y="151677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(29)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501" y="1843138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或</a:t>
            </a:r>
            <a:r>
              <a:rPr dirty="0" sz="1200" spc="-90">
                <a:latin typeface="Arial Unicode MS"/>
                <a:cs typeface="Arial Unicode MS"/>
              </a:rPr>
              <a:t>者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330" y="2080120"/>
            <a:ext cx="4686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pH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p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61578" y="2163534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43913" y="2080120"/>
            <a:ext cx="862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5">
                <a:latin typeface="Georgia"/>
                <a:cs typeface="Georgia"/>
              </a:rPr>
              <a:t>(HA)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29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log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1279" y="1963874"/>
            <a:ext cx="470534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(HA)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(NaA)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0456" y="208012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(30)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8394" y="3172599"/>
            <a:ext cx="408241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6</a:t>
            </a:r>
            <a:r>
              <a:rPr dirty="0" sz="900" spc="-5">
                <a:latin typeface="Arial Unicode MS"/>
                <a:cs typeface="Arial Unicode MS"/>
              </a:rPr>
              <a:t>一般而</a:t>
            </a:r>
            <a:r>
              <a:rPr dirty="0" sz="900" spc="-60">
                <a:latin typeface="Arial Unicode MS"/>
                <a:cs typeface="Arial Unicode MS"/>
              </a:rPr>
              <a:t>言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作为缓冲溶</a:t>
            </a:r>
            <a:r>
              <a:rPr dirty="0" sz="900" spc="-60">
                <a:latin typeface="Arial Unicode MS"/>
                <a:cs typeface="Arial Unicode MS"/>
              </a:rPr>
              <a:t>液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都可满足</a:t>
            </a:r>
            <a:r>
              <a:rPr dirty="0" sz="900" spc="55">
                <a:latin typeface="Arial Unicode MS"/>
                <a:cs typeface="Arial Unicode MS"/>
              </a:rPr>
              <a:t> </a:t>
            </a:r>
            <a:r>
              <a:rPr dirty="0" sz="900" spc="45" i="1">
                <a:latin typeface="Calibri"/>
                <a:cs typeface="Calibri"/>
              </a:rPr>
              <a:t>c</a:t>
            </a:r>
            <a:r>
              <a:rPr dirty="0" sz="900" spc="45">
                <a:latin typeface="Arial"/>
                <a:cs typeface="Arial"/>
              </a:rPr>
              <a:t>(HA)</a:t>
            </a:r>
            <a:r>
              <a:rPr dirty="0" sz="900" spc="45" i="1">
                <a:latin typeface="Calibri"/>
                <a:cs typeface="Calibri"/>
              </a:rPr>
              <a:t>,</a:t>
            </a:r>
            <a:r>
              <a:rPr dirty="0" sz="900" spc="-50" i="1">
                <a:latin typeface="Calibri"/>
                <a:cs typeface="Calibri"/>
              </a:rPr>
              <a:t> </a:t>
            </a:r>
            <a:r>
              <a:rPr dirty="0" sz="900" spc="35" i="1">
                <a:latin typeface="Calibri"/>
                <a:cs typeface="Calibri"/>
              </a:rPr>
              <a:t>c</a:t>
            </a:r>
            <a:r>
              <a:rPr dirty="0" sz="900" spc="35">
                <a:latin typeface="Arial"/>
                <a:cs typeface="Arial"/>
              </a:rPr>
              <a:t>(NaA)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220" i="1">
                <a:latin typeface="Arial"/>
                <a:cs typeface="Arial"/>
              </a:rPr>
              <a:t>≥</a:t>
            </a:r>
            <a:r>
              <a:rPr dirty="0" sz="900" spc="5" i="1">
                <a:latin typeface="Arial"/>
                <a:cs typeface="Arial"/>
              </a:rPr>
              <a:t> </a:t>
            </a:r>
            <a:r>
              <a:rPr dirty="0" sz="900" spc="35">
                <a:latin typeface="Arial"/>
                <a:cs typeface="Arial"/>
              </a:rPr>
              <a:t>20[H</a:t>
            </a:r>
            <a:r>
              <a:rPr dirty="0" baseline="37037" sz="900" spc="52">
                <a:latin typeface="Times New Roman"/>
                <a:cs typeface="Times New Roman"/>
              </a:rPr>
              <a:t>+</a:t>
            </a:r>
            <a:r>
              <a:rPr dirty="0" sz="900" spc="35">
                <a:latin typeface="Arial"/>
                <a:cs typeface="Arial"/>
              </a:rPr>
              <a:t>]</a:t>
            </a:r>
            <a:r>
              <a:rPr dirty="0" sz="900" spc="-130">
                <a:latin typeface="Arial"/>
                <a:cs typeface="Arial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（或</a:t>
            </a:r>
            <a:r>
              <a:rPr dirty="0" sz="900" spc="55">
                <a:latin typeface="Arial Unicode MS"/>
                <a:cs typeface="Arial Unicode MS"/>
              </a:rPr>
              <a:t> </a:t>
            </a:r>
            <a:r>
              <a:rPr dirty="0" sz="900" spc="-45">
                <a:latin typeface="Arial"/>
                <a:cs typeface="Arial"/>
              </a:rPr>
              <a:t>20[OH</a:t>
            </a:r>
            <a:r>
              <a:rPr dirty="0" baseline="37037" sz="900" spc="-67">
                <a:latin typeface="Lucida Sans Unicode"/>
                <a:cs typeface="Lucida Sans Unicode"/>
              </a:rPr>
              <a:t>−</a:t>
            </a:r>
            <a:r>
              <a:rPr dirty="0" sz="900" spc="-45">
                <a:latin typeface="Arial"/>
                <a:cs typeface="Arial"/>
              </a:rPr>
              <a:t>]</a:t>
            </a:r>
            <a:r>
              <a:rPr dirty="0" sz="900" spc="-45">
                <a:latin typeface="Arial Unicode MS"/>
                <a:cs typeface="Arial Unicode MS"/>
              </a:rPr>
              <a:t>）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375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930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2857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1587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7985"/>
            <a:ext cx="50749" cy="7905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13577"/>
            <a:ext cx="4432935" cy="666115"/>
          </a:xfrm>
          <a:custGeom>
            <a:avLst/>
            <a:gdLst/>
            <a:ahLst/>
            <a:cxnLst/>
            <a:rect l="l" t="t" r="r" b="b"/>
            <a:pathLst>
              <a:path w="4432935" h="666115">
                <a:moveTo>
                  <a:pt x="4432566" y="0"/>
                </a:moveTo>
                <a:lnTo>
                  <a:pt x="0" y="0"/>
                </a:lnTo>
                <a:lnTo>
                  <a:pt x="0" y="614995"/>
                </a:lnTo>
                <a:lnTo>
                  <a:pt x="4008" y="634720"/>
                </a:lnTo>
                <a:lnTo>
                  <a:pt x="14922" y="650873"/>
                </a:lnTo>
                <a:lnTo>
                  <a:pt x="31075" y="661787"/>
                </a:lnTo>
                <a:lnTo>
                  <a:pt x="50800" y="665795"/>
                </a:lnTo>
                <a:lnTo>
                  <a:pt x="4381765" y="665795"/>
                </a:lnTo>
                <a:lnTo>
                  <a:pt x="4401490" y="661787"/>
                </a:lnTo>
                <a:lnTo>
                  <a:pt x="4417643" y="650873"/>
                </a:lnTo>
                <a:lnTo>
                  <a:pt x="4428558" y="634720"/>
                </a:lnTo>
                <a:lnTo>
                  <a:pt x="4432566" y="61499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76071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77155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633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506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79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31902"/>
            <a:ext cx="4432935" cy="9118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50800">
              <a:lnSpc>
                <a:spcPct val="100000"/>
              </a:lnSpc>
              <a:spcBef>
                <a:spcPts val="38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4.13</a:t>
            </a:r>
            <a:endParaRPr sz="1200">
              <a:latin typeface="Garamond"/>
              <a:cs typeface="Garamond"/>
            </a:endParaRPr>
          </a:p>
          <a:p>
            <a:pPr algn="just" marL="50800" marR="43180">
              <a:lnSpc>
                <a:spcPts val="1760"/>
              </a:lnSpc>
              <a:spcBef>
                <a:spcPts val="80"/>
              </a:spcBef>
            </a:pP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构成的缓冲溶液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NH</a:t>
            </a:r>
            <a:r>
              <a:rPr dirty="0" baseline="-13888" sz="900" spc="-97">
                <a:latin typeface="Times New Roman"/>
                <a:cs typeface="Times New Roman"/>
              </a:rPr>
              <a:t>3</a:t>
            </a:r>
            <a:r>
              <a:rPr dirty="0" baseline="-13888" sz="900" spc="-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的分析浓度</a:t>
            </a:r>
            <a:r>
              <a:rPr dirty="0" sz="1200" spc="-5">
                <a:latin typeface="Arial Unicode MS"/>
                <a:cs typeface="Arial Unicode MS"/>
              </a:rPr>
              <a:t>分 </a:t>
            </a:r>
            <a:r>
              <a:rPr dirty="0" sz="1200" spc="-10">
                <a:latin typeface="Arial Unicode MS"/>
                <a:cs typeface="Arial Unicode MS"/>
              </a:rPr>
              <a:t>别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0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10mol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0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10mol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L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104">
                <a:latin typeface="Times New Roman"/>
                <a:cs typeface="Times New Roman"/>
              </a:rPr>
              <a:t>1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计算此缓冲溶液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已</a:t>
            </a:r>
            <a:r>
              <a:rPr dirty="0" sz="1200" spc="-5">
                <a:latin typeface="Arial Unicode MS"/>
                <a:cs typeface="Arial Unicode MS"/>
              </a:rPr>
              <a:t>知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 i="1">
                <a:latin typeface="Arial"/>
                <a:cs typeface="Arial"/>
              </a:rPr>
              <a:t>b</a:t>
            </a:r>
            <a:r>
              <a:rPr dirty="0" sz="1100" spc="25">
                <a:latin typeface="Georgia"/>
                <a:cs typeface="Georgia"/>
              </a:rPr>
              <a:t>(NH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1</a:t>
            </a:r>
            <a:r>
              <a:rPr dirty="0" sz="1100" spc="-1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375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930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2857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1587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7985"/>
            <a:ext cx="50749" cy="7905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13577"/>
            <a:ext cx="4432935" cy="666115"/>
          </a:xfrm>
          <a:custGeom>
            <a:avLst/>
            <a:gdLst/>
            <a:ahLst/>
            <a:cxnLst/>
            <a:rect l="l" t="t" r="r" b="b"/>
            <a:pathLst>
              <a:path w="4432935" h="666115">
                <a:moveTo>
                  <a:pt x="4432566" y="0"/>
                </a:moveTo>
                <a:lnTo>
                  <a:pt x="0" y="0"/>
                </a:lnTo>
                <a:lnTo>
                  <a:pt x="0" y="614995"/>
                </a:lnTo>
                <a:lnTo>
                  <a:pt x="4008" y="634720"/>
                </a:lnTo>
                <a:lnTo>
                  <a:pt x="14922" y="650873"/>
                </a:lnTo>
                <a:lnTo>
                  <a:pt x="31075" y="661787"/>
                </a:lnTo>
                <a:lnTo>
                  <a:pt x="50800" y="665795"/>
                </a:lnTo>
                <a:lnTo>
                  <a:pt x="4381765" y="665795"/>
                </a:lnTo>
                <a:lnTo>
                  <a:pt x="4401490" y="661787"/>
                </a:lnTo>
                <a:lnTo>
                  <a:pt x="4417643" y="650873"/>
                </a:lnTo>
                <a:lnTo>
                  <a:pt x="4428558" y="634720"/>
                </a:lnTo>
                <a:lnTo>
                  <a:pt x="4432566" y="61499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76071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77155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633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506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79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31902"/>
            <a:ext cx="4458335" cy="12617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63500">
              <a:lnSpc>
                <a:spcPct val="100000"/>
              </a:lnSpc>
              <a:spcBef>
                <a:spcPts val="38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4.13</a:t>
            </a:r>
            <a:endParaRPr sz="1200">
              <a:latin typeface="Garamond"/>
              <a:cs typeface="Garamond"/>
            </a:endParaRPr>
          </a:p>
          <a:p>
            <a:pPr algn="just" marL="63500" marR="55880">
              <a:lnSpc>
                <a:spcPts val="1760"/>
              </a:lnSpc>
              <a:spcBef>
                <a:spcPts val="80"/>
              </a:spcBef>
            </a:pP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构成的缓冲溶液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NH</a:t>
            </a:r>
            <a:r>
              <a:rPr dirty="0" baseline="-13888" sz="900" spc="-97">
                <a:latin typeface="Times New Roman"/>
                <a:cs typeface="Times New Roman"/>
              </a:rPr>
              <a:t>3</a:t>
            </a:r>
            <a:r>
              <a:rPr dirty="0" baseline="-13888" sz="900" spc="-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的分析浓度</a:t>
            </a:r>
            <a:r>
              <a:rPr dirty="0" sz="1200" spc="-5">
                <a:latin typeface="Arial Unicode MS"/>
                <a:cs typeface="Arial Unicode MS"/>
              </a:rPr>
              <a:t>分 </a:t>
            </a:r>
            <a:r>
              <a:rPr dirty="0" sz="1200" spc="-10">
                <a:latin typeface="Arial Unicode MS"/>
                <a:cs typeface="Arial Unicode MS"/>
              </a:rPr>
              <a:t>别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0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10mol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0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10mol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L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104">
                <a:latin typeface="Times New Roman"/>
                <a:cs typeface="Times New Roman"/>
              </a:rPr>
              <a:t>1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计算此缓冲溶液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已</a:t>
            </a:r>
            <a:r>
              <a:rPr dirty="0" sz="1200" spc="-5">
                <a:latin typeface="Arial Unicode MS"/>
                <a:cs typeface="Arial Unicode MS"/>
              </a:rPr>
              <a:t>知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 i="1">
                <a:latin typeface="Arial"/>
                <a:cs typeface="Arial"/>
              </a:rPr>
              <a:t>b</a:t>
            </a:r>
            <a:r>
              <a:rPr dirty="0" sz="1100" spc="25">
                <a:latin typeface="Georgia"/>
                <a:cs typeface="Georgia"/>
              </a:rPr>
              <a:t>(NH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1</a:t>
            </a:r>
            <a:r>
              <a:rPr dirty="0" sz="1100" spc="-1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63500">
              <a:lnSpc>
                <a:spcPct val="100000"/>
              </a:lnSpc>
              <a:spcBef>
                <a:spcPts val="120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查表可得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 i="1">
                <a:latin typeface="Arial"/>
                <a:cs typeface="Arial"/>
              </a:rPr>
              <a:t>b</a:t>
            </a:r>
            <a:r>
              <a:rPr dirty="0" sz="1100" spc="25">
                <a:latin typeface="Georgia"/>
                <a:cs typeface="Georgia"/>
              </a:rPr>
              <a:t>(NH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1</a:t>
            </a:r>
            <a:r>
              <a:rPr dirty="0" sz="1100" spc="-1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10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baseline="37037" sz="900" spc="-37">
                <a:latin typeface="Times New Roman"/>
                <a:cs typeface="Times New Roman"/>
              </a:rPr>
              <a:t>5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3394" y="1538973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2646" y="146099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2646" y="155244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728" y="1455572"/>
            <a:ext cx="7404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(NH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31441" y="1445247"/>
            <a:ext cx="2717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8445" algn="l"/>
              </a:tabLst>
            </a:pPr>
            <a:r>
              <a:rPr dirty="0" u="sng" sz="600" spc="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	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1426" y="1634020"/>
            <a:ext cx="3816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945" algn="l"/>
              </a:tabLst>
            </a:pPr>
            <a:r>
              <a:rPr dirty="0" sz="600" spc="-10" i="1">
                <a:latin typeface="Arial"/>
                <a:cs typeface="Arial"/>
              </a:rPr>
              <a:t>b</a:t>
            </a:r>
            <a:r>
              <a:rPr dirty="0" sz="600" spc="-10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1288" y="145557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3761" y="1361846"/>
            <a:ext cx="1259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2245" algn="l"/>
                <a:tab pos="76136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1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sz="1100" spc="130" b="0" i="1">
                <a:latin typeface="Bookman Old Style"/>
                <a:cs typeface="Bookman Old Style"/>
              </a:rPr>
              <a:t>	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77629" y="1374190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5418" y="1572183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 h="0">
                <a:moveTo>
                  <a:pt x="0" y="0"/>
                </a:moveTo>
                <a:lnTo>
                  <a:pt x="65712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543761" y="1550606"/>
            <a:ext cx="974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84225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-35">
                <a:latin typeface="Georgia"/>
                <a:cs typeface="Georgia"/>
              </a:rPr>
              <a:t>(NH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85186" y="1550606"/>
            <a:ext cx="441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00819" y="157321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03511" y="1455572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7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4663" y="1460995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3751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6930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928573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915873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37985"/>
            <a:ext cx="50749" cy="7905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313577"/>
            <a:ext cx="4432935" cy="666115"/>
          </a:xfrm>
          <a:custGeom>
            <a:avLst/>
            <a:gdLst/>
            <a:ahLst/>
            <a:cxnLst/>
            <a:rect l="l" t="t" r="r" b="b"/>
            <a:pathLst>
              <a:path w="4432935" h="666115">
                <a:moveTo>
                  <a:pt x="4432566" y="0"/>
                </a:moveTo>
                <a:lnTo>
                  <a:pt x="0" y="0"/>
                </a:lnTo>
                <a:lnTo>
                  <a:pt x="0" y="614995"/>
                </a:lnTo>
                <a:lnTo>
                  <a:pt x="4008" y="634720"/>
                </a:lnTo>
                <a:lnTo>
                  <a:pt x="14922" y="650873"/>
                </a:lnTo>
                <a:lnTo>
                  <a:pt x="31075" y="661787"/>
                </a:lnTo>
                <a:lnTo>
                  <a:pt x="50800" y="665795"/>
                </a:lnTo>
                <a:lnTo>
                  <a:pt x="4381765" y="665795"/>
                </a:lnTo>
                <a:lnTo>
                  <a:pt x="4401490" y="661787"/>
                </a:lnTo>
                <a:lnTo>
                  <a:pt x="4417643" y="650873"/>
                </a:lnTo>
                <a:lnTo>
                  <a:pt x="4428558" y="634720"/>
                </a:lnTo>
                <a:lnTo>
                  <a:pt x="4432566" y="61499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76071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77155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633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506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3797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31902"/>
            <a:ext cx="4458335" cy="12617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63500">
              <a:lnSpc>
                <a:spcPct val="100000"/>
              </a:lnSpc>
              <a:spcBef>
                <a:spcPts val="38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4.13</a:t>
            </a:r>
            <a:endParaRPr sz="1200">
              <a:latin typeface="Garamond"/>
              <a:cs typeface="Garamond"/>
            </a:endParaRPr>
          </a:p>
          <a:p>
            <a:pPr algn="just" marL="63500" marR="55880">
              <a:lnSpc>
                <a:spcPts val="1760"/>
              </a:lnSpc>
              <a:spcBef>
                <a:spcPts val="80"/>
              </a:spcBef>
            </a:pP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构成的缓冲溶液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NH</a:t>
            </a:r>
            <a:r>
              <a:rPr dirty="0" baseline="-13888" sz="900" spc="-97">
                <a:latin typeface="Times New Roman"/>
                <a:cs typeface="Times New Roman"/>
              </a:rPr>
              <a:t>3</a:t>
            </a:r>
            <a:r>
              <a:rPr dirty="0" baseline="-13888" sz="900" spc="-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Cl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的分析浓度</a:t>
            </a:r>
            <a:r>
              <a:rPr dirty="0" sz="1200" spc="-5">
                <a:latin typeface="Arial Unicode MS"/>
                <a:cs typeface="Arial Unicode MS"/>
              </a:rPr>
              <a:t>分 </a:t>
            </a:r>
            <a:r>
              <a:rPr dirty="0" sz="1200" spc="-10">
                <a:latin typeface="Arial Unicode MS"/>
                <a:cs typeface="Arial Unicode MS"/>
              </a:rPr>
              <a:t>别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0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10mol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0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10mol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L</a:t>
            </a:r>
            <a:r>
              <a:rPr dirty="0" baseline="37037" sz="900" spc="104">
                <a:latin typeface="Lucida Sans Unicode"/>
                <a:cs typeface="Lucida Sans Unicode"/>
              </a:rPr>
              <a:t>−</a:t>
            </a:r>
            <a:r>
              <a:rPr dirty="0" baseline="37037" sz="900" spc="104">
                <a:latin typeface="Times New Roman"/>
                <a:cs typeface="Times New Roman"/>
              </a:rPr>
              <a:t>1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计算此缓冲溶液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已</a:t>
            </a:r>
            <a:r>
              <a:rPr dirty="0" sz="1200" spc="-5">
                <a:latin typeface="Arial Unicode MS"/>
                <a:cs typeface="Arial Unicode MS"/>
              </a:rPr>
              <a:t>知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 i="1">
                <a:latin typeface="Arial"/>
                <a:cs typeface="Arial"/>
              </a:rPr>
              <a:t>b</a:t>
            </a:r>
            <a:r>
              <a:rPr dirty="0" sz="1100" spc="25">
                <a:latin typeface="Georgia"/>
                <a:cs typeface="Georgia"/>
              </a:rPr>
              <a:t>(NH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1</a:t>
            </a:r>
            <a:r>
              <a:rPr dirty="0" sz="1100" spc="-1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63500">
              <a:lnSpc>
                <a:spcPct val="100000"/>
              </a:lnSpc>
              <a:spcBef>
                <a:spcPts val="120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查表可得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K</a:t>
            </a:r>
            <a:r>
              <a:rPr dirty="0" baseline="-13888" sz="900" spc="37" i="1">
                <a:latin typeface="Arial"/>
                <a:cs typeface="Arial"/>
              </a:rPr>
              <a:t>b</a:t>
            </a:r>
            <a:r>
              <a:rPr dirty="0" sz="1100" spc="25">
                <a:latin typeface="Georgia"/>
                <a:cs typeface="Georgia"/>
              </a:rPr>
              <a:t>(NH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1</a:t>
            </a:r>
            <a:r>
              <a:rPr dirty="0" sz="1100" spc="-15" b="0" i="1">
                <a:latin typeface="Bookman Old Style"/>
                <a:cs typeface="Bookman Old Style"/>
              </a:rPr>
              <a:t>.</a:t>
            </a:r>
            <a:r>
              <a:rPr dirty="0" sz="1100" spc="-15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10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baseline="37037" sz="900" spc="-37">
                <a:latin typeface="Times New Roman"/>
                <a:cs typeface="Times New Roman"/>
              </a:rPr>
              <a:t>5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3394" y="1538973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2646" y="146099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2646" y="155244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728" y="1455572"/>
            <a:ext cx="7404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(NH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31441" y="1445247"/>
            <a:ext cx="2717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8445" algn="l"/>
              </a:tabLst>
            </a:pPr>
            <a:r>
              <a:rPr dirty="0" u="sng" sz="600" spc="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	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1426" y="1634020"/>
            <a:ext cx="3816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945" algn="l"/>
              </a:tabLst>
            </a:pPr>
            <a:r>
              <a:rPr dirty="0" sz="600" spc="-10" i="1">
                <a:latin typeface="Arial"/>
                <a:cs typeface="Arial"/>
              </a:rPr>
              <a:t>b</a:t>
            </a:r>
            <a:r>
              <a:rPr dirty="0" sz="600" spc="-10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1288" y="145557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3761" y="1361846"/>
            <a:ext cx="1259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2245" algn="l"/>
                <a:tab pos="76136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1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sz="1100" spc="130" b="0" i="1">
                <a:latin typeface="Bookman Old Style"/>
                <a:cs typeface="Bookman Old Style"/>
              </a:rPr>
              <a:t>	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77629" y="1374190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05418" y="1572183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 h="0">
                <a:moveTo>
                  <a:pt x="0" y="0"/>
                </a:moveTo>
                <a:lnTo>
                  <a:pt x="65712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543761" y="1550606"/>
            <a:ext cx="974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84225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100" spc="-35">
                <a:latin typeface="Georgia"/>
                <a:cs typeface="Georgia"/>
              </a:rPr>
              <a:t>(NH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85186" y="1550606"/>
            <a:ext cx="4413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00819" y="157321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03511" y="1455572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7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4663" y="1460995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9501" y="1814207"/>
            <a:ext cx="12744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260">
                <a:latin typeface="Arial Unicode MS"/>
                <a:cs typeface="Arial Unicode MS"/>
              </a:rPr>
              <a:t>据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95">
                <a:latin typeface="Georgia"/>
                <a:cs typeface="Georgia"/>
                <a:hlinkClick r:id="rId6" action="ppaction://hlinksldjump"/>
              </a:rPr>
              <a:t>3</a:t>
            </a:r>
            <a:r>
              <a:rPr dirty="0" sz="1100" spc="-70">
                <a:latin typeface="Georgia"/>
                <a:cs typeface="Georgia"/>
                <a:hlinkClick r:id="rId6" action="ppaction://hlinksldjump"/>
              </a:rPr>
              <a:t>0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06930" y="2266048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26195" y="218805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26195" y="22795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70609" y="2182647"/>
            <a:ext cx="15589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pH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0">
                <a:latin typeface="Georgia"/>
                <a:cs typeface="Georgia"/>
              </a:rPr>
              <a:t>p</a:t>
            </a:r>
            <a:r>
              <a:rPr dirty="0" sz="1100" spc="50" b="0" i="1">
                <a:latin typeface="Bookman Old Style"/>
                <a:cs typeface="Bookman Old Style"/>
              </a:rPr>
              <a:t>K </a:t>
            </a:r>
            <a:r>
              <a:rPr dirty="0" sz="1100" spc="-35">
                <a:latin typeface="Georgia"/>
                <a:cs typeface="Georgia"/>
              </a:rPr>
              <a:t>(NH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00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log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43949" y="2185797"/>
            <a:ext cx="4787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4010" algn="l"/>
              </a:tabLst>
            </a:pP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18549" y="2088921"/>
            <a:ext cx="529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c</a:t>
            </a:r>
            <a:r>
              <a:rPr dirty="0" sz="1100" spc="20">
                <a:latin typeface="Georgia"/>
                <a:cs typeface="Georgia"/>
              </a:rPr>
              <a:t>(NH</a:t>
            </a:r>
            <a:r>
              <a:rPr dirty="0" baseline="37037" sz="900" spc="30">
                <a:latin typeface="Times New Roman"/>
                <a:cs typeface="Times New Roman"/>
              </a:rPr>
              <a:t>+</a:t>
            </a:r>
            <a:r>
              <a:rPr dirty="0" sz="1100" spc="2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77908" y="236108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56255" y="2277681"/>
            <a:ext cx="4540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 b="0" i="1">
                <a:latin typeface="Bookman Old Style"/>
                <a:cs typeface="Bookman Old Style"/>
              </a:rPr>
              <a:t>c</a:t>
            </a:r>
            <a:r>
              <a:rPr dirty="0" sz="1100" spc="-40">
                <a:latin typeface="Georgia"/>
                <a:cs typeface="Georgia"/>
              </a:rPr>
              <a:t>(NH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45169" y="2429685"/>
            <a:ext cx="27178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00" spc="-6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sz="1100" spc="204">
                <a:latin typeface="Georgia"/>
                <a:cs typeface="Georgia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78013" y="2450551"/>
            <a:ext cx="852805" cy="54927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9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26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25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log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9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9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26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71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33362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4.6.2</a:t>
            </a:r>
            <a:r>
              <a:rPr dirty="0" sz="1400" spc="12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缓冲指数与缓冲范围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76414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对于缓冲溶液而</a:t>
            </a:r>
            <a:r>
              <a:rPr dirty="0" sz="1200" spc="-80">
                <a:latin typeface="Arial Unicode MS"/>
                <a:cs typeface="Arial Unicode MS"/>
              </a:rPr>
              <a:t>言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其缓冲能力是有一定的限度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加入过</a:t>
            </a:r>
            <a:r>
              <a:rPr dirty="0" sz="1200" spc="-5">
                <a:latin typeface="Arial Unicode MS"/>
                <a:cs typeface="Arial Unicode MS"/>
              </a:rPr>
              <a:t>量 </a:t>
            </a:r>
            <a:r>
              <a:rPr dirty="0" sz="1200" spc="-5">
                <a:latin typeface="Arial Unicode MS"/>
                <a:cs typeface="Arial Unicode MS"/>
              </a:rPr>
              <a:t>的酸或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或者过分稀</a:t>
            </a:r>
            <a:r>
              <a:rPr dirty="0" sz="1200" spc="-80">
                <a:latin typeface="Arial Unicode MS"/>
                <a:cs typeface="Arial Unicode MS"/>
              </a:rPr>
              <a:t>释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都会导致缓冲溶液失去缓冲作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缓冲 溶液的缓冲能力的大小常用缓冲指数描</a:t>
            </a:r>
            <a:r>
              <a:rPr dirty="0" sz="1200" spc="-80">
                <a:latin typeface="Arial Unicode MS"/>
                <a:cs typeface="Arial Unicode MS"/>
              </a:rPr>
              <a:t>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其定义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5295" y="1741474"/>
            <a:ext cx="257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4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7895" y="1761591"/>
            <a:ext cx="6604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30" i="1">
                <a:latin typeface="Century Gothic"/>
                <a:cs typeface="Century Gothic"/>
              </a:rPr>
              <a:t>b</a:t>
            </a:r>
            <a:endParaRPr sz="5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3579" y="1858073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4" h="0">
                <a:moveTo>
                  <a:pt x="0" y="0"/>
                </a:moveTo>
                <a:lnTo>
                  <a:pt x="25298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014143" y="1647748"/>
            <a:ext cx="791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4835" algn="l"/>
              </a:tabLst>
            </a:pPr>
            <a:r>
              <a:rPr dirty="0" sz="1100" spc="-75" b="0" i="1">
                <a:latin typeface="Bookman Old Style"/>
                <a:cs typeface="Bookman Old Style"/>
              </a:rPr>
              <a:t>dm</a:t>
            </a:r>
            <a:r>
              <a:rPr dirty="0" sz="1100" spc="-75" b="0" i="1">
                <a:latin typeface="Bookman Old Style"/>
                <a:cs typeface="Bookman Old Style"/>
              </a:rPr>
              <a:t>	</a:t>
            </a:r>
            <a:r>
              <a:rPr dirty="0" sz="1100" spc="-75" b="0" i="1">
                <a:latin typeface="Bookman Old Style"/>
                <a:cs typeface="Bookman Old Style"/>
              </a:rPr>
              <a:t>dm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0474" y="1756460"/>
            <a:ext cx="7493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40" i="1">
                <a:latin typeface="Century Gothic"/>
                <a:cs typeface="Century Gothic"/>
              </a:rPr>
              <a:t>a</a:t>
            </a:r>
            <a:endParaRPr sz="500">
              <a:latin typeface="Century Gothic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99423" y="1858073"/>
            <a:ext cx="255904" cy="0"/>
          </a:xfrm>
          <a:custGeom>
            <a:avLst/>
            <a:gdLst/>
            <a:ahLst/>
            <a:cxnLst/>
            <a:rect l="l" t="t" r="r" b="b"/>
            <a:pathLst>
              <a:path w="255905" h="0">
                <a:moveTo>
                  <a:pt x="0" y="0"/>
                </a:moveTo>
                <a:lnTo>
                  <a:pt x="2553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10879" y="1836509"/>
            <a:ext cx="8559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9280" algn="l"/>
              </a:tabLst>
            </a:pPr>
            <a:r>
              <a:rPr dirty="0" sz="1100" spc="-140" b="0" i="1">
                <a:latin typeface="Bookman Old Style"/>
                <a:cs typeface="Bookman Old Style"/>
              </a:rPr>
              <a:t>d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55">
                <a:latin typeface="Georgia"/>
                <a:cs typeface="Georgia"/>
              </a:rPr>
              <a:t>	</a:t>
            </a:r>
            <a:r>
              <a:rPr dirty="0" sz="1100" spc="-140" b="0" i="1">
                <a:latin typeface="Bookman Old Style"/>
                <a:cs typeface="Bookman Old Style"/>
              </a:rPr>
              <a:t>d</a:t>
            </a:r>
            <a:r>
              <a:rPr dirty="0" sz="1100" spc="-55">
                <a:latin typeface="Georgia"/>
                <a:cs typeface="Georgia"/>
              </a:rPr>
              <a:t>pH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7534" y="1741474"/>
            <a:ext cx="21647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05000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5">
                <a:latin typeface="Georgia"/>
                <a:cs typeface="Georgia"/>
              </a:rPr>
              <a:t>(31)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2074507"/>
            <a:ext cx="434657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上式的物理意义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使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缓冲溶液的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值改变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单位 时所需加入的强碱或强酸的物质的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1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值越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缓冲溶液的缓冲 能力越</a:t>
            </a:r>
            <a:r>
              <a:rPr dirty="0" sz="1200" spc="-20">
                <a:latin typeface="Arial Unicode MS"/>
                <a:cs typeface="Arial Unicode MS"/>
              </a:rPr>
              <a:t>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123469"/>
            <a:ext cx="439991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设缓冲体系由</a:t>
            </a:r>
            <a:r>
              <a:rPr dirty="0" spc="15"/>
              <a:t> </a:t>
            </a:r>
            <a:r>
              <a:rPr dirty="0" sz="1100">
                <a:latin typeface="Georgia"/>
                <a:cs typeface="Georgia"/>
              </a:rPr>
              <a:t>HA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pc="-5"/>
              <a:t>和</a:t>
            </a:r>
            <a:r>
              <a:rPr dirty="0" spc="20"/>
              <a:t> </a:t>
            </a:r>
            <a:r>
              <a:rPr dirty="0" sz="1100" spc="15">
                <a:latin typeface="Georgia"/>
                <a:cs typeface="Georgia"/>
              </a:rPr>
              <a:t>NaA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pc="-5"/>
              <a:t>所组</a:t>
            </a:r>
            <a:r>
              <a:rPr dirty="0" spc="-20"/>
              <a:t>成</a:t>
            </a:r>
            <a:r>
              <a:rPr dirty="0" spc="-235"/>
              <a:t>。</a:t>
            </a:r>
            <a:r>
              <a:rPr dirty="0" spc="-5"/>
              <a:t>当往这个体系加入</a:t>
            </a:r>
            <a:r>
              <a:rPr dirty="0" spc="20"/>
              <a:t> </a:t>
            </a:r>
            <a:r>
              <a:rPr dirty="0" sz="1100" spc="-25">
                <a:latin typeface="Georgia"/>
                <a:cs typeface="Georgia"/>
              </a:rPr>
              <a:t>NaOH  </a:t>
            </a:r>
            <a:r>
              <a:rPr dirty="0" spc="-80"/>
              <a:t>时</a:t>
            </a:r>
            <a:r>
              <a:rPr dirty="0" spc="-185"/>
              <a:t>，</a:t>
            </a:r>
            <a:r>
              <a:rPr dirty="0" spc="-5"/>
              <a:t>强碱对体系的影响可通过</a:t>
            </a:r>
            <a:r>
              <a:rPr dirty="0" spc="-10"/>
              <a:t>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pc="-5"/>
              <a:t>的变动来衡量</a:t>
            </a:r>
            <a:r>
              <a:rPr dirty="0" baseline="37037" sz="900" spc="150">
                <a:latin typeface="Times New Roman"/>
                <a:cs typeface="Times New Roman"/>
              </a:rPr>
              <a:t>7</a:t>
            </a:r>
            <a:r>
              <a:rPr dirty="0" sz="1200" spc="-235"/>
              <a:t>。</a:t>
            </a:r>
            <a:r>
              <a:rPr dirty="0" sz="1200" spc="-5"/>
              <a:t>该缓冲体系 的质子条件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401" y="988529"/>
            <a:ext cx="2903855" cy="10871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84885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984885">
              <a:lnSpc>
                <a:spcPct val="100000"/>
              </a:lnSpc>
              <a:spcBef>
                <a:spcPts val="425"/>
              </a:spcBef>
            </a:pP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985"/>
              </a:spcBef>
            </a:pPr>
            <a:r>
              <a:rPr dirty="0" sz="1200" spc="-5">
                <a:latin typeface="Arial Unicode MS"/>
                <a:cs typeface="Arial Unicode MS"/>
              </a:rPr>
              <a:t>上式对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值求</a:t>
            </a:r>
            <a:r>
              <a:rPr dirty="0" sz="1200" spc="-80">
                <a:latin typeface="Arial Unicode MS"/>
                <a:cs typeface="Arial Unicode MS"/>
              </a:rPr>
              <a:t>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2367" y="2375357"/>
            <a:ext cx="517525" cy="0"/>
          </a:xfrm>
          <a:custGeom>
            <a:avLst/>
            <a:gdLst/>
            <a:ahLst/>
            <a:cxnLst/>
            <a:rect l="l" t="t" r="r" b="b"/>
            <a:pathLst>
              <a:path w="517525" h="0">
                <a:moveTo>
                  <a:pt x="0" y="0"/>
                </a:moveTo>
                <a:lnTo>
                  <a:pt x="5169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08289" y="2258745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70455" y="2375357"/>
            <a:ext cx="332740" cy="0"/>
          </a:xfrm>
          <a:custGeom>
            <a:avLst/>
            <a:gdLst/>
            <a:ahLst/>
            <a:cxnLst/>
            <a:rect l="l" t="t" r="r" b="b"/>
            <a:pathLst>
              <a:path w="332739" h="0">
                <a:moveTo>
                  <a:pt x="0" y="0"/>
                </a:moveTo>
                <a:lnTo>
                  <a:pt x="3324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02573" y="2375357"/>
            <a:ext cx="440690" cy="0"/>
          </a:xfrm>
          <a:custGeom>
            <a:avLst/>
            <a:gdLst/>
            <a:ahLst/>
            <a:cxnLst/>
            <a:rect l="l" t="t" r="r" b="b"/>
            <a:pathLst>
              <a:path w="440689" h="0">
                <a:moveTo>
                  <a:pt x="0" y="0"/>
                </a:moveTo>
                <a:lnTo>
                  <a:pt x="4401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42450" y="2375357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3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98867" y="2142513"/>
            <a:ext cx="253746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65"/>
              </a:spcBef>
              <a:tabLst>
                <a:tab pos="970915" algn="l"/>
                <a:tab pos="2143125" algn="l"/>
              </a:tabLst>
            </a:pPr>
            <a:r>
              <a:rPr dirty="0" sz="1100" spc="-20" b="0" i="1">
                <a:latin typeface="Bookman Old Style"/>
                <a:cs typeface="Bookman Old Style"/>
              </a:rPr>
              <a:t>dc</a:t>
            </a:r>
            <a:r>
              <a:rPr dirty="0" sz="1100" spc="-20">
                <a:latin typeface="Georgia"/>
                <a:cs typeface="Georgia"/>
              </a:rPr>
              <a:t>(NaA)	</a:t>
            </a:r>
            <a:r>
              <a:rPr dirty="0" sz="1100" spc="-30" b="0" i="1">
                <a:latin typeface="Bookman Old Style"/>
                <a:cs typeface="Bookman Old Style"/>
              </a:rPr>
              <a:t>d</a:t>
            </a:r>
            <a:r>
              <a:rPr dirty="0" sz="1100" spc="-30">
                <a:latin typeface="Georgia"/>
                <a:cs typeface="Georgia"/>
              </a:rPr>
              <a:t>[A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150">
                <a:latin typeface="Georgia"/>
                <a:cs typeface="Georgia"/>
              </a:rPr>
              <a:t> </a:t>
            </a:r>
            <a:r>
              <a:rPr dirty="0" sz="1100" spc="-45" b="0" i="1">
                <a:latin typeface="Bookman Old Style"/>
                <a:cs typeface="Bookman Old Style"/>
              </a:rPr>
              <a:t>d</a:t>
            </a:r>
            <a:r>
              <a:rPr dirty="0" sz="1100" spc="-45">
                <a:latin typeface="Georgia"/>
                <a:cs typeface="Georgia"/>
              </a:rPr>
              <a:t>[OH</a:t>
            </a:r>
            <a:r>
              <a:rPr dirty="0" baseline="37037" sz="900" spc="-67">
                <a:latin typeface="Lucida Sans Unicode"/>
                <a:cs typeface="Lucida Sans Unicode"/>
              </a:rPr>
              <a:t>−</a:t>
            </a:r>
            <a:r>
              <a:rPr dirty="0" sz="1100" spc="-45">
                <a:latin typeface="Georgia"/>
                <a:cs typeface="Georgia"/>
              </a:rPr>
              <a:t>]	</a:t>
            </a:r>
            <a:r>
              <a:rPr dirty="0" sz="1100" spc="-35" b="0" i="1">
                <a:latin typeface="Bookman Old Style"/>
                <a:cs typeface="Bookman Old Style"/>
              </a:rPr>
              <a:t>d</a:t>
            </a:r>
            <a:r>
              <a:rPr dirty="0" sz="1100" spc="-35">
                <a:latin typeface="Georgia"/>
                <a:cs typeface="Georgia"/>
              </a:rPr>
              <a:t>[H</a:t>
            </a:r>
            <a:r>
              <a:rPr dirty="0" baseline="37037" sz="900" spc="-52">
                <a:latin typeface="Times New Roman"/>
                <a:cs typeface="Times New Roman"/>
              </a:rPr>
              <a:t>+</a:t>
            </a:r>
            <a:r>
              <a:rPr dirty="0" sz="1100" spc="-3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194945">
              <a:lnSpc>
                <a:spcPct val="100000"/>
              </a:lnSpc>
              <a:spcBef>
                <a:spcPts val="170"/>
              </a:spcBef>
              <a:tabLst>
                <a:tab pos="1010919" algn="l"/>
                <a:tab pos="1597025" algn="l"/>
                <a:tab pos="1989455" algn="l"/>
              </a:tabLst>
            </a:pP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	</a:t>
            </a: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	</a:t>
            </a: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	</a:t>
            </a:r>
            <a:r>
              <a:rPr dirty="0" baseline="37878" sz="1650" spc="-44">
                <a:latin typeface="Lucida Sans Unicode"/>
                <a:cs typeface="Lucida Sans Unicode"/>
              </a:rPr>
              <a:t>−</a:t>
            </a:r>
            <a:r>
              <a:rPr dirty="0" baseline="37878" sz="1650" spc="337">
                <a:latin typeface="Lucida Sans Unicode"/>
                <a:cs typeface="Lucida Sans Unicode"/>
              </a:rPr>
              <a:t> </a:t>
            </a: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8544" y="2985376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7744" y="2537041"/>
            <a:ext cx="4381500" cy="7981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3289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b="0" i="1">
                <a:latin typeface="Bookman Old Style"/>
                <a:cs typeface="Bookman Old Style"/>
              </a:rPr>
              <a:t>β</a:t>
            </a:r>
            <a:r>
              <a:rPr dirty="0" sz="1100">
                <a:latin typeface="Georgia"/>
                <a:cs typeface="Georgia"/>
              </a:rPr>
              <a:t>([A</a:t>
            </a:r>
            <a:r>
              <a:rPr dirty="0" baseline="41666" sz="9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])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 b="0" i="1">
                <a:latin typeface="Bookman Old Style"/>
                <a:cs typeface="Bookman Old Style"/>
              </a:rPr>
              <a:t>β</a:t>
            </a:r>
            <a:r>
              <a:rPr dirty="0" sz="1100" spc="-15">
                <a:latin typeface="Georgia"/>
                <a:cs typeface="Georgia"/>
              </a:rPr>
              <a:t>([OH</a:t>
            </a:r>
            <a:r>
              <a:rPr dirty="0" baseline="41666" sz="900" spc="-22">
                <a:latin typeface="Lucida Sans Unicode"/>
                <a:cs typeface="Lucida Sans Unicode"/>
              </a:rPr>
              <a:t>−</a:t>
            </a:r>
            <a:r>
              <a:rPr dirty="0" sz="1100" spc="-15">
                <a:latin typeface="Georgia"/>
                <a:cs typeface="Georgia"/>
              </a:rPr>
              <a:t>])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5" b="0" i="1">
                <a:latin typeface="Bookman Old Style"/>
                <a:cs typeface="Bookman Old Style"/>
              </a:rPr>
              <a:t>β</a:t>
            </a:r>
            <a:r>
              <a:rPr dirty="0" sz="1100" spc="-5">
                <a:latin typeface="Georgia"/>
                <a:cs typeface="Georgia"/>
              </a:rPr>
              <a:t>([H</a:t>
            </a:r>
            <a:r>
              <a:rPr dirty="0" baseline="41666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300">
              <a:latin typeface="Georgia"/>
              <a:cs typeface="Georgia"/>
            </a:endParaRPr>
          </a:p>
          <a:p>
            <a:pPr marL="208279">
              <a:lnSpc>
                <a:spcPct val="100000"/>
              </a:lnSpc>
              <a:spcBef>
                <a:spcPts val="79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7</a:t>
            </a:r>
            <a:r>
              <a:rPr dirty="0" sz="900" spc="-5">
                <a:latin typeface="Arial Unicode MS"/>
                <a:cs typeface="Arial Unicode MS"/>
              </a:rPr>
              <a:t>我们也可以把</a:t>
            </a:r>
            <a:r>
              <a:rPr dirty="0" sz="900" spc="50">
                <a:latin typeface="Arial Unicode MS"/>
                <a:cs typeface="Arial Unicode MS"/>
              </a:rPr>
              <a:t> </a:t>
            </a:r>
            <a:r>
              <a:rPr dirty="0" sz="900" spc="65">
                <a:latin typeface="Arial"/>
                <a:cs typeface="Arial"/>
              </a:rPr>
              <a:t>HA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和</a:t>
            </a:r>
            <a:r>
              <a:rPr dirty="0" sz="900" spc="50">
                <a:latin typeface="Arial Unicode MS"/>
                <a:cs typeface="Arial Unicode MS"/>
              </a:rPr>
              <a:t> </a:t>
            </a:r>
            <a:r>
              <a:rPr dirty="0" sz="900" spc="30">
                <a:latin typeface="Arial"/>
                <a:cs typeface="Arial"/>
              </a:rPr>
              <a:t>NaA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所组成的缓冲溶液看作是把</a:t>
            </a:r>
            <a:r>
              <a:rPr dirty="0" sz="900" spc="50">
                <a:latin typeface="Arial Unicode MS"/>
                <a:cs typeface="Arial Unicode MS"/>
              </a:rPr>
              <a:t> </a:t>
            </a:r>
            <a:r>
              <a:rPr dirty="0" sz="900" spc="10">
                <a:latin typeface="Arial"/>
                <a:cs typeface="Arial"/>
              </a:rPr>
              <a:t>NaOH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加入到</a:t>
            </a:r>
            <a:r>
              <a:rPr dirty="0" sz="900" spc="55">
                <a:latin typeface="Arial Unicode MS"/>
                <a:cs typeface="Arial Unicode MS"/>
              </a:rPr>
              <a:t> </a:t>
            </a:r>
            <a:r>
              <a:rPr dirty="0" sz="900" spc="65">
                <a:latin typeface="Arial"/>
                <a:cs typeface="Arial"/>
              </a:rPr>
              <a:t>HA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溶液所</a:t>
            </a:r>
            <a:endParaRPr sz="9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40"/>
              </a:spcBef>
            </a:pPr>
            <a:r>
              <a:rPr dirty="0" sz="900" spc="-5">
                <a:latin typeface="Arial Unicode MS"/>
                <a:cs typeface="Arial Unicode MS"/>
              </a:rPr>
              <a:t>生</a:t>
            </a:r>
            <a:r>
              <a:rPr dirty="0" sz="900" spc="-15">
                <a:latin typeface="Arial Unicode MS"/>
                <a:cs typeface="Arial Unicode MS"/>
              </a:rPr>
              <a:t>成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101" y="413029"/>
            <a:ext cx="36353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当溶液中的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均较小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忽略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β</a:t>
            </a:r>
            <a:r>
              <a:rPr dirty="0" sz="1100" spc="-15">
                <a:latin typeface="Georgia"/>
                <a:cs typeface="Georgia"/>
              </a:rPr>
              <a:t>([OH</a:t>
            </a:r>
            <a:r>
              <a:rPr dirty="0" baseline="37037" sz="900" spc="-22">
                <a:latin typeface="Lucida Sans Unicode"/>
                <a:cs typeface="Lucida Sans Unicode"/>
              </a:rPr>
              <a:t>−</a:t>
            </a:r>
            <a:r>
              <a:rPr dirty="0" sz="1100" spc="-15">
                <a:latin typeface="Georgia"/>
                <a:cs typeface="Georgia"/>
              </a:rPr>
              <a:t>])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0291" y="650011"/>
            <a:ext cx="528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β</a:t>
            </a:r>
            <a:r>
              <a:rPr dirty="0" sz="1100" spc="-5">
                <a:latin typeface="Georgia"/>
                <a:cs typeface="Georgia"/>
              </a:rPr>
              <a:t>([H</a:t>
            </a:r>
            <a:r>
              <a:rPr dirty="0" baseline="37037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683" y="636727"/>
            <a:ext cx="7423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80">
                <a:latin typeface="Arial Unicode MS"/>
                <a:cs typeface="Arial Unicode MS"/>
              </a:rPr>
              <a:t>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87753" y="1150721"/>
            <a:ext cx="517525" cy="0"/>
          </a:xfrm>
          <a:custGeom>
            <a:avLst/>
            <a:gdLst/>
            <a:ahLst/>
            <a:cxnLst/>
            <a:rect l="l" t="t" r="r" b="b"/>
            <a:pathLst>
              <a:path w="517525" h="0">
                <a:moveTo>
                  <a:pt x="0" y="0"/>
                </a:moveTo>
                <a:lnTo>
                  <a:pt x="5169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19756" y="1150721"/>
            <a:ext cx="332740" cy="0"/>
          </a:xfrm>
          <a:custGeom>
            <a:avLst/>
            <a:gdLst/>
            <a:ahLst/>
            <a:cxnLst/>
            <a:rect l="l" t="t" r="r" b="b"/>
            <a:pathLst>
              <a:path w="332739" h="0">
                <a:moveTo>
                  <a:pt x="0" y="0"/>
                </a:moveTo>
                <a:lnTo>
                  <a:pt x="3324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10479" y="103411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(32)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501" y="1405775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0599" y="917877"/>
            <a:ext cx="2211705" cy="8229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265"/>
              </a:spcBef>
            </a:pPr>
            <a:r>
              <a:rPr dirty="0" baseline="-37878" sz="1650" spc="-82" b="0" i="1">
                <a:latin typeface="Bookman Old Style"/>
                <a:cs typeface="Bookman Old Style"/>
              </a:rPr>
              <a:t>β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sz="1100" spc="-20" b="0" i="1">
                <a:latin typeface="Bookman Old Style"/>
                <a:cs typeface="Bookman Old Style"/>
              </a:rPr>
              <a:t>dc</a:t>
            </a:r>
            <a:r>
              <a:rPr dirty="0" sz="1100" spc="-20">
                <a:latin typeface="Georgia"/>
                <a:cs typeface="Georgia"/>
              </a:rPr>
              <a:t>(NaA)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sz="1100" spc="-30" b="0" i="1">
                <a:latin typeface="Bookman Old Style"/>
                <a:cs typeface="Bookman Old Style"/>
              </a:rPr>
              <a:t>d</a:t>
            </a:r>
            <a:r>
              <a:rPr dirty="0" sz="1100" spc="-30">
                <a:latin typeface="Georgia"/>
                <a:cs typeface="Georgia"/>
              </a:rPr>
              <a:t>[A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7">
                <a:latin typeface="Georgia"/>
                <a:cs typeface="Georgia"/>
              </a:rPr>
              <a:t> </a:t>
            </a:r>
            <a:r>
              <a:rPr dirty="0" baseline="-37878" sz="1650" b="0" i="1">
                <a:latin typeface="Bookman Old Style"/>
                <a:cs typeface="Bookman Old Style"/>
              </a:rPr>
              <a:t>β</a:t>
            </a:r>
            <a:r>
              <a:rPr dirty="0" baseline="-37878" sz="1650">
                <a:latin typeface="Georgia"/>
                <a:cs typeface="Georgia"/>
              </a:rPr>
              <a:t>([A</a:t>
            </a:r>
            <a:r>
              <a:rPr dirty="0" baseline="-27777" sz="900">
                <a:latin typeface="Lucida Sans Unicode"/>
                <a:cs typeface="Lucida Sans Unicode"/>
              </a:rPr>
              <a:t>−</a:t>
            </a:r>
            <a:r>
              <a:rPr dirty="0" baseline="-37878" sz="1650">
                <a:latin typeface="Georgia"/>
                <a:cs typeface="Georgia"/>
              </a:rPr>
              <a:t>])</a:t>
            </a:r>
            <a:endParaRPr baseline="-37878" sz="1650">
              <a:latin typeface="Georgia"/>
              <a:cs typeface="Georgia"/>
            </a:endParaRPr>
          </a:p>
          <a:p>
            <a:pPr marL="528955">
              <a:lnSpc>
                <a:spcPct val="100000"/>
              </a:lnSpc>
              <a:spcBef>
                <a:spcPts val="170"/>
              </a:spcBef>
              <a:tabLst>
                <a:tab pos="1168400" algn="l"/>
              </a:tabLst>
            </a:pP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	</a:t>
            </a: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baseline="-37878" sz="1650">
                <a:latin typeface="Georgia"/>
                <a:cs typeface="Georgia"/>
              </a:rPr>
              <a:t>[A</a:t>
            </a:r>
            <a:r>
              <a:rPr dirty="0" baseline="-27777" sz="900">
                <a:latin typeface="Lucida Sans Unicode"/>
                <a:cs typeface="Lucida Sans Unicode"/>
              </a:rPr>
              <a:t>−</a:t>
            </a:r>
            <a:r>
              <a:rPr dirty="0" baseline="-37878" sz="1650">
                <a:latin typeface="Georgia"/>
                <a:cs typeface="Georgia"/>
              </a:rPr>
              <a:t>]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baseline="-13888" sz="9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(HAc)(</a:t>
            </a:r>
            <a:r>
              <a:rPr dirty="0" u="sng" sz="1100" spc="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(HA)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+</a:t>
            </a:r>
            <a:r>
              <a:rPr dirty="0" u="sng" sz="1100" spc="-4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(NaA))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8459" y="1737791"/>
            <a:ext cx="10566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01" y="1956219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003" y="2348268"/>
            <a:ext cx="257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-4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88288" y="2464879"/>
            <a:ext cx="332740" cy="0"/>
          </a:xfrm>
          <a:custGeom>
            <a:avLst/>
            <a:gdLst/>
            <a:ahLst/>
            <a:cxnLst/>
            <a:rect l="l" t="t" r="r" b="b"/>
            <a:pathLst>
              <a:path w="332740" h="0">
                <a:moveTo>
                  <a:pt x="0" y="0"/>
                </a:moveTo>
                <a:lnTo>
                  <a:pt x="3324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50188" y="2232022"/>
            <a:ext cx="40894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d</a:t>
            </a:r>
            <a:r>
              <a:rPr dirty="0" sz="1100" spc="-30">
                <a:latin typeface="Georgia"/>
                <a:cs typeface="Georgia"/>
              </a:rPr>
              <a:t>[A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77470">
              <a:lnSpc>
                <a:spcPct val="100000"/>
              </a:lnSpc>
              <a:spcBef>
                <a:spcPts val="170"/>
              </a:spcBef>
            </a:pPr>
            <a:r>
              <a:rPr dirty="0" sz="1100" spc="-80" b="0" i="1">
                <a:latin typeface="Bookman Old Style"/>
                <a:cs typeface="Bookman Old Style"/>
              </a:rPr>
              <a:t>d</a:t>
            </a:r>
            <a:r>
              <a:rPr dirty="0" sz="1100" spc="-80">
                <a:latin typeface="Georgia"/>
                <a:cs typeface="Georgia"/>
              </a:rPr>
              <a:t>pH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61681" y="2348280"/>
            <a:ext cx="418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2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30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82101" y="2464879"/>
            <a:ext cx="1908175" cy="0"/>
          </a:xfrm>
          <a:custGeom>
            <a:avLst/>
            <a:gdLst/>
            <a:ahLst/>
            <a:cxnLst/>
            <a:rect l="l" t="t" r="r" b="b"/>
            <a:pathLst>
              <a:path w="1908175" h="0">
                <a:moveTo>
                  <a:pt x="0" y="0"/>
                </a:moveTo>
                <a:lnTo>
                  <a:pt x="190800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844001" y="2232022"/>
            <a:ext cx="198437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1640" marR="30480" indent="-384175">
              <a:lnSpc>
                <a:spcPct val="112599"/>
              </a:lnSpc>
              <a:spcBef>
                <a:spcPts val="10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K</a:t>
            </a:r>
            <a:r>
              <a:rPr dirty="0" baseline="-13888" sz="900" spc="22" i="1">
                <a:latin typeface="Arial"/>
                <a:cs typeface="Arial"/>
              </a:rPr>
              <a:t>a</a:t>
            </a:r>
            <a:r>
              <a:rPr dirty="0" sz="1100" spc="15">
                <a:latin typeface="Georgia"/>
                <a:cs typeface="Georgia"/>
              </a:rPr>
              <a:t>(HAc)(</a:t>
            </a:r>
            <a:r>
              <a:rPr dirty="0" sz="1100" spc="15" b="0" i="1">
                <a:latin typeface="Bookman Old Style"/>
                <a:cs typeface="Bookman Old Style"/>
              </a:rPr>
              <a:t>c</a:t>
            </a:r>
            <a:r>
              <a:rPr dirty="0" sz="1100" spc="15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5" b="0" i="1">
                <a:latin typeface="Bookman Old Style"/>
                <a:cs typeface="Bookman Old Style"/>
              </a:rPr>
              <a:t>c</a:t>
            </a:r>
            <a:r>
              <a:rPr dirty="0" sz="1100" spc="-5">
                <a:latin typeface="Georgia"/>
                <a:cs typeface="Georgia"/>
              </a:rPr>
              <a:t>(NaA))[H</a:t>
            </a:r>
            <a:r>
              <a:rPr dirty="0" baseline="37037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  ([H</a:t>
            </a:r>
            <a:r>
              <a:rPr dirty="0" baseline="27777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K</a:t>
            </a:r>
            <a:r>
              <a:rPr dirty="0" baseline="-13888" sz="900" spc="52" i="1">
                <a:latin typeface="Arial"/>
                <a:cs typeface="Arial"/>
              </a:rPr>
              <a:t>a</a:t>
            </a:r>
            <a:r>
              <a:rPr dirty="0" sz="1100" spc="35">
                <a:latin typeface="Georgia"/>
                <a:cs typeface="Georgia"/>
              </a:rPr>
              <a:t>(HAc))</a:t>
            </a:r>
            <a:r>
              <a:rPr dirty="0" baseline="27777" sz="900" spc="52">
                <a:latin typeface="Times New Roman"/>
                <a:cs typeface="Times New Roman"/>
              </a:rPr>
              <a:t>2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0456" y="234828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(33)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568883"/>
            <a:ext cx="31883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260"/>
              <a:t>将</a:t>
            </a:r>
            <a:r>
              <a:rPr dirty="0" spc="-95"/>
              <a:t>（</a:t>
            </a:r>
            <a:r>
              <a:rPr dirty="0" sz="1100" spc="-95">
                <a:latin typeface="Georgia"/>
                <a:cs typeface="Georgia"/>
                <a:hlinkClick r:id="rId2" action="ppaction://hlinksldjump"/>
              </a:rPr>
              <a:t>33</a:t>
            </a:r>
            <a:r>
              <a:rPr dirty="0" spc="-95"/>
              <a:t>）</a:t>
            </a:r>
            <a:r>
              <a:rPr dirty="0" spc="-5"/>
              <a:t>式</a:t>
            </a:r>
            <a:r>
              <a:rPr dirty="0" spc="10"/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β</a:t>
            </a:r>
            <a:r>
              <a:rPr dirty="0" sz="1100" spc="75" b="0" i="1">
                <a:latin typeface="Bookman Old Style"/>
                <a:cs typeface="Bookman Old Style"/>
              </a:rPr>
              <a:t> </a:t>
            </a:r>
            <a:r>
              <a:rPr dirty="0" spc="-5"/>
              <a:t>对</a:t>
            </a:r>
            <a:r>
              <a:rPr dirty="0" spc="15"/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/>
              <a:t>求</a:t>
            </a:r>
            <a:r>
              <a:rPr dirty="0" sz="1200" spc="-80"/>
              <a:t>导</a:t>
            </a:r>
            <a:r>
              <a:rPr dirty="0" sz="1200" spc="-185"/>
              <a:t>，</a:t>
            </a:r>
            <a:r>
              <a:rPr dirty="0" sz="1200" spc="-5"/>
              <a:t>并令导数为</a:t>
            </a:r>
            <a:r>
              <a:rPr dirty="0" sz="1200" spc="-80"/>
              <a:t>零</a:t>
            </a:r>
            <a:r>
              <a:rPr dirty="0" sz="1200" spc="-185"/>
              <a:t>，</a:t>
            </a:r>
            <a:r>
              <a:rPr dirty="0" sz="1200" spc="-90"/>
              <a:t>则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44" y="945045"/>
            <a:ext cx="4445635" cy="1506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7465">
              <a:lnSpc>
                <a:spcPts val="99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50" b="0" i="1">
                <a:latin typeface="Bookman Old Style"/>
                <a:cs typeface="Bookman Old Style"/>
              </a:rPr>
              <a:t> </a:t>
            </a:r>
            <a:r>
              <a:rPr dirty="0" sz="1100">
                <a:latin typeface="Georgia"/>
                <a:cs typeface="Georgia"/>
              </a:rPr>
              <a:t>(HAc)</a:t>
            </a:r>
            <a:endParaRPr sz="1100">
              <a:latin typeface="Georgia"/>
              <a:cs typeface="Georgia"/>
            </a:endParaRPr>
          </a:p>
          <a:p>
            <a:pPr algn="ctr" marL="214629">
              <a:lnSpc>
                <a:spcPts val="390"/>
              </a:lnSpc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Arial"/>
              <a:cs typeface="Arial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上式表明</a:t>
            </a:r>
            <a:r>
              <a:rPr dirty="0" baseline="37037" sz="900" spc="-112">
                <a:latin typeface="Times New Roman"/>
                <a:cs typeface="Times New Roman"/>
              </a:rPr>
              <a:t>8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(HA)</a:t>
            </a:r>
            <a:r>
              <a:rPr dirty="0" sz="1100" spc="-15" b="0" i="1">
                <a:latin typeface="Bookman Old Style"/>
                <a:cs typeface="Bookman Old Style"/>
              </a:rPr>
              <a:t>/c</a:t>
            </a:r>
            <a:r>
              <a:rPr dirty="0" sz="1100" spc="-15">
                <a:latin typeface="Georgia"/>
                <a:cs typeface="Georgia"/>
              </a:rPr>
              <a:t>(NaA)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: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缓冲指数有极大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将上式带入</a:t>
            </a:r>
            <a:r>
              <a:rPr dirty="0" sz="1200" spc="-260">
                <a:latin typeface="Arial Unicode MS"/>
                <a:cs typeface="Arial Unicode MS"/>
              </a:rPr>
              <a:t>到</a:t>
            </a:r>
            <a:r>
              <a:rPr dirty="0" sz="1200" spc="-95">
                <a:latin typeface="Arial Unicode MS"/>
                <a:cs typeface="Arial Unicode MS"/>
              </a:rPr>
              <a:t>（</a:t>
            </a:r>
            <a:r>
              <a:rPr dirty="0" sz="1100" spc="-95">
                <a:latin typeface="Georgia"/>
                <a:cs typeface="Georgia"/>
                <a:hlinkClick r:id="rId2" action="ppaction://hlinksldjump"/>
              </a:rPr>
              <a:t>33</a:t>
            </a:r>
            <a:r>
              <a:rPr dirty="0" sz="1200" spc="-95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37465">
              <a:lnSpc>
                <a:spcPct val="100000"/>
              </a:lnSpc>
            </a:pPr>
            <a:r>
              <a:rPr dirty="0" sz="1100" spc="60" b="0" i="1">
                <a:latin typeface="Bookman Old Style"/>
                <a:cs typeface="Bookman Old Style"/>
              </a:rPr>
              <a:t>β</a:t>
            </a:r>
            <a:r>
              <a:rPr dirty="0" baseline="-13888" sz="900" spc="89">
                <a:latin typeface="Times New Roman"/>
                <a:cs typeface="Times New Roman"/>
              </a:rPr>
              <a:t>max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575(</a:t>
            </a:r>
            <a:r>
              <a:rPr dirty="0" sz="1100" spc="-2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(HA)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(NaA))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379730">
              <a:lnSpc>
                <a:spcPct val="100000"/>
              </a:lnSpc>
            </a:pPr>
            <a:r>
              <a:rPr dirty="0" sz="1200" spc="-80">
                <a:latin typeface="Arial Unicode MS"/>
                <a:cs typeface="Arial Unicode MS"/>
              </a:rPr>
              <a:t>即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最大缓冲指数与总浓度成正</a:t>
            </a:r>
            <a:r>
              <a:rPr dirty="0" sz="1200" spc="-20">
                <a:latin typeface="Arial Unicode MS"/>
                <a:cs typeface="Arial Unicode MS"/>
              </a:rPr>
              <a:t>比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394" y="3172599"/>
            <a:ext cx="88138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8</a:t>
            </a:r>
            <a:r>
              <a:rPr dirty="0" sz="900" spc="-5">
                <a:latin typeface="Arial Unicode MS"/>
                <a:cs typeface="Arial Unicode MS"/>
              </a:rPr>
              <a:t>参</a:t>
            </a:r>
            <a:r>
              <a:rPr dirty="0" sz="900" spc="-195">
                <a:latin typeface="Arial Unicode MS"/>
                <a:cs typeface="Arial Unicode MS"/>
              </a:rPr>
              <a:t>见</a:t>
            </a:r>
            <a:r>
              <a:rPr dirty="0" sz="900" spc="-70">
                <a:latin typeface="Arial Unicode MS"/>
                <a:cs typeface="Arial Unicode MS"/>
              </a:rPr>
              <a:t>（</a:t>
            </a:r>
            <a:r>
              <a:rPr dirty="0" sz="900" spc="-70">
                <a:latin typeface="Arial"/>
                <a:cs typeface="Arial"/>
                <a:hlinkClick r:id="rId3" action="ppaction://hlinksldjump"/>
              </a:rPr>
              <a:t>30</a:t>
            </a:r>
            <a:r>
              <a:rPr dirty="0" sz="900" spc="-70">
                <a:latin typeface="Arial Unicode MS"/>
                <a:cs typeface="Arial Unicode MS"/>
              </a:rPr>
              <a:t>）</a:t>
            </a:r>
            <a:r>
              <a:rPr dirty="0" sz="900" spc="-15">
                <a:latin typeface="Arial Unicode MS"/>
                <a:cs typeface="Arial Unicode MS"/>
              </a:rPr>
              <a:t>式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2685" y="351900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02685" y="2310297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86933" y="351900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2685" y="351900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02685" y="2310297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02685" y="351900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02685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02685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70524" y="2305008"/>
            <a:ext cx="64769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57576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57576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25417" y="2305008"/>
            <a:ext cx="64769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12467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12467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80310" y="2305008"/>
            <a:ext cx="64769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67363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67363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235203" y="2305008"/>
            <a:ext cx="64769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22254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22254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590095" y="2305008"/>
            <a:ext cx="64769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77145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77145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925529" y="2305008"/>
            <a:ext cx="10350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32042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32042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280423" y="2305008"/>
            <a:ext cx="10350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86933" y="228527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86933" y="351900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635315" y="2305008"/>
            <a:ext cx="103505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02685" y="2310297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61914" y="231029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34850" y="2247558"/>
            <a:ext cx="64769" cy="119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202685" y="198366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61914" y="198366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02685" y="165749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61914" y="165749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02685" y="1330865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61914" y="133086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02685" y="1004234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61914" y="100423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02685" y="678064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61914" y="67806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02685" y="351900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61914" y="35190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02685" y="351900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02685" y="2310297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686933" y="351900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02685" y="351900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505315" y="230983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7183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29724" y="230983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6716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154132" y="230983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6716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78535" y="230983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6716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802944" y="230983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6710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632445" y="2306589"/>
            <a:ext cx="176530" cy="3810"/>
          </a:xfrm>
          <a:custGeom>
            <a:avLst/>
            <a:gdLst/>
            <a:ahLst/>
            <a:cxnLst/>
            <a:rect l="l" t="t" r="r" b="b"/>
            <a:pathLst>
              <a:path w="176530" h="3810">
                <a:moveTo>
                  <a:pt x="0" y="0"/>
                </a:moveTo>
                <a:lnTo>
                  <a:pt x="43976" y="1426"/>
                </a:lnTo>
                <a:lnTo>
                  <a:pt x="87941" y="2277"/>
                </a:lnTo>
                <a:lnTo>
                  <a:pt x="131950" y="2799"/>
                </a:lnTo>
                <a:lnTo>
                  <a:pt x="176058" y="3241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456854" y="2275082"/>
            <a:ext cx="175895" cy="31750"/>
          </a:xfrm>
          <a:custGeom>
            <a:avLst/>
            <a:gdLst/>
            <a:ahLst/>
            <a:cxnLst/>
            <a:rect l="l" t="t" r="r" b="b"/>
            <a:pathLst>
              <a:path w="175894" h="31750">
                <a:moveTo>
                  <a:pt x="0" y="0"/>
                </a:moveTo>
                <a:lnTo>
                  <a:pt x="42811" y="14670"/>
                </a:lnTo>
                <a:lnTo>
                  <a:pt x="87103" y="23628"/>
                </a:lnTo>
                <a:lnTo>
                  <a:pt x="131580" y="28726"/>
                </a:lnTo>
                <a:lnTo>
                  <a:pt x="138619" y="29082"/>
                </a:lnTo>
                <a:lnTo>
                  <a:pt x="145863" y="29588"/>
                </a:lnTo>
                <a:lnTo>
                  <a:pt x="152891" y="30116"/>
                </a:lnTo>
                <a:lnTo>
                  <a:pt x="156977" y="29955"/>
                </a:lnTo>
                <a:lnTo>
                  <a:pt x="158756" y="30945"/>
                </a:lnTo>
                <a:lnTo>
                  <a:pt x="163549" y="30578"/>
                </a:lnTo>
                <a:lnTo>
                  <a:pt x="165400" y="31045"/>
                </a:lnTo>
                <a:lnTo>
                  <a:pt x="174201" y="31045"/>
                </a:lnTo>
                <a:lnTo>
                  <a:pt x="175591" y="31506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281263" y="1992928"/>
            <a:ext cx="175895" cy="282575"/>
          </a:xfrm>
          <a:custGeom>
            <a:avLst/>
            <a:gdLst/>
            <a:ahLst/>
            <a:cxnLst/>
            <a:rect l="l" t="t" r="r" b="b"/>
            <a:pathLst>
              <a:path w="175894" h="282575">
                <a:moveTo>
                  <a:pt x="0" y="0"/>
                </a:moveTo>
                <a:lnTo>
                  <a:pt x="13420" y="45933"/>
                </a:lnTo>
                <a:lnTo>
                  <a:pt x="28966" y="93064"/>
                </a:lnTo>
                <a:lnTo>
                  <a:pt x="47695" y="139548"/>
                </a:lnTo>
                <a:lnTo>
                  <a:pt x="70665" y="183542"/>
                </a:lnTo>
                <a:lnTo>
                  <a:pt x="98933" y="223203"/>
                </a:lnTo>
                <a:lnTo>
                  <a:pt x="133556" y="256688"/>
                </a:lnTo>
                <a:lnTo>
                  <a:pt x="175591" y="282153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105666" y="701232"/>
            <a:ext cx="175895" cy="1292225"/>
          </a:xfrm>
          <a:custGeom>
            <a:avLst/>
            <a:gdLst/>
            <a:ahLst/>
            <a:cxnLst/>
            <a:rect l="l" t="t" r="r" b="b"/>
            <a:pathLst>
              <a:path w="175894" h="1292225">
                <a:moveTo>
                  <a:pt x="0" y="0"/>
                </a:moveTo>
                <a:lnTo>
                  <a:pt x="6268" y="51514"/>
                </a:lnTo>
                <a:lnTo>
                  <a:pt x="12325" y="103059"/>
                </a:lnTo>
                <a:lnTo>
                  <a:pt x="18205" y="154629"/>
                </a:lnTo>
                <a:lnTo>
                  <a:pt x="23941" y="206220"/>
                </a:lnTo>
                <a:lnTo>
                  <a:pt x="29566" y="257826"/>
                </a:lnTo>
                <a:lnTo>
                  <a:pt x="35114" y="309443"/>
                </a:lnTo>
                <a:lnTo>
                  <a:pt x="40619" y="361067"/>
                </a:lnTo>
                <a:lnTo>
                  <a:pt x="46114" y="412693"/>
                </a:lnTo>
                <a:lnTo>
                  <a:pt x="51632" y="464315"/>
                </a:lnTo>
                <a:lnTo>
                  <a:pt x="57207" y="515930"/>
                </a:lnTo>
                <a:lnTo>
                  <a:pt x="62872" y="567533"/>
                </a:lnTo>
                <a:lnTo>
                  <a:pt x="68660" y="619118"/>
                </a:lnTo>
                <a:lnTo>
                  <a:pt x="74606" y="670681"/>
                </a:lnTo>
                <a:lnTo>
                  <a:pt x="80742" y="722218"/>
                </a:lnTo>
                <a:lnTo>
                  <a:pt x="87103" y="773723"/>
                </a:lnTo>
                <a:lnTo>
                  <a:pt x="93732" y="825861"/>
                </a:lnTo>
                <a:lnTo>
                  <a:pt x="100533" y="878007"/>
                </a:lnTo>
                <a:lnTo>
                  <a:pt x="107627" y="930131"/>
                </a:lnTo>
                <a:lnTo>
                  <a:pt x="115134" y="982200"/>
                </a:lnTo>
                <a:lnTo>
                  <a:pt x="123175" y="1034184"/>
                </a:lnTo>
                <a:lnTo>
                  <a:pt x="131869" y="1086049"/>
                </a:lnTo>
                <a:lnTo>
                  <a:pt x="141338" y="1137765"/>
                </a:lnTo>
                <a:lnTo>
                  <a:pt x="151702" y="1189300"/>
                </a:lnTo>
                <a:lnTo>
                  <a:pt x="163081" y="1240621"/>
                </a:lnTo>
                <a:lnTo>
                  <a:pt x="175596" y="1291696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930074" y="433474"/>
            <a:ext cx="175895" cy="746125"/>
          </a:xfrm>
          <a:custGeom>
            <a:avLst/>
            <a:gdLst/>
            <a:ahLst/>
            <a:cxnLst/>
            <a:rect l="l" t="t" r="r" b="b"/>
            <a:pathLst>
              <a:path w="175894" h="746125">
                <a:moveTo>
                  <a:pt x="0" y="745889"/>
                </a:moveTo>
                <a:lnTo>
                  <a:pt x="5208" y="697011"/>
                </a:lnTo>
                <a:lnTo>
                  <a:pt x="10391" y="648117"/>
                </a:lnTo>
                <a:lnTo>
                  <a:pt x="15578" y="599215"/>
                </a:lnTo>
                <a:lnTo>
                  <a:pt x="20800" y="550312"/>
                </a:lnTo>
                <a:lnTo>
                  <a:pt x="26085" y="501418"/>
                </a:lnTo>
                <a:lnTo>
                  <a:pt x="31465" y="452539"/>
                </a:lnTo>
                <a:lnTo>
                  <a:pt x="36968" y="403684"/>
                </a:lnTo>
                <a:lnTo>
                  <a:pt x="42626" y="354861"/>
                </a:lnTo>
                <a:lnTo>
                  <a:pt x="48506" y="305387"/>
                </a:lnTo>
                <a:lnTo>
                  <a:pt x="54594" y="255629"/>
                </a:lnTo>
                <a:lnTo>
                  <a:pt x="61170" y="205792"/>
                </a:lnTo>
                <a:lnTo>
                  <a:pt x="68515" y="156084"/>
                </a:lnTo>
                <a:lnTo>
                  <a:pt x="76910" y="106711"/>
                </a:lnTo>
                <a:lnTo>
                  <a:pt x="86636" y="57879"/>
                </a:lnTo>
                <a:lnTo>
                  <a:pt x="102920" y="10012"/>
                </a:lnTo>
                <a:lnTo>
                  <a:pt x="115811" y="0"/>
                </a:lnTo>
                <a:lnTo>
                  <a:pt x="131113" y="22203"/>
                </a:lnTo>
                <a:lnTo>
                  <a:pt x="143717" y="65953"/>
                </a:lnTo>
                <a:lnTo>
                  <a:pt x="152429" y="110696"/>
                </a:lnTo>
                <a:lnTo>
                  <a:pt x="159204" y="149808"/>
                </a:lnTo>
                <a:lnTo>
                  <a:pt x="165030" y="189070"/>
                </a:lnTo>
                <a:lnTo>
                  <a:pt x="170345" y="228411"/>
                </a:lnTo>
                <a:lnTo>
                  <a:pt x="175591" y="267757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754483" y="1179364"/>
            <a:ext cx="175895" cy="965200"/>
          </a:xfrm>
          <a:custGeom>
            <a:avLst/>
            <a:gdLst/>
            <a:ahLst/>
            <a:cxnLst/>
            <a:rect l="l" t="t" r="r" b="b"/>
            <a:pathLst>
              <a:path w="175894" h="965200">
                <a:moveTo>
                  <a:pt x="0" y="964604"/>
                </a:moveTo>
                <a:lnTo>
                  <a:pt x="20281" y="916578"/>
                </a:lnTo>
                <a:lnTo>
                  <a:pt x="37612" y="866906"/>
                </a:lnTo>
                <a:lnTo>
                  <a:pt x="52452" y="816104"/>
                </a:lnTo>
                <a:lnTo>
                  <a:pt x="65262" y="764686"/>
                </a:lnTo>
                <a:lnTo>
                  <a:pt x="76503" y="713168"/>
                </a:lnTo>
                <a:lnTo>
                  <a:pt x="86636" y="662063"/>
                </a:lnTo>
                <a:lnTo>
                  <a:pt x="95790" y="611621"/>
                </a:lnTo>
                <a:lnTo>
                  <a:pt x="104367" y="561020"/>
                </a:lnTo>
                <a:lnTo>
                  <a:pt x="112420" y="510281"/>
                </a:lnTo>
                <a:lnTo>
                  <a:pt x="120001" y="459426"/>
                </a:lnTo>
                <a:lnTo>
                  <a:pt x="127162" y="408475"/>
                </a:lnTo>
                <a:lnTo>
                  <a:pt x="133956" y="357450"/>
                </a:lnTo>
                <a:lnTo>
                  <a:pt x="140433" y="306373"/>
                </a:lnTo>
                <a:lnTo>
                  <a:pt x="146647" y="255265"/>
                </a:lnTo>
                <a:lnTo>
                  <a:pt x="152650" y="204147"/>
                </a:lnTo>
                <a:lnTo>
                  <a:pt x="158493" y="153040"/>
                </a:lnTo>
                <a:lnTo>
                  <a:pt x="164230" y="101965"/>
                </a:lnTo>
                <a:lnTo>
                  <a:pt x="169912" y="50945"/>
                </a:lnTo>
                <a:lnTo>
                  <a:pt x="175591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78425" y="2143968"/>
            <a:ext cx="176530" cy="148590"/>
          </a:xfrm>
          <a:custGeom>
            <a:avLst/>
            <a:gdLst/>
            <a:ahLst/>
            <a:cxnLst/>
            <a:rect l="l" t="t" r="r" b="b"/>
            <a:pathLst>
              <a:path w="176530" h="148589">
                <a:moveTo>
                  <a:pt x="0" y="148259"/>
                </a:moveTo>
                <a:lnTo>
                  <a:pt x="48212" y="133222"/>
                </a:lnTo>
                <a:lnTo>
                  <a:pt x="88484" y="110879"/>
                </a:lnTo>
                <a:lnTo>
                  <a:pt x="122255" y="81229"/>
                </a:lnTo>
                <a:lnTo>
                  <a:pt x="150967" y="44269"/>
                </a:lnTo>
                <a:lnTo>
                  <a:pt x="176058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402833" y="2292228"/>
            <a:ext cx="175895" cy="16510"/>
          </a:xfrm>
          <a:custGeom>
            <a:avLst/>
            <a:gdLst/>
            <a:ahLst/>
            <a:cxnLst/>
            <a:rect l="l" t="t" r="r" b="b"/>
            <a:pathLst>
              <a:path w="175894" h="16510">
                <a:moveTo>
                  <a:pt x="0" y="16212"/>
                </a:moveTo>
                <a:lnTo>
                  <a:pt x="6388" y="15022"/>
                </a:lnTo>
                <a:lnTo>
                  <a:pt x="14399" y="16428"/>
                </a:lnTo>
                <a:lnTo>
                  <a:pt x="21310" y="15289"/>
                </a:lnTo>
                <a:lnTo>
                  <a:pt x="29049" y="15644"/>
                </a:lnTo>
                <a:lnTo>
                  <a:pt x="35025" y="14571"/>
                </a:lnTo>
                <a:lnTo>
                  <a:pt x="42620" y="14822"/>
                </a:lnTo>
                <a:lnTo>
                  <a:pt x="53709" y="14132"/>
                </a:lnTo>
                <a:lnTo>
                  <a:pt x="64889" y="13586"/>
                </a:lnTo>
                <a:lnTo>
                  <a:pt x="76055" y="12962"/>
                </a:lnTo>
                <a:lnTo>
                  <a:pt x="87103" y="12042"/>
                </a:lnTo>
                <a:lnTo>
                  <a:pt x="109064" y="10363"/>
                </a:lnTo>
                <a:lnTo>
                  <a:pt x="131600" y="7849"/>
                </a:lnTo>
                <a:lnTo>
                  <a:pt x="154010" y="4421"/>
                </a:lnTo>
                <a:lnTo>
                  <a:pt x="175596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227236" y="2308440"/>
            <a:ext cx="175895" cy="1905"/>
          </a:xfrm>
          <a:custGeom>
            <a:avLst/>
            <a:gdLst/>
            <a:ahLst/>
            <a:cxnLst/>
            <a:rect l="l" t="t" r="r" b="b"/>
            <a:pathLst>
              <a:path w="175894" h="1905">
                <a:moveTo>
                  <a:pt x="0" y="1389"/>
                </a:moveTo>
                <a:lnTo>
                  <a:pt x="43935" y="1356"/>
                </a:lnTo>
                <a:lnTo>
                  <a:pt x="87842" y="1043"/>
                </a:lnTo>
                <a:lnTo>
                  <a:pt x="131726" y="555"/>
                </a:lnTo>
                <a:lnTo>
                  <a:pt x="175596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202685" y="2309830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8183" y="0"/>
                </a:lnTo>
                <a:lnTo>
                  <a:pt x="16367" y="0"/>
                </a:lnTo>
                <a:lnTo>
                  <a:pt x="24551" y="0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844137" y="433083"/>
            <a:ext cx="379095" cy="1877695"/>
          </a:xfrm>
          <a:custGeom>
            <a:avLst/>
            <a:gdLst/>
            <a:ahLst/>
            <a:cxnLst/>
            <a:rect l="l" t="t" r="r" b="b"/>
            <a:pathLst>
              <a:path w="379094" h="1877695">
                <a:moveTo>
                  <a:pt x="194061" y="0"/>
                </a:moveTo>
                <a:lnTo>
                  <a:pt x="192315" y="5693"/>
                </a:lnTo>
                <a:lnTo>
                  <a:pt x="188791" y="10552"/>
                </a:lnTo>
                <a:lnTo>
                  <a:pt x="185346" y="17180"/>
                </a:lnTo>
                <a:lnTo>
                  <a:pt x="170844" y="66622"/>
                </a:lnTo>
                <a:lnTo>
                  <a:pt x="159789" y="123979"/>
                </a:lnTo>
                <a:lnTo>
                  <a:pt x="147407" y="204874"/>
                </a:lnTo>
                <a:lnTo>
                  <a:pt x="140483" y="256558"/>
                </a:lnTo>
                <a:lnTo>
                  <a:pt x="134016" y="308292"/>
                </a:lnTo>
                <a:lnTo>
                  <a:pt x="127890" y="360067"/>
                </a:lnTo>
                <a:lnTo>
                  <a:pt x="121987" y="411875"/>
                </a:lnTo>
                <a:lnTo>
                  <a:pt x="110396" y="515554"/>
                </a:lnTo>
                <a:lnTo>
                  <a:pt x="105060" y="566459"/>
                </a:lnTo>
                <a:lnTo>
                  <a:pt x="99672" y="617371"/>
                </a:lnTo>
                <a:lnTo>
                  <a:pt x="94331" y="667381"/>
                </a:lnTo>
                <a:lnTo>
                  <a:pt x="88747" y="719202"/>
                </a:lnTo>
                <a:lnTo>
                  <a:pt x="83216" y="770115"/>
                </a:lnTo>
                <a:lnTo>
                  <a:pt x="77641" y="821021"/>
                </a:lnTo>
                <a:lnTo>
                  <a:pt x="72027" y="871918"/>
                </a:lnTo>
                <a:lnTo>
                  <a:pt x="66367" y="922801"/>
                </a:lnTo>
                <a:lnTo>
                  <a:pt x="60719" y="970078"/>
                </a:lnTo>
                <a:lnTo>
                  <a:pt x="55040" y="1017369"/>
                </a:lnTo>
                <a:lnTo>
                  <a:pt x="49229" y="1064634"/>
                </a:lnTo>
                <a:lnTo>
                  <a:pt x="43310" y="1110901"/>
                </a:lnTo>
                <a:lnTo>
                  <a:pt x="40416" y="1131462"/>
                </a:lnTo>
                <a:lnTo>
                  <a:pt x="35335" y="1170541"/>
                </a:lnTo>
                <a:lnTo>
                  <a:pt x="32658" y="1189204"/>
                </a:lnTo>
                <a:lnTo>
                  <a:pt x="25607" y="1237880"/>
                </a:lnTo>
                <a:lnTo>
                  <a:pt x="19265" y="1286710"/>
                </a:lnTo>
                <a:lnTo>
                  <a:pt x="13701" y="1335673"/>
                </a:lnTo>
                <a:lnTo>
                  <a:pt x="8984" y="1384749"/>
                </a:lnTo>
                <a:lnTo>
                  <a:pt x="5186" y="1433917"/>
                </a:lnTo>
                <a:lnTo>
                  <a:pt x="2376" y="1483157"/>
                </a:lnTo>
                <a:lnTo>
                  <a:pt x="624" y="1532448"/>
                </a:lnTo>
                <a:lnTo>
                  <a:pt x="0" y="1581770"/>
                </a:lnTo>
                <a:lnTo>
                  <a:pt x="573" y="1631103"/>
                </a:lnTo>
                <a:lnTo>
                  <a:pt x="2414" y="1680426"/>
                </a:lnTo>
                <a:lnTo>
                  <a:pt x="5592" y="1729719"/>
                </a:lnTo>
                <a:lnTo>
                  <a:pt x="10178" y="1778962"/>
                </a:lnTo>
                <a:lnTo>
                  <a:pt x="16241" y="1828133"/>
                </a:lnTo>
                <a:lnTo>
                  <a:pt x="23852" y="1877214"/>
                </a:lnTo>
                <a:lnTo>
                  <a:pt x="378748" y="1877214"/>
                </a:lnTo>
                <a:lnTo>
                  <a:pt x="378748" y="1262869"/>
                </a:lnTo>
                <a:lnTo>
                  <a:pt x="376891" y="1250822"/>
                </a:lnTo>
                <a:lnTo>
                  <a:pt x="375040" y="1239241"/>
                </a:lnTo>
                <a:lnTo>
                  <a:pt x="371332" y="1215145"/>
                </a:lnTo>
                <a:lnTo>
                  <a:pt x="369942" y="1202636"/>
                </a:lnTo>
                <a:lnTo>
                  <a:pt x="365055" y="1169657"/>
                </a:lnTo>
                <a:lnTo>
                  <a:pt x="362478" y="1151009"/>
                </a:lnTo>
                <a:lnTo>
                  <a:pt x="359798" y="1130498"/>
                </a:lnTo>
                <a:lnTo>
                  <a:pt x="357311" y="1110901"/>
                </a:lnTo>
                <a:lnTo>
                  <a:pt x="351144" y="1063669"/>
                </a:lnTo>
                <a:lnTo>
                  <a:pt x="345281" y="1016418"/>
                </a:lnTo>
                <a:lnTo>
                  <a:pt x="339647" y="969152"/>
                </a:lnTo>
                <a:lnTo>
                  <a:pt x="334165" y="921872"/>
                </a:lnTo>
                <a:lnTo>
                  <a:pt x="328372" y="870987"/>
                </a:lnTo>
                <a:lnTo>
                  <a:pt x="322717" y="820094"/>
                </a:lnTo>
                <a:lnTo>
                  <a:pt x="317164" y="769195"/>
                </a:lnTo>
                <a:lnTo>
                  <a:pt x="311678" y="718291"/>
                </a:lnTo>
                <a:lnTo>
                  <a:pt x="300763" y="616466"/>
                </a:lnTo>
                <a:lnTo>
                  <a:pt x="295264" y="565547"/>
                </a:lnTo>
                <a:lnTo>
                  <a:pt x="289694" y="514626"/>
                </a:lnTo>
                <a:lnTo>
                  <a:pt x="284261" y="463706"/>
                </a:lnTo>
                <a:lnTo>
                  <a:pt x="278476" y="411102"/>
                </a:lnTo>
                <a:lnTo>
                  <a:pt x="272566" y="359351"/>
                </a:lnTo>
                <a:lnTo>
                  <a:pt x="266385" y="307627"/>
                </a:lnTo>
                <a:lnTo>
                  <a:pt x="259883" y="255948"/>
                </a:lnTo>
                <a:lnTo>
                  <a:pt x="253008" y="204328"/>
                </a:lnTo>
                <a:lnTo>
                  <a:pt x="245777" y="153246"/>
                </a:lnTo>
                <a:lnTo>
                  <a:pt x="230806" y="71622"/>
                </a:lnTo>
                <a:lnTo>
                  <a:pt x="217660" y="23836"/>
                </a:lnTo>
                <a:lnTo>
                  <a:pt x="201300" y="355"/>
                </a:lnTo>
                <a:lnTo>
                  <a:pt x="194061" y="0"/>
                </a:lnTo>
                <a:close/>
              </a:path>
            </a:pathLst>
          </a:custGeom>
          <a:solidFill>
            <a:srgbClr val="8FFF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66600" y="2310297"/>
            <a:ext cx="176530" cy="0"/>
          </a:xfrm>
          <a:custGeom>
            <a:avLst/>
            <a:gdLst/>
            <a:ahLst/>
            <a:cxnLst/>
            <a:rect l="l" t="t" r="r" b="b"/>
            <a:pathLst>
              <a:path w="176530" h="0">
                <a:moveTo>
                  <a:pt x="0" y="0"/>
                </a:moveTo>
                <a:lnTo>
                  <a:pt x="17651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040339" y="2310297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 h="0">
                <a:moveTo>
                  <a:pt x="0" y="0"/>
                </a:moveTo>
                <a:lnTo>
                  <a:pt x="1783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054239" y="440855"/>
            <a:ext cx="168910" cy="1869439"/>
          </a:xfrm>
          <a:custGeom>
            <a:avLst/>
            <a:gdLst/>
            <a:ahLst/>
            <a:cxnLst/>
            <a:rect l="l" t="t" r="r" b="b"/>
            <a:pathLst>
              <a:path w="168910" h="1869439">
                <a:moveTo>
                  <a:pt x="0" y="0"/>
                </a:moveTo>
                <a:lnTo>
                  <a:pt x="17386" y="50088"/>
                </a:lnTo>
                <a:lnTo>
                  <a:pt x="27511" y="98349"/>
                </a:lnTo>
                <a:lnTo>
                  <a:pt x="37943" y="161773"/>
                </a:lnTo>
                <a:lnTo>
                  <a:pt x="49498" y="245483"/>
                </a:lnTo>
                <a:lnTo>
                  <a:pt x="55977" y="297328"/>
                </a:lnTo>
                <a:lnTo>
                  <a:pt x="62142" y="349195"/>
                </a:lnTo>
                <a:lnTo>
                  <a:pt x="68072" y="401085"/>
                </a:lnTo>
                <a:lnTo>
                  <a:pt x="73847" y="452997"/>
                </a:lnTo>
                <a:lnTo>
                  <a:pt x="79547" y="504932"/>
                </a:lnTo>
                <a:lnTo>
                  <a:pt x="85252" y="556890"/>
                </a:lnTo>
                <a:lnTo>
                  <a:pt x="90371" y="605486"/>
                </a:lnTo>
                <a:lnTo>
                  <a:pt x="95508" y="654094"/>
                </a:lnTo>
                <a:lnTo>
                  <a:pt x="100685" y="702709"/>
                </a:lnTo>
                <a:lnTo>
                  <a:pt x="105922" y="751321"/>
                </a:lnTo>
                <a:lnTo>
                  <a:pt x="111238" y="799925"/>
                </a:lnTo>
                <a:lnTo>
                  <a:pt x="116655" y="848512"/>
                </a:lnTo>
                <a:lnTo>
                  <a:pt x="122193" y="897075"/>
                </a:lnTo>
                <a:lnTo>
                  <a:pt x="127872" y="945606"/>
                </a:lnTo>
                <a:lnTo>
                  <a:pt x="132747" y="988550"/>
                </a:lnTo>
                <a:lnTo>
                  <a:pt x="137965" y="1031611"/>
                </a:lnTo>
                <a:lnTo>
                  <a:pt x="143466" y="1074642"/>
                </a:lnTo>
                <a:lnTo>
                  <a:pt x="149188" y="1117495"/>
                </a:lnTo>
                <a:lnTo>
                  <a:pt x="151450" y="1136824"/>
                </a:lnTo>
                <a:lnTo>
                  <a:pt x="154137" y="1156208"/>
                </a:lnTo>
                <a:lnTo>
                  <a:pt x="157012" y="1175579"/>
                </a:lnTo>
                <a:lnTo>
                  <a:pt x="159840" y="1194863"/>
                </a:lnTo>
                <a:lnTo>
                  <a:pt x="161230" y="1207373"/>
                </a:lnTo>
                <a:lnTo>
                  <a:pt x="164939" y="1231468"/>
                </a:lnTo>
                <a:lnTo>
                  <a:pt x="166790" y="1243049"/>
                </a:lnTo>
                <a:lnTo>
                  <a:pt x="168647" y="1255097"/>
                </a:lnTo>
                <a:lnTo>
                  <a:pt x="168647" y="1869442"/>
                </a:lnTo>
                <a:lnTo>
                  <a:pt x="163087" y="186944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878647" y="437198"/>
            <a:ext cx="175895" cy="1172845"/>
          </a:xfrm>
          <a:custGeom>
            <a:avLst/>
            <a:gdLst/>
            <a:ahLst/>
            <a:cxnLst/>
            <a:rect l="l" t="t" r="r" b="b"/>
            <a:pathLst>
              <a:path w="175894" h="1172845">
                <a:moveTo>
                  <a:pt x="0" y="1172580"/>
                </a:moveTo>
                <a:lnTo>
                  <a:pt x="6761" y="1122082"/>
                </a:lnTo>
                <a:lnTo>
                  <a:pt x="13276" y="1071552"/>
                </a:lnTo>
                <a:lnTo>
                  <a:pt x="19571" y="1020992"/>
                </a:lnTo>
                <a:lnTo>
                  <a:pt x="25669" y="970407"/>
                </a:lnTo>
                <a:lnTo>
                  <a:pt x="31594" y="919798"/>
                </a:lnTo>
                <a:lnTo>
                  <a:pt x="37369" y="869170"/>
                </a:lnTo>
                <a:lnTo>
                  <a:pt x="43021" y="818527"/>
                </a:lnTo>
                <a:lnTo>
                  <a:pt x="48571" y="767871"/>
                </a:lnTo>
                <a:lnTo>
                  <a:pt x="54046" y="717206"/>
                </a:lnTo>
                <a:lnTo>
                  <a:pt x="59467" y="666535"/>
                </a:lnTo>
                <a:lnTo>
                  <a:pt x="64861" y="615862"/>
                </a:lnTo>
                <a:lnTo>
                  <a:pt x="70251" y="565190"/>
                </a:lnTo>
                <a:lnTo>
                  <a:pt x="75660" y="514523"/>
                </a:lnTo>
                <a:lnTo>
                  <a:pt x="81114" y="463864"/>
                </a:lnTo>
                <a:lnTo>
                  <a:pt x="86636" y="413216"/>
                </a:lnTo>
                <a:lnTo>
                  <a:pt x="93075" y="358888"/>
                </a:lnTo>
                <a:lnTo>
                  <a:pt x="99515" y="304437"/>
                </a:lnTo>
                <a:lnTo>
                  <a:pt x="106248" y="249969"/>
                </a:lnTo>
                <a:lnTo>
                  <a:pt x="113564" y="195589"/>
                </a:lnTo>
                <a:lnTo>
                  <a:pt x="121756" y="141402"/>
                </a:lnTo>
                <a:lnTo>
                  <a:pt x="131113" y="87514"/>
                </a:lnTo>
                <a:lnTo>
                  <a:pt x="145081" y="29071"/>
                </a:lnTo>
                <a:lnTo>
                  <a:pt x="158730" y="0"/>
                </a:lnTo>
                <a:lnTo>
                  <a:pt x="175591" y="365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867989" y="1609778"/>
            <a:ext cx="10795" cy="701040"/>
          </a:xfrm>
          <a:custGeom>
            <a:avLst/>
            <a:gdLst/>
            <a:ahLst/>
            <a:cxnLst/>
            <a:rect l="l" t="t" r="r" b="b"/>
            <a:pathLst>
              <a:path w="10794" h="701039">
                <a:moveTo>
                  <a:pt x="0" y="700519"/>
                </a:moveTo>
                <a:lnTo>
                  <a:pt x="0" y="73665"/>
                </a:lnTo>
                <a:lnTo>
                  <a:pt x="1856" y="61617"/>
                </a:lnTo>
                <a:lnTo>
                  <a:pt x="3246" y="49570"/>
                </a:lnTo>
                <a:lnTo>
                  <a:pt x="5098" y="37527"/>
                </a:lnTo>
                <a:lnTo>
                  <a:pt x="1065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866132" y="289161"/>
            <a:ext cx="333375" cy="17506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10"/>
              </a:spcBef>
            </a:pPr>
            <a:r>
              <a:rPr dirty="0" sz="600" spc="5">
                <a:latin typeface="Times New Roman"/>
                <a:cs typeface="Times New Roman"/>
              </a:rPr>
              <a:t>0.06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</a:pPr>
            <a:r>
              <a:rPr dirty="0" sz="600" spc="5">
                <a:latin typeface="Times New Roman"/>
                <a:cs typeface="Times New Roman"/>
              </a:rPr>
              <a:t>0.05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dirty="0" sz="600" spc="5">
                <a:latin typeface="Times New Roman"/>
                <a:cs typeface="Times New Roman"/>
              </a:rPr>
              <a:t>0.04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850" spc="10">
                <a:latin typeface="Symbol"/>
                <a:cs typeface="Symbol"/>
              </a:rPr>
              <a:t></a:t>
            </a:r>
            <a:endParaRPr sz="850">
              <a:latin typeface="Symbol"/>
              <a:cs typeface="Symbol"/>
            </a:endParaRPr>
          </a:p>
          <a:p>
            <a:pPr marL="183515">
              <a:lnSpc>
                <a:spcPct val="100000"/>
              </a:lnSpc>
              <a:spcBef>
                <a:spcPts val="509"/>
              </a:spcBef>
            </a:pPr>
            <a:r>
              <a:rPr dirty="0" sz="600" spc="5">
                <a:latin typeface="Times New Roman"/>
                <a:cs typeface="Times New Roman"/>
              </a:rPr>
              <a:t>0.03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</a:pPr>
            <a:r>
              <a:rPr dirty="0" sz="600" spc="5">
                <a:latin typeface="Times New Roman"/>
                <a:cs typeface="Times New Roman"/>
              </a:rPr>
              <a:t>0.02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</a:pPr>
            <a:r>
              <a:rPr dirty="0" sz="600" spc="5">
                <a:latin typeface="Times New Roman"/>
                <a:cs typeface="Times New Roman"/>
              </a:rPr>
              <a:t>0.01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40334" y="2366165"/>
            <a:ext cx="3727450" cy="514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228600">
              <a:lnSpc>
                <a:spcPct val="100000"/>
              </a:lnSpc>
              <a:spcBef>
                <a:spcPts val="125"/>
              </a:spcBef>
            </a:pPr>
            <a:r>
              <a:rPr dirty="0" sz="850" spc="10" b="1">
                <a:latin typeface="Times New Roman"/>
                <a:cs typeface="Times New Roman"/>
              </a:rPr>
              <a:t>pH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4: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总浓度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0">
                <a:latin typeface="Georgia"/>
                <a:cs typeface="Georgia"/>
              </a:rPr>
              <a:t>0.10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mol/L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5">
                <a:latin typeface="Georgia"/>
                <a:cs typeface="Georgia"/>
              </a:rPr>
              <a:t>HAc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5">
                <a:latin typeface="Georgia"/>
                <a:cs typeface="Georgia"/>
              </a:rPr>
              <a:t>NaAc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缓冲</a:t>
            </a:r>
            <a:r>
              <a:rPr dirty="0" sz="1050" spc="-10">
                <a:latin typeface="Arial Unicode MS"/>
                <a:cs typeface="Arial Unicode MS"/>
              </a:rPr>
              <a:t>溶</a:t>
            </a:r>
            <a:r>
              <a:rPr dirty="0" sz="1050" spc="-5">
                <a:latin typeface="Arial Unicode MS"/>
                <a:cs typeface="Arial Unicode MS"/>
              </a:rPr>
              <a:t>液的缓冲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数曲线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33362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4.6.3</a:t>
            </a:r>
            <a:r>
              <a:rPr dirty="0" sz="1400" spc="12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缓冲溶液的选择原则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45492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71658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42563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68728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444" y="829322"/>
            <a:ext cx="4371340" cy="19672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分析化学中用于控制溶液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值的缓冲溶液有很</a:t>
            </a:r>
            <a:r>
              <a:rPr dirty="0" sz="1200" spc="-80">
                <a:latin typeface="Arial Unicode MS"/>
                <a:cs typeface="Arial Unicode MS"/>
              </a:rPr>
              <a:t>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通常应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根据实际情况选用恰当的缓冲溶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选用的原则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缓冲溶液对测量过程应没有干</a:t>
            </a:r>
            <a:r>
              <a:rPr dirty="0" sz="1200" spc="-20">
                <a:latin typeface="Arial Unicode MS"/>
                <a:cs typeface="Arial Unicode MS"/>
              </a:rPr>
              <a:t>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Unicode MS"/>
                <a:cs typeface="Arial Unicode MS"/>
              </a:rPr>
              <a:t>所需控制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应在缓冲溶液的缓冲范围之</a:t>
            </a:r>
            <a:r>
              <a:rPr dirty="0" sz="1200" spc="-20">
                <a:latin typeface="Arial Unicode MS"/>
                <a:cs typeface="Arial Unicode MS"/>
              </a:rPr>
              <a:t>内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如果缓冲溶液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是由弱酸及其共轭碱组成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r>
              <a:rPr dirty="0" sz="1100" spc="-5">
                <a:latin typeface="Georgia"/>
                <a:cs typeface="Georgia"/>
              </a:rPr>
              <a:t>p</a:t>
            </a:r>
            <a:r>
              <a:rPr dirty="0" sz="1100" spc="-5" b="0" i="1">
                <a:latin typeface="Bookman Old Style"/>
                <a:cs typeface="Bookman Old Style"/>
              </a:rPr>
              <a:t>K</a:t>
            </a:r>
            <a:r>
              <a:rPr dirty="0" baseline="-13888" sz="900" spc="-7" i="1">
                <a:latin typeface="Arial"/>
                <a:cs typeface="Arial"/>
              </a:rPr>
              <a:t>a</a:t>
            </a:r>
            <a:r>
              <a:rPr dirty="0" baseline="-13888" sz="900" spc="82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值应尽量与所需控制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一</a:t>
            </a:r>
            <a:r>
              <a:rPr dirty="0" sz="1200" spc="-80">
                <a:latin typeface="Arial Unicode MS"/>
                <a:cs typeface="Arial Unicode MS"/>
              </a:rPr>
              <a:t>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p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-13888" sz="900" spc="82" i="1">
                <a:latin typeface="Arial"/>
                <a:cs typeface="Arial"/>
              </a:rPr>
              <a:t>a</a:t>
            </a:r>
            <a:r>
              <a:rPr dirty="0" baseline="-13888" sz="900" spc="270" i="1">
                <a:latin typeface="Arial"/>
                <a:cs typeface="Arial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60">
                <a:latin typeface="Georgia"/>
                <a:cs typeface="Georgia"/>
              </a:rPr>
              <a:t>pH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03530" marR="1934845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缓冲溶液应有足够的缓冲容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-5">
                <a:latin typeface="Arial Unicode MS"/>
                <a:cs typeface="Arial Unicode MS"/>
              </a:rPr>
              <a:t>缓冲物质应廉价易</a:t>
            </a:r>
            <a:r>
              <a:rPr dirty="0" sz="1200" spc="-2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3849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4.7</a:t>
            </a:r>
            <a:r>
              <a:rPr dirty="0" sz="1400" spc="114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酸碱指示剂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744" y="599694"/>
            <a:ext cx="4432935" cy="273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酸碱指示剂是一些结构复杂的有机弱酸或有机弱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它的结 构中通常包含有双键结构和苯环结</a:t>
            </a:r>
            <a:r>
              <a:rPr dirty="0" sz="1200" spc="-80">
                <a:latin typeface="Arial Unicode MS"/>
                <a:cs typeface="Arial Unicode MS"/>
              </a:rPr>
              <a:t>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一般构成一个大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35" b="0" i="1">
                <a:latin typeface="Bookman Old Style"/>
                <a:cs typeface="Bookman Old Style"/>
              </a:rPr>
              <a:t>π</a:t>
            </a:r>
            <a:r>
              <a:rPr dirty="0" sz="1100" spc="-1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电子 共轭体系</a:t>
            </a:r>
            <a:r>
              <a:rPr dirty="0" baseline="37037" sz="900" spc="-112">
                <a:latin typeface="Times New Roman"/>
                <a:cs typeface="Times New Roman"/>
              </a:rPr>
              <a:t>9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因而常常显现出一定的颜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当酸碱溶液中的氢离子 </a:t>
            </a:r>
            <a:r>
              <a:rPr dirty="0" sz="1200" spc="-10">
                <a:latin typeface="Arial Unicode MS"/>
                <a:cs typeface="Arial Unicode MS"/>
              </a:rPr>
              <a:t>结合到酸碱指示剂上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它改变了酸碱指示剂原有的共轭结</a:t>
            </a:r>
            <a:r>
              <a:rPr dirty="0" sz="1200" spc="-80">
                <a:latin typeface="Arial Unicode MS"/>
                <a:cs typeface="Arial Unicode MS"/>
              </a:rPr>
              <a:t>构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 </a:t>
            </a:r>
            <a:r>
              <a:rPr dirty="0" sz="1200" spc="-10">
                <a:latin typeface="Arial Unicode MS"/>
                <a:cs typeface="Arial Unicode MS"/>
              </a:rPr>
              <a:t>而导致其颜色的改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利用酸碱指示剂的这一特</a:t>
            </a:r>
            <a:r>
              <a:rPr dirty="0" sz="1200" spc="-80">
                <a:latin typeface="Arial Unicode MS"/>
                <a:cs typeface="Arial Unicode MS"/>
              </a:rPr>
              <a:t>征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可用它来示</a:t>
            </a:r>
            <a:r>
              <a:rPr dirty="0" sz="1200" spc="-5">
                <a:latin typeface="Arial Unicode MS"/>
                <a:cs typeface="Arial Unicode MS"/>
              </a:rPr>
              <a:t>踪 </a:t>
            </a:r>
            <a:r>
              <a:rPr dirty="0" sz="1200" spc="-5">
                <a:latin typeface="Arial Unicode MS"/>
                <a:cs typeface="Arial Unicode MS"/>
              </a:rPr>
              <a:t>酸碱溶液中氢离子浓度的变化情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50800" marR="6604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甲基橙是一种有机弱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它的碱式具有偶氮式结</a:t>
            </a:r>
            <a:r>
              <a:rPr dirty="0" sz="1200" spc="-80">
                <a:latin typeface="Arial Unicode MS"/>
                <a:cs typeface="Arial Unicode MS"/>
              </a:rPr>
              <a:t>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呈 </a:t>
            </a:r>
            <a:r>
              <a:rPr dirty="0" sz="1200" spc="-5">
                <a:latin typeface="Arial Unicode MS"/>
                <a:cs typeface="Arial Unicode MS"/>
              </a:rPr>
              <a:t>黄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酸式结构具有醌式结</a:t>
            </a:r>
            <a:r>
              <a:rPr dirty="0" sz="1200" spc="-80">
                <a:latin typeface="Arial Unicode MS"/>
                <a:cs typeface="Arial Unicode MS"/>
              </a:rPr>
              <a:t>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呈红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甲基橙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45">
                <a:latin typeface="Georgia"/>
                <a:cs typeface="Georgia"/>
              </a:rPr>
              <a:t>pH</a:t>
            </a:r>
            <a:r>
              <a:rPr dirty="0" sz="1100" spc="-45">
                <a:latin typeface="Lucida Sans Unicode"/>
                <a:cs typeface="Lucida Sans Unicode"/>
              </a:rPr>
              <a:t>≤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3</a:t>
            </a:r>
            <a:r>
              <a:rPr dirty="0" sz="1100" spc="-10" b="0" i="1">
                <a:latin typeface="Bookman Old Style"/>
                <a:cs typeface="Bookman Old Style"/>
              </a:rPr>
              <a:t>.</a:t>
            </a:r>
            <a:r>
              <a:rPr dirty="0" sz="1100" spc="-10">
                <a:latin typeface="Georgia"/>
                <a:cs typeface="Georgia"/>
              </a:rPr>
              <a:t>1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主 要以酸式结构存</a:t>
            </a:r>
            <a:r>
              <a:rPr dirty="0" sz="1200" spc="-80">
                <a:latin typeface="Arial Unicode MS"/>
                <a:cs typeface="Arial Unicode MS"/>
              </a:rPr>
              <a:t>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故呈现红</a:t>
            </a:r>
            <a:r>
              <a:rPr dirty="0" sz="1200" spc="-65">
                <a:latin typeface="Arial Unicode MS"/>
                <a:cs typeface="Arial Unicode MS"/>
              </a:rPr>
              <a:t>色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45">
                <a:latin typeface="Georgia"/>
                <a:cs typeface="Georgia"/>
              </a:rPr>
              <a:t>pH</a:t>
            </a:r>
            <a:r>
              <a:rPr dirty="0" sz="1100" spc="-45">
                <a:latin typeface="Lucida Sans Unicode"/>
                <a:cs typeface="Lucida Sans Unicode"/>
              </a:rPr>
              <a:t>≥</a:t>
            </a:r>
            <a:r>
              <a:rPr dirty="0" sz="1100" spc="-7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主要以碱式结构 存</a:t>
            </a:r>
            <a:r>
              <a:rPr dirty="0" sz="1200" spc="-80">
                <a:latin typeface="Arial Unicode MS"/>
                <a:cs typeface="Arial Unicode MS"/>
              </a:rPr>
              <a:t>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故呈现黄</a:t>
            </a:r>
            <a:r>
              <a:rPr dirty="0" sz="1200" spc="-65">
                <a:latin typeface="Arial Unicode MS"/>
                <a:cs typeface="Arial Unicode MS"/>
              </a:rPr>
              <a:t>色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3</a:t>
            </a:r>
            <a:r>
              <a:rPr dirty="0" sz="1100" spc="-10" b="0" i="1">
                <a:latin typeface="Bookman Old Style"/>
                <a:cs typeface="Bookman Old Style"/>
              </a:rPr>
              <a:t>.</a:t>
            </a:r>
            <a:r>
              <a:rPr dirty="0" sz="1100" spc="-10">
                <a:latin typeface="Georgia"/>
                <a:cs typeface="Georgia"/>
              </a:rPr>
              <a:t>1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两种结构同时存</a:t>
            </a:r>
            <a:r>
              <a:rPr dirty="0" sz="1200" spc="-80">
                <a:latin typeface="Arial Unicode MS"/>
                <a:cs typeface="Arial Unicode MS"/>
              </a:rPr>
              <a:t>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故呈 现出红色与黄色的混合色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200" spc="-5">
                <a:latin typeface="Arial Unicode MS"/>
                <a:cs typeface="Arial Unicode MS"/>
              </a:rPr>
              <a:t>橙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208279">
              <a:lnSpc>
                <a:spcPct val="100000"/>
              </a:lnSpc>
              <a:spcBef>
                <a:spcPts val="88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9</a:t>
            </a:r>
            <a:r>
              <a:rPr dirty="0" sz="900" spc="-5">
                <a:latin typeface="Arial Unicode MS"/>
                <a:cs typeface="Arial Unicode MS"/>
              </a:rPr>
              <a:t>请参阅有机化学的相关内</a:t>
            </a:r>
            <a:r>
              <a:rPr dirty="0" sz="900" spc="-15">
                <a:latin typeface="Arial Unicode MS"/>
                <a:cs typeface="Arial Unicode MS"/>
              </a:rPr>
              <a:t>容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006" y="343377"/>
            <a:ext cx="2879992" cy="21138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95056" y="2623883"/>
            <a:ext cx="14179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5:</a:t>
            </a:r>
            <a:r>
              <a:rPr dirty="0" sz="1000" spc="16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甲基橙的</a:t>
            </a:r>
            <a:r>
              <a:rPr dirty="0" sz="1050" spc="-10">
                <a:latin typeface="Arial Unicode MS"/>
                <a:cs typeface="Arial Unicode MS"/>
              </a:rPr>
              <a:t>变</a:t>
            </a:r>
            <a:r>
              <a:rPr dirty="0" sz="1050" spc="-5">
                <a:latin typeface="Arial Unicode MS"/>
                <a:cs typeface="Arial Unicode MS"/>
              </a:rPr>
              <a:t>色范围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79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53555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4.7.1</a:t>
            </a:r>
            <a:r>
              <a:rPr dirty="0" sz="1400" spc="12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酸碱指示剂的变色范围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731558"/>
            <a:ext cx="432943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当酸碱溶液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值从某一个值增大到另一个值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酸碱指示 剂的颜色恰好从酸色转变为碱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值的范围称为指示剂的 变色范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以弱酸型指示</a:t>
            </a:r>
            <a:r>
              <a:rPr dirty="0" sz="1200" spc="175">
                <a:latin typeface="Arial Unicode MS"/>
                <a:cs typeface="Arial Unicode MS"/>
              </a:rPr>
              <a:t>剂</a:t>
            </a:r>
            <a:r>
              <a:rPr dirty="0" sz="1100" spc="-55">
                <a:latin typeface="Georgia"/>
                <a:cs typeface="Georgia"/>
              </a:rPr>
              <a:t>HIn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它在溶液中的解离平衡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4017" y="1526895"/>
            <a:ext cx="238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80" b="0" i="1">
                <a:latin typeface="Bookman Old Style"/>
                <a:cs typeface="Bookman Old Style"/>
              </a:rPr>
              <a:t>K</a:t>
            </a:r>
            <a:r>
              <a:rPr dirty="0" baseline="-11904" sz="1050" spc="120" i="1">
                <a:latin typeface="Arial"/>
                <a:cs typeface="Arial"/>
              </a:rPr>
              <a:t>a</a:t>
            </a:r>
            <a:endParaRPr baseline="-11904"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1470" y="1717852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8773" y="1634451"/>
            <a:ext cx="196786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607185" algn="l"/>
              </a:tabLst>
            </a:pPr>
            <a:r>
              <a:rPr dirty="0" sz="1100" spc="-55">
                <a:solidFill>
                  <a:srgbClr val="FF0000"/>
                </a:solidFill>
                <a:latin typeface="Georgia"/>
                <a:cs typeface="Georgia"/>
              </a:rPr>
              <a:t>HIn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5257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41666" sz="900" spc="104">
                <a:latin typeface="Times New Roman"/>
                <a:cs typeface="Times New Roman"/>
              </a:rPr>
              <a:t>+</a:t>
            </a:r>
            <a:r>
              <a:rPr dirty="0" baseline="41666" sz="900" spc="16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5">
                <a:solidFill>
                  <a:srgbClr val="0000FF"/>
                </a:solidFill>
                <a:latin typeface="Georgia"/>
                <a:cs typeface="Georgia"/>
              </a:rPr>
              <a:t>In</a:t>
            </a:r>
            <a:r>
              <a:rPr dirty="0" baseline="41666" sz="900" spc="7">
                <a:solidFill>
                  <a:srgbClr val="0000FF"/>
                </a:solidFill>
                <a:latin typeface="Lucida Sans Unicode"/>
                <a:cs typeface="Lucida Sans Unicode"/>
              </a:rPr>
              <a:t>−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36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91650" y="1751063"/>
            <a:ext cx="541655" cy="0"/>
          </a:xfrm>
          <a:custGeom>
            <a:avLst/>
            <a:gdLst/>
            <a:ahLst/>
            <a:cxnLst/>
            <a:rect l="l" t="t" r="r" b="b"/>
            <a:pathLst>
              <a:path w="541654" h="0">
                <a:moveTo>
                  <a:pt x="0" y="0"/>
                </a:moveTo>
                <a:lnTo>
                  <a:pt x="54160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53550" y="1518219"/>
            <a:ext cx="61785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940" marR="30480" indent="-11747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70">
                <a:latin typeface="Georgia"/>
                <a:cs typeface="Georgia"/>
              </a:rPr>
              <a:t>][I</a:t>
            </a:r>
            <a:r>
              <a:rPr dirty="0" sz="1100" spc="-110">
                <a:latin typeface="Georgia"/>
                <a:cs typeface="Georgia"/>
              </a:rPr>
              <a:t>n</a:t>
            </a:r>
            <a:r>
              <a:rPr dirty="0" baseline="37037" sz="900" spc="209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80">
                <a:latin typeface="Georgia"/>
                <a:cs typeface="Georgia"/>
              </a:rPr>
              <a:t>[HIn]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501" y="2015629"/>
            <a:ext cx="1501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根据平衡关系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7829" y="2490025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193" y="2406624"/>
            <a:ext cx="1376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pH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0">
                <a:latin typeface="Georgia"/>
                <a:cs typeface="Georgia"/>
              </a:rPr>
              <a:t>p</a:t>
            </a:r>
            <a:r>
              <a:rPr dirty="0" sz="1100" spc="5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log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44648" y="2523236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31948" y="2501658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[HI</a:t>
            </a:r>
            <a:r>
              <a:rPr dirty="0" sz="1100" spc="-80">
                <a:latin typeface="Georgia"/>
                <a:cs typeface="Georgia"/>
              </a:rPr>
              <a:t>n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456" y="240662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(34)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40639"/>
            <a:ext cx="7759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一般而</a:t>
            </a:r>
            <a:r>
              <a:rPr dirty="0" spc="-80"/>
              <a:t>言</a:t>
            </a:r>
            <a:r>
              <a:rPr dirty="0" spc="-5"/>
              <a:t>，</a:t>
            </a:r>
          </a:p>
        </p:txBody>
      </p:sp>
      <p:sp>
        <p:nvSpPr>
          <p:cNvPr id="3" name="object 3"/>
          <p:cNvSpPr/>
          <p:nvPr/>
        </p:nvSpPr>
        <p:spPr>
          <a:xfrm>
            <a:off x="274599" y="71589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8502" y="536689"/>
            <a:ext cx="3600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[In</a:t>
            </a:r>
            <a:r>
              <a:rPr dirty="0" baseline="37037" sz="900" spc="-52">
                <a:latin typeface="Lucida Sans Unicode"/>
                <a:cs typeface="Lucida Sans Unicode"/>
              </a:rPr>
              <a:t>−</a:t>
            </a:r>
            <a:r>
              <a:rPr dirty="0" sz="1100" spc="-3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4359" y="747026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8853" y="617131"/>
            <a:ext cx="32956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baseline="-37878" sz="1650" spc="-120">
                <a:latin typeface="Georgia"/>
                <a:cs typeface="Georgia"/>
              </a:rPr>
              <a:t>[HIn]</a:t>
            </a:r>
            <a:r>
              <a:rPr dirty="0" baseline="-37878" sz="1650" spc="-67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人的眼睛只能看到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In</a:t>
            </a:r>
            <a:r>
              <a:rPr dirty="0" baseline="37037" sz="900" spc="7">
                <a:latin typeface="Lucida Sans Unicode"/>
                <a:cs typeface="Lucida Sans Unicode"/>
              </a:rPr>
              <a:t>−</a:t>
            </a:r>
            <a:r>
              <a:rPr dirty="0" baseline="37037" sz="900" spc="2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的颜</a:t>
            </a:r>
            <a:r>
              <a:rPr dirty="0" sz="1200" spc="-65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599" y="109381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995045"/>
            <a:ext cx="17780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383" y="926947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902" y="914603"/>
            <a:ext cx="309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[In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4359" y="1124940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81659" y="1103363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[HI</a:t>
            </a:r>
            <a:r>
              <a:rPr dirty="0" sz="1100" spc="-80">
                <a:latin typeface="Georgia"/>
                <a:cs typeface="Georgia"/>
              </a:rPr>
              <a:t>n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3203" y="995045"/>
            <a:ext cx="21355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0">
                <a:latin typeface="Lucida Sans Unicode"/>
                <a:cs typeface="Lucida Sans Unicode"/>
              </a:rPr>
              <a:t>≤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只能看到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HIn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的颜</a:t>
            </a:r>
            <a:r>
              <a:rPr dirty="0" sz="1200" spc="-65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599" y="147172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4359" y="1502854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 h="0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90892" y="1292517"/>
            <a:ext cx="690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68935" algn="l"/>
              </a:tabLst>
            </a:pP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-35">
                <a:latin typeface="Georgia"/>
                <a:cs typeface="Georgia"/>
              </a:rPr>
              <a:t>[In</a:t>
            </a:r>
            <a:r>
              <a:rPr dirty="0" baseline="37037" sz="900" spc="-52">
                <a:latin typeface="Lucida Sans Unicode"/>
                <a:cs typeface="Lucida Sans Unicode"/>
              </a:rPr>
              <a:t>−</a:t>
            </a:r>
            <a:r>
              <a:rPr dirty="0" sz="1100" spc="-3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91" y="1502854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66153" y="1372959"/>
            <a:ext cx="40576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10</a:t>
            </a:r>
            <a:r>
              <a:rPr dirty="0" baseline="-37878" sz="1650" spc="225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85" b="0" i="1">
                <a:latin typeface="Bookman Old Style"/>
                <a:cs typeface="Bookman Old Style"/>
              </a:rPr>
              <a:t> </a:t>
            </a:r>
            <a:r>
              <a:rPr dirty="0" baseline="-37878" sz="1650" spc="-120">
                <a:latin typeface="Georgia"/>
                <a:cs typeface="Georgia"/>
              </a:rPr>
              <a:t>[HIn]</a:t>
            </a:r>
            <a:r>
              <a:rPr dirty="0" baseline="-37878" sz="1650" spc="-60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&lt;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看到的</a:t>
            </a:r>
            <a:r>
              <a:rPr dirty="0" sz="1200" spc="175">
                <a:latin typeface="Arial Unicode MS"/>
                <a:cs typeface="Arial Unicode MS"/>
              </a:rPr>
              <a:t>是</a:t>
            </a:r>
            <a:r>
              <a:rPr dirty="0" sz="1100" spc="-55">
                <a:latin typeface="Georgia"/>
                <a:cs typeface="Georgia"/>
              </a:rPr>
              <a:t>HIn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5">
                <a:latin typeface="Georgia"/>
                <a:cs typeface="Georgia"/>
              </a:rPr>
              <a:t>In</a:t>
            </a:r>
            <a:r>
              <a:rPr dirty="0" baseline="37037" sz="900" spc="7">
                <a:latin typeface="Lucida Sans Unicode"/>
                <a:cs typeface="Lucida Sans Unicode"/>
              </a:rPr>
              <a:t>−</a:t>
            </a:r>
            <a:r>
              <a:rPr dirty="0" baseline="37037" sz="900" spc="52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二者的混合颜</a:t>
            </a:r>
            <a:r>
              <a:rPr dirty="0" sz="1200" spc="-65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4599" y="184964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4359" y="1880781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81659" y="1859203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[HI</a:t>
            </a:r>
            <a:r>
              <a:rPr dirty="0" sz="1100" spc="-80">
                <a:latin typeface="Georgia"/>
                <a:cs typeface="Georgia"/>
              </a:rPr>
              <a:t>n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3839" y="1847570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6153" y="1750885"/>
            <a:ext cx="36969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50">
                <a:latin typeface="Arial Unicode MS"/>
                <a:cs typeface="Arial Unicode MS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r>
              <a:rPr dirty="0" baseline="37878" sz="1650" spc="7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100" spc="-9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称为指示剂的理论变色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6801" y="2183434"/>
            <a:ext cx="2893695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一般把下式定为指示剂的变色范</a:t>
            </a:r>
            <a:r>
              <a:rPr dirty="0" sz="1200" spc="-9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458595">
              <a:lnSpc>
                <a:spcPct val="100000"/>
              </a:lnSpc>
            </a:pPr>
            <a:r>
              <a:rPr dirty="0" sz="1100" spc="-55">
                <a:latin typeface="Georgia"/>
                <a:cs typeface="Georgia"/>
              </a:rPr>
              <a:t>pH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5">
                <a:latin typeface="Georgia"/>
                <a:cs typeface="Georgia"/>
              </a:rPr>
              <a:t>p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-13888" sz="900" spc="82" i="1">
                <a:latin typeface="Arial"/>
                <a:cs typeface="Arial"/>
              </a:rPr>
              <a:t>a </a:t>
            </a:r>
            <a:r>
              <a:rPr dirty="0" sz="1100" spc="-30">
                <a:latin typeface="Lucida Sans Unicode"/>
                <a:cs typeface="Lucida Sans Unicode"/>
              </a:rPr>
              <a:t>±</a:t>
            </a:r>
            <a:r>
              <a:rPr dirty="0" sz="1100" spc="-7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人眼的敏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感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度影响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631190"/>
            <a:ext cx="43567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要说明的</a:t>
            </a:r>
            <a:r>
              <a:rPr dirty="0" spc="-80"/>
              <a:t>是</a:t>
            </a:r>
            <a:r>
              <a:rPr dirty="0" spc="-185"/>
              <a:t>，</a:t>
            </a:r>
            <a:r>
              <a:rPr dirty="0" spc="-5"/>
              <a:t>实际测量过程中指示剂的变色范围不是按上式 </a:t>
            </a:r>
            <a:r>
              <a:rPr dirty="0" spc="-10"/>
              <a:t>计算出来</a:t>
            </a:r>
            <a:r>
              <a:rPr dirty="0" spc="-80"/>
              <a:t>的</a:t>
            </a:r>
            <a:r>
              <a:rPr dirty="0" spc="-204"/>
              <a:t>，</a:t>
            </a:r>
            <a:r>
              <a:rPr dirty="0" spc="-10"/>
              <a:t>而是靠眼睛观察出来</a:t>
            </a:r>
            <a:r>
              <a:rPr dirty="0" spc="-20"/>
              <a:t>的</a:t>
            </a:r>
            <a:r>
              <a:rPr dirty="0" spc="-254"/>
              <a:t>。</a:t>
            </a:r>
            <a:r>
              <a:rPr dirty="0" spc="-10"/>
              <a:t>不同的人对颜色的敏感程</a:t>
            </a:r>
            <a:r>
              <a:rPr dirty="0" spc="-5"/>
              <a:t>度 </a:t>
            </a:r>
            <a:r>
              <a:rPr dirty="0" spc="-5"/>
              <a:t>不一定相</a:t>
            </a:r>
            <a:r>
              <a:rPr dirty="0" spc="-80"/>
              <a:t>同</a:t>
            </a:r>
            <a:r>
              <a:rPr dirty="0" spc="-185"/>
              <a:t>，</a:t>
            </a:r>
            <a:r>
              <a:rPr dirty="0" spc="-5"/>
              <a:t>因而观察到的变色范围也有差</a:t>
            </a:r>
            <a:r>
              <a:rPr dirty="0" spc="-20"/>
              <a:t>异</a:t>
            </a:r>
            <a:r>
              <a:rPr dirty="0" spc="-5"/>
              <a:t>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1440827"/>
            <a:ext cx="4350385" cy="10591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甲基橙的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p</a:t>
            </a: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-13888" sz="900" spc="82" i="1">
                <a:latin typeface="Arial"/>
                <a:cs typeface="Arial"/>
              </a:rPr>
              <a:t>a</a:t>
            </a:r>
            <a:r>
              <a:rPr dirty="0" baseline="-13888" sz="900" spc="270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3</a:t>
            </a:r>
            <a:r>
              <a:rPr dirty="0" sz="1100" spc="-110" b="0" i="1">
                <a:latin typeface="Bookman Old Style"/>
                <a:cs typeface="Bookman Old Style"/>
              </a:rPr>
              <a:t>.</a:t>
            </a:r>
            <a:r>
              <a:rPr dirty="0" sz="1100" spc="-110">
                <a:latin typeface="Georgia"/>
                <a:cs typeface="Georgia"/>
              </a:rPr>
              <a:t>4</a:t>
            </a:r>
            <a:r>
              <a:rPr dirty="0" sz="1200" spc="-1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其变色范围的理论值应为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-60">
                <a:latin typeface="Georgia"/>
                <a:cs typeface="Georgia"/>
              </a:rPr>
              <a:t>2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4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114">
                <a:latin typeface="Georgia"/>
                <a:cs typeface="Georgia"/>
              </a:rPr>
              <a:t>4</a:t>
            </a:r>
            <a:r>
              <a:rPr dirty="0" sz="1100" spc="-114" b="0" i="1">
                <a:latin typeface="Bookman Old Style"/>
                <a:cs typeface="Bookman Old Style"/>
              </a:rPr>
              <a:t>.</a:t>
            </a:r>
            <a:r>
              <a:rPr dirty="0" sz="1100" spc="-114">
                <a:latin typeface="Georgia"/>
                <a:cs typeface="Georgia"/>
              </a:rPr>
              <a:t>4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但多数的报道结果是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3</a:t>
            </a:r>
            <a:r>
              <a:rPr dirty="0" sz="1100" spc="-10" b="0" i="1">
                <a:latin typeface="Bookman Old Style"/>
                <a:cs typeface="Bookman Old Style"/>
              </a:rPr>
              <a:t>.</a:t>
            </a:r>
            <a:r>
              <a:rPr dirty="0" sz="1100" spc="-10">
                <a:latin typeface="Georgia"/>
                <a:cs typeface="Georgia"/>
              </a:rPr>
              <a:t>1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114">
                <a:latin typeface="Georgia"/>
                <a:cs typeface="Georgia"/>
              </a:rPr>
              <a:t>4</a:t>
            </a:r>
            <a:r>
              <a:rPr dirty="0" sz="1100" spc="-114" b="0" i="1">
                <a:latin typeface="Bookman Old Style"/>
                <a:cs typeface="Bookman Old Style"/>
              </a:rPr>
              <a:t>.</a:t>
            </a:r>
            <a:r>
              <a:rPr dirty="0" sz="1100" spc="-114">
                <a:latin typeface="Georgia"/>
                <a:cs typeface="Georgia"/>
              </a:rPr>
              <a:t>4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这是因为人眼对红色比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对黄色更为敏</a:t>
            </a:r>
            <a:r>
              <a:rPr dirty="0" sz="1200" spc="-20">
                <a:latin typeface="Arial Unicode MS"/>
                <a:cs typeface="Arial Unicode MS"/>
              </a:rPr>
              <a:t>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Unicode MS"/>
                <a:cs typeface="Arial Unicode MS"/>
              </a:rPr>
              <a:t>当甲基橙用于酸滴定碱的过程中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溶液的颜色从黄色变成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5107" y="2661158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02407" y="2639580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[HI</a:t>
            </a:r>
            <a:r>
              <a:rPr dirty="0" sz="1100" spc="-80">
                <a:latin typeface="Georgia"/>
                <a:cs typeface="Georgia"/>
              </a:rPr>
              <a:t>n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56" y="2531262"/>
            <a:ext cx="44075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红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由于人眼对红色更敏</a:t>
            </a:r>
            <a:r>
              <a:rPr dirty="0" sz="1200" spc="-80">
                <a:latin typeface="Arial Unicode MS"/>
                <a:cs typeface="Arial Unicode MS"/>
              </a:rPr>
              <a:t>感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不需</a:t>
            </a:r>
            <a:r>
              <a:rPr dirty="0" sz="1200" spc="-5">
                <a:latin typeface="Arial Unicode MS"/>
                <a:cs typeface="Arial Unicode MS"/>
              </a:rPr>
              <a:t>要</a:t>
            </a:r>
            <a:r>
              <a:rPr dirty="0" sz="1200" spc="220">
                <a:latin typeface="Arial Unicode MS"/>
                <a:cs typeface="Arial Unicode MS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r>
              <a:rPr dirty="0" baseline="37878" sz="1650" spc="7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时就能感觉到</a:t>
            </a:r>
            <a:r>
              <a:rPr dirty="0" sz="1200" spc="-5">
                <a:latin typeface="Arial Unicode MS"/>
                <a:cs typeface="Arial Unicode MS"/>
              </a:rPr>
              <a:t>红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2787307"/>
            <a:ext cx="22675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色</a:t>
            </a:r>
            <a:r>
              <a:rPr dirty="0" baseline="37037" sz="900" spc="-44">
                <a:latin typeface="Times New Roman"/>
                <a:cs typeface="Times New Roman"/>
              </a:rPr>
              <a:t>10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从而使得变色范围缩短</a:t>
            </a:r>
            <a:r>
              <a:rPr dirty="0" sz="1200" spc="-20">
                <a:latin typeface="Arial Unicode MS"/>
                <a:cs typeface="Arial Unicode MS"/>
              </a:rPr>
              <a:t>了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8544" y="3128010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7401" y="3162173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040" y="3148850"/>
            <a:ext cx="2895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Times New Roman"/>
                <a:cs typeface="Times New Roman"/>
              </a:rPr>
              <a:t>[In</a:t>
            </a:r>
            <a:r>
              <a:rPr dirty="0" baseline="27777" sz="750" spc="142" i="1">
                <a:latin typeface="Arial"/>
                <a:cs typeface="Arial"/>
              </a:rPr>
              <a:t>−</a:t>
            </a:r>
            <a:r>
              <a:rPr dirty="0" sz="600" spc="95">
                <a:latin typeface="Times New Roman"/>
                <a:cs typeface="Times New Roman"/>
              </a:rPr>
              <a:t>]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856" y="3276104"/>
            <a:ext cx="2317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[HI</a:t>
            </a:r>
            <a:r>
              <a:rPr dirty="0" sz="600" spc="65">
                <a:latin typeface="Times New Roman"/>
                <a:cs typeface="Times New Roman"/>
              </a:rPr>
              <a:t>n</a:t>
            </a:r>
            <a:r>
              <a:rPr dirty="0" sz="600" spc="10">
                <a:latin typeface="Times New Roman"/>
                <a:cs typeface="Times New Roman"/>
              </a:rPr>
              <a:t>]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6511" y="3210547"/>
            <a:ext cx="1320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6095" algn="l"/>
              </a:tabLst>
            </a:pPr>
            <a:r>
              <a:rPr dirty="0" sz="500" spc="20">
                <a:latin typeface="Arial Unicode MS"/>
                <a:cs typeface="Arial Unicode MS"/>
              </a:rPr>
              <a:t>实际</a:t>
            </a:r>
            <a:r>
              <a:rPr dirty="0" sz="500" spc="-15">
                <a:latin typeface="Arial Unicode MS"/>
                <a:cs typeface="Arial Unicode MS"/>
              </a:rPr>
              <a:t>上</a:t>
            </a:r>
            <a:r>
              <a:rPr dirty="0" sz="500" spc="60">
                <a:latin typeface="Arial Unicode MS"/>
                <a:cs typeface="Arial Unicode MS"/>
              </a:rPr>
              <a:t>，</a:t>
            </a:r>
            <a:r>
              <a:rPr dirty="0" u="sng" sz="500" spc="6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	</a:t>
            </a:r>
            <a:r>
              <a:rPr dirty="0" sz="600" spc="220">
                <a:latin typeface="Times New Roman"/>
                <a:cs typeface="Times New Roman"/>
              </a:rPr>
              <a:t>=</a:t>
            </a:r>
            <a:r>
              <a:rPr dirty="0" sz="600" spc="3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 </a:t>
            </a:r>
            <a:r>
              <a:rPr dirty="0" sz="500" spc="20">
                <a:latin typeface="Arial Unicode MS"/>
                <a:cs typeface="Arial Unicode MS"/>
              </a:rPr>
              <a:t>时就能感觉到红</a:t>
            </a:r>
            <a:r>
              <a:rPr dirty="0" sz="500" spc="10">
                <a:latin typeface="Arial Unicode MS"/>
                <a:cs typeface="Arial Unicode MS"/>
              </a:rPr>
              <a:t>色</a:t>
            </a:r>
            <a:r>
              <a:rPr dirty="0" sz="500" spc="20">
                <a:latin typeface="Arial Unicode MS"/>
                <a:cs typeface="Arial Unicode MS"/>
              </a:rPr>
              <a:t>。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温度的影响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998220"/>
            <a:ext cx="39414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温度的改变会导致指示剂的离解常数的改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从而导致溶液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739" y="1366647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9039" y="1345069"/>
            <a:ext cx="3333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>
                <a:latin typeface="Georgia"/>
                <a:cs typeface="Georgia"/>
              </a:rPr>
              <a:t>[HI</a:t>
            </a:r>
            <a:r>
              <a:rPr dirty="0" sz="1100" spc="-80">
                <a:latin typeface="Georgia"/>
                <a:cs typeface="Georgia"/>
              </a:rPr>
              <a:t>n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44" y="1236751"/>
            <a:ext cx="351027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210">
                <a:latin typeface="Arial Unicode MS"/>
                <a:cs typeface="Arial Unicode MS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r>
              <a:rPr dirty="0" baseline="37878" sz="1650" spc="82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比的改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最终影响到指示剂的变色范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温度的影响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998220"/>
            <a:ext cx="39414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温度的改变会导致指示剂的离解常数的改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从而导致溶液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739" y="1366647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44" y="1236751"/>
            <a:ext cx="351027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210">
                <a:latin typeface="Arial Unicode MS"/>
                <a:cs typeface="Arial Unicode MS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r>
              <a:rPr dirty="0" baseline="37878" sz="1650" spc="82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比的改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最终影响到指示剂的变色范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44" y="1345069"/>
            <a:ext cx="4351020" cy="719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[HIn]</a:t>
            </a:r>
            <a:endParaRPr sz="1100">
              <a:latin typeface="Georgia"/>
              <a:cs typeface="Georgia"/>
            </a:endParaRPr>
          </a:p>
          <a:p>
            <a:pPr marL="341630">
              <a:lnSpc>
                <a:spcPct val="100000"/>
              </a:lnSpc>
              <a:spcBef>
                <a:spcPts val="95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100" spc="30">
                <a:latin typeface="Georgia"/>
                <a:cs typeface="Georgia"/>
              </a:rPr>
              <a:t>18</a:t>
            </a:r>
            <a:r>
              <a:rPr dirty="0" baseline="37037" sz="900" spc="44">
                <a:latin typeface="Lucida Sans Unicode"/>
                <a:cs typeface="Lucida Sans Unicode"/>
              </a:rPr>
              <a:t>◦</a:t>
            </a:r>
            <a:r>
              <a:rPr dirty="0" sz="1100" spc="30">
                <a:latin typeface="Georgia"/>
                <a:cs typeface="Georgia"/>
              </a:rPr>
              <a:t>C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甲基橙的变色范围是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3</a:t>
            </a:r>
            <a:r>
              <a:rPr dirty="0" sz="1100" spc="-10" b="0" i="1">
                <a:latin typeface="Bookman Old Style"/>
                <a:cs typeface="Bookman Old Style"/>
              </a:rPr>
              <a:t>.</a:t>
            </a:r>
            <a:r>
              <a:rPr dirty="0" sz="1100" spc="-10">
                <a:latin typeface="Georgia"/>
                <a:cs typeface="Georgia"/>
              </a:rPr>
              <a:t>1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而在</a:t>
            </a:r>
            <a:r>
              <a:rPr dirty="0" sz="1100" spc="-5">
                <a:latin typeface="Georgia"/>
                <a:cs typeface="Georgia"/>
              </a:rPr>
              <a:t>100</a:t>
            </a:r>
            <a:r>
              <a:rPr dirty="0" baseline="37037" sz="900" spc="-7">
                <a:latin typeface="Lucida Sans Unicode"/>
                <a:cs typeface="Lucida Sans Unicode"/>
              </a:rPr>
              <a:t>◦</a:t>
            </a:r>
            <a:r>
              <a:rPr dirty="0" sz="1100" spc="-5">
                <a:latin typeface="Georgia"/>
                <a:cs typeface="Georgia"/>
              </a:rPr>
              <a:t>C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时其变色范围是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2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3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7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温度的影响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01" y="998220"/>
            <a:ext cx="39414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温度的改变会导致指示剂的离解常数的改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从而导致溶液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739" y="1366647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44" y="1236751"/>
            <a:ext cx="351027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210">
                <a:latin typeface="Arial Unicode MS"/>
                <a:cs typeface="Arial Unicode MS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r>
              <a:rPr dirty="0" baseline="37878" sz="1650" spc="82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比的改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最终影响到指示剂的变色范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44" y="1345069"/>
            <a:ext cx="4407535" cy="13055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[HIn]</a:t>
            </a:r>
            <a:endParaRPr sz="1100">
              <a:latin typeface="Georgia"/>
              <a:cs typeface="Georgia"/>
            </a:endParaRPr>
          </a:p>
          <a:p>
            <a:pPr marL="341630">
              <a:lnSpc>
                <a:spcPct val="100000"/>
              </a:lnSpc>
              <a:spcBef>
                <a:spcPts val="95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100" spc="30">
                <a:latin typeface="Georgia"/>
                <a:cs typeface="Georgia"/>
              </a:rPr>
              <a:t>18</a:t>
            </a:r>
            <a:r>
              <a:rPr dirty="0" baseline="37037" sz="900" spc="44">
                <a:latin typeface="Lucida Sans Unicode"/>
                <a:cs typeface="Lucida Sans Unicode"/>
              </a:rPr>
              <a:t>◦</a:t>
            </a:r>
            <a:r>
              <a:rPr dirty="0" sz="1100" spc="30">
                <a:latin typeface="Georgia"/>
                <a:cs typeface="Georgia"/>
              </a:rPr>
              <a:t>C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甲基橙的变色范围是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3</a:t>
            </a:r>
            <a:r>
              <a:rPr dirty="0" sz="1100" spc="-10" b="0" i="1">
                <a:latin typeface="Bookman Old Style"/>
                <a:cs typeface="Bookman Old Style"/>
              </a:rPr>
              <a:t>.</a:t>
            </a:r>
            <a:r>
              <a:rPr dirty="0" sz="1100" spc="-10">
                <a:latin typeface="Georgia"/>
                <a:cs typeface="Georgia"/>
              </a:rPr>
              <a:t>1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4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而在</a:t>
            </a:r>
            <a:r>
              <a:rPr dirty="0" sz="1100" spc="-5">
                <a:latin typeface="Georgia"/>
                <a:cs typeface="Georgia"/>
              </a:rPr>
              <a:t>100</a:t>
            </a:r>
            <a:r>
              <a:rPr dirty="0" baseline="37037" sz="900" spc="-7">
                <a:latin typeface="Lucida Sans Unicode"/>
                <a:cs typeface="Lucida Sans Unicode"/>
              </a:rPr>
              <a:t>◦</a:t>
            </a:r>
            <a:r>
              <a:rPr dirty="0" sz="1100" spc="-5">
                <a:latin typeface="Georgia"/>
                <a:cs typeface="Georgia"/>
              </a:rPr>
              <a:t>C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时其变色范围是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2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3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7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1410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100" spc="30">
                <a:latin typeface="Georgia"/>
                <a:cs typeface="Georgia"/>
              </a:rPr>
              <a:t>18</a:t>
            </a:r>
            <a:r>
              <a:rPr dirty="0" baseline="37037" sz="900" spc="44">
                <a:latin typeface="Lucida Sans Unicode"/>
                <a:cs typeface="Lucida Sans Unicode"/>
              </a:rPr>
              <a:t>◦</a:t>
            </a:r>
            <a:r>
              <a:rPr dirty="0" sz="1100" spc="30">
                <a:latin typeface="Georgia"/>
                <a:cs typeface="Georgia"/>
              </a:rPr>
              <a:t>C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酚酞的变色范围</a:t>
            </a:r>
            <a:r>
              <a:rPr dirty="0" sz="1200" spc="-5">
                <a:latin typeface="Arial Unicode MS"/>
                <a:cs typeface="Arial Unicode MS"/>
              </a:rPr>
              <a:t>是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95">
                <a:latin typeface="Georgia"/>
                <a:cs typeface="Georgia"/>
              </a:rPr>
              <a:t>8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9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6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100" spc="-5">
                <a:latin typeface="Georgia"/>
                <a:cs typeface="Georgia"/>
              </a:rPr>
              <a:t>100</a:t>
            </a:r>
            <a:r>
              <a:rPr dirty="0" baseline="37037" sz="900" spc="-7">
                <a:latin typeface="Lucida Sans Unicode"/>
                <a:cs typeface="Lucida Sans Unicode"/>
              </a:rPr>
              <a:t>◦</a:t>
            </a:r>
            <a:r>
              <a:rPr dirty="0" sz="1100" spc="-5">
                <a:latin typeface="Georgia"/>
                <a:cs typeface="Georgia"/>
              </a:rPr>
              <a:t>C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时其变</a:t>
            </a:r>
            <a:r>
              <a:rPr dirty="0" sz="1200" spc="-5">
                <a:latin typeface="Arial Unicode MS"/>
                <a:cs typeface="Arial Unicode MS"/>
              </a:rPr>
              <a:t>色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范围是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8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90">
                <a:latin typeface="Georgia"/>
                <a:cs typeface="Georgia"/>
              </a:rPr>
              <a:t>9</a:t>
            </a:r>
            <a:r>
              <a:rPr dirty="0" sz="1100" spc="-90" b="0" i="1">
                <a:latin typeface="Bookman Old Style"/>
                <a:cs typeface="Bookman Old Style"/>
              </a:rPr>
              <a:t>.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指示剂用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2715" y="1007287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4101" y="877392"/>
            <a:ext cx="410400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指示剂的用量不会影响到溶液</a:t>
            </a: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200">
                <a:latin typeface="Arial Unicode MS"/>
                <a:cs typeface="Arial Unicode MS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r>
              <a:rPr dirty="0" baseline="37878" sz="1650" spc="6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比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因而对于双色指</a:t>
            </a:r>
            <a:r>
              <a:rPr dirty="0" sz="1200" spc="-5">
                <a:latin typeface="Arial Unicode MS"/>
                <a:cs typeface="Arial Unicode MS"/>
              </a:rPr>
              <a:t>示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44" y="985710"/>
            <a:ext cx="4407535" cy="804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944880">
              <a:lnSpc>
                <a:spcPts val="125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[HIn]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ts val="1370"/>
              </a:lnSpc>
            </a:pPr>
            <a:r>
              <a:rPr dirty="0" sz="1200" spc="-10">
                <a:latin typeface="Arial Unicode MS"/>
                <a:cs typeface="Arial Unicode MS"/>
              </a:rPr>
              <a:t>剂的变色范围基本无影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增加指示剂用量毕竟增大了溶</a:t>
            </a:r>
            <a:r>
              <a:rPr dirty="0" sz="1200" spc="-5">
                <a:latin typeface="Arial Unicode MS"/>
                <a:cs typeface="Arial Unicode MS"/>
              </a:rPr>
              <a:t>液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35">
                <a:latin typeface="Georgia"/>
                <a:cs typeface="Georgia"/>
              </a:rPr>
              <a:t>[In</a:t>
            </a:r>
            <a:r>
              <a:rPr dirty="0" baseline="37037" sz="900" spc="-52">
                <a:latin typeface="Lucida Sans Unicode"/>
                <a:cs typeface="Lucida Sans Unicode"/>
              </a:rPr>
              <a:t>−</a:t>
            </a:r>
            <a:r>
              <a:rPr dirty="0" sz="1100" spc="-35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[HIn]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型体的绝对浓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从而增大了人眼对于某一种型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体颜色的辨识机</a:t>
            </a:r>
            <a:r>
              <a:rPr dirty="0" sz="1200" spc="-80">
                <a:latin typeface="Arial Unicode MS"/>
                <a:cs typeface="Arial Unicode MS"/>
              </a:rPr>
              <a:t>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这将会影响到单色指示剂的变色范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903399"/>
            <a:ext cx="432562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碱滴定酸时采用酚酞作指示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85">
                <a:latin typeface="Georgia"/>
                <a:cs typeface="Georgia"/>
              </a:rPr>
              <a:t>50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100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加入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0.1%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酚酞溶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pH=9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时出现粉红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指示剂用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2715" y="1007287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 h="0">
                <a:moveTo>
                  <a:pt x="0" y="0"/>
                </a:moveTo>
                <a:lnTo>
                  <a:pt x="3078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4101" y="877392"/>
            <a:ext cx="410400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指示剂的用量不会影响到溶液</a:t>
            </a: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200">
                <a:latin typeface="Arial Unicode MS"/>
                <a:cs typeface="Arial Unicode MS"/>
              </a:rPr>
              <a:t> </a:t>
            </a:r>
            <a:r>
              <a:rPr dirty="0" baseline="37878" sz="1650" spc="-52">
                <a:latin typeface="Georgia"/>
                <a:cs typeface="Georgia"/>
              </a:rPr>
              <a:t>[In</a:t>
            </a:r>
            <a:r>
              <a:rPr dirty="0" baseline="106481" sz="900" spc="-52">
                <a:latin typeface="Lucida Sans Unicode"/>
                <a:cs typeface="Lucida Sans Unicode"/>
              </a:rPr>
              <a:t>−</a:t>
            </a:r>
            <a:r>
              <a:rPr dirty="0" baseline="37878" sz="1650" spc="-52">
                <a:latin typeface="Georgia"/>
                <a:cs typeface="Georgia"/>
              </a:rPr>
              <a:t>]</a:t>
            </a:r>
            <a:r>
              <a:rPr dirty="0" baseline="37878" sz="1650" spc="6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比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因而对于双色指</a:t>
            </a:r>
            <a:r>
              <a:rPr dirty="0" sz="1200" spc="-5">
                <a:latin typeface="Arial Unicode MS"/>
                <a:cs typeface="Arial Unicode MS"/>
              </a:rPr>
              <a:t>示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44" y="985710"/>
            <a:ext cx="4407535" cy="804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944880">
              <a:lnSpc>
                <a:spcPts val="125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[HIn]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ts val="1370"/>
              </a:lnSpc>
            </a:pPr>
            <a:r>
              <a:rPr dirty="0" sz="1200" spc="-10">
                <a:latin typeface="Arial Unicode MS"/>
                <a:cs typeface="Arial Unicode MS"/>
              </a:rPr>
              <a:t>剂的变色范围基本无影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增加指示剂用量毕竟增大了溶</a:t>
            </a:r>
            <a:r>
              <a:rPr dirty="0" sz="1200" spc="-5">
                <a:latin typeface="Arial Unicode MS"/>
                <a:cs typeface="Arial Unicode MS"/>
              </a:rPr>
              <a:t>液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35">
                <a:latin typeface="Georgia"/>
                <a:cs typeface="Georgia"/>
              </a:rPr>
              <a:t>[In</a:t>
            </a:r>
            <a:r>
              <a:rPr dirty="0" baseline="37037" sz="900" spc="-52">
                <a:latin typeface="Lucida Sans Unicode"/>
                <a:cs typeface="Lucida Sans Unicode"/>
              </a:rPr>
              <a:t>−</a:t>
            </a:r>
            <a:r>
              <a:rPr dirty="0" sz="1100" spc="-35">
                <a:latin typeface="Georgia"/>
                <a:cs typeface="Georgia"/>
              </a:rPr>
              <a:t>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[HIn]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型体的绝对浓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从而增大了人眼对于某一种型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体颜色的辨识机</a:t>
            </a:r>
            <a:r>
              <a:rPr dirty="0" sz="1200" spc="-80">
                <a:latin typeface="Arial Unicode MS"/>
                <a:cs typeface="Arial Unicode MS"/>
              </a:rPr>
              <a:t>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这将会影响到单色指示剂的变色范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903399"/>
            <a:ext cx="4325620" cy="9207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碱滴定酸时采用酚酞作指示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85">
                <a:latin typeface="Georgia"/>
                <a:cs typeface="Georgia"/>
              </a:rPr>
              <a:t>50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100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溶液中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加入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0.1%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酚酞溶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pH=9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时出现粉红</a:t>
            </a:r>
            <a:r>
              <a:rPr dirty="0" sz="1200" spc="-20">
                <a:latin typeface="Arial Unicode MS"/>
                <a:cs typeface="Arial Unicode MS"/>
              </a:rPr>
              <a:t>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而在同样的条件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如果加入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15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0.1%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酚酞溶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0">
                <a:latin typeface="Georgia"/>
                <a:cs typeface="Georgia"/>
              </a:rPr>
              <a:t>pH=8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时就出现粉红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故指示剂的用量不应过</a:t>
            </a:r>
            <a:r>
              <a:rPr dirty="0" sz="1200" spc="-20">
                <a:latin typeface="Arial Unicode MS"/>
                <a:cs typeface="Arial Unicode MS"/>
              </a:rPr>
              <a:t>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152336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4.7.2</a:t>
            </a:r>
            <a:r>
              <a:rPr dirty="0" sz="1400" spc="10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混合指示剂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9664" y="988183"/>
            <a:ext cx="2874252" cy="12900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95780" y="2444915"/>
            <a:ext cx="18167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6: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混合指</a:t>
            </a:r>
            <a:r>
              <a:rPr dirty="0" sz="1050" spc="-10">
                <a:latin typeface="Arial Unicode MS"/>
                <a:cs typeface="Arial Unicode MS"/>
              </a:rPr>
              <a:t>示</a:t>
            </a:r>
            <a:r>
              <a:rPr dirty="0" sz="1050" spc="-5">
                <a:latin typeface="Arial Unicode MS"/>
                <a:cs typeface="Arial Unicode MS"/>
              </a:rPr>
              <a:t>剂的色</a:t>
            </a:r>
            <a:r>
              <a:rPr dirty="0" sz="1050" spc="-10">
                <a:latin typeface="Arial Unicode MS"/>
                <a:cs typeface="Arial Unicode MS"/>
              </a:rPr>
              <a:t>区</a:t>
            </a:r>
            <a:r>
              <a:rPr dirty="0" sz="1050" spc="-5">
                <a:latin typeface="Arial Unicode MS"/>
                <a:cs typeface="Arial Unicode MS"/>
              </a:rPr>
              <a:t>示意图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99199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4.8</a:t>
            </a:r>
            <a:r>
              <a:rPr dirty="0" sz="1400" spc="12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酸碱滴定基本原理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99125"/>
            <a:ext cx="4429760" cy="232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5410" indent="265430">
              <a:lnSpc>
                <a:spcPct val="123300"/>
              </a:lnSpc>
              <a:spcBef>
                <a:spcPts val="100"/>
              </a:spcBef>
            </a:pPr>
            <a:r>
              <a:rPr dirty="0" sz="1050" spc="-10">
                <a:latin typeface="Arial Unicode MS"/>
                <a:cs typeface="Arial Unicode MS"/>
              </a:rPr>
              <a:t>酸</a:t>
            </a:r>
            <a:r>
              <a:rPr dirty="0" sz="1050" spc="-5">
                <a:latin typeface="Arial Unicode MS"/>
                <a:cs typeface="Arial Unicode MS"/>
              </a:rPr>
              <a:t>碱滴定法</a:t>
            </a:r>
            <a:r>
              <a:rPr dirty="0" sz="1050" spc="-10">
                <a:latin typeface="Arial Unicode MS"/>
                <a:cs typeface="Arial Unicode MS"/>
              </a:rPr>
              <a:t>是</a:t>
            </a:r>
            <a:r>
              <a:rPr dirty="0" sz="1050" spc="-5">
                <a:latin typeface="Arial Unicode MS"/>
                <a:cs typeface="Arial Unicode MS"/>
              </a:rPr>
              <a:t>以酸碱</a:t>
            </a:r>
            <a:r>
              <a:rPr dirty="0" sz="1050" spc="-10">
                <a:latin typeface="Arial Unicode MS"/>
                <a:cs typeface="Arial Unicode MS"/>
              </a:rPr>
              <a:t>反</a:t>
            </a:r>
            <a:r>
              <a:rPr dirty="0" sz="1050" spc="-5">
                <a:latin typeface="Arial Unicode MS"/>
                <a:cs typeface="Arial Unicode MS"/>
              </a:rPr>
              <a:t>应为基础的滴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分</a:t>
            </a:r>
            <a:r>
              <a:rPr dirty="0" sz="1050" spc="-10">
                <a:latin typeface="Arial Unicode MS"/>
                <a:cs typeface="Arial Unicode MS"/>
              </a:rPr>
              <a:t>析</a:t>
            </a:r>
            <a:r>
              <a:rPr dirty="0" sz="1050" spc="-5">
                <a:latin typeface="Arial Unicode MS"/>
                <a:cs typeface="Arial Unicode MS"/>
              </a:rPr>
              <a:t>方</a:t>
            </a:r>
            <a:r>
              <a:rPr dirty="0" sz="1050" spc="-70">
                <a:latin typeface="Arial Unicode MS"/>
                <a:cs typeface="Arial Unicode MS"/>
              </a:rPr>
              <a:t>法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是</a:t>
            </a:r>
            <a:r>
              <a:rPr dirty="0" sz="1050" spc="-10">
                <a:latin typeface="Arial Unicode MS"/>
                <a:cs typeface="Arial Unicode MS"/>
              </a:rPr>
              <a:t>经</a:t>
            </a:r>
            <a:r>
              <a:rPr dirty="0" sz="1050" spc="-5">
                <a:latin typeface="Arial Unicode MS"/>
                <a:cs typeface="Arial Unicode MS"/>
              </a:rPr>
              <a:t>典定量分</a:t>
            </a:r>
            <a:r>
              <a:rPr dirty="0" sz="1050" spc="-10">
                <a:latin typeface="Arial Unicode MS"/>
                <a:cs typeface="Arial Unicode MS"/>
              </a:rPr>
              <a:t>析</a:t>
            </a:r>
            <a:r>
              <a:rPr dirty="0" sz="1050" spc="-5">
                <a:latin typeface="Arial Unicode MS"/>
                <a:cs typeface="Arial Unicode MS"/>
              </a:rPr>
              <a:t>方 </a:t>
            </a:r>
            <a:r>
              <a:rPr dirty="0" sz="1050" spc="-5">
                <a:latin typeface="Arial Unicode MS"/>
                <a:cs typeface="Arial Unicode MS"/>
              </a:rPr>
              <a:t>法中的</a:t>
            </a:r>
            <a:r>
              <a:rPr dirty="0" sz="1050" spc="-10">
                <a:latin typeface="Arial Unicode MS"/>
                <a:cs typeface="Arial Unicode MS"/>
              </a:rPr>
              <a:t>重</a:t>
            </a:r>
            <a:r>
              <a:rPr dirty="0" sz="1050" spc="-5">
                <a:latin typeface="Arial Unicode MS"/>
                <a:cs typeface="Arial Unicode MS"/>
              </a:rPr>
              <a:t>要方法</a:t>
            </a:r>
            <a:r>
              <a:rPr dirty="0" sz="1050" spc="-10">
                <a:latin typeface="Arial Unicode MS"/>
                <a:cs typeface="Arial Unicode MS"/>
              </a:rPr>
              <a:t>之</a:t>
            </a:r>
            <a:r>
              <a:rPr dirty="0" sz="1050" spc="-20">
                <a:latin typeface="Arial Unicode MS"/>
                <a:cs typeface="Arial Unicode MS"/>
              </a:rPr>
              <a:t>一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酸碱滴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法通</a:t>
            </a:r>
            <a:r>
              <a:rPr dirty="0" sz="1050" spc="-10">
                <a:latin typeface="Arial Unicode MS"/>
                <a:cs typeface="Arial Unicode MS"/>
              </a:rPr>
              <a:t>常</a:t>
            </a:r>
            <a:r>
              <a:rPr dirty="0" sz="1050" spc="-5">
                <a:latin typeface="Arial Unicode MS"/>
                <a:cs typeface="Arial Unicode MS"/>
              </a:rPr>
              <a:t>用已知浓度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225">
                <a:latin typeface="Arial Unicode MS"/>
                <a:cs typeface="Arial Unicode MS"/>
              </a:rPr>
              <a:t>酸</a:t>
            </a:r>
            <a:r>
              <a:rPr dirty="0" sz="1050" spc="-5">
                <a:latin typeface="Arial Unicode MS"/>
                <a:cs typeface="Arial Unicode MS"/>
              </a:rPr>
              <a:t>（或</a:t>
            </a:r>
            <a:r>
              <a:rPr dirty="0" sz="1050" spc="25">
                <a:latin typeface="Arial Unicode MS"/>
                <a:cs typeface="Arial Unicode MS"/>
              </a:rPr>
              <a:t>碱</a:t>
            </a:r>
            <a:r>
              <a:rPr dirty="0" sz="1050" spc="-250">
                <a:latin typeface="Arial Unicode MS"/>
                <a:cs typeface="Arial Unicode MS"/>
              </a:rPr>
              <a:t>）</a:t>
            </a:r>
            <a:r>
              <a:rPr dirty="0" sz="1050" spc="-5">
                <a:latin typeface="Arial Unicode MS"/>
                <a:cs typeface="Arial Unicode MS"/>
              </a:rPr>
              <a:t>溶液</a:t>
            </a:r>
            <a:r>
              <a:rPr dirty="0" sz="1050" spc="-10">
                <a:latin typeface="Arial Unicode MS"/>
                <a:cs typeface="Arial Unicode MS"/>
              </a:rPr>
              <a:t>去</a:t>
            </a:r>
            <a:r>
              <a:rPr dirty="0" sz="1050" spc="-5">
                <a:latin typeface="Arial Unicode MS"/>
                <a:cs typeface="Arial Unicode MS"/>
              </a:rPr>
              <a:t>滴定 </a:t>
            </a:r>
            <a:r>
              <a:rPr dirty="0" sz="1050" spc="-5">
                <a:latin typeface="Arial Unicode MS"/>
                <a:cs typeface="Arial Unicode MS"/>
              </a:rPr>
              <a:t>体积一定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未知浓度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225">
                <a:latin typeface="Arial Unicode MS"/>
                <a:cs typeface="Arial Unicode MS"/>
              </a:rPr>
              <a:t>碱</a:t>
            </a:r>
            <a:r>
              <a:rPr dirty="0" sz="1050" spc="-5">
                <a:latin typeface="Arial Unicode MS"/>
                <a:cs typeface="Arial Unicode MS"/>
              </a:rPr>
              <a:t>（或</a:t>
            </a:r>
            <a:r>
              <a:rPr dirty="0" sz="1050" spc="25">
                <a:latin typeface="Arial Unicode MS"/>
                <a:cs typeface="Arial Unicode MS"/>
              </a:rPr>
              <a:t>酸</a:t>
            </a:r>
            <a:r>
              <a:rPr dirty="0" sz="1050" spc="-250">
                <a:latin typeface="Arial Unicode MS"/>
                <a:cs typeface="Arial Unicode MS"/>
              </a:rPr>
              <a:t>）</a:t>
            </a:r>
            <a:r>
              <a:rPr dirty="0" sz="1050" spc="-5">
                <a:latin typeface="Arial Unicode MS"/>
                <a:cs typeface="Arial Unicode MS"/>
              </a:rPr>
              <a:t>溶</a:t>
            </a: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这个已</a:t>
            </a:r>
            <a:r>
              <a:rPr dirty="0" sz="1050" spc="-10">
                <a:latin typeface="Arial Unicode MS"/>
                <a:cs typeface="Arial Unicode MS"/>
              </a:rPr>
              <a:t>知</a:t>
            </a:r>
            <a:r>
              <a:rPr dirty="0" sz="1050" spc="-5">
                <a:latin typeface="Arial Unicode MS"/>
                <a:cs typeface="Arial Unicode MS"/>
              </a:rPr>
              <a:t>浓度的溶</a:t>
            </a:r>
            <a:r>
              <a:rPr dirty="0" sz="1050" spc="-10">
                <a:latin typeface="Arial Unicode MS"/>
                <a:cs typeface="Arial Unicode MS"/>
              </a:rPr>
              <a:t>液</a:t>
            </a:r>
            <a:r>
              <a:rPr dirty="0" sz="1050" spc="-5">
                <a:latin typeface="Arial Unicode MS"/>
                <a:cs typeface="Arial Unicode MS"/>
              </a:rPr>
              <a:t>称为标</a:t>
            </a:r>
            <a:r>
              <a:rPr dirty="0" sz="1050" spc="-10">
                <a:latin typeface="Arial Unicode MS"/>
                <a:cs typeface="Arial Unicode MS"/>
              </a:rPr>
              <a:t>准</a:t>
            </a:r>
            <a:r>
              <a:rPr dirty="0" sz="1050" spc="-5">
                <a:latin typeface="Arial Unicode MS"/>
                <a:cs typeface="Arial Unicode MS"/>
              </a:rPr>
              <a:t>溶</a:t>
            </a:r>
            <a:endParaRPr sz="1050">
              <a:latin typeface="Arial Unicode MS"/>
              <a:cs typeface="Arial Unicode MS"/>
            </a:endParaRPr>
          </a:p>
          <a:p>
            <a:pPr marL="12700" marR="5080">
              <a:lnSpc>
                <a:spcPct val="123300"/>
              </a:lnSpc>
            </a:pPr>
            <a:r>
              <a:rPr dirty="0" sz="1050" spc="-20">
                <a:latin typeface="Arial Unicode MS"/>
                <a:cs typeface="Arial Unicode MS"/>
              </a:rPr>
              <a:t>液</a:t>
            </a:r>
            <a:r>
              <a:rPr dirty="0" sz="1050" spc="-215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随着标准溶液的加</a:t>
            </a:r>
            <a:r>
              <a:rPr dirty="0" sz="1050" spc="-70">
                <a:latin typeface="Arial Unicode MS"/>
                <a:cs typeface="Arial Unicode MS"/>
              </a:rPr>
              <a:t>入</a:t>
            </a:r>
            <a:r>
              <a:rPr dirty="0" sz="1050" spc="-170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体系发生中和反</a:t>
            </a:r>
            <a:r>
              <a:rPr dirty="0" sz="1050" spc="-70">
                <a:latin typeface="Arial Unicode MS"/>
                <a:cs typeface="Arial Unicode MS"/>
              </a:rPr>
              <a:t>应</a:t>
            </a:r>
            <a:r>
              <a:rPr dirty="0" sz="1050" spc="-170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溶液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值随之发生变</a:t>
            </a:r>
            <a:r>
              <a:rPr dirty="0" sz="1050" spc="-7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，  </a:t>
            </a:r>
            <a:r>
              <a:rPr dirty="0" sz="1050" spc="-10">
                <a:latin typeface="Arial Unicode MS"/>
                <a:cs typeface="Arial Unicode MS"/>
              </a:rPr>
              <a:t>通过研究标准溶液的加入量与溶液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10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的变化关</a:t>
            </a:r>
            <a:r>
              <a:rPr dirty="0" sz="1050" spc="-70">
                <a:latin typeface="Arial Unicode MS"/>
                <a:cs typeface="Arial Unicode MS"/>
              </a:rPr>
              <a:t>系</a:t>
            </a:r>
            <a:r>
              <a:rPr dirty="0" sz="1050" spc="-180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就能对溶液中待分</a:t>
            </a:r>
            <a:r>
              <a:rPr dirty="0" sz="1050" spc="-5">
                <a:latin typeface="Arial Unicode MS"/>
                <a:cs typeface="Arial Unicode MS"/>
              </a:rPr>
              <a:t>析 组分的浓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进行估</a:t>
            </a:r>
            <a:r>
              <a:rPr dirty="0" sz="1050" spc="-20">
                <a:latin typeface="Arial Unicode MS"/>
                <a:cs typeface="Arial Unicode MS"/>
              </a:rPr>
              <a:t>计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500"/>
              </a:spcBef>
            </a:pPr>
            <a:r>
              <a:rPr dirty="0" sz="1050" spc="-5">
                <a:latin typeface="Arial Unicode MS"/>
                <a:cs typeface="Arial Unicode MS"/>
              </a:rPr>
              <a:t>标准</a:t>
            </a:r>
            <a:r>
              <a:rPr dirty="0" sz="1050" spc="-10">
                <a:latin typeface="Arial Unicode MS"/>
                <a:cs typeface="Arial Unicode MS"/>
              </a:rPr>
              <a:t>溶</a:t>
            </a:r>
            <a:r>
              <a:rPr dirty="0" sz="1050" spc="-5">
                <a:latin typeface="Arial Unicode MS"/>
                <a:cs typeface="Arial Unicode MS"/>
              </a:rPr>
              <a:t>液的加入</a:t>
            </a:r>
            <a:r>
              <a:rPr dirty="0" sz="1050" spc="-10">
                <a:latin typeface="Arial Unicode MS"/>
                <a:cs typeface="Arial Unicode MS"/>
              </a:rPr>
              <a:t>量</a:t>
            </a:r>
            <a:r>
              <a:rPr dirty="0" sz="1050" spc="-5">
                <a:latin typeface="Arial Unicode MS"/>
                <a:cs typeface="Arial Unicode MS"/>
              </a:rPr>
              <a:t>与溶液的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的变</a:t>
            </a:r>
            <a:r>
              <a:rPr dirty="0" sz="1050" spc="-1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关系可</a:t>
            </a:r>
            <a:r>
              <a:rPr dirty="0" sz="1050" spc="-10">
                <a:latin typeface="Arial Unicode MS"/>
                <a:cs typeface="Arial Unicode MS"/>
              </a:rPr>
              <a:t>以</a:t>
            </a:r>
            <a:r>
              <a:rPr dirty="0" sz="1050" spc="-5">
                <a:latin typeface="Arial Unicode MS"/>
                <a:cs typeface="Arial Unicode MS"/>
              </a:rPr>
              <a:t>用曲线的</a:t>
            </a:r>
            <a:r>
              <a:rPr dirty="0" sz="1050" spc="-10">
                <a:latin typeface="Arial Unicode MS"/>
                <a:cs typeface="Arial Unicode MS"/>
              </a:rPr>
              <a:t>方</a:t>
            </a:r>
            <a:r>
              <a:rPr dirty="0" sz="1050" spc="-5">
                <a:latin typeface="Arial Unicode MS"/>
                <a:cs typeface="Arial Unicode MS"/>
              </a:rPr>
              <a:t>式展现出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50" spc="-70">
                <a:latin typeface="Arial Unicode MS"/>
                <a:cs typeface="Arial Unicode MS"/>
              </a:rPr>
              <a:t>来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称为酸碱滴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70">
                <a:latin typeface="Arial Unicode MS"/>
                <a:cs typeface="Arial Unicode MS"/>
              </a:rPr>
              <a:t>线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而</a:t>
            </a:r>
            <a:r>
              <a:rPr dirty="0" sz="1050" spc="-5">
                <a:latin typeface="Arial Unicode MS"/>
                <a:cs typeface="Arial Unicode MS"/>
              </a:rPr>
              <a:t>描述酸</a:t>
            </a:r>
            <a:r>
              <a:rPr dirty="0" sz="1050" spc="-10">
                <a:latin typeface="Arial Unicode MS"/>
                <a:cs typeface="Arial Unicode MS"/>
              </a:rPr>
              <a:t>碱</a:t>
            </a:r>
            <a:r>
              <a:rPr dirty="0" sz="1050" spc="-5">
                <a:latin typeface="Arial Unicode MS"/>
                <a:cs typeface="Arial Unicode MS"/>
              </a:rPr>
              <a:t>滴定曲线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方程称</a:t>
            </a:r>
            <a:r>
              <a:rPr dirty="0" sz="1050" spc="-1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酸碱滴定</a:t>
            </a:r>
            <a:endParaRPr sz="1050">
              <a:latin typeface="Arial Unicode MS"/>
              <a:cs typeface="Arial Unicode MS"/>
            </a:endParaRPr>
          </a:p>
          <a:p>
            <a:pPr marL="12700" marR="85090">
              <a:lnSpc>
                <a:spcPct val="139800"/>
              </a:lnSpc>
            </a:pPr>
            <a:r>
              <a:rPr dirty="0" sz="1050" spc="-20">
                <a:latin typeface="Arial Unicode MS"/>
                <a:cs typeface="Arial Unicode MS"/>
              </a:rPr>
              <a:t>式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5">
                <a:latin typeface="Georgia"/>
                <a:cs typeface="Georgia"/>
              </a:rPr>
              <a:t>Robert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de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Levie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对酸碱滴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进行</a:t>
            </a:r>
            <a:r>
              <a:rPr dirty="0" sz="1050" spc="-10">
                <a:latin typeface="Arial Unicode MS"/>
                <a:cs typeface="Arial Unicode MS"/>
              </a:rPr>
              <a:t>了</a:t>
            </a:r>
            <a:r>
              <a:rPr dirty="0" sz="1050" spc="-5">
                <a:latin typeface="Arial Unicode MS"/>
                <a:cs typeface="Arial Unicode MS"/>
              </a:rPr>
              <a:t>理论探</a:t>
            </a:r>
            <a:r>
              <a:rPr dirty="0" sz="1050" spc="-70">
                <a:latin typeface="Arial Unicode MS"/>
                <a:cs typeface="Arial Unicode MS"/>
              </a:rPr>
              <a:t>讨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得</a:t>
            </a:r>
            <a:r>
              <a:rPr dirty="0" sz="1050" spc="-5">
                <a:latin typeface="Arial Unicode MS"/>
                <a:cs typeface="Arial Unicode MS"/>
              </a:rPr>
              <a:t>出了酸</a:t>
            </a:r>
            <a:r>
              <a:rPr dirty="0" sz="1050" spc="-10">
                <a:latin typeface="Arial Unicode MS"/>
                <a:cs typeface="Arial Unicode MS"/>
              </a:rPr>
              <a:t>碱</a:t>
            </a:r>
            <a:r>
              <a:rPr dirty="0" sz="1050" spc="-5">
                <a:latin typeface="Arial Unicode MS"/>
                <a:cs typeface="Arial Unicode MS"/>
              </a:rPr>
              <a:t>滴定的</a:t>
            </a:r>
            <a:r>
              <a:rPr dirty="0" sz="1050" spc="-10">
                <a:latin typeface="Arial Unicode MS"/>
                <a:cs typeface="Arial Unicode MS"/>
              </a:rPr>
              <a:t>通</a:t>
            </a:r>
            <a:r>
              <a:rPr dirty="0" sz="1050" spc="-70">
                <a:latin typeface="Arial Unicode MS"/>
                <a:cs typeface="Arial Unicode MS"/>
              </a:rPr>
              <a:t>式</a:t>
            </a:r>
            <a:r>
              <a:rPr dirty="0" sz="1050" spc="-5">
                <a:latin typeface="Arial Unicode MS"/>
                <a:cs typeface="Arial Unicode MS"/>
              </a:rPr>
              <a:t>，  原</a:t>
            </a:r>
            <a:r>
              <a:rPr dirty="0" sz="1050" spc="-10">
                <a:latin typeface="Arial Unicode MS"/>
                <a:cs typeface="Arial Unicode MS"/>
              </a:rPr>
              <a:t>则</a:t>
            </a:r>
            <a:r>
              <a:rPr dirty="0" sz="1050" spc="-5">
                <a:latin typeface="Arial Unicode MS"/>
                <a:cs typeface="Arial Unicode MS"/>
              </a:rPr>
              <a:t>上可以描</a:t>
            </a:r>
            <a:r>
              <a:rPr dirty="0" sz="1050" spc="-10">
                <a:latin typeface="Arial Unicode MS"/>
                <a:cs typeface="Arial Unicode MS"/>
              </a:rPr>
              <a:t>述</a:t>
            </a:r>
            <a:r>
              <a:rPr dirty="0" sz="1050" spc="-5">
                <a:latin typeface="Arial Unicode MS"/>
                <a:cs typeface="Arial Unicode MS"/>
              </a:rPr>
              <a:t>任意复</a:t>
            </a:r>
            <a:r>
              <a:rPr dirty="0" sz="1050" spc="-10">
                <a:latin typeface="Arial Unicode MS"/>
                <a:cs typeface="Arial Unicode MS"/>
              </a:rPr>
              <a:t>杂</a:t>
            </a:r>
            <a:r>
              <a:rPr dirty="0" sz="1050" spc="-5">
                <a:latin typeface="Arial Unicode MS"/>
                <a:cs typeface="Arial Unicode MS"/>
              </a:rPr>
              <a:t>的酸碱滴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体</a:t>
            </a:r>
            <a:r>
              <a:rPr dirty="0" sz="1050" spc="-20">
                <a:latin typeface="Arial Unicode MS"/>
                <a:cs typeface="Arial Unicode MS"/>
              </a:rPr>
              <a:t>系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本</a:t>
            </a:r>
            <a:r>
              <a:rPr dirty="0" sz="1050" spc="-5">
                <a:latin typeface="Arial Unicode MS"/>
                <a:cs typeface="Arial Unicode MS"/>
              </a:rPr>
              <a:t>节的内容</a:t>
            </a:r>
            <a:r>
              <a:rPr dirty="0" sz="1050" spc="-10">
                <a:latin typeface="Arial Unicode MS"/>
                <a:cs typeface="Arial Unicode MS"/>
              </a:rPr>
              <a:t>都</a:t>
            </a:r>
            <a:r>
              <a:rPr dirty="0" sz="1050" spc="-5">
                <a:latin typeface="Arial Unicode MS"/>
                <a:cs typeface="Arial Unicode MS"/>
              </a:rPr>
              <a:t>将基于</a:t>
            </a:r>
            <a:r>
              <a:rPr dirty="0" sz="1050" spc="-10">
                <a:latin typeface="Arial Unicode MS"/>
                <a:cs typeface="Arial Unicode MS"/>
              </a:rPr>
              <a:t>酸</a:t>
            </a:r>
            <a:r>
              <a:rPr dirty="0" sz="1050" spc="-5">
                <a:latin typeface="Arial Unicode MS"/>
                <a:cs typeface="Arial Unicode MS"/>
              </a:rPr>
              <a:t>碱滴定 通式</a:t>
            </a:r>
            <a:r>
              <a:rPr dirty="0" sz="1050" spc="-10">
                <a:latin typeface="Arial Unicode MS"/>
                <a:cs typeface="Arial Unicode MS"/>
              </a:rPr>
              <a:t>来</a:t>
            </a:r>
            <a:r>
              <a:rPr dirty="0" sz="1050" spc="-5">
                <a:latin typeface="Arial Unicode MS"/>
                <a:cs typeface="Arial Unicode MS"/>
              </a:rPr>
              <a:t>展开讨</a:t>
            </a:r>
            <a:r>
              <a:rPr dirty="0" sz="1050" spc="-20">
                <a:latin typeface="Arial Unicode MS"/>
                <a:cs typeface="Arial Unicode MS"/>
              </a:rPr>
              <a:t>论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132143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4.8.1</a:t>
            </a:r>
            <a:r>
              <a:rPr dirty="0" sz="1400" spc="10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滴定方程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445006"/>
            <a:ext cx="435229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滴定方程用于描述酸碱滴定过程中溶液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值随着滴定剂加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入过程而发生的改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强碱滴定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强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酸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700468"/>
            <a:ext cx="4287520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体积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的盐酸溶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现在用浓度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的氢氧化钠溶液滴定该盐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当消耗的氢氧化钠的体</a:t>
            </a:r>
            <a:endParaRPr sz="1200">
              <a:latin typeface="Arial Unicode MS"/>
              <a:cs typeface="Arial Unicode MS"/>
            </a:endParaRPr>
          </a:p>
          <a:p>
            <a:pPr algn="ctr" marR="255778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30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质量平衡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3804" y="1464116"/>
            <a:ext cx="752475" cy="7670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265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1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algn="r" marR="36195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17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162560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6017" y="1580350"/>
            <a:ext cx="2144395" cy="556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1846580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[Cl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	</a:t>
            </a:r>
            <a:r>
              <a:rPr dirty="0" sz="1100" spc="-20">
                <a:latin typeface="Georgia"/>
                <a:cs typeface="Georgia"/>
              </a:rPr>
              <a:t>(35)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tabLst>
                <a:tab pos="1846580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	</a:t>
            </a:r>
            <a:r>
              <a:rPr dirty="0" sz="1100" spc="-30">
                <a:latin typeface="Georgia"/>
                <a:cs typeface="Georgia"/>
              </a:rPr>
              <a:t>(36)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801" y="2310676"/>
            <a:ext cx="2824480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电荷平衡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000760">
              <a:lnSpc>
                <a:spcPct val="100000"/>
              </a:lnSpc>
            </a:pP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[Cl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88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801" y="723150"/>
            <a:ext cx="3166110" cy="678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将质量平衡式代入电荷平衡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687070">
              <a:lnSpc>
                <a:spcPct val="100000"/>
              </a:lnSpc>
              <a:spcBef>
                <a:spcPts val="894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baseline="-13888" sz="900" spc="-22" i="1">
                <a:latin typeface="Arial"/>
                <a:cs typeface="Arial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 </a:t>
            </a:r>
            <a:r>
              <a:rPr dirty="0" baseline="-37878" sz="1650" spc="-15">
                <a:latin typeface="Georgia"/>
                <a:cs typeface="Georgia"/>
              </a:rPr>
              <a:t>[H</a:t>
            </a:r>
            <a:r>
              <a:rPr dirty="0" baseline="-27777" sz="900" spc="-15">
                <a:latin typeface="Times New Roman"/>
                <a:cs typeface="Times New Roman"/>
              </a:rPr>
              <a:t>+</a:t>
            </a:r>
            <a:r>
              <a:rPr dirty="0" baseline="-37878" sz="1650" spc="-15">
                <a:latin typeface="Georgia"/>
                <a:cs typeface="Georgia"/>
              </a:rPr>
              <a:t>]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baseline="-13888" sz="900" spc="-22">
                <a:latin typeface="Times New Roman"/>
                <a:cs typeface="Times New Roman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165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[OH</a:t>
            </a:r>
            <a:r>
              <a:rPr dirty="0" baseline="-27777" sz="900" spc="-44">
                <a:latin typeface="Lucida Sans Unicode"/>
                <a:cs typeface="Lucida Sans Unicode"/>
              </a:rPr>
              <a:t>−</a:t>
            </a:r>
            <a:r>
              <a:rPr dirty="0" baseline="-37878" sz="1650" spc="-44">
                <a:latin typeface="Georgia"/>
                <a:cs typeface="Georgia"/>
              </a:rPr>
              <a:t>]</a:t>
            </a:r>
            <a:endParaRPr baseline="-37878" sz="1650">
              <a:latin typeface="Georgia"/>
              <a:cs typeface="Georgia"/>
            </a:endParaRPr>
          </a:p>
          <a:p>
            <a:pPr marL="812165">
              <a:lnSpc>
                <a:spcPct val="100000"/>
              </a:lnSpc>
              <a:spcBef>
                <a:spcPts val="165"/>
              </a:spcBef>
              <a:tabLst>
                <a:tab pos="2064385" algn="l"/>
              </a:tabLst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baseline="-13888" sz="900" spc="2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	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723150"/>
            <a:ext cx="241236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将质量平衡式代入电荷平衡</a:t>
            </a:r>
            <a:r>
              <a:rPr dirty="0" spc="-80"/>
              <a:t>式</a:t>
            </a:r>
            <a:r>
              <a:rPr dirty="0" spc="-185"/>
              <a:t>，</a:t>
            </a:r>
            <a:r>
              <a:rPr dirty="0" spc="-90"/>
              <a:t>得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401" y="997912"/>
            <a:ext cx="3271520" cy="6896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712470">
              <a:lnSpc>
                <a:spcPct val="100000"/>
              </a:lnSpc>
              <a:spcBef>
                <a:spcPts val="265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baseline="-13888" sz="900" spc="-22" i="1">
                <a:latin typeface="Arial"/>
                <a:cs typeface="Arial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 </a:t>
            </a:r>
            <a:r>
              <a:rPr dirty="0" baseline="-37878" sz="1650" spc="-15">
                <a:latin typeface="Georgia"/>
                <a:cs typeface="Georgia"/>
              </a:rPr>
              <a:t>[H</a:t>
            </a:r>
            <a:r>
              <a:rPr dirty="0" baseline="-27777" sz="900" spc="-15">
                <a:latin typeface="Times New Roman"/>
                <a:cs typeface="Times New Roman"/>
              </a:rPr>
              <a:t>+</a:t>
            </a:r>
            <a:r>
              <a:rPr dirty="0" baseline="-37878" sz="1650" spc="-15">
                <a:latin typeface="Georgia"/>
                <a:cs typeface="Georgia"/>
              </a:rPr>
              <a:t>]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baseline="-13888" sz="900" spc="-22">
                <a:latin typeface="Times New Roman"/>
                <a:cs typeface="Times New Roman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157">
                <a:latin typeface="Georgia"/>
                <a:cs typeface="Georgia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[OH</a:t>
            </a:r>
            <a:r>
              <a:rPr dirty="0" baseline="-27777" sz="900" spc="-44">
                <a:latin typeface="Lucida Sans Unicode"/>
                <a:cs typeface="Lucida Sans Unicode"/>
              </a:rPr>
              <a:t>−</a:t>
            </a:r>
            <a:r>
              <a:rPr dirty="0" baseline="-37878" sz="1650" spc="-44">
                <a:latin typeface="Georgia"/>
                <a:cs typeface="Georgia"/>
              </a:rPr>
              <a:t>]</a:t>
            </a:r>
            <a:endParaRPr baseline="-37878" sz="1650">
              <a:latin typeface="Georgia"/>
              <a:cs typeface="Georgia"/>
            </a:endParaRPr>
          </a:p>
          <a:p>
            <a:pPr marL="837565">
              <a:lnSpc>
                <a:spcPct val="100000"/>
              </a:lnSpc>
              <a:spcBef>
                <a:spcPts val="170"/>
              </a:spcBef>
              <a:tabLst>
                <a:tab pos="2089785" algn="l"/>
              </a:tabLst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baseline="-13888" sz="900" spc="2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	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810"/>
              </a:spcBef>
            </a:pPr>
            <a:r>
              <a:rPr dirty="0" sz="1200" spc="175">
                <a:latin typeface="Arial Unicode MS"/>
                <a:cs typeface="Arial Unicode MS"/>
              </a:rPr>
              <a:t>令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V</a:t>
            </a:r>
            <a:r>
              <a:rPr dirty="0" baseline="-13888" sz="900" spc="-82" i="1">
                <a:latin typeface="Arial"/>
                <a:cs typeface="Arial"/>
              </a:rPr>
              <a:t>t</a:t>
            </a:r>
            <a:r>
              <a:rPr dirty="0" sz="1100" spc="-55" b="0" i="1">
                <a:latin typeface="Bookman Old Style"/>
                <a:cs typeface="Bookman Old Style"/>
              </a:rPr>
              <a:t>/V</a:t>
            </a:r>
            <a:r>
              <a:rPr dirty="0" baseline="-13888" sz="900" spc="-82">
                <a:latin typeface="Times New Roman"/>
                <a:cs typeface="Times New Roman"/>
              </a:rPr>
              <a:t>0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且</a:t>
            </a:r>
            <a:r>
              <a:rPr dirty="0" sz="1100" spc="170">
                <a:latin typeface="Georgia"/>
                <a:cs typeface="Georgia"/>
              </a:rPr>
              <a:t>∆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上式整理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091" y="1940026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3330" y="2056638"/>
            <a:ext cx="1625600" cy="0"/>
          </a:xfrm>
          <a:custGeom>
            <a:avLst/>
            <a:gdLst/>
            <a:ahLst/>
            <a:cxnLst/>
            <a:rect l="l" t="t" r="r" b="b"/>
            <a:pathLst>
              <a:path w="1625600" h="0">
                <a:moveTo>
                  <a:pt x="0" y="0"/>
                </a:moveTo>
                <a:lnTo>
                  <a:pt x="16252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59544" y="1940026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6426" y="1846300"/>
            <a:ext cx="26828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806575" algn="l"/>
              </a:tabLst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5">
                <a:latin typeface="Georgia"/>
                <a:cs typeface="Georgia"/>
              </a:rPr>
              <a:t>([H</a:t>
            </a:r>
            <a:r>
              <a:rPr dirty="0" baseline="37037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[OH</a:t>
            </a:r>
            <a:r>
              <a:rPr dirty="0" baseline="37037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])	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5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1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∆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5230" y="2035060"/>
            <a:ext cx="2753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878330" algn="l"/>
              </a:tabLst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([H</a:t>
            </a:r>
            <a:r>
              <a:rPr dirty="0" baseline="27777" sz="900" spc="-7">
                <a:latin typeface="Times New Roman"/>
                <a:cs typeface="Times New Roman"/>
              </a:rPr>
              <a:t>+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[OH</a:t>
            </a:r>
            <a:r>
              <a:rPr dirty="0" baseline="27777" sz="900" spc="-30">
                <a:latin typeface="Lucida Sans Unicode"/>
                <a:cs typeface="Lucida Sans Unicode"/>
              </a:rPr>
              <a:t>−</a:t>
            </a:r>
            <a:r>
              <a:rPr dirty="0" sz="1100" spc="-20">
                <a:latin typeface="Georgia"/>
                <a:cs typeface="Georgia"/>
              </a:rPr>
              <a:t>])	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0456" y="194002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(37)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89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7501" y="311464"/>
            <a:ext cx="2585085" cy="0"/>
          </a:xfrm>
          <a:custGeom>
            <a:avLst/>
            <a:gdLst/>
            <a:ahLst/>
            <a:cxnLst/>
            <a:rect l="l" t="t" r="r" b="b"/>
            <a:pathLst>
              <a:path w="2585085" h="0">
                <a:moveTo>
                  <a:pt x="0" y="0"/>
                </a:moveTo>
                <a:lnTo>
                  <a:pt x="25846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17501" y="2348596"/>
            <a:ext cx="2585085" cy="0"/>
          </a:xfrm>
          <a:custGeom>
            <a:avLst/>
            <a:gdLst/>
            <a:ahLst/>
            <a:cxnLst/>
            <a:rect l="l" t="t" r="r" b="b"/>
            <a:pathLst>
              <a:path w="2585085" h="0">
                <a:moveTo>
                  <a:pt x="0" y="0"/>
                </a:moveTo>
                <a:lnTo>
                  <a:pt x="25846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02111" y="31146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17501" y="31146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7501" y="2348596"/>
            <a:ext cx="2585085" cy="0"/>
          </a:xfrm>
          <a:custGeom>
            <a:avLst/>
            <a:gdLst/>
            <a:ahLst/>
            <a:cxnLst/>
            <a:rect l="l" t="t" r="r" b="b"/>
            <a:pathLst>
              <a:path w="2585085" h="0">
                <a:moveTo>
                  <a:pt x="0" y="0"/>
                </a:moveTo>
                <a:lnTo>
                  <a:pt x="25846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7501" y="31146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7501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7501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8899" y="234649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0.2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04735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04735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36131" y="234649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0.4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91969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91969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23363" y="234649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79197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79197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10595" y="234649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66432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66432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53180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53180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31563" y="2346496"/>
            <a:ext cx="39116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5430" algn="l"/>
              </a:tabLst>
            </a:pPr>
            <a:r>
              <a:rPr dirty="0" sz="600" spc="20">
                <a:latin typeface="Arial"/>
                <a:cs typeface="Arial"/>
              </a:rPr>
              <a:t>1</a:t>
            </a:r>
            <a:r>
              <a:rPr dirty="0" sz="600" spc="20">
                <a:latin typeface="Arial"/>
                <a:cs typeface="Arial"/>
              </a:rPr>
              <a:t>	</a:t>
            </a:r>
            <a:r>
              <a:rPr dirty="0" sz="600" spc="10">
                <a:latin typeface="Arial"/>
                <a:cs typeface="Arial"/>
              </a:rPr>
              <a:t>1.2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40414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40414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771810" y="234649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1.4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27648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27648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059042" y="234649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1.6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14877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414877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346275" y="2346496"/>
            <a:ext cx="1384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0">
                <a:latin typeface="Arial"/>
                <a:cs typeface="Arial"/>
              </a:rPr>
              <a:t>1.8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702111" y="232257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602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02111" y="31146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53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667242" y="2346496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17501" y="234859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76086" y="234859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043597" y="2284809"/>
            <a:ext cx="704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17501" y="205750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676086" y="205750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117501" y="176641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76086" y="176641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17501" y="147533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76086" y="147533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043597" y="1411546"/>
            <a:ext cx="70485" cy="704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20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20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2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117501" y="118424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76086" y="118424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17501" y="89315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76086" y="89315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17501" y="602069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76086" y="60206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17501" y="311464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60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76086" y="31146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602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998777" y="247677"/>
            <a:ext cx="115570" cy="9956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65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</a:pPr>
            <a:r>
              <a:rPr dirty="0" sz="600" spc="20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117501" y="311464"/>
            <a:ext cx="2585085" cy="0"/>
          </a:xfrm>
          <a:custGeom>
            <a:avLst/>
            <a:gdLst/>
            <a:ahLst/>
            <a:cxnLst/>
            <a:rect l="l" t="t" r="r" b="b"/>
            <a:pathLst>
              <a:path w="2585085" h="0">
                <a:moveTo>
                  <a:pt x="0" y="0"/>
                </a:moveTo>
                <a:lnTo>
                  <a:pt x="25846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17501" y="2348596"/>
            <a:ext cx="2585085" cy="0"/>
          </a:xfrm>
          <a:custGeom>
            <a:avLst/>
            <a:gdLst/>
            <a:ahLst/>
            <a:cxnLst/>
            <a:rect l="l" t="t" r="r" b="b"/>
            <a:pathLst>
              <a:path w="2585085" h="0">
                <a:moveTo>
                  <a:pt x="0" y="0"/>
                </a:moveTo>
                <a:lnTo>
                  <a:pt x="25846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702111" y="31146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17501" y="311464"/>
            <a:ext cx="0" cy="2037714"/>
          </a:xfrm>
          <a:custGeom>
            <a:avLst/>
            <a:gdLst/>
            <a:ahLst/>
            <a:cxnLst/>
            <a:rect l="l" t="t" r="r" b="b"/>
            <a:pathLst>
              <a:path w="0" h="2037714">
                <a:moveTo>
                  <a:pt x="0" y="203713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26661" y="529294"/>
            <a:ext cx="2576195" cy="1647825"/>
          </a:xfrm>
          <a:custGeom>
            <a:avLst/>
            <a:gdLst/>
            <a:ahLst/>
            <a:cxnLst/>
            <a:rect l="l" t="t" r="r" b="b"/>
            <a:pathLst>
              <a:path w="2576195" h="1647825">
                <a:moveTo>
                  <a:pt x="0" y="1647251"/>
                </a:moveTo>
                <a:lnTo>
                  <a:pt x="293011" y="1618335"/>
                </a:lnTo>
                <a:lnTo>
                  <a:pt x="536871" y="1589899"/>
                </a:lnTo>
                <a:lnTo>
                  <a:pt x="724825" y="1560983"/>
                </a:lnTo>
                <a:lnTo>
                  <a:pt x="861696" y="1532547"/>
                </a:lnTo>
                <a:lnTo>
                  <a:pt x="956633" y="1503631"/>
                </a:lnTo>
                <a:lnTo>
                  <a:pt x="1020248" y="1475201"/>
                </a:lnTo>
                <a:lnTo>
                  <a:pt x="1062662" y="1446285"/>
                </a:lnTo>
                <a:lnTo>
                  <a:pt x="1090133" y="1417849"/>
                </a:lnTo>
                <a:lnTo>
                  <a:pt x="1121023" y="1355346"/>
                </a:lnTo>
                <a:lnTo>
                  <a:pt x="1133847" y="1281868"/>
                </a:lnTo>
                <a:lnTo>
                  <a:pt x="1138089" y="1194262"/>
                </a:lnTo>
                <a:lnTo>
                  <a:pt x="1138926" y="1142692"/>
                </a:lnTo>
                <a:lnTo>
                  <a:pt x="1139206" y="1091107"/>
                </a:lnTo>
                <a:lnTo>
                  <a:pt x="1139228" y="1039526"/>
                </a:lnTo>
                <a:lnTo>
                  <a:pt x="1139290" y="987967"/>
                </a:lnTo>
                <a:lnTo>
                  <a:pt x="1140123" y="937843"/>
                </a:lnTo>
                <a:lnTo>
                  <a:pt x="1140556" y="887696"/>
                </a:lnTo>
                <a:lnTo>
                  <a:pt x="1140674" y="837530"/>
                </a:lnTo>
                <a:lnTo>
                  <a:pt x="1140562" y="787351"/>
                </a:lnTo>
                <a:lnTo>
                  <a:pt x="1140307" y="737163"/>
                </a:lnTo>
                <a:lnTo>
                  <a:pt x="1139994" y="686971"/>
                </a:lnTo>
                <a:lnTo>
                  <a:pt x="1139708" y="636781"/>
                </a:lnTo>
                <a:lnTo>
                  <a:pt x="1139536" y="586598"/>
                </a:lnTo>
                <a:lnTo>
                  <a:pt x="1139563" y="536425"/>
                </a:lnTo>
                <a:lnTo>
                  <a:pt x="1139875" y="486270"/>
                </a:lnTo>
                <a:lnTo>
                  <a:pt x="1140557" y="436136"/>
                </a:lnTo>
                <a:lnTo>
                  <a:pt x="1141696" y="386028"/>
                </a:lnTo>
                <a:lnTo>
                  <a:pt x="1143512" y="343443"/>
                </a:lnTo>
                <a:lnTo>
                  <a:pt x="1147756" y="298047"/>
                </a:lnTo>
                <a:lnTo>
                  <a:pt x="1156199" y="253629"/>
                </a:lnTo>
                <a:lnTo>
                  <a:pt x="1170612" y="213978"/>
                </a:lnTo>
                <a:lnTo>
                  <a:pt x="1217843" y="156632"/>
                </a:lnTo>
                <a:lnTo>
                  <a:pt x="1265074" y="128196"/>
                </a:lnTo>
                <a:lnTo>
                  <a:pt x="1341702" y="99280"/>
                </a:lnTo>
                <a:lnTo>
                  <a:pt x="1471338" y="70844"/>
                </a:lnTo>
                <a:lnTo>
                  <a:pt x="1698814" y="41928"/>
                </a:lnTo>
                <a:lnTo>
                  <a:pt x="2130143" y="13497"/>
                </a:lnTo>
                <a:lnTo>
                  <a:pt x="2575929" y="0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68204" y="1255849"/>
            <a:ext cx="130810" cy="149225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 spc="-5" b="1">
                <a:latin typeface="Times New Roman"/>
                <a:cs typeface="Times New Roman"/>
              </a:rPr>
              <a:t>pH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248851" y="1312669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>
                <a:moveTo>
                  <a:pt x="34699" y="17349"/>
                </a:moveTo>
                <a:lnTo>
                  <a:pt x="34699" y="26926"/>
                </a:lnTo>
                <a:lnTo>
                  <a:pt x="26926" y="34699"/>
                </a:lnTo>
                <a:lnTo>
                  <a:pt x="17349" y="34699"/>
                </a:lnTo>
                <a:lnTo>
                  <a:pt x="7772" y="34699"/>
                </a:lnTo>
                <a:lnTo>
                  <a:pt x="0" y="26926"/>
                </a:lnTo>
                <a:lnTo>
                  <a:pt x="0" y="17349"/>
                </a:lnTo>
                <a:lnTo>
                  <a:pt x="0" y="7772"/>
                </a:lnTo>
                <a:lnTo>
                  <a:pt x="7772" y="0"/>
                </a:lnTo>
                <a:lnTo>
                  <a:pt x="17349" y="0"/>
                </a:lnTo>
                <a:lnTo>
                  <a:pt x="26926" y="0"/>
                </a:lnTo>
                <a:lnTo>
                  <a:pt x="34699" y="7772"/>
                </a:lnTo>
                <a:lnTo>
                  <a:pt x="34699" y="17349"/>
                </a:lnTo>
              </a:path>
            </a:pathLst>
          </a:custGeom>
          <a:ln w="1156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247636" y="1713889"/>
            <a:ext cx="34925" cy="17780"/>
          </a:xfrm>
          <a:custGeom>
            <a:avLst/>
            <a:gdLst/>
            <a:ahLst/>
            <a:cxnLst/>
            <a:rect l="l" t="t" r="r" b="b"/>
            <a:pathLst>
              <a:path w="34925" h="17780">
                <a:moveTo>
                  <a:pt x="0" y="17349"/>
                </a:moveTo>
                <a:lnTo>
                  <a:pt x="34699" y="17349"/>
                </a:lnTo>
                <a:lnTo>
                  <a:pt x="34699" y="0"/>
                </a:lnTo>
                <a:lnTo>
                  <a:pt x="0" y="0"/>
                </a:lnTo>
                <a:lnTo>
                  <a:pt x="0" y="173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56311" y="1705215"/>
            <a:ext cx="17780" cy="34925"/>
          </a:xfrm>
          <a:custGeom>
            <a:avLst/>
            <a:gdLst/>
            <a:ahLst/>
            <a:cxnLst/>
            <a:rect l="l" t="t" r="r" b="b"/>
            <a:pathLst>
              <a:path w="17780" h="34925">
                <a:moveTo>
                  <a:pt x="0" y="34699"/>
                </a:moveTo>
                <a:lnTo>
                  <a:pt x="17349" y="34699"/>
                </a:lnTo>
                <a:lnTo>
                  <a:pt x="17349" y="0"/>
                </a:lnTo>
                <a:lnTo>
                  <a:pt x="0" y="0"/>
                </a:lnTo>
                <a:lnTo>
                  <a:pt x="0" y="346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252940" y="171051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0" y="0"/>
                </a:moveTo>
                <a:lnTo>
                  <a:pt x="24092" y="24098"/>
                </a:lnTo>
              </a:path>
            </a:pathLst>
          </a:custGeom>
          <a:ln w="17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252940" y="171051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24092" y="0"/>
                </a:moveTo>
                <a:lnTo>
                  <a:pt x="0" y="24098"/>
                </a:lnTo>
              </a:path>
            </a:pathLst>
          </a:custGeom>
          <a:ln w="17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250528" y="928335"/>
            <a:ext cx="34925" cy="17780"/>
          </a:xfrm>
          <a:custGeom>
            <a:avLst/>
            <a:gdLst/>
            <a:ahLst/>
            <a:cxnLst/>
            <a:rect l="l" t="t" r="r" b="b"/>
            <a:pathLst>
              <a:path w="34925" h="17780">
                <a:moveTo>
                  <a:pt x="0" y="17349"/>
                </a:moveTo>
                <a:lnTo>
                  <a:pt x="34699" y="17349"/>
                </a:lnTo>
                <a:lnTo>
                  <a:pt x="34699" y="0"/>
                </a:lnTo>
                <a:lnTo>
                  <a:pt x="0" y="0"/>
                </a:lnTo>
                <a:lnTo>
                  <a:pt x="0" y="173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259203" y="919660"/>
            <a:ext cx="17780" cy="34925"/>
          </a:xfrm>
          <a:custGeom>
            <a:avLst/>
            <a:gdLst/>
            <a:ahLst/>
            <a:cxnLst/>
            <a:rect l="l" t="t" r="r" b="b"/>
            <a:pathLst>
              <a:path w="17780" h="34925">
                <a:moveTo>
                  <a:pt x="0" y="34699"/>
                </a:moveTo>
                <a:lnTo>
                  <a:pt x="17349" y="34699"/>
                </a:lnTo>
                <a:lnTo>
                  <a:pt x="17349" y="0"/>
                </a:lnTo>
                <a:lnTo>
                  <a:pt x="0" y="0"/>
                </a:lnTo>
                <a:lnTo>
                  <a:pt x="0" y="346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255831" y="92496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0" y="0"/>
                </a:moveTo>
                <a:lnTo>
                  <a:pt x="24092" y="24098"/>
                </a:lnTo>
              </a:path>
            </a:pathLst>
          </a:custGeom>
          <a:ln w="17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255831" y="924963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24092" y="0"/>
                </a:moveTo>
                <a:lnTo>
                  <a:pt x="0" y="24098"/>
                </a:lnTo>
              </a:path>
            </a:pathLst>
          </a:custGeom>
          <a:ln w="17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2358311" y="1274195"/>
            <a:ext cx="74104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15">
                <a:latin typeface="Arial"/>
                <a:cs typeface="Arial"/>
              </a:rPr>
              <a:t>Stoichiometric</a:t>
            </a:r>
            <a:r>
              <a:rPr dirty="0" sz="600" spc="-35">
                <a:latin typeface="Arial"/>
                <a:cs typeface="Arial"/>
              </a:rPr>
              <a:t> </a:t>
            </a:r>
            <a:r>
              <a:rPr dirty="0" sz="600" spc="15">
                <a:latin typeface="Arial"/>
                <a:cs typeface="Arial"/>
              </a:rPr>
              <a:t>Point</a:t>
            </a:r>
            <a:endParaRPr sz="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683089" y="1043284"/>
            <a:ext cx="117475" cy="558800"/>
          </a:xfrm>
          <a:prstGeom prst="rect">
            <a:avLst/>
          </a:prstGeom>
        </p:spPr>
        <p:txBody>
          <a:bodyPr wrap="square" lIns="0" tIns="101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 spc="15" b="1">
                <a:latin typeface="Times New Roman"/>
                <a:cs typeface="Times New Roman"/>
              </a:rPr>
              <a:t>Titration</a:t>
            </a:r>
            <a:r>
              <a:rPr dirty="0" sz="600" spc="-45" b="1">
                <a:latin typeface="Times New Roman"/>
                <a:cs typeface="Times New Roman"/>
              </a:rPr>
              <a:t> </a:t>
            </a:r>
            <a:r>
              <a:rPr dirty="0" sz="600" spc="20" b="1">
                <a:latin typeface="Times New Roman"/>
                <a:cs typeface="Times New Roman"/>
              </a:rPr>
              <a:t>Jump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917028" y="938941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5" h="0">
                <a:moveTo>
                  <a:pt x="0" y="0"/>
                </a:moveTo>
                <a:lnTo>
                  <a:pt x="279525" y="0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048116" y="994361"/>
            <a:ext cx="5715" cy="675005"/>
          </a:xfrm>
          <a:custGeom>
            <a:avLst/>
            <a:gdLst/>
            <a:ahLst/>
            <a:cxnLst/>
            <a:rect l="l" t="t" r="r" b="b"/>
            <a:pathLst>
              <a:path w="5714" h="675005">
                <a:moveTo>
                  <a:pt x="5303" y="0"/>
                </a:moveTo>
                <a:lnTo>
                  <a:pt x="0" y="67470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031732" y="956770"/>
            <a:ext cx="43815" cy="58419"/>
          </a:xfrm>
          <a:custGeom>
            <a:avLst/>
            <a:gdLst/>
            <a:ahLst/>
            <a:cxnLst/>
            <a:rect l="l" t="t" r="r" b="b"/>
            <a:pathLst>
              <a:path w="43814" h="58419">
                <a:moveTo>
                  <a:pt x="35838" y="37590"/>
                </a:moveTo>
                <a:lnTo>
                  <a:pt x="21686" y="37590"/>
                </a:lnTo>
                <a:lnTo>
                  <a:pt x="43373" y="58311"/>
                </a:lnTo>
                <a:lnTo>
                  <a:pt x="35838" y="37590"/>
                </a:lnTo>
                <a:close/>
              </a:path>
              <a:path w="43814" h="58419">
                <a:moveTo>
                  <a:pt x="22167" y="0"/>
                </a:moveTo>
                <a:lnTo>
                  <a:pt x="0" y="57831"/>
                </a:lnTo>
                <a:lnTo>
                  <a:pt x="21686" y="37590"/>
                </a:lnTo>
                <a:lnTo>
                  <a:pt x="35838" y="37590"/>
                </a:lnTo>
                <a:lnTo>
                  <a:pt x="221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026429" y="1648829"/>
            <a:ext cx="43815" cy="58419"/>
          </a:xfrm>
          <a:custGeom>
            <a:avLst/>
            <a:gdLst/>
            <a:ahLst/>
            <a:cxnLst/>
            <a:rect l="l" t="t" r="r" b="b"/>
            <a:pathLst>
              <a:path w="43814" h="58419">
                <a:moveTo>
                  <a:pt x="0" y="0"/>
                </a:moveTo>
                <a:lnTo>
                  <a:pt x="21206" y="57831"/>
                </a:lnTo>
                <a:lnTo>
                  <a:pt x="35615" y="20241"/>
                </a:lnTo>
                <a:lnTo>
                  <a:pt x="21686" y="20241"/>
                </a:lnTo>
                <a:lnTo>
                  <a:pt x="0" y="0"/>
                </a:lnTo>
                <a:close/>
              </a:path>
              <a:path w="43814" h="58419">
                <a:moveTo>
                  <a:pt x="43373" y="0"/>
                </a:moveTo>
                <a:lnTo>
                  <a:pt x="21686" y="20241"/>
                </a:lnTo>
                <a:lnTo>
                  <a:pt x="35615" y="20241"/>
                </a:lnTo>
                <a:lnTo>
                  <a:pt x="433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922811" y="1730273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5" h="0">
                <a:moveTo>
                  <a:pt x="0" y="0"/>
                </a:moveTo>
                <a:lnTo>
                  <a:pt x="280005" y="0"/>
                </a:lnTo>
              </a:path>
            </a:pathLst>
          </a:custGeom>
          <a:ln w="115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529780" y="2417822"/>
            <a:ext cx="3549015" cy="5276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09550">
              <a:lnSpc>
                <a:spcPct val="100000"/>
              </a:lnSpc>
              <a:spcBef>
                <a:spcPts val="110"/>
              </a:spcBef>
            </a:pPr>
            <a:r>
              <a:rPr dirty="0" sz="900" spc="5">
                <a:latin typeface="Symbol"/>
                <a:cs typeface="Symbol"/>
              </a:rPr>
              <a:t></a:t>
            </a:r>
            <a:endParaRPr sz="9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20">
                <a:solidFill>
                  <a:srgbClr val="3333B2"/>
                </a:solidFill>
                <a:latin typeface="Georgia"/>
                <a:cs typeface="Georgia"/>
              </a:rPr>
              <a:t>7:</a:t>
            </a:r>
            <a:r>
              <a:rPr dirty="0" sz="1000" spc="20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0.1000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mol/L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NaOH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65">
                <a:latin typeface="Georgia"/>
                <a:cs typeface="Georgia"/>
              </a:rPr>
              <a:t>0.1000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mol/L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HCl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48717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滴定突跃</a:t>
            </a:r>
            <a:r>
              <a:rPr dirty="0" sz="1050" spc="-10">
                <a:solidFill>
                  <a:srgbClr val="FFFFFF"/>
                </a:solidFill>
              </a:rPr>
              <a:t>与</a:t>
            </a:r>
            <a:r>
              <a:rPr dirty="0" sz="1050" spc="-5">
                <a:solidFill>
                  <a:srgbClr val="FFFFFF"/>
                </a:solidFill>
              </a:rPr>
              <a:t>指示剂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选择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618098"/>
            <a:ext cx="428371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6543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突跃范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5">
                <a:latin typeface="Arial Unicode MS"/>
                <a:cs typeface="Arial Unicode MS"/>
              </a:rPr>
              <a:t>是指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25" b="0" i="1">
                <a:latin typeface="Bookman Old Style"/>
                <a:cs typeface="Bookman Old Style"/>
              </a:rPr>
              <a:t>ρ</a:t>
            </a:r>
            <a:r>
              <a:rPr dirty="0" sz="1000" spc="25" b="0" i="1">
                <a:latin typeface="Bookman Old Style"/>
                <a:cs typeface="Bookman Old Style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值在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999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001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这</a:t>
            </a:r>
            <a:r>
              <a:rPr dirty="0" sz="1050" spc="-5">
                <a:latin typeface="Arial Unicode MS"/>
                <a:cs typeface="Arial Unicode MS"/>
              </a:rPr>
              <a:t>个范</a:t>
            </a:r>
            <a:r>
              <a:rPr dirty="0" sz="1050" spc="-70">
                <a:latin typeface="Arial Unicode MS"/>
                <a:cs typeface="Arial Unicode MS"/>
              </a:rPr>
              <a:t>围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此</a:t>
            </a:r>
            <a:r>
              <a:rPr dirty="0" sz="1050" spc="-5">
                <a:latin typeface="Arial Unicode MS"/>
                <a:cs typeface="Arial Unicode MS"/>
              </a:rPr>
              <a:t>时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值</a:t>
            </a:r>
            <a:r>
              <a:rPr dirty="0" sz="1050" spc="-10">
                <a:latin typeface="Arial Unicode MS"/>
                <a:cs typeface="Arial Unicode MS"/>
              </a:rPr>
              <a:t>有</a:t>
            </a:r>
            <a:r>
              <a:rPr dirty="0" sz="1050" spc="-5">
                <a:latin typeface="Arial Unicode MS"/>
                <a:cs typeface="Arial Unicode MS"/>
              </a:rPr>
              <a:t>一个 大的跳</a:t>
            </a:r>
            <a:r>
              <a:rPr dirty="0" sz="1050" spc="-70">
                <a:latin typeface="Arial Unicode MS"/>
                <a:cs typeface="Arial Unicode MS"/>
              </a:rPr>
              <a:t>跃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本例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从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30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60">
                <a:latin typeface="Georgia"/>
                <a:cs typeface="Georgia"/>
              </a:rPr>
              <a:t>9</a:t>
            </a:r>
            <a:r>
              <a:rPr dirty="0" sz="1000" spc="-60" b="0" i="1">
                <a:latin typeface="Bookman Old Style"/>
                <a:cs typeface="Bookman Old Style"/>
              </a:rPr>
              <a:t>.</a:t>
            </a:r>
            <a:r>
              <a:rPr dirty="0" sz="1000" spc="-60">
                <a:latin typeface="Georgia"/>
                <a:cs typeface="Georgia"/>
              </a:rPr>
              <a:t>70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999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001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这</a:t>
            </a:r>
            <a:r>
              <a:rPr dirty="0" sz="1050" spc="-5">
                <a:latin typeface="Arial Unicode MS"/>
                <a:cs typeface="Arial Unicode MS"/>
              </a:rPr>
              <a:t>个范围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sz="1050" spc="-5">
                <a:latin typeface="Arial Unicode MS"/>
                <a:cs typeface="Arial Unicode MS"/>
              </a:rPr>
              <a:t>应的滴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完 成率为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99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9%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Georgia"/>
                <a:cs typeface="Georgia"/>
              </a:rPr>
              <a:t>100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1%</a:t>
            </a:r>
            <a:r>
              <a:rPr dirty="0" sz="1050" spc="-5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即滴定的</a:t>
            </a:r>
            <a:r>
              <a:rPr dirty="0" sz="1050" spc="-10">
                <a:latin typeface="Arial Unicode MS"/>
                <a:cs typeface="Arial Unicode MS"/>
              </a:rPr>
              <a:t>误</a:t>
            </a:r>
            <a:r>
              <a:rPr dirty="0" sz="1050" spc="-5">
                <a:latin typeface="Arial Unicode MS"/>
                <a:cs typeface="Arial Unicode MS"/>
              </a:rPr>
              <a:t>差不大于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20">
                <a:latin typeface="Georgia"/>
                <a:cs typeface="Georgia"/>
              </a:rPr>
              <a:t>0</a:t>
            </a:r>
            <a:r>
              <a:rPr dirty="0" sz="1000" spc="-20" b="0" i="1">
                <a:latin typeface="Bookman Old Style"/>
                <a:cs typeface="Bookman Old Style"/>
              </a:rPr>
              <a:t>.</a:t>
            </a:r>
            <a:r>
              <a:rPr dirty="0" sz="1000" spc="-20">
                <a:latin typeface="Georgia"/>
                <a:cs typeface="Georgia"/>
              </a:rPr>
              <a:t>1%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48717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滴定突跃</a:t>
            </a:r>
            <a:r>
              <a:rPr dirty="0" sz="1050" spc="-10">
                <a:solidFill>
                  <a:srgbClr val="FFFFFF"/>
                </a:solidFill>
              </a:rPr>
              <a:t>与</a:t>
            </a:r>
            <a:r>
              <a:rPr dirty="0" sz="1050" spc="-5">
                <a:solidFill>
                  <a:srgbClr val="FFFFFF"/>
                </a:solidFill>
              </a:rPr>
              <a:t>指示剂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选择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618098"/>
            <a:ext cx="4347210" cy="1407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8580" indent="26543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突跃范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5">
                <a:latin typeface="Arial Unicode MS"/>
                <a:cs typeface="Arial Unicode MS"/>
              </a:rPr>
              <a:t>是指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25" b="0" i="1">
                <a:latin typeface="Bookman Old Style"/>
                <a:cs typeface="Bookman Old Style"/>
              </a:rPr>
              <a:t>ρ</a:t>
            </a:r>
            <a:r>
              <a:rPr dirty="0" sz="1000" spc="25" b="0" i="1">
                <a:latin typeface="Bookman Old Style"/>
                <a:cs typeface="Bookman Old Style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值在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999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001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这</a:t>
            </a:r>
            <a:r>
              <a:rPr dirty="0" sz="1050" spc="-5">
                <a:latin typeface="Arial Unicode MS"/>
                <a:cs typeface="Arial Unicode MS"/>
              </a:rPr>
              <a:t>个范</a:t>
            </a:r>
            <a:r>
              <a:rPr dirty="0" sz="1050" spc="-70">
                <a:latin typeface="Arial Unicode MS"/>
                <a:cs typeface="Arial Unicode MS"/>
              </a:rPr>
              <a:t>围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此</a:t>
            </a:r>
            <a:r>
              <a:rPr dirty="0" sz="1050" spc="-5">
                <a:latin typeface="Arial Unicode MS"/>
                <a:cs typeface="Arial Unicode MS"/>
              </a:rPr>
              <a:t>时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值</a:t>
            </a:r>
            <a:r>
              <a:rPr dirty="0" sz="1050" spc="-10">
                <a:latin typeface="Arial Unicode MS"/>
                <a:cs typeface="Arial Unicode MS"/>
              </a:rPr>
              <a:t>有</a:t>
            </a:r>
            <a:r>
              <a:rPr dirty="0" sz="1050" spc="-5">
                <a:latin typeface="Arial Unicode MS"/>
                <a:cs typeface="Arial Unicode MS"/>
              </a:rPr>
              <a:t>一个 大的跳</a:t>
            </a:r>
            <a:r>
              <a:rPr dirty="0" sz="1050" spc="-70">
                <a:latin typeface="Arial Unicode MS"/>
                <a:cs typeface="Arial Unicode MS"/>
              </a:rPr>
              <a:t>跃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本例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从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30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60">
                <a:latin typeface="Georgia"/>
                <a:cs typeface="Georgia"/>
              </a:rPr>
              <a:t>9</a:t>
            </a:r>
            <a:r>
              <a:rPr dirty="0" sz="1000" spc="-60" b="0" i="1">
                <a:latin typeface="Bookman Old Style"/>
                <a:cs typeface="Bookman Old Style"/>
              </a:rPr>
              <a:t>.</a:t>
            </a:r>
            <a:r>
              <a:rPr dirty="0" sz="1000" spc="-60">
                <a:latin typeface="Georgia"/>
                <a:cs typeface="Georgia"/>
              </a:rPr>
              <a:t>70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999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001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这</a:t>
            </a:r>
            <a:r>
              <a:rPr dirty="0" sz="1050" spc="-5">
                <a:latin typeface="Arial Unicode MS"/>
                <a:cs typeface="Arial Unicode MS"/>
              </a:rPr>
              <a:t>个范围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sz="1050" spc="-5">
                <a:latin typeface="Arial Unicode MS"/>
                <a:cs typeface="Arial Unicode MS"/>
              </a:rPr>
              <a:t>应的滴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完 成率为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99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9%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Georgia"/>
                <a:cs typeface="Georgia"/>
              </a:rPr>
              <a:t>100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1%</a:t>
            </a:r>
            <a:r>
              <a:rPr dirty="0" sz="1050" spc="-5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即滴定的</a:t>
            </a:r>
            <a:r>
              <a:rPr dirty="0" sz="1050" spc="-10">
                <a:latin typeface="Arial Unicode MS"/>
                <a:cs typeface="Arial Unicode MS"/>
              </a:rPr>
              <a:t>误</a:t>
            </a:r>
            <a:r>
              <a:rPr dirty="0" sz="1050" spc="-5">
                <a:latin typeface="Arial Unicode MS"/>
                <a:cs typeface="Arial Unicode MS"/>
              </a:rPr>
              <a:t>差不大于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20">
                <a:latin typeface="Georgia"/>
                <a:cs typeface="Georgia"/>
              </a:rPr>
              <a:t>0</a:t>
            </a:r>
            <a:r>
              <a:rPr dirty="0" sz="1000" spc="-20" b="0" i="1">
                <a:latin typeface="Bookman Old Style"/>
                <a:cs typeface="Bookman Old Style"/>
              </a:rPr>
              <a:t>.</a:t>
            </a:r>
            <a:r>
              <a:rPr dirty="0" sz="1000" spc="-20">
                <a:latin typeface="Georgia"/>
                <a:cs typeface="Georgia"/>
              </a:rPr>
              <a:t>1%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12700" marR="5080" indent="265430">
              <a:lnSpc>
                <a:spcPct val="123300"/>
              </a:lnSpc>
            </a:pP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突跃范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5">
                <a:latin typeface="Arial Unicode MS"/>
                <a:cs typeface="Arial Unicode MS"/>
              </a:rPr>
              <a:t>的大</a:t>
            </a:r>
            <a:r>
              <a:rPr dirty="0" sz="1050" spc="-70">
                <a:latin typeface="Arial Unicode MS"/>
                <a:cs typeface="Arial Unicode MS"/>
              </a:rPr>
              <a:t>小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sz="1050" spc="-5">
                <a:latin typeface="Arial Unicode MS"/>
                <a:cs typeface="Arial Unicode MS"/>
              </a:rPr>
              <a:t>于指示</a:t>
            </a:r>
            <a:r>
              <a:rPr dirty="0" sz="1050" spc="-10">
                <a:latin typeface="Arial Unicode MS"/>
                <a:cs typeface="Arial Unicode MS"/>
              </a:rPr>
              <a:t>剂</a:t>
            </a:r>
            <a:r>
              <a:rPr dirty="0" sz="1050" spc="-5">
                <a:latin typeface="Arial Unicode MS"/>
                <a:cs typeface="Arial Unicode MS"/>
              </a:rPr>
              <a:t>的选择颇</a:t>
            </a:r>
            <a:r>
              <a:rPr dirty="0" sz="1050" spc="-1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关</a:t>
            </a:r>
            <a:r>
              <a:rPr dirty="0" sz="1050" spc="-20">
                <a:latin typeface="Arial Unicode MS"/>
                <a:cs typeface="Arial Unicode MS"/>
              </a:rPr>
              <a:t>键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实</a:t>
            </a:r>
            <a:r>
              <a:rPr dirty="0" sz="1050" spc="-5">
                <a:latin typeface="Arial Unicode MS"/>
                <a:cs typeface="Arial Unicode MS"/>
              </a:rPr>
              <a:t>际测定过</a:t>
            </a:r>
            <a:r>
              <a:rPr dirty="0" sz="1050" spc="-10">
                <a:latin typeface="Arial Unicode MS"/>
                <a:cs typeface="Arial Unicode MS"/>
              </a:rPr>
              <a:t>程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5">
                <a:latin typeface="Arial Unicode MS"/>
                <a:cs typeface="Arial Unicode MS"/>
              </a:rPr>
              <a:t>， </a:t>
            </a:r>
            <a:r>
              <a:rPr dirty="0" sz="1050" spc="-5">
                <a:latin typeface="Arial Unicode MS"/>
                <a:cs typeface="Arial Unicode MS"/>
              </a:rPr>
              <a:t>我们很</a:t>
            </a:r>
            <a:r>
              <a:rPr dirty="0" sz="1050" spc="-10">
                <a:latin typeface="Arial Unicode MS"/>
                <a:cs typeface="Arial Unicode MS"/>
              </a:rPr>
              <a:t>难</a:t>
            </a:r>
            <a:r>
              <a:rPr dirty="0" sz="1050" spc="-5">
                <a:latin typeface="Arial Unicode MS"/>
                <a:cs typeface="Arial Unicode MS"/>
              </a:rPr>
              <a:t>选择到</a:t>
            </a:r>
            <a:r>
              <a:rPr dirty="0" sz="1050" spc="-10">
                <a:latin typeface="Arial Unicode MS"/>
                <a:cs typeface="Arial Unicode MS"/>
              </a:rPr>
              <a:t>一</a:t>
            </a:r>
            <a:r>
              <a:rPr dirty="0" sz="1050" spc="-5">
                <a:latin typeface="Arial Unicode MS"/>
                <a:cs typeface="Arial Unicode MS"/>
              </a:rPr>
              <a:t>种指示</a:t>
            </a:r>
            <a:r>
              <a:rPr dirty="0" sz="1050" spc="-70">
                <a:latin typeface="Arial Unicode MS"/>
                <a:cs typeface="Arial Unicode MS"/>
              </a:rPr>
              <a:t>剂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其变色点</a:t>
            </a:r>
            <a:r>
              <a:rPr dirty="0" sz="1050" spc="-10">
                <a:latin typeface="Arial Unicode MS"/>
                <a:cs typeface="Arial Unicode MS"/>
              </a:rPr>
              <a:t>恰</a:t>
            </a:r>
            <a:r>
              <a:rPr dirty="0" sz="1050" spc="-5">
                <a:latin typeface="Arial Unicode MS"/>
                <a:cs typeface="Arial Unicode MS"/>
              </a:rPr>
              <a:t>好在化</a:t>
            </a:r>
            <a:r>
              <a:rPr dirty="0" sz="1050" spc="-10">
                <a:latin typeface="Arial Unicode MS"/>
                <a:cs typeface="Arial Unicode MS"/>
              </a:rPr>
              <a:t>学</a:t>
            </a:r>
            <a:r>
              <a:rPr dirty="0" sz="1050" spc="-5">
                <a:latin typeface="Arial Unicode MS"/>
                <a:cs typeface="Arial Unicode MS"/>
              </a:rPr>
              <a:t>计量</a:t>
            </a:r>
            <a:r>
              <a:rPr dirty="0" sz="1050" spc="-20">
                <a:latin typeface="Arial Unicode MS"/>
                <a:cs typeface="Arial Unicode MS"/>
              </a:rPr>
              <a:t>点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然</a:t>
            </a:r>
            <a:r>
              <a:rPr dirty="0" sz="1050" spc="-70">
                <a:latin typeface="Arial Unicode MS"/>
                <a:cs typeface="Arial Unicode MS"/>
              </a:rPr>
              <a:t>而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只要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 剂的变</a:t>
            </a:r>
            <a:r>
              <a:rPr dirty="0" sz="1050" spc="-10">
                <a:latin typeface="Arial Unicode MS"/>
                <a:cs typeface="Arial Unicode MS"/>
              </a:rPr>
              <a:t>色</a:t>
            </a:r>
            <a:r>
              <a:rPr dirty="0" sz="1050" spc="-5">
                <a:latin typeface="Arial Unicode MS"/>
                <a:cs typeface="Arial Unicode MS"/>
              </a:rPr>
              <a:t>范围在滴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突跃范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70">
                <a:latin typeface="Arial Unicode MS"/>
                <a:cs typeface="Arial Unicode MS"/>
              </a:rPr>
              <a:t>内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则滴定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终点误</a:t>
            </a:r>
            <a:r>
              <a:rPr dirty="0" sz="1050" spc="-10">
                <a:latin typeface="Arial Unicode MS"/>
                <a:cs typeface="Arial Unicode MS"/>
              </a:rPr>
              <a:t>差</a:t>
            </a:r>
            <a:r>
              <a:rPr dirty="0" sz="1050" spc="-5">
                <a:latin typeface="Arial Unicode MS"/>
                <a:cs typeface="Arial Unicode MS"/>
              </a:rPr>
              <a:t>将不会</a:t>
            </a:r>
            <a:r>
              <a:rPr dirty="0" sz="1050" spc="-10">
                <a:latin typeface="Arial Unicode MS"/>
                <a:cs typeface="Arial Unicode MS"/>
              </a:rPr>
              <a:t>大</a:t>
            </a:r>
            <a:r>
              <a:rPr dirty="0" sz="1050" spc="-5">
                <a:latin typeface="Arial Unicode MS"/>
                <a:cs typeface="Arial Unicode MS"/>
              </a:rPr>
              <a:t>于</a:t>
            </a:r>
            <a:r>
              <a:rPr dirty="0" sz="1050" spc="15">
                <a:latin typeface="Arial Unicode MS"/>
                <a:cs typeface="Arial Unicode MS"/>
              </a:rPr>
              <a:t> </a:t>
            </a:r>
            <a:r>
              <a:rPr dirty="0" sz="1000" spc="-60">
                <a:latin typeface="Georgia"/>
                <a:cs typeface="Georgia"/>
              </a:rPr>
              <a:t>0</a:t>
            </a:r>
            <a:r>
              <a:rPr dirty="0" sz="1000" spc="-60" b="0" i="1">
                <a:latin typeface="Bookman Old Style"/>
                <a:cs typeface="Bookman Old Style"/>
              </a:rPr>
              <a:t>.</a:t>
            </a:r>
            <a:r>
              <a:rPr dirty="0" sz="1000" spc="-60">
                <a:latin typeface="Georgia"/>
                <a:cs typeface="Georgia"/>
              </a:rPr>
              <a:t>1%</a:t>
            </a:r>
            <a:r>
              <a:rPr dirty="0" sz="1050" spc="-6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这 也是选择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示剂的</a:t>
            </a:r>
            <a:r>
              <a:rPr dirty="0" sz="1050" spc="-10">
                <a:latin typeface="Arial Unicode MS"/>
                <a:cs typeface="Arial Unicode MS"/>
              </a:rPr>
              <a:t>一</a:t>
            </a:r>
            <a:r>
              <a:rPr dirty="0" sz="1050" spc="-5">
                <a:latin typeface="Arial Unicode MS"/>
                <a:cs typeface="Arial Unicode MS"/>
              </a:rPr>
              <a:t>般原</a:t>
            </a:r>
            <a:r>
              <a:rPr dirty="0" sz="1050" spc="-20">
                <a:latin typeface="Arial Unicode MS"/>
                <a:cs typeface="Arial Unicode MS"/>
              </a:rPr>
              <a:t>则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48717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滴定突跃</a:t>
            </a:r>
            <a:r>
              <a:rPr dirty="0" sz="1050" spc="-10">
                <a:solidFill>
                  <a:srgbClr val="FFFFFF"/>
                </a:solidFill>
              </a:rPr>
              <a:t>与</a:t>
            </a:r>
            <a:r>
              <a:rPr dirty="0" sz="1050" spc="-5">
                <a:solidFill>
                  <a:srgbClr val="FFFFFF"/>
                </a:solidFill>
              </a:rPr>
              <a:t>指示剂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选择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618098"/>
            <a:ext cx="4356735" cy="2526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77470" indent="265430">
              <a:lnSpc>
                <a:spcPct val="123300"/>
              </a:lnSpc>
              <a:spcBef>
                <a:spcPts val="100"/>
              </a:spcBef>
            </a:pP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突跃范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5">
                <a:latin typeface="Arial Unicode MS"/>
                <a:cs typeface="Arial Unicode MS"/>
              </a:rPr>
              <a:t>是指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25" b="0" i="1">
                <a:latin typeface="Bookman Old Style"/>
                <a:cs typeface="Bookman Old Style"/>
              </a:rPr>
              <a:t>ρ</a:t>
            </a:r>
            <a:r>
              <a:rPr dirty="0" sz="1000" spc="25" b="0" i="1">
                <a:latin typeface="Bookman Old Style"/>
                <a:cs typeface="Bookman Old Style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值在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999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001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这</a:t>
            </a:r>
            <a:r>
              <a:rPr dirty="0" sz="1050" spc="-5">
                <a:latin typeface="Arial Unicode MS"/>
                <a:cs typeface="Arial Unicode MS"/>
              </a:rPr>
              <a:t>个范</a:t>
            </a:r>
            <a:r>
              <a:rPr dirty="0" sz="1050" spc="-70">
                <a:latin typeface="Arial Unicode MS"/>
                <a:cs typeface="Arial Unicode MS"/>
              </a:rPr>
              <a:t>围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此</a:t>
            </a:r>
            <a:r>
              <a:rPr dirty="0" sz="1050" spc="-5">
                <a:latin typeface="Arial Unicode MS"/>
                <a:cs typeface="Arial Unicode MS"/>
              </a:rPr>
              <a:t>时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值</a:t>
            </a:r>
            <a:r>
              <a:rPr dirty="0" sz="1050" spc="-10">
                <a:latin typeface="Arial Unicode MS"/>
                <a:cs typeface="Arial Unicode MS"/>
              </a:rPr>
              <a:t>有</a:t>
            </a:r>
            <a:r>
              <a:rPr dirty="0" sz="1050" spc="-5">
                <a:latin typeface="Arial Unicode MS"/>
                <a:cs typeface="Arial Unicode MS"/>
              </a:rPr>
              <a:t>一个 大的跳</a:t>
            </a:r>
            <a:r>
              <a:rPr dirty="0" sz="1050" spc="-70">
                <a:latin typeface="Arial Unicode MS"/>
                <a:cs typeface="Arial Unicode MS"/>
              </a:rPr>
              <a:t>跃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本例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-45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从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30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60">
                <a:latin typeface="Georgia"/>
                <a:cs typeface="Georgia"/>
              </a:rPr>
              <a:t>9</a:t>
            </a:r>
            <a:r>
              <a:rPr dirty="0" sz="1000" spc="-60" b="0" i="1">
                <a:latin typeface="Bookman Old Style"/>
                <a:cs typeface="Bookman Old Style"/>
              </a:rPr>
              <a:t>.</a:t>
            </a:r>
            <a:r>
              <a:rPr dirty="0" sz="1000" spc="-60">
                <a:latin typeface="Georgia"/>
                <a:cs typeface="Georgia"/>
              </a:rPr>
              <a:t>70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999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Georgia"/>
                <a:cs typeface="Georgia"/>
              </a:rPr>
              <a:t>1</a:t>
            </a:r>
            <a:r>
              <a:rPr dirty="0" sz="1000" spc="-30" b="0" i="1">
                <a:latin typeface="Bookman Old Style"/>
                <a:cs typeface="Bookman Old Style"/>
              </a:rPr>
              <a:t>.</a:t>
            </a:r>
            <a:r>
              <a:rPr dirty="0" sz="1000" spc="-30">
                <a:latin typeface="Georgia"/>
                <a:cs typeface="Georgia"/>
              </a:rPr>
              <a:t>001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这</a:t>
            </a:r>
            <a:r>
              <a:rPr dirty="0" sz="1050" spc="-5">
                <a:latin typeface="Arial Unicode MS"/>
                <a:cs typeface="Arial Unicode MS"/>
              </a:rPr>
              <a:t>个范围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sz="1050" spc="-5">
                <a:latin typeface="Arial Unicode MS"/>
                <a:cs typeface="Arial Unicode MS"/>
              </a:rPr>
              <a:t>应的滴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完 成率为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45">
                <a:latin typeface="Georgia"/>
                <a:cs typeface="Georgia"/>
              </a:rPr>
              <a:t>99</a:t>
            </a:r>
            <a:r>
              <a:rPr dirty="0" sz="1000" spc="-45" b="0" i="1">
                <a:latin typeface="Bookman Old Style"/>
                <a:cs typeface="Bookman Old Style"/>
              </a:rPr>
              <a:t>.</a:t>
            </a:r>
            <a:r>
              <a:rPr dirty="0" sz="1000" spc="-45">
                <a:latin typeface="Georgia"/>
                <a:cs typeface="Georgia"/>
              </a:rPr>
              <a:t>9%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45">
                <a:latin typeface="Lucida Sans Unicode"/>
                <a:cs typeface="Lucida Sans Unicode"/>
              </a:rPr>
              <a:t> </a:t>
            </a:r>
            <a:r>
              <a:rPr dirty="0" sz="1000" spc="-50">
                <a:latin typeface="Georgia"/>
                <a:cs typeface="Georgia"/>
              </a:rPr>
              <a:t>100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1%</a:t>
            </a:r>
            <a:r>
              <a:rPr dirty="0" sz="1050" spc="-5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即滴定的</a:t>
            </a:r>
            <a:r>
              <a:rPr dirty="0" sz="1050" spc="-10">
                <a:latin typeface="Arial Unicode MS"/>
                <a:cs typeface="Arial Unicode MS"/>
              </a:rPr>
              <a:t>误</a:t>
            </a:r>
            <a:r>
              <a:rPr dirty="0" sz="1050" spc="-5">
                <a:latin typeface="Arial Unicode MS"/>
                <a:cs typeface="Arial Unicode MS"/>
              </a:rPr>
              <a:t>差不大于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20">
                <a:latin typeface="Georgia"/>
                <a:cs typeface="Georgia"/>
              </a:rPr>
              <a:t>0</a:t>
            </a:r>
            <a:r>
              <a:rPr dirty="0" sz="1000" spc="-20" b="0" i="1">
                <a:latin typeface="Bookman Old Style"/>
                <a:cs typeface="Bookman Old Style"/>
              </a:rPr>
              <a:t>.</a:t>
            </a:r>
            <a:r>
              <a:rPr dirty="0" sz="1000" spc="-20">
                <a:latin typeface="Georgia"/>
                <a:cs typeface="Georgia"/>
              </a:rPr>
              <a:t>1%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12700" marR="13970" indent="265430">
              <a:lnSpc>
                <a:spcPct val="123300"/>
              </a:lnSpc>
            </a:pPr>
            <a:r>
              <a:rPr dirty="0" sz="1050" spc="-5">
                <a:latin typeface="Arial Unicode MS"/>
                <a:cs typeface="Arial Unicode MS"/>
              </a:rPr>
              <a:t>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突跃范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5">
                <a:latin typeface="Arial Unicode MS"/>
                <a:cs typeface="Arial Unicode MS"/>
              </a:rPr>
              <a:t>的大</a:t>
            </a:r>
            <a:r>
              <a:rPr dirty="0" sz="1050" spc="-70">
                <a:latin typeface="Arial Unicode MS"/>
                <a:cs typeface="Arial Unicode MS"/>
              </a:rPr>
              <a:t>小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sz="1050" spc="-5">
                <a:latin typeface="Arial Unicode MS"/>
                <a:cs typeface="Arial Unicode MS"/>
              </a:rPr>
              <a:t>于指示</a:t>
            </a:r>
            <a:r>
              <a:rPr dirty="0" sz="1050" spc="-10">
                <a:latin typeface="Arial Unicode MS"/>
                <a:cs typeface="Arial Unicode MS"/>
              </a:rPr>
              <a:t>剂</a:t>
            </a:r>
            <a:r>
              <a:rPr dirty="0" sz="1050" spc="-5">
                <a:latin typeface="Arial Unicode MS"/>
                <a:cs typeface="Arial Unicode MS"/>
              </a:rPr>
              <a:t>的选择颇</a:t>
            </a:r>
            <a:r>
              <a:rPr dirty="0" sz="1050" spc="-1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关</a:t>
            </a:r>
            <a:r>
              <a:rPr dirty="0" sz="1050" spc="-20">
                <a:latin typeface="Arial Unicode MS"/>
                <a:cs typeface="Arial Unicode MS"/>
              </a:rPr>
              <a:t>键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实</a:t>
            </a:r>
            <a:r>
              <a:rPr dirty="0" sz="1050" spc="-5">
                <a:latin typeface="Arial Unicode MS"/>
                <a:cs typeface="Arial Unicode MS"/>
              </a:rPr>
              <a:t>际测定过</a:t>
            </a:r>
            <a:r>
              <a:rPr dirty="0" sz="1050" spc="-10">
                <a:latin typeface="Arial Unicode MS"/>
                <a:cs typeface="Arial Unicode MS"/>
              </a:rPr>
              <a:t>程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5">
                <a:latin typeface="Arial Unicode MS"/>
                <a:cs typeface="Arial Unicode MS"/>
              </a:rPr>
              <a:t>， </a:t>
            </a:r>
            <a:r>
              <a:rPr dirty="0" sz="1050" spc="-5">
                <a:latin typeface="Arial Unicode MS"/>
                <a:cs typeface="Arial Unicode MS"/>
              </a:rPr>
              <a:t>我们很</a:t>
            </a:r>
            <a:r>
              <a:rPr dirty="0" sz="1050" spc="-10">
                <a:latin typeface="Arial Unicode MS"/>
                <a:cs typeface="Arial Unicode MS"/>
              </a:rPr>
              <a:t>难</a:t>
            </a:r>
            <a:r>
              <a:rPr dirty="0" sz="1050" spc="-5">
                <a:latin typeface="Arial Unicode MS"/>
                <a:cs typeface="Arial Unicode MS"/>
              </a:rPr>
              <a:t>选择到</a:t>
            </a:r>
            <a:r>
              <a:rPr dirty="0" sz="1050" spc="-10">
                <a:latin typeface="Arial Unicode MS"/>
                <a:cs typeface="Arial Unicode MS"/>
              </a:rPr>
              <a:t>一</a:t>
            </a:r>
            <a:r>
              <a:rPr dirty="0" sz="1050" spc="-5">
                <a:latin typeface="Arial Unicode MS"/>
                <a:cs typeface="Arial Unicode MS"/>
              </a:rPr>
              <a:t>种指示</a:t>
            </a:r>
            <a:r>
              <a:rPr dirty="0" sz="1050" spc="-70">
                <a:latin typeface="Arial Unicode MS"/>
                <a:cs typeface="Arial Unicode MS"/>
              </a:rPr>
              <a:t>剂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其变色点</a:t>
            </a:r>
            <a:r>
              <a:rPr dirty="0" sz="1050" spc="-10">
                <a:latin typeface="Arial Unicode MS"/>
                <a:cs typeface="Arial Unicode MS"/>
              </a:rPr>
              <a:t>恰</a:t>
            </a:r>
            <a:r>
              <a:rPr dirty="0" sz="1050" spc="-5">
                <a:latin typeface="Arial Unicode MS"/>
                <a:cs typeface="Arial Unicode MS"/>
              </a:rPr>
              <a:t>好在化</a:t>
            </a:r>
            <a:r>
              <a:rPr dirty="0" sz="1050" spc="-10">
                <a:latin typeface="Arial Unicode MS"/>
                <a:cs typeface="Arial Unicode MS"/>
              </a:rPr>
              <a:t>学</a:t>
            </a:r>
            <a:r>
              <a:rPr dirty="0" sz="1050" spc="-5">
                <a:latin typeface="Arial Unicode MS"/>
                <a:cs typeface="Arial Unicode MS"/>
              </a:rPr>
              <a:t>计量</a:t>
            </a:r>
            <a:r>
              <a:rPr dirty="0" sz="1050" spc="-20">
                <a:latin typeface="Arial Unicode MS"/>
                <a:cs typeface="Arial Unicode MS"/>
              </a:rPr>
              <a:t>点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然</a:t>
            </a:r>
            <a:r>
              <a:rPr dirty="0" sz="1050" spc="-70">
                <a:latin typeface="Arial Unicode MS"/>
                <a:cs typeface="Arial Unicode MS"/>
              </a:rPr>
              <a:t>而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只要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 剂的变</a:t>
            </a:r>
            <a:r>
              <a:rPr dirty="0" sz="1050" spc="-10">
                <a:latin typeface="Arial Unicode MS"/>
                <a:cs typeface="Arial Unicode MS"/>
              </a:rPr>
              <a:t>色</a:t>
            </a:r>
            <a:r>
              <a:rPr dirty="0" sz="1050" spc="-5">
                <a:latin typeface="Arial Unicode MS"/>
                <a:cs typeface="Arial Unicode MS"/>
              </a:rPr>
              <a:t>范围在滴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突跃范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70">
                <a:latin typeface="Arial Unicode MS"/>
                <a:cs typeface="Arial Unicode MS"/>
              </a:rPr>
              <a:t>内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则滴定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终点误</a:t>
            </a:r>
            <a:r>
              <a:rPr dirty="0" sz="1050" spc="-10">
                <a:latin typeface="Arial Unicode MS"/>
                <a:cs typeface="Arial Unicode MS"/>
              </a:rPr>
              <a:t>差</a:t>
            </a:r>
            <a:r>
              <a:rPr dirty="0" sz="1050" spc="-5">
                <a:latin typeface="Arial Unicode MS"/>
                <a:cs typeface="Arial Unicode MS"/>
              </a:rPr>
              <a:t>将不会</a:t>
            </a:r>
            <a:r>
              <a:rPr dirty="0" sz="1050" spc="-10">
                <a:latin typeface="Arial Unicode MS"/>
                <a:cs typeface="Arial Unicode MS"/>
              </a:rPr>
              <a:t>大</a:t>
            </a:r>
            <a:r>
              <a:rPr dirty="0" sz="1050" spc="-5">
                <a:latin typeface="Arial Unicode MS"/>
                <a:cs typeface="Arial Unicode MS"/>
              </a:rPr>
              <a:t>于</a:t>
            </a:r>
            <a:r>
              <a:rPr dirty="0" sz="1050" spc="15">
                <a:latin typeface="Arial Unicode MS"/>
                <a:cs typeface="Arial Unicode MS"/>
              </a:rPr>
              <a:t> </a:t>
            </a:r>
            <a:r>
              <a:rPr dirty="0" sz="1000" spc="-60">
                <a:latin typeface="Georgia"/>
                <a:cs typeface="Georgia"/>
              </a:rPr>
              <a:t>0</a:t>
            </a:r>
            <a:r>
              <a:rPr dirty="0" sz="1000" spc="-60" b="0" i="1">
                <a:latin typeface="Bookman Old Style"/>
                <a:cs typeface="Bookman Old Style"/>
              </a:rPr>
              <a:t>.</a:t>
            </a:r>
            <a:r>
              <a:rPr dirty="0" sz="1000" spc="-60">
                <a:latin typeface="Georgia"/>
                <a:cs typeface="Georgia"/>
              </a:rPr>
              <a:t>1%</a:t>
            </a:r>
            <a:r>
              <a:rPr dirty="0" sz="1050" spc="-6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这 也是选择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示剂的</a:t>
            </a:r>
            <a:r>
              <a:rPr dirty="0" sz="1050" spc="-10">
                <a:latin typeface="Arial Unicode MS"/>
                <a:cs typeface="Arial Unicode MS"/>
              </a:rPr>
              <a:t>一</a:t>
            </a:r>
            <a:r>
              <a:rPr dirty="0" sz="1050" spc="-5">
                <a:latin typeface="Arial Unicode MS"/>
                <a:cs typeface="Arial Unicode MS"/>
              </a:rPr>
              <a:t>般原</a:t>
            </a:r>
            <a:r>
              <a:rPr dirty="0" sz="1050" spc="-20">
                <a:latin typeface="Arial Unicode MS"/>
                <a:cs typeface="Arial Unicode MS"/>
              </a:rPr>
              <a:t>则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12700" marR="5080" indent="265430">
              <a:lnSpc>
                <a:spcPct val="139800"/>
              </a:lnSpc>
            </a:pPr>
            <a:r>
              <a:rPr dirty="0" sz="1050" spc="-10">
                <a:latin typeface="Arial Unicode MS"/>
                <a:cs typeface="Arial Unicode MS"/>
              </a:rPr>
              <a:t>在本例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90">
                <a:latin typeface="Arial Unicode MS"/>
                <a:cs typeface="Arial Unicode MS"/>
              </a:rPr>
              <a:t>，</a:t>
            </a:r>
            <a:r>
              <a:rPr dirty="0" sz="1000" spc="-90">
                <a:latin typeface="Georgia"/>
                <a:cs typeface="Georgia"/>
              </a:rPr>
              <a:t>pH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的变动范围</a:t>
            </a:r>
            <a:r>
              <a:rPr dirty="0" sz="1050" spc="-5">
                <a:latin typeface="Arial Unicode MS"/>
                <a:cs typeface="Arial Unicode MS"/>
              </a:rPr>
              <a:t>是</a:t>
            </a:r>
            <a:r>
              <a:rPr dirty="0" sz="1050" spc="20">
                <a:latin typeface="Arial Unicode MS"/>
                <a:cs typeface="Arial Unicode MS"/>
              </a:rPr>
              <a:t> </a:t>
            </a:r>
            <a:r>
              <a:rPr dirty="0" sz="1000" spc="-70">
                <a:latin typeface="Georgia"/>
                <a:cs typeface="Georgia"/>
              </a:rPr>
              <a:t>4</a:t>
            </a:r>
            <a:r>
              <a:rPr dirty="0" sz="1000" spc="-70" b="0" i="1">
                <a:latin typeface="Bookman Old Style"/>
                <a:cs typeface="Bookman Old Style"/>
              </a:rPr>
              <a:t>.</a:t>
            </a:r>
            <a:r>
              <a:rPr dirty="0" sz="1000" spc="-70">
                <a:latin typeface="Georgia"/>
                <a:cs typeface="Georgia"/>
              </a:rPr>
              <a:t>30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∼</a:t>
            </a:r>
            <a:r>
              <a:rPr dirty="0" sz="1000" spc="-50">
                <a:latin typeface="Lucida Sans Unicode"/>
                <a:cs typeface="Lucida Sans Unicode"/>
              </a:rPr>
              <a:t> </a:t>
            </a:r>
            <a:r>
              <a:rPr dirty="0" sz="1000" spc="-60">
                <a:latin typeface="Georgia"/>
                <a:cs typeface="Georgia"/>
              </a:rPr>
              <a:t>9</a:t>
            </a:r>
            <a:r>
              <a:rPr dirty="0" sz="1000" spc="-60" b="0" i="1">
                <a:latin typeface="Bookman Old Style"/>
                <a:cs typeface="Bookman Old Style"/>
              </a:rPr>
              <a:t>.</a:t>
            </a:r>
            <a:r>
              <a:rPr dirty="0" sz="1000" spc="-60">
                <a:latin typeface="Georgia"/>
                <a:cs typeface="Georgia"/>
              </a:rPr>
              <a:t>70</a:t>
            </a:r>
            <a:r>
              <a:rPr dirty="0" sz="1050" spc="-225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所</a:t>
            </a:r>
            <a:r>
              <a:rPr dirty="0" sz="1050" spc="-70">
                <a:latin typeface="Arial Unicode MS"/>
                <a:cs typeface="Arial Unicode MS"/>
              </a:rPr>
              <a:t>以</a:t>
            </a:r>
            <a:r>
              <a:rPr dirty="0" sz="1050" spc="-180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酚</a:t>
            </a:r>
            <a:r>
              <a:rPr dirty="0" sz="1050" spc="10">
                <a:latin typeface="Arial Unicode MS"/>
                <a:cs typeface="Arial Unicode MS"/>
              </a:rPr>
              <a:t>酞</a:t>
            </a:r>
            <a:r>
              <a:rPr dirty="0" sz="1050" spc="-254">
                <a:latin typeface="Arial Unicode MS"/>
                <a:cs typeface="Arial Unicode MS"/>
              </a:rPr>
              <a:t>、</a:t>
            </a:r>
            <a:r>
              <a:rPr dirty="0" sz="1050" spc="-10">
                <a:latin typeface="Arial Unicode MS"/>
                <a:cs typeface="Arial Unicode MS"/>
              </a:rPr>
              <a:t>甲基红和甲基</a:t>
            </a:r>
            <a:r>
              <a:rPr dirty="0" sz="1050" spc="-5">
                <a:latin typeface="Arial Unicode MS"/>
                <a:cs typeface="Arial Unicode MS"/>
              </a:rPr>
              <a:t>橙 都是合</a:t>
            </a:r>
            <a:r>
              <a:rPr dirty="0" sz="1050" spc="-10">
                <a:latin typeface="Arial Unicode MS"/>
                <a:cs typeface="Arial Unicode MS"/>
              </a:rPr>
              <a:t>适</a:t>
            </a:r>
            <a:r>
              <a:rPr dirty="0" sz="1050" spc="-5">
                <a:latin typeface="Arial Unicode MS"/>
                <a:cs typeface="Arial Unicode MS"/>
              </a:rPr>
              <a:t>的指示</a:t>
            </a:r>
            <a:r>
              <a:rPr dirty="0" sz="1050" spc="-20">
                <a:latin typeface="Arial Unicode MS"/>
                <a:cs typeface="Arial Unicode MS"/>
              </a:rPr>
              <a:t>剂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在碱滴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酸的过</a:t>
            </a:r>
            <a:r>
              <a:rPr dirty="0" sz="1050" spc="-10">
                <a:latin typeface="Arial Unicode MS"/>
                <a:cs typeface="Arial Unicode MS"/>
              </a:rPr>
              <a:t>程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一般多</a:t>
            </a:r>
            <a:r>
              <a:rPr dirty="0" sz="1050" spc="-10">
                <a:latin typeface="Arial Unicode MS"/>
                <a:cs typeface="Arial Unicode MS"/>
              </a:rPr>
              <a:t>采</a:t>
            </a:r>
            <a:r>
              <a:rPr dirty="0" sz="1050" spc="-5">
                <a:latin typeface="Arial Unicode MS"/>
                <a:cs typeface="Arial Unicode MS"/>
              </a:rPr>
              <a:t>用酚酞</a:t>
            </a:r>
            <a:r>
              <a:rPr dirty="0" sz="1050" spc="-10">
                <a:latin typeface="Arial Unicode MS"/>
                <a:cs typeface="Arial Unicode MS"/>
              </a:rPr>
              <a:t>作</a:t>
            </a:r>
            <a:r>
              <a:rPr dirty="0" sz="1050" spc="-5">
                <a:latin typeface="Arial Unicode MS"/>
                <a:cs typeface="Arial Unicode MS"/>
              </a:rPr>
              <a:t>指示</a:t>
            </a:r>
            <a:r>
              <a:rPr dirty="0" sz="1050" spc="-70">
                <a:latin typeface="Arial Unicode MS"/>
                <a:cs typeface="Arial Unicode MS"/>
              </a:rPr>
              <a:t>剂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原</a:t>
            </a:r>
            <a:r>
              <a:rPr dirty="0" sz="1050" spc="-5">
                <a:latin typeface="Arial Unicode MS"/>
                <a:cs typeface="Arial Unicode MS"/>
              </a:rPr>
              <a:t>因 是它从</a:t>
            </a:r>
            <a:r>
              <a:rPr dirty="0" sz="1050" spc="-10">
                <a:latin typeface="Arial Unicode MS"/>
                <a:cs typeface="Arial Unicode MS"/>
              </a:rPr>
              <a:t>无</a:t>
            </a:r>
            <a:r>
              <a:rPr dirty="0" sz="1050" spc="-5">
                <a:latin typeface="Arial Unicode MS"/>
                <a:cs typeface="Arial Unicode MS"/>
              </a:rPr>
              <a:t>色变成红</a:t>
            </a:r>
            <a:r>
              <a:rPr dirty="0" sz="1050" spc="-70">
                <a:latin typeface="Arial Unicode MS"/>
                <a:cs typeface="Arial Unicode MS"/>
              </a:rPr>
              <a:t>色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颜色变</a:t>
            </a:r>
            <a:r>
              <a:rPr dirty="0" sz="1050" spc="-1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敏</a:t>
            </a:r>
            <a:r>
              <a:rPr dirty="0" sz="1050" spc="-70">
                <a:latin typeface="Arial Unicode MS"/>
                <a:cs typeface="Arial Unicode MS"/>
              </a:rPr>
              <a:t>锐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易</a:t>
            </a:r>
            <a:r>
              <a:rPr dirty="0" sz="1050" spc="-10">
                <a:latin typeface="Arial Unicode MS"/>
                <a:cs typeface="Arial Unicode MS"/>
              </a:rPr>
              <a:t>于</a:t>
            </a:r>
            <a:r>
              <a:rPr dirty="0" sz="1050" spc="-5">
                <a:latin typeface="Arial Unicode MS"/>
                <a:cs typeface="Arial Unicode MS"/>
              </a:rPr>
              <a:t>观</a:t>
            </a:r>
            <a:r>
              <a:rPr dirty="0" sz="1050" spc="-20">
                <a:latin typeface="Arial Unicode MS"/>
                <a:cs typeface="Arial Unicode MS"/>
              </a:rPr>
              <a:t>察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相</a:t>
            </a:r>
            <a:r>
              <a:rPr dirty="0" sz="1050" spc="-70">
                <a:latin typeface="Arial Unicode MS"/>
                <a:cs typeface="Arial Unicode MS"/>
              </a:rPr>
              <a:t>反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当酸滴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碱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一 般不采用</a:t>
            </a:r>
            <a:r>
              <a:rPr dirty="0" sz="1050" spc="-10">
                <a:latin typeface="Arial Unicode MS"/>
                <a:cs typeface="Arial Unicode MS"/>
              </a:rPr>
              <a:t>酚</a:t>
            </a:r>
            <a:r>
              <a:rPr dirty="0" sz="1050" spc="-70">
                <a:latin typeface="Arial Unicode MS"/>
                <a:cs typeface="Arial Unicode MS"/>
              </a:rPr>
              <a:t>酞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因它</a:t>
            </a:r>
            <a:r>
              <a:rPr dirty="0" sz="1050" spc="-10">
                <a:latin typeface="Arial Unicode MS"/>
                <a:cs typeface="Arial Unicode MS"/>
              </a:rPr>
              <a:t>此</a:t>
            </a:r>
            <a:r>
              <a:rPr dirty="0" sz="1050" spc="-5">
                <a:latin typeface="Arial Unicode MS"/>
                <a:cs typeface="Arial Unicode MS"/>
              </a:rPr>
              <a:t>时从红</a:t>
            </a:r>
            <a:r>
              <a:rPr dirty="0" sz="1050" spc="-10">
                <a:latin typeface="Arial Unicode MS"/>
                <a:cs typeface="Arial Unicode MS"/>
              </a:rPr>
              <a:t>色</a:t>
            </a:r>
            <a:r>
              <a:rPr dirty="0" sz="1050" spc="-5">
                <a:latin typeface="Arial Unicode MS"/>
                <a:cs typeface="Arial Unicode MS"/>
              </a:rPr>
              <a:t>变为无</a:t>
            </a:r>
            <a:r>
              <a:rPr dirty="0" sz="1050" spc="-70">
                <a:latin typeface="Arial Unicode MS"/>
                <a:cs typeface="Arial Unicode MS"/>
              </a:rPr>
              <a:t>色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由于人眼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sz="1050" spc="-5">
                <a:latin typeface="Arial Unicode MS"/>
                <a:cs typeface="Arial Unicode MS"/>
              </a:rPr>
              <a:t>红色更</a:t>
            </a:r>
            <a:r>
              <a:rPr dirty="0" sz="1050" spc="-1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敏</a:t>
            </a:r>
            <a:r>
              <a:rPr dirty="0" sz="1050" spc="-70">
                <a:latin typeface="Arial Unicode MS"/>
                <a:cs typeface="Arial Unicode MS"/>
              </a:rPr>
              <a:t>感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红色 </a:t>
            </a:r>
            <a:r>
              <a:rPr dirty="0" sz="1050" spc="-10">
                <a:latin typeface="Arial Unicode MS"/>
                <a:cs typeface="Arial Unicode MS"/>
              </a:rPr>
              <a:t>在</a:t>
            </a:r>
            <a:r>
              <a:rPr dirty="0" sz="1050" spc="-5">
                <a:latin typeface="Arial Unicode MS"/>
                <a:cs typeface="Arial Unicode MS"/>
              </a:rPr>
              <a:t>人眼中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滞留时</a:t>
            </a:r>
            <a:r>
              <a:rPr dirty="0" sz="1050" spc="-10">
                <a:latin typeface="Arial Unicode MS"/>
                <a:cs typeface="Arial Unicode MS"/>
              </a:rPr>
              <a:t>间</a:t>
            </a:r>
            <a:r>
              <a:rPr dirty="0" sz="1050" spc="-70">
                <a:latin typeface="Arial Unicode MS"/>
                <a:cs typeface="Arial Unicode MS"/>
              </a:rPr>
              <a:t>长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导致判</a:t>
            </a:r>
            <a:r>
              <a:rPr dirty="0" sz="1050" spc="-10">
                <a:latin typeface="Arial Unicode MS"/>
                <a:cs typeface="Arial Unicode MS"/>
              </a:rPr>
              <a:t>断</a:t>
            </a:r>
            <a:r>
              <a:rPr dirty="0" sz="1050" spc="-5">
                <a:latin typeface="Arial Unicode MS"/>
                <a:cs typeface="Arial Unicode MS"/>
              </a:rPr>
              <a:t>变色过</a:t>
            </a:r>
            <a:r>
              <a:rPr dirty="0" sz="1050" spc="-10">
                <a:latin typeface="Arial Unicode MS"/>
                <a:cs typeface="Arial Unicode MS"/>
              </a:rPr>
              <a:t>程</a:t>
            </a:r>
            <a:r>
              <a:rPr dirty="0" sz="1050" spc="-5">
                <a:latin typeface="Arial Unicode MS"/>
                <a:cs typeface="Arial Unicode MS"/>
              </a:rPr>
              <a:t>不敏</a:t>
            </a:r>
            <a:r>
              <a:rPr dirty="0" sz="1050" spc="-20">
                <a:latin typeface="Arial Unicode MS"/>
                <a:cs typeface="Arial Unicode MS"/>
              </a:rPr>
              <a:t>锐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35445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浓度对滴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突跃的</a:t>
            </a:r>
            <a:r>
              <a:rPr dirty="0" sz="1050" spc="-10">
                <a:solidFill>
                  <a:srgbClr val="FFFFFF"/>
                </a:solidFill>
              </a:rPr>
              <a:t>影</a:t>
            </a:r>
            <a:r>
              <a:rPr dirty="0" sz="1050" spc="-5">
                <a:solidFill>
                  <a:srgbClr val="FFFFFF"/>
                </a:solidFill>
              </a:rPr>
              <a:t>响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1104967" y="645471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04967" y="2670390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73599" y="645471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4967" y="645471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4967" y="2670390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4967" y="645471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04967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4967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61731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61731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18500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18500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75270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75270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32034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32034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41966" y="2665353"/>
            <a:ext cx="117348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8920" algn="l"/>
              </a:tabLst>
            </a:pPr>
            <a:r>
              <a:rPr dirty="0" sz="600" spc="10">
                <a:latin typeface="Times New Roman"/>
                <a:cs typeface="Times New Roman"/>
              </a:rPr>
              <a:t>0.9	0.92 0.94 0.96</a:t>
            </a:r>
            <a:r>
              <a:rPr dirty="0" sz="600" spc="155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0.98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89280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89280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46050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46050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02819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02819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59583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59583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16352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416352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73599" y="2644521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73599" y="645471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04967" y="267039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647731" y="267039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035259" y="2605951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04967" y="238104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47731" y="238104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04967" y="209170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47731" y="209170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04967" y="180236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7731" y="180236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04967" y="151301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47731" y="151301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04967" y="122367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7731" y="122367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95019" y="1159238"/>
            <a:ext cx="106045" cy="12795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  <a:spcBef>
                <a:spcPts val="5"/>
              </a:spcBef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52705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04967" y="93433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47731" y="93433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95019" y="869895"/>
            <a:ext cx="106045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04967" y="64547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47731" y="64547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995019" y="581032"/>
            <a:ext cx="106045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04967" y="645471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04967" y="2670390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73599" y="645471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04967" y="645471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104967" y="846669"/>
            <a:ext cx="2364740" cy="1637030"/>
          </a:xfrm>
          <a:custGeom>
            <a:avLst/>
            <a:gdLst/>
            <a:ahLst/>
            <a:cxnLst/>
            <a:rect l="l" t="t" r="r" b="b"/>
            <a:pathLst>
              <a:path w="2364740" h="1637030">
                <a:moveTo>
                  <a:pt x="0" y="1636893"/>
                </a:moveTo>
                <a:lnTo>
                  <a:pt x="253412" y="1623959"/>
                </a:lnTo>
                <a:lnTo>
                  <a:pt x="619403" y="1595693"/>
                </a:lnTo>
                <a:lnTo>
                  <a:pt x="857967" y="1566950"/>
                </a:lnTo>
                <a:lnTo>
                  <a:pt x="1011740" y="1538685"/>
                </a:lnTo>
                <a:lnTo>
                  <a:pt x="1110420" y="1509942"/>
                </a:lnTo>
                <a:lnTo>
                  <a:pt x="1173176" y="1481683"/>
                </a:lnTo>
                <a:lnTo>
                  <a:pt x="1213416" y="1452940"/>
                </a:lnTo>
                <a:lnTo>
                  <a:pt x="1239284" y="1424674"/>
                </a:lnTo>
                <a:lnTo>
                  <a:pt x="1267116" y="1363342"/>
                </a:lnTo>
                <a:lnTo>
                  <a:pt x="1278912" y="1288564"/>
                </a:lnTo>
                <a:lnTo>
                  <a:pt x="1282632" y="1203349"/>
                </a:lnTo>
                <a:lnTo>
                  <a:pt x="1283733" y="1152986"/>
                </a:lnTo>
                <a:lnTo>
                  <a:pt x="1284353" y="1102576"/>
                </a:lnTo>
                <a:lnTo>
                  <a:pt x="1284586" y="1052132"/>
                </a:lnTo>
                <a:lnTo>
                  <a:pt x="1284522" y="1001663"/>
                </a:lnTo>
                <a:lnTo>
                  <a:pt x="1284253" y="951181"/>
                </a:lnTo>
                <a:lnTo>
                  <a:pt x="1283871" y="900696"/>
                </a:lnTo>
                <a:lnTo>
                  <a:pt x="1283466" y="850218"/>
                </a:lnTo>
                <a:lnTo>
                  <a:pt x="1283131" y="799759"/>
                </a:lnTo>
                <a:lnTo>
                  <a:pt x="1282956" y="749329"/>
                </a:lnTo>
                <a:lnTo>
                  <a:pt x="1283034" y="698940"/>
                </a:lnTo>
                <a:lnTo>
                  <a:pt x="1283456" y="648601"/>
                </a:lnTo>
                <a:lnTo>
                  <a:pt x="1284313" y="598324"/>
                </a:lnTo>
                <a:lnTo>
                  <a:pt x="1284277" y="548539"/>
                </a:lnTo>
                <a:lnTo>
                  <a:pt x="1284497" y="498690"/>
                </a:lnTo>
                <a:lnTo>
                  <a:pt x="1284984" y="448837"/>
                </a:lnTo>
                <a:lnTo>
                  <a:pt x="1285750" y="399039"/>
                </a:lnTo>
                <a:lnTo>
                  <a:pt x="1287578" y="356274"/>
                </a:lnTo>
                <a:lnTo>
                  <a:pt x="1291264" y="312045"/>
                </a:lnTo>
                <a:lnTo>
                  <a:pt x="1298660" y="268558"/>
                </a:lnTo>
                <a:lnTo>
                  <a:pt x="1311618" y="228021"/>
                </a:lnTo>
                <a:lnTo>
                  <a:pt x="1352341" y="171018"/>
                </a:lnTo>
                <a:lnTo>
                  <a:pt x="1392098" y="142753"/>
                </a:lnTo>
                <a:lnTo>
                  <a:pt x="1454377" y="114010"/>
                </a:lnTo>
                <a:lnTo>
                  <a:pt x="1553056" y="85745"/>
                </a:lnTo>
                <a:lnTo>
                  <a:pt x="1709704" y="57002"/>
                </a:lnTo>
                <a:lnTo>
                  <a:pt x="1960248" y="28742"/>
                </a:lnTo>
                <a:lnTo>
                  <a:pt x="2364559" y="0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04967" y="1126910"/>
            <a:ext cx="2569210" cy="1068070"/>
          </a:xfrm>
          <a:custGeom>
            <a:avLst/>
            <a:gdLst/>
            <a:ahLst/>
            <a:cxnLst/>
            <a:rect l="l" t="t" r="r" b="b"/>
            <a:pathLst>
              <a:path w="2569210" h="1068070">
                <a:moveTo>
                  <a:pt x="0" y="1067789"/>
                </a:moveTo>
                <a:lnTo>
                  <a:pt x="182032" y="1058683"/>
                </a:lnTo>
                <a:lnTo>
                  <a:pt x="572932" y="1030423"/>
                </a:lnTo>
                <a:lnTo>
                  <a:pt x="827305" y="1002158"/>
                </a:lnTo>
                <a:lnTo>
                  <a:pt x="992098" y="973415"/>
                </a:lnTo>
                <a:lnTo>
                  <a:pt x="1097968" y="945149"/>
                </a:lnTo>
                <a:lnTo>
                  <a:pt x="1165514" y="916407"/>
                </a:lnTo>
                <a:lnTo>
                  <a:pt x="1208628" y="888147"/>
                </a:lnTo>
                <a:lnTo>
                  <a:pt x="1235933" y="859404"/>
                </a:lnTo>
                <a:lnTo>
                  <a:pt x="1266389" y="796753"/>
                </a:lnTo>
                <a:lnTo>
                  <a:pt x="1278362" y="724906"/>
                </a:lnTo>
                <a:lnTo>
                  <a:pt x="1282188" y="652826"/>
                </a:lnTo>
                <a:lnTo>
                  <a:pt x="1283734" y="581686"/>
                </a:lnTo>
                <a:lnTo>
                  <a:pt x="1283835" y="546110"/>
                </a:lnTo>
                <a:lnTo>
                  <a:pt x="1284278" y="510537"/>
                </a:lnTo>
                <a:lnTo>
                  <a:pt x="1285098" y="439390"/>
                </a:lnTo>
                <a:lnTo>
                  <a:pt x="1287852" y="360458"/>
                </a:lnTo>
                <a:lnTo>
                  <a:pt x="1291569" y="316768"/>
                </a:lnTo>
                <a:lnTo>
                  <a:pt x="1299443" y="273856"/>
                </a:lnTo>
                <a:lnTo>
                  <a:pt x="1313538" y="232815"/>
                </a:lnTo>
                <a:lnTo>
                  <a:pt x="1357606" y="175807"/>
                </a:lnTo>
                <a:lnTo>
                  <a:pt x="1399766" y="147064"/>
                </a:lnTo>
                <a:lnTo>
                  <a:pt x="1466351" y="118799"/>
                </a:lnTo>
                <a:lnTo>
                  <a:pt x="1572699" y="90056"/>
                </a:lnTo>
                <a:lnTo>
                  <a:pt x="1740843" y="61796"/>
                </a:lnTo>
                <a:lnTo>
                  <a:pt x="2010547" y="33531"/>
                </a:lnTo>
                <a:lnTo>
                  <a:pt x="2446475" y="4788"/>
                </a:lnTo>
                <a:lnTo>
                  <a:pt x="2569109" y="0"/>
                </a:lnTo>
              </a:path>
            </a:pathLst>
          </a:custGeom>
          <a:ln w="1149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356462" y="2665353"/>
            <a:ext cx="1380490" cy="2152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665"/>
              </a:lnSpc>
              <a:spcBef>
                <a:spcPts val="130"/>
              </a:spcBef>
              <a:tabLst>
                <a:tab pos="219075" algn="l"/>
                <a:tab pos="1266190" algn="l"/>
              </a:tabLst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r>
              <a:rPr dirty="0" sz="600" spc="15">
                <a:latin typeface="Times New Roman"/>
                <a:cs typeface="Times New Roman"/>
              </a:rPr>
              <a:t>	</a:t>
            </a:r>
            <a:r>
              <a:rPr dirty="0" sz="600" spc="10">
                <a:latin typeface="Times New Roman"/>
                <a:cs typeface="Times New Roman"/>
              </a:rPr>
              <a:t>1.02</a:t>
            </a:r>
            <a:r>
              <a:rPr dirty="0" sz="600" spc="10">
                <a:latin typeface="Times New Roman"/>
                <a:cs typeface="Times New Roman"/>
              </a:rPr>
              <a:t>     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1.04</a:t>
            </a:r>
            <a:r>
              <a:rPr dirty="0" sz="600">
                <a:latin typeface="Times New Roman"/>
                <a:cs typeface="Times New Roman"/>
              </a:rPr>
              <a:t>     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1.06</a:t>
            </a:r>
            <a:r>
              <a:rPr dirty="0" sz="600">
                <a:latin typeface="Times New Roman"/>
                <a:cs typeface="Times New Roman"/>
              </a:rPr>
              <a:t>     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Times New Roman"/>
                <a:cs typeface="Times New Roman"/>
              </a:rPr>
              <a:t>1.08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10">
                <a:latin typeface="Times New Roman"/>
                <a:cs typeface="Times New Roman"/>
              </a:rPr>
              <a:t>1.1</a:t>
            </a:r>
            <a:endParaRPr sz="600">
              <a:latin typeface="Times New Roman"/>
              <a:cs typeface="Times New Roman"/>
            </a:endParaRPr>
          </a:p>
          <a:p>
            <a:pPr marL="133985">
              <a:lnSpc>
                <a:spcPts val="785"/>
              </a:lnSpc>
            </a:pPr>
            <a:r>
              <a:rPr dirty="0" sz="700" spc="10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65228" y="1584119"/>
            <a:ext cx="130175" cy="14859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 spc="-5" b="1">
                <a:latin typeface="Times New Roman"/>
                <a:cs typeface="Times New Roman"/>
              </a:rPr>
              <a:t>pH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371270" y="1640098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>
                <a:moveTo>
                  <a:pt x="34491" y="17245"/>
                </a:moveTo>
                <a:lnTo>
                  <a:pt x="34491" y="26765"/>
                </a:lnTo>
                <a:lnTo>
                  <a:pt x="26765" y="34491"/>
                </a:lnTo>
                <a:lnTo>
                  <a:pt x="17245" y="34491"/>
                </a:lnTo>
                <a:lnTo>
                  <a:pt x="7726" y="34491"/>
                </a:lnTo>
                <a:lnTo>
                  <a:pt x="0" y="26765"/>
                </a:lnTo>
                <a:lnTo>
                  <a:pt x="0" y="17245"/>
                </a:lnTo>
                <a:lnTo>
                  <a:pt x="0" y="7726"/>
                </a:lnTo>
                <a:lnTo>
                  <a:pt x="7726" y="0"/>
                </a:lnTo>
                <a:lnTo>
                  <a:pt x="17245" y="0"/>
                </a:lnTo>
                <a:lnTo>
                  <a:pt x="26765" y="0"/>
                </a:lnTo>
                <a:lnTo>
                  <a:pt x="34491" y="7726"/>
                </a:lnTo>
                <a:lnTo>
                  <a:pt x="34491" y="17245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84492" y="1267266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 h="0">
                <a:moveTo>
                  <a:pt x="0" y="0"/>
                </a:moveTo>
                <a:lnTo>
                  <a:pt x="34491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401737" y="1250021"/>
            <a:ext cx="0" cy="34925"/>
          </a:xfrm>
          <a:custGeom>
            <a:avLst/>
            <a:gdLst/>
            <a:ahLst/>
            <a:cxnLst/>
            <a:rect l="l" t="t" r="r" b="b"/>
            <a:pathLst>
              <a:path w="0" h="34925">
                <a:moveTo>
                  <a:pt x="0" y="0"/>
                </a:moveTo>
                <a:lnTo>
                  <a:pt x="0" y="34491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389763" y="125529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0" y="0"/>
                </a:moveTo>
                <a:lnTo>
                  <a:pt x="23948" y="23954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389763" y="125529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23948" y="0"/>
                </a:moveTo>
                <a:lnTo>
                  <a:pt x="0" y="23954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359100" y="2048112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 h="0">
                <a:moveTo>
                  <a:pt x="0" y="0"/>
                </a:moveTo>
                <a:lnTo>
                  <a:pt x="34491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376346" y="2030866"/>
            <a:ext cx="0" cy="34925"/>
          </a:xfrm>
          <a:custGeom>
            <a:avLst/>
            <a:gdLst/>
            <a:ahLst/>
            <a:cxnLst/>
            <a:rect l="l" t="t" r="r" b="b"/>
            <a:pathLst>
              <a:path w="0" h="34925">
                <a:moveTo>
                  <a:pt x="0" y="0"/>
                </a:moveTo>
                <a:lnTo>
                  <a:pt x="0" y="34491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364372" y="203613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0" y="0"/>
                </a:moveTo>
                <a:lnTo>
                  <a:pt x="23954" y="23954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364372" y="2036132"/>
            <a:ext cx="24130" cy="24130"/>
          </a:xfrm>
          <a:custGeom>
            <a:avLst/>
            <a:gdLst/>
            <a:ahLst/>
            <a:cxnLst/>
            <a:rect l="l" t="t" r="r" b="b"/>
            <a:pathLst>
              <a:path w="24130" h="24130">
                <a:moveTo>
                  <a:pt x="23954" y="0"/>
                </a:moveTo>
                <a:lnTo>
                  <a:pt x="0" y="23954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363651" y="858166"/>
            <a:ext cx="828675" cy="308610"/>
          </a:xfrm>
          <a:custGeom>
            <a:avLst/>
            <a:gdLst/>
            <a:ahLst/>
            <a:cxnLst/>
            <a:rect l="l" t="t" r="r" b="b"/>
            <a:pathLst>
              <a:path w="828675" h="308609">
                <a:moveTo>
                  <a:pt x="0" y="308023"/>
                </a:moveTo>
                <a:lnTo>
                  <a:pt x="0" y="0"/>
                </a:lnTo>
                <a:lnTo>
                  <a:pt x="828265" y="0"/>
                </a:lnTo>
                <a:lnTo>
                  <a:pt x="828265" y="308023"/>
                </a:lnTo>
                <a:lnTo>
                  <a:pt x="0" y="3080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363651" y="858166"/>
            <a:ext cx="828675" cy="308610"/>
          </a:xfrm>
          <a:custGeom>
            <a:avLst/>
            <a:gdLst/>
            <a:ahLst/>
            <a:cxnLst/>
            <a:rect l="l" t="t" r="r" b="b"/>
            <a:pathLst>
              <a:path w="828675" h="308609">
                <a:moveTo>
                  <a:pt x="0" y="308023"/>
                </a:moveTo>
                <a:lnTo>
                  <a:pt x="0" y="0"/>
                </a:lnTo>
                <a:lnTo>
                  <a:pt x="828265" y="0"/>
                </a:lnTo>
                <a:lnTo>
                  <a:pt x="828265" y="308023"/>
                </a:lnTo>
                <a:lnTo>
                  <a:pt x="0" y="308023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411076" y="941997"/>
            <a:ext cx="238760" cy="0"/>
          </a:xfrm>
          <a:custGeom>
            <a:avLst/>
            <a:gdLst/>
            <a:ahLst/>
            <a:cxnLst/>
            <a:rect l="l" t="t" r="r" b="b"/>
            <a:pathLst>
              <a:path w="238760" h="0">
                <a:moveTo>
                  <a:pt x="0" y="0"/>
                </a:moveTo>
                <a:lnTo>
                  <a:pt x="238563" y="0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363651" y="858166"/>
            <a:ext cx="828675" cy="3086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309880">
              <a:lnSpc>
                <a:spcPct val="100000"/>
              </a:lnSpc>
              <a:spcBef>
                <a:spcPts val="275"/>
              </a:spcBef>
            </a:pPr>
            <a:r>
              <a:rPr dirty="0" sz="600" spc="10">
                <a:latin typeface="Times New Roman"/>
                <a:cs typeface="Times New Roman"/>
              </a:rPr>
              <a:t>1.00</a:t>
            </a:r>
            <a:r>
              <a:rPr dirty="0" sz="600" spc="-70">
                <a:latin typeface="Times New Roman"/>
                <a:cs typeface="Times New Roman"/>
              </a:rPr>
              <a:t> </a:t>
            </a:r>
            <a:r>
              <a:rPr dirty="0" sz="600" spc="15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390"/>
              </a:spcBef>
            </a:pPr>
            <a:r>
              <a:rPr dirty="0" sz="600" spc="10">
                <a:latin typeface="Times New Roman"/>
                <a:cs typeface="Times New Roman"/>
              </a:rPr>
              <a:t>0.01</a:t>
            </a:r>
            <a:r>
              <a:rPr dirty="0" sz="600" spc="-70">
                <a:latin typeface="Times New Roman"/>
                <a:cs typeface="Times New Roman"/>
              </a:rPr>
              <a:t> </a:t>
            </a:r>
            <a:r>
              <a:rPr dirty="0" sz="600" spc="15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411076" y="1081876"/>
            <a:ext cx="238760" cy="0"/>
          </a:xfrm>
          <a:custGeom>
            <a:avLst/>
            <a:gdLst/>
            <a:ahLst/>
            <a:cxnLst/>
            <a:rect l="l" t="t" r="r" b="b"/>
            <a:pathLst>
              <a:path w="238760" h="0">
                <a:moveTo>
                  <a:pt x="0" y="0"/>
                </a:moveTo>
                <a:lnTo>
                  <a:pt x="238563" y="0"/>
                </a:lnTo>
              </a:path>
            </a:pathLst>
          </a:custGeom>
          <a:ln w="1149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864374" y="3057448"/>
            <a:ext cx="28797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70">
                <a:solidFill>
                  <a:srgbClr val="3333B2"/>
                </a:solidFill>
                <a:latin typeface="Georgia"/>
                <a:cs typeface="Georgia"/>
              </a:rPr>
              <a:t>8:</a:t>
            </a:r>
            <a:r>
              <a:rPr dirty="0" sz="1000" spc="-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不同</a:t>
            </a:r>
            <a:r>
              <a:rPr dirty="0" sz="1050" spc="-10">
                <a:latin typeface="Arial Unicode MS"/>
                <a:cs typeface="Arial Unicode MS"/>
              </a:rPr>
              <a:t>浓</a:t>
            </a:r>
            <a:r>
              <a:rPr dirty="0" sz="1050" spc="-5">
                <a:latin typeface="Arial Unicode MS"/>
                <a:cs typeface="Arial Unicode MS"/>
              </a:rPr>
              <a:t>度强碱滴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不同浓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强酸的滴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强碱滴定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一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元弱酸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700468"/>
            <a:ext cx="4287520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3655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体积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的醋酸溶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现在用浓度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的氢氧化钠溶液滴定该醋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当消耗的氢氧化钠的体</a:t>
            </a:r>
            <a:endParaRPr sz="1200">
              <a:latin typeface="Arial Unicode MS"/>
              <a:cs typeface="Arial Unicode MS"/>
            </a:endParaRPr>
          </a:p>
          <a:p>
            <a:pPr algn="ctr" marR="255778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30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质量平衡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50" y="1464116"/>
            <a:ext cx="752475" cy="7670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265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1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algn="r" marR="36195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17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marL="162560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20963" y="1580350"/>
            <a:ext cx="2399665" cy="556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2101850" algn="l"/>
              </a:tabLst>
            </a:pPr>
            <a:r>
              <a:rPr dirty="0" sz="1100" spc="140">
                <a:latin typeface="Georgia"/>
                <a:cs typeface="Georgia"/>
              </a:rPr>
              <a:t>= 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[HAc]	</a:t>
            </a:r>
            <a:r>
              <a:rPr dirty="0" sz="1100" spc="-40">
                <a:latin typeface="Georgia"/>
                <a:cs typeface="Georgia"/>
              </a:rPr>
              <a:t>(38)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tabLst>
                <a:tab pos="2101850" algn="l"/>
              </a:tabLst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	</a:t>
            </a:r>
            <a:r>
              <a:rPr dirty="0" sz="1100" spc="-30">
                <a:latin typeface="Georgia"/>
                <a:cs typeface="Georgia"/>
              </a:rPr>
              <a:t>(39)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801" y="2310676"/>
            <a:ext cx="2837815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电荷平衡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987425">
              <a:lnSpc>
                <a:spcPct val="100000"/>
              </a:lnSpc>
            </a:pP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166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r>
              <a:rPr dirty="0" spc="65"/>
              <a:t>93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696455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-9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7675" y="933437"/>
            <a:ext cx="11410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0" b="0" i="1">
                <a:latin typeface="Bookman Old Style"/>
                <a:cs typeface="Bookman Old Style"/>
              </a:rPr>
              <a:t>δ</a:t>
            </a:r>
            <a:r>
              <a:rPr dirty="0" sz="1100" spc="20">
                <a:latin typeface="Georgia"/>
                <a:cs typeface="Georgia"/>
              </a:rPr>
              <a:t>(Ac</a:t>
            </a:r>
            <a:r>
              <a:rPr dirty="0" baseline="41666" sz="900" spc="30">
                <a:latin typeface="Lucida Sans Unicode"/>
                <a:cs typeface="Lucida Sans Unicode"/>
              </a:rPr>
              <a:t>−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3690" y="839711"/>
            <a:ext cx="5435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95" b="0" i="1">
                <a:latin typeface="Bookman Old Style"/>
                <a:cs typeface="Bookman Old Style"/>
              </a:rPr>
              <a:t> 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1622" y="923112"/>
            <a:ext cx="78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0515" y="1028471"/>
            <a:ext cx="496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696455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-9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7675" y="933437"/>
            <a:ext cx="11410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0" b="0" i="1">
                <a:latin typeface="Bookman Old Style"/>
                <a:cs typeface="Bookman Old Style"/>
              </a:rPr>
              <a:t>δ</a:t>
            </a:r>
            <a:r>
              <a:rPr dirty="0" sz="1100" spc="20">
                <a:latin typeface="Georgia"/>
                <a:cs typeface="Georgia"/>
              </a:rPr>
              <a:t>(Ac</a:t>
            </a:r>
            <a:r>
              <a:rPr dirty="0" baseline="41666" sz="900" spc="30">
                <a:latin typeface="Lucida Sans Unicode"/>
                <a:cs typeface="Lucida Sans Unicode"/>
              </a:rPr>
              <a:t>−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3690" y="839711"/>
            <a:ext cx="5435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95" b="0" i="1">
                <a:latin typeface="Bookman Old Style"/>
                <a:cs typeface="Bookman Old Style"/>
              </a:rPr>
              <a:t> 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1622" y="923112"/>
            <a:ext cx="78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0515" y="1028471"/>
            <a:ext cx="496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61489" y="2096681"/>
            <a:ext cx="1141730" cy="0"/>
          </a:xfrm>
          <a:custGeom>
            <a:avLst/>
            <a:gdLst/>
            <a:ahLst/>
            <a:cxnLst/>
            <a:rect l="l" t="t" r="r" b="b"/>
            <a:pathLst>
              <a:path w="1141730" h="0">
                <a:moveTo>
                  <a:pt x="0" y="0"/>
                </a:moveTo>
                <a:lnTo>
                  <a:pt x="11413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8701" y="1519402"/>
            <a:ext cx="3601085" cy="7473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令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V</a:t>
            </a:r>
            <a:r>
              <a:rPr dirty="0" baseline="-13888" sz="900" spc="-82" i="1">
                <a:latin typeface="Arial"/>
                <a:cs typeface="Arial"/>
              </a:rPr>
              <a:t>t</a:t>
            </a:r>
            <a:r>
              <a:rPr dirty="0" sz="1100" spc="-55" b="0" i="1">
                <a:latin typeface="Bookman Old Style"/>
                <a:cs typeface="Bookman Old Style"/>
              </a:rPr>
              <a:t>/V</a:t>
            </a:r>
            <a:r>
              <a:rPr dirty="0" baseline="-13888" sz="900" spc="-82">
                <a:latin typeface="Times New Roman"/>
                <a:cs typeface="Times New Roman"/>
              </a:rPr>
              <a:t>0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且</a:t>
            </a:r>
            <a:r>
              <a:rPr dirty="0" sz="1100" spc="170">
                <a:latin typeface="Georgia"/>
                <a:cs typeface="Georgia"/>
              </a:rPr>
              <a:t>∆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前述各式整理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10945">
              <a:lnSpc>
                <a:spcPct val="100000"/>
              </a:lnSpc>
              <a:spcBef>
                <a:spcPts val="1445"/>
              </a:spcBef>
            </a:pPr>
            <a:r>
              <a:rPr dirty="0" baseline="-37878" sz="1650" spc="-44" b="0" i="1">
                <a:latin typeface="Bookman Old Style"/>
                <a:cs typeface="Bookman Old Style"/>
              </a:rPr>
              <a:t>ρ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sz="1100" spc="5" b="0" i="1">
                <a:latin typeface="Bookman Old Style"/>
                <a:cs typeface="Bookman Old Style"/>
              </a:rPr>
              <a:t>δ</a:t>
            </a:r>
            <a:r>
              <a:rPr dirty="0" sz="1100" spc="5">
                <a:latin typeface="Georgia"/>
                <a:cs typeface="Georgia"/>
              </a:rPr>
              <a:t>(Ac</a:t>
            </a:r>
            <a:r>
              <a:rPr dirty="0" baseline="37037" sz="900" spc="7">
                <a:latin typeface="Lucida Sans Unicode"/>
                <a:cs typeface="Lucida Sans Unicode"/>
              </a:rPr>
              <a:t>−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(HAc)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35">
                <a:latin typeface="Lucida Sans Unicode"/>
                <a:cs typeface="Lucida Sans Unicode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  <a:p>
            <a:pPr marL="1634489">
              <a:lnSpc>
                <a:spcPct val="100000"/>
              </a:lnSpc>
              <a:spcBef>
                <a:spcPts val="165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31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88243" y="3353670"/>
            <a:ext cx="36766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4964" y="331002"/>
            <a:ext cx="2553970" cy="0"/>
          </a:xfrm>
          <a:custGeom>
            <a:avLst/>
            <a:gdLst/>
            <a:ahLst/>
            <a:cxnLst/>
            <a:rect l="l" t="t" r="r" b="b"/>
            <a:pathLst>
              <a:path w="2553970" h="0">
                <a:moveTo>
                  <a:pt x="0" y="0"/>
                </a:moveTo>
                <a:lnTo>
                  <a:pt x="255336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14964" y="2343887"/>
            <a:ext cx="2553970" cy="0"/>
          </a:xfrm>
          <a:custGeom>
            <a:avLst/>
            <a:gdLst/>
            <a:ahLst/>
            <a:cxnLst/>
            <a:rect l="l" t="t" r="r" b="b"/>
            <a:pathLst>
              <a:path w="2553970" h="0">
                <a:moveTo>
                  <a:pt x="0" y="0"/>
                </a:moveTo>
                <a:lnTo>
                  <a:pt x="255336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68331" y="331002"/>
            <a:ext cx="0" cy="2012950"/>
          </a:xfrm>
          <a:custGeom>
            <a:avLst/>
            <a:gdLst/>
            <a:ahLst/>
            <a:cxnLst/>
            <a:rect l="l" t="t" r="r" b="b"/>
            <a:pathLst>
              <a:path w="0" h="2012950">
                <a:moveTo>
                  <a:pt x="0" y="201288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14964" y="331002"/>
            <a:ext cx="0" cy="2012950"/>
          </a:xfrm>
          <a:custGeom>
            <a:avLst/>
            <a:gdLst/>
            <a:ahLst/>
            <a:cxnLst/>
            <a:rect l="l" t="t" r="r" b="b"/>
            <a:pathLst>
              <a:path w="0" h="2012950">
                <a:moveTo>
                  <a:pt x="0" y="201288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4964" y="2343887"/>
            <a:ext cx="2553970" cy="0"/>
          </a:xfrm>
          <a:custGeom>
            <a:avLst/>
            <a:gdLst/>
            <a:ahLst/>
            <a:cxnLst/>
            <a:rect l="l" t="t" r="r" b="b"/>
            <a:pathLst>
              <a:path w="2553970" h="0">
                <a:moveTo>
                  <a:pt x="0" y="0"/>
                </a:moveTo>
                <a:lnTo>
                  <a:pt x="255336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4964" y="331002"/>
            <a:ext cx="0" cy="2012950"/>
          </a:xfrm>
          <a:custGeom>
            <a:avLst/>
            <a:gdLst/>
            <a:ahLst/>
            <a:cxnLst/>
            <a:rect l="l" t="t" r="r" b="b"/>
            <a:pathLst>
              <a:path w="0" h="2012950">
                <a:moveTo>
                  <a:pt x="0" y="201288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4964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4964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80357" y="2341661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34014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34014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66075" y="2341661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5">
                <a:latin typeface="Arial"/>
                <a:cs typeface="Arial"/>
              </a:rPr>
              <a:t>0.2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53064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53064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85127" y="2341661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5">
                <a:latin typeface="Arial"/>
                <a:cs typeface="Arial"/>
              </a:rPr>
              <a:t>0.4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72120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72120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004179" y="2341661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5">
                <a:latin typeface="Arial"/>
                <a:cs typeface="Arial"/>
              </a:rPr>
              <a:t>0.6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91644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91644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10700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10700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676093" y="2341661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29750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29750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961812" y="2341661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5">
                <a:latin typeface="Arial"/>
                <a:cs typeface="Arial"/>
              </a:rPr>
              <a:t>1.2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48801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348801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280864" y="2341661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5">
                <a:latin typeface="Arial"/>
                <a:cs typeface="Arial"/>
              </a:rPr>
              <a:t>1.4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68331" y="2318172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714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68331" y="331002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2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600391" y="2341661"/>
            <a:ext cx="1371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5">
                <a:latin typeface="Arial"/>
                <a:cs typeface="Arial"/>
              </a:rPr>
              <a:t>1.6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14964" y="234388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2616" y="234388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41309" y="2280708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14964" y="205626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42616" y="205626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14964" y="176863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2616" y="176863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14964" y="148101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42616" y="148101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041309" y="1417839"/>
            <a:ext cx="70485" cy="6972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6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00" spc="15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00" spc="15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14964" y="119339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42616" y="119339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041309" y="1130216"/>
            <a:ext cx="704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Arial"/>
                <a:cs typeface="Arial"/>
              </a:rPr>
              <a:t>8</a:t>
            </a:r>
            <a:endParaRPr sz="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114964" y="90577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42616" y="90577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997022" y="842593"/>
            <a:ext cx="11493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14964" y="61814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42616" y="61814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997022" y="554970"/>
            <a:ext cx="11493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14964" y="33100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23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42616" y="33100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714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997022" y="267823"/>
            <a:ext cx="11493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114964" y="331002"/>
            <a:ext cx="2553970" cy="0"/>
          </a:xfrm>
          <a:custGeom>
            <a:avLst/>
            <a:gdLst/>
            <a:ahLst/>
            <a:cxnLst/>
            <a:rect l="l" t="t" r="r" b="b"/>
            <a:pathLst>
              <a:path w="2553970" h="0">
                <a:moveTo>
                  <a:pt x="0" y="0"/>
                </a:moveTo>
                <a:lnTo>
                  <a:pt x="255336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14964" y="2343887"/>
            <a:ext cx="2553970" cy="0"/>
          </a:xfrm>
          <a:custGeom>
            <a:avLst/>
            <a:gdLst/>
            <a:ahLst/>
            <a:cxnLst/>
            <a:rect l="l" t="t" r="r" b="b"/>
            <a:pathLst>
              <a:path w="2553970" h="0">
                <a:moveTo>
                  <a:pt x="0" y="0"/>
                </a:moveTo>
                <a:lnTo>
                  <a:pt x="255336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668331" y="331002"/>
            <a:ext cx="0" cy="2012950"/>
          </a:xfrm>
          <a:custGeom>
            <a:avLst/>
            <a:gdLst/>
            <a:ahLst/>
            <a:cxnLst/>
            <a:rect l="l" t="t" r="r" b="b"/>
            <a:pathLst>
              <a:path w="0" h="2012950">
                <a:moveTo>
                  <a:pt x="0" y="201288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14964" y="331002"/>
            <a:ext cx="0" cy="2012950"/>
          </a:xfrm>
          <a:custGeom>
            <a:avLst/>
            <a:gdLst/>
            <a:ahLst/>
            <a:cxnLst/>
            <a:rect l="l" t="t" r="r" b="b"/>
            <a:pathLst>
              <a:path w="0" h="2012950">
                <a:moveTo>
                  <a:pt x="0" y="2012885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444014" y="568148"/>
            <a:ext cx="2225040" cy="1605915"/>
          </a:xfrm>
          <a:custGeom>
            <a:avLst/>
            <a:gdLst/>
            <a:ahLst/>
            <a:cxnLst/>
            <a:rect l="l" t="t" r="r" b="b"/>
            <a:pathLst>
              <a:path w="2225040" h="1605914">
                <a:moveTo>
                  <a:pt x="0" y="1605736"/>
                </a:moveTo>
                <a:lnTo>
                  <a:pt x="325718" y="1577164"/>
                </a:lnTo>
                <a:lnTo>
                  <a:pt x="596676" y="1549067"/>
                </a:lnTo>
                <a:lnTo>
                  <a:pt x="805725" y="1520495"/>
                </a:lnTo>
                <a:lnTo>
                  <a:pt x="957630" y="1492397"/>
                </a:lnTo>
                <a:lnTo>
                  <a:pt x="1062871" y="1463826"/>
                </a:lnTo>
                <a:lnTo>
                  <a:pt x="1134301" y="1435734"/>
                </a:lnTo>
                <a:lnTo>
                  <a:pt x="1180970" y="1407162"/>
                </a:lnTo>
                <a:lnTo>
                  <a:pt x="1211919" y="1379064"/>
                </a:lnTo>
                <a:lnTo>
                  <a:pt x="1244303" y="1322395"/>
                </a:lnTo>
                <a:lnTo>
                  <a:pt x="1257634" y="1265731"/>
                </a:lnTo>
                <a:lnTo>
                  <a:pt x="1262874" y="1209062"/>
                </a:lnTo>
                <a:lnTo>
                  <a:pt x="1265257" y="1152393"/>
                </a:lnTo>
                <a:lnTo>
                  <a:pt x="1265731" y="1124301"/>
                </a:lnTo>
                <a:lnTo>
                  <a:pt x="1265731" y="1095729"/>
                </a:lnTo>
                <a:lnTo>
                  <a:pt x="1266206" y="1067631"/>
                </a:lnTo>
                <a:lnTo>
                  <a:pt x="1266206" y="1010962"/>
                </a:lnTo>
                <a:lnTo>
                  <a:pt x="1266686" y="982390"/>
                </a:lnTo>
                <a:lnTo>
                  <a:pt x="1266686" y="500955"/>
                </a:lnTo>
                <a:lnTo>
                  <a:pt x="1267160" y="472863"/>
                </a:lnTo>
                <a:lnTo>
                  <a:pt x="1267160" y="444291"/>
                </a:lnTo>
                <a:lnTo>
                  <a:pt x="1267634" y="416194"/>
                </a:lnTo>
                <a:lnTo>
                  <a:pt x="1268589" y="359524"/>
                </a:lnTo>
                <a:lnTo>
                  <a:pt x="1271920" y="302861"/>
                </a:lnTo>
                <a:lnTo>
                  <a:pt x="1280492" y="246191"/>
                </a:lnTo>
                <a:lnTo>
                  <a:pt x="1300972" y="189522"/>
                </a:lnTo>
                <a:lnTo>
                  <a:pt x="1353830" y="132858"/>
                </a:lnTo>
                <a:lnTo>
                  <a:pt x="1405733" y="104761"/>
                </a:lnTo>
                <a:lnTo>
                  <a:pt x="1491449" y="76189"/>
                </a:lnTo>
                <a:lnTo>
                  <a:pt x="1635262" y="48092"/>
                </a:lnTo>
                <a:lnTo>
                  <a:pt x="1888123" y="19520"/>
                </a:lnTo>
                <a:lnTo>
                  <a:pt x="2224790" y="0"/>
                </a:lnTo>
              </a:path>
            </a:pathLst>
          </a:custGeom>
          <a:ln w="11428">
            <a:solidFill>
              <a:srgbClr val="CCCCCC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22581" y="568148"/>
            <a:ext cx="2546350" cy="1350645"/>
          </a:xfrm>
          <a:custGeom>
            <a:avLst/>
            <a:gdLst/>
            <a:ahLst/>
            <a:cxnLst/>
            <a:rect l="l" t="t" r="r" b="b"/>
            <a:pathLst>
              <a:path w="2546350" h="1350645">
                <a:moveTo>
                  <a:pt x="0" y="1350493"/>
                </a:moveTo>
                <a:lnTo>
                  <a:pt x="47143" y="1293823"/>
                </a:lnTo>
                <a:lnTo>
                  <a:pt x="83332" y="1265731"/>
                </a:lnTo>
                <a:lnTo>
                  <a:pt x="134761" y="1237634"/>
                </a:lnTo>
                <a:lnTo>
                  <a:pt x="208100" y="1209062"/>
                </a:lnTo>
                <a:lnTo>
                  <a:pt x="309050" y="1180964"/>
                </a:lnTo>
                <a:lnTo>
                  <a:pt x="440480" y="1152393"/>
                </a:lnTo>
                <a:lnTo>
                  <a:pt x="600482" y="1124301"/>
                </a:lnTo>
                <a:lnTo>
                  <a:pt x="778107" y="1095729"/>
                </a:lnTo>
                <a:lnTo>
                  <a:pt x="956681" y="1067631"/>
                </a:lnTo>
                <a:lnTo>
                  <a:pt x="1119061" y="1039060"/>
                </a:lnTo>
                <a:lnTo>
                  <a:pt x="1254303" y="1010962"/>
                </a:lnTo>
                <a:lnTo>
                  <a:pt x="1358590" y="982390"/>
                </a:lnTo>
                <a:lnTo>
                  <a:pt x="1434305" y="954298"/>
                </a:lnTo>
                <a:lnTo>
                  <a:pt x="1486689" y="925727"/>
                </a:lnTo>
                <a:lnTo>
                  <a:pt x="1521924" y="897629"/>
                </a:lnTo>
                <a:lnTo>
                  <a:pt x="1560495" y="840960"/>
                </a:lnTo>
                <a:lnTo>
                  <a:pt x="1578894" y="771412"/>
                </a:lnTo>
                <a:lnTo>
                  <a:pt x="1585262" y="699529"/>
                </a:lnTo>
                <a:lnTo>
                  <a:pt x="1586491" y="657040"/>
                </a:lnTo>
                <a:lnTo>
                  <a:pt x="1587183" y="614539"/>
                </a:lnTo>
                <a:lnTo>
                  <a:pt x="1587629" y="572032"/>
                </a:lnTo>
                <a:lnTo>
                  <a:pt x="1588119" y="529527"/>
                </a:lnTo>
                <a:lnTo>
                  <a:pt x="1588031" y="487039"/>
                </a:lnTo>
                <a:lnTo>
                  <a:pt x="1588545" y="444530"/>
                </a:lnTo>
                <a:lnTo>
                  <a:pt x="1589322" y="402019"/>
                </a:lnTo>
                <a:lnTo>
                  <a:pt x="1590022" y="359524"/>
                </a:lnTo>
                <a:lnTo>
                  <a:pt x="1592357" y="316098"/>
                </a:lnTo>
                <a:lnTo>
                  <a:pt x="1596973" y="272505"/>
                </a:lnTo>
                <a:lnTo>
                  <a:pt x="1606209" y="229921"/>
                </a:lnTo>
                <a:lnTo>
                  <a:pt x="1622405" y="189522"/>
                </a:lnTo>
                <a:lnTo>
                  <a:pt x="1675263" y="132858"/>
                </a:lnTo>
                <a:lnTo>
                  <a:pt x="1727166" y="104761"/>
                </a:lnTo>
                <a:lnTo>
                  <a:pt x="1812882" y="76189"/>
                </a:lnTo>
                <a:lnTo>
                  <a:pt x="1956695" y="48092"/>
                </a:lnTo>
                <a:lnTo>
                  <a:pt x="2209556" y="19520"/>
                </a:lnTo>
                <a:lnTo>
                  <a:pt x="2546223" y="0"/>
                </a:lnTo>
              </a:path>
            </a:pathLst>
          </a:custGeom>
          <a:ln w="1142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323707" y="2341661"/>
            <a:ext cx="137160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660"/>
              </a:lnSpc>
              <a:spcBef>
                <a:spcPts val="130"/>
              </a:spcBef>
            </a:pPr>
            <a:r>
              <a:rPr dirty="0" sz="600" spc="5">
                <a:latin typeface="Arial"/>
                <a:cs typeface="Arial"/>
              </a:rPr>
              <a:t>0.8</a:t>
            </a:r>
            <a:endParaRPr sz="600">
              <a:latin typeface="Arial"/>
              <a:cs typeface="Arial"/>
            </a:endParaRPr>
          </a:p>
          <a:p>
            <a:pPr marL="41910">
              <a:lnSpc>
                <a:spcPts val="780"/>
              </a:lnSpc>
            </a:pPr>
            <a:r>
              <a:rPr dirty="0" sz="700" spc="10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68003" y="1263996"/>
            <a:ext cx="129539" cy="147955"/>
          </a:xfrm>
          <a:prstGeom prst="rect">
            <a:avLst/>
          </a:prstGeom>
        </p:spPr>
        <p:txBody>
          <a:bodyPr wrap="square" lIns="0" tIns="698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700" spc="-5" b="1">
                <a:latin typeface="Times New Roman"/>
                <a:cs typeface="Times New Roman"/>
              </a:rPr>
              <a:t>pH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52268" y="1141169"/>
            <a:ext cx="55245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 b="1">
                <a:latin typeface="Times New Roman"/>
                <a:cs typeface="Times New Roman"/>
              </a:rPr>
              <a:t>Buffer</a:t>
            </a:r>
            <a:r>
              <a:rPr dirty="0" sz="600" spc="-25" b="1">
                <a:latin typeface="Times New Roman"/>
                <a:cs typeface="Times New Roman"/>
              </a:rPr>
              <a:t> </a:t>
            </a:r>
            <a:r>
              <a:rPr dirty="0" sz="600" spc="5" b="1">
                <a:latin typeface="Times New Roman"/>
                <a:cs typeface="Times New Roman"/>
              </a:rPr>
              <a:t>Solution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689271" y="1208631"/>
            <a:ext cx="39370" cy="34290"/>
          </a:xfrm>
          <a:custGeom>
            <a:avLst/>
            <a:gdLst/>
            <a:ahLst/>
            <a:cxnLst/>
            <a:rect l="l" t="t" r="r" b="b"/>
            <a:pathLst>
              <a:path w="39369" h="34290">
                <a:moveTo>
                  <a:pt x="0" y="33811"/>
                </a:moveTo>
                <a:lnTo>
                  <a:pt x="39046" y="33811"/>
                </a:lnTo>
                <a:lnTo>
                  <a:pt x="19520" y="0"/>
                </a:lnTo>
                <a:lnTo>
                  <a:pt x="0" y="33811"/>
                </a:lnTo>
                <a:close/>
              </a:path>
            </a:pathLst>
          </a:custGeom>
          <a:ln w="1142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692603" y="926725"/>
            <a:ext cx="39370" cy="34290"/>
          </a:xfrm>
          <a:custGeom>
            <a:avLst/>
            <a:gdLst/>
            <a:ahLst/>
            <a:cxnLst/>
            <a:rect l="l" t="t" r="r" b="b"/>
            <a:pathLst>
              <a:path w="39369" h="34290">
                <a:moveTo>
                  <a:pt x="0" y="33806"/>
                </a:moveTo>
                <a:lnTo>
                  <a:pt x="39046" y="33806"/>
                </a:lnTo>
                <a:lnTo>
                  <a:pt x="19525" y="0"/>
                </a:lnTo>
                <a:lnTo>
                  <a:pt x="0" y="33806"/>
                </a:lnTo>
                <a:close/>
              </a:path>
            </a:pathLst>
          </a:custGeom>
          <a:ln w="1142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693860" y="1072858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90">
                <a:moveTo>
                  <a:pt x="34286" y="17143"/>
                </a:moveTo>
                <a:lnTo>
                  <a:pt x="34286" y="26606"/>
                </a:lnTo>
                <a:lnTo>
                  <a:pt x="26606" y="34286"/>
                </a:lnTo>
                <a:lnTo>
                  <a:pt x="17143" y="34286"/>
                </a:lnTo>
                <a:lnTo>
                  <a:pt x="7680" y="34286"/>
                </a:lnTo>
                <a:lnTo>
                  <a:pt x="0" y="26606"/>
                </a:lnTo>
                <a:lnTo>
                  <a:pt x="0" y="17143"/>
                </a:lnTo>
                <a:lnTo>
                  <a:pt x="0" y="7680"/>
                </a:lnTo>
                <a:lnTo>
                  <a:pt x="7680" y="0"/>
                </a:lnTo>
                <a:lnTo>
                  <a:pt x="17143" y="0"/>
                </a:lnTo>
                <a:lnTo>
                  <a:pt x="26606" y="0"/>
                </a:lnTo>
                <a:lnTo>
                  <a:pt x="34286" y="7680"/>
                </a:lnTo>
                <a:lnTo>
                  <a:pt x="34286" y="17143"/>
                </a:lnTo>
              </a:path>
            </a:pathLst>
          </a:custGeom>
          <a:ln w="114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277823" y="442906"/>
            <a:ext cx="553085" cy="317500"/>
          </a:xfrm>
          <a:custGeom>
            <a:avLst/>
            <a:gdLst/>
            <a:ahLst/>
            <a:cxnLst/>
            <a:rect l="l" t="t" r="r" b="b"/>
            <a:pathLst>
              <a:path w="553085" h="317500">
                <a:moveTo>
                  <a:pt x="0" y="317147"/>
                </a:moveTo>
                <a:lnTo>
                  <a:pt x="0" y="0"/>
                </a:lnTo>
                <a:lnTo>
                  <a:pt x="552864" y="0"/>
                </a:lnTo>
                <a:lnTo>
                  <a:pt x="552864" y="317147"/>
                </a:lnTo>
                <a:lnTo>
                  <a:pt x="0" y="3171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277823" y="442906"/>
            <a:ext cx="553085" cy="317500"/>
          </a:xfrm>
          <a:custGeom>
            <a:avLst/>
            <a:gdLst/>
            <a:ahLst/>
            <a:cxnLst/>
            <a:rect l="l" t="t" r="r" b="b"/>
            <a:pathLst>
              <a:path w="553085" h="317500">
                <a:moveTo>
                  <a:pt x="0" y="317147"/>
                </a:moveTo>
                <a:lnTo>
                  <a:pt x="0" y="0"/>
                </a:lnTo>
                <a:lnTo>
                  <a:pt x="552864" y="0"/>
                </a:lnTo>
                <a:lnTo>
                  <a:pt x="552864" y="317147"/>
                </a:lnTo>
                <a:lnTo>
                  <a:pt x="0" y="317147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325441" y="529096"/>
            <a:ext cx="240665" cy="0"/>
          </a:xfrm>
          <a:custGeom>
            <a:avLst/>
            <a:gdLst/>
            <a:ahLst/>
            <a:cxnLst/>
            <a:rect l="l" t="t" r="r" b="b"/>
            <a:pathLst>
              <a:path w="240665" h="0">
                <a:moveTo>
                  <a:pt x="0" y="0"/>
                </a:moveTo>
                <a:lnTo>
                  <a:pt x="240477" y="0"/>
                </a:lnTo>
              </a:path>
            </a:pathLst>
          </a:custGeom>
          <a:ln w="11428">
            <a:solidFill>
              <a:srgbClr val="CCCCCC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1277823" y="442906"/>
            <a:ext cx="553085" cy="3175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305"/>
              </a:spcBef>
              <a:tabLst>
                <a:tab pos="312420" algn="l"/>
              </a:tabLst>
            </a:pPr>
            <a:r>
              <a:rPr dirty="0" sz="600" spc="5">
                <a:latin typeface="Times New Roman"/>
                <a:cs typeface="Times New Roman"/>
              </a:rPr>
              <a:t> </a:t>
            </a:r>
            <a:r>
              <a:rPr dirty="0" sz="600" spc="5">
                <a:latin typeface="Times New Roman"/>
                <a:cs typeface="Times New Roman"/>
              </a:rPr>
              <a:t>	</a:t>
            </a:r>
            <a:r>
              <a:rPr dirty="0" sz="600" spc="10">
                <a:latin typeface="Arial"/>
                <a:cs typeface="Arial"/>
              </a:rPr>
              <a:t>HCl</a:t>
            </a:r>
            <a:endParaRPr sz="600">
              <a:latin typeface="Arial"/>
              <a:cs typeface="Arial"/>
            </a:endParaRPr>
          </a:p>
          <a:p>
            <a:pPr marL="46990">
              <a:lnSpc>
                <a:spcPct val="100000"/>
              </a:lnSpc>
              <a:spcBef>
                <a:spcPts val="415"/>
              </a:spcBef>
              <a:tabLst>
                <a:tab pos="287655" algn="l"/>
              </a:tabLst>
            </a:pPr>
            <a:r>
              <a:rPr dirty="0" u="sng" baseline="41666" sz="900" spc="7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baseline="41666" sz="900" spc="7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baseline="41666" sz="900" spc="67">
                <a:latin typeface="Times New Roman"/>
                <a:cs typeface="Times New Roman"/>
              </a:rPr>
              <a:t> </a:t>
            </a:r>
            <a:r>
              <a:rPr dirty="0" sz="600" spc="10">
                <a:latin typeface="Arial"/>
                <a:cs typeface="Arial"/>
              </a:rPr>
              <a:t>HAc</a:t>
            </a:r>
            <a:endParaRPr sz="6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892592" y="1333393"/>
            <a:ext cx="0" cy="221615"/>
          </a:xfrm>
          <a:custGeom>
            <a:avLst/>
            <a:gdLst/>
            <a:ahLst/>
            <a:cxnLst/>
            <a:rect l="l" t="t" r="r" b="b"/>
            <a:pathLst>
              <a:path w="0" h="221615">
                <a:moveTo>
                  <a:pt x="0" y="0"/>
                </a:moveTo>
                <a:lnTo>
                  <a:pt x="0" y="221431"/>
                </a:lnTo>
              </a:path>
            </a:pathLst>
          </a:custGeom>
          <a:ln w="114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871163" y="1534824"/>
            <a:ext cx="43180" cy="57150"/>
          </a:xfrm>
          <a:custGeom>
            <a:avLst/>
            <a:gdLst/>
            <a:ahLst/>
            <a:cxnLst/>
            <a:rect l="l" t="t" r="r" b="b"/>
            <a:pathLst>
              <a:path w="43180" h="57150">
                <a:moveTo>
                  <a:pt x="0" y="0"/>
                </a:moveTo>
                <a:lnTo>
                  <a:pt x="21428" y="57143"/>
                </a:lnTo>
                <a:lnTo>
                  <a:pt x="35357" y="20000"/>
                </a:lnTo>
                <a:lnTo>
                  <a:pt x="21428" y="20000"/>
                </a:lnTo>
                <a:lnTo>
                  <a:pt x="0" y="0"/>
                </a:lnTo>
                <a:close/>
              </a:path>
              <a:path w="43180" h="57150">
                <a:moveTo>
                  <a:pt x="42857" y="0"/>
                </a:moveTo>
                <a:lnTo>
                  <a:pt x="21428" y="20000"/>
                </a:lnTo>
                <a:lnTo>
                  <a:pt x="35357" y="20000"/>
                </a:lnTo>
                <a:lnTo>
                  <a:pt x="428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517486" y="2729649"/>
            <a:ext cx="35731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4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9: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1000  </a:t>
            </a:r>
            <a:r>
              <a:rPr dirty="0" sz="1000" spc="-40">
                <a:latin typeface="Georgia"/>
                <a:cs typeface="Georgia"/>
              </a:rPr>
              <a:t>mol</a:t>
            </a:r>
            <a:r>
              <a:rPr dirty="0" sz="1000" spc="-40" b="0" i="1">
                <a:latin typeface="Bookman Old Style"/>
                <a:cs typeface="Bookman Old Style"/>
              </a:rPr>
              <a:t>/</a:t>
            </a:r>
            <a:r>
              <a:rPr dirty="0" sz="1000" spc="-40">
                <a:latin typeface="Georgia"/>
                <a:cs typeface="Georgia"/>
              </a:rPr>
              <a:t>L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NaOH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1000  </a:t>
            </a:r>
            <a:r>
              <a:rPr dirty="0" sz="1000" spc="-40">
                <a:latin typeface="Georgia"/>
                <a:cs typeface="Georgia"/>
              </a:rPr>
              <a:t>mol</a:t>
            </a:r>
            <a:r>
              <a:rPr dirty="0" sz="1000" spc="-40" b="0" i="1">
                <a:latin typeface="Bookman Old Style"/>
                <a:cs typeface="Bookman Old Style"/>
              </a:rPr>
              <a:t>/</a:t>
            </a:r>
            <a:r>
              <a:rPr dirty="0" sz="1000" spc="-40">
                <a:latin typeface="Georgia"/>
                <a:cs typeface="Georgia"/>
              </a:rPr>
              <a:t>L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5">
                <a:latin typeface="Georgia"/>
                <a:cs typeface="Georgia"/>
              </a:rPr>
              <a:t>HAc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的滴定曲线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95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776" y="192722"/>
            <a:ext cx="148272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80" b="0" i="1">
                <a:solidFill>
                  <a:srgbClr val="FFFFFF"/>
                </a:solidFill>
                <a:latin typeface="Bookman Old Style"/>
                <a:cs typeface="Bookman Old Style"/>
              </a:rPr>
              <a:t>K</a:t>
            </a:r>
            <a:r>
              <a:rPr dirty="0" baseline="-11904" sz="1050" spc="120" i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baseline="-11904" sz="1050" spc="202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值对滴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突跃的</a:t>
            </a:r>
            <a:r>
              <a:rPr dirty="0" sz="1050" spc="-10">
                <a:solidFill>
                  <a:srgbClr val="FFFFFF"/>
                </a:solidFill>
              </a:rPr>
              <a:t>影</a:t>
            </a:r>
            <a:r>
              <a:rPr dirty="0" sz="1050" spc="-5">
                <a:solidFill>
                  <a:srgbClr val="FFFFFF"/>
                </a:solidFill>
              </a:rPr>
              <a:t>响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4967" y="645464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04967" y="2670383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73599" y="645464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4967" y="645464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4967" y="2670383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4967" y="645464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04967" y="26445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4967" y="64546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72145" y="2665346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18500" y="26445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18500" y="64546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55501" y="2665346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32034" y="26445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32034" y="64546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099215" y="2665346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46050" y="26445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646050" y="64546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583050" y="2665346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59583" y="26445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59583" y="64546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26765" y="2665346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73599" y="264451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73599" y="64546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610599" y="2665346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2.5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04967" y="267038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47731" y="267038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35259" y="2605944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04967" y="233265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47731" y="233265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35259" y="2268218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04967" y="199540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47731" y="199540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035259" y="1930971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04967" y="165768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47731" y="165768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35259" y="1593245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04967" y="132043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7731" y="132043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04967" y="98270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47731" y="98270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04967" y="64546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7731" y="64546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95019" y="581025"/>
            <a:ext cx="106045" cy="797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04967" y="645464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04967" y="2670383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73599" y="645464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04967" y="645464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162452" y="880671"/>
            <a:ext cx="2360930" cy="1761489"/>
          </a:xfrm>
          <a:custGeom>
            <a:avLst/>
            <a:gdLst/>
            <a:ahLst/>
            <a:cxnLst/>
            <a:rect l="l" t="t" r="r" b="b"/>
            <a:pathLst>
              <a:path w="2360929" h="1761489">
                <a:moveTo>
                  <a:pt x="0" y="1761446"/>
                </a:moveTo>
                <a:lnTo>
                  <a:pt x="84307" y="1727915"/>
                </a:lnTo>
                <a:lnTo>
                  <a:pt x="130239" y="1711693"/>
                </a:lnTo>
                <a:lnTo>
                  <a:pt x="176465" y="1696443"/>
                </a:lnTo>
                <a:lnTo>
                  <a:pt x="222934" y="1682004"/>
                </a:lnTo>
                <a:lnTo>
                  <a:pt x="269596" y="1668211"/>
                </a:lnTo>
                <a:lnTo>
                  <a:pt x="316401" y="1654904"/>
                </a:lnTo>
                <a:lnTo>
                  <a:pt x="363299" y="1641920"/>
                </a:lnTo>
                <a:lnTo>
                  <a:pt x="410240" y="1629095"/>
                </a:lnTo>
                <a:lnTo>
                  <a:pt x="457174" y="1616268"/>
                </a:lnTo>
                <a:lnTo>
                  <a:pt x="504051" y="1603276"/>
                </a:lnTo>
                <a:lnTo>
                  <a:pt x="550820" y="1589957"/>
                </a:lnTo>
                <a:lnTo>
                  <a:pt x="597431" y="1576147"/>
                </a:lnTo>
                <a:lnTo>
                  <a:pt x="643835" y="1561685"/>
                </a:lnTo>
                <a:lnTo>
                  <a:pt x="736765" y="1528631"/>
                </a:lnTo>
                <a:lnTo>
                  <a:pt x="808622" y="1495577"/>
                </a:lnTo>
                <a:lnTo>
                  <a:pt x="861319" y="1462046"/>
                </a:lnTo>
                <a:lnTo>
                  <a:pt x="898207" y="1428992"/>
                </a:lnTo>
                <a:lnTo>
                  <a:pt x="923115" y="1395938"/>
                </a:lnTo>
                <a:lnTo>
                  <a:pt x="952300" y="1321913"/>
                </a:lnTo>
                <a:lnTo>
                  <a:pt x="959864" y="1280450"/>
                </a:lnTo>
                <a:lnTo>
                  <a:pt x="964143" y="1238406"/>
                </a:lnTo>
                <a:lnTo>
                  <a:pt x="966706" y="1196176"/>
                </a:lnTo>
                <a:lnTo>
                  <a:pt x="968236" y="1143053"/>
                </a:lnTo>
                <a:lnTo>
                  <a:pt x="969104" y="1089873"/>
                </a:lnTo>
                <a:lnTo>
                  <a:pt x="969456" y="1036652"/>
                </a:lnTo>
                <a:lnTo>
                  <a:pt x="969437" y="983409"/>
                </a:lnTo>
                <a:lnTo>
                  <a:pt x="969189" y="930160"/>
                </a:lnTo>
                <a:lnTo>
                  <a:pt x="968858" y="876923"/>
                </a:lnTo>
                <a:lnTo>
                  <a:pt x="968587" y="823715"/>
                </a:lnTo>
                <a:lnTo>
                  <a:pt x="968521" y="770553"/>
                </a:lnTo>
                <a:lnTo>
                  <a:pt x="968804" y="717455"/>
                </a:lnTo>
                <a:lnTo>
                  <a:pt x="969581" y="664437"/>
                </a:lnTo>
                <a:lnTo>
                  <a:pt x="970085" y="617935"/>
                </a:lnTo>
                <a:lnTo>
                  <a:pt x="970233" y="571344"/>
                </a:lnTo>
                <a:lnTo>
                  <a:pt x="970369" y="524723"/>
                </a:lnTo>
                <a:lnTo>
                  <a:pt x="970836" y="478130"/>
                </a:lnTo>
                <a:lnTo>
                  <a:pt x="971978" y="431622"/>
                </a:lnTo>
                <a:lnTo>
                  <a:pt x="974326" y="381304"/>
                </a:lnTo>
                <a:lnTo>
                  <a:pt x="978890" y="330031"/>
                </a:lnTo>
                <a:lnTo>
                  <a:pt x="988262" y="279733"/>
                </a:lnTo>
                <a:lnTo>
                  <a:pt x="1005032" y="232338"/>
                </a:lnTo>
                <a:lnTo>
                  <a:pt x="1025629" y="199284"/>
                </a:lnTo>
                <a:lnTo>
                  <a:pt x="1059166" y="165753"/>
                </a:lnTo>
                <a:lnTo>
                  <a:pt x="1114254" y="132699"/>
                </a:lnTo>
                <a:lnTo>
                  <a:pt x="1207190" y="99644"/>
                </a:lnTo>
                <a:lnTo>
                  <a:pt x="1370063" y="66108"/>
                </a:lnTo>
                <a:lnTo>
                  <a:pt x="1678570" y="33054"/>
                </a:lnTo>
                <a:lnTo>
                  <a:pt x="2360724" y="0"/>
                </a:lnTo>
              </a:path>
            </a:pathLst>
          </a:custGeom>
          <a:ln w="1149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11670" y="880671"/>
            <a:ext cx="2411730" cy="1595755"/>
          </a:xfrm>
          <a:custGeom>
            <a:avLst/>
            <a:gdLst/>
            <a:ahLst/>
            <a:cxnLst/>
            <a:rect l="l" t="t" r="r" b="b"/>
            <a:pathLst>
              <a:path w="2411729" h="1595755">
                <a:moveTo>
                  <a:pt x="0" y="1595216"/>
                </a:moveTo>
                <a:lnTo>
                  <a:pt x="24914" y="1528631"/>
                </a:lnTo>
                <a:lnTo>
                  <a:pt x="45033" y="1495577"/>
                </a:lnTo>
                <a:lnTo>
                  <a:pt x="73776" y="1462046"/>
                </a:lnTo>
                <a:lnTo>
                  <a:pt x="115930" y="1428992"/>
                </a:lnTo>
                <a:lnTo>
                  <a:pt x="174852" y="1395938"/>
                </a:lnTo>
                <a:lnTo>
                  <a:pt x="252935" y="1362401"/>
                </a:lnTo>
                <a:lnTo>
                  <a:pt x="350183" y="1329347"/>
                </a:lnTo>
                <a:lnTo>
                  <a:pt x="461802" y="1295815"/>
                </a:lnTo>
                <a:lnTo>
                  <a:pt x="577727" y="1262761"/>
                </a:lnTo>
                <a:lnTo>
                  <a:pt x="686949" y="1229707"/>
                </a:lnTo>
                <a:lnTo>
                  <a:pt x="779885" y="1196176"/>
                </a:lnTo>
                <a:lnTo>
                  <a:pt x="853656" y="1163122"/>
                </a:lnTo>
                <a:lnTo>
                  <a:pt x="907790" y="1130068"/>
                </a:lnTo>
                <a:lnTo>
                  <a:pt x="945632" y="1096531"/>
                </a:lnTo>
                <a:lnTo>
                  <a:pt x="971984" y="1063477"/>
                </a:lnTo>
                <a:lnTo>
                  <a:pt x="1002037" y="989814"/>
                </a:lnTo>
                <a:lnTo>
                  <a:pt x="1009967" y="948118"/>
                </a:lnTo>
                <a:lnTo>
                  <a:pt x="1014473" y="905779"/>
                </a:lnTo>
                <a:lnTo>
                  <a:pt x="1017012" y="863716"/>
                </a:lnTo>
                <a:lnTo>
                  <a:pt x="1018855" y="817349"/>
                </a:lnTo>
                <a:lnTo>
                  <a:pt x="1019787" y="770857"/>
                </a:lnTo>
                <a:lnTo>
                  <a:pt x="1020133" y="724316"/>
                </a:lnTo>
                <a:lnTo>
                  <a:pt x="1020217" y="677800"/>
                </a:lnTo>
                <a:lnTo>
                  <a:pt x="1020363" y="631383"/>
                </a:lnTo>
                <a:lnTo>
                  <a:pt x="1020828" y="581445"/>
                </a:lnTo>
                <a:lnTo>
                  <a:pt x="1021001" y="531529"/>
                </a:lnTo>
                <a:lnTo>
                  <a:pt x="1021455" y="481599"/>
                </a:lnTo>
                <a:lnTo>
                  <a:pt x="1022760" y="431622"/>
                </a:lnTo>
                <a:lnTo>
                  <a:pt x="1025109" y="381304"/>
                </a:lnTo>
                <a:lnTo>
                  <a:pt x="1029673" y="330031"/>
                </a:lnTo>
                <a:lnTo>
                  <a:pt x="1039044" y="279733"/>
                </a:lnTo>
                <a:lnTo>
                  <a:pt x="1055814" y="232338"/>
                </a:lnTo>
                <a:lnTo>
                  <a:pt x="1076411" y="199284"/>
                </a:lnTo>
                <a:lnTo>
                  <a:pt x="1109948" y="165753"/>
                </a:lnTo>
                <a:lnTo>
                  <a:pt x="1165036" y="132699"/>
                </a:lnTo>
                <a:lnTo>
                  <a:pt x="1257973" y="99644"/>
                </a:lnTo>
                <a:lnTo>
                  <a:pt x="1420846" y="66108"/>
                </a:lnTo>
                <a:lnTo>
                  <a:pt x="1729352" y="33054"/>
                </a:lnTo>
                <a:lnTo>
                  <a:pt x="2411507" y="0"/>
                </a:lnTo>
              </a:path>
            </a:pathLst>
          </a:custGeom>
          <a:ln w="11497">
            <a:solidFill>
              <a:srgbClr val="007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105444" y="880671"/>
            <a:ext cx="2418080" cy="1429385"/>
          </a:xfrm>
          <a:custGeom>
            <a:avLst/>
            <a:gdLst/>
            <a:ahLst/>
            <a:cxnLst/>
            <a:rect l="l" t="t" r="r" b="b"/>
            <a:pathLst>
              <a:path w="2418079" h="1429385">
                <a:moveTo>
                  <a:pt x="0" y="1428992"/>
                </a:moveTo>
                <a:lnTo>
                  <a:pt x="1548" y="1382491"/>
                </a:lnTo>
                <a:lnTo>
                  <a:pt x="3915" y="1334726"/>
                </a:lnTo>
                <a:lnTo>
                  <a:pt x="8670" y="1286928"/>
                </a:lnTo>
                <a:lnTo>
                  <a:pt x="17380" y="1240334"/>
                </a:lnTo>
                <a:lnTo>
                  <a:pt x="31616" y="1196176"/>
                </a:lnTo>
                <a:lnTo>
                  <a:pt x="76167" y="1130068"/>
                </a:lnTo>
                <a:lnTo>
                  <a:pt x="115447" y="1096531"/>
                </a:lnTo>
                <a:lnTo>
                  <a:pt x="171018" y="1063477"/>
                </a:lnTo>
                <a:lnTo>
                  <a:pt x="246226" y="1029946"/>
                </a:lnTo>
                <a:lnTo>
                  <a:pt x="340600" y="996892"/>
                </a:lnTo>
                <a:lnTo>
                  <a:pt x="450782" y="963838"/>
                </a:lnTo>
                <a:lnTo>
                  <a:pt x="566707" y="930307"/>
                </a:lnTo>
                <a:lnTo>
                  <a:pt x="677366" y="897253"/>
                </a:lnTo>
                <a:lnTo>
                  <a:pt x="773177" y="863716"/>
                </a:lnTo>
                <a:lnTo>
                  <a:pt x="849822" y="830662"/>
                </a:lnTo>
                <a:lnTo>
                  <a:pt x="906830" y="797608"/>
                </a:lnTo>
                <a:lnTo>
                  <a:pt x="947069" y="764077"/>
                </a:lnTo>
                <a:lnTo>
                  <a:pt x="974852" y="731023"/>
                </a:lnTo>
                <a:lnTo>
                  <a:pt x="1007978" y="653536"/>
                </a:lnTo>
                <a:lnTo>
                  <a:pt x="1016979" y="607106"/>
                </a:lnTo>
                <a:lnTo>
                  <a:pt x="1021873" y="559612"/>
                </a:lnTo>
                <a:lnTo>
                  <a:pt x="1024472" y="511984"/>
                </a:lnTo>
                <a:lnTo>
                  <a:pt x="1026589" y="465153"/>
                </a:lnTo>
                <a:lnTo>
                  <a:pt x="1028874" y="418107"/>
                </a:lnTo>
                <a:lnTo>
                  <a:pt x="1031455" y="370366"/>
                </a:lnTo>
                <a:lnTo>
                  <a:pt x="1036438" y="322866"/>
                </a:lnTo>
                <a:lnTo>
                  <a:pt x="1045931" y="276545"/>
                </a:lnTo>
                <a:lnTo>
                  <a:pt x="1062040" y="232338"/>
                </a:lnTo>
                <a:lnTo>
                  <a:pt x="1082637" y="199284"/>
                </a:lnTo>
                <a:lnTo>
                  <a:pt x="1116174" y="165753"/>
                </a:lnTo>
                <a:lnTo>
                  <a:pt x="1171262" y="132699"/>
                </a:lnTo>
                <a:lnTo>
                  <a:pt x="1264199" y="99644"/>
                </a:lnTo>
                <a:lnTo>
                  <a:pt x="1427072" y="66108"/>
                </a:lnTo>
                <a:lnTo>
                  <a:pt x="1735578" y="33054"/>
                </a:lnTo>
                <a:lnTo>
                  <a:pt x="2417733" y="0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04967" y="880671"/>
            <a:ext cx="2418715" cy="1263015"/>
          </a:xfrm>
          <a:custGeom>
            <a:avLst/>
            <a:gdLst/>
            <a:ahLst/>
            <a:cxnLst/>
            <a:rect l="l" t="t" r="r" b="b"/>
            <a:pathLst>
              <a:path w="2418715" h="1263014">
                <a:moveTo>
                  <a:pt x="0" y="1262761"/>
                </a:moveTo>
                <a:lnTo>
                  <a:pt x="120" y="1213020"/>
                </a:lnTo>
                <a:lnTo>
                  <a:pt x="256" y="1163109"/>
                </a:lnTo>
                <a:lnTo>
                  <a:pt x="742" y="1113203"/>
                </a:lnTo>
                <a:lnTo>
                  <a:pt x="1914" y="1063477"/>
                </a:lnTo>
                <a:lnTo>
                  <a:pt x="3732" y="1013820"/>
                </a:lnTo>
                <a:lnTo>
                  <a:pt x="7846" y="962040"/>
                </a:lnTo>
                <a:lnTo>
                  <a:pt x="16061" y="911038"/>
                </a:lnTo>
                <a:lnTo>
                  <a:pt x="30179" y="863716"/>
                </a:lnTo>
                <a:lnTo>
                  <a:pt x="71856" y="797608"/>
                </a:lnTo>
                <a:lnTo>
                  <a:pt x="109222" y="764077"/>
                </a:lnTo>
                <a:lnTo>
                  <a:pt x="161913" y="731023"/>
                </a:lnTo>
                <a:lnTo>
                  <a:pt x="233769" y="697969"/>
                </a:lnTo>
                <a:lnTo>
                  <a:pt x="325746" y="664437"/>
                </a:lnTo>
                <a:lnTo>
                  <a:pt x="433530" y="631383"/>
                </a:lnTo>
                <a:lnTo>
                  <a:pt x="549461" y="597846"/>
                </a:lnTo>
                <a:lnTo>
                  <a:pt x="662034" y="564792"/>
                </a:lnTo>
                <a:lnTo>
                  <a:pt x="760719" y="531738"/>
                </a:lnTo>
                <a:lnTo>
                  <a:pt x="840722" y="498207"/>
                </a:lnTo>
                <a:lnTo>
                  <a:pt x="901081" y="465153"/>
                </a:lnTo>
                <a:lnTo>
                  <a:pt x="944672" y="431622"/>
                </a:lnTo>
                <a:lnTo>
                  <a:pt x="975329" y="398568"/>
                </a:lnTo>
                <a:lnTo>
                  <a:pt x="996886" y="365514"/>
                </a:lnTo>
                <a:lnTo>
                  <a:pt x="1026112" y="298923"/>
                </a:lnTo>
                <a:lnTo>
                  <a:pt x="1040000" y="265869"/>
                </a:lnTo>
                <a:lnTo>
                  <a:pt x="1079286" y="199284"/>
                </a:lnTo>
                <a:lnTo>
                  <a:pt x="1114254" y="165753"/>
                </a:lnTo>
                <a:lnTo>
                  <a:pt x="1170302" y="132699"/>
                </a:lnTo>
                <a:lnTo>
                  <a:pt x="1263239" y="99644"/>
                </a:lnTo>
                <a:lnTo>
                  <a:pt x="1426589" y="66108"/>
                </a:lnTo>
                <a:lnTo>
                  <a:pt x="1735572" y="33054"/>
                </a:lnTo>
                <a:lnTo>
                  <a:pt x="2418210" y="0"/>
                </a:lnTo>
              </a:path>
            </a:pathLst>
          </a:custGeom>
          <a:ln w="11497">
            <a:solidFill>
              <a:srgbClr val="8D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865228" y="1584111"/>
            <a:ext cx="130175" cy="14859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 spc="-5" b="1">
                <a:latin typeface="Times New Roman"/>
                <a:cs typeface="Times New Roman"/>
              </a:rPr>
              <a:t>pH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801737" y="1473729"/>
            <a:ext cx="721995" cy="682625"/>
          </a:xfrm>
          <a:custGeom>
            <a:avLst/>
            <a:gdLst/>
            <a:ahLst/>
            <a:cxnLst/>
            <a:rect l="l" t="t" r="r" b="b"/>
            <a:pathLst>
              <a:path w="721995" h="682625">
                <a:moveTo>
                  <a:pt x="0" y="682160"/>
                </a:moveTo>
                <a:lnTo>
                  <a:pt x="721917" y="682160"/>
                </a:lnTo>
                <a:lnTo>
                  <a:pt x="721917" y="0"/>
                </a:lnTo>
                <a:lnTo>
                  <a:pt x="0" y="0"/>
                </a:lnTo>
                <a:lnTo>
                  <a:pt x="0" y="682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801737" y="1473729"/>
            <a:ext cx="721995" cy="682625"/>
          </a:xfrm>
          <a:custGeom>
            <a:avLst/>
            <a:gdLst/>
            <a:ahLst/>
            <a:cxnLst/>
            <a:rect l="l" t="t" r="r" b="b"/>
            <a:pathLst>
              <a:path w="721995" h="682625">
                <a:moveTo>
                  <a:pt x="0" y="682160"/>
                </a:moveTo>
                <a:lnTo>
                  <a:pt x="0" y="0"/>
                </a:lnTo>
                <a:lnTo>
                  <a:pt x="721923" y="0"/>
                </a:lnTo>
                <a:lnTo>
                  <a:pt x="721923" y="682160"/>
                </a:lnTo>
                <a:lnTo>
                  <a:pt x="0" y="68216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854434" y="1570977"/>
            <a:ext cx="265430" cy="0"/>
          </a:xfrm>
          <a:custGeom>
            <a:avLst/>
            <a:gdLst/>
            <a:ahLst/>
            <a:cxnLst/>
            <a:rect l="l" t="t" r="r" b="b"/>
            <a:pathLst>
              <a:path w="265430" h="0">
                <a:moveTo>
                  <a:pt x="0" y="0"/>
                </a:moveTo>
                <a:lnTo>
                  <a:pt x="264909" y="0"/>
                </a:lnTo>
              </a:path>
            </a:pathLst>
          </a:custGeom>
          <a:ln w="1149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854434" y="1733373"/>
            <a:ext cx="265430" cy="0"/>
          </a:xfrm>
          <a:custGeom>
            <a:avLst/>
            <a:gdLst/>
            <a:ahLst/>
            <a:cxnLst/>
            <a:rect l="l" t="t" r="r" b="b"/>
            <a:pathLst>
              <a:path w="265430" h="0">
                <a:moveTo>
                  <a:pt x="0" y="0"/>
                </a:moveTo>
                <a:lnTo>
                  <a:pt x="264909" y="0"/>
                </a:lnTo>
              </a:path>
            </a:pathLst>
          </a:custGeom>
          <a:ln w="11497">
            <a:solidFill>
              <a:srgbClr val="007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854434" y="1895769"/>
            <a:ext cx="265430" cy="0"/>
          </a:xfrm>
          <a:custGeom>
            <a:avLst/>
            <a:gdLst/>
            <a:ahLst/>
            <a:cxnLst/>
            <a:rect l="l" t="t" r="r" b="b"/>
            <a:pathLst>
              <a:path w="265430" h="0">
                <a:moveTo>
                  <a:pt x="0" y="0"/>
                </a:moveTo>
                <a:lnTo>
                  <a:pt x="264909" y="0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801737" y="1473729"/>
            <a:ext cx="721995" cy="68262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344170">
              <a:lnSpc>
                <a:spcPct val="100000"/>
              </a:lnSpc>
              <a:spcBef>
                <a:spcPts val="380"/>
              </a:spcBef>
            </a:pPr>
            <a:r>
              <a:rPr dirty="0" sz="600" spc="15">
                <a:latin typeface="Times New Roman"/>
                <a:cs typeface="Times New Roman"/>
              </a:rPr>
              <a:t>pKa=3</a:t>
            </a:r>
            <a:endParaRPr sz="600">
              <a:latin typeface="Times New Roman"/>
              <a:cs typeface="Times New Roman"/>
            </a:endParaRPr>
          </a:p>
          <a:p>
            <a:pPr algn="just" marL="344170" marR="149860">
              <a:lnSpc>
                <a:spcPct val="177900"/>
              </a:lnSpc>
            </a:pPr>
            <a:r>
              <a:rPr dirty="0" sz="600" spc="15">
                <a:latin typeface="Times New Roman"/>
                <a:cs typeface="Times New Roman"/>
              </a:rPr>
              <a:t>pKa=5  pKa=7  pKa=9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854434" y="2058165"/>
            <a:ext cx="265430" cy="0"/>
          </a:xfrm>
          <a:custGeom>
            <a:avLst/>
            <a:gdLst/>
            <a:ahLst/>
            <a:cxnLst/>
            <a:rect l="l" t="t" r="r" b="b"/>
            <a:pathLst>
              <a:path w="265430" h="0">
                <a:moveTo>
                  <a:pt x="0" y="0"/>
                </a:moveTo>
                <a:lnTo>
                  <a:pt x="264909" y="0"/>
                </a:lnTo>
              </a:path>
            </a:pathLst>
          </a:custGeom>
          <a:ln w="11497">
            <a:solidFill>
              <a:srgbClr val="8D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152882" y="2736244"/>
            <a:ext cx="433324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3843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latin typeface="Symbol"/>
                <a:cs typeface="Symbol"/>
              </a:rPr>
              <a:t></a:t>
            </a:r>
            <a:endParaRPr sz="9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30">
                <a:solidFill>
                  <a:srgbClr val="3333B2"/>
                </a:solidFill>
                <a:latin typeface="Georgia"/>
                <a:cs typeface="Georgia"/>
              </a:rPr>
              <a:t>10: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NaOH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-10">
                <a:latin typeface="Arial Unicode MS"/>
                <a:cs typeface="Arial Unicode MS"/>
              </a:rPr>
              <a:t>不</a:t>
            </a:r>
            <a:r>
              <a:rPr dirty="0" sz="1050" spc="-5">
                <a:latin typeface="Arial Unicode MS"/>
                <a:cs typeface="Arial Unicode MS"/>
              </a:rPr>
              <a:t>同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80" b="0" i="1">
                <a:latin typeface="Bookman Old Style"/>
                <a:cs typeface="Bookman Old Style"/>
              </a:rPr>
              <a:t>K</a:t>
            </a:r>
            <a:r>
              <a:rPr dirty="0" baseline="-11904" sz="1050" spc="120" i="1">
                <a:latin typeface="Arial"/>
                <a:cs typeface="Arial"/>
              </a:rPr>
              <a:t>a</a:t>
            </a:r>
            <a:r>
              <a:rPr dirty="0" baseline="-11904" sz="1050" spc="277" i="1">
                <a:latin typeface="Arial"/>
                <a:cs typeface="Arial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值</a:t>
            </a:r>
            <a:r>
              <a:rPr dirty="0" sz="1050" spc="-10">
                <a:latin typeface="Arial Unicode MS"/>
                <a:cs typeface="Arial Unicode MS"/>
              </a:rPr>
              <a:t>弱</a:t>
            </a:r>
            <a:r>
              <a:rPr dirty="0" sz="1050" spc="-5">
                <a:latin typeface="Arial Unicode MS"/>
                <a:cs typeface="Arial Unicode MS"/>
              </a:rPr>
              <a:t>酸的滴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</a:t>
            </a:r>
            <a:r>
              <a:rPr dirty="0" sz="1050" spc="-225">
                <a:latin typeface="Arial Unicode MS"/>
                <a:cs typeface="Arial Unicode MS"/>
              </a:rPr>
              <a:t>线</a:t>
            </a:r>
            <a:r>
              <a:rPr dirty="0" sz="1050" spc="-5">
                <a:latin typeface="Arial Unicode MS"/>
                <a:cs typeface="Arial Unicode MS"/>
              </a:rPr>
              <a:t>（浓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均为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-75">
                <a:latin typeface="Georgia"/>
                <a:cs typeface="Georgia"/>
              </a:rPr>
              <a:t>0</a:t>
            </a:r>
            <a:r>
              <a:rPr dirty="0" sz="1000" spc="-75" b="0" i="1">
                <a:latin typeface="Bookman Old Style"/>
                <a:cs typeface="Bookman Old Style"/>
              </a:rPr>
              <a:t>.</a:t>
            </a:r>
            <a:r>
              <a:rPr dirty="0" sz="1000" spc="-75">
                <a:latin typeface="Georgia"/>
                <a:cs typeface="Georgia"/>
              </a:rPr>
              <a:t>1000  </a:t>
            </a:r>
            <a:r>
              <a:rPr dirty="0" sz="1000" spc="-40">
                <a:latin typeface="Georgia"/>
                <a:cs typeface="Georgia"/>
              </a:rPr>
              <a:t>mol</a:t>
            </a:r>
            <a:r>
              <a:rPr dirty="0" sz="1000" spc="-40" b="0" i="1">
                <a:latin typeface="Bookman Old Style"/>
                <a:cs typeface="Bookman Old Style"/>
              </a:rPr>
              <a:t>/</a:t>
            </a:r>
            <a:r>
              <a:rPr dirty="0" sz="1000" spc="-40">
                <a:latin typeface="Georgia"/>
                <a:cs typeface="Georgia"/>
              </a:rPr>
              <a:t>L</a:t>
            </a:r>
            <a:r>
              <a:rPr dirty="0" sz="1000" spc="12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）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96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7172" y="608114"/>
            <a:ext cx="199390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</a:rPr>
              <a:t>表</a:t>
            </a:r>
            <a:r>
              <a:rPr dirty="0" sz="1050" spc="25">
                <a:solidFill>
                  <a:srgbClr val="3333B2"/>
                </a:solidFill>
              </a:rPr>
              <a:t> </a:t>
            </a:r>
            <a:r>
              <a:rPr dirty="0" sz="1000" spc="-50">
                <a:solidFill>
                  <a:srgbClr val="3333B2"/>
                </a:solidFill>
                <a:latin typeface="Georgia"/>
                <a:cs typeface="Georgia"/>
              </a:rPr>
              <a:t>2:</a:t>
            </a:r>
            <a:r>
              <a:rPr dirty="0" sz="100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/>
              <a:t>滴定</a:t>
            </a:r>
            <a:r>
              <a:rPr dirty="0" sz="1050" spc="-10"/>
              <a:t>突</a:t>
            </a:r>
            <a:r>
              <a:rPr dirty="0" sz="1050" spc="-5"/>
              <a:t>跃与</a:t>
            </a:r>
            <a:r>
              <a:rPr dirty="0" sz="1050" spc="30"/>
              <a:t> </a:t>
            </a:r>
            <a:r>
              <a:rPr dirty="0" sz="1000" spc="-50" b="0" i="1">
                <a:latin typeface="Bookman Old Style"/>
                <a:cs typeface="Bookman Old Style"/>
              </a:rPr>
              <a:t>c</a:t>
            </a:r>
            <a:r>
              <a:rPr dirty="0" sz="1000" spc="20" b="0" i="1">
                <a:latin typeface="Bookman Old Style"/>
                <a:cs typeface="Bookman Old Style"/>
              </a:rPr>
              <a:t> </a:t>
            </a:r>
            <a:r>
              <a:rPr dirty="0" sz="1050" spc="-5"/>
              <a:t>和</a:t>
            </a:r>
            <a:r>
              <a:rPr dirty="0" sz="1050" spc="30"/>
              <a:t> </a:t>
            </a:r>
            <a:r>
              <a:rPr dirty="0" sz="1000" spc="80" b="0" i="1">
                <a:latin typeface="Bookman Old Style"/>
                <a:cs typeface="Bookman Old Style"/>
              </a:rPr>
              <a:t>K</a:t>
            </a:r>
            <a:r>
              <a:rPr dirty="0" baseline="-11904" sz="1050" spc="120" i="1">
                <a:latin typeface="Arial"/>
                <a:cs typeface="Arial"/>
              </a:rPr>
              <a:t>a</a:t>
            </a:r>
            <a:r>
              <a:rPr dirty="0" baseline="-11904" sz="1050" spc="254" i="1">
                <a:latin typeface="Arial"/>
                <a:cs typeface="Arial"/>
              </a:rPr>
              <a:t> </a:t>
            </a:r>
            <a:r>
              <a:rPr dirty="0" sz="1050" spc="-10"/>
              <a:t>的</a:t>
            </a:r>
            <a:r>
              <a:rPr dirty="0" sz="1050" spc="-5"/>
              <a:t>关系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4042" y="874953"/>
          <a:ext cx="3522979" cy="962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145"/>
                <a:gridCol w="649605"/>
                <a:gridCol w="347344"/>
                <a:gridCol w="649605"/>
                <a:gridCol w="347344"/>
                <a:gridCol w="649605"/>
                <a:gridCol w="347345"/>
              </a:tblGrid>
              <a:tr h="12019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9259" sz="900" spc="187" i="1">
                          <a:latin typeface="Arial"/>
                          <a:cs typeface="Arial"/>
                        </a:rPr>
                        <a:t>K</a:t>
                      </a:r>
                      <a:r>
                        <a:rPr dirty="0" sz="500" spc="125" i="1">
                          <a:latin typeface="Century Gothic"/>
                          <a:cs typeface="Century Gothic"/>
                        </a:rPr>
                        <a:t>a</a:t>
                      </a:r>
                      <a:endParaRPr sz="500">
                        <a:latin typeface="Century Gothic"/>
                        <a:cs typeface="Century Gothic"/>
                      </a:endParaRPr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30" i="1">
                          <a:latin typeface="Arial"/>
                          <a:cs typeface="Arial"/>
                        </a:rPr>
                        <a:t>c </a:t>
                      </a:r>
                      <a:r>
                        <a:rPr dirty="0" sz="600" spc="220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600" spc="6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60" i="1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600" spc="6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mol/L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30" i="1">
                          <a:latin typeface="Arial"/>
                          <a:cs typeface="Arial"/>
                        </a:rPr>
                        <a:t>c </a:t>
                      </a:r>
                      <a:r>
                        <a:rPr dirty="0" sz="600" spc="220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600" spc="6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600" spc="60" i="1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600" spc="6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mol/L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30" i="1">
                          <a:latin typeface="Arial"/>
                          <a:cs typeface="Arial"/>
                        </a:rPr>
                        <a:t>c </a:t>
                      </a:r>
                      <a:r>
                        <a:rPr dirty="0" sz="600" spc="220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dirty="0" sz="600" spc="6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600" spc="60" i="1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600" spc="60">
                          <a:latin typeface="Times New Roman"/>
                          <a:cs typeface="Times New Roman"/>
                        </a:rPr>
                        <a:t>01</a:t>
                      </a:r>
                      <a:r>
                        <a:rPr dirty="0" sz="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mol/L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513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pH</a:t>
                      </a:r>
                      <a:r>
                        <a:rPr dirty="0" sz="6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20">
                          <a:latin typeface="Arial Unicode MS"/>
                          <a:cs typeface="Arial Unicode MS"/>
                        </a:rPr>
                        <a:t>突跃范围</a:t>
                      </a:r>
                      <a:endParaRPr sz="5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600" spc="145">
                          <a:latin typeface="Times New Roman"/>
                          <a:cs typeface="Times New Roman"/>
                        </a:rPr>
                        <a:t>∆pH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pH</a:t>
                      </a:r>
                      <a:r>
                        <a:rPr dirty="0" sz="6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20">
                          <a:latin typeface="Arial Unicode MS"/>
                          <a:cs typeface="Arial Unicode MS"/>
                        </a:rPr>
                        <a:t>突跃范围</a:t>
                      </a:r>
                      <a:endParaRPr sz="5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600">
                          <a:latin typeface="Times New Roman"/>
                          <a:cs typeface="Times New Roman"/>
                        </a:rPr>
                        <a:t>∆pH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pH</a:t>
                      </a:r>
                      <a:r>
                        <a:rPr dirty="0" sz="6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500" spc="20">
                          <a:latin typeface="Arial Unicode MS"/>
                          <a:cs typeface="Arial Unicode MS"/>
                        </a:rPr>
                        <a:t>突跃范围</a:t>
                      </a:r>
                      <a:endParaRPr sz="5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600" spc="145">
                          <a:latin typeface="Times New Roman"/>
                          <a:cs typeface="Times New Roman"/>
                        </a:rPr>
                        <a:t>∆pH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20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10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baseline="27777" sz="750" spc="150" i="1">
                          <a:latin typeface="Arial"/>
                          <a:cs typeface="Arial"/>
                        </a:rPr>
                        <a:t>−</a:t>
                      </a:r>
                      <a:r>
                        <a:rPr dirty="0" baseline="27777" sz="750" spc="150">
                          <a:latin typeface="Book Antiqua"/>
                          <a:cs typeface="Book Antiqua"/>
                        </a:rPr>
                        <a:t>5</a:t>
                      </a:r>
                      <a:endParaRPr baseline="27777"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8.00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11.00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3.00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8.00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10.00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>
                          <a:latin typeface="Times New Roman"/>
                          <a:cs typeface="Times New Roman"/>
                        </a:rPr>
                        <a:t>2.00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8.00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9.04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1.04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19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10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baseline="27777" sz="750" spc="150" i="1">
                          <a:latin typeface="Arial"/>
                          <a:cs typeface="Arial"/>
                        </a:rPr>
                        <a:t>−</a:t>
                      </a:r>
                      <a:r>
                        <a:rPr dirty="0" baseline="27777" sz="750" spc="150">
                          <a:latin typeface="Book Antiqua"/>
                          <a:cs typeface="Book Antiqua"/>
                        </a:rPr>
                        <a:t>6</a:t>
                      </a:r>
                      <a:endParaRPr baseline="27777"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9.00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11.00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2.00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9.96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10.04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>
                          <a:latin typeface="Times New Roman"/>
                          <a:cs typeface="Times New Roman"/>
                        </a:rPr>
                        <a:t>1.08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8.79</a:t>
                      </a:r>
                      <a:r>
                        <a:rPr dirty="0" sz="600" spc="65">
                          <a:solidFill>
                            <a:srgbClr val="F90000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9.21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0.42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20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10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baseline="27777" sz="750" spc="150" i="1">
                          <a:latin typeface="Arial"/>
                          <a:cs typeface="Arial"/>
                        </a:rPr>
                        <a:t>−</a:t>
                      </a:r>
                      <a:r>
                        <a:rPr dirty="0" baseline="27777" sz="750" spc="150">
                          <a:latin typeface="Book Antiqua"/>
                          <a:cs typeface="Book Antiqua"/>
                        </a:rPr>
                        <a:t>7</a:t>
                      </a:r>
                      <a:endParaRPr baseline="27777"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9.96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11.02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1.06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9.79</a:t>
                      </a:r>
                      <a:r>
                        <a:rPr dirty="0" sz="600" spc="65">
                          <a:solidFill>
                            <a:srgbClr val="F90000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10.71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0.42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8.43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9.51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0.14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19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10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baseline="27777" sz="750" spc="150" i="1">
                          <a:latin typeface="Arial"/>
                          <a:cs typeface="Arial"/>
                        </a:rPr>
                        <a:t>−</a:t>
                      </a:r>
                      <a:r>
                        <a:rPr dirty="0" baseline="27777" sz="750" spc="150">
                          <a:latin typeface="Book Antiqua"/>
                          <a:cs typeface="Book Antiqua"/>
                        </a:rPr>
                        <a:t>8</a:t>
                      </a:r>
                      <a:endParaRPr baseline="27777"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10.79</a:t>
                      </a:r>
                      <a:r>
                        <a:rPr dirty="0" sz="600" spc="65">
                          <a:solidFill>
                            <a:srgbClr val="F90000"/>
                          </a:solidFill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11.21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solidFill>
                            <a:srgbClr val="F90000"/>
                          </a:solidFill>
                          <a:latin typeface="Times New Roman"/>
                          <a:cs typeface="Times New Roman"/>
                        </a:rPr>
                        <a:t>0.42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10.43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10.57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>
                          <a:latin typeface="Times New Roman"/>
                          <a:cs typeface="Times New Roman"/>
                        </a:rPr>
                        <a:t>0.14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9.83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9.87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0.05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20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10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baseline="27777" sz="750" spc="150" i="1">
                          <a:latin typeface="Arial"/>
                          <a:cs typeface="Arial"/>
                        </a:rPr>
                        <a:t>−</a:t>
                      </a:r>
                      <a:r>
                        <a:rPr dirty="0" baseline="27777" sz="750" spc="150">
                          <a:latin typeface="Book Antiqua"/>
                          <a:cs typeface="Book Antiqua"/>
                        </a:rPr>
                        <a:t>9</a:t>
                      </a:r>
                      <a:endParaRPr baseline="27777"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11.43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11.57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0.14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10.78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10.82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>
                          <a:latin typeface="Times New Roman"/>
                          <a:cs typeface="Times New Roman"/>
                        </a:rPr>
                        <a:t>0.04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10.35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10.35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0.00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19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600" spc="10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600" spc="1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baseline="27777" sz="750" spc="150" i="1">
                          <a:latin typeface="Arial"/>
                          <a:cs typeface="Arial"/>
                        </a:rPr>
                        <a:t>−</a:t>
                      </a:r>
                      <a:r>
                        <a:rPr dirty="0" baseline="27777" sz="750" spc="150">
                          <a:latin typeface="Book Antiqua"/>
                          <a:cs typeface="Book Antiqua"/>
                        </a:rPr>
                        <a:t>10</a:t>
                      </a:r>
                      <a:endParaRPr baseline="27777"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5">
                          <a:latin typeface="Times New Roman"/>
                          <a:cs typeface="Times New Roman"/>
                        </a:rPr>
                        <a:t>11.25</a:t>
                      </a:r>
                      <a:r>
                        <a:rPr dirty="0" sz="600" spc="65">
                          <a:latin typeface="Lucida Sans Unicode"/>
                          <a:cs typeface="Lucida Sans Unicode"/>
                        </a:rPr>
                        <a:t>∼</a:t>
                      </a:r>
                      <a:r>
                        <a:rPr dirty="0" sz="600" spc="65">
                          <a:latin typeface="Times New Roman"/>
                          <a:cs typeface="Times New Roman"/>
                        </a:rPr>
                        <a:t>11.85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00" spc="60">
                          <a:latin typeface="Times New Roman"/>
                          <a:cs typeface="Times New Roman"/>
                        </a:rPr>
                        <a:t>0.10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61441" y="2003552"/>
            <a:ext cx="3935095" cy="0"/>
          </a:xfrm>
          <a:custGeom>
            <a:avLst/>
            <a:gdLst/>
            <a:ahLst/>
            <a:cxnLst/>
            <a:rect l="l" t="t" r="r" b="b"/>
            <a:pathLst>
              <a:path w="3935095" h="0">
                <a:moveTo>
                  <a:pt x="0" y="0"/>
                </a:moveTo>
                <a:lnTo>
                  <a:pt x="393468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9249" y="1954657"/>
            <a:ext cx="1891030" cy="716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189865">
              <a:lnSpc>
                <a:spcPct val="125899"/>
              </a:lnSpc>
              <a:spcBef>
                <a:spcPts val="100"/>
              </a:spcBef>
            </a:pPr>
            <a:r>
              <a:rPr dirty="0" sz="1200" spc="-45" i="1">
                <a:latin typeface="Georgia"/>
                <a:cs typeface="Georgia"/>
              </a:rPr>
              <a:t>c </a:t>
            </a:r>
            <a:r>
              <a:rPr dirty="0" sz="1200" spc="110">
                <a:latin typeface="Garamond"/>
                <a:cs typeface="Garamond"/>
              </a:rPr>
              <a:t>= </a:t>
            </a:r>
            <a:r>
              <a:rPr dirty="0" sz="1200" spc="20">
                <a:latin typeface="Garamond"/>
                <a:cs typeface="Garamond"/>
              </a:rPr>
              <a:t>1 </a:t>
            </a:r>
            <a:r>
              <a:rPr dirty="0" sz="1200" spc="15">
                <a:latin typeface="Garamond"/>
                <a:cs typeface="Garamond"/>
              </a:rPr>
              <a:t>mol/L </a:t>
            </a:r>
            <a:r>
              <a:rPr dirty="0" sz="1200" spc="80" i="1">
                <a:latin typeface="Georgia"/>
                <a:cs typeface="Georgia"/>
              </a:rPr>
              <a:t>K</a:t>
            </a:r>
            <a:r>
              <a:rPr dirty="0" baseline="-13888" sz="1200" spc="120" i="1">
                <a:latin typeface="Arial"/>
                <a:cs typeface="Arial"/>
              </a:rPr>
              <a:t>a </a:t>
            </a:r>
            <a:r>
              <a:rPr dirty="0" sz="1200" spc="-25">
                <a:latin typeface="Lucida Sans Unicode"/>
                <a:cs typeface="Lucida Sans Unicode"/>
              </a:rPr>
              <a:t>≥ </a:t>
            </a:r>
            <a:r>
              <a:rPr dirty="0" sz="1200" spc="55">
                <a:latin typeface="Garamond"/>
                <a:cs typeface="Garamond"/>
              </a:rPr>
              <a:t>10</a:t>
            </a:r>
            <a:r>
              <a:rPr dirty="0" baseline="31250" sz="1200" spc="82" i="1">
                <a:latin typeface="Arial"/>
                <a:cs typeface="Arial"/>
              </a:rPr>
              <a:t>−</a:t>
            </a:r>
            <a:r>
              <a:rPr dirty="0" baseline="31250" sz="1200" spc="82">
                <a:latin typeface="Trebuchet MS"/>
                <a:cs typeface="Trebuchet MS"/>
              </a:rPr>
              <a:t>8  </a:t>
            </a:r>
            <a:r>
              <a:rPr dirty="0" sz="1200" spc="-45" i="1">
                <a:latin typeface="Georgia"/>
                <a:cs typeface="Georgia"/>
              </a:rPr>
              <a:t>c </a:t>
            </a:r>
            <a:r>
              <a:rPr dirty="0" sz="1200" spc="110">
                <a:latin typeface="Garamond"/>
                <a:cs typeface="Garamond"/>
              </a:rPr>
              <a:t>= </a:t>
            </a:r>
            <a:r>
              <a:rPr dirty="0" sz="1200" spc="10">
                <a:latin typeface="Garamond"/>
                <a:cs typeface="Garamond"/>
              </a:rPr>
              <a:t>0</a:t>
            </a:r>
            <a:r>
              <a:rPr dirty="0" sz="1200" spc="10" i="1">
                <a:latin typeface="Georgia"/>
                <a:cs typeface="Georgia"/>
              </a:rPr>
              <a:t>.</a:t>
            </a:r>
            <a:r>
              <a:rPr dirty="0" sz="1200" spc="10">
                <a:latin typeface="Garamond"/>
                <a:cs typeface="Garamond"/>
              </a:rPr>
              <a:t>1 </a:t>
            </a:r>
            <a:r>
              <a:rPr dirty="0" sz="1200" spc="15">
                <a:latin typeface="Garamond"/>
                <a:cs typeface="Garamond"/>
              </a:rPr>
              <a:t>mol/L </a:t>
            </a:r>
            <a:r>
              <a:rPr dirty="0" sz="1200" spc="80" i="1">
                <a:latin typeface="Georgia"/>
                <a:cs typeface="Georgia"/>
              </a:rPr>
              <a:t>K</a:t>
            </a:r>
            <a:r>
              <a:rPr dirty="0" baseline="-13888" sz="1200" spc="120" i="1">
                <a:latin typeface="Arial"/>
                <a:cs typeface="Arial"/>
              </a:rPr>
              <a:t>a </a:t>
            </a:r>
            <a:r>
              <a:rPr dirty="0" sz="1200" spc="-25">
                <a:latin typeface="Lucida Sans Unicode"/>
                <a:cs typeface="Lucida Sans Unicode"/>
              </a:rPr>
              <a:t>≥ </a:t>
            </a:r>
            <a:r>
              <a:rPr dirty="0" sz="1200" spc="55">
                <a:latin typeface="Garamond"/>
                <a:cs typeface="Garamond"/>
              </a:rPr>
              <a:t>10</a:t>
            </a:r>
            <a:r>
              <a:rPr dirty="0" baseline="31250" sz="1200" spc="82" i="1">
                <a:latin typeface="Arial"/>
                <a:cs typeface="Arial"/>
              </a:rPr>
              <a:t>−</a:t>
            </a:r>
            <a:r>
              <a:rPr dirty="0" baseline="31250" sz="1200" spc="82">
                <a:latin typeface="Trebuchet MS"/>
                <a:cs typeface="Trebuchet MS"/>
              </a:rPr>
              <a:t>7  </a:t>
            </a:r>
            <a:r>
              <a:rPr dirty="0" sz="1200" spc="-45" i="1">
                <a:latin typeface="Georgia"/>
                <a:cs typeface="Georgia"/>
              </a:rPr>
              <a:t>c </a:t>
            </a:r>
            <a:r>
              <a:rPr dirty="0" sz="1200" spc="110">
                <a:latin typeface="Garamond"/>
                <a:cs typeface="Garamond"/>
              </a:rPr>
              <a:t>= </a:t>
            </a:r>
            <a:r>
              <a:rPr dirty="0" sz="1200" spc="15">
                <a:latin typeface="Garamond"/>
                <a:cs typeface="Garamond"/>
              </a:rPr>
              <a:t>0</a:t>
            </a:r>
            <a:r>
              <a:rPr dirty="0" sz="1200" spc="15" i="1">
                <a:latin typeface="Georgia"/>
                <a:cs typeface="Georgia"/>
              </a:rPr>
              <a:t>.</a:t>
            </a:r>
            <a:r>
              <a:rPr dirty="0" sz="1200" spc="15">
                <a:latin typeface="Garamond"/>
                <a:cs typeface="Garamond"/>
              </a:rPr>
              <a:t>01 mol/L </a:t>
            </a:r>
            <a:r>
              <a:rPr dirty="0" sz="1200" spc="80" i="1">
                <a:latin typeface="Georgia"/>
                <a:cs typeface="Georgia"/>
              </a:rPr>
              <a:t>K</a:t>
            </a:r>
            <a:r>
              <a:rPr dirty="0" baseline="-13888" sz="1200" spc="120" i="1">
                <a:latin typeface="Arial"/>
                <a:cs typeface="Arial"/>
              </a:rPr>
              <a:t>a </a:t>
            </a:r>
            <a:r>
              <a:rPr dirty="0" sz="1200" spc="-25">
                <a:latin typeface="Lucida Sans Unicode"/>
                <a:cs typeface="Lucida Sans Unicode"/>
              </a:rPr>
              <a:t>≥</a:t>
            </a:r>
            <a:r>
              <a:rPr dirty="0" sz="1200" spc="-254">
                <a:latin typeface="Lucida Sans Unicode"/>
                <a:cs typeface="Lucida Sans Unicode"/>
              </a:rPr>
              <a:t> </a:t>
            </a:r>
            <a:r>
              <a:rPr dirty="0" sz="1200" spc="55">
                <a:latin typeface="Garamond"/>
                <a:cs typeface="Garamond"/>
              </a:rPr>
              <a:t>10</a:t>
            </a:r>
            <a:r>
              <a:rPr dirty="0" baseline="31250" sz="1200" spc="82" i="1">
                <a:latin typeface="Arial"/>
                <a:cs typeface="Arial"/>
              </a:rPr>
              <a:t>−</a:t>
            </a:r>
            <a:r>
              <a:rPr dirty="0" baseline="31250" sz="1200" spc="82">
                <a:latin typeface="Trebuchet MS"/>
                <a:cs typeface="Trebuchet MS"/>
              </a:rPr>
              <a:t>6</a:t>
            </a:r>
            <a:endParaRPr baseline="31250"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2245" y="1954657"/>
            <a:ext cx="819150" cy="71628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dirty="0" sz="1200" spc="40" i="1">
                <a:latin typeface="Georgia"/>
                <a:cs typeface="Georgia"/>
              </a:rPr>
              <a:t>cK</a:t>
            </a:r>
            <a:r>
              <a:rPr dirty="0" baseline="-13888" sz="1200" spc="60" i="1">
                <a:latin typeface="Arial"/>
                <a:cs typeface="Arial"/>
              </a:rPr>
              <a:t>a </a:t>
            </a:r>
            <a:r>
              <a:rPr dirty="0" sz="1200" spc="-25">
                <a:latin typeface="Lucida Sans Unicode"/>
                <a:cs typeface="Lucida Sans Unicode"/>
              </a:rPr>
              <a:t>≥</a:t>
            </a:r>
            <a:r>
              <a:rPr dirty="0" sz="1200" spc="-10">
                <a:latin typeface="Lucida Sans Unicode"/>
                <a:cs typeface="Lucida Sans Unicode"/>
              </a:rPr>
              <a:t> </a:t>
            </a:r>
            <a:r>
              <a:rPr dirty="0" sz="1200" spc="55">
                <a:latin typeface="Garamond"/>
                <a:cs typeface="Garamond"/>
              </a:rPr>
              <a:t>10</a:t>
            </a:r>
            <a:r>
              <a:rPr dirty="0" baseline="31250" sz="1200" spc="82" i="1">
                <a:latin typeface="Arial"/>
                <a:cs typeface="Arial"/>
              </a:rPr>
              <a:t>−</a:t>
            </a:r>
            <a:r>
              <a:rPr dirty="0" baseline="31250" sz="1200" spc="82">
                <a:latin typeface="Trebuchet MS"/>
                <a:cs typeface="Trebuchet MS"/>
              </a:rPr>
              <a:t>8</a:t>
            </a:r>
            <a:endParaRPr baseline="31250" sz="12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dirty="0" sz="1200" spc="40" i="1">
                <a:latin typeface="Georgia"/>
                <a:cs typeface="Georgia"/>
              </a:rPr>
              <a:t>cK</a:t>
            </a:r>
            <a:r>
              <a:rPr dirty="0" baseline="-13888" sz="1200" spc="60" i="1">
                <a:latin typeface="Arial"/>
                <a:cs typeface="Arial"/>
              </a:rPr>
              <a:t>a </a:t>
            </a:r>
            <a:r>
              <a:rPr dirty="0" sz="1200" spc="-25">
                <a:latin typeface="Lucida Sans Unicode"/>
                <a:cs typeface="Lucida Sans Unicode"/>
              </a:rPr>
              <a:t>≥</a:t>
            </a:r>
            <a:r>
              <a:rPr dirty="0" sz="1200" spc="-10">
                <a:latin typeface="Lucida Sans Unicode"/>
                <a:cs typeface="Lucida Sans Unicode"/>
              </a:rPr>
              <a:t> </a:t>
            </a:r>
            <a:r>
              <a:rPr dirty="0" sz="1200" spc="55">
                <a:latin typeface="Garamond"/>
                <a:cs typeface="Garamond"/>
              </a:rPr>
              <a:t>10</a:t>
            </a:r>
            <a:r>
              <a:rPr dirty="0" baseline="31250" sz="1200" spc="82" i="1">
                <a:latin typeface="Arial"/>
                <a:cs typeface="Arial"/>
              </a:rPr>
              <a:t>−</a:t>
            </a:r>
            <a:r>
              <a:rPr dirty="0" baseline="31250" sz="1200" spc="82">
                <a:latin typeface="Trebuchet MS"/>
                <a:cs typeface="Trebuchet MS"/>
              </a:rPr>
              <a:t>8</a:t>
            </a:r>
            <a:endParaRPr baseline="31250" sz="12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dirty="0" sz="1200" spc="40" i="1">
                <a:latin typeface="Georgia"/>
                <a:cs typeface="Georgia"/>
              </a:rPr>
              <a:t>cK</a:t>
            </a:r>
            <a:r>
              <a:rPr dirty="0" baseline="-13888" sz="1200" spc="60" i="1">
                <a:latin typeface="Arial"/>
                <a:cs typeface="Arial"/>
              </a:rPr>
              <a:t>a </a:t>
            </a:r>
            <a:r>
              <a:rPr dirty="0" sz="1200" spc="-25">
                <a:latin typeface="Lucida Sans Unicode"/>
                <a:cs typeface="Lucida Sans Unicode"/>
              </a:rPr>
              <a:t>≥</a:t>
            </a:r>
            <a:r>
              <a:rPr dirty="0" sz="1200" spc="-10">
                <a:latin typeface="Lucida Sans Unicode"/>
                <a:cs typeface="Lucida Sans Unicode"/>
              </a:rPr>
              <a:t> </a:t>
            </a:r>
            <a:r>
              <a:rPr dirty="0" sz="1200" spc="55">
                <a:latin typeface="Garamond"/>
                <a:cs typeface="Garamond"/>
              </a:rPr>
              <a:t>10</a:t>
            </a:r>
            <a:r>
              <a:rPr dirty="0" baseline="31250" sz="1200" spc="82" i="1">
                <a:latin typeface="Arial"/>
                <a:cs typeface="Arial"/>
              </a:rPr>
              <a:t>−</a:t>
            </a:r>
            <a:r>
              <a:rPr dirty="0" baseline="31250" sz="1200" spc="82">
                <a:latin typeface="Trebuchet MS"/>
                <a:cs typeface="Trebuchet MS"/>
              </a:rPr>
              <a:t>8</a:t>
            </a:r>
            <a:endParaRPr baseline="31250"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8253" y="1954657"/>
            <a:ext cx="934719" cy="716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5899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则 </a:t>
            </a:r>
            <a:r>
              <a:rPr dirty="0" sz="1200" spc="80">
                <a:latin typeface="Garamond"/>
                <a:cs typeface="Garamond"/>
              </a:rPr>
              <a:t>∆pH </a:t>
            </a:r>
            <a:r>
              <a:rPr dirty="0" sz="1200" spc="135" i="1">
                <a:latin typeface="Georgia"/>
                <a:cs typeface="Georgia"/>
              </a:rPr>
              <a:t>&gt;</a:t>
            </a:r>
            <a:r>
              <a:rPr dirty="0" sz="1200" spc="-30" i="1">
                <a:latin typeface="Georgia"/>
                <a:cs typeface="Georgia"/>
              </a:rPr>
              <a:t> </a:t>
            </a:r>
            <a:r>
              <a:rPr dirty="0" sz="1200" spc="10">
                <a:latin typeface="Garamond"/>
                <a:cs typeface="Garamond"/>
              </a:rPr>
              <a:t>0</a:t>
            </a:r>
            <a:r>
              <a:rPr dirty="0" sz="1200" spc="10" i="1">
                <a:latin typeface="Georgia"/>
                <a:cs typeface="Georgia"/>
              </a:rPr>
              <a:t>.</a:t>
            </a:r>
            <a:r>
              <a:rPr dirty="0" sz="1200" spc="10">
                <a:latin typeface="Garamond"/>
                <a:cs typeface="Garamond"/>
              </a:rPr>
              <a:t>3  </a:t>
            </a:r>
            <a:r>
              <a:rPr dirty="0" sz="1200" spc="-5">
                <a:latin typeface="Arial Unicode MS"/>
                <a:cs typeface="Arial Unicode MS"/>
              </a:rPr>
              <a:t>则 </a:t>
            </a:r>
            <a:r>
              <a:rPr dirty="0" sz="1200" spc="80">
                <a:latin typeface="Garamond"/>
                <a:cs typeface="Garamond"/>
              </a:rPr>
              <a:t>∆pH </a:t>
            </a:r>
            <a:r>
              <a:rPr dirty="0" sz="1200" spc="135" i="1">
                <a:latin typeface="Georgia"/>
                <a:cs typeface="Georgia"/>
              </a:rPr>
              <a:t>&gt;</a:t>
            </a:r>
            <a:r>
              <a:rPr dirty="0" sz="1200" spc="-30" i="1">
                <a:latin typeface="Georgia"/>
                <a:cs typeface="Georgia"/>
              </a:rPr>
              <a:t> </a:t>
            </a:r>
            <a:r>
              <a:rPr dirty="0" sz="1200" spc="10">
                <a:latin typeface="Garamond"/>
                <a:cs typeface="Garamond"/>
              </a:rPr>
              <a:t>0</a:t>
            </a:r>
            <a:r>
              <a:rPr dirty="0" sz="1200" spc="10" i="1">
                <a:latin typeface="Georgia"/>
                <a:cs typeface="Georgia"/>
              </a:rPr>
              <a:t>.</a:t>
            </a:r>
            <a:r>
              <a:rPr dirty="0" sz="1200" spc="10">
                <a:latin typeface="Garamond"/>
                <a:cs typeface="Garamond"/>
              </a:rPr>
              <a:t>3  </a:t>
            </a:r>
            <a:r>
              <a:rPr dirty="0" sz="1200" spc="-5">
                <a:latin typeface="Arial Unicode MS"/>
                <a:cs typeface="Arial Unicode MS"/>
              </a:rPr>
              <a:t>则 </a:t>
            </a:r>
            <a:r>
              <a:rPr dirty="0" sz="1200" spc="80">
                <a:latin typeface="Garamond"/>
                <a:cs typeface="Garamond"/>
              </a:rPr>
              <a:t>∆pH </a:t>
            </a:r>
            <a:r>
              <a:rPr dirty="0" sz="1200" spc="135" i="1">
                <a:latin typeface="Georgia"/>
                <a:cs typeface="Georgia"/>
              </a:rPr>
              <a:t>&gt;</a:t>
            </a:r>
            <a:r>
              <a:rPr dirty="0" sz="1200" spc="-35" i="1">
                <a:latin typeface="Georgia"/>
                <a:cs typeface="Georgia"/>
              </a:rPr>
              <a:t> </a:t>
            </a:r>
            <a:r>
              <a:rPr dirty="0" sz="1200" spc="10">
                <a:latin typeface="Garamond"/>
                <a:cs typeface="Garamond"/>
              </a:rPr>
              <a:t>0</a:t>
            </a:r>
            <a:r>
              <a:rPr dirty="0" sz="1200" spc="10" i="1">
                <a:latin typeface="Georgia"/>
                <a:cs typeface="Georgia"/>
              </a:rPr>
              <a:t>.</a:t>
            </a:r>
            <a:r>
              <a:rPr dirty="0" sz="1200" spc="10">
                <a:latin typeface="Garamond"/>
                <a:cs typeface="Garamond"/>
              </a:rPr>
              <a:t>3</a:t>
            </a:r>
            <a:endParaRPr sz="1200">
              <a:latin typeface="Garamond"/>
              <a:cs typeface="Garamond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1441" y="2699448"/>
            <a:ext cx="3935095" cy="0"/>
          </a:xfrm>
          <a:custGeom>
            <a:avLst/>
            <a:gdLst/>
            <a:ahLst/>
            <a:cxnLst/>
            <a:rect l="l" t="t" r="r" b="b"/>
            <a:pathLst>
              <a:path w="3935095" h="0">
                <a:moveTo>
                  <a:pt x="0" y="0"/>
                </a:moveTo>
                <a:lnTo>
                  <a:pt x="393468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97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强碱滴定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元酸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700468"/>
            <a:ext cx="4287520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33655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体积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(HAc)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的磷酸溶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现在用浓度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的氢氧化钠溶液滴定该磷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当消耗的氢氧化钠的体</a:t>
            </a:r>
            <a:endParaRPr sz="1200">
              <a:latin typeface="Arial Unicode MS"/>
              <a:cs typeface="Arial Unicode MS"/>
            </a:endParaRPr>
          </a:p>
          <a:p>
            <a:pPr algn="ctr" marR="255778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r>
              <a:rPr dirty="0" baseline="-13888" sz="900" spc="30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质量平衡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295" y="1486623"/>
            <a:ext cx="6470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(HAc)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7908" y="1675384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8730" y="1758797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4733" y="1663763"/>
            <a:ext cx="7296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66992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7190" y="1585772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7190" y="16772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8875" y="158577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8875" y="16772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3042" y="158577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3042" y="16772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8051" y="1580350"/>
            <a:ext cx="2684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[HPO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[PO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456" y="158035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Georgia"/>
                <a:cs typeface="Georgia"/>
              </a:rPr>
              <a:t>(40)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2651" y="1944420"/>
            <a:ext cx="6508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4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0456" y="1944420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(41)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4101" y="1828188"/>
            <a:ext cx="976630" cy="69024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30480">
              <a:lnSpc>
                <a:spcPct val="100000"/>
              </a:lnSpc>
              <a:spcBef>
                <a:spcPts val="265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r>
              <a:rPr dirty="0" u="sng" sz="1100" spc="-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algn="ctr" marL="30480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t</a:t>
            </a:r>
            <a:endParaRPr baseline="-13888"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00" spc="-5">
                <a:latin typeface="Arial Unicode MS"/>
                <a:cs typeface="Arial Unicode MS"/>
              </a:rPr>
              <a:t>电荷平衡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4118" y="2770251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260" y="2692260"/>
            <a:ext cx="24193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055" algn="l"/>
                <a:tab pos="990600" algn="l"/>
                <a:tab pos="2332355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21813" y="2770251"/>
            <a:ext cx="4064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671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30256" y="269226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30256" y="278371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73702" y="269226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73702" y="278371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4602" y="2686837"/>
            <a:ext cx="4119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76525" algn="l"/>
              </a:tabLst>
            </a:pPr>
            <a:r>
              <a:rPr dirty="0" sz="1100" spc="-50">
                <a:latin typeface="Georgia"/>
                <a:cs typeface="Georgia"/>
              </a:rPr>
              <a:t>[Na  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  </a:t>
            </a:r>
            <a:r>
              <a:rPr dirty="0" sz="1100" spc="-110">
                <a:latin typeface="Georgia"/>
                <a:cs typeface="Georgia"/>
              </a:rPr>
              <a:t>]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[OH  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	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5">
                <a:latin typeface="Georgia"/>
                <a:cs typeface="Georgia"/>
              </a:rPr>
              <a:t>2[HPO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0">
                <a:latin typeface="Georgia"/>
                <a:cs typeface="Georgia"/>
              </a:rPr>
              <a:t>3[PO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98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630631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-90">
                <a:latin typeface="Arial Unicode MS"/>
                <a:cs typeface="Arial Unicode MS"/>
              </a:rPr>
              <a:t>于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7990" y="9644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765" y="951026"/>
            <a:ext cx="8274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3080" algn="l"/>
                <a:tab pos="767715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5598" y="867613"/>
            <a:ext cx="1423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49169" y="773887"/>
            <a:ext cx="68580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4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4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PO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6923" y="857300"/>
            <a:ext cx="5207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454659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2387" y="962647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3209" y="1046060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9692" y="13593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409" y="1281379"/>
            <a:ext cx="88074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438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4930" y="1372844"/>
            <a:ext cx="1161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7090" algn="l"/>
                <a:tab pos="11017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52537" y="1275969"/>
            <a:ext cx="15297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41655" algn="l"/>
              </a:tabLst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	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02242" y="1182243"/>
            <a:ext cx="685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130" b="0" i="1">
                <a:latin typeface="Bookman Old Style"/>
                <a:cs typeface="Bookman Old Style"/>
              </a:rPr>
              <a:t> 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PO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19983" y="1265644"/>
            <a:ext cx="5207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454659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45460" y="1371003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6270" y="1454404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29651" y="168973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4889" y="1781187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58059" y="168973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03297" y="1781187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2497" y="1684312"/>
            <a:ext cx="1569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22270" y="1590586"/>
            <a:ext cx="685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130" b="0" i="1">
                <a:latin typeface="Bookman Old Style"/>
                <a:cs typeface="Bookman Old Style"/>
              </a:rPr>
              <a:t> 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PO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40024" y="1673987"/>
            <a:ext cx="5207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454659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5488" y="1779346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46311" y="1862747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9651" y="209807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4889" y="2189530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58059" y="209807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03297" y="2189530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32497" y="2092655"/>
            <a:ext cx="1569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22270" y="1998929"/>
            <a:ext cx="685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130" b="0" i="1">
                <a:latin typeface="Bookman Old Style"/>
                <a:cs typeface="Bookman Old Style"/>
              </a:rPr>
              <a:t> 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PO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40024" y="2082330"/>
            <a:ext cx="5207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454659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65488" y="2187689"/>
            <a:ext cx="4095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46311" y="2271103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114" i="1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99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947191"/>
            <a:ext cx="12299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上述各式整理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736" y="1547037"/>
            <a:ext cx="243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6522" y="15367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9240" y="1465656"/>
            <a:ext cx="9963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3600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1760" y="1550187"/>
            <a:ext cx="12306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6305" algn="l"/>
                <a:tab pos="117094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8208" y="146565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3446" y="1550187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275" y="1453311"/>
            <a:ext cx="2593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77545" algn="l"/>
              </a:tabLst>
            </a:pPr>
            <a:r>
              <a:rPr dirty="0" sz="1100" spc="-40">
                <a:latin typeface="Georgia"/>
                <a:cs typeface="Georgia"/>
              </a:rPr>
              <a:t>(</a:t>
            </a:r>
            <a:r>
              <a:rPr dirty="0" sz="1100" spc="-40" b="0" i="1">
                <a:latin typeface="Bookman Old Style"/>
                <a:cs typeface="Bookman Old Style"/>
              </a:rPr>
              <a:t>δ</a:t>
            </a:r>
            <a:r>
              <a:rPr dirty="0" sz="1100" spc="-40">
                <a:latin typeface="Georgia"/>
                <a:cs typeface="Georgia"/>
              </a:rPr>
              <a:t>(H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	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>
                <a:latin typeface="Georgia"/>
                <a:cs typeface="Georgia"/>
              </a:rPr>
              <a:t>2</a:t>
            </a:r>
            <a:r>
              <a:rPr dirty="0" sz="1100" spc="-60" b="0" i="1">
                <a:latin typeface="Bookman Old Style"/>
                <a:cs typeface="Bookman Old Style"/>
              </a:rPr>
              <a:t>δ</a:t>
            </a:r>
            <a:r>
              <a:rPr dirty="0" sz="1100" spc="-60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>
                <a:latin typeface="Georgia"/>
                <a:cs typeface="Georgia"/>
              </a:rPr>
              <a:t>3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28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9528" y="1536725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1786" y="1453311"/>
            <a:ext cx="889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55">
                <a:latin typeface="Lucida Sans Unicode"/>
                <a:cs typeface="Lucida Sans Unicode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5975" y="1663649"/>
            <a:ext cx="3432810" cy="0"/>
          </a:xfrm>
          <a:custGeom>
            <a:avLst/>
            <a:gdLst/>
            <a:ahLst/>
            <a:cxnLst/>
            <a:rect l="l" t="t" r="r" b="b"/>
            <a:pathLst>
              <a:path w="3432810" h="0">
                <a:moveTo>
                  <a:pt x="0" y="0"/>
                </a:moveTo>
                <a:lnTo>
                  <a:pt x="34324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00808" y="1642072"/>
            <a:ext cx="862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67" y="321106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04967" y="2346025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3599" y="321106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04967" y="321106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4967" y="2346025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4967" y="321106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4967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04967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72145" y="2344341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71913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71913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08913" y="234434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 b="1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38859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38859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06040" y="2344341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05810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05810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72756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72756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42809" y="2344341"/>
            <a:ext cx="462915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9575" algn="l"/>
              </a:tabLst>
            </a:pPr>
            <a:r>
              <a:rPr dirty="0" sz="600" spc="10" b="1">
                <a:latin typeface="Times New Roman"/>
                <a:cs typeface="Times New Roman"/>
              </a:rPr>
              <a:t>1.5</a:t>
            </a:r>
            <a:r>
              <a:rPr dirty="0" sz="600" spc="10" b="1">
                <a:latin typeface="Times New Roman"/>
                <a:cs typeface="Times New Roman"/>
              </a:rPr>
              <a:t>	</a:t>
            </a:r>
            <a:r>
              <a:rPr dirty="0" sz="600" spc="15" b="1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39702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39702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876704" y="234434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 b="1">
                <a:latin typeface="Times New Roman"/>
                <a:cs typeface="Times New Roman"/>
              </a:rPr>
              <a:t>2.5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06653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06653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273831" y="2344341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73599" y="2320156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73599" y="321106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610599" y="234434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 b="1">
                <a:latin typeface="Times New Roman"/>
                <a:cs typeface="Times New Roman"/>
              </a:rPr>
              <a:t>3.5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04967" y="234602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47731" y="234602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035259" y="2282544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04967" y="205667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7731" y="205667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04967" y="176733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47731" y="176733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04967" y="147799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47731" y="147799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04967" y="118865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647731" y="118865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035259" y="1125174"/>
            <a:ext cx="66040" cy="990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00" spc="15" b="1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 b="1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 b="1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04967" y="89931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7731" y="89931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95019" y="835831"/>
            <a:ext cx="106045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04967" y="60996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47731" y="60996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95019" y="546489"/>
            <a:ext cx="106045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04967" y="32110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47731" y="32110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995019" y="257625"/>
            <a:ext cx="106045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 b="1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04967" y="321106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04967" y="2346025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73599" y="321106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04967" y="321106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193586" y="561584"/>
            <a:ext cx="2480945" cy="1527810"/>
          </a:xfrm>
          <a:custGeom>
            <a:avLst/>
            <a:gdLst/>
            <a:ahLst/>
            <a:cxnLst/>
            <a:rect l="l" t="t" r="r" b="b"/>
            <a:pathLst>
              <a:path w="2480945" h="1527810">
                <a:moveTo>
                  <a:pt x="0" y="1527671"/>
                </a:moveTo>
                <a:lnTo>
                  <a:pt x="114493" y="1499405"/>
                </a:lnTo>
                <a:lnTo>
                  <a:pt x="226112" y="1470663"/>
                </a:lnTo>
                <a:lnTo>
                  <a:pt x="328626" y="1442403"/>
                </a:lnTo>
                <a:lnTo>
                  <a:pt x="415814" y="1413660"/>
                </a:lnTo>
                <a:lnTo>
                  <a:pt x="484796" y="1385395"/>
                </a:lnTo>
                <a:lnTo>
                  <a:pt x="536050" y="1356652"/>
                </a:lnTo>
                <a:lnTo>
                  <a:pt x="572938" y="1328387"/>
                </a:lnTo>
                <a:lnTo>
                  <a:pt x="614615" y="1271384"/>
                </a:lnTo>
                <a:lnTo>
                  <a:pt x="630317" y="1225359"/>
                </a:lnTo>
                <a:lnTo>
                  <a:pt x="639027" y="1176184"/>
                </a:lnTo>
                <a:lnTo>
                  <a:pt x="643688" y="1125180"/>
                </a:lnTo>
                <a:lnTo>
                  <a:pt x="647245" y="1073671"/>
                </a:lnTo>
                <a:lnTo>
                  <a:pt x="652640" y="1022981"/>
                </a:lnTo>
                <a:lnTo>
                  <a:pt x="662818" y="974432"/>
                </a:lnTo>
                <a:lnTo>
                  <a:pt x="680723" y="929347"/>
                </a:lnTo>
                <a:lnTo>
                  <a:pt x="727671" y="872339"/>
                </a:lnTo>
                <a:lnTo>
                  <a:pt x="766951" y="844073"/>
                </a:lnTo>
                <a:lnTo>
                  <a:pt x="820602" y="815330"/>
                </a:lnTo>
                <a:lnTo>
                  <a:pt x="866640" y="795515"/>
                </a:lnTo>
                <a:lnTo>
                  <a:pt x="913538" y="777400"/>
                </a:lnTo>
                <a:lnTo>
                  <a:pt x="961013" y="760425"/>
                </a:lnTo>
                <a:lnTo>
                  <a:pt x="1008782" y="744031"/>
                </a:lnTo>
                <a:lnTo>
                  <a:pt x="1056562" y="727656"/>
                </a:lnTo>
                <a:lnTo>
                  <a:pt x="1104068" y="710742"/>
                </a:lnTo>
                <a:lnTo>
                  <a:pt x="1151019" y="692728"/>
                </a:lnTo>
                <a:lnTo>
                  <a:pt x="1197130" y="673054"/>
                </a:lnTo>
                <a:lnTo>
                  <a:pt x="1251741" y="644795"/>
                </a:lnTo>
                <a:lnTo>
                  <a:pt x="1292941" y="616052"/>
                </a:lnTo>
                <a:lnTo>
                  <a:pt x="1321684" y="587786"/>
                </a:lnTo>
                <a:lnTo>
                  <a:pt x="1359002" y="518041"/>
                </a:lnTo>
                <a:lnTo>
                  <a:pt x="1369423" y="474214"/>
                </a:lnTo>
                <a:lnTo>
                  <a:pt x="1375404" y="428506"/>
                </a:lnTo>
                <a:lnTo>
                  <a:pt x="1379282" y="381862"/>
                </a:lnTo>
                <a:lnTo>
                  <a:pt x="1383397" y="335225"/>
                </a:lnTo>
                <a:lnTo>
                  <a:pt x="1390085" y="289539"/>
                </a:lnTo>
                <a:lnTo>
                  <a:pt x="1401686" y="245749"/>
                </a:lnTo>
                <a:lnTo>
                  <a:pt x="1435694" y="188741"/>
                </a:lnTo>
                <a:lnTo>
                  <a:pt x="1467794" y="160481"/>
                </a:lnTo>
                <a:lnTo>
                  <a:pt x="1517134" y="131739"/>
                </a:lnTo>
                <a:lnTo>
                  <a:pt x="1593302" y="103473"/>
                </a:lnTo>
                <a:lnTo>
                  <a:pt x="1709232" y="74730"/>
                </a:lnTo>
                <a:lnTo>
                  <a:pt x="1887914" y="46465"/>
                </a:lnTo>
                <a:lnTo>
                  <a:pt x="2171989" y="17722"/>
                </a:lnTo>
                <a:lnTo>
                  <a:pt x="2480489" y="0"/>
                </a:lnTo>
              </a:path>
            </a:pathLst>
          </a:custGeom>
          <a:ln w="114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865228" y="1259753"/>
            <a:ext cx="130175" cy="14859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 spc="-5" b="1">
                <a:latin typeface="Times New Roman"/>
                <a:cs typeface="Times New Roman"/>
              </a:rPr>
              <a:t>pH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821481" y="1651562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>
                <a:moveTo>
                  <a:pt x="34491" y="17245"/>
                </a:moveTo>
                <a:lnTo>
                  <a:pt x="34491" y="26765"/>
                </a:lnTo>
                <a:lnTo>
                  <a:pt x="26765" y="34491"/>
                </a:lnTo>
                <a:lnTo>
                  <a:pt x="17245" y="34491"/>
                </a:lnTo>
                <a:lnTo>
                  <a:pt x="7726" y="34491"/>
                </a:lnTo>
                <a:lnTo>
                  <a:pt x="0" y="26765"/>
                </a:lnTo>
                <a:lnTo>
                  <a:pt x="0" y="17245"/>
                </a:lnTo>
                <a:lnTo>
                  <a:pt x="0" y="7726"/>
                </a:lnTo>
                <a:lnTo>
                  <a:pt x="7726" y="0"/>
                </a:lnTo>
                <a:lnTo>
                  <a:pt x="17245" y="0"/>
                </a:lnTo>
                <a:lnTo>
                  <a:pt x="26765" y="0"/>
                </a:lnTo>
                <a:lnTo>
                  <a:pt x="34491" y="7726"/>
                </a:lnTo>
                <a:lnTo>
                  <a:pt x="34491" y="17245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555453" y="923109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>
                <a:moveTo>
                  <a:pt x="34491" y="17245"/>
                </a:moveTo>
                <a:lnTo>
                  <a:pt x="34491" y="26765"/>
                </a:lnTo>
                <a:lnTo>
                  <a:pt x="26765" y="34491"/>
                </a:lnTo>
                <a:lnTo>
                  <a:pt x="17245" y="34491"/>
                </a:lnTo>
                <a:lnTo>
                  <a:pt x="7726" y="34491"/>
                </a:lnTo>
                <a:lnTo>
                  <a:pt x="0" y="26765"/>
                </a:lnTo>
                <a:lnTo>
                  <a:pt x="0" y="17245"/>
                </a:lnTo>
                <a:lnTo>
                  <a:pt x="0" y="7726"/>
                </a:lnTo>
                <a:lnTo>
                  <a:pt x="7726" y="0"/>
                </a:lnTo>
                <a:lnTo>
                  <a:pt x="17245" y="0"/>
                </a:lnTo>
                <a:lnTo>
                  <a:pt x="26765" y="0"/>
                </a:lnTo>
                <a:lnTo>
                  <a:pt x="34491" y="7726"/>
                </a:lnTo>
                <a:lnTo>
                  <a:pt x="34491" y="17245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3272873" y="520141"/>
            <a:ext cx="70485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solidFill>
                  <a:srgbClr val="FF0000"/>
                </a:solidFill>
                <a:latin typeface="Arial"/>
                <a:cs typeface="Arial"/>
              </a:rPr>
              <a:t>o</a:t>
            </a:r>
            <a:endParaRPr sz="6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207723" y="876550"/>
            <a:ext cx="180975" cy="135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5">
                <a:latin typeface="Symbol"/>
                <a:cs typeface="Symbol"/>
              </a:rPr>
              <a:t></a:t>
            </a:r>
            <a:r>
              <a:rPr dirty="0" sz="700" spc="10">
                <a:latin typeface="Arial"/>
                <a:cs typeface="Arial"/>
              </a:rPr>
              <a:t>=3</a:t>
            </a:r>
            <a:endParaRPr sz="7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307607" y="686614"/>
            <a:ext cx="5080" cy="193675"/>
          </a:xfrm>
          <a:custGeom>
            <a:avLst/>
            <a:gdLst/>
            <a:ahLst/>
            <a:cxnLst/>
            <a:rect l="l" t="t" r="r" b="b"/>
            <a:pathLst>
              <a:path w="5079" h="193675">
                <a:moveTo>
                  <a:pt x="0" y="193052"/>
                </a:moveTo>
                <a:lnTo>
                  <a:pt x="4794" y="0"/>
                </a:lnTo>
              </a:path>
            </a:pathLst>
          </a:custGeom>
          <a:ln w="114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290362" y="649249"/>
            <a:ext cx="43180" cy="58419"/>
          </a:xfrm>
          <a:custGeom>
            <a:avLst/>
            <a:gdLst/>
            <a:ahLst/>
            <a:cxnLst/>
            <a:rect l="l" t="t" r="r" b="b"/>
            <a:pathLst>
              <a:path w="43179" h="58420">
                <a:moveTo>
                  <a:pt x="35964" y="37365"/>
                </a:moveTo>
                <a:lnTo>
                  <a:pt x="22039" y="37365"/>
                </a:lnTo>
                <a:lnTo>
                  <a:pt x="43113" y="57962"/>
                </a:lnTo>
                <a:lnTo>
                  <a:pt x="35964" y="37365"/>
                </a:lnTo>
                <a:close/>
              </a:path>
              <a:path w="43179" h="58420">
                <a:moveTo>
                  <a:pt x="22994" y="0"/>
                </a:moveTo>
                <a:lnTo>
                  <a:pt x="0" y="57008"/>
                </a:lnTo>
                <a:lnTo>
                  <a:pt x="22039" y="37365"/>
                </a:lnTo>
                <a:lnTo>
                  <a:pt x="35964" y="37365"/>
                </a:lnTo>
                <a:lnTo>
                  <a:pt x="22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156296" y="2415239"/>
            <a:ext cx="2295525" cy="5257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6891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latin typeface="Symbol"/>
                <a:cs typeface="Symbol"/>
              </a:rPr>
              <a:t></a:t>
            </a:r>
            <a:endParaRPr sz="900">
              <a:latin typeface="Symbol"/>
              <a:cs typeface="Symbol"/>
            </a:endParaRPr>
          </a:p>
          <a:p>
            <a:pPr>
              <a:lnSpc>
                <a:spcPct val="100000"/>
              </a:lnSpc>
            </a:pPr>
            <a:endParaRPr sz="1300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30">
                <a:solidFill>
                  <a:srgbClr val="3333B2"/>
                </a:solidFill>
                <a:latin typeface="Georgia"/>
                <a:cs typeface="Georgia"/>
              </a:rPr>
              <a:t>11:</a:t>
            </a:r>
            <a:r>
              <a:rPr dirty="0" sz="1000" spc="19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NaOH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30">
                <a:latin typeface="Georgia"/>
                <a:cs typeface="Georgia"/>
              </a:rPr>
              <a:t>H</a:t>
            </a:r>
            <a:r>
              <a:rPr dirty="0" baseline="-11904" sz="1050" spc="44">
                <a:latin typeface="Times New Roman"/>
                <a:cs typeface="Times New Roman"/>
              </a:rPr>
              <a:t>3</a:t>
            </a:r>
            <a:r>
              <a:rPr dirty="0" sz="1000" spc="30">
                <a:latin typeface="Georgia"/>
                <a:cs typeface="Georgia"/>
              </a:rPr>
              <a:t>PO</a:t>
            </a:r>
            <a:r>
              <a:rPr dirty="0" baseline="-11904" sz="1050" spc="44">
                <a:latin typeface="Times New Roman"/>
                <a:cs typeface="Times New Roman"/>
              </a:rPr>
              <a:t>4</a:t>
            </a:r>
            <a:r>
              <a:rPr dirty="0" baseline="-11904" sz="1050" spc="30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1725930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4.8.2</a:t>
            </a:r>
            <a:r>
              <a:rPr dirty="0" sz="1400" spc="10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酸碱滴定通式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861428"/>
            <a:ext cx="433070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滴定由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45">
                <a:latin typeface="Georgia"/>
                <a:cs typeface="Georgia"/>
              </a:rPr>
              <a:t>HCl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HAc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PO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组成的混合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各组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分的浓度如下表所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02639" y="1487487"/>
          <a:ext cx="2402840" cy="1134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910"/>
                <a:gridCol w="897890"/>
                <a:gridCol w="828675"/>
              </a:tblGrid>
              <a:tr h="22875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酸或碱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初始浓度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2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初始体积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635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11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25">
                          <a:latin typeface="Georgia"/>
                          <a:cs typeface="Georgia"/>
                        </a:rPr>
                        <a:t>NaOH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20" b="0" i="1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dirty="0" sz="1100" spc="-20">
                          <a:latin typeface="Georgia"/>
                          <a:cs typeface="Georgia"/>
                        </a:rPr>
                        <a:t>(NaOH)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2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625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5">
                          <a:latin typeface="Georgia"/>
                          <a:cs typeface="Georgia"/>
                        </a:rPr>
                        <a:t>HCl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10" b="0" i="1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dirty="0" sz="1100" spc="-10">
                          <a:latin typeface="Georgia"/>
                          <a:cs typeface="Georgia"/>
                        </a:rPr>
                        <a:t>(HCl)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25" b="0" i="1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dirty="0" baseline="-13888" sz="900" spc="-37" i="1">
                          <a:latin typeface="Arial"/>
                          <a:cs typeface="Arial"/>
                        </a:rPr>
                        <a:t>a</a:t>
                      </a:r>
                      <a:endParaRPr baseline="-13888" sz="900">
                        <a:latin typeface="Arial"/>
                        <a:cs typeface="Arial"/>
                      </a:endParaRPr>
                    </a:p>
                  </a:txBody>
                  <a:tcPr marL="0" marR="0" marB="0" marT="21590"/>
                </a:tc>
              </a:tr>
              <a:tr h="22369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5">
                          <a:latin typeface="Georgia"/>
                          <a:cs typeface="Georgia"/>
                        </a:rPr>
                        <a:t>HAc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10" b="0" i="1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dirty="0" sz="1100" spc="-10">
                          <a:latin typeface="Georgia"/>
                          <a:cs typeface="Georgia"/>
                        </a:rPr>
                        <a:t>(HAc)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25" b="0" i="1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dirty="0" baseline="-13888" sz="900" spc="-37" i="1">
                          <a:latin typeface="Arial"/>
                          <a:cs typeface="Arial"/>
                        </a:rPr>
                        <a:t>a</a:t>
                      </a:r>
                      <a:endParaRPr baseline="-13888" sz="900">
                        <a:latin typeface="Arial"/>
                        <a:cs typeface="Arial"/>
                      </a:endParaRPr>
                    </a:p>
                  </a:txBody>
                  <a:tcPr marL="0" marR="0" marB="0" marT="19050"/>
                </a:tc>
              </a:tr>
              <a:tr h="22872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35">
                          <a:latin typeface="Georgia"/>
                          <a:cs typeface="Georgia"/>
                        </a:rPr>
                        <a:t>H</a:t>
                      </a:r>
                      <a:r>
                        <a:rPr dirty="0" baseline="-13888" sz="900" spc="52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100" spc="35">
                          <a:latin typeface="Georgia"/>
                          <a:cs typeface="Georgia"/>
                        </a:rPr>
                        <a:t>PO</a:t>
                      </a:r>
                      <a:r>
                        <a:rPr dirty="0" baseline="-13888" sz="900" spc="52">
                          <a:latin typeface="Times New Roman"/>
                          <a:cs typeface="Times New Roman"/>
                        </a:rPr>
                        <a:t>4</a:t>
                      </a:r>
                      <a:endParaRPr baseline="-13888"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25" b="0" i="1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dirty="0" sz="1100" spc="25">
                          <a:latin typeface="Georgia"/>
                          <a:cs typeface="Georgia"/>
                        </a:rPr>
                        <a:t>(H</a:t>
                      </a:r>
                      <a:r>
                        <a:rPr dirty="0" baseline="-13888" sz="900" spc="37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100" spc="25">
                          <a:latin typeface="Georgia"/>
                          <a:cs typeface="Georgia"/>
                        </a:rPr>
                        <a:t>PO</a:t>
                      </a:r>
                      <a:r>
                        <a:rPr dirty="0" baseline="-13888" sz="900" spc="37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100" spc="25">
                          <a:latin typeface="Georgia"/>
                          <a:cs typeface="Georgia"/>
                        </a:rPr>
                        <a:t>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1905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100" spc="-25" b="0" i="1">
                          <a:latin typeface="Bookman Old Style"/>
                          <a:cs typeface="Bookman Old Style"/>
                        </a:rPr>
                        <a:t>V</a:t>
                      </a:r>
                      <a:r>
                        <a:rPr dirty="0" baseline="-13888" sz="900" spc="-37" i="1">
                          <a:latin typeface="Arial"/>
                          <a:cs typeface="Arial"/>
                        </a:rPr>
                        <a:t>a</a:t>
                      </a:r>
                      <a:endParaRPr baseline="-13888" sz="900">
                        <a:latin typeface="Arial"/>
                        <a:cs typeface="Arial"/>
                      </a:endParaRPr>
                    </a:p>
                  </a:txBody>
                  <a:tcPr marL="0" marR="0" marB="0" marT="1905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质量平衡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101" y="900099"/>
            <a:ext cx="19786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当</a:t>
            </a:r>
            <a:r>
              <a:rPr dirty="0" spc="10"/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pc="-5"/>
              <a:t>消耗了</a:t>
            </a:r>
            <a:r>
              <a:rPr dirty="0" spc="15"/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V</a:t>
            </a:r>
            <a:r>
              <a:rPr dirty="0" baseline="-13888" sz="900" spc="-89" i="1">
                <a:latin typeface="Arial"/>
                <a:cs typeface="Arial"/>
              </a:rPr>
              <a:t>b</a:t>
            </a:r>
            <a:r>
              <a:rPr dirty="0" baseline="-13888" sz="900" spc="15" i="1">
                <a:latin typeface="Arial"/>
                <a:cs typeface="Arial"/>
              </a:rPr>
              <a:t> </a:t>
            </a:r>
            <a:r>
              <a:rPr dirty="0" sz="1200" spc="-5"/>
              <a:t>体积</a:t>
            </a:r>
            <a:r>
              <a:rPr dirty="0" sz="1200" spc="-90"/>
              <a:t>时</a:t>
            </a:r>
            <a:r>
              <a:rPr dirty="0" sz="1200" spc="-5"/>
              <a:t>：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0741" y="1276261"/>
            <a:ext cx="1186815" cy="556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[Cl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Georgia"/>
                <a:cs typeface="Georgia"/>
              </a:rPr>
              <a:t>[HAc]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[Ac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248" y="1160028"/>
            <a:ext cx="787400" cy="9423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265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70" b="0" i="1">
                <a:latin typeface="Bookman Old Style"/>
                <a:cs typeface="Bookman Old Style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r>
              <a:rPr dirty="0" u="sng" sz="1100" spc="-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V</a:t>
            </a:r>
            <a:r>
              <a:rPr dirty="0" baseline="-13888" sz="900" spc="-89" i="1">
                <a:latin typeface="Arial"/>
                <a:cs typeface="Arial"/>
              </a:rPr>
              <a:t>b</a:t>
            </a:r>
            <a:endParaRPr baseline="-13888" sz="900">
              <a:latin typeface="Arial"/>
              <a:cs typeface="Arial"/>
            </a:endParaRPr>
          </a:p>
          <a:p>
            <a:pPr algn="r" marR="30480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9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  <a:p>
            <a:pPr marL="249554">
              <a:lnSpc>
                <a:spcPct val="100000"/>
              </a:lnSpc>
              <a:spcBef>
                <a:spcPts val="165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V</a:t>
            </a:r>
            <a:r>
              <a:rPr dirty="0" baseline="-13888" sz="900" spc="-89" i="1">
                <a:latin typeface="Arial"/>
                <a:cs typeface="Arial"/>
              </a:rPr>
              <a:t>b</a:t>
            </a:r>
            <a:endParaRPr baseline="-13888" sz="900">
              <a:latin typeface="Arial"/>
              <a:cs typeface="Arial"/>
            </a:endParaRPr>
          </a:p>
          <a:p>
            <a:pPr algn="r" marR="30480">
              <a:lnSpc>
                <a:spcPct val="100000"/>
              </a:lnSpc>
              <a:spcBef>
                <a:spcPts val="6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</a:t>
            </a:r>
            <a:r>
              <a:rPr dirty="0" u="sng" baseline="-13888" sz="900" spc="1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u="sng" baseline="-13888" sz="900" spc="1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9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173" y="2099424"/>
            <a:ext cx="414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0996" y="2182837"/>
            <a:ext cx="3752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0040" algn="l"/>
              </a:tabLst>
            </a:pPr>
            <a:r>
              <a:rPr dirty="0" sz="600" spc="65" i="1">
                <a:latin typeface="Arial"/>
                <a:cs typeface="Arial"/>
              </a:rPr>
              <a:t>a</a:t>
            </a:r>
            <a:r>
              <a:rPr dirty="0" sz="600" spc="65" i="1">
                <a:latin typeface="Arial"/>
                <a:cs typeface="Arial"/>
              </a:rPr>
              <a:t>	</a:t>
            </a:r>
            <a:r>
              <a:rPr dirty="0" sz="600" spc="-10" i="1">
                <a:latin typeface="Arial"/>
                <a:cs typeface="Arial"/>
              </a:rPr>
              <a:t>b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5523" y="2087791"/>
            <a:ext cx="7296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66992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8841" y="2004390"/>
            <a:ext cx="1315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PO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7980" y="2009813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7980" y="210126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9665" y="200981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19665" y="210126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3832" y="200981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93832" y="210126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67406" y="2004390"/>
            <a:ext cx="1316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[HPO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[PO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0443" y="2252202"/>
            <a:ext cx="75120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u="sng" sz="1100" spc="-53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sz="1100" spc="114" b="0" i="1">
                <a:latin typeface="Bookman Old Style"/>
                <a:cs typeface="Bookman Old Style"/>
              </a:rPr>
              <a:t> 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3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endParaRPr baseline="-13888"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 i="1">
                <a:latin typeface="Arial"/>
                <a:cs typeface="Arial"/>
              </a:rPr>
              <a:t>a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V</a:t>
            </a:r>
            <a:r>
              <a:rPr dirty="0" baseline="-13888" sz="900" spc="-89" i="1">
                <a:latin typeface="Arial"/>
                <a:cs typeface="Arial"/>
              </a:rPr>
              <a:t>b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3441" y="2368448"/>
            <a:ext cx="6508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4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电荷平衡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1229106"/>
            <a:ext cx="1264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[Cl</a:t>
            </a:r>
            <a:r>
              <a:rPr dirty="0" baseline="41666" sz="900" spc="15">
                <a:latin typeface="Lucida Sans Unicode"/>
                <a:cs typeface="Lucida Sans Unicode"/>
              </a:rPr>
              <a:t>−</a:t>
            </a:r>
            <a:endParaRPr baseline="41666" sz="9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9673" y="131251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1302" y="1234529"/>
            <a:ext cx="781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532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4435" y="13259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4128" y="123452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4128" y="13259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56317" y="13259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56317" y="1234529"/>
            <a:ext cx="6813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499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0774" y="1229106"/>
            <a:ext cx="3161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[Ac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5">
                <a:latin typeface="Georgia"/>
                <a:cs typeface="Georgia"/>
              </a:rPr>
              <a:t>2[HPO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0">
                <a:latin typeface="Georgia"/>
                <a:cs typeface="Georgia"/>
              </a:rPr>
              <a:t>3[PO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>
                <a:latin typeface="Georgia"/>
                <a:cs typeface="Georgia"/>
              </a:rPr>
              <a:t>[OH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电荷平衡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59673" y="131251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1302" y="1234529"/>
            <a:ext cx="781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5325" algn="l"/>
              </a:tabLst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4435" y="13259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4128" y="123452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4128" y="13259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56317" y="13259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6317" y="1234529"/>
            <a:ext cx="6813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499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7744" y="1229106"/>
            <a:ext cx="442023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[Na</a:t>
            </a:r>
            <a:r>
              <a:rPr dirty="0" baseline="41666" sz="900">
                <a:latin typeface="Times New Roman"/>
                <a:cs typeface="Times New Roman"/>
              </a:rPr>
              <a:t>+</a:t>
            </a:r>
            <a:r>
              <a:rPr dirty="0" sz="110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">
                <a:latin typeface="Georgia"/>
                <a:cs typeface="Georgia"/>
              </a:rPr>
              <a:t>[Cl</a:t>
            </a:r>
            <a:r>
              <a:rPr dirty="0" baseline="41666" sz="900" spc="-7">
                <a:latin typeface="Lucida Sans Unicode"/>
                <a:cs typeface="Lucida Sans Unicode"/>
              </a:rPr>
              <a:t>−</a:t>
            </a:r>
            <a:r>
              <a:rPr dirty="0" sz="1100" spc="-5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[Ac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5">
                <a:latin typeface="Georgia"/>
                <a:cs typeface="Georgia"/>
              </a:rPr>
              <a:t>2[HPO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0">
                <a:latin typeface="Georgia"/>
                <a:cs typeface="Georgia"/>
              </a:rPr>
              <a:t>3[PO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>
                <a:latin typeface="Georgia"/>
                <a:cs typeface="Georgia"/>
              </a:rPr>
              <a:t>[OH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01" y="1578698"/>
            <a:ext cx="15335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上述式子经整理后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3199" y="1982495"/>
            <a:ext cx="67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600" y="1992820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550" y="1899094"/>
            <a:ext cx="1896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  <a:tab pos="1089660" algn="l"/>
                <a:tab pos="1883410" algn="l"/>
              </a:tabLst>
            </a:pPr>
            <a:r>
              <a:rPr dirty="0" u="sng" sz="1100" spc="-2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-114" b="0" i="1">
                <a:latin typeface="Bookman Old Style"/>
                <a:cs typeface="Bookman Old Style"/>
              </a:rPr>
              <a:t>	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	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	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2150" y="2089467"/>
            <a:ext cx="19475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91160" algn="l"/>
              </a:tabLst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 i="1">
                <a:latin typeface="Arial"/>
                <a:cs typeface="Arial"/>
              </a:rPr>
              <a:t>a	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46296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6792" y="1992820"/>
            <a:ext cx="7188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(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33470" y="1998243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0123" y="1992820"/>
            <a:ext cx="1153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(HAc)</a:t>
            </a:r>
            <a:r>
              <a:rPr dirty="0" sz="1100" spc="-5" b="0" i="1">
                <a:latin typeface="Bookman Old Style"/>
                <a:cs typeface="Bookman Old Style"/>
              </a:rPr>
              <a:t>δ</a:t>
            </a:r>
            <a:r>
              <a:rPr dirty="0" sz="1100" spc="-5">
                <a:latin typeface="Georgia"/>
                <a:cs typeface="Georgia"/>
              </a:rPr>
              <a:t>(Ac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610" y="2414714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8109" y="2331300"/>
            <a:ext cx="7664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+</a:t>
            </a:r>
            <a:r>
              <a:rPr dirty="0" sz="1100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3461" y="241471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38224" y="2336723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38224" y="242817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36787" y="233672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36787" y="242817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7845" y="242817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77845" y="2336723"/>
            <a:ext cx="11791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7530" algn="l"/>
                <a:tab pos="10928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95">
                <a:latin typeface="Lucida Sans Unicode"/>
                <a:cs typeface="Lucida Sans Unicode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8849" y="2331300"/>
            <a:ext cx="3296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2</a:t>
            </a:r>
            <a:r>
              <a:rPr dirty="0" sz="1100" spc="-25" b="0" i="1">
                <a:latin typeface="Bookman Old Style"/>
                <a:cs typeface="Bookman Old Style"/>
              </a:rPr>
              <a:t>δ</a:t>
            </a:r>
            <a:r>
              <a:rPr dirty="0" sz="1100" spc="-25">
                <a:latin typeface="Georgia"/>
                <a:cs typeface="Georgia"/>
              </a:rPr>
              <a:t>(HPO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3</a:t>
            </a:r>
            <a:r>
              <a:rPr dirty="0" sz="1100" spc="-10" b="0" i="1">
                <a:latin typeface="Bookman Old Style"/>
                <a:cs typeface="Bookman Old Style"/>
              </a:rPr>
              <a:t>δ</a:t>
            </a:r>
            <a:r>
              <a:rPr dirty="0" sz="1100" spc="-10">
                <a:latin typeface="Georgia"/>
                <a:cs typeface="Georgia"/>
              </a:rPr>
              <a:t>(PO </a:t>
            </a:r>
            <a:r>
              <a:rPr dirty="0" sz="1100" spc="10">
                <a:latin typeface="Georgia"/>
                <a:cs typeface="Georgia"/>
              </a:rPr>
              <a:t>))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95">
                <a:latin typeface="Georgia"/>
                <a:cs typeface="Georgia"/>
              </a:rPr>
              <a:t>[H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>
                <a:latin typeface="Georgia"/>
                <a:cs typeface="Georgia"/>
              </a:rPr>
              <a:t>[OH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])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99" y="66719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599" y="92883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144" y="205127"/>
            <a:ext cx="1502410" cy="829944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894"/>
              </a:spcBef>
            </a:pPr>
            <a:r>
              <a:rPr dirty="0" sz="1200" spc="-90">
                <a:latin typeface="Arial Unicode MS"/>
                <a:cs typeface="Arial Unicode MS"/>
              </a:rPr>
              <a:t>令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90830">
              <a:lnSpc>
                <a:spcPct val="100000"/>
              </a:lnSpc>
              <a:spcBef>
                <a:spcPts val="72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>
                <a:latin typeface="Georgia"/>
                <a:cs typeface="Georgia"/>
              </a:rPr>
              <a:t>(HCl)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z="1100" spc="20">
                <a:latin typeface="Lucida Sans Unicode"/>
                <a:cs typeface="Lucida Sans Unicode"/>
              </a:rPr>
              <a:t>−</a:t>
            </a:r>
            <a:r>
              <a:rPr dirty="0" sz="1100" spc="2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290830">
              <a:lnSpc>
                <a:spcPct val="100000"/>
              </a:lnSpc>
              <a:spcBef>
                <a:spcPts val="74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</a:t>
            </a:r>
            <a:r>
              <a:rPr dirty="0" sz="1100" spc="-195" b="0" i="1">
                <a:latin typeface="Bookman Old Style"/>
                <a:cs typeface="Bookman Old Style"/>
              </a:rPr>
              <a:t> </a:t>
            </a:r>
            <a:r>
              <a:rPr dirty="0" sz="1100" spc="45">
                <a:latin typeface="Georgia"/>
                <a:cs typeface="Georgia"/>
              </a:rPr>
              <a:t>(Ac</a:t>
            </a:r>
            <a:r>
              <a:rPr dirty="0" baseline="37037" sz="900" spc="67">
                <a:latin typeface="Lucida Sans Unicode"/>
                <a:cs typeface="Lucida Sans Unicode"/>
              </a:rPr>
              <a:t>−</a:t>
            </a:r>
            <a:r>
              <a:rPr dirty="0" sz="1100" spc="45">
                <a:latin typeface="Georgia"/>
                <a:cs typeface="Georgia"/>
              </a:rPr>
              <a:t>)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15">
                <a:latin typeface="Lucida Sans Unicode"/>
                <a:cs typeface="Lucida Sans Unicode"/>
              </a:rPr>
              <a:t>−</a:t>
            </a:r>
            <a:r>
              <a:rPr dirty="0" sz="1100" spc="15" b="0" i="1">
                <a:latin typeface="Bookman Old Style"/>
                <a:cs typeface="Bookman Old Style"/>
              </a:rPr>
              <a:t>δ</a:t>
            </a:r>
            <a:r>
              <a:rPr dirty="0" sz="1100" spc="15">
                <a:latin typeface="Georgia"/>
                <a:cs typeface="Georgia"/>
              </a:rPr>
              <a:t>(Ac</a:t>
            </a:r>
            <a:r>
              <a:rPr dirty="0" baseline="37037" sz="900" spc="22">
                <a:latin typeface="Lucida Sans Unicode"/>
                <a:cs typeface="Lucida Sans Unicode"/>
              </a:rPr>
              <a:t>−</a:t>
            </a:r>
            <a:r>
              <a:rPr dirty="0" sz="1100" spc="1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599" y="119049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7669" y="1188428"/>
            <a:ext cx="100456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944880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4763" y="1117358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4763" y="120189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3339" y="111735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3339" y="120189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84384" y="111735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4384" y="120189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53" y="1105014"/>
            <a:ext cx="32518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0">
                <a:latin typeface="Lucida Sans Unicode"/>
                <a:cs typeface="Lucida Sans Unicode"/>
              </a:rPr>
              <a:t>−</a:t>
            </a:r>
            <a:r>
              <a:rPr dirty="0" sz="1100" spc="-40">
                <a:latin typeface="Georgia"/>
                <a:cs typeface="Georgia"/>
              </a:rPr>
              <a:t>(</a:t>
            </a:r>
            <a:r>
              <a:rPr dirty="0" sz="1100" spc="-40" b="0" i="1">
                <a:latin typeface="Bookman Old Style"/>
                <a:cs typeface="Bookman Old Style"/>
              </a:rPr>
              <a:t>δ</a:t>
            </a:r>
            <a:r>
              <a:rPr dirty="0" sz="1100" spc="-40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2</a:t>
            </a:r>
            <a:r>
              <a:rPr dirty="0" sz="1100" spc="-25" b="0" i="1">
                <a:latin typeface="Bookman Old Style"/>
                <a:cs typeface="Bookman Old Style"/>
              </a:rPr>
              <a:t>δ</a:t>
            </a:r>
            <a:r>
              <a:rPr dirty="0" sz="1100" spc="-25">
                <a:latin typeface="Georgia"/>
                <a:cs typeface="Georgia"/>
              </a:rPr>
              <a:t>(HPO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3</a:t>
            </a:r>
            <a:r>
              <a:rPr dirty="0" sz="1100" spc="-10" b="0" i="1">
                <a:latin typeface="Bookman Old Style"/>
                <a:cs typeface="Bookman Old Style"/>
              </a:rPr>
              <a:t>δ</a:t>
            </a:r>
            <a:r>
              <a:rPr dirty="0" sz="1100" spc="-10">
                <a:latin typeface="Georgia"/>
                <a:cs typeface="Georgia"/>
              </a:rPr>
              <a:t>(PO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599" y="145215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3144" y="1366672"/>
            <a:ext cx="1438275" cy="594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90"/>
              </a:spcBef>
            </a:pPr>
            <a:r>
              <a:rPr dirty="0" sz="1100" spc="170">
                <a:latin typeface="Georgia"/>
                <a:cs typeface="Georgia"/>
              </a:rPr>
              <a:t>∆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3703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3703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1730"/>
              </a:spcBef>
            </a:pPr>
            <a:r>
              <a:rPr dirty="0" sz="1200" spc="-9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805" y="2013518"/>
            <a:ext cx="208279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u="sng" sz="1100" spc="-2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baseline="-13888" sz="900" spc="-89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endParaRPr baseline="-13888"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 i="1">
                <a:latin typeface="Arial"/>
                <a:cs typeface="Arial"/>
              </a:rPr>
              <a:t>a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1517" y="2036025"/>
            <a:ext cx="484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</a:t>
            </a:r>
            <a:r>
              <a:rPr dirty="0" sz="1100" spc="-229" b="0" i="1">
                <a:latin typeface="Bookman Old Style"/>
                <a:cs typeface="Bookman Old Style"/>
              </a:rPr>
              <a:t> </a:t>
            </a:r>
            <a:r>
              <a:rPr dirty="0" sz="1100">
                <a:latin typeface="Georgia"/>
                <a:cs typeface="Georgia"/>
              </a:rPr>
              <a:t>(HCl)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1862" y="1985746"/>
            <a:ext cx="2698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r>
              <a:rPr dirty="0" sz="600" spc="220">
                <a:latin typeface="Lucida Sans Unicode"/>
                <a:cs typeface="Lucida Sans Unicode"/>
              </a:rPr>
              <a:t> </a:t>
            </a:r>
            <a:r>
              <a:rPr dirty="0" baseline="-20202" sz="1650" spc="-89" b="0" i="1">
                <a:latin typeface="Bookman Old Style"/>
                <a:cs typeface="Bookman Old Style"/>
              </a:rPr>
              <a:t>c</a:t>
            </a:r>
            <a:endParaRPr baseline="-20202" sz="165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0063" y="2036025"/>
            <a:ext cx="22999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 spc="25">
                <a:latin typeface="Georgia"/>
                <a:cs typeface="Georgia"/>
              </a:rPr>
              <a:t>(Ac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>
                <a:latin typeface="Georgia"/>
                <a:cs typeface="Georgia"/>
              </a:rPr>
              <a:t>(HAc)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5" b="0" i="1">
                <a:latin typeface="Bookman Old Style"/>
                <a:cs typeface="Bookman Old Style"/>
              </a:rPr>
              <a:t>F</a:t>
            </a:r>
            <a:r>
              <a:rPr dirty="0" sz="1100" spc="-280" b="0" i="1">
                <a:latin typeface="Bookman Old Style"/>
                <a:cs typeface="Bookman Old Style"/>
              </a:rPr>
              <a:t> </a:t>
            </a:r>
            <a:r>
              <a:rPr dirty="0" sz="1100" spc="-3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83140" y="2119426"/>
            <a:ext cx="90614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  <a:tab pos="591185" algn="l"/>
                <a:tab pos="84645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44493" y="2036025"/>
            <a:ext cx="889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0" i="1">
                <a:latin typeface="Bookman Old Style"/>
                <a:cs typeface="Bookman Old Style"/>
              </a:rPr>
              <a:t>c</a:t>
            </a:r>
            <a:r>
              <a:rPr dirty="0" sz="1100" spc="-4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4217" y="2246363"/>
            <a:ext cx="3597275" cy="0"/>
          </a:xfrm>
          <a:custGeom>
            <a:avLst/>
            <a:gdLst/>
            <a:ahLst/>
            <a:cxnLst/>
            <a:rect l="l" t="t" r="r" b="b"/>
            <a:pathLst>
              <a:path w="3597275" h="0">
                <a:moveTo>
                  <a:pt x="0" y="0"/>
                </a:moveTo>
                <a:lnTo>
                  <a:pt x="35968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191283" y="2224786"/>
            <a:ext cx="862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291" y="2129751"/>
            <a:ext cx="367665" cy="5695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1054" y="2310028"/>
            <a:ext cx="172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40">
                <a:latin typeface="Arial Unicode MS"/>
                <a:cs typeface="Arial Unicode MS"/>
              </a:rPr>
              <a:t>2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29474" y="2497340"/>
            <a:ext cx="194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r>
              <a:rPr dirty="0" sz="600" spc="275" i="1">
                <a:latin typeface="Arial"/>
                <a:cs typeface="Arial"/>
              </a:rPr>
              <a:t> </a:t>
            </a: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0383" y="2413939"/>
            <a:ext cx="574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 spc="-60" b="0" i="1">
                <a:latin typeface="Bookman Old Style"/>
                <a:cs typeface="Bookman Old Style"/>
              </a:rPr>
              <a:t>c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4217" y="2624277"/>
            <a:ext cx="837565" cy="0"/>
          </a:xfrm>
          <a:custGeom>
            <a:avLst/>
            <a:gdLst/>
            <a:ahLst/>
            <a:cxnLst/>
            <a:rect l="l" t="t" r="r" b="b"/>
            <a:pathLst>
              <a:path w="837564" h="0">
                <a:moveTo>
                  <a:pt x="0" y="0"/>
                </a:moveTo>
                <a:lnTo>
                  <a:pt x="83734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11517" y="2602700"/>
            <a:ext cx="862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914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通式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917067"/>
            <a:ext cx="43567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由于碱滴定酸的过程也可看作是酸滴定碱的过</a:t>
            </a:r>
            <a:r>
              <a:rPr dirty="0" spc="-80"/>
              <a:t>程</a:t>
            </a:r>
            <a:r>
              <a:rPr dirty="0" spc="-185"/>
              <a:t>，</a:t>
            </a:r>
            <a:r>
              <a:rPr dirty="0" spc="-5"/>
              <a:t>并且上式 </a:t>
            </a:r>
            <a:r>
              <a:rPr dirty="0" spc="-10"/>
              <a:t>中的各项是线性加</a:t>
            </a:r>
            <a:r>
              <a:rPr dirty="0" spc="-80"/>
              <a:t>和</a:t>
            </a:r>
            <a:r>
              <a:rPr dirty="0" spc="-204"/>
              <a:t>，</a:t>
            </a:r>
            <a:r>
              <a:rPr dirty="0" spc="-10"/>
              <a:t>所</a:t>
            </a:r>
            <a:r>
              <a:rPr dirty="0" spc="-80"/>
              <a:t>以</a:t>
            </a:r>
            <a:r>
              <a:rPr dirty="0" spc="-204"/>
              <a:t>，</a:t>
            </a:r>
            <a:r>
              <a:rPr dirty="0" spc="-10"/>
              <a:t>上式最终可以一般化为如下酸碱滴</a:t>
            </a:r>
            <a:r>
              <a:rPr dirty="0" spc="-5"/>
              <a:t>定 </a:t>
            </a:r>
            <a:r>
              <a:rPr dirty="0" spc="-5"/>
              <a:t>通</a:t>
            </a:r>
            <a:r>
              <a:rPr dirty="0" spc="-90"/>
              <a:t>式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87743" y="169271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2109444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2096744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1743278"/>
            <a:ext cx="50749" cy="3661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737138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6"/>
                </a:lnTo>
                <a:lnTo>
                  <a:pt x="4008" y="392031"/>
                </a:lnTo>
                <a:lnTo>
                  <a:pt x="14922" y="408184"/>
                </a:lnTo>
                <a:lnTo>
                  <a:pt x="31075" y="419098"/>
                </a:lnTo>
                <a:lnTo>
                  <a:pt x="50800" y="423106"/>
                </a:lnTo>
                <a:lnTo>
                  <a:pt x="4381765" y="423106"/>
                </a:lnTo>
                <a:lnTo>
                  <a:pt x="4401490" y="419098"/>
                </a:lnTo>
                <a:lnTo>
                  <a:pt x="4417643" y="408184"/>
                </a:lnTo>
                <a:lnTo>
                  <a:pt x="4428558" y="392031"/>
                </a:lnTo>
                <a:lnTo>
                  <a:pt x="4432566" y="372306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781375"/>
            <a:ext cx="0" cy="347345"/>
          </a:xfrm>
          <a:custGeom>
            <a:avLst/>
            <a:gdLst/>
            <a:ahLst/>
            <a:cxnLst/>
            <a:rect l="l" t="t" r="r" b="b"/>
            <a:pathLst>
              <a:path w="0" h="347344">
                <a:moveTo>
                  <a:pt x="0" y="34711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76867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75597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743275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40014" y="1741170"/>
            <a:ext cx="11048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4913" y="1824583"/>
            <a:ext cx="62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14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68475" y="1834896"/>
            <a:ext cx="736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69265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ρ </a:t>
            </a:r>
            <a:r>
              <a:rPr dirty="0" sz="1100" spc="140">
                <a:latin typeface="Georgia"/>
                <a:cs typeface="Georgia"/>
              </a:rPr>
              <a:t>=	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52801" y="1824583"/>
            <a:ext cx="1809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45" i="1">
                <a:latin typeface="Arial"/>
                <a:cs typeface="Arial"/>
              </a:rPr>
              <a:t>s</a:t>
            </a:r>
            <a:r>
              <a:rPr dirty="0" sz="600" spc="65" i="1">
                <a:latin typeface="Arial"/>
                <a:cs typeface="Arial"/>
              </a:rPr>
              <a:t> </a:t>
            </a:r>
            <a:r>
              <a:rPr dirty="0" sz="600" spc="45" i="1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63711" y="1741170"/>
            <a:ext cx="560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 spc="-60" b="0" i="1">
                <a:latin typeface="Bookman Old Style"/>
                <a:cs typeface="Bookman Old Style"/>
              </a:rPr>
              <a:t>c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07082" y="1951507"/>
            <a:ext cx="704850" cy="0"/>
          </a:xfrm>
          <a:custGeom>
            <a:avLst/>
            <a:gdLst/>
            <a:ahLst/>
            <a:cxnLst/>
            <a:rect l="l" t="t" r="r" b="b"/>
            <a:pathLst>
              <a:path w="704850" h="0">
                <a:moveTo>
                  <a:pt x="0" y="0"/>
                </a:moveTo>
                <a:lnTo>
                  <a:pt x="7045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801914" y="1929930"/>
            <a:ext cx="1252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81990" algn="l"/>
              </a:tabLst>
            </a:pPr>
            <a:r>
              <a:rPr dirty="0" sz="1100" spc="-35" b="0" i="1">
                <a:latin typeface="Bookman Old Style"/>
                <a:cs typeface="Bookman Old Style"/>
              </a:rPr>
              <a:t>V</a:t>
            </a:r>
            <a:r>
              <a:rPr dirty="0" baseline="-13888" sz="900" spc="-52" i="1">
                <a:latin typeface="Arial"/>
                <a:cs typeface="Arial"/>
              </a:rPr>
              <a:t>s	</a:t>
            </a:r>
            <a:r>
              <a:rPr dirty="0" sz="1100" spc="60" b="0" i="1">
                <a:latin typeface="Bookman Old Style"/>
                <a:cs typeface="Bookman Old Style"/>
              </a:rPr>
              <a:t>F</a:t>
            </a:r>
            <a:r>
              <a:rPr dirty="0" baseline="-13888" sz="900" spc="89" i="1">
                <a:latin typeface="Arial"/>
                <a:cs typeface="Arial"/>
              </a:rPr>
              <a:t>t</a:t>
            </a:r>
            <a:r>
              <a:rPr dirty="0" sz="1100" spc="60" b="0" i="1">
                <a:latin typeface="Bookman Old Style"/>
                <a:cs typeface="Bookman Old Style"/>
              </a:rPr>
              <a:t>c</a:t>
            </a:r>
            <a:r>
              <a:rPr dirty="0" baseline="-13888" sz="900" spc="89" i="1">
                <a:latin typeface="Arial"/>
                <a:cs typeface="Arial"/>
              </a:rPr>
              <a:t>t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70">
                <a:latin typeface="Georgia"/>
                <a:cs typeface="Georgia"/>
              </a:rPr>
              <a:t>∆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2548" y="1826031"/>
            <a:ext cx="2179955" cy="20066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r" marR="5080">
              <a:lnSpc>
                <a:spcPts val="625"/>
              </a:lnSpc>
              <a:spcBef>
                <a:spcPts val="160"/>
              </a:spcBef>
            </a:pPr>
            <a:r>
              <a:rPr dirty="0" sz="1100" spc="-35">
                <a:latin typeface="Georgia"/>
                <a:cs typeface="Georgia"/>
              </a:rPr>
              <a:t>(42)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625"/>
              </a:lnSpc>
            </a:pPr>
            <a:r>
              <a:rPr dirty="0" sz="1100" spc="540">
                <a:latin typeface="Arial Unicode MS"/>
                <a:cs typeface="Arial Unicode MS"/>
              </a:rPr>
              <a:t>2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444" y="2228570"/>
            <a:ext cx="43497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下标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0" b="0" i="1">
                <a:latin typeface="Bookman Old Style"/>
                <a:cs typeface="Bookman Old Style"/>
              </a:rPr>
              <a:t>t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85" b="0" i="1">
                <a:latin typeface="Bookman Old Style"/>
                <a:cs typeface="Bookman Old Style"/>
              </a:rPr>
              <a:t>s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分别代表滴定剂和样</a:t>
            </a:r>
            <a:r>
              <a:rPr dirty="0" sz="1200" spc="-65">
                <a:latin typeface="Arial Unicode MS"/>
                <a:cs typeface="Arial Unicode MS"/>
              </a:rPr>
              <a:t>品；</a:t>
            </a:r>
            <a:r>
              <a:rPr dirty="0" sz="1100" spc="-65" b="0" i="1">
                <a:latin typeface="Bookman Old Style"/>
                <a:cs typeface="Bookman Old Style"/>
              </a:rPr>
              <a:t>V</a:t>
            </a:r>
            <a:r>
              <a:rPr dirty="0" baseline="-13888" sz="900" spc="-97" i="1">
                <a:latin typeface="Arial"/>
                <a:cs typeface="Arial"/>
              </a:rPr>
              <a:t>t</a:t>
            </a:r>
            <a:r>
              <a:rPr dirty="0" baseline="-13888" sz="900" spc="44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5" b="0" i="1">
                <a:latin typeface="Bookman Old Style"/>
                <a:cs typeface="Bookman Old Style"/>
              </a:rPr>
              <a:t>V</a:t>
            </a:r>
            <a:r>
              <a:rPr dirty="0" baseline="-13888" sz="900" spc="-52" i="1">
                <a:latin typeface="Arial"/>
                <a:cs typeface="Arial"/>
              </a:rPr>
              <a:t>s</a:t>
            </a:r>
            <a:r>
              <a:rPr dirty="0" baseline="-13888" sz="900" spc="-44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分别代表滴定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剂和样品的体</a:t>
            </a:r>
            <a:r>
              <a:rPr dirty="0" sz="1200" spc="-20">
                <a:latin typeface="Arial Unicode MS"/>
                <a:cs typeface="Arial Unicode MS"/>
              </a:rPr>
              <a:t>积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3449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质子结合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或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解离函数</a:t>
            </a:r>
            <a:r>
              <a:rPr dirty="0" sz="1050" spc="-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20" b="0" i="1">
                <a:solidFill>
                  <a:srgbClr val="FFFFFF"/>
                </a:solidFill>
                <a:latin typeface="Bookman Old Style"/>
                <a:cs typeface="Bookman Old Style"/>
              </a:rPr>
              <a:t>F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15051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53453" y="613587"/>
            <a:ext cx="4142104" cy="645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</a:t>
            </a:r>
            <a:r>
              <a:rPr dirty="0" sz="1100" spc="1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函数用分布系数来表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有规律可</a:t>
            </a:r>
            <a:r>
              <a:rPr dirty="0" sz="1200" spc="-80">
                <a:latin typeface="Arial Unicode MS"/>
                <a:cs typeface="Arial Unicode MS"/>
              </a:rPr>
              <a:t>循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现举若干例子说</a:t>
            </a:r>
            <a:r>
              <a:rPr dirty="0" sz="1200" spc="-90">
                <a:latin typeface="Arial Unicode MS"/>
                <a:cs typeface="Arial Unicode MS"/>
              </a:rPr>
              <a:t>明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对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</a:t>
            </a:r>
            <a:r>
              <a:rPr dirty="0" baseline="-13888" sz="900" spc="-7">
                <a:latin typeface="Times New Roman"/>
                <a:cs typeface="Times New Roman"/>
              </a:rPr>
              <a:t>3</a:t>
            </a:r>
            <a:r>
              <a:rPr dirty="0" sz="1100" spc="-5">
                <a:latin typeface="Georgia"/>
                <a:cs typeface="Georgia"/>
              </a:rPr>
              <a:t>PO</a:t>
            </a:r>
            <a:r>
              <a:rPr dirty="0" baseline="-13888" sz="900" spc="-7">
                <a:latin typeface="Times New Roman"/>
                <a:cs typeface="Times New Roman"/>
              </a:rPr>
              <a:t>4</a:t>
            </a:r>
            <a:r>
              <a:rPr dirty="0" sz="1200" spc="-5">
                <a:latin typeface="Arial Unicode MS"/>
                <a:cs typeface="Arial Unicode MS"/>
              </a:rPr>
              <a:t>，它只表现为失去质子的趋势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9831" y="151131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4593" y="1433322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4593" y="15247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4394" y="1427911"/>
            <a:ext cx="1277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0">
                <a:latin typeface="Lucida Sans Unicode"/>
                <a:cs typeface="Lucida Sans Unicode"/>
              </a:rPr>
              <a:t>−</a:t>
            </a:r>
            <a:r>
              <a:rPr dirty="0" sz="1100" spc="-50" b="0" i="1">
                <a:latin typeface="Bookman Old Style"/>
                <a:cs typeface="Bookman Old Style"/>
              </a:rPr>
              <a:t>δ</a:t>
            </a:r>
            <a:r>
              <a:rPr dirty="0" sz="1100" spc="-50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45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3156" y="143332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3156" y="15247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6500" y="1427911"/>
            <a:ext cx="870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δ</a:t>
            </a:r>
            <a:r>
              <a:rPr dirty="0" sz="1100" spc="-15">
                <a:latin typeface="Georgia"/>
                <a:cs typeface="Georgia"/>
              </a:rPr>
              <a:t>(HPO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3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4201" y="143332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4201" y="15247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1456" y="1427911"/>
            <a:ext cx="528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δ</a:t>
            </a:r>
            <a:r>
              <a:rPr dirty="0" sz="1100">
                <a:latin typeface="Georgia"/>
                <a:cs typeface="Georgia"/>
              </a:rPr>
              <a:t>(PO</a:t>
            </a:r>
            <a:r>
              <a:rPr dirty="0" sz="1100" spc="114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4599" y="187626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66153" y="1777504"/>
            <a:ext cx="28009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 </a:t>
            </a:r>
            <a:r>
              <a:rPr dirty="0" sz="1100" spc="-10">
                <a:latin typeface="Georgia"/>
                <a:cs typeface="Georgia"/>
              </a:rPr>
              <a:t>NaH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100" spc="-10">
                <a:latin typeface="Georgia"/>
                <a:cs typeface="Georgia"/>
              </a:rPr>
              <a:t>PO</a:t>
            </a:r>
            <a:r>
              <a:rPr dirty="0" baseline="-13888" sz="900" spc="-15">
                <a:latin typeface="Times New Roman"/>
                <a:cs typeface="Times New Roman"/>
              </a:rPr>
              <a:t>4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它同时具备得失质子的趋势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99869" y="215907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99869" y="225052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2387" y="2153653"/>
            <a:ext cx="12712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0">
                <a:latin typeface="Lucida Sans Unicode"/>
                <a:cs typeface="Lucida Sans Unicode"/>
              </a:rPr>
              <a:t>−</a:t>
            </a:r>
            <a:r>
              <a:rPr dirty="0" sz="1100" spc="-20" b="0" i="1">
                <a:latin typeface="Bookman Old Style"/>
                <a:cs typeface="Bookman Old Style"/>
              </a:rPr>
              <a:t>δ</a:t>
            </a:r>
            <a:r>
              <a:rPr dirty="0" sz="1100" spc="-20">
                <a:latin typeface="Georgia"/>
                <a:cs typeface="Georgia"/>
              </a:rPr>
              <a:t>(HPO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00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40914" y="215907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40914" y="225052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14547" y="2237066"/>
            <a:ext cx="327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733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18168" y="2153653"/>
            <a:ext cx="12833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δ</a:t>
            </a:r>
            <a:r>
              <a:rPr dirty="0" sz="1100">
                <a:latin typeface="Georgia"/>
                <a:cs typeface="Georgia"/>
              </a:rPr>
              <a:t>(PO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4599" y="2602014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51255" y="2599944"/>
            <a:ext cx="5372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7520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98687" y="2528874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98687" y="261340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1553" y="2503246"/>
            <a:ext cx="332295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对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35">
                <a:latin typeface="Georgia"/>
                <a:cs typeface="Georgia"/>
              </a:rPr>
              <a:t>(NH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HPO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表现为失质子的趋势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55927" y="288483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55927" y="29762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84336" y="2884830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84336" y="29762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9574" y="2962808"/>
            <a:ext cx="11779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3600" algn="l"/>
                <a:tab pos="111823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09339" y="296280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2370" y="2879407"/>
            <a:ext cx="3209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5" b="0" i="1">
                <a:latin typeface="Bookman Old Style"/>
                <a:cs typeface="Bookman Old Style"/>
              </a:rPr>
              <a:t>F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">
                <a:latin typeface="Lucida Sans Unicode"/>
                <a:cs typeface="Lucida Sans Unicode"/>
              </a:rPr>
              <a:t>−</a:t>
            </a:r>
            <a:r>
              <a:rPr dirty="0" sz="1100" spc="-5" b="0" i="1">
                <a:latin typeface="Bookman Old Style"/>
                <a:cs typeface="Bookman Old Style"/>
              </a:rPr>
              <a:t>δ</a:t>
            </a:r>
            <a:r>
              <a:rPr dirty="0" sz="1100" spc="-5">
                <a:latin typeface="Georgia"/>
                <a:cs typeface="Georgia"/>
              </a:rPr>
              <a:t>(PO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>
                <a:latin typeface="Georgia"/>
                <a:cs typeface="Georgia"/>
              </a:rPr>
              <a:t>2</a:t>
            </a:r>
            <a:r>
              <a:rPr dirty="0" sz="1100" spc="-60" b="0" i="1">
                <a:latin typeface="Bookman Old Style"/>
                <a:cs typeface="Bookman Old Style"/>
              </a:rPr>
              <a:t>δ</a:t>
            </a:r>
            <a:r>
              <a:rPr dirty="0" sz="1100" spc="-60">
                <a:latin typeface="Georgia"/>
                <a:cs typeface="Georgia"/>
              </a:rPr>
              <a:t>(H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55">
                <a:latin typeface="Georgia"/>
                <a:cs typeface="Georgia"/>
              </a:rPr>
              <a:t>2</a:t>
            </a:r>
            <a:r>
              <a:rPr dirty="0" sz="1100" spc="-55" b="0" i="1">
                <a:latin typeface="Bookman Old Style"/>
                <a:cs typeface="Bookman Old Style"/>
              </a:rPr>
              <a:t>δ</a:t>
            </a:r>
            <a:r>
              <a:rPr dirty="0" sz="1100" spc="-55">
                <a:latin typeface="Georgia"/>
                <a:cs typeface="Georgia"/>
              </a:rPr>
              <a:t>(NH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72593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4.8.3</a:t>
            </a:r>
            <a:r>
              <a:rPr dirty="0" sz="1400" spc="10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酸碱滴定误差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16470"/>
            <a:ext cx="424497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酸碱滴定过程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当采用指示剂确定终点时存在的问题是指 示剂并不一定在化学计量点时改变颜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从而导致滴定终点与化 </a:t>
            </a:r>
            <a:r>
              <a:rPr dirty="0" sz="1200" spc="-5">
                <a:latin typeface="Arial Unicode MS"/>
                <a:cs typeface="Arial Unicode MS"/>
              </a:rPr>
              <a:t>学计量点不一</a:t>
            </a:r>
            <a:r>
              <a:rPr dirty="0" sz="1200" spc="-80">
                <a:latin typeface="Arial Unicode MS"/>
                <a:cs typeface="Arial Unicode MS"/>
              </a:rPr>
              <a:t>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由此产生滴定误</a:t>
            </a:r>
            <a:r>
              <a:rPr dirty="0" sz="1200" spc="-26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（或称终点误</a:t>
            </a:r>
            <a:r>
              <a:rPr dirty="0" sz="1200" spc="30">
                <a:latin typeface="Arial Unicode MS"/>
                <a:cs typeface="Arial Unicode MS"/>
              </a:rPr>
              <a:t>差</a:t>
            </a:r>
            <a:r>
              <a:rPr dirty="0" sz="1200" spc="-65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当用碱滴定酸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滴定误差可表示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033" y="2129104"/>
            <a:ext cx="481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TE%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748" y="2022094"/>
            <a:ext cx="2392680" cy="397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sng" sz="1200" spc="-3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终点时碱过</a:t>
            </a:r>
            <a:r>
              <a:rPr dirty="0" u="sng" sz="1200" spc="-26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量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（或不</a:t>
            </a:r>
            <a:r>
              <a:rPr dirty="0" u="sng" sz="1200" spc="3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足</a:t>
            </a:r>
            <a:r>
              <a:rPr dirty="0" u="sng" sz="1200" spc="-28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）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的物质的量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200" spc="-5">
                <a:latin typeface="Arial Unicode MS"/>
                <a:cs typeface="Arial Unicode MS"/>
              </a:rPr>
              <a:t>酸的物质的量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1748" y="2129104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以体积比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表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示滴定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误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差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44" y="921766"/>
            <a:ext cx="4434840" cy="11988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设以浓度为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滴定体积为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90" b="0" i="1">
                <a:latin typeface="Bookman Old Style"/>
                <a:cs typeface="Bookman Old Style"/>
              </a:rPr>
              <a:t>V</a:t>
            </a:r>
            <a:r>
              <a:rPr dirty="0" baseline="-13888" sz="900" spc="-135">
                <a:latin typeface="Times New Roman"/>
                <a:cs typeface="Times New Roman"/>
              </a:rPr>
              <a:t>0</a:t>
            </a:r>
            <a:r>
              <a:rPr dirty="0" sz="1200" spc="-9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浓度为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在化学计量点时消耗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的体积为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70" b="0" i="1">
                <a:latin typeface="Bookman Old Style"/>
                <a:cs typeface="Bookman Old Style"/>
              </a:rPr>
              <a:t>V</a:t>
            </a:r>
            <a:r>
              <a:rPr dirty="0" baseline="-13888" sz="900" spc="-104" i="1">
                <a:latin typeface="Arial"/>
                <a:cs typeface="Arial"/>
              </a:rPr>
              <a:t>t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6510">
              <a:lnSpc>
                <a:spcPct val="100000"/>
              </a:lnSpc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5" b="0" i="1">
                <a:latin typeface="Bookman Old Style"/>
                <a:cs typeface="Bookman Old Style"/>
              </a:rPr>
              <a:t>V</a:t>
            </a:r>
            <a:r>
              <a:rPr dirty="0" baseline="-13888" sz="900" spc="22">
                <a:latin typeface="Times New Roman"/>
                <a:cs typeface="Times New Roman"/>
              </a:rPr>
              <a:t>sp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(HCl)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367030">
              <a:lnSpc>
                <a:spcPct val="100000"/>
              </a:lnSpc>
              <a:spcBef>
                <a:spcPts val="1435"/>
              </a:spcBef>
            </a:pPr>
            <a:r>
              <a:rPr dirty="0" sz="1200" spc="-9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2500" y="2091893"/>
            <a:ext cx="245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22" b="0" i="1">
                <a:latin typeface="Bookman Old Style"/>
                <a:cs typeface="Bookman Old Style"/>
              </a:rPr>
              <a:t>V</a:t>
            </a:r>
            <a:r>
              <a:rPr dirty="0" sz="600" spc="15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60600" y="2281453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 h="0">
                <a:moveTo>
                  <a:pt x="0" y="0"/>
                </a:moveTo>
                <a:lnTo>
                  <a:pt x="1755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76361" y="2164842"/>
            <a:ext cx="634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308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9685" y="2071116"/>
            <a:ext cx="4356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>
                <a:latin typeface="Georgia"/>
                <a:cs typeface="Georgia"/>
              </a:rPr>
              <a:t>(HCl)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51189" y="2281453"/>
            <a:ext cx="553085" cy="0"/>
          </a:xfrm>
          <a:custGeom>
            <a:avLst/>
            <a:gdLst/>
            <a:ahLst/>
            <a:cxnLst/>
            <a:rect l="l" t="t" r="r" b="b"/>
            <a:pathLst>
              <a:path w="553085" h="0">
                <a:moveTo>
                  <a:pt x="0" y="0"/>
                </a:moveTo>
                <a:lnTo>
                  <a:pt x="5525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43480" y="2259876"/>
            <a:ext cx="998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07034" algn="l"/>
              </a:tabLst>
            </a:pP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	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2488476"/>
            <a:ext cx="172021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下</a:t>
            </a:r>
            <a:r>
              <a:rPr dirty="0" sz="1200" spc="175">
                <a:latin typeface="Arial Unicode MS"/>
                <a:cs typeface="Arial Unicode MS"/>
              </a:rPr>
              <a:t>标</a:t>
            </a:r>
            <a:r>
              <a:rPr dirty="0" sz="1100" spc="-35">
                <a:latin typeface="Georgia"/>
                <a:cs typeface="Georgia"/>
              </a:rPr>
              <a:t>sp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表示化学计量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109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推导过程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984" y="1206779"/>
            <a:ext cx="569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TE%</a:t>
            </a:r>
            <a:r>
              <a:rPr dirty="0" sz="1100" spc="3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96784" y="1099769"/>
            <a:ext cx="2392680" cy="39751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u="sng" spc="-3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pc="-5">
                <a:uFill>
                  <a:solidFill>
                    <a:srgbClr val="000000"/>
                  </a:solidFill>
                </a:uFill>
              </a:rPr>
              <a:t>终点时碱过</a:t>
            </a:r>
            <a:r>
              <a:rPr dirty="0" u="sng" spc="-260">
                <a:uFill>
                  <a:solidFill>
                    <a:srgbClr val="000000"/>
                  </a:solidFill>
                </a:uFill>
              </a:rPr>
              <a:t>量</a:t>
            </a:r>
            <a:r>
              <a:rPr dirty="0" u="sng" spc="-5">
                <a:uFill>
                  <a:solidFill>
                    <a:srgbClr val="000000"/>
                  </a:solidFill>
                </a:uFill>
              </a:rPr>
              <a:t>（或不</a:t>
            </a:r>
            <a:r>
              <a:rPr dirty="0" u="sng" spc="30">
                <a:uFill>
                  <a:solidFill>
                    <a:srgbClr val="000000"/>
                  </a:solidFill>
                </a:uFill>
              </a:rPr>
              <a:t>足</a:t>
            </a:r>
            <a:r>
              <a:rPr dirty="0" u="sng" spc="-280">
                <a:uFill>
                  <a:solidFill>
                    <a:srgbClr val="000000"/>
                  </a:solidFill>
                </a:uFill>
              </a:rPr>
              <a:t>）</a:t>
            </a:r>
            <a:r>
              <a:rPr dirty="0" u="sng" spc="-5">
                <a:uFill>
                  <a:solidFill>
                    <a:srgbClr val="000000"/>
                  </a:solidFill>
                </a:uFill>
              </a:rPr>
              <a:t>的物质的量</a:t>
            </a: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pc="-5"/>
              <a:t>酸的物质的量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09797" y="1206779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7318" y="1573390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6784" y="1479664"/>
            <a:ext cx="9277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5335" algn="l"/>
              </a:tabLst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0171" y="1563065"/>
            <a:ext cx="155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8611" y="1479664"/>
            <a:ext cx="516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9593" y="1563065"/>
            <a:ext cx="78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2297" y="1668424"/>
            <a:ext cx="6140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c</a:t>
            </a:r>
            <a:r>
              <a:rPr dirty="0" sz="1100" spc="-15">
                <a:latin typeface="Georgia"/>
                <a:cs typeface="Georgia"/>
              </a:rPr>
              <a:t>(HCl)</a:t>
            </a:r>
            <a:r>
              <a:rPr dirty="0" sz="1100" spc="-15" b="0" i="1">
                <a:latin typeface="Bookman Old Style"/>
                <a:cs typeface="Bookman Old Style"/>
              </a:rPr>
              <a:t>V</a:t>
            </a:r>
            <a:r>
              <a:rPr dirty="0" baseline="-13888" sz="900" spc="-22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8285" y="1573390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7318" y="1951304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7607" y="1940991"/>
            <a:ext cx="3581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620" algn="l"/>
              </a:tabLst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sz="600" spc="80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6784" y="1857578"/>
            <a:ext cx="5778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-114" b="0" i="1">
                <a:latin typeface="Bookman Old Style"/>
                <a:cs typeface="Bookman Old Style"/>
              </a:rPr>
              <a:t>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/V</a:t>
            </a:r>
            <a:r>
              <a:rPr dirty="0" sz="1100" spc="-45" b="0" i="1">
                <a:latin typeface="Bookman Old Style"/>
                <a:cs typeface="Bookman Old Style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48853" y="1857578"/>
            <a:ext cx="10579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/c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2819" y="2046338"/>
            <a:ext cx="10579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(HCl)</a:t>
            </a:r>
            <a:r>
              <a:rPr dirty="0" sz="1100" spc="-25" b="0" i="1">
                <a:latin typeface="Bookman Old Style"/>
                <a:cs typeface="Bookman Old Style"/>
              </a:rPr>
              <a:t>/c</a:t>
            </a:r>
            <a:r>
              <a:rPr dirty="0" sz="1100" spc="-25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26829" y="1951304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7318" y="230612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96784" y="2212403"/>
            <a:ext cx="3657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3995" algn="l"/>
              </a:tabLst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sz="1100" spc="-30" b="0" i="1">
                <a:latin typeface="Bookman Old Style"/>
                <a:cs typeface="Bookman Old Style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36852" y="2212403"/>
            <a:ext cx="97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3012" y="2276620"/>
            <a:ext cx="511175" cy="3371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  <a:tabLst>
                <a:tab pos="377825" algn="l"/>
              </a:tabLst>
            </a:pPr>
            <a:r>
              <a:rPr dirty="0" u="sng" sz="6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ep</a:t>
            </a:r>
            <a:r>
              <a:rPr dirty="0" sz="600" spc="80">
                <a:latin typeface="Times New Roman"/>
                <a:cs typeface="Times New Roman"/>
              </a:rPr>
              <a:t>	</a:t>
            </a:r>
            <a:r>
              <a:rPr dirty="0" u="sng" sz="600" spc="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  <a:p>
            <a:pPr marL="135890">
              <a:lnSpc>
                <a:spcPct val="100000"/>
              </a:lnSpc>
              <a:spcBef>
                <a:spcPts val="270"/>
              </a:spcBef>
            </a:pPr>
            <a:r>
              <a:rPr dirty="0" baseline="7575" sz="1650" spc="60" b="0" i="1">
                <a:latin typeface="Bookman Old Style"/>
                <a:cs typeface="Bookman Old Style"/>
              </a:rPr>
              <a:t>ρ</a:t>
            </a:r>
            <a:r>
              <a:rPr dirty="0" sz="600" spc="4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49145" y="2306129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10456" y="2306129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(43)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844" y="2687459"/>
            <a:ext cx="15754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下</a:t>
            </a:r>
            <a:r>
              <a:rPr dirty="0" sz="1200" spc="175">
                <a:latin typeface="Arial Unicode MS"/>
                <a:cs typeface="Arial Unicode MS"/>
              </a:rPr>
              <a:t>标</a:t>
            </a:r>
            <a:r>
              <a:rPr dirty="0" sz="1100" spc="-35">
                <a:latin typeface="Georgia"/>
                <a:cs typeface="Georgia"/>
              </a:rPr>
              <a:t>ep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表示滴定终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5958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152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8814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75448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0192"/>
            <a:ext cx="50749" cy="7679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5795"/>
            <a:ext cx="4432935" cy="643255"/>
          </a:xfrm>
          <a:custGeom>
            <a:avLst/>
            <a:gdLst/>
            <a:ahLst/>
            <a:cxnLst/>
            <a:rect l="l" t="t" r="r" b="b"/>
            <a:pathLst>
              <a:path w="4432935" h="643255">
                <a:moveTo>
                  <a:pt x="4432566" y="0"/>
                </a:moveTo>
                <a:lnTo>
                  <a:pt x="0" y="0"/>
                </a:lnTo>
                <a:lnTo>
                  <a:pt x="0" y="592353"/>
                </a:lnTo>
                <a:lnTo>
                  <a:pt x="4008" y="612078"/>
                </a:lnTo>
                <a:lnTo>
                  <a:pt x="14922" y="628231"/>
                </a:lnTo>
                <a:lnTo>
                  <a:pt x="31075" y="639145"/>
                </a:lnTo>
                <a:lnTo>
                  <a:pt x="50800" y="643153"/>
                </a:lnTo>
                <a:lnTo>
                  <a:pt x="4381765" y="643153"/>
                </a:lnTo>
                <a:lnTo>
                  <a:pt x="4401490" y="639145"/>
                </a:lnTo>
                <a:lnTo>
                  <a:pt x="4417643" y="628231"/>
                </a:lnTo>
                <a:lnTo>
                  <a:pt x="4428558" y="612078"/>
                </a:lnTo>
                <a:lnTo>
                  <a:pt x="4432566" y="59235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8289"/>
            <a:ext cx="0" cy="749300"/>
          </a:xfrm>
          <a:custGeom>
            <a:avLst/>
            <a:gdLst/>
            <a:ahLst/>
            <a:cxnLst/>
            <a:rect l="l" t="t" r="r" b="b"/>
            <a:pathLst>
              <a:path w="0" h="749300">
                <a:moveTo>
                  <a:pt x="0" y="74890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55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28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01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16992"/>
            <a:ext cx="4319905" cy="906144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6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4.15</a:t>
            </a:r>
            <a:endParaRPr sz="12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265"/>
              </a:spcBef>
            </a:pPr>
            <a:r>
              <a:rPr dirty="0" sz="1200" spc="-5">
                <a:latin typeface="Arial Unicode MS"/>
                <a:cs typeface="Arial Unicode MS"/>
              </a:rPr>
              <a:t>用分析浓度为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1000mol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滴定分析浓度为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-70">
                <a:latin typeface="Georgia"/>
                <a:cs typeface="Georgia"/>
              </a:rPr>
              <a:t>HAc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计算用甲基橙作指示剂滴定至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20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时的终点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5958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152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8814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75448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0192"/>
            <a:ext cx="50749" cy="7679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5795"/>
            <a:ext cx="4432935" cy="643255"/>
          </a:xfrm>
          <a:custGeom>
            <a:avLst/>
            <a:gdLst/>
            <a:ahLst/>
            <a:cxnLst/>
            <a:rect l="l" t="t" r="r" b="b"/>
            <a:pathLst>
              <a:path w="4432935" h="643255">
                <a:moveTo>
                  <a:pt x="4432566" y="0"/>
                </a:moveTo>
                <a:lnTo>
                  <a:pt x="0" y="0"/>
                </a:lnTo>
                <a:lnTo>
                  <a:pt x="0" y="592353"/>
                </a:lnTo>
                <a:lnTo>
                  <a:pt x="4008" y="612078"/>
                </a:lnTo>
                <a:lnTo>
                  <a:pt x="14922" y="628231"/>
                </a:lnTo>
                <a:lnTo>
                  <a:pt x="31075" y="639145"/>
                </a:lnTo>
                <a:lnTo>
                  <a:pt x="50800" y="643153"/>
                </a:lnTo>
                <a:lnTo>
                  <a:pt x="4381765" y="643153"/>
                </a:lnTo>
                <a:lnTo>
                  <a:pt x="4401490" y="639145"/>
                </a:lnTo>
                <a:lnTo>
                  <a:pt x="4417643" y="628231"/>
                </a:lnTo>
                <a:lnTo>
                  <a:pt x="4428558" y="612078"/>
                </a:lnTo>
                <a:lnTo>
                  <a:pt x="4432566" y="59235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8289"/>
            <a:ext cx="0" cy="749300"/>
          </a:xfrm>
          <a:custGeom>
            <a:avLst/>
            <a:gdLst/>
            <a:ahLst/>
            <a:cxnLst/>
            <a:rect l="l" t="t" r="r" b="b"/>
            <a:pathLst>
              <a:path w="0" h="749300">
                <a:moveTo>
                  <a:pt x="0" y="74890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55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28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01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0444" y="16992"/>
            <a:ext cx="3925570" cy="458470"/>
          </a:xfrm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dirty="0" spc="190">
                <a:solidFill>
                  <a:srgbClr val="FFFFFF"/>
                </a:solidFill>
              </a:rPr>
              <a:t>例</a:t>
            </a:r>
            <a:r>
              <a:rPr dirty="0" spc="30">
                <a:solidFill>
                  <a:srgbClr val="FFFFFF"/>
                </a:solidFill>
                <a:latin typeface="Garamond"/>
                <a:cs typeface="Garamond"/>
              </a:rPr>
              <a:t>4.15</a:t>
            </a:r>
          </a:p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pc="-5"/>
              <a:t>用分析浓度为</a:t>
            </a:r>
            <a:r>
              <a:rPr dirty="0" spc="25"/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1000mol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/>
              <a:t>滴定分析浓度为</a:t>
            </a:r>
            <a:r>
              <a:rPr dirty="0" sz="1200" spc="30"/>
              <a:t> </a:t>
            </a: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44" y="449910"/>
            <a:ext cx="4391660" cy="101790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100" spc="-70">
                <a:latin typeface="Georgia"/>
                <a:cs typeface="Georgia"/>
              </a:rPr>
              <a:t>HAc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计算用甲基橙作指示剂滴定至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pH=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20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时的终点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由于是等浓度的滴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所以化学计量点时的体积比为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1.0000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根据酸碱滴定通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769" y="1758594"/>
            <a:ext cx="3314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2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5393" y="1481175"/>
            <a:ext cx="26320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65630" algn="l"/>
                <a:tab pos="206438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 spc="-5">
                <a:latin typeface="Times New Roman"/>
                <a:cs typeface="Times New Roman"/>
              </a:rPr>
              <a:t>	</a:t>
            </a:r>
            <a:r>
              <a:rPr dirty="0" u="dbl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dbl" sz="1100" spc="-6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(HAc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1979" y="1564576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dbl" sz="600" spc="6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9993" y="1669935"/>
            <a:ext cx="26784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2525" sz="1650" spc="7" b="0" i="1">
                <a:latin typeface="Bookman Old Style"/>
                <a:cs typeface="Bookman Old Style"/>
              </a:rPr>
              <a:t>δ</a:t>
            </a:r>
            <a:r>
              <a:rPr dirty="0" baseline="2525" sz="1650" spc="7">
                <a:latin typeface="Georgia"/>
                <a:cs typeface="Georgia"/>
              </a:rPr>
              <a:t>(Ac</a:t>
            </a:r>
            <a:r>
              <a:rPr dirty="0" baseline="41666" sz="900" spc="7">
                <a:latin typeface="Lucida Sans Unicode"/>
                <a:cs typeface="Lucida Sans Unicode"/>
              </a:rPr>
              <a:t>−</a:t>
            </a:r>
            <a:r>
              <a:rPr dirty="0" baseline="2525" sz="1650" spc="7">
                <a:latin typeface="Georgia"/>
                <a:cs typeface="Georgia"/>
              </a:rPr>
              <a:t>)</a:t>
            </a:r>
            <a:r>
              <a:rPr dirty="0" baseline="2525" sz="1650" spc="7" b="0" i="1">
                <a:latin typeface="Bookman Old Style"/>
                <a:cs typeface="Bookman Old Style"/>
              </a:rPr>
              <a:t>c</a:t>
            </a:r>
            <a:r>
              <a:rPr dirty="0" baseline="2525" sz="1650" spc="7">
                <a:latin typeface="Georgia"/>
                <a:cs typeface="Georgia"/>
              </a:rPr>
              <a:t>(HAc) </a:t>
            </a:r>
            <a:r>
              <a:rPr dirty="0" baseline="2525" sz="1650" spc="209">
                <a:latin typeface="Georgia"/>
                <a:cs typeface="Georgia"/>
              </a:rPr>
              <a:t>+ </a:t>
            </a:r>
            <a:r>
              <a:rPr dirty="0" baseline="2525" sz="1650" spc="-37">
                <a:latin typeface="Georgia"/>
                <a:cs typeface="Georgia"/>
              </a:rPr>
              <a:t>[OH</a:t>
            </a:r>
            <a:r>
              <a:rPr dirty="0" baseline="41666" sz="900" spc="-37">
                <a:latin typeface="Lucida Sans Unicode"/>
                <a:cs typeface="Lucida Sans Unicode"/>
              </a:rPr>
              <a:t>−</a:t>
            </a:r>
            <a:r>
              <a:rPr dirty="0" baseline="2525" sz="1650" spc="-37">
                <a:latin typeface="Georgia"/>
                <a:cs typeface="Georgia"/>
              </a:rPr>
              <a:t>] </a:t>
            </a:r>
            <a:r>
              <a:rPr dirty="0" baseline="2525" sz="1650" spc="-44">
                <a:latin typeface="Lucida Sans Unicode"/>
                <a:cs typeface="Lucida Sans Unicode"/>
              </a:rPr>
              <a:t>− </a:t>
            </a:r>
            <a:r>
              <a:rPr dirty="0" baseline="2525" sz="1650" spc="-15">
                <a:latin typeface="Georgia"/>
                <a:cs typeface="Georgia"/>
              </a:rPr>
              <a:t>[H</a:t>
            </a:r>
            <a:r>
              <a:rPr dirty="0" baseline="41666" sz="900" spc="-15">
                <a:latin typeface="Times New Roman"/>
                <a:cs typeface="Times New Roman"/>
              </a:rPr>
              <a:t>+</a:t>
            </a:r>
            <a:r>
              <a:rPr dirty="0" baseline="2525" sz="1650" spc="-15">
                <a:latin typeface="Georgia"/>
                <a:cs typeface="Georgia"/>
              </a:rPr>
              <a:t>] </a:t>
            </a:r>
            <a:r>
              <a:rPr dirty="0" baseline="-35353" sz="1650" spc="209">
                <a:latin typeface="Georgia"/>
                <a:cs typeface="Georgia"/>
              </a:rPr>
              <a:t>=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87191" y="1753336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 i="1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46106" y="1517688"/>
            <a:ext cx="596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80059" algn="l"/>
              </a:tabLst>
            </a:pPr>
            <a:r>
              <a:rPr dirty="0" u="sng" sz="600" spc="9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sz="600" spc="355">
                <a:latin typeface="Lucida Sans Unicode"/>
                <a:cs typeface="Lucida Sans Unicode"/>
              </a:rPr>
              <a:t> </a:t>
            </a:r>
            <a:r>
              <a:rPr dirty="0" u="sng" baseline="-22727" sz="1650" spc="-44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baseline="-22727" sz="1650" spc="-44">
                <a:latin typeface="Lucida Sans Unicode"/>
                <a:cs typeface="Lucida Sans Unicode"/>
              </a:rPr>
              <a:t>	</a:t>
            </a:r>
            <a:r>
              <a:rPr dirty="0" u="sng" sz="600" spc="2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5510" y="1574901"/>
            <a:ext cx="96011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8340" algn="l"/>
              </a:tabLst>
            </a:pP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+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[OH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r>
              <a:rPr dirty="0" sz="1100" spc="-110">
                <a:latin typeface="Georgia"/>
                <a:cs typeface="Georgia"/>
              </a:rPr>
              <a:t>	</a:t>
            </a:r>
            <a:r>
              <a:rPr dirty="0" u="sng" sz="1100" spc="-9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[H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u="sng" sz="1100" spc="-11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9312" y="1853641"/>
            <a:ext cx="3549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979930" algn="l"/>
              </a:tabLst>
            </a:pP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</a:t>
            </a:r>
            <a:r>
              <a:rPr dirty="0" sz="1100" spc="-17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2777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	</a:t>
            </a:r>
            <a:r>
              <a:rPr dirty="0" sz="1100" spc="-20" b="0" i="1">
                <a:latin typeface="Bookman Old Style"/>
                <a:cs typeface="Bookman Old Style"/>
              </a:rPr>
              <a:t>c</a:t>
            </a:r>
            <a:r>
              <a:rPr dirty="0" sz="1100" spc="-2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30">
                <a:latin typeface="Georgia"/>
                <a:cs typeface="Georgia"/>
              </a:rPr>
              <a:t>[OH</a:t>
            </a:r>
            <a:r>
              <a:rPr dirty="0" baseline="27777" sz="900" spc="-44">
                <a:latin typeface="Lucida Sans Unicode"/>
                <a:cs typeface="Lucida Sans Unicode"/>
              </a:rPr>
              <a:t>−</a:t>
            </a:r>
            <a:r>
              <a:rPr dirty="0" sz="1100" spc="-3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927" y="2292426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3270" y="2248420"/>
            <a:ext cx="1165225" cy="0"/>
          </a:xfrm>
          <a:custGeom>
            <a:avLst/>
            <a:gdLst/>
            <a:ahLst/>
            <a:cxnLst/>
            <a:rect l="l" t="t" r="r" b="b"/>
            <a:pathLst>
              <a:path w="1165225" h="0">
                <a:moveTo>
                  <a:pt x="0" y="0"/>
                </a:moveTo>
                <a:lnTo>
                  <a:pt x="11649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75170" y="2038083"/>
            <a:ext cx="17602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0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1000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37037" sz="900" spc="37">
                <a:latin typeface="Lucida Sans Unicode"/>
                <a:cs typeface="Lucida Sans Unicode"/>
              </a:rPr>
              <a:t>−</a:t>
            </a:r>
            <a:r>
              <a:rPr dirty="0" baseline="37037" sz="900" spc="37">
                <a:latin typeface="Times New Roman"/>
                <a:cs typeface="Times New Roman"/>
              </a:rPr>
              <a:t>5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15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10</a:t>
            </a:r>
            <a:r>
              <a:rPr dirty="0" baseline="37037" sz="900" spc="44">
                <a:latin typeface="Lucida Sans Unicode"/>
                <a:cs typeface="Lucida Sans Unicode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14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77885" y="2248420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0"/>
                </a:moveTo>
                <a:lnTo>
                  <a:pt x="33957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85114" y="2226843"/>
            <a:ext cx="1569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392555" algn="l"/>
              </a:tabLst>
            </a:pPr>
            <a:r>
              <a:rPr dirty="0" sz="1100" spc="35">
                <a:latin typeface="Georgia"/>
                <a:cs typeface="Georgia"/>
              </a:rPr>
              <a:t>10</a:t>
            </a:r>
            <a:r>
              <a:rPr dirty="0" baseline="27777" sz="900" spc="52">
                <a:latin typeface="Lucida Sans Unicode"/>
                <a:cs typeface="Lucida Sans Unicode"/>
              </a:rPr>
              <a:t>−</a:t>
            </a:r>
            <a:r>
              <a:rPr dirty="0" baseline="27777" sz="900" spc="52">
                <a:latin typeface="Times New Roman"/>
                <a:cs typeface="Times New Roman"/>
              </a:rPr>
              <a:t>9</a:t>
            </a:r>
            <a:r>
              <a:rPr dirty="0" baseline="27777" sz="900" spc="52" i="1">
                <a:latin typeface="Arial"/>
                <a:cs typeface="Arial"/>
              </a:rPr>
              <a:t>.</a:t>
            </a:r>
            <a:r>
              <a:rPr dirty="0" baseline="27777" sz="900" spc="52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10</a:t>
            </a:r>
            <a:r>
              <a:rPr dirty="0" baseline="27777" sz="900" spc="37">
                <a:latin typeface="Lucida Sans Unicode"/>
                <a:cs typeface="Lucida Sans Unicode"/>
              </a:rPr>
              <a:t>−</a:t>
            </a:r>
            <a:r>
              <a:rPr dirty="0" baseline="27777" sz="900" spc="37">
                <a:latin typeface="Times New Roman"/>
                <a:cs typeface="Times New Roman"/>
              </a:rPr>
              <a:t>5	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3729" y="2249436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9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50731" y="2131809"/>
            <a:ext cx="302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27820" y="2137232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9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98093" y="2409037"/>
            <a:ext cx="2244090" cy="0"/>
          </a:xfrm>
          <a:custGeom>
            <a:avLst/>
            <a:gdLst/>
            <a:ahLst/>
            <a:cxnLst/>
            <a:rect l="l" t="t" r="r" b="b"/>
            <a:pathLst>
              <a:path w="2244090" h="0">
                <a:moveTo>
                  <a:pt x="0" y="0"/>
                </a:moveTo>
                <a:lnTo>
                  <a:pt x="22434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157895" y="2326106"/>
            <a:ext cx="381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0202" sz="1650" spc="44">
                <a:latin typeface="Georgia"/>
                <a:cs typeface="Georgia"/>
              </a:rPr>
              <a:t>10</a:t>
            </a:r>
            <a:r>
              <a:rPr dirty="0" sz="600" spc="30">
                <a:latin typeface="Lucida Sans Unicode"/>
                <a:cs typeface="Lucida Sans Unicode"/>
              </a:rPr>
              <a:t>−</a:t>
            </a:r>
            <a:r>
              <a:rPr dirty="0" sz="600" spc="30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81580" y="2586723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0"/>
                </a:moveTo>
                <a:lnTo>
                  <a:pt x="33957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065212" y="2470112"/>
            <a:ext cx="1293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0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1000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5">
                <a:latin typeface="Georgia"/>
                <a:cs typeface="Georgia"/>
              </a:rPr>
              <a:t>10</a:t>
            </a:r>
            <a:r>
              <a:rPr dirty="0" baseline="27777" sz="900" spc="52">
                <a:latin typeface="Lucida Sans Unicode"/>
                <a:cs typeface="Lucida Sans Unicode"/>
              </a:rPr>
              <a:t>−</a:t>
            </a:r>
            <a:r>
              <a:rPr dirty="0" baseline="27777" sz="900" spc="52">
                <a:latin typeface="Times New Roman"/>
                <a:cs typeface="Times New Roman"/>
              </a:rPr>
              <a:t>9</a:t>
            </a:r>
            <a:r>
              <a:rPr dirty="0" baseline="27777" sz="900" spc="52" i="1">
                <a:latin typeface="Arial"/>
                <a:cs typeface="Arial"/>
              </a:rPr>
              <a:t>.</a:t>
            </a:r>
            <a:r>
              <a:rPr dirty="0" baseline="27777" sz="900" spc="52">
                <a:latin typeface="Times New Roman"/>
                <a:cs typeface="Times New Roman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15">
                <a:latin typeface="Lucida Sans Unicode"/>
                <a:cs typeface="Lucida Sans Unicode"/>
              </a:rPr>
              <a:t> </a:t>
            </a:r>
            <a:r>
              <a:rPr dirty="0" baseline="-37878" sz="1650" spc="-44">
                <a:latin typeface="Georgia"/>
                <a:cs typeface="Georgia"/>
              </a:rPr>
              <a:t>10</a:t>
            </a:r>
            <a:endParaRPr baseline="-37878" sz="165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07424" y="2587739"/>
            <a:ext cx="2203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90">
                <a:latin typeface="Lucida Sans Unicode"/>
                <a:cs typeface="Lucida Sans Unicode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9</a:t>
            </a:r>
            <a:r>
              <a:rPr dirty="0" sz="600" spc="55" i="1">
                <a:latin typeface="Arial"/>
                <a:cs typeface="Arial"/>
              </a:rPr>
              <a:t>.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82518" y="2292426"/>
            <a:ext cx="556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1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0003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4101" y="2713474"/>
            <a:ext cx="2968625" cy="61404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dirty="0" sz="1200" spc="-5">
                <a:latin typeface="Arial Unicode MS"/>
                <a:cs typeface="Arial Unicode MS"/>
              </a:rPr>
              <a:t>所以终点误差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681480" marR="55880" indent="-787400">
              <a:lnSpc>
                <a:spcPct val="112599"/>
              </a:lnSpc>
              <a:spcBef>
                <a:spcPts val="15"/>
              </a:spcBef>
            </a:pPr>
            <a:r>
              <a:rPr dirty="0" baseline="-37878" sz="1650" spc="67">
                <a:latin typeface="Georgia"/>
                <a:cs typeface="Georgia"/>
              </a:rPr>
              <a:t>TE%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100" spc="-7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0003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 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100" spc="-8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8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0000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30">
                <a:latin typeface="Georgia"/>
                <a:cs typeface="Georgia"/>
              </a:rPr>
              <a:t> </a:t>
            </a:r>
            <a:r>
              <a:rPr dirty="0" baseline="-37878" sz="1650" spc="-104">
                <a:latin typeface="Georgia"/>
                <a:cs typeface="Georgia"/>
              </a:rPr>
              <a:t>0</a:t>
            </a:r>
            <a:r>
              <a:rPr dirty="0" baseline="-37878" sz="1650" spc="-104" b="0" i="1">
                <a:latin typeface="Bookman Old Style"/>
                <a:cs typeface="Bookman Old Style"/>
              </a:rPr>
              <a:t>.</a:t>
            </a:r>
            <a:r>
              <a:rPr dirty="0" baseline="-37878" sz="1650" spc="-104">
                <a:latin typeface="Georgia"/>
                <a:cs typeface="Georgia"/>
              </a:rPr>
              <a:t>03%  </a:t>
            </a:r>
            <a:r>
              <a:rPr dirty="0" sz="1100" spc="-80">
                <a:latin typeface="Georgia"/>
                <a:cs typeface="Georgia"/>
              </a:rPr>
              <a:t>1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0000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645147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820699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23788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22518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689381"/>
            <a:ext cx="50749" cy="548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64977"/>
            <a:ext cx="4432935" cy="424180"/>
          </a:xfrm>
          <a:custGeom>
            <a:avLst/>
            <a:gdLst/>
            <a:ahLst/>
            <a:cxnLst/>
            <a:rect l="l" t="t" r="r" b="b"/>
            <a:pathLst>
              <a:path w="4432935" h="424180">
                <a:moveTo>
                  <a:pt x="4432566" y="0"/>
                </a:moveTo>
                <a:lnTo>
                  <a:pt x="0" y="0"/>
                </a:lnTo>
                <a:lnTo>
                  <a:pt x="0" y="372904"/>
                </a:lnTo>
                <a:lnTo>
                  <a:pt x="4008" y="392629"/>
                </a:lnTo>
                <a:lnTo>
                  <a:pt x="14922" y="408782"/>
                </a:lnTo>
                <a:lnTo>
                  <a:pt x="31075" y="419696"/>
                </a:lnTo>
                <a:lnTo>
                  <a:pt x="50800" y="423704"/>
                </a:lnTo>
                <a:lnTo>
                  <a:pt x="4381765" y="423704"/>
                </a:lnTo>
                <a:lnTo>
                  <a:pt x="4401490" y="419696"/>
                </a:lnTo>
                <a:lnTo>
                  <a:pt x="4417643" y="408782"/>
                </a:lnTo>
                <a:lnTo>
                  <a:pt x="4428558" y="392629"/>
                </a:lnTo>
                <a:lnTo>
                  <a:pt x="4432566" y="37290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727470"/>
            <a:ext cx="0" cy="529590"/>
          </a:xfrm>
          <a:custGeom>
            <a:avLst/>
            <a:gdLst/>
            <a:ahLst/>
            <a:cxnLst/>
            <a:rect l="l" t="t" r="r" b="b"/>
            <a:pathLst>
              <a:path w="0" h="529590">
                <a:moveTo>
                  <a:pt x="0" y="52946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7147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7020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6893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585571"/>
            <a:ext cx="4088765" cy="68326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4.16</a:t>
            </a:r>
            <a:endParaRPr sz="12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能否用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选择性滴定由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组成的混合酸溶</a:t>
            </a:r>
            <a:r>
              <a:rPr dirty="0" sz="1200" spc="65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645147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820699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23788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22518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689381"/>
            <a:ext cx="50749" cy="548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64977"/>
            <a:ext cx="4432935" cy="424180"/>
          </a:xfrm>
          <a:custGeom>
            <a:avLst/>
            <a:gdLst/>
            <a:ahLst/>
            <a:cxnLst/>
            <a:rect l="l" t="t" r="r" b="b"/>
            <a:pathLst>
              <a:path w="4432935" h="424180">
                <a:moveTo>
                  <a:pt x="4432566" y="0"/>
                </a:moveTo>
                <a:lnTo>
                  <a:pt x="0" y="0"/>
                </a:lnTo>
                <a:lnTo>
                  <a:pt x="0" y="372904"/>
                </a:lnTo>
                <a:lnTo>
                  <a:pt x="4008" y="392629"/>
                </a:lnTo>
                <a:lnTo>
                  <a:pt x="14922" y="408782"/>
                </a:lnTo>
                <a:lnTo>
                  <a:pt x="31075" y="419696"/>
                </a:lnTo>
                <a:lnTo>
                  <a:pt x="50800" y="423704"/>
                </a:lnTo>
                <a:lnTo>
                  <a:pt x="4381765" y="423704"/>
                </a:lnTo>
                <a:lnTo>
                  <a:pt x="4401490" y="419696"/>
                </a:lnTo>
                <a:lnTo>
                  <a:pt x="4417643" y="408782"/>
                </a:lnTo>
                <a:lnTo>
                  <a:pt x="4428558" y="392629"/>
                </a:lnTo>
                <a:lnTo>
                  <a:pt x="4432566" y="372904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727470"/>
            <a:ext cx="0" cy="529590"/>
          </a:xfrm>
          <a:custGeom>
            <a:avLst/>
            <a:gdLst/>
            <a:ahLst/>
            <a:cxnLst/>
            <a:rect l="l" t="t" r="r" b="b"/>
            <a:pathLst>
              <a:path w="0" h="529590">
                <a:moveTo>
                  <a:pt x="0" y="52946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7147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7020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68937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585571"/>
            <a:ext cx="4398010" cy="191579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30">
                <a:solidFill>
                  <a:srgbClr val="FFFFFF"/>
                </a:solidFill>
                <a:latin typeface="Garamond"/>
                <a:cs typeface="Garamond"/>
              </a:rPr>
              <a:t>4.16</a:t>
            </a:r>
            <a:endParaRPr sz="12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能否用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选择性滴定由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 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100" spc="-65">
                <a:latin typeface="Georgia"/>
                <a:cs typeface="Georgia"/>
              </a:rPr>
              <a:t>0.02mol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L</a:t>
            </a:r>
            <a:r>
              <a:rPr dirty="0" baseline="37037" sz="900" spc="82">
                <a:latin typeface="Lucida Sans Unicode"/>
                <a:cs typeface="Lucida Sans Unicode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baseline="37037" sz="900" spc="3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Georgia"/>
                <a:cs typeface="Georgia"/>
              </a:rPr>
              <a:t>HAc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组成的混合酸溶</a:t>
            </a:r>
            <a:r>
              <a:rPr dirty="0" sz="1200" spc="65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  <a:p>
            <a:pPr algn="just" marL="63500" marR="17780">
              <a:lnSpc>
                <a:spcPct val="122300"/>
              </a:lnSpc>
              <a:spcBef>
                <a:spcPts val="894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从给定的已知条件来</a:t>
            </a:r>
            <a:r>
              <a:rPr dirty="0" sz="1200" spc="-80">
                <a:latin typeface="Arial Unicode MS"/>
                <a:cs typeface="Arial Unicode MS"/>
              </a:rPr>
              <a:t>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化学计量点有两</a:t>
            </a:r>
            <a:r>
              <a:rPr dirty="0" sz="1200" spc="-80">
                <a:latin typeface="Arial Unicode MS"/>
                <a:cs typeface="Arial Unicode MS"/>
              </a:rPr>
              <a:t>个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分别对应于体积 </a:t>
            </a:r>
            <a:r>
              <a:rPr dirty="0" sz="1200" spc="-5">
                <a:latin typeface="Arial Unicode MS"/>
                <a:cs typeface="Arial Unicode MS"/>
              </a:rPr>
              <a:t>比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1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000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ρ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105">
                <a:latin typeface="Georgia"/>
                <a:cs typeface="Georgia"/>
              </a:rPr>
              <a:t>2</a:t>
            </a:r>
            <a:r>
              <a:rPr dirty="0" sz="1100" spc="-105" b="0" i="1">
                <a:latin typeface="Bookman Old Style"/>
                <a:cs typeface="Bookman Old Style"/>
              </a:rPr>
              <a:t>.</a:t>
            </a:r>
            <a:r>
              <a:rPr dirty="0" sz="1100" spc="-105">
                <a:latin typeface="Georgia"/>
                <a:cs typeface="Georgia"/>
              </a:rPr>
              <a:t>000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我们可以通过计算在每一化学计量点的 终点误差来判定该计量点是否可以被准确确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670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由于对于指示剂变色点的判定存在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Lucida Sans Unicode"/>
                <a:cs typeface="Lucida Sans Unicode"/>
              </a:rPr>
              <a:t>±</a:t>
            </a:r>
            <a:r>
              <a:rPr dirty="0" sz="1100" spc="-65">
                <a:latin typeface="Georgia"/>
                <a:cs typeface="Georgia"/>
              </a:rPr>
              <a:t>0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的出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所以我们计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算了相应于这个范围的误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112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8072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计算结</a:t>
            </a:r>
            <a:r>
              <a:rPr dirty="0" sz="1050" spc="-80">
                <a:solidFill>
                  <a:srgbClr val="FFFFFF"/>
                </a:solidFill>
              </a:rPr>
              <a:t>果</a:t>
            </a:r>
            <a:r>
              <a:rPr dirty="0" sz="1050" spc="-5">
                <a:solidFill>
                  <a:srgbClr val="FFFFFF"/>
                </a:solidFill>
              </a:rPr>
              <a:t>：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360235" y="853135"/>
            <a:ext cx="3933825" cy="0"/>
          </a:xfrm>
          <a:custGeom>
            <a:avLst/>
            <a:gdLst/>
            <a:ahLst/>
            <a:cxnLst/>
            <a:rect l="l" t="t" r="r" b="b"/>
            <a:pathLst>
              <a:path w="3933825" h="0">
                <a:moveTo>
                  <a:pt x="0" y="0"/>
                </a:moveTo>
                <a:lnTo>
                  <a:pt x="393369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535" y="572388"/>
            <a:ext cx="3959225" cy="483234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Unicode MS"/>
                <a:cs typeface="Arial Unicode MS"/>
              </a:rPr>
              <a:t>第一化学计量点时的误差情况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682625" algn="l"/>
              </a:tabLst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指示剂	变色</a:t>
            </a:r>
            <a:r>
              <a:rPr dirty="0" u="sng" sz="1200" spc="-26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点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（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pH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）</a:t>
            </a:r>
            <a:r>
              <a:rPr dirty="0" u="sng" sz="1200" spc="24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变色点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±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7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3</a:t>
            </a:r>
            <a:r>
              <a:rPr dirty="0" u="sng" sz="1200" spc="-7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（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pH</a:t>
            </a:r>
            <a:r>
              <a:rPr dirty="0" u="sng" sz="1200" spc="-7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）</a:t>
            </a:r>
            <a:r>
              <a:rPr dirty="0" u="sng" sz="1200" spc="4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相对误差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(%)</a:t>
            </a:r>
            <a:r>
              <a:rPr dirty="0" u="sng" sz="1100" spc="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0235" y="1106756"/>
          <a:ext cx="3933825" cy="656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320"/>
                <a:gridCol w="846455"/>
                <a:gridCol w="1192530"/>
                <a:gridCol w="1111249"/>
              </a:tblGrid>
              <a:tr h="196291">
                <a:tc>
                  <a:txBody>
                    <a:bodyPr/>
                    <a:lstStyle/>
                    <a:p>
                      <a:pPr marL="75565">
                        <a:lnSpc>
                          <a:spcPts val="1295"/>
                        </a:lnSpc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甲基黄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ts val="1275"/>
                        </a:lnSpc>
                      </a:pPr>
                      <a:r>
                        <a:rPr dirty="0" sz="1100" spc="-40">
                          <a:latin typeface="Georgia"/>
                          <a:cs typeface="Georgia"/>
                        </a:rPr>
                        <a:t>3.3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736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3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.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—3.6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-7.82—4.19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22369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甲基橙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45">
                          <a:latin typeface="Georgia"/>
                          <a:cs typeface="Georgia"/>
                        </a:rPr>
                        <a:t>3.4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r" marR="2736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3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.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—3.7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-5.48—6.30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</a:tr>
              <a:tr h="23130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溴酚篮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4.1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36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3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.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8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—4.4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76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8.64—30.9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21386" y="2207272"/>
            <a:ext cx="4011929" cy="0"/>
          </a:xfrm>
          <a:custGeom>
            <a:avLst/>
            <a:gdLst/>
            <a:ahLst/>
            <a:cxnLst/>
            <a:rect l="l" t="t" r="r" b="b"/>
            <a:pathLst>
              <a:path w="4011929" h="0">
                <a:moveTo>
                  <a:pt x="0" y="0"/>
                </a:moveTo>
                <a:lnTo>
                  <a:pt x="40114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8686" y="1926551"/>
            <a:ext cx="4037329" cy="483234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Unicode MS"/>
                <a:cs typeface="Arial Unicode MS"/>
              </a:rPr>
              <a:t>第二化学计量点时的误差情况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682625" algn="l"/>
                <a:tab pos="3065780" algn="l"/>
              </a:tabLst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指示剂	变色</a:t>
            </a:r>
            <a:r>
              <a:rPr dirty="0" u="sng" sz="1200" spc="-26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点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（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pH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） </a:t>
            </a:r>
            <a:r>
              <a:rPr dirty="0" u="sng" sz="1200" spc="28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变色点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±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7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3</a:t>
            </a:r>
            <a:r>
              <a:rPr dirty="0" u="sng" sz="1200" spc="-7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（</a:t>
            </a:r>
            <a:r>
              <a:rPr dirty="0" u="sng" sz="1100" spc="-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pH</a:t>
            </a:r>
            <a:r>
              <a:rPr dirty="0" u="sng" sz="1200" spc="-7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）	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相对误差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(%)</a:t>
            </a:r>
            <a:r>
              <a:rPr dirty="0" u="sng" sz="1100" spc="10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1386" y="2460906"/>
          <a:ext cx="4011929" cy="656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2320"/>
                <a:gridCol w="846455"/>
                <a:gridCol w="1154430"/>
                <a:gridCol w="1227455"/>
              </a:tblGrid>
              <a:tr h="196291">
                <a:tc>
                  <a:txBody>
                    <a:bodyPr/>
                    <a:lstStyle/>
                    <a:p>
                      <a:pPr marL="75565">
                        <a:lnSpc>
                          <a:spcPts val="1295"/>
                        </a:lnSpc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中性红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ts val="1275"/>
                        </a:lnSpc>
                      </a:pPr>
                      <a:r>
                        <a:rPr dirty="0" sz="1100" spc="-30">
                          <a:latin typeface="Georgia"/>
                          <a:cs typeface="Georgia"/>
                        </a:rPr>
                        <a:t>7.4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55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7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.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—7.7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2870">
                        <a:lnSpc>
                          <a:spcPts val="1275"/>
                        </a:lnSpc>
                      </a:pPr>
                      <a:r>
                        <a:rPr dirty="0" sz="1100" spc="-30">
                          <a:latin typeface="Georgia"/>
                          <a:cs typeface="Georgia"/>
                        </a:rPr>
                        <a:t>-0.22—</a:t>
                      </a:r>
                      <a:r>
                        <a:rPr dirty="0" sz="1100" spc="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70">
                          <a:latin typeface="Georgia"/>
                          <a:cs typeface="Georgia"/>
                        </a:rPr>
                        <a:t>-0.052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223697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酚红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80">
                          <a:latin typeface="Georgia"/>
                          <a:cs typeface="Georgia"/>
                        </a:rPr>
                        <a:t>8.0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r" marR="2355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7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.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7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—8.3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60">
                          <a:latin typeface="Georgia"/>
                          <a:cs typeface="Georgia"/>
                        </a:rPr>
                        <a:t>-0.52 </a:t>
                      </a:r>
                      <a:r>
                        <a:rPr dirty="0" sz="1100" spc="145">
                          <a:latin typeface="Georgia"/>
                          <a:cs typeface="Georgia"/>
                        </a:rPr>
                        <a:t>—</a:t>
                      </a:r>
                      <a:r>
                        <a:rPr dirty="0" sz="1100" spc="-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65">
                          <a:latin typeface="Georgia"/>
                          <a:cs typeface="Georgia"/>
                        </a:rPr>
                        <a:t>0.0012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/>
                </a:tc>
              </a:tr>
              <a:tr h="23128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 spc="-5">
                          <a:latin typeface="Arial Unicode MS"/>
                          <a:cs typeface="Arial Unicode MS"/>
                        </a:rPr>
                        <a:t>酚酞</a:t>
                      </a:r>
                      <a:endParaRPr sz="1200">
                        <a:latin typeface="Arial Unicode MS"/>
                        <a:cs typeface="Arial Unicode MS"/>
                      </a:endParaRPr>
                    </a:p>
                  </a:txBody>
                  <a:tcPr marL="0" marR="0" marB="0" marT="88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9.1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55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8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.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8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—9.4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100" spc="-80">
                          <a:latin typeface="Georgia"/>
                          <a:cs typeface="Georgia"/>
                        </a:rPr>
                        <a:t>0.043 </a:t>
                      </a:r>
                      <a:r>
                        <a:rPr dirty="0" sz="1100" spc="145">
                          <a:latin typeface="Georgia"/>
                          <a:cs typeface="Georgia"/>
                        </a:rPr>
                        <a:t>—</a:t>
                      </a:r>
                      <a:r>
                        <a:rPr dirty="0" sz="1100" spc="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100" spc="-35">
                          <a:latin typeface="Georgia"/>
                          <a:cs typeface="Georgia"/>
                        </a:rPr>
                        <a:t>0.19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2159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735317"/>
            <a:ext cx="4356735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上面的计算结果表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第一化学计量点处的误差太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无法</a:t>
            </a:r>
            <a:r>
              <a:rPr dirty="0" sz="1200" spc="-5">
                <a:latin typeface="Arial Unicode MS"/>
                <a:cs typeface="Arial Unicode MS"/>
              </a:rPr>
              <a:t>准 </a:t>
            </a:r>
            <a:r>
              <a:rPr dirty="0" sz="1200" spc="-10">
                <a:latin typeface="Arial Unicode MS"/>
                <a:cs typeface="Arial Unicode MS"/>
              </a:rPr>
              <a:t>确滴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而第二化学计量点可采用酚酞作指示剂进行准确滴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 </a:t>
            </a:r>
            <a:r>
              <a:rPr dirty="0" sz="1200" spc="-5">
                <a:latin typeface="Arial Unicode MS"/>
                <a:cs typeface="Arial Unicode MS"/>
              </a:rPr>
              <a:t>时测定的是体系的酸总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algn="just" marL="12700" marR="2540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实际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通过计算可以得</a:t>
            </a:r>
            <a:r>
              <a:rPr dirty="0" sz="1200" spc="-80">
                <a:latin typeface="Arial Unicode MS"/>
                <a:cs typeface="Arial Unicode MS"/>
              </a:rPr>
              <a:t>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在第一化学计量点</a:t>
            </a:r>
            <a:r>
              <a:rPr dirty="0" sz="1200" spc="-80">
                <a:latin typeface="Arial Unicode MS"/>
                <a:cs typeface="Arial Unicode MS"/>
              </a:rPr>
              <a:t>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当滴定误 </a:t>
            </a:r>
            <a:r>
              <a:rPr dirty="0" sz="1200" spc="-5">
                <a:latin typeface="Arial Unicode MS"/>
                <a:cs typeface="Arial Unicode MS"/>
              </a:rPr>
              <a:t>差为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Lucida Sans Unicode"/>
                <a:cs typeface="Lucida Sans Unicode"/>
              </a:rPr>
              <a:t>±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1%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对应的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范围为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5">
                <a:latin typeface="Georgia"/>
                <a:cs typeface="Georgia"/>
              </a:rPr>
              <a:t>3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37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105">
                <a:latin typeface="Georgia"/>
                <a:cs typeface="Georgia"/>
              </a:rPr>
              <a:t>3</a:t>
            </a:r>
            <a:r>
              <a:rPr dirty="0" sz="1100" spc="-105" b="0" i="1">
                <a:latin typeface="Bookman Old Style"/>
                <a:cs typeface="Bookman Old Style"/>
              </a:rPr>
              <a:t>.</a:t>
            </a:r>
            <a:r>
              <a:rPr dirty="0" sz="1100" spc="-105">
                <a:latin typeface="Georgia"/>
                <a:cs typeface="Georgia"/>
              </a:rPr>
              <a:t>38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如此小的滴定突跃 是难于采用化学指示剂来判定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99199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5">
                <a:solidFill>
                  <a:srgbClr val="FFFFFF"/>
                </a:solidFill>
                <a:latin typeface="Garamond"/>
                <a:cs typeface="Garamond"/>
              </a:rPr>
              <a:t>4.9</a:t>
            </a:r>
            <a:r>
              <a:rPr dirty="0" sz="1400" spc="12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酸碱滴定法的应用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83932"/>
            <a:ext cx="4356735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酸碱滴定法在科学研究和生产实践中都有着广泛的应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许 多化工产品如烧</a:t>
            </a:r>
            <a:r>
              <a:rPr dirty="0" sz="1200" spc="15">
                <a:latin typeface="Arial Unicode MS"/>
                <a:cs typeface="Arial Unicode MS"/>
              </a:rPr>
              <a:t>碱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纯</a:t>
            </a:r>
            <a:r>
              <a:rPr dirty="0" sz="1200" spc="15">
                <a:latin typeface="Arial Unicode MS"/>
                <a:cs typeface="Arial Unicode MS"/>
              </a:rPr>
              <a:t>碱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硫酸铵和碳酸氢铵</a:t>
            </a: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常采用酸碱滴定 法测定其主要成分的含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钢铁及某些原材料中</a:t>
            </a:r>
            <a:r>
              <a:rPr dirty="0" sz="1200" spc="15">
                <a:latin typeface="Arial Unicode MS"/>
                <a:cs typeface="Arial Unicode MS"/>
              </a:rPr>
              <a:t>碳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15">
                <a:latin typeface="Arial Unicode MS"/>
                <a:cs typeface="Arial Unicode MS"/>
              </a:rPr>
              <a:t>硫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15">
                <a:latin typeface="Arial Unicode MS"/>
                <a:cs typeface="Arial Unicode MS"/>
              </a:rPr>
              <a:t>磷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硅和 </a:t>
            </a:r>
            <a:r>
              <a:rPr dirty="0" sz="1200" spc="-10">
                <a:latin typeface="Arial Unicode MS"/>
                <a:cs typeface="Arial Unicode MS"/>
              </a:rPr>
              <a:t>氮等元</a:t>
            </a:r>
            <a:r>
              <a:rPr dirty="0" sz="1200" spc="-80">
                <a:latin typeface="Arial Unicode MS"/>
                <a:cs typeface="Arial Unicode MS"/>
              </a:rPr>
              <a:t>素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也可以采用酸碱滴定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某些有机合成工业和医药工</a:t>
            </a:r>
            <a:r>
              <a:rPr dirty="0" sz="1200" spc="-5">
                <a:latin typeface="Arial Unicode MS"/>
                <a:cs typeface="Arial Unicode MS"/>
              </a:rPr>
              <a:t>业 </a:t>
            </a:r>
            <a:r>
              <a:rPr dirty="0" sz="1200" spc="-5">
                <a:latin typeface="Arial Unicode MS"/>
                <a:cs typeface="Arial Unicode MS"/>
              </a:rPr>
              <a:t>中的原</a:t>
            </a:r>
            <a:r>
              <a:rPr dirty="0" sz="1200" spc="15">
                <a:latin typeface="Arial Unicode MS"/>
                <a:cs typeface="Arial Unicode MS"/>
              </a:rPr>
              <a:t>料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中间产品及其成品</a:t>
            </a: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也有采用酸碱滴定法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下面列 举几个实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叙述酸碱滴定法的某些应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824989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4.9.1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铵盐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中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氮的测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甲酰法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68293" y="96922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501" y="943597"/>
            <a:ext cx="38169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含氮化合物中的氮可以通过化学反应转化为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但由于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667" y="1192923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042539"/>
            <a:ext cx="4356735" cy="33274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847090">
              <a:lnSpc>
                <a:spcPct val="100000"/>
              </a:lnSpc>
              <a:spcBef>
                <a:spcPts val="18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的酸性太</a:t>
            </a:r>
            <a:r>
              <a:rPr dirty="0" sz="1200" spc="-80">
                <a:latin typeface="Arial Unicode MS"/>
                <a:cs typeface="Arial Unicode MS"/>
              </a:rPr>
              <a:t>弱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无法</a:t>
            </a:r>
            <a:r>
              <a:rPr dirty="0" sz="1200" spc="-5">
                <a:latin typeface="Arial Unicode MS"/>
                <a:cs typeface="Arial Unicode MS"/>
              </a:rPr>
              <a:t>用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标准溶液直接滴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27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此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可以</a:t>
            </a:r>
            <a:r>
              <a:rPr dirty="0" sz="1200" spc="-5">
                <a:latin typeface="Arial Unicode MS"/>
                <a:cs typeface="Arial Unicode MS"/>
              </a:rPr>
              <a:t>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266237"/>
            <a:ext cx="3443604" cy="33274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20345">
              <a:lnSpc>
                <a:spcPct val="100000"/>
              </a:lnSpc>
              <a:spcBef>
                <a:spcPts val="18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200" spc="-5">
                <a:latin typeface="Arial Unicode MS"/>
                <a:cs typeface="Arial Unicode MS"/>
              </a:rPr>
              <a:t>甲酰与铵盐作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生成等物质的量的</a:t>
            </a:r>
            <a:r>
              <a:rPr dirty="0" sz="1200" spc="-80">
                <a:latin typeface="Arial Unicode MS"/>
                <a:cs typeface="Arial Unicode MS"/>
              </a:rPr>
              <a:t>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865" y="1857095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865" y="194854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776" y="1851672"/>
            <a:ext cx="1034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4NH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6HCHO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6635" y="1925892"/>
            <a:ext cx="283210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190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r>
              <a:rPr dirty="0" sz="450" spc="-50">
                <a:latin typeface="Arial Unicode MS"/>
                <a:cs typeface="Arial Unicode MS"/>
              </a:rPr>
              <a:t> </a:t>
            </a:r>
            <a:r>
              <a:rPr dirty="0" sz="450" spc="-409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9701" y="1935073"/>
            <a:ext cx="9163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3725" algn="l"/>
              </a:tabLst>
            </a:pPr>
            <a:r>
              <a:rPr dirty="0" baseline="6172" sz="675" spc="412">
                <a:latin typeface="Arial Unicode MS"/>
                <a:cs typeface="Arial Unicode MS"/>
              </a:rPr>
              <a:t>、	</a:t>
            </a:r>
            <a:r>
              <a:rPr dirty="0" sz="600" spc="65">
                <a:latin typeface="Times New Roman"/>
                <a:cs typeface="Times New Roman"/>
              </a:rPr>
              <a:t>2 6</a:t>
            </a:r>
            <a:r>
              <a:rPr dirty="0" sz="600" spc="229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30677" y="1857095"/>
            <a:ext cx="5162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2434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0350" y="193507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2980" y="1851672"/>
            <a:ext cx="1703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(CH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0">
                <a:latin typeface="Georgia"/>
                <a:cs typeface="Georgia"/>
              </a:rPr>
              <a:t>N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0">
                <a:latin typeface="Georgia"/>
                <a:cs typeface="Georgia"/>
              </a:rPr>
              <a:t>3H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6H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44" y="2117496"/>
            <a:ext cx="4260215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45">
                <a:latin typeface="Georgia"/>
                <a:cs typeface="Georgia"/>
              </a:rPr>
              <a:t>(CH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)</a:t>
            </a:r>
            <a:r>
              <a:rPr dirty="0" baseline="-13888" sz="900" spc="67">
                <a:latin typeface="Times New Roman"/>
                <a:cs typeface="Times New Roman"/>
              </a:rPr>
              <a:t>6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37037" sz="900" spc="67">
                <a:latin typeface="Times New Roman"/>
                <a:cs typeface="Times New Roman"/>
              </a:rPr>
              <a:t>+</a:t>
            </a:r>
            <a:r>
              <a:rPr dirty="0" baseline="37037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00" b="0" i="1">
                <a:latin typeface="Bookman Old Style"/>
                <a:cs typeface="Bookman Old Style"/>
              </a:rPr>
              <a:t>K</a:t>
            </a:r>
            <a:r>
              <a:rPr dirty="0" baseline="-13888" sz="900" spc="150" i="1">
                <a:latin typeface="Arial"/>
                <a:cs typeface="Arial"/>
              </a:rPr>
              <a:t>a</a:t>
            </a:r>
            <a:r>
              <a:rPr dirty="0" baseline="-13888" sz="900" spc="26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7</a:t>
            </a:r>
            <a:r>
              <a:rPr dirty="0" sz="1100" spc="5" b="0" i="1">
                <a:latin typeface="Bookman Old Style"/>
                <a:cs typeface="Bookman Old Style"/>
              </a:rPr>
              <a:t>.</a:t>
            </a:r>
            <a:r>
              <a:rPr dirty="0" sz="1100" spc="5">
                <a:latin typeface="Georgia"/>
                <a:cs typeface="Georgia"/>
              </a:rPr>
              <a:t>1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10</a:t>
            </a:r>
            <a:r>
              <a:rPr dirty="0" baseline="37037" sz="900" spc="-37">
                <a:latin typeface="Lucida Sans Unicode"/>
                <a:cs typeface="Lucida Sans Unicode"/>
              </a:rPr>
              <a:t>−</a:t>
            </a:r>
            <a:r>
              <a:rPr dirty="0" baseline="37037" sz="900" spc="-37">
                <a:latin typeface="Times New Roman"/>
                <a:cs typeface="Times New Roman"/>
              </a:rPr>
              <a:t>6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可以使用酚酞作指示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4776" y="192722"/>
            <a:ext cx="33889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4.9.2</a:t>
            </a:r>
            <a:r>
              <a:rPr dirty="0" sz="1000" spc="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烧碱中</a:t>
            </a:r>
            <a:r>
              <a:rPr dirty="0" sz="1050" spc="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Georgia"/>
                <a:cs typeface="Georgia"/>
              </a:rPr>
              <a:t>NaOH</a:t>
            </a:r>
            <a:r>
              <a:rPr dirty="0" sz="1000" spc="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和</a:t>
            </a:r>
            <a:r>
              <a:rPr dirty="0" sz="1050" spc="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Na</a:t>
            </a:r>
            <a:r>
              <a:rPr dirty="0" baseline="-11904" sz="1050" spc="52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CO</a:t>
            </a:r>
            <a:r>
              <a:rPr dirty="0" baseline="-11904" sz="1050" spc="52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-11904" sz="105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含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的测定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双指示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剂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44" y="726871"/>
            <a:ext cx="4365625" cy="20910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双指示剂法的原理是分别采用酚酞和甲基橙来确定两个滴定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终</a:t>
            </a:r>
            <a:r>
              <a:rPr dirty="0" sz="1200" spc="-80">
                <a:latin typeface="Arial Unicode MS"/>
                <a:cs typeface="Arial Unicode MS"/>
              </a:rPr>
              <a:t>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整个分析分两个步骤来完</a:t>
            </a:r>
            <a:r>
              <a:rPr dirty="0" sz="1200" spc="-20">
                <a:latin typeface="Arial Unicode MS"/>
                <a:cs typeface="Arial Unicode MS"/>
              </a:rPr>
              <a:t>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670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第一步</a:t>
            </a:r>
            <a:r>
              <a:rPr dirty="0" sz="1200" spc="-80">
                <a:latin typeface="Arial Unicode MS"/>
                <a:cs typeface="Arial Unicode MS"/>
              </a:rPr>
              <a:t>骤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在配制好的烧碱溶液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先以酚酞做指示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标准溶液滴定至红色刚消</a:t>
            </a:r>
            <a:r>
              <a:rPr dirty="0" sz="1200" spc="-80">
                <a:latin typeface="Arial Unicode MS"/>
                <a:cs typeface="Arial Unicode MS"/>
              </a:rPr>
              <a:t>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全部被中和而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仅仅被中和到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NaHCO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这一步骤消耗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的体积记为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5"/>
              </a:spcBef>
            </a:pPr>
            <a:r>
              <a:rPr dirty="0" sz="1100" spc="-10" b="0" i="1">
                <a:latin typeface="Bookman Old Style"/>
                <a:cs typeface="Bookman Old Style"/>
              </a:rPr>
              <a:t>V</a:t>
            </a:r>
            <a:r>
              <a:rPr dirty="0" baseline="-13888" sz="900" spc="-15">
                <a:latin typeface="Times New Roman"/>
                <a:cs typeface="Times New Roman"/>
              </a:rPr>
              <a:t>1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相关反应如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062355" marR="962660" indent="199390">
              <a:lnSpc>
                <a:spcPts val="2860"/>
              </a:lnSpc>
              <a:spcBef>
                <a:spcPts val="325"/>
              </a:spcBef>
            </a:pPr>
            <a:r>
              <a:rPr dirty="0" sz="1100" spc="-25">
                <a:latin typeface="Georgia"/>
                <a:cs typeface="Georgia"/>
              </a:rPr>
              <a:t>NaOH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HCl </a:t>
            </a:r>
            <a:r>
              <a:rPr dirty="0" sz="450" spc="800">
                <a:latin typeface="Arial Unicode MS"/>
                <a:cs typeface="Arial Unicode MS"/>
              </a:rPr>
              <a:t>► </a:t>
            </a:r>
            <a:r>
              <a:rPr dirty="0" sz="1100" spc="5">
                <a:latin typeface="Georgia"/>
                <a:cs typeface="Georgia"/>
              </a:rPr>
              <a:t>NaCl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 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HCl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3690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NaHCO</a:t>
            </a:r>
            <a:r>
              <a:rPr dirty="0" baseline="-13888" sz="900" spc="15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NaCl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783945"/>
            <a:ext cx="438023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第二步</a:t>
            </a:r>
            <a:r>
              <a:rPr dirty="0" sz="1200" spc="-80">
                <a:latin typeface="Arial Unicode MS"/>
                <a:cs typeface="Arial Unicode MS"/>
              </a:rPr>
              <a:t>骤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向上述溶液中加入甲基</a:t>
            </a:r>
            <a:r>
              <a:rPr dirty="0" sz="1200" spc="-80">
                <a:latin typeface="Arial Unicode MS"/>
                <a:cs typeface="Arial Unicode MS"/>
              </a:rPr>
              <a:t>橙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继续用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 滴定至橙红色</a:t>
            </a:r>
            <a:r>
              <a:rPr dirty="0" baseline="37037" sz="900" spc="-44">
                <a:latin typeface="Times New Roman"/>
                <a:cs typeface="Times New Roman"/>
              </a:rPr>
              <a:t>11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NaHCO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转化为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CO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这一步骤消耗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  </a:t>
            </a:r>
            <a:r>
              <a:rPr dirty="0" sz="1200" spc="-5">
                <a:latin typeface="Arial Unicode MS"/>
                <a:cs typeface="Arial Unicode MS"/>
              </a:rPr>
              <a:t>的体积记为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V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相关的反应如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4262" y="1649006"/>
            <a:ext cx="23399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0">
                <a:latin typeface="Georgia"/>
                <a:cs typeface="Georgia"/>
              </a:rPr>
              <a:t>NaHCO</a:t>
            </a:r>
            <a:r>
              <a:rPr dirty="0" baseline="-13888" sz="900" spc="15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HCl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3697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H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NaCl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2001" y="3185248"/>
            <a:ext cx="308292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46296" sz="900" spc="127">
                <a:latin typeface="Times New Roman"/>
                <a:cs typeface="Times New Roman"/>
              </a:rPr>
              <a:t>11</a:t>
            </a:r>
            <a:r>
              <a:rPr dirty="0" baseline="6172" sz="1350" spc="-7">
                <a:latin typeface="Arial Unicode MS"/>
                <a:cs typeface="Arial Unicode MS"/>
              </a:rPr>
              <a:t>为便于观察终</a:t>
            </a:r>
            <a:r>
              <a:rPr dirty="0" baseline="6172" sz="1350" spc="-89">
                <a:latin typeface="Arial Unicode MS"/>
                <a:cs typeface="Arial Unicode MS"/>
              </a:rPr>
              <a:t>点</a:t>
            </a:r>
            <a:r>
              <a:rPr dirty="0" baseline="6172" sz="1350" spc="-209">
                <a:latin typeface="Arial Unicode MS"/>
                <a:cs typeface="Arial Unicode MS"/>
              </a:rPr>
              <a:t>，</a:t>
            </a:r>
            <a:r>
              <a:rPr dirty="0" baseline="6172" sz="1350" spc="-7">
                <a:latin typeface="Arial Unicode MS"/>
                <a:cs typeface="Arial Unicode MS"/>
              </a:rPr>
              <a:t>在临近终点时可暂停滴</a:t>
            </a:r>
            <a:r>
              <a:rPr dirty="0" baseline="6172" sz="1350" spc="-89">
                <a:latin typeface="Arial Unicode MS"/>
                <a:cs typeface="Arial Unicode MS"/>
              </a:rPr>
              <a:t>定</a:t>
            </a:r>
            <a:r>
              <a:rPr dirty="0" baseline="6172" sz="1350" spc="-209">
                <a:latin typeface="Arial Unicode MS"/>
                <a:cs typeface="Arial Unicode MS"/>
              </a:rPr>
              <a:t>，</a:t>
            </a:r>
            <a:r>
              <a:rPr dirty="0" baseline="6172" sz="1350" spc="-7">
                <a:latin typeface="Arial Unicode MS"/>
                <a:cs typeface="Arial Unicode MS"/>
              </a:rPr>
              <a:t>加热除去</a:t>
            </a:r>
            <a:r>
              <a:rPr dirty="0" baseline="6172" sz="1350" spc="44">
                <a:latin typeface="Arial"/>
                <a:cs typeface="Arial"/>
              </a:rPr>
              <a:t>CO</a:t>
            </a:r>
            <a:r>
              <a:rPr dirty="0" sz="600" spc="30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742810"/>
            <a:ext cx="24123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根据上述反应的计量关系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8105" y="1217206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134" y="1133792"/>
            <a:ext cx="984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b="0" i="1">
                <a:latin typeface="Bookman Old Style"/>
                <a:cs typeface="Bookman Old Style"/>
              </a:rPr>
              <a:t>w</a:t>
            </a:r>
            <a:r>
              <a:rPr dirty="0" sz="1100" spc="-50">
                <a:latin typeface="Georgia"/>
                <a:cs typeface="Georgia"/>
              </a:rPr>
              <a:t>(Na </a:t>
            </a:r>
            <a:r>
              <a:rPr dirty="0" sz="1100" spc="55">
                <a:latin typeface="Georgia"/>
                <a:cs typeface="Georgia"/>
              </a:rPr>
              <a:t>CO </a:t>
            </a:r>
            <a:r>
              <a:rPr dirty="0" sz="1100" spc="10">
                <a:latin typeface="Georgia"/>
                <a:cs typeface="Georgia"/>
              </a:rPr>
              <a:t>)%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0603" y="1040066"/>
            <a:ext cx="685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sz="1100" spc="-19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0927" y="1123480"/>
            <a:ext cx="93789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870" algn="l"/>
                <a:tab pos="871219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4429" y="1040066"/>
            <a:ext cx="908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1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M</a:t>
            </a:r>
            <a:r>
              <a:rPr dirty="0" u="sng" sz="1100" spc="-1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CO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8146" y="1215555"/>
            <a:ext cx="936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烧碱试样质量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2647" y="1133792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613" y="1859546"/>
            <a:ext cx="8832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w</a:t>
            </a:r>
            <a:r>
              <a:rPr dirty="0" sz="1100" spc="-30">
                <a:latin typeface="Georgia"/>
                <a:cs typeface="Georgia"/>
              </a:rPr>
              <a:t>(NaOH)%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4495" y="1765820"/>
            <a:ext cx="466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5452" y="1765820"/>
            <a:ext cx="520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180" b="0" i="1">
                <a:latin typeface="Bookman Old Style"/>
                <a:cs typeface="Bookman Old Style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8692" y="1849221"/>
            <a:ext cx="3810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10739" y="1765820"/>
            <a:ext cx="532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-114" b="0" i="1">
                <a:latin typeface="Bookman Old Style"/>
                <a:cs typeface="Bookman Old Style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sz="1100" spc="-23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1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M</a:t>
            </a:r>
            <a:r>
              <a:rPr dirty="0" u="sng" sz="1100" spc="-21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44062" y="1849221"/>
            <a:ext cx="3390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7012" y="1765820"/>
            <a:ext cx="6197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CO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37359" y="1941296"/>
            <a:ext cx="936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烧碱试样质量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7168" y="1859546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776" y="192722"/>
            <a:ext cx="3256279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4.9.2</a:t>
            </a:r>
            <a:r>
              <a:rPr dirty="0" sz="1000" spc="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烧碱中</a:t>
            </a:r>
            <a:r>
              <a:rPr dirty="0" sz="1050" spc="35">
                <a:solidFill>
                  <a:srgbClr val="FFFFFF"/>
                </a:solidFill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Georgia"/>
                <a:cs typeface="Georgia"/>
              </a:rPr>
              <a:t>NaOH</a:t>
            </a:r>
            <a:r>
              <a:rPr dirty="0" sz="1000" spc="8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和</a:t>
            </a:r>
            <a:r>
              <a:rPr dirty="0" sz="1050" spc="35">
                <a:solidFill>
                  <a:srgbClr val="FFFFFF"/>
                </a:solidFill>
              </a:rPr>
              <a:t> 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Na</a:t>
            </a:r>
            <a:r>
              <a:rPr dirty="0" baseline="-11904" sz="1050" spc="52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1000" spc="35">
                <a:solidFill>
                  <a:srgbClr val="FFFFFF"/>
                </a:solidFill>
                <a:latin typeface="Georgia"/>
                <a:cs typeface="Georgia"/>
              </a:rPr>
              <a:t>CO</a:t>
            </a:r>
            <a:r>
              <a:rPr dirty="0" baseline="-11904" sz="1050" spc="52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-11904" sz="1050" spc="3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含</a:t>
            </a:r>
            <a:r>
              <a:rPr dirty="0" sz="1050" spc="-10">
                <a:solidFill>
                  <a:srgbClr val="FFFFFF"/>
                </a:solidFill>
              </a:rPr>
              <a:t>量</a:t>
            </a:r>
            <a:r>
              <a:rPr dirty="0" sz="1050" spc="-5">
                <a:solidFill>
                  <a:srgbClr val="FFFFFF"/>
                </a:solidFill>
              </a:rPr>
              <a:t>的测定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50" spc="-5">
                <a:solidFill>
                  <a:srgbClr val="FFFFFF"/>
                </a:solidFill>
              </a:rPr>
              <a:t>氯化钡法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5914" y="916508"/>
            <a:ext cx="11036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43305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7129" y="100103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01" y="890879"/>
            <a:ext cx="31762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483995" algn="l"/>
              </a:tabLst>
            </a:pPr>
            <a:r>
              <a:rPr dirty="0" sz="1200" spc="-5">
                <a:latin typeface="Arial Unicode MS"/>
                <a:cs typeface="Arial Unicode MS"/>
              </a:rPr>
              <a:t>氯化钡法是根据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Ba	</a:t>
            </a:r>
            <a:r>
              <a:rPr dirty="0" sz="1200" spc="-5">
                <a:latin typeface="Arial Unicode MS"/>
                <a:cs typeface="Arial Unicode MS"/>
              </a:rPr>
              <a:t>离子能与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baseline="37037" sz="900" spc="142">
                <a:latin typeface="Lucida Sans Unicode"/>
                <a:cs typeface="Lucida Sans Unicode"/>
              </a:rPr>
              <a:t>−</a:t>
            </a:r>
            <a:r>
              <a:rPr dirty="0" baseline="37037" sz="900" spc="300">
                <a:latin typeface="Lucida Sans Unicode"/>
                <a:cs typeface="Lucida Sans Unicod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形成沉淀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6452" y="890879"/>
            <a:ext cx="936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而设计的一种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44" y="1073073"/>
            <a:ext cx="4410710" cy="173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分析方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首</a:t>
            </a:r>
            <a:r>
              <a:rPr dirty="0" sz="1200" spc="-80">
                <a:latin typeface="Arial Unicode MS"/>
                <a:cs typeface="Arial Unicode MS"/>
              </a:rPr>
              <a:t>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将配制好的溶液分成两</a:t>
            </a:r>
            <a:r>
              <a:rPr dirty="0" sz="1200" spc="-80">
                <a:latin typeface="Arial Unicode MS"/>
                <a:cs typeface="Arial Unicode MS"/>
              </a:rPr>
              <a:t>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第一份试样以甲基橙 </a:t>
            </a:r>
            <a:r>
              <a:rPr dirty="0" sz="1200" spc="-5">
                <a:latin typeface="Arial Unicode MS"/>
                <a:cs typeface="Arial Unicode MS"/>
              </a:rPr>
              <a:t>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标准溶液滴定至橙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此时溶液中的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全部被中</a:t>
            </a:r>
            <a:r>
              <a:rPr dirty="0" sz="1200" spc="-20">
                <a:latin typeface="Arial Unicode MS"/>
                <a:cs typeface="Arial Unicode MS"/>
              </a:rPr>
              <a:t>和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这一份试样消耗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标准溶液的体积记为 </a:t>
            </a:r>
            <a:r>
              <a:rPr dirty="0" sz="1100" spc="-10" b="0" i="1">
                <a:latin typeface="Bookman Old Style"/>
                <a:cs typeface="Bookman Old Style"/>
              </a:rPr>
              <a:t>V</a:t>
            </a:r>
            <a:r>
              <a:rPr dirty="0" baseline="-13888" sz="900" spc="-15">
                <a:latin typeface="Times New Roman"/>
                <a:cs typeface="Times New Roman"/>
              </a:rPr>
              <a:t>1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50800" marR="114300" indent="303530">
              <a:lnSpc>
                <a:spcPct val="122300"/>
              </a:lnSpc>
              <a:spcBef>
                <a:spcPts val="1090"/>
              </a:spcBef>
            </a:pPr>
            <a:r>
              <a:rPr dirty="0" sz="1200" spc="-5">
                <a:latin typeface="Arial Unicode MS"/>
                <a:cs typeface="Arial Unicode MS"/>
              </a:rPr>
              <a:t>在第二份试液中加入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BaCl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生成微溶的 </a:t>
            </a:r>
            <a:r>
              <a:rPr dirty="0" sz="1100" spc="40">
                <a:latin typeface="Georgia"/>
                <a:cs typeface="Georgia"/>
              </a:rPr>
              <a:t>BaCO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</a:t>
            </a:r>
            <a:r>
              <a:rPr dirty="0" sz="1200" spc="-80">
                <a:latin typeface="Arial Unicode MS"/>
                <a:cs typeface="Arial Unicode MS"/>
              </a:rPr>
              <a:t>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继以酚酞做指示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标准溶液滴定试液中的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至终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这一份试样消耗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标准溶液的体积记为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V</a:t>
            </a:r>
            <a:r>
              <a:rPr dirty="0" baseline="-13888" sz="900" spc="-15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866178"/>
            <a:ext cx="4718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9721" y="1258227"/>
            <a:ext cx="8832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w</a:t>
            </a:r>
            <a:r>
              <a:rPr dirty="0" sz="1100" spc="-30">
                <a:latin typeface="Georgia"/>
                <a:cs typeface="Georgia"/>
              </a:rPr>
              <a:t>(NaOH)%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0603" y="1164501"/>
            <a:ext cx="466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0927" y="1247914"/>
            <a:ext cx="1092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1560" y="1164501"/>
            <a:ext cx="11093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-114" b="0" i="1">
                <a:latin typeface="Bookman Old Style"/>
                <a:cs typeface="Bookman Old Style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1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M</a:t>
            </a:r>
            <a:r>
              <a:rPr dirty="0" u="sng" sz="1100" spc="-20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7359" y="1339977"/>
            <a:ext cx="936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烧碱试样质量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1060" y="1258227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304" y="1814830"/>
            <a:ext cx="3327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0802" y="182646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333" y="1731429"/>
            <a:ext cx="1261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39825" algn="l"/>
              </a:tabLst>
            </a:pPr>
            <a:r>
              <a:rPr dirty="0" sz="1100" spc="-165" b="0" i="1">
                <a:latin typeface="Bookman Old Style"/>
                <a:cs typeface="Bookman Old Style"/>
              </a:rPr>
              <a:t>w</a:t>
            </a:r>
            <a:r>
              <a:rPr dirty="0" sz="1100" spc="-10">
                <a:latin typeface="Georgia"/>
                <a:cs typeface="Georgia"/>
              </a:rPr>
              <a:t>(Na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)%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0802" y="1637703"/>
            <a:ext cx="12306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</a:tabLst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sz="1100" spc="70">
                <a:latin typeface="Georgia"/>
                <a:cs typeface="Georgia"/>
              </a:rPr>
              <a:t>	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-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</a:t>
            </a:r>
            <a:r>
              <a:rPr dirty="0" u="sng" sz="1100" spc="-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175" b="0" i="1">
                <a:latin typeface="Bookman Old Style"/>
                <a:cs typeface="Bookman Old Style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3972" y="1721104"/>
            <a:ext cx="12941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960" algn="l"/>
                <a:tab pos="967740" algn="l"/>
                <a:tab pos="1228090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6019" y="1637703"/>
            <a:ext cx="1126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sz="1100" spc="-114" b="0" i="1">
                <a:latin typeface="Bookman Old Style"/>
                <a:cs typeface="Bookman Old Style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1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M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CO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2639" y="1813179"/>
            <a:ext cx="936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烧碱试样质量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42448" y="1731429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7552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4.9.3</a:t>
            </a:r>
            <a:r>
              <a:rPr dirty="0" sz="1000" spc="1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硅酸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盐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中硅的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—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硅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氟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酸钾滴定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析法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1078712"/>
            <a:ext cx="440182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将硅酸盐样品与固体 </a:t>
            </a:r>
            <a:r>
              <a:rPr dirty="0" sz="1100">
                <a:latin typeface="Georgia"/>
                <a:cs typeface="Georgia"/>
              </a:rPr>
              <a:t>KOH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混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置于铂坩埚中高温熔</a:t>
            </a:r>
            <a:r>
              <a:rPr dirty="0" sz="1200" spc="-80">
                <a:latin typeface="Arial Unicode MS"/>
                <a:cs typeface="Arial Unicode MS"/>
              </a:rPr>
              <a:t>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 其转化为可溶性硅酸盐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K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SiO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40">
                <a:latin typeface="Georgia"/>
                <a:cs typeface="Georgia"/>
              </a:rPr>
              <a:t>K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SiO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作用</a:t>
            </a:r>
            <a:r>
              <a:rPr dirty="0" baseline="37037" sz="900" spc="-44">
                <a:latin typeface="Times New Roman"/>
                <a:cs typeface="Times New Roman"/>
              </a:rPr>
              <a:t>12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转化为微溶 </a:t>
            </a:r>
            <a:r>
              <a:rPr dirty="0" sz="1100" spc="5">
                <a:latin typeface="Georgia"/>
                <a:cs typeface="Georgia"/>
              </a:rPr>
              <a:t>K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SiF</a:t>
            </a:r>
            <a:r>
              <a:rPr dirty="0" baseline="-13888" sz="900" spc="7">
                <a:latin typeface="Times New Roman"/>
                <a:cs typeface="Times New Roman"/>
              </a:rPr>
              <a:t>6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025" y="1943773"/>
            <a:ext cx="2368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0">
                <a:latin typeface="Georgia"/>
                <a:cs typeface="Georgia"/>
              </a:rPr>
              <a:t>K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SiO</a:t>
            </a:r>
            <a:r>
              <a:rPr dirty="0" baseline="-13888" sz="900" spc="60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5">
                <a:latin typeface="Georgia"/>
                <a:cs typeface="Georgia"/>
              </a:rPr>
              <a:t>6HF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3697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K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SiF</a:t>
            </a:r>
            <a:r>
              <a:rPr dirty="0" baseline="-13888" sz="900" spc="67">
                <a:latin typeface="Times New Roman"/>
                <a:cs typeface="Times New Roman"/>
              </a:rPr>
              <a:t>6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95">
                <a:latin typeface="Lucida Sans Unicode"/>
                <a:cs typeface="Lucida Sans Unicode"/>
              </a:rPr>
              <a:t> </a:t>
            </a:r>
            <a:r>
              <a:rPr dirty="0" sz="1100" spc="25">
                <a:latin typeface="Georgia"/>
                <a:cs typeface="Georgia"/>
              </a:rPr>
              <a:t>+3H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2001" y="3172599"/>
            <a:ext cx="32029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27">
                <a:latin typeface="Times New Roman"/>
                <a:cs typeface="Times New Roman"/>
              </a:rPr>
              <a:t>12</a:t>
            </a:r>
            <a:r>
              <a:rPr dirty="0" sz="900" spc="-5">
                <a:latin typeface="Arial Unicode MS"/>
                <a:cs typeface="Arial Unicode MS"/>
              </a:rPr>
              <a:t>一般是在强酸介质中加</a:t>
            </a:r>
            <a:r>
              <a:rPr dirty="0" sz="900" spc="45">
                <a:latin typeface="Arial Unicode MS"/>
                <a:cs typeface="Arial Unicode MS"/>
              </a:rPr>
              <a:t> </a:t>
            </a:r>
            <a:r>
              <a:rPr dirty="0" sz="900" spc="80">
                <a:latin typeface="Arial"/>
                <a:cs typeface="Arial"/>
              </a:rPr>
              <a:t>KF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使生成</a:t>
            </a:r>
            <a:r>
              <a:rPr dirty="0" sz="900" spc="50">
                <a:latin typeface="Arial Unicode MS"/>
                <a:cs typeface="Arial Unicode MS"/>
              </a:rPr>
              <a:t> </a:t>
            </a:r>
            <a:r>
              <a:rPr dirty="0" sz="900" spc="40">
                <a:latin typeface="Arial"/>
                <a:cs typeface="Arial"/>
              </a:rPr>
              <a:t>HF</a:t>
            </a:r>
            <a:r>
              <a:rPr dirty="0" sz="900" spc="-180">
                <a:latin typeface="Arial Unicode MS"/>
                <a:cs typeface="Arial Unicode MS"/>
              </a:rPr>
              <a:t>。</a:t>
            </a:r>
            <a:r>
              <a:rPr dirty="0" sz="900" spc="-5">
                <a:latin typeface="Arial Unicode MS"/>
                <a:cs typeface="Arial Unicode MS"/>
              </a:rPr>
              <a:t>注</a:t>
            </a:r>
            <a:r>
              <a:rPr dirty="0" sz="900" spc="-60">
                <a:latin typeface="Arial Unicode MS"/>
                <a:cs typeface="Arial Unicode MS"/>
              </a:rPr>
              <a:t>意</a:t>
            </a:r>
            <a:r>
              <a:rPr dirty="0" sz="900" spc="-5">
                <a:latin typeface="Arial Unicode MS"/>
                <a:cs typeface="Arial Unicode MS"/>
              </a:rPr>
              <a:t>，</a:t>
            </a:r>
            <a:r>
              <a:rPr dirty="0" sz="900" spc="-85">
                <a:latin typeface="Arial Unicode MS"/>
                <a:cs typeface="Arial Unicode MS"/>
              </a:rPr>
              <a:t> </a:t>
            </a:r>
            <a:r>
              <a:rPr dirty="0" sz="900" spc="45">
                <a:latin typeface="Arial"/>
                <a:cs typeface="Arial"/>
              </a:rPr>
              <a:t>HF </a:t>
            </a:r>
            <a:r>
              <a:rPr dirty="0" sz="900" spc="-5">
                <a:latin typeface="Arial Unicode MS"/>
                <a:cs typeface="Arial Unicode MS"/>
              </a:rPr>
              <a:t>有剧</a:t>
            </a:r>
            <a:r>
              <a:rPr dirty="0" sz="900" spc="-70">
                <a:latin typeface="Arial Unicode MS"/>
                <a:cs typeface="Arial Unicode MS"/>
              </a:rPr>
              <a:t>毒</a:t>
            </a:r>
            <a:r>
              <a:rPr dirty="0" sz="900" spc="-5">
                <a:latin typeface="Arial Unicode MS"/>
                <a:cs typeface="Arial Unicode MS"/>
              </a:rPr>
              <a:t>！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672198"/>
            <a:ext cx="4366260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为了使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K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SiF</a:t>
            </a:r>
            <a:r>
              <a:rPr dirty="0" baseline="-13888" sz="900" spc="67">
                <a:latin typeface="Times New Roman"/>
                <a:cs typeface="Times New Roman"/>
              </a:rPr>
              <a:t>6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充分沉</a:t>
            </a:r>
            <a:r>
              <a:rPr dirty="0" sz="1200" spc="-80">
                <a:latin typeface="Arial Unicode MS"/>
                <a:cs typeface="Arial Unicode MS"/>
              </a:rPr>
              <a:t>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还需加入固体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KCl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以降低其溶解 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将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K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SiF</a:t>
            </a:r>
            <a:r>
              <a:rPr dirty="0" baseline="-13888" sz="900" spc="67">
                <a:latin typeface="Times New Roman"/>
                <a:cs typeface="Times New Roman"/>
              </a:rPr>
              <a:t>6</a:t>
            </a:r>
            <a:r>
              <a:rPr dirty="0" baseline="-13888" sz="900" spc="33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沉淀过滤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用氯化钾</a:t>
            </a:r>
            <a:r>
              <a:rPr dirty="0" sz="1100" spc="-50">
                <a:latin typeface="Georgia"/>
                <a:cs typeface="Georgia"/>
              </a:rPr>
              <a:t>-</a:t>
            </a:r>
            <a:r>
              <a:rPr dirty="0" sz="1200" spc="-5">
                <a:latin typeface="Arial Unicode MS"/>
                <a:cs typeface="Arial Unicode MS"/>
              </a:rPr>
              <a:t>乙醇溶液洗涤沉</a:t>
            </a:r>
            <a:r>
              <a:rPr dirty="0" sz="1200" spc="-20">
                <a:latin typeface="Arial Unicode MS"/>
                <a:cs typeface="Arial Unicode MS"/>
              </a:rPr>
              <a:t>淀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之后将 沉淀放入烧杯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加入氯化钾</a:t>
            </a:r>
            <a:r>
              <a:rPr dirty="0" sz="1100" spc="-50">
                <a:latin typeface="Georgia"/>
                <a:cs typeface="Georgia"/>
              </a:rPr>
              <a:t>-</a:t>
            </a:r>
            <a:r>
              <a:rPr dirty="0" sz="1200" spc="-5">
                <a:latin typeface="Arial Unicode MS"/>
                <a:cs typeface="Arial Unicode MS"/>
              </a:rPr>
              <a:t>乙醇溶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中和游离酸至 酚酞变</a:t>
            </a:r>
            <a:r>
              <a:rPr dirty="0" sz="1200" spc="-80">
                <a:latin typeface="Arial Unicode MS"/>
                <a:cs typeface="Arial Unicode MS"/>
              </a:rPr>
              <a:t>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再加入沸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K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SiF</a:t>
            </a:r>
            <a:r>
              <a:rPr dirty="0" baseline="-13888" sz="900" spc="67">
                <a:latin typeface="Times New Roman"/>
                <a:cs typeface="Times New Roman"/>
              </a:rPr>
              <a:t>6</a:t>
            </a:r>
            <a:r>
              <a:rPr dirty="0" baseline="-13888" sz="900" spc="35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水解而释放出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95">
                <a:latin typeface="Georgia"/>
                <a:cs typeface="Georgia"/>
              </a:rPr>
              <a:t>HF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813" y="1760956"/>
            <a:ext cx="3258185" cy="572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67055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K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SiF</a:t>
            </a:r>
            <a:r>
              <a:rPr dirty="0" baseline="-13888" sz="900" spc="67">
                <a:latin typeface="Times New Roman"/>
                <a:cs typeface="Times New Roman"/>
              </a:rPr>
              <a:t>6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3H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3712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2KF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">
                <a:latin typeface="Georgia"/>
                <a:cs typeface="Georgia"/>
              </a:rPr>
              <a:t>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SiO</a:t>
            </a:r>
            <a:r>
              <a:rPr dirty="0" baseline="-13888" sz="900" spc="15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4HF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释放出的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HF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可以用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635025"/>
            <a:ext cx="37471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从上述的反应过</a:t>
            </a:r>
            <a:r>
              <a:rPr dirty="0" spc="-80"/>
              <a:t>程</a:t>
            </a:r>
            <a:r>
              <a:rPr dirty="0" spc="-185"/>
              <a:t>，</a:t>
            </a:r>
            <a:r>
              <a:rPr dirty="0" spc="-5"/>
              <a:t>可以归纳出反应的计量关</a:t>
            </a:r>
            <a:r>
              <a:rPr dirty="0" spc="-80"/>
              <a:t>系</a:t>
            </a:r>
            <a:r>
              <a:rPr dirty="0" spc="-185"/>
              <a:t>，</a:t>
            </a:r>
            <a:r>
              <a:rPr dirty="0" spc="-5"/>
              <a:t>如</a:t>
            </a:r>
            <a:r>
              <a:rPr dirty="0" spc="-90"/>
              <a:t>下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113" y="1011186"/>
            <a:ext cx="2633345" cy="557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04595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SiO</a:t>
            </a:r>
            <a:r>
              <a:rPr dirty="0" baseline="-13888" sz="900" spc="22">
                <a:latin typeface="Times New Roman"/>
                <a:cs typeface="Times New Roman"/>
              </a:rPr>
              <a:t>2 </a:t>
            </a:r>
            <a:r>
              <a:rPr dirty="0" sz="1100" spc="55">
                <a:latin typeface="Lucida Sans Unicode"/>
                <a:cs typeface="Lucida Sans Unicode"/>
              </a:rPr>
              <a:t>⇒ </a:t>
            </a:r>
            <a:r>
              <a:rPr dirty="0" sz="1100" spc="45">
                <a:latin typeface="Georgia"/>
                <a:cs typeface="Georgia"/>
              </a:rPr>
              <a:t>K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SiF</a:t>
            </a:r>
            <a:r>
              <a:rPr dirty="0" baseline="-13888" sz="900" spc="67">
                <a:latin typeface="Times New Roman"/>
                <a:cs typeface="Times New Roman"/>
              </a:rPr>
              <a:t>6 </a:t>
            </a:r>
            <a:r>
              <a:rPr dirty="0" sz="1100" spc="55">
                <a:latin typeface="Lucida Sans Unicode"/>
                <a:cs typeface="Lucida Sans Unicode"/>
              </a:rPr>
              <a:t>⇒</a:t>
            </a:r>
            <a:r>
              <a:rPr dirty="0" sz="1100" spc="-235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4HF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试样中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SiO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的质量分数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545" y="1887270"/>
            <a:ext cx="8248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" b="0" i="1">
                <a:latin typeface="Bookman Old Style"/>
                <a:cs typeface="Bookman Old Style"/>
              </a:rPr>
              <a:t>w</a:t>
            </a:r>
            <a:r>
              <a:rPr dirty="0" sz="1100" spc="-5">
                <a:latin typeface="Georgia"/>
                <a:cs typeface="Georgia"/>
              </a:rPr>
              <a:t>(SiO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)%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0210" y="1644485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12910" y="18548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33512" y="1738210"/>
            <a:ext cx="2035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c</a:t>
            </a:r>
            <a:r>
              <a:rPr dirty="0" sz="1100" spc="-30">
                <a:latin typeface="Georgia"/>
                <a:cs typeface="Georgia"/>
              </a:rPr>
              <a:t>(NaOH)</a:t>
            </a:r>
            <a:r>
              <a:rPr dirty="0" sz="1100" spc="-30" b="0" i="1">
                <a:latin typeface="Bookman Old Style"/>
                <a:cs typeface="Bookman Old Style"/>
              </a:rPr>
              <a:t>V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-10">
                <a:latin typeface="Georgia"/>
                <a:cs typeface="Georgia"/>
              </a:rPr>
              <a:t>(NaOH)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5">
                <a:latin typeface="Lucida Sans Unicode"/>
                <a:cs typeface="Lucida Sans Unicode"/>
              </a:rPr>
              <a:t> </a:t>
            </a:r>
            <a:r>
              <a:rPr dirty="0" baseline="-37878" sz="1650" spc="-120">
                <a:latin typeface="Georgia"/>
                <a:cs typeface="Georgia"/>
              </a:rPr>
              <a:t>4</a:t>
            </a:r>
            <a:r>
              <a:rPr dirty="0" baseline="-37878" sz="1650" spc="-240">
                <a:latin typeface="Georgia"/>
                <a:cs typeface="Georgia"/>
              </a:rPr>
              <a:t> </a:t>
            </a:r>
            <a:r>
              <a:rPr dirty="0" sz="1100" spc="110" b="0" i="1">
                <a:latin typeface="Bookman Old Style"/>
                <a:cs typeface="Bookman Old Style"/>
              </a:rPr>
              <a:t>M</a:t>
            </a:r>
            <a:r>
              <a:rPr dirty="0" sz="1100" spc="-220" b="0" i="1">
                <a:latin typeface="Bookman Old Style"/>
                <a:cs typeface="Bookman Old Style"/>
              </a:rPr>
              <a:t> </a:t>
            </a:r>
            <a:r>
              <a:rPr dirty="0" sz="1100" spc="20">
                <a:latin typeface="Georgia"/>
                <a:cs typeface="Georgia"/>
              </a:rPr>
              <a:t>(SiO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71612" y="2003882"/>
            <a:ext cx="1958975" cy="0"/>
          </a:xfrm>
          <a:custGeom>
            <a:avLst/>
            <a:gdLst/>
            <a:ahLst/>
            <a:cxnLst/>
            <a:rect l="l" t="t" r="r" b="b"/>
            <a:pathLst>
              <a:path w="1958975" h="0">
                <a:moveTo>
                  <a:pt x="0" y="0"/>
                </a:moveTo>
                <a:lnTo>
                  <a:pt x="195894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58809" y="1970646"/>
            <a:ext cx="7848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硅酸盐质量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3836" y="1887270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331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4.9.4</a:t>
            </a:r>
            <a:r>
              <a:rPr dirty="0" sz="1000" spc="15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酸碱滴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法测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磷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636371"/>
            <a:ext cx="437451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先将含磷的样品进行处</a:t>
            </a:r>
            <a:r>
              <a:rPr dirty="0" spc="-80"/>
              <a:t>理</a:t>
            </a:r>
            <a:r>
              <a:rPr dirty="0" spc="-185"/>
              <a:t>，</a:t>
            </a:r>
            <a:r>
              <a:rPr dirty="0" spc="-5"/>
              <a:t>使磷转化为</a:t>
            </a:r>
            <a:r>
              <a:rPr dirty="0" spc="15"/>
              <a:t> 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sz="1100" spc="45">
                <a:latin typeface="Georgia"/>
                <a:cs typeface="Georgia"/>
              </a:rPr>
              <a:t>PO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200" spc="-235"/>
              <a:t>。</a:t>
            </a:r>
            <a:r>
              <a:rPr dirty="0" sz="1200" spc="-5"/>
              <a:t>使</a:t>
            </a:r>
            <a:r>
              <a:rPr dirty="0" sz="1200" spc="15"/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PO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/>
              <a:t>在 </a:t>
            </a:r>
            <a:r>
              <a:rPr dirty="0" sz="1100" spc="-5">
                <a:latin typeface="Georgia"/>
                <a:cs typeface="Georgia"/>
              </a:rPr>
              <a:t>HNO</a:t>
            </a:r>
            <a:r>
              <a:rPr dirty="0" baseline="-13888" sz="900" spc="-7">
                <a:latin typeface="Times New Roman"/>
                <a:cs typeface="Times New Roman"/>
              </a:rPr>
              <a:t>3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200" spc="-5"/>
              <a:t>介质中与钼酸铵反</a:t>
            </a:r>
            <a:r>
              <a:rPr dirty="0" sz="1200" spc="-80"/>
              <a:t>应</a:t>
            </a:r>
            <a:r>
              <a:rPr dirty="0" sz="1200" spc="-185"/>
              <a:t>，</a:t>
            </a:r>
            <a:r>
              <a:rPr dirty="0" sz="1200" spc="-5"/>
              <a:t>生成黄色的磷钼酸铵沉</a:t>
            </a:r>
            <a:r>
              <a:rPr dirty="0" sz="1200" spc="-80"/>
              <a:t>淀</a:t>
            </a:r>
            <a:r>
              <a:rPr dirty="0" sz="1200" spc="-185"/>
              <a:t>，</a:t>
            </a:r>
            <a:r>
              <a:rPr dirty="0" sz="1200" spc="-5"/>
              <a:t>反应式如 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6450" y="150685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700" y="1506855"/>
            <a:ext cx="586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165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7031" y="1506855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450" y="1598307"/>
            <a:ext cx="18224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4835" algn="l"/>
                <a:tab pos="1762760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1830" y="1584845"/>
            <a:ext cx="15779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380" algn="l"/>
                <a:tab pos="969010" algn="l"/>
                <a:tab pos="1518285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406" y="1501432"/>
            <a:ext cx="4299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0840" algn="l"/>
                <a:tab pos="2160270" algn="l"/>
              </a:tabLst>
            </a:pPr>
            <a:r>
              <a:rPr dirty="0" sz="1100" spc="50">
                <a:latin typeface="Georgia"/>
                <a:cs typeface="Georgia"/>
              </a:rPr>
              <a:t>PO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60">
                <a:latin typeface="Georgia"/>
                <a:cs typeface="Georgia"/>
              </a:rPr>
              <a:t>3NH   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24H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12MoO	</a:t>
            </a:r>
            <a:r>
              <a:rPr dirty="0" sz="450" spc="800">
                <a:latin typeface="Arial Unicode MS"/>
                <a:cs typeface="Arial Unicode MS"/>
              </a:rPr>
              <a:t>► </a:t>
            </a:r>
            <a:r>
              <a:rPr dirty="0" sz="1100" spc="-35">
                <a:latin typeface="Georgia"/>
                <a:cs typeface="Georgia"/>
              </a:rPr>
              <a:t>(NH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12MoO </a:t>
            </a:r>
            <a:r>
              <a:rPr dirty="0" sz="1100" spc="-40">
                <a:latin typeface="Lucida Sans Unicode"/>
                <a:cs typeface="Lucida Sans Unicode"/>
              </a:rPr>
              <a:t>↓ </a:t>
            </a:r>
            <a:r>
              <a:rPr dirty="0" sz="1100" spc="15">
                <a:latin typeface="Georgia"/>
                <a:cs typeface="Georgia"/>
              </a:rPr>
              <a:t>+12H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809521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将沉淀过</a:t>
            </a:r>
            <a:r>
              <a:rPr dirty="0" sz="1200" spc="-80">
                <a:latin typeface="Arial Unicode MS"/>
                <a:cs typeface="Arial Unicode MS"/>
              </a:rPr>
              <a:t>滤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用水洗涤至洗涤液不呈酸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再将沉淀溶解于</a:t>
            </a:r>
            <a:r>
              <a:rPr dirty="0" sz="1200" spc="-5">
                <a:latin typeface="Arial Unicode MS"/>
                <a:cs typeface="Arial Unicode MS"/>
              </a:rPr>
              <a:t>过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量的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反应式如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070" y="2572245"/>
            <a:ext cx="10287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380" algn="l"/>
                <a:tab pos="969010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374" y="2488844"/>
            <a:ext cx="1816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(NH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50">
                <a:latin typeface="Georgia"/>
                <a:cs typeface="Georgia"/>
              </a:rPr>
              <a:t>PO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Georgia"/>
                <a:cs typeface="Georgia"/>
              </a:rPr>
              <a:t>12MoO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23OH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0035" y="2494267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0035" y="25857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57765" y="2494267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7765" y="25857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17648" y="2488844"/>
            <a:ext cx="182498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71550" algn="l"/>
              </a:tabLst>
            </a:pPr>
            <a:r>
              <a:rPr dirty="0" baseline="41666" sz="900" spc="142">
                <a:latin typeface="Lucida Sans Unicode"/>
                <a:cs typeface="Lucida Sans Unicode"/>
              </a:rPr>
              <a:t>−  </a:t>
            </a:r>
            <a:r>
              <a:rPr dirty="0" sz="600" spc="95">
                <a:latin typeface="Lucida Sans Unicode"/>
                <a:cs typeface="Lucida Sans Unicode"/>
              </a:rPr>
              <a:t>  </a:t>
            </a:r>
            <a:r>
              <a:rPr dirty="0" sz="600" spc="180">
                <a:latin typeface="Lucida Sans Unicode"/>
                <a:cs typeface="Lucida Sans Unicode"/>
              </a:rPr>
              <a:t> </a:t>
            </a:r>
            <a:r>
              <a:rPr dirty="0" sz="450" spc="800">
                <a:latin typeface="Arial Unicode MS"/>
                <a:cs typeface="Arial Unicode MS"/>
              </a:rPr>
              <a:t>►</a:t>
            </a:r>
            <a:r>
              <a:rPr dirty="0" sz="450" spc="42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HPO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0">
                <a:latin typeface="Georgia"/>
                <a:cs typeface="Georgia"/>
              </a:rPr>
              <a:t>12MoO</a:t>
            </a:r>
            <a:r>
              <a:rPr dirty="0" sz="1100" spc="2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9979" y="275591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49979" y="284737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9752" y="283390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72890" y="2750502"/>
            <a:ext cx="782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3NH </a:t>
            </a:r>
            <a:r>
              <a:rPr dirty="0" sz="1100" spc="20">
                <a:latin typeface="Georgia"/>
                <a:cs typeface="Georgia"/>
              </a:rPr>
              <a:t>11H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845540"/>
            <a:ext cx="4323080" cy="473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以酚酞为指示</a:t>
            </a:r>
            <a:r>
              <a:rPr dirty="0" spc="-80"/>
              <a:t>剂</a:t>
            </a:r>
            <a:r>
              <a:rPr dirty="0" spc="-185"/>
              <a:t>，</a:t>
            </a:r>
            <a:r>
              <a:rPr dirty="0" spc="-5"/>
              <a:t>用</a:t>
            </a:r>
            <a:r>
              <a:rPr dirty="0" spc="10"/>
              <a:t> </a:t>
            </a:r>
            <a:r>
              <a:rPr dirty="0" sz="1100" spc="-5">
                <a:latin typeface="Georgia"/>
                <a:cs typeface="Georgia"/>
              </a:rPr>
              <a:t>HNO</a:t>
            </a:r>
            <a:r>
              <a:rPr dirty="0" baseline="-13888" sz="900" spc="-7">
                <a:latin typeface="Times New Roman"/>
                <a:cs typeface="Times New Roman"/>
              </a:rPr>
              <a:t>3</a:t>
            </a:r>
            <a:r>
              <a:rPr dirty="0" baseline="-13888" sz="900" spc="150">
                <a:latin typeface="Times New Roman"/>
                <a:cs typeface="Times New Roman"/>
              </a:rPr>
              <a:t> </a:t>
            </a:r>
            <a:r>
              <a:rPr dirty="0" sz="1200" spc="-5"/>
              <a:t>标准溶液返滴定剩余的</a:t>
            </a:r>
            <a:r>
              <a:rPr dirty="0" sz="1200" spc="15"/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/>
              <a:t>至 终</a:t>
            </a:r>
            <a:r>
              <a:rPr dirty="0" sz="1200" spc="-20"/>
              <a:t>点</a:t>
            </a:r>
            <a:r>
              <a:rPr dirty="0" sz="1200" spc="-235"/>
              <a:t>。</a:t>
            </a:r>
            <a:r>
              <a:rPr dirty="0" sz="1200" spc="-5"/>
              <a:t>由于</a:t>
            </a:r>
            <a:r>
              <a:rPr dirty="0" sz="1200" spc="25"/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/>
              <a:t>的</a:t>
            </a:r>
            <a:r>
              <a:rPr dirty="0" sz="1200" spc="25"/>
              <a:t> </a:t>
            </a:r>
            <a:r>
              <a:rPr dirty="0" sz="1100" spc="70">
                <a:latin typeface="Georgia"/>
                <a:cs typeface="Georgia"/>
              </a:rPr>
              <a:t>P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/>
              <a:t>消耗</a:t>
            </a:r>
            <a:r>
              <a:rPr dirty="0" sz="1200" spc="25"/>
              <a:t> </a:t>
            </a:r>
            <a:r>
              <a:rPr dirty="0" sz="1100" spc="-70">
                <a:latin typeface="Georgia"/>
                <a:cs typeface="Georgia"/>
              </a:rPr>
              <a:t>23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/>
              <a:t>的</a:t>
            </a:r>
            <a:r>
              <a:rPr dirty="0" sz="1200" spc="30"/>
              <a:t> </a:t>
            </a:r>
            <a:r>
              <a:rPr dirty="0" sz="1100" spc="-70">
                <a:latin typeface="Georgia"/>
                <a:cs typeface="Georgia"/>
              </a:rPr>
              <a:t>NaOH</a:t>
            </a:r>
            <a:r>
              <a:rPr dirty="0" sz="1200" spc="-70"/>
              <a:t>，</a:t>
            </a:r>
            <a:r>
              <a:rPr dirty="0" sz="1200" spc="-5"/>
              <a:t>所</a:t>
            </a:r>
            <a:r>
              <a:rPr dirty="0" sz="1200" spc="-80"/>
              <a:t>以</a:t>
            </a:r>
            <a:r>
              <a:rPr dirty="0" sz="1200" spc="-5"/>
              <a:t>，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931" y="1637245"/>
            <a:ext cx="5924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w</a:t>
            </a:r>
            <a:r>
              <a:rPr dirty="0" sz="1100" spc="-15">
                <a:latin typeface="Georgia"/>
                <a:cs typeface="Georgia"/>
              </a:rPr>
              <a:t>(P)%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439" y="1371940"/>
            <a:ext cx="16446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 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23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2567" y="15715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3172" y="1488173"/>
            <a:ext cx="19418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</a:t>
            </a:r>
            <a:r>
              <a:rPr dirty="0" sz="1100" spc="-30" b="0" i="1">
                <a:latin typeface="Bookman Old Style"/>
                <a:cs typeface="Bookman Old Style"/>
              </a:rPr>
              <a:t>c</a:t>
            </a:r>
            <a:r>
              <a:rPr dirty="0" sz="1100" spc="-30">
                <a:latin typeface="Georgia"/>
                <a:cs typeface="Georgia"/>
              </a:rPr>
              <a:t>(NaOH)</a:t>
            </a:r>
            <a:r>
              <a:rPr dirty="0" sz="1100" spc="-30" b="0" i="1">
                <a:latin typeface="Bookman Old Style"/>
                <a:cs typeface="Bookman Old Style"/>
              </a:rPr>
              <a:t>V </a:t>
            </a:r>
            <a:r>
              <a:rPr dirty="0" sz="1100" spc="-10">
                <a:latin typeface="Georgia"/>
                <a:cs typeface="Georgia"/>
              </a:rPr>
              <a:t>(NaOH)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25" b="0" i="1">
                <a:latin typeface="Bookman Old Style"/>
                <a:cs typeface="Bookman Old Style"/>
              </a:rPr>
              <a:t>c</a:t>
            </a:r>
            <a:r>
              <a:rPr dirty="0" sz="1100" spc="-25">
                <a:latin typeface="Georgia"/>
                <a:cs typeface="Georgia"/>
              </a:rPr>
              <a:t>(HNO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00221" y="15715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9158" y="1488173"/>
            <a:ext cx="1082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-20">
                <a:latin typeface="Georgia"/>
                <a:cs typeface="Georgia"/>
              </a:rPr>
              <a:t>(HNO </a:t>
            </a:r>
            <a:r>
              <a:rPr dirty="0" sz="1100" spc="10">
                <a:latin typeface="Georgia"/>
                <a:cs typeface="Georgia"/>
              </a:rPr>
              <a:t>))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50">
                <a:latin typeface="Lucida Sans Unicode"/>
                <a:cs typeface="Lucida Sans Unicode"/>
              </a:rPr>
              <a:t> </a:t>
            </a:r>
            <a:r>
              <a:rPr dirty="0" sz="1100" spc="-75">
                <a:latin typeface="Georgia"/>
                <a:cs typeface="Georgia"/>
              </a:rPr>
              <a:t>39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46950" y="1753857"/>
            <a:ext cx="3142615" cy="0"/>
          </a:xfrm>
          <a:custGeom>
            <a:avLst/>
            <a:gdLst/>
            <a:ahLst/>
            <a:cxnLst/>
            <a:rect l="l" t="t" r="r" b="b"/>
            <a:pathLst>
              <a:path w="3142615" h="0">
                <a:moveTo>
                  <a:pt x="0" y="0"/>
                </a:moveTo>
                <a:lnTo>
                  <a:pt x="31420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89912" y="1718995"/>
            <a:ext cx="1256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试样质量</a:t>
            </a:r>
            <a:r>
              <a:rPr dirty="0" sz="1100">
                <a:latin typeface="Georgia"/>
                <a:cs typeface="Georgia"/>
              </a:rPr>
              <a:t>(g)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1000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2306" y="1637245"/>
            <a:ext cx="37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65">
                <a:latin typeface="Georgia"/>
                <a:cs typeface="Georgia"/>
              </a:rPr>
              <a:t>100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236283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4.9.5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凯氏定</a:t>
            </a:r>
            <a:r>
              <a:rPr dirty="0" sz="1050" spc="-10">
                <a:solidFill>
                  <a:srgbClr val="FFFFFF"/>
                </a:solidFill>
              </a:rPr>
              <a:t>氮</a:t>
            </a:r>
            <a:r>
              <a:rPr dirty="0" sz="1050" spc="-5">
                <a:solidFill>
                  <a:srgbClr val="FFFFFF"/>
                </a:solidFill>
              </a:rPr>
              <a:t>法测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有机化合</a:t>
            </a:r>
            <a:r>
              <a:rPr dirty="0" sz="1050" spc="-10">
                <a:solidFill>
                  <a:srgbClr val="FFFFFF"/>
                </a:solidFill>
              </a:rPr>
              <a:t>物</a:t>
            </a:r>
            <a:r>
              <a:rPr dirty="0" sz="1050" spc="-5">
                <a:solidFill>
                  <a:srgbClr val="FFFFFF"/>
                </a:solidFill>
              </a:rPr>
              <a:t>中的氮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224407"/>
            <a:ext cx="44075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凯氏定氮法是测定含氮有机化合物中氮含量的重要方法</a:t>
            </a:r>
            <a:r>
              <a:rPr dirty="0" baseline="37037" sz="900" spc="97">
                <a:latin typeface="Times New Roman"/>
                <a:cs typeface="Times New Roman"/>
              </a:rPr>
              <a:t>1</a:t>
            </a:r>
            <a:r>
              <a:rPr dirty="0" baseline="37037" sz="900" spc="150">
                <a:latin typeface="Times New Roman"/>
                <a:cs typeface="Times New Roman"/>
              </a:rPr>
              <a:t>3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该 </a:t>
            </a:r>
            <a:r>
              <a:rPr dirty="0" sz="1200" spc="-5">
                <a:latin typeface="Arial Unicode MS"/>
                <a:cs typeface="Arial Unicode MS"/>
              </a:rPr>
              <a:t>法首先将含氮有机试样与浓度硫酸共</a:t>
            </a:r>
            <a:r>
              <a:rPr dirty="0" sz="1200" spc="-80">
                <a:latin typeface="Arial Unicode MS"/>
                <a:cs typeface="Arial Unicode MS"/>
              </a:rPr>
              <a:t>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并加入适量的硫酸钾以 </a:t>
            </a:r>
            <a:r>
              <a:rPr dirty="0" sz="1200" spc="-10">
                <a:latin typeface="Arial Unicode MS"/>
                <a:cs typeface="Arial Unicode MS"/>
              </a:rPr>
              <a:t>提高溶液的沸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由于有机物分解的过程比较缓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所以通常要</a:t>
            </a:r>
            <a:r>
              <a:rPr dirty="0" sz="1200" spc="-5">
                <a:latin typeface="Arial Unicode MS"/>
                <a:cs typeface="Arial Unicode MS"/>
              </a:rPr>
              <a:t>加 </a:t>
            </a:r>
            <a:r>
              <a:rPr dirty="0" sz="1200" spc="-5">
                <a:latin typeface="Arial Unicode MS"/>
                <a:cs typeface="Arial Unicode MS"/>
              </a:rPr>
              <a:t>入硫酸铜作催化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2001" y="3172599"/>
            <a:ext cx="37363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27">
                <a:latin typeface="Times New Roman"/>
                <a:cs typeface="Times New Roman"/>
              </a:rPr>
              <a:t>13</a:t>
            </a:r>
            <a:r>
              <a:rPr dirty="0" sz="900" spc="-5">
                <a:latin typeface="Arial Unicode MS"/>
                <a:cs typeface="Arial Unicode MS"/>
              </a:rPr>
              <a:t>微量凯氏定氮法是食品中蛋白质含量测定的国家标</a:t>
            </a:r>
            <a:r>
              <a:rPr dirty="0" sz="900" spc="-195">
                <a:latin typeface="Arial Unicode MS"/>
                <a:cs typeface="Arial Unicode MS"/>
              </a:rPr>
              <a:t>准</a:t>
            </a:r>
            <a:r>
              <a:rPr dirty="0" sz="900" spc="-55">
                <a:latin typeface="Arial Unicode MS"/>
                <a:cs typeface="Arial Unicode MS"/>
              </a:rPr>
              <a:t>（</a:t>
            </a:r>
            <a:r>
              <a:rPr dirty="0" sz="900" spc="-55">
                <a:latin typeface="Arial"/>
                <a:cs typeface="Arial"/>
              </a:rPr>
              <a:t>GB500905-85</a:t>
            </a:r>
            <a:r>
              <a:rPr dirty="0" sz="900" spc="-55">
                <a:latin typeface="Arial Unicode MS"/>
                <a:cs typeface="Arial Unicode MS"/>
              </a:rPr>
              <a:t>）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44" y="288226"/>
            <a:ext cx="4411980" cy="23939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在煮解过程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有机物质中的氮定量地转化为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(NH</a:t>
            </a:r>
            <a:r>
              <a:rPr dirty="0" baseline="-13888" sz="900">
                <a:latin typeface="Times New Roman"/>
                <a:cs typeface="Times New Roman"/>
              </a:rPr>
              <a:t>4</a:t>
            </a:r>
            <a:r>
              <a:rPr dirty="0" sz="1100">
                <a:latin typeface="Georgia"/>
                <a:cs typeface="Georgia"/>
              </a:rPr>
              <a:t>)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SO</a:t>
            </a:r>
            <a:r>
              <a:rPr dirty="0" baseline="-13888" sz="900">
                <a:latin typeface="Times New Roman"/>
                <a:cs typeface="Times New Roman"/>
              </a:rPr>
              <a:t>4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下所示为甘氨酸的消化过</a:t>
            </a:r>
            <a:r>
              <a:rPr dirty="0" sz="1200" spc="-90">
                <a:latin typeface="Arial Unicode MS"/>
                <a:cs typeface="Arial Unicode MS"/>
              </a:rPr>
              <a:t>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R="121920">
              <a:lnSpc>
                <a:spcPts val="1095"/>
              </a:lnSpc>
              <a:spcBef>
                <a:spcPts val="980"/>
              </a:spcBef>
            </a:pPr>
            <a:r>
              <a:rPr dirty="0" sz="1000" spc="20">
                <a:latin typeface="Georgia"/>
                <a:cs typeface="Georgia"/>
              </a:rPr>
              <a:t>CuSO</a:t>
            </a:r>
            <a:r>
              <a:rPr dirty="0" baseline="-11904" sz="1050" spc="30">
                <a:latin typeface="Times New Roman"/>
                <a:cs typeface="Times New Roman"/>
              </a:rPr>
              <a:t>4</a:t>
            </a:r>
            <a:endParaRPr baseline="-11904" sz="1050">
              <a:latin typeface="Times New Roman"/>
              <a:cs typeface="Times New Roman"/>
            </a:endParaRPr>
          </a:p>
          <a:p>
            <a:pPr algn="ctr" marL="39370">
              <a:lnSpc>
                <a:spcPts val="1215"/>
              </a:lnSpc>
            </a:pPr>
            <a:r>
              <a:rPr dirty="0" sz="1100" spc="15">
                <a:latin typeface="Georgia"/>
                <a:cs typeface="Georgia"/>
              </a:rPr>
              <a:t>CH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NH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COOH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5">
                <a:latin typeface="Georgia"/>
                <a:cs typeface="Georgia"/>
              </a:rPr>
              <a:t>3H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sz="600" spc="80">
                <a:latin typeface="Times New Roman"/>
                <a:cs typeface="Times New Roman"/>
              </a:rPr>
              <a:t> </a:t>
            </a:r>
            <a:r>
              <a:rPr dirty="0" sz="450" spc="800">
                <a:latin typeface="Arial Unicode MS"/>
                <a:cs typeface="Arial Unicode MS"/>
              </a:rPr>
              <a:t>► </a:t>
            </a:r>
            <a:r>
              <a:rPr dirty="0" sz="1100" spc="25">
                <a:latin typeface="Georgia"/>
                <a:cs typeface="Georgia"/>
              </a:rPr>
              <a:t>2CO</a:t>
            </a:r>
            <a:r>
              <a:rPr dirty="0" baseline="-13888" sz="900" spc="37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3SO</a:t>
            </a:r>
            <a:r>
              <a:rPr dirty="0" baseline="-13888" sz="90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">
                <a:latin typeface="Georgia"/>
                <a:cs typeface="Georgia"/>
              </a:rPr>
              <a:t>4H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endParaRPr baseline="-13888"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algn="ctr" marL="39370">
              <a:lnSpc>
                <a:spcPct val="100000"/>
              </a:lnSpc>
            </a:pPr>
            <a:r>
              <a:rPr dirty="0" sz="1100" spc="-30">
                <a:latin typeface="Georgia"/>
                <a:cs typeface="Georgia"/>
              </a:rPr>
              <a:t>2NH</a:t>
            </a:r>
            <a:r>
              <a:rPr dirty="0" baseline="-13888" sz="900" spc="-44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450" spc="800">
                <a:latin typeface="Arial Unicode MS"/>
                <a:cs typeface="Arial Unicode MS"/>
              </a:rPr>
              <a:t>►</a:t>
            </a:r>
            <a:r>
              <a:rPr dirty="0" sz="450" spc="8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(NH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1100" spc="20">
                <a:latin typeface="Georgia"/>
                <a:cs typeface="Georgia"/>
              </a:rPr>
              <a:t>)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endParaRPr baseline="-13888" sz="900">
              <a:latin typeface="Times New Roman"/>
              <a:cs typeface="Times New Roman"/>
            </a:endParaRPr>
          </a:p>
          <a:p>
            <a:pPr algn="just" marL="63500" marR="99060" indent="303530">
              <a:lnSpc>
                <a:spcPct val="122300"/>
              </a:lnSpc>
              <a:spcBef>
                <a:spcPts val="665"/>
              </a:spcBef>
            </a:pPr>
            <a:r>
              <a:rPr dirty="0" sz="1200" spc="-5">
                <a:latin typeface="Arial Unicode MS"/>
                <a:cs typeface="Arial Unicode MS"/>
              </a:rPr>
              <a:t>然后于上述煮解液中加入浓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至溶液呈强碱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浓碱可 使消化液中的硫酸铵分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游离出</a:t>
            </a:r>
            <a:r>
              <a:rPr dirty="0" sz="1200" spc="-20">
                <a:latin typeface="Arial Unicode MS"/>
                <a:cs typeface="Arial Unicode MS"/>
              </a:rPr>
              <a:t>氨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析出的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随水蒸汽蒸馏 出</a:t>
            </a:r>
            <a:r>
              <a:rPr dirty="0" sz="1200" spc="-80">
                <a:latin typeface="Arial Unicode MS"/>
                <a:cs typeface="Arial Unicode MS"/>
              </a:rPr>
              <a:t>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导入过量的饱和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BO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此时发生如下反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39370">
              <a:lnSpc>
                <a:spcPct val="100000"/>
              </a:lnSpc>
            </a:pP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BO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baseline="-18518" sz="675" spc="-600">
                <a:latin typeface="Arial Unicode MS"/>
                <a:cs typeface="Arial Unicode MS"/>
              </a:rPr>
              <a:t>、</a:t>
            </a:r>
            <a:r>
              <a:rPr dirty="0" baseline="-18518" sz="675" spc="3734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NH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BO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746302"/>
            <a:ext cx="3332479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生成的</a:t>
            </a:r>
            <a:r>
              <a:rPr dirty="0" spc="20"/>
              <a:t> </a:t>
            </a:r>
            <a:r>
              <a:rPr dirty="0" sz="1100" spc="-55">
                <a:latin typeface="Georgia"/>
                <a:cs typeface="Georgia"/>
              </a:rPr>
              <a:t>H</a:t>
            </a:r>
            <a:r>
              <a:rPr dirty="0" baseline="-13888" sz="900" spc="-82">
                <a:latin typeface="Times New Roman"/>
                <a:cs typeface="Times New Roman"/>
              </a:rPr>
              <a:t>2</a:t>
            </a:r>
            <a:r>
              <a:rPr dirty="0" sz="1100" spc="-55">
                <a:latin typeface="Georgia"/>
                <a:cs typeface="Georgia"/>
              </a:rPr>
              <a:t>BO</a:t>
            </a:r>
            <a:r>
              <a:rPr dirty="0" baseline="37037" sz="900" spc="-82">
                <a:latin typeface="Lucida Sans Unicode"/>
                <a:cs typeface="Lucida Sans Unicode"/>
              </a:rPr>
              <a:t>−</a:t>
            </a:r>
            <a:r>
              <a:rPr dirty="0" baseline="-23148" sz="900" spc="-82">
                <a:latin typeface="Times New Roman"/>
                <a:cs typeface="Times New Roman"/>
              </a:rPr>
              <a:t>3</a:t>
            </a:r>
            <a:r>
              <a:rPr dirty="0" baseline="-23148" sz="900" spc="-37">
                <a:latin typeface="Times New Roman"/>
                <a:cs typeface="Times New Roman"/>
              </a:rPr>
              <a:t> </a:t>
            </a:r>
            <a:r>
              <a:rPr dirty="0" sz="1200" spc="-5"/>
              <a:t>用</a:t>
            </a:r>
            <a:r>
              <a:rPr dirty="0" sz="1200" spc="25"/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/>
              <a:t>标准溶液滴</a:t>
            </a:r>
            <a:r>
              <a:rPr dirty="0" sz="1200" spc="-80"/>
              <a:t>定</a:t>
            </a:r>
            <a:r>
              <a:rPr dirty="0" sz="1200" spc="-185"/>
              <a:t>，</a:t>
            </a:r>
            <a:r>
              <a:rPr dirty="0" sz="1200" spc="-5"/>
              <a:t>反应如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4951" y="1196683"/>
            <a:ext cx="283210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50" spc="190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r>
              <a:rPr dirty="0" sz="450" spc="-50">
                <a:latin typeface="Arial Unicode MS"/>
                <a:cs typeface="Arial Unicode MS"/>
              </a:rPr>
              <a:t> </a:t>
            </a:r>
            <a:r>
              <a:rPr dirty="0" sz="450" spc="-409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009" y="1205865"/>
            <a:ext cx="172973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355" algn="l"/>
                <a:tab pos="961390" algn="l"/>
                <a:tab pos="1411605" algn="l"/>
                <a:tab pos="1670050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   </a:t>
            </a:r>
            <a:r>
              <a:rPr dirty="0" sz="600" spc="-3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baseline="6172" sz="675" spc="412">
                <a:latin typeface="Arial Unicode MS"/>
                <a:cs typeface="Arial Unicode MS"/>
              </a:rPr>
              <a:t>、</a:t>
            </a:r>
            <a:r>
              <a:rPr dirty="0" baseline="6172" sz="675" spc="434">
                <a:latin typeface="Arial Unicode MS"/>
                <a:cs typeface="Arial Unicode MS"/>
              </a:rPr>
              <a:t> </a:t>
            </a:r>
            <a:r>
              <a:rPr dirty="0" baseline="6172" sz="675" spc="284">
                <a:latin typeface="Arial Unicode MS"/>
                <a:cs typeface="Arial Unicode MS"/>
              </a:rPr>
              <a:t> </a:t>
            </a:r>
            <a:r>
              <a:rPr dirty="0" baseline="6172" sz="675" spc="802">
                <a:latin typeface="Arial Unicode MS"/>
                <a:cs typeface="Arial Unicode MS"/>
              </a:rPr>
              <a:t> </a:t>
            </a:r>
            <a:r>
              <a:rPr dirty="0" baseline="6172" sz="675">
                <a:latin typeface="Arial Unicode MS"/>
                <a:cs typeface="Arial Unicode MS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6788" y="121933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186" y="1122464"/>
            <a:ext cx="2706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15745" algn="l"/>
              </a:tabLst>
            </a:pPr>
            <a:r>
              <a:rPr dirty="0" sz="1100" spc="-55">
                <a:latin typeface="Georgia"/>
                <a:cs typeface="Georgia"/>
              </a:rPr>
              <a:t>NH  </a:t>
            </a:r>
            <a:r>
              <a:rPr dirty="0" sz="1100" spc="-80">
                <a:latin typeface="Georgia"/>
                <a:cs typeface="Georgia"/>
              </a:rPr>
              <a:t>H  </a:t>
            </a:r>
            <a:r>
              <a:rPr dirty="0" sz="1100" spc="40">
                <a:latin typeface="Georgia"/>
                <a:cs typeface="Georgia"/>
              </a:rPr>
              <a:t>BO 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HCl	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40">
                <a:latin typeface="Georgia"/>
                <a:cs typeface="Georgia"/>
              </a:rPr>
              <a:t>BO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55">
                <a:latin typeface="Georgia"/>
                <a:cs typeface="Georgia"/>
              </a:rPr>
              <a:t>NH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6788" y="1127874"/>
            <a:ext cx="4838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51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95">
                <a:latin typeface="Lucida Sans Unicode"/>
                <a:cs typeface="Lucida Sans Unicode"/>
              </a:rPr>
              <a:t>−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1489455"/>
            <a:ext cx="4391025" cy="793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终点时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故可以用甲基橙为指示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1410"/>
              </a:spcBef>
            </a:pPr>
            <a:r>
              <a:rPr dirty="0" sz="1200" spc="-5">
                <a:latin typeface="Arial Unicode MS"/>
                <a:cs typeface="Arial Unicode MS"/>
              </a:rPr>
              <a:t>使用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BO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做吸收液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r>
              <a:rPr dirty="0" sz="1200" spc="-15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H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sz="1100" spc="35">
                <a:latin typeface="Georgia"/>
                <a:cs typeface="Georgia"/>
              </a:rPr>
              <a:t>BO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的浓度和体积都不需准</a:t>
            </a:r>
            <a:r>
              <a:rPr dirty="0" sz="1200" spc="-80">
                <a:latin typeface="Arial Unicode MS"/>
                <a:cs typeface="Arial Unicode MS"/>
              </a:rPr>
              <a:t>确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只要保证其过量即</a:t>
            </a:r>
            <a:r>
              <a:rPr dirty="0" sz="1200" spc="-20">
                <a:latin typeface="Arial Unicode MS"/>
                <a:cs typeface="Arial Unicode MS"/>
              </a:rPr>
              <a:t>可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98005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60">
                <a:solidFill>
                  <a:srgbClr val="FFFFFF"/>
                </a:solidFill>
                <a:latin typeface="Garamond"/>
                <a:cs typeface="Garamond"/>
              </a:rPr>
              <a:t>*4.10</a:t>
            </a:r>
            <a:r>
              <a:rPr dirty="0" sz="1400" spc="14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酸碱滴定中二氧化碳的影响</a:t>
            </a:r>
            <a:endParaRPr sz="16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788682"/>
            <a:ext cx="439864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配制好的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溶液在放置过程中会吸收空气中的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 </a:t>
            </a:r>
            <a:r>
              <a:rPr dirty="0" sz="1100" spc="5">
                <a:latin typeface="Georgia"/>
                <a:cs typeface="Georgia"/>
              </a:rPr>
              <a:t>Na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CO</a:t>
            </a:r>
            <a:r>
              <a:rPr dirty="0" baseline="-13888" sz="900" spc="7">
                <a:latin typeface="Times New Roman"/>
                <a:cs typeface="Times New Roman"/>
              </a:rPr>
              <a:t>3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如果将这种溶液用于滴定过程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就有可能对滴定结果 产生影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溶液吸收空气中的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baseline="-13888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反应是按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确定的方程式进</a:t>
            </a:r>
            <a:r>
              <a:rPr dirty="0" sz="1200" spc="-90">
                <a:latin typeface="Arial Unicode MS"/>
                <a:cs typeface="Arial Unicode MS"/>
              </a:rPr>
              <a:t>行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4646" y="2199208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Arial Unicode MS"/>
                <a:cs typeface="Arial Unicode MS"/>
              </a:rPr>
              <a:t>、</a:t>
            </a:r>
            <a:r>
              <a:rPr dirty="0" baseline="24691" sz="675" spc="284">
                <a:latin typeface="Arial Unicode MS"/>
                <a:cs typeface="Arial Unicode MS"/>
              </a:rPr>
              <a:t> </a:t>
            </a:r>
            <a:r>
              <a:rPr dirty="0" baseline="24691" sz="675" spc="345">
                <a:latin typeface="Arial Unicode MS"/>
                <a:cs typeface="Arial Unicode MS"/>
              </a:rPr>
              <a:t> </a:t>
            </a:r>
            <a:r>
              <a:rPr dirty="0" sz="450" spc="250">
                <a:latin typeface="Arial Unicode MS"/>
                <a:cs typeface="Arial Unicode MS"/>
              </a:rPr>
              <a:t> </a:t>
            </a:r>
            <a:r>
              <a:rPr dirty="0" baseline="24691" sz="675" spc="-615">
                <a:latin typeface="Arial Unicode MS"/>
                <a:cs typeface="Arial Unicode MS"/>
              </a:rPr>
              <a:t> </a:t>
            </a:r>
            <a:r>
              <a:rPr dirty="0" sz="450" spc="190">
                <a:latin typeface="Arial Unicode MS"/>
                <a:cs typeface="Arial Unicode MS"/>
              </a:rPr>
              <a:t> </a:t>
            </a:r>
            <a:r>
              <a:rPr dirty="0" sz="450" spc="535">
                <a:latin typeface="Arial Unicode MS"/>
                <a:cs typeface="Arial Unicode MS"/>
              </a:rPr>
              <a:t> </a:t>
            </a:r>
            <a:endParaRPr sz="4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1773" y="2101138"/>
            <a:ext cx="23450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372870" algn="l"/>
              </a:tabLst>
            </a:pP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	</a:t>
            </a:r>
            <a:r>
              <a:rPr dirty="0" sz="1100" spc="40">
                <a:latin typeface="Georgia"/>
                <a:cs typeface="Georgia"/>
              </a:rPr>
              <a:t>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CO</a:t>
            </a:r>
            <a:r>
              <a:rPr dirty="0" baseline="-13888" sz="900" spc="60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56" y="2423731"/>
            <a:ext cx="433514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当用含有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溶液滴定酸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其滴定终点情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况就会变得有些复</a:t>
            </a:r>
            <a:r>
              <a:rPr dirty="0" sz="1200" spc="-20">
                <a:latin typeface="Arial Unicode MS"/>
                <a:cs typeface="Arial Unicode MS"/>
              </a:rPr>
              <a:t>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1851" y="3353670"/>
            <a:ext cx="4140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133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67" y="320839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04967" y="2345758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3599" y="320839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04967" y="320839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4967" y="2345758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4967" y="320839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38259" y="231989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38259" y="32083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5260" y="234072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0.6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05327" y="231989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05327" y="32083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742328" y="234072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0.8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72395" y="231989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72395" y="32083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39463" y="231989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39463" y="32083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676463" y="234072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1.2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06531" y="231989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06531" y="32083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143531" y="234072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1.4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73599" y="231989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8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73599" y="320839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8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610599" y="2340721"/>
            <a:ext cx="126364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0">
                <a:latin typeface="Times New Roman"/>
                <a:cs typeface="Times New Roman"/>
              </a:rPr>
              <a:t>1.6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4967" y="218958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47731" y="218958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35259" y="2125151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04967" y="187820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47731" y="187820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35259" y="1813772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04967" y="156683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47731" y="156683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035259" y="1502393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04967" y="125497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7731" y="125497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035259" y="1190536"/>
            <a:ext cx="66040" cy="122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04967" y="94359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47731" y="94359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04967" y="63221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47731" y="63221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04967" y="32083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38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47731" y="32083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86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995019" y="256400"/>
            <a:ext cx="106045" cy="7448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04967" y="320839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04967" y="2345758"/>
            <a:ext cx="2569210" cy="0"/>
          </a:xfrm>
          <a:custGeom>
            <a:avLst/>
            <a:gdLst/>
            <a:ahLst/>
            <a:cxnLst/>
            <a:rect l="l" t="t" r="r" b="b"/>
            <a:pathLst>
              <a:path w="2569210" h="0">
                <a:moveTo>
                  <a:pt x="0" y="0"/>
                </a:moveTo>
                <a:lnTo>
                  <a:pt x="256863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73599" y="320839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04967" y="320839"/>
            <a:ext cx="0" cy="2025014"/>
          </a:xfrm>
          <a:custGeom>
            <a:avLst/>
            <a:gdLst/>
            <a:ahLst/>
            <a:cxnLst/>
            <a:rect l="l" t="t" r="r" b="b"/>
            <a:pathLst>
              <a:path w="0" h="2025014">
                <a:moveTo>
                  <a:pt x="0" y="20249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04967" y="597246"/>
            <a:ext cx="2569210" cy="1673860"/>
          </a:xfrm>
          <a:custGeom>
            <a:avLst/>
            <a:gdLst/>
            <a:ahLst/>
            <a:cxnLst/>
            <a:rect l="l" t="t" r="r" b="b"/>
            <a:pathLst>
              <a:path w="2569210" h="1673860">
                <a:moveTo>
                  <a:pt x="0" y="1673298"/>
                </a:moveTo>
                <a:lnTo>
                  <a:pt x="187304" y="1658450"/>
                </a:lnTo>
                <a:lnTo>
                  <a:pt x="492936" y="1627793"/>
                </a:lnTo>
                <a:lnTo>
                  <a:pt x="715208" y="1597130"/>
                </a:lnTo>
                <a:lnTo>
                  <a:pt x="869464" y="1566473"/>
                </a:lnTo>
                <a:lnTo>
                  <a:pt x="973415" y="1535816"/>
                </a:lnTo>
                <a:lnTo>
                  <a:pt x="1042397" y="1505154"/>
                </a:lnTo>
                <a:lnTo>
                  <a:pt x="1086948" y="1474497"/>
                </a:lnTo>
                <a:lnTo>
                  <a:pt x="1116168" y="1443840"/>
                </a:lnTo>
                <a:lnTo>
                  <a:pt x="1148004" y="1377872"/>
                </a:lnTo>
                <a:lnTo>
                  <a:pt x="1156708" y="1338268"/>
                </a:lnTo>
                <a:lnTo>
                  <a:pt x="1161909" y="1297796"/>
                </a:lnTo>
                <a:lnTo>
                  <a:pt x="1166921" y="1221489"/>
                </a:lnTo>
                <a:lnTo>
                  <a:pt x="1168552" y="1182873"/>
                </a:lnTo>
                <a:lnTo>
                  <a:pt x="1170458" y="1144321"/>
                </a:lnTo>
                <a:lnTo>
                  <a:pt x="1173653" y="1106114"/>
                </a:lnTo>
                <a:lnTo>
                  <a:pt x="1178264" y="1067299"/>
                </a:lnTo>
                <a:lnTo>
                  <a:pt x="1185939" y="1027931"/>
                </a:lnTo>
                <a:lnTo>
                  <a:pt x="1196693" y="989331"/>
                </a:lnTo>
                <a:lnTo>
                  <a:pt x="1210542" y="952818"/>
                </a:lnTo>
                <a:lnTo>
                  <a:pt x="1227271" y="914969"/>
                </a:lnTo>
                <a:lnTo>
                  <a:pt x="1243863" y="877524"/>
                </a:lnTo>
                <a:lnTo>
                  <a:pt x="1258765" y="839401"/>
                </a:lnTo>
                <a:lnTo>
                  <a:pt x="1270424" y="799522"/>
                </a:lnTo>
                <a:lnTo>
                  <a:pt x="1280041" y="749330"/>
                </a:lnTo>
                <a:lnTo>
                  <a:pt x="1285641" y="698337"/>
                </a:lnTo>
                <a:lnTo>
                  <a:pt x="1288692" y="646871"/>
                </a:lnTo>
                <a:lnTo>
                  <a:pt x="1290665" y="595263"/>
                </a:lnTo>
                <a:lnTo>
                  <a:pt x="1293026" y="543842"/>
                </a:lnTo>
                <a:lnTo>
                  <a:pt x="1297247" y="492936"/>
                </a:lnTo>
                <a:lnTo>
                  <a:pt x="1304050" y="442136"/>
                </a:lnTo>
                <a:lnTo>
                  <a:pt x="1317755" y="393248"/>
                </a:lnTo>
                <a:lnTo>
                  <a:pt x="1337553" y="346512"/>
                </a:lnTo>
                <a:lnTo>
                  <a:pt x="1362640" y="302165"/>
                </a:lnTo>
                <a:lnTo>
                  <a:pt x="1392208" y="260449"/>
                </a:lnTo>
                <a:lnTo>
                  <a:pt x="1425451" y="221603"/>
                </a:lnTo>
                <a:lnTo>
                  <a:pt x="1461563" y="185867"/>
                </a:lnTo>
                <a:lnTo>
                  <a:pt x="1504194" y="155210"/>
                </a:lnTo>
                <a:lnTo>
                  <a:pt x="1565036" y="124553"/>
                </a:lnTo>
                <a:lnTo>
                  <a:pt x="1658927" y="93890"/>
                </a:lnTo>
                <a:lnTo>
                  <a:pt x="1809826" y="63233"/>
                </a:lnTo>
                <a:lnTo>
                  <a:pt x="2063721" y="32576"/>
                </a:lnTo>
                <a:lnTo>
                  <a:pt x="2513543" y="1914"/>
                </a:lnTo>
                <a:lnTo>
                  <a:pt x="2569109" y="0"/>
                </a:lnTo>
              </a:path>
            </a:pathLst>
          </a:custGeom>
          <a:ln w="114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239575" y="2340721"/>
            <a:ext cx="193675" cy="234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625"/>
              </a:lnSpc>
              <a:spcBef>
                <a:spcPts val="130"/>
              </a:spcBef>
            </a:pPr>
            <a:r>
              <a:rPr dirty="0" sz="600" spc="1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  <a:p>
            <a:pPr marL="117475">
              <a:lnSpc>
                <a:spcPts val="985"/>
              </a:lnSpc>
            </a:pPr>
            <a:r>
              <a:rPr dirty="0" sz="900">
                <a:latin typeface="Symbol"/>
                <a:cs typeface="Symbol"/>
              </a:rPr>
              <a:t></a:t>
            </a:r>
            <a:endParaRPr sz="90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5228" y="1259487"/>
            <a:ext cx="130175" cy="14859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 spc="-5" b="1">
                <a:latin typeface="Times New Roman"/>
                <a:cs typeface="Times New Roman"/>
              </a:rPr>
              <a:t>pH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255380" y="1814094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>
                <a:moveTo>
                  <a:pt x="34491" y="17245"/>
                </a:moveTo>
                <a:lnTo>
                  <a:pt x="34491" y="26765"/>
                </a:lnTo>
                <a:lnTo>
                  <a:pt x="26765" y="34491"/>
                </a:lnTo>
                <a:lnTo>
                  <a:pt x="17245" y="34491"/>
                </a:lnTo>
                <a:lnTo>
                  <a:pt x="7726" y="34491"/>
                </a:lnTo>
                <a:lnTo>
                  <a:pt x="0" y="26765"/>
                </a:lnTo>
                <a:lnTo>
                  <a:pt x="0" y="17245"/>
                </a:lnTo>
                <a:lnTo>
                  <a:pt x="0" y="7726"/>
                </a:lnTo>
                <a:lnTo>
                  <a:pt x="7726" y="0"/>
                </a:lnTo>
                <a:lnTo>
                  <a:pt x="17245" y="0"/>
                </a:lnTo>
                <a:lnTo>
                  <a:pt x="26765" y="0"/>
                </a:lnTo>
                <a:lnTo>
                  <a:pt x="34491" y="7726"/>
                </a:lnTo>
                <a:lnTo>
                  <a:pt x="34491" y="17245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371960" y="1295347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>
                <a:moveTo>
                  <a:pt x="34491" y="17245"/>
                </a:moveTo>
                <a:lnTo>
                  <a:pt x="34491" y="26765"/>
                </a:lnTo>
                <a:lnTo>
                  <a:pt x="26765" y="34491"/>
                </a:lnTo>
                <a:lnTo>
                  <a:pt x="17245" y="34491"/>
                </a:lnTo>
                <a:lnTo>
                  <a:pt x="7726" y="34491"/>
                </a:lnTo>
                <a:lnTo>
                  <a:pt x="0" y="26765"/>
                </a:lnTo>
                <a:lnTo>
                  <a:pt x="0" y="17245"/>
                </a:lnTo>
                <a:lnTo>
                  <a:pt x="0" y="7726"/>
                </a:lnTo>
                <a:lnTo>
                  <a:pt x="7726" y="0"/>
                </a:lnTo>
                <a:lnTo>
                  <a:pt x="17245" y="0"/>
                </a:lnTo>
                <a:lnTo>
                  <a:pt x="26765" y="0"/>
                </a:lnTo>
                <a:lnTo>
                  <a:pt x="34491" y="7726"/>
                </a:lnTo>
                <a:lnTo>
                  <a:pt x="34491" y="17245"/>
                </a:lnTo>
              </a:path>
            </a:pathLst>
          </a:custGeom>
          <a:ln w="114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651310" y="1772574"/>
            <a:ext cx="304165" cy="177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675"/>
              </a:lnSpc>
              <a:spcBef>
                <a:spcPts val="125"/>
              </a:spcBef>
            </a:pPr>
            <a:r>
              <a:rPr dirty="0" sz="700" spc="15" b="1">
                <a:latin typeface="Times New Roman"/>
                <a:cs typeface="Times New Roman"/>
              </a:rPr>
              <a:t>H</a:t>
            </a:r>
            <a:r>
              <a:rPr dirty="0" sz="700" spc="55" b="1">
                <a:latin typeface="Times New Roman"/>
                <a:cs typeface="Times New Roman"/>
              </a:rPr>
              <a:t> </a:t>
            </a:r>
            <a:r>
              <a:rPr dirty="0" sz="700" spc="10" b="1">
                <a:latin typeface="Times New Roman"/>
                <a:cs typeface="Times New Roman"/>
              </a:rPr>
              <a:t>CO</a:t>
            </a:r>
            <a:endParaRPr sz="700">
              <a:latin typeface="Times New Roman"/>
              <a:cs typeface="Times New Roman"/>
            </a:endParaRPr>
          </a:p>
          <a:p>
            <a:pPr marL="83820">
              <a:lnSpc>
                <a:spcPts val="495"/>
              </a:lnSpc>
              <a:tabLst>
                <a:tab pos="255904" algn="l"/>
              </a:tabLst>
            </a:pPr>
            <a:r>
              <a:rPr dirty="0" sz="550" spc="-5" b="1">
                <a:latin typeface="Times New Roman"/>
                <a:cs typeface="Times New Roman"/>
              </a:rPr>
              <a:t>2</a:t>
            </a:r>
            <a:r>
              <a:rPr dirty="0" sz="550" spc="-5" b="1">
                <a:latin typeface="Times New Roman"/>
                <a:cs typeface="Times New Roman"/>
              </a:rPr>
              <a:t>	</a:t>
            </a:r>
            <a:r>
              <a:rPr dirty="0" sz="550" spc="-5" b="1">
                <a:latin typeface="Times New Roman"/>
                <a:cs typeface="Times New Roman"/>
              </a:rPr>
              <a:t>3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18619" y="1310297"/>
            <a:ext cx="6032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5" b="1">
                <a:latin typeface="Times New Roman"/>
                <a:cs typeface="Times New Roman"/>
              </a:rPr>
              <a:t>3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483877" y="1241315"/>
            <a:ext cx="325120" cy="1358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700" spc="10" b="1">
                <a:latin typeface="Times New Roman"/>
                <a:cs typeface="Times New Roman"/>
              </a:rPr>
              <a:t>HCO</a:t>
            </a:r>
            <a:r>
              <a:rPr dirty="0" baseline="35353" sz="825" spc="15" b="1">
                <a:latin typeface="Times New Roman"/>
                <a:cs typeface="Times New Roman"/>
              </a:rPr>
              <a:t>−</a:t>
            </a:r>
            <a:endParaRPr baseline="35353" sz="825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6119" y="2755823"/>
            <a:ext cx="30962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12:</a:t>
            </a:r>
            <a:r>
              <a:rPr dirty="0" sz="1000" spc="19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含有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50">
                <a:latin typeface="Georgia"/>
                <a:cs typeface="Georgia"/>
              </a:rPr>
              <a:t>CO</a:t>
            </a:r>
            <a:r>
              <a:rPr dirty="0" baseline="-11904" sz="1050" spc="75">
                <a:latin typeface="Times New Roman"/>
                <a:cs typeface="Times New Roman"/>
              </a:rPr>
              <a:t>2</a:t>
            </a:r>
            <a:r>
              <a:rPr dirty="0" baseline="-11904" sz="1050" spc="29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-20">
                <a:latin typeface="Georgia"/>
                <a:cs typeface="Georgia"/>
              </a:rPr>
              <a:t>NaOH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溶</a:t>
            </a:r>
            <a:r>
              <a:rPr dirty="0" sz="1050" spc="-5">
                <a:latin typeface="Arial Unicode MS"/>
                <a:cs typeface="Arial Unicode MS"/>
              </a:rPr>
              <a:t>液滴定</a:t>
            </a:r>
            <a:r>
              <a:rPr dirty="0" sz="1050" spc="-10">
                <a:latin typeface="Arial Unicode MS"/>
                <a:cs typeface="Arial Unicode MS"/>
              </a:rPr>
              <a:t>盐</a:t>
            </a:r>
            <a:r>
              <a:rPr dirty="0" sz="1050" spc="-5">
                <a:latin typeface="Arial Unicode MS"/>
                <a:cs typeface="Arial Unicode MS"/>
              </a:rPr>
              <a:t>酸的滴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4048" y="435897"/>
            <a:ext cx="2200275" cy="0"/>
          </a:xfrm>
          <a:custGeom>
            <a:avLst/>
            <a:gdLst/>
            <a:ahLst/>
            <a:cxnLst/>
            <a:rect l="l" t="t" r="r" b="b"/>
            <a:pathLst>
              <a:path w="2200275" h="0">
                <a:moveTo>
                  <a:pt x="0" y="0"/>
                </a:moveTo>
                <a:lnTo>
                  <a:pt x="21997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04048" y="2169675"/>
            <a:ext cx="2200275" cy="0"/>
          </a:xfrm>
          <a:custGeom>
            <a:avLst/>
            <a:gdLst/>
            <a:ahLst/>
            <a:cxnLst/>
            <a:rect l="l" t="t" r="r" b="b"/>
            <a:pathLst>
              <a:path w="2200275" h="0">
                <a:moveTo>
                  <a:pt x="0" y="0"/>
                </a:moveTo>
                <a:lnTo>
                  <a:pt x="21997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03779" y="435897"/>
            <a:ext cx="0" cy="1734185"/>
          </a:xfrm>
          <a:custGeom>
            <a:avLst/>
            <a:gdLst/>
            <a:ahLst/>
            <a:cxnLst/>
            <a:rect l="l" t="t" r="r" b="b"/>
            <a:pathLst>
              <a:path w="0" h="1734185">
                <a:moveTo>
                  <a:pt x="0" y="173377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04048" y="435897"/>
            <a:ext cx="0" cy="1734185"/>
          </a:xfrm>
          <a:custGeom>
            <a:avLst/>
            <a:gdLst/>
            <a:ahLst/>
            <a:cxnLst/>
            <a:rect l="l" t="t" r="r" b="b"/>
            <a:pathLst>
              <a:path w="0" h="1734185">
                <a:moveTo>
                  <a:pt x="0" y="173377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04048" y="2169675"/>
            <a:ext cx="2200275" cy="0"/>
          </a:xfrm>
          <a:custGeom>
            <a:avLst/>
            <a:gdLst/>
            <a:ahLst/>
            <a:cxnLst/>
            <a:rect l="l" t="t" r="r" b="b"/>
            <a:pathLst>
              <a:path w="2200275" h="0">
                <a:moveTo>
                  <a:pt x="0" y="0"/>
                </a:moveTo>
                <a:lnTo>
                  <a:pt x="21997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04048" y="435897"/>
            <a:ext cx="0" cy="1734185"/>
          </a:xfrm>
          <a:custGeom>
            <a:avLst/>
            <a:gdLst/>
            <a:ahLst/>
            <a:cxnLst/>
            <a:rect l="l" t="t" r="r" b="b"/>
            <a:pathLst>
              <a:path w="0" h="1734185">
                <a:moveTo>
                  <a:pt x="0" y="173377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04048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04048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2482" y="2165998"/>
            <a:ext cx="6413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5"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48509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8509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16942" y="2165998"/>
            <a:ext cx="6413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5"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92971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92971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761401" y="2165998"/>
            <a:ext cx="6413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5"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37427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37427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81889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81889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25937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25937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70399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70399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14860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14860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983291" y="2165998"/>
            <a:ext cx="6413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5">
                <a:latin typeface="Arial"/>
                <a:cs typeface="Arial"/>
              </a:rPr>
              <a:t>8</a:t>
            </a:r>
            <a:endParaRPr sz="5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259317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59317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227751" y="2165998"/>
            <a:ext cx="64135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5">
                <a:latin typeface="Arial"/>
                <a:cs typeface="Arial"/>
              </a:rPr>
              <a:t>9</a:t>
            </a:r>
            <a:endParaRPr sz="5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03779" y="2147526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2214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503779" y="435897"/>
            <a:ext cx="0" cy="22225"/>
          </a:xfrm>
          <a:custGeom>
            <a:avLst/>
            <a:gdLst/>
            <a:ahLst/>
            <a:cxnLst/>
            <a:rect l="l" t="t" r="r" b="b"/>
            <a:pathLst>
              <a:path w="0" h="22225">
                <a:moveTo>
                  <a:pt x="0" y="0"/>
                </a:moveTo>
                <a:lnTo>
                  <a:pt x="0" y="217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283563" y="2141225"/>
            <a:ext cx="297180" cy="24066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285"/>
              </a:spcBef>
            </a:pPr>
            <a:r>
              <a:rPr dirty="0" sz="550" spc="-10">
                <a:latin typeface="Arial"/>
                <a:cs typeface="Arial"/>
              </a:rPr>
              <a:t>10</a:t>
            </a:r>
            <a:endParaRPr sz="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z="550" spc="-5">
                <a:latin typeface="Arial"/>
                <a:cs typeface="Arial"/>
              </a:rPr>
              <a:t>x</a:t>
            </a:r>
            <a:r>
              <a:rPr dirty="0" sz="550" spc="-25">
                <a:latin typeface="Arial"/>
                <a:cs typeface="Arial"/>
              </a:rPr>
              <a:t> </a:t>
            </a:r>
            <a:r>
              <a:rPr dirty="0" sz="550" spc="5">
                <a:latin typeface="Arial"/>
                <a:cs typeface="Arial"/>
              </a:rPr>
              <a:t>10</a:t>
            </a:r>
            <a:r>
              <a:rPr dirty="0" baseline="55555" sz="525" spc="7">
                <a:latin typeface="Arial Narrow"/>
                <a:cs typeface="Arial Narrow"/>
              </a:rPr>
              <a:t>−</a:t>
            </a:r>
            <a:r>
              <a:rPr dirty="0" baseline="55555" sz="525" spc="7">
                <a:latin typeface="Arial"/>
                <a:cs typeface="Arial"/>
              </a:rPr>
              <a:t>4</a:t>
            </a:r>
            <a:endParaRPr baseline="55555" sz="525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04048" y="216967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81630" y="216967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143689" y="2113496"/>
            <a:ext cx="160020" cy="108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" spc="-10">
                <a:latin typeface="Arial"/>
                <a:cs typeface="Arial"/>
              </a:rPr>
              <a:t>0.02</a:t>
            </a:r>
            <a:endParaRPr sz="5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304048" y="197689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481630" y="197689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04048" y="178411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81630" y="1784115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04048" y="159174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81630" y="1591748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04048" y="1398967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481630" y="1398967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304048" y="1206192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481630" y="1206192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304048" y="1013820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81630" y="1013820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04048" y="821044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481630" y="821044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304048" y="628264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481630" y="628264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304048" y="435897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0" y="0"/>
                </a:moveTo>
                <a:lnTo>
                  <a:pt x="2214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481630" y="435897"/>
            <a:ext cx="22225" cy="0"/>
          </a:xfrm>
          <a:custGeom>
            <a:avLst/>
            <a:gdLst/>
            <a:ahLst/>
            <a:cxnLst/>
            <a:rect l="l" t="t" r="r" b="b"/>
            <a:pathLst>
              <a:path w="22225" h="0">
                <a:moveTo>
                  <a:pt x="2214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143689" y="379717"/>
            <a:ext cx="160020" cy="16490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550" spc="-10">
                <a:latin typeface="Arial"/>
                <a:cs typeface="Arial"/>
              </a:rPr>
              <a:t>0.2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10">
                <a:latin typeface="Arial"/>
                <a:cs typeface="Arial"/>
              </a:rPr>
              <a:t>0.18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10">
                <a:latin typeface="Arial"/>
                <a:cs typeface="Arial"/>
              </a:rPr>
              <a:t>0.16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10">
                <a:latin typeface="Arial"/>
                <a:cs typeface="Arial"/>
              </a:rPr>
              <a:t>0.14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10">
                <a:latin typeface="Arial"/>
                <a:cs typeface="Arial"/>
              </a:rPr>
              <a:t>0.12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550" spc="-10">
                <a:latin typeface="Arial"/>
                <a:cs typeface="Arial"/>
              </a:rPr>
              <a:t>0.1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550" spc="-10">
                <a:latin typeface="Arial"/>
                <a:cs typeface="Arial"/>
              </a:rPr>
              <a:t>0.08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10">
                <a:latin typeface="Arial"/>
                <a:cs typeface="Arial"/>
              </a:rPr>
              <a:t>0.06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50" spc="-10">
                <a:latin typeface="Arial"/>
                <a:cs typeface="Arial"/>
              </a:rPr>
              <a:t>0.04</a:t>
            </a:r>
            <a:endParaRPr sz="5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04048" y="435897"/>
            <a:ext cx="2200275" cy="0"/>
          </a:xfrm>
          <a:custGeom>
            <a:avLst/>
            <a:gdLst/>
            <a:ahLst/>
            <a:cxnLst/>
            <a:rect l="l" t="t" r="r" b="b"/>
            <a:pathLst>
              <a:path w="2200275" h="0">
                <a:moveTo>
                  <a:pt x="0" y="0"/>
                </a:moveTo>
                <a:lnTo>
                  <a:pt x="21997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04048" y="2169675"/>
            <a:ext cx="2200275" cy="0"/>
          </a:xfrm>
          <a:custGeom>
            <a:avLst/>
            <a:gdLst/>
            <a:ahLst/>
            <a:cxnLst/>
            <a:rect l="l" t="t" r="r" b="b"/>
            <a:pathLst>
              <a:path w="2200275" h="0">
                <a:moveTo>
                  <a:pt x="0" y="0"/>
                </a:moveTo>
                <a:lnTo>
                  <a:pt x="21997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503779" y="435897"/>
            <a:ext cx="0" cy="1734185"/>
          </a:xfrm>
          <a:custGeom>
            <a:avLst/>
            <a:gdLst/>
            <a:ahLst/>
            <a:cxnLst/>
            <a:rect l="l" t="t" r="r" b="b"/>
            <a:pathLst>
              <a:path w="0" h="1734185">
                <a:moveTo>
                  <a:pt x="0" y="173377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04048" y="435897"/>
            <a:ext cx="0" cy="1734185"/>
          </a:xfrm>
          <a:custGeom>
            <a:avLst/>
            <a:gdLst/>
            <a:ahLst/>
            <a:cxnLst/>
            <a:rect l="l" t="t" r="r" b="b"/>
            <a:pathLst>
              <a:path w="0" h="1734185">
                <a:moveTo>
                  <a:pt x="0" y="173377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04048" y="833329"/>
            <a:ext cx="2200275" cy="635"/>
          </a:xfrm>
          <a:custGeom>
            <a:avLst/>
            <a:gdLst/>
            <a:ahLst/>
            <a:cxnLst/>
            <a:rect l="l" t="t" r="r" b="b"/>
            <a:pathLst>
              <a:path w="2200275" h="634">
                <a:moveTo>
                  <a:pt x="-4922" y="214"/>
                </a:moveTo>
                <a:lnTo>
                  <a:pt x="2204652" y="214"/>
                </a:lnTo>
              </a:path>
            </a:pathLst>
          </a:custGeom>
          <a:ln w="10272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287234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409462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531691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653924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776152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898381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020614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142842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265071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387304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509124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631352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753580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875813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998042" y="81407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20270" y="81447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09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242503" y="81447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4" h="29209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364732" y="81447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4" h="29209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486960" y="81447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4" h="29209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304048" y="1978125"/>
            <a:ext cx="2200275" cy="2540"/>
          </a:xfrm>
          <a:custGeom>
            <a:avLst/>
            <a:gdLst/>
            <a:ahLst/>
            <a:cxnLst/>
            <a:rect l="l" t="t" r="r" b="b"/>
            <a:pathLst>
              <a:path w="2200275" h="2539">
                <a:moveTo>
                  <a:pt x="-4922" y="1026"/>
                </a:moveTo>
                <a:lnTo>
                  <a:pt x="2204652" y="1026"/>
                </a:lnTo>
              </a:path>
            </a:pathLst>
          </a:custGeom>
          <a:ln w="1189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87234" y="1958846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409462" y="1958846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531691" y="1958846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653924" y="195926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18"/>
                </a:moveTo>
                <a:lnTo>
                  <a:pt x="33632" y="29118"/>
                </a:lnTo>
                <a:lnTo>
                  <a:pt x="16813" y="0"/>
                </a:lnTo>
                <a:lnTo>
                  <a:pt x="0" y="29118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776152" y="195926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18"/>
                </a:moveTo>
                <a:lnTo>
                  <a:pt x="33632" y="29118"/>
                </a:lnTo>
                <a:lnTo>
                  <a:pt x="16818" y="0"/>
                </a:lnTo>
                <a:lnTo>
                  <a:pt x="0" y="29118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898381" y="195926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18"/>
                </a:moveTo>
                <a:lnTo>
                  <a:pt x="33637" y="29118"/>
                </a:lnTo>
                <a:lnTo>
                  <a:pt x="16818" y="0"/>
                </a:lnTo>
                <a:lnTo>
                  <a:pt x="0" y="29118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020614" y="195926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18"/>
                </a:moveTo>
                <a:lnTo>
                  <a:pt x="33632" y="29118"/>
                </a:lnTo>
                <a:lnTo>
                  <a:pt x="16813" y="0"/>
                </a:lnTo>
                <a:lnTo>
                  <a:pt x="0" y="29118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142842" y="195966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265071" y="195966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387304" y="195966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509124" y="195966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631352" y="1960077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753580" y="1960077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875813" y="1960077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3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998042" y="1960077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23"/>
                </a:moveTo>
                <a:lnTo>
                  <a:pt x="33632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20270" y="196049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5" h="29210">
                <a:moveTo>
                  <a:pt x="0" y="29118"/>
                </a:moveTo>
                <a:lnTo>
                  <a:pt x="33637" y="29118"/>
                </a:lnTo>
                <a:lnTo>
                  <a:pt x="16818" y="0"/>
                </a:lnTo>
                <a:lnTo>
                  <a:pt x="0" y="29118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242503" y="196049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4" h="29210">
                <a:moveTo>
                  <a:pt x="0" y="29118"/>
                </a:moveTo>
                <a:lnTo>
                  <a:pt x="33632" y="29118"/>
                </a:lnTo>
                <a:lnTo>
                  <a:pt x="16813" y="0"/>
                </a:lnTo>
                <a:lnTo>
                  <a:pt x="0" y="29118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364732" y="1960490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4" h="29210">
                <a:moveTo>
                  <a:pt x="0" y="29118"/>
                </a:moveTo>
                <a:lnTo>
                  <a:pt x="33632" y="29118"/>
                </a:lnTo>
                <a:lnTo>
                  <a:pt x="16818" y="0"/>
                </a:lnTo>
                <a:lnTo>
                  <a:pt x="0" y="29118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486960" y="1960898"/>
            <a:ext cx="33655" cy="29209"/>
          </a:xfrm>
          <a:custGeom>
            <a:avLst/>
            <a:gdLst/>
            <a:ahLst/>
            <a:cxnLst/>
            <a:rect l="l" t="t" r="r" b="b"/>
            <a:pathLst>
              <a:path w="33654" h="29210">
                <a:moveTo>
                  <a:pt x="0" y="29123"/>
                </a:moveTo>
                <a:lnTo>
                  <a:pt x="33637" y="29123"/>
                </a:lnTo>
                <a:lnTo>
                  <a:pt x="16818" y="0"/>
                </a:lnTo>
                <a:lnTo>
                  <a:pt x="0" y="29123"/>
                </a:lnTo>
                <a:close/>
              </a:path>
            </a:pathLst>
          </a:custGeom>
          <a:ln w="984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304048" y="435483"/>
            <a:ext cx="2184400" cy="1722755"/>
          </a:xfrm>
          <a:custGeom>
            <a:avLst/>
            <a:gdLst/>
            <a:ahLst/>
            <a:cxnLst/>
            <a:rect l="l" t="t" r="r" b="b"/>
            <a:pathLst>
              <a:path w="2184400" h="1722755">
                <a:moveTo>
                  <a:pt x="0" y="1722295"/>
                </a:moveTo>
                <a:lnTo>
                  <a:pt x="122233" y="1625907"/>
                </a:lnTo>
                <a:lnTo>
                  <a:pt x="244461" y="1529515"/>
                </a:lnTo>
                <a:lnTo>
                  <a:pt x="366689" y="1433536"/>
                </a:lnTo>
                <a:lnTo>
                  <a:pt x="488923" y="1337148"/>
                </a:lnTo>
                <a:lnTo>
                  <a:pt x="611151" y="1240760"/>
                </a:lnTo>
                <a:lnTo>
                  <a:pt x="733379" y="1144781"/>
                </a:lnTo>
                <a:lnTo>
                  <a:pt x="855613" y="1048388"/>
                </a:lnTo>
                <a:lnTo>
                  <a:pt x="977841" y="952000"/>
                </a:lnTo>
                <a:lnTo>
                  <a:pt x="1100069" y="855613"/>
                </a:lnTo>
                <a:lnTo>
                  <a:pt x="1221889" y="759220"/>
                </a:lnTo>
                <a:lnTo>
                  <a:pt x="1344122" y="662832"/>
                </a:lnTo>
                <a:lnTo>
                  <a:pt x="1466351" y="566444"/>
                </a:lnTo>
                <a:lnTo>
                  <a:pt x="1588579" y="470052"/>
                </a:lnTo>
                <a:lnTo>
                  <a:pt x="1710812" y="373664"/>
                </a:lnTo>
                <a:lnTo>
                  <a:pt x="1833040" y="277276"/>
                </a:lnTo>
                <a:lnTo>
                  <a:pt x="1955269" y="180475"/>
                </a:lnTo>
                <a:lnTo>
                  <a:pt x="2077502" y="84087"/>
                </a:lnTo>
                <a:lnTo>
                  <a:pt x="2184142" y="0"/>
                </a:lnTo>
              </a:path>
            </a:pathLst>
          </a:custGeom>
          <a:ln w="9844">
            <a:solidFill>
              <a:srgbClr val="FF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304048" y="435483"/>
            <a:ext cx="2135505" cy="1685925"/>
          </a:xfrm>
          <a:custGeom>
            <a:avLst/>
            <a:gdLst/>
            <a:ahLst/>
            <a:cxnLst/>
            <a:rect l="l" t="t" r="r" b="b"/>
            <a:pathLst>
              <a:path w="2135504" h="1685925">
                <a:moveTo>
                  <a:pt x="0" y="1685789"/>
                </a:moveTo>
                <a:lnTo>
                  <a:pt x="39567" y="1654610"/>
                </a:lnTo>
                <a:lnTo>
                  <a:pt x="79132" y="1623429"/>
                </a:lnTo>
                <a:lnTo>
                  <a:pt x="118696" y="1592246"/>
                </a:lnTo>
                <a:lnTo>
                  <a:pt x="158258" y="1561061"/>
                </a:lnTo>
                <a:lnTo>
                  <a:pt x="197818" y="1529873"/>
                </a:lnTo>
                <a:lnTo>
                  <a:pt x="237377" y="1498684"/>
                </a:lnTo>
                <a:lnTo>
                  <a:pt x="276934" y="1467492"/>
                </a:lnTo>
                <a:lnTo>
                  <a:pt x="316489" y="1436299"/>
                </a:lnTo>
                <a:lnTo>
                  <a:pt x="356043" y="1405104"/>
                </a:lnTo>
                <a:lnTo>
                  <a:pt x="395595" y="1373907"/>
                </a:lnTo>
                <a:lnTo>
                  <a:pt x="435146" y="1342708"/>
                </a:lnTo>
                <a:lnTo>
                  <a:pt x="474696" y="1311507"/>
                </a:lnTo>
                <a:lnTo>
                  <a:pt x="514244" y="1280305"/>
                </a:lnTo>
                <a:lnTo>
                  <a:pt x="553791" y="1249101"/>
                </a:lnTo>
                <a:lnTo>
                  <a:pt x="593336" y="1217895"/>
                </a:lnTo>
                <a:lnTo>
                  <a:pt x="632880" y="1186687"/>
                </a:lnTo>
                <a:lnTo>
                  <a:pt x="672423" y="1155478"/>
                </a:lnTo>
                <a:lnTo>
                  <a:pt x="711965" y="1124268"/>
                </a:lnTo>
                <a:lnTo>
                  <a:pt x="751505" y="1093056"/>
                </a:lnTo>
                <a:lnTo>
                  <a:pt x="791045" y="1061842"/>
                </a:lnTo>
                <a:lnTo>
                  <a:pt x="830583" y="1030627"/>
                </a:lnTo>
                <a:lnTo>
                  <a:pt x="870120" y="999411"/>
                </a:lnTo>
                <a:lnTo>
                  <a:pt x="909656" y="968193"/>
                </a:lnTo>
                <a:lnTo>
                  <a:pt x="949191" y="936974"/>
                </a:lnTo>
                <a:lnTo>
                  <a:pt x="988724" y="905754"/>
                </a:lnTo>
                <a:lnTo>
                  <a:pt x="1028257" y="874532"/>
                </a:lnTo>
                <a:lnTo>
                  <a:pt x="1067789" y="843309"/>
                </a:lnTo>
                <a:lnTo>
                  <a:pt x="1107321" y="812086"/>
                </a:lnTo>
                <a:lnTo>
                  <a:pt x="1146851" y="780861"/>
                </a:lnTo>
                <a:lnTo>
                  <a:pt x="1186380" y="749635"/>
                </a:lnTo>
                <a:lnTo>
                  <a:pt x="1225909" y="718408"/>
                </a:lnTo>
                <a:lnTo>
                  <a:pt x="1265437" y="687180"/>
                </a:lnTo>
                <a:lnTo>
                  <a:pt x="1304964" y="655951"/>
                </a:lnTo>
                <a:lnTo>
                  <a:pt x="1344490" y="624721"/>
                </a:lnTo>
                <a:lnTo>
                  <a:pt x="1384016" y="593490"/>
                </a:lnTo>
                <a:lnTo>
                  <a:pt x="1423541" y="562259"/>
                </a:lnTo>
                <a:lnTo>
                  <a:pt x="1463065" y="531027"/>
                </a:lnTo>
                <a:lnTo>
                  <a:pt x="1502589" y="499794"/>
                </a:lnTo>
                <a:lnTo>
                  <a:pt x="1542113" y="468560"/>
                </a:lnTo>
                <a:lnTo>
                  <a:pt x="1581636" y="437326"/>
                </a:lnTo>
                <a:lnTo>
                  <a:pt x="1621158" y="406091"/>
                </a:lnTo>
                <a:lnTo>
                  <a:pt x="1660680" y="374855"/>
                </a:lnTo>
                <a:lnTo>
                  <a:pt x="1700202" y="343619"/>
                </a:lnTo>
                <a:lnTo>
                  <a:pt x="1739723" y="312383"/>
                </a:lnTo>
                <a:lnTo>
                  <a:pt x="1779244" y="281146"/>
                </a:lnTo>
                <a:lnTo>
                  <a:pt x="1818764" y="249908"/>
                </a:lnTo>
                <a:lnTo>
                  <a:pt x="1858285" y="218671"/>
                </a:lnTo>
                <a:lnTo>
                  <a:pt x="1897805" y="187432"/>
                </a:lnTo>
                <a:lnTo>
                  <a:pt x="1937325" y="156194"/>
                </a:lnTo>
                <a:lnTo>
                  <a:pt x="1976844" y="124956"/>
                </a:lnTo>
                <a:lnTo>
                  <a:pt x="2016364" y="93717"/>
                </a:lnTo>
                <a:lnTo>
                  <a:pt x="2055883" y="62478"/>
                </a:lnTo>
                <a:lnTo>
                  <a:pt x="2095403" y="31239"/>
                </a:lnTo>
                <a:lnTo>
                  <a:pt x="2134922" y="0"/>
                </a:lnTo>
              </a:path>
            </a:pathLst>
          </a:custGeom>
          <a:ln w="98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1826208" y="2152708"/>
            <a:ext cx="976630" cy="24892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91770">
              <a:lnSpc>
                <a:spcPct val="100000"/>
              </a:lnSpc>
              <a:spcBef>
                <a:spcPts val="195"/>
              </a:spcBef>
              <a:tabLst>
                <a:tab pos="436245" algn="l"/>
                <a:tab pos="680720" algn="l"/>
                <a:tab pos="925194" algn="l"/>
              </a:tabLst>
            </a:pPr>
            <a:r>
              <a:rPr dirty="0" sz="550" spc="-5">
                <a:latin typeface="Arial"/>
                <a:cs typeface="Arial"/>
              </a:rPr>
              <a:t>4</a:t>
            </a:r>
            <a:r>
              <a:rPr dirty="0" sz="550" spc="-5">
                <a:latin typeface="Arial"/>
                <a:cs typeface="Arial"/>
              </a:rPr>
              <a:t>	</a:t>
            </a:r>
            <a:r>
              <a:rPr dirty="0" sz="550" spc="-5">
                <a:latin typeface="Arial"/>
                <a:cs typeface="Arial"/>
              </a:rPr>
              <a:t>5</a:t>
            </a:r>
            <a:r>
              <a:rPr dirty="0" sz="550" spc="-5">
                <a:latin typeface="Arial"/>
                <a:cs typeface="Arial"/>
              </a:rPr>
              <a:t>	</a:t>
            </a:r>
            <a:r>
              <a:rPr dirty="0" sz="550" spc="-5">
                <a:latin typeface="Arial"/>
                <a:cs typeface="Arial"/>
              </a:rPr>
              <a:t>6</a:t>
            </a:r>
            <a:r>
              <a:rPr dirty="0" sz="550" spc="-5">
                <a:latin typeface="Arial"/>
                <a:cs typeface="Arial"/>
              </a:rPr>
              <a:t>	</a:t>
            </a:r>
            <a:r>
              <a:rPr dirty="0" sz="550" spc="-5"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ts val="540"/>
              </a:lnSpc>
              <a:spcBef>
                <a:spcPts val="95"/>
              </a:spcBef>
            </a:pPr>
            <a:r>
              <a:rPr dirty="0" sz="550" spc="-10">
                <a:latin typeface="Times New Roman"/>
                <a:cs typeface="Times New Roman"/>
              </a:rPr>
              <a:t>CO </a:t>
            </a:r>
            <a:r>
              <a:rPr dirty="0" sz="550" spc="-5">
                <a:latin typeface="Times New Roman"/>
                <a:cs typeface="Times New Roman"/>
              </a:rPr>
              <a:t>Concentration</a:t>
            </a:r>
            <a:r>
              <a:rPr dirty="0" sz="550" spc="-55">
                <a:latin typeface="Times New Roman"/>
                <a:cs typeface="Times New Roman"/>
              </a:rPr>
              <a:t> </a:t>
            </a:r>
            <a:r>
              <a:rPr dirty="0" sz="550" spc="-5">
                <a:latin typeface="Times New Roman"/>
                <a:cs typeface="Times New Roman"/>
              </a:rPr>
              <a:t>(mol/L)</a:t>
            </a:r>
            <a:endParaRPr sz="550">
              <a:latin typeface="Times New Roman"/>
              <a:cs typeface="Times New Roman"/>
            </a:endParaRPr>
          </a:p>
          <a:p>
            <a:pPr marL="107950">
              <a:lnSpc>
                <a:spcPts val="360"/>
              </a:lnSpc>
            </a:pPr>
            <a:r>
              <a:rPr dirty="0" sz="400" spc="10">
                <a:latin typeface="Times New Roman"/>
                <a:cs typeface="Times New Roman"/>
              </a:rPr>
              <a:t>2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043579" y="1025781"/>
            <a:ext cx="104139" cy="550545"/>
          </a:xfrm>
          <a:prstGeom prst="rect">
            <a:avLst/>
          </a:prstGeom>
        </p:spPr>
        <p:txBody>
          <a:bodyPr wrap="square" lIns="0" tIns="57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550" spc="-5">
                <a:latin typeface="Times New Roman"/>
                <a:cs typeface="Times New Roman"/>
              </a:rPr>
              <a:t>Titration Error</a:t>
            </a:r>
            <a:r>
              <a:rPr dirty="0" sz="550" spc="-55">
                <a:latin typeface="Times New Roman"/>
                <a:cs typeface="Times New Roman"/>
              </a:rPr>
              <a:t> </a:t>
            </a:r>
            <a:r>
              <a:rPr dirty="0" sz="550" spc="-5">
                <a:latin typeface="Times New Roman"/>
                <a:cs typeface="Times New Roman"/>
              </a:rPr>
              <a:t>(%)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33717" y="2569362"/>
            <a:ext cx="31407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13:</a:t>
            </a:r>
            <a:r>
              <a:rPr dirty="0" sz="1000" spc="19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不同</a:t>
            </a:r>
            <a:r>
              <a:rPr dirty="0" sz="1050" spc="25">
                <a:latin typeface="Arial Unicode MS"/>
                <a:cs typeface="Arial Unicode MS"/>
              </a:rPr>
              <a:t> </a:t>
            </a:r>
            <a:r>
              <a:rPr dirty="0" sz="1000" spc="35">
                <a:latin typeface="Georgia"/>
                <a:cs typeface="Georgia"/>
              </a:rPr>
              <a:t>Na</a:t>
            </a:r>
            <a:r>
              <a:rPr dirty="0" baseline="-11904" sz="1050" spc="52">
                <a:latin typeface="Times New Roman"/>
                <a:cs typeface="Times New Roman"/>
              </a:rPr>
              <a:t>2</a:t>
            </a:r>
            <a:r>
              <a:rPr dirty="0" sz="1000" spc="35">
                <a:latin typeface="Georgia"/>
                <a:cs typeface="Georgia"/>
              </a:rPr>
              <a:t>CO</a:t>
            </a:r>
            <a:r>
              <a:rPr dirty="0" baseline="-11904" sz="1050" spc="52">
                <a:latin typeface="Times New Roman"/>
                <a:cs typeface="Times New Roman"/>
              </a:rPr>
              <a:t>3</a:t>
            </a:r>
            <a:r>
              <a:rPr dirty="0" baseline="-11904" sz="1050" spc="29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时采用甲</a:t>
            </a:r>
            <a:r>
              <a:rPr dirty="0" sz="1050" spc="-10">
                <a:latin typeface="Arial Unicode MS"/>
                <a:cs typeface="Arial Unicode MS"/>
              </a:rPr>
              <a:t>基</a:t>
            </a:r>
            <a:r>
              <a:rPr dirty="0" sz="1050" spc="-5">
                <a:latin typeface="Arial Unicode MS"/>
                <a:cs typeface="Arial Unicode MS"/>
              </a:rPr>
              <a:t>橙和酚</a:t>
            </a:r>
            <a:r>
              <a:rPr dirty="0" sz="1050" spc="-10">
                <a:latin typeface="Arial Unicode MS"/>
                <a:cs typeface="Arial Unicode MS"/>
              </a:rPr>
              <a:t>酞</a:t>
            </a:r>
            <a:r>
              <a:rPr dirty="0" sz="1050" spc="-5">
                <a:latin typeface="Arial Unicode MS"/>
                <a:cs typeface="Arial Unicode MS"/>
              </a:rPr>
              <a:t>时误差情况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pc="20"/>
              <a:t>甘峰</a:t>
            </a:r>
            <a:r>
              <a:rPr dirty="0" spc="130"/>
              <a:t> </a:t>
            </a: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pc="20"/>
              <a:t>中山大学</a:t>
            </a:r>
            <a:r>
              <a:rPr dirty="0" sz="600" spc="85"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2025561" y="3356656"/>
            <a:ext cx="556895" cy="933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42475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31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132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133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2023-10-22T13:53:49Z</dcterms:created>
  <dcterms:modified xsi:type="dcterms:W3CDTF">2023-10-22T13:53:49Z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2010-03-31T00:00:00Z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2010-03-31T00:00:00Z</vt:filetime>
  </property>
</Properties>
</file>