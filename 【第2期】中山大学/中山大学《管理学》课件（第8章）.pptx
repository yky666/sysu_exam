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0"/>
  </p:notesMasterIdLst>
  <p:sldIdLst>
    <p:sldId id="320" r:id="rId2"/>
    <p:sldId id="257" r:id="rId3"/>
    <p:sldId id="324" r:id="rId4"/>
    <p:sldId id="325" r:id="rId5"/>
    <p:sldId id="335" r:id="rId6"/>
    <p:sldId id="326" r:id="rId7"/>
    <p:sldId id="327" r:id="rId8"/>
    <p:sldId id="332" r:id="rId9"/>
    <p:sldId id="333" r:id="rId10"/>
    <p:sldId id="334" r:id="rId11"/>
    <p:sldId id="328" r:id="rId12"/>
    <p:sldId id="329" r:id="rId13"/>
    <p:sldId id="339" r:id="rId14"/>
    <p:sldId id="330" r:id="rId15"/>
    <p:sldId id="338" r:id="rId16"/>
    <p:sldId id="331" r:id="rId17"/>
    <p:sldId id="336" r:id="rId18"/>
    <p:sldId id="337" r:id="rId19"/>
  </p:sldIdLst>
  <p:sldSz cx="9144000" cy="6858000" type="screen4x3"/>
  <p:notesSz cx="6858000" cy="9144000"/>
  <p:defaultTextStyle>
    <a:defPPr>
      <a:defRPr lang="zh-CN"/>
    </a:defPPr>
    <a:lvl1pPr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p:cViewPr varScale="1">
        <p:scale>
          <a:sx n="72" d="100"/>
          <a:sy n="72" d="100"/>
        </p:scale>
        <p:origin x="1456" y="6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338"/>
    </p:cViewPr>
  </p:sorterViewPr>
  <p:notesViewPr>
    <p:cSldViewPr>
      <p:cViewPr varScale="1">
        <p:scale>
          <a:sx n="54" d="100"/>
          <a:sy n="54" d="100"/>
        </p:scale>
        <p:origin x="-1236"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1A109FE3-3F9B-FF9F-6CD5-FCEF8A6E6593}"/>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zh-CN"/>
          </a:p>
        </p:txBody>
      </p:sp>
      <p:sp>
        <p:nvSpPr>
          <p:cNvPr id="76803" name="Rectangle 3">
            <a:extLst>
              <a:ext uri="{FF2B5EF4-FFF2-40B4-BE49-F238E27FC236}">
                <a16:creationId xmlns:a16="http://schemas.microsoft.com/office/drawing/2014/main" id="{B3FA647B-52E4-DB33-7AD3-E285916ADC11}"/>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zh-CN"/>
          </a:p>
        </p:txBody>
      </p:sp>
      <p:sp>
        <p:nvSpPr>
          <p:cNvPr id="76804" name="Rectangle 4">
            <a:extLst>
              <a:ext uri="{FF2B5EF4-FFF2-40B4-BE49-F238E27FC236}">
                <a16:creationId xmlns:a16="http://schemas.microsoft.com/office/drawing/2014/main" id="{7620547B-07BA-7B11-124B-9F08AB16729E}"/>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6805" name="Rectangle 5">
            <a:extLst>
              <a:ext uri="{FF2B5EF4-FFF2-40B4-BE49-F238E27FC236}">
                <a16:creationId xmlns:a16="http://schemas.microsoft.com/office/drawing/2014/main" id="{C199970B-F5A0-2D51-ABDE-9718F39ADC20}"/>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6806" name="Rectangle 6">
            <a:extLst>
              <a:ext uri="{FF2B5EF4-FFF2-40B4-BE49-F238E27FC236}">
                <a16:creationId xmlns:a16="http://schemas.microsoft.com/office/drawing/2014/main" id="{F3A17EC4-B18D-53A7-9C08-3428AF4A2D18}"/>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zh-CN"/>
          </a:p>
        </p:txBody>
      </p:sp>
      <p:sp>
        <p:nvSpPr>
          <p:cNvPr id="76807" name="Rectangle 7">
            <a:extLst>
              <a:ext uri="{FF2B5EF4-FFF2-40B4-BE49-F238E27FC236}">
                <a16:creationId xmlns:a16="http://schemas.microsoft.com/office/drawing/2014/main" id="{6376E979-4174-52CC-86F6-1BD53FB2D421}"/>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B775BC55-3954-4298-81C2-EB585529111C}"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1A4ECDB-C5FD-22CE-5503-9D2761E7EAAB}"/>
              </a:ext>
            </a:extLst>
          </p:cNvPr>
          <p:cNvSpPr>
            <a:spLocks noGrp="1" noChangeArrowheads="1"/>
          </p:cNvSpPr>
          <p:nvPr>
            <p:ph type="sldNum" sz="quarter" idx="5"/>
          </p:nvPr>
        </p:nvSpPr>
        <p:spPr>
          <a:ln/>
        </p:spPr>
        <p:txBody>
          <a:bodyPr/>
          <a:lstStyle/>
          <a:p>
            <a:fld id="{0EC56B0F-F3BC-4939-A3B4-A6BF8BE985FA}" type="slidenum">
              <a:rPr lang="en-US" altLang="zh-CN"/>
              <a:pPr/>
              <a:t>1</a:t>
            </a:fld>
            <a:endParaRPr lang="en-US" altLang="zh-CN"/>
          </a:p>
        </p:txBody>
      </p:sp>
      <p:sp>
        <p:nvSpPr>
          <p:cNvPr id="77826" name="Rectangle 2">
            <a:extLst>
              <a:ext uri="{FF2B5EF4-FFF2-40B4-BE49-F238E27FC236}">
                <a16:creationId xmlns:a16="http://schemas.microsoft.com/office/drawing/2014/main" id="{70E6287B-DCC4-9ABA-9856-2589C8319F66}"/>
              </a:ext>
            </a:extLst>
          </p:cNvPr>
          <p:cNvSpPr>
            <a:spLocks noRot="1" noChangeArrowheads="1" noTextEdit="1"/>
          </p:cNvSpPr>
          <p:nvPr>
            <p:ph type="sldImg"/>
          </p:nvPr>
        </p:nvSpPr>
        <p:spPr>
          <a:ln/>
        </p:spPr>
      </p:sp>
      <p:sp>
        <p:nvSpPr>
          <p:cNvPr id="77827" name="Rectangle 3">
            <a:extLst>
              <a:ext uri="{FF2B5EF4-FFF2-40B4-BE49-F238E27FC236}">
                <a16:creationId xmlns:a16="http://schemas.microsoft.com/office/drawing/2014/main" id="{8133F834-9983-7A5C-BDBC-E0A2A5AA6493}"/>
              </a:ext>
            </a:extLst>
          </p:cNvPr>
          <p:cNvSpPr>
            <a:spLocks noGrp="1" noChangeArrowheads="1"/>
          </p:cNvSpPr>
          <p:nvPr>
            <p:ph type="body" idx="1"/>
          </p:nvPr>
        </p:nvSpPr>
        <p:spPr/>
        <p:txBody>
          <a:bodyPr/>
          <a:lstStyle/>
          <a:p>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06F85D-B1AA-EA22-A895-B9246B086EDB}"/>
              </a:ext>
            </a:extLst>
          </p:cNvPr>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CF1A9358-4FD1-60B0-9062-940EA51936BA}"/>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EE32057-447C-A1F8-C0A2-869B05414148}"/>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5" name="页脚占位符 4">
            <a:extLst>
              <a:ext uri="{FF2B5EF4-FFF2-40B4-BE49-F238E27FC236}">
                <a16:creationId xmlns:a16="http://schemas.microsoft.com/office/drawing/2014/main" id="{8E5B6EB5-407B-0C3B-93A8-5E44BFB9CE76}"/>
              </a:ext>
            </a:extLst>
          </p:cNvPr>
          <p:cNvSpPr>
            <a:spLocks noGrp="1"/>
          </p:cNvSpPr>
          <p:nvPr>
            <p:ph type="ftr" sz="quarter" idx="11"/>
          </p:nvPr>
        </p:nvSpPr>
        <p:spPr/>
        <p:txBody>
          <a:bodyPr/>
          <a:lstStyle>
            <a:lvl1pPr>
              <a:defRPr/>
            </a:lvl1pPr>
          </a:lstStyle>
          <a:p>
            <a:r>
              <a:rPr lang="en-US" altLang="zh-CN"/>
              <a:t>管理学</a:t>
            </a:r>
          </a:p>
        </p:txBody>
      </p:sp>
      <p:sp>
        <p:nvSpPr>
          <p:cNvPr id="6" name="灯片编号占位符 5">
            <a:extLst>
              <a:ext uri="{FF2B5EF4-FFF2-40B4-BE49-F238E27FC236}">
                <a16:creationId xmlns:a16="http://schemas.microsoft.com/office/drawing/2014/main" id="{8E81340A-23B0-0975-6F6F-73F8498555E8}"/>
              </a:ext>
            </a:extLst>
          </p:cNvPr>
          <p:cNvSpPr>
            <a:spLocks noGrp="1"/>
          </p:cNvSpPr>
          <p:nvPr>
            <p:ph type="sldNum" sz="quarter" idx="12"/>
          </p:nvPr>
        </p:nvSpPr>
        <p:spPr/>
        <p:txBody>
          <a:bodyPr/>
          <a:lstStyle>
            <a:lvl1pPr>
              <a:defRPr/>
            </a:lvl1pPr>
          </a:lstStyle>
          <a:p>
            <a:fld id="{A38AA21C-56C9-45D9-A6E6-7B9435F8B7B6}" type="slidenum">
              <a:rPr lang="en-US" altLang="zh-CN"/>
              <a:pPr/>
              <a:t>‹#›</a:t>
            </a:fld>
            <a:endParaRPr lang="en-US" altLang="zh-CN"/>
          </a:p>
        </p:txBody>
      </p:sp>
    </p:spTree>
    <p:extLst>
      <p:ext uri="{BB962C8B-B14F-4D97-AF65-F5344CB8AC3E}">
        <p14:creationId xmlns:p14="http://schemas.microsoft.com/office/powerpoint/2010/main" val="28805103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D03DF6-0B1D-1003-C6FD-E629701C41A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E48EF9E-AD90-0570-9DC9-8D43F0A331A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FF974F7-64AA-6ECD-FF75-6A254522552C}"/>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5" name="页脚占位符 4">
            <a:extLst>
              <a:ext uri="{FF2B5EF4-FFF2-40B4-BE49-F238E27FC236}">
                <a16:creationId xmlns:a16="http://schemas.microsoft.com/office/drawing/2014/main" id="{EC1C38C7-0C28-599F-C217-EC3805D04CCE}"/>
              </a:ext>
            </a:extLst>
          </p:cNvPr>
          <p:cNvSpPr>
            <a:spLocks noGrp="1"/>
          </p:cNvSpPr>
          <p:nvPr>
            <p:ph type="ftr" sz="quarter" idx="11"/>
          </p:nvPr>
        </p:nvSpPr>
        <p:spPr/>
        <p:txBody>
          <a:bodyPr/>
          <a:lstStyle>
            <a:lvl1pPr>
              <a:defRPr/>
            </a:lvl1pPr>
          </a:lstStyle>
          <a:p>
            <a:r>
              <a:rPr lang="en-US" altLang="zh-CN"/>
              <a:t>管理学</a:t>
            </a:r>
          </a:p>
        </p:txBody>
      </p:sp>
      <p:sp>
        <p:nvSpPr>
          <p:cNvPr id="6" name="灯片编号占位符 5">
            <a:extLst>
              <a:ext uri="{FF2B5EF4-FFF2-40B4-BE49-F238E27FC236}">
                <a16:creationId xmlns:a16="http://schemas.microsoft.com/office/drawing/2014/main" id="{5D229611-E24F-8C33-5C57-3ECFEF6A31FD}"/>
              </a:ext>
            </a:extLst>
          </p:cNvPr>
          <p:cNvSpPr>
            <a:spLocks noGrp="1"/>
          </p:cNvSpPr>
          <p:nvPr>
            <p:ph type="sldNum" sz="quarter" idx="12"/>
          </p:nvPr>
        </p:nvSpPr>
        <p:spPr/>
        <p:txBody>
          <a:bodyPr/>
          <a:lstStyle>
            <a:lvl1pPr>
              <a:defRPr/>
            </a:lvl1pPr>
          </a:lstStyle>
          <a:p>
            <a:fld id="{97157A61-65CF-41D5-B4E9-AEF38ED1B53D}" type="slidenum">
              <a:rPr lang="en-US" altLang="zh-CN"/>
              <a:pPr/>
              <a:t>‹#›</a:t>
            </a:fld>
            <a:endParaRPr lang="en-US" altLang="zh-CN"/>
          </a:p>
        </p:txBody>
      </p:sp>
    </p:spTree>
    <p:extLst>
      <p:ext uri="{BB962C8B-B14F-4D97-AF65-F5344CB8AC3E}">
        <p14:creationId xmlns:p14="http://schemas.microsoft.com/office/powerpoint/2010/main" val="711694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CF99C9-987D-67A3-D99B-F971704A2380}"/>
              </a:ext>
            </a:extLst>
          </p:cNvPr>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D996D28-3643-C0F0-E1D8-D271E89CC272}"/>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DFC456D4-C33D-FF2C-34D8-1F49E026413A}"/>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5" name="页脚占位符 4">
            <a:extLst>
              <a:ext uri="{FF2B5EF4-FFF2-40B4-BE49-F238E27FC236}">
                <a16:creationId xmlns:a16="http://schemas.microsoft.com/office/drawing/2014/main" id="{C1CE86B5-0409-EE08-C686-146304CE4290}"/>
              </a:ext>
            </a:extLst>
          </p:cNvPr>
          <p:cNvSpPr>
            <a:spLocks noGrp="1"/>
          </p:cNvSpPr>
          <p:nvPr>
            <p:ph type="ftr" sz="quarter" idx="11"/>
          </p:nvPr>
        </p:nvSpPr>
        <p:spPr/>
        <p:txBody>
          <a:bodyPr/>
          <a:lstStyle>
            <a:lvl1pPr>
              <a:defRPr/>
            </a:lvl1pPr>
          </a:lstStyle>
          <a:p>
            <a:r>
              <a:rPr lang="en-US" altLang="zh-CN"/>
              <a:t>管理学</a:t>
            </a:r>
          </a:p>
        </p:txBody>
      </p:sp>
      <p:sp>
        <p:nvSpPr>
          <p:cNvPr id="6" name="灯片编号占位符 5">
            <a:extLst>
              <a:ext uri="{FF2B5EF4-FFF2-40B4-BE49-F238E27FC236}">
                <a16:creationId xmlns:a16="http://schemas.microsoft.com/office/drawing/2014/main" id="{A2DCC340-1E8A-816F-D197-1BE1D39B8376}"/>
              </a:ext>
            </a:extLst>
          </p:cNvPr>
          <p:cNvSpPr>
            <a:spLocks noGrp="1"/>
          </p:cNvSpPr>
          <p:nvPr>
            <p:ph type="sldNum" sz="quarter" idx="12"/>
          </p:nvPr>
        </p:nvSpPr>
        <p:spPr/>
        <p:txBody>
          <a:bodyPr/>
          <a:lstStyle>
            <a:lvl1pPr>
              <a:defRPr/>
            </a:lvl1pPr>
          </a:lstStyle>
          <a:p>
            <a:fld id="{931A19C1-5135-4DE1-850F-2A243B057868}" type="slidenum">
              <a:rPr lang="en-US" altLang="zh-CN"/>
              <a:pPr/>
              <a:t>‹#›</a:t>
            </a:fld>
            <a:endParaRPr lang="en-US" altLang="zh-CN"/>
          </a:p>
        </p:txBody>
      </p:sp>
    </p:spTree>
    <p:extLst>
      <p:ext uri="{BB962C8B-B14F-4D97-AF65-F5344CB8AC3E}">
        <p14:creationId xmlns:p14="http://schemas.microsoft.com/office/powerpoint/2010/main" val="1057070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3EFD8D-0CCA-7171-84AB-8E01762F3A0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A0ED806-3F56-99A9-3FD1-45A395A17339}"/>
              </a:ext>
            </a:extLst>
          </p:cNvPr>
          <p:cNvSpPr>
            <a:spLocks noGrp="1"/>
          </p:cNvSpPr>
          <p:nvPr>
            <p:ph sz="half" idx="1"/>
          </p:nvPr>
        </p:nvSpPr>
        <p:spPr>
          <a:xfrm>
            <a:off x="685800" y="1981200"/>
            <a:ext cx="381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44198EAD-B984-1E3A-14BC-545BE3C98B74}"/>
              </a:ext>
            </a:extLst>
          </p:cNvPr>
          <p:cNvSpPr>
            <a:spLocks noGrp="1"/>
          </p:cNvSpPr>
          <p:nvPr>
            <p:ph sz="half" idx="2"/>
          </p:nvPr>
        </p:nvSpPr>
        <p:spPr>
          <a:xfrm>
            <a:off x="4648200" y="1981200"/>
            <a:ext cx="381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F15A0193-C3F7-F4E8-BA5E-7771298EFF81}"/>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6" name="页脚占位符 5">
            <a:extLst>
              <a:ext uri="{FF2B5EF4-FFF2-40B4-BE49-F238E27FC236}">
                <a16:creationId xmlns:a16="http://schemas.microsoft.com/office/drawing/2014/main" id="{42D05119-EF36-4FC4-1ED4-E148A5D45539}"/>
              </a:ext>
            </a:extLst>
          </p:cNvPr>
          <p:cNvSpPr>
            <a:spLocks noGrp="1"/>
          </p:cNvSpPr>
          <p:nvPr>
            <p:ph type="ftr" sz="quarter" idx="11"/>
          </p:nvPr>
        </p:nvSpPr>
        <p:spPr/>
        <p:txBody>
          <a:bodyPr/>
          <a:lstStyle>
            <a:lvl1pPr>
              <a:defRPr/>
            </a:lvl1pPr>
          </a:lstStyle>
          <a:p>
            <a:r>
              <a:rPr lang="en-US" altLang="zh-CN"/>
              <a:t>管理学</a:t>
            </a:r>
          </a:p>
        </p:txBody>
      </p:sp>
      <p:sp>
        <p:nvSpPr>
          <p:cNvPr id="7" name="灯片编号占位符 6">
            <a:extLst>
              <a:ext uri="{FF2B5EF4-FFF2-40B4-BE49-F238E27FC236}">
                <a16:creationId xmlns:a16="http://schemas.microsoft.com/office/drawing/2014/main" id="{B0294F05-D959-8B21-65E3-13EB34A5AB4C}"/>
              </a:ext>
            </a:extLst>
          </p:cNvPr>
          <p:cNvSpPr>
            <a:spLocks noGrp="1"/>
          </p:cNvSpPr>
          <p:nvPr>
            <p:ph type="sldNum" sz="quarter" idx="12"/>
          </p:nvPr>
        </p:nvSpPr>
        <p:spPr/>
        <p:txBody>
          <a:bodyPr/>
          <a:lstStyle>
            <a:lvl1pPr>
              <a:defRPr/>
            </a:lvl1pPr>
          </a:lstStyle>
          <a:p>
            <a:fld id="{497855E5-73C6-44CC-AB18-33CA2FC9646E}" type="slidenum">
              <a:rPr lang="en-US" altLang="zh-CN"/>
              <a:pPr/>
              <a:t>‹#›</a:t>
            </a:fld>
            <a:endParaRPr lang="en-US" altLang="zh-CN"/>
          </a:p>
        </p:txBody>
      </p:sp>
    </p:spTree>
    <p:extLst>
      <p:ext uri="{BB962C8B-B14F-4D97-AF65-F5344CB8AC3E}">
        <p14:creationId xmlns:p14="http://schemas.microsoft.com/office/powerpoint/2010/main" val="8985121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184EF2-2E4B-C4B9-FC57-8CB8EB13441D}"/>
              </a:ext>
            </a:extLst>
          </p:cNvPr>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7462B1A-65B8-4300-E0E0-41B7F3E9CC44}"/>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55ECE459-A3C8-28E9-6D98-63E7D84B3111}"/>
              </a:ext>
            </a:extLst>
          </p:cNvPr>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3C051C33-4BBB-7448-CCD3-D12D664AD7C4}"/>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11DAD2D-9315-87CD-94A3-C2BEC8F51A26}"/>
              </a:ext>
            </a:extLst>
          </p:cNvPr>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91F425B0-90CC-246A-F9CB-98ABFE416653}"/>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8" name="页脚占位符 7">
            <a:extLst>
              <a:ext uri="{FF2B5EF4-FFF2-40B4-BE49-F238E27FC236}">
                <a16:creationId xmlns:a16="http://schemas.microsoft.com/office/drawing/2014/main" id="{F6B12E18-8C05-6724-1469-BC2465578800}"/>
              </a:ext>
            </a:extLst>
          </p:cNvPr>
          <p:cNvSpPr>
            <a:spLocks noGrp="1"/>
          </p:cNvSpPr>
          <p:nvPr>
            <p:ph type="ftr" sz="quarter" idx="11"/>
          </p:nvPr>
        </p:nvSpPr>
        <p:spPr/>
        <p:txBody>
          <a:bodyPr/>
          <a:lstStyle>
            <a:lvl1pPr>
              <a:defRPr/>
            </a:lvl1pPr>
          </a:lstStyle>
          <a:p>
            <a:r>
              <a:rPr lang="en-US" altLang="zh-CN"/>
              <a:t>管理学</a:t>
            </a:r>
          </a:p>
        </p:txBody>
      </p:sp>
      <p:sp>
        <p:nvSpPr>
          <p:cNvPr id="9" name="灯片编号占位符 8">
            <a:extLst>
              <a:ext uri="{FF2B5EF4-FFF2-40B4-BE49-F238E27FC236}">
                <a16:creationId xmlns:a16="http://schemas.microsoft.com/office/drawing/2014/main" id="{D5A5DD05-5A99-AA85-FB6B-6C92C4209E4F}"/>
              </a:ext>
            </a:extLst>
          </p:cNvPr>
          <p:cNvSpPr>
            <a:spLocks noGrp="1"/>
          </p:cNvSpPr>
          <p:nvPr>
            <p:ph type="sldNum" sz="quarter" idx="12"/>
          </p:nvPr>
        </p:nvSpPr>
        <p:spPr/>
        <p:txBody>
          <a:bodyPr/>
          <a:lstStyle>
            <a:lvl1pPr>
              <a:defRPr/>
            </a:lvl1pPr>
          </a:lstStyle>
          <a:p>
            <a:fld id="{D1539764-2D4C-46AE-9210-FA32070E836B}" type="slidenum">
              <a:rPr lang="en-US" altLang="zh-CN"/>
              <a:pPr/>
              <a:t>‹#›</a:t>
            </a:fld>
            <a:endParaRPr lang="en-US" altLang="zh-CN"/>
          </a:p>
        </p:txBody>
      </p:sp>
    </p:spTree>
    <p:extLst>
      <p:ext uri="{BB962C8B-B14F-4D97-AF65-F5344CB8AC3E}">
        <p14:creationId xmlns:p14="http://schemas.microsoft.com/office/powerpoint/2010/main" val="4688858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07EAC6-B656-9E86-2D02-EDDDD4547C4F}"/>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DD908799-7611-5F9C-09EC-7EFDA1AE8257}"/>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4" name="页脚占位符 3">
            <a:extLst>
              <a:ext uri="{FF2B5EF4-FFF2-40B4-BE49-F238E27FC236}">
                <a16:creationId xmlns:a16="http://schemas.microsoft.com/office/drawing/2014/main" id="{235AFE4F-1FDB-74C7-95E3-A1892B0B8F51}"/>
              </a:ext>
            </a:extLst>
          </p:cNvPr>
          <p:cNvSpPr>
            <a:spLocks noGrp="1"/>
          </p:cNvSpPr>
          <p:nvPr>
            <p:ph type="ftr" sz="quarter" idx="11"/>
          </p:nvPr>
        </p:nvSpPr>
        <p:spPr/>
        <p:txBody>
          <a:bodyPr/>
          <a:lstStyle>
            <a:lvl1pPr>
              <a:defRPr/>
            </a:lvl1pPr>
          </a:lstStyle>
          <a:p>
            <a:r>
              <a:rPr lang="en-US" altLang="zh-CN"/>
              <a:t>管理学</a:t>
            </a:r>
          </a:p>
        </p:txBody>
      </p:sp>
      <p:sp>
        <p:nvSpPr>
          <p:cNvPr id="5" name="灯片编号占位符 4">
            <a:extLst>
              <a:ext uri="{FF2B5EF4-FFF2-40B4-BE49-F238E27FC236}">
                <a16:creationId xmlns:a16="http://schemas.microsoft.com/office/drawing/2014/main" id="{058CA238-FE37-D267-0539-0340EBF8DFD3}"/>
              </a:ext>
            </a:extLst>
          </p:cNvPr>
          <p:cNvSpPr>
            <a:spLocks noGrp="1"/>
          </p:cNvSpPr>
          <p:nvPr>
            <p:ph type="sldNum" sz="quarter" idx="12"/>
          </p:nvPr>
        </p:nvSpPr>
        <p:spPr/>
        <p:txBody>
          <a:bodyPr/>
          <a:lstStyle>
            <a:lvl1pPr>
              <a:defRPr/>
            </a:lvl1pPr>
          </a:lstStyle>
          <a:p>
            <a:fld id="{05BD9202-6FF5-45CA-B58C-C6417F402CAF}" type="slidenum">
              <a:rPr lang="en-US" altLang="zh-CN"/>
              <a:pPr/>
              <a:t>‹#›</a:t>
            </a:fld>
            <a:endParaRPr lang="en-US" altLang="zh-CN"/>
          </a:p>
        </p:txBody>
      </p:sp>
    </p:spTree>
    <p:extLst>
      <p:ext uri="{BB962C8B-B14F-4D97-AF65-F5344CB8AC3E}">
        <p14:creationId xmlns:p14="http://schemas.microsoft.com/office/powerpoint/2010/main" val="30528047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B378B2E-6783-FF71-95F7-E22F78209CE0}"/>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3" name="页脚占位符 2">
            <a:extLst>
              <a:ext uri="{FF2B5EF4-FFF2-40B4-BE49-F238E27FC236}">
                <a16:creationId xmlns:a16="http://schemas.microsoft.com/office/drawing/2014/main" id="{1EEBA4AD-F505-14C7-6877-1BC7C64D4172}"/>
              </a:ext>
            </a:extLst>
          </p:cNvPr>
          <p:cNvSpPr>
            <a:spLocks noGrp="1"/>
          </p:cNvSpPr>
          <p:nvPr>
            <p:ph type="ftr" sz="quarter" idx="11"/>
          </p:nvPr>
        </p:nvSpPr>
        <p:spPr/>
        <p:txBody>
          <a:bodyPr/>
          <a:lstStyle>
            <a:lvl1pPr>
              <a:defRPr/>
            </a:lvl1pPr>
          </a:lstStyle>
          <a:p>
            <a:r>
              <a:rPr lang="en-US" altLang="zh-CN"/>
              <a:t>管理学</a:t>
            </a:r>
          </a:p>
        </p:txBody>
      </p:sp>
      <p:sp>
        <p:nvSpPr>
          <p:cNvPr id="4" name="灯片编号占位符 3">
            <a:extLst>
              <a:ext uri="{FF2B5EF4-FFF2-40B4-BE49-F238E27FC236}">
                <a16:creationId xmlns:a16="http://schemas.microsoft.com/office/drawing/2014/main" id="{D2641140-B0B7-852D-3963-1C617757302B}"/>
              </a:ext>
            </a:extLst>
          </p:cNvPr>
          <p:cNvSpPr>
            <a:spLocks noGrp="1"/>
          </p:cNvSpPr>
          <p:nvPr>
            <p:ph type="sldNum" sz="quarter" idx="12"/>
          </p:nvPr>
        </p:nvSpPr>
        <p:spPr/>
        <p:txBody>
          <a:bodyPr/>
          <a:lstStyle>
            <a:lvl1pPr>
              <a:defRPr/>
            </a:lvl1pPr>
          </a:lstStyle>
          <a:p>
            <a:fld id="{AD158BB5-D620-49AB-AB56-B7D284EF70DE}" type="slidenum">
              <a:rPr lang="en-US" altLang="zh-CN"/>
              <a:pPr/>
              <a:t>‹#›</a:t>
            </a:fld>
            <a:endParaRPr lang="en-US" altLang="zh-CN"/>
          </a:p>
        </p:txBody>
      </p:sp>
    </p:spTree>
    <p:extLst>
      <p:ext uri="{BB962C8B-B14F-4D97-AF65-F5344CB8AC3E}">
        <p14:creationId xmlns:p14="http://schemas.microsoft.com/office/powerpoint/2010/main" val="41276210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F3E1A7-C576-C05B-1B33-0608A4E5BC60}"/>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AA1033AA-7D7E-D97B-A30D-41612E999319}"/>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DE7119D-BD45-2588-5C2B-32724731090B}"/>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60A0B3D-19C7-5BC7-447B-82559D3E3F66}"/>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6" name="页脚占位符 5">
            <a:extLst>
              <a:ext uri="{FF2B5EF4-FFF2-40B4-BE49-F238E27FC236}">
                <a16:creationId xmlns:a16="http://schemas.microsoft.com/office/drawing/2014/main" id="{37AC5E2F-7E25-D9C4-FAC7-82F3967379E6}"/>
              </a:ext>
            </a:extLst>
          </p:cNvPr>
          <p:cNvSpPr>
            <a:spLocks noGrp="1"/>
          </p:cNvSpPr>
          <p:nvPr>
            <p:ph type="ftr" sz="quarter" idx="11"/>
          </p:nvPr>
        </p:nvSpPr>
        <p:spPr/>
        <p:txBody>
          <a:bodyPr/>
          <a:lstStyle>
            <a:lvl1pPr>
              <a:defRPr/>
            </a:lvl1pPr>
          </a:lstStyle>
          <a:p>
            <a:r>
              <a:rPr lang="en-US" altLang="zh-CN"/>
              <a:t>管理学</a:t>
            </a:r>
          </a:p>
        </p:txBody>
      </p:sp>
      <p:sp>
        <p:nvSpPr>
          <p:cNvPr id="7" name="灯片编号占位符 6">
            <a:extLst>
              <a:ext uri="{FF2B5EF4-FFF2-40B4-BE49-F238E27FC236}">
                <a16:creationId xmlns:a16="http://schemas.microsoft.com/office/drawing/2014/main" id="{E1753D06-1746-D60C-F6C4-25C8850A0D36}"/>
              </a:ext>
            </a:extLst>
          </p:cNvPr>
          <p:cNvSpPr>
            <a:spLocks noGrp="1"/>
          </p:cNvSpPr>
          <p:nvPr>
            <p:ph type="sldNum" sz="quarter" idx="12"/>
          </p:nvPr>
        </p:nvSpPr>
        <p:spPr/>
        <p:txBody>
          <a:bodyPr/>
          <a:lstStyle>
            <a:lvl1pPr>
              <a:defRPr/>
            </a:lvl1pPr>
          </a:lstStyle>
          <a:p>
            <a:fld id="{11F78B69-67B8-452B-99F7-732E1272AAC5}" type="slidenum">
              <a:rPr lang="en-US" altLang="zh-CN"/>
              <a:pPr/>
              <a:t>‹#›</a:t>
            </a:fld>
            <a:endParaRPr lang="en-US" altLang="zh-CN"/>
          </a:p>
        </p:txBody>
      </p:sp>
    </p:spTree>
    <p:extLst>
      <p:ext uri="{BB962C8B-B14F-4D97-AF65-F5344CB8AC3E}">
        <p14:creationId xmlns:p14="http://schemas.microsoft.com/office/powerpoint/2010/main" val="5623875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2A94AF-AB24-C709-5F6D-B7B9B5B34A48}"/>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47FBA9AE-E39D-4448-7180-F758635A68E1}"/>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E2A3356-8CC5-5F68-3223-074F14A2E071}"/>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A0B6E4E-211D-B2F9-8E69-0E8B646A217A}"/>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6" name="页脚占位符 5">
            <a:extLst>
              <a:ext uri="{FF2B5EF4-FFF2-40B4-BE49-F238E27FC236}">
                <a16:creationId xmlns:a16="http://schemas.microsoft.com/office/drawing/2014/main" id="{03ABDA4F-F9F1-7C83-E586-A30B163BAFED}"/>
              </a:ext>
            </a:extLst>
          </p:cNvPr>
          <p:cNvSpPr>
            <a:spLocks noGrp="1"/>
          </p:cNvSpPr>
          <p:nvPr>
            <p:ph type="ftr" sz="quarter" idx="11"/>
          </p:nvPr>
        </p:nvSpPr>
        <p:spPr/>
        <p:txBody>
          <a:bodyPr/>
          <a:lstStyle>
            <a:lvl1pPr>
              <a:defRPr/>
            </a:lvl1pPr>
          </a:lstStyle>
          <a:p>
            <a:r>
              <a:rPr lang="en-US" altLang="zh-CN"/>
              <a:t>管理学</a:t>
            </a:r>
          </a:p>
        </p:txBody>
      </p:sp>
      <p:sp>
        <p:nvSpPr>
          <p:cNvPr id="7" name="灯片编号占位符 6">
            <a:extLst>
              <a:ext uri="{FF2B5EF4-FFF2-40B4-BE49-F238E27FC236}">
                <a16:creationId xmlns:a16="http://schemas.microsoft.com/office/drawing/2014/main" id="{082D4A9D-8A5F-BC84-AC18-CC726ADB482B}"/>
              </a:ext>
            </a:extLst>
          </p:cNvPr>
          <p:cNvSpPr>
            <a:spLocks noGrp="1"/>
          </p:cNvSpPr>
          <p:nvPr>
            <p:ph type="sldNum" sz="quarter" idx="12"/>
          </p:nvPr>
        </p:nvSpPr>
        <p:spPr/>
        <p:txBody>
          <a:bodyPr/>
          <a:lstStyle>
            <a:lvl1pPr>
              <a:defRPr/>
            </a:lvl1pPr>
          </a:lstStyle>
          <a:p>
            <a:fld id="{5CD6117E-7D9F-4695-BDC4-62B854BC2581}" type="slidenum">
              <a:rPr lang="en-US" altLang="zh-CN"/>
              <a:pPr/>
              <a:t>‹#›</a:t>
            </a:fld>
            <a:endParaRPr lang="en-US" altLang="zh-CN"/>
          </a:p>
        </p:txBody>
      </p:sp>
    </p:spTree>
    <p:extLst>
      <p:ext uri="{BB962C8B-B14F-4D97-AF65-F5344CB8AC3E}">
        <p14:creationId xmlns:p14="http://schemas.microsoft.com/office/powerpoint/2010/main" val="28333016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EC3142-8110-4C0F-9DD4-2E2479AA524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CDE87818-97D5-CE74-5939-AF7C952EC1CA}"/>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CE22C25-E3D3-CF2E-EAA2-9F4BF8B9F24A}"/>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5" name="页脚占位符 4">
            <a:extLst>
              <a:ext uri="{FF2B5EF4-FFF2-40B4-BE49-F238E27FC236}">
                <a16:creationId xmlns:a16="http://schemas.microsoft.com/office/drawing/2014/main" id="{DF608226-6245-A92F-D815-FDAE18DEFB5D}"/>
              </a:ext>
            </a:extLst>
          </p:cNvPr>
          <p:cNvSpPr>
            <a:spLocks noGrp="1"/>
          </p:cNvSpPr>
          <p:nvPr>
            <p:ph type="ftr" sz="quarter" idx="11"/>
          </p:nvPr>
        </p:nvSpPr>
        <p:spPr/>
        <p:txBody>
          <a:bodyPr/>
          <a:lstStyle>
            <a:lvl1pPr>
              <a:defRPr/>
            </a:lvl1pPr>
          </a:lstStyle>
          <a:p>
            <a:r>
              <a:rPr lang="en-US" altLang="zh-CN"/>
              <a:t>管理学</a:t>
            </a:r>
          </a:p>
        </p:txBody>
      </p:sp>
      <p:sp>
        <p:nvSpPr>
          <p:cNvPr id="6" name="灯片编号占位符 5">
            <a:extLst>
              <a:ext uri="{FF2B5EF4-FFF2-40B4-BE49-F238E27FC236}">
                <a16:creationId xmlns:a16="http://schemas.microsoft.com/office/drawing/2014/main" id="{06D3BF02-22F3-35E1-044A-BE975251534B}"/>
              </a:ext>
            </a:extLst>
          </p:cNvPr>
          <p:cNvSpPr>
            <a:spLocks noGrp="1"/>
          </p:cNvSpPr>
          <p:nvPr>
            <p:ph type="sldNum" sz="quarter" idx="12"/>
          </p:nvPr>
        </p:nvSpPr>
        <p:spPr/>
        <p:txBody>
          <a:bodyPr/>
          <a:lstStyle>
            <a:lvl1pPr>
              <a:defRPr/>
            </a:lvl1pPr>
          </a:lstStyle>
          <a:p>
            <a:fld id="{36C55BD8-04AB-41B6-B81D-031B4E12967F}" type="slidenum">
              <a:rPr lang="en-US" altLang="zh-CN"/>
              <a:pPr/>
              <a:t>‹#›</a:t>
            </a:fld>
            <a:endParaRPr lang="en-US" altLang="zh-CN"/>
          </a:p>
        </p:txBody>
      </p:sp>
    </p:spTree>
    <p:extLst>
      <p:ext uri="{BB962C8B-B14F-4D97-AF65-F5344CB8AC3E}">
        <p14:creationId xmlns:p14="http://schemas.microsoft.com/office/powerpoint/2010/main" val="16385928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671B82D-F5C3-389D-142A-5F41275E5558}"/>
              </a:ext>
            </a:extLst>
          </p:cNvPr>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3612E07-1FA0-7431-6004-20474121835C}"/>
              </a:ext>
            </a:extLst>
          </p:cNvPr>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D1ACD24-37C0-AA3C-562B-354218E7F7FC}"/>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5" name="页脚占位符 4">
            <a:extLst>
              <a:ext uri="{FF2B5EF4-FFF2-40B4-BE49-F238E27FC236}">
                <a16:creationId xmlns:a16="http://schemas.microsoft.com/office/drawing/2014/main" id="{042738DA-2F19-8AE6-50F6-B51F20790190}"/>
              </a:ext>
            </a:extLst>
          </p:cNvPr>
          <p:cNvSpPr>
            <a:spLocks noGrp="1"/>
          </p:cNvSpPr>
          <p:nvPr>
            <p:ph type="ftr" sz="quarter" idx="11"/>
          </p:nvPr>
        </p:nvSpPr>
        <p:spPr/>
        <p:txBody>
          <a:bodyPr/>
          <a:lstStyle>
            <a:lvl1pPr>
              <a:defRPr/>
            </a:lvl1pPr>
          </a:lstStyle>
          <a:p>
            <a:r>
              <a:rPr lang="en-US" altLang="zh-CN"/>
              <a:t>管理学</a:t>
            </a:r>
          </a:p>
        </p:txBody>
      </p:sp>
      <p:sp>
        <p:nvSpPr>
          <p:cNvPr id="6" name="灯片编号占位符 5">
            <a:extLst>
              <a:ext uri="{FF2B5EF4-FFF2-40B4-BE49-F238E27FC236}">
                <a16:creationId xmlns:a16="http://schemas.microsoft.com/office/drawing/2014/main" id="{61EF3123-E66E-0265-803A-BD2C7249D80A}"/>
              </a:ext>
            </a:extLst>
          </p:cNvPr>
          <p:cNvSpPr>
            <a:spLocks noGrp="1"/>
          </p:cNvSpPr>
          <p:nvPr>
            <p:ph type="sldNum" sz="quarter" idx="12"/>
          </p:nvPr>
        </p:nvSpPr>
        <p:spPr/>
        <p:txBody>
          <a:bodyPr/>
          <a:lstStyle>
            <a:lvl1pPr>
              <a:defRPr/>
            </a:lvl1pPr>
          </a:lstStyle>
          <a:p>
            <a:fld id="{376F798E-2AE4-4D31-A276-BBAB562D42F7}" type="slidenum">
              <a:rPr lang="en-US" altLang="zh-CN"/>
              <a:pPr/>
              <a:t>‹#›</a:t>
            </a:fld>
            <a:endParaRPr lang="en-US" altLang="zh-CN"/>
          </a:p>
        </p:txBody>
      </p:sp>
    </p:spTree>
    <p:extLst>
      <p:ext uri="{BB962C8B-B14F-4D97-AF65-F5344CB8AC3E}">
        <p14:creationId xmlns:p14="http://schemas.microsoft.com/office/powerpoint/2010/main" val="22763194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AE38DBC4-58C3-77FA-028D-CFF6EBFA8422}"/>
              </a:ext>
            </a:extLst>
          </p:cNvPr>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3" name="日期占位符 2">
            <a:extLst>
              <a:ext uri="{FF2B5EF4-FFF2-40B4-BE49-F238E27FC236}">
                <a16:creationId xmlns:a16="http://schemas.microsoft.com/office/drawing/2014/main" id="{2DF17F6C-2ECF-5846-6614-79CD2DD581A7}"/>
              </a:ext>
            </a:extLst>
          </p:cNvPr>
          <p:cNvSpPr>
            <a:spLocks noGrp="1"/>
          </p:cNvSpPr>
          <p:nvPr>
            <p:ph type="dt" sz="half" idx="10"/>
          </p:nvPr>
        </p:nvSpPr>
        <p:spPr>
          <a:xfrm>
            <a:off x="685800" y="6248400"/>
            <a:ext cx="1905000" cy="457200"/>
          </a:xfrm>
        </p:spPr>
        <p:txBody>
          <a:bodyPr/>
          <a:lstStyle>
            <a:lvl1pPr>
              <a:defRPr/>
            </a:lvl1pPr>
          </a:lstStyle>
          <a:p>
            <a:r>
              <a:rPr lang="zh-CN" altLang="en-US"/>
              <a:t>版本：2004</a:t>
            </a:r>
            <a:endParaRPr lang="en-US" altLang="zh-CN"/>
          </a:p>
        </p:txBody>
      </p:sp>
      <p:sp>
        <p:nvSpPr>
          <p:cNvPr id="4" name="页脚占位符 3">
            <a:extLst>
              <a:ext uri="{FF2B5EF4-FFF2-40B4-BE49-F238E27FC236}">
                <a16:creationId xmlns:a16="http://schemas.microsoft.com/office/drawing/2014/main" id="{9BBFCE29-1106-2CA2-6E38-29BC4E26BDBB}"/>
              </a:ext>
            </a:extLst>
          </p:cNvPr>
          <p:cNvSpPr>
            <a:spLocks noGrp="1"/>
          </p:cNvSpPr>
          <p:nvPr>
            <p:ph type="ftr" sz="quarter" idx="11"/>
          </p:nvPr>
        </p:nvSpPr>
        <p:spPr>
          <a:xfrm>
            <a:off x="3124200" y="6248400"/>
            <a:ext cx="2895600" cy="457200"/>
          </a:xfrm>
        </p:spPr>
        <p:txBody>
          <a:bodyPr/>
          <a:lstStyle>
            <a:lvl1pPr>
              <a:defRPr/>
            </a:lvl1pPr>
          </a:lstStyle>
          <a:p>
            <a:r>
              <a:rPr lang="en-US" altLang="zh-CN"/>
              <a:t>管理学</a:t>
            </a:r>
          </a:p>
        </p:txBody>
      </p:sp>
      <p:sp>
        <p:nvSpPr>
          <p:cNvPr id="5" name="灯片编号占位符 4">
            <a:extLst>
              <a:ext uri="{FF2B5EF4-FFF2-40B4-BE49-F238E27FC236}">
                <a16:creationId xmlns:a16="http://schemas.microsoft.com/office/drawing/2014/main" id="{94F486C4-85A4-7C68-5FCD-855B7336A793}"/>
              </a:ext>
            </a:extLst>
          </p:cNvPr>
          <p:cNvSpPr>
            <a:spLocks noGrp="1"/>
          </p:cNvSpPr>
          <p:nvPr>
            <p:ph type="sldNum" sz="quarter" idx="12"/>
          </p:nvPr>
        </p:nvSpPr>
        <p:spPr>
          <a:xfrm>
            <a:off x="6553200" y="6248400"/>
            <a:ext cx="1905000" cy="457200"/>
          </a:xfrm>
        </p:spPr>
        <p:txBody>
          <a:bodyPr/>
          <a:lstStyle>
            <a:lvl1pPr>
              <a:defRPr/>
            </a:lvl1pPr>
          </a:lstStyle>
          <a:p>
            <a:fld id="{D9A4FDA6-E5DF-4A53-91E2-74803713512E}" type="slidenum">
              <a:rPr lang="en-US" altLang="zh-CN"/>
              <a:pPr/>
              <a:t>‹#›</a:t>
            </a:fld>
            <a:endParaRPr lang="en-US" altLang="zh-CN"/>
          </a:p>
        </p:txBody>
      </p:sp>
    </p:spTree>
    <p:extLst>
      <p:ext uri="{BB962C8B-B14F-4D97-AF65-F5344CB8AC3E}">
        <p14:creationId xmlns:p14="http://schemas.microsoft.com/office/powerpoint/2010/main" val="34980971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A74130F2-B42D-FA82-AD8F-165F41B4634A}"/>
              </a:ext>
            </a:extLst>
          </p:cNvPr>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F52CD08E-E1B7-6BAB-21D9-9D11AA52D617}"/>
              </a:ext>
            </a:extLst>
          </p:cNvPr>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12B766BC-F674-E157-621C-DCBE8A6452B5}"/>
              </a:ext>
            </a:extLst>
          </p:cNvPr>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r>
              <a:rPr lang="zh-CN" altLang="en-US"/>
              <a:t>版本：2004</a:t>
            </a:r>
            <a:endParaRPr lang="en-US" altLang="zh-CN"/>
          </a:p>
        </p:txBody>
      </p:sp>
      <p:sp>
        <p:nvSpPr>
          <p:cNvPr id="1029" name="Rectangle 5">
            <a:extLst>
              <a:ext uri="{FF2B5EF4-FFF2-40B4-BE49-F238E27FC236}">
                <a16:creationId xmlns:a16="http://schemas.microsoft.com/office/drawing/2014/main" id="{0211B082-D481-65C7-FCDB-53891FF2C5A5}"/>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r>
              <a:rPr lang="en-US" altLang="zh-CN"/>
              <a:t>管理学</a:t>
            </a:r>
          </a:p>
        </p:txBody>
      </p:sp>
      <p:sp>
        <p:nvSpPr>
          <p:cNvPr id="1030" name="Rectangle 6">
            <a:extLst>
              <a:ext uri="{FF2B5EF4-FFF2-40B4-BE49-F238E27FC236}">
                <a16:creationId xmlns:a16="http://schemas.microsoft.com/office/drawing/2014/main" id="{F223A815-4C0A-905F-A079-99B9F36A9FAB}"/>
              </a:ext>
            </a:extLst>
          </p:cNvPr>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85FE5101-1C94-4DE3-97F3-73179B6428D8}"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ctr" rtl="0" fontAlgn="base">
        <a:spcBef>
          <a:spcPct val="0"/>
        </a:spcBef>
        <a:spcAft>
          <a:spcPct val="0"/>
        </a:spcAft>
        <a:defRPr kumimoji="1" sz="4400" kern="12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fontAlgn="base">
        <a:spcBef>
          <a:spcPct val="20000"/>
        </a:spcBef>
        <a:spcAft>
          <a:spcPct val="0"/>
        </a:spcAft>
        <a:buChar char="•"/>
        <a:defRPr kumimoji="1" sz="3200" kern="1200">
          <a:solidFill>
            <a:schemeClr val="tx1"/>
          </a:solidFill>
          <a:latin typeface="+mn-lt"/>
          <a:ea typeface="+mn-ea"/>
          <a:cs typeface="+mn-cs"/>
        </a:defRPr>
      </a:lvl1pPr>
      <a:lvl2pPr marL="742950" indent="-285750" algn="l" rtl="0" fontAlgn="base">
        <a:spcBef>
          <a:spcPct val="20000"/>
        </a:spcBef>
        <a:spcAft>
          <a:spcPct val="0"/>
        </a:spcAft>
        <a:buChar char="–"/>
        <a:defRPr kumimoji="1" sz="2800" kern="1200">
          <a:solidFill>
            <a:schemeClr val="tx1"/>
          </a:solidFill>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6" name="Rectangle 4">
            <a:extLst>
              <a:ext uri="{FF2B5EF4-FFF2-40B4-BE49-F238E27FC236}">
                <a16:creationId xmlns:a16="http://schemas.microsoft.com/office/drawing/2014/main" id="{1DA7B486-C7C5-7E60-D141-D0CDA38BE367}"/>
              </a:ext>
            </a:extLst>
          </p:cNvPr>
          <p:cNvSpPr>
            <a:spLocks noGrp="1" noChangeArrowheads="1"/>
          </p:cNvSpPr>
          <p:nvPr>
            <p:ph type="ctrTitle"/>
          </p:nvPr>
        </p:nvSpPr>
        <p:spPr>
          <a:xfrm>
            <a:off x="685800" y="2130425"/>
            <a:ext cx="7772400" cy="1470025"/>
          </a:xfrm>
        </p:spPr>
        <p:txBody>
          <a:bodyPr anchor="ctr"/>
          <a:lstStyle/>
          <a:p>
            <a:r>
              <a:rPr lang="zh-CN" altLang="en-US" sz="4400">
                <a:latin typeface="华文行楷" panose="02010800040101010101" pitchFamily="2" charset="-122"/>
                <a:ea typeface="华文行楷" panose="02010800040101010101" pitchFamily="2" charset="-122"/>
              </a:rPr>
              <a:t>第</a:t>
            </a:r>
            <a:r>
              <a:rPr lang="en-US" altLang="zh-CN" sz="4400">
                <a:latin typeface="华文行楷" panose="02010800040101010101" pitchFamily="2" charset="-122"/>
                <a:ea typeface="华文行楷" panose="02010800040101010101" pitchFamily="2" charset="-122"/>
              </a:rPr>
              <a:t>8</a:t>
            </a:r>
            <a:r>
              <a:rPr lang="zh-CN" altLang="en-US" sz="4400">
                <a:latin typeface="华文行楷" panose="02010800040101010101" pitchFamily="2" charset="-122"/>
                <a:ea typeface="华文行楷" panose="02010800040101010101" pitchFamily="2" charset="-122"/>
              </a:rPr>
              <a:t>讲  职权关系</a:t>
            </a:r>
          </a:p>
        </p:txBody>
      </p:sp>
      <p:sp>
        <p:nvSpPr>
          <p:cNvPr id="74757" name="Rectangle 5">
            <a:extLst>
              <a:ext uri="{FF2B5EF4-FFF2-40B4-BE49-F238E27FC236}">
                <a16:creationId xmlns:a16="http://schemas.microsoft.com/office/drawing/2014/main" id="{D02508F3-A7B4-0754-990B-35DE52494C14}"/>
              </a:ext>
            </a:extLst>
          </p:cNvPr>
          <p:cNvSpPr>
            <a:spLocks noGrp="1" noChangeArrowheads="1"/>
          </p:cNvSpPr>
          <p:nvPr>
            <p:ph type="subTitle" idx="1"/>
          </p:nvPr>
        </p:nvSpPr>
        <p:spPr>
          <a:xfrm>
            <a:off x="1371600" y="3886200"/>
            <a:ext cx="6400800" cy="1752600"/>
          </a:xfrm>
        </p:spPr>
        <p:txBody>
          <a:bodyPr/>
          <a:lstStyle/>
          <a:p>
            <a:r>
              <a:rPr lang="zh-CN" altLang="en-US" sz="3600">
                <a:latin typeface="华文行楷" panose="02010800040101010101" pitchFamily="2" charset="-122"/>
                <a:ea typeface="华文行楷" panose="02010800040101010101" pitchFamily="2" charset="-122"/>
              </a:rPr>
              <a:t>邵 冲</a:t>
            </a:r>
          </a:p>
          <a:p>
            <a:r>
              <a:rPr lang="zh-CN" altLang="en-US" sz="3600">
                <a:latin typeface="华文行楷" panose="02010800040101010101" pitchFamily="2" charset="-122"/>
                <a:ea typeface="华文行楷" panose="02010800040101010101" pitchFamily="2" charset="-122"/>
              </a:rPr>
              <a:t>中山大学管理学院</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ACA5025-2FD5-D4FE-CC5B-547BD8026DBA}"/>
              </a:ext>
            </a:extLst>
          </p:cNvPr>
          <p:cNvSpPr>
            <a:spLocks noGrp="1"/>
          </p:cNvSpPr>
          <p:nvPr>
            <p:ph type="dt" sz="half" idx="10"/>
          </p:nvPr>
        </p:nvSpPr>
        <p:spPr/>
        <p:txBody>
          <a:bodyPr/>
          <a:lstStyle/>
          <a:p>
            <a:r>
              <a:rPr lang="zh-CN" altLang="en-US"/>
              <a:t>版本：2004</a:t>
            </a:r>
            <a:endParaRPr lang="en-US" altLang="zh-CN"/>
          </a:p>
        </p:txBody>
      </p:sp>
      <p:sp>
        <p:nvSpPr>
          <p:cNvPr id="3" name="页脚占位符 2">
            <a:extLst>
              <a:ext uri="{FF2B5EF4-FFF2-40B4-BE49-F238E27FC236}">
                <a16:creationId xmlns:a16="http://schemas.microsoft.com/office/drawing/2014/main" id="{A5BC0602-3E4E-0424-B536-DCF909957239}"/>
              </a:ext>
            </a:extLst>
          </p:cNvPr>
          <p:cNvSpPr>
            <a:spLocks noGrp="1"/>
          </p:cNvSpPr>
          <p:nvPr>
            <p:ph type="ftr" sz="quarter" idx="11"/>
          </p:nvPr>
        </p:nvSpPr>
        <p:spPr/>
        <p:txBody>
          <a:bodyPr/>
          <a:lstStyle/>
          <a:p>
            <a:r>
              <a:rPr lang="en-US" altLang="zh-CN"/>
              <a:t>管理学</a:t>
            </a:r>
          </a:p>
        </p:txBody>
      </p:sp>
      <p:sp>
        <p:nvSpPr>
          <p:cNvPr id="4" name="灯片编号占位符 3">
            <a:extLst>
              <a:ext uri="{FF2B5EF4-FFF2-40B4-BE49-F238E27FC236}">
                <a16:creationId xmlns:a16="http://schemas.microsoft.com/office/drawing/2014/main" id="{F84B8D56-55AB-C886-0768-0FFE0D4FE62A}"/>
              </a:ext>
            </a:extLst>
          </p:cNvPr>
          <p:cNvSpPr>
            <a:spLocks noGrp="1"/>
          </p:cNvSpPr>
          <p:nvPr>
            <p:ph type="sldNum" sz="quarter" idx="12"/>
          </p:nvPr>
        </p:nvSpPr>
        <p:spPr/>
        <p:txBody>
          <a:bodyPr/>
          <a:lstStyle/>
          <a:p>
            <a:fld id="{8F984061-7F2F-41E1-8476-CE9EFE64FFD2}" type="slidenum">
              <a:rPr lang="en-US" altLang="zh-CN"/>
              <a:pPr/>
              <a:t>2</a:t>
            </a:fld>
            <a:endParaRPr lang="en-US" altLang="zh-CN"/>
          </a:p>
        </p:txBody>
      </p:sp>
      <p:sp>
        <p:nvSpPr>
          <p:cNvPr id="3076" name="Text Box 4">
            <a:extLst>
              <a:ext uri="{FF2B5EF4-FFF2-40B4-BE49-F238E27FC236}">
                <a16:creationId xmlns:a16="http://schemas.microsoft.com/office/drawing/2014/main" id="{75E94827-8B9B-5862-D390-01E6169C3B79}"/>
              </a:ext>
            </a:extLst>
          </p:cNvPr>
          <p:cNvSpPr txBox="1">
            <a:spLocks noChangeArrowheads="1"/>
          </p:cNvSpPr>
          <p:nvPr/>
        </p:nvSpPr>
        <p:spPr bwMode="auto">
          <a:xfrm>
            <a:off x="1403350" y="1196975"/>
            <a:ext cx="17287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a:solidFill>
                  <a:schemeClr val="tx2"/>
                </a:solidFill>
              </a:rPr>
              <a:t>学习内容</a:t>
            </a:r>
          </a:p>
        </p:txBody>
      </p:sp>
      <p:sp>
        <p:nvSpPr>
          <p:cNvPr id="3078" name="Rectangle 6">
            <a:extLst>
              <a:ext uri="{FF2B5EF4-FFF2-40B4-BE49-F238E27FC236}">
                <a16:creationId xmlns:a16="http://schemas.microsoft.com/office/drawing/2014/main" id="{D809C823-1A98-492A-A372-647392062B16}"/>
              </a:ext>
            </a:extLst>
          </p:cNvPr>
          <p:cNvSpPr>
            <a:spLocks noChangeArrowheads="1"/>
          </p:cNvSpPr>
          <p:nvPr/>
        </p:nvSpPr>
        <p:spPr bwMode="auto">
          <a:xfrm>
            <a:off x="3708400" y="1412875"/>
            <a:ext cx="1800225" cy="863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800"/>
              <a:t>1.</a:t>
            </a:r>
            <a:r>
              <a:rPr lang="zh-CN" altLang="en-US" sz="1800"/>
              <a:t>权力与职权</a:t>
            </a:r>
          </a:p>
        </p:txBody>
      </p:sp>
      <p:sp>
        <p:nvSpPr>
          <p:cNvPr id="3079" name="Rectangle 7">
            <a:extLst>
              <a:ext uri="{FF2B5EF4-FFF2-40B4-BE49-F238E27FC236}">
                <a16:creationId xmlns:a16="http://schemas.microsoft.com/office/drawing/2014/main" id="{4DEE644B-3E52-009B-C261-12B3EA5CD66C}"/>
              </a:ext>
            </a:extLst>
          </p:cNvPr>
          <p:cNvSpPr>
            <a:spLocks noChangeArrowheads="1"/>
          </p:cNvSpPr>
          <p:nvPr/>
        </p:nvSpPr>
        <p:spPr bwMode="auto">
          <a:xfrm>
            <a:off x="5580063" y="2852738"/>
            <a:ext cx="1800225" cy="863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a:t>3.</a:t>
            </a:r>
            <a:r>
              <a:rPr lang="zh-CN" altLang="en-US" sz="1600"/>
              <a:t>职权的集中</a:t>
            </a:r>
          </a:p>
          <a:p>
            <a:pPr algn="ctr"/>
            <a:r>
              <a:rPr lang="zh-CN" altLang="en-US" sz="1600"/>
              <a:t>与分散</a:t>
            </a:r>
          </a:p>
        </p:txBody>
      </p:sp>
      <p:sp>
        <p:nvSpPr>
          <p:cNvPr id="3080" name="Rectangle 8">
            <a:extLst>
              <a:ext uri="{FF2B5EF4-FFF2-40B4-BE49-F238E27FC236}">
                <a16:creationId xmlns:a16="http://schemas.microsoft.com/office/drawing/2014/main" id="{489C07BB-DF38-6E43-CAAC-B83545050E67}"/>
              </a:ext>
            </a:extLst>
          </p:cNvPr>
          <p:cNvSpPr>
            <a:spLocks noChangeArrowheads="1"/>
          </p:cNvSpPr>
          <p:nvPr/>
        </p:nvSpPr>
        <p:spPr bwMode="auto">
          <a:xfrm>
            <a:off x="1908175" y="2852738"/>
            <a:ext cx="1800225" cy="863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800"/>
              <a:t>2.</a:t>
            </a:r>
            <a:r>
              <a:rPr lang="zh-CN" altLang="en-US" sz="1800"/>
              <a:t>职权的类型</a:t>
            </a:r>
          </a:p>
        </p:txBody>
      </p:sp>
      <p:sp>
        <p:nvSpPr>
          <p:cNvPr id="3081" name="Rectangle 9">
            <a:extLst>
              <a:ext uri="{FF2B5EF4-FFF2-40B4-BE49-F238E27FC236}">
                <a16:creationId xmlns:a16="http://schemas.microsoft.com/office/drawing/2014/main" id="{882956EE-B829-C085-7235-1AC06B9F47D5}"/>
              </a:ext>
            </a:extLst>
          </p:cNvPr>
          <p:cNvSpPr>
            <a:spLocks noChangeArrowheads="1"/>
          </p:cNvSpPr>
          <p:nvPr/>
        </p:nvSpPr>
        <p:spPr bwMode="auto">
          <a:xfrm>
            <a:off x="3708400" y="4437063"/>
            <a:ext cx="1800225" cy="863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800"/>
              <a:t>4.</a:t>
            </a:r>
            <a:r>
              <a:rPr lang="zh-CN" altLang="en-US" sz="1800"/>
              <a:t>协调与配合</a:t>
            </a:r>
          </a:p>
        </p:txBody>
      </p:sp>
      <p:sp>
        <p:nvSpPr>
          <p:cNvPr id="3083" name="Line 11">
            <a:extLst>
              <a:ext uri="{FF2B5EF4-FFF2-40B4-BE49-F238E27FC236}">
                <a16:creationId xmlns:a16="http://schemas.microsoft.com/office/drawing/2014/main" id="{C1769FAD-0312-5853-55AC-D3FC1204ED0D}"/>
              </a:ext>
            </a:extLst>
          </p:cNvPr>
          <p:cNvSpPr>
            <a:spLocks noChangeShapeType="1"/>
          </p:cNvSpPr>
          <p:nvPr/>
        </p:nvSpPr>
        <p:spPr bwMode="auto">
          <a:xfrm>
            <a:off x="2771775" y="2565400"/>
            <a:ext cx="36718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84" name="Line 12">
            <a:extLst>
              <a:ext uri="{FF2B5EF4-FFF2-40B4-BE49-F238E27FC236}">
                <a16:creationId xmlns:a16="http://schemas.microsoft.com/office/drawing/2014/main" id="{AF2D693B-F467-D23B-DC3C-736E7070D90E}"/>
              </a:ext>
            </a:extLst>
          </p:cNvPr>
          <p:cNvSpPr>
            <a:spLocks noChangeShapeType="1"/>
          </p:cNvSpPr>
          <p:nvPr/>
        </p:nvSpPr>
        <p:spPr bwMode="auto">
          <a:xfrm>
            <a:off x="2771775" y="2565400"/>
            <a:ext cx="0" cy="2873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85" name="Line 13">
            <a:extLst>
              <a:ext uri="{FF2B5EF4-FFF2-40B4-BE49-F238E27FC236}">
                <a16:creationId xmlns:a16="http://schemas.microsoft.com/office/drawing/2014/main" id="{8C3BC331-7AE4-5E11-DA55-85EC2B68FCFB}"/>
              </a:ext>
            </a:extLst>
          </p:cNvPr>
          <p:cNvSpPr>
            <a:spLocks noChangeShapeType="1"/>
          </p:cNvSpPr>
          <p:nvPr/>
        </p:nvSpPr>
        <p:spPr bwMode="auto">
          <a:xfrm>
            <a:off x="6443663" y="2565400"/>
            <a:ext cx="0" cy="2873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86" name="Line 14">
            <a:extLst>
              <a:ext uri="{FF2B5EF4-FFF2-40B4-BE49-F238E27FC236}">
                <a16:creationId xmlns:a16="http://schemas.microsoft.com/office/drawing/2014/main" id="{43ED6B6D-6712-50E9-84B3-0BFD630FF637}"/>
              </a:ext>
            </a:extLst>
          </p:cNvPr>
          <p:cNvSpPr>
            <a:spLocks noChangeShapeType="1"/>
          </p:cNvSpPr>
          <p:nvPr/>
        </p:nvSpPr>
        <p:spPr bwMode="auto">
          <a:xfrm>
            <a:off x="4572000" y="2276475"/>
            <a:ext cx="0" cy="288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87" name="Line 15">
            <a:extLst>
              <a:ext uri="{FF2B5EF4-FFF2-40B4-BE49-F238E27FC236}">
                <a16:creationId xmlns:a16="http://schemas.microsoft.com/office/drawing/2014/main" id="{9AE083BD-378B-0621-DABB-D91DFE3BC10B}"/>
              </a:ext>
            </a:extLst>
          </p:cNvPr>
          <p:cNvSpPr>
            <a:spLocks noChangeShapeType="1"/>
          </p:cNvSpPr>
          <p:nvPr/>
        </p:nvSpPr>
        <p:spPr bwMode="auto">
          <a:xfrm>
            <a:off x="2771775" y="3716338"/>
            <a:ext cx="0" cy="3603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88" name="Line 16">
            <a:extLst>
              <a:ext uri="{FF2B5EF4-FFF2-40B4-BE49-F238E27FC236}">
                <a16:creationId xmlns:a16="http://schemas.microsoft.com/office/drawing/2014/main" id="{F9BB7A9E-E38D-C1E8-BFC9-20A6978F39B9}"/>
              </a:ext>
            </a:extLst>
          </p:cNvPr>
          <p:cNvSpPr>
            <a:spLocks noChangeShapeType="1"/>
          </p:cNvSpPr>
          <p:nvPr/>
        </p:nvSpPr>
        <p:spPr bwMode="auto">
          <a:xfrm>
            <a:off x="2771775" y="4076700"/>
            <a:ext cx="37449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89" name="Line 17">
            <a:extLst>
              <a:ext uri="{FF2B5EF4-FFF2-40B4-BE49-F238E27FC236}">
                <a16:creationId xmlns:a16="http://schemas.microsoft.com/office/drawing/2014/main" id="{1D4F59F2-87AF-7D93-1A04-315BB0ECA0CC}"/>
              </a:ext>
            </a:extLst>
          </p:cNvPr>
          <p:cNvSpPr>
            <a:spLocks noChangeShapeType="1"/>
          </p:cNvSpPr>
          <p:nvPr/>
        </p:nvSpPr>
        <p:spPr bwMode="auto">
          <a:xfrm>
            <a:off x="6516688" y="3716338"/>
            <a:ext cx="0" cy="3603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90" name="Line 18">
            <a:extLst>
              <a:ext uri="{FF2B5EF4-FFF2-40B4-BE49-F238E27FC236}">
                <a16:creationId xmlns:a16="http://schemas.microsoft.com/office/drawing/2014/main" id="{9CFECABC-085C-F152-294E-42EA50EE0F74}"/>
              </a:ext>
            </a:extLst>
          </p:cNvPr>
          <p:cNvSpPr>
            <a:spLocks noChangeShapeType="1"/>
          </p:cNvSpPr>
          <p:nvPr/>
        </p:nvSpPr>
        <p:spPr bwMode="auto">
          <a:xfrm>
            <a:off x="4643438" y="4076700"/>
            <a:ext cx="0" cy="3603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2">
            <a:extLst>
              <a:ext uri="{FF2B5EF4-FFF2-40B4-BE49-F238E27FC236}">
                <a16:creationId xmlns:a16="http://schemas.microsoft.com/office/drawing/2014/main" id="{C0BD5346-9B30-653F-214F-43117FBD2005}"/>
              </a:ext>
            </a:extLst>
          </p:cNvPr>
          <p:cNvSpPr>
            <a:spLocks noGrp="1"/>
          </p:cNvSpPr>
          <p:nvPr>
            <p:ph type="dt" sz="half" idx="10"/>
          </p:nvPr>
        </p:nvSpPr>
        <p:spPr/>
        <p:txBody>
          <a:bodyPr/>
          <a:lstStyle/>
          <a:p>
            <a:r>
              <a:rPr lang="zh-CN" altLang="en-US"/>
              <a:t>版本：2004</a:t>
            </a:r>
            <a:endParaRPr lang="en-US" altLang="zh-CN"/>
          </a:p>
        </p:txBody>
      </p:sp>
      <p:sp>
        <p:nvSpPr>
          <p:cNvPr id="3" name="页脚占位符 3">
            <a:extLst>
              <a:ext uri="{FF2B5EF4-FFF2-40B4-BE49-F238E27FC236}">
                <a16:creationId xmlns:a16="http://schemas.microsoft.com/office/drawing/2014/main" id="{E9B83132-5A2E-7275-4417-F204624DDBE1}"/>
              </a:ext>
            </a:extLst>
          </p:cNvPr>
          <p:cNvSpPr>
            <a:spLocks noGrp="1"/>
          </p:cNvSpPr>
          <p:nvPr>
            <p:ph type="ftr" sz="quarter" idx="11"/>
          </p:nvPr>
        </p:nvSpPr>
        <p:spPr/>
        <p:txBody>
          <a:bodyPr/>
          <a:lstStyle/>
          <a:p>
            <a:r>
              <a:rPr lang="en-US" altLang="zh-CN"/>
              <a:t>管理学</a:t>
            </a:r>
          </a:p>
        </p:txBody>
      </p:sp>
      <p:sp>
        <p:nvSpPr>
          <p:cNvPr id="4" name="灯片编号占位符 4">
            <a:extLst>
              <a:ext uri="{FF2B5EF4-FFF2-40B4-BE49-F238E27FC236}">
                <a16:creationId xmlns:a16="http://schemas.microsoft.com/office/drawing/2014/main" id="{0B5E44E5-4EBD-E85D-0009-25328B7895D4}"/>
              </a:ext>
            </a:extLst>
          </p:cNvPr>
          <p:cNvSpPr>
            <a:spLocks noGrp="1"/>
          </p:cNvSpPr>
          <p:nvPr>
            <p:ph type="sldNum" sz="quarter" idx="12"/>
          </p:nvPr>
        </p:nvSpPr>
        <p:spPr/>
        <p:txBody>
          <a:bodyPr/>
          <a:lstStyle/>
          <a:p>
            <a:fld id="{37964B96-33C5-4A8A-88EC-96FB21F131E7}" type="slidenum">
              <a:rPr lang="en-US" altLang="zh-CN"/>
              <a:pPr/>
              <a:t>3</a:t>
            </a:fld>
            <a:endParaRPr lang="en-US" altLang="zh-CN"/>
          </a:p>
        </p:txBody>
      </p:sp>
      <p:sp>
        <p:nvSpPr>
          <p:cNvPr id="83970" name="Rectangle 2">
            <a:extLst>
              <a:ext uri="{FF2B5EF4-FFF2-40B4-BE49-F238E27FC236}">
                <a16:creationId xmlns:a16="http://schemas.microsoft.com/office/drawing/2014/main" id="{592A3DF6-0412-35FC-21B1-8259D35B9393}"/>
              </a:ext>
            </a:extLst>
          </p:cNvPr>
          <p:cNvSpPr>
            <a:spLocks noChangeArrowheads="1"/>
          </p:cNvSpPr>
          <p:nvPr/>
        </p:nvSpPr>
        <p:spPr bwMode="auto">
          <a:xfrm>
            <a:off x="179388" y="188913"/>
            <a:ext cx="14827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en-US" altLang="zh-CN" sz="1600">
                <a:latin typeface="Arial" panose="020B0604020202020204" pitchFamily="34" charset="0"/>
              </a:rPr>
              <a:t>8.1</a:t>
            </a:r>
            <a:r>
              <a:rPr kumimoji="0" lang="zh-CN" altLang="en-US" sz="1600">
                <a:latin typeface="Arial" panose="020B0604020202020204" pitchFamily="34" charset="0"/>
              </a:rPr>
              <a:t>权力与职权</a:t>
            </a:r>
          </a:p>
        </p:txBody>
      </p:sp>
      <p:graphicFrame>
        <p:nvGraphicFramePr>
          <p:cNvPr id="84021" name="Group 53">
            <a:extLst>
              <a:ext uri="{FF2B5EF4-FFF2-40B4-BE49-F238E27FC236}">
                <a16:creationId xmlns:a16="http://schemas.microsoft.com/office/drawing/2014/main" id="{35312F0C-0387-1ADC-EED4-8358AF45B923}"/>
              </a:ext>
            </a:extLst>
          </p:cNvPr>
          <p:cNvGraphicFramePr>
            <a:graphicFrameLocks noGrp="1"/>
          </p:cNvGraphicFramePr>
          <p:nvPr>
            <p:ph/>
          </p:nvPr>
        </p:nvGraphicFramePr>
        <p:xfrm>
          <a:off x="468313" y="1268413"/>
          <a:ext cx="8229600" cy="4681537"/>
        </p:xfrm>
        <a:graphic>
          <a:graphicData uri="http://schemas.openxmlformats.org/drawingml/2006/table">
            <a:tbl>
              <a:tblPr/>
              <a:tblGrid>
                <a:gridCol w="1296987">
                  <a:extLst>
                    <a:ext uri="{9D8B030D-6E8A-4147-A177-3AD203B41FA5}">
                      <a16:colId xmlns:a16="http://schemas.microsoft.com/office/drawing/2014/main" val="1047454915"/>
                    </a:ext>
                  </a:extLst>
                </a:gridCol>
                <a:gridCol w="4175125">
                  <a:extLst>
                    <a:ext uri="{9D8B030D-6E8A-4147-A177-3AD203B41FA5}">
                      <a16:colId xmlns:a16="http://schemas.microsoft.com/office/drawing/2014/main" val="4132429186"/>
                    </a:ext>
                  </a:extLst>
                </a:gridCol>
                <a:gridCol w="2757488">
                  <a:extLst>
                    <a:ext uri="{9D8B030D-6E8A-4147-A177-3AD203B41FA5}">
                      <a16:colId xmlns:a16="http://schemas.microsoft.com/office/drawing/2014/main" val="2621827404"/>
                    </a:ext>
                  </a:extLst>
                </a:gridCol>
              </a:tblGrid>
              <a:tr h="36036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权力来源</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定义</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举例</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24053704"/>
                  </a:ext>
                </a:extLst>
              </a:tr>
              <a:tr h="52863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强制权</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建立在惧怕之上的权力，不服从上级的意志会导致惩罚。</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批评；撤职；降级使用；减薪；开除</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30971853"/>
                  </a:ext>
                </a:extLst>
              </a:tr>
              <a:tr h="52863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奖赏权</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建立在利益之上的权力，服从上级的意志会得到奖励和赏识。</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表扬；加薪；晋级；升迁；受重用</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2840949"/>
                  </a:ext>
                </a:extLst>
              </a:tr>
              <a:tr h="5302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法定权</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建立在职位自身之上。</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医生的处方权；教师的打分权；会计的记账权</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87306759"/>
                  </a:ext>
                </a:extLst>
              </a:tr>
              <a:tr h="52863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专长权</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建立在一个人掌握的专门知识或特殊技能之上。</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专家</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90955685"/>
                  </a:ext>
                </a:extLst>
              </a:tr>
              <a:tr h="52863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表率全</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建立在一个人对另一个人的认可上。</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影星；歌星；战斗英雄</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55550360"/>
                  </a:ext>
                </a:extLst>
              </a:tr>
              <a:tr h="5080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信息权</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建立在一个人掌握了其他人需要的重要信息之上。</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秘书；</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81675892"/>
                  </a:ext>
                </a:extLst>
              </a:tr>
              <a:tr h="588963">
                <a:tc gridSpan="3">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权力是指改变个人或团体行为的能力。某一个人或团体有能力影响另一个人或团体的行为，这种能力就是权力。</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610216260"/>
                  </a:ext>
                </a:extLst>
              </a:tr>
            </a:tbl>
          </a:graphicData>
        </a:graphic>
      </p:graphicFrame>
      <p:sp>
        <p:nvSpPr>
          <p:cNvPr id="84005" name="Text Box 37">
            <a:extLst>
              <a:ext uri="{FF2B5EF4-FFF2-40B4-BE49-F238E27FC236}">
                <a16:creationId xmlns:a16="http://schemas.microsoft.com/office/drawing/2014/main" id="{23D53204-C8A7-B496-8AA1-64D7294D416C}"/>
              </a:ext>
            </a:extLst>
          </p:cNvPr>
          <p:cNvSpPr txBox="1">
            <a:spLocks noChangeArrowheads="1"/>
          </p:cNvSpPr>
          <p:nvPr/>
        </p:nvSpPr>
        <p:spPr bwMode="auto">
          <a:xfrm>
            <a:off x="3995738" y="836613"/>
            <a:ext cx="136683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800">
                <a:latin typeface="Arial" panose="020B0604020202020204" pitchFamily="34" charset="0"/>
                <a:ea typeface="黑体" panose="02010609060101010101" pitchFamily="49" charset="-122"/>
              </a:rPr>
              <a:t>权力的来源</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2">
            <a:extLst>
              <a:ext uri="{FF2B5EF4-FFF2-40B4-BE49-F238E27FC236}">
                <a16:creationId xmlns:a16="http://schemas.microsoft.com/office/drawing/2014/main" id="{87691154-AE11-768D-2848-E844E74F1F32}"/>
              </a:ext>
            </a:extLst>
          </p:cNvPr>
          <p:cNvSpPr>
            <a:spLocks noGrp="1"/>
          </p:cNvSpPr>
          <p:nvPr>
            <p:ph type="dt" sz="half" idx="10"/>
          </p:nvPr>
        </p:nvSpPr>
        <p:spPr/>
        <p:txBody>
          <a:bodyPr/>
          <a:lstStyle/>
          <a:p>
            <a:r>
              <a:rPr lang="zh-CN" altLang="en-US"/>
              <a:t>版本：2004</a:t>
            </a:r>
            <a:endParaRPr lang="en-US" altLang="zh-CN"/>
          </a:p>
        </p:txBody>
      </p:sp>
      <p:sp>
        <p:nvSpPr>
          <p:cNvPr id="3" name="页脚占位符 3">
            <a:extLst>
              <a:ext uri="{FF2B5EF4-FFF2-40B4-BE49-F238E27FC236}">
                <a16:creationId xmlns:a16="http://schemas.microsoft.com/office/drawing/2014/main" id="{14DE3D27-CDC5-B4E8-855C-C642649EBBA3}"/>
              </a:ext>
            </a:extLst>
          </p:cNvPr>
          <p:cNvSpPr>
            <a:spLocks noGrp="1"/>
          </p:cNvSpPr>
          <p:nvPr>
            <p:ph type="ftr" sz="quarter" idx="11"/>
          </p:nvPr>
        </p:nvSpPr>
        <p:spPr/>
        <p:txBody>
          <a:bodyPr/>
          <a:lstStyle/>
          <a:p>
            <a:r>
              <a:rPr lang="en-US" altLang="zh-CN"/>
              <a:t>管理学</a:t>
            </a:r>
          </a:p>
        </p:txBody>
      </p:sp>
      <p:sp>
        <p:nvSpPr>
          <p:cNvPr id="4" name="灯片编号占位符 4">
            <a:extLst>
              <a:ext uri="{FF2B5EF4-FFF2-40B4-BE49-F238E27FC236}">
                <a16:creationId xmlns:a16="http://schemas.microsoft.com/office/drawing/2014/main" id="{6F2562AF-4192-81DE-8FD3-640D07BA5202}"/>
              </a:ext>
            </a:extLst>
          </p:cNvPr>
          <p:cNvSpPr>
            <a:spLocks noGrp="1"/>
          </p:cNvSpPr>
          <p:nvPr>
            <p:ph type="sldNum" sz="quarter" idx="12"/>
          </p:nvPr>
        </p:nvSpPr>
        <p:spPr/>
        <p:txBody>
          <a:bodyPr/>
          <a:lstStyle/>
          <a:p>
            <a:fld id="{77D95574-D481-47BF-B5CA-7FA7BAC0A158}" type="slidenum">
              <a:rPr lang="en-US" altLang="zh-CN"/>
              <a:pPr/>
              <a:t>4</a:t>
            </a:fld>
            <a:endParaRPr lang="en-US" altLang="zh-CN"/>
          </a:p>
        </p:txBody>
      </p:sp>
      <p:sp>
        <p:nvSpPr>
          <p:cNvPr id="84994" name="Rectangle 2">
            <a:extLst>
              <a:ext uri="{FF2B5EF4-FFF2-40B4-BE49-F238E27FC236}">
                <a16:creationId xmlns:a16="http://schemas.microsoft.com/office/drawing/2014/main" id="{8966B05B-2DA7-1295-C26F-6D33F18CDDEF}"/>
              </a:ext>
            </a:extLst>
          </p:cNvPr>
          <p:cNvSpPr>
            <a:spLocks noChangeArrowheads="1"/>
          </p:cNvSpPr>
          <p:nvPr/>
        </p:nvSpPr>
        <p:spPr bwMode="auto">
          <a:xfrm>
            <a:off x="900113" y="2349500"/>
            <a:ext cx="1152525" cy="50323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权力来源</a:t>
            </a:r>
          </a:p>
        </p:txBody>
      </p:sp>
      <p:sp>
        <p:nvSpPr>
          <p:cNvPr id="84995" name="Rectangle 3">
            <a:extLst>
              <a:ext uri="{FF2B5EF4-FFF2-40B4-BE49-F238E27FC236}">
                <a16:creationId xmlns:a16="http://schemas.microsoft.com/office/drawing/2014/main" id="{DCD60EE7-6857-AD55-C0B4-E77E21214B1C}"/>
              </a:ext>
            </a:extLst>
          </p:cNvPr>
          <p:cNvSpPr>
            <a:spLocks noChangeArrowheads="1"/>
          </p:cNvSpPr>
          <p:nvPr/>
        </p:nvSpPr>
        <p:spPr bwMode="auto">
          <a:xfrm>
            <a:off x="2555875" y="1412875"/>
            <a:ext cx="1152525" cy="50323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奖赏权</a:t>
            </a:r>
          </a:p>
        </p:txBody>
      </p:sp>
      <p:sp>
        <p:nvSpPr>
          <p:cNvPr id="84996" name="Rectangle 4">
            <a:extLst>
              <a:ext uri="{FF2B5EF4-FFF2-40B4-BE49-F238E27FC236}">
                <a16:creationId xmlns:a16="http://schemas.microsoft.com/office/drawing/2014/main" id="{779BE73E-5618-C821-A046-FE572663E1B4}"/>
              </a:ext>
            </a:extLst>
          </p:cNvPr>
          <p:cNvSpPr>
            <a:spLocks noChangeArrowheads="1"/>
          </p:cNvSpPr>
          <p:nvPr/>
        </p:nvSpPr>
        <p:spPr bwMode="auto">
          <a:xfrm>
            <a:off x="2555875" y="2708275"/>
            <a:ext cx="1152525" cy="50323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专长权</a:t>
            </a:r>
          </a:p>
        </p:txBody>
      </p:sp>
      <p:sp>
        <p:nvSpPr>
          <p:cNvPr id="84997" name="Rectangle 5">
            <a:extLst>
              <a:ext uri="{FF2B5EF4-FFF2-40B4-BE49-F238E27FC236}">
                <a16:creationId xmlns:a16="http://schemas.microsoft.com/office/drawing/2014/main" id="{78BC87E5-24FE-BC80-B540-98CD334E6036}"/>
              </a:ext>
            </a:extLst>
          </p:cNvPr>
          <p:cNvSpPr>
            <a:spLocks noChangeArrowheads="1"/>
          </p:cNvSpPr>
          <p:nvPr/>
        </p:nvSpPr>
        <p:spPr bwMode="auto">
          <a:xfrm>
            <a:off x="2555875" y="1989138"/>
            <a:ext cx="1152525" cy="50323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法定权</a:t>
            </a:r>
          </a:p>
        </p:txBody>
      </p:sp>
      <p:sp>
        <p:nvSpPr>
          <p:cNvPr id="84998" name="Rectangle 6">
            <a:extLst>
              <a:ext uri="{FF2B5EF4-FFF2-40B4-BE49-F238E27FC236}">
                <a16:creationId xmlns:a16="http://schemas.microsoft.com/office/drawing/2014/main" id="{BEB924E7-841F-E8DB-0F0E-95F247FEA7BE}"/>
              </a:ext>
            </a:extLst>
          </p:cNvPr>
          <p:cNvSpPr>
            <a:spLocks noChangeArrowheads="1"/>
          </p:cNvSpPr>
          <p:nvPr/>
        </p:nvSpPr>
        <p:spPr bwMode="auto">
          <a:xfrm>
            <a:off x="2555875" y="836613"/>
            <a:ext cx="1152525" cy="50323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强制权</a:t>
            </a:r>
          </a:p>
        </p:txBody>
      </p:sp>
      <p:sp>
        <p:nvSpPr>
          <p:cNvPr id="84999" name="Rectangle 7">
            <a:extLst>
              <a:ext uri="{FF2B5EF4-FFF2-40B4-BE49-F238E27FC236}">
                <a16:creationId xmlns:a16="http://schemas.microsoft.com/office/drawing/2014/main" id="{3203EFDE-3314-C16D-819D-7040DA7D8D57}"/>
              </a:ext>
            </a:extLst>
          </p:cNvPr>
          <p:cNvSpPr>
            <a:spLocks noChangeArrowheads="1"/>
          </p:cNvSpPr>
          <p:nvPr/>
        </p:nvSpPr>
        <p:spPr bwMode="auto">
          <a:xfrm>
            <a:off x="2555875" y="3284538"/>
            <a:ext cx="1152525" cy="50323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表率权</a:t>
            </a:r>
          </a:p>
        </p:txBody>
      </p:sp>
      <p:sp>
        <p:nvSpPr>
          <p:cNvPr id="85000" name="Rectangle 8">
            <a:extLst>
              <a:ext uri="{FF2B5EF4-FFF2-40B4-BE49-F238E27FC236}">
                <a16:creationId xmlns:a16="http://schemas.microsoft.com/office/drawing/2014/main" id="{9C802D1A-3458-8B84-DA49-D1C3E0891085}"/>
              </a:ext>
            </a:extLst>
          </p:cNvPr>
          <p:cNvSpPr>
            <a:spLocks noChangeArrowheads="1"/>
          </p:cNvSpPr>
          <p:nvPr/>
        </p:nvSpPr>
        <p:spPr bwMode="auto">
          <a:xfrm>
            <a:off x="2555875" y="3860800"/>
            <a:ext cx="1152525" cy="50323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信息权</a:t>
            </a:r>
          </a:p>
        </p:txBody>
      </p:sp>
      <p:sp>
        <p:nvSpPr>
          <p:cNvPr id="85001" name="Line 9">
            <a:extLst>
              <a:ext uri="{FF2B5EF4-FFF2-40B4-BE49-F238E27FC236}">
                <a16:creationId xmlns:a16="http://schemas.microsoft.com/office/drawing/2014/main" id="{7E2C34BE-F19B-53B4-D8EC-E65D5CC82913}"/>
              </a:ext>
            </a:extLst>
          </p:cNvPr>
          <p:cNvSpPr>
            <a:spLocks noChangeShapeType="1"/>
          </p:cNvSpPr>
          <p:nvPr/>
        </p:nvSpPr>
        <p:spPr bwMode="auto">
          <a:xfrm>
            <a:off x="2339975" y="1125538"/>
            <a:ext cx="0" cy="29511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02" name="Line 10">
            <a:extLst>
              <a:ext uri="{FF2B5EF4-FFF2-40B4-BE49-F238E27FC236}">
                <a16:creationId xmlns:a16="http://schemas.microsoft.com/office/drawing/2014/main" id="{1B16FD04-57D2-EA74-0279-5608E92461A9}"/>
              </a:ext>
            </a:extLst>
          </p:cNvPr>
          <p:cNvSpPr>
            <a:spLocks noChangeShapeType="1"/>
          </p:cNvSpPr>
          <p:nvPr/>
        </p:nvSpPr>
        <p:spPr bwMode="auto">
          <a:xfrm>
            <a:off x="2339975" y="1125538"/>
            <a:ext cx="2159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03" name="Line 11">
            <a:extLst>
              <a:ext uri="{FF2B5EF4-FFF2-40B4-BE49-F238E27FC236}">
                <a16:creationId xmlns:a16="http://schemas.microsoft.com/office/drawing/2014/main" id="{1372FF4C-6F32-C2EF-5FBD-1466D7EB7C97}"/>
              </a:ext>
            </a:extLst>
          </p:cNvPr>
          <p:cNvSpPr>
            <a:spLocks noChangeShapeType="1"/>
          </p:cNvSpPr>
          <p:nvPr/>
        </p:nvSpPr>
        <p:spPr bwMode="auto">
          <a:xfrm>
            <a:off x="2339975" y="1700213"/>
            <a:ext cx="2159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04" name="Line 12">
            <a:extLst>
              <a:ext uri="{FF2B5EF4-FFF2-40B4-BE49-F238E27FC236}">
                <a16:creationId xmlns:a16="http://schemas.microsoft.com/office/drawing/2014/main" id="{71B3F762-037C-EEB4-323A-5F15EB52C4F3}"/>
              </a:ext>
            </a:extLst>
          </p:cNvPr>
          <p:cNvSpPr>
            <a:spLocks noChangeShapeType="1"/>
          </p:cNvSpPr>
          <p:nvPr/>
        </p:nvSpPr>
        <p:spPr bwMode="auto">
          <a:xfrm>
            <a:off x="2339975" y="2349500"/>
            <a:ext cx="2159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05" name="Line 13">
            <a:extLst>
              <a:ext uri="{FF2B5EF4-FFF2-40B4-BE49-F238E27FC236}">
                <a16:creationId xmlns:a16="http://schemas.microsoft.com/office/drawing/2014/main" id="{0FCE85A5-531E-ACB6-ACC5-B2756C92A2A5}"/>
              </a:ext>
            </a:extLst>
          </p:cNvPr>
          <p:cNvSpPr>
            <a:spLocks noChangeShapeType="1"/>
          </p:cNvSpPr>
          <p:nvPr/>
        </p:nvSpPr>
        <p:spPr bwMode="auto">
          <a:xfrm>
            <a:off x="2339975" y="2924175"/>
            <a:ext cx="2159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06" name="Line 14">
            <a:extLst>
              <a:ext uri="{FF2B5EF4-FFF2-40B4-BE49-F238E27FC236}">
                <a16:creationId xmlns:a16="http://schemas.microsoft.com/office/drawing/2014/main" id="{24D38778-962A-305A-F032-2876FEE5C556}"/>
              </a:ext>
            </a:extLst>
          </p:cNvPr>
          <p:cNvSpPr>
            <a:spLocks noChangeShapeType="1"/>
          </p:cNvSpPr>
          <p:nvPr/>
        </p:nvSpPr>
        <p:spPr bwMode="auto">
          <a:xfrm>
            <a:off x="2339975" y="3500438"/>
            <a:ext cx="2159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07" name="Line 15">
            <a:extLst>
              <a:ext uri="{FF2B5EF4-FFF2-40B4-BE49-F238E27FC236}">
                <a16:creationId xmlns:a16="http://schemas.microsoft.com/office/drawing/2014/main" id="{AF4B38AA-9AC3-77D7-3343-2BAB99F85469}"/>
              </a:ext>
            </a:extLst>
          </p:cNvPr>
          <p:cNvSpPr>
            <a:spLocks noChangeShapeType="1"/>
          </p:cNvSpPr>
          <p:nvPr/>
        </p:nvSpPr>
        <p:spPr bwMode="auto">
          <a:xfrm>
            <a:off x="2339975" y="4076700"/>
            <a:ext cx="2159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08" name="Line 16">
            <a:extLst>
              <a:ext uri="{FF2B5EF4-FFF2-40B4-BE49-F238E27FC236}">
                <a16:creationId xmlns:a16="http://schemas.microsoft.com/office/drawing/2014/main" id="{03D23007-9B44-EB6E-AFA4-63995CB69C95}"/>
              </a:ext>
            </a:extLst>
          </p:cNvPr>
          <p:cNvSpPr>
            <a:spLocks noChangeShapeType="1"/>
          </p:cNvSpPr>
          <p:nvPr/>
        </p:nvSpPr>
        <p:spPr bwMode="auto">
          <a:xfrm>
            <a:off x="2051050" y="2565400"/>
            <a:ext cx="2889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09" name="AutoShape 17">
            <a:extLst>
              <a:ext uri="{FF2B5EF4-FFF2-40B4-BE49-F238E27FC236}">
                <a16:creationId xmlns:a16="http://schemas.microsoft.com/office/drawing/2014/main" id="{AD2B54D5-1C59-F485-E834-913908F3BD03}"/>
              </a:ext>
            </a:extLst>
          </p:cNvPr>
          <p:cNvSpPr>
            <a:spLocks/>
          </p:cNvSpPr>
          <p:nvPr/>
        </p:nvSpPr>
        <p:spPr bwMode="auto">
          <a:xfrm>
            <a:off x="3924300" y="1052513"/>
            <a:ext cx="142875" cy="1296987"/>
          </a:xfrm>
          <a:prstGeom prst="rightBracket">
            <a:avLst>
              <a:gd name="adj" fmla="val 75648"/>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10" name="AutoShape 18">
            <a:extLst>
              <a:ext uri="{FF2B5EF4-FFF2-40B4-BE49-F238E27FC236}">
                <a16:creationId xmlns:a16="http://schemas.microsoft.com/office/drawing/2014/main" id="{8FED0F9D-3A23-EC1F-5D58-32F381C7AC88}"/>
              </a:ext>
            </a:extLst>
          </p:cNvPr>
          <p:cNvSpPr>
            <a:spLocks/>
          </p:cNvSpPr>
          <p:nvPr/>
        </p:nvSpPr>
        <p:spPr bwMode="auto">
          <a:xfrm>
            <a:off x="3924300" y="2781300"/>
            <a:ext cx="142875" cy="1368425"/>
          </a:xfrm>
          <a:prstGeom prst="rightBracket">
            <a:avLst>
              <a:gd name="adj" fmla="val 79815"/>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11" name="Line 19">
            <a:extLst>
              <a:ext uri="{FF2B5EF4-FFF2-40B4-BE49-F238E27FC236}">
                <a16:creationId xmlns:a16="http://schemas.microsoft.com/office/drawing/2014/main" id="{247B0A99-8F15-7963-88E8-550FF1394D70}"/>
              </a:ext>
            </a:extLst>
          </p:cNvPr>
          <p:cNvSpPr>
            <a:spLocks noChangeShapeType="1"/>
          </p:cNvSpPr>
          <p:nvPr/>
        </p:nvSpPr>
        <p:spPr bwMode="auto">
          <a:xfrm flipH="1">
            <a:off x="2339975" y="2565400"/>
            <a:ext cx="5256213" cy="0"/>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12" name="Text Box 20">
            <a:extLst>
              <a:ext uri="{FF2B5EF4-FFF2-40B4-BE49-F238E27FC236}">
                <a16:creationId xmlns:a16="http://schemas.microsoft.com/office/drawing/2014/main" id="{1C39575D-BCBF-DA88-91D2-BF31FCB0F34E}"/>
              </a:ext>
            </a:extLst>
          </p:cNvPr>
          <p:cNvSpPr txBox="1">
            <a:spLocks noChangeArrowheads="1"/>
          </p:cNvSpPr>
          <p:nvPr/>
        </p:nvSpPr>
        <p:spPr bwMode="auto">
          <a:xfrm>
            <a:off x="4067175" y="1484313"/>
            <a:ext cx="1441450" cy="655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
              </a:spcBef>
            </a:pPr>
            <a:r>
              <a:rPr kumimoji="0" lang="zh-CN" altLang="en-US" sz="1800">
                <a:latin typeface="Arial" panose="020B0604020202020204" pitchFamily="34" charset="0"/>
              </a:rPr>
              <a:t>正式的权力</a:t>
            </a:r>
          </a:p>
          <a:p>
            <a:pPr>
              <a:spcBef>
                <a:spcPct val="5000"/>
              </a:spcBef>
            </a:pPr>
            <a:r>
              <a:rPr kumimoji="0" lang="zh-CN" altLang="en-US" sz="1800">
                <a:latin typeface="Arial" panose="020B0604020202020204" pitchFamily="34" charset="0"/>
              </a:rPr>
              <a:t>（职权）</a:t>
            </a:r>
          </a:p>
        </p:txBody>
      </p:sp>
      <p:sp>
        <p:nvSpPr>
          <p:cNvPr id="85013" name="Text Box 21">
            <a:extLst>
              <a:ext uri="{FF2B5EF4-FFF2-40B4-BE49-F238E27FC236}">
                <a16:creationId xmlns:a16="http://schemas.microsoft.com/office/drawing/2014/main" id="{543817A8-334F-2D44-3385-1B45F392DFD4}"/>
              </a:ext>
            </a:extLst>
          </p:cNvPr>
          <p:cNvSpPr txBox="1">
            <a:spLocks noChangeArrowheads="1"/>
          </p:cNvSpPr>
          <p:nvPr/>
        </p:nvSpPr>
        <p:spPr bwMode="auto">
          <a:xfrm>
            <a:off x="4067175" y="3068638"/>
            <a:ext cx="1800225" cy="655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
              </a:spcBef>
            </a:pPr>
            <a:r>
              <a:rPr kumimoji="0" lang="zh-CN" altLang="en-US" sz="1800">
                <a:latin typeface="Arial" panose="020B0604020202020204" pitchFamily="34" charset="0"/>
              </a:rPr>
              <a:t>非正式的权力</a:t>
            </a:r>
          </a:p>
          <a:p>
            <a:pPr>
              <a:spcBef>
                <a:spcPct val="5000"/>
              </a:spcBef>
            </a:pPr>
            <a:r>
              <a:rPr kumimoji="0" lang="zh-CN" altLang="en-US" sz="1800">
                <a:latin typeface="Arial" panose="020B0604020202020204" pitchFamily="34" charset="0"/>
              </a:rPr>
              <a:t>（个人影响力）</a:t>
            </a:r>
          </a:p>
        </p:txBody>
      </p:sp>
      <p:sp>
        <p:nvSpPr>
          <p:cNvPr id="85014" name="Text Box 22">
            <a:extLst>
              <a:ext uri="{FF2B5EF4-FFF2-40B4-BE49-F238E27FC236}">
                <a16:creationId xmlns:a16="http://schemas.microsoft.com/office/drawing/2014/main" id="{661CF558-AE70-09B6-E5BF-80C46B1579F4}"/>
              </a:ext>
            </a:extLst>
          </p:cNvPr>
          <p:cNvSpPr txBox="1">
            <a:spLocks noChangeArrowheads="1"/>
          </p:cNvSpPr>
          <p:nvPr/>
        </p:nvSpPr>
        <p:spPr bwMode="auto">
          <a:xfrm>
            <a:off x="6300788" y="1557338"/>
            <a:ext cx="14398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800">
                <a:latin typeface="Arial" panose="020B0604020202020204" pitchFamily="34" charset="0"/>
              </a:rPr>
              <a:t>管理的基础</a:t>
            </a:r>
          </a:p>
        </p:txBody>
      </p:sp>
      <p:sp>
        <p:nvSpPr>
          <p:cNvPr id="85015" name="Text Box 23">
            <a:extLst>
              <a:ext uri="{FF2B5EF4-FFF2-40B4-BE49-F238E27FC236}">
                <a16:creationId xmlns:a16="http://schemas.microsoft.com/office/drawing/2014/main" id="{6119B011-D249-34C6-48BF-DCFA7B24BCF6}"/>
              </a:ext>
            </a:extLst>
          </p:cNvPr>
          <p:cNvSpPr txBox="1">
            <a:spLocks noChangeArrowheads="1"/>
          </p:cNvSpPr>
          <p:nvPr/>
        </p:nvSpPr>
        <p:spPr bwMode="auto">
          <a:xfrm>
            <a:off x="6300788" y="3213100"/>
            <a:ext cx="14398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800">
                <a:latin typeface="Arial" panose="020B0604020202020204" pitchFamily="34" charset="0"/>
              </a:rPr>
              <a:t>领导的基础</a:t>
            </a:r>
          </a:p>
        </p:txBody>
      </p:sp>
      <p:sp>
        <p:nvSpPr>
          <p:cNvPr id="85016" name="Line 24">
            <a:extLst>
              <a:ext uri="{FF2B5EF4-FFF2-40B4-BE49-F238E27FC236}">
                <a16:creationId xmlns:a16="http://schemas.microsoft.com/office/drawing/2014/main" id="{281A8AB8-1F3E-F15D-C15F-E5BEE2852954}"/>
              </a:ext>
            </a:extLst>
          </p:cNvPr>
          <p:cNvSpPr>
            <a:spLocks noChangeShapeType="1"/>
          </p:cNvSpPr>
          <p:nvPr/>
        </p:nvSpPr>
        <p:spPr bwMode="auto">
          <a:xfrm>
            <a:off x="5580063" y="1700213"/>
            <a:ext cx="7207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17" name="Line 25">
            <a:extLst>
              <a:ext uri="{FF2B5EF4-FFF2-40B4-BE49-F238E27FC236}">
                <a16:creationId xmlns:a16="http://schemas.microsoft.com/office/drawing/2014/main" id="{03A85B14-BBFE-992B-98A4-F7F8DFFB5FE1}"/>
              </a:ext>
            </a:extLst>
          </p:cNvPr>
          <p:cNvSpPr>
            <a:spLocks noChangeShapeType="1"/>
          </p:cNvSpPr>
          <p:nvPr/>
        </p:nvSpPr>
        <p:spPr bwMode="auto">
          <a:xfrm>
            <a:off x="5724525" y="3357563"/>
            <a:ext cx="57626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18" name="Line 26">
            <a:extLst>
              <a:ext uri="{FF2B5EF4-FFF2-40B4-BE49-F238E27FC236}">
                <a16:creationId xmlns:a16="http://schemas.microsoft.com/office/drawing/2014/main" id="{48B4080E-C803-C208-C90A-863AF8A41EBA}"/>
              </a:ext>
            </a:extLst>
          </p:cNvPr>
          <p:cNvSpPr>
            <a:spLocks noChangeShapeType="1"/>
          </p:cNvSpPr>
          <p:nvPr/>
        </p:nvSpPr>
        <p:spPr bwMode="auto">
          <a:xfrm>
            <a:off x="6300788" y="836613"/>
            <a:ext cx="0" cy="3529012"/>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22" name="Text Box 30">
            <a:extLst>
              <a:ext uri="{FF2B5EF4-FFF2-40B4-BE49-F238E27FC236}">
                <a16:creationId xmlns:a16="http://schemas.microsoft.com/office/drawing/2014/main" id="{3FC0323F-2A1A-A903-62C0-1035AEB00630}"/>
              </a:ext>
            </a:extLst>
          </p:cNvPr>
          <p:cNvSpPr txBox="1">
            <a:spLocks noChangeArrowheads="1"/>
          </p:cNvSpPr>
          <p:nvPr/>
        </p:nvSpPr>
        <p:spPr bwMode="auto">
          <a:xfrm>
            <a:off x="7092950" y="6021388"/>
            <a:ext cx="16557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a:latin typeface="Arial" panose="020B0604020202020204" pitchFamily="34" charset="0"/>
              </a:rPr>
              <a:t>来自下级的接受</a:t>
            </a:r>
          </a:p>
        </p:txBody>
      </p:sp>
      <p:sp>
        <p:nvSpPr>
          <p:cNvPr id="85033" name="Rectangle 41">
            <a:extLst>
              <a:ext uri="{FF2B5EF4-FFF2-40B4-BE49-F238E27FC236}">
                <a16:creationId xmlns:a16="http://schemas.microsoft.com/office/drawing/2014/main" id="{0B5FCCBE-62EF-AA05-CF8F-1F3E0B98FF9C}"/>
              </a:ext>
            </a:extLst>
          </p:cNvPr>
          <p:cNvSpPr>
            <a:spLocks noChangeArrowheads="1"/>
          </p:cNvSpPr>
          <p:nvPr/>
        </p:nvSpPr>
        <p:spPr bwMode="auto">
          <a:xfrm>
            <a:off x="179388" y="188913"/>
            <a:ext cx="14827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en-US" altLang="zh-CN" sz="1600">
                <a:latin typeface="Arial" panose="020B0604020202020204" pitchFamily="34" charset="0"/>
              </a:rPr>
              <a:t>8.1</a:t>
            </a:r>
            <a:r>
              <a:rPr kumimoji="0" lang="zh-CN" altLang="en-US" sz="1600">
                <a:latin typeface="Arial" panose="020B0604020202020204" pitchFamily="34" charset="0"/>
              </a:rPr>
              <a:t>权力与职权</a:t>
            </a:r>
          </a:p>
        </p:txBody>
      </p:sp>
      <p:graphicFrame>
        <p:nvGraphicFramePr>
          <p:cNvPr id="85053" name="Group 61">
            <a:extLst>
              <a:ext uri="{FF2B5EF4-FFF2-40B4-BE49-F238E27FC236}">
                <a16:creationId xmlns:a16="http://schemas.microsoft.com/office/drawing/2014/main" id="{BBB345FB-71DF-D95D-D4E8-F0877C5E25B7}"/>
              </a:ext>
            </a:extLst>
          </p:cNvPr>
          <p:cNvGraphicFramePr>
            <a:graphicFrameLocks noGrp="1"/>
          </p:cNvGraphicFramePr>
          <p:nvPr>
            <p:ph/>
          </p:nvPr>
        </p:nvGraphicFramePr>
        <p:xfrm>
          <a:off x="685800" y="4581525"/>
          <a:ext cx="7772400" cy="935038"/>
        </p:xfrm>
        <a:graphic>
          <a:graphicData uri="http://schemas.openxmlformats.org/drawingml/2006/table">
            <a:tbl>
              <a:tblPr/>
              <a:tblGrid>
                <a:gridCol w="7772400">
                  <a:extLst>
                    <a:ext uri="{9D8B030D-6E8A-4147-A177-3AD203B41FA5}">
                      <a16:colId xmlns:a16="http://schemas.microsoft.com/office/drawing/2014/main" val="3403513995"/>
                    </a:ext>
                  </a:extLst>
                </a:gridCol>
              </a:tblGrid>
              <a:tr h="93503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什么是职权？职权是指以正式职位和对奖惩的控制为基础的、要求下级服从的权力，是人们凭借较高的地位而拥有的权力。职权同处在这一地位的具体的人无关。地位并不是权力的惟一来源。</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22991702"/>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6B86707-BC88-64AF-575B-C02C072D4668}"/>
              </a:ext>
            </a:extLst>
          </p:cNvPr>
          <p:cNvSpPr>
            <a:spLocks noGrp="1"/>
          </p:cNvSpPr>
          <p:nvPr>
            <p:ph type="dt" sz="half" idx="10"/>
          </p:nvPr>
        </p:nvSpPr>
        <p:spPr/>
        <p:txBody>
          <a:bodyPr/>
          <a:lstStyle/>
          <a:p>
            <a:r>
              <a:rPr lang="zh-CN" altLang="en-US"/>
              <a:t>版本：2004</a:t>
            </a:r>
            <a:endParaRPr lang="en-US" altLang="zh-CN"/>
          </a:p>
        </p:txBody>
      </p:sp>
      <p:sp>
        <p:nvSpPr>
          <p:cNvPr id="3" name="页脚占位符 2">
            <a:extLst>
              <a:ext uri="{FF2B5EF4-FFF2-40B4-BE49-F238E27FC236}">
                <a16:creationId xmlns:a16="http://schemas.microsoft.com/office/drawing/2014/main" id="{5175FA0A-38D8-6B77-E32A-BF47243C8803}"/>
              </a:ext>
            </a:extLst>
          </p:cNvPr>
          <p:cNvSpPr>
            <a:spLocks noGrp="1"/>
          </p:cNvSpPr>
          <p:nvPr>
            <p:ph type="ftr" sz="quarter" idx="11"/>
          </p:nvPr>
        </p:nvSpPr>
        <p:spPr/>
        <p:txBody>
          <a:bodyPr/>
          <a:lstStyle/>
          <a:p>
            <a:r>
              <a:rPr lang="en-US" altLang="zh-CN"/>
              <a:t>管理学</a:t>
            </a:r>
          </a:p>
        </p:txBody>
      </p:sp>
      <p:sp>
        <p:nvSpPr>
          <p:cNvPr id="4" name="灯片编号占位符 3">
            <a:extLst>
              <a:ext uri="{FF2B5EF4-FFF2-40B4-BE49-F238E27FC236}">
                <a16:creationId xmlns:a16="http://schemas.microsoft.com/office/drawing/2014/main" id="{88F37BFF-89A0-8B66-E005-939E751D2CA5}"/>
              </a:ext>
            </a:extLst>
          </p:cNvPr>
          <p:cNvSpPr>
            <a:spLocks noGrp="1"/>
          </p:cNvSpPr>
          <p:nvPr>
            <p:ph type="sldNum" sz="quarter" idx="12"/>
          </p:nvPr>
        </p:nvSpPr>
        <p:spPr/>
        <p:txBody>
          <a:bodyPr/>
          <a:lstStyle/>
          <a:p>
            <a:fld id="{4A24064D-DE0A-477A-A4DD-03E423F12E38}" type="slidenum">
              <a:rPr lang="en-US" altLang="zh-CN"/>
              <a:pPr/>
              <a:t>5</a:t>
            </a:fld>
            <a:endParaRPr lang="en-US" altLang="zh-CN"/>
          </a:p>
        </p:txBody>
      </p:sp>
      <p:sp>
        <p:nvSpPr>
          <p:cNvPr id="95236" name="Line 4">
            <a:extLst>
              <a:ext uri="{FF2B5EF4-FFF2-40B4-BE49-F238E27FC236}">
                <a16:creationId xmlns:a16="http://schemas.microsoft.com/office/drawing/2014/main" id="{81450897-362E-F683-91E9-197E50785194}"/>
              </a:ext>
            </a:extLst>
          </p:cNvPr>
          <p:cNvSpPr>
            <a:spLocks noChangeShapeType="1"/>
          </p:cNvSpPr>
          <p:nvPr/>
        </p:nvSpPr>
        <p:spPr bwMode="auto">
          <a:xfrm>
            <a:off x="1476375" y="1773238"/>
            <a:ext cx="0" cy="237648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5237" name="Text Box 5">
            <a:extLst>
              <a:ext uri="{FF2B5EF4-FFF2-40B4-BE49-F238E27FC236}">
                <a16:creationId xmlns:a16="http://schemas.microsoft.com/office/drawing/2014/main" id="{7191F126-E829-4120-C64A-28CAFA764B48}"/>
              </a:ext>
            </a:extLst>
          </p:cNvPr>
          <p:cNvSpPr txBox="1">
            <a:spLocks noChangeArrowheads="1"/>
          </p:cNvSpPr>
          <p:nvPr/>
        </p:nvSpPr>
        <p:spPr bwMode="auto">
          <a:xfrm>
            <a:off x="684213" y="1125538"/>
            <a:ext cx="1655762" cy="60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10000"/>
              </a:spcBef>
            </a:pPr>
            <a:r>
              <a:rPr kumimoji="0" lang="zh-CN" altLang="en-US" sz="1600">
                <a:latin typeface="Arial" panose="020B0604020202020204" pitchFamily="34" charset="0"/>
              </a:rPr>
              <a:t>上级授予说</a:t>
            </a:r>
          </a:p>
          <a:p>
            <a:pPr algn="ctr">
              <a:spcBef>
                <a:spcPct val="10000"/>
              </a:spcBef>
            </a:pPr>
            <a:r>
              <a:rPr kumimoji="0" lang="zh-CN" altLang="en-US" sz="1600">
                <a:latin typeface="Arial" panose="020B0604020202020204" pitchFamily="34" charset="0"/>
              </a:rPr>
              <a:t>来自上级的授权</a:t>
            </a:r>
          </a:p>
        </p:txBody>
      </p:sp>
      <p:sp>
        <p:nvSpPr>
          <p:cNvPr id="95238" name="Line 6">
            <a:extLst>
              <a:ext uri="{FF2B5EF4-FFF2-40B4-BE49-F238E27FC236}">
                <a16:creationId xmlns:a16="http://schemas.microsoft.com/office/drawing/2014/main" id="{B7156A9C-D0E1-039D-12F0-9F426DCFCA47}"/>
              </a:ext>
            </a:extLst>
          </p:cNvPr>
          <p:cNvSpPr>
            <a:spLocks noChangeShapeType="1"/>
          </p:cNvSpPr>
          <p:nvPr/>
        </p:nvSpPr>
        <p:spPr bwMode="auto">
          <a:xfrm flipV="1">
            <a:off x="8027988" y="1484313"/>
            <a:ext cx="0" cy="22320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5239" name="Rectangle 7">
            <a:extLst>
              <a:ext uri="{FF2B5EF4-FFF2-40B4-BE49-F238E27FC236}">
                <a16:creationId xmlns:a16="http://schemas.microsoft.com/office/drawing/2014/main" id="{CEDFD13F-9C8F-A591-5FE3-F3DDC087EEEE}"/>
              </a:ext>
            </a:extLst>
          </p:cNvPr>
          <p:cNvSpPr>
            <a:spLocks noChangeArrowheads="1"/>
          </p:cNvSpPr>
          <p:nvPr/>
        </p:nvSpPr>
        <p:spPr bwMode="auto">
          <a:xfrm>
            <a:off x="3924300" y="2565400"/>
            <a:ext cx="1368425"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经理的权力</a:t>
            </a:r>
          </a:p>
        </p:txBody>
      </p:sp>
      <p:sp>
        <p:nvSpPr>
          <p:cNvPr id="95240" name="Rectangle 8">
            <a:extLst>
              <a:ext uri="{FF2B5EF4-FFF2-40B4-BE49-F238E27FC236}">
                <a16:creationId xmlns:a16="http://schemas.microsoft.com/office/drawing/2014/main" id="{FF4C1583-0B37-E8F1-2B81-6BF44E9C7095}"/>
              </a:ext>
            </a:extLst>
          </p:cNvPr>
          <p:cNvSpPr>
            <a:spLocks noChangeArrowheads="1"/>
          </p:cNvSpPr>
          <p:nvPr/>
        </p:nvSpPr>
        <p:spPr bwMode="auto">
          <a:xfrm>
            <a:off x="3924300" y="1412875"/>
            <a:ext cx="1368425"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上级的权力</a:t>
            </a:r>
          </a:p>
        </p:txBody>
      </p:sp>
      <p:sp>
        <p:nvSpPr>
          <p:cNvPr id="95241" name="Rectangle 9">
            <a:extLst>
              <a:ext uri="{FF2B5EF4-FFF2-40B4-BE49-F238E27FC236}">
                <a16:creationId xmlns:a16="http://schemas.microsoft.com/office/drawing/2014/main" id="{AC305302-EAD6-6A39-CFDB-273F04677B58}"/>
              </a:ext>
            </a:extLst>
          </p:cNvPr>
          <p:cNvSpPr>
            <a:spLocks noChangeArrowheads="1"/>
          </p:cNvSpPr>
          <p:nvPr/>
        </p:nvSpPr>
        <p:spPr bwMode="auto">
          <a:xfrm>
            <a:off x="6084888" y="2565400"/>
            <a:ext cx="1368425"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交叉的权力</a:t>
            </a:r>
          </a:p>
        </p:txBody>
      </p:sp>
      <p:sp>
        <p:nvSpPr>
          <p:cNvPr id="95242" name="Rectangle 10">
            <a:extLst>
              <a:ext uri="{FF2B5EF4-FFF2-40B4-BE49-F238E27FC236}">
                <a16:creationId xmlns:a16="http://schemas.microsoft.com/office/drawing/2014/main" id="{2DEDD836-29CF-7873-D721-3AA0C005600E}"/>
              </a:ext>
            </a:extLst>
          </p:cNvPr>
          <p:cNvSpPr>
            <a:spLocks noChangeArrowheads="1"/>
          </p:cNvSpPr>
          <p:nvPr/>
        </p:nvSpPr>
        <p:spPr bwMode="auto">
          <a:xfrm>
            <a:off x="1836738" y="2565400"/>
            <a:ext cx="1368425"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交叉的权力</a:t>
            </a:r>
          </a:p>
        </p:txBody>
      </p:sp>
      <p:sp>
        <p:nvSpPr>
          <p:cNvPr id="95243" name="Rectangle 11">
            <a:extLst>
              <a:ext uri="{FF2B5EF4-FFF2-40B4-BE49-F238E27FC236}">
                <a16:creationId xmlns:a16="http://schemas.microsoft.com/office/drawing/2014/main" id="{EA5B4CBB-37C2-5D81-87EB-3BF6300149EE}"/>
              </a:ext>
            </a:extLst>
          </p:cNvPr>
          <p:cNvSpPr>
            <a:spLocks noChangeArrowheads="1"/>
          </p:cNvSpPr>
          <p:nvPr/>
        </p:nvSpPr>
        <p:spPr bwMode="auto">
          <a:xfrm>
            <a:off x="3924300" y="3716338"/>
            <a:ext cx="1368425"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下级的权力</a:t>
            </a:r>
          </a:p>
        </p:txBody>
      </p:sp>
      <p:sp>
        <p:nvSpPr>
          <p:cNvPr id="95244" name="Line 12">
            <a:extLst>
              <a:ext uri="{FF2B5EF4-FFF2-40B4-BE49-F238E27FC236}">
                <a16:creationId xmlns:a16="http://schemas.microsoft.com/office/drawing/2014/main" id="{2E013FEC-4E91-13A2-39DB-37F680E11814}"/>
              </a:ext>
            </a:extLst>
          </p:cNvPr>
          <p:cNvSpPr>
            <a:spLocks noChangeShapeType="1"/>
          </p:cNvSpPr>
          <p:nvPr/>
        </p:nvSpPr>
        <p:spPr bwMode="auto">
          <a:xfrm>
            <a:off x="4572000" y="1844675"/>
            <a:ext cx="0" cy="7207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5245" name="Line 13">
            <a:extLst>
              <a:ext uri="{FF2B5EF4-FFF2-40B4-BE49-F238E27FC236}">
                <a16:creationId xmlns:a16="http://schemas.microsoft.com/office/drawing/2014/main" id="{19D08C56-1627-FB4B-9817-CF13D40D02F6}"/>
              </a:ext>
            </a:extLst>
          </p:cNvPr>
          <p:cNvSpPr>
            <a:spLocks noChangeShapeType="1"/>
          </p:cNvSpPr>
          <p:nvPr/>
        </p:nvSpPr>
        <p:spPr bwMode="auto">
          <a:xfrm flipV="1">
            <a:off x="4572000" y="2997200"/>
            <a:ext cx="0" cy="7191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5246" name="Line 14">
            <a:extLst>
              <a:ext uri="{FF2B5EF4-FFF2-40B4-BE49-F238E27FC236}">
                <a16:creationId xmlns:a16="http://schemas.microsoft.com/office/drawing/2014/main" id="{8E55FDD0-DF9E-1F57-AE9C-6B7AACEC5BBD}"/>
              </a:ext>
            </a:extLst>
          </p:cNvPr>
          <p:cNvSpPr>
            <a:spLocks noChangeShapeType="1"/>
          </p:cNvSpPr>
          <p:nvPr/>
        </p:nvSpPr>
        <p:spPr bwMode="auto">
          <a:xfrm>
            <a:off x="3203575" y="2781300"/>
            <a:ext cx="7207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5247" name="Line 15">
            <a:extLst>
              <a:ext uri="{FF2B5EF4-FFF2-40B4-BE49-F238E27FC236}">
                <a16:creationId xmlns:a16="http://schemas.microsoft.com/office/drawing/2014/main" id="{63017F5E-F6F9-B71D-CBE4-585326C0942D}"/>
              </a:ext>
            </a:extLst>
          </p:cNvPr>
          <p:cNvSpPr>
            <a:spLocks noChangeShapeType="1"/>
          </p:cNvSpPr>
          <p:nvPr/>
        </p:nvSpPr>
        <p:spPr bwMode="auto">
          <a:xfrm flipH="1">
            <a:off x="5292725" y="2781300"/>
            <a:ext cx="79216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5248" name="Text Box 16">
            <a:extLst>
              <a:ext uri="{FF2B5EF4-FFF2-40B4-BE49-F238E27FC236}">
                <a16:creationId xmlns:a16="http://schemas.microsoft.com/office/drawing/2014/main" id="{345FB1D4-0F3B-76CC-35CE-69064FE662A4}"/>
              </a:ext>
            </a:extLst>
          </p:cNvPr>
          <p:cNvSpPr txBox="1">
            <a:spLocks noChangeArrowheads="1"/>
          </p:cNvSpPr>
          <p:nvPr/>
        </p:nvSpPr>
        <p:spPr bwMode="auto">
          <a:xfrm>
            <a:off x="7092950" y="3860800"/>
            <a:ext cx="1871663" cy="6048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10000"/>
              </a:spcBef>
            </a:pPr>
            <a:r>
              <a:rPr lang="zh-CN" altLang="en-US" sz="1600"/>
              <a:t>来自下级的影响力</a:t>
            </a:r>
          </a:p>
          <a:p>
            <a:pPr algn="ctr">
              <a:spcBef>
                <a:spcPct val="10000"/>
              </a:spcBef>
            </a:pPr>
            <a:r>
              <a:rPr lang="zh-CN" altLang="en-US" sz="1600"/>
              <a:t>下级接受说</a:t>
            </a:r>
          </a:p>
        </p:txBody>
      </p:sp>
      <p:sp>
        <p:nvSpPr>
          <p:cNvPr id="95250" name="Line 18">
            <a:extLst>
              <a:ext uri="{FF2B5EF4-FFF2-40B4-BE49-F238E27FC236}">
                <a16:creationId xmlns:a16="http://schemas.microsoft.com/office/drawing/2014/main" id="{7907CCDD-2D42-E7F5-067B-D4B9FCE7C135}"/>
              </a:ext>
            </a:extLst>
          </p:cNvPr>
          <p:cNvSpPr>
            <a:spLocks noChangeShapeType="1"/>
          </p:cNvSpPr>
          <p:nvPr/>
        </p:nvSpPr>
        <p:spPr bwMode="auto">
          <a:xfrm>
            <a:off x="1476375" y="4508500"/>
            <a:ext cx="24479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5251" name="Line 19">
            <a:extLst>
              <a:ext uri="{FF2B5EF4-FFF2-40B4-BE49-F238E27FC236}">
                <a16:creationId xmlns:a16="http://schemas.microsoft.com/office/drawing/2014/main" id="{A02D8457-D54C-6134-083B-5EC0A99B3D2C}"/>
              </a:ext>
            </a:extLst>
          </p:cNvPr>
          <p:cNvSpPr>
            <a:spLocks noChangeShapeType="1"/>
          </p:cNvSpPr>
          <p:nvPr/>
        </p:nvSpPr>
        <p:spPr bwMode="auto">
          <a:xfrm flipH="1">
            <a:off x="5364163" y="4508500"/>
            <a:ext cx="273526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5252" name="Text Box 20">
            <a:extLst>
              <a:ext uri="{FF2B5EF4-FFF2-40B4-BE49-F238E27FC236}">
                <a16:creationId xmlns:a16="http://schemas.microsoft.com/office/drawing/2014/main" id="{E4EEDA57-65F2-4D77-7F71-3F52AE278BC0}"/>
              </a:ext>
            </a:extLst>
          </p:cNvPr>
          <p:cNvSpPr txBox="1">
            <a:spLocks noChangeArrowheads="1"/>
          </p:cNvSpPr>
          <p:nvPr/>
        </p:nvSpPr>
        <p:spPr bwMode="auto">
          <a:xfrm>
            <a:off x="4140200" y="4292600"/>
            <a:ext cx="1009650"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600"/>
              <a:t>交叉权力</a:t>
            </a:r>
          </a:p>
        </p:txBody>
      </p:sp>
      <p:sp>
        <p:nvSpPr>
          <p:cNvPr id="95253" name="Rectangle 21">
            <a:extLst>
              <a:ext uri="{FF2B5EF4-FFF2-40B4-BE49-F238E27FC236}">
                <a16:creationId xmlns:a16="http://schemas.microsoft.com/office/drawing/2014/main" id="{C61DE649-9FE9-F9B7-32F4-08F1E5809474}"/>
              </a:ext>
            </a:extLst>
          </p:cNvPr>
          <p:cNvSpPr>
            <a:spLocks noChangeArrowheads="1"/>
          </p:cNvSpPr>
          <p:nvPr/>
        </p:nvSpPr>
        <p:spPr bwMode="auto">
          <a:xfrm>
            <a:off x="179388" y="188913"/>
            <a:ext cx="14827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en-US" altLang="zh-CN" sz="1600">
                <a:latin typeface="Arial" panose="020B0604020202020204" pitchFamily="34" charset="0"/>
              </a:rPr>
              <a:t>8.2</a:t>
            </a:r>
            <a:r>
              <a:rPr kumimoji="0" lang="zh-CN" altLang="en-US" sz="1600">
                <a:latin typeface="Arial" panose="020B0604020202020204" pitchFamily="34" charset="0"/>
              </a:rPr>
              <a:t>职权的类型</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2">
            <a:extLst>
              <a:ext uri="{FF2B5EF4-FFF2-40B4-BE49-F238E27FC236}">
                <a16:creationId xmlns:a16="http://schemas.microsoft.com/office/drawing/2014/main" id="{4C16E128-9247-8562-9239-5DFEDA773C60}"/>
              </a:ext>
            </a:extLst>
          </p:cNvPr>
          <p:cNvSpPr>
            <a:spLocks noGrp="1"/>
          </p:cNvSpPr>
          <p:nvPr>
            <p:ph type="dt" sz="half" idx="10"/>
          </p:nvPr>
        </p:nvSpPr>
        <p:spPr/>
        <p:txBody>
          <a:bodyPr/>
          <a:lstStyle/>
          <a:p>
            <a:r>
              <a:rPr lang="zh-CN" altLang="en-US"/>
              <a:t>版本：2004</a:t>
            </a:r>
            <a:endParaRPr lang="en-US" altLang="zh-CN"/>
          </a:p>
        </p:txBody>
      </p:sp>
      <p:sp>
        <p:nvSpPr>
          <p:cNvPr id="3" name="页脚占位符 3">
            <a:extLst>
              <a:ext uri="{FF2B5EF4-FFF2-40B4-BE49-F238E27FC236}">
                <a16:creationId xmlns:a16="http://schemas.microsoft.com/office/drawing/2014/main" id="{E9F1E854-76A3-9966-6B98-DA0EABF92E74}"/>
              </a:ext>
            </a:extLst>
          </p:cNvPr>
          <p:cNvSpPr>
            <a:spLocks noGrp="1"/>
          </p:cNvSpPr>
          <p:nvPr>
            <p:ph type="ftr" sz="quarter" idx="11"/>
          </p:nvPr>
        </p:nvSpPr>
        <p:spPr/>
        <p:txBody>
          <a:bodyPr/>
          <a:lstStyle/>
          <a:p>
            <a:r>
              <a:rPr lang="en-US" altLang="zh-CN"/>
              <a:t>管理学</a:t>
            </a:r>
          </a:p>
        </p:txBody>
      </p:sp>
      <p:sp>
        <p:nvSpPr>
          <p:cNvPr id="4" name="灯片编号占位符 4">
            <a:extLst>
              <a:ext uri="{FF2B5EF4-FFF2-40B4-BE49-F238E27FC236}">
                <a16:creationId xmlns:a16="http://schemas.microsoft.com/office/drawing/2014/main" id="{B46A8E27-3C18-8631-BAAF-750F8A3CF490}"/>
              </a:ext>
            </a:extLst>
          </p:cNvPr>
          <p:cNvSpPr>
            <a:spLocks noGrp="1"/>
          </p:cNvSpPr>
          <p:nvPr>
            <p:ph type="sldNum" sz="quarter" idx="12"/>
          </p:nvPr>
        </p:nvSpPr>
        <p:spPr/>
        <p:txBody>
          <a:bodyPr/>
          <a:lstStyle/>
          <a:p>
            <a:fld id="{2406E45E-E875-4C86-956C-E82893D02295}" type="slidenum">
              <a:rPr lang="en-US" altLang="zh-CN"/>
              <a:pPr/>
              <a:t>6</a:t>
            </a:fld>
            <a:endParaRPr lang="en-US" altLang="zh-CN"/>
          </a:p>
        </p:txBody>
      </p:sp>
      <p:graphicFrame>
        <p:nvGraphicFramePr>
          <p:cNvPr id="86018" name="Group 2">
            <a:extLst>
              <a:ext uri="{FF2B5EF4-FFF2-40B4-BE49-F238E27FC236}">
                <a16:creationId xmlns:a16="http://schemas.microsoft.com/office/drawing/2014/main" id="{A3F44166-0B6E-5754-DDF9-F6E276CA7371}"/>
              </a:ext>
            </a:extLst>
          </p:cNvPr>
          <p:cNvGraphicFramePr>
            <a:graphicFrameLocks noGrp="1"/>
          </p:cNvGraphicFramePr>
          <p:nvPr>
            <p:ph/>
          </p:nvPr>
        </p:nvGraphicFramePr>
        <p:xfrm>
          <a:off x="468313" y="1341438"/>
          <a:ext cx="8229600" cy="2786062"/>
        </p:xfrm>
        <a:graphic>
          <a:graphicData uri="http://schemas.openxmlformats.org/drawingml/2006/table">
            <a:tbl>
              <a:tblPr/>
              <a:tblGrid>
                <a:gridCol w="1582737">
                  <a:extLst>
                    <a:ext uri="{9D8B030D-6E8A-4147-A177-3AD203B41FA5}">
                      <a16:colId xmlns:a16="http://schemas.microsoft.com/office/drawing/2014/main" val="2553566012"/>
                    </a:ext>
                  </a:extLst>
                </a:gridCol>
                <a:gridCol w="6646863">
                  <a:extLst>
                    <a:ext uri="{9D8B030D-6E8A-4147-A177-3AD203B41FA5}">
                      <a16:colId xmlns:a16="http://schemas.microsoft.com/office/drawing/2014/main" val="1353271303"/>
                    </a:ext>
                  </a:extLst>
                </a:gridCol>
              </a:tblGrid>
              <a:tr h="4318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职权类型</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定义</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95641124"/>
                  </a:ext>
                </a:extLst>
              </a:tr>
              <a:tr h="31273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咨询权</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就某一问题向直线经理提供建议或制订初步方案。</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35292100"/>
                  </a:ext>
                </a:extLst>
              </a:tr>
              <a:tr h="52387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强制咨询权</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直线经理在做出重要决策之前必须听取参谋人员的意见和看法。</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43977034"/>
                  </a:ext>
                </a:extLst>
              </a:tr>
              <a:tr h="28733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同意权</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直线经理在做出重要决策之前需要征得受其决策影响的其他部门经理的同意。</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24565616"/>
                  </a:ext>
                </a:extLst>
              </a:tr>
              <a:tr h="41275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职能职权</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由高层授权可以在特定职能领域内发布命令。</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64568775"/>
                  </a:ext>
                </a:extLst>
              </a:tr>
              <a:tr h="41275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直线职权</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决策、指挥和分配资源的权力。</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22488257"/>
                  </a:ext>
                </a:extLst>
              </a:tr>
            </a:tbl>
          </a:graphicData>
        </a:graphic>
      </p:graphicFrame>
      <p:sp>
        <p:nvSpPr>
          <p:cNvPr id="86041" name="Rectangle 25">
            <a:extLst>
              <a:ext uri="{FF2B5EF4-FFF2-40B4-BE49-F238E27FC236}">
                <a16:creationId xmlns:a16="http://schemas.microsoft.com/office/drawing/2014/main" id="{C1983F3C-D3BA-7F7B-2103-7F2FCDA6E48A}"/>
              </a:ext>
            </a:extLst>
          </p:cNvPr>
          <p:cNvSpPr>
            <a:spLocks noChangeArrowheads="1"/>
          </p:cNvSpPr>
          <p:nvPr/>
        </p:nvSpPr>
        <p:spPr bwMode="auto">
          <a:xfrm>
            <a:off x="468313" y="4797425"/>
            <a:ext cx="1223962"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咨询权</a:t>
            </a:r>
          </a:p>
        </p:txBody>
      </p:sp>
      <p:sp>
        <p:nvSpPr>
          <p:cNvPr id="86042" name="Rectangle 26">
            <a:extLst>
              <a:ext uri="{FF2B5EF4-FFF2-40B4-BE49-F238E27FC236}">
                <a16:creationId xmlns:a16="http://schemas.microsoft.com/office/drawing/2014/main" id="{51D887BB-8371-8076-F4F7-DA705AD889CE}"/>
              </a:ext>
            </a:extLst>
          </p:cNvPr>
          <p:cNvSpPr>
            <a:spLocks noChangeArrowheads="1"/>
          </p:cNvSpPr>
          <p:nvPr/>
        </p:nvSpPr>
        <p:spPr bwMode="auto">
          <a:xfrm>
            <a:off x="2195513" y="4797425"/>
            <a:ext cx="1223962"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强制咨询权</a:t>
            </a:r>
          </a:p>
        </p:txBody>
      </p:sp>
      <p:sp>
        <p:nvSpPr>
          <p:cNvPr id="86043" name="Rectangle 27">
            <a:extLst>
              <a:ext uri="{FF2B5EF4-FFF2-40B4-BE49-F238E27FC236}">
                <a16:creationId xmlns:a16="http://schemas.microsoft.com/office/drawing/2014/main" id="{E971FFD7-676B-5CD6-05FA-CC2F16B0D3D1}"/>
              </a:ext>
            </a:extLst>
          </p:cNvPr>
          <p:cNvSpPr>
            <a:spLocks noChangeArrowheads="1"/>
          </p:cNvSpPr>
          <p:nvPr/>
        </p:nvSpPr>
        <p:spPr bwMode="auto">
          <a:xfrm>
            <a:off x="3924300" y="4797425"/>
            <a:ext cx="1223963"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同意权</a:t>
            </a:r>
          </a:p>
        </p:txBody>
      </p:sp>
      <p:sp>
        <p:nvSpPr>
          <p:cNvPr id="86044" name="Rectangle 28">
            <a:extLst>
              <a:ext uri="{FF2B5EF4-FFF2-40B4-BE49-F238E27FC236}">
                <a16:creationId xmlns:a16="http://schemas.microsoft.com/office/drawing/2014/main" id="{756C8E37-9107-1C7D-1B99-534F8D1C1BFC}"/>
              </a:ext>
            </a:extLst>
          </p:cNvPr>
          <p:cNvSpPr>
            <a:spLocks noChangeArrowheads="1"/>
          </p:cNvSpPr>
          <p:nvPr/>
        </p:nvSpPr>
        <p:spPr bwMode="auto">
          <a:xfrm>
            <a:off x="5651500" y="4797425"/>
            <a:ext cx="1223963"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职能职权</a:t>
            </a:r>
          </a:p>
        </p:txBody>
      </p:sp>
      <p:sp>
        <p:nvSpPr>
          <p:cNvPr id="86045" name="Rectangle 29">
            <a:extLst>
              <a:ext uri="{FF2B5EF4-FFF2-40B4-BE49-F238E27FC236}">
                <a16:creationId xmlns:a16="http://schemas.microsoft.com/office/drawing/2014/main" id="{F72D9832-C61C-A6BF-1FAA-12E5381564BA}"/>
              </a:ext>
            </a:extLst>
          </p:cNvPr>
          <p:cNvSpPr>
            <a:spLocks noChangeArrowheads="1"/>
          </p:cNvSpPr>
          <p:nvPr/>
        </p:nvSpPr>
        <p:spPr bwMode="auto">
          <a:xfrm>
            <a:off x="7451725" y="4797425"/>
            <a:ext cx="1223963"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直线职权</a:t>
            </a:r>
          </a:p>
        </p:txBody>
      </p:sp>
      <p:sp>
        <p:nvSpPr>
          <p:cNvPr id="86046" name="Line 30">
            <a:extLst>
              <a:ext uri="{FF2B5EF4-FFF2-40B4-BE49-F238E27FC236}">
                <a16:creationId xmlns:a16="http://schemas.microsoft.com/office/drawing/2014/main" id="{D32F7C6D-25E7-882D-5B7E-2D95C09C2763}"/>
              </a:ext>
            </a:extLst>
          </p:cNvPr>
          <p:cNvSpPr>
            <a:spLocks noChangeShapeType="1"/>
          </p:cNvSpPr>
          <p:nvPr/>
        </p:nvSpPr>
        <p:spPr bwMode="auto">
          <a:xfrm>
            <a:off x="468313" y="4652963"/>
            <a:ext cx="820737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6047" name="Text Box 31">
            <a:extLst>
              <a:ext uri="{FF2B5EF4-FFF2-40B4-BE49-F238E27FC236}">
                <a16:creationId xmlns:a16="http://schemas.microsoft.com/office/drawing/2014/main" id="{487A14B0-28AE-FF23-4ED7-078AAA0CA805}"/>
              </a:ext>
            </a:extLst>
          </p:cNvPr>
          <p:cNvSpPr txBox="1">
            <a:spLocks noChangeArrowheads="1"/>
          </p:cNvSpPr>
          <p:nvPr/>
        </p:nvSpPr>
        <p:spPr bwMode="auto">
          <a:xfrm>
            <a:off x="395288" y="4292600"/>
            <a:ext cx="8280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a:latin typeface="Arial" panose="020B0604020202020204" pitchFamily="34" charset="0"/>
              </a:rPr>
              <a:t>弱                                                               权力                                                                强</a:t>
            </a:r>
          </a:p>
        </p:txBody>
      </p:sp>
      <p:sp>
        <p:nvSpPr>
          <p:cNvPr id="86048" name="Line 32">
            <a:extLst>
              <a:ext uri="{FF2B5EF4-FFF2-40B4-BE49-F238E27FC236}">
                <a16:creationId xmlns:a16="http://schemas.microsoft.com/office/drawing/2014/main" id="{4083DB13-86A5-3A88-1B7C-99F0AA4BA926}"/>
              </a:ext>
            </a:extLst>
          </p:cNvPr>
          <p:cNvSpPr>
            <a:spLocks noChangeShapeType="1"/>
          </p:cNvSpPr>
          <p:nvPr/>
        </p:nvSpPr>
        <p:spPr bwMode="auto">
          <a:xfrm>
            <a:off x="1692275" y="5013325"/>
            <a:ext cx="50323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6049" name="Line 33">
            <a:extLst>
              <a:ext uri="{FF2B5EF4-FFF2-40B4-BE49-F238E27FC236}">
                <a16:creationId xmlns:a16="http://schemas.microsoft.com/office/drawing/2014/main" id="{9D36E4AD-C67F-F1DE-C3A7-7B18046932F6}"/>
              </a:ext>
            </a:extLst>
          </p:cNvPr>
          <p:cNvSpPr>
            <a:spLocks noChangeShapeType="1"/>
          </p:cNvSpPr>
          <p:nvPr/>
        </p:nvSpPr>
        <p:spPr bwMode="auto">
          <a:xfrm>
            <a:off x="3419475" y="5013325"/>
            <a:ext cx="5048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6050" name="Line 34">
            <a:extLst>
              <a:ext uri="{FF2B5EF4-FFF2-40B4-BE49-F238E27FC236}">
                <a16:creationId xmlns:a16="http://schemas.microsoft.com/office/drawing/2014/main" id="{0A829A6A-8818-F491-B88D-82BA6B926623}"/>
              </a:ext>
            </a:extLst>
          </p:cNvPr>
          <p:cNvSpPr>
            <a:spLocks noChangeShapeType="1"/>
          </p:cNvSpPr>
          <p:nvPr/>
        </p:nvSpPr>
        <p:spPr bwMode="auto">
          <a:xfrm>
            <a:off x="5148263" y="5013325"/>
            <a:ext cx="50323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6051" name="Line 35">
            <a:extLst>
              <a:ext uri="{FF2B5EF4-FFF2-40B4-BE49-F238E27FC236}">
                <a16:creationId xmlns:a16="http://schemas.microsoft.com/office/drawing/2014/main" id="{DCB7EE53-A6C3-F201-1779-74733FA976F9}"/>
              </a:ext>
            </a:extLst>
          </p:cNvPr>
          <p:cNvSpPr>
            <a:spLocks noChangeShapeType="1"/>
          </p:cNvSpPr>
          <p:nvPr/>
        </p:nvSpPr>
        <p:spPr bwMode="auto">
          <a:xfrm>
            <a:off x="6877050" y="5013325"/>
            <a:ext cx="5746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6052" name="Line 36">
            <a:extLst>
              <a:ext uri="{FF2B5EF4-FFF2-40B4-BE49-F238E27FC236}">
                <a16:creationId xmlns:a16="http://schemas.microsoft.com/office/drawing/2014/main" id="{A2249965-914B-F80A-0861-1C5CB26B0BD0}"/>
              </a:ext>
            </a:extLst>
          </p:cNvPr>
          <p:cNvSpPr>
            <a:spLocks noChangeShapeType="1"/>
          </p:cNvSpPr>
          <p:nvPr/>
        </p:nvSpPr>
        <p:spPr bwMode="auto">
          <a:xfrm>
            <a:off x="468313" y="5373688"/>
            <a:ext cx="820737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6053" name="Text Box 37">
            <a:extLst>
              <a:ext uri="{FF2B5EF4-FFF2-40B4-BE49-F238E27FC236}">
                <a16:creationId xmlns:a16="http://schemas.microsoft.com/office/drawing/2014/main" id="{3E6018B8-955C-7AF8-7222-43326C6997EF}"/>
              </a:ext>
            </a:extLst>
          </p:cNvPr>
          <p:cNvSpPr txBox="1">
            <a:spLocks noChangeArrowheads="1"/>
          </p:cNvSpPr>
          <p:nvPr/>
        </p:nvSpPr>
        <p:spPr bwMode="auto">
          <a:xfrm>
            <a:off x="4140200" y="908050"/>
            <a:ext cx="13684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800">
                <a:latin typeface="Arial" panose="020B0604020202020204" pitchFamily="34" charset="0"/>
                <a:ea typeface="黑体" panose="02010609060101010101" pitchFamily="49" charset="-122"/>
              </a:rPr>
              <a:t>职权的类型</a:t>
            </a:r>
          </a:p>
        </p:txBody>
      </p:sp>
      <p:sp>
        <p:nvSpPr>
          <p:cNvPr id="86055" name="Text Box 39">
            <a:extLst>
              <a:ext uri="{FF2B5EF4-FFF2-40B4-BE49-F238E27FC236}">
                <a16:creationId xmlns:a16="http://schemas.microsoft.com/office/drawing/2014/main" id="{E98E9793-5D2A-83A8-E8A7-0EA4E7CD1164}"/>
              </a:ext>
            </a:extLst>
          </p:cNvPr>
          <p:cNvSpPr txBox="1">
            <a:spLocks noChangeArrowheads="1"/>
          </p:cNvSpPr>
          <p:nvPr/>
        </p:nvSpPr>
        <p:spPr bwMode="auto">
          <a:xfrm>
            <a:off x="395288" y="5445125"/>
            <a:ext cx="83534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a:latin typeface="Arial" panose="020B0604020202020204" pitchFamily="34" charset="0"/>
              </a:rPr>
              <a:t>不完整                                                        权力                                                              完整</a:t>
            </a:r>
          </a:p>
        </p:txBody>
      </p:sp>
      <p:sp>
        <p:nvSpPr>
          <p:cNvPr id="86056" name="Rectangle 40">
            <a:extLst>
              <a:ext uri="{FF2B5EF4-FFF2-40B4-BE49-F238E27FC236}">
                <a16:creationId xmlns:a16="http://schemas.microsoft.com/office/drawing/2014/main" id="{1A0BC23A-8B71-721A-2C11-DCCF28A5C925}"/>
              </a:ext>
            </a:extLst>
          </p:cNvPr>
          <p:cNvSpPr>
            <a:spLocks noChangeArrowheads="1"/>
          </p:cNvSpPr>
          <p:nvPr/>
        </p:nvSpPr>
        <p:spPr bwMode="auto">
          <a:xfrm>
            <a:off x="179388" y="188913"/>
            <a:ext cx="14827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en-US" altLang="zh-CN" sz="1600">
                <a:latin typeface="Arial" panose="020B0604020202020204" pitchFamily="34" charset="0"/>
              </a:rPr>
              <a:t>8.2</a:t>
            </a:r>
            <a:r>
              <a:rPr kumimoji="0" lang="zh-CN" altLang="en-US" sz="1600">
                <a:latin typeface="Arial" panose="020B0604020202020204" pitchFamily="34" charset="0"/>
              </a:rPr>
              <a:t>职权的类型</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2">
            <a:extLst>
              <a:ext uri="{FF2B5EF4-FFF2-40B4-BE49-F238E27FC236}">
                <a16:creationId xmlns:a16="http://schemas.microsoft.com/office/drawing/2014/main" id="{D05C64B0-9B2D-6AA0-B6F1-CFE9C988D270}"/>
              </a:ext>
            </a:extLst>
          </p:cNvPr>
          <p:cNvSpPr>
            <a:spLocks noGrp="1"/>
          </p:cNvSpPr>
          <p:nvPr>
            <p:ph type="dt" sz="half" idx="10"/>
          </p:nvPr>
        </p:nvSpPr>
        <p:spPr/>
        <p:txBody>
          <a:bodyPr/>
          <a:lstStyle/>
          <a:p>
            <a:r>
              <a:rPr lang="zh-CN" altLang="en-US"/>
              <a:t>版本：2004</a:t>
            </a:r>
            <a:endParaRPr lang="en-US" altLang="zh-CN"/>
          </a:p>
        </p:txBody>
      </p:sp>
      <p:sp>
        <p:nvSpPr>
          <p:cNvPr id="3" name="页脚占位符 3">
            <a:extLst>
              <a:ext uri="{FF2B5EF4-FFF2-40B4-BE49-F238E27FC236}">
                <a16:creationId xmlns:a16="http://schemas.microsoft.com/office/drawing/2014/main" id="{8B1587F9-F7F3-04C0-E6B7-0D1A4CC51990}"/>
              </a:ext>
            </a:extLst>
          </p:cNvPr>
          <p:cNvSpPr>
            <a:spLocks noGrp="1"/>
          </p:cNvSpPr>
          <p:nvPr>
            <p:ph type="ftr" sz="quarter" idx="11"/>
          </p:nvPr>
        </p:nvSpPr>
        <p:spPr/>
        <p:txBody>
          <a:bodyPr/>
          <a:lstStyle/>
          <a:p>
            <a:r>
              <a:rPr lang="en-US" altLang="zh-CN"/>
              <a:t>管理学</a:t>
            </a:r>
          </a:p>
        </p:txBody>
      </p:sp>
      <p:sp>
        <p:nvSpPr>
          <p:cNvPr id="4" name="灯片编号占位符 4">
            <a:extLst>
              <a:ext uri="{FF2B5EF4-FFF2-40B4-BE49-F238E27FC236}">
                <a16:creationId xmlns:a16="http://schemas.microsoft.com/office/drawing/2014/main" id="{3F9DF2FE-AE6F-C892-3A24-D8A80718FFD4}"/>
              </a:ext>
            </a:extLst>
          </p:cNvPr>
          <p:cNvSpPr>
            <a:spLocks noGrp="1"/>
          </p:cNvSpPr>
          <p:nvPr>
            <p:ph type="sldNum" sz="quarter" idx="12"/>
          </p:nvPr>
        </p:nvSpPr>
        <p:spPr/>
        <p:txBody>
          <a:bodyPr/>
          <a:lstStyle/>
          <a:p>
            <a:fld id="{276193E6-15FA-4121-A071-91BC444E560F}" type="slidenum">
              <a:rPr lang="en-US" altLang="zh-CN"/>
              <a:pPr/>
              <a:t>7</a:t>
            </a:fld>
            <a:endParaRPr lang="en-US" altLang="zh-CN"/>
          </a:p>
        </p:txBody>
      </p:sp>
      <p:sp>
        <p:nvSpPr>
          <p:cNvPr id="87042" name="Rectangle 2">
            <a:extLst>
              <a:ext uri="{FF2B5EF4-FFF2-40B4-BE49-F238E27FC236}">
                <a16:creationId xmlns:a16="http://schemas.microsoft.com/office/drawing/2014/main" id="{C258CB39-7A40-AD22-034C-5C1BD3FD5E7C}"/>
              </a:ext>
            </a:extLst>
          </p:cNvPr>
          <p:cNvSpPr>
            <a:spLocks noChangeArrowheads="1"/>
          </p:cNvSpPr>
          <p:nvPr/>
        </p:nvSpPr>
        <p:spPr bwMode="auto">
          <a:xfrm>
            <a:off x="6300788" y="260350"/>
            <a:ext cx="1295400"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军长</a:t>
            </a:r>
          </a:p>
        </p:txBody>
      </p:sp>
      <p:sp>
        <p:nvSpPr>
          <p:cNvPr id="87043" name="Rectangle 3">
            <a:extLst>
              <a:ext uri="{FF2B5EF4-FFF2-40B4-BE49-F238E27FC236}">
                <a16:creationId xmlns:a16="http://schemas.microsoft.com/office/drawing/2014/main" id="{9A8970E1-0B9F-5379-14C1-12A25F14C192}"/>
              </a:ext>
            </a:extLst>
          </p:cNvPr>
          <p:cNvSpPr>
            <a:spLocks noChangeArrowheads="1"/>
          </p:cNvSpPr>
          <p:nvPr/>
        </p:nvSpPr>
        <p:spPr bwMode="auto">
          <a:xfrm>
            <a:off x="6300788" y="981075"/>
            <a:ext cx="1295400"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师长</a:t>
            </a:r>
          </a:p>
        </p:txBody>
      </p:sp>
      <p:sp>
        <p:nvSpPr>
          <p:cNvPr id="87044" name="Rectangle 4">
            <a:extLst>
              <a:ext uri="{FF2B5EF4-FFF2-40B4-BE49-F238E27FC236}">
                <a16:creationId xmlns:a16="http://schemas.microsoft.com/office/drawing/2014/main" id="{9B0739EA-F7AE-7774-0095-A993F1C3333E}"/>
              </a:ext>
            </a:extLst>
          </p:cNvPr>
          <p:cNvSpPr>
            <a:spLocks noChangeArrowheads="1"/>
          </p:cNvSpPr>
          <p:nvPr/>
        </p:nvSpPr>
        <p:spPr bwMode="auto">
          <a:xfrm>
            <a:off x="6300788" y="1700213"/>
            <a:ext cx="1295400" cy="4333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旅长</a:t>
            </a:r>
          </a:p>
        </p:txBody>
      </p:sp>
      <p:sp>
        <p:nvSpPr>
          <p:cNvPr id="87045" name="Rectangle 5">
            <a:extLst>
              <a:ext uri="{FF2B5EF4-FFF2-40B4-BE49-F238E27FC236}">
                <a16:creationId xmlns:a16="http://schemas.microsoft.com/office/drawing/2014/main" id="{37E3875F-6B29-61DC-D2E4-D55939EA7B6D}"/>
              </a:ext>
            </a:extLst>
          </p:cNvPr>
          <p:cNvSpPr>
            <a:spLocks noChangeArrowheads="1"/>
          </p:cNvSpPr>
          <p:nvPr/>
        </p:nvSpPr>
        <p:spPr bwMode="auto">
          <a:xfrm>
            <a:off x="6300788" y="2420938"/>
            <a:ext cx="1295400"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团长</a:t>
            </a:r>
          </a:p>
        </p:txBody>
      </p:sp>
      <p:sp>
        <p:nvSpPr>
          <p:cNvPr id="87046" name="Rectangle 6">
            <a:extLst>
              <a:ext uri="{FF2B5EF4-FFF2-40B4-BE49-F238E27FC236}">
                <a16:creationId xmlns:a16="http://schemas.microsoft.com/office/drawing/2014/main" id="{4680A4D5-BD72-BC26-C3E4-8BDCD91C7EED}"/>
              </a:ext>
            </a:extLst>
          </p:cNvPr>
          <p:cNvSpPr>
            <a:spLocks noChangeArrowheads="1"/>
          </p:cNvSpPr>
          <p:nvPr/>
        </p:nvSpPr>
        <p:spPr bwMode="auto">
          <a:xfrm>
            <a:off x="6300788" y="3141663"/>
            <a:ext cx="1295400"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营长</a:t>
            </a:r>
          </a:p>
        </p:txBody>
      </p:sp>
      <p:sp>
        <p:nvSpPr>
          <p:cNvPr id="87047" name="Rectangle 7">
            <a:extLst>
              <a:ext uri="{FF2B5EF4-FFF2-40B4-BE49-F238E27FC236}">
                <a16:creationId xmlns:a16="http://schemas.microsoft.com/office/drawing/2014/main" id="{87B785A4-22D3-089C-2545-30DA813C84D8}"/>
              </a:ext>
            </a:extLst>
          </p:cNvPr>
          <p:cNvSpPr>
            <a:spLocks noChangeArrowheads="1"/>
          </p:cNvSpPr>
          <p:nvPr/>
        </p:nvSpPr>
        <p:spPr bwMode="auto">
          <a:xfrm>
            <a:off x="6300788" y="3860800"/>
            <a:ext cx="1295400"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连长</a:t>
            </a:r>
          </a:p>
        </p:txBody>
      </p:sp>
      <p:sp>
        <p:nvSpPr>
          <p:cNvPr id="87048" name="Rectangle 8">
            <a:extLst>
              <a:ext uri="{FF2B5EF4-FFF2-40B4-BE49-F238E27FC236}">
                <a16:creationId xmlns:a16="http://schemas.microsoft.com/office/drawing/2014/main" id="{57481FFC-290F-EC44-4476-9950F29B8331}"/>
              </a:ext>
            </a:extLst>
          </p:cNvPr>
          <p:cNvSpPr>
            <a:spLocks noChangeArrowheads="1"/>
          </p:cNvSpPr>
          <p:nvPr/>
        </p:nvSpPr>
        <p:spPr bwMode="auto">
          <a:xfrm>
            <a:off x="6300788" y="4581525"/>
            <a:ext cx="1295400"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排长</a:t>
            </a:r>
          </a:p>
        </p:txBody>
      </p:sp>
      <p:sp>
        <p:nvSpPr>
          <p:cNvPr id="87049" name="Line 9">
            <a:extLst>
              <a:ext uri="{FF2B5EF4-FFF2-40B4-BE49-F238E27FC236}">
                <a16:creationId xmlns:a16="http://schemas.microsoft.com/office/drawing/2014/main" id="{F601DB69-8E4B-B7BF-D330-270B3A193CDE}"/>
              </a:ext>
            </a:extLst>
          </p:cNvPr>
          <p:cNvSpPr>
            <a:spLocks noChangeShapeType="1"/>
          </p:cNvSpPr>
          <p:nvPr/>
        </p:nvSpPr>
        <p:spPr bwMode="auto">
          <a:xfrm>
            <a:off x="6948488" y="692150"/>
            <a:ext cx="0" cy="2873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050" name="Rectangle 10">
            <a:extLst>
              <a:ext uri="{FF2B5EF4-FFF2-40B4-BE49-F238E27FC236}">
                <a16:creationId xmlns:a16="http://schemas.microsoft.com/office/drawing/2014/main" id="{F8E663C0-DC8F-B97B-4EAE-49A72B87DE13}"/>
              </a:ext>
            </a:extLst>
          </p:cNvPr>
          <p:cNvSpPr>
            <a:spLocks noChangeArrowheads="1"/>
          </p:cNvSpPr>
          <p:nvPr/>
        </p:nvSpPr>
        <p:spPr bwMode="auto">
          <a:xfrm>
            <a:off x="6300788" y="5300663"/>
            <a:ext cx="1295400" cy="4333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班长</a:t>
            </a:r>
          </a:p>
        </p:txBody>
      </p:sp>
      <p:sp>
        <p:nvSpPr>
          <p:cNvPr id="87051" name="Rectangle 11">
            <a:extLst>
              <a:ext uri="{FF2B5EF4-FFF2-40B4-BE49-F238E27FC236}">
                <a16:creationId xmlns:a16="http://schemas.microsoft.com/office/drawing/2014/main" id="{9CE0E20C-FA65-F683-69D7-4767835EB226}"/>
              </a:ext>
            </a:extLst>
          </p:cNvPr>
          <p:cNvSpPr>
            <a:spLocks noChangeArrowheads="1"/>
          </p:cNvSpPr>
          <p:nvPr/>
        </p:nvSpPr>
        <p:spPr bwMode="auto">
          <a:xfrm>
            <a:off x="6300788" y="6021388"/>
            <a:ext cx="1295400"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士兵</a:t>
            </a:r>
          </a:p>
        </p:txBody>
      </p:sp>
      <p:sp>
        <p:nvSpPr>
          <p:cNvPr id="87052" name="Line 12">
            <a:extLst>
              <a:ext uri="{FF2B5EF4-FFF2-40B4-BE49-F238E27FC236}">
                <a16:creationId xmlns:a16="http://schemas.microsoft.com/office/drawing/2014/main" id="{5A65869C-052E-0CB2-22FB-5867AFAF77AC}"/>
              </a:ext>
            </a:extLst>
          </p:cNvPr>
          <p:cNvSpPr>
            <a:spLocks noChangeShapeType="1"/>
          </p:cNvSpPr>
          <p:nvPr/>
        </p:nvSpPr>
        <p:spPr bwMode="auto">
          <a:xfrm>
            <a:off x="6948488" y="1412875"/>
            <a:ext cx="0" cy="2873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053" name="Line 13">
            <a:extLst>
              <a:ext uri="{FF2B5EF4-FFF2-40B4-BE49-F238E27FC236}">
                <a16:creationId xmlns:a16="http://schemas.microsoft.com/office/drawing/2014/main" id="{EC65058D-DA8F-D51F-6105-BBCE76A764A7}"/>
              </a:ext>
            </a:extLst>
          </p:cNvPr>
          <p:cNvSpPr>
            <a:spLocks noChangeShapeType="1"/>
          </p:cNvSpPr>
          <p:nvPr/>
        </p:nvSpPr>
        <p:spPr bwMode="auto">
          <a:xfrm>
            <a:off x="6948488" y="2133600"/>
            <a:ext cx="0" cy="2873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054" name="Line 14">
            <a:extLst>
              <a:ext uri="{FF2B5EF4-FFF2-40B4-BE49-F238E27FC236}">
                <a16:creationId xmlns:a16="http://schemas.microsoft.com/office/drawing/2014/main" id="{9714C912-7540-1E49-D890-5161EE33E4BA}"/>
              </a:ext>
            </a:extLst>
          </p:cNvPr>
          <p:cNvSpPr>
            <a:spLocks noChangeShapeType="1"/>
          </p:cNvSpPr>
          <p:nvPr/>
        </p:nvSpPr>
        <p:spPr bwMode="auto">
          <a:xfrm>
            <a:off x="6948488" y="2852738"/>
            <a:ext cx="0" cy="28733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055" name="Line 15">
            <a:extLst>
              <a:ext uri="{FF2B5EF4-FFF2-40B4-BE49-F238E27FC236}">
                <a16:creationId xmlns:a16="http://schemas.microsoft.com/office/drawing/2014/main" id="{5F7B6F41-D0FD-CA34-8A31-93478E215C05}"/>
              </a:ext>
            </a:extLst>
          </p:cNvPr>
          <p:cNvSpPr>
            <a:spLocks noChangeShapeType="1"/>
          </p:cNvSpPr>
          <p:nvPr/>
        </p:nvSpPr>
        <p:spPr bwMode="auto">
          <a:xfrm>
            <a:off x="6948488" y="3573463"/>
            <a:ext cx="0" cy="28733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056" name="Line 16">
            <a:extLst>
              <a:ext uri="{FF2B5EF4-FFF2-40B4-BE49-F238E27FC236}">
                <a16:creationId xmlns:a16="http://schemas.microsoft.com/office/drawing/2014/main" id="{EE2517E3-37C6-B744-FBFF-31CFAC58370D}"/>
              </a:ext>
            </a:extLst>
          </p:cNvPr>
          <p:cNvSpPr>
            <a:spLocks noChangeShapeType="1"/>
          </p:cNvSpPr>
          <p:nvPr/>
        </p:nvSpPr>
        <p:spPr bwMode="auto">
          <a:xfrm>
            <a:off x="6948488" y="4292600"/>
            <a:ext cx="0" cy="2873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057" name="Line 17">
            <a:extLst>
              <a:ext uri="{FF2B5EF4-FFF2-40B4-BE49-F238E27FC236}">
                <a16:creationId xmlns:a16="http://schemas.microsoft.com/office/drawing/2014/main" id="{5424DE22-9264-8BC1-6269-9EF3D0055B31}"/>
              </a:ext>
            </a:extLst>
          </p:cNvPr>
          <p:cNvSpPr>
            <a:spLocks noChangeShapeType="1"/>
          </p:cNvSpPr>
          <p:nvPr/>
        </p:nvSpPr>
        <p:spPr bwMode="auto">
          <a:xfrm>
            <a:off x="6948488" y="5013325"/>
            <a:ext cx="0" cy="2873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058" name="Line 18">
            <a:extLst>
              <a:ext uri="{FF2B5EF4-FFF2-40B4-BE49-F238E27FC236}">
                <a16:creationId xmlns:a16="http://schemas.microsoft.com/office/drawing/2014/main" id="{5ED24D99-E33E-30E1-5A84-A346C95D735D}"/>
              </a:ext>
            </a:extLst>
          </p:cNvPr>
          <p:cNvSpPr>
            <a:spLocks noChangeShapeType="1"/>
          </p:cNvSpPr>
          <p:nvPr/>
        </p:nvSpPr>
        <p:spPr bwMode="auto">
          <a:xfrm>
            <a:off x="6948488" y="5734050"/>
            <a:ext cx="0" cy="2873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059" name="Text Box 19">
            <a:extLst>
              <a:ext uri="{FF2B5EF4-FFF2-40B4-BE49-F238E27FC236}">
                <a16:creationId xmlns:a16="http://schemas.microsoft.com/office/drawing/2014/main" id="{CC554830-11D3-253E-0B38-791D28FA2021}"/>
              </a:ext>
            </a:extLst>
          </p:cNvPr>
          <p:cNvSpPr txBox="1">
            <a:spLocks noChangeArrowheads="1"/>
          </p:cNvSpPr>
          <p:nvPr/>
        </p:nvSpPr>
        <p:spPr bwMode="auto">
          <a:xfrm>
            <a:off x="7885113" y="2133600"/>
            <a:ext cx="1258887" cy="1271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10000"/>
              </a:spcBef>
            </a:pPr>
            <a:r>
              <a:rPr kumimoji="0" lang="zh-CN" altLang="en-US" sz="1800">
                <a:latin typeface="Arial" panose="020B0604020202020204" pitchFamily="34" charset="0"/>
              </a:rPr>
              <a:t>指挥链</a:t>
            </a:r>
          </a:p>
          <a:p>
            <a:pPr>
              <a:spcBef>
                <a:spcPct val="10000"/>
              </a:spcBef>
            </a:pPr>
            <a:r>
              <a:rPr kumimoji="0" lang="zh-CN" altLang="en-US" sz="1800">
                <a:latin typeface="Arial" panose="020B0604020202020204" pitchFamily="34" charset="0"/>
              </a:rPr>
              <a:t>命令链</a:t>
            </a:r>
          </a:p>
          <a:p>
            <a:pPr>
              <a:spcBef>
                <a:spcPct val="10000"/>
              </a:spcBef>
            </a:pPr>
            <a:r>
              <a:rPr kumimoji="0" lang="zh-CN" altLang="en-US" sz="1800">
                <a:latin typeface="Arial" panose="020B0604020202020204" pitchFamily="34" charset="0"/>
              </a:rPr>
              <a:t>信息链</a:t>
            </a:r>
          </a:p>
          <a:p>
            <a:pPr>
              <a:spcBef>
                <a:spcPct val="10000"/>
              </a:spcBef>
            </a:pPr>
            <a:r>
              <a:rPr kumimoji="0" lang="zh-CN" altLang="en-US" sz="1800">
                <a:latin typeface="Arial" panose="020B0604020202020204" pitchFamily="34" charset="0"/>
              </a:rPr>
              <a:t>报告关系</a:t>
            </a:r>
          </a:p>
        </p:txBody>
      </p:sp>
      <p:sp>
        <p:nvSpPr>
          <p:cNvPr id="87060" name="Line 20">
            <a:extLst>
              <a:ext uri="{FF2B5EF4-FFF2-40B4-BE49-F238E27FC236}">
                <a16:creationId xmlns:a16="http://schemas.microsoft.com/office/drawing/2014/main" id="{5B87D452-7827-C522-B233-38C42CD62286}"/>
              </a:ext>
            </a:extLst>
          </p:cNvPr>
          <p:cNvSpPr>
            <a:spLocks noChangeShapeType="1"/>
          </p:cNvSpPr>
          <p:nvPr/>
        </p:nvSpPr>
        <p:spPr bwMode="auto">
          <a:xfrm flipH="1" flipV="1">
            <a:off x="8243888" y="260350"/>
            <a:ext cx="0" cy="18732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061" name="Line 21">
            <a:extLst>
              <a:ext uri="{FF2B5EF4-FFF2-40B4-BE49-F238E27FC236}">
                <a16:creationId xmlns:a16="http://schemas.microsoft.com/office/drawing/2014/main" id="{C154A596-4ED5-6AA1-4895-80850BC2F045}"/>
              </a:ext>
            </a:extLst>
          </p:cNvPr>
          <p:cNvSpPr>
            <a:spLocks noChangeShapeType="1"/>
          </p:cNvSpPr>
          <p:nvPr/>
        </p:nvSpPr>
        <p:spPr bwMode="auto">
          <a:xfrm>
            <a:off x="8243888" y="3429000"/>
            <a:ext cx="0" cy="25923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062" name="Line 22">
            <a:extLst>
              <a:ext uri="{FF2B5EF4-FFF2-40B4-BE49-F238E27FC236}">
                <a16:creationId xmlns:a16="http://schemas.microsoft.com/office/drawing/2014/main" id="{21898DDC-FCEA-576B-2107-5BAE4AE251AF}"/>
              </a:ext>
            </a:extLst>
          </p:cNvPr>
          <p:cNvSpPr>
            <a:spLocks noChangeShapeType="1"/>
          </p:cNvSpPr>
          <p:nvPr/>
        </p:nvSpPr>
        <p:spPr bwMode="auto">
          <a:xfrm flipV="1">
            <a:off x="8532813" y="3429000"/>
            <a:ext cx="0" cy="2592388"/>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063" name="Line 23">
            <a:extLst>
              <a:ext uri="{FF2B5EF4-FFF2-40B4-BE49-F238E27FC236}">
                <a16:creationId xmlns:a16="http://schemas.microsoft.com/office/drawing/2014/main" id="{E9FBCDF8-788F-4F5C-455D-B47D78DA9953}"/>
              </a:ext>
            </a:extLst>
          </p:cNvPr>
          <p:cNvSpPr>
            <a:spLocks noChangeShapeType="1"/>
          </p:cNvSpPr>
          <p:nvPr/>
        </p:nvSpPr>
        <p:spPr bwMode="auto">
          <a:xfrm flipV="1">
            <a:off x="8532813" y="260350"/>
            <a:ext cx="0" cy="1873250"/>
          </a:xfrm>
          <a:prstGeom prst="line">
            <a:avLst/>
          </a:prstGeom>
          <a:noFill/>
          <a:ln w="9525">
            <a:solidFill>
              <a:schemeClr val="tx1"/>
            </a:solidFill>
            <a:prstDash val="lg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064" name="Text Box 24">
            <a:extLst>
              <a:ext uri="{FF2B5EF4-FFF2-40B4-BE49-F238E27FC236}">
                <a16:creationId xmlns:a16="http://schemas.microsoft.com/office/drawing/2014/main" id="{66EF6BFC-E5C6-FFED-8FA9-40592317A171}"/>
              </a:ext>
            </a:extLst>
          </p:cNvPr>
          <p:cNvSpPr txBox="1">
            <a:spLocks noChangeArrowheads="1"/>
          </p:cNvSpPr>
          <p:nvPr/>
        </p:nvSpPr>
        <p:spPr bwMode="auto">
          <a:xfrm>
            <a:off x="900113" y="692150"/>
            <a:ext cx="4895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pPr>
            <a:r>
              <a:rPr lang="en-US" altLang="zh-CN" sz="1800">
                <a:solidFill>
                  <a:schemeClr val="tx2"/>
                </a:solidFill>
                <a:latin typeface="Arial" panose="020B0604020202020204" pitchFamily="34" charset="0"/>
              </a:rPr>
              <a:t>                           </a:t>
            </a:r>
            <a:endParaRPr lang="en-US" altLang="zh-CN" sz="1800">
              <a:solidFill>
                <a:schemeClr val="tx2"/>
              </a:solidFill>
              <a:latin typeface="Arial" panose="020B0604020202020204" pitchFamily="34" charset="0"/>
              <a:ea typeface="黑体" panose="02010609060101010101" pitchFamily="49" charset="-122"/>
            </a:endParaRPr>
          </a:p>
        </p:txBody>
      </p:sp>
      <p:graphicFrame>
        <p:nvGraphicFramePr>
          <p:cNvPr id="87066" name="Group 26">
            <a:extLst>
              <a:ext uri="{FF2B5EF4-FFF2-40B4-BE49-F238E27FC236}">
                <a16:creationId xmlns:a16="http://schemas.microsoft.com/office/drawing/2014/main" id="{ECDBAA3D-1A07-17F3-E8DB-95F99BCA340F}"/>
              </a:ext>
            </a:extLst>
          </p:cNvPr>
          <p:cNvGraphicFramePr>
            <a:graphicFrameLocks noGrp="1"/>
          </p:cNvGraphicFramePr>
          <p:nvPr>
            <p:ph/>
          </p:nvPr>
        </p:nvGraphicFramePr>
        <p:xfrm>
          <a:off x="395288" y="1196975"/>
          <a:ext cx="5699125" cy="3597275"/>
        </p:xfrm>
        <a:graphic>
          <a:graphicData uri="http://schemas.openxmlformats.org/drawingml/2006/table">
            <a:tbl>
              <a:tblPr/>
              <a:tblGrid>
                <a:gridCol w="5699125">
                  <a:extLst>
                    <a:ext uri="{9D8B030D-6E8A-4147-A177-3AD203B41FA5}">
                      <a16:colId xmlns:a16="http://schemas.microsoft.com/office/drawing/2014/main" val="2501470411"/>
                    </a:ext>
                  </a:extLst>
                </a:gridCol>
              </a:tblGrid>
              <a:tr h="50323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统一指挥原则</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22359299"/>
                  </a:ext>
                </a:extLst>
              </a:tr>
              <a:tr h="9366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指每个下级应对一个，而且仅对一个上级负责。一个下级只从一个上级那里接受分派的职责和授予的职权，并仅对这个上级负责。</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57580058"/>
                  </a:ext>
                </a:extLst>
              </a:tr>
              <a:tr h="47148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导致双重指挥的原因</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44020756"/>
                  </a:ext>
                </a:extLst>
              </a:tr>
              <a:tr h="141605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越级指挥；</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越级报告；</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职责不清；</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职能式组织；</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矩阵结构。</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3935546"/>
                  </a:ext>
                </a:extLst>
              </a:tr>
            </a:tbl>
          </a:graphicData>
        </a:graphic>
      </p:graphicFrame>
      <p:sp>
        <p:nvSpPr>
          <p:cNvPr id="87078" name="Rectangle 38">
            <a:extLst>
              <a:ext uri="{FF2B5EF4-FFF2-40B4-BE49-F238E27FC236}">
                <a16:creationId xmlns:a16="http://schemas.microsoft.com/office/drawing/2014/main" id="{6F22C2A3-032A-6FF6-2965-C6F588370AE7}"/>
              </a:ext>
            </a:extLst>
          </p:cNvPr>
          <p:cNvSpPr>
            <a:spLocks noChangeArrowheads="1"/>
          </p:cNvSpPr>
          <p:nvPr/>
        </p:nvSpPr>
        <p:spPr bwMode="auto">
          <a:xfrm>
            <a:off x="179388" y="188913"/>
            <a:ext cx="14827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en-US" altLang="zh-CN" sz="1600">
                <a:latin typeface="Arial" panose="020B0604020202020204" pitchFamily="34" charset="0"/>
              </a:rPr>
              <a:t>8.2</a:t>
            </a:r>
            <a:r>
              <a:rPr kumimoji="0" lang="zh-CN" altLang="en-US" sz="1600">
                <a:latin typeface="Arial" panose="020B0604020202020204" pitchFamily="34" charset="0"/>
              </a:rPr>
              <a:t>职权的类型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3C39872-9E05-2F84-DE93-3AE17902A234}"/>
              </a:ext>
            </a:extLst>
          </p:cNvPr>
          <p:cNvSpPr>
            <a:spLocks noGrp="1"/>
          </p:cNvSpPr>
          <p:nvPr>
            <p:ph type="dt" sz="half" idx="10"/>
          </p:nvPr>
        </p:nvSpPr>
        <p:spPr/>
        <p:txBody>
          <a:bodyPr/>
          <a:lstStyle/>
          <a:p>
            <a:r>
              <a:rPr lang="zh-CN" altLang="en-US"/>
              <a:t>版本：2004</a:t>
            </a:r>
            <a:endParaRPr lang="en-US" altLang="zh-CN"/>
          </a:p>
        </p:txBody>
      </p:sp>
      <p:sp>
        <p:nvSpPr>
          <p:cNvPr id="3" name="页脚占位符 2">
            <a:extLst>
              <a:ext uri="{FF2B5EF4-FFF2-40B4-BE49-F238E27FC236}">
                <a16:creationId xmlns:a16="http://schemas.microsoft.com/office/drawing/2014/main" id="{4DAA219F-946D-6625-49F0-EC870EEEC22C}"/>
              </a:ext>
            </a:extLst>
          </p:cNvPr>
          <p:cNvSpPr>
            <a:spLocks noGrp="1"/>
          </p:cNvSpPr>
          <p:nvPr>
            <p:ph type="ftr" sz="quarter" idx="11"/>
          </p:nvPr>
        </p:nvSpPr>
        <p:spPr/>
        <p:txBody>
          <a:bodyPr/>
          <a:lstStyle/>
          <a:p>
            <a:r>
              <a:rPr lang="en-US" altLang="zh-CN"/>
              <a:t>管理学</a:t>
            </a:r>
          </a:p>
        </p:txBody>
      </p:sp>
      <p:sp>
        <p:nvSpPr>
          <p:cNvPr id="4" name="灯片编号占位符 3">
            <a:extLst>
              <a:ext uri="{FF2B5EF4-FFF2-40B4-BE49-F238E27FC236}">
                <a16:creationId xmlns:a16="http://schemas.microsoft.com/office/drawing/2014/main" id="{8E45DF43-5F9D-3879-E2D9-B4FD05C2C365}"/>
              </a:ext>
            </a:extLst>
          </p:cNvPr>
          <p:cNvSpPr>
            <a:spLocks noGrp="1"/>
          </p:cNvSpPr>
          <p:nvPr>
            <p:ph type="sldNum" sz="quarter" idx="12"/>
          </p:nvPr>
        </p:nvSpPr>
        <p:spPr/>
        <p:txBody>
          <a:bodyPr/>
          <a:lstStyle/>
          <a:p>
            <a:fld id="{BD240EA1-AB24-4A9A-84E8-0B16F413B04A}" type="slidenum">
              <a:rPr lang="en-US" altLang="zh-CN"/>
              <a:pPr/>
              <a:t>8</a:t>
            </a:fld>
            <a:endParaRPr lang="en-US" altLang="zh-CN"/>
          </a:p>
        </p:txBody>
      </p:sp>
      <p:graphicFrame>
        <p:nvGraphicFramePr>
          <p:cNvPr id="92201" name="Group 41">
            <a:extLst>
              <a:ext uri="{FF2B5EF4-FFF2-40B4-BE49-F238E27FC236}">
                <a16:creationId xmlns:a16="http://schemas.microsoft.com/office/drawing/2014/main" id="{EB338F2F-1E9E-63B0-AEE3-453B40EB80A3}"/>
              </a:ext>
            </a:extLst>
          </p:cNvPr>
          <p:cNvGraphicFramePr>
            <a:graphicFrameLocks noGrp="1"/>
          </p:cNvGraphicFramePr>
          <p:nvPr>
            <p:ph sz="half" idx="4294967295"/>
          </p:nvPr>
        </p:nvGraphicFramePr>
        <p:xfrm>
          <a:off x="684213" y="1989138"/>
          <a:ext cx="7775575" cy="4276725"/>
        </p:xfrm>
        <a:graphic>
          <a:graphicData uri="http://schemas.openxmlformats.org/drawingml/2006/table">
            <a:tbl>
              <a:tblPr/>
              <a:tblGrid>
                <a:gridCol w="2595562">
                  <a:extLst>
                    <a:ext uri="{9D8B030D-6E8A-4147-A177-3AD203B41FA5}">
                      <a16:colId xmlns:a16="http://schemas.microsoft.com/office/drawing/2014/main" val="2054514425"/>
                    </a:ext>
                  </a:extLst>
                </a:gridCol>
                <a:gridCol w="5180013">
                  <a:extLst>
                    <a:ext uri="{9D8B030D-6E8A-4147-A177-3AD203B41FA5}">
                      <a16:colId xmlns:a16="http://schemas.microsoft.com/office/drawing/2014/main" val="2071193664"/>
                    </a:ext>
                  </a:extLst>
                </a:gridCol>
              </a:tblGrid>
              <a:tr h="5588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参谋人员类型</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个人参谋专为高层管理者提供服务。</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专业参谋为各级直线主管提供专业性建议与服务。</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81159320"/>
                  </a:ext>
                </a:extLst>
              </a:tr>
              <a:tr h="79375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使用参谋人员的好处</a:t>
                      </a:r>
                    </a:p>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可以提供专门知识和建议；</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可以协助直线经理提高工作效率；</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可以听到不同的意见和声音。</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50764411"/>
                  </a:ext>
                </a:extLst>
              </a:tr>
              <a:tr h="131286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使用参谋人员的弊端</a:t>
                      </a:r>
                    </a:p>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削弱直线职权的危险；</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缺乏责任；</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空想；</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破坏统一指挥的原则；</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使管理工作复杂化。</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48387262"/>
                  </a:ext>
                </a:extLst>
              </a:tr>
              <a:tr h="37465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有效利用参谋人员的原则</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明确职权关系；</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鼓励直线人员听取参谋人员的意见；</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及时向参谋人员提供有关信息；</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采用完全参谋制度。</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09004190"/>
                  </a:ext>
                </a:extLst>
              </a:tr>
            </a:tbl>
          </a:graphicData>
        </a:graphic>
      </p:graphicFrame>
      <p:sp>
        <p:nvSpPr>
          <p:cNvPr id="92181" name="Rectangle 21">
            <a:extLst>
              <a:ext uri="{FF2B5EF4-FFF2-40B4-BE49-F238E27FC236}">
                <a16:creationId xmlns:a16="http://schemas.microsoft.com/office/drawing/2014/main" id="{64F7DBD1-2AAB-7BF8-6995-D0877AD2D060}"/>
              </a:ext>
            </a:extLst>
          </p:cNvPr>
          <p:cNvSpPr>
            <a:spLocks noChangeArrowheads="1"/>
          </p:cNvSpPr>
          <p:nvPr/>
        </p:nvSpPr>
        <p:spPr bwMode="auto">
          <a:xfrm>
            <a:off x="179388" y="188913"/>
            <a:ext cx="14827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en-US" altLang="zh-CN" sz="1600">
                <a:latin typeface="Arial" panose="020B0604020202020204" pitchFamily="34" charset="0"/>
              </a:rPr>
              <a:t>8.2</a:t>
            </a:r>
            <a:r>
              <a:rPr kumimoji="0" lang="zh-CN" altLang="en-US" sz="1600">
                <a:latin typeface="Arial" panose="020B0604020202020204" pitchFamily="34" charset="0"/>
              </a:rPr>
              <a:t>职权的类型</a:t>
            </a:r>
          </a:p>
        </p:txBody>
      </p:sp>
      <p:graphicFrame>
        <p:nvGraphicFramePr>
          <p:cNvPr id="92224" name="Group 64">
            <a:extLst>
              <a:ext uri="{FF2B5EF4-FFF2-40B4-BE49-F238E27FC236}">
                <a16:creationId xmlns:a16="http://schemas.microsoft.com/office/drawing/2014/main" id="{9E6D1AA0-6C39-12B5-6FAA-7193743D628F}"/>
              </a:ext>
            </a:extLst>
          </p:cNvPr>
          <p:cNvGraphicFramePr>
            <a:graphicFrameLocks noGrp="1"/>
          </p:cNvGraphicFramePr>
          <p:nvPr>
            <p:ph sz="half" idx="4294967295"/>
          </p:nvPr>
        </p:nvGraphicFramePr>
        <p:xfrm>
          <a:off x="684213" y="765175"/>
          <a:ext cx="7742237" cy="1158875"/>
        </p:xfrm>
        <a:graphic>
          <a:graphicData uri="http://schemas.openxmlformats.org/drawingml/2006/table">
            <a:tbl>
              <a:tblPr/>
              <a:tblGrid>
                <a:gridCol w="1008062">
                  <a:extLst>
                    <a:ext uri="{9D8B030D-6E8A-4147-A177-3AD203B41FA5}">
                      <a16:colId xmlns:a16="http://schemas.microsoft.com/office/drawing/2014/main" val="1539297363"/>
                    </a:ext>
                  </a:extLst>
                </a:gridCol>
                <a:gridCol w="6734175">
                  <a:extLst>
                    <a:ext uri="{9D8B030D-6E8A-4147-A177-3AD203B41FA5}">
                      <a16:colId xmlns:a16="http://schemas.microsoft.com/office/drawing/2014/main" val="1292168710"/>
                    </a:ext>
                  </a:extLst>
                </a:gridCol>
              </a:tblGrid>
              <a:tr h="3683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直线职能</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指对完成组织目标负有直接责任的部门或人员，通常把生产、销售、财务划为直线职能。</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69138907"/>
                  </a:ext>
                </a:extLst>
              </a:tr>
              <a:tr h="28733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参谋职能</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指提供各种支援，保证直线职能最有效地发挥作用的部门或人员。通常把人事、采购、会计、维修等划为参谋职能。</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4426904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521447F-B555-6F09-727B-20646FFB972C}"/>
              </a:ext>
            </a:extLst>
          </p:cNvPr>
          <p:cNvSpPr>
            <a:spLocks noGrp="1"/>
          </p:cNvSpPr>
          <p:nvPr>
            <p:ph type="dt" sz="half" idx="10"/>
          </p:nvPr>
        </p:nvSpPr>
        <p:spPr/>
        <p:txBody>
          <a:bodyPr/>
          <a:lstStyle/>
          <a:p>
            <a:r>
              <a:rPr lang="zh-CN" altLang="en-US"/>
              <a:t>版本：2004</a:t>
            </a:r>
            <a:endParaRPr lang="en-US" altLang="zh-CN"/>
          </a:p>
        </p:txBody>
      </p:sp>
      <p:sp>
        <p:nvSpPr>
          <p:cNvPr id="3" name="页脚占位符 2">
            <a:extLst>
              <a:ext uri="{FF2B5EF4-FFF2-40B4-BE49-F238E27FC236}">
                <a16:creationId xmlns:a16="http://schemas.microsoft.com/office/drawing/2014/main" id="{9CACD1CA-A71B-08BB-1B3F-346F0E900B75}"/>
              </a:ext>
            </a:extLst>
          </p:cNvPr>
          <p:cNvSpPr>
            <a:spLocks noGrp="1"/>
          </p:cNvSpPr>
          <p:nvPr>
            <p:ph type="ftr" sz="quarter" idx="11"/>
          </p:nvPr>
        </p:nvSpPr>
        <p:spPr/>
        <p:txBody>
          <a:bodyPr/>
          <a:lstStyle/>
          <a:p>
            <a:r>
              <a:rPr lang="en-US" altLang="zh-CN"/>
              <a:t>管理学</a:t>
            </a:r>
          </a:p>
        </p:txBody>
      </p:sp>
      <p:sp>
        <p:nvSpPr>
          <p:cNvPr id="4" name="灯片编号占位符 3">
            <a:extLst>
              <a:ext uri="{FF2B5EF4-FFF2-40B4-BE49-F238E27FC236}">
                <a16:creationId xmlns:a16="http://schemas.microsoft.com/office/drawing/2014/main" id="{980B75C7-2BCC-AE78-C038-B3897CDBFCF5}"/>
              </a:ext>
            </a:extLst>
          </p:cNvPr>
          <p:cNvSpPr>
            <a:spLocks noGrp="1"/>
          </p:cNvSpPr>
          <p:nvPr>
            <p:ph type="sldNum" sz="quarter" idx="12"/>
          </p:nvPr>
        </p:nvSpPr>
        <p:spPr/>
        <p:txBody>
          <a:bodyPr/>
          <a:lstStyle/>
          <a:p>
            <a:fld id="{493B1EB9-D367-4A8C-89A0-9479D5718512}" type="slidenum">
              <a:rPr lang="en-US" altLang="zh-CN"/>
              <a:pPr/>
              <a:t>9</a:t>
            </a:fld>
            <a:endParaRPr lang="en-US" altLang="zh-CN"/>
          </a:p>
        </p:txBody>
      </p:sp>
      <p:sp>
        <p:nvSpPr>
          <p:cNvPr id="93186" name="Rectangle 2">
            <a:extLst>
              <a:ext uri="{FF2B5EF4-FFF2-40B4-BE49-F238E27FC236}">
                <a16:creationId xmlns:a16="http://schemas.microsoft.com/office/drawing/2014/main" id="{8CD66132-0932-05C8-9462-6D2A1CEB8892}"/>
              </a:ext>
            </a:extLst>
          </p:cNvPr>
          <p:cNvSpPr>
            <a:spLocks noChangeArrowheads="1"/>
          </p:cNvSpPr>
          <p:nvPr/>
        </p:nvSpPr>
        <p:spPr bwMode="auto">
          <a:xfrm>
            <a:off x="900113" y="908050"/>
            <a:ext cx="863600"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直线</a:t>
            </a:r>
          </a:p>
        </p:txBody>
      </p:sp>
      <p:sp>
        <p:nvSpPr>
          <p:cNvPr id="93187" name="Rectangle 3">
            <a:extLst>
              <a:ext uri="{FF2B5EF4-FFF2-40B4-BE49-F238E27FC236}">
                <a16:creationId xmlns:a16="http://schemas.microsoft.com/office/drawing/2014/main" id="{E4AE1384-9AC8-BA29-4376-BB67D6D1B0A9}"/>
              </a:ext>
            </a:extLst>
          </p:cNvPr>
          <p:cNvSpPr>
            <a:spLocks noChangeArrowheads="1"/>
          </p:cNvSpPr>
          <p:nvPr/>
        </p:nvSpPr>
        <p:spPr bwMode="auto">
          <a:xfrm>
            <a:off x="4067175" y="2636838"/>
            <a:ext cx="863600"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职能</a:t>
            </a:r>
          </a:p>
        </p:txBody>
      </p:sp>
      <p:sp>
        <p:nvSpPr>
          <p:cNvPr id="93188" name="Rectangle 4">
            <a:extLst>
              <a:ext uri="{FF2B5EF4-FFF2-40B4-BE49-F238E27FC236}">
                <a16:creationId xmlns:a16="http://schemas.microsoft.com/office/drawing/2014/main" id="{15299D44-B100-EA7B-267A-61AE164FDCBE}"/>
              </a:ext>
            </a:extLst>
          </p:cNvPr>
          <p:cNvSpPr>
            <a:spLocks noChangeArrowheads="1"/>
          </p:cNvSpPr>
          <p:nvPr/>
        </p:nvSpPr>
        <p:spPr bwMode="auto">
          <a:xfrm>
            <a:off x="900113" y="2636838"/>
            <a:ext cx="863600"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直线</a:t>
            </a:r>
          </a:p>
        </p:txBody>
      </p:sp>
      <p:sp>
        <p:nvSpPr>
          <p:cNvPr id="93189" name="Rectangle 5">
            <a:extLst>
              <a:ext uri="{FF2B5EF4-FFF2-40B4-BE49-F238E27FC236}">
                <a16:creationId xmlns:a16="http://schemas.microsoft.com/office/drawing/2014/main" id="{975A29F9-23C6-A868-BB2F-7D94F7ED2B89}"/>
              </a:ext>
            </a:extLst>
          </p:cNvPr>
          <p:cNvSpPr>
            <a:spLocks noChangeArrowheads="1"/>
          </p:cNvSpPr>
          <p:nvPr/>
        </p:nvSpPr>
        <p:spPr bwMode="auto">
          <a:xfrm>
            <a:off x="900113" y="4365625"/>
            <a:ext cx="863600"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直线</a:t>
            </a:r>
          </a:p>
        </p:txBody>
      </p:sp>
      <p:sp>
        <p:nvSpPr>
          <p:cNvPr id="93190" name="Rectangle 6">
            <a:extLst>
              <a:ext uri="{FF2B5EF4-FFF2-40B4-BE49-F238E27FC236}">
                <a16:creationId xmlns:a16="http://schemas.microsoft.com/office/drawing/2014/main" id="{C78D0800-F790-B972-6296-3F15F2C7590D}"/>
              </a:ext>
            </a:extLst>
          </p:cNvPr>
          <p:cNvSpPr>
            <a:spLocks noChangeArrowheads="1"/>
          </p:cNvSpPr>
          <p:nvPr/>
        </p:nvSpPr>
        <p:spPr bwMode="auto">
          <a:xfrm>
            <a:off x="3563938" y="908050"/>
            <a:ext cx="863600"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直线</a:t>
            </a:r>
          </a:p>
        </p:txBody>
      </p:sp>
      <p:sp>
        <p:nvSpPr>
          <p:cNvPr id="93191" name="Rectangle 7">
            <a:extLst>
              <a:ext uri="{FF2B5EF4-FFF2-40B4-BE49-F238E27FC236}">
                <a16:creationId xmlns:a16="http://schemas.microsoft.com/office/drawing/2014/main" id="{C9BB5D09-40F3-F6E6-2A42-0C51687DE9F8}"/>
              </a:ext>
            </a:extLst>
          </p:cNvPr>
          <p:cNvSpPr>
            <a:spLocks noChangeArrowheads="1"/>
          </p:cNvSpPr>
          <p:nvPr/>
        </p:nvSpPr>
        <p:spPr bwMode="auto">
          <a:xfrm>
            <a:off x="3059113" y="2636838"/>
            <a:ext cx="863600"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职能</a:t>
            </a:r>
          </a:p>
        </p:txBody>
      </p:sp>
      <p:sp>
        <p:nvSpPr>
          <p:cNvPr id="93192" name="Rectangle 8">
            <a:extLst>
              <a:ext uri="{FF2B5EF4-FFF2-40B4-BE49-F238E27FC236}">
                <a16:creationId xmlns:a16="http://schemas.microsoft.com/office/drawing/2014/main" id="{B0A815B8-81DA-EDC1-3A37-3AD2D1700656}"/>
              </a:ext>
            </a:extLst>
          </p:cNvPr>
          <p:cNvSpPr>
            <a:spLocks noChangeArrowheads="1"/>
          </p:cNvSpPr>
          <p:nvPr/>
        </p:nvSpPr>
        <p:spPr bwMode="auto">
          <a:xfrm>
            <a:off x="5003800" y="2636838"/>
            <a:ext cx="863600"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职能</a:t>
            </a:r>
          </a:p>
        </p:txBody>
      </p:sp>
      <p:sp>
        <p:nvSpPr>
          <p:cNvPr id="93193" name="Rectangle 9">
            <a:extLst>
              <a:ext uri="{FF2B5EF4-FFF2-40B4-BE49-F238E27FC236}">
                <a16:creationId xmlns:a16="http://schemas.microsoft.com/office/drawing/2014/main" id="{679B7716-3BEC-BD0F-A4E0-03BC977AD1A8}"/>
              </a:ext>
            </a:extLst>
          </p:cNvPr>
          <p:cNvSpPr>
            <a:spLocks noChangeArrowheads="1"/>
          </p:cNvSpPr>
          <p:nvPr/>
        </p:nvSpPr>
        <p:spPr bwMode="auto">
          <a:xfrm>
            <a:off x="6227763" y="1628775"/>
            <a:ext cx="863600"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职能</a:t>
            </a:r>
          </a:p>
        </p:txBody>
      </p:sp>
      <p:sp>
        <p:nvSpPr>
          <p:cNvPr id="93194" name="Rectangle 10">
            <a:extLst>
              <a:ext uri="{FF2B5EF4-FFF2-40B4-BE49-F238E27FC236}">
                <a16:creationId xmlns:a16="http://schemas.microsoft.com/office/drawing/2014/main" id="{58C4576E-5213-DCC9-7CD0-7AF443257608}"/>
              </a:ext>
            </a:extLst>
          </p:cNvPr>
          <p:cNvSpPr>
            <a:spLocks noChangeArrowheads="1"/>
          </p:cNvSpPr>
          <p:nvPr/>
        </p:nvSpPr>
        <p:spPr bwMode="auto">
          <a:xfrm>
            <a:off x="2124075" y="2636838"/>
            <a:ext cx="863600"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职能</a:t>
            </a:r>
          </a:p>
        </p:txBody>
      </p:sp>
      <p:sp>
        <p:nvSpPr>
          <p:cNvPr id="93195" name="Line 11">
            <a:extLst>
              <a:ext uri="{FF2B5EF4-FFF2-40B4-BE49-F238E27FC236}">
                <a16:creationId xmlns:a16="http://schemas.microsoft.com/office/drawing/2014/main" id="{654D8C30-AEAE-0D85-AAC5-F1A4C0C3E0E7}"/>
              </a:ext>
            </a:extLst>
          </p:cNvPr>
          <p:cNvSpPr>
            <a:spLocks noChangeShapeType="1"/>
          </p:cNvSpPr>
          <p:nvPr/>
        </p:nvSpPr>
        <p:spPr bwMode="auto">
          <a:xfrm flipH="1">
            <a:off x="2555875" y="1341438"/>
            <a:ext cx="1439863" cy="1295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196" name="Line 12">
            <a:extLst>
              <a:ext uri="{FF2B5EF4-FFF2-40B4-BE49-F238E27FC236}">
                <a16:creationId xmlns:a16="http://schemas.microsoft.com/office/drawing/2014/main" id="{196DD55D-C7B0-0F7C-0FF4-5E911E4FF527}"/>
              </a:ext>
            </a:extLst>
          </p:cNvPr>
          <p:cNvSpPr>
            <a:spLocks noChangeShapeType="1"/>
          </p:cNvSpPr>
          <p:nvPr/>
        </p:nvSpPr>
        <p:spPr bwMode="auto">
          <a:xfrm flipH="1">
            <a:off x="3492500" y="1341438"/>
            <a:ext cx="503238" cy="1295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197" name="Line 13">
            <a:extLst>
              <a:ext uri="{FF2B5EF4-FFF2-40B4-BE49-F238E27FC236}">
                <a16:creationId xmlns:a16="http://schemas.microsoft.com/office/drawing/2014/main" id="{98EC8900-1A49-A24C-CA98-14EF9A37ED66}"/>
              </a:ext>
            </a:extLst>
          </p:cNvPr>
          <p:cNvSpPr>
            <a:spLocks noChangeShapeType="1"/>
          </p:cNvSpPr>
          <p:nvPr/>
        </p:nvSpPr>
        <p:spPr bwMode="auto">
          <a:xfrm>
            <a:off x="3995738" y="1341438"/>
            <a:ext cx="504825" cy="1295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198" name="Line 14">
            <a:extLst>
              <a:ext uri="{FF2B5EF4-FFF2-40B4-BE49-F238E27FC236}">
                <a16:creationId xmlns:a16="http://schemas.microsoft.com/office/drawing/2014/main" id="{86583C37-DD28-1E08-D457-52506C8C5D3F}"/>
              </a:ext>
            </a:extLst>
          </p:cNvPr>
          <p:cNvSpPr>
            <a:spLocks noChangeShapeType="1"/>
          </p:cNvSpPr>
          <p:nvPr/>
        </p:nvSpPr>
        <p:spPr bwMode="auto">
          <a:xfrm>
            <a:off x="3995738" y="1341438"/>
            <a:ext cx="1439862" cy="1295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199" name="Rectangle 15">
            <a:extLst>
              <a:ext uri="{FF2B5EF4-FFF2-40B4-BE49-F238E27FC236}">
                <a16:creationId xmlns:a16="http://schemas.microsoft.com/office/drawing/2014/main" id="{4352BBA6-E8C1-96D0-9507-4F254DBABDDF}"/>
              </a:ext>
            </a:extLst>
          </p:cNvPr>
          <p:cNvSpPr>
            <a:spLocks noChangeArrowheads="1"/>
          </p:cNvSpPr>
          <p:nvPr/>
        </p:nvSpPr>
        <p:spPr bwMode="auto">
          <a:xfrm>
            <a:off x="3563938" y="4365625"/>
            <a:ext cx="865187"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直线</a:t>
            </a:r>
          </a:p>
        </p:txBody>
      </p:sp>
      <p:sp>
        <p:nvSpPr>
          <p:cNvPr id="93200" name="Line 16">
            <a:extLst>
              <a:ext uri="{FF2B5EF4-FFF2-40B4-BE49-F238E27FC236}">
                <a16:creationId xmlns:a16="http://schemas.microsoft.com/office/drawing/2014/main" id="{5713D8CC-C634-8C48-6786-3C54EA352470}"/>
              </a:ext>
            </a:extLst>
          </p:cNvPr>
          <p:cNvSpPr>
            <a:spLocks noChangeShapeType="1"/>
          </p:cNvSpPr>
          <p:nvPr/>
        </p:nvSpPr>
        <p:spPr bwMode="auto">
          <a:xfrm>
            <a:off x="2555875" y="3068638"/>
            <a:ext cx="1439863" cy="1296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201" name="Line 17">
            <a:extLst>
              <a:ext uri="{FF2B5EF4-FFF2-40B4-BE49-F238E27FC236}">
                <a16:creationId xmlns:a16="http://schemas.microsoft.com/office/drawing/2014/main" id="{2AA2CE4A-550B-9B7D-227F-D4DAFB8294D1}"/>
              </a:ext>
            </a:extLst>
          </p:cNvPr>
          <p:cNvSpPr>
            <a:spLocks noChangeShapeType="1"/>
          </p:cNvSpPr>
          <p:nvPr/>
        </p:nvSpPr>
        <p:spPr bwMode="auto">
          <a:xfrm flipH="1">
            <a:off x="3995738" y="3068638"/>
            <a:ext cx="1439862" cy="1296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202" name="Line 18">
            <a:extLst>
              <a:ext uri="{FF2B5EF4-FFF2-40B4-BE49-F238E27FC236}">
                <a16:creationId xmlns:a16="http://schemas.microsoft.com/office/drawing/2014/main" id="{E6CCD111-A539-10DD-84B3-99074B0165CE}"/>
              </a:ext>
            </a:extLst>
          </p:cNvPr>
          <p:cNvSpPr>
            <a:spLocks noChangeShapeType="1"/>
          </p:cNvSpPr>
          <p:nvPr/>
        </p:nvSpPr>
        <p:spPr bwMode="auto">
          <a:xfrm>
            <a:off x="3492500" y="3068638"/>
            <a:ext cx="503238" cy="1296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203" name="Line 19">
            <a:extLst>
              <a:ext uri="{FF2B5EF4-FFF2-40B4-BE49-F238E27FC236}">
                <a16:creationId xmlns:a16="http://schemas.microsoft.com/office/drawing/2014/main" id="{418113E8-3AE8-6AFA-3949-8FA77937C2E3}"/>
              </a:ext>
            </a:extLst>
          </p:cNvPr>
          <p:cNvSpPr>
            <a:spLocks noChangeShapeType="1"/>
          </p:cNvSpPr>
          <p:nvPr/>
        </p:nvSpPr>
        <p:spPr bwMode="auto">
          <a:xfrm flipH="1">
            <a:off x="3995738" y="3068638"/>
            <a:ext cx="504825" cy="1296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204" name="Line 20">
            <a:extLst>
              <a:ext uri="{FF2B5EF4-FFF2-40B4-BE49-F238E27FC236}">
                <a16:creationId xmlns:a16="http://schemas.microsoft.com/office/drawing/2014/main" id="{AAC24DCF-98A3-F574-5968-936FB8ED9E01}"/>
              </a:ext>
            </a:extLst>
          </p:cNvPr>
          <p:cNvSpPr>
            <a:spLocks noChangeShapeType="1"/>
          </p:cNvSpPr>
          <p:nvPr/>
        </p:nvSpPr>
        <p:spPr bwMode="auto">
          <a:xfrm flipH="1">
            <a:off x="3995738" y="1341438"/>
            <a:ext cx="0" cy="30241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205" name="Rectangle 21">
            <a:extLst>
              <a:ext uri="{FF2B5EF4-FFF2-40B4-BE49-F238E27FC236}">
                <a16:creationId xmlns:a16="http://schemas.microsoft.com/office/drawing/2014/main" id="{36C37AED-0BE4-7B1C-0FC9-8BE5C423C696}"/>
              </a:ext>
            </a:extLst>
          </p:cNvPr>
          <p:cNvSpPr>
            <a:spLocks noChangeArrowheads="1"/>
          </p:cNvSpPr>
          <p:nvPr/>
        </p:nvSpPr>
        <p:spPr bwMode="auto">
          <a:xfrm>
            <a:off x="6948488" y="908050"/>
            <a:ext cx="865187"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直线</a:t>
            </a:r>
          </a:p>
        </p:txBody>
      </p:sp>
      <p:sp>
        <p:nvSpPr>
          <p:cNvPr id="93206" name="Rectangle 22">
            <a:extLst>
              <a:ext uri="{FF2B5EF4-FFF2-40B4-BE49-F238E27FC236}">
                <a16:creationId xmlns:a16="http://schemas.microsoft.com/office/drawing/2014/main" id="{586D970B-4AB8-297D-6E65-2C9C699E76EA}"/>
              </a:ext>
            </a:extLst>
          </p:cNvPr>
          <p:cNvSpPr>
            <a:spLocks noChangeArrowheads="1"/>
          </p:cNvSpPr>
          <p:nvPr/>
        </p:nvSpPr>
        <p:spPr bwMode="auto">
          <a:xfrm>
            <a:off x="6948488" y="2636838"/>
            <a:ext cx="865187"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直线</a:t>
            </a:r>
          </a:p>
        </p:txBody>
      </p:sp>
      <p:sp>
        <p:nvSpPr>
          <p:cNvPr id="93207" name="Rectangle 23">
            <a:extLst>
              <a:ext uri="{FF2B5EF4-FFF2-40B4-BE49-F238E27FC236}">
                <a16:creationId xmlns:a16="http://schemas.microsoft.com/office/drawing/2014/main" id="{100FA811-4418-AF72-8C90-7D365D248156}"/>
              </a:ext>
            </a:extLst>
          </p:cNvPr>
          <p:cNvSpPr>
            <a:spLocks noChangeArrowheads="1"/>
          </p:cNvSpPr>
          <p:nvPr/>
        </p:nvSpPr>
        <p:spPr bwMode="auto">
          <a:xfrm>
            <a:off x="6948488" y="4365625"/>
            <a:ext cx="865187"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直线</a:t>
            </a:r>
          </a:p>
        </p:txBody>
      </p:sp>
      <p:sp>
        <p:nvSpPr>
          <p:cNvPr id="93208" name="Rectangle 24">
            <a:extLst>
              <a:ext uri="{FF2B5EF4-FFF2-40B4-BE49-F238E27FC236}">
                <a16:creationId xmlns:a16="http://schemas.microsoft.com/office/drawing/2014/main" id="{E19F065D-E276-B515-55C7-3ED53B69C4E1}"/>
              </a:ext>
            </a:extLst>
          </p:cNvPr>
          <p:cNvSpPr>
            <a:spLocks noChangeArrowheads="1"/>
          </p:cNvSpPr>
          <p:nvPr/>
        </p:nvSpPr>
        <p:spPr bwMode="auto">
          <a:xfrm>
            <a:off x="7667625" y="1628775"/>
            <a:ext cx="865188"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职能</a:t>
            </a:r>
          </a:p>
        </p:txBody>
      </p:sp>
      <p:sp>
        <p:nvSpPr>
          <p:cNvPr id="93209" name="Rectangle 25">
            <a:extLst>
              <a:ext uri="{FF2B5EF4-FFF2-40B4-BE49-F238E27FC236}">
                <a16:creationId xmlns:a16="http://schemas.microsoft.com/office/drawing/2014/main" id="{C91FB558-8669-2255-BA79-9B50DCF1A86D}"/>
              </a:ext>
            </a:extLst>
          </p:cNvPr>
          <p:cNvSpPr>
            <a:spLocks noChangeArrowheads="1"/>
          </p:cNvSpPr>
          <p:nvPr/>
        </p:nvSpPr>
        <p:spPr bwMode="auto">
          <a:xfrm>
            <a:off x="6227763" y="3357563"/>
            <a:ext cx="865187"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职能</a:t>
            </a:r>
          </a:p>
        </p:txBody>
      </p:sp>
      <p:sp>
        <p:nvSpPr>
          <p:cNvPr id="93210" name="Rectangle 26">
            <a:extLst>
              <a:ext uri="{FF2B5EF4-FFF2-40B4-BE49-F238E27FC236}">
                <a16:creationId xmlns:a16="http://schemas.microsoft.com/office/drawing/2014/main" id="{4304D5E1-4564-3792-8596-79AD51770265}"/>
              </a:ext>
            </a:extLst>
          </p:cNvPr>
          <p:cNvSpPr>
            <a:spLocks noChangeArrowheads="1"/>
          </p:cNvSpPr>
          <p:nvPr/>
        </p:nvSpPr>
        <p:spPr bwMode="auto">
          <a:xfrm>
            <a:off x="7667625" y="3357563"/>
            <a:ext cx="865188"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职能</a:t>
            </a:r>
          </a:p>
        </p:txBody>
      </p:sp>
      <p:sp>
        <p:nvSpPr>
          <p:cNvPr id="93211" name="Line 27">
            <a:extLst>
              <a:ext uri="{FF2B5EF4-FFF2-40B4-BE49-F238E27FC236}">
                <a16:creationId xmlns:a16="http://schemas.microsoft.com/office/drawing/2014/main" id="{F926A243-6CFC-5DD1-744B-BB3E273D20BC}"/>
              </a:ext>
            </a:extLst>
          </p:cNvPr>
          <p:cNvSpPr>
            <a:spLocks noChangeShapeType="1"/>
          </p:cNvSpPr>
          <p:nvPr/>
        </p:nvSpPr>
        <p:spPr bwMode="auto">
          <a:xfrm>
            <a:off x="6659563" y="1484313"/>
            <a:ext cx="14414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212" name="Line 28">
            <a:extLst>
              <a:ext uri="{FF2B5EF4-FFF2-40B4-BE49-F238E27FC236}">
                <a16:creationId xmlns:a16="http://schemas.microsoft.com/office/drawing/2014/main" id="{2B495F91-0696-7EB3-E31E-3CC43979B866}"/>
              </a:ext>
            </a:extLst>
          </p:cNvPr>
          <p:cNvSpPr>
            <a:spLocks noChangeShapeType="1"/>
          </p:cNvSpPr>
          <p:nvPr/>
        </p:nvSpPr>
        <p:spPr bwMode="auto">
          <a:xfrm>
            <a:off x="7380288" y="1341438"/>
            <a:ext cx="0" cy="129540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213" name="Line 29">
            <a:extLst>
              <a:ext uri="{FF2B5EF4-FFF2-40B4-BE49-F238E27FC236}">
                <a16:creationId xmlns:a16="http://schemas.microsoft.com/office/drawing/2014/main" id="{5FAF6382-F1C8-C3E3-DB5E-82A2437673B0}"/>
              </a:ext>
            </a:extLst>
          </p:cNvPr>
          <p:cNvSpPr>
            <a:spLocks noChangeShapeType="1"/>
          </p:cNvSpPr>
          <p:nvPr/>
        </p:nvSpPr>
        <p:spPr bwMode="auto">
          <a:xfrm>
            <a:off x="6659563" y="3213100"/>
            <a:ext cx="14414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214" name="Line 30">
            <a:extLst>
              <a:ext uri="{FF2B5EF4-FFF2-40B4-BE49-F238E27FC236}">
                <a16:creationId xmlns:a16="http://schemas.microsoft.com/office/drawing/2014/main" id="{7AF53073-7B81-7FFA-2CA0-179C80E3A172}"/>
              </a:ext>
            </a:extLst>
          </p:cNvPr>
          <p:cNvSpPr>
            <a:spLocks noChangeShapeType="1"/>
          </p:cNvSpPr>
          <p:nvPr/>
        </p:nvSpPr>
        <p:spPr bwMode="auto">
          <a:xfrm>
            <a:off x="1331913" y="1341438"/>
            <a:ext cx="0" cy="129540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215" name="Line 31">
            <a:extLst>
              <a:ext uri="{FF2B5EF4-FFF2-40B4-BE49-F238E27FC236}">
                <a16:creationId xmlns:a16="http://schemas.microsoft.com/office/drawing/2014/main" id="{3CBEC325-6224-B5A8-01E6-210B74D4BB2F}"/>
              </a:ext>
            </a:extLst>
          </p:cNvPr>
          <p:cNvSpPr>
            <a:spLocks noChangeShapeType="1"/>
          </p:cNvSpPr>
          <p:nvPr/>
        </p:nvSpPr>
        <p:spPr bwMode="auto">
          <a:xfrm>
            <a:off x="1331913" y="3068638"/>
            <a:ext cx="0" cy="129540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216" name="Line 32">
            <a:extLst>
              <a:ext uri="{FF2B5EF4-FFF2-40B4-BE49-F238E27FC236}">
                <a16:creationId xmlns:a16="http://schemas.microsoft.com/office/drawing/2014/main" id="{9AF523F0-4955-260D-459B-2C8DF899EE73}"/>
              </a:ext>
            </a:extLst>
          </p:cNvPr>
          <p:cNvSpPr>
            <a:spLocks noChangeShapeType="1"/>
          </p:cNvSpPr>
          <p:nvPr/>
        </p:nvSpPr>
        <p:spPr bwMode="auto">
          <a:xfrm>
            <a:off x="6659563" y="1484313"/>
            <a:ext cx="0"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217" name="Line 33">
            <a:extLst>
              <a:ext uri="{FF2B5EF4-FFF2-40B4-BE49-F238E27FC236}">
                <a16:creationId xmlns:a16="http://schemas.microsoft.com/office/drawing/2014/main" id="{A5A198E5-8CC1-8E5F-ECDF-AAC2EF0E67FF}"/>
              </a:ext>
            </a:extLst>
          </p:cNvPr>
          <p:cNvSpPr>
            <a:spLocks noChangeShapeType="1"/>
          </p:cNvSpPr>
          <p:nvPr/>
        </p:nvSpPr>
        <p:spPr bwMode="auto">
          <a:xfrm>
            <a:off x="8101013" y="1484313"/>
            <a:ext cx="0"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218" name="Line 34">
            <a:extLst>
              <a:ext uri="{FF2B5EF4-FFF2-40B4-BE49-F238E27FC236}">
                <a16:creationId xmlns:a16="http://schemas.microsoft.com/office/drawing/2014/main" id="{C7529F14-00E0-FE57-94AE-E6D5B0504EFA}"/>
              </a:ext>
            </a:extLst>
          </p:cNvPr>
          <p:cNvSpPr>
            <a:spLocks noChangeShapeType="1"/>
          </p:cNvSpPr>
          <p:nvPr/>
        </p:nvSpPr>
        <p:spPr bwMode="auto">
          <a:xfrm>
            <a:off x="6659563" y="3213100"/>
            <a:ext cx="0" cy="144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219" name="Line 35">
            <a:extLst>
              <a:ext uri="{FF2B5EF4-FFF2-40B4-BE49-F238E27FC236}">
                <a16:creationId xmlns:a16="http://schemas.microsoft.com/office/drawing/2014/main" id="{03FC743E-C5AF-1F8D-04B8-23D2D169EEC8}"/>
              </a:ext>
            </a:extLst>
          </p:cNvPr>
          <p:cNvSpPr>
            <a:spLocks noChangeShapeType="1"/>
          </p:cNvSpPr>
          <p:nvPr/>
        </p:nvSpPr>
        <p:spPr bwMode="auto">
          <a:xfrm>
            <a:off x="8101013" y="3213100"/>
            <a:ext cx="0" cy="144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220" name="Line 36">
            <a:extLst>
              <a:ext uri="{FF2B5EF4-FFF2-40B4-BE49-F238E27FC236}">
                <a16:creationId xmlns:a16="http://schemas.microsoft.com/office/drawing/2014/main" id="{1F7DA7BF-72DE-B20D-A476-004ECE7D1C51}"/>
              </a:ext>
            </a:extLst>
          </p:cNvPr>
          <p:cNvSpPr>
            <a:spLocks noChangeShapeType="1"/>
          </p:cNvSpPr>
          <p:nvPr/>
        </p:nvSpPr>
        <p:spPr bwMode="auto">
          <a:xfrm>
            <a:off x="6588125" y="2060575"/>
            <a:ext cx="0" cy="1296988"/>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221" name="Line 37">
            <a:extLst>
              <a:ext uri="{FF2B5EF4-FFF2-40B4-BE49-F238E27FC236}">
                <a16:creationId xmlns:a16="http://schemas.microsoft.com/office/drawing/2014/main" id="{B20CBE7B-C951-EB4C-9435-BD6019D3B9AD}"/>
              </a:ext>
            </a:extLst>
          </p:cNvPr>
          <p:cNvSpPr>
            <a:spLocks noChangeShapeType="1"/>
          </p:cNvSpPr>
          <p:nvPr/>
        </p:nvSpPr>
        <p:spPr bwMode="auto">
          <a:xfrm flipH="1">
            <a:off x="8172450" y="2060575"/>
            <a:ext cx="0" cy="1296988"/>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222" name="Line 38">
            <a:extLst>
              <a:ext uri="{FF2B5EF4-FFF2-40B4-BE49-F238E27FC236}">
                <a16:creationId xmlns:a16="http://schemas.microsoft.com/office/drawing/2014/main" id="{D755BD97-41B1-8A6F-2657-75C5EDDD3006}"/>
              </a:ext>
            </a:extLst>
          </p:cNvPr>
          <p:cNvSpPr>
            <a:spLocks noChangeShapeType="1"/>
          </p:cNvSpPr>
          <p:nvPr/>
        </p:nvSpPr>
        <p:spPr bwMode="auto">
          <a:xfrm>
            <a:off x="7380288" y="3068638"/>
            <a:ext cx="0" cy="129540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225" name="Text Box 41">
            <a:extLst>
              <a:ext uri="{FF2B5EF4-FFF2-40B4-BE49-F238E27FC236}">
                <a16:creationId xmlns:a16="http://schemas.microsoft.com/office/drawing/2014/main" id="{C0F22F46-2B05-3FDD-3A19-E136E9A2F8BA}"/>
              </a:ext>
            </a:extLst>
          </p:cNvPr>
          <p:cNvSpPr txBox="1">
            <a:spLocks noChangeArrowheads="1"/>
          </p:cNvSpPr>
          <p:nvPr/>
        </p:nvSpPr>
        <p:spPr bwMode="auto">
          <a:xfrm>
            <a:off x="900113" y="5013325"/>
            <a:ext cx="9366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800">
                <a:latin typeface="Arial" panose="020B0604020202020204" pitchFamily="34" charset="0"/>
              </a:rPr>
              <a:t>直线制</a:t>
            </a:r>
          </a:p>
        </p:txBody>
      </p:sp>
      <p:sp>
        <p:nvSpPr>
          <p:cNvPr id="93226" name="Text Box 42">
            <a:extLst>
              <a:ext uri="{FF2B5EF4-FFF2-40B4-BE49-F238E27FC236}">
                <a16:creationId xmlns:a16="http://schemas.microsoft.com/office/drawing/2014/main" id="{BBEEE742-8D36-C601-8D3D-1B33211CE192}"/>
              </a:ext>
            </a:extLst>
          </p:cNvPr>
          <p:cNvSpPr txBox="1">
            <a:spLocks noChangeArrowheads="1"/>
          </p:cNvSpPr>
          <p:nvPr/>
        </p:nvSpPr>
        <p:spPr bwMode="auto">
          <a:xfrm>
            <a:off x="3563938" y="5013325"/>
            <a:ext cx="9366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800">
                <a:latin typeface="Arial" panose="020B0604020202020204" pitchFamily="34" charset="0"/>
              </a:rPr>
              <a:t>职能制</a:t>
            </a:r>
          </a:p>
        </p:txBody>
      </p:sp>
      <p:sp>
        <p:nvSpPr>
          <p:cNvPr id="93227" name="Text Box 43">
            <a:extLst>
              <a:ext uri="{FF2B5EF4-FFF2-40B4-BE49-F238E27FC236}">
                <a16:creationId xmlns:a16="http://schemas.microsoft.com/office/drawing/2014/main" id="{76675E78-B580-A7E3-E1E3-46A4F3AA4450}"/>
              </a:ext>
            </a:extLst>
          </p:cNvPr>
          <p:cNvSpPr txBox="1">
            <a:spLocks noChangeArrowheads="1"/>
          </p:cNvSpPr>
          <p:nvPr/>
        </p:nvSpPr>
        <p:spPr bwMode="auto">
          <a:xfrm>
            <a:off x="6732588" y="5013325"/>
            <a:ext cx="13684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800">
                <a:latin typeface="Arial" panose="020B0604020202020204" pitchFamily="34" charset="0"/>
              </a:rPr>
              <a:t>直线职能制</a:t>
            </a:r>
          </a:p>
        </p:txBody>
      </p:sp>
      <p:sp>
        <p:nvSpPr>
          <p:cNvPr id="93228" name="Text Box 44">
            <a:extLst>
              <a:ext uri="{FF2B5EF4-FFF2-40B4-BE49-F238E27FC236}">
                <a16:creationId xmlns:a16="http://schemas.microsoft.com/office/drawing/2014/main" id="{8BE3D39C-2E07-1AA1-375A-1226F65D2845}"/>
              </a:ext>
            </a:extLst>
          </p:cNvPr>
          <p:cNvSpPr txBox="1">
            <a:spLocks noChangeArrowheads="1"/>
          </p:cNvSpPr>
          <p:nvPr/>
        </p:nvSpPr>
        <p:spPr bwMode="auto">
          <a:xfrm>
            <a:off x="2484438" y="5589588"/>
            <a:ext cx="41767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800">
                <a:latin typeface="Arial" panose="020B0604020202020204" pitchFamily="34" charset="0"/>
                <a:ea typeface="黑体" panose="02010609060101010101" pitchFamily="49" charset="-122"/>
              </a:rPr>
              <a:t>直线制、职能制、直线职能制组织形式</a:t>
            </a:r>
          </a:p>
        </p:txBody>
      </p:sp>
      <p:sp>
        <p:nvSpPr>
          <p:cNvPr id="93230" name="Rectangle 46">
            <a:extLst>
              <a:ext uri="{FF2B5EF4-FFF2-40B4-BE49-F238E27FC236}">
                <a16:creationId xmlns:a16="http://schemas.microsoft.com/office/drawing/2014/main" id="{545D842F-981B-BC2E-0CA5-C80516D15190}"/>
              </a:ext>
            </a:extLst>
          </p:cNvPr>
          <p:cNvSpPr>
            <a:spLocks noChangeArrowheads="1"/>
          </p:cNvSpPr>
          <p:nvPr/>
        </p:nvSpPr>
        <p:spPr bwMode="auto">
          <a:xfrm>
            <a:off x="179388" y="188913"/>
            <a:ext cx="14827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en-US" altLang="zh-CN" sz="1600">
                <a:latin typeface="Arial" panose="020B0604020202020204" pitchFamily="34" charset="0"/>
              </a:rPr>
              <a:t>8.2</a:t>
            </a:r>
            <a:r>
              <a:rPr kumimoji="0" lang="zh-CN" altLang="en-US" sz="1600">
                <a:latin typeface="Arial" panose="020B0604020202020204" pitchFamily="34" charset="0"/>
              </a:rPr>
              <a:t>职权的类型</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2">
            <a:extLst>
              <a:ext uri="{FF2B5EF4-FFF2-40B4-BE49-F238E27FC236}">
                <a16:creationId xmlns:a16="http://schemas.microsoft.com/office/drawing/2014/main" id="{AA4C1B25-B616-DDD1-578C-EDD27BDF7FAC}"/>
              </a:ext>
            </a:extLst>
          </p:cNvPr>
          <p:cNvSpPr>
            <a:spLocks noGrp="1"/>
          </p:cNvSpPr>
          <p:nvPr>
            <p:ph type="dt" sz="half" idx="10"/>
          </p:nvPr>
        </p:nvSpPr>
        <p:spPr/>
        <p:txBody>
          <a:bodyPr/>
          <a:lstStyle/>
          <a:p>
            <a:r>
              <a:rPr lang="zh-CN" altLang="en-US"/>
              <a:t>版本：2004</a:t>
            </a:r>
            <a:endParaRPr lang="en-US" altLang="zh-CN"/>
          </a:p>
        </p:txBody>
      </p:sp>
      <p:sp>
        <p:nvSpPr>
          <p:cNvPr id="3" name="页脚占位符 3">
            <a:extLst>
              <a:ext uri="{FF2B5EF4-FFF2-40B4-BE49-F238E27FC236}">
                <a16:creationId xmlns:a16="http://schemas.microsoft.com/office/drawing/2014/main" id="{AA285641-E71C-6F67-910C-117A73A9395C}"/>
              </a:ext>
            </a:extLst>
          </p:cNvPr>
          <p:cNvSpPr>
            <a:spLocks noGrp="1"/>
          </p:cNvSpPr>
          <p:nvPr>
            <p:ph type="ftr" sz="quarter" idx="11"/>
          </p:nvPr>
        </p:nvSpPr>
        <p:spPr/>
        <p:txBody>
          <a:bodyPr/>
          <a:lstStyle/>
          <a:p>
            <a:r>
              <a:rPr lang="en-US" altLang="zh-CN"/>
              <a:t>管理学</a:t>
            </a:r>
          </a:p>
        </p:txBody>
      </p:sp>
      <p:sp>
        <p:nvSpPr>
          <p:cNvPr id="4" name="灯片编号占位符 4">
            <a:extLst>
              <a:ext uri="{FF2B5EF4-FFF2-40B4-BE49-F238E27FC236}">
                <a16:creationId xmlns:a16="http://schemas.microsoft.com/office/drawing/2014/main" id="{6F9B61CC-4005-6F14-7754-895D0F9E5665}"/>
              </a:ext>
            </a:extLst>
          </p:cNvPr>
          <p:cNvSpPr>
            <a:spLocks noGrp="1"/>
          </p:cNvSpPr>
          <p:nvPr>
            <p:ph type="sldNum" sz="quarter" idx="12"/>
          </p:nvPr>
        </p:nvSpPr>
        <p:spPr/>
        <p:txBody>
          <a:bodyPr/>
          <a:lstStyle/>
          <a:p>
            <a:fld id="{EFBEAD25-0A2F-4E75-BC65-F7DA88469AEF}" type="slidenum">
              <a:rPr lang="en-US" altLang="zh-CN"/>
              <a:pPr/>
              <a:t>10</a:t>
            </a:fld>
            <a:endParaRPr lang="en-US" altLang="zh-CN"/>
          </a:p>
        </p:txBody>
      </p:sp>
      <p:graphicFrame>
        <p:nvGraphicFramePr>
          <p:cNvPr id="94210" name="Group 2">
            <a:extLst>
              <a:ext uri="{FF2B5EF4-FFF2-40B4-BE49-F238E27FC236}">
                <a16:creationId xmlns:a16="http://schemas.microsoft.com/office/drawing/2014/main" id="{656329CA-1603-C376-9112-7B3C98DEB7B0}"/>
              </a:ext>
            </a:extLst>
          </p:cNvPr>
          <p:cNvGraphicFramePr>
            <a:graphicFrameLocks noGrp="1"/>
          </p:cNvGraphicFramePr>
          <p:nvPr>
            <p:ph/>
          </p:nvPr>
        </p:nvGraphicFramePr>
        <p:xfrm>
          <a:off x="468313" y="1412875"/>
          <a:ext cx="8351837" cy="3694113"/>
        </p:xfrm>
        <a:graphic>
          <a:graphicData uri="http://schemas.openxmlformats.org/drawingml/2006/table">
            <a:tbl>
              <a:tblPr/>
              <a:tblGrid>
                <a:gridCol w="1295400">
                  <a:extLst>
                    <a:ext uri="{9D8B030D-6E8A-4147-A177-3AD203B41FA5}">
                      <a16:colId xmlns:a16="http://schemas.microsoft.com/office/drawing/2014/main" val="983080232"/>
                    </a:ext>
                  </a:extLst>
                </a:gridCol>
                <a:gridCol w="1871662">
                  <a:extLst>
                    <a:ext uri="{9D8B030D-6E8A-4147-A177-3AD203B41FA5}">
                      <a16:colId xmlns:a16="http://schemas.microsoft.com/office/drawing/2014/main" val="4221608167"/>
                    </a:ext>
                  </a:extLst>
                </a:gridCol>
                <a:gridCol w="2232025">
                  <a:extLst>
                    <a:ext uri="{9D8B030D-6E8A-4147-A177-3AD203B41FA5}">
                      <a16:colId xmlns:a16="http://schemas.microsoft.com/office/drawing/2014/main" val="426921568"/>
                    </a:ext>
                  </a:extLst>
                </a:gridCol>
                <a:gridCol w="1800225">
                  <a:extLst>
                    <a:ext uri="{9D8B030D-6E8A-4147-A177-3AD203B41FA5}">
                      <a16:colId xmlns:a16="http://schemas.microsoft.com/office/drawing/2014/main" val="3793383088"/>
                    </a:ext>
                  </a:extLst>
                </a:gridCol>
                <a:gridCol w="1152525">
                  <a:extLst>
                    <a:ext uri="{9D8B030D-6E8A-4147-A177-3AD203B41FA5}">
                      <a16:colId xmlns:a16="http://schemas.microsoft.com/office/drawing/2014/main" val="2125166666"/>
                    </a:ext>
                  </a:extLst>
                </a:gridCol>
              </a:tblGrid>
              <a:tr h="36036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特点</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优点</a:t>
                      </a:r>
                      <a:endParaRPr kumimoji="1"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缺点</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适用</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06812531"/>
                  </a:ext>
                </a:extLst>
              </a:tr>
              <a:tr h="10668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直线制</a:t>
                      </a:r>
                      <a:endParaRPr kumimoji="1"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直线人员直接指挥，不设参谋人员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指挥统一；</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决策迅速；</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责任明确；</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反应灵活；</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结构简单</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人才难觅；</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管理粗放；</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横向联系较差；</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过分依赖个人；</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缺乏分工。</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小企业</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72260097"/>
                  </a:ext>
                </a:extLst>
              </a:tr>
              <a:tr h="89693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职能制</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用专业分工的职能人才代替全能人才</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发挥专家的作用；</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精细管理。</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多头指挥，容易造成管理混乱、责任不清。</a:t>
                      </a:r>
                      <a:endParaRPr kumimoji="1"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50744355"/>
                  </a:ext>
                </a:extLst>
              </a:tr>
              <a:tr h="8636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直线职能制</a:t>
                      </a:r>
                      <a:endParaRPr kumimoji="1"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直线统一指挥与发挥参谋作用相结合</a:t>
                      </a:r>
                      <a:endParaRPr kumimoji="1"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保障集中统一指挥，又可发挥专家的作用。</a:t>
                      </a:r>
                      <a:endParaRPr kumimoji="1"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横向沟通困难；</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隧道视野；</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本位主义。</a:t>
                      </a:r>
                      <a:endParaRPr kumimoji="1"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中小企业</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82988184"/>
                  </a:ext>
                </a:extLst>
              </a:tr>
            </a:tbl>
          </a:graphicData>
        </a:graphic>
      </p:graphicFrame>
      <p:sp>
        <p:nvSpPr>
          <p:cNvPr id="94242" name="Text Box 34">
            <a:extLst>
              <a:ext uri="{FF2B5EF4-FFF2-40B4-BE49-F238E27FC236}">
                <a16:creationId xmlns:a16="http://schemas.microsoft.com/office/drawing/2014/main" id="{29F5B1FE-5358-CFA2-E86D-10BD54E21F1A}"/>
              </a:ext>
            </a:extLst>
          </p:cNvPr>
          <p:cNvSpPr txBox="1">
            <a:spLocks noChangeArrowheads="1"/>
          </p:cNvSpPr>
          <p:nvPr/>
        </p:nvSpPr>
        <p:spPr bwMode="auto">
          <a:xfrm>
            <a:off x="2339975" y="908050"/>
            <a:ext cx="43926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2000">
                <a:latin typeface="Arial" panose="020B0604020202020204" pitchFamily="34" charset="0"/>
                <a:ea typeface="黑体" panose="02010609060101010101" pitchFamily="49" charset="-122"/>
              </a:rPr>
              <a:t>直线制、职能制和直线职能制的比较</a:t>
            </a:r>
          </a:p>
        </p:txBody>
      </p:sp>
      <p:sp>
        <p:nvSpPr>
          <p:cNvPr id="94244" name="Rectangle 36">
            <a:extLst>
              <a:ext uri="{FF2B5EF4-FFF2-40B4-BE49-F238E27FC236}">
                <a16:creationId xmlns:a16="http://schemas.microsoft.com/office/drawing/2014/main" id="{88E7C787-E608-02D4-7B48-DD9D406C45FB}"/>
              </a:ext>
            </a:extLst>
          </p:cNvPr>
          <p:cNvSpPr>
            <a:spLocks noChangeArrowheads="1"/>
          </p:cNvSpPr>
          <p:nvPr/>
        </p:nvSpPr>
        <p:spPr bwMode="auto">
          <a:xfrm>
            <a:off x="179388" y="188913"/>
            <a:ext cx="14827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en-US" altLang="zh-CN" sz="1600">
                <a:latin typeface="Arial" panose="020B0604020202020204" pitchFamily="34" charset="0"/>
              </a:rPr>
              <a:t>8.2</a:t>
            </a:r>
            <a:r>
              <a:rPr kumimoji="0" lang="zh-CN" altLang="en-US" sz="1600">
                <a:latin typeface="Arial" panose="020B0604020202020204" pitchFamily="34" charset="0"/>
              </a:rPr>
              <a:t>职权的类型</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2">
            <a:extLst>
              <a:ext uri="{FF2B5EF4-FFF2-40B4-BE49-F238E27FC236}">
                <a16:creationId xmlns:a16="http://schemas.microsoft.com/office/drawing/2014/main" id="{7956F6E4-F5E3-71FC-C61D-A9713C04D74E}"/>
              </a:ext>
            </a:extLst>
          </p:cNvPr>
          <p:cNvSpPr>
            <a:spLocks noGrp="1"/>
          </p:cNvSpPr>
          <p:nvPr>
            <p:ph type="dt" sz="half" idx="10"/>
          </p:nvPr>
        </p:nvSpPr>
        <p:spPr/>
        <p:txBody>
          <a:bodyPr/>
          <a:lstStyle/>
          <a:p>
            <a:r>
              <a:rPr lang="zh-CN" altLang="en-US"/>
              <a:t>版本：2004</a:t>
            </a:r>
            <a:endParaRPr lang="en-US" altLang="zh-CN"/>
          </a:p>
        </p:txBody>
      </p:sp>
      <p:sp>
        <p:nvSpPr>
          <p:cNvPr id="3" name="页脚占位符 3">
            <a:extLst>
              <a:ext uri="{FF2B5EF4-FFF2-40B4-BE49-F238E27FC236}">
                <a16:creationId xmlns:a16="http://schemas.microsoft.com/office/drawing/2014/main" id="{C837B235-0ED1-1F17-6D60-4AD672C70251}"/>
              </a:ext>
            </a:extLst>
          </p:cNvPr>
          <p:cNvSpPr>
            <a:spLocks noGrp="1"/>
          </p:cNvSpPr>
          <p:nvPr>
            <p:ph type="ftr" sz="quarter" idx="11"/>
          </p:nvPr>
        </p:nvSpPr>
        <p:spPr/>
        <p:txBody>
          <a:bodyPr/>
          <a:lstStyle/>
          <a:p>
            <a:r>
              <a:rPr lang="en-US" altLang="zh-CN"/>
              <a:t>管理学</a:t>
            </a:r>
          </a:p>
        </p:txBody>
      </p:sp>
      <p:sp>
        <p:nvSpPr>
          <p:cNvPr id="4" name="灯片编号占位符 4">
            <a:extLst>
              <a:ext uri="{FF2B5EF4-FFF2-40B4-BE49-F238E27FC236}">
                <a16:creationId xmlns:a16="http://schemas.microsoft.com/office/drawing/2014/main" id="{56526FDC-6C15-311D-D983-D371E08EF3DA}"/>
              </a:ext>
            </a:extLst>
          </p:cNvPr>
          <p:cNvSpPr>
            <a:spLocks noGrp="1"/>
          </p:cNvSpPr>
          <p:nvPr>
            <p:ph type="sldNum" sz="quarter" idx="12"/>
          </p:nvPr>
        </p:nvSpPr>
        <p:spPr/>
        <p:txBody>
          <a:bodyPr/>
          <a:lstStyle/>
          <a:p>
            <a:fld id="{EFEF989C-7825-4556-A5EE-2C4B59655BD6}" type="slidenum">
              <a:rPr lang="en-US" altLang="zh-CN"/>
              <a:pPr/>
              <a:t>11</a:t>
            </a:fld>
            <a:endParaRPr lang="en-US" altLang="zh-CN"/>
          </a:p>
        </p:txBody>
      </p:sp>
      <p:sp>
        <p:nvSpPr>
          <p:cNvPr id="88066" name="Rectangle 2">
            <a:extLst>
              <a:ext uri="{FF2B5EF4-FFF2-40B4-BE49-F238E27FC236}">
                <a16:creationId xmlns:a16="http://schemas.microsoft.com/office/drawing/2014/main" id="{3C7CBC9B-2399-A340-2418-3936DE1401C5}"/>
              </a:ext>
            </a:extLst>
          </p:cNvPr>
          <p:cNvSpPr>
            <a:spLocks noChangeArrowheads="1"/>
          </p:cNvSpPr>
          <p:nvPr/>
        </p:nvSpPr>
        <p:spPr bwMode="auto">
          <a:xfrm>
            <a:off x="3492500" y="1484313"/>
            <a:ext cx="2519363" cy="12969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2000">
                <a:latin typeface="Arial" panose="020B0604020202020204" pitchFamily="34" charset="0"/>
              </a:rPr>
              <a:t>重要事项的决策权</a:t>
            </a:r>
          </a:p>
          <a:p>
            <a:pPr algn="ctr"/>
            <a:r>
              <a:rPr kumimoji="0" lang="zh-CN" altLang="en-US" sz="1800">
                <a:latin typeface="Arial" panose="020B0604020202020204" pitchFamily="34" charset="0"/>
              </a:rPr>
              <a:t>（非程序化决策） </a:t>
            </a:r>
          </a:p>
        </p:txBody>
      </p:sp>
      <p:sp>
        <p:nvSpPr>
          <p:cNvPr id="88067" name="Rectangle 3">
            <a:extLst>
              <a:ext uri="{FF2B5EF4-FFF2-40B4-BE49-F238E27FC236}">
                <a16:creationId xmlns:a16="http://schemas.microsoft.com/office/drawing/2014/main" id="{B1FFC09D-D40A-261C-86F4-EDF1EB95A13D}"/>
              </a:ext>
            </a:extLst>
          </p:cNvPr>
          <p:cNvSpPr>
            <a:spLocks noChangeArrowheads="1"/>
          </p:cNvSpPr>
          <p:nvPr/>
        </p:nvSpPr>
        <p:spPr bwMode="auto">
          <a:xfrm>
            <a:off x="3492500" y="2781300"/>
            <a:ext cx="2519363" cy="12969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2000">
                <a:latin typeface="Arial" panose="020B0604020202020204" pitchFamily="34" charset="0"/>
              </a:rPr>
              <a:t>次要事项的决策权</a:t>
            </a:r>
          </a:p>
          <a:p>
            <a:pPr algn="ctr"/>
            <a:r>
              <a:rPr kumimoji="0" lang="zh-CN" altLang="en-US" sz="1800">
                <a:latin typeface="Arial" panose="020B0604020202020204" pitchFamily="34" charset="0"/>
              </a:rPr>
              <a:t>（程序化决策） </a:t>
            </a:r>
          </a:p>
        </p:txBody>
      </p:sp>
      <p:sp>
        <p:nvSpPr>
          <p:cNvPr id="88068" name="Rectangle 4">
            <a:extLst>
              <a:ext uri="{FF2B5EF4-FFF2-40B4-BE49-F238E27FC236}">
                <a16:creationId xmlns:a16="http://schemas.microsoft.com/office/drawing/2014/main" id="{94BA39CD-D016-139A-A44E-0E14A01D48ED}"/>
              </a:ext>
            </a:extLst>
          </p:cNvPr>
          <p:cNvSpPr>
            <a:spLocks noChangeArrowheads="1"/>
          </p:cNvSpPr>
          <p:nvPr/>
        </p:nvSpPr>
        <p:spPr bwMode="auto">
          <a:xfrm>
            <a:off x="6011863" y="1484313"/>
            <a:ext cx="1235075" cy="25923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0" lang="en-US" altLang="zh-CN" sz="1800">
              <a:latin typeface="Arial" panose="020B0604020202020204" pitchFamily="34" charset="0"/>
            </a:endParaRPr>
          </a:p>
          <a:p>
            <a:pPr algn="ctr"/>
            <a:r>
              <a:rPr kumimoji="0" lang="zh-CN" altLang="en-US" sz="1800">
                <a:latin typeface="Arial" panose="020B0604020202020204" pitchFamily="34" charset="0"/>
              </a:rPr>
              <a:t>高层决策 </a:t>
            </a:r>
          </a:p>
        </p:txBody>
      </p:sp>
      <p:sp>
        <p:nvSpPr>
          <p:cNvPr id="88069" name="Rectangle 5">
            <a:extLst>
              <a:ext uri="{FF2B5EF4-FFF2-40B4-BE49-F238E27FC236}">
                <a16:creationId xmlns:a16="http://schemas.microsoft.com/office/drawing/2014/main" id="{BDF02BDB-CA0C-6281-21C0-8DC4B1C45ABD}"/>
              </a:ext>
            </a:extLst>
          </p:cNvPr>
          <p:cNvSpPr>
            <a:spLocks noChangeArrowheads="1"/>
          </p:cNvSpPr>
          <p:nvPr/>
        </p:nvSpPr>
        <p:spPr bwMode="auto">
          <a:xfrm>
            <a:off x="7235825" y="981075"/>
            <a:ext cx="1223963" cy="3095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2000">
                <a:latin typeface="Arial" panose="020B0604020202020204" pitchFamily="34" charset="0"/>
              </a:rPr>
              <a:t>集权</a:t>
            </a:r>
          </a:p>
          <a:p>
            <a:pPr algn="ctr"/>
            <a:r>
              <a:rPr kumimoji="0" lang="zh-CN" altLang="en-US" sz="1600">
                <a:latin typeface="Arial" panose="020B0604020202020204" pitchFamily="34" charset="0"/>
              </a:rPr>
              <a:t>权力集中</a:t>
            </a:r>
          </a:p>
          <a:p>
            <a:pPr algn="ctr"/>
            <a:r>
              <a:rPr kumimoji="0" lang="zh-CN" altLang="en-US" sz="1600">
                <a:latin typeface="Arial" panose="020B0604020202020204" pitchFamily="34" charset="0"/>
              </a:rPr>
              <a:t>在高层</a:t>
            </a:r>
          </a:p>
        </p:txBody>
      </p:sp>
      <p:sp>
        <p:nvSpPr>
          <p:cNvPr id="88070" name="Rectangle 6">
            <a:extLst>
              <a:ext uri="{FF2B5EF4-FFF2-40B4-BE49-F238E27FC236}">
                <a16:creationId xmlns:a16="http://schemas.microsoft.com/office/drawing/2014/main" id="{DE85734F-CDCE-B7C9-BE5A-3EA14C6D24E6}"/>
              </a:ext>
            </a:extLst>
          </p:cNvPr>
          <p:cNvSpPr>
            <a:spLocks noChangeArrowheads="1"/>
          </p:cNvSpPr>
          <p:nvPr/>
        </p:nvSpPr>
        <p:spPr bwMode="auto">
          <a:xfrm>
            <a:off x="2268538" y="1484313"/>
            <a:ext cx="1223962" cy="12969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高层决策 </a:t>
            </a:r>
          </a:p>
        </p:txBody>
      </p:sp>
      <p:sp>
        <p:nvSpPr>
          <p:cNvPr id="88071" name="Rectangle 7">
            <a:extLst>
              <a:ext uri="{FF2B5EF4-FFF2-40B4-BE49-F238E27FC236}">
                <a16:creationId xmlns:a16="http://schemas.microsoft.com/office/drawing/2014/main" id="{267B80E1-81B7-BAC0-79F4-E4BC2C385F0A}"/>
              </a:ext>
            </a:extLst>
          </p:cNvPr>
          <p:cNvSpPr>
            <a:spLocks noChangeArrowheads="1"/>
          </p:cNvSpPr>
          <p:nvPr/>
        </p:nvSpPr>
        <p:spPr bwMode="auto">
          <a:xfrm>
            <a:off x="1042988" y="981075"/>
            <a:ext cx="1223962" cy="3095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2000">
                <a:latin typeface="Arial" panose="020B0604020202020204" pitchFamily="34" charset="0"/>
              </a:rPr>
              <a:t>分权</a:t>
            </a:r>
            <a:r>
              <a:rPr kumimoji="0" lang="zh-CN" altLang="en-US" sz="1800">
                <a:latin typeface="Arial" panose="020B0604020202020204" pitchFamily="34" charset="0"/>
              </a:rPr>
              <a:t> </a:t>
            </a:r>
          </a:p>
          <a:p>
            <a:pPr algn="ctr"/>
            <a:r>
              <a:rPr kumimoji="0" lang="zh-CN" altLang="en-US" sz="1600">
                <a:latin typeface="Arial" panose="020B0604020202020204" pitchFamily="34" charset="0"/>
              </a:rPr>
              <a:t>权力分散</a:t>
            </a:r>
          </a:p>
          <a:p>
            <a:pPr algn="ctr"/>
            <a:r>
              <a:rPr kumimoji="0" lang="zh-CN" altLang="en-US" sz="1600">
                <a:latin typeface="Arial" panose="020B0604020202020204" pitchFamily="34" charset="0"/>
              </a:rPr>
              <a:t>在各层次</a:t>
            </a:r>
          </a:p>
        </p:txBody>
      </p:sp>
      <p:sp>
        <p:nvSpPr>
          <p:cNvPr id="88072" name="Rectangle 8">
            <a:extLst>
              <a:ext uri="{FF2B5EF4-FFF2-40B4-BE49-F238E27FC236}">
                <a16:creationId xmlns:a16="http://schemas.microsoft.com/office/drawing/2014/main" id="{81A50929-DBE4-CF52-F04B-95AAD7D83746}"/>
              </a:ext>
            </a:extLst>
          </p:cNvPr>
          <p:cNvSpPr>
            <a:spLocks noChangeArrowheads="1"/>
          </p:cNvSpPr>
          <p:nvPr/>
        </p:nvSpPr>
        <p:spPr bwMode="auto">
          <a:xfrm>
            <a:off x="2268538" y="2781300"/>
            <a:ext cx="1223962" cy="1295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下级决策 </a:t>
            </a:r>
          </a:p>
        </p:txBody>
      </p:sp>
      <p:sp>
        <p:nvSpPr>
          <p:cNvPr id="88073" name="Text Box 9">
            <a:extLst>
              <a:ext uri="{FF2B5EF4-FFF2-40B4-BE49-F238E27FC236}">
                <a16:creationId xmlns:a16="http://schemas.microsoft.com/office/drawing/2014/main" id="{1355E27B-13A4-6975-AC19-E88A355C3159}"/>
              </a:ext>
            </a:extLst>
          </p:cNvPr>
          <p:cNvSpPr txBox="1">
            <a:spLocks noChangeArrowheads="1"/>
          </p:cNvSpPr>
          <p:nvPr/>
        </p:nvSpPr>
        <p:spPr bwMode="auto">
          <a:xfrm>
            <a:off x="3419475" y="4076700"/>
            <a:ext cx="2736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800">
                <a:latin typeface="黑体" panose="02010609060101010101" pitchFamily="49" charset="-122"/>
                <a:ea typeface="黑体" panose="02010609060101010101" pitchFamily="49" charset="-122"/>
              </a:rPr>
              <a:t>判断组织分权程度的标准 </a:t>
            </a:r>
          </a:p>
        </p:txBody>
      </p:sp>
      <p:sp>
        <p:nvSpPr>
          <p:cNvPr id="88074" name="Line 10">
            <a:extLst>
              <a:ext uri="{FF2B5EF4-FFF2-40B4-BE49-F238E27FC236}">
                <a16:creationId xmlns:a16="http://schemas.microsoft.com/office/drawing/2014/main" id="{738BBA49-8608-8CCE-6E86-B959B5D9C6BD}"/>
              </a:ext>
            </a:extLst>
          </p:cNvPr>
          <p:cNvSpPr>
            <a:spLocks noChangeShapeType="1"/>
          </p:cNvSpPr>
          <p:nvPr/>
        </p:nvSpPr>
        <p:spPr bwMode="auto">
          <a:xfrm>
            <a:off x="2268538" y="1196975"/>
            <a:ext cx="496728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75" name="Line 11">
            <a:extLst>
              <a:ext uri="{FF2B5EF4-FFF2-40B4-BE49-F238E27FC236}">
                <a16:creationId xmlns:a16="http://schemas.microsoft.com/office/drawing/2014/main" id="{9E2A0FA7-A8D5-1538-DED2-FFCF540EFB24}"/>
              </a:ext>
            </a:extLst>
          </p:cNvPr>
          <p:cNvSpPr>
            <a:spLocks noChangeShapeType="1"/>
          </p:cNvSpPr>
          <p:nvPr/>
        </p:nvSpPr>
        <p:spPr bwMode="auto">
          <a:xfrm flipH="1">
            <a:off x="2268538" y="1052513"/>
            <a:ext cx="4967287" cy="0"/>
          </a:xfrm>
          <a:prstGeom prst="line">
            <a:avLst/>
          </a:prstGeom>
          <a:noFill/>
          <a:ln w="9525">
            <a:solidFill>
              <a:schemeClr val="tx1"/>
            </a:solidFill>
            <a:prstDash val="lg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88076" name="Group 12">
            <a:extLst>
              <a:ext uri="{FF2B5EF4-FFF2-40B4-BE49-F238E27FC236}">
                <a16:creationId xmlns:a16="http://schemas.microsoft.com/office/drawing/2014/main" id="{71EA586D-1F02-5565-D137-5F14540D443F}"/>
              </a:ext>
            </a:extLst>
          </p:cNvPr>
          <p:cNvGraphicFramePr>
            <a:graphicFrameLocks noGrp="1"/>
          </p:cNvGraphicFramePr>
          <p:nvPr>
            <p:ph/>
          </p:nvPr>
        </p:nvGraphicFramePr>
        <p:xfrm>
          <a:off x="468313" y="4437063"/>
          <a:ext cx="8229600" cy="1825625"/>
        </p:xfrm>
        <a:graphic>
          <a:graphicData uri="http://schemas.openxmlformats.org/drawingml/2006/table">
            <a:tbl>
              <a:tblPr/>
              <a:tblGrid>
                <a:gridCol w="2746375">
                  <a:extLst>
                    <a:ext uri="{9D8B030D-6E8A-4147-A177-3AD203B41FA5}">
                      <a16:colId xmlns:a16="http://schemas.microsoft.com/office/drawing/2014/main" val="4092552378"/>
                    </a:ext>
                  </a:extLst>
                </a:gridCol>
                <a:gridCol w="5483225">
                  <a:extLst>
                    <a:ext uri="{9D8B030D-6E8A-4147-A177-3AD203B41FA5}">
                      <a16:colId xmlns:a16="http://schemas.microsoft.com/office/drawing/2014/main" val="774208689"/>
                    </a:ext>
                  </a:extLst>
                </a:gridCol>
              </a:tblGrid>
              <a:tr h="36036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分权程度的判断标准</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定义</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83417544"/>
                  </a:ext>
                </a:extLst>
              </a:tr>
              <a:tr h="29368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下级决策的数量</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下级做出的决策数量越多，分权程度越大。</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80072991"/>
                  </a:ext>
                </a:extLst>
              </a:tr>
              <a:tr h="29527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下级决策的范围</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下级做出的决策设计的范围越广，分权程度越大。</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70153886"/>
                  </a:ext>
                </a:extLst>
              </a:tr>
              <a:tr h="29368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下级决策的重要性</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下级做出的决策越重要，分权程度越大。</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91857678"/>
                  </a:ext>
                </a:extLst>
              </a:tr>
              <a:tr h="29527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对下级决策的控制程度</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下级做出的决策越不需要审核，分权程度越大。</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92895662"/>
                  </a:ext>
                </a:extLst>
              </a:tr>
            </a:tbl>
          </a:graphicData>
        </a:graphic>
      </p:graphicFrame>
      <p:sp>
        <p:nvSpPr>
          <p:cNvPr id="88097" name="Rectangle 33">
            <a:extLst>
              <a:ext uri="{FF2B5EF4-FFF2-40B4-BE49-F238E27FC236}">
                <a16:creationId xmlns:a16="http://schemas.microsoft.com/office/drawing/2014/main" id="{48054968-386C-6BAC-7321-DAF5D8AB3A2F}"/>
              </a:ext>
            </a:extLst>
          </p:cNvPr>
          <p:cNvSpPr>
            <a:spLocks noChangeArrowheads="1"/>
          </p:cNvSpPr>
          <p:nvPr/>
        </p:nvSpPr>
        <p:spPr bwMode="auto">
          <a:xfrm>
            <a:off x="179388" y="188913"/>
            <a:ext cx="20923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en-US" altLang="zh-CN" sz="1600">
                <a:latin typeface="Arial" panose="020B0604020202020204" pitchFamily="34" charset="0"/>
              </a:rPr>
              <a:t>8.3</a:t>
            </a:r>
            <a:r>
              <a:rPr kumimoji="0" lang="zh-CN" altLang="en-US" sz="1600">
                <a:latin typeface="Arial" panose="020B0604020202020204" pitchFamily="34" charset="0"/>
              </a:rPr>
              <a:t>职权的集中与分散</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2">
            <a:extLst>
              <a:ext uri="{FF2B5EF4-FFF2-40B4-BE49-F238E27FC236}">
                <a16:creationId xmlns:a16="http://schemas.microsoft.com/office/drawing/2014/main" id="{102C5174-F16C-5BBE-D6FB-967367CAF5E0}"/>
              </a:ext>
            </a:extLst>
          </p:cNvPr>
          <p:cNvSpPr>
            <a:spLocks noGrp="1"/>
          </p:cNvSpPr>
          <p:nvPr>
            <p:ph type="dt" sz="half" idx="10"/>
          </p:nvPr>
        </p:nvSpPr>
        <p:spPr/>
        <p:txBody>
          <a:bodyPr/>
          <a:lstStyle/>
          <a:p>
            <a:r>
              <a:rPr lang="zh-CN" altLang="en-US"/>
              <a:t>版本：2004</a:t>
            </a:r>
            <a:endParaRPr lang="en-US" altLang="zh-CN"/>
          </a:p>
        </p:txBody>
      </p:sp>
      <p:sp>
        <p:nvSpPr>
          <p:cNvPr id="3" name="页脚占位符 3">
            <a:extLst>
              <a:ext uri="{FF2B5EF4-FFF2-40B4-BE49-F238E27FC236}">
                <a16:creationId xmlns:a16="http://schemas.microsoft.com/office/drawing/2014/main" id="{CDEE4CE3-ACD9-04C4-D004-792A78C1AB03}"/>
              </a:ext>
            </a:extLst>
          </p:cNvPr>
          <p:cNvSpPr>
            <a:spLocks noGrp="1"/>
          </p:cNvSpPr>
          <p:nvPr>
            <p:ph type="ftr" sz="quarter" idx="11"/>
          </p:nvPr>
        </p:nvSpPr>
        <p:spPr/>
        <p:txBody>
          <a:bodyPr/>
          <a:lstStyle/>
          <a:p>
            <a:r>
              <a:rPr lang="en-US" altLang="zh-CN"/>
              <a:t>管理学</a:t>
            </a:r>
          </a:p>
        </p:txBody>
      </p:sp>
      <p:sp>
        <p:nvSpPr>
          <p:cNvPr id="4" name="灯片编号占位符 4">
            <a:extLst>
              <a:ext uri="{FF2B5EF4-FFF2-40B4-BE49-F238E27FC236}">
                <a16:creationId xmlns:a16="http://schemas.microsoft.com/office/drawing/2014/main" id="{1BAC013A-031E-7A1F-3108-C063777531CA}"/>
              </a:ext>
            </a:extLst>
          </p:cNvPr>
          <p:cNvSpPr>
            <a:spLocks noGrp="1"/>
          </p:cNvSpPr>
          <p:nvPr>
            <p:ph type="sldNum" sz="quarter" idx="12"/>
          </p:nvPr>
        </p:nvSpPr>
        <p:spPr/>
        <p:txBody>
          <a:bodyPr/>
          <a:lstStyle/>
          <a:p>
            <a:fld id="{8DF919D1-357E-4E20-B174-A040B2F2AFB4}" type="slidenum">
              <a:rPr lang="en-US" altLang="zh-CN"/>
              <a:pPr/>
              <a:t>12</a:t>
            </a:fld>
            <a:endParaRPr lang="en-US" altLang="zh-CN"/>
          </a:p>
        </p:txBody>
      </p:sp>
      <p:graphicFrame>
        <p:nvGraphicFramePr>
          <p:cNvPr id="89090" name="Group 2">
            <a:extLst>
              <a:ext uri="{FF2B5EF4-FFF2-40B4-BE49-F238E27FC236}">
                <a16:creationId xmlns:a16="http://schemas.microsoft.com/office/drawing/2014/main" id="{2D3EF38C-5F59-67AB-E483-A7F65DA27797}"/>
              </a:ext>
            </a:extLst>
          </p:cNvPr>
          <p:cNvGraphicFramePr>
            <a:graphicFrameLocks noGrp="1"/>
          </p:cNvGraphicFramePr>
          <p:nvPr>
            <p:ph/>
          </p:nvPr>
        </p:nvGraphicFramePr>
        <p:xfrm>
          <a:off x="468313" y="1412875"/>
          <a:ext cx="8229600" cy="4195763"/>
        </p:xfrm>
        <a:graphic>
          <a:graphicData uri="http://schemas.openxmlformats.org/drawingml/2006/table">
            <a:tbl>
              <a:tblPr/>
              <a:tblGrid>
                <a:gridCol w="4114800">
                  <a:extLst>
                    <a:ext uri="{9D8B030D-6E8A-4147-A177-3AD203B41FA5}">
                      <a16:colId xmlns:a16="http://schemas.microsoft.com/office/drawing/2014/main" val="2954137170"/>
                    </a:ext>
                  </a:extLst>
                </a:gridCol>
                <a:gridCol w="4114800">
                  <a:extLst>
                    <a:ext uri="{9D8B030D-6E8A-4147-A177-3AD203B41FA5}">
                      <a16:colId xmlns:a16="http://schemas.microsoft.com/office/drawing/2014/main" val="1016651125"/>
                    </a:ext>
                  </a:extLst>
                </a:gridCol>
              </a:tblGrid>
              <a:tr h="36036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分权的优势</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分权的局限性</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22493812"/>
                  </a:ext>
                </a:extLst>
              </a:tr>
              <a:tr h="23209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减轻高层决策负担并迫使高层放权；</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鼓励下级做出决策和承担权力和责任；</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给下级管理人员更多的决策自主权和独立性；</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促进建立和运用能够调到下级积极性的控制机制；</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可以对下属单位的绩效进行比较；</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便于建立利润中心；</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有助于产品多样化；</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促进总经理人才的培养；</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有助于适应快速变化的环境。</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使得政策统一更加困难；</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增加了分权组织之间协调的复杂性；</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可能导致高层部分权力失控；</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可能受到控制技术不足的限制；</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可能受到计划和控制系统不完善的约束；</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可能受到缺乏合格管理人员的限制；</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设计培训管理人员的大量费用；</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可能受到外部力量的限制；</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可能得不到规模经济的好处。</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64342492"/>
                  </a:ext>
                </a:extLst>
              </a:tr>
            </a:tbl>
          </a:graphicData>
        </a:graphic>
      </p:graphicFrame>
      <p:sp>
        <p:nvSpPr>
          <p:cNvPr id="89101" name="Text Box 13">
            <a:extLst>
              <a:ext uri="{FF2B5EF4-FFF2-40B4-BE49-F238E27FC236}">
                <a16:creationId xmlns:a16="http://schemas.microsoft.com/office/drawing/2014/main" id="{9D3528DC-E173-9BCF-E1AD-4A0E3DF4468C}"/>
              </a:ext>
            </a:extLst>
          </p:cNvPr>
          <p:cNvSpPr txBox="1">
            <a:spLocks noChangeArrowheads="1"/>
          </p:cNvSpPr>
          <p:nvPr/>
        </p:nvSpPr>
        <p:spPr bwMode="auto">
          <a:xfrm>
            <a:off x="3419475" y="981075"/>
            <a:ext cx="23050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800">
                <a:latin typeface="Arial" panose="020B0604020202020204" pitchFamily="34" charset="0"/>
                <a:ea typeface="黑体" panose="02010609060101010101" pitchFamily="49" charset="-122"/>
              </a:rPr>
              <a:t>分权的优势和局限性</a:t>
            </a:r>
          </a:p>
        </p:txBody>
      </p:sp>
      <p:sp>
        <p:nvSpPr>
          <p:cNvPr id="89103" name="Rectangle 15">
            <a:extLst>
              <a:ext uri="{FF2B5EF4-FFF2-40B4-BE49-F238E27FC236}">
                <a16:creationId xmlns:a16="http://schemas.microsoft.com/office/drawing/2014/main" id="{58C60D3F-80CF-7D95-2031-A6C11378E898}"/>
              </a:ext>
            </a:extLst>
          </p:cNvPr>
          <p:cNvSpPr>
            <a:spLocks noChangeArrowheads="1"/>
          </p:cNvSpPr>
          <p:nvPr/>
        </p:nvSpPr>
        <p:spPr bwMode="auto">
          <a:xfrm>
            <a:off x="179388" y="188913"/>
            <a:ext cx="20923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en-US" altLang="zh-CN" sz="1600">
                <a:latin typeface="Arial" panose="020B0604020202020204" pitchFamily="34" charset="0"/>
              </a:rPr>
              <a:t>8.3</a:t>
            </a:r>
            <a:r>
              <a:rPr kumimoji="0" lang="zh-CN" altLang="en-US" sz="1600">
                <a:latin typeface="Arial" panose="020B0604020202020204" pitchFamily="34" charset="0"/>
              </a:rPr>
              <a:t>职权的集中与分散</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3668648-1B21-AEE8-44EB-A4C669FF4CCC}"/>
              </a:ext>
            </a:extLst>
          </p:cNvPr>
          <p:cNvSpPr>
            <a:spLocks noGrp="1"/>
          </p:cNvSpPr>
          <p:nvPr>
            <p:ph type="dt" sz="half" idx="10"/>
          </p:nvPr>
        </p:nvSpPr>
        <p:spPr/>
        <p:txBody>
          <a:bodyPr/>
          <a:lstStyle/>
          <a:p>
            <a:r>
              <a:rPr lang="zh-CN" altLang="en-US"/>
              <a:t>版本：2004</a:t>
            </a:r>
            <a:endParaRPr lang="en-US" altLang="zh-CN"/>
          </a:p>
        </p:txBody>
      </p:sp>
      <p:sp>
        <p:nvSpPr>
          <p:cNvPr id="3" name="页脚占位符 2">
            <a:extLst>
              <a:ext uri="{FF2B5EF4-FFF2-40B4-BE49-F238E27FC236}">
                <a16:creationId xmlns:a16="http://schemas.microsoft.com/office/drawing/2014/main" id="{8CF8D667-C099-1B43-405B-250AD0D79242}"/>
              </a:ext>
            </a:extLst>
          </p:cNvPr>
          <p:cNvSpPr>
            <a:spLocks noGrp="1"/>
          </p:cNvSpPr>
          <p:nvPr>
            <p:ph type="ftr" sz="quarter" idx="11"/>
          </p:nvPr>
        </p:nvSpPr>
        <p:spPr/>
        <p:txBody>
          <a:bodyPr/>
          <a:lstStyle/>
          <a:p>
            <a:r>
              <a:rPr lang="en-US" altLang="zh-CN"/>
              <a:t>管理学</a:t>
            </a:r>
          </a:p>
        </p:txBody>
      </p:sp>
      <p:sp>
        <p:nvSpPr>
          <p:cNvPr id="4" name="灯片编号占位符 3">
            <a:extLst>
              <a:ext uri="{FF2B5EF4-FFF2-40B4-BE49-F238E27FC236}">
                <a16:creationId xmlns:a16="http://schemas.microsoft.com/office/drawing/2014/main" id="{792880B1-CB12-8D60-B404-A98684DCB767}"/>
              </a:ext>
            </a:extLst>
          </p:cNvPr>
          <p:cNvSpPr>
            <a:spLocks noGrp="1"/>
          </p:cNvSpPr>
          <p:nvPr>
            <p:ph type="sldNum" sz="quarter" idx="12"/>
          </p:nvPr>
        </p:nvSpPr>
        <p:spPr/>
        <p:txBody>
          <a:bodyPr/>
          <a:lstStyle/>
          <a:p>
            <a:fld id="{3C71E9A3-F6D6-411F-B97B-DA8BD929A83F}" type="slidenum">
              <a:rPr lang="en-US" altLang="zh-CN"/>
              <a:pPr/>
              <a:t>13</a:t>
            </a:fld>
            <a:endParaRPr lang="en-US" altLang="zh-CN"/>
          </a:p>
        </p:txBody>
      </p:sp>
      <p:sp>
        <p:nvSpPr>
          <p:cNvPr id="104450" name="Oval 2">
            <a:extLst>
              <a:ext uri="{FF2B5EF4-FFF2-40B4-BE49-F238E27FC236}">
                <a16:creationId xmlns:a16="http://schemas.microsoft.com/office/drawing/2014/main" id="{309C6F60-27CC-D599-6EF2-706EFCB5A3DE}"/>
              </a:ext>
            </a:extLst>
          </p:cNvPr>
          <p:cNvSpPr>
            <a:spLocks noChangeArrowheads="1"/>
          </p:cNvSpPr>
          <p:nvPr/>
        </p:nvSpPr>
        <p:spPr bwMode="auto">
          <a:xfrm>
            <a:off x="3708400" y="2492375"/>
            <a:ext cx="1727200" cy="13684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50000"/>
              </a:spcBef>
            </a:pPr>
            <a:r>
              <a:rPr lang="zh-CN" altLang="en-US">
                <a:solidFill>
                  <a:schemeClr val="tx2"/>
                </a:solidFill>
              </a:rPr>
              <a:t>分权</a:t>
            </a:r>
            <a:endParaRPr lang="zh-CN" altLang="en-US"/>
          </a:p>
        </p:txBody>
      </p:sp>
      <p:sp>
        <p:nvSpPr>
          <p:cNvPr id="104451" name="Rectangle 3">
            <a:extLst>
              <a:ext uri="{FF2B5EF4-FFF2-40B4-BE49-F238E27FC236}">
                <a16:creationId xmlns:a16="http://schemas.microsoft.com/office/drawing/2014/main" id="{FB37EE57-F758-4E7F-36D4-573847E7769C}"/>
              </a:ext>
            </a:extLst>
          </p:cNvPr>
          <p:cNvSpPr>
            <a:spLocks noChangeArrowheads="1"/>
          </p:cNvSpPr>
          <p:nvPr/>
        </p:nvSpPr>
        <p:spPr bwMode="auto">
          <a:xfrm>
            <a:off x="468313" y="1052513"/>
            <a:ext cx="1511300" cy="6477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a:t>1.</a:t>
            </a:r>
            <a:r>
              <a:rPr lang="zh-CN" altLang="en-US" sz="1600"/>
              <a:t>决策的代价</a:t>
            </a:r>
          </a:p>
        </p:txBody>
      </p:sp>
      <p:sp>
        <p:nvSpPr>
          <p:cNvPr id="104452" name="Rectangle 4">
            <a:extLst>
              <a:ext uri="{FF2B5EF4-FFF2-40B4-BE49-F238E27FC236}">
                <a16:creationId xmlns:a16="http://schemas.microsoft.com/office/drawing/2014/main" id="{7C3E40A0-5BAD-C006-004D-15DFC72B4F57}"/>
              </a:ext>
            </a:extLst>
          </p:cNvPr>
          <p:cNvSpPr>
            <a:spLocks noChangeArrowheads="1"/>
          </p:cNvSpPr>
          <p:nvPr/>
        </p:nvSpPr>
        <p:spPr bwMode="auto">
          <a:xfrm>
            <a:off x="2124075" y="1052513"/>
            <a:ext cx="1511300" cy="6477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a:t>2.</a:t>
            </a:r>
            <a:r>
              <a:rPr lang="zh-CN" altLang="en-US" sz="1600"/>
              <a:t>政策的一致性</a:t>
            </a:r>
          </a:p>
        </p:txBody>
      </p:sp>
      <p:sp>
        <p:nvSpPr>
          <p:cNvPr id="104453" name="Rectangle 5">
            <a:extLst>
              <a:ext uri="{FF2B5EF4-FFF2-40B4-BE49-F238E27FC236}">
                <a16:creationId xmlns:a16="http://schemas.microsoft.com/office/drawing/2014/main" id="{8E169C1F-1CB2-0508-B677-EA192281C2BE}"/>
              </a:ext>
            </a:extLst>
          </p:cNvPr>
          <p:cNvSpPr>
            <a:spLocks noChangeArrowheads="1"/>
          </p:cNvSpPr>
          <p:nvPr/>
        </p:nvSpPr>
        <p:spPr bwMode="auto">
          <a:xfrm>
            <a:off x="3779838" y="1052513"/>
            <a:ext cx="1511300" cy="6477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a:t>3.</a:t>
            </a:r>
            <a:r>
              <a:rPr lang="zh-CN" altLang="en-US" sz="1600"/>
              <a:t>组织的规模</a:t>
            </a:r>
          </a:p>
          <a:p>
            <a:pPr algn="ctr"/>
            <a:r>
              <a:rPr lang="zh-CN" altLang="en-US" sz="1600"/>
              <a:t>和性质</a:t>
            </a:r>
          </a:p>
        </p:txBody>
      </p:sp>
      <p:sp>
        <p:nvSpPr>
          <p:cNvPr id="104454" name="Rectangle 6">
            <a:extLst>
              <a:ext uri="{FF2B5EF4-FFF2-40B4-BE49-F238E27FC236}">
                <a16:creationId xmlns:a16="http://schemas.microsoft.com/office/drawing/2014/main" id="{0EB079BE-7972-35D0-5554-DC0B5CD10ABD}"/>
              </a:ext>
            </a:extLst>
          </p:cNvPr>
          <p:cNvSpPr>
            <a:spLocks noChangeArrowheads="1"/>
          </p:cNvSpPr>
          <p:nvPr/>
        </p:nvSpPr>
        <p:spPr bwMode="auto">
          <a:xfrm>
            <a:off x="5435600" y="1052513"/>
            <a:ext cx="1511300" cy="6477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a:t>4.</a:t>
            </a:r>
            <a:r>
              <a:rPr lang="zh-CN" altLang="en-US" sz="1600"/>
              <a:t>企业的成长</a:t>
            </a:r>
          </a:p>
          <a:p>
            <a:pPr algn="ctr"/>
            <a:r>
              <a:rPr lang="zh-CN" altLang="en-US" sz="1600"/>
              <a:t>方式</a:t>
            </a:r>
          </a:p>
        </p:txBody>
      </p:sp>
      <p:sp>
        <p:nvSpPr>
          <p:cNvPr id="104455" name="Rectangle 7">
            <a:extLst>
              <a:ext uri="{FF2B5EF4-FFF2-40B4-BE49-F238E27FC236}">
                <a16:creationId xmlns:a16="http://schemas.microsoft.com/office/drawing/2014/main" id="{BE237B9B-C704-6DDF-209B-BAE9A4214DEE}"/>
              </a:ext>
            </a:extLst>
          </p:cNvPr>
          <p:cNvSpPr>
            <a:spLocks noChangeArrowheads="1"/>
          </p:cNvSpPr>
          <p:nvPr/>
        </p:nvSpPr>
        <p:spPr bwMode="auto">
          <a:xfrm>
            <a:off x="7092950" y="1052513"/>
            <a:ext cx="1511300" cy="6477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a:t>5.</a:t>
            </a:r>
            <a:r>
              <a:rPr lang="zh-CN" altLang="en-US" sz="1600"/>
              <a:t>领导人的管理</a:t>
            </a:r>
          </a:p>
          <a:p>
            <a:pPr algn="ctr"/>
            <a:r>
              <a:rPr lang="zh-CN" altLang="en-US" sz="1600"/>
              <a:t>哲学</a:t>
            </a:r>
          </a:p>
        </p:txBody>
      </p:sp>
      <p:sp>
        <p:nvSpPr>
          <p:cNvPr id="104456" name="Rectangle 8">
            <a:extLst>
              <a:ext uri="{FF2B5EF4-FFF2-40B4-BE49-F238E27FC236}">
                <a16:creationId xmlns:a16="http://schemas.microsoft.com/office/drawing/2014/main" id="{696A8E3A-F8F7-D556-4207-26D73DC36603}"/>
              </a:ext>
            </a:extLst>
          </p:cNvPr>
          <p:cNvSpPr>
            <a:spLocks noChangeArrowheads="1"/>
          </p:cNvSpPr>
          <p:nvPr/>
        </p:nvSpPr>
        <p:spPr bwMode="auto">
          <a:xfrm>
            <a:off x="7092950" y="4508500"/>
            <a:ext cx="1511300" cy="6477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a:t>11.</a:t>
            </a:r>
            <a:r>
              <a:rPr lang="zh-CN" altLang="en-US" sz="1600"/>
              <a:t>环境的影响</a:t>
            </a:r>
          </a:p>
        </p:txBody>
      </p:sp>
      <p:sp>
        <p:nvSpPr>
          <p:cNvPr id="104457" name="Rectangle 9">
            <a:extLst>
              <a:ext uri="{FF2B5EF4-FFF2-40B4-BE49-F238E27FC236}">
                <a16:creationId xmlns:a16="http://schemas.microsoft.com/office/drawing/2014/main" id="{4056DCE8-2ABC-FEBA-E657-8636291162D9}"/>
              </a:ext>
            </a:extLst>
          </p:cNvPr>
          <p:cNvSpPr>
            <a:spLocks noChangeArrowheads="1"/>
          </p:cNvSpPr>
          <p:nvPr/>
        </p:nvSpPr>
        <p:spPr bwMode="auto">
          <a:xfrm>
            <a:off x="4932363" y="4508500"/>
            <a:ext cx="1511300" cy="6477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a:t>10.</a:t>
            </a:r>
            <a:r>
              <a:rPr lang="zh-CN" altLang="en-US" sz="1600"/>
              <a:t>企业改革的</a:t>
            </a:r>
          </a:p>
          <a:p>
            <a:pPr algn="ctr"/>
            <a:r>
              <a:rPr lang="zh-CN" altLang="en-US" sz="1600"/>
              <a:t>速度</a:t>
            </a:r>
          </a:p>
        </p:txBody>
      </p:sp>
      <p:sp>
        <p:nvSpPr>
          <p:cNvPr id="104458" name="Rectangle 10">
            <a:extLst>
              <a:ext uri="{FF2B5EF4-FFF2-40B4-BE49-F238E27FC236}">
                <a16:creationId xmlns:a16="http://schemas.microsoft.com/office/drawing/2014/main" id="{954A8FF5-659E-D0BD-6339-3E595CBCC70E}"/>
              </a:ext>
            </a:extLst>
          </p:cNvPr>
          <p:cNvSpPr>
            <a:spLocks noChangeArrowheads="1"/>
          </p:cNvSpPr>
          <p:nvPr/>
        </p:nvSpPr>
        <p:spPr bwMode="auto">
          <a:xfrm>
            <a:off x="2700338" y="4508500"/>
            <a:ext cx="1511300" cy="6477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a:t>9.</a:t>
            </a:r>
            <a:r>
              <a:rPr lang="zh-CN" altLang="en-US" sz="1600"/>
              <a:t>分散执行任务</a:t>
            </a:r>
          </a:p>
        </p:txBody>
      </p:sp>
      <p:sp>
        <p:nvSpPr>
          <p:cNvPr id="104459" name="Rectangle 11">
            <a:extLst>
              <a:ext uri="{FF2B5EF4-FFF2-40B4-BE49-F238E27FC236}">
                <a16:creationId xmlns:a16="http://schemas.microsoft.com/office/drawing/2014/main" id="{2F61D2D8-45CD-DA0A-4A49-F579A30014CA}"/>
              </a:ext>
            </a:extLst>
          </p:cNvPr>
          <p:cNvSpPr>
            <a:spLocks noChangeArrowheads="1"/>
          </p:cNvSpPr>
          <p:nvPr/>
        </p:nvSpPr>
        <p:spPr bwMode="auto">
          <a:xfrm>
            <a:off x="468313" y="4508500"/>
            <a:ext cx="1511300" cy="6477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a:t>8.</a:t>
            </a:r>
            <a:r>
              <a:rPr lang="zh-CN" altLang="en-US" sz="1600"/>
              <a:t>控制技术</a:t>
            </a:r>
          </a:p>
        </p:txBody>
      </p:sp>
      <p:sp>
        <p:nvSpPr>
          <p:cNvPr id="104460" name="Rectangle 12">
            <a:extLst>
              <a:ext uri="{FF2B5EF4-FFF2-40B4-BE49-F238E27FC236}">
                <a16:creationId xmlns:a16="http://schemas.microsoft.com/office/drawing/2014/main" id="{405F6DC5-1D5A-45C3-9EDD-044FFEFC90F6}"/>
              </a:ext>
            </a:extLst>
          </p:cNvPr>
          <p:cNvSpPr>
            <a:spLocks noChangeArrowheads="1"/>
          </p:cNvSpPr>
          <p:nvPr/>
        </p:nvSpPr>
        <p:spPr bwMode="auto">
          <a:xfrm>
            <a:off x="7092950" y="2852738"/>
            <a:ext cx="1511300" cy="6477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a:t>7.</a:t>
            </a:r>
            <a:r>
              <a:rPr lang="zh-CN" altLang="en-US" sz="1600"/>
              <a:t>人才的合用性</a:t>
            </a:r>
          </a:p>
        </p:txBody>
      </p:sp>
      <p:sp>
        <p:nvSpPr>
          <p:cNvPr id="104461" name="Rectangle 13">
            <a:extLst>
              <a:ext uri="{FF2B5EF4-FFF2-40B4-BE49-F238E27FC236}">
                <a16:creationId xmlns:a16="http://schemas.microsoft.com/office/drawing/2014/main" id="{B7726A17-6088-6A36-728A-5EFDE9411A0F}"/>
              </a:ext>
            </a:extLst>
          </p:cNvPr>
          <p:cNvSpPr>
            <a:spLocks noChangeArrowheads="1"/>
          </p:cNvSpPr>
          <p:nvPr/>
        </p:nvSpPr>
        <p:spPr bwMode="auto">
          <a:xfrm>
            <a:off x="468313" y="2852738"/>
            <a:ext cx="1511300" cy="6477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a:t>6.</a:t>
            </a:r>
            <a:r>
              <a:rPr lang="zh-CN" altLang="en-US" sz="1600"/>
              <a:t>下级独立的</a:t>
            </a:r>
          </a:p>
          <a:p>
            <a:pPr algn="ctr"/>
            <a:r>
              <a:rPr lang="zh-CN" altLang="en-US" sz="1600"/>
              <a:t>愿望</a:t>
            </a:r>
          </a:p>
        </p:txBody>
      </p:sp>
      <p:sp>
        <p:nvSpPr>
          <p:cNvPr id="104462" name="Line 14">
            <a:extLst>
              <a:ext uri="{FF2B5EF4-FFF2-40B4-BE49-F238E27FC236}">
                <a16:creationId xmlns:a16="http://schemas.microsoft.com/office/drawing/2014/main" id="{874EBF02-3366-DA65-625D-74CEDBB84F32}"/>
              </a:ext>
            </a:extLst>
          </p:cNvPr>
          <p:cNvSpPr>
            <a:spLocks noChangeShapeType="1"/>
          </p:cNvSpPr>
          <p:nvPr/>
        </p:nvSpPr>
        <p:spPr bwMode="auto">
          <a:xfrm>
            <a:off x="1979613" y="3141663"/>
            <a:ext cx="172878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463" name="Line 15">
            <a:extLst>
              <a:ext uri="{FF2B5EF4-FFF2-40B4-BE49-F238E27FC236}">
                <a16:creationId xmlns:a16="http://schemas.microsoft.com/office/drawing/2014/main" id="{E5A6DB58-2A11-95BB-2312-3989A04D07FE}"/>
              </a:ext>
            </a:extLst>
          </p:cNvPr>
          <p:cNvSpPr>
            <a:spLocks noChangeShapeType="1"/>
          </p:cNvSpPr>
          <p:nvPr/>
        </p:nvSpPr>
        <p:spPr bwMode="auto">
          <a:xfrm flipH="1">
            <a:off x="5435600" y="3141663"/>
            <a:ext cx="165735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464" name="Line 16">
            <a:extLst>
              <a:ext uri="{FF2B5EF4-FFF2-40B4-BE49-F238E27FC236}">
                <a16:creationId xmlns:a16="http://schemas.microsoft.com/office/drawing/2014/main" id="{7F5EAC2E-B8B3-E097-7FD1-02A897E6C303}"/>
              </a:ext>
            </a:extLst>
          </p:cNvPr>
          <p:cNvSpPr>
            <a:spLocks noChangeShapeType="1"/>
          </p:cNvSpPr>
          <p:nvPr/>
        </p:nvSpPr>
        <p:spPr bwMode="auto">
          <a:xfrm>
            <a:off x="4572000" y="1700213"/>
            <a:ext cx="0" cy="7921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465" name="Line 17">
            <a:extLst>
              <a:ext uri="{FF2B5EF4-FFF2-40B4-BE49-F238E27FC236}">
                <a16:creationId xmlns:a16="http://schemas.microsoft.com/office/drawing/2014/main" id="{AF7DF5A9-2D71-6479-B7C3-B8CE19DBAAFA}"/>
              </a:ext>
            </a:extLst>
          </p:cNvPr>
          <p:cNvSpPr>
            <a:spLocks noChangeShapeType="1"/>
          </p:cNvSpPr>
          <p:nvPr/>
        </p:nvSpPr>
        <p:spPr bwMode="auto">
          <a:xfrm>
            <a:off x="2843213" y="1700213"/>
            <a:ext cx="1223962" cy="9366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466" name="Line 18">
            <a:extLst>
              <a:ext uri="{FF2B5EF4-FFF2-40B4-BE49-F238E27FC236}">
                <a16:creationId xmlns:a16="http://schemas.microsoft.com/office/drawing/2014/main" id="{ECBEAEAB-4D35-48AF-6E57-64DEC7E5660E}"/>
              </a:ext>
            </a:extLst>
          </p:cNvPr>
          <p:cNvSpPr>
            <a:spLocks noChangeShapeType="1"/>
          </p:cNvSpPr>
          <p:nvPr/>
        </p:nvSpPr>
        <p:spPr bwMode="auto">
          <a:xfrm flipH="1">
            <a:off x="5076825" y="1700213"/>
            <a:ext cx="1079500" cy="9366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467" name="Line 19">
            <a:extLst>
              <a:ext uri="{FF2B5EF4-FFF2-40B4-BE49-F238E27FC236}">
                <a16:creationId xmlns:a16="http://schemas.microsoft.com/office/drawing/2014/main" id="{5FF7DEAE-9DF0-5CAA-ADD6-239CF2AD900B}"/>
              </a:ext>
            </a:extLst>
          </p:cNvPr>
          <p:cNvSpPr>
            <a:spLocks noChangeShapeType="1"/>
          </p:cNvSpPr>
          <p:nvPr/>
        </p:nvSpPr>
        <p:spPr bwMode="auto">
          <a:xfrm>
            <a:off x="1258888" y="1700213"/>
            <a:ext cx="2520950" cy="11525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468" name="Line 20">
            <a:extLst>
              <a:ext uri="{FF2B5EF4-FFF2-40B4-BE49-F238E27FC236}">
                <a16:creationId xmlns:a16="http://schemas.microsoft.com/office/drawing/2014/main" id="{2217C62D-3977-E4A1-2E52-DE9093912E20}"/>
              </a:ext>
            </a:extLst>
          </p:cNvPr>
          <p:cNvSpPr>
            <a:spLocks noChangeShapeType="1"/>
          </p:cNvSpPr>
          <p:nvPr/>
        </p:nvSpPr>
        <p:spPr bwMode="auto">
          <a:xfrm flipH="1">
            <a:off x="5364163" y="1700213"/>
            <a:ext cx="2520950" cy="11525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469" name="Line 21">
            <a:extLst>
              <a:ext uri="{FF2B5EF4-FFF2-40B4-BE49-F238E27FC236}">
                <a16:creationId xmlns:a16="http://schemas.microsoft.com/office/drawing/2014/main" id="{C253F776-DA28-2173-A02D-C0672E3ED5D0}"/>
              </a:ext>
            </a:extLst>
          </p:cNvPr>
          <p:cNvSpPr>
            <a:spLocks noChangeShapeType="1"/>
          </p:cNvSpPr>
          <p:nvPr/>
        </p:nvSpPr>
        <p:spPr bwMode="auto">
          <a:xfrm flipV="1">
            <a:off x="1258888" y="3500438"/>
            <a:ext cx="2520950" cy="10080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470" name="Line 22">
            <a:extLst>
              <a:ext uri="{FF2B5EF4-FFF2-40B4-BE49-F238E27FC236}">
                <a16:creationId xmlns:a16="http://schemas.microsoft.com/office/drawing/2014/main" id="{DA60A7A6-5DF4-FBF8-DF2B-81CC743F4AF3}"/>
              </a:ext>
            </a:extLst>
          </p:cNvPr>
          <p:cNvSpPr>
            <a:spLocks noChangeShapeType="1"/>
          </p:cNvSpPr>
          <p:nvPr/>
        </p:nvSpPr>
        <p:spPr bwMode="auto">
          <a:xfrm flipH="1" flipV="1">
            <a:off x="5292725" y="3500438"/>
            <a:ext cx="2592388" cy="10080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471" name="Line 23">
            <a:extLst>
              <a:ext uri="{FF2B5EF4-FFF2-40B4-BE49-F238E27FC236}">
                <a16:creationId xmlns:a16="http://schemas.microsoft.com/office/drawing/2014/main" id="{56CCB2DE-6540-9A9C-0725-C3EAFE87CAA0}"/>
              </a:ext>
            </a:extLst>
          </p:cNvPr>
          <p:cNvSpPr>
            <a:spLocks noChangeShapeType="1"/>
          </p:cNvSpPr>
          <p:nvPr/>
        </p:nvSpPr>
        <p:spPr bwMode="auto">
          <a:xfrm flipV="1">
            <a:off x="3492500" y="3789363"/>
            <a:ext cx="719138" cy="71913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472" name="Line 24">
            <a:extLst>
              <a:ext uri="{FF2B5EF4-FFF2-40B4-BE49-F238E27FC236}">
                <a16:creationId xmlns:a16="http://schemas.microsoft.com/office/drawing/2014/main" id="{B7188FAD-6FB3-D768-3DB9-BD1C2F42FA93}"/>
              </a:ext>
            </a:extLst>
          </p:cNvPr>
          <p:cNvSpPr>
            <a:spLocks noChangeShapeType="1"/>
          </p:cNvSpPr>
          <p:nvPr/>
        </p:nvSpPr>
        <p:spPr bwMode="auto">
          <a:xfrm flipH="1" flipV="1">
            <a:off x="4932363" y="3789363"/>
            <a:ext cx="719137" cy="71913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473" name="Text Box 25">
            <a:extLst>
              <a:ext uri="{FF2B5EF4-FFF2-40B4-BE49-F238E27FC236}">
                <a16:creationId xmlns:a16="http://schemas.microsoft.com/office/drawing/2014/main" id="{7E4C3D6B-EFD8-95F2-4F14-3B79EA42F571}"/>
              </a:ext>
            </a:extLst>
          </p:cNvPr>
          <p:cNvSpPr txBox="1">
            <a:spLocks noChangeArrowheads="1"/>
          </p:cNvSpPr>
          <p:nvPr/>
        </p:nvSpPr>
        <p:spPr bwMode="auto">
          <a:xfrm>
            <a:off x="3779838" y="5373688"/>
            <a:ext cx="18002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a:ea typeface="黑体" panose="02010609060101010101" pitchFamily="49" charset="-122"/>
              </a:rPr>
              <a:t>影响决策的因素</a:t>
            </a:r>
          </a:p>
        </p:txBody>
      </p:sp>
      <p:sp>
        <p:nvSpPr>
          <p:cNvPr id="104474" name="Rectangle 26">
            <a:extLst>
              <a:ext uri="{FF2B5EF4-FFF2-40B4-BE49-F238E27FC236}">
                <a16:creationId xmlns:a16="http://schemas.microsoft.com/office/drawing/2014/main" id="{80695B1C-0AE7-8749-5E64-F4A3F06300B8}"/>
              </a:ext>
            </a:extLst>
          </p:cNvPr>
          <p:cNvSpPr>
            <a:spLocks noChangeArrowheads="1"/>
          </p:cNvSpPr>
          <p:nvPr/>
        </p:nvSpPr>
        <p:spPr bwMode="auto">
          <a:xfrm>
            <a:off x="179388" y="188913"/>
            <a:ext cx="20923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en-US" altLang="zh-CN" sz="1600">
                <a:latin typeface="Arial" panose="020B0604020202020204" pitchFamily="34" charset="0"/>
              </a:rPr>
              <a:t>8.3</a:t>
            </a:r>
            <a:r>
              <a:rPr kumimoji="0" lang="zh-CN" altLang="en-US" sz="1600">
                <a:latin typeface="Arial" panose="020B0604020202020204" pitchFamily="34" charset="0"/>
              </a:rPr>
              <a:t>职权的集中与分散</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2">
            <a:extLst>
              <a:ext uri="{FF2B5EF4-FFF2-40B4-BE49-F238E27FC236}">
                <a16:creationId xmlns:a16="http://schemas.microsoft.com/office/drawing/2014/main" id="{FFEF21C4-FB68-8CF1-003E-21307A2D6D4D}"/>
              </a:ext>
            </a:extLst>
          </p:cNvPr>
          <p:cNvSpPr>
            <a:spLocks noGrp="1"/>
          </p:cNvSpPr>
          <p:nvPr>
            <p:ph type="dt" sz="half" idx="10"/>
          </p:nvPr>
        </p:nvSpPr>
        <p:spPr/>
        <p:txBody>
          <a:bodyPr/>
          <a:lstStyle/>
          <a:p>
            <a:r>
              <a:rPr lang="zh-CN" altLang="en-US"/>
              <a:t>版本：2004</a:t>
            </a:r>
            <a:endParaRPr lang="en-US" altLang="zh-CN"/>
          </a:p>
        </p:txBody>
      </p:sp>
      <p:sp>
        <p:nvSpPr>
          <p:cNvPr id="3" name="页脚占位符 3">
            <a:extLst>
              <a:ext uri="{FF2B5EF4-FFF2-40B4-BE49-F238E27FC236}">
                <a16:creationId xmlns:a16="http://schemas.microsoft.com/office/drawing/2014/main" id="{E6D5A46C-A7E9-A969-EE44-07BD346A50B0}"/>
              </a:ext>
            </a:extLst>
          </p:cNvPr>
          <p:cNvSpPr>
            <a:spLocks noGrp="1"/>
          </p:cNvSpPr>
          <p:nvPr>
            <p:ph type="ftr" sz="quarter" idx="11"/>
          </p:nvPr>
        </p:nvSpPr>
        <p:spPr/>
        <p:txBody>
          <a:bodyPr/>
          <a:lstStyle/>
          <a:p>
            <a:r>
              <a:rPr lang="en-US" altLang="zh-CN"/>
              <a:t>管理学</a:t>
            </a:r>
          </a:p>
        </p:txBody>
      </p:sp>
      <p:sp>
        <p:nvSpPr>
          <p:cNvPr id="4" name="灯片编号占位符 4">
            <a:extLst>
              <a:ext uri="{FF2B5EF4-FFF2-40B4-BE49-F238E27FC236}">
                <a16:creationId xmlns:a16="http://schemas.microsoft.com/office/drawing/2014/main" id="{EC1C1176-0791-20A5-837E-F3CF3A4699B4}"/>
              </a:ext>
            </a:extLst>
          </p:cNvPr>
          <p:cNvSpPr>
            <a:spLocks noGrp="1"/>
          </p:cNvSpPr>
          <p:nvPr>
            <p:ph type="sldNum" sz="quarter" idx="12"/>
          </p:nvPr>
        </p:nvSpPr>
        <p:spPr/>
        <p:txBody>
          <a:bodyPr/>
          <a:lstStyle/>
          <a:p>
            <a:fld id="{7D1D17D9-A4F4-4F48-B306-5DEA49122253}" type="slidenum">
              <a:rPr lang="en-US" altLang="zh-CN"/>
              <a:pPr/>
              <a:t>14</a:t>
            </a:fld>
            <a:endParaRPr lang="en-US" altLang="zh-CN"/>
          </a:p>
        </p:txBody>
      </p:sp>
      <p:sp>
        <p:nvSpPr>
          <p:cNvPr id="90114" name="AutoShape 2">
            <a:extLst>
              <a:ext uri="{FF2B5EF4-FFF2-40B4-BE49-F238E27FC236}">
                <a16:creationId xmlns:a16="http://schemas.microsoft.com/office/drawing/2014/main" id="{3F58B095-C795-6253-248F-46DB2D67662B}"/>
              </a:ext>
            </a:extLst>
          </p:cNvPr>
          <p:cNvSpPr>
            <a:spLocks noChangeArrowheads="1"/>
          </p:cNvSpPr>
          <p:nvPr/>
        </p:nvSpPr>
        <p:spPr bwMode="auto">
          <a:xfrm>
            <a:off x="3419475" y="404813"/>
            <a:ext cx="2143125" cy="1511300"/>
          </a:xfrm>
          <a:prstGeom prst="triangle">
            <a:avLst>
              <a:gd name="adj" fmla="val 5000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完成</a:t>
            </a:r>
          </a:p>
          <a:p>
            <a:pPr algn="ctr"/>
            <a:r>
              <a:rPr kumimoji="0" lang="zh-CN" altLang="en-US" sz="1800">
                <a:latin typeface="Arial" panose="020B0604020202020204" pitchFamily="34" charset="0"/>
              </a:rPr>
              <a:t>预期结果 </a:t>
            </a:r>
          </a:p>
        </p:txBody>
      </p:sp>
      <p:sp>
        <p:nvSpPr>
          <p:cNvPr id="90115" name="Text Box 3">
            <a:extLst>
              <a:ext uri="{FF2B5EF4-FFF2-40B4-BE49-F238E27FC236}">
                <a16:creationId xmlns:a16="http://schemas.microsoft.com/office/drawing/2014/main" id="{64E0400B-D070-2ADC-4FB2-C98B9A10A559}"/>
              </a:ext>
            </a:extLst>
          </p:cNvPr>
          <p:cNvSpPr txBox="1">
            <a:spLocks noChangeArrowheads="1"/>
          </p:cNvSpPr>
          <p:nvPr/>
        </p:nvSpPr>
        <p:spPr bwMode="auto">
          <a:xfrm>
            <a:off x="5148263" y="908050"/>
            <a:ext cx="6477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800">
                <a:latin typeface="Arial" panose="020B0604020202020204" pitchFamily="34" charset="0"/>
              </a:rPr>
              <a:t>职权 </a:t>
            </a:r>
          </a:p>
        </p:txBody>
      </p:sp>
      <p:sp>
        <p:nvSpPr>
          <p:cNvPr id="90116" name="Text Box 4">
            <a:extLst>
              <a:ext uri="{FF2B5EF4-FFF2-40B4-BE49-F238E27FC236}">
                <a16:creationId xmlns:a16="http://schemas.microsoft.com/office/drawing/2014/main" id="{CA22C287-19B4-4781-B481-5A9BA8043C53}"/>
              </a:ext>
            </a:extLst>
          </p:cNvPr>
          <p:cNvSpPr txBox="1">
            <a:spLocks noChangeArrowheads="1"/>
          </p:cNvSpPr>
          <p:nvPr/>
        </p:nvSpPr>
        <p:spPr bwMode="auto">
          <a:xfrm>
            <a:off x="3203575" y="908050"/>
            <a:ext cx="6477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800">
                <a:latin typeface="Arial" panose="020B0604020202020204" pitchFamily="34" charset="0"/>
              </a:rPr>
              <a:t>职责</a:t>
            </a:r>
          </a:p>
        </p:txBody>
      </p:sp>
      <p:sp>
        <p:nvSpPr>
          <p:cNvPr id="90117" name="Text Box 5">
            <a:extLst>
              <a:ext uri="{FF2B5EF4-FFF2-40B4-BE49-F238E27FC236}">
                <a16:creationId xmlns:a16="http://schemas.microsoft.com/office/drawing/2014/main" id="{2CF93A33-70D3-E289-1B37-CE73C0FBA4D1}"/>
              </a:ext>
            </a:extLst>
          </p:cNvPr>
          <p:cNvSpPr txBox="1">
            <a:spLocks noChangeArrowheads="1"/>
          </p:cNvSpPr>
          <p:nvPr/>
        </p:nvSpPr>
        <p:spPr bwMode="auto">
          <a:xfrm>
            <a:off x="4211638" y="1916113"/>
            <a:ext cx="6477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800">
                <a:latin typeface="Arial" panose="020B0604020202020204" pitchFamily="34" charset="0"/>
              </a:rPr>
              <a:t>责任</a:t>
            </a:r>
          </a:p>
        </p:txBody>
      </p:sp>
      <p:graphicFrame>
        <p:nvGraphicFramePr>
          <p:cNvPr id="90118" name="Group 6">
            <a:extLst>
              <a:ext uri="{FF2B5EF4-FFF2-40B4-BE49-F238E27FC236}">
                <a16:creationId xmlns:a16="http://schemas.microsoft.com/office/drawing/2014/main" id="{C4F34523-0F5D-9D42-5F6B-2FDDA658F6B8}"/>
              </a:ext>
            </a:extLst>
          </p:cNvPr>
          <p:cNvGraphicFramePr>
            <a:graphicFrameLocks noGrp="1"/>
          </p:cNvGraphicFramePr>
          <p:nvPr>
            <p:ph/>
          </p:nvPr>
        </p:nvGraphicFramePr>
        <p:xfrm>
          <a:off x="468313" y="2420938"/>
          <a:ext cx="8229600" cy="3727450"/>
        </p:xfrm>
        <a:graphic>
          <a:graphicData uri="http://schemas.openxmlformats.org/drawingml/2006/table">
            <a:tbl>
              <a:tblPr/>
              <a:tblGrid>
                <a:gridCol w="1738312">
                  <a:extLst>
                    <a:ext uri="{9D8B030D-6E8A-4147-A177-3AD203B41FA5}">
                      <a16:colId xmlns:a16="http://schemas.microsoft.com/office/drawing/2014/main" val="1014800121"/>
                    </a:ext>
                  </a:extLst>
                </a:gridCol>
                <a:gridCol w="6491288">
                  <a:extLst>
                    <a:ext uri="{9D8B030D-6E8A-4147-A177-3AD203B41FA5}">
                      <a16:colId xmlns:a16="http://schemas.microsoft.com/office/drawing/2014/main" val="2810123611"/>
                    </a:ext>
                  </a:extLst>
                </a:gridCol>
              </a:tblGrid>
              <a:tr h="36036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概念</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定义</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73544258"/>
                  </a:ext>
                </a:extLst>
              </a:tr>
              <a:tr h="56991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授权</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管理者将份内的某些工作托付给下级（或他人）代为履行，并授予被托付人完成工作所必要的权力。</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应当尽可能的将业务工作交给下级去做。</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69582925"/>
                  </a:ext>
                </a:extLst>
              </a:tr>
              <a:tr h="30321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职责</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需要履行的任务或职务。</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24392431"/>
                  </a:ext>
                </a:extLst>
              </a:tr>
              <a:tr h="2667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职权</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履行任务或职务必要的权力。</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28050355"/>
                  </a:ext>
                </a:extLst>
              </a:tr>
              <a:tr h="38258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责任</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履行任务或职务、正确行使职权的义务。</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94209056"/>
                  </a:ext>
                </a:extLst>
              </a:tr>
              <a:tr h="56991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责任绝对原则</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对授权者来说，他不能因为授权给下级就可以完全解除他对下级应负的责任。</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17632062"/>
                  </a:ext>
                </a:extLst>
              </a:tr>
              <a:tr h="56991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权责对等原则</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职责不能大于也不能小于职权，反之，职权不能大于也不能小于职责。</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43282252"/>
                  </a:ext>
                </a:extLst>
              </a:tr>
            </a:tbl>
          </a:graphicData>
        </a:graphic>
      </p:graphicFrame>
      <p:sp>
        <p:nvSpPr>
          <p:cNvPr id="90144" name="Text Box 32">
            <a:extLst>
              <a:ext uri="{FF2B5EF4-FFF2-40B4-BE49-F238E27FC236}">
                <a16:creationId xmlns:a16="http://schemas.microsoft.com/office/drawing/2014/main" id="{2FD9936F-728F-7D4D-A09F-9A1E5E57E3B1}"/>
              </a:ext>
            </a:extLst>
          </p:cNvPr>
          <p:cNvSpPr txBox="1">
            <a:spLocks noChangeArrowheads="1"/>
          </p:cNvSpPr>
          <p:nvPr/>
        </p:nvSpPr>
        <p:spPr bwMode="auto">
          <a:xfrm>
            <a:off x="6156325" y="620713"/>
            <a:ext cx="259238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kumimoji="0" lang="zh-CN" altLang="zh-CN" sz="1800">
              <a:latin typeface="Arial" panose="020B0604020202020204" pitchFamily="34" charset="0"/>
            </a:endParaRPr>
          </a:p>
        </p:txBody>
      </p:sp>
      <p:sp>
        <p:nvSpPr>
          <p:cNvPr id="90146" name="Rectangle 34">
            <a:extLst>
              <a:ext uri="{FF2B5EF4-FFF2-40B4-BE49-F238E27FC236}">
                <a16:creationId xmlns:a16="http://schemas.microsoft.com/office/drawing/2014/main" id="{4ED3C318-8958-C011-9887-BA03C16BD435}"/>
              </a:ext>
            </a:extLst>
          </p:cNvPr>
          <p:cNvSpPr>
            <a:spLocks noChangeArrowheads="1"/>
          </p:cNvSpPr>
          <p:nvPr/>
        </p:nvSpPr>
        <p:spPr bwMode="auto">
          <a:xfrm>
            <a:off x="179388" y="188913"/>
            <a:ext cx="20923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en-US" altLang="zh-CN" sz="1600">
                <a:latin typeface="Arial" panose="020B0604020202020204" pitchFamily="34" charset="0"/>
              </a:rPr>
              <a:t>8.3</a:t>
            </a:r>
            <a:r>
              <a:rPr kumimoji="0" lang="zh-CN" altLang="en-US" sz="1600">
                <a:latin typeface="Arial" panose="020B0604020202020204" pitchFamily="34" charset="0"/>
              </a:rPr>
              <a:t>职权的集中与分散</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40ABE66-7CC9-E55B-A4FA-CB739C254D15}"/>
              </a:ext>
            </a:extLst>
          </p:cNvPr>
          <p:cNvSpPr>
            <a:spLocks noGrp="1"/>
          </p:cNvSpPr>
          <p:nvPr>
            <p:ph type="dt" sz="half" idx="10"/>
          </p:nvPr>
        </p:nvSpPr>
        <p:spPr/>
        <p:txBody>
          <a:bodyPr/>
          <a:lstStyle/>
          <a:p>
            <a:r>
              <a:rPr lang="zh-CN" altLang="en-US"/>
              <a:t>版本：2004</a:t>
            </a:r>
            <a:endParaRPr lang="en-US" altLang="zh-CN"/>
          </a:p>
        </p:txBody>
      </p:sp>
      <p:sp>
        <p:nvSpPr>
          <p:cNvPr id="3" name="页脚占位符 2">
            <a:extLst>
              <a:ext uri="{FF2B5EF4-FFF2-40B4-BE49-F238E27FC236}">
                <a16:creationId xmlns:a16="http://schemas.microsoft.com/office/drawing/2014/main" id="{96D474DD-E197-E39B-8FF9-EDD85008D942}"/>
              </a:ext>
            </a:extLst>
          </p:cNvPr>
          <p:cNvSpPr>
            <a:spLocks noGrp="1"/>
          </p:cNvSpPr>
          <p:nvPr>
            <p:ph type="ftr" sz="quarter" idx="11"/>
          </p:nvPr>
        </p:nvSpPr>
        <p:spPr/>
        <p:txBody>
          <a:bodyPr/>
          <a:lstStyle/>
          <a:p>
            <a:r>
              <a:rPr lang="en-US" altLang="zh-CN"/>
              <a:t>管理学</a:t>
            </a:r>
          </a:p>
        </p:txBody>
      </p:sp>
      <p:sp>
        <p:nvSpPr>
          <p:cNvPr id="4" name="灯片编号占位符 3">
            <a:extLst>
              <a:ext uri="{FF2B5EF4-FFF2-40B4-BE49-F238E27FC236}">
                <a16:creationId xmlns:a16="http://schemas.microsoft.com/office/drawing/2014/main" id="{860AE596-119E-D320-5E49-BDB4DFD0D542}"/>
              </a:ext>
            </a:extLst>
          </p:cNvPr>
          <p:cNvSpPr>
            <a:spLocks noGrp="1"/>
          </p:cNvSpPr>
          <p:nvPr>
            <p:ph type="sldNum" sz="quarter" idx="12"/>
          </p:nvPr>
        </p:nvSpPr>
        <p:spPr/>
        <p:txBody>
          <a:bodyPr/>
          <a:lstStyle/>
          <a:p>
            <a:fld id="{B8CD9898-8B27-4C1B-BF30-984B00446B77}" type="slidenum">
              <a:rPr lang="en-US" altLang="zh-CN"/>
              <a:pPr/>
              <a:t>15</a:t>
            </a:fld>
            <a:endParaRPr lang="en-US" altLang="zh-CN"/>
          </a:p>
        </p:txBody>
      </p:sp>
      <p:sp>
        <p:nvSpPr>
          <p:cNvPr id="102403" name="Rectangle 3">
            <a:extLst>
              <a:ext uri="{FF2B5EF4-FFF2-40B4-BE49-F238E27FC236}">
                <a16:creationId xmlns:a16="http://schemas.microsoft.com/office/drawing/2014/main" id="{EDC0D8BB-3EB3-64D0-41A8-CA6BDB9DB8E6}"/>
              </a:ext>
            </a:extLst>
          </p:cNvPr>
          <p:cNvSpPr>
            <a:spLocks noChangeArrowheads="1"/>
          </p:cNvSpPr>
          <p:nvPr/>
        </p:nvSpPr>
        <p:spPr bwMode="auto">
          <a:xfrm>
            <a:off x="611188" y="1125538"/>
            <a:ext cx="1728787" cy="936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a:t>1.</a:t>
            </a:r>
            <a:r>
              <a:rPr lang="zh-CN" altLang="en-US" sz="1600"/>
              <a:t>决定什么工作</a:t>
            </a:r>
          </a:p>
          <a:p>
            <a:pPr algn="ctr"/>
            <a:r>
              <a:rPr lang="zh-CN" altLang="en-US" sz="1600"/>
              <a:t>需要授权</a:t>
            </a:r>
          </a:p>
        </p:txBody>
      </p:sp>
      <p:sp>
        <p:nvSpPr>
          <p:cNvPr id="102404" name="Rectangle 4">
            <a:extLst>
              <a:ext uri="{FF2B5EF4-FFF2-40B4-BE49-F238E27FC236}">
                <a16:creationId xmlns:a16="http://schemas.microsoft.com/office/drawing/2014/main" id="{6AB32FB5-CDA6-E25D-8061-D5916FA923AB}"/>
              </a:ext>
            </a:extLst>
          </p:cNvPr>
          <p:cNvSpPr>
            <a:spLocks noChangeArrowheads="1"/>
          </p:cNvSpPr>
          <p:nvPr/>
        </p:nvSpPr>
        <p:spPr bwMode="auto">
          <a:xfrm>
            <a:off x="3492500" y="1125538"/>
            <a:ext cx="1727200" cy="936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a:t>2.</a:t>
            </a:r>
            <a:r>
              <a:rPr lang="zh-CN" altLang="en-US" sz="1600"/>
              <a:t>选择被授权人</a:t>
            </a:r>
          </a:p>
        </p:txBody>
      </p:sp>
      <p:sp>
        <p:nvSpPr>
          <p:cNvPr id="102405" name="Rectangle 5">
            <a:extLst>
              <a:ext uri="{FF2B5EF4-FFF2-40B4-BE49-F238E27FC236}">
                <a16:creationId xmlns:a16="http://schemas.microsoft.com/office/drawing/2014/main" id="{12DF4750-A86C-DD43-568B-07E7082206BE}"/>
              </a:ext>
            </a:extLst>
          </p:cNvPr>
          <p:cNvSpPr>
            <a:spLocks noChangeArrowheads="1"/>
          </p:cNvSpPr>
          <p:nvPr/>
        </p:nvSpPr>
        <p:spPr bwMode="auto">
          <a:xfrm>
            <a:off x="6443663" y="1125538"/>
            <a:ext cx="1727200" cy="936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a:t>3.</a:t>
            </a:r>
            <a:r>
              <a:rPr lang="zh-CN" altLang="en-US" sz="1600"/>
              <a:t>交待工作</a:t>
            </a:r>
          </a:p>
        </p:txBody>
      </p:sp>
      <p:sp>
        <p:nvSpPr>
          <p:cNvPr id="102406" name="Rectangle 6">
            <a:extLst>
              <a:ext uri="{FF2B5EF4-FFF2-40B4-BE49-F238E27FC236}">
                <a16:creationId xmlns:a16="http://schemas.microsoft.com/office/drawing/2014/main" id="{BED3884E-8B44-529F-0233-0D400886A585}"/>
              </a:ext>
            </a:extLst>
          </p:cNvPr>
          <p:cNvSpPr>
            <a:spLocks noChangeArrowheads="1"/>
          </p:cNvSpPr>
          <p:nvPr/>
        </p:nvSpPr>
        <p:spPr bwMode="auto">
          <a:xfrm>
            <a:off x="6443663" y="3284538"/>
            <a:ext cx="1728787" cy="936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a:t>4.</a:t>
            </a:r>
            <a:r>
              <a:rPr lang="zh-CN" altLang="en-US" sz="1600"/>
              <a:t>排除被授权人</a:t>
            </a:r>
          </a:p>
          <a:p>
            <a:pPr algn="ctr"/>
            <a:r>
              <a:rPr lang="zh-CN" altLang="en-US" sz="1600"/>
              <a:t>的工作障碍</a:t>
            </a:r>
          </a:p>
        </p:txBody>
      </p:sp>
      <p:sp>
        <p:nvSpPr>
          <p:cNvPr id="102407" name="Rectangle 7">
            <a:extLst>
              <a:ext uri="{FF2B5EF4-FFF2-40B4-BE49-F238E27FC236}">
                <a16:creationId xmlns:a16="http://schemas.microsoft.com/office/drawing/2014/main" id="{9049A78F-1ECD-6CFA-0C74-5711D3F62886}"/>
              </a:ext>
            </a:extLst>
          </p:cNvPr>
          <p:cNvSpPr>
            <a:spLocks noChangeArrowheads="1"/>
          </p:cNvSpPr>
          <p:nvPr/>
        </p:nvSpPr>
        <p:spPr bwMode="auto">
          <a:xfrm>
            <a:off x="3492500" y="3284538"/>
            <a:ext cx="1728788" cy="936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a:t>5.</a:t>
            </a:r>
            <a:r>
              <a:rPr lang="zh-CN" altLang="en-US" sz="1600"/>
              <a:t>追踪和控制</a:t>
            </a:r>
          </a:p>
        </p:txBody>
      </p:sp>
      <p:sp>
        <p:nvSpPr>
          <p:cNvPr id="102408" name="Rectangle 8">
            <a:extLst>
              <a:ext uri="{FF2B5EF4-FFF2-40B4-BE49-F238E27FC236}">
                <a16:creationId xmlns:a16="http://schemas.microsoft.com/office/drawing/2014/main" id="{5FE349B1-7166-CE33-0F97-F18A5F343D3B}"/>
              </a:ext>
            </a:extLst>
          </p:cNvPr>
          <p:cNvSpPr>
            <a:spLocks noChangeArrowheads="1"/>
          </p:cNvSpPr>
          <p:nvPr/>
        </p:nvSpPr>
        <p:spPr bwMode="auto">
          <a:xfrm>
            <a:off x="611188" y="3284538"/>
            <a:ext cx="1727200" cy="9366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a:t>6.</a:t>
            </a:r>
            <a:r>
              <a:rPr lang="zh-CN" altLang="en-US" sz="1600"/>
              <a:t>评估绩效</a:t>
            </a:r>
          </a:p>
        </p:txBody>
      </p:sp>
      <p:sp>
        <p:nvSpPr>
          <p:cNvPr id="102409" name="Line 9">
            <a:extLst>
              <a:ext uri="{FF2B5EF4-FFF2-40B4-BE49-F238E27FC236}">
                <a16:creationId xmlns:a16="http://schemas.microsoft.com/office/drawing/2014/main" id="{8D918A5E-F9D9-628E-2935-85276B23E354}"/>
              </a:ext>
            </a:extLst>
          </p:cNvPr>
          <p:cNvSpPr>
            <a:spLocks noChangeShapeType="1"/>
          </p:cNvSpPr>
          <p:nvPr/>
        </p:nvSpPr>
        <p:spPr bwMode="auto">
          <a:xfrm flipV="1">
            <a:off x="2339975" y="1557338"/>
            <a:ext cx="11525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410" name="Line 10">
            <a:extLst>
              <a:ext uri="{FF2B5EF4-FFF2-40B4-BE49-F238E27FC236}">
                <a16:creationId xmlns:a16="http://schemas.microsoft.com/office/drawing/2014/main" id="{FC372F4C-3719-FA7A-2922-95673DDFFB10}"/>
              </a:ext>
            </a:extLst>
          </p:cNvPr>
          <p:cNvSpPr>
            <a:spLocks noChangeShapeType="1"/>
          </p:cNvSpPr>
          <p:nvPr/>
        </p:nvSpPr>
        <p:spPr bwMode="auto">
          <a:xfrm>
            <a:off x="7308850" y="2060575"/>
            <a:ext cx="0" cy="12239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411" name="Line 11">
            <a:extLst>
              <a:ext uri="{FF2B5EF4-FFF2-40B4-BE49-F238E27FC236}">
                <a16:creationId xmlns:a16="http://schemas.microsoft.com/office/drawing/2014/main" id="{F3034FE0-3F49-C939-8CF7-3D182FB9D896}"/>
              </a:ext>
            </a:extLst>
          </p:cNvPr>
          <p:cNvSpPr>
            <a:spLocks noChangeShapeType="1"/>
          </p:cNvSpPr>
          <p:nvPr/>
        </p:nvSpPr>
        <p:spPr bwMode="auto">
          <a:xfrm flipH="1" flipV="1">
            <a:off x="5219700" y="3716338"/>
            <a:ext cx="122555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412" name="Line 12">
            <a:extLst>
              <a:ext uri="{FF2B5EF4-FFF2-40B4-BE49-F238E27FC236}">
                <a16:creationId xmlns:a16="http://schemas.microsoft.com/office/drawing/2014/main" id="{D373C45A-1E8F-A088-8ED2-C45E8687F6BB}"/>
              </a:ext>
            </a:extLst>
          </p:cNvPr>
          <p:cNvSpPr>
            <a:spLocks noChangeShapeType="1"/>
          </p:cNvSpPr>
          <p:nvPr/>
        </p:nvSpPr>
        <p:spPr bwMode="auto">
          <a:xfrm flipH="1" flipV="1">
            <a:off x="1476375" y="2060575"/>
            <a:ext cx="0" cy="1223963"/>
          </a:xfrm>
          <a:prstGeom prst="line">
            <a:avLst/>
          </a:prstGeom>
          <a:noFill/>
          <a:ln w="9525">
            <a:solidFill>
              <a:schemeClr val="tx1"/>
            </a:solidFill>
            <a:prstDash val="lg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413" name="Line 13">
            <a:extLst>
              <a:ext uri="{FF2B5EF4-FFF2-40B4-BE49-F238E27FC236}">
                <a16:creationId xmlns:a16="http://schemas.microsoft.com/office/drawing/2014/main" id="{1CBB437E-1596-E91F-9BC7-98CCE05892C6}"/>
              </a:ext>
            </a:extLst>
          </p:cNvPr>
          <p:cNvSpPr>
            <a:spLocks noChangeShapeType="1"/>
          </p:cNvSpPr>
          <p:nvPr/>
        </p:nvSpPr>
        <p:spPr bwMode="auto">
          <a:xfrm>
            <a:off x="5219700" y="1557338"/>
            <a:ext cx="122396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414" name="Rectangle 14">
            <a:extLst>
              <a:ext uri="{FF2B5EF4-FFF2-40B4-BE49-F238E27FC236}">
                <a16:creationId xmlns:a16="http://schemas.microsoft.com/office/drawing/2014/main" id="{D363A946-45A2-BF48-92CA-C0667C27C095}"/>
              </a:ext>
            </a:extLst>
          </p:cNvPr>
          <p:cNvSpPr>
            <a:spLocks noChangeArrowheads="1"/>
          </p:cNvSpPr>
          <p:nvPr/>
        </p:nvSpPr>
        <p:spPr bwMode="auto">
          <a:xfrm>
            <a:off x="179388" y="188913"/>
            <a:ext cx="20923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en-US" altLang="zh-CN" sz="1600">
                <a:latin typeface="Arial" panose="020B0604020202020204" pitchFamily="34" charset="0"/>
              </a:rPr>
              <a:t>8.3</a:t>
            </a:r>
            <a:r>
              <a:rPr kumimoji="0" lang="zh-CN" altLang="en-US" sz="1600">
                <a:latin typeface="Arial" panose="020B0604020202020204" pitchFamily="34" charset="0"/>
              </a:rPr>
              <a:t>职权的集中与分散</a:t>
            </a:r>
          </a:p>
        </p:txBody>
      </p:sp>
      <p:sp>
        <p:nvSpPr>
          <p:cNvPr id="102417" name="Line 17">
            <a:extLst>
              <a:ext uri="{FF2B5EF4-FFF2-40B4-BE49-F238E27FC236}">
                <a16:creationId xmlns:a16="http://schemas.microsoft.com/office/drawing/2014/main" id="{15C0609B-76D6-80A0-3407-2AB2FA7BC8F9}"/>
              </a:ext>
            </a:extLst>
          </p:cNvPr>
          <p:cNvSpPr>
            <a:spLocks noChangeShapeType="1"/>
          </p:cNvSpPr>
          <p:nvPr/>
        </p:nvSpPr>
        <p:spPr bwMode="auto">
          <a:xfrm flipH="1">
            <a:off x="2339975" y="3716338"/>
            <a:ext cx="11525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418" name="Text Box 18">
            <a:extLst>
              <a:ext uri="{FF2B5EF4-FFF2-40B4-BE49-F238E27FC236}">
                <a16:creationId xmlns:a16="http://schemas.microsoft.com/office/drawing/2014/main" id="{FB9127E2-9E73-4B8C-9101-2DF3E36B48BE}"/>
              </a:ext>
            </a:extLst>
          </p:cNvPr>
          <p:cNvSpPr txBox="1">
            <a:spLocks noChangeArrowheads="1"/>
          </p:cNvSpPr>
          <p:nvPr/>
        </p:nvSpPr>
        <p:spPr bwMode="auto">
          <a:xfrm>
            <a:off x="3708400" y="4437063"/>
            <a:ext cx="1511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ea typeface="黑体" panose="02010609060101010101" pitchFamily="49" charset="-122"/>
              </a:rPr>
              <a:t>授权的过程</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23F6878-8357-489A-9359-CD3391EF1C5F}"/>
              </a:ext>
            </a:extLst>
          </p:cNvPr>
          <p:cNvSpPr>
            <a:spLocks noGrp="1"/>
          </p:cNvSpPr>
          <p:nvPr>
            <p:ph type="dt" sz="half" idx="10"/>
          </p:nvPr>
        </p:nvSpPr>
        <p:spPr/>
        <p:txBody>
          <a:bodyPr/>
          <a:lstStyle/>
          <a:p>
            <a:r>
              <a:rPr lang="zh-CN" altLang="en-US"/>
              <a:t>版本：2004</a:t>
            </a:r>
            <a:endParaRPr lang="en-US" altLang="zh-CN"/>
          </a:p>
        </p:txBody>
      </p:sp>
      <p:sp>
        <p:nvSpPr>
          <p:cNvPr id="3" name="页脚占位符 2">
            <a:extLst>
              <a:ext uri="{FF2B5EF4-FFF2-40B4-BE49-F238E27FC236}">
                <a16:creationId xmlns:a16="http://schemas.microsoft.com/office/drawing/2014/main" id="{380AA1C0-6DCE-CB04-F2DA-049101338251}"/>
              </a:ext>
            </a:extLst>
          </p:cNvPr>
          <p:cNvSpPr>
            <a:spLocks noGrp="1"/>
          </p:cNvSpPr>
          <p:nvPr>
            <p:ph type="ftr" sz="quarter" idx="11"/>
          </p:nvPr>
        </p:nvSpPr>
        <p:spPr/>
        <p:txBody>
          <a:bodyPr/>
          <a:lstStyle/>
          <a:p>
            <a:r>
              <a:rPr lang="en-US" altLang="zh-CN"/>
              <a:t>管理学</a:t>
            </a:r>
          </a:p>
        </p:txBody>
      </p:sp>
      <p:sp>
        <p:nvSpPr>
          <p:cNvPr id="4" name="灯片编号占位符 3">
            <a:extLst>
              <a:ext uri="{FF2B5EF4-FFF2-40B4-BE49-F238E27FC236}">
                <a16:creationId xmlns:a16="http://schemas.microsoft.com/office/drawing/2014/main" id="{E4395A81-46E3-E1DA-7192-1EF6E73A055D}"/>
              </a:ext>
            </a:extLst>
          </p:cNvPr>
          <p:cNvSpPr>
            <a:spLocks noGrp="1"/>
          </p:cNvSpPr>
          <p:nvPr>
            <p:ph type="sldNum" sz="quarter" idx="12"/>
          </p:nvPr>
        </p:nvSpPr>
        <p:spPr/>
        <p:txBody>
          <a:bodyPr/>
          <a:lstStyle/>
          <a:p>
            <a:fld id="{3B8778E5-82DD-4CB6-BBD4-F47E55B48908}" type="slidenum">
              <a:rPr lang="en-US" altLang="zh-CN"/>
              <a:pPr/>
              <a:t>16</a:t>
            </a:fld>
            <a:endParaRPr lang="en-US" altLang="zh-CN"/>
          </a:p>
        </p:txBody>
      </p:sp>
      <p:sp>
        <p:nvSpPr>
          <p:cNvPr id="91138" name="Rectangle 2">
            <a:extLst>
              <a:ext uri="{FF2B5EF4-FFF2-40B4-BE49-F238E27FC236}">
                <a16:creationId xmlns:a16="http://schemas.microsoft.com/office/drawing/2014/main" id="{7E790DD2-94BF-0F74-9CC0-4789419AEAAE}"/>
              </a:ext>
            </a:extLst>
          </p:cNvPr>
          <p:cNvSpPr>
            <a:spLocks noChangeArrowheads="1"/>
          </p:cNvSpPr>
          <p:nvPr/>
        </p:nvSpPr>
        <p:spPr bwMode="auto">
          <a:xfrm>
            <a:off x="3276600" y="1341438"/>
            <a:ext cx="2665413" cy="71913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业务工作</a:t>
            </a:r>
          </a:p>
        </p:txBody>
      </p:sp>
      <p:sp>
        <p:nvSpPr>
          <p:cNvPr id="91139" name="Rectangle 3">
            <a:extLst>
              <a:ext uri="{FF2B5EF4-FFF2-40B4-BE49-F238E27FC236}">
                <a16:creationId xmlns:a16="http://schemas.microsoft.com/office/drawing/2014/main" id="{D365EFE3-9B7F-0BB9-96A6-58157592926F}"/>
              </a:ext>
            </a:extLst>
          </p:cNvPr>
          <p:cNvSpPr>
            <a:spLocks noChangeArrowheads="1"/>
          </p:cNvSpPr>
          <p:nvPr/>
        </p:nvSpPr>
        <p:spPr bwMode="auto">
          <a:xfrm>
            <a:off x="5940425" y="1341438"/>
            <a:ext cx="2663825" cy="71913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管理工作</a:t>
            </a:r>
          </a:p>
        </p:txBody>
      </p:sp>
      <p:sp>
        <p:nvSpPr>
          <p:cNvPr id="91140" name="Rectangle 4">
            <a:extLst>
              <a:ext uri="{FF2B5EF4-FFF2-40B4-BE49-F238E27FC236}">
                <a16:creationId xmlns:a16="http://schemas.microsoft.com/office/drawing/2014/main" id="{4B14A2A9-76B2-C51B-73AE-B86A665550A3}"/>
              </a:ext>
            </a:extLst>
          </p:cNvPr>
          <p:cNvSpPr>
            <a:spLocks noChangeArrowheads="1"/>
          </p:cNvSpPr>
          <p:nvPr/>
        </p:nvSpPr>
        <p:spPr bwMode="auto">
          <a:xfrm>
            <a:off x="3276600" y="2060575"/>
            <a:ext cx="2665413" cy="21605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授权</a:t>
            </a:r>
          </a:p>
          <a:p>
            <a:pPr algn="ctr"/>
            <a:r>
              <a:rPr kumimoji="0" lang="zh-CN" altLang="en-US" sz="1800">
                <a:latin typeface="Arial" panose="020B0604020202020204" pitchFamily="34" charset="0"/>
              </a:rPr>
              <a:t>（</a:t>
            </a:r>
            <a:r>
              <a:rPr kumimoji="0" lang="en-US" altLang="zh-CN" sz="1800">
                <a:latin typeface="Arial" panose="020B0604020202020204" pitchFamily="34" charset="0"/>
              </a:rPr>
              <a:t>20</a:t>
            </a:r>
            <a:r>
              <a:rPr kumimoji="0" lang="zh-CN" altLang="en-US" sz="1800">
                <a:latin typeface="Arial" panose="020B0604020202020204" pitchFamily="34" charset="0"/>
              </a:rPr>
              <a:t>世纪</a:t>
            </a:r>
            <a:r>
              <a:rPr kumimoji="0" lang="en-US" altLang="zh-CN" sz="1800">
                <a:latin typeface="Arial" panose="020B0604020202020204" pitchFamily="34" charset="0"/>
              </a:rPr>
              <a:t>70</a:t>
            </a:r>
            <a:r>
              <a:rPr kumimoji="0" lang="zh-CN" altLang="en-US" sz="1800">
                <a:latin typeface="Arial" panose="020B0604020202020204" pitchFamily="34" charset="0"/>
              </a:rPr>
              <a:t>年代）</a:t>
            </a:r>
          </a:p>
          <a:p>
            <a:pPr algn="ctr"/>
            <a:endParaRPr kumimoji="0" lang="zh-CN" altLang="en-US" sz="1800">
              <a:latin typeface="Arial" panose="020B0604020202020204" pitchFamily="34" charset="0"/>
            </a:endParaRPr>
          </a:p>
          <a:p>
            <a:pPr algn="ctr"/>
            <a:endParaRPr kumimoji="0" lang="en-US" altLang="zh-CN" sz="1600">
              <a:latin typeface="Arial" panose="020B0604020202020204" pitchFamily="34" charset="0"/>
            </a:endParaRPr>
          </a:p>
        </p:txBody>
      </p:sp>
      <p:sp>
        <p:nvSpPr>
          <p:cNvPr id="91141" name="Rectangle 5">
            <a:extLst>
              <a:ext uri="{FF2B5EF4-FFF2-40B4-BE49-F238E27FC236}">
                <a16:creationId xmlns:a16="http://schemas.microsoft.com/office/drawing/2014/main" id="{C8E0419B-C6EC-10AA-998E-A5CCEB2ADBD5}"/>
              </a:ext>
            </a:extLst>
          </p:cNvPr>
          <p:cNvSpPr>
            <a:spLocks noChangeArrowheads="1"/>
          </p:cNvSpPr>
          <p:nvPr/>
        </p:nvSpPr>
        <p:spPr bwMode="auto">
          <a:xfrm>
            <a:off x="611188" y="2060575"/>
            <a:ext cx="2663825" cy="21605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集权</a:t>
            </a:r>
          </a:p>
          <a:p>
            <a:pPr algn="ctr"/>
            <a:r>
              <a:rPr kumimoji="0" lang="zh-CN" altLang="en-US" sz="1800">
                <a:latin typeface="Arial" panose="020B0604020202020204" pitchFamily="34" charset="0"/>
              </a:rPr>
              <a:t>（</a:t>
            </a:r>
            <a:r>
              <a:rPr kumimoji="0" lang="en-US" altLang="zh-CN" sz="1800">
                <a:latin typeface="Arial" panose="020B0604020202020204" pitchFamily="34" charset="0"/>
              </a:rPr>
              <a:t>20</a:t>
            </a:r>
            <a:r>
              <a:rPr kumimoji="0" lang="zh-CN" altLang="en-US" sz="1800">
                <a:latin typeface="Arial" panose="020B0604020202020204" pitchFamily="34" charset="0"/>
              </a:rPr>
              <a:t>世纪</a:t>
            </a:r>
            <a:r>
              <a:rPr kumimoji="0" lang="en-US" altLang="zh-CN" sz="1800">
                <a:latin typeface="Arial" panose="020B0604020202020204" pitchFamily="34" charset="0"/>
              </a:rPr>
              <a:t>60</a:t>
            </a:r>
            <a:r>
              <a:rPr kumimoji="0" lang="zh-CN" altLang="en-US" sz="1800">
                <a:latin typeface="Arial" panose="020B0604020202020204" pitchFamily="34" charset="0"/>
              </a:rPr>
              <a:t>年代）</a:t>
            </a:r>
          </a:p>
          <a:p>
            <a:pPr algn="ctr"/>
            <a:endParaRPr kumimoji="0" lang="zh-CN" altLang="en-US" sz="1600">
              <a:latin typeface="Arial" panose="020B0604020202020204" pitchFamily="34" charset="0"/>
            </a:endParaRPr>
          </a:p>
          <a:p>
            <a:pPr algn="ctr"/>
            <a:endParaRPr kumimoji="0" lang="en-US" altLang="zh-CN" sz="1600">
              <a:latin typeface="Arial" panose="020B0604020202020204" pitchFamily="34" charset="0"/>
            </a:endParaRPr>
          </a:p>
        </p:txBody>
      </p:sp>
      <p:sp>
        <p:nvSpPr>
          <p:cNvPr id="91142" name="Rectangle 6">
            <a:extLst>
              <a:ext uri="{FF2B5EF4-FFF2-40B4-BE49-F238E27FC236}">
                <a16:creationId xmlns:a16="http://schemas.microsoft.com/office/drawing/2014/main" id="{8DEC3E7A-7FDE-3A01-C900-EFE3B2262A10}"/>
              </a:ext>
            </a:extLst>
          </p:cNvPr>
          <p:cNvSpPr>
            <a:spLocks noChangeArrowheads="1"/>
          </p:cNvSpPr>
          <p:nvPr/>
        </p:nvSpPr>
        <p:spPr bwMode="auto">
          <a:xfrm>
            <a:off x="5940425" y="2060575"/>
            <a:ext cx="2663825" cy="21605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分权</a:t>
            </a:r>
          </a:p>
          <a:p>
            <a:pPr algn="ctr"/>
            <a:r>
              <a:rPr kumimoji="0" lang="zh-CN" altLang="en-US" sz="1800">
                <a:latin typeface="Arial" panose="020B0604020202020204" pitchFamily="34" charset="0"/>
              </a:rPr>
              <a:t>（</a:t>
            </a:r>
            <a:r>
              <a:rPr kumimoji="0" lang="en-US" altLang="zh-CN" sz="1800">
                <a:latin typeface="Arial" panose="020B0604020202020204" pitchFamily="34" charset="0"/>
              </a:rPr>
              <a:t>20</a:t>
            </a:r>
            <a:r>
              <a:rPr kumimoji="0" lang="zh-CN" altLang="en-US" sz="1800">
                <a:latin typeface="Arial" panose="020B0604020202020204" pitchFamily="34" charset="0"/>
              </a:rPr>
              <a:t>世纪</a:t>
            </a:r>
            <a:r>
              <a:rPr kumimoji="0" lang="en-US" altLang="zh-CN" sz="1800">
                <a:latin typeface="Arial" panose="020B0604020202020204" pitchFamily="34" charset="0"/>
              </a:rPr>
              <a:t>80</a:t>
            </a:r>
            <a:r>
              <a:rPr kumimoji="0" lang="zh-CN" altLang="en-US" sz="1800">
                <a:latin typeface="Arial" panose="020B0604020202020204" pitchFamily="34" charset="0"/>
              </a:rPr>
              <a:t>年代）</a:t>
            </a:r>
          </a:p>
          <a:p>
            <a:pPr algn="ctr"/>
            <a:endParaRPr kumimoji="0" lang="zh-CN" altLang="en-US" sz="1600">
              <a:latin typeface="Arial" panose="020B0604020202020204" pitchFamily="34" charset="0"/>
            </a:endParaRPr>
          </a:p>
          <a:p>
            <a:pPr algn="ctr"/>
            <a:endParaRPr kumimoji="0" lang="en-US" altLang="zh-CN" sz="1600">
              <a:latin typeface="Arial" panose="020B0604020202020204" pitchFamily="34" charset="0"/>
            </a:endParaRPr>
          </a:p>
        </p:txBody>
      </p:sp>
      <p:sp>
        <p:nvSpPr>
          <p:cNvPr id="91143" name="Rectangle 7">
            <a:extLst>
              <a:ext uri="{FF2B5EF4-FFF2-40B4-BE49-F238E27FC236}">
                <a16:creationId xmlns:a16="http://schemas.microsoft.com/office/drawing/2014/main" id="{7660E8A2-478B-A01E-8F64-8782F6FCE585}"/>
              </a:ext>
            </a:extLst>
          </p:cNvPr>
          <p:cNvSpPr>
            <a:spLocks noChangeArrowheads="1"/>
          </p:cNvSpPr>
          <p:nvPr/>
        </p:nvSpPr>
        <p:spPr bwMode="auto">
          <a:xfrm>
            <a:off x="3276600" y="4221163"/>
            <a:ext cx="5329238" cy="10795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赋权</a:t>
            </a:r>
          </a:p>
          <a:p>
            <a:pPr algn="ctr"/>
            <a:r>
              <a:rPr kumimoji="0" lang="zh-CN" altLang="en-US" sz="1800">
                <a:latin typeface="Arial" panose="020B0604020202020204" pitchFamily="34" charset="0"/>
              </a:rPr>
              <a:t>（</a:t>
            </a:r>
            <a:r>
              <a:rPr kumimoji="0" lang="en-US" altLang="zh-CN" sz="1800">
                <a:latin typeface="Arial" panose="020B0604020202020204" pitchFamily="34" charset="0"/>
              </a:rPr>
              <a:t>20</a:t>
            </a:r>
            <a:r>
              <a:rPr kumimoji="0" lang="zh-CN" altLang="en-US" sz="1800">
                <a:latin typeface="Arial" panose="020B0604020202020204" pitchFamily="34" charset="0"/>
              </a:rPr>
              <a:t>世纪</a:t>
            </a:r>
            <a:r>
              <a:rPr kumimoji="0" lang="en-US" altLang="zh-CN" sz="1800">
                <a:latin typeface="Arial" panose="020B0604020202020204" pitchFamily="34" charset="0"/>
              </a:rPr>
              <a:t>90</a:t>
            </a:r>
            <a:r>
              <a:rPr kumimoji="0" lang="zh-CN" altLang="en-US" sz="1800">
                <a:latin typeface="Arial" panose="020B0604020202020204" pitchFamily="34" charset="0"/>
              </a:rPr>
              <a:t>年代）</a:t>
            </a:r>
          </a:p>
        </p:txBody>
      </p:sp>
      <p:sp>
        <p:nvSpPr>
          <p:cNvPr id="91144" name="Rectangle 8">
            <a:extLst>
              <a:ext uri="{FF2B5EF4-FFF2-40B4-BE49-F238E27FC236}">
                <a16:creationId xmlns:a16="http://schemas.microsoft.com/office/drawing/2014/main" id="{39C62937-C988-FFAC-B93C-82585B14122C}"/>
              </a:ext>
            </a:extLst>
          </p:cNvPr>
          <p:cNvSpPr>
            <a:spLocks noChangeArrowheads="1"/>
          </p:cNvSpPr>
          <p:nvPr/>
        </p:nvSpPr>
        <p:spPr bwMode="auto">
          <a:xfrm>
            <a:off x="611188" y="1341438"/>
            <a:ext cx="2663825" cy="71913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管理工作</a:t>
            </a:r>
          </a:p>
        </p:txBody>
      </p:sp>
      <p:sp>
        <p:nvSpPr>
          <p:cNvPr id="91145" name="Line 9">
            <a:extLst>
              <a:ext uri="{FF2B5EF4-FFF2-40B4-BE49-F238E27FC236}">
                <a16:creationId xmlns:a16="http://schemas.microsoft.com/office/drawing/2014/main" id="{26291495-7CE7-FE73-74CF-0B927C4D4ECF}"/>
              </a:ext>
            </a:extLst>
          </p:cNvPr>
          <p:cNvSpPr>
            <a:spLocks noChangeShapeType="1"/>
          </p:cNvSpPr>
          <p:nvPr/>
        </p:nvSpPr>
        <p:spPr bwMode="auto">
          <a:xfrm>
            <a:off x="2411413" y="3573463"/>
            <a:ext cx="165576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1146" name="Line 10">
            <a:extLst>
              <a:ext uri="{FF2B5EF4-FFF2-40B4-BE49-F238E27FC236}">
                <a16:creationId xmlns:a16="http://schemas.microsoft.com/office/drawing/2014/main" id="{D292888F-670F-BB93-7286-389D35CEA650}"/>
              </a:ext>
            </a:extLst>
          </p:cNvPr>
          <p:cNvSpPr>
            <a:spLocks noChangeShapeType="1"/>
          </p:cNvSpPr>
          <p:nvPr/>
        </p:nvSpPr>
        <p:spPr bwMode="auto">
          <a:xfrm>
            <a:off x="5076825" y="3573463"/>
            <a:ext cx="165576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1147" name="Line 11">
            <a:extLst>
              <a:ext uri="{FF2B5EF4-FFF2-40B4-BE49-F238E27FC236}">
                <a16:creationId xmlns:a16="http://schemas.microsoft.com/office/drawing/2014/main" id="{1BBEA824-2331-0ED2-A984-74FEB4600F4C}"/>
              </a:ext>
            </a:extLst>
          </p:cNvPr>
          <p:cNvSpPr>
            <a:spLocks noChangeShapeType="1"/>
          </p:cNvSpPr>
          <p:nvPr/>
        </p:nvSpPr>
        <p:spPr bwMode="auto">
          <a:xfrm>
            <a:off x="7740650" y="3573463"/>
            <a:ext cx="0" cy="129698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1148" name="Text Box 12">
            <a:extLst>
              <a:ext uri="{FF2B5EF4-FFF2-40B4-BE49-F238E27FC236}">
                <a16:creationId xmlns:a16="http://schemas.microsoft.com/office/drawing/2014/main" id="{3270803C-97A7-8A09-7A1A-BA001C2F744A}"/>
              </a:ext>
            </a:extLst>
          </p:cNvPr>
          <p:cNvSpPr txBox="1">
            <a:spLocks noChangeArrowheads="1"/>
          </p:cNvSpPr>
          <p:nvPr/>
        </p:nvSpPr>
        <p:spPr bwMode="auto">
          <a:xfrm>
            <a:off x="3348038" y="908050"/>
            <a:ext cx="2736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800">
                <a:latin typeface="Arial" panose="020B0604020202020204" pitchFamily="34" charset="0"/>
                <a:ea typeface="黑体" panose="02010609060101010101" pitchFamily="49" charset="-122"/>
              </a:rPr>
              <a:t>集权、授权、分权与赋权</a:t>
            </a:r>
          </a:p>
        </p:txBody>
      </p:sp>
      <p:sp>
        <p:nvSpPr>
          <p:cNvPr id="91149" name="Text Box 13">
            <a:extLst>
              <a:ext uri="{FF2B5EF4-FFF2-40B4-BE49-F238E27FC236}">
                <a16:creationId xmlns:a16="http://schemas.microsoft.com/office/drawing/2014/main" id="{B543358C-8CAF-DB22-2026-CEF3026B4262}"/>
              </a:ext>
            </a:extLst>
          </p:cNvPr>
          <p:cNvSpPr txBox="1">
            <a:spLocks noChangeArrowheads="1"/>
          </p:cNvSpPr>
          <p:nvPr/>
        </p:nvSpPr>
        <p:spPr bwMode="auto">
          <a:xfrm>
            <a:off x="468313" y="5373688"/>
            <a:ext cx="820896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a:latin typeface="Arial" panose="020B0604020202020204" pitchFamily="34" charset="0"/>
              </a:rPr>
              <a:t>赋权：创造一个让员工在清楚的指引下，担负更多责任、控制成果、不断学习、发挥创造力、一展所长的环境。</a:t>
            </a:r>
          </a:p>
        </p:txBody>
      </p:sp>
      <p:sp>
        <p:nvSpPr>
          <p:cNvPr id="91151" name="Rectangle 15">
            <a:extLst>
              <a:ext uri="{FF2B5EF4-FFF2-40B4-BE49-F238E27FC236}">
                <a16:creationId xmlns:a16="http://schemas.microsoft.com/office/drawing/2014/main" id="{5D827AD1-7A58-3230-2C87-CBE564F807D2}"/>
              </a:ext>
            </a:extLst>
          </p:cNvPr>
          <p:cNvSpPr>
            <a:spLocks noChangeArrowheads="1"/>
          </p:cNvSpPr>
          <p:nvPr/>
        </p:nvSpPr>
        <p:spPr bwMode="auto">
          <a:xfrm>
            <a:off x="179388" y="188913"/>
            <a:ext cx="20923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en-US" altLang="zh-CN" sz="1600">
                <a:latin typeface="Arial" panose="020B0604020202020204" pitchFamily="34" charset="0"/>
              </a:rPr>
              <a:t>8.3</a:t>
            </a:r>
            <a:r>
              <a:rPr kumimoji="0" lang="zh-CN" altLang="en-US" sz="1600">
                <a:latin typeface="Arial" panose="020B0604020202020204" pitchFamily="34" charset="0"/>
              </a:rPr>
              <a:t>职权的集中与分散</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2">
            <a:extLst>
              <a:ext uri="{FF2B5EF4-FFF2-40B4-BE49-F238E27FC236}">
                <a16:creationId xmlns:a16="http://schemas.microsoft.com/office/drawing/2014/main" id="{ADAF80C7-C208-233F-894A-0F683D59D846}"/>
              </a:ext>
            </a:extLst>
          </p:cNvPr>
          <p:cNvSpPr>
            <a:spLocks noGrp="1"/>
          </p:cNvSpPr>
          <p:nvPr>
            <p:ph type="dt" sz="half" idx="10"/>
          </p:nvPr>
        </p:nvSpPr>
        <p:spPr/>
        <p:txBody>
          <a:bodyPr/>
          <a:lstStyle/>
          <a:p>
            <a:r>
              <a:rPr lang="zh-CN" altLang="en-US"/>
              <a:t>版本：2004</a:t>
            </a:r>
            <a:endParaRPr lang="en-US" altLang="zh-CN"/>
          </a:p>
        </p:txBody>
      </p:sp>
      <p:sp>
        <p:nvSpPr>
          <p:cNvPr id="3" name="页脚占位符 3">
            <a:extLst>
              <a:ext uri="{FF2B5EF4-FFF2-40B4-BE49-F238E27FC236}">
                <a16:creationId xmlns:a16="http://schemas.microsoft.com/office/drawing/2014/main" id="{BEF643C5-FCE7-0295-E6A3-410C244FDB78}"/>
              </a:ext>
            </a:extLst>
          </p:cNvPr>
          <p:cNvSpPr>
            <a:spLocks noGrp="1"/>
          </p:cNvSpPr>
          <p:nvPr>
            <p:ph type="ftr" sz="quarter" idx="11"/>
          </p:nvPr>
        </p:nvSpPr>
        <p:spPr/>
        <p:txBody>
          <a:bodyPr/>
          <a:lstStyle/>
          <a:p>
            <a:r>
              <a:rPr lang="en-US" altLang="zh-CN"/>
              <a:t>管理学</a:t>
            </a:r>
          </a:p>
        </p:txBody>
      </p:sp>
      <p:sp>
        <p:nvSpPr>
          <p:cNvPr id="4" name="灯片编号占位符 4">
            <a:extLst>
              <a:ext uri="{FF2B5EF4-FFF2-40B4-BE49-F238E27FC236}">
                <a16:creationId xmlns:a16="http://schemas.microsoft.com/office/drawing/2014/main" id="{860B7F1B-440B-2ED8-32C0-B149724E895B}"/>
              </a:ext>
            </a:extLst>
          </p:cNvPr>
          <p:cNvSpPr>
            <a:spLocks noGrp="1"/>
          </p:cNvSpPr>
          <p:nvPr>
            <p:ph type="sldNum" sz="quarter" idx="12"/>
          </p:nvPr>
        </p:nvSpPr>
        <p:spPr/>
        <p:txBody>
          <a:bodyPr/>
          <a:lstStyle/>
          <a:p>
            <a:fld id="{F60AFCD5-8054-400E-942F-E1CDC6EB7716}" type="slidenum">
              <a:rPr lang="en-US" altLang="zh-CN"/>
              <a:pPr/>
              <a:t>17</a:t>
            </a:fld>
            <a:endParaRPr lang="en-US" altLang="zh-CN"/>
          </a:p>
        </p:txBody>
      </p:sp>
      <p:sp>
        <p:nvSpPr>
          <p:cNvPr id="100354" name="Rectangle 2">
            <a:extLst>
              <a:ext uri="{FF2B5EF4-FFF2-40B4-BE49-F238E27FC236}">
                <a16:creationId xmlns:a16="http://schemas.microsoft.com/office/drawing/2014/main" id="{4F7442F0-406A-7E83-568A-FAF921DF5FF9}"/>
              </a:ext>
            </a:extLst>
          </p:cNvPr>
          <p:cNvSpPr>
            <a:spLocks noChangeArrowheads="1"/>
          </p:cNvSpPr>
          <p:nvPr/>
        </p:nvSpPr>
        <p:spPr bwMode="auto">
          <a:xfrm>
            <a:off x="179388" y="212725"/>
            <a:ext cx="20923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en-US" altLang="zh-CN" sz="1600">
                <a:latin typeface="Arial" panose="020B0604020202020204" pitchFamily="34" charset="0"/>
              </a:rPr>
              <a:t>8.4</a:t>
            </a:r>
            <a:r>
              <a:rPr kumimoji="0" lang="zh-CN" altLang="en-US" sz="1600">
                <a:latin typeface="Arial" panose="020B0604020202020204" pitchFamily="34" charset="0"/>
              </a:rPr>
              <a:t>组织结构整合设计</a:t>
            </a:r>
          </a:p>
        </p:txBody>
      </p:sp>
      <p:graphicFrame>
        <p:nvGraphicFramePr>
          <p:cNvPr id="100416" name="Group 64">
            <a:extLst>
              <a:ext uri="{FF2B5EF4-FFF2-40B4-BE49-F238E27FC236}">
                <a16:creationId xmlns:a16="http://schemas.microsoft.com/office/drawing/2014/main" id="{48136335-8277-4551-EF8A-7FCA4B10D3DC}"/>
              </a:ext>
            </a:extLst>
          </p:cNvPr>
          <p:cNvGraphicFramePr>
            <a:graphicFrameLocks noGrp="1"/>
          </p:cNvGraphicFramePr>
          <p:nvPr>
            <p:ph/>
          </p:nvPr>
        </p:nvGraphicFramePr>
        <p:xfrm>
          <a:off x="468313" y="1268413"/>
          <a:ext cx="8207375" cy="4392612"/>
        </p:xfrm>
        <a:graphic>
          <a:graphicData uri="http://schemas.openxmlformats.org/drawingml/2006/table">
            <a:tbl>
              <a:tblPr/>
              <a:tblGrid>
                <a:gridCol w="1231900">
                  <a:extLst>
                    <a:ext uri="{9D8B030D-6E8A-4147-A177-3AD203B41FA5}">
                      <a16:colId xmlns:a16="http://schemas.microsoft.com/office/drawing/2014/main" val="1226608482"/>
                    </a:ext>
                  </a:extLst>
                </a:gridCol>
                <a:gridCol w="2513012">
                  <a:extLst>
                    <a:ext uri="{9D8B030D-6E8A-4147-A177-3AD203B41FA5}">
                      <a16:colId xmlns:a16="http://schemas.microsoft.com/office/drawing/2014/main" val="2897346042"/>
                    </a:ext>
                  </a:extLst>
                </a:gridCol>
                <a:gridCol w="1508125">
                  <a:extLst>
                    <a:ext uri="{9D8B030D-6E8A-4147-A177-3AD203B41FA5}">
                      <a16:colId xmlns:a16="http://schemas.microsoft.com/office/drawing/2014/main" val="4233513648"/>
                    </a:ext>
                  </a:extLst>
                </a:gridCol>
                <a:gridCol w="1508125">
                  <a:extLst>
                    <a:ext uri="{9D8B030D-6E8A-4147-A177-3AD203B41FA5}">
                      <a16:colId xmlns:a16="http://schemas.microsoft.com/office/drawing/2014/main" val="1266839227"/>
                    </a:ext>
                  </a:extLst>
                </a:gridCol>
                <a:gridCol w="1446213">
                  <a:extLst>
                    <a:ext uri="{9D8B030D-6E8A-4147-A177-3AD203B41FA5}">
                      <a16:colId xmlns:a16="http://schemas.microsoft.com/office/drawing/2014/main" val="2205282696"/>
                    </a:ext>
                  </a:extLst>
                </a:gridCol>
              </a:tblGrid>
              <a:tr h="73183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相互依存的形式</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图示</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横向沟通、</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决策的要求</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需要协调</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的类型</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单位位置靠</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近的优先权</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18620313"/>
                  </a:ext>
                </a:extLst>
              </a:tr>
              <a:tr h="11779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联营式</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低度沟通</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标准化，规章，程序</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低</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45652790"/>
                  </a:ext>
                </a:extLst>
              </a:tr>
              <a:tr h="11811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连续式</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中度沟通</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计划，安排，反馈</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中</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17498151"/>
                  </a:ext>
                </a:extLst>
              </a:tr>
              <a:tr h="130175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互惠式</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高度沟通</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相互调整，跨部门会议，团队</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高</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07883832"/>
                  </a:ext>
                </a:extLst>
              </a:tr>
            </a:tbl>
          </a:graphicData>
        </a:graphic>
      </p:graphicFrame>
      <p:sp>
        <p:nvSpPr>
          <p:cNvPr id="100387" name="Rectangle 35">
            <a:extLst>
              <a:ext uri="{FF2B5EF4-FFF2-40B4-BE49-F238E27FC236}">
                <a16:creationId xmlns:a16="http://schemas.microsoft.com/office/drawing/2014/main" id="{E805C1BD-7AAA-3E08-CFF2-CFB0EDE97E78}"/>
              </a:ext>
            </a:extLst>
          </p:cNvPr>
          <p:cNvSpPr>
            <a:spLocks noChangeArrowheads="1"/>
          </p:cNvSpPr>
          <p:nvPr/>
        </p:nvSpPr>
        <p:spPr bwMode="auto">
          <a:xfrm>
            <a:off x="2627313" y="2133600"/>
            <a:ext cx="647700" cy="36036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a:latin typeface="Arial" panose="020B0604020202020204" pitchFamily="34" charset="0"/>
              </a:rPr>
              <a:t>总部</a:t>
            </a:r>
          </a:p>
        </p:txBody>
      </p:sp>
      <p:sp>
        <p:nvSpPr>
          <p:cNvPr id="100388" name="Rectangle 36">
            <a:extLst>
              <a:ext uri="{FF2B5EF4-FFF2-40B4-BE49-F238E27FC236}">
                <a16:creationId xmlns:a16="http://schemas.microsoft.com/office/drawing/2014/main" id="{88F6D95A-B59E-7367-45FE-12DFA5B6C0AC}"/>
              </a:ext>
            </a:extLst>
          </p:cNvPr>
          <p:cNvSpPr>
            <a:spLocks noChangeArrowheads="1"/>
          </p:cNvSpPr>
          <p:nvPr/>
        </p:nvSpPr>
        <p:spPr bwMode="auto">
          <a:xfrm>
            <a:off x="1763713" y="2708275"/>
            <a:ext cx="647700" cy="36036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a:latin typeface="Arial" panose="020B0604020202020204" pitchFamily="34" charset="0"/>
              </a:rPr>
              <a:t>分部</a:t>
            </a:r>
          </a:p>
        </p:txBody>
      </p:sp>
      <p:sp>
        <p:nvSpPr>
          <p:cNvPr id="100389" name="Rectangle 37">
            <a:extLst>
              <a:ext uri="{FF2B5EF4-FFF2-40B4-BE49-F238E27FC236}">
                <a16:creationId xmlns:a16="http://schemas.microsoft.com/office/drawing/2014/main" id="{2C1540EC-5671-E661-1CD3-B6048E439BD6}"/>
              </a:ext>
            </a:extLst>
          </p:cNvPr>
          <p:cNvSpPr>
            <a:spLocks noChangeArrowheads="1"/>
          </p:cNvSpPr>
          <p:nvPr/>
        </p:nvSpPr>
        <p:spPr bwMode="auto">
          <a:xfrm>
            <a:off x="2627313" y="2708275"/>
            <a:ext cx="647700" cy="36036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a:latin typeface="Arial" panose="020B0604020202020204" pitchFamily="34" charset="0"/>
              </a:rPr>
              <a:t>分部</a:t>
            </a:r>
          </a:p>
        </p:txBody>
      </p:sp>
      <p:sp>
        <p:nvSpPr>
          <p:cNvPr id="100390" name="Rectangle 38">
            <a:extLst>
              <a:ext uri="{FF2B5EF4-FFF2-40B4-BE49-F238E27FC236}">
                <a16:creationId xmlns:a16="http://schemas.microsoft.com/office/drawing/2014/main" id="{5C93C7F0-E7D7-DD18-29E6-73F76BA4F6DD}"/>
              </a:ext>
            </a:extLst>
          </p:cNvPr>
          <p:cNvSpPr>
            <a:spLocks noChangeArrowheads="1"/>
          </p:cNvSpPr>
          <p:nvPr/>
        </p:nvSpPr>
        <p:spPr bwMode="auto">
          <a:xfrm>
            <a:off x="3492500" y="2708275"/>
            <a:ext cx="647700" cy="36036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a:latin typeface="Arial" panose="020B0604020202020204" pitchFamily="34" charset="0"/>
              </a:rPr>
              <a:t>分部</a:t>
            </a:r>
          </a:p>
        </p:txBody>
      </p:sp>
      <p:sp>
        <p:nvSpPr>
          <p:cNvPr id="100391" name="Line 39">
            <a:extLst>
              <a:ext uri="{FF2B5EF4-FFF2-40B4-BE49-F238E27FC236}">
                <a16:creationId xmlns:a16="http://schemas.microsoft.com/office/drawing/2014/main" id="{B57D9D82-252E-5091-48BC-7D6A17D534AA}"/>
              </a:ext>
            </a:extLst>
          </p:cNvPr>
          <p:cNvSpPr>
            <a:spLocks noChangeShapeType="1"/>
          </p:cNvSpPr>
          <p:nvPr/>
        </p:nvSpPr>
        <p:spPr bwMode="auto">
          <a:xfrm>
            <a:off x="2124075" y="2276475"/>
            <a:ext cx="50323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0392" name="Line 40">
            <a:extLst>
              <a:ext uri="{FF2B5EF4-FFF2-40B4-BE49-F238E27FC236}">
                <a16:creationId xmlns:a16="http://schemas.microsoft.com/office/drawing/2014/main" id="{94A86989-2BD3-A26F-12EC-D1150A711250}"/>
              </a:ext>
            </a:extLst>
          </p:cNvPr>
          <p:cNvSpPr>
            <a:spLocks noChangeShapeType="1"/>
          </p:cNvSpPr>
          <p:nvPr/>
        </p:nvSpPr>
        <p:spPr bwMode="auto">
          <a:xfrm flipH="1">
            <a:off x="3276600" y="2276475"/>
            <a:ext cx="50323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0393" name="Line 41">
            <a:extLst>
              <a:ext uri="{FF2B5EF4-FFF2-40B4-BE49-F238E27FC236}">
                <a16:creationId xmlns:a16="http://schemas.microsoft.com/office/drawing/2014/main" id="{FDD99EC2-02A5-E48C-DD80-1CE1DE9C3008}"/>
              </a:ext>
            </a:extLst>
          </p:cNvPr>
          <p:cNvSpPr>
            <a:spLocks noChangeShapeType="1"/>
          </p:cNvSpPr>
          <p:nvPr/>
        </p:nvSpPr>
        <p:spPr bwMode="auto">
          <a:xfrm>
            <a:off x="2124075" y="2276475"/>
            <a:ext cx="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0394" name="Line 42">
            <a:extLst>
              <a:ext uri="{FF2B5EF4-FFF2-40B4-BE49-F238E27FC236}">
                <a16:creationId xmlns:a16="http://schemas.microsoft.com/office/drawing/2014/main" id="{B9359C95-6E4D-1328-8FF4-2127E5503943}"/>
              </a:ext>
            </a:extLst>
          </p:cNvPr>
          <p:cNvSpPr>
            <a:spLocks noChangeShapeType="1"/>
          </p:cNvSpPr>
          <p:nvPr/>
        </p:nvSpPr>
        <p:spPr bwMode="auto">
          <a:xfrm>
            <a:off x="3779838" y="2276475"/>
            <a:ext cx="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0395" name="Line 43">
            <a:extLst>
              <a:ext uri="{FF2B5EF4-FFF2-40B4-BE49-F238E27FC236}">
                <a16:creationId xmlns:a16="http://schemas.microsoft.com/office/drawing/2014/main" id="{353310B0-26CB-6CFF-8188-4BECBEA337B8}"/>
              </a:ext>
            </a:extLst>
          </p:cNvPr>
          <p:cNvSpPr>
            <a:spLocks noChangeShapeType="1"/>
          </p:cNvSpPr>
          <p:nvPr/>
        </p:nvSpPr>
        <p:spPr bwMode="auto">
          <a:xfrm>
            <a:off x="2987675" y="2492375"/>
            <a:ext cx="0" cy="21590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0396" name="Rectangle 44">
            <a:extLst>
              <a:ext uri="{FF2B5EF4-FFF2-40B4-BE49-F238E27FC236}">
                <a16:creationId xmlns:a16="http://schemas.microsoft.com/office/drawing/2014/main" id="{BE03BE95-447E-720C-1AA5-7AE9E51ABE44}"/>
              </a:ext>
            </a:extLst>
          </p:cNvPr>
          <p:cNvSpPr>
            <a:spLocks noChangeArrowheads="1"/>
          </p:cNvSpPr>
          <p:nvPr/>
        </p:nvSpPr>
        <p:spPr bwMode="auto">
          <a:xfrm>
            <a:off x="3492500" y="3716338"/>
            <a:ext cx="647700" cy="36036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a:latin typeface="Arial" panose="020B0604020202020204" pitchFamily="34" charset="0"/>
              </a:rPr>
              <a:t>部门</a:t>
            </a:r>
          </a:p>
        </p:txBody>
      </p:sp>
      <p:sp>
        <p:nvSpPr>
          <p:cNvPr id="100397" name="Rectangle 45">
            <a:extLst>
              <a:ext uri="{FF2B5EF4-FFF2-40B4-BE49-F238E27FC236}">
                <a16:creationId xmlns:a16="http://schemas.microsoft.com/office/drawing/2014/main" id="{38325B77-74CD-005E-8868-E0D357D3BDFF}"/>
              </a:ext>
            </a:extLst>
          </p:cNvPr>
          <p:cNvSpPr>
            <a:spLocks noChangeArrowheads="1"/>
          </p:cNvSpPr>
          <p:nvPr/>
        </p:nvSpPr>
        <p:spPr bwMode="auto">
          <a:xfrm>
            <a:off x="2627313" y="3716338"/>
            <a:ext cx="647700" cy="36036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a:latin typeface="Arial" panose="020B0604020202020204" pitchFamily="34" charset="0"/>
              </a:rPr>
              <a:t>部门</a:t>
            </a:r>
          </a:p>
        </p:txBody>
      </p:sp>
      <p:sp>
        <p:nvSpPr>
          <p:cNvPr id="100398" name="Rectangle 46">
            <a:extLst>
              <a:ext uri="{FF2B5EF4-FFF2-40B4-BE49-F238E27FC236}">
                <a16:creationId xmlns:a16="http://schemas.microsoft.com/office/drawing/2014/main" id="{993549E2-659F-0D74-6BA7-4DD889B7423C}"/>
              </a:ext>
            </a:extLst>
          </p:cNvPr>
          <p:cNvSpPr>
            <a:spLocks noChangeArrowheads="1"/>
          </p:cNvSpPr>
          <p:nvPr/>
        </p:nvSpPr>
        <p:spPr bwMode="auto">
          <a:xfrm>
            <a:off x="1763713" y="3716338"/>
            <a:ext cx="647700" cy="36036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a:latin typeface="Arial" panose="020B0604020202020204" pitchFamily="34" charset="0"/>
              </a:rPr>
              <a:t>部门</a:t>
            </a:r>
          </a:p>
        </p:txBody>
      </p:sp>
      <p:sp>
        <p:nvSpPr>
          <p:cNvPr id="100399" name="Line 47">
            <a:extLst>
              <a:ext uri="{FF2B5EF4-FFF2-40B4-BE49-F238E27FC236}">
                <a16:creationId xmlns:a16="http://schemas.microsoft.com/office/drawing/2014/main" id="{6DAF1118-BC78-2BC0-CF1A-F291A9234FF8}"/>
              </a:ext>
            </a:extLst>
          </p:cNvPr>
          <p:cNvSpPr>
            <a:spLocks noChangeShapeType="1"/>
          </p:cNvSpPr>
          <p:nvPr/>
        </p:nvSpPr>
        <p:spPr bwMode="auto">
          <a:xfrm>
            <a:off x="2411413" y="3860800"/>
            <a:ext cx="2159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0400" name="Line 48">
            <a:extLst>
              <a:ext uri="{FF2B5EF4-FFF2-40B4-BE49-F238E27FC236}">
                <a16:creationId xmlns:a16="http://schemas.microsoft.com/office/drawing/2014/main" id="{900FB8DE-19B7-841E-1B0D-CCF1F96B41E5}"/>
              </a:ext>
            </a:extLst>
          </p:cNvPr>
          <p:cNvSpPr>
            <a:spLocks noChangeShapeType="1"/>
          </p:cNvSpPr>
          <p:nvPr/>
        </p:nvSpPr>
        <p:spPr bwMode="auto">
          <a:xfrm>
            <a:off x="3276600" y="3860800"/>
            <a:ext cx="2159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0401" name="Rectangle 49">
            <a:extLst>
              <a:ext uri="{FF2B5EF4-FFF2-40B4-BE49-F238E27FC236}">
                <a16:creationId xmlns:a16="http://schemas.microsoft.com/office/drawing/2014/main" id="{3549D9D1-C575-14AB-3A02-E93ED25DF228}"/>
              </a:ext>
            </a:extLst>
          </p:cNvPr>
          <p:cNvSpPr>
            <a:spLocks noChangeArrowheads="1"/>
          </p:cNvSpPr>
          <p:nvPr/>
        </p:nvSpPr>
        <p:spPr bwMode="auto">
          <a:xfrm>
            <a:off x="3419475" y="4797425"/>
            <a:ext cx="647700" cy="36036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a:latin typeface="Arial" panose="020B0604020202020204" pitchFamily="34" charset="0"/>
              </a:rPr>
              <a:t>部门</a:t>
            </a:r>
          </a:p>
        </p:txBody>
      </p:sp>
      <p:sp>
        <p:nvSpPr>
          <p:cNvPr id="100402" name="Rectangle 50">
            <a:extLst>
              <a:ext uri="{FF2B5EF4-FFF2-40B4-BE49-F238E27FC236}">
                <a16:creationId xmlns:a16="http://schemas.microsoft.com/office/drawing/2014/main" id="{257672F7-0FDD-E492-24DB-9FC82EE5C2DA}"/>
              </a:ext>
            </a:extLst>
          </p:cNvPr>
          <p:cNvSpPr>
            <a:spLocks noChangeArrowheads="1"/>
          </p:cNvSpPr>
          <p:nvPr/>
        </p:nvSpPr>
        <p:spPr bwMode="auto">
          <a:xfrm>
            <a:off x="1835150" y="4797425"/>
            <a:ext cx="647700" cy="36036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a:latin typeface="Arial" panose="020B0604020202020204" pitchFamily="34" charset="0"/>
              </a:rPr>
              <a:t>部门</a:t>
            </a:r>
          </a:p>
        </p:txBody>
      </p:sp>
      <p:sp>
        <p:nvSpPr>
          <p:cNvPr id="100403" name="Line 51">
            <a:extLst>
              <a:ext uri="{FF2B5EF4-FFF2-40B4-BE49-F238E27FC236}">
                <a16:creationId xmlns:a16="http://schemas.microsoft.com/office/drawing/2014/main" id="{462812DF-25E6-00CC-F427-CD078E009B5E}"/>
              </a:ext>
            </a:extLst>
          </p:cNvPr>
          <p:cNvSpPr>
            <a:spLocks noChangeShapeType="1"/>
          </p:cNvSpPr>
          <p:nvPr/>
        </p:nvSpPr>
        <p:spPr bwMode="auto">
          <a:xfrm>
            <a:off x="2124075" y="4581525"/>
            <a:ext cx="0"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0404" name="Line 52">
            <a:extLst>
              <a:ext uri="{FF2B5EF4-FFF2-40B4-BE49-F238E27FC236}">
                <a16:creationId xmlns:a16="http://schemas.microsoft.com/office/drawing/2014/main" id="{8E4323FA-5D26-715F-1456-0C8EF5BAF74E}"/>
              </a:ext>
            </a:extLst>
          </p:cNvPr>
          <p:cNvSpPr>
            <a:spLocks noChangeShapeType="1"/>
          </p:cNvSpPr>
          <p:nvPr/>
        </p:nvSpPr>
        <p:spPr bwMode="auto">
          <a:xfrm>
            <a:off x="3779838" y="4581525"/>
            <a:ext cx="0"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0405" name="Line 53">
            <a:extLst>
              <a:ext uri="{FF2B5EF4-FFF2-40B4-BE49-F238E27FC236}">
                <a16:creationId xmlns:a16="http://schemas.microsoft.com/office/drawing/2014/main" id="{F18076D3-EB17-D45F-B189-D94C879C3ED2}"/>
              </a:ext>
            </a:extLst>
          </p:cNvPr>
          <p:cNvSpPr>
            <a:spLocks noChangeShapeType="1"/>
          </p:cNvSpPr>
          <p:nvPr/>
        </p:nvSpPr>
        <p:spPr bwMode="auto">
          <a:xfrm>
            <a:off x="2124075" y="5157788"/>
            <a:ext cx="863600" cy="3587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0406" name="Line 54">
            <a:extLst>
              <a:ext uri="{FF2B5EF4-FFF2-40B4-BE49-F238E27FC236}">
                <a16:creationId xmlns:a16="http://schemas.microsoft.com/office/drawing/2014/main" id="{4C2CD65C-353A-CA61-8D5C-A7F1FC869625}"/>
              </a:ext>
            </a:extLst>
          </p:cNvPr>
          <p:cNvSpPr>
            <a:spLocks noChangeShapeType="1"/>
          </p:cNvSpPr>
          <p:nvPr/>
        </p:nvSpPr>
        <p:spPr bwMode="auto">
          <a:xfrm flipH="1">
            <a:off x="3059113" y="5157788"/>
            <a:ext cx="720725" cy="3587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0407" name="Line 55">
            <a:extLst>
              <a:ext uri="{FF2B5EF4-FFF2-40B4-BE49-F238E27FC236}">
                <a16:creationId xmlns:a16="http://schemas.microsoft.com/office/drawing/2014/main" id="{B6FBD09A-562F-9E33-1427-50EA83817E40}"/>
              </a:ext>
            </a:extLst>
          </p:cNvPr>
          <p:cNvSpPr>
            <a:spLocks noChangeShapeType="1"/>
          </p:cNvSpPr>
          <p:nvPr/>
        </p:nvSpPr>
        <p:spPr bwMode="auto">
          <a:xfrm>
            <a:off x="2124075" y="3068638"/>
            <a:ext cx="0" cy="1444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0408" name="Line 56">
            <a:extLst>
              <a:ext uri="{FF2B5EF4-FFF2-40B4-BE49-F238E27FC236}">
                <a16:creationId xmlns:a16="http://schemas.microsoft.com/office/drawing/2014/main" id="{588BBDB9-9E4A-5DD3-85DD-0BE9A960633B}"/>
              </a:ext>
            </a:extLst>
          </p:cNvPr>
          <p:cNvSpPr>
            <a:spLocks noChangeShapeType="1"/>
          </p:cNvSpPr>
          <p:nvPr/>
        </p:nvSpPr>
        <p:spPr bwMode="auto">
          <a:xfrm>
            <a:off x="2987675" y="3068638"/>
            <a:ext cx="0" cy="1444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0409" name="Line 57">
            <a:extLst>
              <a:ext uri="{FF2B5EF4-FFF2-40B4-BE49-F238E27FC236}">
                <a16:creationId xmlns:a16="http://schemas.microsoft.com/office/drawing/2014/main" id="{BC73FD41-5839-EE40-97B2-4FEF1550CB65}"/>
              </a:ext>
            </a:extLst>
          </p:cNvPr>
          <p:cNvSpPr>
            <a:spLocks noChangeShapeType="1"/>
          </p:cNvSpPr>
          <p:nvPr/>
        </p:nvSpPr>
        <p:spPr bwMode="auto">
          <a:xfrm>
            <a:off x="3851275" y="3068638"/>
            <a:ext cx="0" cy="1444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0410" name="Line 58">
            <a:extLst>
              <a:ext uri="{FF2B5EF4-FFF2-40B4-BE49-F238E27FC236}">
                <a16:creationId xmlns:a16="http://schemas.microsoft.com/office/drawing/2014/main" id="{A53312C8-B2C0-9FA2-776B-E852A0566040}"/>
              </a:ext>
            </a:extLst>
          </p:cNvPr>
          <p:cNvSpPr>
            <a:spLocks noChangeShapeType="1"/>
          </p:cNvSpPr>
          <p:nvPr/>
        </p:nvSpPr>
        <p:spPr bwMode="auto">
          <a:xfrm>
            <a:off x="2124075" y="3429000"/>
            <a:ext cx="0" cy="2873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0411" name="Line 59">
            <a:extLst>
              <a:ext uri="{FF2B5EF4-FFF2-40B4-BE49-F238E27FC236}">
                <a16:creationId xmlns:a16="http://schemas.microsoft.com/office/drawing/2014/main" id="{E98954FE-4882-973B-BB86-62479EED32C3}"/>
              </a:ext>
            </a:extLst>
          </p:cNvPr>
          <p:cNvSpPr>
            <a:spLocks noChangeShapeType="1"/>
          </p:cNvSpPr>
          <p:nvPr/>
        </p:nvSpPr>
        <p:spPr bwMode="auto">
          <a:xfrm>
            <a:off x="3851275" y="4076700"/>
            <a:ext cx="0" cy="2889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0412" name="Line 60">
            <a:extLst>
              <a:ext uri="{FF2B5EF4-FFF2-40B4-BE49-F238E27FC236}">
                <a16:creationId xmlns:a16="http://schemas.microsoft.com/office/drawing/2014/main" id="{FC76B385-0370-D22E-11F6-222EE092835B}"/>
              </a:ext>
            </a:extLst>
          </p:cNvPr>
          <p:cNvSpPr>
            <a:spLocks noChangeShapeType="1"/>
          </p:cNvSpPr>
          <p:nvPr/>
        </p:nvSpPr>
        <p:spPr bwMode="auto">
          <a:xfrm>
            <a:off x="2484438" y="4868863"/>
            <a:ext cx="93503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0413" name="Line 61">
            <a:extLst>
              <a:ext uri="{FF2B5EF4-FFF2-40B4-BE49-F238E27FC236}">
                <a16:creationId xmlns:a16="http://schemas.microsoft.com/office/drawing/2014/main" id="{8E1B566B-A1B2-7DC7-1480-F1D01CDFF5EC}"/>
              </a:ext>
            </a:extLst>
          </p:cNvPr>
          <p:cNvSpPr>
            <a:spLocks noChangeShapeType="1"/>
          </p:cNvSpPr>
          <p:nvPr/>
        </p:nvSpPr>
        <p:spPr bwMode="auto">
          <a:xfrm flipH="1">
            <a:off x="2484438" y="5013325"/>
            <a:ext cx="93503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0414" name="Text Box 62">
            <a:extLst>
              <a:ext uri="{FF2B5EF4-FFF2-40B4-BE49-F238E27FC236}">
                <a16:creationId xmlns:a16="http://schemas.microsoft.com/office/drawing/2014/main" id="{4AC87577-005A-7B0A-A436-F2DDAD56C5B1}"/>
              </a:ext>
            </a:extLst>
          </p:cNvPr>
          <p:cNvSpPr txBox="1">
            <a:spLocks noChangeArrowheads="1"/>
          </p:cNvSpPr>
          <p:nvPr/>
        </p:nvSpPr>
        <p:spPr bwMode="auto">
          <a:xfrm>
            <a:off x="3563938" y="836613"/>
            <a:ext cx="30241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800">
                <a:latin typeface="Arial" panose="020B0604020202020204" pitchFamily="34" charset="0"/>
                <a:ea typeface="黑体" panose="02010609060101010101" pitchFamily="49" charset="-122"/>
              </a:rPr>
              <a:t>依存性分类及其管理含义</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A928203-2A1D-5607-BAFB-3BEB2B3A44B2}"/>
              </a:ext>
            </a:extLst>
          </p:cNvPr>
          <p:cNvSpPr>
            <a:spLocks noGrp="1"/>
          </p:cNvSpPr>
          <p:nvPr>
            <p:ph type="dt" sz="half" idx="10"/>
          </p:nvPr>
        </p:nvSpPr>
        <p:spPr/>
        <p:txBody>
          <a:bodyPr/>
          <a:lstStyle/>
          <a:p>
            <a:r>
              <a:rPr lang="zh-CN" altLang="en-US"/>
              <a:t>版本：2004</a:t>
            </a:r>
            <a:endParaRPr lang="en-US" altLang="zh-CN"/>
          </a:p>
        </p:txBody>
      </p:sp>
      <p:sp>
        <p:nvSpPr>
          <p:cNvPr id="3" name="页脚占位符 2">
            <a:extLst>
              <a:ext uri="{FF2B5EF4-FFF2-40B4-BE49-F238E27FC236}">
                <a16:creationId xmlns:a16="http://schemas.microsoft.com/office/drawing/2014/main" id="{37A6A976-B35B-EF44-ABAA-4CC196E0B0EB}"/>
              </a:ext>
            </a:extLst>
          </p:cNvPr>
          <p:cNvSpPr>
            <a:spLocks noGrp="1"/>
          </p:cNvSpPr>
          <p:nvPr>
            <p:ph type="ftr" sz="quarter" idx="11"/>
          </p:nvPr>
        </p:nvSpPr>
        <p:spPr/>
        <p:txBody>
          <a:bodyPr/>
          <a:lstStyle/>
          <a:p>
            <a:r>
              <a:rPr lang="en-US" altLang="zh-CN"/>
              <a:t>管理学</a:t>
            </a:r>
          </a:p>
        </p:txBody>
      </p:sp>
      <p:sp>
        <p:nvSpPr>
          <p:cNvPr id="4" name="灯片编号占位符 3">
            <a:extLst>
              <a:ext uri="{FF2B5EF4-FFF2-40B4-BE49-F238E27FC236}">
                <a16:creationId xmlns:a16="http://schemas.microsoft.com/office/drawing/2014/main" id="{1FEC21FE-4578-6A87-899E-DC9F76B4BE14}"/>
              </a:ext>
            </a:extLst>
          </p:cNvPr>
          <p:cNvSpPr>
            <a:spLocks noGrp="1"/>
          </p:cNvSpPr>
          <p:nvPr>
            <p:ph type="sldNum" sz="quarter" idx="12"/>
          </p:nvPr>
        </p:nvSpPr>
        <p:spPr/>
        <p:txBody>
          <a:bodyPr/>
          <a:lstStyle/>
          <a:p>
            <a:fld id="{7EFFEAE6-C818-4ADD-A171-262F3F134BD4}" type="slidenum">
              <a:rPr lang="en-US" altLang="zh-CN"/>
              <a:pPr/>
              <a:t>18</a:t>
            </a:fld>
            <a:endParaRPr lang="en-US" altLang="zh-CN"/>
          </a:p>
        </p:txBody>
      </p:sp>
      <p:sp>
        <p:nvSpPr>
          <p:cNvPr id="101378" name="Rectangle 2">
            <a:extLst>
              <a:ext uri="{FF2B5EF4-FFF2-40B4-BE49-F238E27FC236}">
                <a16:creationId xmlns:a16="http://schemas.microsoft.com/office/drawing/2014/main" id="{FB40B800-660E-0548-6DEB-D2D9ED5B078C}"/>
              </a:ext>
            </a:extLst>
          </p:cNvPr>
          <p:cNvSpPr>
            <a:spLocks noChangeArrowheads="1"/>
          </p:cNvSpPr>
          <p:nvPr/>
        </p:nvSpPr>
        <p:spPr bwMode="auto">
          <a:xfrm>
            <a:off x="179388" y="212725"/>
            <a:ext cx="20923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en-US" altLang="zh-CN" sz="1600">
                <a:latin typeface="Arial" panose="020B0604020202020204" pitchFamily="34" charset="0"/>
              </a:rPr>
              <a:t>8.4</a:t>
            </a:r>
            <a:r>
              <a:rPr kumimoji="0" lang="zh-CN" altLang="en-US" sz="1600">
                <a:latin typeface="Arial" panose="020B0604020202020204" pitchFamily="34" charset="0"/>
              </a:rPr>
              <a:t>组织结构整合设计</a:t>
            </a:r>
          </a:p>
        </p:txBody>
      </p:sp>
      <p:sp>
        <p:nvSpPr>
          <p:cNvPr id="101379" name="Rectangle 3">
            <a:extLst>
              <a:ext uri="{FF2B5EF4-FFF2-40B4-BE49-F238E27FC236}">
                <a16:creationId xmlns:a16="http://schemas.microsoft.com/office/drawing/2014/main" id="{4C6B65D3-0712-EE9C-20E0-AABD3FBFF26B}"/>
              </a:ext>
            </a:extLst>
          </p:cNvPr>
          <p:cNvSpPr>
            <a:spLocks noChangeArrowheads="1"/>
          </p:cNvSpPr>
          <p:nvPr/>
        </p:nvSpPr>
        <p:spPr bwMode="auto">
          <a:xfrm>
            <a:off x="2051050" y="4076700"/>
            <a:ext cx="647700" cy="36036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a:latin typeface="Arial" panose="020B0604020202020204" pitchFamily="34" charset="0"/>
              </a:rPr>
              <a:t>总部</a:t>
            </a:r>
          </a:p>
        </p:txBody>
      </p:sp>
      <p:sp>
        <p:nvSpPr>
          <p:cNvPr id="101380" name="Rectangle 4">
            <a:extLst>
              <a:ext uri="{FF2B5EF4-FFF2-40B4-BE49-F238E27FC236}">
                <a16:creationId xmlns:a16="http://schemas.microsoft.com/office/drawing/2014/main" id="{C32CBC81-E9BC-B494-D90A-B088624E8F44}"/>
              </a:ext>
            </a:extLst>
          </p:cNvPr>
          <p:cNvSpPr>
            <a:spLocks noChangeArrowheads="1"/>
          </p:cNvSpPr>
          <p:nvPr/>
        </p:nvSpPr>
        <p:spPr bwMode="auto">
          <a:xfrm>
            <a:off x="1187450" y="4724400"/>
            <a:ext cx="647700" cy="36036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a:latin typeface="Arial" panose="020B0604020202020204" pitchFamily="34" charset="0"/>
              </a:rPr>
              <a:t>分部</a:t>
            </a:r>
          </a:p>
        </p:txBody>
      </p:sp>
      <p:sp>
        <p:nvSpPr>
          <p:cNvPr id="101381" name="Rectangle 5">
            <a:extLst>
              <a:ext uri="{FF2B5EF4-FFF2-40B4-BE49-F238E27FC236}">
                <a16:creationId xmlns:a16="http://schemas.microsoft.com/office/drawing/2014/main" id="{F7CDC004-DBB8-9A69-50D3-18CA5E868918}"/>
              </a:ext>
            </a:extLst>
          </p:cNvPr>
          <p:cNvSpPr>
            <a:spLocks noChangeArrowheads="1"/>
          </p:cNvSpPr>
          <p:nvPr/>
        </p:nvSpPr>
        <p:spPr bwMode="auto">
          <a:xfrm>
            <a:off x="2051050" y="4724400"/>
            <a:ext cx="647700" cy="36036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a:latin typeface="Arial" panose="020B0604020202020204" pitchFamily="34" charset="0"/>
              </a:rPr>
              <a:t>分部</a:t>
            </a:r>
          </a:p>
        </p:txBody>
      </p:sp>
      <p:sp>
        <p:nvSpPr>
          <p:cNvPr id="101382" name="Rectangle 6">
            <a:extLst>
              <a:ext uri="{FF2B5EF4-FFF2-40B4-BE49-F238E27FC236}">
                <a16:creationId xmlns:a16="http://schemas.microsoft.com/office/drawing/2014/main" id="{35CCFCE1-4BBC-69AD-F66F-3DB916E724D6}"/>
              </a:ext>
            </a:extLst>
          </p:cNvPr>
          <p:cNvSpPr>
            <a:spLocks noChangeArrowheads="1"/>
          </p:cNvSpPr>
          <p:nvPr/>
        </p:nvSpPr>
        <p:spPr bwMode="auto">
          <a:xfrm>
            <a:off x="2916238" y="4724400"/>
            <a:ext cx="647700" cy="36036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a:latin typeface="Arial" panose="020B0604020202020204" pitchFamily="34" charset="0"/>
              </a:rPr>
              <a:t>分部</a:t>
            </a:r>
          </a:p>
        </p:txBody>
      </p:sp>
      <p:sp>
        <p:nvSpPr>
          <p:cNvPr id="101383" name="Rectangle 7">
            <a:extLst>
              <a:ext uri="{FF2B5EF4-FFF2-40B4-BE49-F238E27FC236}">
                <a16:creationId xmlns:a16="http://schemas.microsoft.com/office/drawing/2014/main" id="{2A1986BC-72CE-901A-5451-01583C05EFA8}"/>
              </a:ext>
            </a:extLst>
          </p:cNvPr>
          <p:cNvSpPr>
            <a:spLocks noChangeArrowheads="1"/>
          </p:cNvSpPr>
          <p:nvPr/>
        </p:nvSpPr>
        <p:spPr bwMode="auto">
          <a:xfrm>
            <a:off x="2916238" y="3357563"/>
            <a:ext cx="647700" cy="36036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a:latin typeface="Arial" panose="020B0604020202020204" pitchFamily="34" charset="0"/>
              </a:rPr>
              <a:t>部门</a:t>
            </a:r>
          </a:p>
        </p:txBody>
      </p:sp>
      <p:sp>
        <p:nvSpPr>
          <p:cNvPr id="101384" name="Rectangle 8">
            <a:extLst>
              <a:ext uri="{FF2B5EF4-FFF2-40B4-BE49-F238E27FC236}">
                <a16:creationId xmlns:a16="http://schemas.microsoft.com/office/drawing/2014/main" id="{07B90F69-1AD4-A921-2740-BD873156F1E8}"/>
              </a:ext>
            </a:extLst>
          </p:cNvPr>
          <p:cNvSpPr>
            <a:spLocks noChangeArrowheads="1"/>
          </p:cNvSpPr>
          <p:nvPr/>
        </p:nvSpPr>
        <p:spPr bwMode="auto">
          <a:xfrm>
            <a:off x="2051050" y="3357563"/>
            <a:ext cx="647700" cy="36036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a:latin typeface="Arial" panose="020B0604020202020204" pitchFamily="34" charset="0"/>
              </a:rPr>
              <a:t>部门</a:t>
            </a:r>
          </a:p>
        </p:txBody>
      </p:sp>
      <p:sp>
        <p:nvSpPr>
          <p:cNvPr id="101385" name="Rectangle 9">
            <a:extLst>
              <a:ext uri="{FF2B5EF4-FFF2-40B4-BE49-F238E27FC236}">
                <a16:creationId xmlns:a16="http://schemas.microsoft.com/office/drawing/2014/main" id="{CC084DE5-3E8F-175A-ED5A-D353C565E900}"/>
              </a:ext>
            </a:extLst>
          </p:cNvPr>
          <p:cNvSpPr>
            <a:spLocks noChangeArrowheads="1"/>
          </p:cNvSpPr>
          <p:nvPr/>
        </p:nvSpPr>
        <p:spPr bwMode="auto">
          <a:xfrm>
            <a:off x="1187450" y="3357563"/>
            <a:ext cx="647700" cy="36036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a:latin typeface="Arial" panose="020B0604020202020204" pitchFamily="34" charset="0"/>
              </a:rPr>
              <a:t>部门</a:t>
            </a:r>
          </a:p>
        </p:txBody>
      </p:sp>
      <p:sp>
        <p:nvSpPr>
          <p:cNvPr id="101386" name="Line 10">
            <a:extLst>
              <a:ext uri="{FF2B5EF4-FFF2-40B4-BE49-F238E27FC236}">
                <a16:creationId xmlns:a16="http://schemas.microsoft.com/office/drawing/2014/main" id="{9A70818C-AE16-0385-A109-179B6ABCC8ED}"/>
              </a:ext>
            </a:extLst>
          </p:cNvPr>
          <p:cNvSpPr>
            <a:spLocks noChangeShapeType="1"/>
          </p:cNvSpPr>
          <p:nvPr/>
        </p:nvSpPr>
        <p:spPr bwMode="auto">
          <a:xfrm>
            <a:off x="1835150" y="3502025"/>
            <a:ext cx="2159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387" name="Line 11">
            <a:extLst>
              <a:ext uri="{FF2B5EF4-FFF2-40B4-BE49-F238E27FC236}">
                <a16:creationId xmlns:a16="http://schemas.microsoft.com/office/drawing/2014/main" id="{F19BAF91-5FA1-D40C-1384-2CF6FCC4BEB6}"/>
              </a:ext>
            </a:extLst>
          </p:cNvPr>
          <p:cNvSpPr>
            <a:spLocks noChangeShapeType="1"/>
          </p:cNvSpPr>
          <p:nvPr/>
        </p:nvSpPr>
        <p:spPr bwMode="auto">
          <a:xfrm>
            <a:off x="2700338" y="3502025"/>
            <a:ext cx="2159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388" name="Rectangle 12">
            <a:extLst>
              <a:ext uri="{FF2B5EF4-FFF2-40B4-BE49-F238E27FC236}">
                <a16:creationId xmlns:a16="http://schemas.microsoft.com/office/drawing/2014/main" id="{A825FC86-4469-559E-6EA9-1B9FE732425E}"/>
              </a:ext>
            </a:extLst>
          </p:cNvPr>
          <p:cNvSpPr>
            <a:spLocks noChangeArrowheads="1"/>
          </p:cNvSpPr>
          <p:nvPr/>
        </p:nvSpPr>
        <p:spPr bwMode="auto">
          <a:xfrm>
            <a:off x="2843213" y="1557338"/>
            <a:ext cx="647700" cy="36036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a:latin typeface="Arial" panose="020B0604020202020204" pitchFamily="34" charset="0"/>
              </a:rPr>
              <a:t>部门</a:t>
            </a:r>
          </a:p>
        </p:txBody>
      </p:sp>
      <p:sp>
        <p:nvSpPr>
          <p:cNvPr id="101389" name="Rectangle 13">
            <a:extLst>
              <a:ext uri="{FF2B5EF4-FFF2-40B4-BE49-F238E27FC236}">
                <a16:creationId xmlns:a16="http://schemas.microsoft.com/office/drawing/2014/main" id="{3CB17AA5-C25B-0225-8582-3CE8AFA09042}"/>
              </a:ext>
            </a:extLst>
          </p:cNvPr>
          <p:cNvSpPr>
            <a:spLocks noChangeArrowheads="1"/>
          </p:cNvSpPr>
          <p:nvPr/>
        </p:nvSpPr>
        <p:spPr bwMode="auto">
          <a:xfrm>
            <a:off x="1258888" y="1557338"/>
            <a:ext cx="647700" cy="36036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a:latin typeface="Arial" panose="020B0604020202020204" pitchFamily="34" charset="0"/>
              </a:rPr>
              <a:t>部门</a:t>
            </a:r>
          </a:p>
        </p:txBody>
      </p:sp>
      <p:sp>
        <p:nvSpPr>
          <p:cNvPr id="101390" name="Line 14">
            <a:extLst>
              <a:ext uri="{FF2B5EF4-FFF2-40B4-BE49-F238E27FC236}">
                <a16:creationId xmlns:a16="http://schemas.microsoft.com/office/drawing/2014/main" id="{1671C4CA-7369-1B82-AFE9-2E3E9E4A88D2}"/>
              </a:ext>
            </a:extLst>
          </p:cNvPr>
          <p:cNvSpPr>
            <a:spLocks noChangeShapeType="1"/>
          </p:cNvSpPr>
          <p:nvPr/>
        </p:nvSpPr>
        <p:spPr bwMode="auto">
          <a:xfrm>
            <a:off x="2339975" y="2060575"/>
            <a:ext cx="0" cy="1444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391" name="Line 15">
            <a:extLst>
              <a:ext uri="{FF2B5EF4-FFF2-40B4-BE49-F238E27FC236}">
                <a16:creationId xmlns:a16="http://schemas.microsoft.com/office/drawing/2014/main" id="{57805F8E-FDA1-331D-0DC0-ECF5B4DBC579}"/>
              </a:ext>
            </a:extLst>
          </p:cNvPr>
          <p:cNvSpPr>
            <a:spLocks noChangeShapeType="1"/>
          </p:cNvSpPr>
          <p:nvPr/>
        </p:nvSpPr>
        <p:spPr bwMode="auto">
          <a:xfrm>
            <a:off x="1476375" y="5084763"/>
            <a:ext cx="0"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392" name="Line 16">
            <a:extLst>
              <a:ext uri="{FF2B5EF4-FFF2-40B4-BE49-F238E27FC236}">
                <a16:creationId xmlns:a16="http://schemas.microsoft.com/office/drawing/2014/main" id="{5068C157-2259-F251-4743-CCD4E55390FE}"/>
              </a:ext>
            </a:extLst>
          </p:cNvPr>
          <p:cNvSpPr>
            <a:spLocks noChangeShapeType="1"/>
          </p:cNvSpPr>
          <p:nvPr/>
        </p:nvSpPr>
        <p:spPr bwMode="auto">
          <a:xfrm>
            <a:off x="2411413" y="5084763"/>
            <a:ext cx="0" cy="21748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393" name="Line 17">
            <a:extLst>
              <a:ext uri="{FF2B5EF4-FFF2-40B4-BE49-F238E27FC236}">
                <a16:creationId xmlns:a16="http://schemas.microsoft.com/office/drawing/2014/main" id="{E3E36CCF-4FA8-C84E-8763-6FF298FCF0BA}"/>
              </a:ext>
            </a:extLst>
          </p:cNvPr>
          <p:cNvSpPr>
            <a:spLocks noChangeShapeType="1"/>
          </p:cNvSpPr>
          <p:nvPr/>
        </p:nvSpPr>
        <p:spPr bwMode="auto">
          <a:xfrm flipH="1">
            <a:off x="3275013" y="5084763"/>
            <a:ext cx="1587" cy="21748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394" name="Line 18">
            <a:extLst>
              <a:ext uri="{FF2B5EF4-FFF2-40B4-BE49-F238E27FC236}">
                <a16:creationId xmlns:a16="http://schemas.microsoft.com/office/drawing/2014/main" id="{3F2527C0-4DFC-7F25-4DCA-9CBEBDAF6588}"/>
              </a:ext>
            </a:extLst>
          </p:cNvPr>
          <p:cNvSpPr>
            <a:spLocks noChangeShapeType="1"/>
          </p:cNvSpPr>
          <p:nvPr/>
        </p:nvSpPr>
        <p:spPr bwMode="auto">
          <a:xfrm>
            <a:off x="3563938" y="3500438"/>
            <a:ext cx="2159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395" name="Line 19">
            <a:extLst>
              <a:ext uri="{FF2B5EF4-FFF2-40B4-BE49-F238E27FC236}">
                <a16:creationId xmlns:a16="http://schemas.microsoft.com/office/drawing/2014/main" id="{53EE4A23-2E68-ACBC-00C4-02563F149157}"/>
              </a:ext>
            </a:extLst>
          </p:cNvPr>
          <p:cNvSpPr>
            <a:spLocks noChangeShapeType="1"/>
          </p:cNvSpPr>
          <p:nvPr/>
        </p:nvSpPr>
        <p:spPr bwMode="auto">
          <a:xfrm>
            <a:off x="1908175" y="1628775"/>
            <a:ext cx="93503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396" name="Line 20">
            <a:extLst>
              <a:ext uri="{FF2B5EF4-FFF2-40B4-BE49-F238E27FC236}">
                <a16:creationId xmlns:a16="http://schemas.microsoft.com/office/drawing/2014/main" id="{A8CF91E0-684A-8D39-5FD8-4D84B9E8DAC5}"/>
              </a:ext>
            </a:extLst>
          </p:cNvPr>
          <p:cNvSpPr>
            <a:spLocks noChangeShapeType="1"/>
          </p:cNvSpPr>
          <p:nvPr/>
        </p:nvSpPr>
        <p:spPr bwMode="auto">
          <a:xfrm flipH="1">
            <a:off x="1908175" y="1773238"/>
            <a:ext cx="93503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397" name="Rectangle 21">
            <a:extLst>
              <a:ext uri="{FF2B5EF4-FFF2-40B4-BE49-F238E27FC236}">
                <a16:creationId xmlns:a16="http://schemas.microsoft.com/office/drawing/2014/main" id="{29104132-0527-F820-6ACF-0D81DDE5EC1E}"/>
              </a:ext>
            </a:extLst>
          </p:cNvPr>
          <p:cNvSpPr>
            <a:spLocks noChangeArrowheads="1"/>
          </p:cNvSpPr>
          <p:nvPr/>
        </p:nvSpPr>
        <p:spPr bwMode="auto">
          <a:xfrm>
            <a:off x="2051050" y="908050"/>
            <a:ext cx="647700" cy="36036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a:latin typeface="Arial" panose="020B0604020202020204" pitchFamily="34" charset="0"/>
              </a:rPr>
              <a:t>总部</a:t>
            </a:r>
          </a:p>
        </p:txBody>
      </p:sp>
      <p:sp>
        <p:nvSpPr>
          <p:cNvPr id="101398" name="Line 22">
            <a:extLst>
              <a:ext uri="{FF2B5EF4-FFF2-40B4-BE49-F238E27FC236}">
                <a16:creationId xmlns:a16="http://schemas.microsoft.com/office/drawing/2014/main" id="{080EF14D-0584-C816-05A0-C0193189449D}"/>
              </a:ext>
            </a:extLst>
          </p:cNvPr>
          <p:cNvSpPr>
            <a:spLocks noChangeShapeType="1"/>
          </p:cNvSpPr>
          <p:nvPr/>
        </p:nvSpPr>
        <p:spPr bwMode="auto">
          <a:xfrm>
            <a:off x="1547813" y="1412875"/>
            <a:ext cx="16557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399" name="Rectangle 23">
            <a:extLst>
              <a:ext uri="{FF2B5EF4-FFF2-40B4-BE49-F238E27FC236}">
                <a16:creationId xmlns:a16="http://schemas.microsoft.com/office/drawing/2014/main" id="{32F3DB10-E088-02F5-424F-484E4B334594}"/>
              </a:ext>
            </a:extLst>
          </p:cNvPr>
          <p:cNvSpPr>
            <a:spLocks noChangeArrowheads="1"/>
          </p:cNvSpPr>
          <p:nvPr/>
        </p:nvSpPr>
        <p:spPr bwMode="auto">
          <a:xfrm>
            <a:off x="2051050" y="2205038"/>
            <a:ext cx="647700" cy="360362"/>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a:latin typeface="Arial" panose="020B0604020202020204" pitchFamily="34" charset="0"/>
              </a:rPr>
              <a:t>客户</a:t>
            </a:r>
          </a:p>
        </p:txBody>
      </p:sp>
      <p:sp>
        <p:nvSpPr>
          <p:cNvPr id="101400" name="Line 24">
            <a:extLst>
              <a:ext uri="{FF2B5EF4-FFF2-40B4-BE49-F238E27FC236}">
                <a16:creationId xmlns:a16="http://schemas.microsoft.com/office/drawing/2014/main" id="{780B7B78-6B13-81CA-72C6-9F04BAAB1850}"/>
              </a:ext>
            </a:extLst>
          </p:cNvPr>
          <p:cNvSpPr>
            <a:spLocks noChangeShapeType="1"/>
          </p:cNvSpPr>
          <p:nvPr/>
        </p:nvSpPr>
        <p:spPr bwMode="auto">
          <a:xfrm>
            <a:off x="1547813" y="1916113"/>
            <a:ext cx="0"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401" name="Line 25">
            <a:extLst>
              <a:ext uri="{FF2B5EF4-FFF2-40B4-BE49-F238E27FC236}">
                <a16:creationId xmlns:a16="http://schemas.microsoft.com/office/drawing/2014/main" id="{122486CC-2010-78F1-4E84-5B8555D8C68B}"/>
              </a:ext>
            </a:extLst>
          </p:cNvPr>
          <p:cNvSpPr>
            <a:spLocks noChangeShapeType="1"/>
          </p:cNvSpPr>
          <p:nvPr/>
        </p:nvSpPr>
        <p:spPr bwMode="auto">
          <a:xfrm>
            <a:off x="3203575" y="1916113"/>
            <a:ext cx="0"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402" name="Line 26">
            <a:extLst>
              <a:ext uri="{FF2B5EF4-FFF2-40B4-BE49-F238E27FC236}">
                <a16:creationId xmlns:a16="http://schemas.microsoft.com/office/drawing/2014/main" id="{A4F21611-D71B-DC1D-EBE5-E35C3F91D73B}"/>
              </a:ext>
            </a:extLst>
          </p:cNvPr>
          <p:cNvSpPr>
            <a:spLocks noChangeShapeType="1"/>
          </p:cNvSpPr>
          <p:nvPr/>
        </p:nvSpPr>
        <p:spPr bwMode="auto">
          <a:xfrm>
            <a:off x="1547813" y="2060575"/>
            <a:ext cx="16557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403" name="Rectangle 27">
            <a:extLst>
              <a:ext uri="{FF2B5EF4-FFF2-40B4-BE49-F238E27FC236}">
                <a16:creationId xmlns:a16="http://schemas.microsoft.com/office/drawing/2014/main" id="{E4EBBF08-8BC1-9190-1F33-2FF2DC2FE28A}"/>
              </a:ext>
            </a:extLst>
          </p:cNvPr>
          <p:cNvSpPr>
            <a:spLocks noChangeArrowheads="1"/>
          </p:cNvSpPr>
          <p:nvPr/>
        </p:nvSpPr>
        <p:spPr bwMode="auto">
          <a:xfrm>
            <a:off x="2051050" y="2708275"/>
            <a:ext cx="647700" cy="36036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a:latin typeface="Arial" panose="020B0604020202020204" pitchFamily="34" charset="0"/>
              </a:rPr>
              <a:t>总部</a:t>
            </a:r>
          </a:p>
        </p:txBody>
      </p:sp>
      <p:sp>
        <p:nvSpPr>
          <p:cNvPr id="101404" name="Line 28">
            <a:extLst>
              <a:ext uri="{FF2B5EF4-FFF2-40B4-BE49-F238E27FC236}">
                <a16:creationId xmlns:a16="http://schemas.microsoft.com/office/drawing/2014/main" id="{A66A1442-6F64-86E5-2906-4309942D2867}"/>
              </a:ext>
            </a:extLst>
          </p:cNvPr>
          <p:cNvSpPr>
            <a:spLocks noChangeShapeType="1"/>
          </p:cNvSpPr>
          <p:nvPr/>
        </p:nvSpPr>
        <p:spPr bwMode="auto">
          <a:xfrm>
            <a:off x="1476375" y="3213100"/>
            <a:ext cx="1727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405" name="Line 29">
            <a:extLst>
              <a:ext uri="{FF2B5EF4-FFF2-40B4-BE49-F238E27FC236}">
                <a16:creationId xmlns:a16="http://schemas.microsoft.com/office/drawing/2014/main" id="{77A67351-F587-4F0D-A15C-9B5D76315E8C}"/>
              </a:ext>
            </a:extLst>
          </p:cNvPr>
          <p:cNvSpPr>
            <a:spLocks noChangeShapeType="1"/>
          </p:cNvSpPr>
          <p:nvPr/>
        </p:nvSpPr>
        <p:spPr bwMode="auto">
          <a:xfrm>
            <a:off x="1476375" y="3213100"/>
            <a:ext cx="0" cy="144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406" name="Line 30">
            <a:extLst>
              <a:ext uri="{FF2B5EF4-FFF2-40B4-BE49-F238E27FC236}">
                <a16:creationId xmlns:a16="http://schemas.microsoft.com/office/drawing/2014/main" id="{69746464-1B90-4BAF-FE7C-7687C1C85D09}"/>
              </a:ext>
            </a:extLst>
          </p:cNvPr>
          <p:cNvSpPr>
            <a:spLocks noChangeShapeType="1"/>
          </p:cNvSpPr>
          <p:nvPr/>
        </p:nvSpPr>
        <p:spPr bwMode="auto">
          <a:xfrm>
            <a:off x="2339975" y="3068638"/>
            <a:ext cx="0" cy="288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407" name="Line 31">
            <a:extLst>
              <a:ext uri="{FF2B5EF4-FFF2-40B4-BE49-F238E27FC236}">
                <a16:creationId xmlns:a16="http://schemas.microsoft.com/office/drawing/2014/main" id="{E5EDC1A1-3023-3282-8DFA-3F1D168F5116}"/>
              </a:ext>
            </a:extLst>
          </p:cNvPr>
          <p:cNvSpPr>
            <a:spLocks noChangeShapeType="1"/>
          </p:cNvSpPr>
          <p:nvPr/>
        </p:nvSpPr>
        <p:spPr bwMode="auto">
          <a:xfrm>
            <a:off x="3203575" y="3213100"/>
            <a:ext cx="0" cy="144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408" name="Text Box 32">
            <a:extLst>
              <a:ext uri="{FF2B5EF4-FFF2-40B4-BE49-F238E27FC236}">
                <a16:creationId xmlns:a16="http://schemas.microsoft.com/office/drawing/2014/main" id="{ADF6650F-D482-79CC-275F-4D9D866BE3C1}"/>
              </a:ext>
            </a:extLst>
          </p:cNvPr>
          <p:cNvSpPr txBox="1">
            <a:spLocks noChangeArrowheads="1"/>
          </p:cNvSpPr>
          <p:nvPr/>
        </p:nvSpPr>
        <p:spPr bwMode="auto">
          <a:xfrm>
            <a:off x="3708400" y="3357563"/>
            <a:ext cx="6477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a:latin typeface="Arial" panose="020B0604020202020204" pitchFamily="34" charset="0"/>
              </a:rPr>
              <a:t>客户</a:t>
            </a:r>
          </a:p>
        </p:txBody>
      </p:sp>
      <p:sp>
        <p:nvSpPr>
          <p:cNvPr id="101409" name="Line 33">
            <a:extLst>
              <a:ext uri="{FF2B5EF4-FFF2-40B4-BE49-F238E27FC236}">
                <a16:creationId xmlns:a16="http://schemas.microsoft.com/office/drawing/2014/main" id="{46B5BD2B-6172-609B-CDA9-F00656D0F789}"/>
              </a:ext>
            </a:extLst>
          </p:cNvPr>
          <p:cNvSpPr>
            <a:spLocks noChangeShapeType="1"/>
          </p:cNvSpPr>
          <p:nvPr/>
        </p:nvSpPr>
        <p:spPr bwMode="auto">
          <a:xfrm>
            <a:off x="2339975" y="1268413"/>
            <a:ext cx="0"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410" name="Line 34">
            <a:extLst>
              <a:ext uri="{FF2B5EF4-FFF2-40B4-BE49-F238E27FC236}">
                <a16:creationId xmlns:a16="http://schemas.microsoft.com/office/drawing/2014/main" id="{5343EEF9-1872-D163-8E4C-E0980BE4D3F2}"/>
              </a:ext>
            </a:extLst>
          </p:cNvPr>
          <p:cNvSpPr>
            <a:spLocks noChangeShapeType="1"/>
          </p:cNvSpPr>
          <p:nvPr/>
        </p:nvSpPr>
        <p:spPr bwMode="auto">
          <a:xfrm>
            <a:off x="1547813" y="1412875"/>
            <a:ext cx="0" cy="144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411" name="Line 35">
            <a:extLst>
              <a:ext uri="{FF2B5EF4-FFF2-40B4-BE49-F238E27FC236}">
                <a16:creationId xmlns:a16="http://schemas.microsoft.com/office/drawing/2014/main" id="{6167E8FA-AD61-4C24-C74E-E7B80A46F53C}"/>
              </a:ext>
            </a:extLst>
          </p:cNvPr>
          <p:cNvSpPr>
            <a:spLocks noChangeShapeType="1"/>
          </p:cNvSpPr>
          <p:nvPr/>
        </p:nvSpPr>
        <p:spPr bwMode="auto">
          <a:xfrm>
            <a:off x="3203575" y="1412875"/>
            <a:ext cx="0" cy="144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412" name="Line 36">
            <a:extLst>
              <a:ext uri="{FF2B5EF4-FFF2-40B4-BE49-F238E27FC236}">
                <a16:creationId xmlns:a16="http://schemas.microsoft.com/office/drawing/2014/main" id="{B44191CF-6119-F632-1699-9FAA15D3FF18}"/>
              </a:ext>
            </a:extLst>
          </p:cNvPr>
          <p:cNvSpPr>
            <a:spLocks noChangeShapeType="1"/>
          </p:cNvSpPr>
          <p:nvPr/>
        </p:nvSpPr>
        <p:spPr bwMode="auto">
          <a:xfrm>
            <a:off x="1476375" y="4581525"/>
            <a:ext cx="1727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413" name="Line 37">
            <a:extLst>
              <a:ext uri="{FF2B5EF4-FFF2-40B4-BE49-F238E27FC236}">
                <a16:creationId xmlns:a16="http://schemas.microsoft.com/office/drawing/2014/main" id="{9048A952-D4BE-65EF-81E8-B59C8EF2D02D}"/>
              </a:ext>
            </a:extLst>
          </p:cNvPr>
          <p:cNvSpPr>
            <a:spLocks noChangeShapeType="1"/>
          </p:cNvSpPr>
          <p:nvPr/>
        </p:nvSpPr>
        <p:spPr bwMode="auto">
          <a:xfrm>
            <a:off x="1476375" y="4581525"/>
            <a:ext cx="0" cy="142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414" name="Line 38">
            <a:extLst>
              <a:ext uri="{FF2B5EF4-FFF2-40B4-BE49-F238E27FC236}">
                <a16:creationId xmlns:a16="http://schemas.microsoft.com/office/drawing/2014/main" id="{34A57029-0668-D960-2CC9-F112D4BB8548}"/>
              </a:ext>
            </a:extLst>
          </p:cNvPr>
          <p:cNvSpPr>
            <a:spLocks noChangeShapeType="1"/>
          </p:cNvSpPr>
          <p:nvPr/>
        </p:nvSpPr>
        <p:spPr bwMode="auto">
          <a:xfrm>
            <a:off x="3203575" y="4581525"/>
            <a:ext cx="0" cy="142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415" name="Line 39">
            <a:extLst>
              <a:ext uri="{FF2B5EF4-FFF2-40B4-BE49-F238E27FC236}">
                <a16:creationId xmlns:a16="http://schemas.microsoft.com/office/drawing/2014/main" id="{3C30A96C-65E0-C7B1-C6E4-CEA53E3FBE97}"/>
              </a:ext>
            </a:extLst>
          </p:cNvPr>
          <p:cNvSpPr>
            <a:spLocks noChangeShapeType="1"/>
          </p:cNvSpPr>
          <p:nvPr/>
        </p:nvSpPr>
        <p:spPr bwMode="auto">
          <a:xfrm>
            <a:off x="2339975" y="4437063"/>
            <a:ext cx="0" cy="2873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416" name="Rectangle 40">
            <a:extLst>
              <a:ext uri="{FF2B5EF4-FFF2-40B4-BE49-F238E27FC236}">
                <a16:creationId xmlns:a16="http://schemas.microsoft.com/office/drawing/2014/main" id="{E2369AE6-2CBF-E625-5392-DFC76CAD5ACC}"/>
              </a:ext>
            </a:extLst>
          </p:cNvPr>
          <p:cNvSpPr>
            <a:spLocks noChangeArrowheads="1"/>
          </p:cNvSpPr>
          <p:nvPr/>
        </p:nvSpPr>
        <p:spPr bwMode="auto">
          <a:xfrm>
            <a:off x="2916238" y="5300663"/>
            <a:ext cx="647700" cy="360362"/>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a:latin typeface="Arial" panose="020B0604020202020204" pitchFamily="34" charset="0"/>
              </a:rPr>
              <a:t>客户</a:t>
            </a:r>
          </a:p>
        </p:txBody>
      </p:sp>
      <p:sp>
        <p:nvSpPr>
          <p:cNvPr id="101417" name="Rectangle 41">
            <a:extLst>
              <a:ext uri="{FF2B5EF4-FFF2-40B4-BE49-F238E27FC236}">
                <a16:creationId xmlns:a16="http://schemas.microsoft.com/office/drawing/2014/main" id="{889E5775-9547-3E3B-4A98-5A31F6E5ABA4}"/>
              </a:ext>
            </a:extLst>
          </p:cNvPr>
          <p:cNvSpPr>
            <a:spLocks noChangeArrowheads="1"/>
          </p:cNvSpPr>
          <p:nvPr/>
        </p:nvSpPr>
        <p:spPr bwMode="auto">
          <a:xfrm>
            <a:off x="2051050" y="5300663"/>
            <a:ext cx="647700" cy="360362"/>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a:latin typeface="Arial" panose="020B0604020202020204" pitchFamily="34" charset="0"/>
              </a:rPr>
              <a:t>客户</a:t>
            </a:r>
          </a:p>
        </p:txBody>
      </p:sp>
      <p:sp>
        <p:nvSpPr>
          <p:cNvPr id="101418" name="Rectangle 42">
            <a:extLst>
              <a:ext uri="{FF2B5EF4-FFF2-40B4-BE49-F238E27FC236}">
                <a16:creationId xmlns:a16="http://schemas.microsoft.com/office/drawing/2014/main" id="{BDF98689-D7E4-9092-A1A0-6AA4198D4650}"/>
              </a:ext>
            </a:extLst>
          </p:cNvPr>
          <p:cNvSpPr>
            <a:spLocks noChangeArrowheads="1"/>
          </p:cNvSpPr>
          <p:nvPr/>
        </p:nvSpPr>
        <p:spPr bwMode="auto">
          <a:xfrm>
            <a:off x="1187450" y="5300663"/>
            <a:ext cx="647700" cy="360362"/>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a:latin typeface="Arial" panose="020B0604020202020204" pitchFamily="34" charset="0"/>
              </a:rPr>
              <a:t>客户</a:t>
            </a:r>
          </a:p>
        </p:txBody>
      </p:sp>
      <p:sp>
        <p:nvSpPr>
          <p:cNvPr id="101419" name="Text Box 43">
            <a:extLst>
              <a:ext uri="{FF2B5EF4-FFF2-40B4-BE49-F238E27FC236}">
                <a16:creationId xmlns:a16="http://schemas.microsoft.com/office/drawing/2014/main" id="{9BD98D93-AF71-B18C-8090-A59C92A0B97F}"/>
              </a:ext>
            </a:extLst>
          </p:cNvPr>
          <p:cNvSpPr txBox="1">
            <a:spLocks noChangeArrowheads="1"/>
          </p:cNvSpPr>
          <p:nvPr/>
        </p:nvSpPr>
        <p:spPr bwMode="auto">
          <a:xfrm>
            <a:off x="250825" y="1557338"/>
            <a:ext cx="9001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800">
                <a:latin typeface="Arial" panose="020B0604020202020204" pitchFamily="34" charset="0"/>
              </a:rPr>
              <a:t>互惠式</a:t>
            </a:r>
          </a:p>
        </p:txBody>
      </p:sp>
      <p:sp>
        <p:nvSpPr>
          <p:cNvPr id="101420" name="Text Box 44">
            <a:extLst>
              <a:ext uri="{FF2B5EF4-FFF2-40B4-BE49-F238E27FC236}">
                <a16:creationId xmlns:a16="http://schemas.microsoft.com/office/drawing/2014/main" id="{A67FAB04-48E6-4AE3-F0C3-309F564237D2}"/>
              </a:ext>
            </a:extLst>
          </p:cNvPr>
          <p:cNvSpPr txBox="1">
            <a:spLocks noChangeArrowheads="1"/>
          </p:cNvSpPr>
          <p:nvPr/>
        </p:nvSpPr>
        <p:spPr bwMode="auto">
          <a:xfrm>
            <a:off x="179388" y="3357563"/>
            <a:ext cx="9366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800">
                <a:latin typeface="Arial" panose="020B0604020202020204" pitchFamily="34" charset="0"/>
              </a:rPr>
              <a:t>连续式</a:t>
            </a:r>
          </a:p>
        </p:txBody>
      </p:sp>
      <p:sp>
        <p:nvSpPr>
          <p:cNvPr id="101421" name="Text Box 45">
            <a:extLst>
              <a:ext uri="{FF2B5EF4-FFF2-40B4-BE49-F238E27FC236}">
                <a16:creationId xmlns:a16="http://schemas.microsoft.com/office/drawing/2014/main" id="{F85B6C8E-9EE7-5A0A-17EF-888965CD0035}"/>
              </a:ext>
            </a:extLst>
          </p:cNvPr>
          <p:cNvSpPr txBox="1">
            <a:spLocks noChangeArrowheads="1"/>
          </p:cNvSpPr>
          <p:nvPr/>
        </p:nvSpPr>
        <p:spPr bwMode="auto">
          <a:xfrm>
            <a:off x="179388" y="4724400"/>
            <a:ext cx="9366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800">
                <a:latin typeface="Arial" panose="020B0604020202020204" pitchFamily="34" charset="0"/>
              </a:rPr>
              <a:t>联营式</a:t>
            </a:r>
          </a:p>
        </p:txBody>
      </p:sp>
      <p:sp>
        <p:nvSpPr>
          <p:cNvPr id="101422" name="Line 46">
            <a:extLst>
              <a:ext uri="{FF2B5EF4-FFF2-40B4-BE49-F238E27FC236}">
                <a16:creationId xmlns:a16="http://schemas.microsoft.com/office/drawing/2014/main" id="{22D9D45F-E8B3-B428-477B-9A8B2149309E}"/>
              </a:ext>
            </a:extLst>
          </p:cNvPr>
          <p:cNvSpPr>
            <a:spLocks noChangeShapeType="1"/>
          </p:cNvSpPr>
          <p:nvPr/>
        </p:nvSpPr>
        <p:spPr bwMode="auto">
          <a:xfrm>
            <a:off x="4500563" y="836613"/>
            <a:ext cx="0" cy="47529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423" name="Line 47">
            <a:extLst>
              <a:ext uri="{FF2B5EF4-FFF2-40B4-BE49-F238E27FC236}">
                <a16:creationId xmlns:a16="http://schemas.microsoft.com/office/drawing/2014/main" id="{0236AD60-FE9D-D72C-74FD-CB6102893EA1}"/>
              </a:ext>
            </a:extLst>
          </p:cNvPr>
          <p:cNvSpPr>
            <a:spLocks noChangeShapeType="1"/>
          </p:cNvSpPr>
          <p:nvPr/>
        </p:nvSpPr>
        <p:spPr bwMode="auto">
          <a:xfrm>
            <a:off x="4211638" y="1052513"/>
            <a:ext cx="5762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424" name="Line 48">
            <a:extLst>
              <a:ext uri="{FF2B5EF4-FFF2-40B4-BE49-F238E27FC236}">
                <a16:creationId xmlns:a16="http://schemas.microsoft.com/office/drawing/2014/main" id="{97646098-D435-7A37-18B6-DBC5F0A57171}"/>
              </a:ext>
            </a:extLst>
          </p:cNvPr>
          <p:cNvSpPr>
            <a:spLocks noChangeShapeType="1"/>
          </p:cNvSpPr>
          <p:nvPr/>
        </p:nvSpPr>
        <p:spPr bwMode="auto">
          <a:xfrm>
            <a:off x="4211638" y="836613"/>
            <a:ext cx="5762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425" name="Line 49">
            <a:extLst>
              <a:ext uri="{FF2B5EF4-FFF2-40B4-BE49-F238E27FC236}">
                <a16:creationId xmlns:a16="http://schemas.microsoft.com/office/drawing/2014/main" id="{C0CF688F-1EE1-9508-EEDC-844CD05E8242}"/>
              </a:ext>
            </a:extLst>
          </p:cNvPr>
          <p:cNvSpPr>
            <a:spLocks noChangeShapeType="1"/>
          </p:cNvSpPr>
          <p:nvPr/>
        </p:nvSpPr>
        <p:spPr bwMode="auto">
          <a:xfrm>
            <a:off x="4211638" y="1773238"/>
            <a:ext cx="5762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426" name="Line 50">
            <a:extLst>
              <a:ext uri="{FF2B5EF4-FFF2-40B4-BE49-F238E27FC236}">
                <a16:creationId xmlns:a16="http://schemas.microsoft.com/office/drawing/2014/main" id="{394D8B92-7C34-7BD5-BBAB-A8257410771C}"/>
              </a:ext>
            </a:extLst>
          </p:cNvPr>
          <p:cNvSpPr>
            <a:spLocks noChangeShapeType="1"/>
          </p:cNvSpPr>
          <p:nvPr/>
        </p:nvSpPr>
        <p:spPr bwMode="auto">
          <a:xfrm>
            <a:off x="4211638" y="2060575"/>
            <a:ext cx="5762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427" name="Line 51">
            <a:extLst>
              <a:ext uri="{FF2B5EF4-FFF2-40B4-BE49-F238E27FC236}">
                <a16:creationId xmlns:a16="http://schemas.microsoft.com/office/drawing/2014/main" id="{F2B15A31-3276-2800-81CC-1D7A1553E4AA}"/>
              </a:ext>
            </a:extLst>
          </p:cNvPr>
          <p:cNvSpPr>
            <a:spLocks noChangeShapeType="1"/>
          </p:cNvSpPr>
          <p:nvPr/>
        </p:nvSpPr>
        <p:spPr bwMode="auto">
          <a:xfrm>
            <a:off x="4211638" y="2349500"/>
            <a:ext cx="2889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428" name="Line 52">
            <a:extLst>
              <a:ext uri="{FF2B5EF4-FFF2-40B4-BE49-F238E27FC236}">
                <a16:creationId xmlns:a16="http://schemas.microsoft.com/office/drawing/2014/main" id="{DC3868D0-28BF-01F8-590F-B877A3F4D433}"/>
              </a:ext>
            </a:extLst>
          </p:cNvPr>
          <p:cNvSpPr>
            <a:spLocks noChangeShapeType="1"/>
          </p:cNvSpPr>
          <p:nvPr/>
        </p:nvSpPr>
        <p:spPr bwMode="auto">
          <a:xfrm>
            <a:off x="4211638" y="5084763"/>
            <a:ext cx="2889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429" name="Line 53">
            <a:extLst>
              <a:ext uri="{FF2B5EF4-FFF2-40B4-BE49-F238E27FC236}">
                <a16:creationId xmlns:a16="http://schemas.microsoft.com/office/drawing/2014/main" id="{A724A97A-244A-5BCA-2E70-0A322817906C}"/>
              </a:ext>
            </a:extLst>
          </p:cNvPr>
          <p:cNvSpPr>
            <a:spLocks noChangeShapeType="1"/>
          </p:cNvSpPr>
          <p:nvPr/>
        </p:nvSpPr>
        <p:spPr bwMode="auto">
          <a:xfrm>
            <a:off x="4211638" y="3429000"/>
            <a:ext cx="5762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430" name="Line 54">
            <a:extLst>
              <a:ext uri="{FF2B5EF4-FFF2-40B4-BE49-F238E27FC236}">
                <a16:creationId xmlns:a16="http://schemas.microsoft.com/office/drawing/2014/main" id="{641FD3EF-0FAF-79AE-0F58-8BA2EC37511E}"/>
              </a:ext>
            </a:extLst>
          </p:cNvPr>
          <p:cNvSpPr>
            <a:spLocks noChangeShapeType="1"/>
          </p:cNvSpPr>
          <p:nvPr/>
        </p:nvSpPr>
        <p:spPr bwMode="auto">
          <a:xfrm>
            <a:off x="4211638" y="3716338"/>
            <a:ext cx="5762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431" name="Line 55">
            <a:extLst>
              <a:ext uri="{FF2B5EF4-FFF2-40B4-BE49-F238E27FC236}">
                <a16:creationId xmlns:a16="http://schemas.microsoft.com/office/drawing/2014/main" id="{2BF0D7BD-CE39-8B60-099B-5933BB32D5D2}"/>
              </a:ext>
            </a:extLst>
          </p:cNvPr>
          <p:cNvSpPr>
            <a:spLocks noChangeShapeType="1"/>
          </p:cNvSpPr>
          <p:nvPr/>
        </p:nvSpPr>
        <p:spPr bwMode="auto">
          <a:xfrm>
            <a:off x="4211638" y="4797425"/>
            <a:ext cx="5762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432" name="Line 56">
            <a:extLst>
              <a:ext uri="{FF2B5EF4-FFF2-40B4-BE49-F238E27FC236}">
                <a16:creationId xmlns:a16="http://schemas.microsoft.com/office/drawing/2014/main" id="{0D6F24C5-05F8-2556-D256-BA8B2CCDF996}"/>
              </a:ext>
            </a:extLst>
          </p:cNvPr>
          <p:cNvSpPr>
            <a:spLocks noChangeShapeType="1"/>
          </p:cNvSpPr>
          <p:nvPr/>
        </p:nvSpPr>
        <p:spPr bwMode="auto">
          <a:xfrm>
            <a:off x="4211638" y="5589588"/>
            <a:ext cx="5762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1433" name="Text Box 57">
            <a:extLst>
              <a:ext uri="{FF2B5EF4-FFF2-40B4-BE49-F238E27FC236}">
                <a16:creationId xmlns:a16="http://schemas.microsoft.com/office/drawing/2014/main" id="{BBE9C9F0-12DC-1B24-316D-0F80E6DF4BE1}"/>
              </a:ext>
            </a:extLst>
          </p:cNvPr>
          <p:cNvSpPr txBox="1">
            <a:spLocks noChangeArrowheads="1"/>
          </p:cNvSpPr>
          <p:nvPr/>
        </p:nvSpPr>
        <p:spPr bwMode="auto">
          <a:xfrm>
            <a:off x="4284663" y="404813"/>
            <a:ext cx="4318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800">
                <a:latin typeface="Arial" panose="020B0604020202020204" pitchFamily="34" charset="0"/>
              </a:rPr>
              <a:t>高</a:t>
            </a:r>
          </a:p>
        </p:txBody>
      </p:sp>
      <p:sp>
        <p:nvSpPr>
          <p:cNvPr id="101434" name="Text Box 58">
            <a:extLst>
              <a:ext uri="{FF2B5EF4-FFF2-40B4-BE49-F238E27FC236}">
                <a16:creationId xmlns:a16="http://schemas.microsoft.com/office/drawing/2014/main" id="{DE65D989-C81D-03AE-C3B6-AD6E3BAAE079}"/>
              </a:ext>
            </a:extLst>
          </p:cNvPr>
          <p:cNvSpPr txBox="1">
            <a:spLocks noChangeArrowheads="1"/>
          </p:cNvSpPr>
          <p:nvPr/>
        </p:nvSpPr>
        <p:spPr bwMode="auto">
          <a:xfrm>
            <a:off x="4284663" y="5589588"/>
            <a:ext cx="4318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800">
                <a:latin typeface="Arial" panose="020B0604020202020204" pitchFamily="34" charset="0"/>
              </a:rPr>
              <a:t>低</a:t>
            </a:r>
          </a:p>
        </p:txBody>
      </p:sp>
      <p:sp>
        <p:nvSpPr>
          <p:cNvPr id="101435" name="Text Box 59">
            <a:extLst>
              <a:ext uri="{FF2B5EF4-FFF2-40B4-BE49-F238E27FC236}">
                <a16:creationId xmlns:a16="http://schemas.microsoft.com/office/drawing/2014/main" id="{23AC2BE0-9523-F411-BE9A-75AADDCFBC72}"/>
              </a:ext>
            </a:extLst>
          </p:cNvPr>
          <p:cNvSpPr txBox="1">
            <a:spLocks noChangeArrowheads="1"/>
          </p:cNvSpPr>
          <p:nvPr/>
        </p:nvSpPr>
        <p:spPr bwMode="auto">
          <a:xfrm>
            <a:off x="5076825" y="836613"/>
            <a:ext cx="2305050" cy="60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10000"/>
              </a:spcBef>
            </a:pPr>
            <a:r>
              <a:rPr kumimoji="0" lang="zh-CN" altLang="en-US" sz="1600">
                <a:latin typeface="Arial" panose="020B0604020202020204" pitchFamily="34" charset="0"/>
              </a:rPr>
              <a:t>不定期会议，面对面</a:t>
            </a:r>
          </a:p>
          <a:p>
            <a:pPr>
              <a:spcBef>
                <a:spcPct val="10000"/>
              </a:spcBef>
            </a:pPr>
            <a:r>
              <a:rPr kumimoji="0" lang="zh-CN" altLang="en-US" sz="1600">
                <a:latin typeface="Arial" panose="020B0604020202020204" pitchFamily="34" charset="0"/>
              </a:rPr>
              <a:t>跨部门团队</a:t>
            </a:r>
          </a:p>
        </p:txBody>
      </p:sp>
      <p:sp>
        <p:nvSpPr>
          <p:cNvPr id="101436" name="Text Box 60">
            <a:extLst>
              <a:ext uri="{FF2B5EF4-FFF2-40B4-BE49-F238E27FC236}">
                <a16:creationId xmlns:a16="http://schemas.microsoft.com/office/drawing/2014/main" id="{B39440EF-953A-CA39-BC6E-66671D6CD5A1}"/>
              </a:ext>
            </a:extLst>
          </p:cNvPr>
          <p:cNvSpPr txBox="1">
            <a:spLocks noChangeArrowheads="1"/>
          </p:cNvSpPr>
          <p:nvPr/>
        </p:nvSpPr>
        <p:spPr bwMode="auto">
          <a:xfrm>
            <a:off x="5076825" y="1628775"/>
            <a:ext cx="2232025" cy="60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10000"/>
              </a:spcBef>
            </a:pPr>
            <a:r>
              <a:rPr kumimoji="0" lang="zh-CN" altLang="en-US" sz="1600">
                <a:latin typeface="Arial" panose="020B0604020202020204" pitchFamily="34" charset="0"/>
              </a:rPr>
              <a:t>横向沟通</a:t>
            </a:r>
          </a:p>
          <a:p>
            <a:pPr>
              <a:spcBef>
                <a:spcPct val="10000"/>
              </a:spcBef>
            </a:pPr>
            <a:r>
              <a:rPr kumimoji="0" lang="zh-CN" altLang="en-US" sz="1600">
                <a:latin typeface="Arial" panose="020B0604020202020204" pitchFamily="34" charset="0"/>
              </a:rPr>
              <a:t>定期会议，委员会</a:t>
            </a:r>
          </a:p>
        </p:txBody>
      </p:sp>
      <p:sp>
        <p:nvSpPr>
          <p:cNvPr id="101437" name="Text Box 61">
            <a:extLst>
              <a:ext uri="{FF2B5EF4-FFF2-40B4-BE49-F238E27FC236}">
                <a16:creationId xmlns:a16="http://schemas.microsoft.com/office/drawing/2014/main" id="{462EA0F4-3D7B-B81F-9946-EB483698AC15}"/>
              </a:ext>
            </a:extLst>
          </p:cNvPr>
          <p:cNvSpPr txBox="1">
            <a:spLocks noChangeArrowheads="1"/>
          </p:cNvSpPr>
          <p:nvPr/>
        </p:nvSpPr>
        <p:spPr bwMode="auto">
          <a:xfrm>
            <a:off x="5076825" y="3284538"/>
            <a:ext cx="1582738" cy="60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10000"/>
              </a:spcBef>
            </a:pPr>
            <a:r>
              <a:rPr kumimoji="0" lang="zh-CN" altLang="en-US" sz="1600">
                <a:latin typeface="Arial" panose="020B0604020202020204" pitchFamily="34" charset="0"/>
              </a:rPr>
              <a:t>纵向沟通</a:t>
            </a:r>
          </a:p>
          <a:p>
            <a:pPr>
              <a:spcBef>
                <a:spcPct val="10000"/>
              </a:spcBef>
            </a:pPr>
            <a:r>
              <a:rPr kumimoji="0" lang="zh-CN" altLang="en-US" sz="1600">
                <a:latin typeface="Arial" panose="020B0604020202020204" pitchFamily="34" charset="0"/>
              </a:rPr>
              <a:t>计划</a:t>
            </a:r>
          </a:p>
        </p:txBody>
      </p:sp>
      <p:sp>
        <p:nvSpPr>
          <p:cNvPr id="101438" name="Text Box 62">
            <a:extLst>
              <a:ext uri="{FF2B5EF4-FFF2-40B4-BE49-F238E27FC236}">
                <a16:creationId xmlns:a16="http://schemas.microsoft.com/office/drawing/2014/main" id="{374A24A6-3928-AFA8-B2C9-F114482F841D}"/>
              </a:ext>
            </a:extLst>
          </p:cNvPr>
          <p:cNvSpPr txBox="1">
            <a:spLocks noChangeArrowheads="1"/>
          </p:cNvSpPr>
          <p:nvPr/>
        </p:nvSpPr>
        <p:spPr bwMode="auto">
          <a:xfrm>
            <a:off x="5076825" y="4652963"/>
            <a:ext cx="7191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a:latin typeface="Arial" panose="020B0604020202020204" pitchFamily="34" charset="0"/>
              </a:rPr>
              <a:t>规章</a:t>
            </a:r>
          </a:p>
        </p:txBody>
      </p:sp>
      <p:sp>
        <p:nvSpPr>
          <p:cNvPr id="101439" name="AutoShape 63">
            <a:extLst>
              <a:ext uri="{FF2B5EF4-FFF2-40B4-BE49-F238E27FC236}">
                <a16:creationId xmlns:a16="http://schemas.microsoft.com/office/drawing/2014/main" id="{A7354171-C337-7D24-7480-A2E6A62DAA2B}"/>
              </a:ext>
            </a:extLst>
          </p:cNvPr>
          <p:cNvSpPr>
            <a:spLocks/>
          </p:cNvSpPr>
          <p:nvPr/>
        </p:nvSpPr>
        <p:spPr bwMode="auto">
          <a:xfrm>
            <a:off x="7092950" y="836613"/>
            <a:ext cx="142875" cy="1008062"/>
          </a:xfrm>
          <a:prstGeom prst="rightBrace">
            <a:avLst>
              <a:gd name="adj1" fmla="val 58796"/>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1440" name="Text Box 64">
            <a:extLst>
              <a:ext uri="{FF2B5EF4-FFF2-40B4-BE49-F238E27FC236}">
                <a16:creationId xmlns:a16="http://schemas.microsoft.com/office/drawing/2014/main" id="{284CA65B-C5CB-B61E-6776-7B69F94162F8}"/>
              </a:ext>
            </a:extLst>
          </p:cNvPr>
          <p:cNvSpPr txBox="1">
            <a:spLocks noChangeArrowheads="1"/>
          </p:cNvSpPr>
          <p:nvPr/>
        </p:nvSpPr>
        <p:spPr bwMode="auto">
          <a:xfrm>
            <a:off x="7308850" y="1125538"/>
            <a:ext cx="10080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a:latin typeface="Arial" panose="020B0604020202020204" pitchFamily="34" charset="0"/>
              </a:rPr>
              <a:t>相互调整</a:t>
            </a:r>
          </a:p>
        </p:txBody>
      </p:sp>
      <p:sp>
        <p:nvSpPr>
          <p:cNvPr id="101441" name="AutoShape 65">
            <a:extLst>
              <a:ext uri="{FF2B5EF4-FFF2-40B4-BE49-F238E27FC236}">
                <a16:creationId xmlns:a16="http://schemas.microsoft.com/office/drawing/2014/main" id="{F76481F4-9326-EFB9-183A-6336B7CCC75C}"/>
              </a:ext>
            </a:extLst>
          </p:cNvPr>
          <p:cNvSpPr>
            <a:spLocks/>
          </p:cNvSpPr>
          <p:nvPr/>
        </p:nvSpPr>
        <p:spPr bwMode="auto">
          <a:xfrm>
            <a:off x="7092950" y="2060575"/>
            <a:ext cx="142875" cy="1439863"/>
          </a:xfrm>
          <a:prstGeom prst="rightBrace">
            <a:avLst>
              <a:gd name="adj1" fmla="val 83982"/>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1442" name="Text Box 66">
            <a:extLst>
              <a:ext uri="{FF2B5EF4-FFF2-40B4-BE49-F238E27FC236}">
                <a16:creationId xmlns:a16="http://schemas.microsoft.com/office/drawing/2014/main" id="{DA0DE2C6-086F-CE67-C8F6-24039FFB097F}"/>
              </a:ext>
            </a:extLst>
          </p:cNvPr>
          <p:cNvSpPr txBox="1">
            <a:spLocks noChangeArrowheads="1"/>
          </p:cNvSpPr>
          <p:nvPr/>
        </p:nvSpPr>
        <p:spPr bwMode="auto">
          <a:xfrm>
            <a:off x="7308850" y="2636838"/>
            <a:ext cx="6477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a:latin typeface="Arial" panose="020B0604020202020204" pitchFamily="34" charset="0"/>
              </a:rPr>
              <a:t>计划</a:t>
            </a:r>
          </a:p>
        </p:txBody>
      </p:sp>
      <p:sp>
        <p:nvSpPr>
          <p:cNvPr id="101443" name="AutoShape 67">
            <a:extLst>
              <a:ext uri="{FF2B5EF4-FFF2-40B4-BE49-F238E27FC236}">
                <a16:creationId xmlns:a16="http://schemas.microsoft.com/office/drawing/2014/main" id="{48CF4407-F449-A5C1-F2A8-CC68144199D7}"/>
              </a:ext>
            </a:extLst>
          </p:cNvPr>
          <p:cNvSpPr>
            <a:spLocks/>
          </p:cNvSpPr>
          <p:nvPr/>
        </p:nvSpPr>
        <p:spPr bwMode="auto">
          <a:xfrm>
            <a:off x="7092950" y="3716338"/>
            <a:ext cx="142875" cy="1873250"/>
          </a:xfrm>
          <a:prstGeom prst="rightBrace">
            <a:avLst>
              <a:gd name="adj1" fmla="val 109259"/>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1444" name="Text Box 68">
            <a:extLst>
              <a:ext uri="{FF2B5EF4-FFF2-40B4-BE49-F238E27FC236}">
                <a16:creationId xmlns:a16="http://schemas.microsoft.com/office/drawing/2014/main" id="{0A178748-8DD2-A52F-D498-99151E874F02}"/>
              </a:ext>
            </a:extLst>
          </p:cNvPr>
          <p:cNvSpPr txBox="1">
            <a:spLocks noChangeArrowheads="1"/>
          </p:cNvSpPr>
          <p:nvPr/>
        </p:nvSpPr>
        <p:spPr bwMode="auto">
          <a:xfrm>
            <a:off x="7308850" y="4581525"/>
            <a:ext cx="865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a:latin typeface="Arial" panose="020B0604020202020204" pitchFamily="34" charset="0"/>
              </a:rPr>
              <a:t>标准化</a:t>
            </a:r>
          </a:p>
        </p:txBody>
      </p:sp>
      <p:sp>
        <p:nvSpPr>
          <p:cNvPr id="101445" name="Text Box 69">
            <a:extLst>
              <a:ext uri="{FF2B5EF4-FFF2-40B4-BE49-F238E27FC236}">
                <a16:creationId xmlns:a16="http://schemas.microsoft.com/office/drawing/2014/main" id="{828D0029-63D2-B263-7573-454F950683F5}"/>
              </a:ext>
            </a:extLst>
          </p:cNvPr>
          <p:cNvSpPr txBox="1">
            <a:spLocks noChangeArrowheads="1"/>
          </p:cNvSpPr>
          <p:nvPr/>
        </p:nvSpPr>
        <p:spPr bwMode="auto">
          <a:xfrm>
            <a:off x="2051050" y="5876925"/>
            <a:ext cx="48244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800">
                <a:latin typeface="Arial" panose="020B0604020202020204" pitchFamily="34" charset="0"/>
                <a:ea typeface="黑体" panose="02010609060101010101" pitchFamily="49" charset="-122"/>
              </a:rPr>
              <a:t>制造企业中不同依存水平实现协调的主要方式</a:t>
            </a:r>
          </a:p>
        </p:txBody>
      </p:sp>
    </p:spTree>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426</TotalTime>
  <Words>1836</Words>
  <Application>Microsoft Office PowerPoint</Application>
  <PresentationFormat>全屏显示(4:3)</PresentationFormat>
  <Paragraphs>407</Paragraphs>
  <Slides>18</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18</vt:i4>
      </vt:variant>
    </vt:vector>
  </HeadingPairs>
  <TitlesOfParts>
    <vt:vector size="25" baseType="lpstr">
      <vt:lpstr>Times New Roman</vt:lpstr>
      <vt:lpstr>宋体</vt:lpstr>
      <vt:lpstr>华文行楷</vt:lpstr>
      <vt:lpstr>Arial</vt:lpstr>
      <vt:lpstr>黑体</vt:lpstr>
      <vt:lpstr>Courier New</vt:lpstr>
      <vt:lpstr>默认设计模板</vt:lpstr>
      <vt:lpstr>第8讲  职权关系</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TDR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组织关系</dc:title>
  <dc:creator>sc</dc:creator>
  <cp:lastModifiedBy>先生 刘</cp:lastModifiedBy>
  <cp:revision>35</cp:revision>
  <dcterms:created xsi:type="dcterms:W3CDTF">2002-04-09T08:05:40Z</dcterms:created>
  <dcterms:modified xsi:type="dcterms:W3CDTF">2023-10-22T14:25:17Z</dcterms:modified>
</cp:coreProperties>
</file>