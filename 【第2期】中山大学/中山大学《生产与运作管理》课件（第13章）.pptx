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316" r:id="rId5"/>
    <p:sldId id="259" r:id="rId6"/>
    <p:sldId id="260" r:id="rId7"/>
    <p:sldId id="261" r:id="rId8"/>
    <p:sldId id="262" r:id="rId9"/>
    <p:sldId id="264" r:id="rId10"/>
    <p:sldId id="317" r:id="rId11"/>
    <p:sldId id="266" r:id="rId12"/>
    <p:sldId id="319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7" r:id="rId22"/>
    <p:sldId id="280" r:id="rId23"/>
    <p:sldId id="284" r:id="rId24"/>
    <p:sldId id="285" r:id="rId25"/>
    <p:sldId id="287" r:id="rId26"/>
    <p:sldId id="289" r:id="rId27"/>
    <p:sldId id="290" r:id="rId28"/>
    <p:sldId id="291" r:id="rId29"/>
    <p:sldId id="320" r:id="rId30"/>
    <p:sldId id="292" r:id="rId31"/>
    <p:sldId id="304" r:id="rId3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00"/>
    <a:srgbClr val="FF9900"/>
    <a:srgbClr val="00CC00"/>
    <a:srgbClr val="003300"/>
    <a:srgbClr val="007A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1" autoAdjust="0"/>
    <p:restoredTop sz="94561" autoAdjust="0"/>
  </p:normalViewPr>
  <p:slideViewPr>
    <p:cSldViewPr>
      <p:cViewPr varScale="1">
        <p:scale>
          <a:sx n="68" d="100"/>
          <a:sy n="68" d="100"/>
        </p:scale>
        <p:origin x="117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82"/>
    </p:cViewPr>
  </p:sorterViewPr>
  <p:notesViewPr>
    <p:cSldViewPr>
      <p:cViewPr varScale="1">
        <p:scale>
          <a:sx n="45" d="100"/>
          <a:sy n="45" d="100"/>
        </p:scale>
        <p:origin x="-1440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C28C7D50-E7DF-0FB6-4CDF-326F9F9014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B5987B7F-41DE-873B-6ADD-952BADEB456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31CD05F4-1940-4945-2770-77A5ADAF0FA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altLang="zh-CN"/>
              <a:t>讲义制做：中山大学管理学院陈志祥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40DFBAC0-2CA6-6144-9216-7631C73DCCF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935607B-84FE-4363-ABBE-08F55BFA96A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8048EC61-4EC2-C110-D917-F389EAC2C0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FEAAE26B-7822-44A7-29D9-C798EF365D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50532" name="Rectangle 4">
            <a:extLst>
              <a:ext uri="{FF2B5EF4-FFF2-40B4-BE49-F238E27FC236}">
                <a16:creationId xmlns:a16="http://schemas.microsoft.com/office/drawing/2014/main" id="{3A830E6B-F056-41C0-E7DF-FCEE5987522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0533" name="Rectangle 5">
            <a:extLst>
              <a:ext uri="{FF2B5EF4-FFF2-40B4-BE49-F238E27FC236}">
                <a16:creationId xmlns:a16="http://schemas.microsoft.com/office/drawing/2014/main" id="{F341CA17-AACD-7178-D385-68105F1F3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0534" name="Rectangle 6">
            <a:extLst>
              <a:ext uri="{FF2B5EF4-FFF2-40B4-BE49-F238E27FC236}">
                <a16:creationId xmlns:a16="http://schemas.microsoft.com/office/drawing/2014/main" id="{3EBE8C3C-D0F8-D9A3-5265-3809896547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altLang="zh-CN"/>
              <a:t>讲义制做：中山大学管理学院陈志祥</a:t>
            </a:r>
          </a:p>
        </p:txBody>
      </p:sp>
      <p:sp>
        <p:nvSpPr>
          <p:cNvPr id="150535" name="Rectangle 7">
            <a:extLst>
              <a:ext uri="{FF2B5EF4-FFF2-40B4-BE49-F238E27FC236}">
                <a16:creationId xmlns:a16="http://schemas.microsoft.com/office/drawing/2014/main" id="{10122DDD-38DC-02C1-1715-99292B2BAD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F5911B-6270-487F-B418-F6F428769B8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218" name="Group 2">
            <a:extLst>
              <a:ext uri="{FF2B5EF4-FFF2-40B4-BE49-F238E27FC236}">
                <a16:creationId xmlns:a16="http://schemas.microsoft.com/office/drawing/2014/main" id="{C70D04FB-DEB4-29E5-874F-A19DE55F4832}"/>
              </a:ext>
            </a:extLst>
          </p:cNvPr>
          <p:cNvGrpSpPr>
            <a:grpSpLocks/>
          </p:cNvGrpSpPr>
          <p:nvPr/>
        </p:nvGrpSpPr>
        <p:grpSpPr bwMode="auto">
          <a:xfrm>
            <a:off x="-6350" y="20638"/>
            <a:ext cx="9144000" cy="6858000"/>
            <a:chOff x="0" y="0"/>
            <a:chExt cx="5760" cy="4320"/>
          </a:xfrm>
        </p:grpSpPr>
        <p:sp>
          <p:nvSpPr>
            <p:cNvPr id="265219" name="Freeform 3">
              <a:extLst>
                <a:ext uri="{FF2B5EF4-FFF2-40B4-BE49-F238E27FC236}">
                  <a16:creationId xmlns:a16="http://schemas.microsoft.com/office/drawing/2014/main" id="{7F32E633-6CA5-FD97-8622-784AC132A6D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220" name="Freeform 4">
              <a:extLst>
                <a:ext uri="{FF2B5EF4-FFF2-40B4-BE49-F238E27FC236}">
                  <a16:creationId xmlns:a16="http://schemas.microsoft.com/office/drawing/2014/main" id="{5CF9744E-9062-3395-892F-C5C7D46DF6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5221" name="Freeform 5">
            <a:extLst>
              <a:ext uri="{FF2B5EF4-FFF2-40B4-BE49-F238E27FC236}">
                <a16:creationId xmlns:a16="http://schemas.microsoft.com/office/drawing/2014/main" id="{3C8C014D-6BD5-F4F7-2A07-2CF56C34B571}"/>
              </a:ext>
            </a:extLst>
          </p:cNvPr>
          <p:cNvSpPr>
            <a:spLocks/>
          </p:cNvSpPr>
          <p:nvPr/>
        </p:nvSpPr>
        <p:spPr bwMode="hidden">
          <a:xfrm>
            <a:off x="6242050" y="626903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65222" name="Group 6">
            <a:extLst>
              <a:ext uri="{FF2B5EF4-FFF2-40B4-BE49-F238E27FC236}">
                <a16:creationId xmlns:a16="http://schemas.microsoft.com/office/drawing/2014/main" id="{047FD4FF-72AA-1506-3FAA-B48980570D04}"/>
              </a:ext>
            </a:extLst>
          </p:cNvPr>
          <p:cNvGrpSpPr>
            <a:grpSpLocks/>
          </p:cNvGrpSpPr>
          <p:nvPr/>
        </p:nvGrpSpPr>
        <p:grpSpPr bwMode="auto">
          <a:xfrm>
            <a:off x="-1588" y="6034088"/>
            <a:ext cx="7845426" cy="850900"/>
            <a:chOff x="0" y="3792"/>
            <a:chExt cx="4942" cy="536"/>
          </a:xfrm>
        </p:grpSpPr>
        <p:sp>
          <p:nvSpPr>
            <p:cNvPr id="265223" name="Freeform 7">
              <a:extLst>
                <a:ext uri="{FF2B5EF4-FFF2-40B4-BE49-F238E27FC236}">
                  <a16:creationId xmlns:a16="http://schemas.microsoft.com/office/drawing/2014/main" id="{194D6AFF-4F05-3FC8-C3A2-A6C854AAC881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>
                <a:gd name="T0" fmla="*/ 3132 w 3240"/>
                <a:gd name="T1" fmla="*/ 469 h 536"/>
                <a:gd name="T2" fmla="*/ 2995 w 3240"/>
                <a:gd name="T3" fmla="*/ 395 h 536"/>
                <a:gd name="T4" fmla="*/ 2911 w 3240"/>
                <a:gd name="T5" fmla="*/ 375 h 536"/>
                <a:gd name="T6" fmla="*/ 2678 w 3240"/>
                <a:gd name="T7" fmla="*/ 228 h 536"/>
                <a:gd name="T8" fmla="*/ 2553 w 3240"/>
                <a:gd name="T9" fmla="*/ 74 h 536"/>
                <a:gd name="T10" fmla="*/ 2457 w 3240"/>
                <a:gd name="T11" fmla="*/ 7 h 536"/>
                <a:gd name="T12" fmla="*/ 2403 w 3240"/>
                <a:gd name="T13" fmla="*/ 47 h 536"/>
                <a:gd name="T14" fmla="*/ 2289 w 3240"/>
                <a:gd name="T15" fmla="*/ 74 h 536"/>
                <a:gd name="T16" fmla="*/ 2134 w 3240"/>
                <a:gd name="T17" fmla="*/ 74 h 536"/>
                <a:gd name="T18" fmla="*/ 2044 w 3240"/>
                <a:gd name="T19" fmla="*/ 128 h 536"/>
                <a:gd name="T20" fmla="*/ 1775 w 3240"/>
                <a:gd name="T21" fmla="*/ 222 h 536"/>
                <a:gd name="T22" fmla="*/ 1602 w 3240"/>
                <a:gd name="T23" fmla="*/ 181 h 536"/>
                <a:gd name="T24" fmla="*/ 1560 w 3240"/>
                <a:gd name="T25" fmla="*/ 101 h 536"/>
                <a:gd name="T26" fmla="*/ 1542 w 3240"/>
                <a:gd name="T27" fmla="*/ 87 h 536"/>
                <a:gd name="T28" fmla="*/ 1446 w 3240"/>
                <a:gd name="T29" fmla="*/ 60 h 536"/>
                <a:gd name="T30" fmla="*/ 1375 w 3240"/>
                <a:gd name="T31" fmla="*/ 74 h 536"/>
                <a:gd name="T32" fmla="*/ 1309 w 3240"/>
                <a:gd name="T33" fmla="*/ 87 h 536"/>
                <a:gd name="T34" fmla="*/ 1243 w 3240"/>
                <a:gd name="T35" fmla="*/ 13 h 536"/>
                <a:gd name="T36" fmla="*/ 1225 w 3240"/>
                <a:gd name="T37" fmla="*/ 0 h 536"/>
                <a:gd name="T38" fmla="*/ 1189 w 3240"/>
                <a:gd name="T39" fmla="*/ 0 h 536"/>
                <a:gd name="T40" fmla="*/ 1106 w 3240"/>
                <a:gd name="T41" fmla="*/ 34 h 536"/>
                <a:gd name="T42" fmla="*/ 1106 w 3240"/>
                <a:gd name="T43" fmla="*/ 34 h 536"/>
                <a:gd name="T44" fmla="*/ 1094 w 3240"/>
                <a:gd name="T45" fmla="*/ 40 h 536"/>
                <a:gd name="T46" fmla="*/ 1070 w 3240"/>
                <a:gd name="T47" fmla="*/ 54 h 536"/>
                <a:gd name="T48" fmla="*/ 1034 w 3240"/>
                <a:gd name="T49" fmla="*/ 74 h 536"/>
                <a:gd name="T50" fmla="*/ 1004 w 3240"/>
                <a:gd name="T51" fmla="*/ 74 h 536"/>
                <a:gd name="T52" fmla="*/ 986 w 3240"/>
                <a:gd name="T53" fmla="*/ 74 h 536"/>
                <a:gd name="T54" fmla="*/ 956 w 3240"/>
                <a:gd name="T55" fmla="*/ 81 h 536"/>
                <a:gd name="T56" fmla="*/ 920 w 3240"/>
                <a:gd name="T57" fmla="*/ 94 h 536"/>
                <a:gd name="T58" fmla="*/ 884 w 3240"/>
                <a:gd name="T59" fmla="*/ 107 h 536"/>
                <a:gd name="T60" fmla="*/ 843 w 3240"/>
                <a:gd name="T61" fmla="*/ 128 h 536"/>
                <a:gd name="T62" fmla="*/ 813 w 3240"/>
                <a:gd name="T63" fmla="*/ 141 h 536"/>
                <a:gd name="T64" fmla="*/ 789 w 3240"/>
                <a:gd name="T65" fmla="*/ 148 h 536"/>
                <a:gd name="T66" fmla="*/ 783 w 3240"/>
                <a:gd name="T67" fmla="*/ 154 h 536"/>
                <a:gd name="T68" fmla="*/ 556 w 3240"/>
                <a:gd name="T69" fmla="*/ 228 h 536"/>
                <a:gd name="T70" fmla="*/ 394 w 3240"/>
                <a:gd name="T71" fmla="*/ 294 h 536"/>
                <a:gd name="T72" fmla="*/ 107 w 3240"/>
                <a:gd name="T73" fmla="*/ 462 h 536"/>
                <a:gd name="T74" fmla="*/ 0 w 3240"/>
                <a:gd name="T75" fmla="*/ 536 h 536"/>
                <a:gd name="T76" fmla="*/ 3240 w 3240"/>
                <a:gd name="T77" fmla="*/ 536 h 536"/>
                <a:gd name="T78" fmla="*/ 3132 w 3240"/>
                <a:gd name="T79" fmla="*/ 469 h 536"/>
                <a:gd name="T80" fmla="*/ 3132 w 3240"/>
                <a:gd name="T81" fmla="*/ 469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5224" name="Group 8">
              <a:extLst>
                <a:ext uri="{FF2B5EF4-FFF2-40B4-BE49-F238E27FC236}">
                  <a16:creationId xmlns:a16="http://schemas.microsoft.com/office/drawing/2014/main" id="{A2A7191A-F667-786B-0E62-EF2D2049B9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265225" name="Freeform 9">
                <a:extLst>
                  <a:ext uri="{FF2B5EF4-FFF2-40B4-BE49-F238E27FC236}">
                    <a16:creationId xmlns:a16="http://schemas.microsoft.com/office/drawing/2014/main" id="{D950748F-F06A-AA23-FB22-413A59300EC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948" y="3799"/>
                <a:ext cx="994" cy="529"/>
              </a:xfrm>
              <a:custGeom>
                <a:avLst/>
                <a:gdLst>
                  <a:gd name="T0" fmla="*/ 636 w 994"/>
                  <a:gd name="T1" fmla="*/ 373 h 529"/>
                  <a:gd name="T2" fmla="*/ 495 w 994"/>
                  <a:gd name="T3" fmla="*/ 370 h 529"/>
                  <a:gd name="T4" fmla="*/ 280 w 994"/>
                  <a:gd name="T5" fmla="*/ 249 h 529"/>
                  <a:gd name="T6" fmla="*/ 127 w 994"/>
                  <a:gd name="T7" fmla="*/ 66 h 529"/>
                  <a:gd name="T8" fmla="*/ 0 w 994"/>
                  <a:gd name="T9" fmla="*/ 0 h 529"/>
                  <a:gd name="T10" fmla="*/ 22 w 994"/>
                  <a:gd name="T11" fmla="*/ 26 h 529"/>
                  <a:gd name="T12" fmla="*/ 0 w 994"/>
                  <a:gd name="T13" fmla="*/ 65 h 529"/>
                  <a:gd name="T14" fmla="*/ 30 w 994"/>
                  <a:gd name="T15" fmla="*/ 119 h 529"/>
                  <a:gd name="T16" fmla="*/ 75 w 994"/>
                  <a:gd name="T17" fmla="*/ 243 h 529"/>
                  <a:gd name="T18" fmla="*/ 45 w 994"/>
                  <a:gd name="T19" fmla="*/ 422 h 529"/>
                  <a:gd name="T20" fmla="*/ 200 w 994"/>
                  <a:gd name="T21" fmla="*/ 329 h 529"/>
                  <a:gd name="T22" fmla="*/ 592 w 994"/>
                  <a:gd name="T23" fmla="*/ 527 h 529"/>
                  <a:gd name="T24" fmla="*/ 994 w 994"/>
                  <a:gd name="T25" fmla="*/ 529 h 529"/>
                  <a:gd name="T26" fmla="*/ 828 w 994"/>
                  <a:gd name="T27" fmla="*/ 473 h 529"/>
                  <a:gd name="T28" fmla="*/ 636 w 994"/>
                  <a:gd name="T29" fmla="*/ 373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26" name="Freeform 10">
                <a:extLst>
                  <a:ext uri="{FF2B5EF4-FFF2-40B4-BE49-F238E27FC236}">
                    <a16:creationId xmlns:a16="http://schemas.microsoft.com/office/drawing/2014/main" id="{7C719AA8-A351-DF14-C58B-8463BA52D12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27" name="Freeform 11">
                <a:extLst>
                  <a:ext uri="{FF2B5EF4-FFF2-40B4-BE49-F238E27FC236}">
                    <a16:creationId xmlns:a16="http://schemas.microsoft.com/office/drawing/2014/main" id="{750B2806-F238-D716-C04C-28374067CD4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28" name="Freeform 12">
                <a:extLst>
                  <a:ext uri="{FF2B5EF4-FFF2-40B4-BE49-F238E27FC236}">
                    <a16:creationId xmlns:a16="http://schemas.microsoft.com/office/drawing/2014/main" id="{8EFF68B5-89E7-9BEB-9BDD-FCCE22E94D4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29" name="Freeform 13">
                <a:extLst>
                  <a:ext uri="{FF2B5EF4-FFF2-40B4-BE49-F238E27FC236}">
                    <a16:creationId xmlns:a16="http://schemas.microsoft.com/office/drawing/2014/main" id="{B926A70F-E757-BD33-D443-223BE17A560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5230" name="Freeform 14">
              <a:extLst>
                <a:ext uri="{FF2B5EF4-FFF2-40B4-BE49-F238E27FC236}">
                  <a16:creationId xmlns:a16="http://schemas.microsoft.com/office/drawing/2014/main" id="{4D229277-6D59-E3F6-D8BD-A478D05E7B27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>
                <a:gd name="T0" fmla="*/ 3976 w 3976"/>
                <a:gd name="T1" fmla="*/ 527 h 527"/>
                <a:gd name="T2" fmla="*/ 3970 w 3976"/>
                <a:gd name="T3" fmla="*/ 527 h 527"/>
                <a:gd name="T4" fmla="*/ 3844 w 3976"/>
                <a:gd name="T5" fmla="*/ 509 h 527"/>
                <a:gd name="T6" fmla="*/ 2487 w 3976"/>
                <a:gd name="T7" fmla="*/ 305 h 527"/>
                <a:gd name="T8" fmla="*/ 2039 w 3976"/>
                <a:gd name="T9" fmla="*/ 36 h 527"/>
                <a:gd name="T10" fmla="*/ 1907 w 3976"/>
                <a:gd name="T11" fmla="*/ 24 h 527"/>
                <a:gd name="T12" fmla="*/ 1883 w 3976"/>
                <a:gd name="T13" fmla="*/ 54 h 527"/>
                <a:gd name="T14" fmla="*/ 1859 w 3976"/>
                <a:gd name="T15" fmla="*/ 54 h 527"/>
                <a:gd name="T16" fmla="*/ 1830 w 3976"/>
                <a:gd name="T17" fmla="*/ 30 h 527"/>
                <a:gd name="T18" fmla="*/ 1704 w 3976"/>
                <a:gd name="T19" fmla="*/ 102 h 527"/>
                <a:gd name="T20" fmla="*/ 1608 w 3976"/>
                <a:gd name="T21" fmla="*/ 126 h 527"/>
                <a:gd name="T22" fmla="*/ 1561 w 3976"/>
                <a:gd name="T23" fmla="*/ 132 h 527"/>
                <a:gd name="T24" fmla="*/ 1495 w 3976"/>
                <a:gd name="T25" fmla="*/ 102 h 527"/>
                <a:gd name="T26" fmla="*/ 1357 w 3976"/>
                <a:gd name="T27" fmla="*/ 126 h 527"/>
                <a:gd name="T28" fmla="*/ 1285 w 3976"/>
                <a:gd name="T29" fmla="*/ 24 h 527"/>
                <a:gd name="T30" fmla="*/ 1280 w 3976"/>
                <a:gd name="T31" fmla="*/ 18 h 527"/>
                <a:gd name="T32" fmla="*/ 1262 w 3976"/>
                <a:gd name="T33" fmla="*/ 12 h 527"/>
                <a:gd name="T34" fmla="*/ 1238 w 3976"/>
                <a:gd name="T35" fmla="*/ 6 h 527"/>
                <a:gd name="T36" fmla="*/ 1220 w 3976"/>
                <a:gd name="T37" fmla="*/ 0 h 527"/>
                <a:gd name="T38" fmla="*/ 1196 w 3976"/>
                <a:gd name="T39" fmla="*/ 0 h 527"/>
                <a:gd name="T40" fmla="*/ 1166 w 3976"/>
                <a:gd name="T41" fmla="*/ 0 h 527"/>
                <a:gd name="T42" fmla="*/ 1142 w 3976"/>
                <a:gd name="T43" fmla="*/ 0 h 527"/>
                <a:gd name="T44" fmla="*/ 1136 w 3976"/>
                <a:gd name="T45" fmla="*/ 0 h 527"/>
                <a:gd name="T46" fmla="*/ 1130 w 3976"/>
                <a:gd name="T47" fmla="*/ 0 h 527"/>
                <a:gd name="T48" fmla="*/ 1124 w 3976"/>
                <a:gd name="T49" fmla="*/ 6 h 527"/>
                <a:gd name="T50" fmla="*/ 1118 w 3976"/>
                <a:gd name="T51" fmla="*/ 12 h 527"/>
                <a:gd name="T52" fmla="*/ 1100 w 3976"/>
                <a:gd name="T53" fmla="*/ 18 h 527"/>
                <a:gd name="T54" fmla="*/ 1088 w 3976"/>
                <a:gd name="T55" fmla="*/ 18 h 527"/>
                <a:gd name="T56" fmla="*/ 1070 w 3976"/>
                <a:gd name="T57" fmla="*/ 24 h 527"/>
                <a:gd name="T58" fmla="*/ 1052 w 3976"/>
                <a:gd name="T59" fmla="*/ 30 h 527"/>
                <a:gd name="T60" fmla="*/ 1034 w 3976"/>
                <a:gd name="T61" fmla="*/ 36 h 527"/>
                <a:gd name="T62" fmla="*/ 1028 w 3976"/>
                <a:gd name="T63" fmla="*/ 42 h 527"/>
                <a:gd name="T64" fmla="*/ 969 w 3976"/>
                <a:gd name="T65" fmla="*/ 60 h 527"/>
                <a:gd name="T66" fmla="*/ 921 w 3976"/>
                <a:gd name="T67" fmla="*/ 72 h 527"/>
                <a:gd name="T68" fmla="*/ 855 w 3976"/>
                <a:gd name="T69" fmla="*/ 48 h 527"/>
                <a:gd name="T70" fmla="*/ 825 w 3976"/>
                <a:gd name="T71" fmla="*/ 48 h 527"/>
                <a:gd name="T72" fmla="*/ 759 w 3976"/>
                <a:gd name="T73" fmla="*/ 72 h 527"/>
                <a:gd name="T74" fmla="*/ 735 w 3976"/>
                <a:gd name="T75" fmla="*/ 72 h 527"/>
                <a:gd name="T76" fmla="*/ 706 w 3976"/>
                <a:gd name="T77" fmla="*/ 60 h 527"/>
                <a:gd name="T78" fmla="*/ 640 w 3976"/>
                <a:gd name="T79" fmla="*/ 60 h 527"/>
                <a:gd name="T80" fmla="*/ 544 w 3976"/>
                <a:gd name="T81" fmla="*/ 72 h 527"/>
                <a:gd name="T82" fmla="*/ 389 w 3976"/>
                <a:gd name="T83" fmla="*/ 18 h 527"/>
                <a:gd name="T84" fmla="*/ 323 w 3976"/>
                <a:gd name="T85" fmla="*/ 60 h 527"/>
                <a:gd name="T86" fmla="*/ 317 w 3976"/>
                <a:gd name="T87" fmla="*/ 60 h 527"/>
                <a:gd name="T88" fmla="*/ 305 w 3976"/>
                <a:gd name="T89" fmla="*/ 72 h 527"/>
                <a:gd name="T90" fmla="*/ 287 w 3976"/>
                <a:gd name="T91" fmla="*/ 78 h 527"/>
                <a:gd name="T92" fmla="*/ 263 w 3976"/>
                <a:gd name="T93" fmla="*/ 90 h 527"/>
                <a:gd name="T94" fmla="*/ 203 w 3976"/>
                <a:gd name="T95" fmla="*/ 120 h 527"/>
                <a:gd name="T96" fmla="*/ 149 w 3976"/>
                <a:gd name="T97" fmla="*/ 150 h 527"/>
                <a:gd name="T98" fmla="*/ 78 w 3976"/>
                <a:gd name="T99" fmla="*/ 168 h 527"/>
                <a:gd name="T100" fmla="*/ 0 w 3976"/>
                <a:gd name="T101" fmla="*/ 180 h 527"/>
                <a:gd name="T102" fmla="*/ 0 w 3976"/>
                <a:gd name="T103" fmla="*/ 527 h 527"/>
                <a:gd name="T104" fmla="*/ 1010 w 3976"/>
                <a:gd name="T105" fmla="*/ 527 h 527"/>
                <a:gd name="T106" fmla="*/ 3725 w 3976"/>
                <a:gd name="T107" fmla="*/ 527 h 527"/>
                <a:gd name="T108" fmla="*/ 3976 w 3976"/>
                <a:gd name="T109" fmla="*/ 527 h 527"/>
                <a:gd name="T110" fmla="*/ 3976 w 3976"/>
                <a:gd name="T111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5231" name="Group 15">
            <a:extLst>
              <a:ext uri="{FF2B5EF4-FFF2-40B4-BE49-F238E27FC236}">
                <a16:creationId xmlns:a16="http://schemas.microsoft.com/office/drawing/2014/main" id="{313D8535-7147-7CF2-92C1-7BA28A325397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265232" name="Freeform 16">
              <a:extLst>
                <a:ext uri="{FF2B5EF4-FFF2-40B4-BE49-F238E27FC236}">
                  <a16:creationId xmlns:a16="http://schemas.microsoft.com/office/drawing/2014/main" id="{A85C1A8A-5D24-E008-73A3-2CD36CF2F4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233" name="Freeform 17">
              <a:extLst>
                <a:ext uri="{FF2B5EF4-FFF2-40B4-BE49-F238E27FC236}">
                  <a16:creationId xmlns:a16="http://schemas.microsoft.com/office/drawing/2014/main" id="{8584B960-2816-A1F1-12B6-432900A89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234" name="Freeform 18">
              <a:extLst>
                <a:ext uri="{FF2B5EF4-FFF2-40B4-BE49-F238E27FC236}">
                  <a16:creationId xmlns:a16="http://schemas.microsoft.com/office/drawing/2014/main" id="{5794EF66-A530-0D37-B6F8-9F09AB6576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235" name="Freeform 19">
              <a:extLst>
                <a:ext uri="{FF2B5EF4-FFF2-40B4-BE49-F238E27FC236}">
                  <a16:creationId xmlns:a16="http://schemas.microsoft.com/office/drawing/2014/main" id="{2F6A66F5-C9C4-2B6E-1C2E-5754464B9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236" name="Freeform 20">
              <a:extLst>
                <a:ext uri="{FF2B5EF4-FFF2-40B4-BE49-F238E27FC236}">
                  <a16:creationId xmlns:a16="http://schemas.microsoft.com/office/drawing/2014/main" id="{08DD49C9-0629-57F1-672E-EBECE6D22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237" name="Freeform 21">
              <a:extLst>
                <a:ext uri="{FF2B5EF4-FFF2-40B4-BE49-F238E27FC236}">
                  <a16:creationId xmlns:a16="http://schemas.microsoft.com/office/drawing/2014/main" id="{C3FF9B3D-6DDE-0637-CA3C-CE9E0ECA95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5238" name="Rectangle 22">
            <a:extLst>
              <a:ext uri="{FF2B5EF4-FFF2-40B4-BE49-F238E27FC236}">
                <a16:creationId xmlns:a16="http://schemas.microsoft.com/office/drawing/2014/main" id="{31C55101-905D-2027-8D3B-D4913FA650B0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447800"/>
            <a:ext cx="8229600" cy="1736725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65239" name="Rectangle 23">
            <a:extLst>
              <a:ext uri="{FF2B5EF4-FFF2-40B4-BE49-F238E27FC236}">
                <a16:creationId xmlns:a16="http://schemas.microsoft.com/office/drawing/2014/main" id="{A3084ED2-C787-5423-757F-6B7A0214F756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65240" name="Rectangle 24">
            <a:extLst>
              <a:ext uri="{FF2B5EF4-FFF2-40B4-BE49-F238E27FC236}">
                <a16:creationId xmlns:a16="http://schemas.microsoft.com/office/drawing/2014/main" id="{FA8BF557-2202-A63C-9E97-03C123D7479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265241" name="Rectangle 25">
            <a:extLst>
              <a:ext uri="{FF2B5EF4-FFF2-40B4-BE49-F238E27FC236}">
                <a16:creationId xmlns:a16="http://schemas.microsoft.com/office/drawing/2014/main" id="{9EEB4169-A559-746C-44FD-1027C0B8D3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9EF638D-56CF-4274-A76C-A8D40EEE99B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65242" name="Rectangle 26">
            <a:extLst>
              <a:ext uri="{FF2B5EF4-FFF2-40B4-BE49-F238E27FC236}">
                <a16:creationId xmlns:a16="http://schemas.microsoft.com/office/drawing/2014/main" id="{3F44DF01-A81A-F162-35A6-F7FF58FC30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slow"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6F467-AE53-FEED-45CE-3969F4AF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77BD4-8289-5C4D-AFC6-D6BC9458B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B0540-178C-4D6C-E92B-8D845D54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A6D83A-E04A-E979-78DB-2CF361DE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FCD45-5675-22C6-710D-E2B4175C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BA152-4FD4-4F8E-867A-E7ED2B36A0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6791016"/>
      </p:ext>
    </p:extLst>
  </p:cSld>
  <p:clrMapOvr>
    <a:masterClrMapping/>
  </p:clrMapOvr>
  <p:transition spd="slow"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99BD6-A210-AA14-7948-A132ED74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47DDEF-E57F-7A85-6E20-01ABD4E92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57D84-F4B8-A4CC-6CCC-77EEFEF6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5B444-6BDF-8A54-B2D1-769A085B8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D3A98-A7E0-CA8B-33A4-121B93DF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2BF1D-3942-435D-B385-7739C4CD92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9630787"/>
      </p:ext>
    </p:extLst>
  </p:cSld>
  <p:clrMapOvr>
    <a:masterClrMapping/>
  </p:clrMapOvr>
  <p:transition spd="slow"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F6117-7056-3202-7BF1-B2996374E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79D6B-E3AF-ECE3-A557-FFE82E3F3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96DE2C-BC35-082B-9A02-494C84FE6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965C5B-E58B-F12D-D0E3-16BCAA03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BCA38A-A0F3-EE1C-B8E3-E05FFF9F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30FA9F-2177-94CF-05CD-37FAB313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CC84E-8320-4FE8-9BF1-CD7B326DF1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432054"/>
      </p:ext>
    </p:extLst>
  </p:cSld>
  <p:clrMapOvr>
    <a:masterClrMapping/>
  </p:clrMapOvr>
  <p:transition spd="slow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C0640-09D9-4AE6-7B5A-BC9E461C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7AFB02-8E93-0325-8E95-A2F3E2078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E5CB22-6BD2-BA3C-5AAD-9689DDFE9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79AC20-53A4-6BF9-5F33-8370FC54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E69258-5227-6B82-70B2-94EF41751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548ADF-89B4-A911-04CB-EFBE1C3B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3E59A0-B29E-E926-CCB8-6AA91E79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64972F-EEBE-8B85-77C4-A237648F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75CB6-D937-47CC-9C16-54A2019F88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121885"/>
      </p:ext>
    </p:extLst>
  </p:cSld>
  <p:clrMapOvr>
    <a:masterClrMapping/>
  </p:clrMapOvr>
  <p:transition spd="slow"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95EDC-1272-F5A7-6FEF-88BC8012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18CA06-178D-86BF-4FDC-7C6C0ABA2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199354-32E4-2807-562E-69FB16FC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205BE6-0964-5C6A-8767-ED8B5DA2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2FD9E2-6D46-4835-8D91-DC6C96CCA7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384238"/>
      </p:ext>
    </p:extLst>
  </p:cSld>
  <p:clrMapOvr>
    <a:masterClrMapping/>
  </p:clrMapOvr>
  <p:transition spd="slow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FAF454-A446-030D-2C39-09FA94A7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325141-4242-933C-E59A-889F6FAB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93FB55-9601-D107-3237-0434F563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5CA0C2-793F-4E26-B33B-AC1D206955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5565512"/>
      </p:ext>
    </p:extLst>
  </p:cSld>
  <p:clrMapOvr>
    <a:masterClrMapping/>
  </p:clrMapOvr>
  <p:transition spd="slow"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34A10-07BD-F41D-5296-333D048EC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FB3C98-024C-0FF5-EA2F-134D230A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F50496-2DA5-6505-3B6B-AEEF5FB0B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12594E-4DF2-86DA-1AE4-6D083E6C1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0FD9C-C3EC-6EB6-C9B8-60F36AE9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181FAE-F609-4B8D-F9E6-FA010FD7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EE3CB-40B1-4C5F-B95A-65706D6891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4609937"/>
      </p:ext>
    </p:extLst>
  </p:cSld>
  <p:clrMapOvr>
    <a:masterClrMapping/>
  </p:clrMapOvr>
  <p:transition spd="slow"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E0111-CF3F-2B8E-BEC0-E5193AD5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68CA09-FE9E-E0C7-32B7-ABBFBFD9B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341B60-C16D-1C37-33FF-B1B352612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65BA12-7F53-8772-97D8-39319788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F62C94-6549-6361-73F8-18BD4AA5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73CFF1-2BD8-2FE8-79B3-42F43B87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0CF5B-D20B-462B-A867-288C5F5463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5360912"/>
      </p:ext>
    </p:extLst>
  </p:cSld>
  <p:clrMapOvr>
    <a:masterClrMapping/>
  </p:clrMapOvr>
  <p:transition spd="slow"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AF185-158F-3A0D-EDA1-41BAEF55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00B2F4-BE33-3B41-593D-783F60BBB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76C6B-85D5-9D80-61CC-A0C3F732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111CD-587D-99B4-3098-0CE8889C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818859-C3ED-E56D-D166-F159C0D64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217E2-72F9-45D5-8698-FBA008B3E8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119199"/>
      </p:ext>
    </p:extLst>
  </p:cSld>
  <p:clrMapOvr>
    <a:masterClrMapping/>
  </p:clrMapOvr>
  <p:transition spd="slow"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DF99CD-FFDC-F8AD-208A-7E65F4095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82F854-BA68-30C9-310E-054D47BFD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3B6AD-8406-A401-3BE2-8AEF959D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F217EF-8042-575D-E4B7-6211DF71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F2299-437E-A70B-7F99-F20B6D31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55B69-702D-4FF2-9F75-389A424E70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8088965"/>
      </p:ext>
    </p:extLst>
  </p:cSld>
  <p:clrMapOvr>
    <a:masterClrMapping/>
  </p:clrMapOvr>
  <p:transition spd="slow">
    <p:strips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3EEB7-0654-2AB1-96E2-0324E123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3E92F8-4785-E428-7296-D1DA41EA3CD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FD1B6-C56C-4591-AC8F-C0052AB90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CD2A71-DB80-D769-1D49-66AD47F481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9E2349-9BCC-6CC5-775C-DD63A866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B6BCFC-5BC9-259A-F201-59B8BC5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FC0A753-329A-4A12-839C-E0AB26C4619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1752254"/>
      </p:ext>
    </p:extLst>
  </p:cSld>
  <p:clrMapOvr>
    <a:masterClrMapping/>
  </p:clrMapOvr>
  <p:transition spd="slow"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194" name="Group 2">
            <a:extLst>
              <a:ext uri="{FF2B5EF4-FFF2-40B4-BE49-F238E27FC236}">
                <a16:creationId xmlns:a16="http://schemas.microsoft.com/office/drawing/2014/main" id="{8F256F3C-6D2D-B722-8595-F2D74BE48A5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64195" name="Freeform 3">
              <a:extLst>
                <a:ext uri="{FF2B5EF4-FFF2-40B4-BE49-F238E27FC236}">
                  <a16:creationId xmlns:a16="http://schemas.microsoft.com/office/drawing/2014/main" id="{779A80A7-D2AB-85BB-9171-01813BF7F91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196" name="Freeform 4">
              <a:extLst>
                <a:ext uri="{FF2B5EF4-FFF2-40B4-BE49-F238E27FC236}">
                  <a16:creationId xmlns:a16="http://schemas.microsoft.com/office/drawing/2014/main" id="{9E651481-3DD2-2D7A-4073-0642AB20CD5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4197" name="Freeform 5">
            <a:extLst>
              <a:ext uri="{FF2B5EF4-FFF2-40B4-BE49-F238E27FC236}">
                <a16:creationId xmlns:a16="http://schemas.microsoft.com/office/drawing/2014/main" id="{4D7296A0-0E8F-674A-40A3-0B3F5F1371F4}"/>
              </a:ext>
            </a:extLst>
          </p:cNvPr>
          <p:cNvSpPr>
            <a:spLocks/>
          </p:cNvSpPr>
          <p:nvPr/>
        </p:nvSpPr>
        <p:spPr bwMode="hidden">
          <a:xfrm>
            <a:off x="6248400" y="626268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64198" name="Group 6">
            <a:extLst>
              <a:ext uri="{FF2B5EF4-FFF2-40B4-BE49-F238E27FC236}">
                <a16:creationId xmlns:a16="http://schemas.microsoft.com/office/drawing/2014/main" id="{3AC24020-BA2B-5512-3F61-77454F7BC9DC}"/>
              </a:ext>
            </a:extLst>
          </p:cNvPr>
          <p:cNvGrpSpPr>
            <a:grpSpLocks/>
          </p:cNvGrpSpPr>
          <p:nvPr/>
        </p:nvGrpSpPr>
        <p:grpSpPr bwMode="auto">
          <a:xfrm>
            <a:off x="0" y="6019800"/>
            <a:ext cx="7848600" cy="857250"/>
            <a:chOff x="0" y="3792"/>
            <a:chExt cx="4944" cy="540"/>
          </a:xfrm>
        </p:grpSpPr>
        <p:sp>
          <p:nvSpPr>
            <p:cNvPr id="264199" name="Freeform 7">
              <a:extLst>
                <a:ext uri="{FF2B5EF4-FFF2-40B4-BE49-F238E27FC236}">
                  <a16:creationId xmlns:a16="http://schemas.microsoft.com/office/drawing/2014/main" id="{4F55DCF0-F3DE-94C6-1C74-9CA6184FCF87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>
                <a:gd name="T0" fmla="*/ 3132 w 3240"/>
                <a:gd name="T1" fmla="*/ 469 h 536"/>
                <a:gd name="T2" fmla="*/ 2995 w 3240"/>
                <a:gd name="T3" fmla="*/ 395 h 536"/>
                <a:gd name="T4" fmla="*/ 2911 w 3240"/>
                <a:gd name="T5" fmla="*/ 375 h 536"/>
                <a:gd name="T6" fmla="*/ 2678 w 3240"/>
                <a:gd name="T7" fmla="*/ 228 h 536"/>
                <a:gd name="T8" fmla="*/ 2553 w 3240"/>
                <a:gd name="T9" fmla="*/ 74 h 536"/>
                <a:gd name="T10" fmla="*/ 2457 w 3240"/>
                <a:gd name="T11" fmla="*/ 7 h 536"/>
                <a:gd name="T12" fmla="*/ 2403 w 3240"/>
                <a:gd name="T13" fmla="*/ 47 h 536"/>
                <a:gd name="T14" fmla="*/ 2289 w 3240"/>
                <a:gd name="T15" fmla="*/ 74 h 536"/>
                <a:gd name="T16" fmla="*/ 2134 w 3240"/>
                <a:gd name="T17" fmla="*/ 74 h 536"/>
                <a:gd name="T18" fmla="*/ 2044 w 3240"/>
                <a:gd name="T19" fmla="*/ 128 h 536"/>
                <a:gd name="T20" fmla="*/ 1775 w 3240"/>
                <a:gd name="T21" fmla="*/ 222 h 536"/>
                <a:gd name="T22" fmla="*/ 1602 w 3240"/>
                <a:gd name="T23" fmla="*/ 181 h 536"/>
                <a:gd name="T24" fmla="*/ 1560 w 3240"/>
                <a:gd name="T25" fmla="*/ 101 h 536"/>
                <a:gd name="T26" fmla="*/ 1542 w 3240"/>
                <a:gd name="T27" fmla="*/ 87 h 536"/>
                <a:gd name="T28" fmla="*/ 1446 w 3240"/>
                <a:gd name="T29" fmla="*/ 60 h 536"/>
                <a:gd name="T30" fmla="*/ 1375 w 3240"/>
                <a:gd name="T31" fmla="*/ 74 h 536"/>
                <a:gd name="T32" fmla="*/ 1309 w 3240"/>
                <a:gd name="T33" fmla="*/ 87 h 536"/>
                <a:gd name="T34" fmla="*/ 1243 w 3240"/>
                <a:gd name="T35" fmla="*/ 13 h 536"/>
                <a:gd name="T36" fmla="*/ 1225 w 3240"/>
                <a:gd name="T37" fmla="*/ 0 h 536"/>
                <a:gd name="T38" fmla="*/ 1189 w 3240"/>
                <a:gd name="T39" fmla="*/ 0 h 536"/>
                <a:gd name="T40" fmla="*/ 1106 w 3240"/>
                <a:gd name="T41" fmla="*/ 34 h 536"/>
                <a:gd name="T42" fmla="*/ 1106 w 3240"/>
                <a:gd name="T43" fmla="*/ 34 h 536"/>
                <a:gd name="T44" fmla="*/ 1094 w 3240"/>
                <a:gd name="T45" fmla="*/ 40 h 536"/>
                <a:gd name="T46" fmla="*/ 1070 w 3240"/>
                <a:gd name="T47" fmla="*/ 54 h 536"/>
                <a:gd name="T48" fmla="*/ 1034 w 3240"/>
                <a:gd name="T49" fmla="*/ 74 h 536"/>
                <a:gd name="T50" fmla="*/ 1004 w 3240"/>
                <a:gd name="T51" fmla="*/ 74 h 536"/>
                <a:gd name="T52" fmla="*/ 986 w 3240"/>
                <a:gd name="T53" fmla="*/ 74 h 536"/>
                <a:gd name="T54" fmla="*/ 956 w 3240"/>
                <a:gd name="T55" fmla="*/ 81 h 536"/>
                <a:gd name="T56" fmla="*/ 920 w 3240"/>
                <a:gd name="T57" fmla="*/ 94 h 536"/>
                <a:gd name="T58" fmla="*/ 884 w 3240"/>
                <a:gd name="T59" fmla="*/ 107 h 536"/>
                <a:gd name="T60" fmla="*/ 843 w 3240"/>
                <a:gd name="T61" fmla="*/ 128 h 536"/>
                <a:gd name="T62" fmla="*/ 813 w 3240"/>
                <a:gd name="T63" fmla="*/ 141 h 536"/>
                <a:gd name="T64" fmla="*/ 789 w 3240"/>
                <a:gd name="T65" fmla="*/ 148 h 536"/>
                <a:gd name="T66" fmla="*/ 783 w 3240"/>
                <a:gd name="T67" fmla="*/ 154 h 536"/>
                <a:gd name="T68" fmla="*/ 556 w 3240"/>
                <a:gd name="T69" fmla="*/ 228 h 536"/>
                <a:gd name="T70" fmla="*/ 394 w 3240"/>
                <a:gd name="T71" fmla="*/ 294 h 536"/>
                <a:gd name="T72" fmla="*/ 107 w 3240"/>
                <a:gd name="T73" fmla="*/ 462 h 536"/>
                <a:gd name="T74" fmla="*/ 0 w 3240"/>
                <a:gd name="T75" fmla="*/ 536 h 536"/>
                <a:gd name="T76" fmla="*/ 3240 w 3240"/>
                <a:gd name="T77" fmla="*/ 536 h 536"/>
                <a:gd name="T78" fmla="*/ 3132 w 3240"/>
                <a:gd name="T79" fmla="*/ 469 h 536"/>
                <a:gd name="T80" fmla="*/ 3132 w 3240"/>
                <a:gd name="T81" fmla="*/ 469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4200" name="Group 8">
              <a:extLst>
                <a:ext uri="{FF2B5EF4-FFF2-40B4-BE49-F238E27FC236}">
                  <a16:creationId xmlns:a16="http://schemas.microsoft.com/office/drawing/2014/main" id="{C040AE14-A12F-E80F-C799-B6505FC01C1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86" y="3792"/>
              <a:ext cx="2458" cy="540"/>
              <a:chOff x="2486" y="3792"/>
              <a:chExt cx="2458" cy="540"/>
            </a:xfrm>
          </p:grpSpPr>
          <p:sp>
            <p:nvSpPr>
              <p:cNvPr id="264201" name="Freeform 9">
                <a:extLst>
                  <a:ext uri="{FF2B5EF4-FFF2-40B4-BE49-F238E27FC236}">
                    <a16:creationId xmlns:a16="http://schemas.microsoft.com/office/drawing/2014/main" id="{C6934C26-0CD0-88EF-F4BA-2CF3184E388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948" y="3799"/>
                <a:ext cx="996" cy="533"/>
              </a:xfrm>
              <a:custGeom>
                <a:avLst/>
                <a:gdLst>
                  <a:gd name="T0" fmla="*/ 636 w 996"/>
                  <a:gd name="T1" fmla="*/ 373 h 533"/>
                  <a:gd name="T2" fmla="*/ 495 w 996"/>
                  <a:gd name="T3" fmla="*/ 370 h 533"/>
                  <a:gd name="T4" fmla="*/ 280 w 996"/>
                  <a:gd name="T5" fmla="*/ 249 h 533"/>
                  <a:gd name="T6" fmla="*/ 127 w 996"/>
                  <a:gd name="T7" fmla="*/ 66 h 533"/>
                  <a:gd name="T8" fmla="*/ 0 w 996"/>
                  <a:gd name="T9" fmla="*/ 0 h 533"/>
                  <a:gd name="T10" fmla="*/ 22 w 996"/>
                  <a:gd name="T11" fmla="*/ 26 h 533"/>
                  <a:gd name="T12" fmla="*/ 0 w 996"/>
                  <a:gd name="T13" fmla="*/ 65 h 533"/>
                  <a:gd name="T14" fmla="*/ 30 w 996"/>
                  <a:gd name="T15" fmla="*/ 119 h 533"/>
                  <a:gd name="T16" fmla="*/ 75 w 996"/>
                  <a:gd name="T17" fmla="*/ 243 h 533"/>
                  <a:gd name="T18" fmla="*/ 45 w 996"/>
                  <a:gd name="T19" fmla="*/ 422 h 533"/>
                  <a:gd name="T20" fmla="*/ 200 w 996"/>
                  <a:gd name="T21" fmla="*/ 329 h 533"/>
                  <a:gd name="T22" fmla="*/ 612 w 996"/>
                  <a:gd name="T23" fmla="*/ 533 h 533"/>
                  <a:gd name="T24" fmla="*/ 996 w 996"/>
                  <a:gd name="T25" fmla="*/ 529 h 533"/>
                  <a:gd name="T26" fmla="*/ 828 w 996"/>
                  <a:gd name="T27" fmla="*/ 473 h 533"/>
                  <a:gd name="T28" fmla="*/ 636 w 996"/>
                  <a:gd name="T29" fmla="*/ 373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202" name="Freeform 10">
                <a:extLst>
                  <a:ext uri="{FF2B5EF4-FFF2-40B4-BE49-F238E27FC236}">
                    <a16:creationId xmlns:a16="http://schemas.microsoft.com/office/drawing/2014/main" id="{3A5B7E0F-3E0B-63E0-AD35-C7BA99579B5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203" name="Freeform 11">
                <a:extLst>
                  <a:ext uri="{FF2B5EF4-FFF2-40B4-BE49-F238E27FC236}">
                    <a16:creationId xmlns:a16="http://schemas.microsoft.com/office/drawing/2014/main" id="{CC39B319-AB13-7DA8-44F2-93D4964C5D8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204" name="Freeform 12">
                <a:extLst>
                  <a:ext uri="{FF2B5EF4-FFF2-40B4-BE49-F238E27FC236}">
                    <a16:creationId xmlns:a16="http://schemas.microsoft.com/office/drawing/2014/main" id="{01AC5D15-84AC-1861-A7EB-B0E3F160218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205" name="Freeform 13">
                <a:extLst>
                  <a:ext uri="{FF2B5EF4-FFF2-40B4-BE49-F238E27FC236}">
                    <a16:creationId xmlns:a16="http://schemas.microsoft.com/office/drawing/2014/main" id="{5792D56A-A753-1829-3913-01DDC8C0B36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4206" name="Freeform 14">
              <a:extLst>
                <a:ext uri="{FF2B5EF4-FFF2-40B4-BE49-F238E27FC236}">
                  <a16:creationId xmlns:a16="http://schemas.microsoft.com/office/drawing/2014/main" id="{19BF8446-122C-D83B-F669-61D7209BECC1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>
                <a:gd name="T0" fmla="*/ 3976 w 3976"/>
                <a:gd name="T1" fmla="*/ 527 h 527"/>
                <a:gd name="T2" fmla="*/ 3970 w 3976"/>
                <a:gd name="T3" fmla="*/ 527 h 527"/>
                <a:gd name="T4" fmla="*/ 3844 w 3976"/>
                <a:gd name="T5" fmla="*/ 509 h 527"/>
                <a:gd name="T6" fmla="*/ 2487 w 3976"/>
                <a:gd name="T7" fmla="*/ 305 h 527"/>
                <a:gd name="T8" fmla="*/ 2039 w 3976"/>
                <a:gd name="T9" fmla="*/ 36 h 527"/>
                <a:gd name="T10" fmla="*/ 1907 w 3976"/>
                <a:gd name="T11" fmla="*/ 24 h 527"/>
                <a:gd name="T12" fmla="*/ 1883 w 3976"/>
                <a:gd name="T13" fmla="*/ 54 h 527"/>
                <a:gd name="T14" fmla="*/ 1859 w 3976"/>
                <a:gd name="T15" fmla="*/ 54 h 527"/>
                <a:gd name="T16" fmla="*/ 1830 w 3976"/>
                <a:gd name="T17" fmla="*/ 30 h 527"/>
                <a:gd name="T18" fmla="*/ 1704 w 3976"/>
                <a:gd name="T19" fmla="*/ 102 h 527"/>
                <a:gd name="T20" fmla="*/ 1608 w 3976"/>
                <a:gd name="T21" fmla="*/ 126 h 527"/>
                <a:gd name="T22" fmla="*/ 1561 w 3976"/>
                <a:gd name="T23" fmla="*/ 132 h 527"/>
                <a:gd name="T24" fmla="*/ 1495 w 3976"/>
                <a:gd name="T25" fmla="*/ 102 h 527"/>
                <a:gd name="T26" fmla="*/ 1357 w 3976"/>
                <a:gd name="T27" fmla="*/ 126 h 527"/>
                <a:gd name="T28" fmla="*/ 1285 w 3976"/>
                <a:gd name="T29" fmla="*/ 24 h 527"/>
                <a:gd name="T30" fmla="*/ 1280 w 3976"/>
                <a:gd name="T31" fmla="*/ 18 h 527"/>
                <a:gd name="T32" fmla="*/ 1262 w 3976"/>
                <a:gd name="T33" fmla="*/ 12 h 527"/>
                <a:gd name="T34" fmla="*/ 1238 w 3976"/>
                <a:gd name="T35" fmla="*/ 6 h 527"/>
                <a:gd name="T36" fmla="*/ 1220 w 3976"/>
                <a:gd name="T37" fmla="*/ 0 h 527"/>
                <a:gd name="T38" fmla="*/ 1196 w 3976"/>
                <a:gd name="T39" fmla="*/ 0 h 527"/>
                <a:gd name="T40" fmla="*/ 1166 w 3976"/>
                <a:gd name="T41" fmla="*/ 0 h 527"/>
                <a:gd name="T42" fmla="*/ 1142 w 3976"/>
                <a:gd name="T43" fmla="*/ 0 h 527"/>
                <a:gd name="T44" fmla="*/ 1136 w 3976"/>
                <a:gd name="T45" fmla="*/ 0 h 527"/>
                <a:gd name="T46" fmla="*/ 1130 w 3976"/>
                <a:gd name="T47" fmla="*/ 0 h 527"/>
                <a:gd name="T48" fmla="*/ 1124 w 3976"/>
                <a:gd name="T49" fmla="*/ 6 h 527"/>
                <a:gd name="T50" fmla="*/ 1118 w 3976"/>
                <a:gd name="T51" fmla="*/ 12 h 527"/>
                <a:gd name="T52" fmla="*/ 1100 w 3976"/>
                <a:gd name="T53" fmla="*/ 18 h 527"/>
                <a:gd name="T54" fmla="*/ 1088 w 3976"/>
                <a:gd name="T55" fmla="*/ 18 h 527"/>
                <a:gd name="T56" fmla="*/ 1070 w 3976"/>
                <a:gd name="T57" fmla="*/ 24 h 527"/>
                <a:gd name="T58" fmla="*/ 1052 w 3976"/>
                <a:gd name="T59" fmla="*/ 30 h 527"/>
                <a:gd name="T60" fmla="*/ 1034 w 3976"/>
                <a:gd name="T61" fmla="*/ 36 h 527"/>
                <a:gd name="T62" fmla="*/ 1028 w 3976"/>
                <a:gd name="T63" fmla="*/ 42 h 527"/>
                <a:gd name="T64" fmla="*/ 969 w 3976"/>
                <a:gd name="T65" fmla="*/ 60 h 527"/>
                <a:gd name="T66" fmla="*/ 921 w 3976"/>
                <a:gd name="T67" fmla="*/ 72 h 527"/>
                <a:gd name="T68" fmla="*/ 855 w 3976"/>
                <a:gd name="T69" fmla="*/ 48 h 527"/>
                <a:gd name="T70" fmla="*/ 825 w 3976"/>
                <a:gd name="T71" fmla="*/ 48 h 527"/>
                <a:gd name="T72" fmla="*/ 759 w 3976"/>
                <a:gd name="T73" fmla="*/ 72 h 527"/>
                <a:gd name="T74" fmla="*/ 735 w 3976"/>
                <a:gd name="T75" fmla="*/ 72 h 527"/>
                <a:gd name="T76" fmla="*/ 706 w 3976"/>
                <a:gd name="T77" fmla="*/ 60 h 527"/>
                <a:gd name="T78" fmla="*/ 640 w 3976"/>
                <a:gd name="T79" fmla="*/ 60 h 527"/>
                <a:gd name="T80" fmla="*/ 544 w 3976"/>
                <a:gd name="T81" fmla="*/ 72 h 527"/>
                <a:gd name="T82" fmla="*/ 389 w 3976"/>
                <a:gd name="T83" fmla="*/ 18 h 527"/>
                <a:gd name="T84" fmla="*/ 323 w 3976"/>
                <a:gd name="T85" fmla="*/ 60 h 527"/>
                <a:gd name="T86" fmla="*/ 317 w 3976"/>
                <a:gd name="T87" fmla="*/ 60 h 527"/>
                <a:gd name="T88" fmla="*/ 305 w 3976"/>
                <a:gd name="T89" fmla="*/ 72 h 527"/>
                <a:gd name="T90" fmla="*/ 287 w 3976"/>
                <a:gd name="T91" fmla="*/ 78 h 527"/>
                <a:gd name="T92" fmla="*/ 263 w 3976"/>
                <a:gd name="T93" fmla="*/ 90 h 527"/>
                <a:gd name="T94" fmla="*/ 203 w 3976"/>
                <a:gd name="T95" fmla="*/ 120 h 527"/>
                <a:gd name="T96" fmla="*/ 149 w 3976"/>
                <a:gd name="T97" fmla="*/ 150 h 527"/>
                <a:gd name="T98" fmla="*/ 78 w 3976"/>
                <a:gd name="T99" fmla="*/ 168 h 527"/>
                <a:gd name="T100" fmla="*/ 0 w 3976"/>
                <a:gd name="T101" fmla="*/ 180 h 527"/>
                <a:gd name="T102" fmla="*/ 0 w 3976"/>
                <a:gd name="T103" fmla="*/ 527 h 527"/>
                <a:gd name="T104" fmla="*/ 1010 w 3976"/>
                <a:gd name="T105" fmla="*/ 527 h 527"/>
                <a:gd name="T106" fmla="*/ 3725 w 3976"/>
                <a:gd name="T107" fmla="*/ 527 h 527"/>
                <a:gd name="T108" fmla="*/ 3976 w 3976"/>
                <a:gd name="T109" fmla="*/ 527 h 527"/>
                <a:gd name="T110" fmla="*/ 3976 w 3976"/>
                <a:gd name="T111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4207" name="Group 15">
            <a:extLst>
              <a:ext uri="{FF2B5EF4-FFF2-40B4-BE49-F238E27FC236}">
                <a16:creationId xmlns:a16="http://schemas.microsoft.com/office/drawing/2014/main" id="{00DF12DA-61FD-38D0-EE3F-2EF088B17173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264208" name="Freeform 16">
              <a:extLst>
                <a:ext uri="{FF2B5EF4-FFF2-40B4-BE49-F238E27FC236}">
                  <a16:creationId xmlns:a16="http://schemas.microsoft.com/office/drawing/2014/main" id="{C22999CA-A6AE-42E2-6043-8925F8E96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09" name="Freeform 17">
              <a:extLst>
                <a:ext uri="{FF2B5EF4-FFF2-40B4-BE49-F238E27FC236}">
                  <a16:creationId xmlns:a16="http://schemas.microsoft.com/office/drawing/2014/main" id="{A29CC533-0456-1BC6-2A8C-17F657652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10" name="Freeform 18">
              <a:extLst>
                <a:ext uri="{FF2B5EF4-FFF2-40B4-BE49-F238E27FC236}">
                  <a16:creationId xmlns:a16="http://schemas.microsoft.com/office/drawing/2014/main" id="{C8F34776-AD21-6051-163C-E519B379C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11" name="Freeform 19">
              <a:extLst>
                <a:ext uri="{FF2B5EF4-FFF2-40B4-BE49-F238E27FC236}">
                  <a16:creationId xmlns:a16="http://schemas.microsoft.com/office/drawing/2014/main" id="{17EE98EA-C177-BA62-EAE9-82DF6B25F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12" name="Freeform 20">
              <a:extLst>
                <a:ext uri="{FF2B5EF4-FFF2-40B4-BE49-F238E27FC236}">
                  <a16:creationId xmlns:a16="http://schemas.microsoft.com/office/drawing/2014/main" id="{9D82468D-919C-9526-03DF-BBA8DCD1E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13" name="Freeform 21">
              <a:extLst>
                <a:ext uri="{FF2B5EF4-FFF2-40B4-BE49-F238E27FC236}">
                  <a16:creationId xmlns:a16="http://schemas.microsoft.com/office/drawing/2014/main" id="{2527ED38-1638-A743-23EB-10A06CD54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4214" name="Rectangle 22">
            <a:extLst>
              <a:ext uri="{FF2B5EF4-FFF2-40B4-BE49-F238E27FC236}">
                <a16:creationId xmlns:a16="http://schemas.microsoft.com/office/drawing/2014/main" id="{4D6005E6-AA5E-2EC5-A099-F1378DA15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64215" name="Rectangle 23">
            <a:extLst>
              <a:ext uri="{FF2B5EF4-FFF2-40B4-BE49-F238E27FC236}">
                <a16:creationId xmlns:a16="http://schemas.microsoft.com/office/drawing/2014/main" id="{CD93AA46-504A-E4B3-39EA-9865CBEAB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4216" name="Rectangle 24">
            <a:extLst>
              <a:ext uri="{FF2B5EF4-FFF2-40B4-BE49-F238E27FC236}">
                <a16:creationId xmlns:a16="http://schemas.microsoft.com/office/drawing/2014/main" id="{A0324040-910C-7D67-0710-90827A2B2D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264217" name="Rectangle 25">
            <a:extLst>
              <a:ext uri="{FF2B5EF4-FFF2-40B4-BE49-F238E27FC236}">
                <a16:creationId xmlns:a16="http://schemas.microsoft.com/office/drawing/2014/main" id="{40D03910-EFE8-1764-039A-35B95F5DE9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264218" name="Rectangle 26">
            <a:extLst>
              <a:ext uri="{FF2B5EF4-FFF2-40B4-BE49-F238E27FC236}">
                <a16:creationId xmlns:a16="http://schemas.microsoft.com/office/drawing/2014/main" id="{3B10FCC9-E378-C2C1-CF77-083C9B8AE4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EDCEABF4-19D0-40FB-8290-BFFBD847746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ransition spd="slow">
    <p:strips dir="rd"/>
  </p:transition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nsczx@mail.sys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8C787CC-FB35-DED3-BE2C-17A78770BB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71550" y="476250"/>
            <a:ext cx="7631113" cy="2376488"/>
          </a:xfrm>
          <a:noFill/>
          <a:ln/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 sz="4400" b="1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kumimoji="1" lang="zh-CN" altLang="en-US" sz="4400" b="1">
                <a:latin typeface="黑体" panose="02010609060101010101" pitchFamily="49" charset="-122"/>
                <a:ea typeface="黑体" panose="02010609060101010101" pitchFamily="49" charset="-122"/>
              </a:rPr>
              <a:t>生产与运作管理</a:t>
            </a:r>
            <a:r>
              <a:rPr kumimoji="1" lang="en-US" altLang="zh-CN" sz="4400" b="1"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kumimoji="1" lang="zh-CN" altLang="en-US" sz="4400" b="1">
                <a:latin typeface="黑体" panose="02010609060101010101" pitchFamily="49" charset="-122"/>
                <a:ea typeface="黑体" panose="02010609060101010101" pitchFamily="49" charset="-122"/>
              </a:rPr>
              <a:t>教辅材料参考讲义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FF10227C-9DCA-8013-CFF9-A88529D5A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636838"/>
            <a:ext cx="6840538" cy="160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出版社：北京：机械工业出版社，</a:t>
            </a:r>
            <a:r>
              <a:rPr lang="en-US" altLang="zh-CN" b="1"/>
              <a:t>2009</a:t>
            </a:r>
            <a:r>
              <a:rPr lang="zh-CN" altLang="en-US" b="1"/>
              <a:t>年</a:t>
            </a:r>
            <a:r>
              <a:rPr lang="en-US" altLang="zh-CN" b="1"/>
              <a:t>7</a:t>
            </a:r>
            <a:r>
              <a:rPr lang="zh-CN" altLang="en-US" b="1"/>
              <a:t>月</a:t>
            </a:r>
          </a:p>
          <a:p>
            <a:pPr algn="ctr">
              <a:spcBef>
                <a:spcPct val="50000"/>
              </a:spcBef>
            </a:pPr>
            <a:r>
              <a:rPr lang="zh-CN" altLang="en-US" b="1"/>
              <a:t>编著者：陈志祥，李丽</a:t>
            </a:r>
          </a:p>
          <a:p>
            <a:pPr algn="ctr">
              <a:spcBef>
                <a:spcPct val="50000"/>
              </a:spcBef>
            </a:pPr>
            <a:r>
              <a:rPr lang="zh-CN" altLang="en-US" b="1"/>
              <a:t>本讲义由李丽老师制作，陈志祥教授审校</a:t>
            </a:r>
          </a:p>
          <a:p>
            <a:pPr algn="ctr">
              <a:spcBef>
                <a:spcPct val="50000"/>
              </a:spcBef>
            </a:pPr>
            <a:r>
              <a:rPr lang="en-US" altLang="zh-CN" b="1">
                <a:hlinkClick r:id="rId2"/>
              </a:rPr>
              <a:t>mnsczx@mail.sysu.edu.cn</a:t>
            </a:r>
            <a:r>
              <a:rPr lang="en-US" altLang="zh-CN" b="1"/>
              <a:t> 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B526914-4C16-A98A-90CB-B4DB38BB72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76375" y="4508500"/>
            <a:ext cx="6400800" cy="15367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800"/>
              <a:t>声明：本讲义只提供给购买与使用本教材的教师作为教学使用，未经允许不得转发给其他任何人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7EF4749-A3DA-0610-614E-BE194890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53282" name="Rectangle 2">
            <a:extLst>
              <a:ext uri="{FF2B5EF4-FFF2-40B4-BE49-F238E27FC236}">
                <a16:creationId xmlns:a16="http://schemas.microsoft.com/office/drawing/2014/main" id="{C3430A0B-001D-8370-623E-7EE64C66D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/>
              <a:t>第</a:t>
            </a:r>
            <a:r>
              <a:rPr lang="en-US" altLang="zh-CN" sz="4000" b="1"/>
              <a:t>13</a:t>
            </a:r>
            <a:r>
              <a:rPr lang="zh-CN" altLang="en-US" sz="4000" b="1"/>
              <a:t>章 丰田生产方式与精细化运作</a:t>
            </a:r>
          </a:p>
        </p:txBody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D22261B8-005B-EC2C-B7B4-FC6D77A23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773238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一、学习目标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/>
              <a:t>1</a:t>
            </a:r>
            <a:r>
              <a:rPr lang="zh-CN" altLang="en-US" sz="2800" b="1"/>
              <a:t>、熟悉丰田生产方式的本质与精髓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/>
              <a:t>2</a:t>
            </a:r>
            <a:r>
              <a:rPr lang="zh-CN" altLang="en-US" sz="2800" b="1"/>
              <a:t>、熟悉丰田生产方式的主要管理方法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/>
              <a:t>二、内容提要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/>
              <a:t>1</a:t>
            </a:r>
            <a:r>
              <a:rPr lang="zh-CN" altLang="en-US" sz="2800" b="1"/>
              <a:t>、丰田生产方式的起源与精髓</a:t>
            </a:r>
            <a:r>
              <a:rPr lang="zh-CN" altLang="en-US" sz="280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zh-CN" altLang="en-US" sz="2800" b="1"/>
              <a:t>丰田生产方式的方法体系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/>
              <a:t>3</a:t>
            </a:r>
            <a:r>
              <a:rPr lang="zh-CN" altLang="en-US" sz="2800" b="1"/>
              <a:t>、精细化生产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/>
              <a:t>4</a:t>
            </a:r>
            <a:r>
              <a:rPr lang="zh-CN" altLang="en-US" sz="2800" b="1"/>
              <a:t>、精细化生产在非制造业的运用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544A743-4513-7612-5784-32C85444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54306" name="Rectangle 2">
            <a:extLst>
              <a:ext uri="{FF2B5EF4-FFF2-40B4-BE49-F238E27FC236}">
                <a16:creationId xmlns:a16="http://schemas.microsoft.com/office/drawing/2014/main" id="{1C3E0A84-B744-53A7-CD31-0A448560A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/>
              <a:t>引导案例：广州丰田汽车有限公司</a:t>
            </a:r>
          </a:p>
        </p:txBody>
      </p:sp>
      <p:sp>
        <p:nvSpPr>
          <p:cNvPr id="354307" name="Rectangle 3">
            <a:extLst>
              <a:ext uri="{FF2B5EF4-FFF2-40B4-BE49-F238E27FC236}">
                <a16:creationId xmlns:a16="http://schemas.microsoft.com/office/drawing/2014/main" id="{E29A0B84-C2CD-9E42-3D5F-E40593A2B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48958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3600"/>
              <a:t>        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广州丰田不但把最新的技术，也把最先进生产管理方式</a:t>
            </a:r>
            <a:r>
              <a:rPr lang="en-US" altLang="zh-CN" sz="2800">
                <a:ea typeface="楷体_GB2312" pitchFamily="49" charset="-122"/>
              </a:rPr>
              <a:t>—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丰田生产方式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TPS(Toyoda Production system)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带进了国内。准时化、自动化、标准化与持续改善是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TPS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四个核心，其精髓可用两句话概括：一是采用不使次品流入下一个流程的系统，各个流程均保证产品质量，从而保证得到高品质的产品；二是通过不断改善（更准时化、自动化、标准化），以不断提升品质并降低成本，确保产品拥有一个顾客满意的价格。</a:t>
            </a:r>
          </a:p>
          <a:p>
            <a:pPr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           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9033885-7A75-CB18-7352-CC925098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548866" name="Rectangle 2">
            <a:extLst>
              <a:ext uri="{FF2B5EF4-FFF2-40B4-BE49-F238E27FC236}">
                <a16:creationId xmlns:a16="http://schemas.microsoft.com/office/drawing/2014/main" id="{B2215F3C-1B01-0653-46CF-B440BB0E7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一、丰田生产方式的起源与精髓</a:t>
            </a:r>
          </a:p>
        </p:txBody>
      </p:sp>
      <p:sp>
        <p:nvSpPr>
          <p:cNvPr id="548867" name="Rectangle 3">
            <a:extLst>
              <a:ext uri="{FF2B5EF4-FFF2-40B4-BE49-F238E27FC236}">
                <a16:creationId xmlns:a16="http://schemas.microsoft.com/office/drawing/2014/main" id="{C0E2F842-C72B-4248-93B0-A3A60F07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989138"/>
            <a:ext cx="8229600" cy="4437062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 b="1"/>
              <a:t>（一）汽车工业生产的一次飞跃</a:t>
            </a:r>
          </a:p>
          <a:p>
            <a:pPr>
              <a:buFontTx/>
              <a:buNone/>
            </a:pPr>
            <a:r>
              <a:rPr lang="zh-CN" altLang="en-US" sz="2800" b="1"/>
              <a:t>（二）</a:t>
            </a:r>
            <a:r>
              <a:rPr lang="zh-CN" altLang="en-US" b="1"/>
              <a:t>准时生产方式的目标与经营理念</a:t>
            </a:r>
            <a:r>
              <a:rPr lang="zh-CN" altLang="en-US"/>
              <a:t> </a:t>
            </a:r>
            <a:endParaRPr lang="zh-CN" altLang="en-US" sz="2800" b="1"/>
          </a:p>
          <a:p>
            <a:endParaRPr lang="en-US" altLang="zh-CN" sz="3400" b="1"/>
          </a:p>
        </p:txBody>
      </p:sp>
    </p:spTree>
  </p:cSld>
  <p:clrMapOvr>
    <a:masterClrMapping/>
  </p:clrMapOvr>
  <p:transition spd="slow"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9CD7132-42BB-F0EA-BC83-63476A2D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55330" name="Rectangle 2">
            <a:extLst>
              <a:ext uri="{FF2B5EF4-FFF2-40B4-BE49-F238E27FC236}">
                <a16:creationId xmlns:a16="http://schemas.microsoft.com/office/drawing/2014/main" id="{E8CCD86C-55DC-F32D-1E09-DC5FE48CE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/>
              <a:t>（一）汽车工业生产的一次飞跃</a:t>
            </a:r>
          </a:p>
        </p:txBody>
      </p:sp>
      <p:sp>
        <p:nvSpPr>
          <p:cNvPr id="355331" name="Rectangle 3">
            <a:extLst>
              <a:ext uri="{FF2B5EF4-FFF2-40B4-BE49-F238E27FC236}">
                <a16:creationId xmlns:a16="http://schemas.microsoft.com/office/drawing/2014/main" id="{BE0D2A1D-05FF-7CBE-F114-2B56BA8F9E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5084762"/>
          </a:xfrm>
        </p:spPr>
        <p:txBody>
          <a:bodyPr/>
          <a:lstStyle/>
          <a:p>
            <a:r>
              <a:rPr lang="en-US" altLang="zh-CN" sz="2400" b="1"/>
              <a:t>20</a:t>
            </a:r>
            <a:r>
              <a:rPr lang="zh-CN" altLang="en-US" sz="2400" b="1"/>
              <a:t>世纪初美国福特公司创立了大批量流水生产方式，开创了现代生产新时代。福特生产系统有两个基本的原理：（</a:t>
            </a:r>
            <a:r>
              <a:rPr lang="en-US" altLang="zh-CN" sz="2400" b="1"/>
              <a:t>1</a:t>
            </a:r>
            <a:r>
              <a:rPr lang="zh-CN" altLang="en-US" sz="2400" b="1"/>
              <a:t>）生产标准化原理和（</a:t>
            </a:r>
            <a:r>
              <a:rPr lang="en-US" altLang="zh-CN" sz="2400" b="1"/>
              <a:t>2</a:t>
            </a:r>
            <a:r>
              <a:rPr lang="zh-CN" altLang="en-US" sz="2400" b="1"/>
              <a:t>）移动装配线法原理。</a:t>
            </a:r>
          </a:p>
          <a:p>
            <a:endParaRPr lang="zh-CN" altLang="en-US" sz="2400" b="1"/>
          </a:p>
          <a:p>
            <a:r>
              <a:rPr lang="zh-CN" altLang="en-US" sz="2400" b="1"/>
              <a:t>在</a:t>
            </a:r>
            <a:r>
              <a:rPr lang="en-US" altLang="zh-CN" sz="2400" b="1"/>
              <a:t>20</a:t>
            </a:r>
            <a:r>
              <a:rPr lang="zh-CN" altLang="en-US" sz="2400" b="1"/>
              <a:t>世纪的后半期，一种适应多品种小批量生产的新的生产方式诞生了</a:t>
            </a:r>
            <a:r>
              <a:rPr lang="en-US" altLang="zh-CN" sz="2400" b="1"/>
              <a:t>---</a:t>
            </a:r>
            <a:r>
              <a:rPr lang="zh-CN" altLang="en-US" sz="2400" b="1"/>
              <a:t>丰田生产方式。这种生产方式的基本思想是“在需要的时候，按照需要的数量，生产需要的产品”，因此，人们也把丰田生产方式称为“准时化生产”或</a:t>
            </a:r>
            <a:r>
              <a:rPr lang="en-US" altLang="zh-CN" sz="2400" b="1"/>
              <a:t>JIT</a:t>
            </a:r>
            <a:r>
              <a:rPr lang="zh-CN" altLang="en-US" sz="2400" b="1"/>
              <a:t>（</a:t>
            </a:r>
            <a:r>
              <a:rPr lang="en-US" altLang="zh-CN" sz="2400" b="1"/>
              <a:t>just in time</a:t>
            </a:r>
            <a:r>
              <a:rPr lang="zh-CN" altLang="en-US" sz="2400" b="1"/>
              <a:t>）生产。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FF6A66D-44B1-7734-192F-1B7A2A8E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56354" name="Rectangle 2">
            <a:extLst>
              <a:ext uri="{FF2B5EF4-FFF2-40B4-BE49-F238E27FC236}">
                <a16:creationId xmlns:a16="http://schemas.microsoft.com/office/drawing/2014/main" id="{58D9C231-283A-CD27-122F-0313BE489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/>
              <a:t>（二）准时生产方式的目标与经营理念</a:t>
            </a:r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526C06F2-2AD0-2E7E-B16C-2C0290698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28775"/>
            <a:ext cx="8229600" cy="4319588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     </a:t>
            </a:r>
            <a:r>
              <a:rPr lang="zh-CN" altLang="en-US" sz="2400"/>
              <a:t>丰田生产方式的目标是消除浪费</a:t>
            </a:r>
            <a:r>
              <a:rPr lang="en-US" altLang="zh-CN" sz="2400"/>
              <a:t>,</a:t>
            </a:r>
            <a:r>
              <a:rPr lang="zh-CN" altLang="en-US" sz="2400"/>
              <a:t>不断改善</a:t>
            </a:r>
            <a:r>
              <a:rPr lang="en-US" altLang="zh-CN" sz="2400"/>
              <a:t>.</a:t>
            </a:r>
            <a:r>
              <a:rPr lang="zh-CN" altLang="en-US" sz="2400"/>
              <a:t>丰田公司提倡消除生产过程中存在七种浪费，他们是：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</a:t>
            </a:r>
            <a:r>
              <a:rPr lang="en-US" altLang="zh-CN" sz="2400"/>
              <a:t>1 </a:t>
            </a:r>
            <a:r>
              <a:rPr lang="zh-CN" altLang="en-US" sz="2400"/>
              <a:t>生产过度的浪费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</a:t>
            </a:r>
            <a:r>
              <a:rPr lang="en-US" altLang="zh-CN" sz="2400"/>
              <a:t>2  </a:t>
            </a:r>
            <a:r>
              <a:rPr lang="zh-CN" altLang="en-US" sz="2400"/>
              <a:t>停工等待的浪费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</a:t>
            </a:r>
            <a:r>
              <a:rPr lang="en-US" altLang="zh-CN" sz="2400"/>
              <a:t>3  </a:t>
            </a:r>
            <a:r>
              <a:rPr lang="zh-CN" altLang="en-US" sz="2400"/>
              <a:t>搬运的浪费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</a:t>
            </a:r>
            <a:r>
              <a:rPr lang="en-US" altLang="zh-CN" sz="2400"/>
              <a:t>4  </a:t>
            </a:r>
            <a:r>
              <a:rPr lang="zh-CN" altLang="en-US" sz="2400"/>
              <a:t>加工本身无效的浪费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</a:t>
            </a:r>
            <a:r>
              <a:rPr lang="en-US" altLang="zh-CN" sz="2400"/>
              <a:t>5  </a:t>
            </a:r>
            <a:r>
              <a:rPr lang="zh-CN" altLang="en-US" sz="2400"/>
              <a:t>库存的浪费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</a:t>
            </a:r>
            <a:r>
              <a:rPr lang="en-US" altLang="zh-CN" sz="2400"/>
              <a:t>6  </a:t>
            </a:r>
            <a:r>
              <a:rPr lang="zh-CN" altLang="en-US" sz="2400"/>
              <a:t>动作的浪费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</a:t>
            </a:r>
            <a:r>
              <a:rPr lang="en-US" altLang="zh-CN" sz="2400"/>
              <a:t>7  </a:t>
            </a:r>
            <a:r>
              <a:rPr lang="zh-CN" altLang="en-US" sz="2400"/>
              <a:t>制造不良的浪费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</a:t>
            </a:r>
          </a:p>
        </p:txBody>
      </p:sp>
      <p:sp>
        <p:nvSpPr>
          <p:cNvPr id="356358" name="Text Box 6">
            <a:extLst>
              <a:ext uri="{FF2B5EF4-FFF2-40B4-BE49-F238E27FC236}">
                <a16:creationId xmlns:a16="http://schemas.microsoft.com/office/drawing/2014/main" id="{AD02ED5F-6937-D29E-A15C-052664845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229225"/>
            <a:ext cx="568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两个基本经营理念</a:t>
            </a:r>
            <a:r>
              <a:rPr lang="en-US" altLang="zh-CN" sz="2400"/>
              <a:t>:</a:t>
            </a:r>
            <a:r>
              <a:rPr lang="zh-CN" altLang="en-US" sz="2400"/>
              <a:t>零库存</a:t>
            </a:r>
            <a:r>
              <a:rPr lang="en-US" altLang="zh-CN" sz="2400"/>
              <a:t>,</a:t>
            </a:r>
            <a:r>
              <a:rPr lang="zh-CN" altLang="en-US" sz="2400"/>
              <a:t>零缺陷</a:t>
            </a:r>
            <a:r>
              <a:rPr lang="en-US" altLang="zh-CN" sz="2400"/>
              <a:t>.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65B62BA-78BC-DD65-FE76-9F987B90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BA9DBE0D-E340-2798-F087-95273AE65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二、丰田生产方式的方法体系</a:t>
            </a:r>
          </a:p>
        </p:txBody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0DAC0C54-43BB-D745-3855-60FDA84BF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29600" cy="449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/>
              <a:t>            </a:t>
            </a:r>
            <a:r>
              <a:rPr lang="zh-CN" altLang="en-US" sz="2400"/>
              <a:t>准时化生产经营管理方法是丰田公司经历了几十年的演变形成的，而且还在不断演变，因此，关于丰田公司的生产方式的管理思想与方法，目前有不同的理解。本章介绍几个重要的方法</a:t>
            </a:r>
            <a:r>
              <a:rPr lang="en-US" altLang="zh-CN" sz="2400"/>
              <a:t>:</a:t>
            </a:r>
          </a:p>
          <a:p>
            <a:pPr>
              <a:buFontTx/>
              <a:buNone/>
            </a:pPr>
            <a:r>
              <a:rPr lang="en-US" altLang="zh-CN" sz="2400"/>
              <a:t>         1. </a:t>
            </a:r>
            <a:r>
              <a:rPr lang="zh-CN" altLang="en-US" sz="2400"/>
              <a:t>准时生产线与生产单元</a:t>
            </a:r>
          </a:p>
          <a:p>
            <a:pPr>
              <a:buFontTx/>
              <a:buNone/>
            </a:pPr>
            <a:r>
              <a:rPr lang="zh-CN" altLang="en-US" sz="2400"/>
              <a:t>         </a:t>
            </a:r>
            <a:r>
              <a:rPr lang="en-US" altLang="zh-CN" sz="2400"/>
              <a:t>2. </a:t>
            </a:r>
            <a:r>
              <a:rPr lang="zh-CN" altLang="en-US" sz="2400"/>
              <a:t>平准化计划</a:t>
            </a:r>
          </a:p>
          <a:p>
            <a:pPr>
              <a:buFontTx/>
              <a:buNone/>
            </a:pPr>
            <a:r>
              <a:rPr lang="zh-CN" altLang="en-US" sz="2400"/>
              <a:t>         </a:t>
            </a:r>
            <a:r>
              <a:rPr lang="en-US" altLang="zh-CN" sz="2400"/>
              <a:t>3. </a:t>
            </a:r>
            <a:r>
              <a:rPr lang="zh-CN" altLang="en-US" sz="2400"/>
              <a:t>看板控制系统</a:t>
            </a:r>
          </a:p>
          <a:p>
            <a:pPr>
              <a:buFontTx/>
              <a:buNone/>
            </a:pPr>
            <a:r>
              <a:rPr lang="zh-CN" altLang="en-US" sz="2400"/>
              <a:t>         </a:t>
            </a:r>
            <a:r>
              <a:rPr lang="en-US" altLang="zh-CN" sz="2400"/>
              <a:t>4. </a:t>
            </a:r>
            <a:r>
              <a:rPr lang="zh-CN" altLang="en-US" sz="2400"/>
              <a:t>战略供应商关系</a:t>
            </a:r>
          </a:p>
          <a:p>
            <a:pPr>
              <a:buFontTx/>
              <a:buNone/>
            </a:pPr>
            <a:r>
              <a:rPr lang="zh-CN" altLang="en-US" sz="2400"/>
              <a:t>         </a:t>
            </a:r>
            <a:r>
              <a:rPr lang="en-US" altLang="zh-CN" sz="2400"/>
              <a:t>5. </a:t>
            </a:r>
            <a:r>
              <a:rPr lang="zh-CN" altLang="en-US" sz="2400"/>
              <a:t>多能工与少人化</a:t>
            </a:r>
          </a:p>
          <a:p>
            <a:pPr>
              <a:buFontTx/>
              <a:buNone/>
            </a:pPr>
            <a:r>
              <a:rPr lang="zh-CN" altLang="en-US" sz="2400"/>
              <a:t>         </a:t>
            </a:r>
            <a:r>
              <a:rPr lang="en-US" altLang="zh-CN" sz="2400"/>
              <a:t>6. </a:t>
            </a:r>
            <a:r>
              <a:rPr lang="zh-CN" altLang="en-US" sz="2400"/>
              <a:t>减少调整准备时间</a:t>
            </a:r>
          </a:p>
          <a:p>
            <a:pPr>
              <a:buFontTx/>
              <a:buNone/>
            </a:pPr>
            <a:r>
              <a:rPr lang="zh-CN" altLang="en-US" sz="2400"/>
              <a:t>         </a:t>
            </a:r>
            <a:r>
              <a:rPr lang="en-US" altLang="zh-CN" sz="2400"/>
              <a:t>7. </a:t>
            </a:r>
            <a:r>
              <a:rPr lang="zh-CN" altLang="en-US" sz="2400"/>
              <a:t>全面质量管理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15621F5-C641-B3EA-7738-6A318869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58402" name="Rectangle 2">
            <a:extLst>
              <a:ext uri="{FF2B5EF4-FFF2-40B4-BE49-F238E27FC236}">
                <a16:creationId xmlns:a16="http://schemas.microsoft.com/office/drawing/2014/main" id="{D761EF2D-0FD8-7C17-9E0E-B28CEC230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（一）准时生产线</a:t>
            </a:r>
          </a:p>
        </p:txBody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6F3AEC13-71D1-C790-6AE0-1A747CB82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49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/>
              <a:t>            </a:t>
            </a:r>
            <a:r>
              <a:rPr lang="zh-CN" altLang="en-US" sz="2000"/>
              <a:t>丰田公司为了实现准时化生产，对生产线进行了改造。丰田公司按照流水生产方式组织生产系统，在工厂一级采用对象专业化的方式组织生产设施，同时在工作站建立准时生产单元，如“</a:t>
            </a:r>
            <a:r>
              <a:rPr lang="en-US" altLang="zh-CN" sz="2000"/>
              <a:t>U”</a:t>
            </a:r>
            <a:r>
              <a:rPr lang="zh-CN" altLang="en-US" sz="2000"/>
              <a:t>生产单元和“</a:t>
            </a:r>
            <a:r>
              <a:rPr lang="en-US" altLang="zh-CN" sz="2000"/>
              <a:t>C”</a:t>
            </a:r>
            <a:r>
              <a:rPr lang="zh-CN" altLang="en-US" sz="2000"/>
              <a:t>形生产单元。图</a:t>
            </a:r>
            <a:r>
              <a:rPr lang="en-US" altLang="zh-CN" sz="2000"/>
              <a:t>13-1</a:t>
            </a:r>
            <a:r>
              <a:rPr lang="zh-CN" altLang="en-US" sz="2000"/>
              <a:t>为准时生产单元的“</a:t>
            </a:r>
            <a:r>
              <a:rPr lang="en-US" altLang="zh-CN" sz="2000"/>
              <a:t>U”</a:t>
            </a:r>
            <a:r>
              <a:rPr lang="zh-CN" altLang="en-US" sz="2000"/>
              <a:t>形生产单元的情形。多个准时生产单元组成起来就形成了准时生产线。</a:t>
            </a:r>
          </a:p>
          <a:p>
            <a:endParaRPr lang="en-US" altLang="zh-CN" sz="2000"/>
          </a:p>
        </p:txBody>
      </p:sp>
      <p:pic>
        <p:nvPicPr>
          <p:cNvPr id="358444" name="Picture 44">
            <a:extLst>
              <a:ext uri="{FF2B5EF4-FFF2-40B4-BE49-F238E27FC236}">
                <a16:creationId xmlns:a16="http://schemas.microsoft.com/office/drawing/2014/main" id="{F9B4AFB2-E0EF-7A85-2AF7-0BE169E7C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8" t="23625" r="34726" b="42354"/>
          <a:stretch>
            <a:fillRect/>
          </a:stretch>
        </p:blipFill>
        <p:spPr bwMode="auto">
          <a:xfrm>
            <a:off x="1619250" y="3284538"/>
            <a:ext cx="5257800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strips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88B0ABA-9875-E4DE-134D-4C96F97F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60450" name="Rectangle 2">
            <a:extLst>
              <a:ext uri="{FF2B5EF4-FFF2-40B4-BE49-F238E27FC236}">
                <a16:creationId xmlns:a16="http://schemas.microsoft.com/office/drawing/2014/main" id="{BD0D6983-F892-A2BA-DCC0-D286C8BF9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（二）平准化计划</a:t>
            </a:r>
          </a:p>
        </p:txBody>
      </p:sp>
      <p:sp>
        <p:nvSpPr>
          <p:cNvPr id="360451" name="Rectangle 3">
            <a:extLst>
              <a:ext uri="{FF2B5EF4-FFF2-40B4-BE49-F238E27FC236}">
                <a16:creationId xmlns:a16="http://schemas.microsoft.com/office/drawing/2014/main" id="{B26FD928-7D89-05AC-0248-FEB3ED5FF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1252537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zh-CN" sz="2800"/>
              <a:t>            </a:t>
            </a:r>
            <a:r>
              <a:rPr lang="zh-CN" altLang="en-US" sz="2400"/>
              <a:t>平准化就是物料完全按照市场需求的节拍来组织生产。这种计划方法要求生产过程尽量减少每种产品的生产批量，直到需要一台生产一台，每种产品相间出产。</a:t>
            </a:r>
          </a:p>
        </p:txBody>
      </p:sp>
      <p:sp>
        <p:nvSpPr>
          <p:cNvPr id="360452" name="Rectangle 4">
            <a:extLst>
              <a:ext uri="{FF2B5EF4-FFF2-40B4-BE49-F238E27FC236}">
                <a16:creationId xmlns:a16="http://schemas.microsoft.com/office/drawing/2014/main" id="{1A101273-F34A-DA73-FA49-EE72FAA34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781300"/>
            <a:ext cx="705643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/>
            <a:r>
              <a:rPr lang="en-US" altLang="zh-CN"/>
              <a:t>AAAAAAAAAABBBBBBBBBBCCCCCCCCCC</a:t>
            </a:r>
          </a:p>
          <a:p>
            <a:pPr lvl="1"/>
            <a:r>
              <a:rPr lang="en-US" altLang="zh-CN"/>
              <a:t>AAAAABBBBBCCCCCAAAAABBBBBCCCCC</a:t>
            </a:r>
          </a:p>
          <a:p>
            <a:pPr lvl="1"/>
            <a:r>
              <a:rPr lang="en-US" altLang="zh-CN"/>
              <a:t>ABCABCABCABCABCABCABCABCABCABC</a:t>
            </a:r>
          </a:p>
        </p:txBody>
      </p:sp>
      <p:sp>
        <p:nvSpPr>
          <p:cNvPr id="360454" name="Text Box 6">
            <a:extLst>
              <a:ext uri="{FF2B5EF4-FFF2-40B4-BE49-F238E27FC236}">
                <a16:creationId xmlns:a16="http://schemas.microsoft.com/office/drawing/2014/main" id="{873FEAAA-AC42-52F8-7BB2-B5085B7D9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60800"/>
            <a:ext cx="889317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        </a:t>
            </a:r>
            <a:r>
              <a:rPr lang="zh-CN" altLang="en-US" sz="2400"/>
              <a:t>三种投产顺序中，第一种方法最缺乏柔性，第三种方法最有柔性。比如如果产品</a:t>
            </a:r>
            <a:r>
              <a:rPr lang="en-US" altLang="zh-CN" sz="2400"/>
              <a:t>A</a:t>
            </a:r>
            <a:r>
              <a:rPr lang="zh-CN" altLang="en-US" sz="2400"/>
              <a:t>的实际需求在某时期的中后期发生了变化时，第一种方法由于产品</a:t>
            </a:r>
            <a:r>
              <a:rPr lang="en-US" altLang="zh-CN" sz="2400"/>
              <a:t>A</a:t>
            </a:r>
            <a:r>
              <a:rPr lang="zh-CN" altLang="en-US" sz="2400"/>
              <a:t>已经出产，无法改变产量。第二种方法有部分改变能力，而第三种方法调整的余地就更大。因此我们说，平准化生产计划有利于提高生产计划的实时响应能力，能够使生产系统按照实际需求来组织生产。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6216EBB-46B1-99D7-F648-EE62CC68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549890" name="Rectangle 2">
            <a:extLst>
              <a:ext uri="{FF2B5EF4-FFF2-40B4-BE49-F238E27FC236}">
                <a16:creationId xmlns:a16="http://schemas.microsoft.com/office/drawing/2014/main" id="{FEF3AA45-D7E5-9258-769A-BCEE6AE59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43000"/>
          </a:xfrm>
        </p:spPr>
        <p:txBody>
          <a:bodyPr/>
          <a:lstStyle/>
          <a:p>
            <a:r>
              <a:rPr lang="zh-CN" altLang="en-US" b="1"/>
              <a:t>（三）看板控制系统</a:t>
            </a:r>
          </a:p>
        </p:txBody>
      </p:sp>
      <p:sp>
        <p:nvSpPr>
          <p:cNvPr id="549891" name="Rectangle 3">
            <a:extLst>
              <a:ext uri="{FF2B5EF4-FFF2-40B4-BE49-F238E27FC236}">
                <a16:creationId xmlns:a16="http://schemas.microsoft.com/office/drawing/2014/main" id="{086416F5-A73A-2F65-01E0-B6985ECAD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362950" cy="5689600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zh-CN" altLang="en-US" sz="2400" b="1"/>
              <a:t>看板的作用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zh-CN" altLang="en-US" sz="2400"/>
              <a:t>看板的种类与形式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zh-CN" altLang="en-US" sz="2400"/>
              <a:t>利用看板组织生产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zh-CN" altLang="en-US" sz="2400"/>
              <a:t>看板使用规则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zh-CN" altLang="en-US" sz="2400"/>
              <a:t>看板数量的计算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US" altLang="zh-CN" sz="2400"/>
          </a:p>
        </p:txBody>
      </p:sp>
    </p:spTree>
  </p:cSld>
  <p:clrMapOvr>
    <a:masterClrMapping/>
  </p:clrMapOvr>
  <p:transition spd="slow">
    <p:strips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FF98D83-14F1-7723-B00E-5C146041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62498" name="Rectangle 2">
            <a:extLst>
              <a:ext uri="{FF2B5EF4-FFF2-40B4-BE49-F238E27FC236}">
                <a16:creationId xmlns:a16="http://schemas.microsoft.com/office/drawing/2014/main" id="{648F6278-EB3D-0934-BE3B-C2E927044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549275"/>
            <a:ext cx="8229600" cy="1143000"/>
          </a:xfrm>
        </p:spPr>
        <p:txBody>
          <a:bodyPr/>
          <a:lstStyle/>
          <a:p>
            <a:r>
              <a:rPr lang="en-US" altLang="zh-CN" b="1"/>
              <a:t>1. </a:t>
            </a:r>
            <a:r>
              <a:rPr lang="zh-CN" altLang="en-US" b="1"/>
              <a:t>看板的作用</a:t>
            </a:r>
            <a:endParaRPr lang="zh-CN" altLang="en-US"/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9570D566-E5BA-2E12-81F0-BD0C9CBDA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989138"/>
            <a:ext cx="8362950" cy="201612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altLang="zh-CN" sz="1800"/>
          </a:p>
          <a:p>
            <a:pPr>
              <a:lnSpc>
                <a:spcPct val="80000"/>
              </a:lnSpc>
            </a:pPr>
            <a:r>
              <a:rPr lang="zh-CN" altLang="en-US" sz="2400"/>
              <a:t>看板的管理功能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看板还有改善功能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9D33E15-1276-B1EE-0065-EC2FF5B8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DFA2FFF5-8DBC-9CC3-9421-47ABE9CD8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r>
              <a:rPr lang="en-US" altLang="zh-CN" b="1">
                <a:solidFill>
                  <a:schemeClr val="tx1"/>
                </a:solidFill>
                <a:effectLst/>
              </a:rPr>
              <a:t>2. </a:t>
            </a:r>
            <a:r>
              <a:rPr lang="zh-CN" altLang="en-US" b="1">
                <a:solidFill>
                  <a:schemeClr val="tx1"/>
                </a:solidFill>
                <a:effectLst/>
              </a:rPr>
              <a:t>看板的种类与形式</a:t>
            </a:r>
          </a:p>
        </p:txBody>
      </p:sp>
      <p:sp>
        <p:nvSpPr>
          <p:cNvPr id="551939" name="Text Box 3">
            <a:extLst>
              <a:ext uri="{FF2B5EF4-FFF2-40B4-BE49-F238E27FC236}">
                <a16:creationId xmlns:a16="http://schemas.microsoft.com/office/drawing/2014/main" id="{F6FEFE69-78F6-519C-7064-ECD8D82E6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700213"/>
            <a:ext cx="77755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）生产看板</a:t>
            </a:r>
          </a:p>
          <a:p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）传送看板</a:t>
            </a:r>
          </a:p>
          <a:p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）其他看板</a:t>
            </a:r>
          </a:p>
          <a:p>
            <a:endParaRPr lang="en-US" altLang="zh-CN" sz="2800"/>
          </a:p>
        </p:txBody>
      </p:sp>
    </p:spTree>
  </p:cSld>
  <p:clrMapOvr>
    <a:masterClrMapping/>
  </p:clrMapOvr>
  <p:transition spd="slow">
    <p:strips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0C0D966-19A1-5686-3520-E717C767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pic>
        <p:nvPicPr>
          <p:cNvPr id="363525" name="Picture 5">
            <a:extLst>
              <a:ext uri="{FF2B5EF4-FFF2-40B4-BE49-F238E27FC236}">
                <a16:creationId xmlns:a16="http://schemas.microsoft.com/office/drawing/2014/main" id="{32B42691-5CF9-1E8E-484A-BCBC3B2DB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628775"/>
            <a:ext cx="6626225" cy="210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3527" name="Picture 7">
            <a:extLst>
              <a:ext uri="{FF2B5EF4-FFF2-40B4-BE49-F238E27FC236}">
                <a16:creationId xmlns:a16="http://schemas.microsoft.com/office/drawing/2014/main" id="{451FE915-AE6D-61C3-F8D2-CE6B9A690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789363"/>
            <a:ext cx="5113338" cy="218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3530" name="Rectangle 10">
            <a:extLst>
              <a:ext uri="{FF2B5EF4-FFF2-40B4-BE49-F238E27FC236}">
                <a16:creationId xmlns:a16="http://schemas.microsoft.com/office/drawing/2014/main" id="{F2318E9A-BF7D-C36A-CBAB-6C1EB1396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229600" cy="1143000"/>
          </a:xfrm>
          <a:noFill/>
          <a:ln/>
        </p:spPr>
        <p:txBody>
          <a:bodyPr/>
          <a:lstStyle/>
          <a:p>
            <a:r>
              <a:rPr lang="zh-CN" altLang="en-US" b="1">
                <a:effectLst/>
              </a:rPr>
              <a:t>（</a:t>
            </a:r>
            <a:r>
              <a:rPr lang="en-US" altLang="zh-CN" b="1">
                <a:effectLst/>
              </a:rPr>
              <a:t>1</a:t>
            </a:r>
            <a:r>
              <a:rPr lang="zh-CN" altLang="en-US" b="1">
                <a:effectLst/>
              </a:rPr>
              <a:t>）</a:t>
            </a:r>
            <a:r>
              <a:rPr lang="zh-CN" altLang="en-US">
                <a:effectLst/>
              </a:rPr>
              <a:t>生产看板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6126C07-A849-03A1-C568-19EFEF66E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64547" name="Rectangle 3">
            <a:extLst>
              <a:ext uri="{FF2B5EF4-FFF2-40B4-BE49-F238E27FC236}">
                <a16:creationId xmlns:a16="http://schemas.microsoft.com/office/drawing/2014/main" id="{6F79C42F-A83A-3BD2-A1C0-B9B272D4D5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229600" cy="1079500"/>
          </a:xfrm>
        </p:spPr>
        <p:txBody>
          <a:bodyPr/>
          <a:lstStyle/>
          <a:p>
            <a:pPr algn="ctr"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）传送看板</a:t>
            </a:r>
          </a:p>
        </p:txBody>
      </p:sp>
      <p:pic>
        <p:nvPicPr>
          <p:cNvPr id="364574" name="Picture 30">
            <a:extLst>
              <a:ext uri="{FF2B5EF4-FFF2-40B4-BE49-F238E27FC236}">
                <a16:creationId xmlns:a16="http://schemas.microsoft.com/office/drawing/2014/main" id="{C8EEE036-3C4D-122E-6E43-B3446F51A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060575"/>
            <a:ext cx="5472113" cy="208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4575" name="Text Box 31">
            <a:extLst>
              <a:ext uri="{FF2B5EF4-FFF2-40B4-BE49-F238E27FC236}">
                <a16:creationId xmlns:a16="http://schemas.microsoft.com/office/drawing/2014/main" id="{DCAD6CED-863A-5A38-4B7F-47917748E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4437063"/>
            <a:ext cx="41767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图</a:t>
            </a:r>
            <a:r>
              <a:rPr lang="en-US" altLang="zh-CN"/>
              <a:t>13-3 </a:t>
            </a:r>
            <a:r>
              <a:rPr lang="zh-CN" altLang="en-US"/>
              <a:t>传送看板的式样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7041F8-7B14-D2CC-7982-E9B9CB89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65570" name="Rectangle 2">
            <a:extLst>
              <a:ext uri="{FF2B5EF4-FFF2-40B4-BE49-F238E27FC236}">
                <a16:creationId xmlns:a16="http://schemas.microsoft.com/office/drawing/2014/main" id="{63815548-5B07-BCCE-4A98-B7DE47B64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 </a:t>
            </a:r>
            <a:r>
              <a:rPr lang="zh-CN" altLang="en-US" b="1"/>
              <a:t>如何利用看板组织生产</a:t>
            </a:r>
          </a:p>
        </p:txBody>
      </p:sp>
      <p:pic>
        <p:nvPicPr>
          <p:cNvPr id="365659" name="Picture 91">
            <a:extLst>
              <a:ext uri="{FF2B5EF4-FFF2-40B4-BE49-F238E27FC236}">
                <a16:creationId xmlns:a16="http://schemas.microsoft.com/office/drawing/2014/main" id="{8B88F053-0F29-C6A8-357E-20FC6EC34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916113"/>
            <a:ext cx="7272338" cy="237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5660" name="Text Box 92">
            <a:extLst>
              <a:ext uri="{FF2B5EF4-FFF2-40B4-BE49-F238E27FC236}">
                <a16:creationId xmlns:a16="http://schemas.microsoft.com/office/drawing/2014/main" id="{B5582E07-8D0E-C8F3-63F8-9BC39C93B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4652963"/>
            <a:ext cx="4968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图</a:t>
            </a:r>
            <a:r>
              <a:rPr lang="en-US" altLang="zh-CN"/>
              <a:t>13-4 </a:t>
            </a:r>
            <a:r>
              <a:rPr lang="zh-CN" altLang="en-US"/>
              <a:t>双看板生产组织过程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3EA74F0-6341-0CD7-C922-982EF4284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67618" name="Rectangle 2">
            <a:extLst>
              <a:ext uri="{FF2B5EF4-FFF2-40B4-BE49-F238E27FC236}">
                <a16:creationId xmlns:a16="http://schemas.microsoft.com/office/drawing/2014/main" id="{3CFDC5E7-1913-AE59-B8D5-53204CD4A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 b="1"/>
              <a:t>看板使用规则</a:t>
            </a:r>
            <a:r>
              <a:rPr lang="zh-CN" altLang="en-US"/>
              <a:t> </a:t>
            </a:r>
          </a:p>
        </p:txBody>
      </p:sp>
      <p:sp>
        <p:nvSpPr>
          <p:cNvPr id="367619" name="Rectangle 3">
            <a:extLst>
              <a:ext uri="{FF2B5EF4-FFF2-40B4-BE49-F238E27FC236}">
                <a16:creationId xmlns:a16="http://schemas.microsoft.com/office/drawing/2014/main" id="{0864B326-B08F-797F-6644-4F457FC860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89138"/>
            <a:ext cx="8229600" cy="2879725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Tx/>
              <a:buNone/>
            </a:pPr>
            <a:endParaRPr lang="en-US" altLang="zh-CN" sz="2400"/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400"/>
              <a:t>1</a:t>
            </a:r>
            <a:r>
              <a:rPr lang="zh-CN" altLang="en-US" sz="2400"/>
              <a:t>）无论是生产看板还是传送看板都必须附在容器上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400"/>
              <a:t>2</a:t>
            </a:r>
            <a:r>
              <a:rPr lang="zh-CN" altLang="en-US" sz="2400"/>
              <a:t>）不合格产品不交给下道工序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400"/>
              <a:t>3</a:t>
            </a:r>
            <a:r>
              <a:rPr lang="zh-CN" altLang="en-US" sz="2400"/>
              <a:t>）不允许使用非标准的容器或不按照标准数量放置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400"/>
              <a:t>4</a:t>
            </a:r>
            <a:r>
              <a:rPr lang="zh-CN" altLang="en-US" sz="2400"/>
              <a:t>）凭看板生产与转运，不见看板不运送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400"/>
              <a:t>5</a:t>
            </a:r>
            <a:r>
              <a:rPr lang="zh-CN" altLang="en-US" sz="2400"/>
              <a:t>）按照看板出现的次序与数量生产，做到适时适量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zh-CN" altLang="en-US" sz="2400"/>
              <a:t>   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43280C8-A801-9034-9832-E59825D7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68642" name="Rectangle 2">
            <a:extLst>
              <a:ext uri="{FF2B5EF4-FFF2-40B4-BE49-F238E27FC236}">
                <a16:creationId xmlns:a16="http://schemas.microsoft.com/office/drawing/2014/main" id="{87D19B49-E6C0-CB54-AF4A-36263AFD4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 </a:t>
            </a:r>
            <a:r>
              <a:rPr lang="zh-CN" altLang="en-US" b="1"/>
              <a:t>看板数量的计算</a:t>
            </a:r>
            <a:r>
              <a:rPr lang="zh-CN" altLang="en-US"/>
              <a:t> </a:t>
            </a:r>
          </a:p>
        </p:txBody>
      </p:sp>
      <p:sp>
        <p:nvSpPr>
          <p:cNvPr id="368643" name="Rectangle 3">
            <a:extLst>
              <a:ext uri="{FF2B5EF4-FFF2-40B4-BE49-F238E27FC236}">
                <a16:creationId xmlns:a16="http://schemas.microsoft.com/office/drawing/2014/main" id="{669FFD18-183F-65CF-EB35-1C703AA10C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11613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altLang="zh-CN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）生产看板的数量计算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）传送看板的数量计算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）外协看板的数量计算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320DDE0-A64E-627B-4EFD-39F53E05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13915483-FFC8-A22C-C356-9E84E07189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60350"/>
            <a:ext cx="8229600" cy="259238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）生产看板的数量计算 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                                                    （</a:t>
            </a:r>
            <a:r>
              <a:rPr lang="en-US" altLang="zh-CN" sz="2400"/>
              <a:t>13-1</a:t>
            </a:r>
            <a:r>
              <a:rPr lang="zh-CN" altLang="en-US" sz="2400"/>
              <a:t>）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zh-CN" sz="2400"/>
              <a:t>式中：</a:t>
            </a:r>
            <a:r>
              <a:rPr lang="en-US" altLang="zh-CN" sz="2400"/>
              <a:t>D</a:t>
            </a:r>
            <a:r>
              <a:rPr lang="zh-CN" altLang="en-US" sz="2400"/>
              <a:t>为对某物料的日需求量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              为看板的生产看板循环周期，或者叫生产看板周转周期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           </a:t>
            </a:r>
            <a:r>
              <a:rPr lang="en-US" altLang="zh-CN" sz="2400"/>
              <a:t>b</a:t>
            </a:r>
            <a:r>
              <a:rPr lang="zh-CN" altLang="en-US" sz="2400"/>
              <a:t>为容器的容量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              为保险系数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 传送看板的数量计算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传送看板的数量计算与生产看板类似：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                                                     （</a:t>
            </a:r>
            <a:r>
              <a:rPr lang="en-US" altLang="zh-CN" sz="2400"/>
              <a:t>13-2</a:t>
            </a:r>
            <a:r>
              <a:rPr lang="zh-CN" altLang="en-US" sz="2400"/>
              <a:t>）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式中：   为传送看板的循环周期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/>
          </a:p>
        </p:txBody>
      </p:sp>
      <p:sp>
        <p:nvSpPr>
          <p:cNvPr id="369669" name="Rectangle 5">
            <a:extLst>
              <a:ext uri="{FF2B5EF4-FFF2-40B4-BE49-F238E27FC236}">
                <a16:creationId xmlns:a16="http://schemas.microsoft.com/office/drawing/2014/main" id="{D5E0CDE4-AA08-2184-B79B-81E286EDE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9668" name="Object 4">
            <a:extLst>
              <a:ext uri="{FF2B5EF4-FFF2-40B4-BE49-F238E27FC236}">
                <a16:creationId xmlns:a16="http://schemas.microsoft.com/office/drawing/2014/main" id="{4CE2CB7A-EF00-5D4D-2D3C-00EB78A9DA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908050"/>
          <a:ext cx="23050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4781" imgH="355446" progId="Equation.3">
                  <p:embed/>
                </p:oleObj>
              </mc:Choice>
              <mc:Fallback>
                <p:oleObj name="Equation" r:id="rId2" imgW="964781" imgH="3554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908050"/>
                        <a:ext cx="2305050" cy="8445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71" name="Rectangle 7">
            <a:extLst>
              <a:ext uri="{FF2B5EF4-FFF2-40B4-BE49-F238E27FC236}">
                <a16:creationId xmlns:a16="http://schemas.microsoft.com/office/drawing/2014/main" id="{0053A468-FB2E-959A-EB92-1A6CB58DF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9670" name="Object 6">
            <a:extLst>
              <a:ext uri="{FF2B5EF4-FFF2-40B4-BE49-F238E27FC236}">
                <a16:creationId xmlns:a16="http://schemas.microsoft.com/office/drawing/2014/main" id="{4E951C88-5B60-CDCC-1D73-E554F5B6E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205038"/>
          <a:ext cx="3984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646" imgH="228402" progId="Equation.3">
                  <p:embed/>
                </p:oleObj>
              </mc:Choice>
              <mc:Fallback>
                <p:oleObj name="Equation" r:id="rId4" imgW="177646" imgH="22840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5038"/>
                        <a:ext cx="398462" cy="5032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73" name="Rectangle 9">
            <a:extLst>
              <a:ext uri="{FF2B5EF4-FFF2-40B4-BE49-F238E27FC236}">
                <a16:creationId xmlns:a16="http://schemas.microsoft.com/office/drawing/2014/main" id="{F2A0251D-14DD-80DE-9938-0C1005CF8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9672" name="Object 8">
            <a:extLst>
              <a:ext uri="{FF2B5EF4-FFF2-40B4-BE49-F238E27FC236}">
                <a16:creationId xmlns:a16="http://schemas.microsoft.com/office/drawing/2014/main" id="{26756451-51FE-AC88-7EB2-571C64963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500438"/>
          <a:ext cx="3603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5" imgH="126725" progId="Equation.3">
                  <p:embed/>
                </p:oleObj>
              </mc:Choice>
              <mc:Fallback>
                <p:oleObj name="Equation" r:id="rId6" imgW="126725" imgH="12672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00438"/>
                        <a:ext cx="360362" cy="36036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75" name="Rectangle 11">
            <a:extLst>
              <a:ext uri="{FF2B5EF4-FFF2-40B4-BE49-F238E27FC236}">
                <a16:creationId xmlns:a16="http://schemas.microsoft.com/office/drawing/2014/main" id="{B2C1C930-5B4D-8AD7-11D9-B36AA350E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9674" name="Object 10">
            <a:extLst>
              <a:ext uri="{FF2B5EF4-FFF2-40B4-BE49-F238E27FC236}">
                <a16:creationId xmlns:a16="http://schemas.microsoft.com/office/drawing/2014/main" id="{BFACB0D3-B231-1055-74BC-1E1EAD678D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868863"/>
          <a:ext cx="1727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309" imgH="355446" progId="Equation.3">
                  <p:embed/>
                </p:oleObj>
              </mc:Choice>
              <mc:Fallback>
                <p:oleObj name="Equation" r:id="rId8" imgW="901309" imgH="3554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868863"/>
                        <a:ext cx="1727200" cy="6731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77" name="Rectangle 13">
            <a:extLst>
              <a:ext uri="{FF2B5EF4-FFF2-40B4-BE49-F238E27FC236}">
                <a16:creationId xmlns:a16="http://schemas.microsoft.com/office/drawing/2014/main" id="{9197BB5A-C69F-B311-1B34-E86BF66C3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9676" name="Object 12">
            <a:extLst>
              <a:ext uri="{FF2B5EF4-FFF2-40B4-BE49-F238E27FC236}">
                <a16:creationId xmlns:a16="http://schemas.microsoft.com/office/drawing/2014/main" id="{F8564F1C-2E3B-B3AD-C195-FA841A653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5445125"/>
          <a:ext cx="3794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39" imgH="190417" progId="Equation.3">
                  <p:embed/>
                </p:oleObj>
              </mc:Choice>
              <mc:Fallback>
                <p:oleObj name="Equation" r:id="rId10" imgW="139639" imgH="19041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445125"/>
                        <a:ext cx="379412" cy="5048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3A4044B-0CCE-5F88-FAF6-520D610F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70690" name="Rectangle 2">
            <a:extLst>
              <a:ext uri="{FF2B5EF4-FFF2-40B4-BE49-F238E27FC236}">
                <a16:creationId xmlns:a16="http://schemas.microsoft.com/office/drawing/2014/main" id="{3DA9354C-49ED-DE4B-942E-DF4719177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600" b="1"/>
              <a:t>应用范例</a:t>
            </a:r>
            <a:r>
              <a:rPr lang="en-US" altLang="zh-CN" sz="3600" b="1"/>
              <a:t>13-1</a:t>
            </a:r>
            <a:r>
              <a:rPr lang="en-US" altLang="zh-CN" sz="3600"/>
              <a:t> </a:t>
            </a:r>
          </a:p>
        </p:txBody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D65DF2DC-E9C8-B43E-B5A0-BC5FAB238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       </a:t>
            </a:r>
            <a:r>
              <a:rPr lang="zh-CN" altLang="en-US" sz="2800"/>
              <a:t>某公司的零件生产日需求量为</a:t>
            </a:r>
            <a:r>
              <a:rPr lang="en-US" altLang="zh-CN" sz="2800"/>
              <a:t>1500</a:t>
            </a:r>
            <a:r>
              <a:rPr lang="zh-CN" altLang="en-US" sz="2800"/>
              <a:t>件</a:t>
            </a:r>
            <a:r>
              <a:rPr lang="en-US" altLang="zh-CN" sz="2800"/>
              <a:t>/</a:t>
            </a:r>
            <a:r>
              <a:rPr lang="zh-CN" altLang="en-US" sz="2800"/>
              <a:t>天，标准容器的数量是每箱</a:t>
            </a:r>
            <a:r>
              <a:rPr lang="en-US" altLang="zh-CN" sz="2800"/>
              <a:t>10</a:t>
            </a:r>
            <a:r>
              <a:rPr lang="zh-CN" altLang="en-US" sz="2800"/>
              <a:t>件</a:t>
            </a:r>
            <a:r>
              <a:rPr lang="en-US" altLang="zh-CN" sz="2800"/>
              <a:t>/</a:t>
            </a:r>
            <a:r>
              <a:rPr lang="zh-CN" altLang="en-US" sz="2800"/>
              <a:t>箱，每天的生产时间为</a:t>
            </a:r>
            <a:r>
              <a:rPr lang="en-US" altLang="zh-CN" sz="2800"/>
              <a:t>8</a:t>
            </a:r>
            <a:r>
              <a:rPr lang="zh-CN" altLang="en-US" sz="2800"/>
              <a:t>小时，生产看板的循环周期为</a:t>
            </a:r>
            <a:r>
              <a:rPr lang="en-US" altLang="zh-CN" sz="2800"/>
              <a:t>0.5</a:t>
            </a:r>
            <a:r>
              <a:rPr lang="zh-CN" altLang="en-US" sz="2800"/>
              <a:t>小时，传送看板周期</a:t>
            </a:r>
            <a:r>
              <a:rPr lang="en-US" altLang="zh-CN" sz="2800"/>
              <a:t>1</a:t>
            </a:r>
            <a:r>
              <a:rPr lang="zh-CN" altLang="en-US" sz="2800"/>
              <a:t>小时。求生产看板与传送看板。</a:t>
            </a:r>
          </a:p>
          <a:p>
            <a:pPr>
              <a:buFontTx/>
              <a:buNone/>
            </a:pPr>
            <a:r>
              <a:rPr lang="zh-CN" altLang="en-US" sz="2800"/>
              <a:t>       生产看板：                    </a:t>
            </a:r>
            <a:r>
              <a:rPr lang="en-US" altLang="zh-CN" sz="2800"/>
              <a:t>=90/8≈12</a:t>
            </a:r>
            <a:r>
              <a:rPr lang="zh-CN" altLang="en-US" sz="2800"/>
              <a:t>（个）</a:t>
            </a:r>
          </a:p>
          <a:p>
            <a:pPr>
              <a:buFontTx/>
              <a:buNone/>
            </a:pPr>
            <a:r>
              <a:rPr lang="zh-CN" altLang="en-US" sz="2800"/>
              <a:t>   传送看板：                      ≈</a:t>
            </a:r>
            <a:r>
              <a:rPr lang="en-US" altLang="zh-CN" sz="2800"/>
              <a:t>24</a:t>
            </a:r>
            <a:r>
              <a:rPr lang="zh-CN" altLang="en-US" sz="2800"/>
              <a:t>（个）</a:t>
            </a:r>
          </a:p>
        </p:txBody>
      </p:sp>
      <p:sp>
        <p:nvSpPr>
          <p:cNvPr id="370693" name="Rectangle 5">
            <a:extLst>
              <a:ext uri="{FF2B5EF4-FFF2-40B4-BE49-F238E27FC236}">
                <a16:creationId xmlns:a16="http://schemas.microsoft.com/office/drawing/2014/main" id="{53483049-8303-40D3-1A76-98F6B6396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0692" name="Object 4">
            <a:extLst>
              <a:ext uri="{FF2B5EF4-FFF2-40B4-BE49-F238E27FC236}">
                <a16:creationId xmlns:a16="http://schemas.microsoft.com/office/drawing/2014/main" id="{F2AC19FC-DD30-2AFC-A8EA-084C62EEB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500438"/>
          <a:ext cx="216058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355600" progId="Equation.3">
                  <p:embed/>
                </p:oleObj>
              </mc:Choice>
              <mc:Fallback>
                <p:oleObj name="Equation" r:id="rId2" imgW="1282700" imgH="35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500438"/>
                        <a:ext cx="2160587" cy="5921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695" name="Rectangle 7">
            <a:extLst>
              <a:ext uri="{FF2B5EF4-FFF2-40B4-BE49-F238E27FC236}">
                <a16:creationId xmlns:a16="http://schemas.microsoft.com/office/drawing/2014/main" id="{CC0AFCED-641C-8A19-A59F-95D17846E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0694" name="Object 6">
            <a:extLst>
              <a:ext uri="{FF2B5EF4-FFF2-40B4-BE49-F238E27FC236}">
                <a16:creationId xmlns:a16="http://schemas.microsoft.com/office/drawing/2014/main" id="{11511607-C164-BC37-021F-1C3EFDF5FD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4076700"/>
          <a:ext cx="22320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500" imgH="393700" progId="Equation.3">
                  <p:embed/>
                </p:oleObj>
              </mc:Choice>
              <mc:Fallback>
                <p:oleObj name="Equation" r:id="rId4" imgW="13335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076700"/>
                        <a:ext cx="2232025" cy="6540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4E2DCFF-9BA5-04F0-C0FE-5CFADFA7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71714" name="Rectangle 2">
            <a:extLst>
              <a:ext uri="{FF2B5EF4-FFF2-40B4-BE49-F238E27FC236}">
                <a16:creationId xmlns:a16="http://schemas.microsoft.com/office/drawing/2014/main" id="{2E15AE9F-9C46-83B0-CE0F-38D1DDFA5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）外协看板的数量计算</a:t>
            </a:r>
          </a:p>
        </p:txBody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C8021A03-DFDF-6463-4EB6-D7AEA9CE8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24479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/>
              <a:t>外协看板的计算，和生产工序之间的传送看板的计算公式（</a:t>
            </a:r>
            <a:r>
              <a:rPr lang="en-US" altLang="zh-CN" sz="2400"/>
              <a:t>13-2</a:t>
            </a:r>
            <a:r>
              <a:rPr lang="zh-CN" altLang="en-US" sz="2400"/>
              <a:t>）一样</a:t>
            </a:r>
            <a:r>
              <a:rPr lang="en-US" altLang="zh-CN" sz="2400"/>
              <a:t>.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    </a:t>
            </a:r>
            <a:r>
              <a:rPr lang="zh-CN" altLang="en-US" sz="2400"/>
              <a:t>丰田公司采用另一种外协看板的计算方法</a:t>
            </a:r>
            <a:r>
              <a:rPr lang="en-US" altLang="zh-CN" sz="2400"/>
              <a:t>.</a:t>
            </a:r>
          </a:p>
          <a:p>
            <a:pPr>
              <a:lnSpc>
                <a:spcPct val="80000"/>
              </a:lnSpc>
            </a:pPr>
            <a:endParaRPr lang="en-US" altLang="zh-CN" sz="2400"/>
          </a:p>
          <a:p>
            <a:pPr>
              <a:lnSpc>
                <a:spcPct val="80000"/>
              </a:lnSpc>
            </a:pPr>
            <a:endParaRPr lang="en-US" altLang="zh-CN" sz="2000"/>
          </a:p>
          <a:p>
            <a:pPr>
              <a:lnSpc>
                <a:spcPct val="80000"/>
              </a:lnSpc>
            </a:pPr>
            <a:r>
              <a:rPr lang="zh-CN" altLang="en-US" sz="2000"/>
              <a:t>外协看板数</a:t>
            </a:r>
            <a:r>
              <a:rPr lang="en-US" altLang="zh-CN" sz="2000"/>
              <a:t>=                            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/>
              <a:t>                  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/>
              <a:t>                                                                               </a:t>
            </a:r>
          </a:p>
          <a:p>
            <a:pPr>
              <a:lnSpc>
                <a:spcPct val="80000"/>
              </a:lnSpc>
            </a:pPr>
            <a:endParaRPr lang="en-US" altLang="zh-CN" sz="2000"/>
          </a:p>
          <a:p>
            <a:pPr>
              <a:lnSpc>
                <a:spcPct val="80000"/>
              </a:lnSpc>
            </a:pPr>
            <a:endParaRPr lang="en-US" altLang="zh-CN" sz="2000"/>
          </a:p>
        </p:txBody>
      </p:sp>
      <p:sp>
        <p:nvSpPr>
          <p:cNvPr id="371717" name="Rectangle 5">
            <a:extLst>
              <a:ext uri="{FF2B5EF4-FFF2-40B4-BE49-F238E27FC236}">
                <a16:creationId xmlns:a16="http://schemas.microsoft.com/office/drawing/2014/main" id="{C0A2A08A-69BC-40F4-CA8E-B5D185AB1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1716" name="Object 4">
            <a:extLst>
              <a:ext uri="{FF2B5EF4-FFF2-40B4-BE49-F238E27FC236}">
                <a16:creationId xmlns:a16="http://schemas.microsoft.com/office/drawing/2014/main" id="{39738C0F-3B26-6197-F058-0130C99724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005263"/>
          <a:ext cx="65532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24300" imgH="355600" progId="Equation.3">
                  <p:embed/>
                </p:oleObj>
              </mc:Choice>
              <mc:Fallback>
                <p:oleObj name="Equation" r:id="rId2" imgW="3924300" imgH="35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05263"/>
                        <a:ext cx="6553200" cy="58896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>
            <a:extLst>
              <a:ext uri="{FF2B5EF4-FFF2-40B4-BE49-F238E27FC236}">
                <a16:creationId xmlns:a16="http://schemas.microsoft.com/office/drawing/2014/main" id="{D27D5907-9A79-6EFC-AE5F-2F696238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73762" name="Rectangle 2">
            <a:extLst>
              <a:ext uri="{FF2B5EF4-FFF2-40B4-BE49-F238E27FC236}">
                <a16:creationId xmlns:a16="http://schemas.microsoft.com/office/drawing/2014/main" id="{C478FD28-C346-9E79-2DA2-71131F03F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（四）战略供应商关系</a:t>
            </a:r>
          </a:p>
        </p:txBody>
      </p:sp>
      <p:sp>
        <p:nvSpPr>
          <p:cNvPr id="373763" name="Rectangle 3">
            <a:extLst>
              <a:ext uri="{FF2B5EF4-FFF2-40B4-BE49-F238E27FC236}">
                <a16:creationId xmlns:a16="http://schemas.microsoft.com/office/drawing/2014/main" id="{D979C601-9906-7FC4-E67C-A64FE101CFA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931150" cy="11811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1800"/>
              <a:t>          </a:t>
            </a:r>
            <a:r>
              <a:rPr lang="zh-CN" altLang="en-US" sz="2400"/>
              <a:t>丰田公司在进行采购物资时，要求其供应商也按照看板控制的方式进行物资供应，做到需要的时候即供应，即准时准量。</a:t>
            </a:r>
          </a:p>
        </p:txBody>
      </p:sp>
      <p:sp>
        <p:nvSpPr>
          <p:cNvPr id="373798" name="Rectangle 38">
            <a:extLst>
              <a:ext uri="{FF2B5EF4-FFF2-40B4-BE49-F238E27FC236}">
                <a16:creationId xmlns:a16="http://schemas.microsoft.com/office/drawing/2014/main" id="{4DC553E1-938B-8D6C-00E7-5BFDDDC38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141663"/>
            <a:ext cx="7726363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丰田公司进行准时化采购的一些做法。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  </a:t>
            </a:r>
            <a:r>
              <a:rPr lang="en-US" altLang="zh-CN" sz="2000"/>
              <a:t>(1)   </a:t>
            </a:r>
            <a:r>
              <a:rPr lang="zh-CN" altLang="en-US" sz="2000"/>
              <a:t>与供应商建立密切的合作关系</a:t>
            </a:r>
            <a:r>
              <a:rPr lang="en-US" altLang="zh-CN" sz="2000"/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）供应商离企业比较近，有利于实施小批量、频繁供货。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3</a:t>
            </a:r>
            <a:r>
              <a:rPr lang="zh-CN" altLang="en-US" sz="2000"/>
              <a:t>）给以供应商一定的支持与帮助，以使其有能力和积极性改善其生产与供应系统，满足准时化供应的要求。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4</a:t>
            </a:r>
            <a:r>
              <a:rPr lang="zh-CN" altLang="en-US" sz="2000"/>
              <a:t>）不单方面强制供应商实施准时化供应方式。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09CA34B-CD4F-8699-E37D-778936DB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76834" name="Rectangle 2">
            <a:extLst>
              <a:ext uri="{FF2B5EF4-FFF2-40B4-BE49-F238E27FC236}">
                <a16:creationId xmlns:a16="http://schemas.microsoft.com/office/drawing/2014/main" id="{DBD70302-A7C9-66B6-BA13-F8C6633CD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43000"/>
          </a:xfrm>
        </p:spPr>
        <p:txBody>
          <a:bodyPr/>
          <a:lstStyle/>
          <a:p>
            <a:r>
              <a:rPr lang="zh-CN" altLang="en-US" sz="3200" b="1"/>
              <a:t>（五）多能工与少人化</a:t>
            </a:r>
          </a:p>
        </p:txBody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32E78471-1155-FEFE-4E08-7C0A89E89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229600" cy="4495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400"/>
              <a:t>            </a:t>
            </a:r>
            <a:r>
              <a:rPr lang="zh-CN" altLang="en-US" sz="2400"/>
              <a:t>要减少生产过程中的浪费，除了从生产计划与控制等管理措施去挖掘潜力外，减少生产过程中的人力资源浪费也是一项重要的措施，丰田公司在减少人力资源的浪费方面有独特的做法</a:t>
            </a:r>
            <a:r>
              <a:rPr lang="en-US" altLang="zh-CN" sz="2400"/>
              <a:t>---</a:t>
            </a:r>
            <a:r>
              <a:rPr lang="zh-CN" altLang="en-US" sz="2400"/>
              <a:t>少人化。</a:t>
            </a:r>
          </a:p>
          <a:p>
            <a:pPr>
              <a:lnSpc>
                <a:spcPct val="80000"/>
              </a:lnSpc>
            </a:pPr>
            <a:endParaRPr lang="zh-CN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         准时化生产方式实现少人化的途径有如下几个方面：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）通过改变设备的配置方式实现少人化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）通过员工多能化训练实现少人化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）通过作业标准改善与作业优化组合实现少人化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4</a:t>
            </a:r>
            <a:r>
              <a:rPr lang="zh-CN" altLang="en-US" sz="2400"/>
              <a:t>）通过自动化实现少人化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F76908F-4F62-96DA-BD1D-569288F9B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80930" name="Rectangle 2">
            <a:extLst>
              <a:ext uri="{FF2B5EF4-FFF2-40B4-BE49-F238E27FC236}">
                <a16:creationId xmlns:a16="http://schemas.microsoft.com/office/drawing/2014/main" id="{BF8FFE78-59D5-F3C2-E42C-D176FF83E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/>
              <a:t>（六）减少调整准备时间</a:t>
            </a:r>
          </a:p>
        </p:txBody>
      </p:sp>
      <p:sp>
        <p:nvSpPr>
          <p:cNvPr id="380931" name="Rectangle 3">
            <a:extLst>
              <a:ext uri="{FF2B5EF4-FFF2-40B4-BE49-F238E27FC236}">
                <a16:creationId xmlns:a16="http://schemas.microsoft.com/office/drawing/2014/main" id="{2D016A0D-B2CD-166B-41D3-D3207BCF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229600" cy="5545137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000"/>
              <a:t> </a:t>
            </a:r>
            <a:r>
              <a:rPr lang="zh-CN" altLang="en-US" sz="2000"/>
              <a:t>在丰田公司，为了缩短设备的调整时间，采用如下措施：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）做好不停机进行的外调整（外换模）准备工作；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）把需要停机完成的内调整（内换模）工作转移到不停机进行的外调整（外换模）工作；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3</a:t>
            </a:r>
            <a:r>
              <a:rPr lang="zh-CN" altLang="en-US" sz="2000"/>
              <a:t>）缩短停机调整时间（即缩短内换模时间）；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4</a:t>
            </a:r>
            <a:r>
              <a:rPr lang="zh-CN" altLang="en-US" sz="2000"/>
              <a:t>）训练员工，提高换模的技术水平；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5</a:t>
            </a:r>
            <a:r>
              <a:rPr lang="zh-CN" altLang="en-US" sz="2000"/>
              <a:t>）对设备与工艺装备进行改造；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6</a:t>
            </a:r>
            <a:r>
              <a:rPr lang="zh-CN" altLang="en-US" sz="2000"/>
              <a:t>）标准化工艺要素；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7</a:t>
            </a:r>
            <a:r>
              <a:rPr lang="zh-CN" altLang="en-US" sz="2000"/>
              <a:t>）采用辅助装卸工具；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8</a:t>
            </a:r>
            <a:r>
              <a:rPr lang="zh-CN" altLang="en-US" sz="2000"/>
              <a:t>）在换模工作中推行平行作业与标准作业；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（</a:t>
            </a:r>
            <a:r>
              <a:rPr lang="en-US" altLang="zh-CN" sz="2000"/>
              <a:t>9</a:t>
            </a:r>
            <a:r>
              <a:rPr lang="zh-CN" altLang="en-US" sz="2000"/>
              <a:t>）采用简单与有效的紧固件；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0026FE9-69F5-60E1-EEBE-1160406D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81954" name="Rectangle 2">
            <a:extLst>
              <a:ext uri="{FF2B5EF4-FFF2-40B4-BE49-F238E27FC236}">
                <a16:creationId xmlns:a16="http://schemas.microsoft.com/office/drawing/2014/main" id="{D6977767-BA98-988E-919F-B4336212B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（七）全面质量管理</a:t>
            </a: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9F8580EC-2FA3-BF4E-D011-536DF4D1B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205038"/>
            <a:ext cx="8229600" cy="29114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000"/>
              <a:t>               </a:t>
            </a:r>
            <a:r>
              <a:rPr lang="zh-CN" altLang="en-US" sz="2400"/>
              <a:t>准时化生产所倡导的质量理念是“零缺陷”，为了实现零缺陷的质量管理，必须进行全面质量管理。</a:t>
            </a:r>
          </a:p>
          <a:p>
            <a:pPr>
              <a:lnSpc>
                <a:spcPct val="80000"/>
              </a:lnSpc>
              <a:buFontTx/>
              <a:buNone/>
            </a:pPr>
            <a:endParaRPr lang="zh-CN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            （</a:t>
            </a:r>
            <a:r>
              <a:rPr lang="en-US" altLang="zh-CN" sz="2400"/>
              <a:t>1</a:t>
            </a:r>
            <a:r>
              <a:rPr lang="zh-CN" altLang="en-US" sz="2400"/>
              <a:t>）从源头上控制质量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           （</a:t>
            </a:r>
            <a:r>
              <a:rPr lang="en-US" altLang="zh-CN" sz="2400"/>
              <a:t>2</a:t>
            </a:r>
            <a:r>
              <a:rPr lang="zh-CN" altLang="en-US" sz="2400"/>
              <a:t>）重视现场质量管理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13AB626-AFE2-F428-13A8-6E4A2FBE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12F2FBAC-B02B-4C95-A63B-4F85FFA02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三、精细化生产</a:t>
            </a:r>
          </a:p>
        </p:txBody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id="{689C9F9D-42BD-E252-C5AF-E37AD5486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altLang="zh-CN" sz="1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400"/>
              <a:t>           </a:t>
            </a:r>
            <a:r>
              <a:rPr lang="en-US" altLang="zh-CN" sz="1800"/>
              <a:t>1985</a:t>
            </a:r>
            <a:r>
              <a:rPr lang="zh-CN" altLang="en-US" sz="1800"/>
              <a:t>年，麻省理工学院的一些教授，开始了一项国际汽车计划（</a:t>
            </a:r>
            <a:r>
              <a:rPr lang="en-US" altLang="zh-CN" sz="1800"/>
              <a:t>IMVP</a:t>
            </a:r>
            <a:r>
              <a:rPr lang="zh-CN" altLang="en-US" sz="1800"/>
              <a:t>）的研究，对日本丰田汽车公司的生产模式进行了研究。</a:t>
            </a:r>
          </a:p>
          <a:p>
            <a:pPr>
              <a:lnSpc>
                <a:spcPct val="80000"/>
              </a:lnSpc>
              <a:buFontTx/>
              <a:buNone/>
            </a:pPr>
            <a:endParaRPr lang="zh-CN" alt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1800"/>
              <a:t>           </a:t>
            </a:r>
            <a:r>
              <a:rPr lang="en-US" altLang="zh-CN" sz="1800"/>
              <a:t>1990</a:t>
            </a:r>
            <a:r>
              <a:rPr lang="zh-CN" altLang="en-US" sz="1800"/>
              <a:t>年，三位这项计划的领导人，詹姆斯</a:t>
            </a:r>
            <a:r>
              <a:rPr lang="en-US" altLang="zh-CN" sz="1800"/>
              <a:t>•P•</a:t>
            </a:r>
            <a:r>
              <a:rPr lang="zh-CN" altLang="en-US" sz="1800"/>
              <a:t>沃麦克、丹尼</a:t>
            </a:r>
            <a:r>
              <a:rPr lang="en-US" altLang="zh-CN" sz="1800"/>
              <a:t>•T•</a:t>
            </a:r>
            <a:r>
              <a:rPr lang="zh-CN" altLang="en-US" sz="1800"/>
              <a:t>琼斯和丹尼</a:t>
            </a:r>
            <a:r>
              <a:rPr lang="en-US" altLang="zh-CN" sz="1800"/>
              <a:t>•</a:t>
            </a:r>
            <a:r>
              <a:rPr lang="zh-CN" altLang="en-US" sz="1800"/>
              <a:t>罗斯出版了</a:t>
            </a:r>
            <a:r>
              <a:rPr lang="en-US" altLang="zh-CN" sz="1800"/>
              <a:t>《</a:t>
            </a:r>
            <a:r>
              <a:rPr lang="zh-CN" altLang="en-US" sz="1800"/>
              <a:t>改造世界的机器</a:t>
            </a:r>
            <a:r>
              <a:rPr lang="en-US" altLang="zh-CN" sz="1800"/>
              <a:t>》</a:t>
            </a:r>
            <a:r>
              <a:rPr lang="zh-CN" altLang="en-US" sz="1800"/>
              <a:t>（</a:t>
            </a:r>
            <a:r>
              <a:rPr lang="en-US" altLang="zh-CN" sz="1800"/>
              <a:t>The Machine That Changed the World: The Triumph of Learn Production</a:t>
            </a:r>
            <a:r>
              <a:rPr lang="zh-CN" altLang="en-US" sz="1800"/>
              <a:t>）</a:t>
            </a:r>
            <a:r>
              <a:rPr lang="en-US" altLang="zh-CN" sz="1800"/>
              <a:t>,</a:t>
            </a:r>
            <a:r>
              <a:rPr lang="zh-CN" altLang="en-US" sz="1800"/>
              <a:t>对丰田公司的准时化生产方式给予了很高的评价，认为丰田公司是世界上效率最高，质量最好的汽车制造厂之一。他们把丰田公司的这种准时生产方式进一步概括为精细生产方式</a:t>
            </a:r>
            <a:r>
              <a:rPr lang="en-US" altLang="zh-CN" sz="1800"/>
              <a:t>(Learn Production)</a:t>
            </a:r>
            <a:r>
              <a:rPr lang="zh-CN" altLang="en-US" sz="1800"/>
              <a:t>。“精细生产”充分反映了丰田生产的两个基本理念：零缺陷与零库存。</a:t>
            </a:r>
          </a:p>
          <a:p>
            <a:pPr>
              <a:lnSpc>
                <a:spcPct val="80000"/>
              </a:lnSpc>
              <a:buFontTx/>
              <a:buNone/>
            </a:pPr>
            <a:endParaRPr lang="zh-CN" alt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1800"/>
              <a:t>           </a:t>
            </a:r>
            <a:r>
              <a:rPr lang="en-US" altLang="zh-CN" sz="1800"/>
              <a:t>1996</a:t>
            </a:r>
            <a:r>
              <a:rPr lang="zh-CN" altLang="en-US" sz="1800"/>
              <a:t>年，他们又出版了另一著作，</a:t>
            </a:r>
            <a:r>
              <a:rPr lang="en-US" altLang="zh-CN" sz="1800"/>
              <a:t>《</a:t>
            </a:r>
            <a:r>
              <a:rPr lang="zh-CN" altLang="en-US" sz="1800"/>
              <a:t>企业精细化思想</a:t>
            </a:r>
            <a:r>
              <a:rPr lang="en-US" altLang="zh-CN" sz="1800"/>
              <a:t>》</a:t>
            </a:r>
            <a:r>
              <a:rPr lang="zh-CN" altLang="en-US" sz="1800"/>
              <a:t>（</a:t>
            </a:r>
            <a:r>
              <a:rPr lang="en-US" altLang="zh-CN" sz="1800"/>
              <a:t>Lean Thinking</a:t>
            </a:r>
            <a:r>
              <a:rPr lang="zh-CN" altLang="en-US" sz="1800"/>
              <a:t>），对企业精细化管理的思想进一步进行阐述，提出了企业如何从精细生产转变到精细企业的思想。</a:t>
            </a:r>
          </a:p>
          <a:p>
            <a:pPr>
              <a:lnSpc>
                <a:spcPct val="80000"/>
              </a:lnSpc>
              <a:buFontTx/>
              <a:buNone/>
            </a:pPr>
            <a:endParaRPr lang="zh-CN" alt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1800"/>
              <a:t>           </a:t>
            </a:r>
            <a:r>
              <a:rPr lang="en-US" altLang="zh-CN" sz="1800"/>
              <a:t>1999</a:t>
            </a:r>
            <a:r>
              <a:rPr lang="zh-CN" altLang="en-US" sz="1800"/>
              <a:t>年美国的另两位学者布鲁斯</a:t>
            </a:r>
            <a:r>
              <a:rPr lang="en-US" altLang="zh-CN" sz="1800"/>
              <a:t>•A•</a:t>
            </a:r>
            <a:r>
              <a:rPr lang="zh-CN" altLang="en-US" sz="1800"/>
              <a:t>汉德生、乔格</a:t>
            </a:r>
            <a:r>
              <a:rPr lang="en-US" altLang="zh-CN" sz="1800"/>
              <a:t>•L•</a:t>
            </a:r>
            <a:r>
              <a:rPr lang="zh-CN" altLang="en-US" sz="1800"/>
              <a:t>拉科合作出版了</a:t>
            </a:r>
            <a:r>
              <a:rPr lang="en-US" altLang="zh-CN" sz="1800"/>
              <a:t>《</a:t>
            </a:r>
            <a:r>
              <a:rPr lang="zh-CN" altLang="en-US" sz="1800"/>
              <a:t>精细企业</a:t>
            </a:r>
            <a:r>
              <a:rPr lang="en-US" altLang="zh-CN" sz="1800"/>
              <a:t>》</a:t>
            </a:r>
            <a:r>
              <a:rPr lang="zh-CN" altLang="en-US" sz="1800"/>
              <a:t>一书，进一步阐述了企业实现精细化生产的基本思想。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1919C52-EDD6-7CCA-BD37-DD3D1567C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86050" name="Rectangle 2">
            <a:extLst>
              <a:ext uri="{FF2B5EF4-FFF2-40B4-BE49-F238E27FC236}">
                <a16:creationId xmlns:a16="http://schemas.microsoft.com/office/drawing/2014/main" id="{4458B35D-9CE9-4D60-3D93-CE5725A1C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（二）精细生产的方法</a:t>
            </a:r>
          </a:p>
        </p:txBody>
      </p:sp>
      <p:sp>
        <p:nvSpPr>
          <p:cNvPr id="386051" name="Rectangle 3">
            <a:extLst>
              <a:ext uri="{FF2B5EF4-FFF2-40B4-BE49-F238E27FC236}">
                <a16:creationId xmlns:a16="http://schemas.microsoft.com/office/drawing/2014/main" id="{1AC5071A-499D-A24D-6217-D7684CCCD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060575"/>
            <a:ext cx="8229600" cy="40354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/>
              <a:t>           </a:t>
            </a:r>
            <a:r>
              <a:rPr lang="zh-CN" altLang="en-US" sz="2400"/>
              <a:t>精细生产的核心是</a:t>
            </a:r>
            <a:r>
              <a:rPr lang="en-US" altLang="zh-CN" sz="2400"/>
              <a:t>JIT</a:t>
            </a:r>
            <a:r>
              <a:rPr lang="zh-CN" altLang="en-US" sz="2400"/>
              <a:t>的理念，它包含三个基本理念：经营管理坚持非成本主义思想、过程管理坚持无情消除浪费、对人的管理坚持性善说，充分尊重人的以人为本的思想。</a:t>
            </a:r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           围绕这三个基本理念，精细生产的方法包括：产品设计的精细化、设施布置的精细化、人力资源的优化、</a:t>
            </a:r>
            <a:r>
              <a:rPr lang="en-US" altLang="zh-CN" sz="2400"/>
              <a:t>JIT</a:t>
            </a:r>
            <a:r>
              <a:rPr lang="zh-CN" altLang="en-US" sz="2400"/>
              <a:t>生产计划与控制、战略的供需关系、现场改善、质量管理等几个方面。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A95330A-6103-E053-2D3D-8930F9F36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87074" name="Rectangle 2">
            <a:extLst>
              <a:ext uri="{FF2B5EF4-FFF2-40B4-BE49-F238E27FC236}">
                <a16:creationId xmlns:a16="http://schemas.microsoft.com/office/drawing/2014/main" id="{BD76502D-8AA1-334F-B34A-6A809D34D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 </a:t>
            </a:r>
            <a:r>
              <a:rPr lang="zh-CN" altLang="en-US" b="1"/>
              <a:t>现场改善</a:t>
            </a:r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8E3A0E8E-BFEB-CCFD-3A41-5C3173813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/>
              <a:t>清洁、安全、有序的工作环境是提高生产率的一个重要手段。丰田公司经过长期的实践，建立了一整套的现场改善方法。现场改善工作中最重要的三个内容是标准化工作、</a:t>
            </a:r>
            <a:r>
              <a:rPr lang="en-US" altLang="zh-CN" sz="2400"/>
              <a:t>5S</a:t>
            </a:r>
            <a:r>
              <a:rPr lang="zh-CN" altLang="en-US" sz="2400"/>
              <a:t>和目视管理（可视化管理）。</a:t>
            </a:r>
          </a:p>
          <a:p>
            <a:r>
              <a:rPr lang="zh-CN" altLang="en-US" sz="2400"/>
              <a:t>这里重点介绍</a:t>
            </a:r>
            <a:r>
              <a:rPr lang="en-US" altLang="zh-CN" sz="2400"/>
              <a:t>5S</a:t>
            </a:r>
            <a:r>
              <a:rPr lang="zh-CN" altLang="en-US" sz="2400"/>
              <a:t>活动．</a:t>
            </a:r>
          </a:p>
          <a:p>
            <a:endParaRPr lang="en-US" altLang="zh-CN" sz="2400"/>
          </a:p>
        </p:txBody>
      </p:sp>
    </p:spTree>
  </p:cSld>
  <p:clrMapOvr>
    <a:masterClrMapping/>
  </p:clrMapOvr>
  <p:transition spd="slow">
    <p:strips dir="r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180F7D9-6729-30F4-E551-9ED69CC4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9B545BB5-10AC-7458-89C7-14E893C99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5S</a:t>
            </a:r>
            <a:r>
              <a:rPr lang="zh-CN" altLang="en-US"/>
              <a:t>活动</a:t>
            </a:r>
          </a:p>
        </p:txBody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750E3E81-CD15-332C-4836-30769E11B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03225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400"/>
              <a:t>        5S</a:t>
            </a:r>
            <a:r>
              <a:rPr lang="zh-CN" altLang="en-US" sz="2400"/>
              <a:t>是五个日本名词的第一个拼音字母的简称：“清理（</a:t>
            </a:r>
            <a:r>
              <a:rPr lang="en-US" altLang="zh-CN" sz="2400"/>
              <a:t>Seiri</a:t>
            </a:r>
            <a:r>
              <a:rPr lang="zh-CN" altLang="en-US" sz="2400"/>
              <a:t>）、整顿</a:t>
            </a:r>
            <a:r>
              <a:rPr lang="en-US" altLang="zh-CN" sz="2400"/>
              <a:t>(Seiton)</a:t>
            </a:r>
            <a:r>
              <a:rPr lang="zh-CN" altLang="en-US" sz="2400"/>
              <a:t>、清扫</a:t>
            </a:r>
            <a:r>
              <a:rPr lang="en-US" altLang="zh-CN" sz="2400"/>
              <a:t>(seiso)</a:t>
            </a:r>
            <a:r>
              <a:rPr lang="zh-CN" altLang="en-US" sz="2400"/>
              <a:t>、清洁</a:t>
            </a:r>
            <a:r>
              <a:rPr lang="en-US" altLang="zh-CN" sz="2400"/>
              <a:t>(Seikesuke)</a:t>
            </a:r>
            <a:r>
              <a:rPr lang="zh-CN" altLang="en-US" sz="2400"/>
              <a:t>、教养</a:t>
            </a:r>
            <a:r>
              <a:rPr lang="en-US" altLang="zh-CN" sz="2400"/>
              <a:t>shitsuke”</a:t>
            </a:r>
            <a:r>
              <a:rPr lang="zh-CN" altLang="en-US" sz="2400"/>
              <a:t>。</a:t>
            </a:r>
          </a:p>
          <a:p>
            <a:pPr>
              <a:lnSpc>
                <a:spcPct val="80000"/>
              </a:lnSpc>
              <a:buFontTx/>
              <a:buNone/>
            </a:pPr>
            <a:endParaRPr lang="zh-CN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实施</a:t>
            </a:r>
            <a:r>
              <a:rPr lang="en-US" altLang="zh-CN" sz="2400"/>
              <a:t>5S</a:t>
            </a:r>
            <a:r>
              <a:rPr lang="zh-CN" altLang="en-US" sz="2400"/>
              <a:t>的几个步骤供参考：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）组织</a:t>
            </a:r>
            <a:r>
              <a:rPr lang="en-US" altLang="zh-CN" sz="2400"/>
              <a:t>----</a:t>
            </a:r>
            <a:r>
              <a:rPr lang="zh-CN" altLang="en-US" sz="2400"/>
              <a:t>成立推行委员会。企业在第一次导入</a:t>
            </a:r>
            <a:r>
              <a:rPr lang="en-US" altLang="zh-CN" sz="2400"/>
              <a:t>5S</a:t>
            </a:r>
            <a:r>
              <a:rPr lang="zh-CN" altLang="en-US" sz="2400"/>
              <a:t>活动的时候，应该专门成立一个委员会来规划与领导</a:t>
            </a:r>
            <a:r>
              <a:rPr lang="en-US" altLang="zh-CN" sz="2400"/>
              <a:t>5S</a:t>
            </a:r>
            <a:r>
              <a:rPr lang="zh-CN" altLang="en-US" sz="2400"/>
              <a:t>活动。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）规划。制定实施</a:t>
            </a:r>
            <a:r>
              <a:rPr lang="en-US" altLang="zh-CN" sz="2400"/>
              <a:t>5S</a:t>
            </a:r>
            <a:r>
              <a:rPr lang="zh-CN" altLang="en-US" sz="2400"/>
              <a:t>的一些目标、方针与实施的基本内容，如</a:t>
            </a:r>
            <a:r>
              <a:rPr lang="en-US" altLang="zh-CN" sz="2400"/>
              <a:t>1</a:t>
            </a:r>
            <a:r>
              <a:rPr lang="zh-CN" altLang="en-US" sz="2400"/>
              <a:t>）设置推行目标；</a:t>
            </a:r>
            <a:r>
              <a:rPr lang="en-US" altLang="zh-CN" sz="2400"/>
              <a:t>2</a:t>
            </a:r>
            <a:r>
              <a:rPr lang="zh-CN" altLang="en-US" sz="2400"/>
              <a:t>）拟定活动计划与方法；</a:t>
            </a:r>
            <a:r>
              <a:rPr lang="en-US" altLang="zh-CN" sz="2400"/>
              <a:t>3</a:t>
            </a:r>
            <a:r>
              <a:rPr lang="zh-CN" altLang="en-US" sz="2400"/>
              <a:t>）制定培训计划；</a:t>
            </a:r>
            <a:r>
              <a:rPr lang="en-US" altLang="zh-CN" sz="2400"/>
              <a:t>4</a:t>
            </a:r>
            <a:r>
              <a:rPr lang="zh-CN" altLang="en-US" sz="2400"/>
              <a:t>）制定推行办法；</a:t>
            </a:r>
            <a:r>
              <a:rPr lang="en-US" altLang="zh-CN" sz="2400"/>
              <a:t>5</a:t>
            </a:r>
            <a:r>
              <a:rPr lang="zh-CN" altLang="en-US" sz="2400"/>
              <a:t>）制定考核办法。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）宣传。要在全厂范围内进行有关实施</a:t>
            </a:r>
            <a:r>
              <a:rPr lang="en-US" altLang="zh-CN" sz="2400"/>
              <a:t>5S</a:t>
            </a:r>
            <a:r>
              <a:rPr lang="zh-CN" altLang="en-US" sz="2400"/>
              <a:t>的宣传活动，形成一种气氛。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18A5DB3-731D-9B08-AEF6-A0BDB2557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558082" name="Rectangle 2">
            <a:extLst>
              <a:ext uri="{FF2B5EF4-FFF2-40B4-BE49-F238E27FC236}">
                <a16:creationId xmlns:a16="http://schemas.microsoft.com/office/drawing/2014/main" id="{B01F1775-8D88-DFE0-74C5-1E940B116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5S</a:t>
            </a:r>
            <a:r>
              <a:rPr lang="zh-CN" altLang="en-US"/>
              <a:t>活动</a:t>
            </a:r>
          </a:p>
        </p:txBody>
      </p:sp>
      <p:sp>
        <p:nvSpPr>
          <p:cNvPr id="558083" name="Rectangle 3">
            <a:extLst>
              <a:ext uri="{FF2B5EF4-FFF2-40B4-BE49-F238E27FC236}">
                <a16:creationId xmlns:a16="http://schemas.microsoft.com/office/drawing/2014/main" id="{68ABE39D-2565-BD2F-95F9-A4B969DC0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4</a:t>
            </a:r>
            <a:r>
              <a:rPr lang="zh-CN" altLang="en-US" sz="2400"/>
              <a:t>）教育训练。对员工进行有关实施</a:t>
            </a:r>
            <a:r>
              <a:rPr lang="en-US" altLang="zh-CN" sz="2400"/>
              <a:t>5S</a:t>
            </a:r>
            <a:r>
              <a:rPr lang="zh-CN" altLang="en-US" sz="2400"/>
              <a:t>方法培训，包括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en-US" altLang="zh-CN" sz="2400"/>
              <a:t>5S</a:t>
            </a:r>
            <a:r>
              <a:rPr lang="zh-CN" altLang="en-US" sz="2400"/>
              <a:t>内涵培训；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en-US" altLang="zh-CN" sz="2400"/>
              <a:t>5S</a:t>
            </a:r>
            <a:r>
              <a:rPr lang="zh-CN" altLang="en-US" sz="2400"/>
              <a:t>行动方法培训；</a:t>
            </a:r>
            <a:r>
              <a:rPr lang="en-US" altLang="zh-CN" sz="2400"/>
              <a:t>3</a:t>
            </a:r>
            <a:r>
              <a:rPr lang="zh-CN" altLang="en-US" sz="2400"/>
              <a:t>）</a:t>
            </a:r>
            <a:r>
              <a:rPr lang="en-US" altLang="zh-CN" sz="2400"/>
              <a:t>IE</a:t>
            </a:r>
            <a:r>
              <a:rPr lang="zh-CN" altLang="en-US" sz="2400"/>
              <a:t>改善方法培训。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5</a:t>
            </a:r>
            <a:r>
              <a:rPr lang="zh-CN" altLang="en-US" sz="2400"/>
              <a:t>）实施。在实施</a:t>
            </a:r>
            <a:r>
              <a:rPr lang="en-US" altLang="zh-CN" sz="2400"/>
              <a:t>5S</a:t>
            </a:r>
            <a:r>
              <a:rPr lang="zh-CN" altLang="en-US" sz="2400"/>
              <a:t>的时候，最好采用：示范</a:t>
            </a:r>
            <a:r>
              <a:rPr lang="en-US" altLang="zh-CN" sz="2400"/>
              <a:t>--</a:t>
            </a:r>
            <a:r>
              <a:rPr lang="zh-CN" altLang="en-US" sz="2400"/>
              <a:t>推广</a:t>
            </a:r>
            <a:r>
              <a:rPr lang="en-US" altLang="zh-CN" sz="2400"/>
              <a:t>--</a:t>
            </a:r>
            <a:r>
              <a:rPr lang="zh-CN" altLang="en-US" sz="2400"/>
              <a:t>标准化这样的循序渐进的做法。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6</a:t>
            </a:r>
            <a:r>
              <a:rPr lang="zh-CN" altLang="en-US" sz="2400"/>
              <a:t>）考核。要建立一套科学的考核制度，对每一岗位的</a:t>
            </a:r>
            <a:r>
              <a:rPr lang="en-US" altLang="zh-CN" sz="2400"/>
              <a:t>5S</a:t>
            </a:r>
            <a:r>
              <a:rPr lang="zh-CN" altLang="en-US" sz="2400"/>
              <a:t>进行定期的检查与考核，作为奖励与惩罚的依据。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7</a:t>
            </a:r>
            <a:r>
              <a:rPr lang="zh-CN" altLang="en-US" sz="2400"/>
              <a:t>）竞赛与奖励。通过评比检查与竞赛活动，对做得比较好的单位或个人要进行奖励，只有通过奖励或惩罚才能激励员工不断进行改善。</a:t>
            </a:r>
          </a:p>
          <a:p>
            <a:pPr>
              <a:lnSpc>
                <a:spcPct val="80000"/>
              </a:lnSpc>
            </a:pPr>
            <a:endParaRPr lang="en-US" altLang="zh-CN" sz="2400"/>
          </a:p>
        </p:txBody>
      </p:sp>
    </p:spTree>
  </p:cSld>
  <p:clrMapOvr>
    <a:masterClrMapping/>
  </p:clrMapOvr>
  <p:transition spd="slow">
    <p:strips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D088943-F0B1-5D2B-8F40-8ACC6A7F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389122" name="Rectangle 2">
            <a:extLst>
              <a:ext uri="{FF2B5EF4-FFF2-40B4-BE49-F238E27FC236}">
                <a16:creationId xmlns:a16="http://schemas.microsoft.com/office/drawing/2014/main" id="{BBFE1F1C-99C0-6C8B-E9D7-A51B76853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/>
              <a:t>（</a:t>
            </a:r>
            <a:r>
              <a:rPr lang="en-US" altLang="zh-CN" sz="4800"/>
              <a:t>2</a:t>
            </a:r>
            <a:r>
              <a:rPr lang="zh-CN" altLang="en-US" sz="4800"/>
              <a:t>）可视化管理</a:t>
            </a:r>
          </a:p>
        </p:txBody>
      </p:sp>
      <p:sp>
        <p:nvSpPr>
          <p:cNvPr id="389123" name="Rectangle 3">
            <a:extLst>
              <a:ext uri="{FF2B5EF4-FFF2-40B4-BE49-F238E27FC236}">
                <a16:creationId xmlns:a16="http://schemas.microsoft.com/office/drawing/2014/main" id="{BA9BC3F8-B300-1CF3-E630-EF751B052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81075"/>
            <a:ext cx="8229600" cy="5373688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zh-CN" sz="2000"/>
          </a:p>
          <a:p>
            <a:pPr>
              <a:lnSpc>
                <a:spcPct val="80000"/>
              </a:lnSpc>
            </a:pPr>
            <a:r>
              <a:rPr lang="zh-CN" altLang="en-US" sz="2400"/>
              <a:t>可视化管理，也叫目视管理、直观管理。通过直观的工具来显示生产状态，“让问题看得见”是对可视化管理思想的最好概括。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可视化管理主要应用如下方面</a:t>
            </a:r>
            <a:r>
              <a:rPr lang="en-US" altLang="zh-CN" sz="2400"/>
              <a:t>: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1. </a:t>
            </a:r>
            <a:r>
              <a:rPr lang="zh-CN" altLang="en-US" sz="2400"/>
              <a:t>规定产品＼零件及其物品的放置位置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２．显示生产进度与质量控制状态等生产信息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３．显示生产设备或者操作工人的状态等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４．显示操作规则＼作业程序等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５．显示工厂管理的一般规定与方针政策等．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F9C70E8-B54E-F43B-4A51-4C64A0107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讲义制作：李丽，陈志祥审</a:t>
            </a:r>
            <a:endParaRPr lang="en-US" altLang="zh-CN"/>
          </a:p>
        </p:txBody>
      </p:sp>
      <p:sp>
        <p:nvSpPr>
          <p:cNvPr id="401410" name="Rectangle 2">
            <a:extLst>
              <a:ext uri="{FF2B5EF4-FFF2-40B4-BE49-F238E27FC236}">
                <a16:creationId xmlns:a16="http://schemas.microsoft.com/office/drawing/2014/main" id="{46BBBD1A-C45D-CBD9-84E1-61466FA6C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692150"/>
            <a:ext cx="8229600" cy="1143000"/>
          </a:xfrm>
        </p:spPr>
        <p:txBody>
          <a:bodyPr/>
          <a:lstStyle/>
          <a:p>
            <a:r>
              <a:rPr lang="zh-CN" altLang="en-US" sz="4000" b="1"/>
              <a:t>本章小结</a:t>
            </a:r>
            <a:br>
              <a:rPr lang="zh-CN" altLang="en-US" sz="4000"/>
            </a:br>
            <a:endParaRPr lang="zh-CN" altLang="en-US" sz="4000"/>
          </a:p>
        </p:txBody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779A7B46-4316-C92A-9FEC-B1EDFB12F3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3095625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3500"/>
              <a:t>　　</a:t>
            </a:r>
            <a:r>
              <a:rPr lang="zh-CN" altLang="en-US" sz="2400"/>
              <a:t>丰田生产方式是世界级的生产管理模式，是一种先进的生产管理方式，这种先进的生产管理方式渗透了多种管理思想与哲理。本章对丰田生产方式的基本思想与其新发展</a:t>
            </a:r>
            <a:r>
              <a:rPr lang="en-US" altLang="zh-CN" sz="2400"/>
              <a:t>—</a:t>
            </a:r>
            <a:r>
              <a:rPr lang="zh-CN" altLang="en-US" sz="2400"/>
              <a:t>精细生产的基本原理与方法进行系统了论述。第一节主要介绍了丰田生产方式的起源与精髓。第二节介绍了丰田生产方式的方法体系。第三节讨论了精细化生产。第四节讨论了精细化在非制造业的运用。</a:t>
            </a:r>
            <a:endParaRPr lang="zh-CN" altLang="en-US" sz="2400" b="1"/>
          </a:p>
        </p:txBody>
      </p:sp>
    </p:spTree>
  </p:cSld>
  <p:clrMapOvr>
    <a:masterClrMapping/>
  </p:clrMapOvr>
  <p:transition spd="slow">
    <p:strips dir="rd"/>
  </p:transition>
</p:sld>
</file>

<file path=ppt/theme/theme1.xml><?xml version="1.0" encoding="utf-8"?>
<a:theme xmlns:a="http://schemas.openxmlformats.org/drawingml/2006/main" name="Mountain Top">
  <a:themeElements>
    <a:clrScheme name="Mountain Top 5">
      <a:dk1>
        <a:srgbClr val="463416"/>
      </a:dk1>
      <a:lt1>
        <a:srgbClr val="FFFFFF"/>
      </a:lt1>
      <a:dk2>
        <a:srgbClr val="003399"/>
      </a:dk2>
      <a:lt2>
        <a:srgbClr val="E3E3FF"/>
      </a:lt2>
      <a:accent1>
        <a:srgbClr val="3399FF"/>
      </a:accent1>
      <a:accent2>
        <a:srgbClr val="33CCCC"/>
      </a:accent2>
      <a:accent3>
        <a:srgbClr val="AAADCA"/>
      </a:accent3>
      <a:accent4>
        <a:srgbClr val="DADADA"/>
      </a:accent4>
      <a:accent5>
        <a:srgbClr val="ADCAFF"/>
      </a:accent5>
      <a:accent6>
        <a:srgbClr val="2DB9B9"/>
      </a:accent6>
      <a:hlink>
        <a:srgbClr val="00FFCC"/>
      </a:hlink>
      <a:folHlink>
        <a:srgbClr val="808000"/>
      </a:folHlink>
    </a:clrScheme>
    <a:fontScheme name="Mountain Top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Mountain Top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Mountain Top</Template>
  <TotalTime>3486</TotalTime>
  <Words>2828</Words>
  <Application>Microsoft Office PowerPoint</Application>
  <PresentationFormat>全屏显示(4:3)</PresentationFormat>
  <Paragraphs>210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Arial</vt:lpstr>
      <vt:lpstr>宋体</vt:lpstr>
      <vt:lpstr>Wingdings</vt:lpstr>
      <vt:lpstr>黑体</vt:lpstr>
      <vt:lpstr>楷体_GB2312</vt:lpstr>
      <vt:lpstr>Mountain Top</vt:lpstr>
      <vt:lpstr>Microsoft Equation 3.0</vt:lpstr>
      <vt:lpstr>《生产与运作管理》教辅材料参考讲义</vt:lpstr>
      <vt:lpstr>第13章 丰田生产方式与精细化运作</vt:lpstr>
      <vt:lpstr>引导案例：广州丰田汽车有限公司</vt:lpstr>
      <vt:lpstr>一、丰田生产方式的起源与精髓</vt:lpstr>
      <vt:lpstr>（一）汽车工业生产的一次飞跃</vt:lpstr>
      <vt:lpstr>（二）准时生产方式的目标与经营理念</vt:lpstr>
      <vt:lpstr>二、丰田生产方式的方法体系</vt:lpstr>
      <vt:lpstr>（一）准时生产线</vt:lpstr>
      <vt:lpstr>（二）平准化计划</vt:lpstr>
      <vt:lpstr>（三）看板控制系统</vt:lpstr>
      <vt:lpstr>1. 看板的作用</vt:lpstr>
      <vt:lpstr>2. 看板的种类与形式</vt:lpstr>
      <vt:lpstr>（1）生产看板</vt:lpstr>
      <vt:lpstr>PowerPoint 演示文稿</vt:lpstr>
      <vt:lpstr>3.  如何利用看板组织生产</vt:lpstr>
      <vt:lpstr>4. 看板使用规则 </vt:lpstr>
      <vt:lpstr>5. 看板数量的计算 </vt:lpstr>
      <vt:lpstr>PowerPoint 演示文稿</vt:lpstr>
      <vt:lpstr>应用范例13-1 </vt:lpstr>
      <vt:lpstr>（3）外协看板的数量计算</vt:lpstr>
      <vt:lpstr>（四）战略供应商关系</vt:lpstr>
      <vt:lpstr>（五）多能工与少人化</vt:lpstr>
      <vt:lpstr>（六）减少调整准备时间</vt:lpstr>
      <vt:lpstr>（七）全面质量管理</vt:lpstr>
      <vt:lpstr>三、精细化生产</vt:lpstr>
      <vt:lpstr>（二）精细生产的方法</vt:lpstr>
      <vt:lpstr>1. 现场改善</vt:lpstr>
      <vt:lpstr>（1）5S活动</vt:lpstr>
      <vt:lpstr>（1）5S活动</vt:lpstr>
      <vt:lpstr>（2）可视化管理</vt:lpstr>
      <vt:lpstr>本章小结 </vt:lpstr>
    </vt:vector>
  </TitlesOfParts>
  <Company>mns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中山大学管理学院管理学院 高级经理EMBA培训班 《生产与运作管理》</dc:title>
  <dc:creator>a</dc:creator>
  <cp:lastModifiedBy>先生 刘</cp:lastModifiedBy>
  <cp:revision>252</cp:revision>
  <dcterms:created xsi:type="dcterms:W3CDTF">2004-02-09T09:24:44Z</dcterms:created>
  <dcterms:modified xsi:type="dcterms:W3CDTF">2023-10-23T06:17:16Z</dcterms:modified>
</cp:coreProperties>
</file>