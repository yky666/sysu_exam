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34"/>
  </p:notesMasterIdLst>
  <p:sldIdLst>
    <p:sldId id="256" r:id="rId2"/>
    <p:sldId id="359" r:id="rId3"/>
    <p:sldId id="278" r:id="rId4"/>
    <p:sldId id="319" r:id="rId5"/>
    <p:sldId id="426" r:id="rId6"/>
    <p:sldId id="424" r:id="rId7"/>
    <p:sldId id="425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42" r:id="rId23"/>
    <p:sldId id="443" r:id="rId24"/>
    <p:sldId id="444" r:id="rId25"/>
    <p:sldId id="445" r:id="rId26"/>
    <p:sldId id="446" r:id="rId27"/>
    <p:sldId id="448" r:id="rId28"/>
    <p:sldId id="447" r:id="rId29"/>
    <p:sldId id="449" r:id="rId30"/>
    <p:sldId id="450" r:id="rId31"/>
    <p:sldId id="451" r:id="rId32"/>
    <p:sldId id="423" r:id="rId33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33CC33"/>
    <a:srgbClr val="00FF00"/>
    <a:srgbClr val="E5D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35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32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7F76E981-E64D-9A9A-0167-32ADA8E6A8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2C5B2B82-7D55-F251-7AD5-DE324FFB93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F1A036FC-FE9F-3898-1164-59BFF6374A18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760428A4-C27B-001B-8F78-6128961E703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E7D7A0D4-68CF-0884-CE1A-295AC6A917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345095" name="Rectangle 7">
            <a:extLst>
              <a:ext uri="{FF2B5EF4-FFF2-40B4-BE49-F238E27FC236}">
                <a16:creationId xmlns:a16="http://schemas.microsoft.com/office/drawing/2014/main" id="{12C18172-AEAA-47F2-D9A0-1005D449E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A4698B7-D94E-45DB-A2BD-D867C993F43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0CC495BA-E6BE-8EB5-D7F5-1F88BE357DB2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3DD0610C-09B0-E867-48FB-2C9A9187118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2EE9BF8F-D656-5E16-2293-6831129FF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8BD89A5C-F05B-6225-49FF-446FE9A07E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5A4618E1-AB97-FE2F-492B-0206D072E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5500638B-AEBC-95F7-9CCC-B43688AC3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98D024FF-CC0E-B3B6-15E6-0BDA21C00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97DE1D06-DE6D-BC79-AF72-879967F61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D077C636-30D1-E8B2-7ECA-402C4D95F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DF534AFB-2F7C-FAE0-4F02-2A9A2BECD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876873EA-1E17-C5F5-2C6C-F422765B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194B1863-B4AB-37B5-58C8-3EF8CEB6B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E82ABD6E-4B19-8B38-3B9A-F5FA5CEA0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B1E09F9C-9EEF-3CEE-09D8-C00F80790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288E9283-3819-895C-B1F1-C9C83087C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E1F4C88A-2FD3-6C2B-D8ED-90B868AEE106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37FE8ADD-E6AC-13AA-C822-A28FB51E2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2E4A7148-7E71-40B0-6FBE-5C19CEA9B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D2160990-F036-FD7C-2BD0-AF4A6A6CF7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94DD7244-285F-6B52-E932-4ED3824722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D5EDE9C8-221C-D544-A14F-985178AAC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9D990449-5844-A02A-743D-D8070BD901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21D56C57-51E5-3ADC-6A12-F4250179F7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9E06C3DB-7990-9825-D260-8EAEE3BCD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25054BCF-12AE-E996-25C6-B3486B961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AF2825EA-3870-3444-48F5-2213D0369D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446E766D-FB61-F70D-B294-35F0381017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C65308E0-A25D-6380-B78C-79764D0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0F1EAC7E-D6E5-CD84-E0E4-817D9A2E7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92417F2C-87C9-98F3-B4B0-629C9DAB6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D8268C0B-1992-BEF0-355F-9FC0D85137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8A4ED9B0-916E-A58F-CC4D-6A6C9F8DF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1934FC74-3AD7-2074-1DCF-0EBF84F2DA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AF278177-401C-2E22-838F-DA79C6116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B134AE65-CA6A-D5A5-640E-983984BEB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11C862D4-CCFA-23F8-6637-39B4D04C6F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8BD3D8AD-CD6C-F917-615E-338E3AC6B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714E1E0B-4982-5D32-64B7-4A42EF42B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FA8ECBA0-228E-542A-6FC0-BAD7F761CF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06F4C620-1B04-2907-7B97-A129A85FF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6664F925-EFF1-C5E4-DBA5-E5A28A4CA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DB4B6A55-00DE-3C5F-CF6A-FFE273CF1A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E84B85CE-6C22-580C-288A-06C8DB232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D61D1ACA-0330-7497-B46D-9757BEBAA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C60900B6-38B3-F0ED-D16A-9C698A1AA0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11E70166-A9A2-874B-8036-E0D7C72FAD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7433B74E-1E23-EAC5-04FA-09028D5249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D3F92B92-69CC-9987-1EA5-20AFBD527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7532B7E8-5F4C-2ECD-BB23-FDA3C3A62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9CADD416-5EE2-CA1D-BDDA-B96BFAB5A7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42797BD1-E372-BF07-B6F5-D66BFFEC8D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959FB746-B81B-2C3D-4B6B-F128E2A2B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CF4B2E50-5494-77F6-DE84-F24C1FD67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71A205BC-65E4-F6E6-C1B6-B0CE4D6C64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C1234294-2D36-6B30-0FCE-35A59ACC72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CFB997FD-E2AD-166D-9E87-11AEF11FE2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CE18EC31-7F4E-9C95-99DA-D4A3C3BD9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0BA942C1-0C86-5573-314E-DC51F765B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FE705FD1-3A8E-4279-3CDB-F952F697F4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1894FC39-6C2E-16B9-7E2A-136D4A21B4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52142AEE-59B7-43BA-E515-73705C2249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7AA82591-33AF-CBD2-70E7-A2FB0EDF4B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C745109A-ECAA-6A83-4AC2-104A95AAB1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7CF0F94A-2A63-74CF-6565-C0E71D285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D29693BB-22F9-6B13-AB3B-6C0E4069B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39F677F5-FCD1-4E08-4173-EA613EECC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F912AE41-A441-79D1-CA6F-AE8E96F34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54AD08B9-7A66-E9D2-7DAD-0AB40935AB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711ACAFC-C9C5-437D-6D44-0161007FC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EA0CF2B0-96A3-8699-A684-56AD395F9C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E3BBD094-FA23-81D5-F3B0-CDF7931316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B65266EB-78E1-39F0-3390-AE1951854E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CB2F9FD9-CA28-0E46-5F73-5F2ABFB9E0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87D38917-1E8C-F93A-44DD-2C161936B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F1646F78-F570-FB6F-EE57-4DC73C0174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BB2B8C0D-F17B-1B8C-9D27-ECC0D971A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E97D5C66-C5CA-0DFC-90BD-6BABC5E56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C32DF395-90DC-A3A1-5C74-F23678FD45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9D8D1559-85B4-7B7D-C4D8-EFF8900E1E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23718C24-396D-D51C-CC71-5A5E89D5BA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C4421470-4CA4-23F5-B496-C5457BC74C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59EF2985-1108-4996-165C-1334929C0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66A432D4-0265-706E-6139-11361BC07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7792329F-9079-0951-51AA-EA7B2A51F9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DCAB1E6A-082C-1771-849F-AECD31A20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5A5B7C6B-E2A4-C8C1-EB8A-63EAD5798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7E17FEC6-9E4B-24AF-342B-67B2BAF00B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53069EC1-B402-65C6-AA26-8DCDFE66B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C5F8AFE3-0356-9141-562F-47CA1E570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0B7B4066-94E5-F898-10CC-82B96984D6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1F2B3010-9C93-6E8D-B49D-8F3BD2AA1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0E724CE6-1AD0-8D8A-4E90-823BE5D26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05E0F33C-74F1-A3EB-3BDC-861C98670A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E16C2AC9-09BA-5A9F-DDD8-9BF225550A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6B2CFAE7-2513-331A-3EEA-5B6CC92B9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C78A81AF-6E1E-23D8-28B8-F9934D2A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0300B8B8-79CD-0BB1-4565-E2EC65C271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319520C9-665E-89C1-10C4-F65009BCD8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923DFADE-3D21-440F-7CA0-D0D99A22D6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BED9C313-6505-BD44-8DE2-669704FED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488DAF00-CD9C-8A54-6AF6-0C2FCDF71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05DCB9DA-1BC6-BBC4-9FC4-79AC1FAFD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C2A2D2FC-6D77-6B58-8E02-E31EC0919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6B02FB3D-9760-6D74-1DCF-43C5996C45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30CEF9F0-7FA2-D653-FAAF-2BA66F32B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F551AE2F-49CA-23AE-F9B8-D6464BF016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D60DA752-5AA1-011E-51E9-16CE82D992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8BB822FA-3656-4DD6-FC4B-428EE5C9CA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FA5A6A40-E217-7979-4870-DD5ECA8624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2D0CA251-2A99-6C67-CD04-91E2614491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4BF09858-4ACB-3A40-B141-96242376D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BA6CDCB2-6D71-7360-CD33-4DE2D7AF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D6736182-2759-618C-6D70-A0587BD21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E5263C7F-E44C-A46C-A2DB-2D94EE2AD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E1C68A52-0A9C-6704-9933-85007917A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27148C78-0F17-BBBC-DBBE-D73EBD52F0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CC040E7F-CA48-0380-5496-2A7E400558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36E26D47-0A94-4122-7B39-DA7BBFB68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C57CBF26-5D98-9F1C-690F-2F3E6695F2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A71C3E3B-6954-EB47-8187-FADCBA716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15D9EDA8-CF74-9715-C659-E5CB718444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34F105BF-ED89-765F-84CA-E697AE41B7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89E9DC1C-9FFC-CA9A-2A09-4D820789FC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C728FD16-9D77-7B97-7266-805BA8D8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BC729F9A-384A-5494-7D72-DF61D06E7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A8A40F9C-0ED5-5560-A7FA-554870EC92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94D996FD-9E11-7600-C2B4-DF8C7A5AC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B470D48E-59A3-7E9B-9DB1-94281ADE7E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1048D36E-1679-E474-1FE0-147BCA1CAE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7DA0A76B-029E-A7E0-127A-4B6DB2C675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80D0F640-46CF-4DED-2D68-3B5A88E4DE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0C464DA7-AD2E-0521-B221-86520C6D7D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C7587DF6-F0BE-16B6-BDEC-FE419E4187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8B21A752-6C6E-F0D2-EF53-1B549D5F3F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750824B9-9F8E-B26D-DEB3-2B2BDAE0EF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798C1F32-D37B-9C8F-A824-8C3E6506C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F2F7F5E2-8E86-3632-DD26-CD44C5E17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552770F7-8F1C-D6C6-E26C-2335BD62D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D98115E9-3678-C7FB-E917-EF942FEA4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25051108-1F8B-A367-99E6-03863C52AA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C70A8EF8-434A-4CB7-7F64-0A3080D4F8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EA5CCB22-484D-C155-E960-975AA6D9CE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8767DF1C-FD67-7428-70BA-BD8B0C2AC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2A5BD9D8-E934-14AC-71F5-F2645E9582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02777A9B-A3E1-3339-B69D-5167F5659C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BD0DA69B-C01A-494E-1159-491DADCAD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8CEC1402-BAE8-B811-C454-C9F2548D4F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13F29596-A7EB-A5E3-9FEB-D2C722AB9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045289F3-8F78-5971-4A7D-DDD150DA6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47EAA00A-8091-30EA-B190-14AC5FAD1D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7B3F93BE-5152-6F87-7873-D0D114622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35A46EBE-FD0D-D608-A011-6ED5357992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22F9916C-4302-AE87-81E6-9CAF131A15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4F5BE6A4-B637-074B-BE25-B4000FB598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5128229D-46DE-1C7B-219C-204A4B732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1272B7A1-8432-7AED-0E4C-5A4F62976F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6B226FF2-F5CA-1CD4-F59C-FC07233253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E21878F8-BCFF-5EE0-4603-37B4709F4A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7F844F71-3700-DF23-9CF5-E01BD1804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A163D62B-C880-C0DA-A3EB-953FB6D9F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D06D4400-2B74-10EC-F3E1-DBF15BA03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85CDE810-A97F-CC1B-D8B8-F8D0905E20F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47FB68AF-06FB-9618-7356-8A28080FB4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BBF90ACC-AA2E-546A-C49C-3353585A65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5F8FA71C-6EFD-2410-3433-626F0173EF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DEB00BE4-BBDA-4036-BCD7-BC4A658B38D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090126CB-A3E7-223D-88EC-1A1C25FDC6D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AB760F2B-0B74-0A37-80CE-36E0FC438F3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5BB8C8B1-4EA3-30D8-3945-10D4E124BA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04AD96D2-B7B9-16A3-9385-E15F9F6EE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34D0E1A6-2164-15A1-E7AC-11B4154C7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2541DC6F-CCB2-E897-EE2A-0EB2105260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381C42DA-1F5E-3C37-6448-45E0CD809F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1E05E816-229F-AD68-E6A7-779EDD8DD4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515FBD86-9769-2C69-40C4-81E7F46EA7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FE93D1F5-11FD-BB21-1ADB-7402E8C2F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993EE8C7-9E8B-A711-2828-D10DC6D4A2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D81B6EF5-AF3A-95AD-90CF-053A7898B0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8C7F0E48-C052-0E45-58C9-64527295E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EF863ADA-397C-B39E-43BA-05FD987CAC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8F6F3EAC-2430-A46F-7BBF-E547BDE3E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7EB2F-5715-14EE-77C6-A5541162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417DB2-4A74-1EC6-A76A-1F937FCB0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5A27D-F8B5-03AD-9D9D-2FD8EBCC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EC4F51-9903-3A44-48B6-95B3A47A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662FE-75DC-1E20-19FD-D775FEFD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5B221C-3C75-4751-9489-5C5493C6AC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996548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EEE34-6CEF-0CE7-DD5D-8F903146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AF0629-2C46-7751-2DDA-1E8728E99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E7E90-F18C-EF81-BACD-78B33C70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6B4DF3-2118-3EF1-27EF-4189CB10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63FB27-3C37-7F15-4F7A-79493594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7E4BF-4B37-45CA-8DE1-439DBADE78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362267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3DD44-7CA7-9482-036F-2FF9C82E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AF15A-F28A-BBFD-DFD4-36E89B868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2FA89F-E9A2-0D62-6FE3-DC331A5AF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DC3DA7-C9CD-1760-140C-211B03E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203CD5-9E33-F89D-3489-0C12EE38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C1B5E4-47C2-FC0E-7F85-351A4D87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75AB7-7023-4F3E-8A32-BB6A1BF772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2445884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856C7-4644-5719-223B-037064C5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6EDE6C-1BC9-C9A8-E09E-5147819C7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34ACAD-9FF6-6B7B-73AF-BF913FF96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510BBE-9581-8A94-7A30-216D8D7A8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56CAC9-E246-7888-04D6-AEBD165FA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C405AD-6C24-034F-1439-9A183AEA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8507CF-190E-89AA-8DFC-98AB2EBF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A13D19-981C-1D46-BC10-75084749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217F8-69C8-4D4F-BB84-B78B2ACC72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573298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6E38C-6454-71D3-D93F-767E4192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5FBF28-6446-3BF2-2B1B-3766B4E3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AB231E-EDA6-8217-29E6-9037445A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2F14F5-F3CF-97C4-CD6E-E1F305DA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66BCD3-2823-48F8-8825-7454F5582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655064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C23FCF-A618-87F4-B9A6-AD64D86B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EA0811-A729-EEFF-F1AE-E72208E4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E7950A-B32C-B974-A2DB-B1A4DAF9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39B92-6626-4ECD-956C-57F3C7931D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708282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003F6-6107-E6BB-DA61-DD6C3B63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BECA4-B7B5-BAF6-05DC-B170BDC61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9A05C9-0CD6-F502-D78F-CC5F3E57E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1F904F-0442-5AA0-B399-066C9E6C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2EF260-F469-B08B-4589-0C41C817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C3B6E7-9FBE-B402-CE97-B7F99C0B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24DCB7-BA6A-4954-BEF3-88F113B290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35063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2DE1E-F396-12FF-B8B6-B64C3C42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0229EA-A796-405C-60F6-A3E007291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223BDA-F324-F64F-D0C8-870F75A4D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953C10-9858-CEC6-3BA8-C0066E40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298A2E-43BE-F0BA-DFEE-14F6FBC59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37B571-D0DC-66C2-8779-CD0DB7E1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605B5-6FC5-4010-8A5B-6130B79390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493924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FC4E7-E967-E45C-FB57-DF7F5BAA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3A350F-6A7D-CC61-154B-46DCFC7B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4CDB54-FA84-26E8-A562-583E4F413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9374E2-E3A2-036F-8FE5-B078FBDF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9F57E-0900-E93B-5EAF-E0F505C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2BC8B0-B88B-4855-9950-C4A26E5BC2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160485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4AE859-D82C-12AF-7D44-41A44F388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10FF92-701A-2578-3FDA-B00AAC428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798E8-7758-BD4E-8914-6FD20B71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C9365-F310-8678-F887-92510471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F702F-23A2-201C-B950-B8DA3A21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BE95B-BDDF-490A-8AC6-295B08E92E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418880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BAF0FE06-03F2-28A5-79BC-526C9FFF462A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D744DED3-4479-11B4-F0D3-82758A8AA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22F4004F-08C5-78DB-6051-6D3137E737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1BE21ED4-3A84-032B-D552-6D21673F21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BC42CEB2-BD8A-095D-9B51-707AF943A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9DA264BA-1E21-41AF-8E9E-CD596EE094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8E855535-7B06-52B0-1350-577E383BA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9BE9D3A3-C5BF-1469-F56A-A053D82B7E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6EFB32B1-5659-B4FA-3B46-6E0D4324C7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9AB51A05-9EB3-3CBD-6A56-673D69A520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5C72C57C-AEE1-F086-A00E-252A8B3EB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BCA78DC7-B451-2500-E7FC-0316C3F83B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A4154616-AFD5-0EBE-7ECB-AF34A02E5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BA84A68A-89E5-23FC-DC44-50AD8EA42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119EB57E-EC8C-F07B-6B90-213BCA6DF9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7616A7A1-E57A-7708-B7D5-39B4A22979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EB27351E-87BA-6165-78FF-A28852CAA2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105AFBFE-F7E5-1358-141E-7D75269157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A53308F9-6715-778F-751D-C228D005C7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60086816-684B-7237-1575-28A0E07BA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8E3C06BA-A854-6C8E-70EC-576ABBB634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4CAB41F1-7695-A8F7-2230-DBB637056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98B5B86E-DC15-DAFE-D033-A161C50496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37F70368-F5FD-EC5C-A901-0EC6C36674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F62EAFD6-3C35-F45E-1FB2-FB10919E3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3A124249-B465-50AC-A3F1-E78CF114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4812E927-CA63-4D49-DDF9-07A68DF420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832B1560-BA82-BB7F-DC85-01BDB3F0A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767F8A91-03EA-D103-F3D2-4A637EC20B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DE51252F-1F5C-BA0D-A064-794F27A074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CD490516-B08C-ECBE-9790-BC258B956D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1591838A-4D2A-CCB0-1FDB-D81F4B3C8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41D00AC1-B1C1-2BDE-7EAF-EC9AFD4495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52F39286-AD35-3181-1867-CB941A8442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5402780F-8C0D-D83F-5E74-E79A554CF6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B8A78CF5-6EA1-8ACC-5A67-16AFA4D6CB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60C01414-0BF8-0F41-F51C-423D84A08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D43DBD77-0D44-6441-F8AB-63E086712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C2F51EAD-2034-B648-F197-2EBB5CA621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C328E8C4-8AC3-CF0A-4BB4-CD53959032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851DF6C9-B9DC-4E04-F74C-F6B04BA099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D2DFC480-784A-B4BE-C516-46DA4627D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4F2941FD-D8AB-E441-F696-D8E60C5CD1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387E117A-F7AF-5E90-07F4-2A6DABB4E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BF42AB3C-58E9-C4E6-B78B-11D9BC416B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8B287A52-8993-FF06-69BB-534CF8C7D4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BD2E8B26-3423-4C68-DAE2-AB4C3B0623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E08F6718-1C69-D828-D0EA-069F762FC2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77352DB9-DDE5-33D0-7BCE-7697BF15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7FE2AC94-4854-4025-54FF-287A0DE1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45BBF7E8-1ADF-5E1A-FDD4-5302929F6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4B4F2264-7001-93CD-86DE-07FFA2405A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93DAF186-E0C5-172C-802A-DB8397B95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957A8FE4-C7F7-8079-B822-B4C9454259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B93AEBD7-49E2-8B4B-CD37-5B79DE134B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E9A3D18D-591C-B73E-6BF8-528B077FBB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48C25212-CD1B-C213-94F1-8DBA04E323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D95B78A6-D11B-43E3-F7A4-D9BB47FF08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9D9743FA-B707-D1AE-274A-A6C38648D2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D807EF81-162E-ECB2-BBA8-ECD4F44EE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6D04B5D9-53AA-B707-CABA-17FEA63C8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33F34FC7-3CAB-3D6F-4518-6AFA14DCF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CA773309-39FD-D67A-31CC-B3476C1EA1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3D47C796-B16C-56DB-1A0B-D066A35E8D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4E4E7C59-F1D8-8379-690D-7962E05E51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4F88D9E4-9E03-A0F9-CEFA-A11A48FC8F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57EE1881-3FF8-8317-E29A-CF8A9F0445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7C7DA047-DA6C-151D-05A5-E147D7073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637B0CC2-049F-45A6-5C86-53A614014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2E417B2D-EC51-CDF0-D89B-D00A1DD5C9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E8E3A7CE-17F3-EBCD-0582-EABBAE5381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14AB2969-28B7-7982-10E2-AC6C778F6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4BBC54D3-E165-B68C-985A-6F3C59C51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7D8AF760-6B2C-3F43-C92F-0AC0D64A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8CD47751-E729-BA48-4057-FF45981621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48666D34-4602-6EBF-AEA3-19466048C7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BEB85D50-C8D8-5F5B-EBE8-A13298F49F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CA728789-5C65-FD43-2EAF-305CEDEF7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159A0798-632C-2116-71D9-BCB464EF9E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230B7402-8379-1851-E503-91E44D413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0F42FF3E-6E57-3BDB-3E67-9153D1203A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922D2107-8325-2DC0-4416-35605DF4D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FB576980-09E8-DEB3-7BAA-C2AEBD64C3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E1160DF3-CC4E-9A4E-1325-79AFC7867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718F5CBF-B4E0-7914-D6C9-34C91B6AF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E63EAD03-0EBF-C37E-2E53-C5A27CF53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74C8F114-948C-5F4D-06FA-03AD6978CC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D8C30AEB-A174-FEB2-29B3-1EAC1622F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0F61DFDC-3AFB-FD96-26ED-584B045253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957AADC0-529C-CB2B-45C8-772B985189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454BDB9E-269A-CF9F-210F-814FF0D742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BA71FBC9-4E29-F5AE-1681-8C221EC7F0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4A77A943-0ACC-13DF-F2F5-D4FBF9A2DC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877F8599-7FDA-BBEF-F241-7F660AF7E6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BA644A89-9C9D-C1E3-1F5D-6D307EED6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3DE17371-F623-36A0-D17F-8D95E49A0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E6FAAFF8-D24B-A732-64B7-B14A7321F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142C0F3F-63ED-7981-AA76-461A31AE8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8A109720-ECFB-7EC0-2E80-CA5D33AE12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F17BC3DA-EFE8-8D24-78EF-C836BE73B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E57A4463-9A71-C172-D6A0-87FF50EC51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7078AAE7-B568-D87E-122A-45BB5370E4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83A6898B-2686-119E-35A3-B731868464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0C5B6725-4E26-4BE3-B126-03B1546A6F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5A203831-6EAE-C404-4128-B20292C044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FD664F7A-6CBB-E56A-72C2-64B6FCC54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54741885-1077-1925-7B0A-BE9F797A5B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98F9F0C7-AC9F-9ACA-73F9-646CE66B9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F37F9426-C5D4-3C3D-56A5-E685DC893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74CBB901-CEAC-FFB1-F5F4-A4379E215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9177B25B-9A66-40C5-2EDA-AB30988AA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70407CE7-2686-F279-3B48-915E6ACA40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FB9BCDFE-199F-C63D-9340-0A143199C1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A0E8E1A1-0176-F8B6-C896-1F371D9496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86B8ECEE-97ED-81E7-0106-91A7063A4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26495827-6E9C-6037-DE3F-C279AF4E5A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8AACF5D3-F442-2771-4364-172DBB7047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025CCCF2-6389-F6F7-4FC4-A396670BEF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1FD9096E-E7B7-6EA5-4284-95941E52A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B97EDDC6-5084-76ED-5CDF-90FBCC9A0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061F87F5-190E-42D1-1A97-A9F489BC3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8E1C0BA2-4523-8B9C-8B63-EE54C2082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31CA7593-A7EE-8445-BDDD-A47C0AB1E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4CC7B57F-1606-1634-01FB-FDAA324A10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809B4713-F3D0-39F0-221F-10D080A341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CBB0C511-B83B-A555-0B0E-2B0CD53549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BE5F82E8-8815-9304-A53E-9EE47B96B6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83E3DA4D-71C3-3718-87F7-3B29F34B5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1DA9DCC2-FA31-EC77-0866-A836C48C4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9D86B2B6-6F6B-437F-4325-E1CFFDA6AD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5FE7C959-E7B8-FF63-5C09-E2B879E44D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EE52F8D6-FAE5-9004-6641-98427BDD3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535E09D5-B6A3-21DD-77DC-9ECB5C6EC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9F716782-B10E-8974-FDA8-F3793D767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6C0FB9AE-4CCE-16BE-9C2C-9617B730C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27DB0F5E-0A0F-080C-B95F-E4AF913CB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25158B22-57C7-9AEC-A811-F9C9944FD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AEDA918A-19B9-679A-4AD9-FF3E68E4B2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AD8BA80F-ECB5-2B53-35FF-D14F709931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E5F82357-569E-400E-A6C4-4988E44136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E384DEE5-9A1D-CC2E-B0A4-32C7530C2D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5C9FC2F1-26F0-FB56-5BEA-B7B9D57D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E416D408-70FB-3E78-4B64-35FC054BAD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F29CB3FF-D53E-860B-55E6-537BD6652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DC53B8FD-3913-3333-D826-83602338C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894E744E-831F-8C74-7888-54201919C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BC03C50D-73D8-0E17-93E0-BF798A17489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997EE62B-1A6D-6A09-1339-9D1786256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FCF72959-2DCA-FF5F-081C-FA598DAC17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424EEBF5-3256-B84F-150C-7C7E21C555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DA702C69-181F-E6E8-4DFF-49E3116F2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AEFA20F4-2DD0-220B-0B98-1EE0AFE13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5839A942-2398-51FB-5814-8C6057DA14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D91DB347-43A7-E510-F0AE-F448E932B3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09074821-3D73-C217-79B5-1C32AC7785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2E05A393-9562-6C37-0D85-774C0C1270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1899EC2E-6B15-7C52-37ED-8B752EAEAE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2750B6CA-FF42-6944-9624-DE157693D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8FE3CE19-BEC2-20B9-590B-CF5BDC437B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675CBF4D-314D-630C-4163-C58B8FE320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108471DC-A6D3-CA93-9184-6EB52EC22DA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0F53A46E-533D-B368-2E28-0BDBCB0D2F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F6D381E6-7D42-BC16-C782-C1ADFCB20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27FE50EA-00AE-67B2-D038-4CE69AF8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B58048BB-A414-8DF3-0DF1-CA40A0F76E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BC49902B-F68B-B772-2D5C-AEC9A5E4B9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70191DDB-E6C5-0B22-2A72-4207808389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09DEB81D-5D09-071D-4530-237CF36662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901BB0D6-CC33-D8FD-AA2B-285E694B64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D84DE60C-17D2-3A28-BF67-D4EFDAFCAA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87C07AC4-0C33-96EA-6D01-1519E5B0EE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60BC114C-B8FE-71B4-B461-63C7240DB5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E263841B-C245-8CCE-288F-13FACF81AD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7E800C89-D346-CD48-A1B9-6CA77F7B5D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7662FF38-2CFF-D90E-BE99-7B241578DB7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0DF6548C-3152-5D89-E0F4-6DE9A5BC79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C0BFCB7C-A3D8-7B71-D8FF-E54E6AE7E7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5E5710CF-72FE-1B4D-C1B6-99C99CFE1B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8F5A0CCA-08FF-C828-D713-599B7EC400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6D81DBE3-06C0-A0DA-811B-6765210D0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2FBC6F78-96B9-C750-E933-7FCB29752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BE2C93B2-45BF-C71A-C95F-75754E6EB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1645114B-241D-CBFB-DF02-F426698F30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75D6B95E-FEA9-DCA8-D98C-81F6CFFCBE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20B9B8A3-57AE-4347-85CC-9ECE02EC1B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069E78D8-49BF-CA16-1560-CB6F66192B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C3CC1FD7-B3CE-425F-203C-7E079549F2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6A41FA37-31DF-A4F7-E0FC-351931034D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04340B96-479B-C17C-FCCC-55CF50DFF5E4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02B7192A-36EF-DD56-1EEA-AE2B01AB7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5FB9CA45-2CD5-2FFE-831D-1F523E86D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FA2B997E-266C-691A-6406-7EF4AFFFC4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D28001C8-7E4D-AE66-C2AE-0C4770C499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ADDA9577-B6B8-760F-AA5F-A65C5F5EC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8BAE1FB4-E025-1213-62DE-3D910B05A5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0309EC23-6EF7-9E23-70B4-3F4C057123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E64C6400-4FCB-B5FA-BF84-142960EF4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010C1061-9074-63E6-0EC3-EE987262E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F4416352-86A6-0005-05D3-E175A5DBC8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545BEEA5-539D-7A89-0136-33EF7E2CFE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F9A72EF4-C58F-1184-B409-5B08E642F1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5793A61D-7D7E-6804-D4F1-98C680193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7E3E3447-4ECA-DF54-143A-5600BE058DD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1E1084A3-C186-6D92-5C18-053E2F29C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325A1738-7CA2-76E1-B157-647A377806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323C2106-7E92-FB06-1B3A-02AEC63E96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A63EE8EA-205A-DF64-83F1-99B0CB25E8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B53CF71F-DF4D-FB5E-2B95-CFC5D8A9A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A867FB5A-34B3-676A-B7AD-C706E1915D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5F3781C2-FF6E-577D-A6A5-4C32712B8D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E04F4E19-258A-61B3-22AB-4651A84832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704F4B13-269F-4C9F-A382-98723F403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E70BEAC2-3626-6387-7220-7E50211CF3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F23AD894-98A5-9D1F-88FA-1DF5C48316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69988AAC-6585-0E89-DCF6-4D1C3EF22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94A13C27-68A6-2758-AD0F-0C1F136897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8005E67F-CE8B-BB1B-4D6A-CC30FB0EC18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59926813-B4C4-2703-A2B8-31A6C4BBE9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05A4CB1E-A8AF-1AC4-1FDC-A6AFD83C4F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51C147B0-A624-82CB-33E2-A040B34F8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88EE05BF-9C19-BA32-95A1-F32CD1304E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8C29D7BD-24B2-0234-902B-91EC1DD892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F082B154-8DBB-1F51-55C4-96EF806F7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F283C60B-AD55-9426-A2EC-03AF0FF37C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4AD302FF-DEC9-22A8-F0DF-BC5CBDCD2D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CFB35FCD-91AD-0488-72AE-C26281C370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24EFD79F-F93A-13CB-6632-FB23E9B58D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6151D4F3-389A-6106-BF51-6D90136FFA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F1D32EE5-3618-7904-4A23-FF274828B3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BD3605F5-AC52-6F1E-5BAF-202921615A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66E262B3-ADCA-6090-E411-A98DBDF87F78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B7FAACD0-0007-7A64-6BA0-29335A144C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B75718B3-A1CC-8064-FC32-060B14B1D1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D37FE095-F86C-82FB-86E0-DFE7C1BCF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103E5F0E-BAFB-D8D6-9C3A-9FE60A8BC5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F8C4EB1A-3E93-A5D6-AB55-A79A5D2B7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B8480B2C-F3E5-A6BC-481C-72841CCC8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F71BD54D-5171-8A29-B1B4-F48943CB9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CE3B993A-81D4-0CA7-1083-E9742309A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052216DF-87AC-C5A9-B973-F662AD427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2DDF7DD7-CFD6-FE17-105B-1D2917A33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DC53CC24-0AAE-BD8E-E735-8A4AC7C1B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E7CD8E80-8B5D-F3EB-742C-F1CCB03FF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A2BDE136-F203-9420-EA78-7F4844D5F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EEEFA7E1-B400-8395-EFF8-3EB90248B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CF680F38-D9D1-A956-8AA9-44187B329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FF05A816-12E8-2EA2-D608-2015E7D2DD3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B449BA80-B9F8-53B7-A384-195EEA100DC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21EF28A2-867A-2A55-EAC5-BE569D7AC51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3BF74234-FF63-F0AB-6E71-4FE015D1FF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D4EB9400-FBC9-D9D4-6BD4-D8E8DA2EA9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5DAA4D-5D4F-4F73-8FD4-665DBF4355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ransition>
    <p:blinds dir="vert"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z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5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7791FB-9FED-14E1-DD1C-016CD1722A0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E1D1256-D526-6451-9416-96A86244F51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4648200" cy="17351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Lnsxuxx@zsu.edu.cn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84112173(O)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3B91DA17-7955-66AC-1104-94396C69B76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9C4855DE-3527-6F05-211A-8E2753C89A5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600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b="1"/>
              <a:t>IS-LM</a:t>
            </a:r>
            <a:r>
              <a:rPr lang="zh-CN" altLang="en-US" b="1"/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目标、政策和绩效</a:t>
            </a:r>
          </a:p>
        </p:txBody>
      </p:sp>
      <p:sp>
        <p:nvSpPr>
          <p:cNvPr id="330757" name="Oval 5">
            <a:extLst>
              <a:ext uri="{FF2B5EF4-FFF2-40B4-BE49-F238E27FC236}">
                <a16:creationId xmlns:a16="http://schemas.microsoft.com/office/drawing/2014/main" id="{472B0112-E423-C6F6-4D67-02D2BBE09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791200"/>
            <a:ext cx="1295400" cy="55245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zh-CN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 autoUpdateAnimBg="0"/>
      <p:bldP spid="330757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DDE73F66-B060-E784-7EC7-031E3C43708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F1441E67-FBB0-2B34-331B-E74A03208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695AF753-711A-7360-610B-E988EE5E25B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0" y="1828800"/>
            <a:ext cx="6096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宏观经济管理的诞生：大危机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宏观经济管理目标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两个基本分析框架</a:t>
            </a:r>
          </a:p>
        </p:txBody>
      </p:sp>
      <p:sp>
        <p:nvSpPr>
          <p:cNvPr id="221194" name="Rectangle 10">
            <a:extLst>
              <a:ext uri="{FF2B5EF4-FFF2-40B4-BE49-F238E27FC236}">
                <a16:creationId xmlns:a16="http://schemas.microsoft.com/office/drawing/2014/main" id="{96C71EC6-FB05-FDC2-A671-CF70627D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810000"/>
            <a:ext cx="4267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对应章节</a:t>
            </a:r>
          </a:p>
          <a:p>
            <a:pPr lvl="1"/>
            <a:r>
              <a:rPr lang="zh-CN" altLang="en-US" sz="2400" b="1"/>
              <a:t>第</a:t>
            </a:r>
            <a:r>
              <a:rPr lang="en-US" altLang="zh-CN" sz="2400" b="1"/>
              <a:t>18</a:t>
            </a:r>
            <a:r>
              <a:rPr lang="zh-CN" altLang="en-US" sz="2400" b="1"/>
              <a:t>章中的</a:t>
            </a:r>
            <a:r>
              <a:rPr lang="en-US" altLang="zh-CN" sz="2400" b="1"/>
              <a:t>18.1</a:t>
            </a:r>
            <a:r>
              <a:rPr lang="zh-CN" altLang="en-US" sz="2400" b="1"/>
              <a:t>－</a:t>
            </a:r>
            <a:r>
              <a:rPr lang="en-US" altLang="zh-CN" sz="2400" b="1"/>
              <a:t>18.4</a:t>
            </a:r>
          </a:p>
          <a:p>
            <a:pPr lvl="1"/>
            <a:r>
              <a:rPr lang="zh-CN" altLang="en-US" sz="2400" b="1"/>
              <a:t>第</a:t>
            </a:r>
            <a:r>
              <a:rPr lang="en-US" altLang="zh-CN" sz="2400" b="1"/>
              <a:t>7</a:t>
            </a:r>
            <a:r>
              <a:rPr lang="zh-CN" altLang="en-US" sz="2400" b="1"/>
              <a:t>章</a:t>
            </a:r>
          </a:p>
          <a:p>
            <a:pPr lvl="1"/>
            <a:r>
              <a:rPr lang="zh-CN" altLang="en-US" sz="2400" b="1"/>
              <a:t>第</a:t>
            </a:r>
            <a:r>
              <a:rPr lang="en-US" altLang="zh-CN" sz="2400" b="1"/>
              <a:t>5</a:t>
            </a:r>
            <a:r>
              <a:rPr lang="zh-CN" altLang="en-US" sz="2400" b="1"/>
              <a:t>章和第</a:t>
            </a:r>
            <a:r>
              <a:rPr lang="en-US" altLang="zh-CN" sz="2400" b="1"/>
              <a:t>10</a:t>
            </a:r>
            <a:r>
              <a:rPr lang="zh-CN" altLang="en-US" sz="2400" b="1"/>
              <a:t>章（回顾）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  <p:bldP spid="22119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1D4E9DA2-1155-FF5A-980B-803313D9EC9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 </a:t>
            </a:r>
            <a:r>
              <a:rPr lang="zh-CN" altLang="en-US" b="1">
                <a:solidFill>
                  <a:srgbClr val="CC0000"/>
                </a:solidFill>
              </a:rPr>
              <a:t>大危机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9829D1EB-3B23-1F30-5FF9-50A6A4712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5702" name="Rectangle 6">
            <a:extLst>
              <a:ext uri="{FF2B5EF4-FFF2-40B4-BE49-F238E27FC236}">
                <a16:creationId xmlns:a16="http://schemas.microsoft.com/office/drawing/2014/main" id="{4022FA19-5360-1300-D879-012350C9D41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2057400"/>
            <a:ext cx="6781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为什么要关注重大经济事件？</a:t>
            </a:r>
            <a:endParaRPr lang="zh-CN" altLang="en-US" sz="2000" b="1"/>
          </a:p>
        </p:txBody>
      </p:sp>
      <p:sp>
        <p:nvSpPr>
          <p:cNvPr id="285732" name="Rectangle 36">
            <a:extLst>
              <a:ext uri="{FF2B5EF4-FFF2-40B4-BE49-F238E27FC236}">
                <a16:creationId xmlns:a16="http://schemas.microsoft.com/office/drawing/2014/main" id="{C8B1D6ED-3B96-1836-BE29-6CDB1FAC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00400"/>
            <a:ext cx="4267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主要内容</a:t>
            </a:r>
          </a:p>
          <a:p>
            <a:pPr lvl="1"/>
            <a:r>
              <a:rPr lang="zh-CN" altLang="en-US" sz="2400" b="1"/>
              <a:t>大危机鸟瞰</a:t>
            </a:r>
          </a:p>
          <a:p>
            <a:pPr lvl="1"/>
            <a:r>
              <a:rPr lang="zh-CN" altLang="en-US" sz="2400" b="1"/>
              <a:t>大危机的治理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autoUpdateAnimBg="0"/>
      <p:bldP spid="285702" grpId="0" autoUpdateAnimBg="0"/>
      <p:bldP spid="28573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1F98EA58-CBC4-8E41-DD56-002867998D0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大机鸟瞰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股市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B6E0292D-35C4-D821-94F4-4C66E98C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6532" name="Rectangle 4">
            <a:extLst>
              <a:ext uri="{FF2B5EF4-FFF2-40B4-BE49-F238E27FC236}">
                <a16:creationId xmlns:a16="http://schemas.microsoft.com/office/drawing/2014/main" id="{9D903BAF-C7AE-9E71-2665-975898CF841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2192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1929.10.29</a:t>
            </a:r>
            <a:r>
              <a:rPr lang="zh-CN" altLang="en-US" sz="3200" b="1"/>
              <a:t>，星期二，美国股市崩溃后的情景</a:t>
            </a:r>
            <a:endParaRPr lang="zh-CN" altLang="en-US" sz="2000" b="1"/>
          </a:p>
        </p:txBody>
      </p:sp>
      <p:sp>
        <p:nvSpPr>
          <p:cNvPr id="406535" name="Rectangle 7">
            <a:extLst>
              <a:ext uri="{FF2B5EF4-FFF2-40B4-BE49-F238E27FC236}">
                <a16:creationId xmlns:a16="http://schemas.microsoft.com/office/drawing/2014/main" id="{3A2C6A3F-441C-E533-5583-51A82B874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6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6541" name="Rectangle 13">
            <a:extLst>
              <a:ext uri="{FF2B5EF4-FFF2-40B4-BE49-F238E27FC236}">
                <a16:creationId xmlns:a16="http://schemas.microsoft.com/office/drawing/2014/main" id="{CE1AFFE9-0C24-768D-E677-9D1C70B99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6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406547" name="Picture 19">
            <a:extLst>
              <a:ext uri="{FF2B5EF4-FFF2-40B4-BE49-F238E27FC236}">
                <a16:creationId xmlns:a16="http://schemas.microsoft.com/office/drawing/2014/main" id="{D5AFE561-7C20-72F2-B864-2EA3BA669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579120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6548" name="Rectangle 20">
            <a:extLst>
              <a:ext uri="{FF2B5EF4-FFF2-40B4-BE49-F238E27FC236}">
                <a16:creationId xmlns:a16="http://schemas.microsoft.com/office/drawing/2014/main" id="{EC3A65A1-826C-06EE-2074-9D811A0A5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8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6554" name="Rectangle 26">
            <a:extLst>
              <a:ext uri="{FF2B5EF4-FFF2-40B4-BE49-F238E27FC236}">
                <a16:creationId xmlns:a16="http://schemas.microsoft.com/office/drawing/2014/main" id="{D09D6EBB-B1FF-D38B-1C37-7D4CA04F273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60198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000" b="1">
                <a:latin typeface="Times New Roman" panose="02020603050405020304" pitchFamily="18" charset="0"/>
              </a:rPr>
              <a:t>Cynical New York hotel clerks asked incoming guests, "You want a room for sleeping or jumping?"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0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0" grpId="0" autoUpdateAnimBg="0"/>
      <p:bldP spid="406532" grpId="0" autoUpdateAnimBg="0"/>
      <p:bldP spid="40655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>
            <a:extLst>
              <a:ext uri="{FF2B5EF4-FFF2-40B4-BE49-F238E27FC236}">
                <a16:creationId xmlns:a16="http://schemas.microsoft.com/office/drawing/2014/main" id="{F4E8C4A9-93A6-D633-F533-44D213B6E90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股市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B0A94A65-9E97-21AC-8CC1-3D568A289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4484" name="Rectangle 4">
            <a:extLst>
              <a:ext uri="{FF2B5EF4-FFF2-40B4-BE49-F238E27FC236}">
                <a16:creationId xmlns:a16="http://schemas.microsoft.com/office/drawing/2014/main" id="{D2DA6D72-3AEB-ED77-909D-A6CB1A96080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746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1929.10.29</a:t>
            </a:r>
            <a:r>
              <a:rPr lang="zh-CN" altLang="en-US" sz="3200" b="1"/>
              <a:t>，星期二，美国股市崩溃</a:t>
            </a:r>
            <a:endParaRPr lang="zh-CN" altLang="en-US" sz="2000" b="1"/>
          </a:p>
        </p:txBody>
      </p:sp>
      <p:graphicFrame>
        <p:nvGraphicFramePr>
          <p:cNvPr id="404486" name="Object 6">
            <a:extLst>
              <a:ext uri="{FF2B5EF4-FFF2-40B4-BE49-F238E27FC236}">
                <a16:creationId xmlns:a16="http://schemas.microsoft.com/office/drawing/2014/main" id="{B18C2FF4-C0A1-74B6-FE3E-34A4BC15E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700" y="2524125"/>
          <a:ext cx="7086600" cy="387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982054" imgH="3534156" progId="Excel.Chart.8">
                  <p:embed/>
                </p:oleObj>
              </mc:Choice>
              <mc:Fallback>
                <p:oleObj name="Chart" r:id="rId2" imgW="6982054" imgH="3534156" progId="Excel.Char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2524125"/>
                        <a:ext cx="7086600" cy="387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04486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404486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04486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04486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utoUpdateAnimBg="0"/>
      <p:bldP spid="404484" grpId="0" autoUpdateAnimBg="0"/>
      <p:bldOleChart spid="404486" grpId="0" bld="series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DCAC3295-F8F0-9CA1-B063-70D83D099F8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股市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AC1263D3-59E7-F4C8-C774-50913C015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5508" name="Rectangle 4">
            <a:extLst>
              <a:ext uri="{FF2B5EF4-FFF2-40B4-BE49-F238E27FC236}">
                <a16:creationId xmlns:a16="http://schemas.microsoft.com/office/drawing/2014/main" id="{5195B189-EE44-C0A4-7702-8D4BF116C78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746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1929.10.29</a:t>
            </a:r>
            <a:r>
              <a:rPr lang="zh-CN" altLang="en-US" sz="3200" b="1"/>
              <a:t>，星期二，美国股市崩溃</a:t>
            </a:r>
            <a:endParaRPr lang="zh-CN" altLang="en-US" sz="2000" b="1"/>
          </a:p>
        </p:txBody>
      </p:sp>
      <p:graphicFrame>
        <p:nvGraphicFramePr>
          <p:cNvPr id="405510" name="Object 6">
            <a:extLst>
              <a:ext uri="{FF2B5EF4-FFF2-40B4-BE49-F238E27FC236}">
                <a16:creationId xmlns:a16="http://schemas.microsoft.com/office/drawing/2014/main" id="{92D26CE4-8DC1-7DEB-182B-B0FB680ADC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514600"/>
          <a:ext cx="44196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14600"/>
                        <a:ext cx="44196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1" name="Object 7">
            <a:extLst>
              <a:ext uri="{FF2B5EF4-FFF2-40B4-BE49-F238E27FC236}">
                <a16:creationId xmlns:a16="http://schemas.microsoft.com/office/drawing/2014/main" id="{20D48387-0315-04E4-D593-7FAD10962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590800"/>
          <a:ext cx="44196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096305" imgH="4067556" progId="MSGraph.Chart.8">
                  <p:embed followColorScheme="full"/>
                </p:oleObj>
              </mc:Choice>
              <mc:Fallback>
                <p:oleObj name="Chart" r:id="rId4" imgW="6096305" imgH="4067556" progId="MSGraph.Chart.8">
                  <p:embed followColorScheme="full"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590800"/>
                        <a:ext cx="44196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05510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405510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05510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05510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05511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405511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405511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405511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 autoUpdateAnimBg="0"/>
      <p:bldP spid="405508" grpId="0" autoUpdateAnimBg="0"/>
      <p:bldOleChart spid="405510" grpId="0" bld="series"/>
      <p:bldOleChart spid="405511" grpId="0" bld="series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3FF22633-B45A-32D5-F436-AA5E83BBA6B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1.2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产出水平</a:t>
            </a:r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1B564A14-8C79-7E97-35A1-2EA76082D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92D4DF6E-27DA-4379-4C03-BCF9A8BC4FF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746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在</a:t>
            </a:r>
            <a:r>
              <a:rPr lang="en-US" altLang="zh-CN" sz="3200" b="1"/>
              <a:t>1929-1933</a:t>
            </a:r>
            <a:r>
              <a:rPr lang="zh-CN" altLang="en-US" sz="3200" b="1"/>
              <a:t>年间，</a:t>
            </a:r>
            <a:r>
              <a:rPr lang="en-US" altLang="zh-CN" sz="3200" b="1"/>
              <a:t>GNP</a:t>
            </a:r>
            <a:r>
              <a:rPr lang="zh-CN" altLang="en-US" sz="3200" b="1"/>
              <a:t>下降近</a:t>
            </a:r>
            <a:r>
              <a:rPr lang="en-US" altLang="zh-CN" sz="3200" b="1"/>
              <a:t>30</a:t>
            </a:r>
            <a:r>
              <a:rPr lang="zh-CN" altLang="en-US" sz="3200" b="1"/>
              <a:t>％</a:t>
            </a:r>
            <a:endParaRPr lang="zh-CN" altLang="en-US" sz="2000" b="1"/>
          </a:p>
        </p:txBody>
      </p:sp>
      <p:graphicFrame>
        <p:nvGraphicFramePr>
          <p:cNvPr id="407558" name="Object 6">
            <a:extLst>
              <a:ext uri="{FF2B5EF4-FFF2-40B4-BE49-F238E27FC236}">
                <a16:creationId xmlns:a16="http://schemas.microsoft.com/office/drawing/2014/main" id="{D8F9C7BF-CFEB-FB94-8A57-0F1908356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2590800"/>
          <a:ext cx="44196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590800"/>
                        <a:ext cx="44196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9" name="Object 7">
            <a:extLst>
              <a:ext uri="{FF2B5EF4-FFF2-40B4-BE49-F238E27FC236}">
                <a16:creationId xmlns:a16="http://schemas.microsoft.com/office/drawing/2014/main" id="{985C7556-B0B0-800E-828E-6345766DF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590800"/>
          <a:ext cx="44196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096305" imgH="4067556" progId="MSGraph.Chart.8">
                  <p:embed followColorScheme="full"/>
                </p:oleObj>
              </mc:Choice>
              <mc:Fallback>
                <p:oleObj name="Chart" r:id="rId4" imgW="6096305" imgH="4067556" progId="MSGraph.Chart.8">
                  <p:embed followColorScheme="full"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590800"/>
                        <a:ext cx="44196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07558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07558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07559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07559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 autoUpdateAnimBg="0"/>
      <p:bldP spid="407556" grpId="0" autoUpdateAnimBg="0"/>
      <p:bldOleChart spid="407558" grpId="0" bld="series"/>
      <p:bldOleChart spid="407559" grpId="0" bld="series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90556A2F-E486-9495-1EB2-EE5BBCB0EF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大量失业</a:t>
            </a:r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971CC7F9-CF8D-75CF-F286-54162EB77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0FAB08A8-6696-82FE-68BE-0CB33A0C8D7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746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在</a:t>
            </a:r>
            <a:r>
              <a:rPr lang="en-US" altLang="zh-CN" sz="3200" b="1"/>
              <a:t>1929-1933</a:t>
            </a:r>
            <a:r>
              <a:rPr lang="zh-CN" altLang="en-US" sz="3200" b="1"/>
              <a:t>年间，大量失业</a:t>
            </a:r>
            <a:endParaRPr lang="zh-CN" altLang="en-US" sz="2000" b="1"/>
          </a:p>
        </p:txBody>
      </p:sp>
      <p:graphicFrame>
        <p:nvGraphicFramePr>
          <p:cNvPr id="408581" name="Object 5">
            <a:extLst>
              <a:ext uri="{FF2B5EF4-FFF2-40B4-BE49-F238E27FC236}">
                <a16:creationId xmlns:a16="http://schemas.microsoft.com/office/drawing/2014/main" id="{3DA9902E-8C30-13DC-A6D6-7D376FEEC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2590800"/>
          <a:ext cx="4419600" cy="421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590800"/>
                        <a:ext cx="4419600" cy="421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8583" name="Picture 7">
            <a:extLst>
              <a:ext uri="{FF2B5EF4-FFF2-40B4-BE49-F238E27FC236}">
                <a16:creationId xmlns:a16="http://schemas.microsoft.com/office/drawing/2014/main" id="{5DE7D784-A827-DB09-763C-22ECB10C4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514600"/>
            <a:ext cx="4419600" cy="414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08581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08581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utoUpdateAnimBg="0"/>
      <p:bldP spid="408580" grpId="0" autoUpdateAnimBg="0"/>
      <p:bldOleChart spid="408581" grpId="0" bld="series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>
            <a:extLst>
              <a:ext uri="{FF2B5EF4-FFF2-40B4-BE49-F238E27FC236}">
                <a16:creationId xmlns:a16="http://schemas.microsoft.com/office/drawing/2014/main" id="{1566A00B-A52B-830E-7AA0-128FE357787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大量失业</a:t>
            </a:r>
          </a:p>
        </p:txBody>
      </p:sp>
      <p:sp>
        <p:nvSpPr>
          <p:cNvPr id="409603" name="Rectangle 3">
            <a:extLst>
              <a:ext uri="{FF2B5EF4-FFF2-40B4-BE49-F238E27FC236}">
                <a16:creationId xmlns:a16="http://schemas.microsoft.com/office/drawing/2014/main" id="{513ACBD1-4A01-7495-5EDD-B485CA053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04" name="Rectangle 4">
            <a:extLst>
              <a:ext uri="{FF2B5EF4-FFF2-40B4-BE49-F238E27FC236}">
                <a16:creationId xmlns:a16="http://schemas.microsoft.com/office/drawing/2014/main" id="{83F87B40-A05B-8658-2958-3CAFAEB6642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746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在</a:t>
            </a:r>
            <a:r>
              <a:rPr lang="en-US" altLang="zh-CN" sz="3200" b="1"/>
              <a:t>1929-1933</a:t>
            </a:r>
            <a:r>
              <a:rPr lang="zh-CN" altLang="en-US" sz="3200" b="1"/>
              <a:t>年间，大量失业</a:t>
            </a:r>
            <a:endParaRPr lang="zh-CN" altLang="en-US" sz="2000" b="1"/>
          </a:p>
        </p:txBody>
      </p:sp>
      <p:pic>
        <p:nvPicPr>
          <p:cNvPr id="409607" name="Picture 7">
            <a:extLst>
              <a:ext uri="{FF2B5EF4-FFF2-40B4-BE49-F238E27FC236}">
                <a16:creationId xmlns:a16="http://schemas.microsoft.com/office/drawing/2014/main" id="{874A85DE-327E-FE97-5DC2-C1A891916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743200"/>
            <a:ext cx="46482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08" name="Picture 8">
            <a:extLst>
              <a:ext uri="{FF2B5EF4-FFF2-40B4-BE49-F238E27FC236}">
                <a16:creationId xmlns:a16="http://schemas.microsoft.com/office/drawing/2014/main" id="{F1765B20-53F8-40D0-2C93-393C4217A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3200"/>
            <a:ext cx="4191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utoUpdateAnimBg="0"/>
      <p:bldP spid="40960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>
            <a:extLst>
              <a:ext uri="{FF2B5EF4-FFF2-40B4-BE49-F238E27FC236}">
                <a16:creationId xmlns:a16="http://schemas.microsoft.com/office/drawing/2014/main" id="{8D837158-3025-FA89-442C-4A1474261A2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货币银行</a:t>
            </a:r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94AEC8A6-9905-66E1-17FA-E691BBF88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628" name="Rectangle 4">
            <a:extLst>
              <a:ext uri="{FF2B5EF4-FFF2-40B4-BE49-F238E27FC236}">
                <a16:creationId xmlns:a16="http://schemas.microsoft.com/office/drawing/2014/main" id="{4B3454BD-0392-FCEC-F021-8BA92931CD9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5562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银行大量破产，货币减少</a:t>
            </a:r>
            <a:endParaRPr lang="zh-CN" altLang="en-US" sz="2000" b="1"/>
          </a:p>
        </p:txBody>
      </p:sp>
      <p:graphicFrame>
        <p:nvGraphicFramePr>
          <p:cNvPr id="410629" name="Object 5">
            <a:extLst>
              <a:ext uri="{FF2B5EF4-FFF2-40B4-BE49-F238E27FC236}">
                <a16:creationId xmlns:a16="http://schemas.microsoft.com/office/drawing/2014/main" id="{66B8DA1E-E42A-9CF8-D0B9-9D2368A224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2438400"/>
          <a:ext cx="4419600" cy="421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438400"/>
                        <a:ext cx="4419600" cy="421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631" name="Picture 7">
            <a:extLst>
              <a:ext uri="{FF2B5EF4-FFF2-40B4-BE49-F238E27FC236}">
                <a16:creationId xmlns:a16="http://schemas.microsoft.com/office/drawing/2014/main" id="{81955FC3-27A4-771D-0EE9-4920163B7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2875"/>
            <a:ext cx="4838700" cy="387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0629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0629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autoUpdateAnimBg="0"/>
      <p:bldP spid="410628" grpId="0" autoUpdateAnimBg="0"/>
      <p:bldOleChart spid="410629" grpId="0" bld="series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18D3DAE2-21B0-F125-2459-FCA5BD78293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52400" y="1295400"/>
            <a:ext cx="4654550" cy="20574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货币银行</a:t>
            </a:r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566AFB71-B141-34E3-54BC-438A6D725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1652" name="Rectangle 4">
            <a:extLst>
              <a:ext uri="{FF2B5EF4-FFF2-40B4-BE49-F238E27FC236}">
                <a16:creationId xmlns:a16="http://schemas.microsoft.com/office/drawing/2014/main" id="{05864B37-CC25-E175-4BA5-31B63C875D9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3962400"/>
            <a:ext cx="3886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国际金融系统崩溃</a:t>
            </a:r>
            <a:endParaRPr lang="zh-CN" altLang="en-US" sz="2000" b="1"/>
          </a:p>
        </p:txBody>
      </p:sp>
      <p:pic>
        <p:nvPicPr>
          <p:cNvPr id="411655" name="Picture 7">
            <a:extLst>
              <a:ext uri="{FF2B5EF4-FFF2-40B4-BE49-F238E27FC236}">
                <a16:creationId xmlns:a16="http://schemas.microsoft.com/office/drawing/2014/main" id="{8AFEFE0E-68BA-4ED6-24E0-9E8488AB3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04800"/>
            <a:ext cx="3897313" cy="643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autoUpdateAnimBg="0"/>
      <p:bldP spid="41165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2E8D172A-AC84-B6B7-6F0F-7BEB97E09B6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1.5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物价、投资</a:t>
            </a:r>
          </a:p>
        </p:txBody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A01214AD-CC03-40EC-EE03-9A82D0556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2676" name="Rectangle 4">
            <a:extLst>
              <a:ext uri="{FF2B5EF4-FFF2-40B4-BE49-F238E27FC236}">
                <a16:creationId xmlns:a16="http://schemas.microsoft.com/office/drawing/2014/main" id="{A55BCF63-5DB3-9AEA-74B8-44432DFA60A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2743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通货紧缩</a:t>
            </a:r>
            <a:endParaRPr lang="zh-CN" altLang="en-US" sz="2000" b="1"/>
          </a:p>
        </p:txBody>
      </p:sp>
      <p:graphicFrame>
        <p:nvGraphicFramePr>
          <p:cNvPr id="412677" name="Object 5">
            <a:extLst>
              <a:ext uri="{FF2B5EF4-FFF2-40B4-BE49-F238E27FC236}">
                <a16:creationId xmlns:a16="http://schemas.microsoft.com/office/drawing/2014/main" id="{B2D9F820-B3D7-3EB9-013F-A37282C16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2438400"/>
          <a:ext cx="4419600" cy="421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438400"/>
                        <a:ext cx="4419600" cy="421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2" name="Rectangle 10">
            <a:extLst>
              <a:ext uri="{FF2B5EF4-FFF2-40B4-BE49-F238E27FC236}">
                <a16:creationId xmlns:a16="http://schemas.microsoft.com/office/drawing/2014/main" id="{FEDB22DF-4718-9BCB-E9C1-37EF1BEEBFA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562600" y="1447800"/>
            <a:ext cx="2743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投资暴跌</a:t>
            </a:r>
            <a:endParaRPr lang="zh-CN" altLang="en-US" sz="2000" b="1"/>
          </a:p>
        </p:txBody>
      </p:sp>
      <p:graphicFrame>
        <p:nvGraphicFramePr>
          <p:cNvPr id="412683" name="Object 11">
            <a:extLst>
              <a:ext uri="{FF2B5EF4-FFF2-40B4-BE49-F238E27FC236}">
                <a16:creationId xmlns:a16="http://schemas.microsoft.com/office/drawing/2014/main" id="{16DAE8C3-6225-43D8-F41A-3F9211F5C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362200"/>
          <a:ext cx="4419600" cy="421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096305" imgH="4067556" progId="MSGraph.Chart.8">
                  <p:embed followColorScheme="full"/>
                </p:oleObj>
              </mc:Choice>
              <mc:Fallback>
                <p:oleObj name="Chart" r:id="rId4" imgW="6096305" imgH="4067556" progId="MSGraph.Chart.8">
                  <p:embed followColorScheme="full"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62200"/>
                        <a:ext cx="4419600" cy="421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2677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2677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1268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3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12683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6" grpId="0" autoUpdateAnimBg="0"/>
      <p:bldOleChart spid="412677" grpId="0" bld="series"/>
      <p:bldP spid="412682" grpId="0" autoUpdateAnimBg="0"/>
      <p:bldOleChart spid="412683" grpId="0" bld="series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>
            <a:extLst>
              <a:ext uri="{FF2B5EF4-FFF2-40B4-BE49-F238E27FC236}">
                <a16:creationId xmlns:a16="http://schemas.microsoft.com/office/drawing/2014/main" id="{569ED5EA-2B3B-CC22-0323-BDCE2CC15A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1.6 </a:t>
            </a:r>
            <a:r>
              <a:rPr lang="zh-CN" altLang="en-US" b="1">
                <a:solidFill>
                  <a:srgbClr val="CC0000"/>
                </a:solidFill>
              </a:rPr>
              <a:t>大危机鸟瞰</a:t>
            </a:r>
            <a:r>
              <a:rPr lang="en-US" altLang="zh-CN" b="1">
                <a:solidFill>
                  <a:srgbClr val="CC0000"/>
                </a:solidFill>
              </a:rPr>
              <a:t>——</a:t>
            </a:r>
            <a:r>
              <a:rPr lang="zh-CN" altLang="en-US" b="1">
                <a:solidFill>
                  <a:srgbClr val="CC0000"/>
                </a:solidFill>
              </a:rPr>
              <a:t>国际贸易萎缩</a:t>
            </a:r>
          </a:p>
        </p:txBody>
      </p:sp>
      <p:sp>
        <p:nvSpPr>
          <p:cNvPr id="413699" name="Rectangle 3">
            <a:extLst>
              <a:ext uri="{FF2B5EF4-FFF2-40B4-BE49-F238E27FC236}">
                <a16:creationId xmlns:a16="http://schemas.microsoft.com/office/drawing/2014/main" id="{15A79179-90C8-6CDE-34C7-630D80130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3700" name="Rectangle 4">
            <a:extLst>
              <a:ext uri="{FF2B5EF4-FFF2-40B4-BE49-F238E27FC236}">
                <a16:creationId xmlns:a16="http://schemas.microsoft.com/office/drawing/2014/main" id="{F98586B2-278A-13C2-4B0C-6FC02954E72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5562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国际贸易萎缩</a:t>
            </a:r>
            <a:endParaRPr lang="zh-CN" altLang="en-US" sz="2000" b="1"/>
          </a:p>
        </p:txBody>
      </p:sp>
      <p:pic>
        <p:nvPicPr>
          <p:cNvPr id="413702" name="Picture 6">
            <a:extLst>
              <a:ext uri="{FF2B5EF4-FFF2-40B4-BE49-F238E27FC236}">
                <a16:creationId xmlns:a16="http://schemas.microsoft.com/office/drawing/2014/main" id="{70058C2E-25FB-E9AF-576E-29D3CCD5D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200"/>
            <a:ext cx="6172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3703" name="Object 7">
            <a:extLst>
              <a:ext uri="{FF2B5EF4-FFF2-40B4-BE49-F238E27FC236}">
                <a16:creationId xmlns:a16="http://schemas.microsoft.com/office/drawing/2014/main" id="{B9A18F00-CAFB-9325-C9FF-243AD5A6A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667000"/>
          <a:ext cx="2971800" cy="407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562807" imgH="4067556" progId="MSGraph.Chart.8">
                  <p:embed followColorScheme="full"/>
                </p:oleObj>
              </mc:Choice>
              <mc:Fallback>
                <p:oleObj name="Chart" r:id="rId3" imgW="3562807" imgH="4067556" progId="MSGraph.Chart.8">
                  <p:embed followColorScheme="full"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667000"/>
                        <a:ext cx="2971800" cy="407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1370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13703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13703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utoUpdateAnimBg="0"/>
      <p:bldP spid="413700" grpId="0" autoUpdateAnimBg="0"/>
      <p:bldOleChart spid="413703" grpId="0" bld="series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id="{192FC97B-85F5-AD34-87FB-47E2345D523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1.7 </a:t>
            </a:r>
            <a:r>
              <a:rPr lang="zh-CN" altLang="en-US" b="1">
                <a:solidFill>
                  <a:srgbClr val="CC0000"/>
                </a:solidFill>
              </a:rPr>
              <a:t>小结</a:t>
            </a:r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E886CC8D-CD36-31FD-0CDA-21CE9F510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4725" name="Rectangle 5">
            <a:extLst>
              <a:ext uri="{FF2B5EF4-FFF2-40B4-BE49-F238E27FC236}">
                <a16:creationId xmlns:a16="http://schemas.microsoft.com/office/drawing/2014/main" id="{C4D78F37-28AD-ED01-3BD4-4D0ABD22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0"/>
            <a:ext cx="8153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大危机的表现</a:t>
            </a:r>
          </a:p>
          <a:p>
            <a:pPr lvl="1"/>
            <a:r>
              <a:rPr lang="zh-CN" altLang="en-US" sz="2400" b="1"/>
              <a:t>经济剧烈波动（产出水平下降</a:t>
            </a:r>
            <a:r>
              <a:rPr lang="en-US" altLang="zh-CN" sz="2400" b="1"/>
              <a:t>30</a:t>
            </a:r>
            <a:r>
              <a:rPr lang="zh-CN" altLang="en-US" sz="2400" b="1"/>
              <a:t>％）</a:t>
            </a:r>
          </a:p>
          <a:p>
            <a:pPr lvl="1"/>
            <a:r>
              <a:rPr lang="zh-CN" altLang="en-US" sz="2400" b="1"/>
              <a:t>失业率暴涨（高达</a:t>
            </a:r>
            <a:r>
              <a:rPr lang="en-US" altLang="zh-CN" sz="2400" b="1"/>
              <a:t>25</a:t>
            </a:r>
            <a:r>
              <a:rPr lang="zh-CN" altLang="en-US" sz="2400" b="1"/>
              <a:t>％）</a:t>
            </a:r>
          </a:p>
          <a:p>
            <a:pPr lvl="1"/>
            <a:r>
              <a:rPr lang="zh-CN" altLang="en-US" sz="2400" b="1"/>
              <a:t>价格水平剧烈波动（下降了</a:t>
            </a:r>
            <a:r>
              <a:rPr lang="en-US" altLang="zh-CN" sz="2400" b="1"/>
              <a:t>25</a:t>
            </a:r>
            <a:r>
              <a:rPr lang="zh-CN" altLang="en-US" sz="2400" b="1"/>
              <a:t>％）</a:t>
            </a:r>
          </a:p>
          <a:p>
            <a:pPr lvl="1"/>
            <a:r>
              <a:rPr lang="zh-CN" altLang="en-US" sz="2400" b="1"/>
              <a:t>国际贸易萎缩（贸易量下降了</a:t>
            </a:r>
            <a:r>
              <a:rPr lang="en-US" altLang="zh-CN" sz="2400" b="1"/>
              <a:t>25</a:t>
            </a:r>
            <a:r>
              <a:rPr lang="zh-CN" altLang="en-US" sz="2400" b="1"/>
              <a:t>％，价格下降了</a:t>
            </a:r>
            <a:r>
              <a:rPr lang="en-US" altLang="zh-CN" sz="2400" b="1"/>
              <a:t>60</a:t>
            </a:r>
            <a:r>
              <a:rPr lang="zh-CN" altLang="en-US" sz="2400" b="1"/>
              <a:t>％）</a:t>
            </a:r>
          </a:p>
        </p:txBody>
      </p:sp>
      <p:sp>
        <p:nvSpPr>
          <p:cNvPr id="414726" name="Rectangle 6">
            <a:extLst>
              <a:ext uri="{FF2B5EF4-FFF2-40B4-BE49-F238E27FC236}">
                <a16:creationId xmlns:a16="http://schemas.microsoft.com/office/drawing/2014/main" id="{E7715DE7-C591-2C45-F3A2-AFFD4CC4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148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大危机：我们还应知道什么？</a:t>
            </a:r>
          </a:p>
        </p:txBody>
      </p:sp>
      <p:sp>
        <p:nvSpPr>
          <p:cNvPr id="414727" name="Rectangle 7">
            <a:extLst>
              <a:ext uri="{FF2B5EF4-FFF2-40B4-BE49-F238E27FC236}">
                <a16:creationId xmlns:a16="http://schemas.microsoft.com/office/drawing/2014/main" id="{D50D2E9B-29D6-356D-A252-1584EA8A1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9530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为什么会发生大危机？经济是否具有内在的不稳定性？</a:t>
            </a:r>
          </a:p>
        </p:txBody>
      </p:sp>
      <p:sp>
        <p:nvSpPr>
          <p:cNvPr id="414728" name="Rectangle 8">
            <a:extLst>
              <a:ext uri="{FF2B5EF4-FFF2-40B4-BE49-F238E27FC236}">
                <a16:creationId xmlns:a16="http://schemas.microsoft.com/office/drawing/2014/main" id="{DF782F82-8137-453B-0211-D288679FC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4864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是否可以避免？如何预防？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2" grpId="0" autoUpdateAnimBg="0"/>
      <p:bldP spid="414725" grpId="0" autoUpdateAnimBg="0"/>
      <p:bldP spid="414726" grpId="0" autoUpdateAnimBg="0"/>
      <p:bldP spid="414727" grpId="0" autoUpdateAnimBg="0"/>
      <p:bldP spid="41472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BAF0D8E0-E1A0-A113-C20A-99436DE7352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1.8 </a:t>
            </a:r>
            <a:r>
              <a:rPr lang="zh-CN" altLang="en-US" b="1">
                <a:solidFill>
                  <a:srgbClr val="CC0000"/>
                </a:solidFill>
              </a:rPr>
              <a:t>大危机的治理</a:t>
            </a:r>
          </a:p>
        </p:txBody>
      </p:sp>
      <p:sp>
        <p:nvSpPr>
          <p:cNvPr id="415747" name="Rectangle 3">
            <a:extLst>
              <a:ext uri="{FF2B5EF4-FFF2-40B4-BE49-F238E27FC236}">
                <a16:creationId xmlns:a16="http://schemas.microsoft.com/office/drawing/2014/main" id="{A5070099-CA04-CB73-DD20-F8636FE4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5748" name="Rectangle 4">
            <a:extLst>
              <a:ext uri="{FF2B5EF4-FFF2-40B4-BE49-F238E27FC236}">
                <a16:creationId xmlns:a16="http://schemas.microsoft.com/office/drawing/2014/main" id="{F8EB6603-5D08-64CA-61A3-7496B536D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0"/>
            <a:ext cx="8305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大危机期间的治理</a:t>
            </a:r>
          </a:p>
          <a:p>
            <a:pPr lvl="1"/>
            <a:r>
              <a:rPr lang="zh-CN" altLang="en-US" sz="2400" b="1"/>
              <a:t>对内：平衡预算、美联储无作为</a:t>
            </a:r>
          </a:p>
          <a:p>
            <a:pPr lvl="1"/>
            <a:r>
              <a:rPr lang="zh-CN" altLang="en-US" sz="2400" b="1"/>
              <a:t>对外：贸易保护、输出</a:t>
            </a:r>
            <a:r>
              <a:rPr lang="zh-CN" altLang="en-US" sz="2400" b="1">
                <a:latin typeface="Times New Roman" panose="02020603050405020304" pitchFamily="18" charset="0"/>
              </a:rPr>
              <a:t>“</a:t>
            </a:r>
            <a:r>
              <a:rPr lang="zh-CN" altLang="en-US" sz="2400" b="1"/>
              <a:t>紧缩</a:t>
            </a:r>
            <a:r>
              <a:rPr lang="zh-CN" altLang="en-US" sz="2400" b="1">
                <a:latin typeface="Times New Roman" panose="02020603050405020304" pitchFamily="18" charset="0"/>
              </a:rPr>
              <a:t>”</a:t>
            </a:r>
            <a:r>
              <a:rPr lang="zh-CN" altLang="en-US" sz="2400" b="1"/>
              <a:t>。</a:t>
            </a:r>
          </a:p>
          <a:p>
            <a:pPr lvl="1"/>
            <a:r>
              <a:rPr lang="zh-CN" altLang="en-US" sz="2400" b="1"/>
              <a:t>结果：</a:t>
            </a:r>
            <a:r>
              <a:rPr lang="zh-CN" altLang="en-US" sz="2400" b="1">
                <a:latin typeface="Times New Roman" panose="02020603050405020304" pitchFamily="18" charset="0"/>
              </a:rPr>
              <a:t>“</a:t>
            </a:r>
            <a:r>
              <a:rPr lang="zh-CN" altLang="en-US" sz="2400" b="1"/>
              <a:t>盲人骑瞎马，夜半临深池</a:t>
            </a:r>
            <a:r>
              <a:rPr lang="zh-CN" altLang="en-US" sz="2400" b="1">
                <a:latin typeface="Times New Roman" panose="02020603050405020304" pitchFamily="18" charset="0"/>
              </a:rPr>
              <a:t>”</a:t>
            </a:r>
            <a:r>
              <a:rPr lang="zh-CN" altLang="en-US" sz="2400" b="1"/>
              <a:t>，危机更为严重</a:t>
            </a:r>
          </a:p>
        </p:txBody>
      </p:sp>
      <p:sp>
        <p:nvSpPr>
          <p:cNvPr id="415749" name="Rectangle 5">
            <a:extLst>
              <a:ext uri="{FF2B5EF4-FFF2-40B4-BE49-F238E27FC236}">
                <a16:creationId xmlns:a16="http://schemas.microsoft.com/office/drawing/2014/main" id="{55B97BFB-D0D8-F44A-0096-837CD07FE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15750" name="Rectangle 6">
            <a:extLst>
              <a:ext uri="{FF2B5EF4-FFF2-40B4-BE49-F238E27FC236}">
                <a16:creationId xmlns:a16="http://schemas.microsoft.com/office/drawing/2014/main" id="{74D9DC94-2810-9332-7234-2BA82C5D9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814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认识大危机</a:t>
            </a:r>
          </a:p>
          <a:p>
            <a:pPr lvl="1"/>
            <a:r>
              <a:rPr lang="zh-CN" altLang="en-US" sz="1800" b="1"/>
              <a:t>凯恩斯的解释：投资下降、有效需求不足</a:t>
            </a:r>
          </a:p>
          <a:p>
            <a:pPr lvl="1"/>
            <a:r>
              <a:rPr lang="zh-CN" altLang="en-US" sz="1800" b="1"/>
              <a:t>弗里德曼的解释：美联储的无作为、货币存量下降</a:t>
            </a:r>
          </a:p>
        </p:txBody>
      </p:sp>
      <p:sp>
        <p:nvSpPr>
          <p:cNvPr id="415751" name="Rectangle 7">
            <a:extLst>
              <a:ext uri="{FF2B5EF4-FFF2-40B4-BE49-F238E27FC236}">
                <a16:creationId xmlns:a16="http://schemas.microsoft.com/office/drawing/2014/main" id="{BFAFF23C-1C0D-49F7-D80D-47F01F77C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029200"/>
            <a:ext cx="6477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宏观经济管理</a:t>
            </a:r>
          </a:p>
          <a:p>
            <a:pPr lvl="1"/>
            <a:r>
              <a:rPr lang="zh-CN" altLang="en-US" sz="2400" b="1"/>
              <a:t>有效需求管理：财政政策、货币政策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autoUpdateAnimBg="0"/>
      <p:bldP spid="415748" grpId="0" autoUpdateAnimBg="0"/>
      <p:bldP spid="415749" grpId="0" autoUpdateAnimBg="0"/>
      <p:bldP spid="415750" grpId="0" autoUpdateAnimBg="0"/>
      <p:bldP spid="41575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>
            <a:extLst>
              <a:ext uri="{FF2B5EF4-FFF2-40B4-BE49-F238E27FC236}">
                <a16:creationId xmlns:a16="http://schemas.microsoft.com/office/drawing/2014/main" id="{9B0E5D8A-A8E2-3889-160B-EA79F022B25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 </a:t>
            </a:r>
            <a:r>
              <a:rPr lang="zh-CN" altLang="en-US" b="1">
                <a:solidFill>
                  <a:srgbClr val="CC0000"/>
                </a:solidFill>
              </a:rPr>
              <a:t>宏观经济管理目标</a:t>
            </a:r>
          </a:p>
        </p:txBody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4F0823A2-98C3-6454-7AC2-B290E1834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6772" name="Rectangle 4">
            <a:extLst>
              <a:ext uri="{FF2B5EF4-FFF2-40B4-BE49-F238E27FC236}">
                <a16:creationId xmlns:a16="http://schemas.microsoft.com/office/drawing/2014/main" id="{FBE18E3F-3658-2A14-66C4-9C53C7219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0"/>
            <a:ext cx="73914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四大目标（熨平经济波动、实现经济增长）</a:t>
            </a:r>
          </a:p>
          <a:p>
            <a:pPr lvl="1"/>
            <a:r>
              <a:rPr lang="zh-CN" altLang="en-US" sz="2400" b="1"/>
              <a:t>经济增长</a:t>
            </a:r>
          </a:p>
          <a:p>
            <a:pPr lvl="1"/>
            <a:r>
              <a:rPr lang="zh-CN" altLang="en-US" sz="2400" b="1"/>
              <a:t>充分就业</a:t>
            </a:r>
          </a:p>
          <a:p>
            <a:pPr lvl="1"/>
            <a:r>
              <a:rPr lang="zh-CN" altLang="en-US" sz="2400" b="1"/>
              <a:t>物价稳定</a:t>
            </a:r>
          </a:p>
          <a:p>
            <a:pPr lvl="1"/>
            <a:r>
              <a:rPr lang="zh-CN" altLang="en-US" sz="2400" b="1"/>
              <a:t>国际收支平衡</a:t>
            </a:r>
          </a:p>
        </p:txBody>
      </p:sp>
      <p:sp>
        <p:nvSpPr>
          <p:cNvPr id="416773" name="Rectangle 5">
            <a:extLst>
              <a:ext uri="{FF2B5EF4-FFF2-40B4-BE49-F238E27FC236}">
                <a16:creationId xmlns:a16="http://schemas.microsoft.com/office/drawing/2014/main" id="{F801F5E0-8555-DA41-F3D4-0CFCD1574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16774" name="Rectangle 6">
            <a:extLst>
              <a:ext uri="{FF2B5EF4-FFF2-40B4-BE49-F238E27FC236}">
                <a16:creationId xmlns:a16="http://schemas.microsoft.com/office/drawing/2014/main" id="{AD535F02-37C9-F13E-3CE5-1FEA9B113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91000"/>
            <a:ext cx="6248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本部分的主要介绍</a:t>
            </a:r>
          </a:p>
          <a:p>
            <a:pPr lvl="1"/>
            <a:r>
              <a:rPr lang="zh-CN" altLang="en-US" sz="2400" b="1"/>
              <a:t>通货膨胀</a:t>
            </a:r>
          </a:p>
          <a:p>
            <a:pPr lvl="1"/>
            <a:r>
              <a:rPr lang="zh-CN" altLang="en-US" sz="2400" b="1"/>
              <a:t>失业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utoUpdateAnimBg="0"/>
      <p:bldP spid="416772" grpId="0" autoUpdateAnimBg="0"/>
      <p:bldP spid="416773" grpId="0" autoUpdateAnimBg="0"/>
      <p:bldP spid="41677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>
            <a:extLst>
              <a:ext uri="{FF2B5EF4-FFF2-40B4-BE49-F238E27FC236}">
                <a16:creationId xmlns:a16="http://schemas.microsoft.com/office/drawing/2014/main" id="{25217C48-9CD2-734C-5D0E-CFC5C31998F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2.1 </a:t>
            </a:r>
            <a:r>
              <a:rPr lang="zh-CN" altLang="en-US" b="1">
                <a:solidFill>
                  <a:srgbClr val="CC0000"/>
                </a:solidFill>
              </a:rPr>
              <a:t>通货膨胀</a:t>
            </a:r>
          </a:p>
        </p:txBody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CA241BCD-6086-7303-B86E-8F5C032CD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7796" name="Rectangle 4">
            <a:extLst>
              <a:ext uri="{FF2B5EF4-FFF2-40B4-BE49-F238E27FC236}">
                <a16:creationId xmlns:a16="http://schemas.microsoft.com/office/drawing/2014/main" id="{313A743E-AA53-5C0E-7389-096E56F6C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通货膨胀的定义、度量（回忆）</a:t>
            </a:r>
          </a:p>
        </p:txBody>
      </p:sp>
      <p:sp>
        <p:nvSpPr>
          <p:cNvPr id="417797" name="Rectangle 5">
            <a:extLst>
              <a:ext uri="{FF2B5EF4-FFF2-40B4-BE49-F238E27FC236}">
                <a16:creationId xmlns:a16="http://schemas.microsoft.com/office/drawing/2014/main" id="{A236F57E-934E-E4AD-A19A-050A1A292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17798" name="Rectangle 6">
            <a:extLst>
              <a:ext uri="{FF2B5EF4-FFF2-40B4-BE49-F238E27FC236}">
                <a16:creationId xmlns:a16="http://schemas.microsoft.com/office/drawing/2014/main" id="{C4243119-97E4-180B-4EE4-696EFE2CC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84582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通货膨胀的分类</a:t>
            </a:r>
          </a:p>
          <a:p>
            <a:pPr lvl="1"/>
            <a:r>
              <a:rPr lang="zh-CN" altLang="en-US" sz="2400" b="1"/>
              <a:t>依据预期来分类</a:t>
            </a:r>
          </a:p>
          <a:p>
            <a:pPr lvl="2"/>
            <a:r>
              <a:rPr lang="zh-CN" altLang="en-US" sz="2000" b="1"/>
              <a:t>完全预期到的通货膨胀和非完全预期到的通货膨胀</a:t>
            </a:r>
          </a:p>
          <a:p>
            <a:pPr lvl="1"/>
            <a:r>
              <a:rPr lang="zh-CN" altLang="en-US" sz="2400" b="1"/>
              <a:t>依据成因分类</a:t>
            </a:r>
          </a:p>
          <a:p>
            <a:pPr lvl="2"/>
            <a:r>
              <a:rPr lang="zh-CN" altLang="en-US" sz="2000" b="1"/>
              <a:t>需求拉动型、成本推动型和结构性通货膨胀</a:t>
            </a:r>
          </a:p>
          <a:p>
            <a:pPr lvl="1"/>
            <a:r>
              <a:rPr lang="zh-CN" altLang="en-US" sz="2400" b="1"/>
              <a:t>依据程度分类</a:t>
            </a:r>
          </a:p>
          <a:p>
            <a:pPr lvl="2"/>
            <a:r>
              <a:rPr lang="zh-CN" altLang="en-US" sz="2000" b="1"/>
              <a:t>恶性通货膨胀（</a:t>
            </a:r>
            <a:r>
              <a:rPr lang="en-US" altLang="zh-CN" sz="2000" b="1"/>
              <a:t>Hyperinflation</a:t>
            </a:r>
            <a:r>
              <a:rPr lang="zh-CN" altLang="en-US" sz="2000" b="1"/>
              <a:t>）：年通货膨胀率超过</a:t>
            </a:r>
            <a:r>
              <a:rPr lang="en-US" altLang="zh-CN" sz="2000" b="1"/>
              <a:t>1000</a:t>
            </a:r>
            <a:r>
              <a:rPr lang="zh-CN" altLang="en-US" sz="2000" b="1"/>
              <a:t>％的通货膨胀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  <p:bldP spid="417796" grpId="0" autoUpdateAnimBg="0"/>
      <p:bldP spid="417797" grpId="0" autoUpdateAnimBg="0"/>
      <p:bldP spid="41779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722074C7-7809-3CB3-04C5-E4D59876D2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通货膨胀的损失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3636D33-10B5-AA2A-F2B2-0631C47A6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8820" name="Rectangle 4">
            <a:extLst>
              <a:ext uri="{FF2B5EF4-FFF2-40B4-BE49-F238E27FC236}">
                <a16:creationId xmlns:a16="http://schemas.microsoft.com/office/drawing/2014/main" id="{90EDAE33-7E32-538D-7C16-788212123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0"/>
            <a:ext cx="87630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恶性通货膨胀对经济的影响是显然的</a:t>
            </a:r>
          </a:p>
          <a:p>
            <a:pPr lvl="1"/>
            <a:r>
              <a:rPr lang="zh-CN" altLang="en-US" sz="2400" b="1"/>
              <a:t>恶性通货膨胀通常是战争、政权更替所带来的恶果</a:t>
            </a:r>
          </a:p>
          <a:p>
            <a:pPr lvl="1"/>
            <a:r>
              <a:rPr lang="zh-CN" altLang="en-US" sz="2400" b="1"/>
              <a:t>发行新币、紧盯国际通货和改革税制等制止恶性通货膨胀</a:t>
            </a:r>
          </a:p>
        </p:txBody>
      </p:sp>
      <p:sp>
        <p:nvSpPr>
          <p:cNvPr id="418821" name="Rectangle 5">
            <a:extLst>
              <a:ext uri="{FF2B5EF4-FFF2-40B4-BE49-F238E27FC236}">
                <a16:creationId xmlns:a16="http://schemas.microsoft.com/office/drawing/2014/main" id="{9957EBD1-8151-F5F6-F1BA-64AF99A88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graphicFrame>
        <p:nvGraphicFramePr>
          <p:cNvPr id="418824" name="Object 8">
            <a:extLst>
              <a:ext uri="{FF2B5EF4-FFF2-40B4-BE49-F238E27FC236}">
                <a16:creationId xmlns:a16="http://schemas.microsoft.com/office/drawing/2014/main" id="{0A46C0DF-BF92-F869-AC37-0467D216E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52400" y="2787650"/>
          <a:ext cx="4800600" cy="407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562807" imgH="4067556" progId="MSGraph.Chart.8">
                  <p:embed followColorScheme="full"/>
                </p:oleObj>
              </mc:Choice>
              <mc:Fallback>
                <p:oleObj name="Chart" r:id="rId2" imgW="3562807" imgH="4067556" progId="MSGraph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2400" y="2787650"/>
                        <a:ext cx="4800600" cy="407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5" name="Object 9">
            <a:extLst>
              <a:ext uri="{FF2B5EF4-FFF2-40B4-BE49-F238E27FC236}">
                <a16:creationId xmlns:a16="http://schemas.microsoft.com/office/drawing/2014/main" id="{A11798C6-8155-CC0C-986D-7D99A136B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2787650"/>
          <a:ext cx="4343400" cy="407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3562807" imgH="4067556" progId="MSGraph.Chart.8">
                  <p:embed followColorScheme="full"/>
                </p:oleObj>
              </mc:Choice>
              <mc:Fallback>
                <p:oleObj name="Chart" r:id="rId4" imgW="3562807" imgH="4067556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787650"/>
                        <a:ext cx="4343400" cy="407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18824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18824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5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18825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5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18825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autoUpdateAnimBg="0"/>
      <p:bldP spid="418820" grpId="0" autoUpdateAnimBg="0"/>
      <p:bldP spid="418821" grpId="0" autoUpdateAnimBg="0"/>
      <p:bldOleChart spid="418824" grpId="0" bld="series"/>
      <p:bldOleChart spid="418825" grpId="0" bld="series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id="{3FC8AAA4-083B-8CD9-38BA-209B792C31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通货膨胀的损失</a:t>
            </a:r>
          </a:p>
        </p:txBody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1CD19B28-9AB0-DB04-C406-4B3A3D32C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844" name="Rectangle 4">
            <a:extLst>
              <a:ext uri="{FF2B5EF4-FFF2-40B4-BE49-F238E27FC236}">
                <a16:creationId xmlns:a16="http://schemas.microsoft.com/office/drawing/2014/main" id="{E74F882F-7DEC-B8C9-4A8F-125CC421E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8763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完全预期的通货膨胀的成本很小</a:t>
            </a:r>
          </a:p>
          <a:p>
            <a:pPr lvl="1"/>
            <a:r>
              <a:rPr lang="zh-CN" altLang="en-US" sz="2400" b="1"/>
              <a:t>如果所有价格都按照同一比例上升，通货膨胀的成本很小</a:t>
            </a:r>
          </a:p>
        </p:txBody>
      </p:sp>
      <p:sp>
        <p:nvSpPr>
          <p:cNvPr id="419845" name="Rectangle 5">
            <a:extLst>
              <a:ext uri="{FF2B5EF4-FFF2-40B4-BE49-F238E27FC236}">
                <a16:creationId xmlns:a16="http://schemas.microsoft.com/office/drawing/2014/main" id="{A0133D52-28B3-6987-35E8-9AD6F9612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19848" name="Rectangle 8">
            <a:extLst>
              <a:ext uri="{FF2B5EF4-FFF2-40B4-BE49-F238E27FC236}">
                <a16:creationId xmlns:a16="http://schemas.microsoft.com/office/drawing/2014/main" id="{13C657DE-7A50-0F53-EA9A-57F68E6AB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09800"/>
            <a:ext cx="8991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持有货币的机会成本上升，去银行的次数增加：</a:t>
            </a:r>
            <a:r>
              <a:rPr lang="zh-CN" altLang="en-US" sz="2400" b="1">
                <a:latin typeface="Times New Roman" panose="02020603050405020304" pitchFamily="18" charset="0"/>
              </a:rPr>
              <a:t>“</a:t>
            </a:r>
            <a:r>
              <a:rPr lang="en-US" altLang="zh-CN" sz="2400" b="1"/>
              <a:t>shoe-leather</a:t>
            </a:r>
            <a:r>
              <a:rPr lang="en-US" altLang="zh-CN" sz="2400" b="1">
                <a:latin typeface="Times New Roman" panose="02020603050405020304" pitchFamily="18" charset="0"/>
              </a:rPr>
              <a:t>”</a:t>
            </a:r>
            <a:r>
              <a:rPr lang="en-US" altLang="zh-CN" sz="2400" b="1"/>
              <a:t> cost of inflation</a:t>
            </a:r>
          </a:p>
          <a:p>
            <a:pPr lvl="1"/>
            <a:r>
              <a:rPr lang="zh-CN" altLang="en-US" sz="2400" b="1"/>
              <a:t>价格的调整</a:t>
            </a:r>
            <a:r>
              <a:rPr lang="zh-CN" altLang="en-US" sz="2400" b="1">
                <a:sym typeface="Symbol" panose="05050102010706020507" pitchFamily="18" charset="2"/>
              </a:rPr>
              <a:t>价格标签的调整：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en-US" altLang="zh-CN" sz="2400" b="1">
                <a:sym typeface="Symbol" panose="05050102010706020507" pitchFamily="18" charset="2"/>
              </a:rPr>
              <a:t>menu cost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lang="en-US" altLang="zh-CN" sz="2400" b="1">
                <a:sym typeface="Symbol" panose="05050102010706020507" pitchFamily="18" charset="2"/>
              </a:rPr>
              <a:t> of inflation</a:t>
            </a:r>
            <a:endParaRPr lang="en-US" altLang="zh-CN" sz="2400" b="1"/>
          </a:p>
        </p:txBody>
      </p:sp>
      <p:sp>
        <p:nvSpPr>
          <p:cNvPr id="419849" name="Rectangle 9">
            <a:extLst>
              <a:ext uri="{FF2B5EF4-FFF2-40B4-BE49-F238E27FC236}">
                <a16:creationId xmlns:a16="http://schemas.microsoft.com/office/drawing/2014/main" id="{4E4E0F67-77E2-02A8-BEB7-3D451FBA9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33800"/>
            <a:ext cx="8763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不完全预期的通货膨胀造成财富再分配</a:t>
            </a:r>
          </a:p>
          <a:p>
            <a:pPr lvl="1"/>
            <a:r>
              <a:rPr lang="zh-CN" altLang="en-US" sz="2400" b="1"/>
              <a:t>通货膨胀再债权人和债务人间再分配财富。</a:t>
            </a:r>
          </a:p>
        </p:txBody>
      </p:sp>
      <p:sp>
        <p:nvSpPr>
          <p:cNvPr id="419850" name="Rectangle 10">
            <a:extLst>
              <a:ext uri="{FF2B5EF4-FFF2-40B4-BE49-F238E27FC236}">
                <a16:creationId xmlns:a16="http://schemas.microsoft.com/office/drawing/2014/main" id="{43C427BF-5D99-B729-E0EA-DE4005266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48200"/>
            <a:ext cx="8991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从经济活动主体看，居民、企业、政府谁是债权债务人？</a:t>
            </a:r>
          </a:p>
          <a:p>
            <a:pPr lvl="1"/>
            <a:r>
              <a:rPr lang="zh-CN" altLang="en-US" sz="2400" b="1"/>
              <a:t>在居民中，谁受到的损害更严重？老年人还是青年人？</a:t>
            </a:r>
          </a:p>
        </p:txBody>
      </p:sp>
      <p:sp>
        <p:nvSpPr>
          <p:cNvPr id="419851" name="Rectangle 11">
            <a:extLst>
              <a:ext uri="{FF2B5EF4-FFF2-40B4-BE49-F238E27FC236}">
                <a16:creationId xmlns:a16="http://schemas.microsoft.com/office/drawing/2014/main" id="{CDEA1897-BA00-9210-11F2-D5BA77887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15000"/>
            <a:ext cx="876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既然完全预期的通货膨胀的成本小，为什么指数化？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1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utoUpdateAnimBg="0"/>
      <p:bldP spid="419844" grpId="0" autoUpdateAnimBg="0"/>
      <p:bldP spid="419845" grpId="0" autoUpdateAnimBg="0"/>
      <p:bldP spid="419848" grpId="0" autoUpdateAnimBg="0"/>
      <p:bldP spid="419849" grpId="0" autoUpdateAnimBg="0"/>
      <p:bldP spid="419850" grpId="0" autoUpdateAnimBg="0"/>
      <p:bldP spid="41985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34798C28-4E33-97EA-C2FF-4043CB07061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2.3 </a:t>
            </a:r>
            <a:r>
              <a:rPr lang="zh-CN" altLang="en-US" b="1">
                <a:solidFill>
                  <a:srgbClr val="CC0000"/>
                </a:solidFill>
              </a:rPr>
              <a:t>通货膨胀损失的度量</a:t>
            </a:r>
          </a:p>
        </p:txBody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CE178AFC-E921-6F86-1484-238F76F00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0868" name="Rectangle 4">
            <a:extLst>
              <a:ext uri="{FF2B5EF4-FFF2-40B4-BE49-F238E27FC236}">
                <a16:creationId xmlns:a16="http://schemas.microsoft.com/office/drawing/2014/main" id="{C8B847DD-A116-D54D-6CF4-7B75B599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8763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牺牲比率</a:t>
            </a:r>
            <a:r>
              <a:rPr lang="en-US" altLang="zh-CN" sz="2800" b="1"/>
              <a:t>: </a:t>
            </a:r>
            <a:r>
              <a:rPr lang="en-US" altLang="zh-CN" sz="2800" b="1">
                <a:latin typeface="Times New Roman" panose="02020603050405020304" pitchFamily="18" charset="0"/>
              </a:rPr>
              <a:t>“</a:t>
            </a:r>
            <a:r>
              <a:rPr lang="en-US" altLang="zh-CN" sz="2800" b="1"/>
              <a:t>The Sacrifice Ratio</a:t>
            </a:r>
            <a:r>
              <a:rPr lang="en-US" altLang="zh-CN" sz="2800" b="1">
                <a:latin typeface="Times New Roman" panose="02020603050405020304" pitchFamily="18" charset="0"/>
              </a:rPr>
              <a:t>”</a:t>
            </a:r>
            <a:endParaRPr lang="en-US" altLang="zh-CN" sz="2800" b="1"/>
          </a:p>
          <a:p>
            <a:pPr lvl="1"/>
            <a:r>
              <a:rPr lang="zh-CN" altLang="en-US" sz="2400" b="1"/>
              <a:t>定义：通货膨胀率每下降</a:t>
            </a:r>
            <a:r>
              <a:rPr lang="en-US" altLang="zh-CN" sz="2400" b="1"/>
              <a:t>1</a:t>
            </a:r>
            <a:r>
              <a:rPr lang="zh-CN" altLang="en-US" sz="2400" b="1"/>
              <a:t>个百分点，产出所损失的百分点</a:t>
            </a:r>
          </a:p>
        </p:txBody>
      </p:sp>
      <p:sp>
        <p:nvSpPr>
          <p:cNvPr id="420869" name="Rectangle 5">
            <a:extLst>
              <a:ext uri="{FF2B5EF4-FFF2-40B4-BE49-F238E27FC236}">
                <a16:creationId xmlns:a16="http://schemas.microsoft.com/office/drawing/2014/main" id="{AC8A9603-264D-9FE6-8DFE-CE7E2B7C3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20874" name="Rectangle 10">
            <a:extLst>
              <a:ext uri="{FF2B5EF4-FFF2-40B4-BE49-F238E27FC236}">
                <a16:creationId xmlns:a16="http://schemas.microsoft.com/office/drawing/2014/main" id="{F7EAD90D-D432-33C4-9E15-A0684A629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8991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经济含义：降低通货膨胀往往伴随着经济衰退。</a:t>
            </a:r>
          </a:p>
          <a:p>
            <a:pPr lvl="1"/>
            <a:r>
              <a:rPr lang="zh-CN" altLang="en-US" sz="2400" b="1"/>
              <a:t>奥肯定律、</a:t>
            </a:r>
            <a:r>
              <a:rPr lang="en-US" altLang="zh-CN" sz="2400" b="1"/>
              <a:t>Phillips</a:t>
            </a:r>
            <a:r>
              <a:rPr lang="zh-CN" altLang="en-US" sz="2400" b="1"/>
              <a:t>曲线与牺牲比率</a:t>
            </a:r>
          </a:p>
        </p:txBody>
      </p:sp>
      <p:graphicFrame>
        <p:nvGraphicFramePr>
          <p:cNvPr id="420875" name="Object 11">
            <a:extLst>
              <a:ext uri="{FF2B5EF4-FFF2-40B4-BE49-F238E27FC236}">
                <a16:creationId xmlns:a16="http://schemas.microsoft.com/office/drawing/2014/main" id="{2F71146F-25AF-10DF-3E05-D7FA7A967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" y="3276600"/>
          <a:ext cx="7591425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3276600"/>
                        <a:ext cx="7591425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420875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420875">
                                            <p:oleChartEl type="ptIn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420875">
                                            <p:oleChartEl type="ptIn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420875">
                                            <p:oleChartEl type="ptIn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420875">
                                            <p:oleChartEl type="ptIn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420875">
                                            <p:oleChartEl type="ptInSeries" lvl="5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420875">
                                            <p:oleChartEl type="ptInSeries" lvl="6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7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420875">
                                            <p:oleChartEl type="ptInSeries" lvl="7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8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7" dur="500"/>
                                        <p:tgtEl>
                                          <p:spTgt spid="420875">
                                            <p:oleChartEl type="ptInSeries" lvl="8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>
                                            <p:oleChartEl type="ptInSeries" lvl="9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2" dur="500"/>
                                        <p:tgtEl>
                                          <p:spTgt spid="420875">
                                            <p:oleChartEl type="ptInSeries" lvl="9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 autoUpdateAnimBg="0"/>
      <p:bldP spid="420868" grpId="0" autoUpdateAnimBg="0"/>
      <p:bldP spid="420869" grpId="0" autoUpdateAnimBg="0"/>
      <p:bldP spid="420874" grpId="0" autoUpdateAnimBg="0"/>
      <p:bldOleChart spid="420875" grpId="0" bld="seriesEl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257FF212-AB5E-9B53-2786-61A5BFB5B06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失业</a:t>
            </a:r>
          </a:p>
        </p:txBody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9E5616B8-86DA-3697-1E6F-652395C36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2916" name="Rectangle 4">
            <a:extLst>
              <a:ext uri="{FF2B5EF4-FFF2-40B4-BE49-F238E27FC236}">
                <a16:creationId xmlns:a16="http://schemas.microsoft.com/office/drawing/2014/main" id="{0CC04141-7E11-630C-8E45-0235EF016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失业的定义、度量（回忆）</a:t>
            </a:r>
          </a:p>
        </p:txBody>
      </p:sp>
      <p:sp>
        <p:nvSpPr>
          <p:cNvPr id="422917" name="Rectangle 5">
            <a:extLst>
              <a:ext uri="{FF2B5EF4-FFF2-40B4-BE49-F238E27FC236}">
                <a16:creationId xmlns:a16="http://schemas.microsoft.com/office/drawing/2014/main" id="{2283E716-8A12-FFEF-9710-160C8BA38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22918" name="Rectangle 6">
            <a:extLst>
              <a:ext uri="{FF2B5EF4-FFF2-40B4-BE49-F238E27FC236}">
                <a16:creationId xmlns:a16="http://schemas.microsoft.com/office/drawing/2014/main" id="{6D5BBD21-0FDA-7003-0475-03AE998D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8458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失业的分类</a:t>
            </a:r>
          </a:p>
          <a:p>
            <a:pPr lvl="1"/>
            <a:r>
              <a:rPr lang="zh-CN" altLang="en-US" sz="2400" b="1"/>
              <a:t>自愿失业、非自愿失业</a:t>
            </a:r>
          </a:p>
          <a:p>
            <a:pPr lvl="1"/>
            <a:r>
              <a:rPr lang="zh-CN" altLang="en-US" sz="2400" b="1"/>
              <a:t>（摩擦失业）自然失业、周期性失业</a:t>
            </a:r>
          </a:p>
        </p:txBody>
      </p:sp>
      <p:sp>
        <p:nvSpPr>
          <p:cNvPr id="422919" name="Rectangle 7">
            <a:extLst>
              <a:ext uri="{FF2B5EF4-FFF2-40B4-BE49-F238E27FC236}">
                <a16:creationId xmlns:a16="http://schemas.microsoft.com/office/drawing/2014/main" id="{28961A8E-14DC-BA25-AA0C-C7B39ED48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67200"/>
            <a:ext cx="8534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失业的原因</a:t>
            </a:r>
          </a:p>
          <a:p>
            <a:pPr lvl="1"/>
            <a:r>
              <a:rPr lang="zh-CN" altLang="en-US" sz="2400" b="1"/>
              <a:t>古典失业、凯恩斯失业</a:t>
            </a:r>
          </a:p>
          <a:p>
            <a:pPr lvl="1"/>
            <a:r>
              <a:rPr lang="zh-CN" altLang="en-US" sz="2400" b="1"/>
              <a:t>基于不完全信息的搜寻理论</a:t>
            </a:r>
          </a:p>
          <a:p>
            <a:pPr lvl="1"/>
            <a:r>
              <a:rPr lang="zh-CN" altLang="en-US" sz="2400" b="1"/>
              <a:t>隐含合同理论、效率工资理论、内部人－外部人模型</a:t>
            </a:r>
          </a:p>
          <a:p>
            <a:pPr lvl="1"/>
            <a:r>
              <a:rPr lang="zh-CN" altLang="en-US" sz="2400" b="1"/>
              <a:t>失业回滞理论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2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4" grpId="0" autoUpdateAnimBg="0"/>
      <p:bldP spid="422916" grpId="0" autoUpdateAnimBg="0"/>
      <p:bldP spid="422917" grpId="0" autoUpdateAnimBg="0"/>
      <p:bldP spid="422918" grpId="0" autoUpdateAnimBg="0"/>
      <p:bldP spid="42291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ED77E6CD-480E-F420-20E0-CFE030918B6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2.5 </a:t>
            </a:r>
            <a:r>
              <a:rPr lang="zh-CN" altLang="en-US" b="1">
                <a:solidFill>
                  <a:srgbClr val="CC0000"/>
                </a:solidFill>
              </a:rPr>
              <a:t>失业－工作小时的变动</a:t>
            </a: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E279E287-C0BA-5631-A929-C99296D9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3940" name="Rectangle 4">
            <a:extLst>
              <a:ext uri="{FF2B5EF4-FFF2-40B4-BE49-F238E27FC236}">
                <a16:creationId xmlns:a16="http://schemas.microsoft.com/office/drawing/2014/main" id="{597C7C9C-936B-591B-A3CD-9BFC73A54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每周工作小时的变动</a:t>
            </a:r>
          </a:p>
        </p:txBody>
      </p:sp>
      <p:sp>
        <p:nvSpPr>
          <p:cNvPr id="423941" name="Rectangle 5">
            <a:extLst>
              <a:ext uri="{FF2B5EF4-FFF2-40B4-BE49-F238E27FC236}">
                <a16:creationId xmlns:a16="http://schemas.microsoft.com/office/drawing/2014/main" id="{7A352152-7D25-8DF9-2ACA-D6E87510F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23944" name="Picture 8">
            <a:extLst>
              <a:ext uri="{FF2B5EF4-FFF2-40B4-BE49-F238E27FC236}">
                <a16:creationId xmlns:a16="http://schemas.microsoft.com/office/drawing/2014/main" id="{1BAE9202-A4B2-00D3-8E10-20F4D27CF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06613"/>
            <a:ext cx="7575550" cy="475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8" grpId="0" autoUpdateAnimBg="0"/>
      <p:bldP spid="423940" grpId="0" autoUpdateAnimBg="0"/>
      <p:bldP spid="42394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E77AAD01-C1B9-24E9-DF9B-A6F7A569256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2.6 </a:t>
            </a:r>
            <a:r>
              <a:rPr lang="zh-CN" altLang="en-US" b="1">
                <a:solidFill>
                  <a:srgbClr val="CC0000"/>
                </a:solidFill>
              </a:rPr>
              <a:t>失业的一些事实</a:t>
            </a:r>
          </a:p>
        </p:txBody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B9510A5C-F97F-D395-5476-1DACC5697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4964" name="Rectangle 4">
            <a:extLst>
              <a:ext uri="{FF2B5EF4-FFF2-40B4-BE49-F238E27FC236}">
                <a16:creationId xmlns:a16="http://schemas.microsoft.com/office/drawing/2014/main" id="{C2B9B4A9-B77A-6153-F7EF-BEFDB0566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3505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男女趋于平等</a:t>
            </a:r>
          </a:p>
        </p:txBody>
      </p:sp>
      <p:sp>
        <p:nvSpPr>
          <p:cNvPr id="424965" name="Rectangle 5">
            <a:extLst>
              <a:ext uri="{FF2B5EF4-FFF2-40B4-BE49-F238E27FC236}">
                <a16:creationId xmlns:a16="http://schemas.microsoft.com/office/drawing/2014/main" id="{F6217164-B0D4-6C62-9C6A-91A15948A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24967" name="Picture 7">
            <a:extLst>
              <a:ext uri="{FF2B5EF4-FFF2-40B4-BE49-F238E27FC236}">
                <a16:creationId xmlns:a16="http://schemas.microsoft.com/office/drawing/2014/main" id="{7E1A62CF-1D13-EA2F-90C8-CD2E96295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2082800"/>
            <a:ext cx="6280150" cy="47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2" grpId="0" autoUpdateAnimBg="0"/>
      <p:bldP spid="424964" grpId="0" autoUpdateAnimBg="0"/>
      <p:bldP spid="42496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15E479BE-BCBE-576B-E029-9318F957585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2.6 </a:t>
            </a:r>
            <a:r>
              <a:rPr lang="zh-CN" altLang="en-US" b="1">
                <a:solidFill>
                  <a:srgbClr val="CC0000"/>
                </a:solidFill>
              </a:rPr>
              <a:t>失业的一些事实</a:t>
            </a:r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512E07E9-27EE-8D49-C40E-9C9C6725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5988" name="Rectangle 4">
            <a:extLst>
              <a:ext uri="{FF2B5EF4-FFF2-40B4-BE49-F238E27FC236}">
                <a16:creationId xmlns:a16="http://schemas.microsoft.com/office/drawing/2014/main" id="{B9CB6686-FF58-F408-0346-D9FA037DD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518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年青人的失业率明显较高</a:t>
            </a:r>
          </a:p>
        </p:txBody>
      </p:sp>
      <p:sp>
        <p:nvSpPr>
          <p:cNvPr id="425989" name="Rectangle 5">
            <a:extLst>
              <a:ext uri="{FF2B5EF4-FFF2-40B4-BE49-F238E27FC236}">
                <a16:creationId xmlns:a16="http://schemas.microsoft.com/office/drawing/2014/main" id="{3651F21C-9295-BE0E-F586-561B99F0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25991" name="Picture 7">
            <a:extLst>
              <a:ext uri="{FF2B5EF4-FFF2-40B4-BE49-F238E27FC236}">
                <a16:creationId xmlns:a16="http://schemas.microsoft.com/office/drawing/2014/main" id="{41E556AB-94AE-1BA5-7C94-70D049498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63750"/>
            <a:ext cx="6305550" cy="479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 autoUpdateAnimBg="0"/>
      <p:bldP spid="425988" grpId="0" autoUpdateAnimBg="0"/>
      <p:bldP spid="42598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C2AEA778-FD89-6681-FEA4-D08F3C3A8FA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2.6 </a:t>
            </a:r>
            <a:r>
              <a:rPr lang="zh-CN" altLang="en-US" b="1">
                <a:solidFill>
                  <a:srgbClr val="CC0000"/>
                </a:solidFill>
              </a:rPr>
              <a:t>失业的一些事实</a:t>
            </a: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8B94BBC6-8C15-4BF3-B8D9-40EA0A6E8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7012" name="Rectangle 4">
            <a:extLst>
              <a:ext uri="{FF2B5EF4-FFF2-40B4-BE49-F238E27FC236}">
                <a16:creationId xmlns:a16="http://schemas.microsoft.com/office/drawing/2014/main" id="{D6D093FB-E86D-56E6-0C21-AE64229E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518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有色肤色人的失业率明显较高</a:t>
            </a:r>
          </a:p>
        </p:txBody>
      </p:sp>
      <p:sp>
        <p:nvSpPr>
          <p:cNvPr id="427013" name="Rectangle 5">
            <a:extLst>
              <a:ext uri="{FF2B5EF4-FFF2-40B4-BE49-F238E27FC236}">
                <a16:creationId xmlns:a16="http://schemas.microsoft.com/office/drawing/2014/main" id="{7934AC5B-E0E6-82D2-E8E8-16146CEC6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27015" name="Picture 7">
            <a:extLst>
              <a:ext uri="{FF2B5EF4-FFF2-40B4-BE49-F238E27FC236}">
                <a16:creationId xmlns:a16="http://schemas.microsoft.com/office/drawing/2014/main" id="{75055641-CBA0-59D0-5C10-4ACA26A33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85975"/>
            <a:ext cx="6297613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utoUpdateAnimBg="0"/>
      <p:bldP spid="427012" grpId="0" autoUpdateAnimBg="0"/>
      <p:bldP spid="42701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>
            <a:extLst>
              <a:ext uri="{FF2B5EF4-FFF2-40B4-BE49-F238E27FC236}">
                <a16:creationId xmlns:a16="http://schemas.microsoft.com/office/drawing/2014/main" id="{59199966-E429-30D0-6648-CF56867DADF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2.6 </a:t>
            </a:r>
            <a:r>
              <a:rPr lang="zh-CN" altLang="en-US" b="1">
                <a:solidFill>
                  <a:srgbClr val="CC0000"/>
                </a:solidFill>
              </a:rPr>
              <a:t>失业的一些事实</a:t>
            </a:r>
          </a:p>
        </p:txBody>
      </p:sp>
      <p:sp>
        <p:nvSpPr>
          <p:cNvPr id="429059" name="Rectangle 3">
            <a:extLst>
              <a:ext uri="{FF2B5EF4-FFF2-40B4-BE49-F238E27FC236}">
                <a16:creationId xmlns:a16="http://schemas.microsoft.com/office/drawing/2014/main" id="{668EACB3-443E-730B-11C1-B8559C044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9060" name="Rectangle 4">
            <a:extLst>
              <a:ext uri="{FF2B5EF4-FFF2-40B4-BE49-F238E27FC236}">
                <a16:creationId xmlns:a16="http://schemas.microsoft.com/office/drawing/2014/main" id="{DB10212C-9F55-F79B-A864-59D1BE40A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518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失业持续时间与失业率</a:t>
            </a:r>
          </a:p>
        </p:txBody>
      </p:sp>
      <p:sp>
        <p:nvSpPr>
          <p:cNvPr id="429061" name="Rectangle 5">
            <a:extLst>
              <a:ext uri="{FF2B5EF4-FFF2-40B4-BE49-F238E27FC236}">
                <a16:creationId xmlns:a16="http://schemas.microsoft.com/office/drawing/2014/main" id="{82F5FA41-8827-7322-446D-560ED8F23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29063" name="Picture 7">
            <a:extLst>
              <a:ext uri="{FF2B5EF4-FFF2-40B4-BE49-F238E27FC236}">
                <a16:creationId xmlns:a16="http://schemas.microsoft.com/office/drawing/2014/main" id="{DCCF58BB-8A54-F289-B808-626D0B519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2019300"/>
            <a:ext cx="64770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utoUpdateAnimBg="0"/>
      <p:bldP spid="429060" grpId="0" autoUpdateAnimBg="0"/>
      <p:bldP spid="42906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ACC18D26-4F3E-F1FE-96DB-07B9577B32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2.6 </a:t>
            </a:r>
            <a:r>
              <a:rPr lang="zh-CN" altLang="en-US" b="1">
                <a:solidFill>
                  <a:srgbClr val="CC0000"/>
                </a:solidFill>
              </a:rPr>
              <a:t>失业的一些事实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A990B67C-2827-0246-6D43-5F81A4503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8036" name="Rectangle 4">
            <a:extLst>
              <a:ext uri="{FF2B5EF4-FFF2-40B4-BE49-F238E27FC236}">
                <a16:creationId xmlns:a16="http://schemas.microsoft.com/office/drawing/2014/main" id="{7FD3849C-6DE2-1696-3F4D-7CC33917C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7620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美国和西欧的失业具有不同的演进态势</a:t>
            </a:r>
          </a:p>
        </p:txBody>
      </p:sp>
      <p:sp>
        <p:nvSpPr>
          <p:cNvPr id="428037" name="Rectangle 5">
            <a:extLst>
              <a:ext uri="{FF2B5EF4-FFF2-40B4-BE49-F238E27FC236}">
                <a16:creationId xmlns:a16="http://schemas.microsoft.com/office/drawing/2014/main" id="{0DA52BEB-6E6F-CEC0-1FF8-0B35C9845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28039" name="Picture 7">
            <a:extLst>
              <a:ext uri="{FF2B5EF4-FFF2-40B4-BE49-F238E27FC236}">
                <a16:creationId xmlns:a16="http://schemas.microsoft.com/office/drawing/2014/main" id="{2DE8A17D-487B-AC84-61D0-834C097C2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2036763"/>
            <a:ext cx="7002463" cy="474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utoUpdateAnimBg="0"/>
      <p:bldP spid="428036" grpId="0" autoUpdateAnimBg="0"/>
      <p:bldP spid="42803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id="{516EBA31-BEA4-AB6C-142C-B30EC587D53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2.7 </a:t>
            </a:r>
            <a:r>
              <a:rPr lang="zh-CN" altLang="en-US" b="1">
                <a:solidFill>
                  <a:srgbClr val="CC0000"/>
                </a:solidFill>
              </a:rPr>
              <a:t>失业的损失</a:t>
            </a: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91967C0E-6022-D134-98EE-211D55328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084" name="Rectangle 4">
            <a:extLst>
              <a:ext uri="{FF2B5EF4-FFF2-40B4-BE49-F238E27FC236}">
                <a16:creationId xmlns:a16="http://schemas.microsoft.com/office/drawing/2014/main" id="{300601A0-6880-D7E0-69E6-BE85C420F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4419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周期性失业减少了产量</a:t>
            </a:r>
          </a:p>
        </p:txBody>
      </p:sp>
      <p:sp>
        <p:nvSpPr>
          <p:cNvPr id="430085" name="Rectangle 5">
            <a:extLst>
              <a:ext uri="{FF2B5EF4-FFF2-40B4-BE49-F238E27FC236}">
                <a16:creationId xmlns:a16="http://schemas.microsoft.com/office/drawing/2014/main" id="{029E5C49-0C18-0F5F-C7C0-939C42B66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pic>
        <p:nvPicPr>
          <p:cNvPr id="430087" name="Picture 7">
            <a:extLst>
              <a:ext uri="{FF2B5EF4-FFF2-40B4-BE49-F238E27FC236}">
                <a16:creationId xmlns:a16="http://schemas.microsoft.com/office/drawing/2014/main" id="{55624EF3-E0D7-8395-7462-FD3BDDFC8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14538"/>
            <a:ext cx="5091113" cy="484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088" name="Rectangle 8">
            <a:extLst>
              <a:ext uri="{FF2B5EF4-FFF2-40B4-BE49-F238E27FC236}">
                <a16:creationId xmlns:a16="http://schemas.microsoft.com/office/drawing/2014/main" id="{EEC8FF15-F87E-6036-5264-85949F303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524000"/>
            <a:ext cx="3276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失业对（初次）分配影响</a:t>
            </a:r>
          </a:p>
          <a:p>
            <a:pPr lvl="1"/>
            <a:r>
              <a:rPr lang="zh-CN" altLang="en-US" sz="2400" b="1"/>
              <a:t>不同性别、年龄、肤色、国别等所面临的失业率不同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2" grpId="0" autoUpdateAnimBg="0"/>
      <p:bldP spid="430084" grpId="0" autoUpdateAnimBg="0"/>
      <p:bldP spid="430085" grpId="0" autoUpdateAnimBg="0"/>
      <p:bldP spid="43008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>
            <a:extLst>
              <a:ext uri="{FF2B5EF4-FFF2-40B4-BE49-F238E27FC236}">
                <a16:creationId xmlns:a16="http://schemas.microsoft.com/office/drawing/2014/main" id="{182052DD-39AA-3F0B-E3B7-5FCB129E336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2.8 </a:t>
            </a:r>
            <a:r>
              <a:rPr lang="zh-CN" altLang="en-US" b="1">
                <a:solidFill>
                  <a:srgbClr val="CC0000"/>
                </a:solidFill>
              </a:rPr>
              <a:t>宏观经济管理目标小结</a:t>
            </a: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C6312249-597C-9663-9025-C285E13D8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1108" name="Rectangle 4">
            <a:extLst>
              <a:ext uri="{FF2B5EF4-FFF2-40B4-BE49-F238E27FC236}">
                <a16:creationId xmlns:a16="http://schemas.microsoft.com/office/drawing/2014/main" id="{6C232178-91BF-0D8A-6962-398CCBD13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678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通货膨胀和失业都会带来经济损失</a:t>
            </a:r>
          </a:p>
        </p:txBody>
      </p:sp>
      <p:sp>
        <p:nvSpPr>
          <p:cNvPr id="431109" name="Rectangle 5">
            <a:extLst>
              <a:ext uri="{FF2B5EF4-FFF2-40B4-BE49-F238E27FC236}">
                <a16:creationId xmlns:a16="http://schemas.microsoft.com/office/drawing/2014/main" id="{A6DFD4FE-4432-4A19-7D1E-9835A870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31111" name="Rectangle 7">
            <a:extLst>
              <a:ext uri="{FF2B5EF4-FFF2-40B4-BE49-F238E27FC236}">
                <a16:creationId xmlns:a16="http://schemas.microsoft.com/office/drawing/2014/main" id="{1F976B6B-6524-CF5C-5288-E4F770383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819400"/>
            <a:ext cx="6324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充分就业与物价稳定无法兼得</a:t>
            </a:r>
          </a:p>
          <a:p>
            <a:pPr lvl="1"/>
            <a:r>
              <a:rPr lang="zh-CN" altLang="en-US" sz="2400" b="1"/>
              <a:t>回忆</a:t>
            </a:r>
            <a:r>
              <a:rPr lang="en-US" altLang="zh-CN" sz="2400" b="1"/>
              <a:t>Phillips</a:t>
            </a:r>
            <a:r>
              <a:rPr lang="zh-CN" altLang="en-US" sz="2400" b="1"/>
              <a:t>曲线</a:t>
            </a:r>
          </a:p>
        </p:txBody>
      </p:sp>
      <p:sp>
        <p:nvSpPr>
          <p:cNvPr id="431112" name="Rectangle 8">
            <a:extLst>
              <a:ext uri="{FF2B5EF4-FFF2-40B4-BE49-F238E27FC236}">
                <a16:creationId xmlns:a16="http://schemas.microsoft.com/office/drawing/2014/main" id="{271E06CB-DC27-2663-9A32-1A40B3D54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038600"/>
            <a:ext cx="7467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三点补充</a:t>
            </a:r>
          </a:p>
          <a:p>
            <a:pPr lvl="1"/>
            <a:r>
              <a:rPr lang="zh-CN" altLang="en-US" sz="2400" b="1"/>
              <a:t>政治经济周期理论</a:t>
            </a:r>
          </a:p>
          <a:p>
            <a:pPr lvl="1"/>
            <a:r>
              <a:rPr lang="zh-CN" altLang="en-US" sz="2400" b="1"/>
              <a:t>劳动市场分割与输出</a:t>
            </a:r>
            <a:r>
              <a:rPr lang="zh-CN" altLang="en-US" sz="2400" b="1">
                <a:latin typeface="Times New Roman" panose="02020603050405020304" pitchFamily="18" charset="0"/>
              </a:rPr>
              <a:t>“</a:t>
            </a:r>
            <a:r>
              <a:rPr lang="zh-CN" altLang="en-US" sz="2400" b="1"/>
              <a:t>失业</a:t>
            </a:r>
            <a:r>
              <a:rPr lang="zh-CN" altLang="en-US" sz="2400" b="1">
                <a:latin typeface="Times New Roman" panose="02020603050405020304" pitchFamily="18" charset="0"/>
              </a:rPr>
              <a:t>”</a:t>
            </a:r>
            <a:endParaRPr lang="zh-CN" altLang="en-US" sz="2400" b="1"/>
          </a:p>
          <a:p>
            <a:pPr lvl="1"/>
            <a:r>
              <a:rPr lang="zh-CN" altLang="en-US" sz="2400" b="1"/>
              <a:t>相对与熨平经济周期而言，经济增长政策更关系到人们的福祉。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6" grpId="0" autoUpdateAnimBg="0"/>
      <p:bldP spid="431108" grpId="0" autoUpdateAnimBg="0"/>
      <p:bldP spid="431109" grpId="0" autoUpdateAnimBg="0"/>
      <p:bldP spid="431111" grpId="0" autoUpdateAnimBg="0"/>
      <p:bldP spid="43111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BFFC9EAD-C244-9F59-309B-D57B13CDD51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 </a:t>
            </a:r>
            <a:r>
              <a:rPr lang="zh-CN" altLang="en-US" b="1">
                <a:solidFill>
                  <a:srgbClr val="CC0000"/>
                </a:solidFill>
              </a:rPr>
              <a:t>宏观经济分析框架</a:t>
            </a:r>
          </a:p>
        </p:txBody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880E0D0A-32B7-0B34-44E0-EFB81F50F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2132" name="Rectangle 4">
            <a:extLst>
              <a:ext uri="{FF2B5EF4-FFF2-40B4-BE49-F238E27FC236}">
                <a16:creationId xmlns:a16="http://schemas.microsoft.com/office/drawing/2014/main" id="{80F0F647-05C1-277D-A09D-7296DDAD4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6781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宏观经济分析中两个基本分析框架</a:t>
            </a:r>
          </a:p>
          <a:p>
            <a:pPr lvl="1"/>
            <a:r>
              <a:rPr lang="en-US" altLang="zh-CN" sz="2400" b="1"/>
              <a:t>IS</a:t>
            </a:r>
            <a:r>
              <a:rPr lang="zh-CN" altLang="en-US" sz="2400" b="1"/>
              <a:t>－</a:t>
            </a:r>
            <a:r>
              <a:rPr lang="en-US" altLang="zh-CN" sz="2400" b="1"/>
              <a:t>LM</a:t>
            </a:r>
            <a:r>
              <a:rPr lang="zh-CN" altLang="en-US" sz="2400" b="1"/>
              <a:t>模型和</a:t>
            </a:r>
            <a:r>
              <a:rPr lang="en-US" altLang="zh-CN" sz="2400" b="1"/>
              <a:t>AS</a:t>
            </a:r>
            <a:r>
              <a:rPr lang="zh-CN" altLang="en-US" sz="2400" b="1"/>
              <a:t>－</a:t>
            </a:r>
            <a:r>
              <a:rPr lang="en-US" altLang="zh-CN" sz="2400" b="1"/>
              <a:t>AD</a:t>
            </a:r>
            <a:r>
              <a:rPr lang="zh-CN" altLang="en-US" sz="2400" b="1"/>
              <a:t>模型</a:t>
            </a:r>
          </a:p>
        </p:txBody>
      </p:sp>
      <p:grpSp>
        <p:nvGrpSpPr>
          <p:cNvPr id="432153" name="Group 25">
            <a:extLst>
              <a:ext uri="{FF2B5EF4-FFF2-40B4-BE49-F238E27FC236}">
                <a16:creationId xmlns:a16="http://schemas.microsoft.com/office/drawing/2014/main" id="{3E63C17B-659D-203C-4EEA-982C74EDF57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343400"/>
            <a:ext cx="3048000" cy="2073275"/>
            <a:chOff x="1344" y="2918"/>
            <a:chExt cx="1920" cy="1306"/>
          </a:xfrm>
        </p:grpSpPr>
        <p:grpSp>
          <p:nvGrpSpPr>
            <p:cNvPr id="432136" name="Group 8">
              <a:extLst>
                <a:ext uri="{FF2B5EF4-FFF2-40B4-BE49-F238E27FC236}">
                  <a16:creationId xmlns:a16="http://schemas.microsoft.com/office/drawing/2014/main" id="{03A0F4C1-193D-FE2F-5563-A6592C43D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18"/>
              <a:ext cx="1920" cy="1306"/>
              <a:chOff x="3456" y="816"/>
              <a:chExt cx="1920" cy="1306"/>
            </a:xfrm>
          </p:grpSpPr>
          <p:sp>
            <p:nvSpPr>
              <p:cNvPr id="432137" name="Line 9">
                <a:extLst>
                  <a:ext uri="{FF2B5EF4-FFF2-40B4-BE49-F238E27FC236}">
                    <a16:creationId xmlns:a16="http://schemas.microsoft.com/office/drawing/2014/main" id="{217BE6D9-25CA-7897-A146-90C84BE58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2138" name="Line 10">
                <a:extLst>
                  <a:ext uri="{FF2B5EF4-FFF2-40B4-BE49-F238E27FC236}">
                    <a16:creationId xmlns:a16="http://schemas.microsoft.com/office/drawing/2014/main" id="{838CFD76-19C4-2325-B449-1F7EE672D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2139" name="Text Box 11">
                <a:extLst>
                  <a:ext uri="{FF2B5EF4-FFF2-40B4-BE49-F238E27FC236}">
                    <a16:creationId xmlns:a16="http://schemas.microsoft.com/office/drawing/2014/main" id="{74FA3D6B-2840-1508-F87D-ACDC54E5C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 </a:t>
                </a:r>
              </a:p>
            </p:txBody>
          </p:sp>
          <p:sp>
            <p:nvSpPr>
              <p:cNvPr id="432140" name="Text Box 12">
                <a:extLst>
                  <a:ext uri="{FF2B5EF4-FFF2-40B4-BE49-F238E27FC236}">
                    <a16:creationId xmlns:a16="http://schemas.microsoft.com/office/drawing/2014/main" id="{A7D7C731-A33E-1B59-37AE-52C3FFBEA1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432141" name="Group 13">
              <a:extLst>
                <a:ext uri="{FF2B5EF4-FFF2-40B4-BE49-F238E27FC236}">
                  <a16:creationId xmlns:a16="http://schemas.microsoft.com/office/drawing/2014/main" id="{FEC5E808-E864-7BB3-7BCF-6D242A6DC9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966"/>
              <a:ext cx="1172" cy="874"/>
              <a:chOff x="3600" y="3062"/>
              <a:chExt cx="1172" cy="874"/>
            </a:xfrm>
          </p:grpSpPr>
          <p:sp>
            <p:nvSpPr>
              <p:cNvPr id="432142" name="Line 14">
                <a:extLst>
                  <a:ext uri="{FF2B5EF4-FFF2-40B4-BE49-F238E27FC236}">
                    <a16:creationId xmlns:a16="http://schemas.microsoft.com/office/drawing/2014/main" id="{76EF1B71-072E-F94D-54DC-4DBE6CCFC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37"/>
                <a:ext cx="864" cy="6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2143" name="Rectangle 15">
                <a:extLst>
                  <a:ext uri="{FF2B5EF4-FFF2-40B4-BE49-F238E27FC236}">
                    <a16:creationId xmlns:a16="http://schemas.microsoft.com/office/drawing/2014/main" id="{1C777BDE-F3E4-DB24-0ADB-078CCEF23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" y="3062"/>
                <a:ext cx="3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LM</a:t>
                </a:r>
              </a:p>
            </p:txBody>
          </p:sp>
        </p:grpSp>
        <p:grpSp>
          <p:nvGrpSpPr>
            <p:cNvPr id="432144" name="Group 16">
              <a:extLst>
                <a:ext uri="{FF2B5EF4-FFF2-40B4-BE49-F238E27FC236}">
                  <a16:creationId xmlns:a16="http://schemas.microsoft.com/office/drawing/2014/main" id="{1729E090-CFE8-6F93-43DF-0A16D4910A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2" y="2918"/>
              <a:ext cx="972" cy="922"/>
              <a:chOff x="1812" y="2822"/>
              <a:chExt cx="972" cy="922"/>
            </a:xfrm>
          </p:grpSpPr>
          <p:sp>
            <p:nvSpPr>
              <p:cNvPr id="432145" name="Line 17">
                <a:extLst>
                  <a:ext uri="{FF2B5EF4-FFF2-40B4-BE49-F238E27FC236}">
                    <a16:creationId xmlns:a16="http://schemas.microsoft.com/office/drawing/2014/main" id="{FBCF360C-DAB5-A623-F27B-0BDFE24EBE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3" y="3007"/>
                <a:ext cx="781" cy="73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2146" name="Rectangle 18">
                <a:extLst>
                  <a:ext uri="{FF2B5EF4-FFF2-40B4-BE49-F238E27FC236}">
                    <a16:creationId xmlns:a16="http://schemas.microsoft.com/office/drawing/2014/main" id="{8AFB7BE8-F5B7-663A-A6A6-B40A7CA15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12" y="2822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  <p:grpSp>
          <p:nvGrpSpPr>
            <p:cNvPr id="432147" name="Group 19">
              <a:extLst>
                <a:ext uri="{FF2B5EF4-FFF2-40B4-BE49-F238E27FC236}">
                  <a16:creationId xmlns:a16="http://schemas.microsoft.com/office/drawing/2014/main" id="{F3C39DBE-4581-BA85-9781-B6B4704EE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408"/>
              <a:ext cx="1040" cy="768"/>
              <a:chOff x="1392" y="3312"/>
              <a:chExt cx="1040" cy="768"/>
            </a:xfrm>
          </p:grpSpPr>
          <p:grpSp>
            <p:nvGrpSpPr>
              <p:cNvPr id="432148" name="Group 20">
                <a:extLst>
                  <a:ext uri="{FF2B5EF4-FFF2-40B4-BE49-F238E27FC236}">
                    <a16:creationId xmlns:a16="http://schemas.microsoft.com/office/drawing/2014/main" id="{5E55FAB4-C2C0-B727-CFEF-C207E1B2FD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360"/>
                <a:ext cx="816" cy="576"/>
                <a:chOff x="1536" y="3360"/>
                <a:chExt cx="816" cy="576"/>
              </a:xfrm>
            </p:grpSpPr>
            <p:sp>
              <p:nvSpPr>
                <p:cNvPr id="432149" name="Line 21">
                  <a:extLst>
                    <a:ext uri="{FF2B5EF4-FFF2-40B4-BE49-F238E27FC236}">
                      <a16:creationId xmlns:a16="http://schemas.microsoft.com/office/drawing/2014/main" id="{36CAB0A6-BC54-0485-B4A7-979E6BAEF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3360"/>
                  <a:ext cx="0" cy="576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32150" name="Line 22">
                  <a:extLst>
                    <a:ext uri="{FF2B5EF4-FFF2-40B4-BE49-F238E27FC236}">
                      <a16:creationId xmlns:a16="http://schemas.microsoft.com/office/drawing/2014/main" id="{A132FB86-3C89-7E88-9B4E-3523AEAF03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6" y="3360"/>
                  <a:ext cx="816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32151" name="Object 23">
                <a:extLst>
                  <a:ext uri="{FF2B5EF4-FFF2-40B4-BE49-F238E27FC236}">
                    <a16:creationId xmlns:a16="http://schemas.microsoft.com/office/drawing/2014/main" id="{151BAD5E-C210-C0FA-DEA7-01062E3DA6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3312"/>
              <a:ext cx="112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77480" imgH="177480" progId="Equation.DSMT4">
                      <p:embed/>
                    </p:oleObj>
                  </mc:Choice>
                  <mc:Fallback>
                    <p:oleObj name="Equation" r:id="rId2" imgW="177480" imgH="17748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112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2152" name="Object 24">
                <a:extLst>
                  <a:ext uri="{FF2B5EF4-FFF2-40B4-BE49-F238E27FC236}">
                    <a16:creationId xmlns:a16="http://schemas.microsoft.com/office/drawing/2014/main" id="{2B4DACE6-E125-15F1-29B3-BD102D6697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88" y="3976"/>
              <a:ext cx="14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8" y="3976"/>
                            <a:ext cx="14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32154" name="Rectangle 26">
            <a:extLst>
              <a:ext uri="{FF2B5EF4-FFF2-40B4-BE49-F238E27FC236}">
                <a16:creationId xmlns:a16="http://schemas.microsoft.com/office/drawing/2014/main" id="{47A5FF80-3F08-C841-D930-874367256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95600"/>
            <a:ext cx="5486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举例，政府支出带来的影响</a:t>
            </a:r>
          </a:p>
        </p:txBody>
      </p:sp>
      <p:sp>
        <p:nvSpPr>
          <p:cNvPr id="432155" name="Line 27">
            <a:extLst>
              <a:ext uri="{FF2B5EF4-FFF2-40B4-BE49-F238E27FC236}">
                <a16:creationId xmlns:a16="http://schemas.microsoft.com/office/drawing/2014/main" id="{03168B49-159B-BB4A-7AFB-2897315CA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359275"/>
            <a:ext cx="12954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32167" name="Group 39">
            <a:extLst>
              <a:ext uri="{FF2B5EF4-FFF2-40B4-BE49-F238E27FC236}">
                <a16:creationId xmlns:a16="http://schemas.microsoft.com/office/drawing/2014/main" id="{88FCFDB7-660D-AEA9-DD2C-AA406ECEF563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810000"/>
            <a:ext cx="3352800" cy="2984500"/>
            <a:chOff x="3264" y="2488"/>
            <a:chExt cx="2112" cy="1880"/>
          </a:xfrm>
        </p:grpSpPr>
        <p:grpSp>
          <p:nvGrpSpPr>
            <p:cNvPr id="432156" name="Group 28">
              <a:extLst>
                <a:ext uri="{FF2B5EF4-FFF2-40B4-BE49-F238E27FC236}">
                  <a16:creationId xmlns:a16="http://schemas.microsoft.com/office/drawing/2014/main" id="{607F2851-D660-84B4-CE2F-DA25529969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488"/>
              <a:ext cx="2112" cy="1880"/>
              <a:chOff x="1440" y="1920"/>
              <a:chExt cx="2928" cy="2024"/>
            </a:xfrm>
          </p:grpSpPr>
          <p:sp>
            <p:nvSpPr>
              <p:cNvPr id="432157" name="Line 29">
                <a:extLst>
                  <a:ext uri="{FF2B5EF4-FFF2-40B4-BE49-F238E27FC236}">
                    <a16:creationId xmlns:a16="http://schemas.microsoft.com/office/drawing/2014/main" id="{E537EF4D-035B-1E19-86D8-0B1141638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920"/>
                <a:ext cx="0" cy="16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58" name="Line 30">
                <a:extLst>
                  <a:ext uri="{FF2B5EF4-FFF2-40B4-BE49-F238E27FC236}">
                    <a16:creationId xmlns:a16="http://schemas.microsoft.com/office/drawing/2014/main" id="{6722D61D-5388-4AC0-011F-6C3A18842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600"/>
                <a:ext cx="220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59" name="Text Box 31">
                <a:extLst>
                  <a:ext uri="{FF2B5EF4-FFF2-40B4-BE49-F238E27FC236}">
                    <a16:creationId xmlns:a16="http://schemas.microsoft.com/office/drawing/2014/main" id="{C8172948-D486-BF2F-87E0-48FA848227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2016"/>
                <a:ext cx="250" cy="10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b="1"/>
                  <a:t>价格水平</a:t>
                </a:r>
              </a:p>
              <a:p>
                <a:pPr algn="l">
                  <a:spcBef>
                    <a:spcPct val="50000"/>
                  </a:spcBef>
                </a:pPr>
                <a:r>
                  <a:rPr lang="en-US" altLang="zh-CN" b="1"/>
                  <a:t>P</a:t>
                </a:r>
              </a:p>
            </p:txBody>
          </p:sp>
          <p:sp>
            <p:nvSpPr>
              <p:cNvPr id="432160" name="Text Box 32">
                <a:extLst>
                  <a:ext uri="{FF2B5EF4-FFF2-40B4-BE49-F238E27FC236}">
                    <a16:creationId xmlns:a16="http://schemas.microsoft.com/office/drawing/2014/main" id="{F29FCF3C-A201-2248-3041-2BE7B9A07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3696"/>
                <a:ext cx="768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b="1"/>
                  <a:t>产量 </a:t>
                </a:r>
                <a:r>
                  <a:rPr lang="en-US" altLang="zh-CN" b="1"/>
                  <a:t>Y</a:t>
                </a:r>
              </a:p>
            </p:txBody>
          </p:sp>
        </p:grpSp>
        <p:grpSp>
          <p:nvGrpSpPr>
            <p:cNvPr id="432161" name="Group 33">
              <a:extLst>
                <a:ext uri="{FF2B5EF4-FFF2-40B4-BE49-F238E27FC236}">
                  <a16:creationId xmlns:a16="http://schemas.microsoft.com/office/drawing/2014/main" id="{B11B65CE-7D8B-C515-C61B-290F2A4E41B9}"/>
                </a:ext>
              </a:extLst>
            </p:cNvPr>
            <p:cNvGrpSpPr>
              <a:grpSpLocks/>
            </p:cNvGrpSpPr>
            <p:nvPr/>
          </p:nvGrpSpPr>
          <p:grpSpPr bwMode="auto">
            <a:xfrm rot="-1644279">
              <a:off x="3599" y="3208"/>
              <a:ext cx="1537" cy="231"/>
              <a:chOff x="2351" y="2352"/>
              <a:chExt cx="1537" cy="231"/>
            </a:xfrm>
          </p:grpSpPr>
          <p:sp>
            <p:nvSpPr>
              <p:cNvPr id="432162" name="Line 34">
                <a:extLst>
                  <a:ext uri="{FF2B5EF4-FFF2-40B4-BE49-F238E27FC236}">
                    <a16:creationId xmlns:a16="http://schemas.microsoft.com/office/drawing/2014/main" id="{902A2C4C-BAF8-3054-346F-FB4CF1063A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927" y="1895"/>
                <a:ext cx="0" cy="1152"/>
              </a:xfrm>
              <a:prstGeom prst="line">
                <a:avLst/>
              </a:prstGeom>
              <a:noFill/>
              <a:ln w="38100">
                <a:solidFill>
                  <a:srgbClr val="24C03A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63" name="Text Box 35">
                <a:extLst>
                  <a:ext uri="{FF2B5EF4-FFF2-40B4-BE49-F238E27FC236}">
                    <a16:creationId xmlns:a16="http://schemas.microsoft.com/office/drawing/2014/main" id="{1F91B07A-E02E-DE95-E52C-DC3CF11A7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2352"/>
                <a:ext cx="3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24C03A"/>
                    </a:solidFill>
                  </a:rPr>
                  <a:t>AS</a:t>
                </a:r>
              </a:p>
            </p:txBody>
          </p:sp>
        </p:grpSp>
        <p:grpSp>
          <p:nvGrpSpPr>
            <p:cNvPr id="432164" name="Group 36">
              <a:extLst>
                <a:ext uri="{FF2B5EF4-FFF2-40B4-BE49-F238E27FC236}">
                  <a16:creationId xmlns:a16="http://schemas.microsoft.com/office/drawing/2014/main" id="{02A00383-210A-CBAB-1AF4-7BE9F305E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920"/>
              <a:ext cx="1296" cy="1112"/>
              <a:chOff x="2208" y="2112"/>
              <a:chExt cx="1776" cy="1803"/>
            </a:xfrm>
          </p:grpSpPr>
          <p:sp>
            <p:nvSpPr>
              <p:cNvPr id="432165" name="Line 37">
                <a:extLst>
                  <a:ext uri="{FF2B5EF4-FFF2-40B4-BE49-F238E27FC236}">
                    <a16:creationId xmlns:a16="http://schemas.microsoft.com/office/drawing/2014/main" id="{FA43ED2D-73FB-59BE-320C-A45559207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112"/>
                <a:ext cx="1488" cy="120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66" name="Text Box 38">
                <a:extLst>
                  <a:ext uri="{FF2B5EF4-FFF2-40B4-BE49-F238E27FC236}">
                    <a16:creationId xmlns:a16="http://schemas.microsoft.com/office/drawing/2014/main" id="{CFA859DC-C16E-737F-80E6-EF6F06DE4A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3260"/>
                <a:ext cx="432" cy="6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tx2"/>
                    </a:solidFill>
                  </a:rPr>
                  <a:t>Ａ</a:t>
                </a:r>
                <a:r>
                  <a:rPr lang="en-US" altLang="zh-CN" b="1">
                    <a:solidFill>
                      <a:schemeClr val="tx2"/>
                    </a:solidFill>
                  </a:rPr>
                  <a:t>D</a:t>
                </a:r>
              </a:p>
            </p:txBody>
          </p:sp>
        </p:grpSp>
      </p:grpSp>
      <p:sp>
        <p:nvSpPr>
          <p:cNvPr id="432168" name="Line 40">
            <a:extLst>
              <a:ext uri="{FF2B5EF4-FFF2-40B4-BE49-F238E27FC236}">
                <a16:creationId xmlns:a16="http://schemas.microsoft.com/office/drawing/2014/main" id="{7979350A-98BA-C32D-208E-8EBC31F6EC8A}"/>
              </a:ext>
            </a:extLst>
          </p:cNvPr>
          <p:cNvSpPr>
            <a:spLocks noChangeShapeType="1"/>
          </p:cNvSpPr>
          <p:nvPr/>
        </p:nvSpPr>
        <p:spPr bwMode="auto">
          <a:xfrm rot="-498986">
            <a:off x="6465888" y="4214813"/>
            <a:ext cx="1447800" cy="1371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3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3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3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0" grpId="0" autoUpdateAnimBg="0"/>
      <p:bldP spid="432132" grpId="0" autoUpdateAnimBg="0"/>
      <p:bldP spid="43215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74A8EF75-CB91-A04F-B10F-E71EE1AEC0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zh-CN" altLang="en-US" sz="3600" b="1"/>
              <a:t>大作业</a:t>
            </a:r>
            <a:endParaRPr lang="zh-CN" altLang="en-US" b="1"/>
          </a:p>
        </p:txBody>
      </p:sp>
      <p:sp>
        <p:nvSpPr>
          <p:cNvPr id="402449" name="Rectangle 17">
            <a:extLst>
              <a:ext uri="{FF2B5EF4-FFF2-40B4-BE49-F238E27FC236}">
                <a16:creationId xmlns:a16="http://schemas.microsoft.com/office/drawing/2014/main" id="{E441ED3F-297F-F9CC-B5DC-E41B2F076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7696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/>
              <a:t>任选一题</a:t>
            </a:r>
          </a:p>
          <a:p>
            <a:pPr lvl="1"/>
            <a:r>
              <a:rPr lang="zh-CN" altLang="en-US" sz="3200" b="1"/>
              <a:t>结合所学，尝试回答下面的问题：</a:t>
            </a:r>
            <a:r>
              <a:rPr lang="zh-CN" altLang="en-US" sz="3200" b="1">
                <a:solidFill>
                  <a:schemeClr val="tx2"/>
                </a:solidFill>
              </a:rPr>
              <a:t>目前我国面临的主要宏观经济问题是什么？如何表述、分析？如何治理？</a:t>
            </a:r>
            <a:endParaRPr lang="zh-CN" altLang="en-US" sz="3200" b="1"/>
          </a:p>
          <a:p>
            <a:pPr lvl="1"/>
            <a:r>
              <a:rPr lang="zh-CN" altLang="en-US" sz="3200" b="1"/>
              <a:t>阐述我国宏观经济管理的发展历程</a:t>
            </a:r>
          </a:p>
          <a:p>
            <a:r>
              <a:rPr lang="zh-CN" altLang="en-US" sz="3600" b="1"/>
              <a:t>时间：下个月第一次课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49" grpId="0" autoUpdateAnimBg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4753</TotalTime>
  <Words>1014</Words>
  <Application>Microsoft Office PowerPoint</Application>
  <PresentationFormat>全屏显示(4:3)</PresentationFormat>
  <Paragraphs>156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宋体</vt:lpstr>
      <vt:lpstr>Wingdings</vt:lpstr>
      <vt:lpstr>Wingdings 2</vt:lpstr>
      <vt:lpstr>华文楷体</vt:lpstr>
      <vt:lpstr>Times New Roman</vt:lpstr>
      <vt:lpstr>Symbol</vt:lpstr>
      <vt:lpstr>吉祥如意</vt:lpstr>
      <vt:lpstr>Microsoft Excel 图表</vt:lpstr>
      <vt:lpstr>Microsoft Graph 2000 图表</vt:lpstr>
      <vt:lpstr>MathType 5.0 Equation</vt:lpstr>
      <vt:lpstr>中级宏观经济学</vt:lpstr>
      <vt:lpstr>课程简介</vt:lpstr>
      <vt:lpstr>主要内容</vt:lpstr>
      <vt:lpstr>1 大危机</vt:lpstr>
      <vt:lpstr>1.1 大机鸟瞰——股市</vt:lpstr>
      <vt:lpstr>1.1 大危机鸟瞰——股市</vt:lpstr>
      <vt:lpstr>1.1 大危机鸟瞰——股市</vt:lpstr>
      <vt:lpstr>1.2 大危机鸟瞰——产出水平</vt:lpstr>
      <vt:lpstr>1.3 大危机鸟瞰——大量失业</vt:lpstr>
      <vt:lpstr>1.3 大危机鸟瞰——大量失业</vt:lpstr>
      <vt:lpstr>1.4 大危机鸟瞰——货币银行</vt:lpstr>
      <vt:lpstr>1.4 大危机鸟瞰—货币银行</vt:lpstr>
      <vt:lpstr>1.5 大危机鸟瞰——物价、投资</vt:lpstr>
      <vt:lpstr>1.6 大危机鸟瞰——国际贸易萎缩</vt:lpstr>
      <vt:lpstr>1.7 小结</vt:lpstr>
      <vt:lpstr>1.8 大危机的治理</vt:lpstr>
      <vt:lpstr>2 宏观经济管理目标</vt:lpstr>
      <vt:lpstr>2.1 通货膨胀</vt:lpstr>
      <vt:lpstr>2.2 通货膨胀的损失</vt:lpstr>
      <vt:lpstr>2.2 通货膨胀的损失</vt:lpstr>
      <vt:lpstr>2.3 通货膨胀损失的度量</vt:lpstr>
      <vt:lpstr>2.4 失业</vt:lpstr>
      <vt:lpstr>2.5 失业－工作小时的变动</vt:lpstr>
      <vt:lpstr>2.6 失业的一些事实</vt:lpstr>
      <vt:lpstr>2.6 失业的一些事实</vt:lpstr>
      <vt:lpstr>2.6 失业的一些事实</vt:lpstr>
      <vt:lpstr>2.6 失业的一些事实</vt:lpstr>
      <vt:lpstr>2.6 失业的一些事实</vt:lpstr>
      <vt:lpstr>2.7 失业的损失</vt:lpstr>
      <vt:lpstr>2.8 宏观经济管理目标小结</vt:lpstr>
      <vt:lpstr>3 宏观经济分析框架</vt:lpstr>
      <vt:lpstr>大作业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427</cp:revision>
  <dcterms:created xsi:type="dcterms:W3CDTF">2004-10-12T17:05:21Z</dcterms:created>
  <dcterms:modified xsi:type="dcterms:W3CDTF">2023-10-24T11:38:31Z</dcterms:modified>
</cp:coreProperties>
</file>