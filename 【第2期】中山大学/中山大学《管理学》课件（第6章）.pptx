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7" r:id="rId1"/>
  </p:sldMasterIdLst>
  <p:notesMasterIdLst>
    <p:notesMasterId r:id="rId20"/>
  </p:notesMasterIdLst>
  <p:sldIdLst>
    <p:sldId id="311" r:id="rId2"/>
    <p:sldId id="257" r:id="rId3"/>
    <p:sldId id="265" r:id="rId4"/>
    <p:sldId id="296" r:id="rId5"/>
    <p:sldId id="270" r:id="rId6"/>
    <p:sldId id="269" r:id="rId7"/>
    <p:sldId id="275" r:id="rId8"/>
    <p:sldId id="267" r:id="rId9"/>
    <p:sldId id="312" r:id="rId10"/>
    <p:sldId id="290" r:id="rId11"/>
    <p:sldId id="313" r:id="rId12"/>
    <p:sldId id="314" r:id="rId13"/>
    <p:sldId id="315" r:id="rId14"/>
    <p:sldId id="294" r:id="rId15"/>
    <p:sldId id="299" r:id="rId16"/>
    <p:sldId id="310" r:id="rId17"/>
    <p:sldId id="291" r:id="rId18"/>
    <p:sldId id="303" r:id="rId19"/>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240" y="60"/>
      </p:cViewPr>
      <p:guideLst>
        <p:guide orient="horz" pos="2160"/>
        <p:guide pos="2880"/>
      </p:guideLst>
    </p:cSldViewPr>
  </p:slideViewPr>
  <p:notesTextViewPr>
    <p:cViewPr>
      <p:scale>
        <a:sx n="100" d="100"/>
        <a:sy n="100" d="100"/>
      </p:scale>
      <p:origin x="0" y="0"/>
    </p:cViewPr>
  </p:notesTextViewPr>
  <p:sorterViewPr>
    <p:cViewPr>
      <p:scale>
        <a:sx n="75" d="100"/>
        <a:sy n="75" d="100"/>
      </p:scale>
      <p:origin x="0" y="136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6F19499B-18F6-BBB0-2CCB-20C9F415138F}"/>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kumimoji="1" sz="1200">
                <a:latin typeface="Times New Roman" panose="02020603050405020304" pitchFamily="18" charset="0"/>
              </a:defRPr>
            </a:lvl1pPr>
          </a:lstStyle>
          <a:p>
            <a:endParaRPr lang="en-US" altLang="zh-CN"/>
          </a:p>
        </p:txBody>
      </p:sp>
      <p:sp>
        <p:nvSpPr>
          <p:cNvPr id="79875" name="Rectangle 3">
            <a:extLst>
              <a:ext uri="{FF2B5EF4-FFF2-40B4-BE49-F238E27FC236}">
                <a16:creationId xmlns:a16="http://schemas.microsoft.com/office/drawing/2014/main" id="{63CD7FBE-6A97-A701-0809-07862199B84E}"/>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kumimoji="1" sz="1200">
                <a:latin typeface="Times New Roman" panose="02020603050405020304" pitchFamily="18" charset="0"/>
              </a:defRPr>
            </a:lvl1pPr>
          </a:lstStyle>
          <a:p>
            <a:endParaRPr lang="en-US" altLang="zh-CN"/>
          </a:p>
        </p:txBody>
      </p:sp>
      <p:sp>
        <p:nvSpPr>
          <p:cNvPr id="79876" name="Rectangle 4">
            <a:extLst>
              <a:ext uri="{FF2B5EF4-FFF2-40B4-BE49-F238E27FC236}">
                <a16:creationId xmlns:a16="http://schemas.microsoft.com/office/drawing/2014/main" id="{0CEA42A6-C861-A186-510F-08175C6529CA}"/>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9877" name="Rectangle 5">
            <a:extLst>
              <a:ext uri="{FF2B5EF4-FFF2-40B4-BE49-F238E27FC236}">
                <a16:creationId xmlns:a16="http://schemas.microsoft.com/office/drawing/2014/main" id="{AE8EBDF0-EECC-7488-425B-8B5DC0F7047C}"/>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9878" name="Rectangle 6">
            <a:extLst>
              <a:ext uri="{FF2B5EF4-FFF2-40B4-BE49-F238E27FC236}">
                <a16:creationId xmlns:a16="http://schemas.microsoft.com/office/drawing/2014/main" id="{71289B05-2DB1-B9AD-CEC5-48B8B76F76F0}"/>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kumimoji="1" sz="1200">
                <a:latin typeface="Times New Roman" panose="02020603050405020304" pitchFamily="18" charset="0"/>
              </a:defRPr>
            </a:lvl1pPr>
          </a:lstStyle>
          <a:p>
            <a:endParaRPr lang="en-US" altLang="zh-CN"/>
          </a:p>
        </p:txBody>
      </p:sp>
      <p:sp>
        <p:nvSpPr>
          <p:cNvPr id="79879" name="Rectangle 7">
            <a:extLst>
              <a:ext uri="{FF2B5EF4-FFF2-40B4-BE49-F238E27FC236}">
                <a16:creationId xmlns:a16="http://schemas.microsoft.com/office/drawing/2014/main" id="{4708E05A-DA92-C0DF-5516-76ADE06A2641}"/>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kumimoji="1" sz="1200">
                <a:latin typeface="Times New Roman" panose="02020603050405020304" pitchFamily="18" charset="0"/>
              </a:defRPr>
            </a:lvl1pPr>
          </a:lstStyle>
          <a:p>
            <a:fld id="{C6184909-A3CD-41B7-B5E1-F2CB445670E7}"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2A2137-9985-1430-C605-D915F6C4FFDA}"/>
              </a:ext>
            </a:extLst>
          </p:cNvPr>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6ADF44D-519E-8255-B9AB-3ACE462288C3}"/>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864B62E-CC29-CC31-FA47-CEE84CC55F52}"/>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5" name="页脚占位符 4">
            <a:extLst>
              <a:ext uri="{FF2B5EF4-FFF2-40B4-BE49-F238E27FC236}">
                <a16:creationId xmlns:a16="http://schemas.microsoft.com/office/drawing/2014/main" id="{6F1185E9-63BF-A2A8-472B-1D8307F0664D}"/>
              </a:ext>
            </a:extLst>
          </p:cNvPr>
          <p:cNvSpPr>
            <a:spLocks noGrp="1"/>
          </p:cNvSpPr>
          <p:nvPr>
            <p:ph type="ftr" sz="quarter" idx="11"/>
          </p:nvPr>
        </p:nvSpPr>
        <p:spPr/>
        <p:txBody>
          <a:bodyPr/>
          <a:lstStyle>
            <a:lvl1pPr>
              <a:defRPr/>
            </a:lvl1pPr>
          </a:lstStyle>
          <a:p>
            <a:r>
              <a:rPr lang="en-US" altLang="zh-CN"/>
              <a:t>管理学</a:t>
            </a:r>
          </a:p>
        </p:txBody>
      </p:sp>
      <p:sp>
        <p:nvSpPr>
          <p:cNvPr id="6" name="灯片编号占位符 5">
            <a:extLst>
              <a:ext uri="{FF2B5EF4-FFF2-40B4-BE49-F238E27FC236}">
                <a16:creationId xmlns:a16="http://schemas.microsoft.com/office/drawing/2014/main" id="{3668ED46-70E9-77AF-D9A7-C2DD2F102ECA}"/>
              </a:ext>
            </a:extLst>
          </p:cNvPr>
          <p:cNvSpPr>
            <a:spLocks noGrp="1"/>
          </p:cNvSpPr>
          <p:nvPr>
            <p:ph type="sldNum" sz="quarter" idx="12"/>
          </p:nvPr>
        </p:nvSpPr>
        <p:spPr/>
        <p:txBody>
          <a:bodyPr/>
          <a:lstStyle>
            <a:lvl1pPr>
              <a:defRPr/>
            </a:lvl1pPr>
          </a:lstStyle>
          <a:p>
            <a:fld id="{17970365-2E7C-4F8A-9C0D-315B18E5393C}" type="slidenum">
              <a:rPr lang="en-US" altLang="zh-CN"/>
              <a:pPr/>
              <a:t>‹#›</a:t>
            </a:fld>
            <a:endParaRPr lang="en-US" altLang="zh-CN"/>
          </a:p>
        </p:txBody>
      </p:sp>
    </p:spTree>
    <p:extLst>
      <p:ext uri="{BB962C8B-B14F-4D97-AF65-F5344CB8AC3E}">
        <p14:creationId xmlns:p14="http://schemas.microsoft.com/office/powerpoint/2010/main" val="1058756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791731-696F-5614-24D2-3DE89A3FCD2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693F340-12DD-EBB9-7B55-02859969EAB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BB7947F-0D5E-9D5D-9610-389038E16AF2}"/>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5" name="页脚占位符 4">
            <a:extLst>
              <a:ext uri="{FF2B5EF4-FFF2-40B4-BE49-F238E27FC236}">
                <a16:creationId xmlns:a16="http://schemas.microsoft.com/office/drawing/2014/main" id="{54024BB8-E2B7-420D-5863-50B327F8234C}"/>
              </a:ext>
            </a:extLst>
          </p:cNvPr>
          <p:cNvSpPr>
            <a:spLocks noGrp="1"/>
          </p:cNvSpPr>
          <p:nvPr>
            <p:ph type="ftr" sz="quarter" idx="11"/>
          </p:nvPr>
        </p:nvSpPr>
        <p:spPr/>
        <p:txBody>
          <a:bodyPr/>
          <a:lstStyle>
            <a:lvl1pPr>
              <a:defRPr/>
            </a:lvl1pPr>
          </a:lstStyle>
          <a:p>
            <a:r>
              <a:rPr lang="en-US" altLang="zh-CN"/>
              <a:t>管理学</a:t>
            </a:r>
          </a:p>
        </p:txBody>
      </p:sp>
      <p:sp>
        <p:nvSpPr>
          <p:cNvPr id="6" name="灯片编号占位符 5">
            <a:extLst>
              <a:ext uri="{FF2B5EF4-FFF2-40B4-BE49-F238E27FC236}">
                <a16:creationId xmlns:a16="http://schemas.microsoft.com/office/drawing/2014/main" id="{9A71C290-F5D4-6B15-D1D3-9E2BDAFF2C13}"/>
              </a:ext>
            </a:extLst>
          </p:cNvPr>
          <p:cNvSpPr>
            <a:spLocks noGrp="1"/>
          </p:cNvSpPr>
          <p:nvPr>
            <p:ph type="sldNum" sz="quarter" idx="12"/>
          </p:nvPr>
        </p:nvSpPr>
        <p:spPr/>
        <p:txBody>
          <a:bodyPr/>
          <a:lstStyle>
            <a:lvl1pPr>
              <a:defRPr/>
            </a:lvl1pPr>
          </a:lstStyle>
          <a:p>
            <a:fld id="{942BC365-9B22-4B71-8812-771CD852F52A}" type="slidenum">
              <a:rPr lang="en-US" altLang="zh-CN"/>
              <a:pPr/>
              <a:t>‹#›</a:t>
            </a:fld>
            <a:endParaRPr lang="en-US" altLang="zh-CN"/>
          </a:p>
        </p:txBody>
      </p:sp>
    </p:spTree>
    <p:extLst>
      <p:ext uri="{BB962C8B-B14F-4D97-AF65-F5344CB8AC3E}">
        <p14:creationId xmlns:p14="http://schemas.microsoft.com/office/powerpoint/2010/main" val="1257925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C37117-3934-F2F6-1F49-55BF4D8DBBD2}"/>
              </a:ext>
            </a:extLst>
          </p:cNvPr>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63B6740E-07BE-6A64-87E3-C3D1EDA83BCF}"/>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19D4202-9F28-39BA-C167-FF8904495652}"/>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5" name="页脚占位符 4">
            <a:extLst>
              <a:ext uri="{FF2B5EF4-FFF2-40B4-BE49-F238E27FC236}">
                <a16:creationId xmlns:a16="http://schemas.microsoft.com/office/drawing/2014/main" id="{EFC40236-72ED-315A-C290-E3585F944B32}"/>
              </a:ext>
            </a:extLst>
          </p:cNvPr>
          <p:cNvSpPr>
            <a:spLocks noGrp="1"/>
          </p:cNvSpPr>
          <p:nvPr>
            <p:ph type="ftr" sz="quarter" idx="11"/>
          </p:nvPr>
        </p:nvSpPr>
        <p:spPr/>
        <p:txBody>
          <a:bodyPr/>
          <a:lstStyle>
            <a:lvl1pPr>
              <a:defRPr/>
            </a:lvl1pPr>
          </a:lstStyle>
          <a:p>
            <a:r>
              <a:rPr lang="en-US" altLang="zh-CN"/>
              <a:t>管理学</a:t>
            </a:r>
          </a:p>
        </p:txBody>
      </p:sp>
      <p:sp>
        <p:nvSpPr>
          <p:cNvPr id="6" name="灯片编号占位符 5">
            <a:extLst>
              <a:ext uri="{FF2B5EF4-FFF2-40B4-BE49-F238E27FC236}">
                <a16:creationId xmlns:a16="http://schemas.microsoft.com/office/drawing/2014/main" id="{A090DF72-AFF8-9B47-FB21-F85A5A19825B}"/>
              </a:ext>
            </a:extLst>
          </p:cNvPr>
          <p:cNvSpPr>
            <a:spLocks noGrp="1"/>
          </p:cNvSpPr>
          <p:nvPr>
            <p:ph type="sldNum" sz="quarter" idx="12"/>
          </p:nvPr>
        </p:nvSpPr>
        <p:spPr/>
        <p:txBody>
          <a:bodyPr/>
          <a:lstStyle>
            <a:lvl1pPr>
              <a:defRPr/>
            </a:lvl1pPr>
          </a:lstStyle>
          <a:p>
            <a:fld id="{E0DDFC3A-56D0-40D5-A843-1F61FFD35004}" type="slidenum">
              <a:rPr lang="en-US" altLang="zh-CN"/>
              <a:pPr/>
              <a:t>‹#›</a:t>
            </a:fld>
            <a:endParaRPr lang="en-US" altLang="zh-CN"/>
          </a:p>
        </p:txBody>
      </p:sp>
    </p:spTree>
    <p:extLst>
      <p:ext uri="{BB962C8B-B14F-4D97-AF65-F5344CB8AC3E}">
        <p14:creationId xmlns:p14="http://schemas.microsoft.com/office/powerpoint/2010/main" val="138307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CE6C88-AEEC-657D-2C66-ABD6A24A08B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E79242B-9FF4-C9D1-21DD-F701131C959C}"/>
              </a:ext>
            </a:extLst>
          </p:cNvPr>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6C491CE-91DC-6C8B-B13D-A1868CA1F1E0}"/>
              </a:ext>
            </a:extLst>
          </p:cNvPr>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8229D34C-C192-891B-800A-7FD0DCA1F8B6}"/>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6" name="页脚占位符 5">
            <a:extLst>
              <a:ext uri="{FF2B5EF4-FFF2-40B4-BE49-F238E27FC236}">
                <a16:creationId xmlns:a16="http://schemas.microsoft.com/office/drawing/2014/main" id="{D9C8FCBB-1ED4-2F35-DFEE-A96A04167DA4}"/>
              </a:ext>
            </a:extLst>
          </p:cNvPr>
          <p:cNvSpPr>
            <a:spLocks noGrp="1"/>
          </p:cNvSpPr>
          <p:nvPr>
            <p:ph type="ftr" sz="quarter" idx="11"/>
          </p:nvPr>
        </p:nvSpPr>
        <p:spPr/>
        <p:txBody>
          <a:bodyPr/>
          <a:lstStyle>
            <a:lvl1pPr>
              <a:defRPr/>
            </a:lvl1pPr>
          </a:lstStyle>
          <a:p>
            <a:r>
              <a:rPr lang="en-US" altLang="zh-CN"/>
              <a:t>管理学</a:t>
            </a:r>
          </a:p>
        </p:txBody>
      </p:sp>
      <p:sp>
        <p:nvSpPr>
          <p:cNvPr id="7" name="灯片编号占位符 6">
            <a:extLst>
              <a:ext uri="{FF2B5EF4-FFF2-40B4-BE49-F238E27FC236}">
                <a16:creationId xmlns:a16="http://schemas.microsoft.com/office/drawing/2014/main" id="{01BB02B9-6FBE-E2D9-A31C-62F84E0E6358}"/>
              </a:ext>
            </a:extLst>
          </p:cNvPr>
          <p:cNvSpPr>
            <a:spLocks noGrp="1"/>
          </p:cNvSpPr>
          <p:nvPr>
            <p:ph type="sldNum" sz="quarter" idx="12"/>
          </p:nvPr>
        </p:nvSpPr>
        <p:spPr/>
        <p:txBody>
          <a:bodyPr/>
          <a:lstStyle>
            <a:lvl1pPr>
              <a:defRPr/>
            </a:lvl1pPr>
          </a:lstStyle>
          <a:p>
            <a:fld id="{6446FDBE-B8F9-4741-85A4-B2274E94937F}" type="slidenum">
              <a:rPr lang="en-US" altLang="zh-CN"/>
              <a:pPr/>
              <a:t>‹#›</a:t>
            </a:fld>
            <a:endParaRPr lang="en-US" altLang="zh-CN"/>
          </a:p>
        </p:txBody>
      </p:sp>
    </p:spTree>
    <p:extLst>
      <p:ext uri="{BB962C8B-B14F-4D97-AF65-F5344CB8AC3E}">
        <p14:creationId xmlns:p14="http://schemas.microsoft.com/office/powerpoint/2010/main" val="3401277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1AC9FE-6779-6703-02A3-A299571913F7}"/>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B83C6E8-33ED-35DD-9F65-3C01C553288C}"/>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BDD1E9BD-3B8F-BD98-8F31-1EC656A44AE7}"/>
              </a:ext>
            </a:extLst>
          </p:cNvPr>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1A4C797E-63B7-46E4-A1ED-CA77720D06AB}"/>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9A1AA3CA-96FC-09BA-5D4B-ACC44D10DFF4}"/>
              </a:ext>
            </a:extLst>
          </p:cNvPr>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E7A9A006-4654-2095-E3B5-7A773DEF935C}"/>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8" name="页脚占位符 7">
            <a:extLst>
              <a:ext uri="{FF2B5EF4-FFF2-40B4-BE49-F238E27FC236}">
                <a16:creationId xmlns:a16="http://schemas.microsoft.com/office/drawing/2014/main" id="{131A3B02-3040-159F-A070-7A62B5207649}"/>
              </a:ext>
            </a:extLst>
          </p:cNvPr>
          <p:cNvSpPr>
            <a:spLocks noGrp="1"/>
          </p:cNvSpPr>
          <p:nvPr>
            <p:ph type="ftr" sz="quarter" idx="11"/>
          </p:nvPr>
        </p:nvSpPr>
        <p:spPr/>
        <p:txBody>
          <a:bodyPr/>
          <a:lstStyle>
            <a:lvl1pPr>
              <a:defRPr/>
            </a:lvl1pPr>
          </a:lstStyle>
          <a:p>
            <a:r>
              <a:rPr lang="en-US" altLang="zh-CN"/>
              <a:t>管理学</a:t>
            </a:r>
          </a:p>
        </p:txBody>
      </p:sp>
      <p:sp>
        <p:nvSpPr>
          <p:cNvPr id="9" name="灯片编号占位符 8">
            <a:extLst>
              <a:ext uri="{FF2B5EF4-FFF2-40B4-BE49-F238E27FC236}">
                <a16:creationId xmlns:a16="http://schemas.microsoft.com/office/drawing/2014/main" id="{632693EF-C21C-27D4-F697-6D43FC579EC3}"/>
              </a:ext>
            </a:extLst>
          </p:cNvPr>
          <p:cNvSpPr>
            <a:spLocks noGrp="1"/>
          </p:cNvSpPr>
          <p:nvPr>
            <p:ph type="sldNum" sz="quarter" idx="12"/>
          </p:nvPr>
        </p:nvSpPr>
        <p:spPr/>
        <p:txBody>
          <a:bodyPr/>
          <a:lstStyle>
            <a:lvl1pPr>
              <a:defRPr/>
            </a:lvl1pPr>
          </a:lstStyle>
          <a:p>
            <a:fld id="{299EE4D8-83EF-4FB4-8985-546572466945}" type="slidenum">
              <a:rPr lang="en-US" altLang="zh-CN"/>
              <a:pPr/>
              <a:t>‹#›</a:t>
            </a:fld>
            <a:endParaRPr lang="en-US" altLang="zh-CN"/>
          </a:p>
        </p:txBody>
      </p:sp>
    </p:spTree>
    <p:extLst>
      <p:ext uri="{BB962C8B-B14F-4D97-AF65-F5344CB8AC3E}">
        <p14:creationId xmlns:p14="http://schemas.microsoft.com/office/powerpoint/2010/main" val="980314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73144E-5E63-E005-1647-E98037FA8CD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553AF28-FF09-8EBA-C513-7327703240BC}"/>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4" name="页脚占位符 3">
            <a:extLst>
              <a:ext uri="{FF2B5EF4-FFF2-40B4-BE49-F238E27FC236}">
                <a16:creationId xmlns:a16="http://schemas.microsoft.com/office/drawing/2014/main" id="{72C48657-CC17-C8D9-C8B1-44316A3F31A2}"/>
              </a:ext>
            </a:extLst>
          </p:cNvPr>
          <p:cNvSpPr>
            <a:spLocks noGrp="1"/>
          </p:cNvSpPr>
          <p:nvPr>
            <p:ph type="ftr" sz="quarter" idx="11"/>
          </p:nvPr>
        </p:nvSpPr>
        <p:spPr/>
        <p:txBody>
          <a:bodyPr/>
          <a:lstStyle>
            <a:lvl1pPr>
              <a:defRPr/>
            </a:lvl1pPr>
          </a:lstStyle>
          <a:p>
            <a:r>
              <a:rPr lang="en-US" altLang="zh-CN"/>
              <a:t>管理学</a:t>
            </a:r>
          </a:p>
        </p:txBody>
      </p:sp>
      <p:sp>
        <p:nvSpPr>
          <p:cNvPr id="5" name="灯片编号占位符 4">
            <a:extLst>
              <a:ext uri="{FF2B5EF4-FFF2-40B4-BE49-F238E27FC236}">
                <a16:creationId xmlns:a16="http://schemas.microsoft.com/office/drawing/2014/main" id="{B5110ECA-8057-B41B-F5EE-87E5E8A5A3D6}"/>
              </a:ext>
            </a:extLst>
          </p:cNvPr>
          <p:cNvSpPr>
            <a:spLocks noGrp="1"/>
          </p:cNvSpPr>
          <p:nvPr>
            <p:ph type="sldNum" sz="quarter" idx="12"/>
          </p:nvPr>
        </p:nvSpPr>
        <p:spPr/>
        <p:txBody>
          <a:bodyPr/>
          <a:lstStyle>
            <a:lvl1pPr>
              <a:defRPr/>
            </a:lvl1pPr>
          </a:lstStyle>
          <a:p>
            <a:fld id="{889FFC51-5DD2-4AFD-9415-E503C4918B98}" type="slidenum">
              <a:rPr lang="en-US" altLang="zh-CN"/>
              <a:pPr/>
              <a:t>‹#›</a:t>
            </a:fld>
            <a:endParaRPr lang="en-US" altLang="zh-CN"/>
          </a:p>
        </p:txBody>
      </p:sp>
    </p:spTree>
    <p:extLst>
      <p:ext uri="{BB962C8B-B14F-4D97-AF65-F5344CB8AC3E}">
        <p14:creationId xmlns:p14="http://schemas.microsoft.com/office/powerpoint/2010/main" val="3029769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D2B35E1-AA43-D132-7232-297A15B20EF4}"/>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3" name="页脚占位符 2">
            <a:extLst>
              <a:ext uri="{FF2B5EF4-FFF2-40B4-BE49-F238E27FC236}">
                <a16:creationId xmlns:a16="http://schemas.microsoft.com/office/drawing/2014/main" id="{8B26996B-9640-68DA-B14F-DFF0C4A81FFD}"/>
              </a:ext>
            </a:extLst>
          </p:cNvPr>
          <p:cNvSpPr>
            <a:spLocks noGrp="1"/>
          </p:cNvSpPr>
          <p:nvPr>
            <p:ph type="ftr" sz="quarter" idx="11"/>
          </p:nvPr>
        </p:nvSpPr>
        <p:spPr/>
        <p:txBody>
          <a:bodyPr/>
          <a:lstStyle>
            <a:lvl1pPr>
              <a:defRPr/>
            </a:lvl1pPr>
          </a:lstStyle>
          <a:p>
            <a:r>
              <a:rPr lang="en-US" altLang="zh-CN"/>
              <a:t>管理学</a:t>
            </a:r>
          </a:p>
        </p:txBody>
      </p:sp>
      <p:sp>
        <p:nvSpPr>
          <p:cNvPr id="4" name="灯片编号占位符 3">
            <a:extLst>
              <a:ext uri="{FF2B5EF4-FFF2-40B4-BE49-F238E27FC236}">
                <a16:creationId xmlns:a16="http://schemas.microsoft.com/office/drawing/2014/main" id="{416EF9DE-D6FA-1A0B-526D-FA937DCA91BF}"/>
              </a:ext>
            </a:extLst>
          </p:cNvPr>
          <p:cNvSpPr>
            <a:spLocks noGrp="1"/>
          </p:cNvSpPr>
          <p:nvPr>
            <p:ph type="sldNum" sz="quarter" idx="12"/>
          </p:nvPr>
        </p:nvSpPr>
        <p:spPr/>
        <p:txBody>
          <a:bodyPr/>
          <a:lstStyle>
            <a:lvl1pPr>
              <a:defRPr/>
            </a:lvl1pPr>
          </a:lstStyle>
          <a:p>
            <a:fld id="{A5D10785-C91B-4CC6-9ADC-00E8599465A8}" type="slidenum">
              <a:rPr lang="en-US" altLang="zh-CN"/>
              <a:pPr/>
              <a:t>‹#›</a:t>
            </a:fld>
            <a:endParaRPr lang="en-US" altLang="zh-CN"/>
          </a:p>
        </p:txBody>
      </p:sp>
    </p:spTree>
    <p:extLst>
      <p:ext uri="{BB962C8B-B14F-4D97-AF65-F5344CB8AC3E}">
        <p14:creationId xmlns:p14="http://schemas.microsoft.com/office/powerpoint/2010/main" val="19663851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12511D-1928-5841-7E0B-1304DDDDB913}"/>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DA4D09D-848B-43E2-FCDD-FB6BD9A3232F}"/>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96A668A9-B617-A8A4-187A-8FC5B96610B8}"/>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A2E44F6-DE93-5EA9-DF00-CB107873F141}"/>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6" name="页脚占位符 5">
            <a:extLst>
              <a:ext uri="{FF2B5EF4-FFF2-40B4-BE49-F238E27FC236}">
                <a16:creationId xmlns:a16="http://schemas.microsoft.com/office/drawing/2014/main" id="{2353825F-33F1-457D-069E-B295813E0DEE}"/>
              </a:ext>
            </a:extLst>
          </p:cNvPr>
          <p:cNvSpPr>
            <a:spLocks noGrp="1"/>
          </p:cNvSpPr>
          <p:nvPr>
            <p:ph type="ftr" sz="quarter" idx="11"/>
          </p:nvPr>
        </p:nvSpPr>
        <p:spPr/>
        <p:txBody>
          <a:bodyPr/>
          <a:lstStyle>
            <a:lvl1pPr>
              <a:defRPr/>
            </a:lvl1pPr>
          </a:lstStyle>
          <a:p>
            <a:r>
              <a:rPr lang="en-US" altLang="zh-CN"/>
              <a:t>管理学</a:t>
            </a:r>
          </a:p>
        </p:txBody>
      </p:sp>
      <p:sp>
        <p:nvSpPr>
          <p:cNvPr id="7" name="灯片编号占位符 6">
            <a:extLst>
              <a:ext uri="{FF2B5EF4-FFF2-40B4-BE49-F238E27FC236}">
                <a16:creationId xmlns:a16="http://schemas.microsoft.com/office/drawing/2014/main" id="{2C8A46F9-3098-3624-4B73-EE35D8BDBD10}"/>
              </a:ext>
            </a:extLst>
          </p:cNvPr>
          <p:cNvSpPr>
            <a:spLocks noGrp="1"/>
          </p:cNvSpPr>
          <p:nvPr>
            <p:ph type="sldNum" sz="quarter" idx="12"/>
          </p:nvPr>
        </p:nvSpPr>
        <p:spPr/>
        <p:txBody>
          <a:bodyPr/>
          <a:lstStyle>
            <a:lvl1pPr>
              <a:defRPr/>
            </a:lvl1pPr>
          </a:lstStyle>
          <a:p>
            <a:fld id="{E25234F9-D028-4E46-9DFD-48168CB01DB7}" type="slidenum">
              <a:rPr lang="en-US" altLang="zh-CN"/>
              <a:pPr/>
              <a:t>‹#›</a:t>
            </a:fld>
            <a:endParaRPr lang="en-US" altLang="zh-CN"/>
          </a:p>
        </p:txBody>
      </p:sp>
    </p:spTree>
    <p:extLst>
      <p:ext uri="{BB962C8B-B14F-4D97-AF65-F5344CB8AC3E}">
        <p14:creationId xmlns:p14="http://schemas.microsoft.com/office/powerpoint/2010/main" val="2521341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7CCCE0-527C-BA60-5302-223294C53624}"/>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B1DAFED-58AE-CBA1-6DC9-6B587C7C8F7B}"/>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4FA0F19A-F124-0BA1-6FD3-CFD2D5880BFE}"/>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B36DF8A-BA9D-5693-D33D-15A7F7BEB26D}"/>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6" name="页脚占位符 5">
            <a:extLst>
              <a:ext uri="{FF2B5EF4-FFF2-40B4-BE49-F238E27FC236}">
                <a16:creationId xmlns:a16="http://schemas.microsoft.com/office/drawing/2014/main" id="{8FAB2248-DA54-176C-268E-07D4B77C99B5}"/>
              </a:ext>
            </a:extLst>
          </p:cNvPr>
          <p:cNvSpPr>
            <a:spLocks noGrp="1"/>
          </p:cNvSpPr>
          <p:nvPr>
            <p:ph type="ftr" sz="quarter" idx="11"/>
          </p:nvPr>
        </p:nvSpPr>
        <p:spPr/>
        <p:txBody>
          <a:bodyPr/>
          <a:lstStyle>
            <a:lvl1pPr>
              <a:defRPr/>
            </a:lvl1pPr>
          </a:lstStyle>
          <a:p>
            <a:r>
              <a:rPr lang="en-US" altLang="zh-CN"/>
              <a:t>管理学</a:t>
            </a:r>
          </a:p>
        </p:txBody>
      </p:sp>
      <p:sp>
        <p:nvSpPr>
          <p:cNvPr id="7" name="灯片编号占位符 6">
            <a:extLst>
              <a:ext uri="{FF2B5EF4-FFF2-40B4-BE49-F238E27FC236}">
                <a16:creationId xmlns:a16="http://schemas.microsoft.com/office/drawing/2014/main" id="{CE6125CD-93E7-B3D1-05FF-3BFD0412FF6F}"/>
              </a:ext>
            </a:extLst>
          </p:cNvPr>
          <p:cNvSpPr>
            <a:spLocks noGrp="1"/>
          </p:cNvSpPr>
          <p:nvPr>
            <p:ph type="sldNum" sz="quarter" idx="12"/>
          </p:nvPr>
        </p:nvSpPr>
        <p:spPr/>
        <p:txBody>
          <a:bodyPr/>
          <a:lstStyle>
            <a:lvl1pPr>
              <a:defRPr/>
            </a:lvl1pPr>
          </a:lstStyle>
          <a:p>
            <a:fld id="{3B98B166-EB9F-4909-A8CA-271E3D48EB84}" type="slidenum">
              <a:rPr lang="en-US" altLang="zh-CN"/>
              <a:pPr/>
              <a:t>‹#›</a:t>
            </a:fld>
            <a:endParaRPr lang="en-US" altLang="zh-CN"/>
          </a:p>
        </p:txBody>
      </p:sp>
    </p:spTree>
    <p:extLst>
      <p:ext uri="{BB962C8B-B14F-4D97-AF65-F5344CB8AC3E}">
        <p14:creationId xmlns:p14="http://schemas.microsoft.com/office/powerpoint/2010/main" val="1827165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F9A09D-997F-FBAA-2C77-AD3625C7CF8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F610EF1-A37C-15AA-57C8-7832510D0C7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281918A-B9C9-EB6F-AAA0-5F356B50ADF7}"/>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5" name="页脚占位符 4">
            <a:extLst>
              <a:ext uri="{FF2B5EF4-FFF2-40B4-BE49-F238E27FC236}">
                <a16:creationId xmlns:a16="http://schemas.microsoft.com/office/drawing/2014/main" id="{58680A8C-F772-5657-FCC5-4BBB84B64F0F}"/>
              </a:ext>
            </a:extLst>
          </p:cNvPr>
          <p:cNvSpPr>
            <a:spLocks noGrp="1"/>
          </p:cNvSpPr>
          <p:nvPr>
            <p:ph type="ftr" sz="quarter" idx="11"/>
          </p:nvPr>
        </p:nvSpPr>
        <p:spPr/>
        <p:txBody>
          <a:bodyPr/>
          <a:lstStyle>
            <a:lvl1pPr>
              <a:defRPr/>
            </a:lvl1pPr>
          </a:lstStyle>
          <a:p>
            <a:r>
              <a:rPr lang="en-US" altLang="zh-CN"/>
              <a:t>管理学</a:t>
            </a:r>
          </a:p>
        </p:txBody>
      </p:sp>
      <p:sp>
        <p:nvSpPr>
          <p:cNvPr id="6" name="灯片编号占位符 5">
            <a:extLst>
              <a:ext uri="{FF2B5EF4-FFF2-40B4-BE49-F238E27FC236}">
                <a16:creationId xmlns:a16="http://schemas.microsoft.com/office/drawing/2014/main" id="{03DEF99B-92D7-17B1-BE01-0D56974F444F}"/>
              </a:ext>
            </a:extLst>
          </p:cNvPr>
          <p:cNvSpPr>
            <a:spLocks noGrp="1"/>
          </p:cNvSpPr>
          <p:nvPr>
            <p:ph type="sldNum" sz="quarter" idx="12"/>
          </p:nvPr>
        </p:nvSpPr>
        <p:spPr/>
        <p:txBody>
          <a:bodyPr/>
          <a:lstStyle>
            <a:lvl1pPr>
              <a:defRPr/>
            </a:lvl1pPr>
          </a:lstStyle>
          <a:p>
            <a:fld id="{C1C26152-42C6-4021-B971-6EC15FB58B97}" type="slidenum">
              <a:rPr lang="en-US" altLang="zh-CN"/>
              <a:pPr/>
              <a:t>‹#›</a:t>
            </a:fld>
            <a:endParaRPr lang="en-US" altLang="zh-CN"/>
          </a:p>
        </p:txBody>
      </p:sp>
    </p:spTree>
    <p:extLst>
      <p:ext uri="{BB962C8B-B14F-4D97-AF65-F5344CB8AC3E}">
        <p14:creationId xmlns:p14="http://schemas.microsoft.com/office/powerpoint/2010/main" val="3863827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BF64F92-8941-FFF1-19E5-79822FCF6F9C}"/>
              </a:ext>
            </a:extLst>
          </p:cNvPr>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A8806D1-8823-AFCC-428B-A7416BD4C732}"/>
              </a:ext>
            </a:extLst>
          </p:cNvPr>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BA2D353-716D-4BB9-8FAF-BE6D87918D96}"/>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5" name="页脚占位符 4">
            <a:extLst>
              <a:ext uri="{FF2B5EF4-FFF2-40B4-BE49-F238E27FC236}">
                <a16:creationId xmlns:a16="http://schemas.microsoft.com/office/drawing/2014/main" id="{3790B45C-F2FE-68EB-4AA3-DEFB41F935C9}"/>
              </a:ext>
            </a:extLst>
          </p:cNvPr>
          <p:cNvSpPr>
            <a:spLocks noGrp="1"/>
          </p:cNvSpPr>
          <p:nvPr>
            <p:ph type="ftr" sz="quarter" idx="11"/>
          </p:nvPr>
        </p:nvSpPr>
        <p:spPr/>
        <p:txBody>
          <a:bodyPr/>
          <a:lstStyle>
            <a:lvl1pPr>
              <a:defRPr/>
            </a:lvl1pPr>
          </a:lstStyle>
          <a:p>
            <a:r>
              <a:rPr lang="en-US" altLang="zh-CN"/>
              <a:t>管理学</a:t>
            </a:r>
          </a:p>
        </p:txBody>
      </p:sp>
      <p:sp>
        <p:nvSpPr>
          <p:cNvPr id="6" name="灯片编号占位符 5">
            <a:extLst>
              <a:ext uri="{FF2B5EF4-FFF2-40B4-BE49-F238E27FC236}">
                <a16:creationId xmlns:a16="http://schemas.microsoft.com/office/drawing/2014/main" id="{3CB935CF-09F2-8A30-BE9B-55865A6C943B}"/>
              </a:ext>
            </a:extLst>
          </p:cNvPr>
          <p:cNvSpPr>
            <a:spLocks noGrp="1"/>
          </p:cNvSpPr>
          <p:nvPr>
            <p:ph type="sldNum" sz="quarter" idx="12"/>
          </p:nvPr>
        </p:nvSpPr>
        <p:spPr/>
        <p:txBody>
          <a:bodyPr/>
          <a:lstStyle>
            <a:lvl1pPr>
              <a:defRPr/>
            </a:lvl1pPr>
          </a:lstStyle>
          <a:p>
            <a:fld id="{A536A9F5-1839-4049-A289-A5CAEBAED57C}" type="slidenum">
              <a:rPr lang="en-US" altLang="zh-CN"/>
              <a:pPr/>
              <a:t>‹#›</a:t>
            </a:fld>
            <a:endParaRPr lang="en-US" altLang="zh-CN"/>
          </a:p>
        </p:txBody>
      </p:sp>
    </p:spTree>
    <p:extLst>
      <p:ext uri="{BB962C8B-B14F-4D97-AF65-F5344CB8AC3E}">
        <p14:creationId xmlns:p14="http://schemas.microsoft.com/office/powerpoint/2010/main" val="16928787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6F15469-1636-B392-2C69-C90518EEA352}"/>
              </a:ext>
            </a:extLst>
          </p:cNvPr>
          <p:cNvSpPr>
            <a:spLocks noGrp="1"/>
          </p:cNvSpPr>
          <p:nvPr>
            <p:ph/>
          </p:nvPr>
        </p:nvSpPr>
        <p:spPr>
          <a:xfrm>
            <a:off x="457200" y="274638"/>
            <a:ext cx="8229600" cy="585152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3" name="日期占位符 2">
            <a:extLst>
              <a:ext uri="{FF2B5EF4-FFF2-40B4-BE49-F238E27FC236}">
                <a16:creationId xmlns:a16="http://schemas.microsoft.com/office/drawing/2014/main" id="{D5E49F28-AD5D-9301-314E-3ECF129C7655}"/>
              </a:ext>
            </a:extLst>
          </p:cNvPr>
          <p:cNvSpPr>
            <a:spLocks noGrp="1"/>
          </p:cNvSpPr>
          <p:nvPr>
            <p:ph type="dt" sz="half" idx="10"/>
          </p:nvPr>
        </p:nvSpPr>
        <p:spPr>
          <a:xfrm>
            <a:off x="457200" y="6245225"/>
            <a:ext cx="2133600" cy="476250"/>
          </a:xfrm>
        </p:spPr>
        <p:txBody>
          <a:bodyPr/>
          <a:lstStyle>
            <a:lvl1pPr>
              <a:defRPr/>
            </a:lvl1pPr>
          </a:lstStyle>
          <a:p>
            <a:r>
              <a:rPr lang="zh-CN" altLang="en-US"/>
              <a:t>版本：2004</a:t>
            </a:r>
            <a:endParaRPr lang="en-US" altLang="zh-CN"/>
          </a:p>
        </p:txBody>
      </p:sp>
      <p:sp>
        <p:nvSpPr>
          <p:cNvPr id="4" name="页脚占位符 3">
            <a:extLst>
              <a:ext uri="{FF2B5EF4-FFF2-40B4-BE49-F238E27FC236}">
                <a16:creationId xmlns:a16="http://schemas.microsoft.com/office/drawing/2014/main" id="{FA3703D8-3C76-0FB5-6DEA-35CED5D3BF66}"/>
              </a:ext>
            </a:extLst>
          </p:cNvPr>
          <p:cNvSpPr>
            <a:spLocks noGrp="1"/>
          </p:cNvSpPr>
          <p:nvPr>
            <p:ph type="ftr" sz="quarter" idx="11"/>
          </p:nvPr>
        </p:nvSpPr>
        <p:spPr>
          <a:xfrm>
            <a:off x="3124200" y="6245225"/>
            <a:ext cx="2895600" cy="476250"/>
          </a:xfrm>
        </p:spPr>
        <p:txBody>
          <a:bodyPr/>
          <a:lstStyle>
            <a:lvl1pPr>
              <a:defRPr/>
            </a:lvl1pPr>
          </a:lstStyle>
          <a:p>
            <a:r>
              <a:rPr lang="en-US" altLang="zh-CN"/>
              <a:t>管理学</a:t>
            </a:r>
          </a:p>
        </p:txBody>
      </p:sp>
      <p:sp>
        <p:nvSpPr>
          <p:cNvPr id="5" name="灯片编号占位符 4">
            <a:extLst>
              <a:ext uri="{FF2B5EF4-FFF2-40B4-BE49-F238E27FC236}">
                <a16:creationId xmlns:a16="http://schemas.microsoft.com/office/drawing/2014/main" id="{9FB0BDD6-5850-ED02-5429-2396C6EEFED9}"/>
              </a:ext>
            </a:extLst>
          </p:cNvPr>
          <p:cNvSpPr>
            <a:spLocks noGrp="1"/>
          </p:cNvSpPr>
          <p:nvPr>
            <p:ph type="sldNum" sz="quarter" idx="12"/>
          </p:nvPr>
        </p:nvSpPr>
        <p:spPr>
          <a:xfrm>
            <a:off x="6553200" y="6245225"/>
            <a:ext cx="2133600" cy="476250"/>
          </a:xfrm>
        </p:spPr>
        <p:txBody>
          <a:bodyPr/>
          <a:lstStyle>
            <a:lvl1pPr>
              <a:defRPr/>
            </a:lvl1pPr>
          </a:lstStyle>
          <a:p>
            <a:fld id="{256255A4-FABE-4DC6-BED4-26F0D8306AA4}" type="slidenum">
              <a:rPr lang="en-US" altLang="zh-CN"/>
              <a:pPr/>
              <a:t>‹#›</a:t>
            </a:fld>
            <a:endParaRPr lang="en-US" altLang="zh-CN"/>
          </a:p>
        </p:txBody>
      </p:sp>
    </p:spTree>
    <p:extLst>
      <p:ext uri="{BB962C8B-B14F-4D97-AF65-F5344CB8AC3E}">
        <p14:creationId xmlns:p14="http://schemas.microsoft.com/office/powerpoint/2010/main" val="33610718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81F2AC47-0625-B76B-E117-03FC89F4F2C3}"/>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75779" name="Rectangle 3">
            <a:extLst>
              <a:ext uri="{FF2B5EF4-FFF2-40B4-BE49-F238E27FC236}">
                <a16:creationId xmlns:a16="http://schemas.microsoft.com/office/drawing/2014/main" id="{B652780D-6C77-3D40-805A-6C4326B60379}"/>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5780" name="Rectangle 4">
            <a:extLst>
              <a:ext uri="{FF2B5EF4-FFF2-40B4-BE49-F238E27FC236}">
                <a16:creationId xmlns:a16="http://schemas.microsoft.com/office/drawing/2014/main" id="{9E989EE2-9AB0-271C-1E29-80541C2B9512}"/>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r>
              <a:rPr lang="zh-CN" altLang="en-US"/>
              <a:t>版本：2004</a:t>
            </a:r>
            <a:endParaRPr lang="en-US" altLang="zh-CN"/>
          </a:p>
        </p:txBody>
      </p:sp>
      <p:sp>
        <p:nvSpPr>
          <p:cNvPr id="75781" name="Rectangle 5">
            <a:extLst>
              <a:ext uri="{FF2B5EF4-FFF2-40B4-BE49-F238E27FC236}">
                <a16:creationId xmlns:a16="http://schemas.microsoft.com/office/drawing/2014/main" id="{B0DE7215-B837-CC6F-BBDE-E27838CFADDF}"/>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r>
              <a:rPr lang="en-US" altLang="zh-CN"/>
              <a:t>管理学</a:t>
            </a:r>
          </a:p>
        </p:txBody>
      </p:sp>
      <p:sp>
        <p:nvSpPr>
          <p:cNvPr id="75782" name="Rectangle 6">
            <a:extLst>
              <a:ext uri="{FF2B5EF4-FFF2-40B4-BE49-F238E27FC236}">
                <a16:creationId xmlns:a16="http://schemas.microsoft.com/office/drawing/2014/main" id="{72185F9F-54ED-1777-1EC5-457D8BBA7574}"/>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4B2A2CA0-1429-4A6D-86AC-988F8DF3AED1}"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Lst>
  <p:hf hdr="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8" name="Rectangle 4">
            <a:extLst>
              <a:ext uri="{FF2B5EF4-FFF2-40B4-BE49-F238E27FC236}">
                <a16:creationId xmlns:a16="http://schemas.microsoft.com/office/drawing/2014/main" id="{7D13F578-C270-79E7-CF84-9D8A71977D2A}"/>
              </a:ext>
            </a:extLst>
          </p:cNvPr>
          <p:cNvSpPr>
            <a:spLocks noGrp="1" noChangeArrowheads="1"/>
          </p:cNvSpPr>
          <p:nvPr>
            <p:ph type="ctrTitle"/>
          </p:nvPr>
        </p:nvSpPr>
        <p:spPr>
          <a:xfrm>
            <a:off x="685800" y="2130425"/>
            <a:ext cx="7772400" cy="1470025"/>
          </a:xfrm>
        </p:spPr>
        <p:txBody>
          <a:bodyPr anchor="ctr"/>
          <a:lstStyle/>
          <a:p>
            <a:r>
              <a:rPr lang="zh-CN" altLang="en-US" sz="4400">
                <a:latin typeface="华文行楷" panose="02010800040101010101" pitchFamily="2" charset="-122"/>
                <a:ea typeface="华文行楷" panose="02010800040101010101" pitchFamily="2" charset="-122"/>
              </a:rPr>
              <a:t>第</a:t>
            </a:r>
            <a:r>
              <a:rPr lang="en-US" altLang="zh-CN" sz="4400">
                <a:latin typeface="华文行楷" panose="02010800040101010101" pitchFamily="2" charset="-122"/>
                <a:ea typeface="华文行楷" panose="02010800040101010101" pitchFamily="2" charset="-122"/>
              </a:rPr>
              <a:t>6</a:t>
            </a:r>
            <a:r>
              <a:rPr lang="zh-CN" altLang="en-US" sz="4400">
                <a:latin typeface="华文行楷" panose="02010800040101010101" pitchFamily="2" charset="-122"/>
                <a:ea typeface="华文行楷" panose="02010800040101010101" pitchFamily="2" charset="-122"/>
              </a:rPr>
              <a:t>讲  制定决策</a:t>
            </a:r>
          </a:p>
        </p:txBody>
      </p:sp>
      <p:sp>
        <p:nvSpPr>
          <p:cNvPr id="77829" name="Rectangle 5">
            <a:extLst>
              <a:ext uri="{FF2B5EF4-FFF2-40B4-BE49-F238E27FC236}">
                <a16:creationId xmlns:a16="http://schemas.microsoft.com/office/drawing/2014/main" id="{D4FE34A0-0922-517F-7D7F-678CD0E26D58}"/>
              </a:ext>
            </a:extLst>
          </p:cNvPr>
          <p:cNvSpPr>
            <a:spLocks noGrp="1" noChangeArrowheads="1"/>
          </p:cNvSpPr>
          <p:nvPr>
            <p:ph type="subTitle" idx="1"/>
          </p:nvPr>
        </p:nvSpPr>
        <p:spPr>
          <a:xfrm>
            <a:off x="1371600" y="3886200"/>
            <a:ext cx="6400800" cy="1752600"/>
          </a:xfrm>
        </p:spPr>
        <p:txBody>
          <a:bodyPr/>
          <a:lstStyle/>
          <a:p>
            <a:r>
              <a:rPr lang="zh-CN" altLang="en-US" sz="3600">
                <a:latin typeface="华文行楷" panose="02010800040101010101" pitchFamily="2" charset="-122"/>
                <a:ea typeface="华文行楷" panose="02010800040101010101" pitchFamily="2" charset="-122"/>
              </a:rPr>
              <a:t>邵  冲</a:t>
            </a:r>
          </a:p>
          <a:p>
            <a:r>
              <a:rPr lang="zh-CN" altLang="en-US" sz="3600">
                <a:latin typeface="华文行楷" panose="02010800040101010101" pitchFamily="2" charset="-122"/>
                <a:ea typeface="华文行楷" panose="02010800040101010101" pitchFamily="2" charset="-122"/>
              </a:rPr>
              <a:t>中山大学管理学院</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FCDE9016-125E-3EB0-5DBE-EB427441F6FA}"/>
              </a:ext>
            </a:extLst>
          </p:cNvPr>
          <p:cNvSpPr>
            <a:spLocks noGrp="1"/>
          </p:cNvSpPr>
          <p:nvPr>
            <p:ph type="dt" sz="half" idx="10"/>
          </p:nvPr>
        </p:nvSpPr>
        <p:spPr/>
        <p:txBody>
          <a:bodyPr/>
          <a:lstStyle/>
          <a:p>
            <a:r>
              <a:rPr lang="zh-CN" altLang="en-US"/>
              <a:t>版本：2004</a:t>
            </a:r>
            <a:endParaRPr lang="en-US" altLang="zh-CN"/>
          </a:p>
        </p:txBody>
      </p:sp>
      <p:sp>
        <p:nvSpPr>
          <p:cNvPr id="3" name="页脚占位符 4">
            <a:extLst>
              <a:ext uri="{FF2B5EF4-FFF2-40B4-BE49-F238E27FC236}">
                <a16:creationId xmlns:a16="http://schemas.microsoft.com/office/drawing/2014/main" id="{4A69DB03-C4BE-E677-78E7-61EE4D294F0B}"/>
              </a:ext>
            </a:extLst>
          </p:cNvPr>
          <p:cNvSpPr>
            <a:spLocks noGrp="1"/>
          </p:cNvSpPr>
          <p:nvPr>
            <p:ph type="ftr" sz="quarter" idx="11"/>
          </p:nvPr>
        </p:nvSpPr>
        <p:spPr/>
        <p:txBody>
          <a:bodyPr/>
          <a:lstStyle/>
          <a:p>
            <a:r>
              <a:rPr lang="en-US" altLang="zh-CN"/>
              <a:t>管理学</a:t>
            </a:r>
          </a:p>
        </p:txBody>
      </p:sp>
      <p:sp>
        <p:nvSpPr>
          <p:cNvPr id="4" name="灯片编号占位符 5">
            <a:extLst>
              <a:ext uri="{FF2B5EF4-FFF2-40B4-BE49-F238E27FC236}">
                <a16:creationId xmlns:a16="http://schemas.microsoft.com/office/drawing/2014/main" id="{C11AF422-2F70-5D02-2136-FD845BB379E7}"/>
              </a:ext>
            </a:extLst>
          </p:cNvPr>
          <p:cNvSpPr>
            <a:spLocks noGrp="1"/>
          </p:cNvSpPr>
          <p:nvPr>
            <p:ph type="sldNum" sz="quarter" idx="12"/>
          </p:nvPr>
        </p:nvSpPr>
        <p:spPr/>
        <p:txBody>
          <a:bodyPr/>
          <a:lstStyle/>
          <a:p>
            <a:fld id="{9BC95FCC-E382-4063-AF12-042A6F3151A0}" type="slidenum">
              <a:rPr lang="en-US" altLang="zh-CN"/>
              <a:pPr/>
              <a:t>2</a:t>
            </a:fld>
            <a:endParaRPr lang="en-US" altLang="zh-CN"/>
          </a:p>
        </p:txBody>
      </p:sp>
      <p:sp>
        <p:nvSpPr>
          <p:cNvPr id="3076" name="Text Box 4">
            <a:extLst>
              <a:ext uri="{FF2B5EF4-FFF2-40B4-BE49-F238E27FC236}">
                <a16:creationId xmlns:a16="http://schemas.microsoft.com/office/drawing/2014/main" id="{C8042058-8C56-615E-6B6E-FA2018813238}"/>
              </a:ext>
            </a:extLst>
          </p:cNvPr>
          <p:cNvSpPr txBox="1">
            <a:spLocks noChangeArrowheads="1"/>
          </p:cNvSpPr>
          <p:nvPr/>
        </p:nvSpPr>
        <p:spPr bwMode="auto">
          <a:xfrm>
            <a:off x="1403350" y="692150"/>
            <a:ext cx="1727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a:solidFill>
                  <a:schemeClr val="tx2"/>
                </a:solidFill>
              </a:rPr>
              <a:t>学习内容</a:t>
            </a:r>
          </a:p>
        </p:txBody>
      </p:sp>
      <p:sp>
        <p:nvSpPr>
          <p:cNvPr id="3077" name="Rectangle 5">
            <a:extLst>
              <a:ext uri="{FF2B5EF4-FFF2-40B4-BE49-F238E27FC236}">
                <a16:creationId xmlns:a16="http://schemas.microsoft.com/office/drawing/2014/main" id="{9E78B513-D41F-8998-0F5E-E5E677255A5C}"/>
              </a:ext>
            </a:extLst>
          </p:cNvPr>
          <p:cNvSpPr>
            <a:spLocks noChangeArrowheads="1"/>
          </p:cNvSpPr>
          <p:nvPr/>
        </p:nvSpPr>
        <p:spPr bwMode="auto">
          <a:xfrm>
            <a:off x="1187450" y="1700213"/>
            <a:ext cx="2089150" cy="93503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1.</a:t>
            </a:r>
            <a:r>
              <a:rPr lang="zh-CN" altLang="en-US"/>
              <a:t>决策的性质与过程</a:t>
            </a:r>
          </a:p>
        </p:txBody>
      </p:sp>
      <p:sp>
        <p:nvSpPr>
          <p:cNvPr id="3078" name="Rectangle 6">
            <a:extLst>
              <a:ext uri="{FF2B5EF4-FFF2-40B4-BE49-F238E27FC236}">
                <a16:creationId xmlns:a16="http://schemas.microsoft.com/office/drawing/2014/main" id="{24FB54A2-EAD2-EACF-A8B8-1750F8C5D2C5}"/>
              </a:ext>
            </a:extLst>
          </p:cNvPr>
          <p:cNvSpPr>
            <a:spLocks noChangeArrowheads="1"/>
          </p:cNvSpPr>
          <p:nvPr/>
        </p:nvSpPr>
        <p:spPr bwMode="auto">
          <a:xfrm>
            <a:off x="5148263" y="4149725"/>
            <a:ext cx="2089150" cy="93503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4.</a:t>
            </a:r>
            <a:r>
              <a:rPr lang="zh-CN" altLang="en-US"/>
              <a:t>决策条件</a:t>
            </a:r>
          </a:p>
        </p:txBody>
      </p:sp>
      <p:sp>
        <p:nvSpPr>
          <p:cNvPr id="3079" name="Rectangle 7">
            <a:extLst>
              <a:ext uri="{FF2B5EF4-FFF2-40B4-BE49-F238E27FC236}">
                <a16:creationId xmlns:a16="http://schemas.microsoft.com/office/drawing/2014/main" id="{F46D3478-90E2-71C9-5D64-4CE204DE012E}"/>
              </a:ext>
            </a:extLst>
          </p:cNvPr>
          <p:cNvSpPr>
            <a:spLocks noChangeArrowheads="1"/>
          </p:cNvSpPr>
          <p:nvPr/>
        </p:nvSpPr>
        <p:spPr bwMode="auto">
          <a:xfrm>
            <a:off x="5148263" y="1700213"/>
            <a:ext cx="2089150" cy="93503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2.</a:t>
            </a:r>
            <a:r>
              <a:rPr lang="zh-CN" altLang="en-US"/>
              <a:t>理性决策与</a:t>
            </a:r>
          </a:p>
          <a:p>
            <a:pPr algn="ctr"/>
            <a:r>
              <a:rPr lang="zh-CN" altLang="en-US"/>
              <a:t>有限理性决策</a:t>
            </a:r>
          </a:p>
        </p:txBody>
      </p:sp>
      <p:sp>
        <p:nvSpPr>
          <p:cNvPr id="3080" name="Rectangle 8">
            <a:extLst>
              <a:ext uri="{FF2B5EF4-FFF2-40B4-BE49-F238E27FC236}">
                <a16:creationId xmlns:a16="http://schemas.microsoft.com/office/drawing/2014/main" id="{47637702-4FC6-0490-C9A5-092FFEB3F6E4}"/>
              </a:ext>
            </a:extLst>
          </p:cNvPr>
          <p:cNvSpPr>
            <a:spLocks noChangeArrowheads="1"/>
          </p:cNvSpPr>
          <p:nvPr/>
        </p:nvSpPr>
        <p:spPr bwMode="auto">
          <a:xfrm>
            <a:off x="5148263" y="2924175"/>
            <a:ext cx="2089150" cy="93503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3.</a:t>
            </a:r>
            <a:r>
              <a:rPr lang="zh-CN" altLang="en-US"/>
              <a:t>程序化决策与</a:t>
            </a:r>
          </a:p>
          <a:p>
            <a:pPr algn="ctr"/>
            <a:r>
              <a:rPr lang="zh-CN" altLang="en-US"/>
              <a:t>非程序化决策</a:t>
            </a:r>
          </a:p>
        </p:txBody>
      </p:sp>
      <p:sp>
        <p:nvSpPr>
          <p:cNvPr id="3082" name="Line 10">
            <a:extLst>
              <a:ext uri="{FF2B5EF4-FFF2-40B4-BE49-F238E27FC236}">
                <a16:creationId xmlns:a16="http://schemas.microsoft.com/office/drawing/2014/main" id="{B2A6CD0F-442B-CDB7-8A32-2496E32E3EEC}"/>
              </a:ext>
            </a:extLst>
          </p:cNvPr>
          <p:cNvSpPr>
            <a:spLocks noChangeShapeType="1"/>
          </p:cNvSpPr>
          <p:nvPr/>
        </p:nvSpPr>
        <p:spPr bwMode="auto">
          <a:xfrm>
            <a:off x="3276600" y="2133600"/>
            <a:ext cx="18716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83" name="Line 11">
            <a:extLst>
              <a:ext uri="{FF2B5EF4-FFF2-40B4-BE49-F238E27FC236}">
                <a16:creationId xmlns:a16="http://schemas.microsoft.com/office/drawing/2014/main" id="{CC20BB22-C383-EAB8-D1A7-56DC09168365}"/>
              </a:ext>
            </a:extLst>
          </p:cNvPr>
          <p:cNvSpPr>
            <a:spLocks noChangeShapeType="1"/>
          </p:cNvSpPr>
          <p:nvPr/>
        </p:nvSpPr>
        <p:spPr bwMode="auto">
          <a:xfrm>
            <a:off x="2195513" y="2636838"/>
            <a:ext cx="0" cy="20161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84" name="Line 12">
            <a:extLst>
              <a:ext uri="{FF2B5EF4-FFF2-40B4-BE49-F238E27FC236}">
                <a16:creationId xmlns:a16="http://schemas.microsoft.com/office/drawing/2014/main" id="{C2EAEFB9-31AE-53C6-A510-7E939D6150A3}"/>
              </a:ext>
            </a:extLst>
          </p:cNvPr>
          <p:cNvSpPr>
            <a:spLocks noChangeShapeType="1"/>
          </p:cNvSpPr>
          <p:nvPr/>
        </p:nvSpPr>
        <p:spPr bwMode="auto">
          <a:xfrm>
            <a:off x="2195513" y="4652963"/>
            <a:ext cx="295275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85" name="Line 13">
            <a:extLst>
              <a:ext uri="{FF2B5EF4-FFF2-40B4-BE49-F238E27FC236}">
                <a16:creationId xmlns:a16="http://schemas.microsoft.com/office/drawing/2014/main" id="{065438E3-E107-E145-6809-0C5C3DC8B950}"/>
              </a:ext>
            </a:extLst>
          </p:cNvPr>
          <p:cNvSpPr>
            <a:spLocks noChangeShapeType="1"/>
          </p:cNvSpPr>
          <p:nvPr/>
        </p:nvSpPr>
        <p:spPr bwMode="auto">
          <a:xfrm>
            <a:off x="2195513" y="3429000"/>
            <a:ext cx="295275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2">
            <a:extLst>
              <a:ext uri="{FF2B5EF4-FFF2-40B4-BE49-F238E27FC236}">
                <a16:creationId xmlns:a16="http://schemas.microsoft.com/office/drawing/2014/main" id="{B572A03F-08AD-9C2A-D0E9-6C71B17B342D}"/>
              </a:ext>
            </a:extLst>
          </p:cNvPr>
          <p:cNvSpPr>
            <a:spLocks noGrp="1"/>
          </p:cNvSpPr>
          <p:nvPr>
            <p:ph type="dt" sz="half" idx="10"/>
          </p:nvPr>
        </p:nvSpPr>
        <p:spPr/>
        <p:txBody>
          <a:bodyPr/>
          <a:lstStyle/>
          <a:p>
            <a:r>
              <a:rPr lang="zh-CN" altLang="en-US"/>
              <a:t>版本：2004</a:t>
            </a:r>
            <a:endParaRPr lang="en-US" altLang="zh-CN"/>
          </a:p>
        </p:txBody>
      </p:sp>
      <p:sp>
        <p:nvSpPr>
          <p:cNvPr id="3" name="页脚占位符 3">
            <a:extLst>
              <a:ext uri="{FF2B5EF4-FFF2-40B4-BE49-F238E27FC236}">
                <a16:creationId xmlns:a16="http://schemas.microsoft.com/office/drawing/2014/main" id="{C11FB82C-45A0-3A81-9A4E-6B20675C39AE}"/>
              </a:ext>
            </a:extLst>
          </p:cNvPr>
          <p:cNvSpPr>
            <a:spLocks noGrp="1"/>
          </p:cNvSpPr>
          <p:nvPr>
            <p:ph type="ftr" sz="quarter" idx="11"/>
          </p:nvPr>
        </p:nvSpPr>
        <p:spPr/>
        <p:txBody>
          <a:bodyPr/>
          <a:lstStyle/>
          <a:p>
            <a:r>
              <a:rPr lang="en-US" altLang="zh-CN"/>
              <a:t>管理学</a:t>
            </a:r>
          </a:p>
        </p:txBody>
      </p:sp>
      <p:sp>
        <p:nvSpPr>
          <p:cNvPr id="4" name="灯片编号占位符 4">
            <a:extLst>
              <a:ext uri="{FF2B5EF4-FFF2-40B4-BE49-F238E27FC236}">
                <a16:creationId xmlns:a16="http://schemas.microsoft.com/office/drawing/2014/main" id="{B47B760B-F008-4D84-4841-63C7643A8B76}"/>
              </a:ext>
            </a:extLst>
          </p:cNvPr>
          <p:cNvSpPr>
            <a:spLocks noGrp="1"/>
          </p:cNvSpPr>
          <p:nvPr>
            <p:ph type="sldNum" sz="quarter" idx="12"/>
          </p:nvPr>
        </p:nvSpPr>
        <p:spPr/>
        <p:txBody>
          <a:bodyPr/>
          <a:lstStyle/>
          <a:p>
            <a:fld id="{5C4A1AC5-1D1A-499C-B8BF-93C478360D4D}" type="slidenum">
              <a:rPr lang="en-US" altLang="zh-CN"/>
              <a:pPr/>
              <a:t>3</a:t>
            </a:fld>
            <a:endParaRPr lang="en-US" altLang="zh-CN"/>
          </a:p>
        </p:txBody>
      </p:sp>
      <p:graphicFrame>
        <p:nvGraphicFramePr>
          <p:cNvPr id="11294" name="Group 30">
            <a:extLst>
              <a:ext uri="{FF2B5EF4-FFF2-40B4-BE49-F238E27FC236}">
                <a16:creationId xmlns:a16="http://schemas.microsoft.com/office/drawing/2014/main" id="{C3868B9D-631A-B94E-B96E-BE561F58B03A}"/>
              </a:ext>
            </a:extLst>
          </p:cNvPr>
          <p:cNvGraphicFramePr>
            <a:graphicFrameLocks noGrp="1"/>
          </p:cNvGraphicFramePr>
          <p:nvPr>
            <p:ph/>
          </p:nvPr>
        </p:nvGraphicFramePr>
        <p:xfrm>
          <a:off x="468313" y="1557338"/>
          <a:ext cx="8229600" cy="3687762"/>
        </p:xfrm>
        <a:graphic>
          <a:graphicData uri="http://schemas.openxmlformats.org/drawingml/2006/table">
            <a:tbl>
              <a:tblPr/>
              <a:tblGrid>
                <a:gridCol w="1738312">
                  <a:extLst>
                    <a:ext uri="{9D8B030D-6E8A-4147-A177-3AD203B41FA5}">
                      <a16:colId xmlns:a16="http://schemas.microsoft.com/office/drawing/2014/main" val="2692799590"/>
                    </a:ext>
                  </a:extLst>
                </a:gridCol>
                <a:gridCol w="6491288">
                  <a:extLst>
                    <a:ext uri="{9D8B030D-6E8A-4147-A177-3AD203B41FA5}">
                      <a16:colId xmlns:a16="http://schemas.microsoft.com/office/drawing/2014/main" val="3760616301"/>
                    </a:ext>
                  </a:extLst>
                </a:gridCol>
              </a:tblGrid>
              <a:tr h="143986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决策的性质</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决策是为达到预期目标，从若干个行动方针的备选方案中选择合理方案的分析判断过程。</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决策不仅仅是做出选择，而是一个发现问题、认识问题、解决问题的过程。</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决策的本质是解决问题</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86565885"/>
                  </a:ext>
                </a:extLst>
              </a:tr>
              <a:tr h="8461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心理学家杜威</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决策过程与人类解决问题的思维过程有密切联系。美国心理学家杜威把人类解决问题的过程概括为三个基本步骤：问题是什么？备选方案是什么？哪个备选方案最优？</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37933657"/>
                  </a:ext>
                </a:extLst>
              </a:tr>
              <a:tr h="140176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赫伯特</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西蒙</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赫伯特</a:t>
                      </a: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西蒙认为，决策过程应该包括四个步骤：找出制定决策的理由；找到可能的行动方案；在诸行动方案中进行抉择；对已进行的抉择进行评价。西蒙将这四个步骤分别称为：情报活动阶段；设计活动阶段；选择活动阶段；评价活动阶段。</a:t>
                      </a:r>
                    </a:p>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西蒙提出的决策过程四阶段是杜威三段法的进一步完善。</a:t>
                      </a:r>
                      <a:endParaRPr kumimoji="0"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83133835"/>
                  </a:ext>
                </a:extLst>
              </a:tr>
            </a:tbl>
          </a:graphicData>
        </a:graphic>
      </p:graphicFrame>
      <p:sp>
        <p:nvSpPr>
          <p:cNvPr id="11295" name="Text Box 31">
            <a:extLst>
              <a:ext uri="{FF2B5EF4-FFF2-40B4-BE49-F238E27FC236}">
                <a16:creationId xmlns:a16="http://schemas.microsoft.com/office/drawing/2014/main" id="{7AB1C490-19AB-B5EA-6226-6B9381B456EB}"/>
              </a:ext>
            </a:extLst>
          </p:cNvPr>
          <p:cNvSpPr txBox="1">
            <a:spLocks noChangeArrowheads="1"/>
          </p:cNvSpPr>
          <p:nvPr/>
        </p:nvSpPr>
        <p:spPr bwMode="auto">
          <a:xfrm>
            <a:off x="3851275" y="1052513"/>
            <a:ext cx="15128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ea typeface="黑体" panose="02010609060101010101" pitchFamily="49" charset="-122"/>
              </a:rPr>
              <a:t>决策的本质</a:t>
            </a:r>
          </a:p>
        </p:txBody>
      </p:sp>
      <p:sp>
        <p:nvSpPr>
          <p:cNvPr id="11296" name="Text Box 32">
            <a:extLst>
              <a:ext uri="{FF2B5EF4-FFF2-40B4-BE49-F238E27FC236}">
                <a16:creationId xmlns:a16="http://schemas.microsoft.com/office/drawing/2014/main" id="{6D0EC1CF-D1FB-F02E-96CF-92C954391FA6}"/>
              </a:ext>
            </a:extLst>
          </p:cNvPr>
          <p:cNvSpPr txBox="1">
            <a:spLocks noChangeArrowheads="1"/>
          </p:cNvSpPr>
          <p:nvPr/>
        </p:nvSpPr>
        <p:spPr bwMode="auto">
          <a:xfrm>
            <a:off x="179388" y="188913"/>
            <a:ext cx="21605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solidFill>
                  <a:schemeClr val="tx2"/>
                </a:solidFill>
              </a:rPr>
              <a:t>6.1</a:t>
            </a:r>
            <a:r>
              <a:rPr lang="zh-CN" altLang="en-US" sz="1600">
                <a:solidFill>
                  <a:schemeClr val="tx2"/>
                </a:solidFill>
              </a:rPr>
              <a:t>决策的性质与过程</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CB3DA09A-65BA-B30C-1DFE-5CF9A1DF547A}"/>
              </a:ext>
            </a:extLst>
          </p:cNvPr>
          <p:cNvSpPr>
            <a:spLocks noGrp="1"/>
          </p:cNvSpPr>
          <p:nvPr>
            <p:ph type="dt" sz="half" idx="10"/>
          </p:nvPr>
        </p:nvSpPr>
        <p:spPr/>
        <p:txBody>
          <a:bodyPr/>
          <a:lstStyle/>
          <a:p>
            <a:r>
              <a:rPr lang="zh-CN" altLang="en-US"/>
              <a:t>版本：2004</a:t>
            </a:r>
            <a:endParaRPr lang="en-US" altLang="zh-CN"/>
          </a:p>
        </p:txBody>
      </p:sp>
      <p:sp>
        <p:nvSpPr>
          <p:cNvPr id="3" name="页脚占位符 4">
            <a:extLst>
              <a:ext uri="{FF2B5EF4-FFF2-40B4-BE49-F238E27FC236}">
                <a16:creationId xmlns:a16="http://schemas.microsoft.com/office/drawing/2014/main" id="{F10573FD-E862-5F13-CF55-ACC7834CD038}"/>
              </a:ext>
            </a:extLst>
          </p:cNvPr>
          <p:cNvSpPr>
            <a:spLocks noGrp="1"/>
          </p:cNvSpPr>
          <p:nvPr>
            <p:ph type="ftr" sz="quarter" idx="11"/>
          </p:nvPr>
        </p:nvSpPr>
        <p:spPr/>
        <p:txBody>
          <a:bodyPr/>
          <a:lstStyle/>
          <a:p>
            <a:r>
              <a:rPr lang="en-US" altLang="zh-CN"/>
              <a:t>管理学</a:t>
            </a:r>
          </a:p>
        </p:txBody>
      </p:sp>
      <p:sp>
        <p:nvSpPr>
          <p:cNvPr id="4" name="灯片编号占位符 5">
            <a:extLst>
              <a:ext uri="{FF2B5EF4-FFF2-40B4-BE49-F238E27FC236}">
                <a16:creationId xmlns:a16="http://schemas.microsoft.com/office/drawing/2014/main" id="{10B3A9BD-FE8E-06E5-F853-B551CE351B3C}"/>
              </a:ext>
            </a:extLst>
          </p:cNvPr>
          <p:cNvSpPr>
            <a:spLocks noGrp="1"/>
          </p:cNvSpPr>
          <p:nvPr>
            <p:ph type="sldNum" sz="quarter" idx="12"/>
          </p:nvPr>
        </p:nvSpPr>
        <p:spPr/>
        <p:txBody>
          <a:bodyPr/>
          <a:lstStyle/>
          <a:p>
            <a:fld id="{C1294529-F1E3-47E1-80DA-6DACF8281F85}" type="slidenum">
              <a:rPr lang="en-US" altLang="zh-CN"/>
              <a:pPr/>
              <a:t>4</a:t>
            </a:fld>
            <a:endParaRPr lang="en-US" altLang="zh-CN"/>
          </a:p>
        </p:txBody>
      </p:sp>
      <p:sp>
        <p:nvSpPr>
          <p:cNvPr id="44037" name="Text Box 5">
            <a:extLst>
              <a:ext uri="{FF2B5EF4-FFF2-40B4-BE49-F238E27FC236}">
                <a16:creationId xmlns:a16="http://schemas.microsoft.com/office/drawing/2014/main" id="{4C9947A1-E9C4-E3E7-BBA3-20B31292E3CC}"/>
              </a:ext>
            </a:extLst>
          </p:cNvPr>
          <p:cNvSpPr txBox="1">
            <a:spLocks noChangeArrowheads="1"/>
          </p:cNvSpPr>
          <p:nvPr/>
        </p:nvSpPr>
        <p:spPr bwMode="auto">
          <a:xfrm>
            <a:off x="3708400" y="4941888"/>
            <a:ext cx="1511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solidFill>
                  <a:schemeClr val="tx2"/>
                </a:solidFill>
                <a:ea typeface="黑体" panose="02010609060101010101" pitchFamily="49" charset="-122"/>
              </a:rPr>
              <a:t>决策的过程</a:t>
            </a:r>
          </a:p>
        </p:txBody>
      </p:sp>
      <p:sp>
        <p:nvSpPr>
          <p:cNvPr id="44038" name="Text Box 6">
            <a:extLst>
              <a:ext uri="{FF2B5EF4-FFF2-40B4-BE49-F238E27FC236}">
                <a16:creationId xmlns:a16="http://schemas.microsoft.com/office/drawing/2014/main" id="{66999EC4-6D49-4B29-3BAF-AD7C3FDF76D5}"/>
              </a:ext>
            </a:extLst>
          </p:cNvPr>
          <p:cNvSpPr txBox="1">
            <a:spLocks noChangeArrowheads="1"/>
          </p:cNvSpPr>
          <p:nvPr/>
        </p:nvSpPr>
        <p:spPr bwMode="auto">
          <a:xfrm>
            <a:off x="5867400" y="476250"/>
            <a:ext cx="2881313"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ltLang="zh-CN"/>
          </a:p>
          <a:p>
            <a:endParaRPr lang="en-US" altLang="zh-CN"/>
          </a:p>
          <a:p>
            <a:endParaRPr lang="en-US" altLang="zh-CN"/>
          </a:p>
          <a:p>
            <a:endParaRPr lang="en-US" altLang="zh-CN"/>
          </a:p>
        </p:txBody>
      </p:sp>
      <p:sp>
        <p:nvSpPr>
          <p:cNvPr id="44039" name="Rectangle 7">
            <a:extLst>
              <a:ext uri="{FF2B5EF4-FFF2-40B4-BE49-F238E27FC236}">
                <a16:creationId xmlns:a16="http://schemas.microsoft.com/office/drawing/2014/main" id="{990FA1A0-BBA5-AA06-BCC3-F0F21A7D0499}"/>
              </a:ext>
            </a:extLst>
          </p:cNvPr>
          <p:cNvSpPr>
            <a:spLocks noChangeArrowheads="1"/>
          </p:cNvSpPr>
          <p:nvPr/>
        </p:nvSpPr>
        <p:spPr bwMode="auto">
          <a:xfrm>
            <a:off x="1331913" y="1341438"/>
            <a:ext cx="2235200" cy="1295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1.</a:t>
            </a:r>
            <a:r>
              <a:rPr lang="zh-CN" altLang="en-US"/>
              <a:t>找出制定决策</a:t>
            </a:r>
          </a:p>
          <a:p>
            <a:pPr algn="ctr"/>
            <a:r>
              <a:rPr lang="zh-CN" altLang="en-US"/>
              <a:t>的理由</a:t>
            </a:r>
          </a:p>
        </p:txBody>
      </p:sp>
      <p:sp>
        <p:nvSpPr>
          <p:cNvPr id="44040" name="Rectangle 8">
            <a:extLst>
              <a:ext uri="{FF2B5EF4-FFF2-40B4-BE49-F238E27FC236}">
                <a16:creationId xmlns:a16="http://schemas.microsoft.com/office/drawing/2014/main" id="{3E9B7214-50E8-227F-7B3E-E4CD9E8D180F}"/>
              </a:ext>
            </a:extLst>
          </p:cNvPr>
          <p:cNvSpPr>
            <a:spLocks noChangeArrowheads="1"/>
          </p:cNvSpPr>
          <p:nvPr/>
        </p:nvSpPr>
        <p:spPr bwMode="auto">
          <a:xfrm>
            <a:off x="5292725" y="1341438"/>
            <a:ext cx="2235200" cy="1295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2.</a:t>
            </a:r>
            <a:r>
              <a:rPr lang="zh-CN" altLang="en-US"/>
              <a:t>找到可能的</a:t>
            </a:r>
          </a:p>
          <a:p>
            <a:pPr algn="ctr"/>
            <a:r>
              <a:rPr lang="zh-CN" altLang="en-US"/>
              <a:t>行动方案</a:t>
            </a:r>
          </a:p>
        </p:txBody>
      </p:sp>
      <p:sp>
        <p:nvSpPr>
          <p:cNvPr id="44041" name="Rectangle 9">
            <a:extLst>
              <a:ext uri="{FF2B5EF4-FFF2-40B4-BE49-F238E27FC236}">
                <a16:creationId xmlns:a16="http://schemas.microsoft.com/office/drawing/2014/main" id="{6BE04790-35ED-3221-C16B-1D1FE9E7CF28}"/>
              </a:ext>
            </a:extLst>
          </p:cNvPr>
          <p:cNvSpPr>
            <a:spLocks noChangeArrowheads="1"/>
          </p:cNvSpPr>
          <p:nvPr/>
        </p:nvSpPr>
        <p:spPr bwMode="auto">
          <a:xfrm>
            <a:off x="5292725" y="3500438"/>
            <a:ext cx="2235200" cy="1295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3.</a:t>
            </a:r>
            <a:r>
              <a:rPr lang="zh-CN" altLang="en-US"/>
              <a:t>在诸行动方案中</a:t>
            </a:r>
          </a:p>
          <a:p>
            <a:pPr algn="ctr"/>
            <a:r>
              <a:rPr lang="zh-CN" altLang="en-US"/>
              <a:t>进行抉择</a:t>
            </a:r>
          </a:p>
        </p:txBody>
      </p:sp>
      <p:sp>
        <p:nvSpPr>
          <p:cNvPr id="44042" name="Rectangle 10">
            <a:extLst>
              <a:ext uri="{FF2B5EF4-FFF2-40B4-BE49-F238E27FC236}">
                <a16:creationId xmlns:a16="http://schemas.microsoft.com/office/drawing/2014/main" id="{D8297A35-79ED-DE6C-C98B-19A5CBA71486}"/>
              </a:ext>
            </a:extLst>
          </p:cNvPr>
          <p:cNvSpPr>
            <a:spLocks noChangeArrowheads="1"/>
          </p:cNvSpPr>
          <p:nvPr/>
        </p:nvSpPr>
        <p:spPr bwMode="auto">
          <a:xfrm>
            <a:off x="1331913" y="3500438"/>
            <a:ext cx="2235200" cy="1295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4.</a:t>
            </a:r>
            <a:r>
              <a:rPr lang="zh-CN" altLang="en-US"/>
              <a:t>对已进行的抉择</a:t>
            </a:r>
          </a:p>
          <a:p>
            <a:pPr algn="ctr"/>
            <a:r>
              <a:rPr lang="zh-CN" altLang="en-US"/>
              <a:t>进行评价</a:t>
            </a:r>
          </a:p>
        </p:txBody>
      </p:sp>
      <p:sp>
        <p:nvSpPr>
          <p:cNvPr id="44044" name="Line 12">
            <a:extLst>
              <a:ext uri="{FF2B5EF4-FFF2-40B4-BE49-F238E27FC236}">
                <a16:creationId xmlns:a16="http://schemas.microsoft.com/office/drawing/2014/main" id="{C326E325-133F-ABFA-2E19-D052DE8E91A5}"/>
              </a:ext>
            </a:extLst>
          </p:cNvPr>
          <p:cNvSpPr>
            <a:spLocks noChangeShapeType="1"/>
          </p:cNvSpPr>
          <p:nvPr/>
        </p:nvSpPr>
        <p:spPr bwMode="auto">
          <a:xfrm>
            <a:off x="3563938" y="1989138"/>
            <a:ext cx="172878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45" name="Line 13">
            <a:extLst>
              <a:ext uri="{FF2B5EF4-FFF2-40B4-BE49-F238E27FC236}">
                <a16:creationId xmlns:a16="http://schemas.microsoft.com/office/drawing/2014/main" id="{60348333-2197-6081-8D53-FCBD93A0F4B9}"/>
              </a:ext>
            </a:extLst>
          </p:cNvPr>
          <p:cNvSpPr>
            <a:spLocks noChangeShapeType="1"/>
          </p:cNvSpPr>
          <p:nvPr/>
        </p:nvSpPr>
        <p:spPr bwMode="auto">
          <a:xfrm>
            <a:off x="6443663" y="2636838"/>
            <a:ext cx="0" cy="863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46" name="Line 14">
            <a:extLst>
              <a:ext uri="{FF2B5EF4-FFF2-40B4-BE49-F238E27FC236}">
                <a16:creationId xmlns:a16="http://schemas.microsoft.com/office/drawing/2014/main" id="{2D01AE34-A788-E839-9A8B-16646097907E}"/>
              </a:ext>
            </a:extLst>
          </p:cNvPr>
          <p:cNvSpPr>
            <a:spLocks noChangeShapeType="1"/>
          </p:cNvSpPr>
          <p:nvPr/>
        </p:nvSpPr>
        <p:spPr bwMode="auto">
          <a:xfrm flipH="1">
            <a:off x="3563938" y="4149725"/>
            <a:ext cx="172878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47" name="Line 15">
            <a:extLst>
              <a:ext uri="{FF2B5EF4-FFF2-40B4-BE49-F238E27FC236}">
                <a16:creationId xmlns:a16="http://schemas.microsoft.com/office/drawing/2014/main" id="{45350090-F56B-0711-F6C5-2DD6E26122DB}"/>
              </a:ext>
            </a:extLst>
          </p:cNvPr>
          <p:cNvSpPr>
            <a:spLocks noChangeShapeType="1"/>
          </p:cNvSpPr>
          <p:nvPr/>
        </p:nvSpPr>
        <p:spPr bwMode="auto">
          <a:xfrm flipV="1">
            <a:off x="2411413" y="2636838"/>
            <a:ext cx="0" cy="863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48" name="Text Box 16">
            <a:extLst>
              <a:ext uri="{FF2B5EF4-FFF2-40B4-BE49-F238E27FC236}">
                <a16:creationId xmlns:a16="http://schemas.microsoft.com/office/drawing/2014/main" id="{AD696007-C7F6-3FD6-D292-3BDAA6E20D2C}"/>
              </a:ext>
            </a:extLst>
          </p:cNvPr>
          <p:cNvSpPr txBox="1">
            <a:spLocks noChangeArrowheads="1"/>
          </p:cNvSpPr>
          <p:nvPr/>
        </p:nvSpPr>
        <p:spPr bwMode="auto">
          <a:xfrm>
            <a:off x="179388" y="188913"/>
            <a:ext cx="21605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solidFill>
                  <a:schemeClr val="tx2"/>
                </a:solidFill>
              </a:rPr>
              <a:t>6.1</a:t>
            </a:r>
            <a:r>
              <a:rPr lang="zh-CN" altLang="en-US" sz="1600">
                <a:solidFill>
                  <a:schemeClr val="tx2"/>
                </a:solidFill>
              </a:rPr>
              <a:t>决策的性质与过程</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CEFFDD9C-271C-ACD9-7ABE-F47F0D8814EB}"/>
              </a:ext>
            </a:extLst>
          </p:cNvPr>
          <p:cNvSpPr>
            <a:spLocks noGrp="1"/>
          </p:cNvSpPr>
          <p:nvPr>
            <p:ph type="dt" sz="half" idx="10"/>
          </p:nvPr>
        </p:nvSpPr>
        <p:spPr/>
        <p:txBody>
          <a:bodyPr/>
          <a:lstStyle/>
          <a:p>
            <a:r>
              <a:rPr lang="zh-CN" altLang="en-US"/>
              <a:t>版本：2004</a:t>
            </a:r>
            <a:endParaRPr lang="en-US" altLang="zh-CN"/>
          </a:p>
        </p:txBody>
      </p:sp>
      <p:sp>
        <p:nvSpPr>
          <p:cNvPr id="3" name="页脚占位符 4">
            <a:extLst>
              <a:ext uri="{FF2B5EF4-FFF2-40B4-BE49-F238E27FC236}">
                <a16:creationId xmlns:a16="http://schemas.microsoft.com/office/drawing/2014/main" id="{6AAD39F0-0397-7178-7DDC-1D57C42B2BAF}"/>
              </a:ext>
            </a:extLst>
          </p:cNvPr>
          <p:cNvSpPr>
            <a:spLocks noGrp="1"/>
          </p:cNvSpPr>
          <p:nvPr>
            <p:ph type="ftr" sz="quarter" idx="11"/>
          </p:nvPr>
        </p:nvSpPr>
        <p:spPr/>
        <p:txBody>
          <a:bodyPr/>
          <a:lstStyle/>
          <a:p>
            <a:r>
              <a:rPr lang="en-US" altLang="zh-CN"/>
              <a:t>管理学</a:t>
            </a:r>
          </a:p>
        </p:txBody>
      </p:sp>
      <p:sp>
        <p:nvSpPr>
          <p:cNvPr id="4" name="灯片编号占位符 5">
            <a:extLst>
              <a:ext uri="{FF2B5EF4-FFF2-40B4-BE49-F238E27FC236}">
                <a16:creationId xmlns:a16="http://schemas.microsoft.com/office/drawing/2014/main" id="{8C6B4699-AB6C-8056-AB4D-ED5477492ECE}"/>
              </a:ext>
            </a:extLst>
          </p:cNvPr>
          <p:cNvSpPr>
            <a:spLocks noGrp="1"/>
          </p:cNvSpPr>
          <p:nvPr>
            <p:ph type="sldNum" sz="quarter" idx="12"/>
          </p:nvPr>
        </p:nvSpPr>
        <p:spPr/>
        <p:txBody>
          <a:bodyPr/>
          <a:lstStyle/>
          <a:p>
            <a:fld id="{3AAFF379-4773-47E3-8BEC-6D50E302E172}" type="slidenum">
              <a:rPr lang="en-US" altLang="zh-CN"/>
              <a:pPr/>
              <a:t>5</a:t>
            </a:fld>
            <a:endParaRPr lang="en-US" altLang="zh-CN"/>
          </a:p>
        </p:txBody>
      </p:sp>
      <p:sp>
        <p:nvSpPr>
          <p:cNvPr id="16389" name="Text Box 5">
            <a:extLst>
              <a:ext uri="{FF2B5EF4-FFF2-40B4-BE49-F238E27FC236}">
                <a16:creationId xmlns:a16="http://schemas.microsoft.com/office/drawing/2014/main" id="{698F5689-A5E6-C4EF-0D93-EEF663688F19}"/>
              </a:ext>
            </a:extLst>
          </p:cNvPr>
          <p:cNvSpPr txBox="1">
            <a:spLocks noChangeArrowheads="1"/>
          </p:cNvSpPr>
          <p:nvPr/>
        </p:nvSpPr>
        <p:spPr bwMode="auto">
          <a:xfrm>
            <a:off x="3203575" y="4149725"/>
            <a:ext cx="2592388"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solidFill>
                  <a:schemeClr val="tx2"/>
                </a:solidFill>
                <a:ea typeface="黑体" panose="02010609060101010101" pitchFamily="49" charset="-122"/>
              </a:rPr>
              <a:t>找出制定决策的理由</a:t>
            </a:r>
          </a:p>
        </p:txBody>
      </p:sp>
      <p:sp>
        <p:nvSpPr>
          <p:cNvPr id="16390" name="Rectangle 6">
            <a:extLst>
              <a:ext uri="{FF2B5EF4-FFF2-40B4-BE49-F238E27FC236}">
                <a16:creationId xmlns:a16="http://schemas.microsoft.com/office/drawing/2014/main" id="{ED1AD23C-FFC6-4C86-FD29-7F8FFA90CEA7}"/>
              </a:ext>
            </a:extLst>
          </p:cNvPr>
          <p:cNvSpPr>
            <a:spLocks noChangeArrowheads="1"/>
          </p:cNvSpPr>
          <p:nvPr/>
        </p:nvSpPr>
        <p:spPr bwMode="auto">
          <a:xfrm>
            <a:off x="323850" y="1773238"/>
            <a:ext cx="1873250" cy="172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1.</a:t>
            </a:r>
            <a:r>
              <a:rPr lang="zh-CN" altLang="en-US"/>
              <a:t>发现和确定需要</a:t>
            </a:r>
          </a:p>
          <a:p>
            <a:pPr algn="ctr"/>
            <a:r>
              <a:rPr lang="zh-CN" altLang="en-US"/>
              <a:t>解决的问题</a:t>
            </a:r>
          </a:p>
        </p:txBody>
      </p:sp>
      <p:sp>
        <p:nvSpPr>
          <p:cNvPr id="16391" name="Rectangle 7">
            <a:extLst>
              <a:ext uri="{FF2B5EF4-FFF2-40B4-BE49-F238E27FC236}">
                <a16:creationId xmlns:a16="http://schemas.microsoft.com/office/drawing/2014/main" id="{0E03546C-A118-46B1-6166-5FACEEEF0283}"/>
              </a:ext>
            </a:extLst>
          </p:cNvPr>
          <p:cNvSpPr>
            <a:spLocks noChangeArrowheads="1"/>
          </p:cNvSpPr>
          <p:nvPr/>
        </p:nvSpPr>
        <p:spPr bwMode="auto">
          <a:xfrm>
            <a:off x="2555875" y="1773238"/>
            <a:ext cx="1873250" cy="172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2.</a:t>
            </a:r>
            <a:r>
              <a:rPr lang="zh-CN" altLang="en-US"/>
              <a:t>确定引起问题</a:t>
            </a:r>
          </a:p>
          <a:p>
            <a:pPr algn="ctr"/>
            <a:r>
              <a:rPr lang="zh-CN" altLang="en-US"/>
              <a:t>的可能原因</a:t>
            </a:r>
          </a:p>
        </p:txBody>
      </p:sp>
      <p:sp>
        <p:nvSpPr>
          <p:cNvPr id="16392" name="Rectangle 8">
            <a:extLst>
              <a:ext uri="{FF2B5EF4-FFF2-40B4-BE49-F238E27FC236}">
                <a16:creationId xmlns:a16="http://schemas.microsoft.com/office/drawing/2014/main" id="{571CEBE4-BB75-02D7-D721-49A5CEA507D0}"/>
              </a:ext>
            </a:extLst>
          </p:cNvPr>
          <p:cNvSpPr>
            <a:spLocks noChangeArrowheads="1"/>
          </p:cNvSpPr>
          <p:nvPr/>
        </p:nvSpPr>
        <p:spPr bwMode="auto">
          <a:xfrm>
            <a:off x="7019925" y="1773238"/>
            <a:ext cx="1873250" cy="172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4.</a:t>
            </a:r>
            <a:r>
              <a:rPr lang="zh-CN" altLang="en-US"/>
              <a:t>确定决策目标</a:t>
            </a:r>
          </a:p>
        </p:txBody>
      </p:sp>
      <p:sp>
        <p:nvSpPr>
          <p:cNvPr id="16393" name="Rectangle 9">
            <a:extLst>
              <a:ext uri="{FF2B5EF4-FFF2-40B4-BE49-F238E27FC236}">
                <a16:creationId xmlns:a16="http://schemas.microsoft.com/office/drawing/2014/main" id="{11B1B203-2DF0-4323-3653-CA4FDBF19C6B}"/>
              </a:ext>
            </a:extLst>
          </p:cNvPr>
          <p:cNvSpPr>
            <a:spLocks noChangeArrowheads="1"/>
          </p:cNvSpPr>
          <p:nvPr/>
        </p:nvSpPr>
        <p:spPr bwMode="auto">
          <a:xfrm>
            <a:off x="4787900" y="1773238"/>
            <a:ext cx="1873250" cy="172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3.</a:t>
            </a:r>
            <a:r>
              <a:rPr lang="zh-CN" altLang="en-US"/>
              <a:t>评价问题的</a:t>
            </a:r>
          </a:p>
          <a:p>
            <a:pPr algn="ctr"/>
            <a:r>
              <a:rPr lang="zh-CN" altLang="en-US"/>
              <a:t>重要性</a:t>
            </a:r>
          </a:p>
        </p:txBody>
      </p:sp>
      <p:sp>
        <p:nvSpPr>
          <p:cNvPr id="16394" name="Line 10">
            <a:extLst>
              <a:ext uri="{FF2B5EF4-FFF2-40B4-BE49-F238E27FC236}">
                <a16:creationId xmlns:a16="http://schemas.microsoft.com/office/drawing/2014/main" id="{233A9017-F1D3-F069-61DB-6672E13C1E48}"/>
              </a:ext>
            </a:extLst>
          </p:cNvPr>
          <p:cNvSpPr>
            <a:spLocks noChangeShapeType="1"/>
          </p:cNvSpPr>
          <p:nvPr/>
        </p:nvSpPr>
        <p:spPr bwMode="auto">
          <a:xfrm>
            <a:off x="2195513" y="2492375"/>
            <a:ext cx="36036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95" name="Line 11">
            <a:extLst>
              <a:ext uri="{FF2B5EF4-FFF2-40B4-BE49-F238E27FC236}">
                <a16:creationId xmlns:a16="http://schemas.microsoft.com/office/drawing/2014/main" id="{8241439A-626C-3978-6354-713ADCCFF839}"/>
              </a:ext>
            </a:extLst>
          </p:cNvPr>
          <p:cNvSpPr>
            <a:spLocks noChangeShapeType="1"/>
          </p:cNvSpPr>
          <p:nvPr/>
        </p:nvSpPr>
        <p:spPr bwMode="auto">
          <a:xfrm>
            <a:off x="4427538" y="2492375"/>
            <a:ext cx="36036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96" name="Line 12">
            <a:extLst>
              <a:ext uri="{FF2B5EF4-FFF2-40B4-BE49-F238E27FC236}">
                <a16:creationId xmlns:a16="http://schemas.microsoft.com/office/drawing/2014/main" id="{73B34D27-E764-F336-ECDF-D2B002B57556}"/>
              </a:ext>
            </a:extLst>
          </p:cNvPr>
          <p:cNvSpPr>
            <a:spLocks noChangeShapeType="1"/>
          </p:cNvSpPr>
          <p:nvPr/>
        </p:nvSpPr>
        <p:spPr bwMode="auto">
          <a:xfrm>
            <a:off x="6659563" y="2492375"/>
            <a:ext cx="36036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97" name="Text Box 13">
            <a:extLst>
              <a:ext uri="{FF2B5EF4-FFF2-40B4-BE49-F238E27FC236}">
                <a16:creationId xmlns:a16="http://schemas.microsoft.com/office/drawing/2014/main" id="{AF7B062D-8C0A-0AC1-1A51-0768847D0A08}"/>
              </a:ext>
            </a:extLst>
          </p:cNvPr>
          <p:cNvSpPr txBox="1">
            <a:spLocks noChangeArrowheads="1"/>
          </p:cNvSpPr>
          <p:nvPr/>
        </p:nvSpPr>
        <p:spPr bwMode="auto">
          <a:xfrm>
            <a:off x="179388" y="3716338"/>
            <a:ext cx="2663825"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600"/>
              <a:t>理想状况－实际状况＝问题</a:t>
            </a:r>
          </a:p>
        </p:txBody>
      </p:sp>
      <p:sp>
        <p:nvSpPr>
          <p:cNvPr id="16406" name="Text Box 22">
            <a:extLst>
              <a:ext uri="{FF2B5EF4-FFF2-40B4-BE49-F238E27FC236}">
                <a16:creationId xmlns:a16="http://schemas.microsoft.com/office/drawing/2014/main" id="{7E849B90-74EE-DFA2-26B0-EB5570C07C05}"/>
              </a:ext>
            </a:extLst>
          </p:cNvPr>
          <p:cNvSpPr txBox="1">
            <a:spLocks noChangeArrowheads="1"/>
          </p:cNvSpPr>
          <p:nvPr/>
        </p:nvSpPr>
        <p:spPr bwMode="auto">
          <a:xfrm>
            <a:off x="179388" y="188913"/>
            <a:ext cx="21605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solidFill>
                  <a:schemeClr val="tx2"/>
                </a:solidFill>
              </a:rPr>
              <a:t>6.1</a:t>
            </a:r>
            <a:r>
              <a:rPr lang="zh-CN" altLang="en-US" sz="1600">
                <a:solidFill>
                  <a:schemeClr val="tx2"/>
                </a:solidFill>
              </a:rPr>
              <a:t>决策的性质与过程</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C0B7697E-29B5-4011-91F2-AB56F079F34D}"/>
              </a:ext>
            </a:extLst>
          </p:cNvPr>
          <p:cNvSpPr>
            <a:spLocks noGrp="1"/>
          </p:cNvSpPr>
          <p:nvPr>
            <p:ph type="dt" sz="half" idx="10"/>
          </p:nvPr>
        </p:nvSpPr>
        <p:spPr/>
        <p:txBody>
          <a:bodyPr/>
          <a:lstStyle/>
          <a:p>
            <a:r>
              <a:rPr lang="zh-CN" altLang="en-US"/>
              <a:t>版本：2004</a:t>
            </a:r>
            <a:endParaRPr lang="en-US" altLang="zh-CN"/>
          </a:p>
        </p:txBody>
      </p:sp>
      <p:sp>
        <p:nvSpPr>
          <p:cNvPr id="3" name="页脚占位符 4">
            <a:extLst>
              <a:ext uri="{FF2B5EF4-FFF2-40B4-BE49-F238E27FC236}">
                <a16:creationId xmlns:a16="http://schemas.microsoft.com/office/drawing/2014/main" id="{A2362A4C-09AC-5E7B-54DF-0F38F1AF6930}"/>
              </a:ext>
            </a:extLst>
          </p:cNvPr>
          <p:cNvSpPr>
            <a:spLocks noGrp="1"/>
          </p:cNvSpPr>
          <p:nvPr>
            <p:ph type="ftr" sz="quarter" idx="11"/>
          </p:nvPr>
        </p:nvSpPr>
        <p:spPr/>
        <p:txBody>
          <a:bodyPr/>
          <a:lstStyle/>
          <a:p>
            <a:r>
              <a:rPr lang="en-US" altLang="zh-CN"/>
              <a:t>管理学</a:t>
            </a:r>
          </a:p>
        </p:txBody>
      </p:sp>
      <p:sp>
        <p:nvSpPr>
          <p:cNvPr id="4" name="灯片编号占位符 5">
            <a:extLst>
              <a:ext uri="{FF2B5EF4-FFF2-40B4-BE49-F238E27FC236}">
                <a16:creationId xmlns:a16="http://schemas.microsoft.com/office/drawing/2014/main" id="{170ADD7F-2824-3F3D-5BB0-16CA1E82EB05}"/>
              </a:ext>
            </a:extLst>
          </p:cNvPr>
          <p:cNvSpPr>
            <a:spLocks noGrp="1"/>
          </p:cNvSpPr>
          <p:nvPr>
            <p:ph type="sldNum" sz="quarter" idx="12"/>
          </p:nvPr>
        </p:nvSpPr>
        <p:spPr/>
        <p:txBody>
          <a:bodyPr/>
          <a:lstStyle/>
          <a:p>
            <a:fld id="{EDC99880-7580-4932-BB39-9298CF9E4F17}" type="slidenum">
              <a:rPr lang="en-US" altLang="zh-CN"/>
              <a:pPr/>
              <a:t>6</a:t>
            </a:fld>
            <a:endParaRPr lang="en-US" altLang="zh-CN"/>
          </a:p>
        </p:txBody>
      </p:sp>
      <p:sp>
        <p:nvSpPr>
          <p:cNvPr id="15365" name="Text Box 5">
            <a:extLst>
              <a:ext uri="{FF2B5EF4-FFF2-40B4-BE49-F238E27FC236}">
                <a16:creationId xmlns:a16="http://schemas.microsoft.com/office/drawing/2014/main" id="{7EF9C40B-943F-C2E5-A5DA-E66787246497}"/>
              </a:ext>
            </a:extLst>
          </p:cNvPr>
          <p:cNvSpPr txBox="1">
            <a:spLocks noChangeArrowheads="1"/>
          </p:cNvSpPr>
          <p:nvPr/>
        </p:nvSpPr>
        <p:spPr bwMode="auto">
          <a:xfrm>
            <a:off x="3708400" y="5300663"/>
            <a:ext cx="252095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solidFill>
                  <a:schemeClr val="tx2"/>
                </a:solidFill>
                <a:ea typeface="黑体" panose="02010609060101010101" pitchFamily="49" charset="-122"/>
              </a:rPr>
              <a:t>找到可能的行动方案</a:t>
            </a:r>
          </a:p>
        </p:txBody>
      </p:sp>
      <p:sp>
        <p:nvSpPr>
          <p:cNvPr id="15366" name="Oval 6">
            <a:extLst>
              <a:ext uri="{FF2B5EF4-FFF2-40B4-BE49-F238E27FC236}">
                <a16:creationId xmlns:a16="http://schemas.microsoft.com/office/drawing/2014/main" id="{2C36ABCF-6D78-B49C-9487-F8419FBAC3DB}"/>
              </a:ext>
            </a:extLst>
          </p:cNvPr>
          <p:cNvSpPr>
            <a:spLocks noChangeArrowheads="1"/>
          </p:cNvSpPr>
          <p:nvPr/>
        </p:nvSpPr>
        <p:spPr bwMode="auto">
          <a:xfrm>
            <a:off x="1692275" y="1268413"/>
            <a:ext cx="1223963" cy="10795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决策过程</a:t>
            </a:r>
          </a:p>
        </p:txBody>
      </p:sp>
      <p:sp>
        <p:nvSpPr>
          <p:cNvPr id="15367" name="Rectangle 7">
            <a:extLst>
              <a:ext uri="{FF2B5EF4-FFF2-40B4-BE49-F238E27FC236}">
                <a16:creationId xmlns:a16="http://schemas.microsoft.com/office/drawing/2014/main" id="{6BC0E076-355B-D443-BB92-DD16944669AB}"/>
              </a:ext>
            </a:extLst>
          </p:cNvPr>
          <p:cNvSpPr>
            <a:spLocks noChangeArrowheads="1"/>
          </p:cNvSpPr>
          <p:nvPr/>
        </p:nvSpPr>
        <p:spPr bwMode="auto">
          <a:xfrm>
            <a:off x="4787900" y="1412875"/>
            <a:ext cx="1008063" cy="863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方案</a:t>
            </a:r>
          </a:p>
        </p:txBody>
      </p:sp>
      <p:sp>
        <p:nvSpPr>
          <p:cNvPr id="15372" name="Line 12">
            <a:extLst>
              <a:ext uri="{FF2B5EF4-FFF2-40B4-BE49-F238E27FC236}">
                <a16:creationId xmlns:a16="http://schemas.microsoft.com/office/drawing/2014/main" id="{4464A961-468E-CC20-47A3-732759B66CA6}"/>
              </a:ext>
            </a:extLst>
          </p:cNvPr>
          <p:cNvSpPr>
            <a:spLocks noChangeShapeType="1"/>
          </p:cNvSpPr>
          <p:nvPr/>
        </p:nvSpPr>
        <p:spPr bwMode="auto">
          <a:xfrm>
            <a:off x="2916238" y="1844675"/>
            <a:ext cx="187166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6" name="Rectangle 16">
            <a:extLst>
              <a:ext uri="{FF2B5EF4-FFF2-40B4-BE49-F238E27FC236}">
                <a16:creationId xmlns:a16="http://schemas.microsoft.com/office/drawing/2014/main" id="{957F80D8-B97C-B008-CCC6-8A6DDF1792DA}"/>
              </a:ext>
            </a:extLst>
          </p:cNvPr>
          <p:cNvSpPr>
            <a:spLocks noChangeArrowheads="1"/>
          </p:cNvSpPr>
          <p:nvPr/>
        </p:nvSpPr>
        <p:spPr bwMode="auto">
          <a:xfrm>
            <a:off x="4787900" y="2492375"/>
            <a:ext cx="1008063" cy="863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方案</a:t>
            </a:r>
          </a:p>
        </p:txBody>
      </p:sp>
      <p:sp>
        <p:nvSpPr>
          <p:cNvPr id="15377" name="Rectangle 17">
            <a:extLst>
              <a:ext uri="{FF2B5EF4-FFF2-40B4-BE49-F238E27FC236}">
                <a16:creationId xmlns:a16="http://schemas.microsoft.com/office/drawing/2014/main" id="{57612207-D0E9-0B27-7701-08A431A9BF73}"/>
              </a:ext>
            </a:extLst>
          </p:cNvPr>
          <p:cNvSpPr>
            <a:spLocks noChangeArrowheads="1"/>
          </p:cNvSpPr>
          <p:nvPr/>
        </p:nvSpPr>
        <p:spPr bwMode="auto">
          <a:xfrm>
            <a:off x="4787900" y="3429000"/>
            <a:ext cx="1008063" cy="863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方案</a:t>
            </a:r>
          </a:p>
        </p:txBody>
      </p:sp>
      <p:sp>
        <p:nvSpPr>
          <p:cNvPr id="15378" name="Rectangle 18">
            <a:extLst>
              <a:ext uri="{FF2B5EF4-FFF2-40B4-BE49-F238E27FC236}">
                <a16:creationId xmlns:a16="http://schemas.microsoft.com/office/drawing/2014/main" id="{ADEFED7F-3EAC-7634-37DF-0AB80F0690A2}"/>
              </a:ext>
            </a:extLst>
          </p:cNvPr>
          <p:cNvSpPr>
            <a:spLocks noChangeArrowheads="1"/>
          </p:cNvSpPr>
          <p:nvPr/>
        </p:nvSpPr>
        <p:spPr bwMode="auto">
          <a:xfrm>
            <a:off x="4787900" y="4365625"/>
            <a:ext cx="1008063" cy="863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方案</a:t>
            </a:r>
          </a:p>
        </p:txBody>
      </p:sp>
      <p:sp>
        <p:nvSpPr>
          <p:cNvPr id="15379" name="Oval 19">
            <a:extLst>
              <a:ext uri="{FF2B5EF4-FFF2-40B4-BE49-F238E27FC236}">
                <a16:creationId xmlns:a16="http://schemas.microsoft.com/office/drawing/2014/main" id="{C39EB1D4-09E7-0EC2-AA65-59B9FD56147F}"/>
              </a:ext>
            </a:extLst>
          </p:cNvPr>
          <p:cNvSpPr>
            <a:spLocks noChangeArrowheads="1"/>
          </p:cNvSpPr>
          <p:nvPr/>
        </p:nvSpPr>
        <p:spPr bwMode="auto">
          <a:xfrm>
            <a:off x="1692275" y="3213100"/>
            <a:ext cx="1223963" cy="10795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决策过程</a:t>
            </a:r>
          </a:p>
        </p:txBody>
      </p:sp>
      <p:sp>
        <p:nvSpPr>
          <p:cNvPr id="15381" name="Text Box 21">
            <a:extLst>
              <a:ext uri="{FF2B5EF4-FFF2-40B4-BE49-F238E27FC236}">
                <a16:creationId xmlns:a16="http://schemas.microsoft.com/office/drawing/2014/main" id="{1D1784B4-334E-3A4F-3183-A49EEA8FEA51}"/>
              </a:ext>
            </a:extLst>
          </p:cNvPr>
          <p:cNvSpPr txBox="1">
            <a:spLocks noChangeArrowheads="1"/>
          </p:cNvSpPr>
          <p:nvPr/>
        </p:nvSpPr>
        <p:spPr bwMode="auto">
          <a:xfrm>
            <a:off x="3276600" y="1484313"/>
            <a:ext cx="1150938"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没有选择</a:t>
            </a:r>
          </a:p>
        </p:txBody>
      </p:sp>
      <p:sp>
        <p:nvSpPr>
          <p:cNvPr id="15382" name="Line 22">
            <a:extLst>
              <a:ext uri="{FF2B5EF4-FFF2-40B4-BE49-F238E27FC236}">
                <a16:creationId xmlns:a16="http://schemas.microsoft.com/office/drawing/2014/main" id="{9BE0A87C-2A9E-36B3-836A-0F756F9C2C5A}"/>
              </a:ext>
            </a:extLst>
          </p:cNvPr>
          <p:cNvSpPr>
            <a:spLocks noChangeShapeType="1"/>
          </p:cNvSpPr>
          <p:nvPr/>
        </p:nvSpPr>
        <p:spPr bwMode="auto">
          <a:xfrm>
            <a:off x="4572000" y="2852738"/>
            <a:ext cx="0" cy="19446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3" name="Line 23">
            <a:extLst>
              <a:ext uri="{FF2B5EF4-FFF2-40B4-BE49-F238E27FC236}">
                <a16:creationId xmlns:a16="http://schemas.microsoft.com/office/drawing/2014/main" id="{875237D5-EDE5-4FED-744F-2E5DD975BE03}"/>
              </a:ext>
            </a:extLst>
          </p:cNvPr>
          <p:cNvSpPr>
            <a:spLocks noChangeShapeType="1"/>
          </p:cNvSpPr>
          <p:nvPr/>
        </p:nvSpPr>
        <p:spPr bwMode="auto">
          <a:xfrm>
            <a:off x="4572000" y="2852738"/>
            <a:ext cx="2159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4" name="Line 24">
            <a:extLst>
              <a:ext uri="{FF2B5EF4-FFF2-40B4-BE49-F238E27FC236}">
                <a16:creationId xmlns:a16="http://schemas.microsoft.com/office/drawing/2014/main" id="{E83FDCA5-46B3-AFAD-5F99-897F402B1FF5}"/>
              </a:ext>
            </a:extLst>
          </p:cNvPr>
          <p:cNvSpPr>
            <a:spLocks noChangeShapeType="1"/>
          </p:cNvSpPr>
          <p:nvPr/>
        </p:nvSpPr>
        <p:spPr bwMode="auto">
          <a:xfrm>
            <a:off x="4572000" y="4797425"/>
            <a:ext cx="2159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5" name="Line 25">
            <a:extLst>
              <a:ext uri="{FF2B5EF4-FFF2-40B4-BE49-F238E27FC236}">
                <a16:creationId xmlns:a16="http://schemas.microsoft.com/office/drawing/2014/main" id="{739B303D-E55D-F7E1-A32D-F72924F45B7E}"/>
              </a:ext>
            </a:extLst>
          </p:cNvPr>
          <p:cNvSpPr>
            <a:spLocks noChangeShapeType="1"/>
          </p:cNvSpPr>
          <p:nvPr/>
        </p:nvSpPr>
        <p:spPr bwMode="auto">
          <a:xfrm>
            <a:off x="2916238" y="3789363"/>
            <a:ext cx="18716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6" name="Text Box 26">
            <a:extLst>
              <a:ext uri="{FF2B5EF4-FFF2-40B4-BE49-F238E27FC236}">
                <a16:creationId xmlns:a16="http://schemas.microsoft.com/office/drawing/2014/main" id="{A23EDCF6-6E4A-1730-B1CA-F05A3768D221}"/>
              </a:ext>
            </a:extLst>
          </p:cNvPr>
          <p:cNvSpPr txBox="1">
            <a:spLocks noChangeArrowheads="1"/>
          </p:cNvSpPr>
          <p:nvPr/>
        </p:nvSpPr>
        <p:spPr bwMode="auto">
          <a:xfrm>
            <a:off x="3348038" y="3429000"/>
            <a:ext cx="1296987"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必须选择</a:t>
            </a:r>
          </a:p>
        </p:txBody>
      </p:sp>
      <p:sp>
        <p:nvSpPr>
          <p:cNvPr id="15387" name="Text Box 27">
            <a:extLst>
              <a:ext uri="{FF2B5EF4-FFF2-40B4-BE49-F238E27FC236}">
                <a16:creationId xmlns:a16="http://schemas.microsoft.com/office/drawing/2014/main" id="{3C112B64-4E90-E6C0-7CA9-D6752295B716}"/>
              </a:ext>
            </a:extLst>
          </p:cNvPr>
          <p:cNvSpPr txBox="1">
            <a:spLocks noChangeArrowheads="1"/>
          </p:cNvSpPr>
          <p:nvPr/>
        </p:nvSpPr>
        <p:spPr bwMode="auto">
          <a:xfrm>
            <a:off x="5940425" y="1196975"/>
            <a:ext cx="2663825" cy="1190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霍布森决策：如果做一件事看上去只有一种方法，那么这种方法很可能就是错误的。</a:t>
            </a:r>
          </a:p>
        </p:txBody>
      </p:sp>
      <p:sp>
        <p:nvSpPr>
          <p:cNvPr id="15388" name="Text Box 28">
            <a:extLst>
              <a:ext uri="{FF2B5EF4-FFF2-40B4-BE49-F238E27FC236}">
                <a16:creationId xmlns:a16="http://schemas.microsoft.com/office/drawing/2014/main" id="{C2D2C31D-A9AB-587C-842A-83F2F56AAA3D}"/>
              </a:ext>
            </a:extLst>
          </p:cNvPr>
          <p:cNvSpPr txBox="1">
            <a:spLocks noChangeArrowheads="1"/>
          </p:cNvSpPr>
          <p:nvPr/>
        </p:nvSpPr>
        <p:spPr bwMode="auto">
          <a:xfrm>
            <a:off x="5940425" y="2852738"/>
            <a:ext cx="2663825" cy="1739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决策过程应该由多个备择方案。备择方案相互之间必须是相互排斥的，只有这样才有可能进行选择和必须进行选择。</a:t>
            </a:r>
          </a:p>
        </p:txBody>
      </p:sp>
      <p:sp>
        <p:nvSpPr>
          <p:cNvPr id="15389" name="Text Box 29">
            <a:extLst>
              <a:ext uri="{FF2B5EF4-FFF2-40B4-BE49-F238E27FC236}">
                <a16:creationId xmlns:a16="http://schemas.microsoft.com/office/drawing/2014/main" id="{1154AED0-9D5F-3E82-6D89-6F7D3212983B}"/>
              </a:ext>
            </a:extLst>
          </p:cNvPr>
          <p:cNvSpPr txBox="1">
            <a:spLocks noChangeArrowheads="1"/>
          </p:cNvSpPr>
          <p:nvPr/>
        </p:nvSpPr>
        <p:spPr bwMode="auto">
          <a:xfrm>
            <a:off x="3203575" y="3789363"/>
            <a:ext cx="13684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限制因素法</a:t>
            </a:r>
          </a:p>
        </p:txBody>
      </p:sp>
      <p:sp>
        <p:nvSpPr>
          <p:cNvPr id="15390" name="Text Box 30">
            <a:extLst>
              <a:ext uri="{FF2B5EF4-FFF2-40B4-BE49-F238E27FC236}">
                <a16:creationId xmlns:a16="http://schemas.microsoft.com/office/drawing/2014/main" id="{E4413EEC-F26C-1BEC-1175-A0C7A074760F}"/>
              </a:ext>
            </a:extLst>
          </p:cNvPr>
          <p:cNvSpPr txBox="1">
            <a:spLocks noChangeArrowheads="1"/>
          </p:cNvSpPr>
          <p:nvPr/>
        </p:nvSpPr>
        <p:spPr bwMode="auto">
          <a:xfrm>
            <a:off x="179388" y="188913"/>
            <a:ext cx="21605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solidFill>
                  <a:schemeClr val="tx2"/>
                </a:solidFill>
              </a:rPr>
              <a:t>6.1</a:t>
            </a:r>
            <a:r>
              <a:rPr lang="zh-CN" altLang="en-US" sz="1600">
                <a:solidFill>
                  <a:schemeClr val="tx2"/>
                </a:solidFill>
              </a:rPr>
              <a:t>决策的性质与过程</a:t>
            </a:r>
          </a:p>
        </p:txBody>
      </p:sp>
      <p:sp>
        <p:nvSpPr>
          <p:cNvPr id="15391" name="Line 31">
            <a:extLst>
              <a:ext uri="{FF2B5EF4-FFF2-40B4-BE49-F238E27FC236}">
                <a16:creationId xmlns:a16="http://schemas.microsoft.com/office/drawing/2014/main" id="{7749C87E-C49B-295E-5527-C63764B5FEB5}"/>
              </a:ext>
            </a:extLst>
          </p:cNvPr>
          <p:cNvSpPr>
            <a:spLocks noChangeShapeType="1"/>
          </p:cNvSpPr>
          <p:nvPr/>
        </p:nvSpPr>
        <p:spPr bwMode="auto">
          <a:xfrm>
            <a:off x="611188" y="2420938"/>
            <a:ext cx="8137525" cy="0"/>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509503B2-449C-E4B0-32A5-0B1A66F83F3F}"/>
              </a:ext>
            </a:extLst>
          </p:cNvPr>
          <p:cNvSpPr>
            <a:spLocks noGrp="1"/>
          </p:cNvSpPr>
          <p:nvPr>
            <p:ph type="dt" sz="half" idx="10"/>
          </p:nvPr>
        </p:nvSpPr>
        <p:spPr/>
        <p:txBody>
          <a:bodyPr/>
          <a:lstStyle/>
          <a:p>
            <a:r>
              <a:rPr lang="zh-CN" altLang="en-US"/>
              <a:t>版本：2004</a:t>
            </a:r>
            <a:endParaRPr lang="en-US" altLang="zh-CN"/>
          </a:p>
        </p:txBody>
      </p:sp>
      <p:sp>
        <p:nvSpPr>
          <p:cNvPr id="3" name="页脚占位符 4">
            <a:extLst>
              <a:ext uri="{FF2B5EF4-FFF2-40B4-BE49-F238E27FC236}">
                <a16:creationId xmlns:a16="http://schemas.microsoft.com/office/drawing/2014/main" id="{3B75C331-F670-65B8-563C-9EA27E81A8AE}"/>
              </a:ext>
            </a:extLst>
          </p:cNvPr>
          <p:cNvSpPr>
            <a:spLocks noGrp="1"/>
          </p:cNvSpPr>
          <p:nvPr>
            <p:ph type="ftr" sz="quarter" idx="11"/>
          </p:nvPr>
        </p:nvSpPr>
        <p:spPr/>
        <p:txBody>
          <a:bodyPr/>
          <a:lstStyle/>
          <a:p>
            <a:r>
              <a:rPr lang="en-US" altLang="zh-CN"/>
              <a:t>管理学</a:t>
            </a:r>
          </a:p>
        </p:txBody>
      </p:sp>
      <p:sp>
        <p:nvSpPr>
          <p:cNvPr id="4" name="灯片编号占位符 5">
            <a:extLst>
              <a:ext uri="{FF2B5EF4-FFF2-40B4-BE49-F238E27FC236}">
                <a16:creationId xmlns:a16="http://schemas.microsoft.com/office/drawing/2014/main" id="{3AEE5674-5F99-3713-9929-47909E99ED73}"/>
              </a:ext>
            </a:extLst>
          </p:cNvPr>
          <p:cNvSpPr>
            <a:spLocks noGrp="1"/>
          </p:cNvSpPr>
          <p:nvPr>
            <p:ph type="sldNum" sz="quarter" idx="12"/>
          </p:nvPr>
        </p:nvSpPr>
        <p:spPr/>
        <p:txBody>
          <a:bodyPr/>
          <a:lstStyle/>
          <a:p>
            <a:fld id="{C95F9C98-5DA5-4B64-9039-E24BD58A93C2}" type="slidenum">
              <a:rPr lang="en-US" altLang="zh-CN"/>
              <a:pPr/>
              <a:t>7</a:t>
            </a:fld>
            <a:endParaRPr lang="en-US" altLang="zh-CN"/>
          </a:p>
        </p:txBody>
      </p:sp>
      <p:sp>
        <p:nvSpPr>
          <p:cNvPr id="21509" name="Text Box 5">
            <a:extLst>
              <a:ext uri="{FF2B5EF4-FFF2-40B4-BE49-F238E27FC236}">
                <a16:creationId xmlns:a16="http://schemas.microsoft.com/office/drawing/2014/main" id="{7AEC9B28-EC5C-D78F-7C7B-B1DB8BE29FA2}"/>
              </a:ext>
            </a:extLst>
          </p:cNvPr>
          <p:cNvSpPr txBox="1">
            <a:spLocks noChangeArrowheads="1"/>
          </p:cNvSpPr>
          <p:nvPr/>
        </p:nvSpPr>
        <p:spPr bwMode="auto">
          <a:xfrm>
            <a:off x="3059113" y="4652963"/>
            <a:ext cx="3095625"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solidFill>
                  <a:schemeClr val="tx2"/>
                </a:solidFill>
                <a:ea typeface="黑体" panose="02010609060101010101" pitchFamily="49" charset="-122"/>
              </a:rPr>
              <a:t>在诸行动方案中进行抉择</a:t>
            </a:r>
          </a:p>
        </p:txBody>
      </p:sp>
      <p:sp>
        <p:nvSpPr>
          <p:cNvPr id="21510" name="Rectangle 6">
            <a:extLst>
              <a:ext uri="{FF2B5EF4-FFF2-40B4-BE49-F238E27FC236}">
                <a16:creationId xmlns:a16="http://schemas.microsoft.com/office/drawing/2014/main" id="{F41B071B-DE37-4D6C-92E7-AA124B8E4C98}"/>
              </a:ext>
            </a:extLst>
          </p:cNvPr>
          <p:cNvSpPr>
            <a:spLocks noChangeArrowheads="1"/>
          </p:cNvSpPr>
          <p:nvPr/>
        </p:nvSpPr>
        <p:spPr bwMode="auto">
          <a:xfrm>
            <a:off x="1116013" y="2133600"/>
            <a:ext cx="1944687" cy="936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备择方案</a:t>
            </a:r>
          </a:p>
        </p:txBody>
      </p:sp>
      <p:sp>
        <p:nvSpPr>
          <p:cNvPr id="21511" name="Rectangle 7">
            <a:extLst>
              <a:ext uri="{FF2B5EF4-FFF2-40B4-BE49-F238E27FC236}">
                <a16:creationId xmlns:a16="http://schemas.microsoft.com/office/drawing/2014/main" id="{1F3718BA-BB67-1775-4D16-988464266416}"/>
              </a:ext>
            </a:extLst>
          </p:cNvPr>
          <p:cNvSpPr>
            <a:spLocks noChangeArrowheads="1"/>
          </p:cNvSpPr>
          <p:nvPr/>
        </p:nvSpPr>
        <p:spPr bwMode="auto">
          <a:xfrm>
            <a:off x="6227763" y="2133600"/>
            <a:ext cx="1944687" cy="936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决策目标</a:t>
            </a:r>
          </a:p>
        </p:txBody>
      </p:sp>
      <p:sp>
        <p:nvSpPr>
          <p:cNvPr id="21512" name="Oval 8">
            <a:extLst>
              <a:ext uri="{FF2B5EF4-FFF2-40B4-BE49-F238E27FC236}">
                <a16:creationId xmlns:a16="http://schemas.microsoft.com/office/drawing/2014/main" id="{0164300F-6DC7-1E74-2AA2-DA668BCD06D5}"/>
              </a:ext>
            </a:extLst>
          </p:cNvPr>
          <p:cNvSpPr>
            <a:spLocks noChangeArrowheads="1"/>
          </p:cNvSpPr>
          <p:nvPr/>
        </p:nvSpPr>
        <p:spPr bwMode="auto">
          <a:xfrm>
            <a:off x="3995738" y="2133600"/>
            <a:ext cx="1152525" cy="936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比较</a:t>
            </a:r>
          </a:p>
        </p:txBody>
      </p:sp>
      <p:sp>
        <p:nvSpPr>
          <p:cNvPr id="21514" name="Line 10">
            <a:extLst>
              <a:ext uri="{FF2B5EF4-FFF2-40B4-BE49-F238E27FC236}">
                <a16:creationId xmlns:a16="http://schemas.microsoft.com/office/drawing/2014/main" id="{1C0392E0-115D-87A6-4B51-EC2512F53119}"/>
              </a:ext>
            </a:extLst>
          </p:cNvPr>
          <p:cNvSpPr>
            <a:spLocks noChangeShapeType="1"/>
          </p:cNvSpPr>
          <p:nvPr/>
        </p:nvSpPr>
        <p:spPr bwMode="auto">
          <a:xfrm>
            <a:off x="3059113" y="2565400"/>
            <a:ext cx="9366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15" name="Line 11">
            <a:extLst>
              <a:ext uri="{FF2B5EF4-FFF2-40B4-BE49-F238E27FC236}">
                <a16:creationId xmlns:a16="http://schemas.microsoft.com/office/drawing/2014/main" id="{F9EA96FC-D41C-058F-1295-8181F6E56769}"/>
              </a:ext>
            </a:extLst>
          </p:cNvPr>
          <p:cNvSpPr>
            <a:spLocks noChangeShapeType="1"/>
          </p:cNvSpPr>
          <p:nvPr/>
        </p:nvSpPr>
        <p:spPr bwMode="auto">
          <a:xfrm flipH="1">
            <a:off x="5148263" y="2565400"/>
            <a:ext cx="10795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16" name="Text Box 12">
            <a:extLst>
              <a:ext uri="{FF2B5EF4-FFF2-40B4-BE49-F238E27FC236}">
                <a16:creationId xmlns:a16="http://schemas.microsoft.com/office/drawing/2014/main" id="{871AC82C-FFF0-2F21-B121-DDDC2F29CE33}"/>
              </a:ext>
            </a:extLst>
          </p:cNvPr>
          <p:cNvSpPr txBox="1">
            <a:spLocks noChangeArrowheads="1"/>
          </p:cNvSpPr>
          <p:nvPr/>
        </p:nvSpPr>
        <p:spPr bwMode="auto">
          <a:xfrm>
            <a:off x="2555875" y="3357563"/>
            <a:ext cx="1944688" cy="9699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10000"/>
              </a:spcBef>
            </a:pPr>
            <a:r>
              <a:rPr lang="en-US" altLang="zh-CN"/>
              <a:t>1.</a:t>
            </a:r>
            <a:r>
              <a:rPr lang="zh-CN" altLang="en-US"/>
              <a:t>结果的大小</a:t>
            </a:r>
          </a:p>
          <a:p>
            <a:pPr>
              <a:spcBef>
                <a:spcPct val="10000"/>
              </a:spcBef>
            </a:pPr>
            <a:r>
              <a:rPr lang="en-US" altLang="zh-CN"/>
              <a:t>2.</a:t>
            </a:r>
            <a:r>
              <a:rPr lang="zh-CN" altLang="en-US"/>
              <a:t>结果的可能性</a:t>
            </a:r>
          </a:p>
          <a:p>
            <a:pPr>
              <a:spcBef>
                <a:spcPct val="10000"/>
              </a:spcBef>
            </a:pPr>
            <a:r>
              <a:rPr lang="en-US" altLang="zh-CN"/>
              <a:t>3.</a:t>
            </a:r>
            <a:r>
              <a:rPr lang="zh-CN" altLang="en-US"/>
              <a:t>结果的重要性</a:t>
            </a:r>
          </a:p>
        </p:txBody>
      </p:sp>
      <p:sp>
        <p:nvSpPr>
          <p:cNvPr id="21517" name="Text Box 13">
            <a:extLst>
              <a:ext uri="{FF2B5EF4-FFF2-40B4-BE49-F238E27FC236}">
                <a16:creationId xmlns:a16="http://schemas.microsoft.com/office/drawing/2014/main" id="{B2083D8D-18C2-CB1A-EE13-5C9208AF0669}"/>
              </a:ext>
            </a:extLst>
          </p:cNvPr>
          <p:cNvSpPr txBox="1">
            <a:spLocks noChangeArrowheads="1"/>
          </p:cNvSpPr>
          <p:nvPr/>
        </p:nvSpPr>
        <p:spPr bwMode="auto">
          <a:xfrm>
            <a:off x="5148263" y="3357563"/>
            <a:ext cx="1728787" cy="9699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10000"/>
              </a:spcBef>
            </a:pPr>
            <a:r>
              <a:rPr lang="en-US" altLang="zh-CN"/>
              <a:t>1.</a:t>
            </a:r>
            <a:r>
              <a:rPr lang="zh-CN" altLang="en-US"/>
              <a:t>经验</a:t>
            </a:r>
          </a:p>
          <a:p>
            <a:pPr>
              <a:spcBef>
                <a:spcPct val="10000"/>
              </a:spcBef>
            </a:pPr>
            <a:r>
              <a:rPr lang="en-US" altLang="zh-CN"/>
              <a:t>2.</a:t>
            </a:r>
            <a:r>
              <a:rPr lang="zh-CN" altLang="en-US"/>
              <a:t>实验</a:t>
            </a:r>
          </a:p>
          <a:p>
            <a:pPr>
              <a:spcBef>
                <a:spcPct val="10000"/>
              </a:spcBef>
            </a:pPr>
            <a:r>
              <a:rPr lang="en-US" altLang="zh-CN"/>
              <a:t>3.</a:t>
            </a:r>
            <a:r>
              <a:rPr lang="zh-CN" altLang="en-US"/>
              <a:t>研究与分析</a:t>
            </a:r>
          </a:p>
        </p:txBody>
      </p:sp>
      <p:sp>
        <p:nvSpPr>
          <p:cNvPr id="21518" name="Line 14">
            <a:extLst>
              <a:ext uri="{FF2B5EF4-FFF2-40B4-BE49-F238E27FC236}">
                <a16:creationId xmlns:a16="http://schemas.microsoft.com/office/drawing/2014/main" id="{23B2978C-18D5-C70D-4A4B-7140C992659B}"/>
              </a:ext>
            </a:extLst>
          </p:cNvPr>
          <p:cNvSpPr>
            <a:spLocks noChangeShapeType="1"/>
          </p:cNvSpPr>
          <p:nvPr/>
        </p:nvSpPr>
        <p:spPr bwMode="auto">
          <a:xfrm flipH="1">
            <a:off x="4140200" y="3068638"/>
            <a:ext cx="431800" cy="3603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19" name="Line 15">
            <a:extLst>
              <a:ext uri="{FF2B5EF4-FFF2-40B4-BE49-F238E27FC236}">
                <a16:creationId xmlns:a16="http://schemas.microsoft.com/office/drawing/2014/main" id="{B57F26C3-DF30-2070-0E6F-5427655C609C}"/>
              </a:ext>
            </a:extLst>
          </p:cNvPr>
          <p:cNvSpPr>
            <a:spLocks noChangeShapeType="1"/>
          </p:cNvSpPr>
          <p:nvPr/>
        </p:nvSpPr>
        <p:spPr bwMode="auto">
          <a:xfrm>
            <a:off x="4572000" y="3068638"/>
            <a:ext cx="360363" cy="3603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22" name="Text Box 18">
            <a:extLst>
              <a:ext uri="{FF2B5EF4-FFF2-40B4-BE49-F238E27FC236}">
                <a16:creationId xmlns:a16="http://schemas.microsoft.com/office/drawing/2014/main" id="{C2E6F486-08DC-4E56-DFEA-10034410F426}"/>
              </a:ext>
            </a:extLst>
          </p:cNvPr>
          <p:cNvSpPr txBox="1">
            <a:spLocks noChangeArrowheads="1"/>
          </p:cNvSpPr>
          <p:nvPr/>
        </p:nvSpPr>
        <p:spPr bwMode="auto">
          <a:xfrm>
            <a:off x="179388" y="188913"/>
            <a:ext cx="21605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solidFill>
                  <a:schemeClr val="tx2"/>
                </a:solidFill>
              </a:rPr>
              <a:t>6.1</a:t>
            </a:r>
            <a:r>
              <a:rPr lang="zh-CN" altLang="en-US" sz="1600">
                <a:solidFill>
                  <a:schemeClr val="tx2"/>
                </a:solidFill>
              </a:rPr>
              <a:t>决策的性质与过程</a:t>
            </a:r>
          </a:p>
        </p:txBody>
      </p:sp>
      <p:sp>
        <p:nvSpPr>
          <p:cNvPr id="21523" name="Text Box 19">
            <a:extLst>
              <a:ext uri="{FF2B5EF4-FFF2-40B4-BE49-F238E27FC236}">
                <a16:creationId xmlns:a16="http://schemas.microsoft.com/office/drawing/2014/main" id="{51E9B3CE-D92C-F3B1-E958-E1A05A3B4128}"/>
              </a:ext>
            </a:extLst>
          </p:cNvPr>
          <p:cNvSpPr txBox="1">
            <a:spLocks noChangeArrowheads="1"/>
          </p:cNvSpPr>
          <p:nvPr/>
        </p:nvSpPr>
        <p:spPr bwMode="auto">
          <a:xfrm>
            <a:off x="4859338" y="333375"/>
            <a:ext cx="3887787" cy="641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a:t>1.</a:t>
            </a:r>
            <a:r>
              <a:rPr lang="zh-CN" altLang="en-US"/>
              <a:t>是否有助于达到决策的目标？</a:t>
            </a:r>
          </a:p>
          <a:p>
            <a:r>
              <a:rPr lang="en-US" altLang="zh-CN"/>
              <a:t>2.</a:t>
            </a:r>
            <a:r>
              <a:rPr lang="zh-CN" altLang="en-US"/>
              <a:t>是否体现了是大限度的经济效益？</a:t>
            </a:r>
          </a:p>
        </p:txBody>
      </p:sp>
      <p:sp>
        <p:nvSpPr>
          <p:cNvPr id="21524" name="Oval 20">
            <a:extLst>
              <a:ext uri="{FF2B5EF4-FFF2-40B4-BE49-F238E27FC236}">
                <a16:creationId xmlns:a16="http://schemas.microsoft.com/office/drawing/2014/main" id="{E511C153-D902-D6EA-A966-B7866113F3D3}"/>
              </a:ext>
            </a:extLst>
          </p:cNvPr>
          <p:cNvSpPr>
            <a:spLocks noChangeArrowheads="1"/>
          </p:cNvSpPr>
          <p:nvPr/>
        </p:nvSpPr>
        <p:spPr bwMode="auto">
          <a:xfrm>
            <a:off x="3995738" y="981075"/>
            <a:ext cx="1152525" cy="936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选择</a:t>
            </a:r>
          </a:p>
        </p:txBody>
      </p:sp>
      <p:sp>
        <p:nvSpPr>
          <p:cNvPr id="21525" name="Line 21">
            <a:extLst>
              <a:ext uri="{FF2B5EF4-FFF2-40B4-BE49-F238E27FC236}">
                <a16:creationId xmlns:a16="http://schemas.microsoft.com/office/drawing/2014/main" id="{4A6EC5E1-51A4-F18F-8B59-DDE07CBDD11A}"/>
              </a:ext>
            </a:extLst>
          </p:cNvPr>
          <p:cNvSpPr>
            <a:spLocks noChangeShapeType="1"/>
          </p:cNvSpPr>
          <p:nvPr/>
        </p:nvSpPr>
        <p:spPr bwMode="auto">
          <a:xfrm flipV="1">
            <a:off x="4572000" y="1916113"/>
            <a:ext cx="0" cy="21748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0CB2F658-3667-535B-86EF-86FAE97A610E}"/>
              </a:ext>
            </a:extLst>
          </p:cNvPr>
          <p:cNvSpPr>
            <a:spLocks noGrp="1"/>
          </p:cNvSpPr>
          <p:nvPr>
            <p:ph type="dt" sz="half" idx="10"/>
          </p:nvPr>
        </p:nvSpPr>
        <p:spPr/>
        <p:txBody>
          <a:bodyPr/>
          <a:lstStyle/>
          <a:p>
            <a:r>
              <a:rPr lang="zh-CN" altLang="en-US"/>
              <a:t>版本：2004</a:t>
            </a:r>
            <a:endParaRPr lang="en-US" altLang="zh-CN"/>
          </a:p>
        </p:txBody>
      </p:sp>
      <p:sp>
        <p:nvSpPr>
          <p:cNvPr id="3" name="页脚占位符 4">
            <a:extLst>
              <a:ext uri="{FF2B5EF4-FFF2-40B4-BE49-F238E27FC236}">
                <a16:creationId xmlns:a16="http://schemas.microsoft.com/office/drawing/2014/main" id="{5110D183-EADC-8722-6E43-1F36EA666900}"/>
              </a:ext>
            </a:extLst>
          </p:cNvPr>
          <p:cNvSpPr>
            <a:spLocks noGrp="1"/>
          </p:cNvSpPr>
          <p:nvPr>
            <p:ph type="ftr" sz="quarter" idx="11"/>
          </p:nvPr>
        </p:nvSpPr>
        <p:spPr/>
        <p:txBody>
          <a:bodyPr/>
          <a:lstStyle/>
          <a:p>
            <a:r>
              <a:rPr lang="en-US" altLang="zh-CN"/>
              <a:t>管理学</a:t>
            </a:r>
          </a:p>
        </p:txBody>
      </p:sp>
      <p:sp>
        <p:nvSpPr>
          <p:cNvPr id="4" name="灯片编号占位符 5">
            <a:extLst>
              <a:ext uri="{FF2B5EF4-FFF2-40B4-BE49-F238E27FC236}">
                <a16:creationId xmlns:a16="http://schemas.microsoft.com/office/drawing/2014/main" id="{5DCDE561-ED3E-3CB6-D33F-1281661ED221}"/>
              </a:ext>
            </a:extLst>
          </p:cNvPr>
          <p:cNvSpPr>
            <a:spLocks noGrp="1"/>
          </p:cNvSpPr>
          <p:nvPr>
            <p:ph type="sldNum" sz="quarter" idx="12"/>
          </p:nvPr>
        </p:nvSpPr>
        <p:spPr/>
        <p:txBody>
          <a:bodyPr/>
          <a:lstStyle/>
          <a:p>
            <a:fld id="{E200CEAA-795D-4A8D-A77D-C059E2E85431}" type="slidenum">
              <a:rPr lang="en-US" altLang="zh-CN"/>
              <a:pPr/>
              <a:t>8</a:t>
            </a:fld>
            <a:endParaRPr lang="en-US" altLang="zh-CN"/>
          </a:p>
        </p:txBody>
      </p:sp>
      <p:sp>
        <p:nvSpPr>
          <p:cNvPr id="13317" name="Text Box 5">
            <a:extLst>
              <a:ext uri="{FF2B5EF4-FFF2-40B4-BE49-F238E27FC236}">
                <a16:creationId xmlns:a16="http://schemas.microsoft.com/office/drawing/2014/main" id="{624910AF-8703-E342-E941-4BFC48A309FF}"/>
              </a:ext>
            </a:extLst>
          </p:cNvPr>
          <p:cNvSpPr txBox="1">
            <a:spLocks noChangeArrowheads="1"/>
          </p:cNvSpPr>
          <p:nvPr/>
        </p:nvSpPr>
        <p:spPr bwMode="auto">
          <a:xfrm>
            <a:off x="2771775" y="4797425"/>
            <a:ext cx="3097213"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solidFill>
                  <a:schemeClr val="tx2"/>
                </a:solidFill>
                <a:ea typeface="黑体" panose="02010609060101010101" pitchFamily="49" charset="-122"/>
              </a:rPr>
              <a:t>对已进行的抉择进行评价</a:t>
            </a:r>
          </a:p>
        </p:txBody>
      </p:sp>
      <p:sp>
        <p:nvSpPr>
          <p:cNvPr id="13318" name="Rectangle 6">
            <a:extLst>
              <a:ext uri="{FF2B5EF4-FFF2-40B4-BE49-F238E27FC236}">
                <a16:creationId xmlns:a16="http://schemas.microsoft.com/office/drawing/2014/main" id="{EB1979C2-4AF9-8B27-77AE-6FA31BBF9595}"/>
              </a:ext>
            </a:extLst>
          </p:cNvPr>
          <p:cNvSpPr>
            <a:spLocks noChangeArrowheads="1"/>
          </p:cNvSpPr>
          <p:nvPr/>
        </p:nvSpPr>
        <p:spPr bwMode="auto">
          <a:xfrm>
            <a:off x="1187450" y="2133600"/>
            <a:ext cx="1584325" cy="93503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决策</a:t>
            </a:r>
          </a:p>
        </p:txBody>
      </p:sp>
      <p:sp>
        <p:nvSpPr>
          <p:cNvPr id="13319" name="Rectangle 7">
            <a:extLst>
              <a:ext uri="{FF2B5EF4-FFF2-40B4-BE49-F238E27FC236}">
                <a16:creationId xmlns:a16="http://schemas.microsoft.com/office/drawing/2014/main" id="{7393FC4B-355A-33C6-050E-3B5D6D7E2C51}"/>
              </a:ext>
            </a:extLst>
          </p:cNvPr>
          <p:cNvSpPr>
            <a:spLocks noChangeArrowheads="1"/>
          </p:cNvSpPr>
          <p:nvPr/>
        </p:nvSpPr>
        <p:spPr bwMode="auto">
          <a:xfrm>
            <a:off x="3851275" y="2133600"/>
            <a:ext cx="1584325" cy="93503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实施</a:t>
            </a:r>
          </a:p>
        </p:txBody>
      </p:sp>
      <p:sp>
        <p:nvSpPr>
          <p:cNvPr id="13320" name="Rectangle 8">
            <a:extLst>
              <a:ext uri="{FF2B5EF4-FFF2-40B4-BE49-F238E27FC236}">
                <a16:creationId xmlns:a16="http://schemas.microsoft.com/office/drawing/2014/main" id="{D7BC1446-F1A8-C05E-CE8C-CF5CA39BE95C}"/>
              </a:ext>
            </a:extLst>
          </p:cNvPr>
          <p:cNvSpPr>
            <a:spLocks noChangeArrowheads="1"/>
          </p:cNvSpPr>
          <p:nvPr/>
        </p:nvSpPr>
        <p:spPr bwMode="auto">
          <a:xfrm>
            <a:off x="6372225" y="2133600"/>
            <a:ext cx="1584325" cy="93503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结果</a:t>
            </a:r>
          </a:p>
        </p:txBody>
      </p:sp>
      <p:sp>
        <p:nvSpPr>
          <p:cNvPr id="13322" name="Line 10">
            <a:extLst>
              <a:ext uri="{FF2B5EF4-FFF2-40B4-BE49-F238E27FC236}">
                <a16:creationId xmlns:a16="http://schemas.microsoft.com/office/drawing/2014/main" id="{9D72BB0E-F26D-0E13-3B35-5431F111E324}"/>
              </a:ext>
            </a:extLst>
          </p:cNvPr>
          <p:cNvSpPr>
            <a:spLocks noChangeShapeType="1"/>
          </p:cNvSpPr>
          <p:nvPr/>
        </p:nvSpPr>
        <p:spPr bwMode="auto">
          <a:xfrm>
            <a:off x="2771775" y="2565400"/>
            <a:ext cx="10795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23" name="Line 11">
            <a:extLst>
              <a:ext uri="{FF2B5EF4-FFF2-40B4-BE49-F238E27FC236}">
                <a16:creationId xmlns:a16="http://schemas.microsoft.com/office/drawing/2014/main" id="{38F34312-E35A-B60A-7C3C-540BEFBA2225}"/>
              </a:ext>
            </a:extLst>
          </p:cNvPr>
          <p:cNvSpPr>
            <a:spLocks noChangeShapeType="1"/>
          </p:cNvSpPr>
          <p:nvPr/>
        </p:nvSpPr>
        <p:spPr bwMode="auto">
          <a:xfrm>
            <a:off x="5435600" y="2565400"/>
            <a:ext cx="9366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24" name="Line 12">
            <a:extLst>
              <a:ext uri="{FF2B5EF4-FFF2-40B4-BE49-F238E27FC236}">
                <a16:creationId xmlns:a16="http://schemas.microsoft.com/office/drawing/2014/main" id="{AB086596-A18E-726C-6307-79674EF55C10}"/>
              </a:ext>
            </a:extLst>
          </p:cNvPr>
          <p:cNvSpPr>
            <a:spLocks noChangeShapeType="1"/>
          </p:cNvSpPr>
          <p:nvPr/>
        </p:nvSpPr>
        <p:spPr bwMode="auto">
          <a:xfrm>
            <a:off x="4643438" y="3068638"/>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25" name="Line 13">
            <a:extLst>
              <a:ext uri="{FF2B5EF4-FFF2-40B4-BE49-F238E27FC236}">
                <a16:creationId xmlns:a16="http://schemas.microsoft.com/office/drawing/2014/main" id="{098B5D4B-3DA1-D0DB-34A9-21DCCA75FF0E}"/>
              </a:ext>
            </a:extLst>
          </p:cNvPr>
          <p:cNvSpPr>
            <a:spLocks noChangeShapeType="1"/>
          </p:cNvSpPr>
          <p:nvPr/>
        </p:nvSpPr>
        <p:spPr bwMode="auto">
          <a:xfrm flipH="1">
            <a:off x="2124075" y="3573463"/>
            <a:ext cx="25193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26" name="Line 14">
            <a:extLst>
              <a:ext uri="{FF2B5EF4-FFF2-40B4-BE49-F238E27FC236}">
                <a16:creationId xmlns:a16="http://schemas.microsoft.com/office/drawing/2014/main" id="{36FAE3A0-CD82-E912-E3C1-17FE1599C60E}"/>
              </a:ext>
            </a:extLst>
          </p:cNvPr>
          <p:cNvSpPr>
            <a:spLocks noChangeShapeType="1"/>
          </p:cNvSpPr>
          <p:nvPr/>
        </p:nvSpPr>
        <p:spPr bwMode="auto">
          <a:xfrm flipV="1">
            <a:off x="2124075" y="3068638"/>
            <a:ext cx="0" cy="5048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27" name="Text Box 15">
            <a:extLst>
              <a:ext uri="{FF2B5EF4-FFF2-40B4-BE49-F238E27FC236}">
                <a16:creationId xmlns:a16="http://schemas.microsoft.com/office/drawing/2014/main" id="{A3E4F902-0DB8-2FA2-2AD4-8BB291266DC2}"/>
              </a:ext>
            </a:extLst>
          </p:cNvPr>
          <p:cNvSpPr txBox="1">
            <a:spLocks noChangeArrowheads="1"/>
          </p:cNvSpPr>
          <p:nvPr/>
        </p:nvSpPr>
        <p:spPr bwMode="auto">
          <a:xfrm>
            <a:off x="2339975" y="3573463"/>
            <a:ext cx="20161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需要做出调整吗？</a:t>
            </a:r>
          </a:p>
        </p:txBody>
      </p:sp>
      <p:sp>
        <p:nvSpPr>
          <p:cNvPr id="13328" name="Line 16">
            <a:extLst>
              <a:ext uri="{FF2B5EF4-FFF2-40B4-BE49-F238E27FC236}">
                <a16:creationId xmlns:a16="http://schemas.microsoft.com/office/drawing/2014/main" id="{CDE08180-B22B-91D5-34D3-92C9073A3E0A}"/>
              </a:ext>
            </a:extLst>
          </p:cNvPr>
          <p:cNvSpPr>
            <a:spLocks noChangeShapeType="1"/>
          </p:cNvSpPr>
          <p:nvPr/>
        </p:nvSpPr>
        <p:spPr bwMode="auto">
          <a:xfrm>
            <a:off x="7164388" y="3068638"/>
            <a:ext cx="0" cy="11525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29" name="Line 17">
            <a:extLst>
              <a:ext uri="{FF2B5EF4-FFF2-40B4-BE49-F238E27FC236}">
                <a16:creationId xmlns:a16="http://schemas.microsoft.com/office/drawing/2014/main" id="{F1A0C8B5-9B18-1AF5-C32A-60B527F05CEB}"/>
              </a:ext>
            </a:extLst>
          </p:cNvPr>
          <p:cNvSpPr>
            <a:spLocks noChangeShapeType="1"/>
          </p:cNvSpPr>
          <p:nvPr/>
        </p:nvSpPr>
        <p:spPr bwMode="auto">
          <a:xfrm flipH="1">
            <a:off x="1619250" y="4221163"/>
            <a:ext cx="55451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30" name="Line 18">
            <a:extLst>
              <a:ext uri="{FF2B5EF4-FFF2-40B4-BE49-F238E27FC236}">
                <a16:creationId xmlns:a16="http://schemas.microsoft.com/office/drawing/2014/main" id="{7BC10735-5189-1E10-535A-46B5C1A81DF6}"/>
              </a:ext>
            </a:extLst>
          </p:cNvPr>
          <p:cNvSpPr>
            <a:spLocks noChangeShapeType="1"/>
          </p:cNvSpPr>
          <p:nvPr/>
        </p:nvSpPr>
        <p:spPr bwMode="auto">
          <a:xfrm flipV="1">
            <a:off x="1619250" y="3068638"/>
            <a:ext cx="0" cy="11525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31" name="Text Box 19">
            <a:extLst>
              <a:ext uri="{FF2B5EF4-FFF2-40B4-BE49-F238E27FC236}">
                <a16:creationId xmlns:a16="http://schemas.microsoft.com/office/drawing/2014/main" id="{D8FC2EA9-F229-E282-A51E-52F02015C8AE}"/>
              </a:ext>
            </a:extLst>
          </p:cNvPr>
          <p:cNvSpPr txBox="1">
            <a:spLocks noChangeArrowheads="1"/>
          </p:cNvSpPr>
          <p:nvPr/>
        </p:nvSpPr>
        <p:spPr bwMode="auto">
          <a:xfrm>
            <a:off x="3635375" y="4292600"/>
            <a:ext cx="18002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目标实现了吗？</a:t>
            </a:r>
          </a:p>
        </p:txBody>
      </p:sp>
      <p:sp>
        <p:nvSpPr>
          <p:cNvPr id="13333" name="Text Box 21">
            <a:extLst>
              <a:ext uri="{FF2B5EF4-FFF2-40B4-BE49-F238E27FC236}">
                <a16:creationId xmlns:a16="http://schemas.microsoft.com/office/drawing/2014/main" id="{331E13CF-6724-7ED5-DD45-FFFFAC279164}"/>
              </a:ext>
            </a:extLst>
          </p:cNvPr>
          <p:cNvSpPr txBox="1">
            <a:spLocks noChangeArrowheads="1"/>
          </p:cNvSpPr>
          <p:nvPr/>
        </p:nvSpPr>
        <p:spPr bwMode="auto">
          <a:xfrm>
            <a:off x="179388" y="188913"/>
            <a:ext cx="21605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solidFill>
                  <a:schemeClr val="tx2"/>
                </a:solidFill>
              </a:rPr>
              <a:t>6.1</a:t>
            </a:r>
            <a:r>
              <a:rPr lang="zh-CN" altLang="en-US" sz="1600">
                <a:solidFill>
                  <a:schemeClr val="tx2"/>
                </a:solidFill>
              </a:rPr>
              <a:t>决策的性质与过程</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835081E-7252-65D3-038D-589854494309}"/>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E78C6893-81DB-BFDA-0503-F194048F2E28}"/>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7BD93FB7-69B6-35B7-8148-C799CAD9A524}"/>
              </a:ext>
            </a:extLst>
          </p:cNvPr>
          <p:cNvSpPr>
            <a:spLocks noGrp="1"/>
          </p:cNvSpPr>
          <p:nvPr>
            <p:ph type="sldNum" sz="quarter" idx="12"/>
          </p:nvPr>
        </p:nvSpPr>
        <p:spPr/>
        <p:txBody>
          <a:bodyPr/>
          <a:lstStyle/>
          <a:p>
            <a:fld id="{3D529075-ABCA-4B09-A680-D81E8FC6468E}" type="slidenum">
              <a:rPr lang="en-US" altLang="zh-CN"/>
              <a:pPr/>
              <a:t>9</a:t>
            </a:fld>
            <a:endParaRPr lang="en-US" altLang="zh-CN"/>
          </a:p>
        </p:txBody>
      </p:sp>
      <p:sp>
        <p:nvSpPr>
          <p:cNvPr id="81923" name="Oval 3">
            <a:extLst>
              <a:ext uri="{FF2B5EF4-FFF2-40B4-BE49-F238E27FC236}">
                <a16:creationId xmlns:a16="http://schemas.microsoft.com/office/drawing/2014/main" id="{3AEB1D42-8A26-A5B4-18DE-C841BBF7F79B}"/>
              </a:ext>
            </a:extLst>
          </p:cNvPr>
          <p:cNvSpPr>
            <a:spLocks noChangeArrowheads="1"/>
          </p:cNvSpPr>
          <p:nvPr/>
        </p:nvSpPr>
        <p:spPr bwMode="auto">
          <a:xfrm>
            <a:off x="4067175" y="2205038"/>
            <a:ext cx="1223963" cy="936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瞎指挥</a:t>
            </a:r>
          </a:p>
        </p:txBody>
      </p:sp>
      <p:sp>
        <p:nvSpPr>
          <p:cNvPr id="81924" name="Oval 4">
            <a:extLst>
              <a:ext uri="{FF2B5EF4-FFF2-40B4-BE49-F238E27FC236}">
                <a16:creationId xmlns:a16="http://schemas.microsoft.com/office/drawing/2014/main" id="{5F321B96-F05B-AFE5-6337-806FE5C09265}"/>
              </a:ext>
            </a:extLst>
          </p:cNvPr>
          <p:cNvSpPr>
            <a:spLocks noChangeArrowheads="1"/>
          </p:cNvSpPr>
          <p:nvPr/>
        </p:nvSpPr>
        <p:spPr bwMode="auto">
          <a:xfrm>
            <a:off x="5940425" y="1268413"/>
            <a:ext cx="1223963" cy="936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直觉</a:t>
            </a:r>
          </a:p>
        </p:txBody>
      </p:sp>
      <p:sp>
        <p:nvSpPr>
          <p:cNvPr id="81925" name="Oval 5">
            <a:extLst>
              <a:ext uri="{FF2B5EF4-FFF2-40B4-BE49-F238E27FC236}">
                <a16:creationId xmlns:a16="http://schemas.microsoft.com/office/drawing/2014/main" id="{F709389D-7B3F-10C2-831D-F786BB0BC18E}"/>
              </a:ext>
            </a:extLst>
          </p:cNvPr>
          <p:cNvSpPr>
            <a:spLocks noChangeArrowheads="1"/>
          </p:cNvSpPr>
          <p:nvPr/>
        </p:nvSpPr>
        <p:spPr bwMode="auto">
          <a:xfrm>
            <a:off x="2268538" y="1268413"/>
            <a:ext cx="1223962" cy="936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判断</a:t>
            </a:r>
          </a:p>
        </p:txBody>
      </p:sp>
      <p:sp>
        <p:nvSpPr>
          <p:cNvPr id="81926" name="Oval 6">
            <a:extLst>
              <a:ext uri="{FF2B5EF4-FFF2-40B4-BE49-F238E27FC236}">
                <a16:creationId xmlns:a16="http://schemas.microsoft.com/office/drawing/2014/main" id="{4F5C9A0C-A009-617F-2356-A5DB74A47401}"/>
              </a:ext>
            </a:extLst>
          </p:cNvPr>
          <p:cNvSpPr>
            <a:spLocks noChangeArrowheads="1"/>
          </p:cNvSpPr>
          <p:nvPr/>
        </p:nvSpPr>
        <p:spPr bwMode="auto">
          <a:xfrm>
            <a:off x="4067175" y="188913"/>
            <a:ext cx="1223963" cy="936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分析</a:t>
            </a:r>
          </a:p>
        </p:txBody>
      </p:sp>
      <p:sp>
        <p:nvSpPr>
          <p:cNvPr id="81927" name="Rectangle 7">
            <a:extLst>
              <a:ext uri="{FF2B5EF4-FFF2-40B4-BE49-F238E27FC236}">
                <a16:creationId xmlns:a16="http://schemas.microsoft.com/office/drawing/2014/main" id="{45915FB7-3063-D241-66DD-B51A5FBFFE64}"/>
              </a:ext>
            </a:extLst>
          </p:cNvPr>
          <p:cNvSpPr>
            <a:spLocks noChangeArrowheads="1"/>
          </p:cNvSpPr>
          <p:nvPr/>
        </p:nvSpPr>
        <p:spPr bwMode="auto">
          <a:xfrm>
            <a:off x="4140200" y="1341438"/>
            <a:ext cx="1225550" cy="6477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决策</a:t>
            </a:r>
          </a:p>
          <a:p>
            <a:pPr algn="ctr"/>
            <a:r>
              <a:rPr lang="zh-CN" altLang="en-US"/>
              <a:t>的基础</a:t>
            </a:r>
          </a:p>
        </p:txBody>
      </p:sp>
      <p:sp>
        <p:nvSpPr>
          <p:cNvPr id="81928" name="Line 8">
            <a:extLst>
              <a:ext uri="{FF2B5EF4-FFF2-40B4-BE49-F238E27FC236}">
                <a16:creationId xmlns:a16="http://schemas.microsoft.com/office/drawing/2014/main" id="{B953E242-8799-4CD7-4B81-3EA98DA08F85}"/>
              </a:ext>
            </a:extLst>
          </p:cNvPr>
          <p:cNvSpPr>
            <a:spLocks noChangeShapeType="1"/>
          </p:cNvSpPr>
          <p:nvPr/>
        </p:nvSpPr>
        <p:spPr bwMode="auto">
          <a:xfrm flipV="1">
            <a:off x="3492500" y="1700213"/>
            <a:ext cx="6477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29" name="Line 9">
            <a:extLst>
              <a:ext uri="{FF2B5EF4-FFF2-40B4-BE49-F238E27FC236}">
                <a16:creationId xmlns:a16="http://schemas.microsoft.com/office/drawing/2014/main" id="{506A2441-C47F-8682-9EF1-27FA243BAAE0}"/>
              </a:ext>
            </a:extLst>
          </p:cNvPr>
          <p:cNvSpPr>
            <a:spLocks noChangeShapeType="1"/>
          </p:cNvSpPr>
          <p:nvPr/>
        </p:nvSpPr>
        <p:spPr bwMode="auto">
          <a:xfrm flipH="1" flipV="1">
            <a:off x="5364163" y="1700213"/>
            <a:ext cx="57626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30" name="Line 10">
            <a:extLst>
              <a:ext uri="{FF2B5EF4-FFF2-40B4-BE49-F238E27FC236}">
                <a16:creationId xmlns:a16="http://schemas.microsoft.com/office/drawing/2014/main" id="{6261B8F2-8CC3-1EE4-BE96-634C7F4A9017}"/>
              </a:ext>
            </a:extLst>
          </p:cNvPr>
          <p:cNvSpPr>
            <a:spLocks noChangeShapeType="1"/>
          </p:cNvSpPr>
          <p:nvPr/>
        </p:nvSpPr>
        <p:spPr bwMode="auto">
          <a:xfrm flipH="1">
            <a:off x="4716463" y="1125538"/>
            <a:ext cx="0"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31" name="Line 11">
            <a:extLst>
              <a:ext uri="{FF2B5EF4-FFF2-40B4-BE49-F238E27FC236}">
                <a16:creationId xmlns:a16="http://schemas.microsoft.com/office/drawing/2014/main" id="{416FA23E-CC4D-AC54-27AD-88433CF96271}"/>
              </a:ext>
            </a:extLst>
          </p:cNvPr>
          <p:cNvSpPr>
            <a:spLocks noChangeShapeType="1"/>
          </p:cNvSpPr>
          <p:nvPr/>
        </p:nvSpPr>
        <p:spPr bwMode="auto">
          <a:xfrm flipH="1" flipV="1">
            <a:off x="4716463" y="1989138"/>
            <a:ext cx="0"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33" name="Text Box 13">
            <a:extLst>
              <a:ext uri="{FF2B5EF4-FFF2-40B4-BE49-F238E27FC236}">
                <a16:creationId xmlns:a16="http://schemas.microsoft.com/office/drawing/2014/main" id="{3CAD7C76-CA40-C240-F04C-5857875EE4BD}"/>
              </a:ext>
            </a:extLst>
          </p:cNvPr>
          <p:cNvSpPr txBox="1">
            <a:spLocks noChangeArrowheads="1"/>
          </p:cNvSpPr>
          <p:nvPr/>
        </p:nvSpPr>
        <p:spPr bwMode="auto">
          <a:xfrm>
            <a:off x="179388" y="188913"/>
            <a:ext cx="21605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solidFill>
                  <a:schemeClr val="tx2"/>
                </a:solidFill>
              </a:rPr>
              <a:t>6.1</a:t>
            </a:r>
            <a:r>
              <a:rPr lang="zh-CN" altLang="en-US" sz="1600">
                <a:solidFill>
                  <a:schemeClr val="tx2"/>
                </a:solidFill>
              </a:rPr>
              <a:t>决策的性质与过程</a:t>
            </a:r>
          </a:p>
        </p:txBody>
      </p:sp>
      <p:graphicFrame>
        <p:nvGraphicFramePr>
          <p:cNvPr id="81936" name="Group 16">
            <a:extLst>
              <a:ext uri="{FF2B5EF4-FFF2-40B4-BE49-F238E27FC236}">
                <a16:creationId xmlns:a16="http://schemas.microsoft.com/office/drawing/2014/main" id="{B6220855-C774-5060-DA47-4A4D9E669EEE}"/>
              </a:ext>
            </a:extLst>
          </p:cNvPr>
          <p:cNvGraphicFramePr>
            <a:graphicFrameLocks noGrp="1"/>
          </p:cNvGraphicFramePr>
          <p:nvPr/>
        </p:nvGraphicFramePr>
        <p:xfrm>
          <a:off x="539750" y="3284538"/>
          <a:ext cx="8229600" cy="1111250"/>
        </p:xfrm>
        <a:graphic>
          <a:graphicData uri="http://schemas.openxmlformats.org/drawingml/2006/table">
            <a:tbl>
              <a:tblPr/>
              <a:tblGrid>
                <a:gridCol w="1019175">
                  <a:extLst>
                    <a:ext uri="{9D8B030D-6E8A-4147-A177-3AD203B41FA5}">
                      <a16:colId xmlns:a16="http://schemas.microsoft.com/office/drawing/2014/main" val="3097778534"/>
                    </a:ext>
                  </a:extLst>
                </a:gridCol>
                <a:gridCol w="7210425">
                  <a:extLst>
                    <a:ext uri="{9D8B030D-6E8A-4147-A177-3AD203B41FA5}">
                      <a16:colId xmlns:a16="http://schemas.microsoft.com/office/drawing/2014/main" val="546271714"/>
                    </a:ext>
                  </a:extLst>
                </a:gridCol>
              </a:tblGrid>
              <a:tr h="3587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直觉</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指一个人根据其过去的经验和对掌握信息的第一感觉而做出正确决策的能力。</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53521873"/>
                  </a:ext>
                </a:extLst>
              </a:tr>
              <a:tr h="36036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判断</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指一个人根据其评价特定情况中可得信息的方式而形成正确观点的能力</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85846491"/>
                  </a:ext>
                </a:extLst>
              </a:tr>
              <a:tr h="39211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瞎指挥</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毫无任何根据的做出决定。</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11762398"/>
                  </a:ext>
                </a:extLst>
              </a:tr>
            </a:tbl>
          </a:graphicData>
        </a:graphic>
      </p:graphicFrame>
      <p:sp>
        <p:nvSpPr>
          <p:cNvPr id="81952" name="Text Box 32">
            <a:extLst>
              <a:ext uri="{FF2B5EF4-FFF2-40B4-BE49-F238E27FC236}">
                <a16:creationId xmlns:a16="http://schemas.microsoft.com/office/drawing/2014/main" id="{E6A5FE59-C5DF-5DD6-14B7-7714E880DED1}"/>
              </a:ext>
            </a:extLst>
          </p:cNvPr>
          <p:cNvSpPr txBox="1">
            <a:spLocks noChangeArrowheads="1"/>
          </p:cNvSpPr>
          <p:nvPr/>
        </p:nvSpPr>
        <p:spPr bwMode="auto">
          <a:xfrm>
            <a:off x="539750" y="4581525"/>
            <a:ext cx="453707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分析式思维与直觉式思维是相互补充的。</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2">
            <a:extLst>
              <a:ext uri="{FF2B5EF4-FFF2-40B4-BE49-F238E27FC236}">
                <a16:creationId xmlns:a16="http://schemas.microsoft.com/office/drawing/2014/main" id="{9AD18ED0-7957-71B5-638B-3B335655BF9D}"/>
              </a:ext>
            </a:extLst>
          </p:cNvPr>
          <p:cNvSpPr>
            <a:spLocks noGrp="1"/>
          </p:cNvSpPr>
          <p:nvPr>
            <p:ph type="dt" sz="half" idx="10"/>
          </p:nvPr>
        </p:nvSpPr>
        <p:spPr/>
        <p:txBody>
          <a:bodyPr/>
          <a:lstStyle/>
          <a:p>
            <a:r>
              <a:rPr lang="zh-CN" altLang="en-US"/>
              <a:t>版本：2004</a:t>
            </a:r>
            <a:endParaRPr lang="en-US" altLang="zh-CN"/>
          </a:p>
        </p:txBody>
      </p:sp>
      <p:sp>
        <p:nvSpPr>
          <p:cNvPr id="3" name="页脚占位符 3">
            <a:extLst>
              <a:ext uri="{FF2B5EF4-FFF2-40B4-BE49-F238E27FC236}">
                <a16:creationId xmlns:a16="http://schemas.microsoft.com/office/drawing/2014/main" id="{DF75DAEC-46BF-0258-8B67-787E9DE816F9}"/>
              </a:ext>
            </a:extLst>
          </p:cNvPr>
          <p:cNvSpPr>
            <a:spLocks noGrp="1"/>
          </p:cNvSpPr>
          <p:nvPr>
            <p:ph type="ftr" sz="quarter" idx="11"/>
          </p:nvPr>
        </p:nvSpPr>
        <p:spPr/>
        <p:txBody>
          <a:bodyPr/>
          <a:lstStyle/>
          <a:p>
            <a:r>
              <a:rPr lang="en-US" altLang="zh-CN"/>
              <a:t>管理学</a:t>
            </a:r>
          </a:p>
        </p:txBody>
      </p:sp>
      <p:sp>
        <p:nvSpPr>
          <p:cNvPr id="4" name="灯片编号占位符 4">
            <a:extLst>
              <a:ext uri="{FF2B5EF4-FFF2-40B4-BE49-F238E27FC236}">
                <a16:creationId xmlns:a16="http://schemas.microsoft.com/office/drawing/2014/main" id="{B4A95ACF-7D69-D3FD-82EC-EFAF4CE444C5}"/>
              </a:ext>
            </a:extLst>
          </p:cNvPr>
          <p:cNvSpPr>
            <a:spLocks noGrp="1"/>
          </p:cNvSpPr>
          <p:nvPr>
            <p:ph type="sldNum" sz="quarter" idx="12"/>
          </p:nvPr>
        </p:nvSpPr>
        <p:spPr/>
        <p:txBody>
          <a:bodyPr/>
          <a:lstStyle/>
          <a:p>
            <a:fld id="{71E2F74B-8765-463A-AEBD-D44FBDAAE186}" type="slidenum">
              <a:rPr lang="en-US" altLang="zh-CN"/>
              <a:pPr/>
              <a:t>10</a:t>
            </a:fld>
            <a:endParaRPr lang="en-US" altLang="zh-CN"/>
          </a:p>
        </p:txBody>
      </p:sp>
      <p:sp>
        <p:nvSpPr>
          <p:cNvPr id="37894" name="Text Box 6">
            <a:extLst>
              <a:ext uri="{FF2B5EF4-FFF2-40B4-BE49-F238E27FC236}">
                <a16:creationId xmlns:a16="http://schemas.microsoft.com/office/drawing/2014/main" id="{2B237FEF-0EDE-B26D-FA65-55C3698229F0}"/>
              </a:ext>
            </a:extLst>
          </p:cNvPr>
          <p:cNvSpPr txBox="1">
            <a:spLocks noChangeArrowheads="1"/>
          </p:cNvSpPr>
          <p:nvPr/>
        </p:nvSpPr>
        <p:spPr bwMode="auto">
          <a:xfrm>
            <a:off x="179388" y="188913"/>
            <a:ext cx="2736850"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solidFill>
                  <a:schemeClr val="tx2"/>
                </a:solidFill>
              </a:rPr>
              <a:t>6.2</a:t>
            </a:r>
            <a:r>
              <a:rPr lang="zh-CN" altLang="en-US" sz="1600">
                <a:solidFill>
                  <a:schemeClr val="tx2"/>
                </a:solidFill>
              </a:rPr>
              <a:t>理性决策与有限理性决策</a:t>
            </a:r>
          </a:p>
        </p:txBody>
      </p:sp>
      <p:graphicFrame>
        <p:nvGraphicFramePr>
          <p:cNvPr id="37918" name="Group 30">
            <a:extLst>
              <a:ext uri="{FF2B5EF4-FFF2-40B4-BE49-F238E27FC236}">
                <a16:creationId xmlns:a16="http://schemas.microsoft.com/office/drawing/2014/main" id="{30D7B466-17CA-3788-27A1-4C972AD788B8}"/>
              </a:ext>
            </a:extLst>
          </p:cNvPr>
          <p:cNvGraphicFramePr>
            <a:graphicFrameLocks noGrp="1"/>
          </p:cNvGraphicFramePr>
          <p:nvPr>
            <p:ph/>
          </p:nvPr>
        </p:nvGraphicFramePr>
        <p:xfrm>
          <a:off x="457200" y="1412875"/>
          <a:ext cx="8229600" cy="3995738"/>
        </p:xfrm>
        <a:graphic>
          <a:graphicData uri="http://schemas.openxmlformats.org/drawingml/2006/table">
            <a:tbl>
              <a:tblPr/>
              <a:tblGrid>
                <a:gridCol w="4114800">
                  <a:extLst>
                    <a:ext uri="{9D8B030D-6E8A-4147-A177-3AD203B41FA5}">
                      <a16:colId xmlns:a16="http://schemas.microsoft.com/office/drawing/2014/main" val="1183701578"/>
                    </a:ext>
                  </a:extLst>
                </a:gridCol>
                <a:gridCol w="4114800">
                  <a:extLst>
                    <a:ext uri="{9D8B030D-6E8A-4147-A177-3AD203B41FA5}">
                      <a16:colId xmlns:a16="http://schemas.microsoft.com/office/drawing/2014/main" val="2382794333"/>
                    </a:ext>
                  </a:extLst>
                </a:gridCol>
              </a:tblGrid>
              <a:tr h="4318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理性决策理论</a:t>
                      </a: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假设</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有限理性决策理论假设</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76453769"/>
                  </a:ext>
                </a:extLst>
              </a:tr>
              <a:tr h="235585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1.</a:t>
                      </a: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决策者有现成的办法获得与决策情况有关的所有方面的信息；</a:t>
                      </a:r>
                    </a:p>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2.</a:t>
                      </a: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决策者在识别和诊断问题时能够处理和记忆所有有关的信息；</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3.</a:t>
                      </a: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决策者能够识别所有可行的解决问题的方案和评估每个备选方案的结果；</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4.</a:t>
                      </a: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多重目标可以用单一的、简单地数学方程式表示；</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5.</a:t>
                      </a: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作为一个理性人，决策者总是选择能够产生最大利润的备选方案；</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6.</a:t>
                      </a: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所有的决策者都用相同的方式处理信息并做出相同的决策。</a:t>
                      </a:r>
                    </a:p>
                    <a:p>
                      <a:pPr marL="0" marR="0" lvl="0" indent="0" algn="just" defTabSz="914400" rtl="0" eaLnBrk="1" fontAlgn="base" latinLnBrk="0" hangingPunct="1">
                        <a:lnSpc>
                          <a:spcPct val="100000"/>
                        </a:lnSpc>
                        <a:spcBef>
                          <a:spcPct val="20000"/>
                        </a:spcBef>
                        <a:spcAft>
                          <a:spcPct val="0"/>
                        </a:spcAft>
                        <a:buClrTx/>
                        <a:buSzTx/>
                        <a:buFontTx/>
                        <a:buNone/>
                        <a:tabLst/>
                      </a:pPr>
                      <a:endPar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决策者在决策过程中的行为并非完全理性，只是部分理性，是有限理性。</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信息不充分。原因 ：模糊信息；时间限制与信息成本；风险与不确定性。</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满意原则。决策者并不是追求最大的价值，而是只要求能够满意就行了。</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14166972"/>
                  </a:ext>
                </a:extLst>
              </a:tr>
            </a:tbl>
          </a:graphicData>
        </a:graphic>
      </p:graphicFrame>
      <p:sp>
        <p:nvSpPr>
          <p:cNvPr id="37919" name="Text Box 31">
            <a:extLst>
              <a:ext uri="{FF2B5EF4-FFF2-40B4-BE49-F238E27FC236}">
                <a16:creationId xmlns:a16="http://schemas.microsoft.com/office/drawing/2014/main" id="{AC0A1E84-526E-C837-824A-584689A7E22D}"/>
              </a:ext>
            </a:extLst>
          </p:cNvPr>
          <p:cNvSpPr txBox="1">
            <a:spLocks noChangeArrowheads="1"/>
          </p:cNvSpPr>
          <p:nvPr/>
        </p:nvSpPr>
        <p:spPr bwMode="auto">
          <a:xfrm>
            <a:off x="2411413" y="908050"/>
            <a:ext cx="4968875"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solidFill>
                  <a:schemeClr val="tx2"/>
                </a:solidFill>
                <a:ea typeface="黑体" panose="02010609060101010101" pitchFamily="49" charset="-122"/>
              </a:rPr>
              <a:t>理性决策理论与有限理性决策理论的假设</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2A4D97E-66FF-AACE-CF9A-33AD869C849E}"/>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43034F3C-2CA2-83CE-63C4-52B030204146}"/>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1F108085-45E3-636B-348C-41036958C6B8}"/>
              </a:ext>
            </a:extLst>
          </p:cNvPr>
          <p:cNvSpPr>
            <a:spLocks noGrp="1"/>
          </p:cNvSpPr>
          <p:nvPr>
            <p:ph type="sldNum" sz="quarter" idx="12"/>
          </p:nvPr>
        </p:nvSpPr>
        <p:spPr/>
        <p:txBody>
          <a:bodyPr/>
          <a:lstStyle/>
          <a:p>
            <a:fld id="{0CA55A47-F8D8-4B44-BA38-EEB25E7D5BA5}" type="slidenum">
              <a:rPr lang="en-US" altLang="zh-CN"/>
              <a:pPr/>
              <a:t>11</a:t>
            </a:fld>
            <a:endParaRPr lang="en-US" altLang="zh-CN"/>
          </a:p>
        </p:txBody>
      </p:sp>
      <p:sp>
        <p:nvSpPr>
          <p:cNvPr id="84995" name="Oval 3">
            <a:extLst>
              <a:ext uri="{FF2B5EF4-FFF2-40B4-BE49-F238E27FC236}">
                <a16:creationId xmlns:a16="http://schemas.microsoft.com/office/drawing/2014/main" id="{00CE7C48-C953-05D8-6E2A-1DF984F44D48}"/>
              </a:ext>
            </a:extLst>
          </p:cNvPr>
          <p:cNvSpPr>
            <a:spLocks noChangeArrowheads="1"/>
          </p:cNvSpPr>
          <p:nvPr/>
        </p:nvSpPr>
        <p:spPr bwMode="auto">
          <a:xfrm>
            <a:off x="3995738" y="1773238"/>
            <a:ext cx="1152525" cy="11430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信息</a:t>
            </a:r>
          </a:p>
          <a:p>
            <a:pPr algn="ctr"/>
            <a:r>
              <a:rPr lang="zh-CN" altLang="en-US"/>
              <a:t>不充分</a:t>
            </a:r>
          </a:p>
        </p:txBody>
      </p:sp>
      <p:sp>
        <p:nvSpPr>
          <p:cNvPr id="84996" name="Rectangle 4">
            <a:extLst>
              <a:ext uri="{FF2B5EF4-FFF2-40B4-BE49-F238E27FC236}">
                <a16:creationId xmlns:a16="http://schemas.microsoft.com/office/drawing/2014/main" id="{E60E9A5E-E875-3038-DD9B-EE609632B32E}"/>
              </a:ext>
            </a:extLst>
          </p:cNvPr>
          <p:cNvSpPr>
            <a:spLocks noChangeArrowheads="1"/>
          </p:cNvSpPr>
          <p:nvPr/>
        </p:nvSpPr>
        <p:spPr bwMode="auto">
          <a:xfrm>
            <a:off x="6084888" y="1773238"/>
            <a:ext cx="2160587" cy="914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模糊信息</a:t>
            </a:r>
          </a:p>
        </p:txBody>
      </p:sp>
      <p:sp>
        <p:nvSpPr>
          <p:cNvPr id="84997" name="Rectangle 5">
            <a:extLst>
              <a:ext uri="{FF2B5EF4-FFF2-40B4-BE49-F238E27FC236}">
                <a16:creationId xmlns:a16="http://schemas.microsoft.com/office/drawing/2014/main" id="{105ED5C7-BF07-BD15-545A-9F18301F438A}"/>
              </a:ext>
            </a:extLst>
          </p:cNvPr>
          <p:cNvSpPr>
            <a:spLocks noChangeArrowheads="1"/>
          </p:cNvSpPr>
          <p:nvPr/>
        </p:nvSpPr>
        <p:spPr bwMode="auto">
          <a:xfrm>
            <a:off x="3505200" y="3657600"/>
            <a:ext cx="2160588" cy="914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时间限制与信息成本</a:t>
            </a:r>
          </a:p>
        </p:txBody>
      </p:sp>
      <p:sp>
        <p:nvSpPr>
          <p:cNvPr id="84998" name="Rectangle 6">
            <a:extLst>
              <a:ext uri="{FF2B5EF4-FFF2-40B4-BE49-F238E27FC236}">
                <a16:creationId xmlns:a16="http://schemas.microsoft.com/office/drawing/2014/main" id="{D0ADC651-7097-1BC8-2743-544C86AD2A75}"/>
              </a:ext>
            </a:extLst>
          </p:cNvPr>
          <p:cNvSpPr>
            <a:spLocks noChangeArrowheads="1"/>
          </p:cNvSpPr>
          <p:nvPr/>
        </p:nvSpPr>
        <p:spPr bwMode="auto">
          <a:xfrm>
            <a:off x="900113" y="1773238"/>
            <a:ext cx="2160587" cy="914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风险与不确定性</a:t>
            </a:r>
          </a:p>
        </p:txBody>
      </p:sp>
      <p:sp>
        <p:nvSpPr>
          <p:cNvPr id="84999" name="Line 7">
            <a:extLst>
              <a:ext uri="{FF2B5EF4-FFF2-40B4-BE49-F238E27FC236}">
                <a16:creationId xmlns:a16="http://schemas.microsoft.com/office/drawing/2014/main" id="{09097E5A-AD95-5BFB-9CA2-7DCC015F3037}"/>
              </a:ext>
            </a:extLst>
          </p:cNvPr>
          <p:cNvSpPr>
            <a:spLocks noChangeShapeType="1"/>
          </p:cNvSpPr>
          <p:nvPr/>
        </p:nvSpPr>
        <p:spPr bwMode="auto">
          <a:xfrm>
            <a:off x="3059113" y="2349500"/>
            <a:ext cx="9366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00" name="Line 8">
            <a:extLst>
              <a:ext uri="{FF2B5EF4-FFF2-40B4-BE49-F238E27FC236}">
                <a16:creationId xmlns:a16="http://schemas.microsoft.com/office/drawing/2014/main" id="{78D922A0-F0FA-1546-BD59-1FE4712B1CB8}"/>
              </a:ext>
            </a:extLst>
          </p:cNvPr>
          <p:cNvSpPr>
            <a:spLocks noChangeShapeType="1"/>
          </p:cNvSpPr>
          <p:nvPr/>
        </p:nvSpPr>
        <p:spPr bwMode="auto">
          <a:xfrm flipH="1">
            <a:off x="5148263" y="2349500"/>
            <a:ext cx="9366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01" name="Line 9">
            <a:extLst>
              <a:ext uri="{FF2B5EF4-FFF2-40B4-BE49-F238E27FC236}">
                <a16:creationId xmlns:a16="http://schemas.microsoft.com/office/drawing/2014/main" id="{50FD0F9C-F754-52B7-9604-9A2A03FC85DA}"/>
              </a:ext>
            </a:extLst>
          </p:cNvPr>
          <p:cNvSpPr>
            <a:spLocks noChangeShapeType="1"/>
          </p:cNvSpPr>
          <p:nvPr/>
        </p:nvSpPr>
        <p:spPr bwMode="auto">
          <a:xfrm flipV="1">
            <a:off x="4572000" y="2924175"/>
            <a:ext cx="0" cy="7334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04" name="Text Box 12">
            <a:extLst>
              <a:ext uri="{FF2B5EF4-FFF2-40B4-BE49-F238E27FC236}">
                <a16:creationId xmlns:a16="http://schemas.microsoft.com/office/drawing/2014/main" id="{D87B8B51-ED9A-7431-6C04-DFE97816FAA9}"/>
              </a:ext>
            </a:extLst>
          </p:cNvPr>
          <p:cNvSpPr txBox="1">
            <a:spLocks noChangeArrowheads="1"/>
          </p:cNvSpPr>
          <p:nvPr/>
        </p:nvSpPr>
        <p:spPr bwMode="auto">
          <a:xfrm>
            <a:off x="3708400" y="4724400"/>
            <a:ext cx="1728788"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ea typeface="黑体" panose="02010609060101010101" pitchFamily="49" charset="-122"/>
              </a:rPr>
              <a:t>有限决策理论</a:t>
            </a:r>
          </a:p>
        </p:txBody>
      </p:sp>
      <p:sp>
        <p:nvSpPr>
          <p:cNvPr id="85005" name="Text Box 13">
            <a:extLst>
              <a:ext uri="{FF2B5EF4-FFF2-40B4-BE49-F238E27FC236}">
                <a16:creationId xmlns:a16="http://schemas.microsoft.com/office/drawing/2014/main" id="{AAA9D2AF-2CFA-BF2F-5BCB-5061510A5C7E}"/>
              </a:ext>
            </a:extLst>
          </p:cNvPr>
          <p:cNvSpPr txBox="1">
            <a:spLocks noChangeArrowheads="1"/>
          </p:cNvSpPr>
          <p:nvPr/>
        </p:nvSpPr>
        <p:spPr bwMode="auto">
          <a:xfrm>
            <a:off x="179388" y="188913"/>
            <a:ext cx="2736850"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solidFill>
                  <a:schemeClr val="tx2"/>
                </a:solidFill>
              </a:rPr>
              <a:t>6.2</a:t>
            </a:r>
            <a:r>
              <a:rPr lang="zh-CN" altLang="en-US" sz="1600">
                <a:solidFill>
                  <a:schemeClr val="tx2"/>
                </a:solidFill>
              </a:rPr>
              <a:t>理性决策与有限理性决策</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CDF0097-1C2A-FB47-AC0B-4425057E2897}"/>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6A33B860-A86A-F817-BE2F-67680A979046}"/>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BB3EA1BD-2CB7-BA97-5C3E-EE9B5162CB24}"/>
              </a:ext>
            </a:extLst>
          </p:cNvPr>
          <p:cNvSpPr>
            <a:spLocks noGrp="1"/>
          </p:cNvSpPr>
          <p:nvPr>
            <p:ph type="sldNum" sz="quarter" idx="12"/>
          </p:nvPr>
        </p:nvSpPr>
        <p:spPr/>
        <p:txBody>
          <a:bodyPr/>
          <a:lstStyle/>
          <a:p>
            <a:fld id="{992CF6A5-3EEA-4382-BF2E-C88FB2B002B4}" type="slidenum">
              <a:rPr lang="en-US" altLang="zh-CN"/>
              <a:pPr/>
              <a:t>12</a:t>
            </a:fld>
            <a:endParaRPr lang="en-US" altLang="zh-CN"/>
          </a:p>
        </p:txBody>
      </p:sp>
      <p:sp>
        <p:nvSpPr>
          <p:cNvPr id="86018" name="Rectangle 2">
            <a:extLst>
              <a:ext uri="{FF2B5EF4-FFF2-40B4-BE49-F238E27FC236}">
                <a16:creationId xmlns:a16="http://schemas.microsoft.com/office/drawing/2014/main" id="{EFEA2656-B141-D043-311B-B53D3B0AA388}"/>
              </a:ext>
            </a:extLst>
          </p:cNvPr>
          <p:cNvSpPr>
            <a:spLocks noChangeArrowheads="1"/>
          </p:cNvSpPr>
          <p:nvPr/>
        </p:nvSpPr>
        <p:spPr bwMode="auto">
          <a:xfrm>
            <a:off x="1116013" y="981075"/>
            <a:ext cx="2133600" cy="71913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结构化问题</a:t>
            </a:r>
          </a:p>
        </p:txBody>
      </p:sp>
      <p:sp>
        <p:nvSpPr>
          <p:cNvPr id="86019" name="Rectangle 3">
            <a:extLst>
              <a:ext uri="{FF2B5EF4-FFF2-40B4-BE49-F238E27FC236}">
                <a16:creationId xmlns:a16="http://schemas.microsoft.com/office/drawing/2014/main" id="{E2775DDE-E18C-04C2-34A8-A7396EE5DC7D}"/>
              </a:ext>
            </a:extLst>
          </p:cNvPr>
          <p:cNvSpPr>
            <a:spLocks noChangeArrowheads="1"/>
          </p:cNvSpPr>
          <p:nvPr/>
        </p:nvSpPr>
        <p:spPr bwMode="auto">
          <a:xfrm>
            <a:off x="1116013" y="1989138"/>
            <a:ext cx="2133600" cy="7207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非结构化问题</a:t>
            </a:r>
          </a:p>
        </p:txBody>
      </p:sp>
      <p:sp>
        <p:nvSpPr>
          <p:cNvPr id="86020" name="Oval 4">
            <a:extLst>
              <a:ext uri="{FF2B5EF4-FFF2-40B4-BE49-F238E27FC236}">
                <a16:creationId xmlns:a16="http://schemas.microsoft.com/office/drawing/2014/main" id="{13C66714-2E20-AFC1-C51E-BC74DB9A5DF9}"/>
              </a:ext>
            </a:extLst>
          </p:cNvPr>
          <p:cNvSpPr>
            <a:spLocks noChangeArrowheads="1"/>
          </p:cNvSpPr>
          <p:nvPr/>
        </p:nvSpPr>
        <p:spPr bwMode="auto">
          <a:xfrm>
            <a:off x="5508625" y="981075"/>
            <a:ext cx="2514600" cy="792163"/>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程序化决策</a:t>
            </a:r>
          </a:p>
        </p:txBody>
      </p:sp>
      <p:sp>
        <p:nvSpPr>
          <p:cNvPr id="86021" name="Oval 5">
            <a:extLst>
              <a:ext uri="{FF2B5EF4-FFF2-40B4-BE49-F238E27FC236}">
                <a16:creationId xmlns:a16="http://schemas.microsoft.com/office/drawing/2014/main" id="{62CE09F0-3684-C4C0-ABCA-7654054B8D6B}"/>
              </a:ext>
            </a:extLst>
          </p:cNvPr>
          <p:cNvSpPr>
            <a:spLocks noChangeArrowheads="1"/>
          </p:cNvSpPr>
          <p:nvPr/>
        </p:nvSpPr>
        <p:spPr bwMode="auto">
          <a:xfrm>
            <a:off x="5508625" y="1989138"/>
            <a:ext cx="2514600" cy="79216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非程序化决策</a:t>
            </a:r>
          </a:p>
        </p:txBody>
      </p:sp>
      <p:sp>
        <p:nvSpPr>
          <p:cNvPr id="86022" name="Line 6">
            <a:extLst>
              <a:ext uri="{FF2B5EF4-FFF2-40B4-BE49-F238E27FC236}">
                <a16:creationId xmlns:a16="http://schemas.microsoft.com/office/drawing/2014/main" id="{61A465BB-82AB-FF7D-5478-E10C14B8C5C9}"/>
              </a:ext>
            </a:extLst>
          </p:cNvPr>
          <p:cNvSpPr>
            <a:spLocks noChangeShapeType="1"/>
          </p:cNvSpPr>
          <p:nvPr/>
        </p:nvSpPr>
        <p:spPr bwMode="auto">
          <a:xfrm>
            <a:off x="3276600" y="1341438"/>
            <a:ext cx="2209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23" name="Line 7">
            <a:extLst>
              <a:ext uri="{FF2B5EF4-FFF2-40B4-BE49-F238E27FC236}">
                <a16:creationId xmlns:a16="http://schemas.microsoft.com/office/drawing/2014/main" id="{DA0A4C2E-E7D2-D8C1-EA05-94C6B4C68A04}"/>
              </a:ext>
            </a:extLst>
          </p:cNvPr>
          <p:cNvSpPr>
            <a:spLocks noChangeShapeType="1"/>
          </p:cNvSpPr>
          <p:nvPr/>
        </p:nvSpPr>
        <p:spPr bwMode="auto">
          <a:xfrm>
            <a:off x="3276600" y="2349500"/>
            <a:ext cx="228123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24" name="Text Box 8">
            <a:extLst>
              <a:ext uri="{FF2B5EF4-FFF2-40B4-BE49-F238E27FC236}">
                <a16:creationId xmlns:a16="http://schemas.microsoft.com/office/drawing/2014/main" id="{7AA549C2-F585-1A64-596D-A7534D73561B}"/>
              </a:ext>
            </a:extLst>
          </p:cNvPr>
          <p:cNvSpPr txBox="1">
            <a:spLocks noChangeArrowheads="1"/>
          </p:cNvSpPr>
          <p:nvPr/>
        </p:nvSpPr>
        <p:spPr bwMode="auto">
          <a:xfrm>
            <a:off x="2916238" y="2852738"/>
            <a:ext cx="35290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ea typeface="黑体" panose="02010609060101010101" pitchFamily="49" charset="-122"/>
              </a:rPr>
              <a:t>问题的性质与决策类型的关系</a:t>
            </a:r>
            <a:r>
              <a:rPr lang="zh-CN" altLang="en-US"/>
              <a:t> </a:t>
            </a:r>
          </a:p>
        </p:txBody>
      </p:sp>
      <p:sp>
        <p:nvSpPr>
          <p:cNvPr id="86025" name="Text Box 9">
            <a:extLst>
              <a:ext uri="{FF2B5EF4-FFF2-40B4-BE49-F238E27FC236}">
                <a16:creationId xmlns:a16="http://schemas.microsoft.com/office/drawing/2014/main" id="{FD491424-850B-7192-CC62-F4D7BFD6A383}"/>
              </a:ext>
            </a:extLst>
          </p:cNvPr>
          <p:cNvSpPr txBox="1">
            <a:spLocks noChangeArrowheads="1"/>
          </p:cNvSpPr>
          <p:nvPr/>
        </p:nvSpPr>
        <p:spPr bwMode="auto">
          <a:xfrm>
            <a:off x="179388" y="188913"/>
            <a:ext cx="33131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t>6.3</a:t>
            </a:r>
            <a:r>
              <a:rPr lang="zh-CN" altLang="en-US">
                <a:solidFill>
                  <a:schemeClr val="tx2"/>
                </a:solidFill>
              </a:rPr>
              <a:t>程序化决策与非程序化决策</a:t>
            </a:r>
            <a:endParaRPr lang="zh-CN" altLang="en-US"/>
          </a:p>
        </p:txBody>
      </p:sp>
      <p:graphicFrame>
        <p:nvGraphicFramePr>
          <p:cNvPr id="86046" name="Group 30">
            <a:extLst>
              <a:ext uri="{FF2B5EF4-FFF2-40B4-BE49-F238E27FC236}">
                <a16:creationId xmlns:a16="http://schemas.microsoft.com/office/drawing/2014/main" id="{CAF299E4-5F52-F585-8650-A4AA9180068E}"/>
              </a:ext>
            </a:extLst>
          </p:cNvPr>
          <p:cNvGraphicFramePr>
            <a:graphicFrameLocks noGrp="1"/>
          </p:cNvGraphicFramePr>
          <p:nvPr/>
        </p:nvGraphicFramePr>
        <p:xfrm>
          <a:off x="468313" y="3429000"/>
          <a:ext cx="8229600" cy="2160588"/>
        </p:xfrm>
        <a:graphic>
          <a:graphicData uri="http://schemas.openxmlformats.org/drawingml/2006/table">
            <a:tbl>
              <a:tblPr/>
              <a:tblGrid>
                <a:gridCol w="1593850">
                  <a:extLst>
                    <a:ext uri="{9D8B030D-6E8A-4147-A177-3AD203B41FA5}">
                      <a16:colId xmlns:a16="http://schemas.microsoft.com/office/drawing/2014/main" val="1740640042"/>
                    </a:ext>
                  </a:extLst>
                </a:gridCol>
                <a:gridCol w="3157537">
                  <a:extLst>
                    <a:ext uri="{9D8B030D-6E8A-4147-A177-3AD203B41FA5}">
                      <a16:colId xmlns:a16="http://schemas.microsoft.com/office/drawing/2014/main" val="4168861033"/>
                    </a:ext>
                  </a:extLst>
                </a:gridCol>
                <a:gridCol w="3478213">
                  <a:extLst>
                    <a:ext uri="{9D8B030D-6E8A-4147-A177-3AD203B41FA5}">
                      <a16:colId xmlns:a16="http://schemas.microsoft.com/office/drawing/2014/main" val="2732641009"/>
                    </a:ext>
                  </a:extLst>
                </a:gridCol>
              </a:tblGrid>
              <a:tr h="108108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程序化决策</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指对重复性的日常事件所作的决策，它所要解决的是经营活动中经常出现的问题。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适于应用各种决策模式，因为程序化决策所要解决的问题简单和确定，可以做出准确的预测或确定事件发生的概率。</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52470695"/>
                  </a:ext>
                </a:extLst>
              </a:tr>
              <a:tr h="10795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非程序化决策</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指对非重复性的新颖事件所作的决策，它常用来解决以往没有经验可资依据的新问题。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适于应用判断、直觉和创造力，因为非程序化决策所要解决的问题复杂和不确定，无法做出准确的预测或确定概率。</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83057959"/>
                  </a:ext>
                </a:extLst>
              </a:tr>
            </a:tbl>
          </a:graphicData>
        </a:graphic>
      </p:graphicFrame>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425455F-88F8-2895-C672-E9871287DB65}"/>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FAD4F441-DCD1-EDD4-00E3-52C96FF362DC}"/>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5547AEAB-8376-8579-06B1-0124660E6ACC}"/>
              </a:ext>
            </a:extLst>
          </p:cNvPr>
          <p:cNvSpPr>
            <a:spLocks noGrp="1"/>
          </p:cNvSpPr>
          <p:nvPr>
            <p:ph type="sldNum" sz="quarter" idx="12"/>
          </p:nvPr>
        </p:nvSpPr>
        <p:spPr/>
        <p:txBody>
          <a:bodyPr/>
          <a:lstStyle/>
          <a:p>
            <a:fld id="{F11C2807-354B-4D86-95F2-3707B2DDFDD7}" type="slidenum">
              <a:rPr lang="en-US" altLang="zh-CN"/>
              <a:pPr/>
              <a:t>13</a:t>
            </a:fld>
            <a:endParaRPr lang="en-US" altLang="zh-CN"/>
          </a:p>
        </p:txBody>
      </p:sp>
      <p:sp>
        <p:nvSpPr>
          <p:cNvPr id="87042" name="Rectangle 2">
            <a:extLst>
              <a:ext uri="{FF2B5EF4-FFF2-40B4-BE49-F238E27FC236}">
                <a16:creationId xmlns:a16="http://schemas.microsoft.com/office/drawing/2014/main" id="{086466BF-A90E-416D-A4C9-5D9B0DA2A5EA}"/>
              </a:ext>
            </a:extLst>
          </p:cNvPr>
          <p:cNvSpPr>
            <a:spLocks noChangeArrowheads="1"/>
          </p:cNvSpPr>
          <p:nvPr/>
        </p:nvSpPr>
        <p:spPr bwMode="auto">
          <a:xfrm>
            <a:off x="685800" y="838200"/>
            <a:ext cx="2592388" cy="280193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程序化决策</a:t>
            </a:r>
          </a:p>
        </p:txBody>
      </p:sp>
      <p:sp>
        <p:nvSpPr>
          <p:cNvPr id="87043" name="Rectangle 3">
            <a:extLst>
              <a:ext uri="{FF2B5EF4-FFF2-40B4-BE49-F238E27FC236}">
                <a16:creationId xmlns:a16="http://schemas.microsoft.com/office/drawing/2014/main" id="{2E4EBEEF-ADBD-4718-241C-D880D2A73EC5}"/>
              </a:ext>
            </a:extLst>
          </p:cNvPr>
          <p:cNvSpPr>
            <a:spLocks noChangeArrowheads="1"/>
          </p:cNvSpPr>
          <p:nvPr/>
        </p:nvSpPr>
        <p:spPr bwMode="auto">
          <a:xfrm>
            <a:off x="685800" y="3657600"/>
            <a:ext cx="2592388"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基层管理者</a:t>
            </a:r>
          </a:p>
        </p:txBody>
      </p:sp>
      <p:sp>
        <p:nvSpPr>
          <p:cNvPr id="87044" name="Rectangle 4">
            <a:extLst>
              <a:ext uri="{FF2B5EF4-FFF2-40B4-BE49-F238E27FC236}">
                <a16:creationId xmlns:a16="http://schemas.microsoft.com/office/drawing/2014/main" id="{8C617F31-69E2-D58A-C8AE-9746A3B7DB77}"/>
              </a:ext>
            </a:extLst>
          </p:cNvPr>
          <p:cNvSpPr>
            <a:spLocks noChangeArrowheads="1"/>
          </p:cNvSpPr>
          <p:nvPr/>
        </p:nvSpPr>
        <p:spPr bwMode="auto">
          <a:xfrm>
            <a:off x="3276600" y="3657600"/>
            <a:ext cx="2592388"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中层管理者</a:t>
            </a:r>
          </a:p>
        </p:txBody>
      </p:sp>
      <p:sp>
        <p:nvSpPr>
          <p:cNvPr id="87045" name="Rectangle 5">
            <a:extLst>
              <a:ext uri="{FF2B5EF4-FFF2-40B4-BE49-F238E27FC236}">
                <a16:creationId xmlns:a16="http://schemas.microsoft.com/office/drawing/2014/main" id="{248D6979-5052-3EE0-92E9-9F0A294583E4}"/>
              </a:ext>
            </a:extLst>
          </p:cNvPr>
          <p:cNvSpPr>
            <a:spLocks noChangeArrowheads="1"/>
          </p:cNvSpPr>
          <p:nvPr/>
        </p:nvSpPr>
        <p:spPr bwMode="auto">
          <a:xfrm>
            <a:off x="5867400" y="3657600"/>
            <a:ext cx="2592388"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高层管理者</a:t>
            </a:r>
          </a:p>
        </p:txBody>
      </p:sp>
      <p:sp>
        <p:nvSpPr>
          <p:cNvPr id="87046" name="Rectangle 6">
            <a:extLst>
              <a:ext uri="{FF2B5EF4-FFF2-40B4-BE49-F238E27FC236}">
                <a16:creationId xmlns:a16="http://schemas.microsoft.com/office/drawing/2014/main" id="{C08EB9D1-31B8-7C22-08A5-44B75C3C6816}"/>
              </a:ext>
            </a:extLst>
          </p:cNvPr>
          <p:cNvSpPr>
            <a:spLocks noChangeArrowheads="1"/>
          </p:cNvSpPr>
          <p:nvPr/>
        </p:nvSpPr>
        <p:spPr bwMode="auto">
          <a:xfrm>
            <a:off x="3276600" y="838200"/>
            <a:ext cx="2592388" cy="280193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47" name="Rectangle 7">
            <a:extLst>
              <a:ext uri="{FF2B5EF4-FFF2-40B4-BE49-F238E27FC236}">
                <a16:creationId xmlns:a16="http://schemas.microsoft.com/office/drawing/2014/main" id="{36D6C5F0-8F71-7009-4C3B-8919EDE7A8FE}"/>
              </a:ext>
            </a:extLst>
          </p:cNvPr>
          <p:cNvSpPr>
            <a:spLocks noChangeArrowheads="1"/>
          </p:cNvSpPr>
          <p:nvPr/>
        </p:nvSpPr>
        <p:spPr bwMode="auto">
          <a:xfrm>
            <a:off x="5867400" y="838200"/>
            <a:ext cx="2592388" cy="280193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非程序化决策</a:t>
            </a:r>
          </a:p>
        </p:txBody>
      </p:sp>
      <p:sp>
        <p:nvSpPr>
          <p:cNvPr id="87048" name="Line 8">
            <a:extLst>
              <a:ext uri="{FF2B5EF4-FFF2-40B4-BE49-F238E27FC236}">
                <a16:creationId xmlns:a16="http://schemas.microsoft.com/office/drawing/2014/main" id="{F4BE4E78-9692-F495-6668-9A22B33B2037}"/>
              </a:ext>
            </a:extLst>
          </p:cNvPr>
          <p:cNvSpPr>
            <a:spLocks noChangeShapeType="1"/>
          </p:cNvSpPr>
          <p:nvPr/>
        </p:nvSpPr>
        <p:spPr bwMode="auto">
          <a:xfrm>
            <a:off x="684213" y="908050"/>
            <a:ext cx="7773987" cy="25971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49" name="Text Box 9">
            <a:extLst>
              <a:ext uri="{FF2B5EF4-FFF2-40B4-BE49-F238E27FC236}">
                <a16:creationId xmlns:a16="http://schemas.microsoft.com/office/drawing/2014/main" id="{72EBCAE0-393F-AC87-35CB-6F36A067063A}"/>
              </a:ext>
            </a:extLst>
          </p:cNvPr>
          <p:cNvSpPr txBox="1">
            <a:spLocks noChangeArrowheads="1"/>
          </p:cNvSpPr>
          <p:nvPr/>
        </p:nvSpPr>
        <p:spPr bwMode="auto">
          <a:xfrm>
            <a:off x="685800" y="5105400"/>
            <a:ext cx="77755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t>计划工作的格雷沙姆定律：在高层领导的管理工作当中，程序化活动有取代非程序化活动的倾向。</a:t>
            </a:r>
          </a:p>
        </p:txBody>
      </p:sp>
      <p:sp>
        <p:nvSpPr>
          <p:cNvPr id="87050" name="Text Box 10">
            <a:extLst>
              <a:ext uri="{FF2B5EF4-FFF2-40B4-BE49-F238E27FC236}">
                <a16:creationId xmlns:a16="http://schemas.microsoft.com/office/drawing/2014/main" id="{A5451926-5E15-4E1B-B413-E463FBA679F6}"/>
              </a:ext>
            </a:extLst>
          </p:cNvPr>
          <p:cNvSpPr txBox="1">
            <a:spLocks noChangeArrowheads="1"/>
          </p:cNvSpPr>
          <p:nvPr/>
        </p:nvSpPr>
        <p:spPr bwMode="auto">
          <a:xfrm>
            <a:off x="2916238" y="4508500"/>
            <a:ext cx="33115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ea typeface="黑体" panose="02010609060101010101" pitchFamily="49" charset="-122"/>
              </a:rPr>
              <a:t>管理层次与决策类型的关系</a:t>
            </a:r>
          </a:p>
        </p:txBody>
      </p:sp>
      <p:sp>
        <p:nvSpPr>
          <p:cNvPr id="87052" name="Text Box 12">
            <a:extLst>
              <a:ext uri="{FF2B5EF4-FFF2-40B4-BE49-F238E27FC236}">
                <a16:creationId xmlns:a16="http://schemas.microsoft.com/office/drawing/2014/main" id="{1A55764C-D6A0-1083-F2E8-0D957C531BBD}"/>
              </a:ext>
            </a:extLst>
          </p:cNvPr>
          <p:cNvSpPr txBox="1">
            <a:spLocks noChangeArrowheads="1"/>
          </p:cNvSpPr>
          <p:nvPr/>
        </p:nvSpPr>
        <p:spPr bwMode="auto">
          <a:xfrm>
            <a:off x="179388" y="188913"/>
            <a:ext cx="33131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t>6.3</a:t>
            </a:r>
            <a:r>
              <a:rPr lang="zh-CN" altLang="en-US">
                <a:solidFill>
                  <a:schemeClr val="tx2"/>
                </a:solidFill>
              </a:rPr>
              <a:t>程序化决策与非程序化决策</a:t>
            </a:r>
            <a:endParaRPr lang="zh-CN" alt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2">
            <a:extLst>
              <a:ext uri="{FF2B5EF4-FFF2-40B4-BE49-F238E27FC236}">
                <a16:creationId xmlns:a16="http://schemas.microsoft.com/office/drawing/2014/main" id="{086EDECD-F015-B99B-1C52-404BF615476F}"/>
              </a:ext>
            </a:extLst>
          </p:cNvPr>
          <p:cNvSpPr>
            <a:spLocks noGrp="1"/>
          </p:cNvSpPr>
          <p:nvPr>
            <p:ph type="dt" sz="half" idx="10"/>
          </p:nvPr>
        </p:nvSpPr>
        <p:spPr/>
        <p:txBody>
          <a:bodyPr/>
          <a:lstStyle/>
          <a:p>
            <a:r>
              <a:rPr lang="zh-CN" altLang="en-US"/>
              <a:t>版本：2004</a:t>
            </a:r>
            <a:endParaRPr lang="en-US" altLang="zh-CN"/>
          </a:p>
        </p:txBody>
      </p:sp>
      <p:sp>
        <p:nvSpPr>
          <p:cNvPr id="3" name="页脚占位符 3">
            <a:extLst>
              <a:ext uri="{FF2B5EF4-FFF2-40B4-BE49-F238E27FC236}">
                <a16:creationId xmlns:a16="http://schemas.microsoft.com/office/drawing/2014/main" id="{2FCF7127-1249-EF79-3DDE-50D45446A3AD}"/>
              </a:ext>
            </a:extLst>
          </p:cNvPr>
          <p:cNvSpPr>
            <a:spLocks noGrp="1"/>
          </p:cNvSpPr>
          <p:nvPr>
            <p:ph type="ftr" sz="quarter" idx="11"/>
          </p:nvPr>
        </p:nvSpPr>
        <p:spPr/>
        <p:txBody>
          <a:bodyPr/>
          <a:lstStyle/>
          <a:p>
            <a:r>
              <a:rPr lang="en-US" altLang="zh-CN"/>
              <a:t>管理学</a:t>
            </a:r>
          </a:p>
        </p:txBody>
      </p:sp>
      <p:sp>
        <p:nvSpPr>
          <p:cNvPr id="4" name="灯片编号占位符 4">
            <a:extLst>
              <a:ext uri="{FF2B5EF4-FFF2-40B4-BE49-F238E27FC236}">
                <a16:creationId xmlns:a16="http://schemas.microsoft.com/office/drawing/2014/main" id="{A449C520-1921-C679-2635-FDB2CDABAD82}"/>
              </a:ext>
            </a:extLst>
          </p:cNvPr>
          <p:cNvSpPr>
            <a:spLocks noGrp="1"/>
          </p:cNvSpPr>
          <p:nvPr>
            <p:ph type="sldNum" sz="quarter" idx="12"/>
          </p:nvPr>
        </p:nvSpPr>
        <p:spPr/>
        <p:txBody>
          <a:bodyPr/>
          <a:lstStyle/>
          <a:p>
            <a:fld id="{6ACF9239-482E-4893-90AD-641C6B5819D1}" type="slidenum">
              <a:rPr lang="en-US" altLang="zh-CN"/>
              <a:pPr/>
              <a:t>14</a:t>
            </a:fld>
            <a:endParaRPr lang="en-US" altLang="zh-CN"/>
          </a:p>
        </p:txBody>
      </p:sp>
      <p:sp>
        <p:nvSpPr>
          <p:cNvPr id="41988" name="Text Box 4">
            <a:extLst>
              <a:ext uri="{FF2B5EF4-FFF2-40B4-BE49-F238E27FC236}">
                <a16:creationId xmlns:a16="http://schemas.microsoft.com/office/drawing/2014/main" id="{7517F8D7-2B9A-71F3-74E4-098FFF5073B3}"/>
              </a:ext>
            </a:extLst>
          </p:cNvPr>
          <p:cNvSpPr txBox="1">
            <a:spLocks noChangeArrowheads="1"/>
          </p:cNvSpPr>
          <p:nvPr/>
        </p:nvSpPr>
        <p:spPr bwMode="auto">
          <a:xfrm>
            <a:off x="179388" y="188913"/>
            <a:ext cx="1368425"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6.4</a:t>
            </a:r>
            <a:r>
              <a:rPr lang="zh-CN" altLang="en-US" sz="1600">
                <a:solidFill>
                  <a:schemeClr val="tx2"/>
                </a:solidFill>
              </a:rPr>
              <a:t>决策条件</a:t>
            </a:r>
          </a:p>
        </p:txBody>
      </p:sp>
      <p:sp>
        <p:nvSpPr>
          <p:cNvPr id="41990" name="Text Box 6">
            <a:extLst>
              <a:ext uri="{FF2B5EF4-FFF2-40B4-BE49-F238E27FC236}">
                <a16:creationId xmlns:a16="http://schemas.microsoft.com/office/drawing/2014/main" id="{C4A5641F-ED82-53B7-CC90-0ED31C3A363C}"/>
              </a:ext>
            </a:extLst>
          </p:cNvPr>
          <p:cNvSpPr txBox="1">
            <a:spLocks noChangeArrowheads="1"/>
          </p:cNvSpPr>
          <p:nvPr/>
        </p:nvSpPr>
        <p:spPr bwMode="auto">
          <a:xfrm>
            <a:off x="3851275" y="981075"/>
            <a:ext cx="15113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solidFill>
                  <a:schemeClr val="tx2"/>
                </a:solidFill>
                <a:ea typeface="黑体" panose="02010609060101010101" pitchFamily="49" charset="-122"/>
              </a:rPr>
              <a:t>决策的环境</a:t>
            </a:r>
          </a:p>
        </p:txBody>
      </p:sp>
      <p:graphicFrame>
        <p:nvGraphicFramePr>
          <p:cNvPr id="42037" name="Group 53">
            <a:extLst>
              <a:ext uri="{FF2B5EF4-FFF2-40B4-BE49-F238E27FC236}">
                <a16:creationId xmlns:a16="http://schemas.microsoft.com/office/drawing/2014/main" id="{0F1DDDFC-4C7C-511A-EAE4-B102A691C961}"/>
              </a:ext>
            </a:extLst>
          </p:cNvPr>
          <p:cNvGraphicFramePr>
            <a:graphicFrameLocks noGrp="1"/>
          </p:cNvGraphicFramePr>
          <p:nvPr>
            <p:ph/>
          </p:nvPr>
        </p:nvGraphicFramePr>
        <p:xfrm>
          <a:off x="468313" y="1484313"/>
          <a:ext cx="8229600" cy="3213100"/>
        </p:xfrm>
        <a:graphic>
          <a:graphicData uri="http://schemas.openxmlformats.org/drawingml/2006/table">
            <a:tbl>
              <a:tblPr/>
              <a:tblGrid>
                <a:gridCol w="1377950">
                  <a:extLst>
                    <a:ext uri="{9D8B030D-6E8A-4147-A177-3AD203B41FA5}">
                      <a16:colId xmlns:a16="http://schemas.microsoft.com/office/drawing/2014/main" val="1834778023"/>
                    </a:ext>
                  </a:extLst>
                </a:gridCol>
                <a:gridCol w="6851650">
                  <a:extLst>
                    <a:ext uri="{9D8B030D-6E8A-4147-A177-3AD203B41FA5}">
                      <a16:colId xmlns:a16="http://schemas.microsoft.com/office/drawing/2014/main" val="2555504459"/>
                    </a:ext>
                  </a:extLst>
                </a:gridCol>
              </a:tblGrid>
              <a:tr h="36036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决策的环境</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决策</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61138842"/>
                  </a:ext>
                </a:extLst>
              </a:tr>
              <a:tr h="3556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确定条件</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决策者掌握完全的信息，可以肯定制定决策时将出现什么情况。</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65083533"/>
                  </a:ext>
                </a:extLst>
              </a:tr>
              <a:tr h="36036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不确定条件</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决策者不掌握任何信息，根本不知道制定决策时将出现什么情况。</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37321929"/>
                  </a:ext>
                </a:extLst>
              </a:tr>
              <a:tr h="27305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风险条件</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决策者掌握部分信息，不能够肯定制定决策时将出现什么情况。</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79155640"/>
                  </a:ext>
                </a:extLst>
              </a:tr>
              <a:tr h="0">
                <a:tc gridSpan="2">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所有的决策都是在至少有某些不确定因素的环境下制定的，其程度从相对确定到相对不确定。因此，制定决策涉及到某些风险因素。</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决策者在处理不确定情况下的决策时，都希望知道在他们选择行动方案时所冒风险的大小和性质。</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确定风险的概率有两种方法，一是主观估计，二是统计分析。每个决策都是以若干重要变量的相互作用为基础的，其中有许多不确定因素。</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887526001"/>
                  </a:ext>
                </a:extLst>
              </a:tr>
            </a:tbl>
          </a:graphicData>
        </a:graphic>
      </p:graphicFrame>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BF3C855-1C3E-7666-3400-A0EFCC42EB6F}"/>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5A73846B-FE40-9D47-5B58-287AC16D3886}"/>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E3FEBA30-5AFE-2C4D-B57F-C3AFCE1D99B3}"/>
              </a:ext>
            </a:extLst>
          </p:cNvPr>
          <p:cNvSpPr>
            <a:spLocks noGrp="1"/>
          </p:cNvSpPr>
          <p:nvPr>
            <p:ph type="sldNum" sz="quarter" idx="12"/>
          </p:nvPr>
        </p:nvSpPr>
        <p:spPr/>
        <p:txBody>
          <a:bodyPr/>
          <a:lstStyle/>
          <a:p>
            <a:fld id="{A2AA5B0C-1A9D-4B77-94B2-068C0253D53B}" type="slidenum">
              <a:rPr lang="en-US" altLang="zh-CN"/>
              <a:pPr/>
              <a:t>15</a:t>
            </a:fld>
            <a:endParaRPr lang="en-US" altLang="zh-CN"/>
          </a:p>
        </p:txBody>
      </p:sp>
      <p:sp>
        <p:nvSpPr>
          <p:cNvPr id="48130" name="Rectangle 2">
            <a:extLst>
              <a:ext uri="{FF2B5EF4-FFF2-40B4-BE49-F238E27FC236}">
                <a16:creationId xmlns:a16="http://schemas.microsoft.com/office/drawing/2014/main" id="{42B2A9E8-BC06-7B86-E69E-3A80C63834D1}"/>
              </a:ext>
            </a:extLst>
          </p:cNvPr>
          <p:cNvSpPr>
            <a:spLocks noChangeArrowheads="1"/>
          </p:cNvSpPr>
          <p:nvPr/>
        </p:nvSpPr>
        <p:spPr bwMode="auto">
          <a:xfrm>
            <a:off x="685800" y="2438400"/>
            <a:ext cx="609600"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1</a:t>
            </a:r>
          </a:p>
        </p:txBody>
      </p:sp>
      <p:sp>
        <p:nvSpPr>
          <p:cNvPr id="48131" name="Oval 3">
            <a:extLst>
              <a:ext uri="{FF2B5EF4-FFF2-40B4-BE49-F238E27FC236}">
                <a16:creationId xmlns:a16="http://schemas.microsoft.com/office/drawing/2014/main" id="{92824E3B-C998-BEEE-482B-B4CC17DF0BE4}"/>
              </a:ext>
            </a:extLst>
          </p:cNvPr>
          <p:cNvSpPr>
            <a:spLocks noChangeArrowheads="1"/>
          </p:cNvSpPr>
          <p:nvPr/>
        </p:nvSpPr>
        <p:spPr bwMode="auto">
          <a:xfrm>
            <a:off x="3429000" y="1295400"/>
            <a:ext cx="533400" cy="5334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2</a:t>
            </a:r>
          </a:p>
        </p:txBody>
      </p:sp>
      <p:sp>
        <p:nvSpPr>
          <p:cNvPr id="48132" name="Oval 4">
            <a:extLst>
              <a:ext uri="{FF2B5EF4-FFF2-40B4-BE49-F238E27FC236}">
                <a16:creationId xmlns:a16="http://schemas.microsoft.com/office/drawing/2014/main" id="{B5AF432B-0EE0-E0FD-451D-AB32848416CD}"/>
              </a:ext>
            </a:extLst>
          </p:cNvPr>
          <p:cNvSpPr>
            <a:spLocks noChangeArrowheads="1"/>
          </p:cNvSpPr>
          <p:nvPr/>
        </p:nvSpPr>
        <p:spPr bwMode="auto">
          <a:xfrm>
            <a:off x="3429000" y="3657600"/>
            <a:ext cx="533400" cy="5334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3</a:t>
            </a:r>
          </a:p>
        </p:txBody>
      </p:sp>
      <p:sp>
        <p:nvSpPr>
          <p:cNvPr id="48136" name="Line 8">
            <a:extLst>
              <a:ext uri="{FF2B5EF4-FFF2-40B4-BE49-F238E27FC236}">
                <a16:creationId xmlns:a16="http://schemas.microsoft.com/office/drawing/2014/main" id="{6404B2E2-5181-C5B7-4D3F-86A15ACE54CD}"/>
              </a:ext>
            </a:extLst>
          </p:cNvPr>
          <p:cNvSpPr>
            <a:spLocks noChangeShapeType="1"/>
          </p:cNvSpPr>
          <p:nvPr/>
        </p:nvSpPr>
        <p:spPr bwMode="auto">
          <a:xfrm>
            <a:off x="3962400" y="1600200"/>
            <a:ext cx="2590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37" name="Line 9">
            <a:extLst>
              <a:ext uri="{FF2B5EF4-FFF2-40B4-BE49-F238E27FC236}">
                <a16:creationId xmlns:a16="http://schemas.microsoft.com/office/drawing/2014/main" id="{020A266E-37AD-6D19-122D-AAC8A7AF87B2}"/>
              </a:ext>
            </a:extLst>
          </p:cNvPr>
          <p:cNvSpPr>
            <a:spLocks noChangeShapeType="1"/>
          </p:cNvSpPr>
          <p:nvPr/>
        </p:nvSpPr>
        <p:spPr bwMode="auto">
          <a:xfrm>
            <a:off x="4343400" y="1066800"/>
            <a:ext cx="2133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38" name="Line 10">
            <a:extLst>
              <a:ext uri="{FF2B5EF4-FFF2-40B4-BE49-F238E27FC236}">
                <a16:creationId xmlns:a16="http://schemas.microsoft.com/office/drawing/2014/main" id="{7418446F-C659-AB7E-BAB9-1D58E27442BC}"/>
              </a:ext>
            </a:extLst>
          </p:cNvPr>
          <p:cNvSpPr>
            <a:spLocks noChangeShapeType="1"/>
          </p:cNvSpPr>
          <p:nvPr/>
        </p:nvSpPr>
        <p:spPr bwMode="auto">
          <a:xfrm>
            <a:off x="4343400" y="2209800"/>
            <a:ext cx="2133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39" name="Line 11">
            <a:extLst>
              <a:ext uri="{FF2B5EF4-FFF2-40B4-BE49-F238E27FC236}">
                <a16:creationId xmlns:a16="http://schemas.microsoft.com/office/drawing/2014/main" id="{D1660C91-EBC9-74D6-80CC-4E1EDFA50C47}"/>
              </a:ext>
            </a:extLst>
          </p:cNvPr>
          <p:cNvSpPr>
            <a:spLocks noChangeShapeType="1"/>
          </p:cNvSpPr>
          <p:nvPr/>
        </p:nvSpPr>
        <p:spPr bwMode="auto">
          <a:xfrm>
            <a:off x="3962400" y="3962400"/>
            <a:ext cx="2514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40" name="Line 12">
            <a:extLst>
              <a:ext uri="{FF2B5EF4-FFF2-40B4-BE49-F238E27FC236}">
                <a16:creationId xmlns:a16="http://schemas.microsoft.com/office/drawing/2014/main" id="{C1AE4D0E-F4A9-6722-1010-9294987A8067}"/>
              </a:ext>
            </a:extLst>
          </p:cNvPr>
          <p:cNvSpPr>
            <a:spLocks noChangeShapeType="1"/>
          </p:cNvSpPr>
          <p:nvPr/>
        </p:nvSpPr>
        <p:spPr bwMode="auto">
          <a:xfrm>
            <a:off x="4419600" y="34290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41" name="Line 13">
            <a:extLst>
              <a:ext uri="{FF2B5EF4-FFF2-40B4-BE49-F238E27FC236}">
                <a16:creationId xmlns:a16="http://schemas.microsoft.com/office/drawing/2014/main" id="{A9A720D8-9E47-F01C-1780-71BB301CAB20}"/>
              </a:ext>
            </a:extLst>
          </p:cNvPr>
          <p:cNvSpPr>
            <a:spLocks noChangeShapeType="1"/>
          </p:cNvSpPr>
          <p:nvPr/>
        </p:nvSpPr>
        <p:spPr bwMode="auto">
          <a:xfrm>
            <a:off x="4495800" y="45720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42" name="Line 14">
            <a:extLst>
              <a:ext uri="{FF2B5EF4-FFF2-40B4-BE49-F238E27FC236}">
                <a16:creationId xmlns:a16="http://schemas.microsoft.com/office/drawing/2014/main" id="{1539209D-FCD5-1A8F-8FD8-4778504FB6F4}"/>
              </a:ext>
            </a:extLst>
          </p:cNvPr>
          <p:cNvSpPr>
            <a:spLocks noChangeShapeType="1"/>
          </p:cNvSpPr>
          <p:nvPr/>
        </p:nvSpPr>
        <p:spPr bwMode="auto">
          <a:xfrm flipH="1">
            <a:off x="3962400" y="1066800"/>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43" name="Line 15">
            <a:extLst>
              <a:ext uri="{FF2B5EF4-FFF2-40B4-BE49-F238E27FC236}">
                <a16:creationId xmlns:a16="http://schemas.microsoft.com/office/drawing/2014/main" id="{AC296503-3315-395A-1FDE-8DC5AA9710DC}"/>
              </a:ext>
            </a:extLst>
          </p:cNvPr>
          <p:cNvSpPr>
            <a:spLocks noChangeShapeType="1"/>
          </p:cNvSpPr>
          <p:nvPr/>
        </p:nvSpPr>
        <p:spPr bwMode="auto">
          <a:xfrm>
            <a:off x="3962400" y="160020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44" name="Line 16">
            <a:extLst>
              <a:ext uri="{FF2B5EF4-FFF2-40B4-BE49-F238E27FC236}">
                <a16:creationId xmlns:a16="http://schemas.microsoft.com/office/drawing/2014/main" id="{0B020318-CD26-ADA8-95B3-743B43FA8B27}"/>
              </a:ext>
            </a:extLst>
          </p:cNvPr>
          <p:cNvSpPr>
            <a:spLocks noChangeShapeType="1"/>
          </p:cNvSpPr>
          <p:nvPr/>
        </p:nvSpPr>
        <p:spPr bwMode="auto">
          <a:xfrm flipH="1">
            <a:off x="3962400" y="3429000"/>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45" name="Line 17">
            <a:extLst>
              <a:ext uri="{FF2B5EF4-FFF2-40B4-BE49-F238E27FC236}">
                <a16:creationId xmlns:a16="http://schemas.microsoft.com/office/drawing/2014/main" id="{70484B58-F4B2-55ED-EFCD-A3B2CF709C8A}"/>
              </a:ext>
            </a:extLst>
          </p:cNvPr>
          <p:cNvSpPr>
            <a:spLocks noChangeShapeType="1"/>
          </p:cNvSpPr>
          <p:nvPr/>
        </p:nvSpPr>
        <p:spPr bwMode="auto">
          <a:xfrm flipH="1" flipV="1">
            <a:off x="3962400" y="3962400"/>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46" name="Line 18">
            <a:extLst>
              <a:ext uri="{FF2B5EF4-FFF2-40B4-BE49-F238E27FC236}">
                <a16:creationId xmlns:a16="http://schemas.microsoft.com/office/drawing/2014/main" id="{F2F5B334-F19C-D69F-31E3-E8E055B523DD}"/>
              </a:ext>
            </a:extLst>
          </p:cNvPr>
          <p:cNvSpPr>
            <a:spLocks noChangeShapeType="1"/>
          </p:cNvSpPr>
          <p:nvPr/>
        </p:nvSpPr>
        <p:spPr bwMode="auto">
          <a:xfrm>
            <a:off x="1828800" y="1600200"/>
            <a:ext cx="1600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47" name="Line 19">
            <a:extLst>
              <a:ext uri="{FF2B5EF4-FFF2-40B4-BE49-F238E27FC236}">
                <a16:creationId xmlns:a16="http://schemas.microsoft.com/office/drawing/2014/main" id="{1B2B7600-8121-1299-2103-52F78B8A33AF}"/>
              </a:ext>
            </a:extLst>
          </p:cNvPr>
          <p:cNvSpPr>
            <a:spLocks noChangeShapeType="1"/>
          </p:cNvSpPr>
          <p:nvPr/>
        </p:nvSpPr>
        <p:spPr bwMode="auto">
          <a:xfrm>
            <a:off x="1828800" y="3962400"/>
            <a:ext cx="1600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49" name="Line 21">
            <a:extLst>
              <a:ext uri="{FF2B5EF4-FFF2-40B4-BE49-F238E27FC236}">
                <a16:creationId xmlns:a16="http://schemas.microsoft.com/office/drawing/2014/main" id="{B89BE121-E695-0A50-67A4-896B4D55AB7D}"/>
              </a:ext>
            </a:extLst>
          </p:cNvPr>
          <p:cNvSpPr>
            <a:spLocks noChangeShapeType="1"/>
          </p:cNvSpPr>
          <p:nvPr/>
        </p:nvSpPr>
        <p:spPr bwMode="auto">
          <a:xfrm flipH="1" flipV="1">
            <a:off x="1295400" y="2743200"/>
            <a:ext cx="533400" cy="1219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68" name="Line 40">
            <a:extLst>
              <a:ext uri="{FF2B5EF4-FFF2-40B4-BE49-F238E27FC236}">
                <a16:creationId xmlns:a16="http://schemas.microsoft.com/office/drawing/2014/main" id="{F3553174-B90B-B3AF-80DE-57AE2E8E94D3}"/>
              </a:ext>
            </a:extLst>
          </p:cNvPr>
          <p:cNvSpPr>
            <a:spLocks noChangeShapeType="1"/>
          </p:cNvSpPr>
          <p:nvPr/>
        </p:nvSpPr>
        <p:spPr bwMode="auto">
          <a:xfrm flipH="1">
            <a:off x="1295400" y="1600200"/>
            <a:ext cx="533400" cy="1219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73" name="Text Box 45">
            <a:extLst>
              <a:ext uri="{FF2B5EF4-FFF2-40B4-BE49-F238E27FC236}">
                <a16:creationId xmlns:a16="http://schemas.microsoft.com/office/drawing/2014/main" id="{0B6B831B-65DB-4F0A-8E5C-E8F1D2890E7A}"/>
              </a:ext>
            </a:extLst>
          </p:cNvPr>
          <p:cNvSpPr txBox="1">
            <a:spLocks noChangeArrowheads="1"/>
          </p:cNvSpPr>
          <p:nvPr/>
        </p:nvSpPr>
        <p:spPr bwMode="auto">
          <a:xfrm>
            <a:off x="2195513" y="1196975"/>
            <a:ext cx="1223962"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长期投资</a:t>
            </a:r>
          </a:p>
        </p:txBody>
      </p:sp>
      <p:sp>
        <p:nvSpPr>
          <p:cNvPr id="48174" name="Text Box 46">
            <a:extLst>
              <a:ext uri="{FF2B5EF4-FFF2-40B4-BE49-F238E27FC236}">
                <a16:creationId xmlns:a16="http://schemas.microsoft.com/office/drawing/2014/main" id="{CD0B6583-D760-E18B-D939-A36C833E1AA4}"/>
              </a:ext>
            </a:extLst>
          </p:cNvPr>
          <p:cNvSpPr txBox="1">
            <a:spLocks noChangeArrowheads="1"/>
          </p:cNvSpPr>
          <p:nvPr/>
        </p:nvSpPr>
        <p:spPr bwMode="auto">
          <a:xfrm>
            <a:off x="2268538" y="1628775"/>
            <a:ext cx="9366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t>200</a:t>
            </a:r>
            <a:r>
              <a:rPr lang="zh-CN" altLang="en-US"/>
              <a:t>万</a:t>
            </a:r>
          </a:p>
        </p:txBody>
      </p:sp>
      <p:sp>
        <p:nvSpPr>
          <p:cNvPr id="48175" name="Text Box 47">
            <a:extLst>
              <a:ext uri="{FF2B5EF4-FFF2-40B4-BE49-F238E27FC236}">
                <a16:creationId xmlns:a16="http://schemas.microsoft.com/office/drawing/2014/main" id="{EE7C873E-C988-0055-06D9-00B599F154FC}"/>
              </a:ext>
            </a:extLst>
          </p:cNvPr>
          <p:cNvSpPr txBox="1">
            <a:spLocks noChangeArrowheads="1"/>
          </p:cNvSpPr>
          <p:nvPr/>
        </p:nvSpPr>
        <p:spPr bwMode="auto">
          <a:xfrm>
            <a:off x="2268538" y="3500438"/>
            <a:ext cx="1150937"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短期投资</a:t>
            </a:r>
          </a:p>
        </p:txBody>
      </p:sp>
      <p:sp>
        <p:nvSpPr>
          <p:cNvPr id="48176" name="Text Box 48">
            <a:extLst>
              <a:ext uri="{FF2B5EF4-FFF2-40B4-BE49-F238E27FC236}">
                <a16:creationId xmlns:a16="http://schemas.microsoft.com/office/drawing/2014/main" id="{AFE97B2E-85CD-AA65-1726-EB20B74DF150}"/>
              </a:ext>
            </a:extLst>
          </p:cNvPr>
          <p:cNvSpPr txBox="1">
            <a:spLocks noChangeArrowheads="1"/>
          </p:cNvSpPr>
          <p:nvPr/>
        </p:nvSpPr>
        <p:spPr bwMode="auto">
          <a:xfrm>
            <a:off x="2411413" y="4005263"/>
            <a:ext cx="719137"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t>10</a:t>
            </a:r>
            <a:r>
              <a:rPr lang="zh-CN" altLang="en-US"/>
              <a:t>万</a:t>
            </a:r>
          </a:p>
        </p:txBody>
      </p:sp>
      <p:sp>
        <p:nvSpPr>
          <p:cNvPr id="48177" name="Text Box 49">
            <a:extLst>
              <a:ext uri="{FF2B5EF4-FFF2-40B4-BE49-F238E27FC236}">
                <a16:creationId xmlns:a16="http://schemas.microsoft.com/office/drawing/2014/main" id="{616EC72D-A853-3F2B-8D16-5696707DF6B0}"/>
              </a:ext>
            </a:extLst>
          </p:cNvPr>
          <p:cNvSpPr txBox="1">
            <a:spLocks noChangeArrowheads="1"/>
          </p:cNvSpPr>
          <p:nvPr/>
        </p:nvSpPr>
        <p:spPr bwMode="auto">
          <a:xfrm>
            <a:off x="4859338" y="549275"/>
            <a:ext cx="1008062"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畅销</a:t>
            </a:r>
            <a:r>
              <a:rPr lang="en-US" altLang="zh-CN"/>
              <a:t>0.5</a:t>
            </a:r>
          </a:p>
        </p:txBody>
      </p:sp>
      <p:sp>
        <p:nvSpPr>
          <p:cNvPr id="48178" name="Text Box 50">
            <a:extLst>
              <a:ext uri="{FF2B5EF4-FFF2-40B4-BE49-F238E27FC236}">
                <a16:creationId xmlns:a16="http://schemas.microsoft.com/office/drawing/2014/main" id="{3588670B-8549-F915-E649-E8895FBA81CD}"/>
              </a:ext>
            </a:extLst>
          </p:cNvPr>
          <p:cNvSpPr txBox="1">
            <a:spLocks noChangeArrowheads="1"/>
          </p:cNvSpPr>
          <p:nvPr/>
        </p:nvSpPr>
        <p:spPr bwMode="auto">
          <a:xfrm>
            <a:off x="4859338" y="2997200"/>
            <a:ext cx="1008062"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畅销</a:t>
            </a:r>
            <a:r>
              <a:rPr lang="en-US" altLang="zh-CN"/>
              <a:t>0.5</a:t>
            </a:r>
          </a:p>
        </p:txBody>
      </p:sp>
      <p:sp>
        <p:nvSpPr>
          <p:cNvPr id="48179" name="Text Box 51">
            <a:extLst>
              <a:ext uri="{FF2B5EF4-FFF2-40B4-BE49-F238E27FC236}">
                <a16:creationId xmlns:a16="http://schemas.microsoft.com/office/drawing/2014/main" id="{9C618E66-EFAB-3FAB-71CC-ACC23C0BB481}"/>
              </a:ext>
            </a:extLst>
          </p:cNvPr>
          <p:cNvSpPr txBox="1">
            <a:spLocks noChangeArrowheads="1"/>
          </p:cNvSpPr>
          <p:nvPr/>
        </p:nvSpPr>
        <p:spPr bwMode="auto">
          <a:xfrm>
            <a:off x="4787900" y="1196975"/>
            <a:ext cx="1008063"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平销</a:t>
            </a:r>
            <a:r>
              <a:rPr lang="en-US" altLang="zh-CN"/>
              <a:t>0.3</a:t>
            </a:r>
          </a:p>
        </p:txBody>
      </p:sp>
      <p:sp>
        <p:nvSpPr>
          <p:cNvPr id="48180" name="Text Box 52">
            <a:extLst>
              <a:ext uri="{FF2B5EF4-FFF2-40B4-BE49-F238E27FC236}">
                <a16:creationId xmlns:a16="http://schemas.microsoft.com/office/drawing/2014/main" id="{BA3B4AA8-5FDA-5893-38DB-FE001360A236}"/>
              </a:ext>
            </a:extLst>
          </p:cNvPr>
          <p:cNvSpPr txBox="1">
            <a:spLocks noChangeArrowheads="1"/>
          </p:cNvSpPr>
          <p:nvPr/>
        </p:nvSpPr>
        <p:spPr bwMode="auto">
          <a:xfrm>
            <a:off x="4859338" y="3573463"/>
            <a:ext cx="1008062"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平销</a:t>
            </a:r>
            <a:r>
              <a:rPr lang="en-US" altLang="zh-CN"/>
              <a:t>0.3</a:t>
            </a:r>
          </a:p>
        </p:txBody>
      </p:sp>
      <p:sp>
        <p:nvSpPr>
          <p:cNvPr id="48181" name="Text Box 53">
            <a:extLst>
              <a:ext uri="{FF2B5EF4-FFF2-40B4-BE49-F238E27FC236}">
                <a16:creationId xmlns:a16="http://schemas.microsoft.com/office/drawing/2014/main" id="{492A6EB6-1862-6546-73B5-4B7DB0F20FE0}"/>
              </a:ext>
            </a:extLst>
          </p:cNvPr>
          <p:cNvSpPr txBox="1">
            <a:spLocks noChangeArrowheads="1"/>
          </p:cNvSpPr>
          <p:nvPr/>
        </p:nvSpPr>
        <p:spPr bwMode="auto">
          <a:xfrm>
            <a:off x="4859338" y="1844675"/>
            <a:ext cx="1008062"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滞销</a:t>
            </a:r>
            <a:r>
              <a:rPr lang="en-US" altLang="zh-CN"/>
              <a:t>0.2</a:t>
            </a:r>
          </a:p>
        </p:txBody>
      </p:sp>
      <p:sp>
        <p:nvSpPr>
          <p:cNvPr id="48182" name="Text Box 54">
            <a:extLst>
              <a:ext uri="{FF2B5EF4-FFF2-40B4-BE49-F238E27FC236}">
                <a16:creationId xmlns:a16="http://schemas.microsoft.com/office/drawing/2014/main" id="{CB30EEB9-CBFE-3D40-8C27-24459F6F0718}"/>
              </a:ext>
            </a:extLst>
          </p:cNvPr>
          <p:cNvSpPr txBox="1">
            <a:spLocks noChangeArrowheads="1"/>
          </p:cNvSpPr>
          <p:nvPr/>
        </p:nvSpPr>
        <p:spPr bwMode="auto">
          <a:xfrm>
            <a:off x="4859338" y="4149725"/>
            <a:ext cx="1008062"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滞销</a:t>
            </a:r>
            <a:r>
              <a:rPr lang="en-US" altLang="zh-CN"/>
              <a:t>0.2</a:t>
            </a:r>
          </a:p>
        </p:txBody>
      </p:sp>
      <p:sp>
        <p:nvSpPr>
          <p:cNvPr id="48183" name="Text Box 55">
            <a:extLst>
              <a:ext uri="{FF2B5EF4-FFF2-40B4-BE49-F238E27FC236}">
                <a16:creationId xmlns:a16="http://schemas.microsoft.com/office/drawing/2014/main" id="{17929C10-263F-1DC7-82B5-9564CA6D3CC2}"/>
              </a:ext>
            </a:extLst>
          </p:cNvPr>
          <p:cNvSpPr txBox="1">
            <a:spLocks noChangeArrowheads="1"/>
          </p:cNvSpPr>
          <p:nvPr/>
        </p:nvSpPr>
        <p:spPr bwMode="auto">
          <a:xfrm>
            <a:off x="6732588" y="908050"/>
            <a:ext cx="1152525" cy="14652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100000"/>
              </a:spcBef>
            </a:pPr>
            <a:r>
              <a:rPr lang="en-US" altLang="zh-CN"/>
              <a:t>500</a:t>
            </a:r>
            <a:r>
              <a:rPr lang="zh-CN" altLang="en-US"/>
              <a:t>万</a:t>
            </a:r>
          </a:p>
          <a:p>
            <a:pPr>
              <a:spcBef>
                <a:spcPct val="100000"/>
              </a:spcBef>
            </a:pPr>
            <a:r>
              <a:rPr lang="en-US" altLang="zh-CN"/>
              <a:t>200</a:t>
            </a:r>
            <a:r>
              <a:rPr lang="zh-CN" altLang="en-US"/>
              <a:t>万</a:t>
            </a:r>
          </a:p>
          <a:p>
            <a:pPr>
              <a:spcBef>
                <a:spcPct val="100000"/>
              </a:spcBef>
            </a:pPr>
            <a:r>
              <a:rPr lang="zh-CN" altLang="en-US"/>
              <a:t>－</a:t>
            </a:r>
            <a:r>
              <a:rPr lang="en-US" altLang="zh-CN"/>
              <a:t>200</a:t>
            </a:r>
            <a:r>
              <a:rPr lang="zh-CN" altLang="en-US"/>
              <a:t>万</a:t>
            </a:r>
          </a:p>
        </p:txBody>
      </p:sp>
      <p:sp>
        <p:nvSpPr>
          <p:cNvPr id="48184" name="Text Box 56">
            <a:extLst>
              <a:ext uri="{FF2B5EF4-FFF2-40B4-BE49-F238E27FC236}">
                <a16:creationId xmlns:a16="http://schemas.microsoft.com/office/drawing/2014/main" id="{7CB54E7F-DFB7-E308-49E7-5038219F1DDC}"/>
              </a:ext>
            </a:extLst>
          </p:cNvPr>
          <p:cNvSpPr txBox="1">
            <a:spLocks noChangeArrowheads="1"/>
          </p:cNvSpPr>
          <p:nvPr/>
        </p:nvSpPr>
        <p:spPr bwMode="auto">
          <a:xfrm>
            <a:off x="6732588" y="3213100"/>
            <a:ext cx="1152525" cy="14652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100000"/>
              </a:spcBef>
            </a:pPr>
            <a:r>
              <a:rPr lang="en-US" altLang="zh-CN"/>
              <a:t>100</a:t>
            </a:r>
            <a:r>
              <a:rPr lang="zh-CN" altLang="en-US"/>
              <a:t>万</a:t>
            </a:r>
          </a:p>
          <a:p>
            <a:pPr>
              <a:spcBef>
                <a:spcPct val="100000"/>
              </a:spcBef>
            </a:pPr>
            <a:r>
              <a:rPr lang="en-US" altLang="zh-CN"/>
              <a:t>25</a:t>
            </a:r>
            <a:r>
              <a:rPr lang="zh-CN" altLang="en-US"/>
              <a:t>万</a:t>
            </a:r>
          </a:p>
          <a:p>
            <a:pPr>
              <a:spcBef>
                <a:spcPct val="100000"/>
              </a:spcBef>
            </a:pPr>
            <a:r>
              <a:rPr lang="zh-CN" altLang="en-US"/>
              <a:t>－</a:t>
            </a:r>
            <a:r>
              <a:rPr lang="en-US" altLang="zh-CN"/>
              <a:t>10</a:t>
            </a:r>
            <a:r>
              <a:rPr lang="zh-CN" altLang="en-US"/>
              <a:t>万</a:t>
            </a:r>
          </a:p>
        </p:txBody>
      </p:sp>
      <p:sp>
        <p:nvSpPr>
          <p:cNvPr id="48185" name="Text Box 57">
            <a:extLst>
              <a:ext uri="{FF2B5EF4-FFF2-40B4-BE49-F238E27FC236}">
                <a16:creationId xmlns:a16="http://schemas.microsoft.com/office/drawing/2014/main" id="{86E91B64-4866-83DE-3C48-FBEFA925CF3A}"/>
              </a:ext>
            </a:extLst>
          </p:cNvPr>
          <p:cNvSpPr txBox="1">
            <a:spLocks noChangeArrowheads="1"/>
          </p:cNvSpPr>
          <p:nvPr/>
        </p:nvSpPr>
        <p:spPr bwMode="auto">
          <a:xfrm>
            <a:off x="3635375" y="4941888"/>
            <a:ext cx="2303463"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黑体" panose="02010609060101010101" pitchFamily="49" charset="-122"/>
                <a:ea typeface="黑体" panose="02010609060101010101" pitchFamily="49" charset="-122"/>
              </a:rPr>
              <a:t>新产品投资决策树 </a:t>
            </a:r>
          </a:p>
        </p:txBody>
      </p:sp>
      <p:sp>
        <p:nvSpPr>
          <p:cNvPr id="48186" name="Text Box 58">
            <a:extLst>
              <a:ext uri="{FF2B5EF4-FFF2-40B4-BE49-F238E27FC236}">
                <a16:creationId xmlns:a16="http://schemas.microsoft.com/office/drawing/2014/main" id="{134A2BFF-174A-9092-4E9C-7D7B05CA3D78}"/>
              </a:ext>
            </a:extLst>
          </p:cNvPr>
          <p:cNvSpPr txBox="1">
            <a:spLocks noChangeArrowheads="1"/>
          </p:cNvSpPr>
          <p:nvPr/>
        </p:nvSpPr>
        <p:spPr bwMode="auto">
          <a:xfrm>
            <a:off x="3348038" y="836613"/>
            <a:ext cx="792162"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zh-CN"/>
          </a:p>
        </p:txBody>
      </p:sp>
      <p:sp>
        <p:nvSpPr>
          <p:cNvPr id="48187" name="Text Box 59">
            <a:extLst>
              <a:ext uri="{FF2B5EF4-FFF2-40B4-BE49-F238E27FC236}">
                <a16:creationId xmlns:a16="http://schemas.microsoft.com/office/drawing/2014/main" id="{A3809F99-D48A-A2BE-56B6-357B322BC433}"/>
              </a:ext>
            </a:extLst>
          </p:cNvPr>
          <p:cNvSpPr txBox="1">
            <a:spLocks noChangeArrowheads="1"/>
          </p:cNvSpPr>
          <p:nvPr/>
        </p:nvSpPr>
        <p:spPr bwMode="auto">
          <a:xfrm>
            <a:off x="3492500" y="836613"/>
            <a:ext cx="5048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t>40</a:t>
            </a:r>
          </a:p>
        </p:txBody>
      </p:sp>
      <p:sp>
        <p:nvSpPr>
          <p:cNvPr id="48188" name="Text Box 60">
            <a:extLst>
              <a:ext uri="{FF2B5EF4-FFF2-40B4-BE49-F238E27FC236}">
                <a16:creationId xmlns:a16="http://schemas.microsoft.com/office/drawing/2014/main" id="{FCBADB36-365C-6148-1F6F-F43CEAE9A145}"/>
              </a:ext>
            </a:extLst>
          </p:cNvPr>
          <p:cNvSpPr txBox="1">
            <a:spLocks noChangeArrowheads="1"/>
          </p:cNvSpPr>
          <p:nvPr/>
        </p:nvSpPr>
        <p:spPr bwMode="auto">
          <a:xfrm>
            <a:off x="3419475" y="3213100"/>
            <a:ext cx="64770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t>45.5</a:t>
            </a:r>
          </a:p>
        </p:txBody>
      </p:sp>
      <p:sp>
        <p:nvSpPr>
          <p:cNvPr id="48189" name="Text Box 61">
            <a:extLst>
              <a:ext uri="{FF2B5EF4-FFF2-40B4-BE49-F238E27FC236}">
                <a16:creationId xmlns:a16="http://schemas.microsoft.com/office/drawing/2014/main" id="{A3BB504E-73F6-B135-7AEB-368A9F80408C}"/>
              </a:ext>
            </a:extLst>
          </p:cNvPr>
          <p:cNvSpPr txBox="1">
            <a:spLocks noChangeArrowheads="1"/>
          </p:cNvSpPr>
          <p:nvPr/>
        </p:nvSpPr>
        <p:spPr bwMode="auto">
          <a:xfrm>
            <a:off x="179388" y="188913"/>
            <a:ext cx="1368425"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6.4</a:t>
            </a:r>
            <a:r>
              <a:rPr lang="zh-CN" altLang="en-US" sz="1600">
                <a:solidFill>
                  <a:schemeClr val="tx2"/>
                </a:solidFill>
              </a:rPr>
              <a:t>决策条件</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E86462D-B537-9C6D-108F-9902183AB778}"/>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828E4D6A-3796-40AB-B89D-4A8369B2559D}"/>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FB13C901-B2E9-0FD9-0363-D85AD2412BDD}"/>
              </a:ext>
            </a:extLst>
          </p:cNvPr>
          <p:cNvSpPr>
            <a:spLocks noGrp="1"/>
          </p:cNvSpPr>
          <p:nvPr>
            <p:ph type="sldNum" sz="quarter" idx="12"/>
          </p:nvPr>
        </p:nvSpPr>
        <p:spPr/>
        <p:txBody>
          <a:bodyPr/>
          <a:lstStyle/>
          <a:p>
            <a:fld id="{B2739426-99D5-4547-871A-2B6872594C8D}" type="slidenum">
              <a:rPr lang="en-US" altLang="zh-CN"/>
              <a:pPr/>
              <a:t>16</a:t>
            </a:fld>
            <a:endParaRPr lang="en-US" altLang="zh-CN"/>
          </a:p>
        </p:txBody>
      </p:sp>
      <p:sp>
        <p:nvSpPr>
          <p:cNvPr id="64516" name="Rectangle 4">
            <a:extLst>
              <a:ext uri="{FF2B5EF4-FFF2-40B4-BE49-F238E27FC236}">
                <a16:creationId xmlns:a16="http://schemas.microsoft.com/office/drawing/2014/main" id="{2ECBDFFF-8DE7-3BD0-BDEB-9A9074CA79E2}"/>
              </a:ext>
            </a:extLst>
          </p:cNvPr>
          <p:cNvSpPr>
            <a:spLocks noChangeArrowheads="1"/>
          </p:cNvSpPr>
          <p:nvPr/>
        </p:nvSpPr>
        <p:spPr bwMode="auto">
          <a:xfrm>
            <a:off x="1258888" y="1125538"/>
            <a:ext cx="6697662" cy="32400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t>                                             </a:t>
            </a:r>
            <a:r>
              <a:rPr lang="en-US" altLang="zh-CN" sz="2400"/>
              <a:t> </a:t>
            </a:r>
            <a:r>
              <a:rPr lang="zh-CN" altLang="en-US" sz="3600"/>
              <a:t>决策</a:t>
            </a:r>
          </a:p>
          <a:p>
            <a:r>
              <a:rPr lang="zh-CN" altLang="en-US"/>
              <a:t>           </a:t>
            </a:r>
            <a:r>
              <a:rPr lang="zh-CN" altLang="en-US" sz="2800"/>
              <a:t>有一项任务，一个人做需要</a:t>
            </a:r>
            <a:r>
              <a:rPr lang="en-US" altLang="zh-CN" sz="2800"/>
              <a:t>210</a:t>
            </a:r>
            <a:r>
              <a:rPr lang="zh-CN" altLang="en-US" sz="2800"/>
              <a:t>分钟，</a:t>
            </a:r>
          </a:p>
          <a:p>
            <a:r>
              <a:rPr lang="zh-CN" altLang="en-US" sz="2800"/>
              <a:t>两个人做需要</a:t>
            </a:r>
            <a:r>
              <a:rPr lang="en-US" altLang="zh-CN" sz="2800"/>
              <a:t>120</a:t>
            </a:r>
            <a:r>
              <a:rPr lang="zh-CN" altLang="en-US" sz="2800"/>
              <a:t>分钟。你现在需要做出</a:t>
            </a:r>
          </a:p>
          <a:p>
            <a:r>
              <a:rPr lang="zh-CN" altLang="en-US" sz="2800"/>
              <a:t>决策，是一个人做，还是找朋友帮忙。</a:t>
            </a:r>
          </a:p>
          <a:p>
            <a:r>
              <a:rPr lang="zh-CN" altLang="en-US" sz="2800"/>
              <a:t>        已知朋友在家的可能性是</a:t>
            </a:r>
            <a:r>
              <a:rPr lang="en-US" altLang="zh-CN" sz="2800"/>
              <a:t>2/3</a:t>
            </a:r>
            <a:r>
              <a:rPr lang="zh-CN" altLang="en-US" sz="2800"/>
              <a:t>，从你家</a:t>
            </a:r>
          </a:p>
          <a:p>
            <a:r>
              <a:rPr lang="zh-CN" altLang="en-US" sz="2800"/>
              <a:t>到朋友家往返需要</a:t>
            </a:r>
            <a:r>
              <a:rPr lang="en-US" altLang="zh-CN" sz="2800"/>
              <a:t>40</a:t>
            </a:r>
            <a:r>
              <a:rPr lang="zh-CN" altLang="en-US" sz="2800"/>
              <a:t>分钟。</a:t>
            </a:r>
          </a:p>
        </p:txBody>
      </p:sp>
      <p:sp>
        <p:nvSpPr>
          <p:cNvPr id="64517" name="Text Box 5">
            <a:extLst>
              <a:ext uri="{FF2B5EF4-FFF2-40B4-BE49-F238E27FC236}">
                <a16:creationId xmlns:a16="http://schemas.microsoft.com/office/drawing/2014/main" id="{849F0300-5BD1-D9EE-AA5D-99D8D8AD3682}"/>
              </a:ext>
            </a:extLst>
          </p:cNvPr>
          <p:cNvSpPr txBox="1">
            <a:spLocks noChangeArrowheads="1"/>
          </p:cNvSpPr>
          <p:nvPr/>
        </p:nvSpPr>
        <p:spPr bwMode="auto">
          <a:xfrm>
            <a:off x="179388" y="188913"/>
            <a:ext cx="1368425"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6.4</a:t>
            </a:r>
            <a:r>
              <a:rPr lang="zh-CN" altLang="en-US" sz="1600">
                <a:solidFill>
                  <a:schemeClr val="tx2"/>
                </a:solidFill>
              </a:rPr>
              <a:t>决策条件</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2">
            <a:extLst>
              <a:ext uri="{FF2B5EF4-FFF2-40B4-BE49-F238E27FC236}">
                <a16:creationId xmlns:a16="http://schemas.microsoft.com/office/drawing/2014/main" id="{C86600F3-6959-D096-A484-32D741BB0F35}"/>
              </a:ext>
            </a:extLst>
          </p:cNvPr>
          <p:cNvSpPr>
            <a:spLocks noGrp="1"/>
          </p:cNvSpPr>
          <p:nvPr>
            <p:ph type="dt" sz="half" idx="10"/>
          </p:nvPr>
        </p:nvSpPr>
        <p:spPr/>
        <p:txBody>
          <a:bodyPr/>
          <a:lstStyle/>
          <a:p>
            <a:r>
              <a:rPr lang="zh-CN" altLang="en-US"/>
              <a:t>版本：2004</a:t>
            </a:r>
            <a:endParaRPr lang="en-US" altLang="zh-CN"/>
          </a:p>
        </p:txBody>
      </p:sp>
      <p:sp>
        <p:nvSpPr>
          <p:cNvPr id="3" name="页脚占位符 3">
            <a:extLst>
              <a:ext uri="{FF2B5EF4-FFF2-40B4-BE49-F238E27FC236}">
                <a16:creationId xmlns:a16="http://schemas.microsoft.com/office/drawing/2014/main" id="{796C595D-FFAC-4BA8-7DED-5FBC81944F1F}"/>
              </a:ext>
            </a:extLst>
          </p:cNvPr>
          <p:cNvSpPr>
            <a:spLocks noGrp="1"/>
          </p:cNvSpPr>
          <p:nvPr>
            <p:ph type="ftr" sz="quarter" idx="11"/>
          </p:nvPr>
        </p:nvSpPr>
        <p:spPr/>
        <p:txBody>
          <a:bodyPr/>
          <a:lstStyle/>
          <a:p>
            <a:r>
              <a:rPr lang="en-US" altLang="zh-CN"/>
              <a:t>管理学</a:t>
            </a:r>
          </a:p>
        </p:txBody>
      </p:sp>
      <p:sp>
        <p:nvSpPr>
          <p:cNvPr id="4" name="灯片编号占位符 4">
            <a:extLst>
              <a:ext uri="{FF2B5EF4-FFF2-40B4-BE49-F238E27FC236}">
                <a16:creationId xmlns:a16="http://schemas.microsoft.com/office/drawing/2014/main" id="{0892788A-FF1D-8685-FE2D-008A4E9C5916}"/>
              </a:ext>
            </a:extLst>
          </p:cNvPr>
          <p:cNvSpPr>
            <a:spLocks noGrp="1"/>
          </p:cNvSpPr>
          <p:nvPr>
            <p:ph type="sldNum" sz="quarter" idx="12"/>
          </p:nvPr>
        </p:nvSpPr>
        <p:spPr/>
        <p:txBody>
          <a:bodyPr/>
          <a:lstStyle/>
          <a:p>
            <a:fld id="{74214F1E-EADF-444C-A1D8-0A41B182DF17}" type="slidenum">
              <a:rPr lang="en-US" altLang="zh-CN"/>
              <a:pPr/>
              <a:t>17</a:t>
            </a:fld>
            <a:endParaRPr lang="en-US" altLang="zh-CN"/>
          </a:p>
        </p:txBody>
      </p:sp>
      <p:sp>
        <p:nvSpPr>
          <p:cNvPr id="38917" name="Text Box 5">
            <a:extLst>
              <a:ext uri="{FF2B5EF4-FFF2-40B4-BE49-F238E27FC236}">
                <a16:creationId xmlns:a16="http://schemas.microsoft.com/office/drawing/2014/main" id="{58C6B43B-A130-8AE1-BB4C-BAE43B317F58}"/>
              </a:ext>
            </a:extLst>
          </p:cNvPr>
          <p:cNvSpPr txBox="1">
            <a:spLocks noChangeArrowheads="1"/>
          </p:cNvSpPr>
          <p:nvPr/>
        </p:nvSpPr>
        <p:spPr bwMode="auto">
          <a:xfrm>
            <a:off x="3851275" y="908050"/>
            <a:ext cx="1296988"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solidFill>
                  <a:schemeClr val="tx2"/>
                </a:solidFill>
                <a:ea typeface="黑体" panose="02010609060101010101" pitchFamily="49" charset="-122"/>
              </a:rPr>
              <a:t>优先理论</a:t>
            </a:r>
          </a:p>
        </p:txBody>
      </p:sp>
      <p:graphicFrame>
        <p:nvGraphicFramePr>
          <p:cNvPr id="38952" name="Group 40">
            <a:extLst>
              <a:ext uri="{FF2B5EF4-FFF2-40B4-BE49-F238E27FC236}">
                <a16:creationId xmlns:a16="http://schemas.microsoft.com/office/drawing/2014/main" id="{DAD5243D-BA8F-A115-6C9A-33E2B3BE199D}"/>
              </a:ext>
            </a:extLst>
          </p:cNvPr>
          <p:cNvGraphicFramePr>
            <a:graphicFrameLocks noGrp="1"/>
          </p:cNvGraphicFramePr>
          <p:nvPr>
            <p:ph/>
          </p:nvPr>
        </p:nvGraphicFramePr>
        <p:xfrm>
          <a:off x="468313" y="1412875"/>
          <a:ext cx="8229600" cy="4437063"/>
        </p:xfrm>
        <a:graphic>
          <a:graphicData uri="http://schemas.openxmlformats.org/drawingml/2006/table">
            <a:tbl>
              <a:tblPr/>
              <a:tblGrid>
                <a:gridCol w="8229600">
                  <a:extLst>
                    <a:ext uri="{9D8B030D-6E8A-4147-A177-3AD203B41FA5}">
                      <a16:colId xmlns:a16="http://schemas.microsoft.com/office/drawing/2014/main" val="28262376"/>
                    </a:ext>
                  </a:extLst>
                </a:gridCol>
              </a:tblGrid>
              <a:tr h="6477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决策树是假设我们评价决策者的行为是否合理，是以决策者选择的方案成功的可能性有多大为依据的，成功的可能性越大，决策行为越合理。但这并不是真正的合理。</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38554792"/>
                  </a:ext>
                </a:extLst>
              </a:tr>
              <a:tr h="6477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决策者对风险的态度各不相同。有些人不喜欢承担风险，有些人则勇于冒风险；有些人对某些情况不敢冒风险，而对别的情况却冒险心理极强。</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14192738"/>
                  </a:ext>
                </a:extLst>
              </a:tr>
              <a:tr h="9810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决策者的风险偏好在他们认定概率时起关键作用。有</a:t>
                      </a: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四种典型的风险曲线：</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风险厌恶者曲线；</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赌博者曲线；</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平均曲线；</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个人曲线。个人曲线是一般人在个人生活方面的风险偏好曲线。在赌注小的时候，多数人愿意冒险，但</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在赌注增大时，很快就变成厌恶风险的人。</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57602924"/>
                  </a:ext>
                </a:extLst>
              </a:tr>
              <a:tr h="6762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4.</a:t>
                      </a: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大多数经理的风险偏好曲线并不是平均曲线，而是风险厌恶曲线。这说明统计概率对制定实际决策并不是很合适。在这种情况下，我们可以采用个人偏好曲线代替统计概率。</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73235578"/>
                  </a:ext>
                </a:extLst>
              </a:tr>
            </a:tbl>
          </a:graphicData>
        </a:graphic>
      </p:graphicFrame>
      <p:sp>
        <p:nvSpPr>
          <p:cNvPr id="38947" name="Text Box 35">
            <a:extLst>
              <a:ext uri="{FF2B5EF4-FFF2-40B4-BE49-F238E27FC236}">
                <a16:creationId xmlns:a16="http://schemas.microsoft.com/office/drawing/2014/main" id="{D7E982E0-EF68-9F38-3A1C-4365A4CD7F00}"/>
              </a:ext>
            </a:extLst>
          </p:cNvPr>
          <p:cNvSpPr txBox="1">
            <a:spLocks noChangeArrowheads="1"/>
          </p:cNvSpPr>
          <p:nvPr/>
        </p:nvSpPr>
        <p:spPr bwMode="auto">
          <a:xfrm>
            <a:off x="179388" y="188913"/>
            <a:ext cx="1368425"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6.4</a:t>
            </a:r>
            <a:r>
              <a:rPr lang="zh-CN" altLang="en-US" sz="1600">
                <a:solidFill>
                  <a:schemeClr val="tx2"/>
                </a:solidFill>
              </a:rPr>
              <a:t>决策条件</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E4DBF37-B0BD-B164-09CF-E8AAFB2CC727}"/>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DDAE44DC-882A-7AA3-0458-2293283C934A}"/>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A7D36F3C-B292-6C97-CA27-E2E846F7F64A}"/>
              </a:ext>
            </a:extLst>
          </p:cNvPr>
          <p:cNvSpPr>
            <a:spLocks noGrp="1"/>
          </p:cNvSpPr>
          <p:nvPr>
            <p:ph type="sldNum" sz="quarter" idx="12"/>
          </p:nvPr>
        </p:nvSpPr>
        <p:spPr/>
        <p:txBody>
          <a:bodyPr/>
          <a:lstStyle/>
          <a:p>
            <a:fld id="{57AE7E9E-5AEB-4DC5-B350-3720185748AB}" type="slidenum">
              <a:rPr lang="en-US" altLang="zh-CN"/>
              <a:pPr/>
              <a:t>18</a:t>
            </a:fld>
            <a:endParaRPr lang="en-US" altLang="zh-CN"/>
          </a:p>
        </p:txBody>
      </p:sp>
      <p:sp>
        <p:nvSpPr>
          <p:cNvPr id="52227" name="Line 3">
            <a:extLst>
              <a:ext uri="{FF2B5EF4-FFF2-40B4-BE49-F238E27FC236}">
                <a16:creationId xmlns:a16="http://schemas.microsoft.com/office/drawing/2014/main" id="{76B35170-9904-FC8E-1649-FEAA8B3B5AA8}"/>
              </a:ext>
            </a:extLst>
          </p:cNvPr>
          <p:cNvSpPr>
            <a:spLocks noChangeShapeType="1"/>
          </p:cNvSpPr>
          <p:nvPr/>
        </p:nvSpPr>
        <p:spPr bwMode="auto">
          <a:xfrm flipV="1">
            <a:off x="1981200" y="1052513"/>
            <a:ext cx="6551613" cy="42814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46" name="Line 22">
            <a:extLst>
              <a:ext uri="{FF2B5EF4-FFF2-40B4-BE49-F238E27FC236}">
                <a16:creationId xmlns:a16="http://schemas.microsoft.com/office/drawing/2014/main" id="{527EF93F-D757-8D6D-EE35-04140F364BDE}"/>
              </a:ext>
            </a:extLst>
          </p:cNvPr>
          <p:cNvSpPr>
            <a:spLocks noChangeShapeType="1"/>
          </p:cNvSpPr>
          <p:nvPr/>
        </p:nvSpPr>
        <p:spPr bwMode="auto">
          <a:xfrm>
            <a:off x="5334000" y="990600"/>
            <a:ext cx="45720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47" name="Line 23">
            <a:extLst>
              <a:ext uri="{FF2B5EF4-FFF2-40B4-BE49-F238E27FC236}">
                <a16:creationId xmlns:a16="http://schemas.microsoft.com/office/drawing/2014/main" id="{0C05FAFA-E93F-C145-3ADE-7AD9044953DC}"/>
              </a:ext>
            </a:extLst>
          </p:cNvPr>
          <p:cNvSpPr>
            <a:spLocks noChangeShapeType="1"/>
          </p:cNvSpPr>
          <p:nvPr/>
        </p:nvSpPr>
        <p:spPr bwMode="auto">
          <a:xfrm>
            <a:off x="2916238" y="1916113"/>
            <a:ext cx="669925" cy="6953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48" name="Line 24">
            <a:extLst>
              <a:ext uri="{FF2B5EF4-FFF2-40B4-BE49-F238E27FC236}">
                <a16:creationId xmlns:a16="http://schemas.microsoft.com/office/drawing/2014/main" id="{9320F68A-7938-942F-3F41-193B7BDDE357}"/>
              </a:ext>
            </a:extLst>
          </p:cNvPr>
          <p:cNvSpPr>
            <a:spLocks noChangeShapeType="1"/>
          </p:cNvSpPr>
          <p:nvPr/>
        </p:nvSpPr>
        <p:spPr bwMode="auto">
          <a:xfrm flipH="1" flipV="1">
            <a:off x="5181600" y="3200400"/>
            <a:ext cx="398463" cy="660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49" name="Line 25">
            <a:extLst>
              <a:ext uri="{FF2B5EF4-FFF2-40B4-BE49-F238E27FC236}">
                <a16:creationId xmlns:a16="http://schemas.microsoft.com/office/drawing/2014/main" id="{FFE85194-69A5-2876-5E99-CA1F8C48E7DF}"/>
              </a:ext>
            </a:extLst>
          </p:cNvPr>
          <p:cNvSpPr>
            <a:spLocks noChangeShapeType="1"/>
          </p:cNvSpPr>
          <p:nvPr/>
        </p:nvSpPr>
        <p:spPr bwMode="auto">
          <a:xfrm flipH="1" flipV="1">
            <a:off x="6948488" y="3860800"/>
            <a:ext cx="990600" cy="838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60" name="Text Box 36">
            <a:extLst>
              <a:ext uri="{FF2B5EF4-FFF2-40B4-BE49-F238E27FC236}">
                <a16:creationId xmlns:a16="http://schemas.microsoft.com/office/drawing/2014/main" id="{A7BDA719-21D4-9724-84D2-E49FD3FF3BBE}"/>
              </a:ext>
            </a:extLst>
          </p:cNvPr>
          <p:cNvSpPr txBox="1">
            <a:spLocks noChangeArrowheads="1"/>
          </p:cNvSpPr>
          <p:nvPr/>
        </p:nvSpPr>
        <p:spPr bwMode="auto">
          <a:xfrm>
            <a:off x="179388" y="188913"/>
            <a:ext cx="1368425"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6.4</a:t>
            </a:r>
            <a:r>
              <a:rPr lang="zh-CN" altLang="en-US" sz="1600">
                <a:solidFill>
                  <a:schemeClr val="tx2"/>
                </a:solidFill>
              </a:rPr>
              <a:t>决策条件</a:t>
            </a:r>
          </a:p>
        </p:txBody>
      </p:sp>
      <p:sp>
        <p:nvSpPr>
          <p:cNvPr id="52261" name="Text Box 37">
            <a:extLst>
              <a:ext uri="{FF2B5EF4-FFF2-40B4-BE49-F238E27FC236}">
                <a16:creationId xmlns:a16="http://schemas.microsoft.com/office/drawing/2014/main" id="{D2F931CE-9355-F222-6A13-5A7FC2664D88}"/>
              </a:ext>
            </a:extLst>
          </p:cNvPr>
          <p:cNvSpPr txBox="1">
            <a:spLocks noChangeArrowheads="1"/>
          </p:cNvSpPr>
          <p:nvPr/>
        </p:nvSpPr>
        <p:spPr bwMode="auto">
          <a:xfrm>
            <a:off x="4572000" y="549275"/>
            <a:ext cx="1223963"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个人曲线</a:t>
            </a:r>
          </a:p>
        </p:txBody>
      </p:sp>
      <p:sp>
        <p:nvSpPr>
          <p:cNvPr id="52262" name="Text Box 38">
            <a:extLst>
              <a:ext uri="{FF2B5EF4-FFF2-40B4-BE49-F238E27FC236}">
                <a16:creationId xmlns:a16="http://schemas.microsoft.com/office/drawing/2014/main" id="{23513E1F-A707-0F2A-979C-910C4DE827D7}"/>
              </a:ext>
            </a:extLst>
          </p:cNvPr>
          <p:cNvSpPr txBox="1">
            <a:spLocks noChangeArrowheads="1"/>
          </p:cNvSpPr>
          <p:nvPr/>
        </p:nvSpPr>
        <p:spPr bwMode="auto">
          <a:xfrm>
            <a:off x="2051050" y="1484313"/>
            <a:ext cx="18002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风险厌恶者曲线</a:t>
            </a:r>
          </a:p>
        </p:txBody>
      </p:sp>
      <p:sp>
        <p:nvSpPr>
          <p:cNvPr id="52263" name="Text Box 39">
            <a:extLst>
              <a:ext uri="{FF2B5EF4-FFF2-40B4-BE49-F238E27FC236}">
                <a16:creationId xmlns:a16="http://schemas.microsoft.com/office/drawing/2014/main" id="{DF05EE1B-0D79-2D2A-7FCD-5467D33EC622}"/>
              </a:ext>
            </a:extLst>
          </p:cNvPr>
          <p:cNvSpPr txBox="1">
            <a:spLocks noChangeArrowheads="1"/>
          </p:cNvSpPr>
          <p:nvPr/>
        </p:nvSpPr>
        <p:spPr bwMode="auto">
          <a:xfrm>
            <a:off x="4859338" y="3933825"/>
            <a:ext cx="1223962"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平均曲线</a:t>
            </a:r>
          </a:p>
        </p:txBody>
      </p:sp>
      <p:sp>
        <p:nvSpPr>
          <p:cNvPr id="52264" name="Text Box 40">
            <a:extLst>
              <a:ext uri="{FF2B5EF4-FFF2-40B4-BE49-F238E27FC236}">
                <a16:creationId xmlns:a16="http://schemas.microsoft.com/office/drawing/2014/main" id="{7C27DAE4-AFF3-03FC-7FDD-406494E14542}"/>
              </a:ext>
            </a:extLst>
          </p:cNvPr>
          <p:cNvSpPr txBox="1">
            <a:spLocks noChangeArrowheads="1"/>
          </p:cNvSpPr>
          <p:nvPr/>
        </p:nvSpPr>
        <p:spPr bwMode="auto">
          <a:xfrm>
            <a:off x="6877050" y="4724400"/>
            <a:ext cx="13684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赌博者曲线</a:t>
            </a:r>
          </a:p>
        </p:txBody>
      </p:sp>
      <p:sp>
        <p:nvSpPr>
          <p:cNvPr id="52265" name="Text Box 41">
            <a:extLst>
              <a:ext uri="{FF2B5EF4-FFF2-40B4-BE49-F238E27FC236}">
                <a16:creationId xmlns:a16="http://schemas.microsoft.com/office/drawing/2014/main" id="{C58B9B35-DF9C-D6BE-8585-5F442848D6EC}"/>
              </a:ext>
            </a:extLst>
          </p:cNvPr>
          <p:cNvSpPr txBox="1">
            <a:spLocks noChangeArrowheads="1"/>
          </p:cNvSpPr>
          <p:nvPr/>
        </p:nvSpPr>
        <p:spPr bwMode="auto">
          <a:xfrm>
            <a:off x="2051050" y="5373688"/>
            <a:ext cx="6408738"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低                                     风险大小                                       高</a:t>
            </a:r>
          </a:p>
        </p:txBody>
      </p:sp>
      <p:sp>
        <p:nvSpPr>
          <p:cNvPr id="52266" name="Text Box 42">
            <a:extLst>
              <a:ext uri="{FF2B5EF4-FFF2-40B4-BE49-F238E27FC236}">
                <a16:creationId xmlns:a16="http://schemas.microsoft.com/office/drawing/2014/main" id="{3B91A63C-54F4-F3BD-DBCA-F2557A51BE4D}"/>
              </a:ext>
            </a:extLst>
          </p:cNvPr>
          <p:cNvSpPr txBox="1">
            <a:spLocks noChangeArrowheads="1"/>
          </p:cNvSpPr>
          <p:nvPr/>
        </p:nvSpPr>
        <p:spPr bwMode="auto">
          <a:xfrm>
            <a:off x="1258888" y="908050"/>
            <a:ext cx="719137" cy="44862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0"/>
              </a:spcBef>
            </a:pPr>
            <a:r>
              <a:rPr lang="en-US" altLang="zh-CN"/>
              <a:t>1.00</a:t>
            </a:r>
          </a:p>
          <a:p>
            <a:pPr>
              <a:spcBef>
                <a:spcPct val="200000"/>
              </a:spcBef>
            </a:pPr>
            <a:r>
              <a:rPr lang="en-US" altLang="zh-CN"/>
              <a:t>0.80</a:t>
            </a:r>
          </a:p>
          <a:p>
            <a:pPr>
              <a:spcBef>
                <a:spcPct val="200000"/>
              </a:spcBef>
            </a:pPr>
            <a:r>
              <a:rPr lang="en-US" altLang="zh-CN"/>
              <a:t>0.60</a:t>
            </a:r>
          </a:p>
          <a:p>
            <a:pPr>
              <a:spcBef>
                <a:spcPct val="200000"/>
              </a:spcBef>
            </a:pPr>
            <a:r>
              <a:rPr lang="en-US" altLang="zh-CN"/>
              <a:t>0.40</a:t>
            </a:r>
          </a:p>
          <a:p>
            <a:pPr>
              <a:spcBef>
                <a:spcPct val="200000"/>
              </a:spcBef>
            </a:pPr>
            <a:r>
              <a:rPr lang="en-US" altLang="zh-CN"/>
              <a:t>0.20</a:t>
            </a:r>
          </a:p>
          <a:p>
            <a:pPr>
              <a:spcBef>
                <a:spcPct val="200000"/>
              </a:spcBef>
            </a:pPr>
            <a:r>
              <a:rPr lang="en-US" altLang="zh-CN"/>
              <a:t>0.00</a:t>
            </a:r>
          </a:p>
        </p:txBody>
      </p:sp>
      <p:sp>
        <p:nvSpPr>
          <p:cNvPr id="52267" name="Text Box 43">
            <a:extLst>
              <a:ext uri="{FF2B5EF4-FFF2-40B4-BE49-F238E27FC236}">
                <a16:creationId xmlns:a16="http://schemas.microsoft.com/office/drawing/2014/main" id="{23EE155E-6E54-C1BD-009E-E588CA1D7665}"/>
              </a:ext>
            </a:extLst>
          </p:cNvPr>
          <p:cNvSpPr txBox="1">
            <a:spLocks noChangeArrowheads="1"/>
          </p:cNvSpPr>
          <p:nvPr/>
        </p:nvSpPr>
        <p:spPr bwMode="auto">
          <a:xfrm>
            <a:off x="827088" y="2420938"/>
            <a:ext cx="504825" cy="1190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统计概率</a:t>
            </a:r>
          </a:p>
        </p:txBody>
      </p:sp>
      <p:sp>
        <p:nvSpPr>
          <p:cNvPr id="52272" name="Rectangle 48">
            <a:extLst>
              <a:ext uri="{FF2B5EF4-FFF2-40B4-BE49-F238E27FC236}">
                <a16:creationId xmlns:a16="http://schemas.microsoft.com/office/drawing/2014/main" id="{3CD0CD82-8DDF-C7F2-FDBE-CB62DF096B93}"/>
              </a:ext>
            </a:extLst>
          </p:cNvPr>
          <p:cNvSpPr>
            <a:spLocks noChangeArrowheads="1"/>
          </p:cNvSpPr>
          <p:nvPr/>
        </p:nvSpPr>
        <p:spPr bwMode="auto">
          <a:xfrm>
            <a:off x="1979613" y="3644900"/>
            <a:ext cx="6553200" cy="863600"/>
          </a:xfrm>
          <a:prstGeom prst="rect">
            <a:avLst/>
          </a:prstGeom>
          <a:solidFill>
            <a:schemeClr val="bg1">
              <a:alpha val="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73" name="Rectangle 49">
            <a:extLst>
              <a:ext uri="{FF2B5EF4-FFF2-40B4-BE49-F238E27FC236}">
                <a16:creationId xmlns:a16="http://schemas.microsoft.com/office/drawing/2014/main" id="{B9A862C3-1F7C-F51B-F4D5-8586210E05AB}"/>
              </a:ext>
            </a:extLst>
          </p:cNvPr>
          <p:cNvSpPr>
            <a:spLocks noChangeArrowheads="1"/>
          </p:cNvSpPr>
          <p:nvPr/>
        </p:nvSpPr>
        <p:spPr bwMode="auto">
          <a:xfrm>
            <a:off x="1979613" y="4508500"/>
            <a:ext cx="6553200" cy="863600"/>
          </a:xfrm>
          <a:prstGeom prst="rect">
            <a:avLst/>
          </a:prstGeom>
          <a:solidFill>
            <a:schemeClr val="bg1">
              <a:alpha val="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74" name="Rectangle 50">
            <a:extLst>
              <a:ext uri="{FF2B5EF4-FFF2-40B4-BE49-F238E27FC236}">
                <a16:creationId xmlns:a16="http://schemas.microsoft.com/office/drawing/2014/main" id="{B1CEA690-B9B1-31EB-F313-B17BA74E207D}"/>
              </a:ext>
            </a:extLst>
          </p:cNvPr>
          <p:cNvSpPr>
            <a:spLocks noChangeArrowheads="1"/>
          </p:cNvSpPr>
          <p:nvPr/>
        </p:nvSpPr>
        <p:spPr bwMode="auto">
          <a:xfrm>
            <a:off x="1979613" y="2781300"/>
            <a:ext cx="6553200" cy="863600"/>
          </a:xfrm>
          <a:prstGeom prst="rect">
            <a:avLst/>
          </a:prstGeom>
          <a:solidFill>
            <a:schemeClr val="bg1">
              <a:alpha val="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75" name="Rectangle 51">
            <a:extLst>
              <a:ext uri="{FF2B5EF4-FFF2-40B4-BE49-F238E27FC236}">
                <a16:creationId xmlns:a16="http://schemas.microsoft.com/office/drawing/2014/main" id="{D84E0EC0-8ADF-F56B-1A1F-E38A7E98B9F2}"/>
              </a:ext>
            </a:extLst>
          </p:cNvPr>
          <p:cNvSpPr>
            <a:spLocks noChangeArrowheads="1"/>
          </p:cNvSpPr>
          <p:nvPr/>
        </p:nvSpPr>
        <p:spPr bwMode="auto">
          <a:xfrm>
            <a:off x="1979613" y="1916113"/>
            <a:ext cx="6553200" cy="863600"/>
          </a:xfrm>
          <a:prstGeom prst="rect">
            <a:avLst/>
          </a:prstGeom>
          <a:solidFill>
            <a:schemeClr val="bg1">
              <a:alpha val="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76" name="Rectangle 52">
            <a:extLst>
              <a:ext uri="{FF2B5EF4-FFF2-40B4-BE49-F238E27FC236}">
                <a16:creationId xmlns:a16="http://schemas.microsoft.com/office/drawing/2014/main" id="{0487A175-4583-C874-B922-CC3D4341FE31}"/>
              </a:ext>
            </a:extLst>
          </p:cNvPr>
          <p:cNvSpPr>
            <a:spLocks noChangeArrowheads="1"/>
          </p:cNvSpPr>
          <p:nvPr/>
        </p:nvSpPr>
        <p:spPr bwMode="auto">
          <a:xfrm>
            <a:off x="1979613" y="1052513"/>
            <a:ext cx="6553200" cy="863600"/>
          </a:xfrm>
          <a:prstGeom prst="rect">
            <a:avLst/>
          </a:prstGeom>
          <a:solidFill>
            <a:schemeClr val="bg1">
              <a:alpha val="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77" name="Arc 53">
            <a:extLst>
              <a:ext uri="{FF2B5EF4-FFF2-40B4-BE49-F238E27FC236}">
                <a16:creationId xmlns:a16="http://schemas.microsoft.com/office/drawing/2014/main" id="{7575A4B9-C295-538A-21A7-01C5BAA1A65B}"/>
              </a:ext>
            </a:extLst>
          </p:cNvPr>
          <p:cNvSpPr>
            <a:spLocks/>
          </p:cNvSpPr>
          <p:nvPr/>
        </p:nvSpPr>
        <p:spPr bwMode="auto">
          <a:xfrm flipV="1">
            <a:off x="1979613" y="1052513"/>
            <a:ext cx="6553200" cy="432117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78" name="Arc 54">
            <a:extLst>
              <a:ext uri="{FF2B5EF4-FFF2-40B4-BE49-F238E27FC236}">
                <a16:creationId xmlns:a16="http://schemas.microsoft.com/office/drawing/2014/main" id="{003AE8B9-B428-F42D-DBFC-E9E0CAA09ED8}"/>
              </a:ext>
            </a:extLst>
          </p:cNvPr>
          <p:cNvSpPr>
            <a:spLocks/>
          </p:cNvSpPr>
          <p:nvPr/>
        </p:nvSpPr>
        <p:spPr bwMode="auto">
          <a:xfrm rot="10800000" flipV="1">
            <a:off x="1979613" y="1052513"/>
            <a:ext cx="6553200" cy="432117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80" name="Arc 56">
            <a:extLst>
              <a:ext uri="{FF2B5EF4-FFF2-40B4-BE49-F238E27FC236}">
                <a16:creationId xmlns:a16="http://schemas.microsoft.com/office/drawing/2014/main" id="{BF8C510B-A996-81F2-19E6-916A5DE36BF5}"/>
              </a:ext>
            </a:extLst>
          </p:cNvPr>
          <p:cNvSpPr>
            <a:spLocks/>
          </p:cNvSpPr>
          <p:nvPr/>
        </p:nvSpPr>
        <p:spPr bwMode="auto">
          <a:xfrm flipV="1">
            <a:off x="1979613" y="3644900"/>
            <a:ext cx="2592387" cy="172878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82" name="Arc 58">
            <a:extLst>
              <a:ext uri="{FF2B5EF4-FFF2-40B4-BE49-F238E27FC236}">
                <a16:creationId xmlns:a16="http://schemas.microsoft.com/office/drawing/2014/main" id="{95424E41-3079-F87E-EF60-51C584F27021}"/>
              </a:ext>
            </a:extLst>
          </p:cNvPr>
          <p:cNvSpPr>
            <a:spLocks/>
          </p:cNvSpPr>
          <p:nvPr/>
        </p:nvSpPr>
        <p:spPr bwMode="auto">
          <a:xfrm rot="10800000" flipV="1">
            <a:off x="4572000" y="1052513"/>
            <a:ext cx="3960813" cy="259238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1117</TotalTime>
  <Words>1555</Words>
  <Application>Microsoft Office PowerPoint</Application>
  <PresentationFormat>全屏显示(4:3)</PresentationFormat>
  <Paragraphs>248</Paragraphs>
  <Slides>18</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18</vt:i4>
      </vt:variant>
    </vt:vector>
  </HeadingPairs>
  <TitlesOfParts>
    <vt:vector size="25" baseType="lpstr">
      <vt:lpstr>Times New Roman</vt:lpstr>
      <vt:lpstr>宋体</vt:lpstr>
      <vt:lpstr>Arial</vt:lpstr>
      <vt:lpstr>华文行楷</vt:lpstr>
      <vt:lpstr>Courier New</vt:lpstr>
      <vt:lpstr>黑体</vt:lpstr>
      <vt:lpstr>默认设计模板</vt:lpstr>
      <vt:lpstr>第6讲  制定决策</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TDR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决策</dc:title>
  <dc:creator>sc</dc:creator>
  <cp:lastModifiedBy>先生 刘</cp:lastModifiedBy>
  <cp:revision>34</cp:revision>
  <dcterms:created xsi:type="dcterms:W3CDTF">2002-03-31T11:41:03Z</dcterms:created>
  <dcterms:modified xsi:type="dcterms:W3CDTF">2023-10-22T14:24:53Z</dcterms:modified>
</cp:coreProperties>
</file>