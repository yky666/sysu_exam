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33"/>
  </p:notesMasterIdLst>
  <p:sldIdLst>
    <p:sldId id="366" r:id="rId2"/>
    <p:sldId id="367" r:id="rId3"/>
    <p:sldId id="278" r:id="rId4"/>
    <p:sldId id="368" r:id="rId5"/>
    <p:sldId id="314" r:id="rId6"/>
    <p:sldId id="361" r:id="rId7"/>
    <p:sldId id="344" r:id="rId8"/>
    <p:sldId id="315" r:id="rId9"/>
    <p:sldId id="369" r:id="rId10"/>
    <p:sldId id="345" r:id="rId11"/>
    <p:sldId id="318" r:id="rId12"/>
    <p:sldId id="370" r:id="rId13"/>
    <p:sldId id="362" r:id="rId14"/>
    <p:sldId id="321" r:id="rId15"/>
    <p:sldId id="371" r:id="rId16"/>
    <p:sldId id="350" r:id="rId17"/>
    <p:sldId id="349" r:id="rId18"/>
    <p:sldId id="363" r:id="rId19"/>
    <p:sldId id="351" r:id="rId20"/>
    <p:sldId id="352" r:id="rId21"/>
    <p:sldId id="353" r:id="rId22"/>
    <p:sldId id="354" r:id="rId23"/>
    <p:sldId id="364" r:id="rId24"/>
    <p:sldId id="372" r:id="rId25"/>
    <p:sldId id="365" r:id="rId26"/>
    <p:sldId id="355" r:id="rId27"/>
    <p:sldId id="356" r:id="rId28"/>
    <p:sldId id="357" r:id="rId29"/>
    <p:sldId id="358" r:id="rId30"/>
    <p:sldId id="359" r:id="rId31"/>
    <p:sldId id="338" r:id="rId3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D09A14"/>
    <a:srgbClr val="CACA1A"/>
    <a:srgbClr val="24C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73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63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3" Type="http://schemas.openxmlformats.org/officeDocument/2006/relationships/slide" Target="slides/slide7.xml"/><Relationship Id="rId7" Type="http://schemas.openxmlformats.org/officeDocument/2006/relationships/slide" Target="slides/slide12.xml"/><Relationship Id="rId2" Type="http://schemas.openxmlformats.org/officeDocument/2006/relationships/slide" Target="slides/slide5.xml"/><Relationship Id="rId1" Type="http://schemas.openxmlformats.org/officeDocument/2006/relationships/slide" Target="slides/slide3.xml"/><Relationship Id="rId6" Type="http://schemas.openxmlformats.org/officeDocument/2006/relationships/slide" Target="slides/slide11.xml"/><Relationship Id="rId5" Type="http://schemas.openxmlformats.org/officeDocument/2006/relationships/slide" Target="slides/slide9.xml"/><Relationship Id="rId10" Type="http://schemas.openxmlformats.org/officeDocument/2006/relationships/slide" Target="slides/slide31.xml"/><Relationship Id="rId4" Type="http://schemas.openxmlformats.org/officeDocument/2006/relationships/slide" Target="slides/slide8.xml"/><Relationship Id="rId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7499ED1A-D101-B786-F59B-A65E3C27B7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4A4A3391-CA78-1495-5F4C-EFBEAAA20C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31780" name="Rectangle 4">
            <a:extLst>
              <a:ext uri="{FF2B5EF4-FFF2-40B4-BE49-F238E27FC236}">
                <a16:creationId xmlns:a16="http://schemas.microsoft.com/office/drawing/2014/main" id="{BCE8C8F3-85FB-0DAD-1EAB-7D2210A2D09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1781" name="Rectangle 5">
            <a:extLst>
              <a:ext uri="{FF2B5EF4-FFF2-40B4-BE49-F238E27FC236}">
                <a16:creationId xmlns:a16="http://schemas.microsoft.com/office/drawing/2014/main" id="{24EA60E5-9C1C-96BA-FE51-3BA5694DE8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31782" name="Rectangle 6">
            <a:extLst>
              <a:ext uri="{FF2B5EF4-FFF2-40B4-BE49-F238E27FC236}">
                <a16:creationId xmlns:a16="http://schemas.microsoft.com/office/drawing/2014/main" id="{E29A53A7-4674-8890-10DE-BC2F9A9A00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31783" name="Rectangle 7">
            <a:extLst>
              <a:ext uri="{FF2B5EF4-FFF2-40B4-BE49-F238E27FC236}">
                <a16:creationId xmlns:a16="http://schemas.microsoft.com/office/drawing/2014/main" id="{B435004E-B026-6550-D3DF-7144093B1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D5E03B-ED82-4692-8C62-95F831E514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4388A2AC-D906-920E-DCAF-3F8095067BF1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F902A2B2-048B-8056-B4EA-2D5B573507B9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741D4E40-6B72-302F-630B-D9F267C52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4E8A4AEC-1D67-BDBC-775F-FEE074E3C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76796260-B2F6-F65A-0A6C-EA7A3E329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2A16291B-8818-DA05-FBD7-9530DFA5C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DE033133-4D4B-CE25-BA4C-8C7E542B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24C058AC-EA39-A5D3-A749-D41918AC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5ACDF52E-2C6D-4884-927A-E2E9CCB1B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279D9238-26AA-3749-C951-9CD7155C5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985BAD71-2DC5-C373-C43A-B666BA9C9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AE883C8E-1162-E67C-670A-3407F43C0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BED06209-5144-D631-24EB-48552CD80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79435527-6459-9778-3B45-60649E4CC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40D19F1F-54F4-FBC0-D188-9F3C038DD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9188AEC6-07BA-6CF4-5E27-32FEEE488465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A6FEC141-350E-1F27-1EE1-FD3281BEC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F932F3DD-808D-1EA5-95ED-4D99D1CFEA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F3C69F8C-A37C-63BD-446F-C1CDEA8F10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461D9CFE-2005-E7D0-5184-F81C1F0B54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082929FF-6709-47E0-8207-F3BBA8CE26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52C105C4-A64D-67A5-3C62-230407EFB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B056C1F4-27F2-8091-4885-9D4D73F76E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90B08912-A72C-2DAC-DE7C-50F217D35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B5914C8D-E388-34DC-7D9F-18549D0F4D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FB98DA2C-F7BC-9ED8-3AAD-0DFE7B4A95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4DD4843B-0A68-9D04-57C2-CFF042DBBB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6E36A0AA-2873-C2C0-096F-67718033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2F45A0C3-AA65-C64E-6106-ADE4868B8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0D519CBE-93C3-88B7-50CE-449EE54D16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8EB31C84-13F1-8ACF-E702-8140887A2E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21F83C7C-4C9D-A038-0FCE-64A4BB3AF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8513E6CC-1756-485A-CA8E-01222E409A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CF3916E7-8998-7297-2F2C-52C7E7CE1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BE49D41F-A3FC-5CB1-E66E-ECD7D7E8AA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264C0249-7A97-6A85-5349-16DFF89467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4D0916CB-DB8D-8069-75CE-6F464313DC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575203A6-8420-E6DB-D108-642A301B6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69458D8A-65BB-603C-6C84-166565BED1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5E6DEF0C-AD28-3B75-CDFC-38842685B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0B6E1C33-E4D3-3827-0062-19E06D040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89FE958F-9EB4-EA2C-8B80-BAB27A18E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CD3286D6-7B3C-13D1-DEA2-AA45AC5E26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5F01A23B-4FFE-0668-51BC-1D61C9573F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8B6FE874-2976-9050-2DA9-1E812A4A9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3DB02B0D-DB97-A2A8-4DC8-679F644D65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13AADC17-026D-98EB-62E5-ABC079A8E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657D58B4-CAAA-F9EC-976E-708445FCD8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D2A584B2-32F5-AFB7-1570-0BF9EDC3E0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7E1DD1B1-5632-15D7-3002-7F844FFA5E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73D5444B-4585-0ABF-A029-A54455097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9F8E4A59-AFF0-4D5A-E9B3-D75075CF4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6F0FA069-E321-F0AF-E607-ADEFCCC9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AABEA5FA-B342-17C1-39C6-B5358A1BB8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8BCE06AB-D0B7-FF00-598B-FBFA6370C0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F5B972A2-E69C-A16D-FF7E-1D20ABF906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4AD8EBC9-059F-AB77-F519-513038D68E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DE1E371A-7D5D-0D73-CEEB-A78DF535B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E0405649-C27F-84A2-01D5-1E7D4C875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2489E783-53A5-259D-2D05-B2853B3A90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D064E053-B970-5C67-7CCC-BCFFEB112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FCA0CDB5-69DA-66DC-B4E4-0BA74B7DC7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CC62D4EF-BE2C-CE0B-A5C7-A16ED53ED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3C6FF203-D0BB-B434-AEF4-A2B4507C3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A7092800-38DE-5677-CF66-C6505E1F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F102BC20-A2D1-76D5-BCA2-D0057C1B9D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C31639CD-4CC5-05F3-48F1-F90372C48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255006CE-F9F4-38D2-BFED-D3DE6D6AE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5377DFFA-E283-B655-1D24-02278ED90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55CE6412-E908-B1AD-66D1-BEF37AFFBC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A8784B9F-8110-B7A2-1AD1-CA1B01FF2B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9FA46607-E7B2-73CA-55D2-569597C8A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A662B35A-120F-B33A-17D8-B33CB4CBE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608303A7-3A3E-028A-6279-D41C1D96FE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06FCE3B5-445E-7516-79C2-7A11A1531C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0039502F-913D-AF5B-6415-B78859E2A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10C2C30F-9C6D-40A2-EA67-D202AD179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9D66B258-AF16-D76B-40EF-9F5CAA4E0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1194477B-4945-E567-FAB8-921C418B7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E8EB7CE5-5CE5-04B7-EE79-58FED6801D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6269F355-C6CB-D836-DB46-01CABC0AB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2FF68762-2656-6593-FBED-FC93CA8507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CBF26B28-95AA-7B8C-58E5-52C593ABC2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45EE68C8-63DE-B07F-5D77-4663B32AC5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CFA0FDF6-BA91-CA22-86DD-62110CE112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98FD98E7-F422-5F82-1299-F05334986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B8A58205-CFBF-2140-4BFF-474B7947CE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416E63E7-408B-9C63-2510-A78A0952C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F6E90FB4-69BC-8816-321E-540E60CE3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7628E8E3-6CBD-3BC5-9AF1-B427B5DEC1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3A2FB8FA-75EE-F175-01C0-AAFB1B01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3F9158BB-A9B0-8D05-3D4B-F30FA5F029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A455C911-7667-3D45-790F-7A63E8799E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49177167-6CA9-E1BD-BD5D-26C2D8480F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08442F60-CEEA-9F6B-E1CF-EA6CEB3A4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EF30BB80-E9F4-CA28-0AC5-44307BB10A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6199E914-C0D9-4241-020E-74CD24EE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D14F729D-D9A0-CC80-6726-696554D3C6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E2FECC20-9630-13FC-5A4A-8EAFB6A6E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EC909542-747E-E971-E949-85EB63C58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7B6E1A37-4841-682B-A2D4-AB3B619C8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8FEE62B5-2500-BB37-B3CE-E0F499163D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85BC2DED-283C-BDBE-B7F5-3A8EE31D3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CBC79C46-86B3-115D-3815-589A33BFD1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F877E0F1-B3FE-1B01-70D9-64D12B73F8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63BAA631-43C8-1E98-2D6A-E0AC28D38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724B96AB-2233-56C0-01A3-6665DD3B77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1F719D8F-CB40-A233-D577-D160BDA6A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BDF2FD86-5063-DA21-63D1-38FA16E4FD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BF89AF4E-4009-7806-6961-70A0DD25F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4CECB4A0-AA68-B6B7-98AD-FE44C3E60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ECF2F383-FD5D-40A8-5D2D-D0CA78284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B011AD42-ABC3-FE60-5303-AE2CA58B0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7CB0E838-5AB3-41E8-219F-E6461FD77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5E247FE0-2EA7-6E45-1E2C-C2C9CAEF2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DFB1F607-2C7B-E697-0151-79664DC34F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F9A9ED56-6109-933C-F181-1267149782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0B503CF1-2589-E3D1-70B8-4938510B52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E1821342-75AE-6DE7-8A3D-01EF629E8B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4A5AC044-8E72-F919-7F3B-E3DB302A2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D7AC9296-4B5F-0D4E-8BF9-256989D070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090B7E91-9C2F-39E3-3898-B5CAE2B219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2A19B60F-F435-3422-F488-6DB2B8BB8B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ABA1E163-5FD9-CF03-AFCE-185B16940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8C630155-9226-58A7-04B9-0F8E2849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2E2382C9-A25A-BAB5-8726-26303BF7C5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DB2D38F1-E58F-3C23-A6E3-FCFB4E1CAA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547C1021-0B79-B2AC-9F76-F00D91CFAE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9F2A5FC7-66FE-E111-E9F0-A8A5EAAA41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B3526D6A-CFE4-EA44-CD20-E07FED7648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F35D6C40-B337-DB50-D7CA-9BE3BC8452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AA19EA28-660B-111D-EE3E-D6D5219303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E16BAA4C-7F37-6FA1-FCE1-F9C348CC5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B6DE426E-09FC-C55D-B85F-D8C8FBEB37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6ADD3D20-D575-B6BD-1176-5BB644F76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2EF01B8E-3A83-1A49-4E8D-03271A1F6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4F2B51D5-25A1-DF17-B06C-030E5A219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BFBF801E-31CA-5A7E-B1FD-1A1676601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290F851B-455C-7074-D78B-4C62FD4AE2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690F4366-C93B-52E1-EF88-4933D0A495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A3FBE7F1-5C00-F874-A0E6-B4D8693F5A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9B84B1DD-F715-8620-3AD5-D53FF361FF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6751B32C-BDEB-2BAA-808C-F8C53A5DE8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42CBD353-3779-A318-3FE3-A362922CF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99C4BE35-B695-F8F9-EEA4-C47FABEAD8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3FFE9D79-4F17-F7C8-BF86-55F85C81F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DE126262-BDFB-CAE1-AC53-CE348BBE9A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614C91D2-599F-32F8-664E-2467910F5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4BE2DE45-1646-0002-196F-346D7489D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7E80773D-C964-D396-65B7-B124E1F973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4F7798CF-DD7C-1BC9-7E8A-445C14CE87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22D2DD74-48D1-F923-42CC-0CFE57A5BE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36354BD8-7F04-D594-6A0E-ACEF07E6B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E788EEB8-7F8E-7F11-27A0-FFDF3E1C02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A70CCCF6-3F82-94D7-78C4-7B6813A7C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947CE8CA-D48F-69F7-8831-2FD056AD07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D282D837-35D2-3362-200C-AA2355989F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52734C17-41F3-3CAE-EF5E-23641ABD58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C7EC84B3-E72C-1D0F-D271-407613A0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805DE38E-EB76-FA5C-4472-0DC3BDAD6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E61851BB-3980-06A2-38A7-35DF7AECD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829FCA66-36EE-250E-332F-440C7280D95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5F0BBE27-E6EE-347E-EBB9-BB3072F452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5B9F9465-11DD-4ACB-8886-A59141A86497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9577CABC-963A-545E-AB75-C6815C885E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3063AEE4-082B-4D93-64C2-AB2C663494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AE08AEF7-1249-4768-AC0E-1E5C31AFA32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074B02A1-82E6-A42D-0A3D-7D43D13A7177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5EA60325-42DC-B1C8-159F-DD533451BBE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B746F6BE-54D9-2EB6-6E83-D252C7BA4E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D05628EF-A6BD-F15E-54E4-515B879815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9F8B9C49-A856-4B11-1271-D35DE7D207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A551014E-EDD2-B2CA-EC50-63313505AB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B40303AC-986D-A96B-8515-2E56421CF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404169CD-1F90-B14D-5D54-E5C78328F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23C63755-8AC6-9E9D-F931-82E612BB8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F41AE0CA-C39A-D8D0-9501-223B08410C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5914761B-82F7-864E-8818-FEF80E8A92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652D5517-F4A5-767B-2696-9E0F8D3AD2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35C9DDF1-6124-DB6B-48A1-3C560A5A63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35508199-6FEB-C9DA-ED12-C252D4BA9A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38335B8E-4AB7-C2B8-C8AB-D975A9C8F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30EDD-5403-BC01-4D49-C4B2F93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A28D6-9673-71EF-177C-8232143A4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863D9-1B11-ECEF-FEFE-041541D2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03D18C-C4CF-4A59-8303-1F091C1088ED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719457-AAB5-CA29-BD6C-6052DC36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CD83A-3163-DAC8-AFC2-23598501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F7998-CFD2-4AD6-BEEA-7EC4CCB26C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1751625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C47D2-7BDE-CDCC-E361-B1FDE78D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BBEBD-F631-F6AE-84D0-099D61DAA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D9380-C7C4-87AB-E581-3368DE28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D5B25E-FD31-44C5-8C08-F63E858A353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AA7A05-B3E4-A982-FD49-3F786FF1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2A1DE-926E-B950-D212-6D44C5AA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50476-D7FE-4AA9-9CB9-12DCF1B958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858897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594A4-CA64-49B6-18F2-743AA903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65CCF-E576-F21C-299C-8D34A423D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F8A684-E4C3-E970-EB6F-87C15726B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F97F26-95BF-D826-AFFC-CC6511E8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4778BA-0A01-4EC0-A0D9-25DA4F9F58AE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F4374-7E34-8482-7A54-A440DF4F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B08FE-D6D7-2F21-1488-3988A0A1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35F03-5605-4D84-8BC7-8D4D31487E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158296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EE768-9D69-D5C1-2511-E126442D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B18286-2D2E-7E01-0119-31798BDA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499A5-AD51-C92A-FD74-DA1E6C43E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CB859A-5C6D-B410-9D3D-51072BF6B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B3A795-35EB-02DB-727A-C038B376C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55C63E-6405-2282-37EB-C68A2DAA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C78416-44A3-42F4-B851-0BA483B01A7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951F33-3469-DDC7-8DAC-C3E4CF12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F67527-5303-2DDE-05E6-8C70C186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414EB-1A45-4356-A242-33DEB19A08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173654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8D322-B812-34A0-A25B-12A6C708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448B2A-07AA-5616-394E-1E99B785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2C0DA1-732C-4A3C-9ECA-DCA8CF8CAA7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99C0E0-B196-AF57-F1AC-97DE2F70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1D3748-D791-A590-BFF0-2B1F0EB2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8B333-3AF9-4177-99ED-9C4B988DE4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7175240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8DF303-D5E7-DCBB-BBF7-FA178459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A7B67E-E5D1-45A2-BB40-514B2963B958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C44A2B-9EF5-8CDA-BAD2-91611FCFE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B72A6C-947B-5B6A-4805-03F0E3F9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FAA6D-CA90-4C52-A96B-16B2590E81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998713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C5CEC-DA33-BD26-DB02-D7DCA9B1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289E4-B5A8-E2DB-58D3-896DE81C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733AA8-AD8C-B3FA-E51E-EF8236368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55803-4C26-7008-F1F2-07F9B466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19E554-AC8D-4DB6-89CF-F9CD5CA9710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9AC881-6D3C-D5DB-40F2-F1006D0A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B8ED8-C2C1-1CBD-8079-1D47F066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72891-189F-4956-BAF9-9470E7B71B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37130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1A03A-F252-22CB-A429-DA925476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315D13-BCC8-F4DF-9852-E43F4AB7D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3C98C-059B-DDF5-908E-1B114753E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38E96-A80A-1C7E-EF1B-07DA6D15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C729A4-D0A7-419F-BC1C-C0EDFB50E3E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D02D22-66D4-C91A-5014-301D7AD0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923524-AD21-B2A4-72EE-087EB7F6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767FA-58AB-45DE-991B-08910C0BB4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699064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93D90-939E-D07D-86EE-74E7322E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60C5F4-28AC-0126-A54F-A641F69A1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46C4D6-6244-1936-B9BD-5491C0D5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C2A94E-A367-424D-9EA1-860D482DF728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98F21-56B4-F286-AC0C-F91995E5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6D19E-C50F-0718-61E2-B3666F72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B57027-FEAA-4173-85B6-2407775AB5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410507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CAAACB-8C4F-B018-51E7-49C4CC1DB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1AD2F0-8EBD-1EC2-7590-32D216050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9D678-4F59-9BC0-0A12-BC706472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E11DBE-5A49-43BB-864A-9CB9408B8E4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7831F-0E3B-D401-77DC-68016D36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FA536-4A68-60A8-5A32-33C91549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C319D-5731-4148-8EC3-77455FD0FB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90451"/>
      </p:ext>
    </p:extLst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8291B-9939-B5BC-3B0A-E09FB2D1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08B171D3-730E-3365-B9BA-E80C1AC2DBA6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609600" y="1600200"/>
            <a:ext cx="8153400" cy="4498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21432-5AA7-5F40-EE0F-8ADF95CD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845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CC0AE2D0-3930-43D0-9EB8-24729459D9B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99DB2-8A2C-B11E-3876-F4E9CC42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1025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5A2C5-B2FF-8C5A-4F06-34914A06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00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06141393-A13B-4450-B142-93C4C8CBBF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5655745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CEAC33FA-C1AA-180D-5C30-A74154A82C87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5A29CA95-703E-A542-715F-B64ADB149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408A755E-6BAA-A0F6-39A1-C13DF8FDFE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0D6619A3-006B-6FE3-761C-9CB8484772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AC4718A2-4A87-0164-390A-C1E41DED86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FCC76546-9599-6ABA-BD61-148F541AE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4214DB8C-8392-50D2-7A2B-234064319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6733DAED-6369-408D-0AD9-48C159A7AF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75FE16E7-E013-BDBC-E5DE-7CC70A90CC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21A32008-10EF-0444-6561-DD6E7A061D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6D56EED8-8ECD-3535-6CEB-067F23B420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1A1EC3F1-B78F-B35F-16CE-551E035B75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C1487B52-468C-7868-D05C-2C455D551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DB5D2A98-D6AC-3A23-B178-73ABC3B6A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3AF9FF89-D6CB-DC8A-0AC9-E5BB22938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B253D267-BF28-7A45-1C3A-6A4848806D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930DDCC9-995A-37F6-051E-685D2373B3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5B1D9F74-F551-9304-C10A-53DEAC1985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4D1E84FC-6668-D6D6-D02F-E80F3AF0E5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A85498BD-0416-828C-E071-4CC7432EB1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477E55ED-44C9-5E08-0360-8E1A160004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8111C0FC-100E-5017-8522-1CB4B6F320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CAF68945-D97A-C4E7-104D-3AEBD6947F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CB5B9589-D2ED-03C9-D2C3-DA61C3A8CD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BC203AD3-DCA6-A0DC-E13F-216D1C426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06677718-0FD7-5531-90CA-19E705F90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55206893-1256-BB32-D9AF-69EE4E36C0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B858B420-259B-6EBA-5868-9A4D3D2B5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FC1B4CDE-562E-5FBD-A4C2-EE41F198ED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7926A203-ED65-C292-5E43-A2551D4BB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BBBA4953-897A-0AC7-C770-942AA66509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596D9EB8-864A-E5B1-E6FA-EF172932F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3C0206DF-C31E-1D47-F9D5-DE4E23D0B1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C0F9A9C8-DB47-70FD-72F8-401E07222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724E85CA-848D-F45B-6816-D79A1AC4E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81A6D5C5-47F0-48E4-EB10-C70E4BEB8C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98900D3A-DFDB-FC86-205C-6EE80EC60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8F8333D6-BD27-83DA-8BEA-1DBB51F86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5B3FD507-7DC1-5260-0202-53DF6323DF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31012F09-328C-D68A-025F-834036575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62757AF1-BD4E-0649-BE79-7D4462787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6AFB8794-0A0C-E4E9-A557-5E7D33E99D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7CCB77B3-2C91-75D2-2D82-27C8C4995D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08BFF868-EBD6-B11F-121D-9B9DE6D043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4E40BEB5-4BE2-7AA6-F12D-F035F682F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ECA79262-E80C-AF1D-DDAB-B76781ECBE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8A62CD0A-5933-B12F-4B25-C69BEF4817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E88320DE-C47F-0045-D701-37F6DCFA0E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6E9A28C1-359B-9D61-FF77-B7A80062B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16B43122-CB39-425F-BFF8-3A2AB6EDB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92FB67B5-B317-F3BD-9C12-DA02DFA682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1365B2AD-3BC5-9860-F43C-262F333FCC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BDEF5FCF-C8DC-60FF-6DDE-CA7401825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53E6304F-B2B0-C204-DEBC-B8467548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2FCF7A13-F5F9-0A60-9980-96D247A3D0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6EC24F5F-7397-63E7-2A19-DACA66BE27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E9431B2B-4ABD-5D87-AF92-D0D1D25C8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F483C7D5-A58D-7FB5-6435-313175E838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A4E7254B-63E1-F1EA-E1AA-827D61DB37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CB644CEB-4F8C-AD37-5759-43F19719E2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464A5D43-DF59-DFC7-5F06-61AC92EC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630105FD-5106-ABFF-836D-99215D294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2799FC06-40E8-2023-820C-880A56C1E8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52BC6753-40E2-C62D-AF19-F7936F67F7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5F94A0B9-8828-FB7F-CEC1-0E41365AF9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3D251C88-2BE5-3DC5-DC2B-B58959841C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47AEE812-DA5B-E5F3-8D40-05F70A97D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ED06824B-7AAA-7AD1-DCDB-01A4CC2F20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3DB3EFE2-7A3C-4E80-5CC4-263DCA43E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08A8DEBA-F9A6-D0E4-795B-DCFF0067E8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D1B50273-6894-2E00-1CD0-B42DA3DAD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102292E0-C880-1E34-0849-56629173B5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71690875-2160-F5D0-FFCB-20C56D5EB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CB90978A-45CE-6667-D0B7-4EC5BDCAE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8DC678F6-F02E-23AF-B96E-C5BEF85B8F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8A9343E6-8F34-F866-60B6-7A8F476B33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18801338-E931-D5A6-15DA-6ABDBD22A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BB7FB46F-0BB1-7EEA-A46A-09E773E8F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DF02D95E-B6C4-1255-F1B4-EEE927D5A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80A67D4D-A125-B8D0-7A9D-92C5EF31E2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5B3B1AB9-9C71-796F-9D0D-591D3F5946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6CC3A2A1-E981-312C-6E14-974DA2051C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0E49FECA-F294-666A-9C69-FFDA27B8B7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6074995D-1E23-169B-8357-2A30B0588B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2A978794-8CBE-7718-7B51-D70355C3E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160264EF-700E-6B30-582E-EEB241F4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E7DB6834-AB5E-F836-01EA-8EC6FCF74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5D4CB722-CE41-E926-66E6-1A48D22ED4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E72A58E6-CBE8-8990-C527-E1BEBBE473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6A158A6D-AAB6-0BE2-AFD2-ABA6DEBDF6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719C9839-9C81-7259-67A8-9485F5234E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08C38F56-4190-4462-6B99-BD388C328F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D7F92F42-AFCF-C183-14C6-096B50BE6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BE230111-EE6D-92FD-5DF4-0057B6C0B8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DA0E085E-995B-AAA1-FB69-3EF9D4CB4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BE82B3D2-E4E9-09CE-D4FB-3245B6BE5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98EA1FEF-E196-BE23-B9C3-97B2AA70F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08C275B7-8E6E-29A2-A6F1-DFEA026FD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7F089B6E-5AB2-C96C-3753-60AE42376B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113523CE-3C5F-53A0-305D-E888BCED87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36E8E518-FCE4-3EFD-36B5-F70C65C42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8666AADB-6424-83A1-A4E4-39989FEC55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DC1D50DA-BF35-A55D-C5AE-663733283F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C7FDC104-86A1-CFBD-A05A-8A5F0AEA4E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8CEE9736-27D3-703D-2B6A-A086925F6C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19BF7DC0-FF17-EB35-9583-0659D1DAD8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33AF1A7F-778F-1205-456A-8A2FE5E653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B371CCF9-4943-93E7-7FDA-98D5F813DF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1F7B394E-1842-7CB8-CB25-AFD1749BB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2B81A613-4915-D7F5-AD07-0E851A68C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CA63836F-9313-356C-1851-0AE770AA2A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009B53E2-B7A7-09D5-B836-824B29BBBD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452DDEFF-67FC-48AF-41BA-8068BF0DC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208D3982-4BA8-D68D-796F-D3021D29C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07B4F5AF-0569-BBA7-BAB4-0863780716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CF7F6B79-4063-4A58-62CC-A1B21795F2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E089FDAC-0E37-E693-2AF3-B2AB9F8A5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5D7B7AE9-72D2-634B-B76D-648DB630B6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294555EA-15AD-7A31-BD59-1600E41747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E3AC677D-0B27-9AB8-1D7F-BD4CACA725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01EF366C-E2DE-02B4-8C29-3677F650C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5A5059B1-1569-869D-A8EB-CB5B06621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101961A1-92D0-2A6A-CFFC-BC8B353C25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5C5C5EDF-5D1C-2A19-DBBE-92A0D01AC0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D2B9963B-AEB3-C547-D0D1-55962F5626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0E72F208-18E8-5BB2-1DC5-89AC54399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B5220423-7E28-62E0-85C1-CF4D71CFF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64DCB33E-A132-175F-3E0E-E55ABC84C7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C5D514BC-88E2-11CC-D9B1-9FC59ECD54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147A1C84-22B2-2405-8073-25F569141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4BE39B9E-F5DE-FE6E-6524-B6258C3479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1595AC84-931B-A8DA-F10B-031E440D7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70BCBFD7-54A1-A895-13AA-1970941B3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55546841-216E-73B1-02FE-E5808ACC7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F75C7499-01EF-8B6C-B8C9-8ACEA7EB8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F80898D5-5309-8DC8-47BF-BD7CFB4DDD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F06D39E6-045B-D2E8-EE41-9B7A906966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29420433-1932-D63A-8B34-74DC67EAAE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A29207B0-7B3E-46B9-1364-24DAB7B51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D8191404-FFEF-EFD0-C83A-A465C44F26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FB10126D-F8DB-ED8C-BF41-E2AEC35EAF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D3DD0ACF-E808-B0A3-9980-453D9CE2A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D15CAD7A-C22D-7AC1-9D9B-7567270D91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C4DB7585-9729-70A4-BE2E-8A65E64AD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81A77E29-26BF-F6D7-ED29-161345ED7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8CA6E425-9C16-00A7-E35D-16F728AA8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8D6EDABE-4107-2336-696C-FF17556A1A24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1D4D3CC6-0C97-89EE-B0A1-4D11F0884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6E14B30A-2A2C-A4BC-E097-2A69BAE3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50B5DAB8-F69B-C51C-EDC5-27F1AD8B55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774396EF-3A35-6CB9-F147-941052E953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D34C6C9C-F9B2-F18C-3EC8-959EC5C26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262BE10B-8151-5A84-9A4F-6642DFA79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1616A75F-7E73-11DF-A3AA-BC7B963B3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7E4D2441-9150-F2E0-27D5-9525093B3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9983E66B-AE5C-FC94-1B8F-49AD07B245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6880EBF4-018B-1AEC-54F7-EE4924BF9F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29E51C69-21B0-8F12-5187-9CAFDF7EB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87FC8C51-FB69-69AF-EB81-7655665FA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A3B07CF6-C2BD-D735-325C-915B7326D5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A0AE5DF1-39A6-379F-78CC-697C8236E3A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781A29DC-36DF-225F-EA18-5E5E658CBF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9A3ECDA4-BAF5-8D73-C663-A03683D78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458971D2-5173-86AB-EE2B-E6CA7FB862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14DF3D28-8A7D-9455-FA43-A2C0C83940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D6AAF74C-5C80-D031-55B5-8B2BCC50D0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8B4BA7CB-7298-F190-1B5C-0033665673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9A00A2D4-E3C2-5AA3-DE5D-FC53CD8E9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CF067C09-EF07-3393-7E6E-347D07D45D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0C86EFE1-807D-B036-512D-B985761F3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4282F0BF-02DD-CEEB-ABD3-C6E58D6C7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6AD4BFF2-A886-DCCE-5058-0F20DC927D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45CD2B88-A7AD-36F6-1F64-A599FCF832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AAE7C6D4-A95B-4BDD-D74B-31AA89662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30BAAA38-AA02-6813-5AB2-18AF01807C2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D291477B-FC75-2071-62A9-13C266AE1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BF6484E0-CC3B-085D-2EBB-862CECBF7D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97385C33-44B3-6AB8-DDF8-F6FA4452C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F8415D34-F636-66D8-FC7D-632BFFCF17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5463B32B-D3E4-11B8-D79E-D791CB39D4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C0E4C170-727F-D776-FC1B-D15E0B0A4E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79FB6274-29BD-60C0-5909-72446ADEE7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97CA5B2A-3365-3167-39A6-8E60AE8E4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6D0157D1-F390-DB93-3D56-8EA203085F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2A640D08-76AB-6DBC-3051-289639343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872ABF42-4A42-9009-CE05-D99498D3C2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F3D93BB5-EE91-CA02-A870-46978DE27B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B5C9BD12-069C-70E7-74E5-88E17954C0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DC4FC744-4096-B76C-2520-BB8F7687763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DB1D7FB1-D6D6-57FC-EE19-B4DC347A7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26A3E40C-7EC2-2552-6B08-DC0CF13680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AA949649-54CD-8B27-E649-D11076219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1568FC04-5376-97AF-C43A-227C97DAF4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3FF5C4FE-B6A0-4DCD-53B3-A40601385E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56EDD23B-2B32-FF4B-02B6-6134925063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B62DD037-3736-0B15-2EE9-5AD39E0231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555C4B9F-4FBB-B93F-D167-965E5149B9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74102675-DC51-15A6-4472-85D36D430F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7609C47F-5037-D135-A1AF-2BF00470EF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1422179E-9ED3-053B-F8AC-37BA31C2A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32AD793C-1EE7-2961-A452-D44D53639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AA19D790-0328-AAC5-6F69-6E56CE3EBB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2A9B5E90-D6D7-FD6F-788A-9E8D9A4AE81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914BFE7D-4E8A-DD93-0B23-5FA88EC944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F9ED4010-E23F-5B39-17E4-5D95B28986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78B95531-C8D9-7E8E-230A-3934F6D16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4DDC7BE6-835D-D4FB-BE35-9E9AB0FEC8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210FE71F-3CAC-3A6A-3BA2-A17E8C9F8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4D5FC2E9-0F69-4B1F-0154-A10894799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5715D23B-4671-28AB-7AF0-0495AEB3F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FDEFEC57-F985-0CA3-5E5B-AE53ACF195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CD52FBF2-2317-FD4D-D9CE-B8561B55F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B7D607E7-FCDA-4DBF-1270-45272E9B6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9203246C-BFDF-778B-9280-7B6E34190E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71DCAE94-AC67-75C3-402B-BB57B4237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A7476229-40B2-DE7C-8C8A-AAC2364643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60896DC0-49AD-08B2-A491-D5CCBD71247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589787AB-20F7-07F3-6B28-1E97236C56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996E8CAB-860E-74FD-95CB-ED6ECF0986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41AB71E8-3DC6-E3AD-AB7F-099E906BBF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7DDCF5A5-A922-3D1F-25A5-1519E026E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87BE6411-6B2F-5A70-6801-C145C92C0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4D1D7950-217B-E4AA-CAA3-CAABDEF6E9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9CA41E73-533D-1B77-E023-B607B7C7AE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230B6F93-7771-EC81-ADC5-DAA45DB590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6908A084-E04E-64A2-B25A-C765CE03DF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481413D0-BFC1-5DD8-F2DD-0255EBDA8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8F2064C4-2FEF-2640-0F6D-7923942B3A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C24CE3E6-B313-76C4-DA7A-71ADA8C35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4FDF41E1-B8B6-F708-1E45-612588A231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8FCBDEE1-9170-4CCC-18FE-0C1D3DD6A6C2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61FA8BEE-0305-D818-D9FB-18F9D6F556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F3174FB4-E10B-EA86-C274-5C28DED0A2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43B54449-DC80-F9BF-E6D3-283929CE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086995D8-AA6C-BEDA-1B2C-B663C1870D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0DF8629B-4FFF-D35D-3DFD-5E23B382E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808CFA75-D8ED-BF48-035A-C6E339A1A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407344B6-FE95-80C1-DEA7-37F52D4A4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A17AC51E-070B-78B4-21B3-430E26E39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CA467E2E-E029-B67E-B53E-9537A1C4E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2501DBCC-9348-4898-B11F-EA14CD54D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492B10B2-A82E-416D-658A-D578F5308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A37261D4-E60D-04FD-A9B8-8E694483E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CD5574F6-05BD-6BFB-22E2-35F7431FB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F80BDC2E-1174-F26C-19B9-43C7C7F4A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6296DC33-4763-42B9-FE47-8EACDA65A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9E62A944-A233-85E9-0001-33B55334015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1D39A17F-523B-CFD6-1055-837390ACED0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45C1CDB1-BBF0-BDDE-3399-12365D09E1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D9584E84-3408-4A10-9F35-F2BBA19ED90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2B970C1F-EB64-1C81-C078-41E839315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6DE174C9-C0C6-6257-2C21-EB9201C444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8F445F-E745-4713-89D3-572CEB28CC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</p:sldLayoutIdLst>
  <p:transition>
    <p:blinds dir="vert"/>
  </p:transition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mail.sy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8C20170-6BFE-11B1-2864-472C1648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D41-DAF7-4529-889D-0E5BD52DE9E7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BA66371-FC7B-B9FF-F48F-DE511B41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BCFB0-07AE-4F62-A64D-40E14EBED541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53282" name="Rectangle 2">
            <a:extLst>
              <a:ext uri="{FF2B5EF4-FFF2-40B4-BE49-F238E27FC236}">
                <a16:creationId xmlns:a16="http://schemas.microsoft.com/office/drawing/2014/main" id="{9A968F87-A3B0-39C3-5FDB-CD5E906A231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4989AB6E-5E27-3D6D-CA86-EED1CDC4371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5157788" cy="1735137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Lnsxuxx@mail.sysu.edu.cn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84110495(O)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56A2CA5-10B5-65C0-7020-EBD5476A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8C42A-616A-461C-AC0D-6400D54C521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0078E2E-9536-D180-8EE2-1C47F6B7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AA46-1B45-4123-B223-637F0C16F952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54306" name="Rectangle 2">
            <a:extLst>
              <a:ext uri="{FF2B5EF4-FFF2-40B4-BE49-F238E27FC236}">
                <a16:creationId xmlns:a16="http://schemas.microsoft.com/office/drawing/2014/main" id="{6D71B870-19C2-4CD3-EE90-7F835FF882B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CE1FC766-05FD-C5FE-F3BE-F654C1825E5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/>
              <a:t>IS-LM</a:t>
            </a:r>
            <a:r>
              <a:rPr lang="zh-CN" altLang="en-US" sz="2400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目标、政策和绩效</a:t>
            </a:r>
          </a:p>
          <a:p>
            <a:pPr>
              <a:lnSpc>
                <a:spcPct val="90000"/>
              </a:lnSpc>
            </a:pPr>
            <a:r>
              <a:rPr lang="zh-CN" altLang="en-US" sz="2800" b="1"/>
              <a:t>微观基础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消费、投资等</a:t>
            </a:r>
          </a:p>
        </p:txBody>
      </p:sp>
      <p:sp>
        <p:nvSpPr>
          <p:cNvPr id="354308" name="Oval 4">
            <a:extLst>
              <a:ext uri="{FF2B5EF4-FFF2-40B4-BE49-F238E27FC236}">
                <a16:creationId xmlns:a16="http://schemas.microsoft.com/office/drawing/2014/main" id="{1DB107BF-C05B-F3DF-BBF4-A9F6506C6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989138"/>
            <a:ext cx="4895850" cy="719137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5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5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5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5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build="p" autoUpdateAnimBg="0"/>
      <p:bldP spid="35430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FB474C2-399D-0689-2795-DD412AD1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D3A3B-B2E0-4257-8EF8-1956B2C43B05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0639EDA-CF77-DB0D-D52F-07D0685A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AFC1-0FD9-45AA-8248-F93AB869BA76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8ADA835A-8230-138A-3F40-95B4FC0CB11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BAE2DDFF-33CF-30B8-8CB3-47F37E4B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CB9F94D6-52B6-873F-6BE0-64D3A84C131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590800" y="2590800"/>
            <a:ext cx="5562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GDP</a:t>
            </a:r>
            <a:r>
              <a:rPr lang="zh-CN" altLang="en-US" sz="3200" b="1"/>
              <a:t>的核算：三种方法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一些重要恒等式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通货膨胀与价格水平的核算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总供给总需求模型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EBEAF47-A92E-38EE-3DE1-F1D9B42BA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99D8B-59FD-47DB-AF36-D89DCE2192A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7B58B50-6412-9C73-3D51-71DE9641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8685-9666-43C2-904B-E535FF5E6AF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E57F479C-6CB2-7F1F-9359-5ED48695CA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两个问题</a:t>
            </a:r>
          </a:p>
        </p:txBody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CD66ADA3-6D02-0DFF-93C1-2AE971E305C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2060575"/>
            <a:ext cx="8153400" cy="2260600"/>
          </a:xfrm>
        </p:spPr>
        <p:txBody>
          <a:bodyPr/>
          <a:lstStyle/>
          <a:p>
            <a:r>
              <a:rPr lang="zh-CN" altLang="en-US" b="1"/>
              <a:t>国民经济核算的流程？</a:t>
            </a:r>
          </a:p>
          <a:p>
            <a:endParaRPr lang="zh-CN" altLang="en-US" b="1"/>
          </a:p>
          <a:p>
            <a:r>
              <a:rPr lang="zh-CN" altLang="en-US" b="1"/>
              <a:t>国民经济循环图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5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0804360-F061-7B30-557B-2DC2B0E5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EB1E-1F98-489D-BAC0-456C282DA85B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300F5D8-9A06-7A52-BB53-6608C6AD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C2DAA-9199-411C-9F87-0DCAD5799AC2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80578" name="Rectangle 2">
            <a:extLst>
              <a:ext uri="{FF2B5EF4-FFF2-40B4-BE49-F238E27FC236}">
                <a16:creationId xmlns:a16="http://schemas.microsoft.com/office/drawing/2014/main" id="{75690DD2-233F-4C1B-71BD-F3197CC111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GDP</a:t>
            </a:r>
            <a:r>
              <a:rPr lang="zh-CN" altLang="en-US" b="1">
                <a:solidFill>
                  <a:srgbClr val="CC0000"/>
                </a:solidFill>
              </a:rPr>
              <a:t>核算的创立</a:t>
            </a:r>
            <a:r>
              <a:rPr lang="en-US" altLang="zh-CN" b="1">
                <a:solidFill>
                  <a:srgbClr val="CC0000"/>
                </a:solidFill>
              </a:rPr>
              <a:t>/</a:t>
            </a:r>
            <a:r>
              <a:rPr lang="zh-CN" altLang="en-US" b="1">
                <a:solidFill>
                  <a:srgbClr val="CC0000"/>
                </a:solidFill>
              </a:rPr>
              <a:t>发展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FEA3BCA5-E0E3-67E2-A664-0F7C4B849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80585" name="Group 9">
            <a:extLst>
              <a:ext uri="{FF2B5EF4-FFF2-40B4-BE49-F238E27FC236}">
                <a16:creationId xmlns:a16="http://schemas.microsoft.com/office/drawing/2014/main" id="{81FE5511-7C53-CDC3-5152-D07416DAED2E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76400"/>
            <a:ext cx="2752725" cy="4826000"/>
            <a:chOff x="921" y="1280"/>
            <a:chExt cx="1734" cy="3040"/>
          </a:xfrm>
        </p:grpSpPr>
        <p:pic>
          <p:nvPicPr>
            <p:cNvPr id="280586" name="Picture 10">
              <a:extLst>
                <a:ext uri="{FF2B5EF4-FFF2-40B4-BE49-F238E27FC236}">
                  <a16:creationId xmlns:a16="http://schemas.microsoft.com/office/drawing/2014/main" id="{8A9D51DB-AB49-5B86-937A-5219A2D33F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" y="1280"/>
              <a:ext cx="1734" cy="2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0587" name="Text Box 11">
              <a:extLst>
                <a:ext uri="{FF2B5EF4-FFF2-40B4-BE49-F238E27FC236}">
                  <a16:creationId xmlns:a16="http://schemas.microsoft.com/office/drawing/2014/main" id="{BC42C943-5571-7E48-1FFE-C6413E7EC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3687"/>
              <a:ext cx="1487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Simon Kuznets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1901-1985</a:t>
              </a:r>
            </a:p>
          </p:txBody>
        </p:sp>
      </p:grpSp>
      <p:grpSp>
        <p:nvGrpSpPr>
          <p:cNvPr id="280588" name="Group 12">
            <a:extLst>
              <a:ext uri="{FF2B5EF4-FFF2-40B4-BE49-F238E27FC236}">
                <a16:creationId xmlns:a16="http://schemas.microsoft.com/office/drawing/2014/main" id="{F902863A-3CCD-7B78-AC1C-2B1FE06C7BD4}"/>
              </a:ext>
            </a:extLst>
          </p:cNvPr>
          <p:cNvGrpSpPr>
            <a:grpSpLocks/>
          </p:cNvGrpSpPr>
          <p:nvPr/>
        </p:nvGrpSpPr>
        <p:grpSpPr bwMode="auto">
          <a:xfrm>
            <a:off x="5291138" y="1685925"/>
            <a:ext cx="2786062" cy="4816475"/>
            <a:chOff x="2744" y="1286"/>
            <a:chExt cx="1755" cy="3034"/>
          </a:xfrm>
        </p:grpSpPr>
        <p:pic>
          <p:nvPicPr>
            <p:cNvPr id="280589" name="Picture 13">
              <a:extLst>
                <a:ext uri="{FF2B5EF4-FFF2-40B4-BE49-F238E27FC236}">
                  <a16:creationId xmlns:a16="http://schemas.microsoft.com/office/drawing/2014/main" id="{12079D9A-EC98-E1C8-04C9-EDF800E7B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4" y="1286"/>
              <a:ext cx="1742" cy="2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0590" name="Text Box 14">
              <a:extLst>
                <a:ext uri="{FF2B5EF4-FFF2-40B4-BE49-F238E27FC236}">
                  <a16:creationId xmlns:a16="http://schemas.microsoft.com/office/drawing/2014/main" id="{8749BCA2-95D8-7F1A-1022-E6D6B8CF2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" y="3687"/>
              <a:ext cx="1530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Richard Stone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1913-1991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F5924DF-28CF-7FC1-BB8F-6B159EAA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481B-1982-4392-AA83-76F1FE63533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1EDA445-DD1C-D192-F0D9-4EBDA1C3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0BAA-92C8-431E-8D68-7E2323B77FF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0051EA6A-08AE-D35E-0F57-55876EB245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498B5362-8045-3C6A-04B1-66DD7211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0756" name="Rectangle 4">
            <a:extLst>
              <a:ext uri="{FF2B5EF4-FFF2-40B4-BE49-F238E27FC236}">
                <a16:creationId xmlns:a16="http://schemas.microsoft.com/office/drawing/2014/main" id="{B473FD00-E7D8-9AC4-98EE-B9AD71DEF9A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5486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什么是</a:t>
            </a:r>
            <a:r>
              <a:rPr lang="en-US" altLang="zh-CN" sz="3200" b="1"/>
              <a:t>GDP</a:t>
            </a:r>
            <a:r>
              <a:rPr lang="zh-CN" altLang="en-US" sz="3200" b="1"/>
              <a:t>？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名义</a:t>
            </a:r>
            <a:r>
              <a:rPr lang="en-US" altLang="zh-CN" sz="3200" b="1"/>
              <a:t>GDP</a:t>
            </a:r>
            <a:r>
              <a:rPr lang="zh-CN" altLang="en-US" sz="3200" b="1"/>
              <a:t>和实际</a:t>
            </a:r>
            <a:r>
              <a:rPr lang="en-US" altLang="zh-CN" sz="3200" b="1"/>
              <a:t>GDP</a:t>
            </a:r>
          </a:p>
        </p:txBody>
      </p:sp>
      <p:sp>
        <p:nvSpPr>
          <p:cNvPr id="330757" name="Rectangle 5">
            <a:extLst>
              <a:ext uri="{FF2B5EF4-FFF2-40B4-BE49-F238E27FC236}">
                <a16:creationId xmlns:a16="http://schemas.microsoft.com/office/drawing/2014/main" id="{8C764982-B46D-1C26-9400-8A589A0B3F9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3124200"/>
            <a:ext cx="5486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核算</a:t>
            </a:r>
            <a:r>
              <a:rPr lang="en-US" altLang="zh-CN" sz="3200" b="1"/>
              <a:t>GDP</a:t>
            </a:r>
            <a:r>
              <a:rPr lang="zh-CN" altLang="en-US" sz="3200" b="1"/>
              <a:t>的三种方法</a:t>
            </a:r>
          </a:p>
        </p:txBody>
      </p:sp>
      <p:sp>
        <p:nvSpPr>
          <p:cNvPr id="330758" name="Rectangle 6">
            <a:extLst>
              <a:ext uri="{FF2B5EF4-FFF2-40B4-BE49-F238E27FC236}">
                <a16:creationId xmlns:a16="http://schemas.microsoft.com/office/drawing/2014/main" id="{8C2A999A-AC0C-B769-EAAB-E7DDB862EE5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" y="3962400"/>
            <a:ext cx="28098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生产法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支出法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收入法</a:t>
            </a:r>
            <a:endParaRPr lang="zh-CN" altLang="en-US" sz="31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0759" name="Rectangle 7">
            <a:extLst>
              <a:ext uri="{FF2B5EF4-FFF2-40B4-BE49-F238E27FC236}">
                <a16:creationId xmlns:a16="http://schemas.microsoft.com/office/drawing/2014/main" id="{CC78C01A-F78E-3857-2CA6-9EB5918D23B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276600" y="4508500"/>
            <a:ext cx="50641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三种方法核算的结果应该相等，但存在误差</a:t>
            </a:r>
          </a:p>
        </p:txBody>
      </p:sp>
      <p:sp>
        <p:nvSpPr>
          <p:cNvPr id="330760" name="AutoShape 8">
            <a:extLst>
              <a:ext uri="{FF2B5EF4-FFF2-40B4-BE49-F238E27FC236}">
                <a16:creationId xmlns:a16="http://schemas.microsoft.com/office/drawing/2014/main" id="{238847F8-0490-C840-E503-F772BF89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1341438"/>
            <a:ext cx="2133600" cy="1905000"/>
          </a:xfrm>
          <a:prstGeom prst="cloudCallout">
            <a:avLst>
              <a:gd name="adj1" fmla="val -86681"/>
              <a:gd name="adj2" fmla="val 111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为什么？</a:t>
            </a:r>
          </a:p>
        </p:txBody>
      </p:sp>
      <p:sp>
        <p:nvSpPr>
          <p:cNvPr id="330761" name="Rectangle 9">
            <a:extLst>
              <a:ext uri="{FF2B5EF4-FFF2-40B4-BE49-F238E27FC236}">
                <a16:creationId xmlns:a16="http://schemas.microsoft.com/office/drawing/2014/main" id="{1C3978E1-5C07-6BAB-42ED-32D6311705F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55650" y="5876925"/>
            <a:ext cx="727233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还有其它核算方法吗？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 autoUpdateAnimBg="0"/>
      <p:bldP spid="330756" grpId="0" autoUpdateAnimBg="0"/>
      <p:bldP spid="330757" grpId="0" autoUpdateAnimBg="0"/>
      <p:bldP spid="330758" grpId="0" autoUpdateAnimBg="0"/>
      <p:bldP spid="330759" grpId="0" autoUpdateAnimBg="0"/>
      <p:bldP spid="330760" grpId="0" animBg="1" autoUpdateAnimBg="0"/>
      <p:bldP spid="33076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757F3C5-36D4-C11F-463F-E9C6FE36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8F1BD-6446-4C1A-9FAE-078F023F795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AF4F9B9-5EF9-419A-08F4-50CD4E8B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13DB-8BBE-4DAB-8E3F-2B9C4CB13F1A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40D69C56-B476-C23C-99F6-A38874996F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生产法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C383DE3A-DF59-5BB6-CB06-3C164BA41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4595559D-165F-BE98-EF66-30E4C4B69D6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7315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农民生产</a:t>
            </a:r>
            <a:r>
              <a:rPr lang="en-US" altLang="zh-CN" sz="2400" b="1"/>
              <a:t>1</a:t>
            </a:r>
            <a:r>
              <a:rPr lang="zh-CN" altLang="en-US" sz="2400" b="1"/>
              <a:t>公斤面粉，以</a:t>
            </a:r>
            <a:r>
              <a:rPr lang="en-US" altLang="zh-CN" sz="2400" b="1"/>
              <a:t>1</a:t>
            </a:r>
            <a:r>
              <a:rPr lang="zh-CN" altLang="en-US" sz="2400" b="1"/>
              <a:t>元的价格卖给康师傅。康师傅用这些面粉生产出</a:t>
            </a:r>
            <a:r>
              <a:rPr lang="en-US" altLang="zh-CN" sz="2400" b="1"/>
              <a:t>10</a:t>
            </a:r>
            <a:r>
              <a:rPr lang="zh-CN" altLang="en-US" sz="2400" b="1"/>
              <a:t>包方便面，卖了</a:t>
            </a:r>
            <a:r>
              <a:rPr lang="en-US" altLang="zh-CN" sz="2400" b="1"/>
              <a:t>12</a:t>
            </a:r>
            <a:r>
              <a:rPr lang="zh-CN" altLang="en-US" sz="2400" b="1"/>
              <a:t>元。问这个简单经济体的</a:t>
            </a:r>
            <a:r>
              <a:rPr lang="en-US" altLang="zh-CN" sz="2400" b="1"/>
              <a:t>GDP</a:t>
            </a:r>
            <a:r>
              <a:rPr lang="zh-CN" altLang="en-US" sz="2400" b="1"/>
              <a:t>是多少？</a:t>
            </a:r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23160097-3CB2-A53B-61FA-1BC10F67DAC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3124200"/>
            <a:ext cx="5486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重复核算与增加值</a:t>
            </a:r>
          </a:p>
        </p:txBody>
      </p:sp>
      <p:sp>
        <p:nvSpPr>
          <p:cNvPr id="312326" name="Rectangle 6">
            <a:extLst>
              <a:ext uri="{FF2B5EF4-FFF2-40B4-BE49-F238E27FC236}">
                <a16:creationId xmlns:a16="http://schemas.microsoft.com/office/drawing/2014/main" id="{4197E43A-E5C3-2915-03D1-113EF5AA28B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" y="4267200"/>
            <a:ext cx="7994650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（名义）</a:t>
            </a:r>
            <a:r>
              <a:rPr lang="en-US" altLang="zh-CN" sz="3200" b="1"/>
              <a:t>GDP</a:t>
            </a:r>
            <a:r>
              <a:rPr lang="zh-CN" altLang="en-US" sz="3200" b="1"/>
              <a:t>＝各产业增加值之和。</a:t>
            </a:r>
          </a:p>
          <a:p>
            <a:pPr lvl="2" algn="just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latin typeface="宋体" panose="02010600030101010101" pitchFamily="2" charset="-122"/>
              </a:rPr>
              <a:t>我国的一产、二产</a:t>
            </a:r>
            <a:r>
              <a:rPr lang="en-US" altLang="zh-CN" sz="3100" b="1">
                <a:solidFill>
                  <a:schemeClr val="tx2"/>
                </a:solidFill>
                <a:latin typeface="宋体" panose="02010600030101010101" pitchFamily="2" charset="-122"/>
              </a:rPr>
              <a:t>GDP</a:t>
            </a:r>
            <a:r>
              <a:rPr lang="zh-CN" altLang="en-US" sz="3100" b="1">
                <a:solidFill>
                  <a:schemeClr val="tx2"/>
                </a:solidFill>
                <a:latin typeface="宋体" panose="02010600030101010101" pitchFamily="2" charset="-122"/>
              </a:rPr>
              <a:t>采用生产法核算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1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2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12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2" grpId="0" autoUpdateAnimBg="0"/>
      <p:bldP spid="312324" grpId="0" autoUpdateAnimBg="0"/>
      <p:bldP spid="312325" grpId="0" autoUpdateAnimBg="0"/>
      <p:bldP spid="312326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68F0B8F-B3E4-947E-23B2-56582066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6FC18-479B-49F8-8634-587C9A0AEFF5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9D480BD-AD09-28CE-CC66-907C44E0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E9FCE-6DEA-44EB-991C-97E4F0C0FF60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2A19ADC5-6BB3-1C0E-665F-985A91694B5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1.2 GDP</a:t>
            </a:r>
            <a:r>
              <a:rPr lang="zh-CN" altLang="en-US" b="1">
                <a:solidFill>
                  <a:srgbClr val="CC0000"/>
                </a:solidFill>
              </a:rPr>
              <a:t>核算－生产法举例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B32D6852-1410-07F5-7385-43BBD1A7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1610" name="Object 10">
            <a:extLst>
              <a:ext uri="{FF2B5EF4-FFF2-40B4-BE49-F238E27FC236}">
                <a16:creationId xmlns:a16="http://schemas.microsoft.com/office/drawing/2014/main" id="{DE146C4D-17B3-1C5B-C045-39C255541555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763713" y="1268413"/>
          <a:ext cx="6769100" cy="451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6096000" imgH="4067251" progId="MSGraph.Chart.8">
                  <p:embed followColorScheme="full"/>
                </p:oleObj>
              </mc:Choice>
              <mc:Fallback>
                <p:oleObj name="图表" r:id="rId2" imgW="6096000" imgH="4067251" progId="MSGraph.Chart.8">
                  <p:embed followColorScheme="full"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68413"/>
                        <a:ext cx="6769100" cy="451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2" name="Rectangle 12">
            <a:extLst>
              <a:ext uri="{FF2B5EF4-FFF2-40B4-BE49-F238E27FC236}">
                <a16:creationId xmlns:a16="http://schemas.microsoft.com/office/drawing/2014/main" id="{6D26C359-9BC8-732E-4FA3-034EE5D1B5B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7088" y="5805488"/>
            <a:ext cx="79216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1600" b="1"/>
              <a:t>数据来源于</a:t>
            </a:r>
            <a:r>
              <a:rPr lang="en-US" altLang="zh-CN" sz="1600" b="1"/>
              <a:t>《</a:t>
            </a:r>
            <a:r>
              <a:rPr lang="zh-CN" altLang="en-US" sz="1600" b="1"/>
              <a:t>中国统计年鉴</a:t>
            </a:r>
            <a:r>
              <a:rPr lang="en-US" altLang="zh-CN" sz="1600" b="1"/>
              <a:t>》</a:t>
            </a:r>
            <a:r>
              <a:rPr lang="zh-CN" altLang="en-US" sz="1600" b="1"/>
              <a:t>（</a:t>
            </a:r>
            <a:r>
              <a:rPr lang="en-US" altLang="zh-CN" sz="1600" b="1"/>
              <a:t>2006</a:t>
            </a:r>
            <a:r>
              <a:rPr lang="zh-CN" altLang="en-US" sz="1600" b="1"/>
              <a:t>）和</a:t>
            </a:r>
            <a:r>
              <a:rPr lang="en-US" altLang="zh-CN" sz="1600" b="1"/>
              <a:t>2006</a:t>
            </a:r>
            <a:r>
              <a:rPr lang="zh-CN" altLang="en-US" sz="1600" b="1"/>
              <a:t>统计公报。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161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161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1610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1610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2" grpId="0" autoUpdateAnimBg="0"/>
      <p:bldOleChart spid="281610" grpId="0" bld="series"/>
      <p:bldP spid="28161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FE457E4-7E93-E8D8-0FA6-AC661DB6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72CE-59EF-4B9F-BBD3-C644CA4E45C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CA693BA-5F1F-D0E7-6240-D3A5E7BE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4C59-50E6-4BB7-BE77-5BC26FDE31C0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44FBF93B-BEFB-9962-58A2-68434DC32AA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1.2 GDP</a:t>
            </a:r>
            <a:r>
              <a:rPr lang="zh-CN" altLang="en-US" b="1">
                <a:solidFill>
                  <a:srgbClr val="CC0000"/>
                </a:solidFill>
              </a:rPr>
              <a:t>核算－生产法举例</a:t>
            </a:r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A74A0AE1-16D0-12B0-DF07-3D89390F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7380" name="Object 4">
            <a:extLst>
              <a:ext uri="{FF2B5EF4-FFF2-40B4-BE49-F238E27FC236}">
                <a16:creationId xmlns:a16="http://schemas.microsoft.com/office/drawing/2014/main" id="{66E285DC-86AF-1898-C3B6-D6C9339F56ED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763713" y="1268413"/>
          <a:ext cx="6769100" cy="451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6096000" imgH="4067251" progId="MSGraph.Chart.8">
                  <p:embed followColorScheme="full"/>
                </p:oleObj>
              </mc:Choice>
              <mc:Fallback>
                <p:oleObj name="图表" r:id="rId2" imgW="6096000" imgH="4067251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68413"/>
                        <a:ext cx="6769100" cy="451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1" name="Rectangle 5">
            <a:extLst>
              <a:ext uri="{FF2B5EF4-FFF2-40B4-BE49-F238E27FC236}">
                <a16:creationId xmlns:a16="http://schemas.microsoft.com/office/drawing/2014/main" id="{A52BE3E9-E7D2-FB9E-3253-72D33FD7907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7088" y="5805488"/>
            <a:ext cx="79216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1600" b="1"/>
              <a:t>数据来源于</a:t>
            </a:r>
            <a:r>
              <a:rPr lang="en-US" altLang="zh-CN" sz="1600" b="1"/>
              <a:t>ERP</a:t>
            </a:r>
            <a:r>
              <a:rPr lang="zh-CN" altLang="en-US" sz="1600" b="1"/>
              <a:t>（</a:t>
            </a:r>
            <a:r>
              <a:rPr lang="en-US" altLang="zh-CN" sz="1600" b="1"/>
              <a:t>2007</a:t>
            </a:r>
            <a:r>
              <a:rPr lang="zh-CN" altLang="en-US" sz="1600" b="1"/>
              <a:t>）所附表</a:t>
            </a:r>
            <a:r>
              <a:rPr lang="en-US" altLang="zh-CN" sz="1600" b="1"/>
              <a:t>12B</a:t>
            </a:r>
            <a:r>
              <a:rPr lang="zh-CN" altLang="en-US" sz="1600" b="1"/>
              <a:t>；其中第一产业包括农林牧副渔；第二产业是矿业、建筑业和制造业；第三产业是包括政府在内的各种服务业。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738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738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57380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57380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8" grpId="0" autoUpdateAnimBg="0"/>
      <p:bldOleChart spid="357380" grpId="0" bld="series"/>
      <p:bldP spid="35738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9C3BE05-2E04-3CF6-125F-C4DC9DC4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B9CF-3076-4BC6-AEC3-E379642AF17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BDE3264-59C1-A3AF-2CEE-55406F18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B37E-2862-4E40-A180-85FF30DED51C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13346" name="Rectangle 2">
            <a:extLst>
              <a:ext uri="{FF2B5EF4-FFF2-40B4-BE49-F238E27FC236}">
                <a16:creationId xmlns:a16="http://schemas.microsoft.com/office/drawing/2014/main" id="{85F1543F-F2F2-C443-BDA9-1194544CDF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支出法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E4691F1C-2B2C-9D67-7EC3-B72A3A01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3348" name="Rectangle 4">
            <a:extLst>
              <a:ext uri="{FF2B5EF4-FFF2-40B4-BE49-F238E27FC236}">
                <a16:creationId xmlns:a16="http://schemas.microsoft.com/office/drawing/2014/main" id="{DF09BAA6-4FBB-BC87-FA61-19542AA86F8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7315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四部门的宏观经济：家庭、厂商、政府和其他经济体（国外）</a:t>
            </a:r>
          </a:p>
        </p:txBody>
      </p:sp>
      <p:sp>
        <p:nvSpPr>
          <p:cNvPr id="313349" name="Rectangle 5">
            <a:extLst>
              <a:ext uri="{FF2B5EF4-FFF2-40B4-BE49-F238E27FC236}">
                <a16:creationId xmlns:a16="http://schemas.microsoft.com/office/drawing/2014/main" id="{6AE75387-7088-6381-F365-E687968E3C9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3124200"/>
            <a:ext cx="7558088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名义</a:t>
            </a:r>
            <a:r>
              <a:rPr lang="en-US" altLang="zh-CN" sz="3200" b="1"/>
              <a:t>GDP</a:t>
            </a:r>
            <a:r>
              <a:rPr lang="zh-CN" altLang="en-US" sz="3200" b="1"/>
              <a:t>＝各部门的支出之和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Y=C+I+G+(EX-IM)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C</a:t>
            </a:r>
            <a:r>
              <a:rPr lang="zh-CN" altLang="en-US" sz="3200" b="1"/>
              <a:t>：         消费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I</a:t>
            </a:r>
            <a:r>
              <a:rPr lang="zh-CN" altLang="en-US" sz="3200" b="1">
                <a:sym typeface="Wingdings" panose="05000000000000000000" pitchFamily="2" charset="2"/>
              </a:rPr>
              <a:t>：           </a:t>
            </a:r>
            <a:r>
              <a:rPr lang="en-US" altLang="zh-CN" sz="3200" b="1">
                <a:sym typeface="Wingdings" panose="05000000000000000000" pitchFamily="2" charset="2"/>
              </a:rPr>
              <a:t>(</a:t>
            </a:r>
            <a:r>
              <a:rPr lang="zh-CN" altLang="en-US" sz="3200" b="1">
                <a:sym typeface="Wingdings" panose="05000000000000000000" pitchFamily="2" charset="2"/>
              </a:rPr>
              <a:t>总）投资</a:t>
            </a:r>
            <a:endParaRPr lang="zh-CN" altLang="en-US" sz="3200" b="1"/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</a:t>
            </a:r>
            <a:r>
              <a:rPr lang="zh-CN" altLang="en-US" sz="3200" b="1"/>
              <a:t>：          政府支出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EX</a:t>
            </a:r>
            <a:r>
              <a:rPr lang="zh-CN" altLang="en-US" sz="3200" b="1"/>
              <a:t>－</a:t>
            </a:r>
            <a:r>
              <a:rPr lang="en-US" altLang="zh-CN" sz="3200" b="1"/>
              <a:t>IM</a:t>
            </a:r>
            <a:r>
              <a:rPr lang="zh-CN" altLang="en-US" sz="3200" b="1"/>
              <a:t>：净出口（出口</a:t>
            </a:r>
            <a:r>
              <a:rPr lang="en-US" altLang="zh-CN" sz="3200" b="1"/>
              <a:t>-</a:t>
            </a:r>
            <a:r>
              <a:rPr lang="zh-CN" altLang="en-US" sz="3200" b="1"/>
              <a:t>进口）</a:t>
            </a:r>
          </a:p>
        </p:txBody>
      </p:sp>
      <p:sp>
        <p:nvSpPr>
          <p:cNvPr id="313351" name="AutoShape 7">
            <a:extLst>
              <a:ext uri="{FF2B5EF4-FFF2-40B4-BE49-F238E27FC236}">
                <a16:creationId xmlns:a16="http://schemas.microsoft.com/office/drawing/2014/main" id="{BDADE930-4406-23CC-AF65-ED47D7AF0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886200"/>
            <a:ext cx="2362200" cy="1981200"/>
          </a:xfrm>
          <a:prstGeom prst="cloudCallout">
            <a:avLst>
              <a:gd name="adj1" fmla="val -115324"/>
              <a:gd name="adj2" fmla="val -4230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为什么？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autoUpdateAnimBg="0"/>
      <p:bldP spid="313348" grpId="0" autoUpdateAnimBg="0"/>
      <p:bldP spid="313349" grpId="0" autoUpdateAnimBg="0"/>
      <p:bldP spid="313351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D2327AD-DA3E-979A-52E0-87CA919C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3B454-C4B2-4789-99E6-013D0F7849C8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44BB629-9FE0-651E-0C81-8C7B9236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A3C55-45EC-4D81-91A7-297D8435B071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38834AAA-6C3C-7F78-798C-31F617C0DD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支出法举例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0BBC4B69-A366-69FA-E169-75FB952A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4689" name="Object 17">
            <a:extLst>
              <a:ext uri="{FF2B5EF4-FFF2-40B4-BE49-F238E27FC236}">
                <a16:creationId xmlns:a16="http://schemas.microsoft.com/office/drawing/2014/main" id="{FDC855A7-125F-4DA3-FCEC-A3D28760324B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979613" y="1412875"/>
          <a:ext cx="6950075" cy="465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6067425" imgH="4067251" progId="MSGraph.Chart.8">
                  <p:embed followColorScheme="full"/>
                </p:oleObj>
              </mc:Choice>
              <mc:Fallback>
                <p:oleObj name="图表" r:id="rId2" imgW="6067425" imgH="4067251" progId="MSGraph.Chart.8">
                  <p:embed followColorScheme="full"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12875"/>
                        <a:ext cx="6950075" cy="465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1" name="Text Box 19">
            <a:extLst>
              <a:ext uri="{FF2B5EF4-FFF2-40B4-BE49-F238E27FC236}">
                <a16:creationId xmlns:a16="http://schemas.microsoft.com/office/drawing/2014/main" id="{33E64F00-702B-9281-638C-882B218F9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30513"/>
            <a:ext cx="1366837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在美国，目前</a:t>
            </a:r>
            <a:r>
              <a:rPr lang="en-US" altLang="zh-CN" b="1"/>
              <a:t>70%</a:t>
            </a:r>
            <a:r>
              <a:rPr lang="zh-CN" altLang="en-US" b="1"/>
              <a:t>的</a:t>
            </a:r>
            <a:r>
              <a:rPr lang="en-US" altLang="zh-CN" b="1"/>
              <a:t>GDP</a:t>
            </a:r>
            <a:r>
              <a:rPr lang="zh-CN" altLang="en-US" b="1"/>
              <a:t>用于私人消费；</a:t>
            </a:r>
            <a:r>
              <a:rPr lang="en-US" altLang="zh-CN" b="1"/>
              <a:t>16%</a:t>
            </a:r>
            <a:r>
              <a:rPr lang="zh-CN" altLang="en-US" b="1"/>
              <a:t>的</a:t>
            </a:r>
            <a:r>
              <a:rPr lang="en-US" altLang="zh-CN" b="1"/>
              <a:t>GDP</a:t>
            </a:r>
            <a:r>
              <a:rPr lang="zh-CN" altLang="en-US" b="1"/>
              <a:t>用于私人投资。</a:t>
            </a:r>
          </a:p>
          <a:p>
            <a:pPr>
              <a:spcBef>
                <a:spcPct val="50000"/>
              </a:spcBef>
            </a:pPr>
            <a:r>
              <a:rPr lang="zh-CN" altLang="en-US" sz="1400" b="1"/>
              <a:t>数据来源于</a:t>
            </a:r>
            <a:r>
              <a:rPr lang="en-US" altLang="zh-CN" sz="1400" b="1"/>
              <a:t>ERP</a:t>
            </a:r>
            <a:r>
              <a:rPr lang="zh-CN" altLang="en-US" sz="1400" b="1"/>
              <a:t>（</a:t>
            </a:r>
            <a:r>
              <a:rPr lang="en-US" altLang="zh-CN" sz="1400" b="1"/>
              <a:t>2007</a:t>
            </a:r>
            <a:r>
              <a:rPr lang="zh-CN" altLang="en-US" sz="1400" b="1"/>
              <a:t>）附表</a:t>
            </a:r>
            <a:r>
              <a:rPr lang="en-US" altLang="zh-CN" sz="1400" b="1"/>
              <a:t>b1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4689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4689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4689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4689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84689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8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autoUpdateAnimBg="0"/>
      <p:bldOleChart spid="284689" grpId="0" bld="series"/>
      <p:bldP spid="2846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8C0D67B-227C-7996-C40A-EAB4D24A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545E-E791-480B-9753-F9C64DF20CBD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C468432-5CE6-0978-9371-AEA9F414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943E-BFD3-4DD4-A936-790237A05D7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B304BAC4-FB37-0157-93D1-A75A932E349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228600"/>
            <a:ext cx="8540750" cy="896938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支出法举例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C8AEA713-904B-78D0-BA23-EABE3119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9429" name="Text Box 5">
            <a:extLst>
              <a:ext uri="{FF2B5EF4-FFF2-40B4-BE49-F238E27FC236}">
                <a16:creationId xmlns:a16="http://schemas.microsoft.com/office/drawing/2014/main" id="{0028ED34-A0FF-8EE0-DD35-F51B22FD9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30513"/>
            <a:ext cx="1366837" cy="248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在中国，目前不到</a:t>
            </a:r>
            <a:r>
              <a:rPr lang="en-US" altLang="zh-CN" b="1"/>
              <a:t>60%</a:t>
            </a:r>
            <a:r>
              <a:rPr lang="zh-CN" altLang="en-US" b="1"/>
              <a:t>的</a:t>
            </a:r>
            <a:r>
              <a:rPr lang="en-US" altLang="zh-CN" b="1"/>
              <a:t>GDP</a:t>
            </a:r>
            <a:r>
              <a:rPr lang="zh-CN" altLang="en-US" b="1"/>
              <a:t>消费；</a:t>
            </a:r>
            <a:r>
              <a:rPr lang="en-US" altLang="zh-CN" b="1"/>
              <a:t>40%</a:t>
            </a:r>
            <a:r>
              <a:rPr lang="zh-CN" altLang="en-US" b="1"/>
              <a:t>多的</a:t>
            </a:r>
            <a:r>
              <a:rPr lang="en-US" altLang="zh-CN" b="1"/>
              <a:t>GDP</a:t>
            </a:r>
            <a:r>
              <a:rPr lang="zh-CN" altLang="en-US" b="1"/>
              <a:t>用于投资。</a:t>
            </a:r>
          </a:p>
          <a:p>
            <a:pPr>
              <a:spcBef>
                <a:spcPct val="50000"/>
              </a:spcBef>
            </a:pPr>
            <a:r>
              <a:rPr lang="zh-CN" altLang="en-US" sz="1400" b="1"/>
              <a:t>数据来源于</a:t>
            </a:r>
            <a:r>
              <a:rPr lang="en-US" altLang="zh-CN" sz="1400" b="1"/>
              <a:t>《</a:t>
            </a:r>
            <a:r>
              <a:rPr lang="zh-CN" altLang="en-US" sz="1400" b="1"/>
              <a:t>中国统计年鉴</a:t>
            </a:r>
            <a:r>
              <a:rPr lang="en-US" altLang="zh-CN" sz="1400" b="1"/>
              <a:t>》</a:t>
            </a:r>
            <a:r>
              <a:rPr lang="zh-CN" altLang="en-US" sz="1400" b="1"/>
              <a:t>（</a:t>
            </a:r>
            <a:r>
              <a:rPr lang="en-US" altLang="zh-CN" sz="1400" b="1"/>
              <a:t>2005</a:t>
            </a:r>
            <a:r>
              <a:rPr lang="zh-CN" altLang="en-US" sz="1400" b="1"/>
              <a:t>）</a:t>
            </a:r>
          </a:p>
        </p:txBody>
      </p:sp>
      <p:pic>
        <p:nvPicPr>
          <p:cNvPr id="359431" name="Picture 7">
            <a:extLst>
              <a:ext uri="{FF2B5EF4-FFF2-40B4-BE49-F238E27FC236}">
                <a16:creationId xmlns:a16="http://schemas.microsoft.com/office/drawing/2014/main" id="{55597ADD-0CFF-9B7E-925F-FA6A13691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082675"/>
            <a:ext cx="4813300" cy="577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6" grpId="0" autoUpdateAnimBg="0"/>
      <p:bldP spid="3594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4BF3A16-FA22-123C-9B57-27F2A70A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6571-588E-45BA-8D22-9510FB4173E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FF86369-911A-E98D-C48C-AFDB52AD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4DB14-8F80-45DD-A1EB-0C9BD5FAD370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A4AB69DB-4140-187B-C127-93704FE2D8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GDP</a:t>
            </a:r>
            <a:r>
              <a:rPr lang="zh-CN" altLang="en-US" b="1">
                <a:solidFill>
                  <a:srgbClr val="CC0000"/>
                </a:solidFill>
              </a:rPr>
              <a:t>核算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收入法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1771F747-89F1-8327-08EC-BEADC934E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2804" name="Rectangle 4">
            <a:extLst>
              <a:ext uri="{FF2B5EF4-FFF2-40B4-BE49-F238E27FC236}">
                <a16:creationId xmlns:a16="http://schemas.microsoft.com/office/drawing/2014/main" id="{90AFD209-8D34-3D75-E119-A8F2D1C3BF8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7200" y="1524000"/>
            <a:ext cx="7924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收入分配的主体：家庭、厂商和政府</a:t>
            </a:r>
          </a:p>
        </p:txBody>
      </p:sp>
      <p:sp>
        <p:nvSpPr>
          <p:cNvPr id="332810" name="Rectangle 10">
            <a:extLst>
              <a:ext uri="{FF2B5EF4-FFF2-40B4-BE49-F238E27FC236}">
                <a16:creationId xmlns:a16="http://schemas.microsoft.com/office/drawing/2014/main" id="{62B8BBED-2ABB-80D1-2D9A-E12F9FE0B61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2514600"/>
            <a:ext cx="8305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按生产要素分配：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GDP</a:t>
            </a:r>
            <a:r>
              <a:rPr lang="zh-CN" altLang="en-US" sz="3200" b="1"/>
              <a:t>是经济体所有生产要素（资本和劳动）收入的总和。</a:t>
            </a:r>
            <a:r>
              <a:rPr lang="zh-CN" altLang="en-US" sz="1100"/>
              <a:t> </a:t>
            </a:r>
          </a:p>
        </p:txBody>
      </p:sp>
      <p:sp>
        <p:nvSpPr>
          <p:cNvPr id="332811" name="Rectangle 11">
            <a:extLst>
              <a:ext uri="{FF2B5EF4-FFF2-40B4-BE49-F238E27FC236}">
                <a16:creationId xmlns:a16="http://schemas.microsoft.com/office/drawing/2014/main" id="{1C8CFB67-194A-0CD7-9724-B81C849481A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7200" y="4652963"/>
            <a:ext cx="836295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在我国国民经济核算中，交通邮电通信业、批发零售餐饮、金融保险和房地产业采用收入法。</a:t>
            </a:r>
            <a:r>
              <a:rPr lang="zh-CN" altLang="en-US" sz="1100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2" grpId="0" autoUpdateAnimBg="0"/>
      <p:bldP spid="332804" grpId="0" autoUpdateAnimBg="0"/>
      <p:bldP spid="332810" grpId="0" autoUpdateAnimBg="0"/>
      <p:bldP spid="3328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48981C1-76BA-3B29-F4A2-2DEDC329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26B89-D96F-4298-91DF-6DA832F10EF7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E28D53-8779-1B8E-F5FD-446C339E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4C8D-A74E-49DE-8413-34CDBE56DDB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20400B05-393F-6084-D699-5CEBDF4430B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GDP</a:t>
            </a:r>
            <a:r>
              <a:rPr lang="zh-CN" altLang="en-US" b="1">
                <a:solidFill>
                  <a:srgbClr val="CC0000"/>
                </a:solidFill>
              </a:rPr>
              <a:t>核算－收入举例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8B6F41FD-6556-A458-E977-D65470C37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755" name="Rectangle 11">
            <a:extLst>
              <a:ext uri="{FF2B5EF4-FFF2-40B4-BE49-F238E27FC236}">
                <a16:creationId xmlns:a16="http://schemas.microsoft.com/office/drawing/2014/main" id="{DA7BF53E-C870-4611-D0FC-A17CEE98C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14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7754" name="Object 10">
            <a:extLst>
              <a:ext uri="{FF2B5EF4-FFF2-40B4-BE49-F238E27FC236}">
                <a16:creationId xmlns:a16="http://schemas.microsoft.com/office/drawing/2014/main" id="{F07E5F56-6A41-E6FB-45F0-04A0C3132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2600" y="1557338"/>
          <a:ext cx="6121400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590800" imgH="2028749" progId="MSGraph.Chart.8">
                  <p:embed/>
                </p:oleObj>
              </mc:Choice>
              <mc:Fallback>
                <p:oleObj name="图表" r:id="rId2" imgW="2590800" imgH="2028749" progId="MSGraph.Char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1557338"/>
                        <a:ext cx="6121400" cy="479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6" name="Rectangle 12">
            <a:extLst>
              <a:ext uri="{FF2B5EF4-FFF2-40B4-BE49-F238E27FC236}">
                <a16:creationId xmlns:a16="http://schemas.microsoft.com/office/drawing/2014/main" id="{F13E18B8-39B7-63B4-C796-B1FBDA2D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6325"/>
            <a:ext cx="3132138" cy="347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按照收入法，中国统计部门采用的核算方法是，</a:t>
            </a:r>
          </a:p>
          <a:p>
            <a:r>
              <a:rPr lang="zh-CN" altLang="en-US" b="1">
                <a:solidFill>
                  <a:schemeClr val="tx2"/>
                </a:solidFill>
              </a:rPr>
              <a:t>劳动者报酬</a:t>
            </a:r>
            <a:r>
              <a:rPr lang="en-US" altLang="zh-CN" b="1">
                <a:solidFill>
                  <a:schemeClr val="tx2"/>
                </a:solidFill>
              </a:rPr>
              <a:t>+</a:t>
            </a:r>
            <a:r>
              <a:rPr lang="zh-CN" altLang="en-US" b="1">
                <a:solidFill>
                  <a:schemeClr val="tx2"/>
                </a:solidFill>
              </a:rPr>
              <a:t>生产税净额</a:t>
            </a:r>
            <a:r>
              <a:rPr lang="en-US" altLang="zh-CN" b="1">
                <a:solidFill>
                  <a:schemeClr val="tx2"/>
                </a:solidFill>
              </a:rPr>
              <a:t>+</a:t>
            </a:r>
            <a:r>
              <a:rPr lang="zh-CN" altLang="en-US" b="1">
                <a:solidFill>
                  <a:schemeClr val="tx2"/>
                </a:solidFill>
              </a:rPr>
              <a:t>固定资产折旧</a:t>
            </a:r>
            <a:r>
              <a:rPr lang="en-US" altLang="zh-CN" b="1">
                <a:solidFill>
                  <a:schemeClr val="tx2"/>
                </a:solidFill>
              </a:rPr>
              <a:t>+</a:t>
            </a:r>
            <a:r>
              <a:rPr lang="zh-CN" altLang="en-US" b="1">
                <a:solidFill>
                  <a:schemeClr val="tx2"/>
                </a:solidFill>
              </a:rPr>
              <a:t>营业盈余＝</a:t>
            </a:r>
            <a:r>
              <a:rPr lang="en-US" altLang="zh-CN" b="1">
                <a:solidFill>
                  <a:schemeClr val="tx2"/>
                </a:solidFill>
              </a:rPr>
              <a:t>GDP</a:t>
            </a:r>
            <a:r>
              <a:rPr lang="zh-CN" altLang="en-US" b="1">
                <a:solidFill>
                  <a:schemeClr val="tx2"/>
                </a:solidFill>
              </a:rPr>
              <a:t>。</a:t>
            </a:r>
          </a:p>
          <a:p>
            <a:endParaRPr lang="zh-CN" altLang="en-US" b="1">
              <a:solidFill>
                <a:schemeClr val="tx2"/>
              </a:solidFill>
            </a:endParaRPr>
          </a:p>
          <a:p>
            <a:r>
              <a:rPr lang="zh-CN" altLang="en-US" b="1"/>
              <a:t>在中国，劳动者报酬所占比重大致一直稳定在</a:t>
            </a:r>
            <a:r>
              <a:rPr lang="en-US" altLang="zh-CN" b="1">
                <a:solidFill>
                  <a:schemeClr val="tx2"/>
                </a:solidFill>
              </a:rPr>
              <a:t>50%</a:t>
            </a:r>
            <a:r>
              <a:rPr lang="zh-CN" altLang="en-US" b="1"/>
              <a:t>左右。</a:t>
            </a:r>
          </a:p>
          <a:p>
            <a:endParaRPr lang="zh-CN" altLang="en-US" b="1"/>
          </a:p>
          <a:p>
            <a:r>
              <a:rPr lang="zh-CN" altLang="en-US" sz="1200" b="1"/>
              <a:t>数据来源：中国数据来源于</a:t>
            </a:r>
            <a:r>
              <a:rPr lang="en-US" altLang="zh-CN" sz="1200" b="1"/>
              <a:t>《</a:t>
            </a:r>
            <a:r>
              <a:rPr lang="zh-CN" altLang="en-US" sz="1200" b="1"/>
              <a:t>中国国内生产总值核算历史资料</a:t>
            </a:r>
            <a:r>
              <a:rPr lang="en-US" altLang="zh-CN" sz="1200" b="1"/>
              <a:t>》</a:t>
            </a:r>
            <a:r>
              <a:rPr lang="zh-CN" altLang="en-US" sz="1200" b="1"/>
              <a:t>（</a:t>
            </a:r>
            <a:r>
              <a:rPr lang="en-US" altLang="zh-CN" sz="1200" b="1"/>
              <a:t>1996-2002</a:t>
            </a:r>
            <a:r>
              <a:rPr lang="zh-CN" altLang="en-US" sz="1200" b="1"/>
              <a:t>），第</a:t>
            </a:r>
            <a:r>
              <a:rPr lang="en-US" altLang="zh-CN" sz="1200" b="1"/>
              <a:t>67-72</a:t>
            </a:r>
            <a:r>
              <a:rPr lang="zh-CN" altLang="en-US" sz="1200" b="1"/>
              <a:t>页</a:t>
            </a:r>
            <a:r>
              <a:rPr lang="zh-CN" altLang="en-US" sz="1200"/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7754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7754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7754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7754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87754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6" grpId="0" autoUpdateAnimBg="0"/>
      <p:bldOleChart spid="287754" grpId="0" bld="series"/>
      <p:bldP spid="2877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FBCA863-F268-CDA3-9BB9-216577B0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FD54-983B-4CD7-B28E-C256E1626BEB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F4E49F3-C16A-47CC-21EF-C3815408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AC11-DA71-4432-8D38-D3CE797692ED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60450" name="Rectangle 2">
            <a:extLst>
              <a:ext uri="{FF2B5EF4-FFF2-40B4-BE49-F238E27FC236}">
                <a16:creationId xmlns:a16="http://schemas.microsoft.com/office/drawing/2014/main" id="{D502327A-14DE-1F44-8B71-0A79963EE46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GDP</a:t>
            </a:r>
            <a:r>
              <a:rPr lang="zh-CN" altLang="en-US" b="1">
                <a:solidFill>
                  <a:srgbClr val="CC0000"/>
                </a:solidFill>
              </a:rPr>
              <a:t>核算－收入举例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C1042AA6-2F51-3E38-53D1-D6F591C0C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0452" name="Rectangle 4">
            <a:extLst>
              <a:ext uri="{FF2B5EF4-FFF2-40B4-BE49-F238E27FC236}">
                <a16:creationId xmlns:a16="http://schemas.microsoft.com/office/drawing/2014/main" id="{BEA86FB3-4227-2829-1B67-80D907EFB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14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0453" name="Object 5">
            <a:extLst>
              <a:ext uri="{FF2B5EF4-FFF2-40B4-BE49-F238E27FC236}">
                <a16:creationId xmlns:a16="http://schemas.microsoft.com/office/drawing/2014/main" id="{CD5C6508-08DA-5A1B-A129-991A6F848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2600" y="1557338"/>
          <a:ext cx="6121400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590800" imgH="2028749" progId="MSGraph.Chart.8">
                  <p:embed/>
                </p:oleObj>
              </mc:Choice>
              <mc:Fallback>
                <p:oleObj name="图表" r:id="rId2" imgW="2590800" imgH="2028749" progId="MSGraph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1557338"/>
                        <a:ext cx="6121400" cy="479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0454" name="Rectangle 6">
            <a:extLst>
              <a:ext uri="{FF2B5EF4-FFF2-40B4-BE49-F238E27FC236}">
                <a16:creationId xmlns:a16="http://schemas.microsoft.com/office/drawing/2014/main" id="{B57D28D9-DA36-8050-4FD2-429ED3CD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3525"/>
            <a:ext cx="3132138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/>
              <a:t>按照收入法，美国统计部门采用的核算方法比中国的细多了，我们进行了归类</a:t>
            </a:r>
            <a:r>
              <a:rPr lang="zh-CN" altLang="en-US" b="1">
                <a:solidFill>
                  <a:schemeClr val="tx2"/>
                </a:solidFill>
              </a:rPr>
              <a:t>。</a:t>
            </a:r>
          </a:p>
          <a:p>
            <a:endParaRPr lang="zh-CN" altLang="en-US" b="1">
              <a:solidFill>
                <a:schemeClr val="tx2"/>
              </a:solidFill>
            </a:endParaRPr>
          </a:p>
          <a:p>
            <a:r>
              <a:rPr lang="zh-CN" altLang="en-US" b="1"/>
              <a:t>在美国，劳动者报酬所占比重大致一直稳定在</a:t>
            </a:r>
            <a:r>
              <a:rPr lang="en-US" altLang="zh-CN" b="1">
                <a:solidFill>
                  <a:schemeClr val="tx2"/>
                </a:solidFill>
              </a:rPr>
              <a:t>65%</a:t>
            </a:r>
            <a:r>
              <a:rPr lang="zh-CN" altLang="en-US" b="1"/>
              <a:t>左右。</a:t>
            </a:r>
          </a:p>
          <a:p>
            <a:endParaRPr lang="zh-CN" altLang="en-US" b="1"/>
          </a:p>
          <a:p>
            <a:r>
              <a:rPr lang="zh-CN" altLang="en-US" sz="1200" b="1"/>
              <a:t>数据来源：</a:t>
            </a:r>
            <a:r>
              <a:rPr lang="en-US" altLang="zh-CN" sz="1200" b="1"/>
              <a:t>ERP</a:t>
            </a:r>
            <a:r>
              <a:rPr lang="zh-CN" altLang="en-US" sz="1200" b="1"/>
              <a:t>（</a:t>
            </a:r>
            <a:r>
              <a:rPr lang="en-US" altLang="zh-CN" sz="1200" b="1"/>
              <a:t>2007</a:t>
            </a:r>
            <a:r>
              <a:rPr lang="zh-CN" altLang="en-US" sz="1200" b="1"/>
              <a:t>）附表</a:t>
            </a:r>
            <a:r>
              <a:rPr lang="en-US" altLang="zh-CN" sz="1200" b="1"/>
              <a:t>B28</a:t>
            </a:r>
            <a:r>
              <a:rPr lang="zh-CN" altLang="en-US" sz="1200"/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045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045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0453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60453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60453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0" grpId="0" autoUpdateAnimBg="0"/>
      <p:bldOleChart spid="360453" grpId="0" bld="series"/>
      <p:bldP spid="3604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B4C1B7C-907D-0C8A-39A9-57800042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773D-21DA-4947-BE50-C0E4902E211E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AF74920-A38A-A37C-1A7B-5563E2E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9330F-278C-48FD-8F67-9809F7FE6301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4838D93D-704D-F3C6-9EF7-C624C2743D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1.5 GDP</a:t>
            </a:r>
            <a:r>
              <a:rPr lang="zh-CN" altLang="en-US" sz="4000" b="1">
                <a:solidFill>
                  <a:srgbClr val="CC0000"/>
                </a:solidFill>
              </a:rPr>
              <a:t>核算－生产法与支出法比较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1E49F1D3-9DBC-DC34-2711-B1215E274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8470" name="Object 6">
            <a:extLst>
              <a:ext uri="{FF2B5EF4-FFF2-40B4-BE49-F238E27FC236}">
                <a16:creationId xmlns:a16="http://schemas.microsoft.com/office/drawing/2014/main" id="{72137DFB-E38A-9377-DD69-03651F88B3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990600"/>
          <a:ext cx="6626225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48354" imgH="4896307" progId="Excel.Sheet.8">
                  <p:embed/>
                </p:oleObj>
              </mc:Choice>
              <mc:Fallback>
                <p:oleObj name="Worksheet" r:id="rId2" imgW="4048354" imgH="4896307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990600"/>
                        <a:ext cx="6626225" cy="586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17D2E92-C9C3-A89A-3EAD-1E9D5B1C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A0A6-6A89-4804-94E0-555CADBD12B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0D0E69F-B7C0-E9BB-AE5B-AA09A051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D47C-27C9-4EEC-B97D-C88ACF69D71D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17442" name="Rectangle 2">
            <a:extLst>
              <a:ext uri="{FF2B5EF4-FFF2-40B4-BE49-F238E27FC236}">
                <a16:creationId xmlns:a16="http://schemas.microsoft.com/office/drawing/2014/main" id="{A2C62EAA-43C6-D0A5-D7AC-AE99B423460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1.6 GDP</a:t>
            </a:r>
            <a:r>
              <a:rPr lang="zh-CN" altLang="en-US" b="1">
                <a:solidFill>
                  <a:srgbClr val="CC0000"/>
                </a:solidFill>
              </a:rPr>
              <a:t>核算中的其他常见指标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016B9CFB-923D-C900-0A5C-7B0AEBF7F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47" name="Rectangle 7">
            <a:extLst>
              <a:ext uri="{FF2B5EF4-FFF2-40B4-BE49-F238E27FC236}">
                <a16:creationId xmlns:a16="http://schemas.microsoft.com/office/drawing/2014/main" id="{8953ECF5-9461-E973-A8BB-75A5A5E1753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7200" y="1600200"/>
            <a:ext cx="7924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GDP</a:t>
            </a:r>
            <a:r>
              <a:rPr lang="zh-CN" altLang="en-US" sz="3200" b="1"/>
              <a:t>与</a:t>
            </a:r>
            <a:r>
              <a:rPr lang="en-US" altLang="zh-CN" sz="3200" b="1"/>
              <a:t>GNP</a:t>
            </a:r>
            <a:r>
              <a:rPr lang="zh-CN" altLang="en-US" sz="3200" b="1"/>
              <a:t>（</a:t>
            </a:r>
            <a:r>
              <a:rPr lang="en-US" altLang="zh-CN" sz="3200" b="1"/>
              <a:t>gross national product</a:t>
            </a:r>
            <a:r>
              <a:rPr lang="zh-CN" altLang="en-US" sz="3200" b="1"/>
              <a:t>）</a:t>
            </a:r>
          </a:p>
        </p:txBody>
      </p:sp>
      <p:sp>
        <p:nvSpPr>
          <p:cNvPr id="317448" name="Rectangle 8">
            <a:extLst>
              <a:ext uri="{FF2B5EF4-FFF2-40B4-BE49-F238E27FC236}">
                <a16:creationId xmlns:a16="http://schemas.microsoft.com/office/drawing/2014/main" id="{D812C43B-5849-AB46-0E72-E6CB3BBEAB8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2438400"/>
            <a:ext cx="7924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NDP(net domestic product)</a:t>
            </a:r>
          </a:p>
        </p:txBody>
      </p:sp>
      <p:sp>
        <p:nvSpPr>
          <p:cNvPr id="317449" name="Rectangle 9">
            <a:extLst>
              <a:ext uri="{FF2B5EF4-FFF2-40B4-BE49-F238E27FC236}">
                <a16:creationId xmlns:a16="http://schemas.microsoft.com/office/drawing/2014/main" id="{222B6BE6-0F09-AB66-EED9-0546E9C3092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3200400"/>
            <a:ext cx="7924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NI(national income)</a:t>
            </a:r>
          </a:p>
        </p:txBody>
      </p:sp>
      <p:sp>
        <p:nvSpPr>
          <p:cNvPr id="317450" name="Rectangle 10">
            <a:extLst>
              <a:ext uri="{FF2B5EF4-FFF2-40B4-BE49-F238E27FC236}">
                <a16:creationId xmlns:a16="http://schemas.microsoft.com/office/drawing/2014/main" id="{E85F990F-024C-3771-367D-2433DD77244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4343400"/>
            <a:ext cx="7924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GDP+</a:t>
            </a:r>
            <a:r>
              <a:rPr lang="zh-CN" altLang="en-US" sz="3200" b="1"/>
              <a:t>从国外获得的收入净额＝</a:t>
            </a:r>
            <a:r>
              <a:rPr lang="en-US" altLang="zh-CN" sz="3200" b="1"/>
              <a:t>GNP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GDP</a:t>
            </a:r>
            <a:r>
              <a:rPr lang="zh-CN" altLang="en-US" sz="3200" b="1"/>
              <a:t>－折旧＝</a:t>
            </a:r>
            <a:r>
              <a:rPr lang="en-US" altLang="zh-CN" sz="3200" b="1"/>
              <a:t>NDP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NDP</a:t>
            </a:r>
            <a:r>
              <a:rPr lang="zh-CN" altLang="en-US" sz="3200" b="1"/>
              <a:t>－税收＝</a:t>
            </a:r>
            <a:r>
              <a:rPr lang="en-US" altLang="zh-CN" sz="3200" b="1"/>
              <a:t>NI</a:t>
            </a:r>
          </a:p>
        </p:txBody>
      </p:sp>
      <p:sp>
        <p:nvSpPr>
          <p:cNvPr id="317451" name="Line 11">
            <a:extLst>
              <a:ext uri="{FF2B5EF4-FFF2-40B4-BE49-F238E27FC236}">
                <a16:creationId xmlns:a16="http://schemas.microsoft.com/office/drawing/2014/main" id="{64BEB319-8941-3224-DA9D-61F221759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876800"/>
            <a:ext cx="6477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2" grpId="0" autoUpdateAnimBg="0"/>
      <p:bldP spid="317447" grpId="0" autoUpdateAnimBg="0"/>
      <p:bldP spid="317448" grpId="0" autoUpdateAnimBg="0"/>
      <p:bldP spid="317449" grpId="0" autoUpdateAnimBg="0"/>
      <p:bldP spid="31745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28E8B1F-FB05-F265-1413-BA1FFBD7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E1644-33E1-47C9-BA97-10F0DCDE7DB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A2A986C-21D3-A8C1-96EB-2B979325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B87CA-5B2D-4B7F-AC5D-230347359E4B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ED27F852-1552-8306-E2C1-21846BD33B3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GDP</a:t>
            </a:r>
            <a:r>
              <a:rPr lang="zh-CN" altLang="en-US" b="1">
                <a:solidFill>
                  <a:srgbClr val="CC0000"/>
                </a:solidFill>
              </a:rPr>
              <a:t>与</a:t>
            </a:r>
            <a:r>
              <a:rPr lang="en-US" altLang="zh-CN" b="1">
                <a:solidFill>
                  <a:srgbClr val="CC0000"/>
                </a:solidFill>
              </a:rPr>
              <a:t>GNP</a:t>
            </a:r>
          </a:p>
        </p:txBody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34F39A36-F680-D986-E4EA-B35959E3A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33924" name="Object 100">
            <a:extLst>
              <a:ext uri="{FF2B5EF4-FFF2-40B4-BE49-F238E27FC236}">
                <a16:creationId xmlns:a16="http://schemas.microsoft.com/office/drawing/2014/main" id="{CCE15DC7-FB0E-E9DD-83DC-5EDEC57E6285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639888" y="1817688"/>
          <a:ext cx="6091237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6096000" imgH="4067251" progId="MSGraph.Chart.8">
                  <p:embed followColorScheme="full"/>
                </p:oleObj>
              </mc:Choice>
              <mc:Fallback>
                <p:oleObj name="图表" r:id="rId2" imgW="6096000" imgH="4067251" progId="MSGraph.Chart.8">
                  <p:embed followColorScheme="full"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88" y="1817688"/>
                        <a:ext cx="6091237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926" name="Rectangle 102">
            <a:extLst>
              <a:ext uri="{FF2B5EF4-FFF2-40B4-BE49-F238E27FC236}">
                <a16:creationId xmlns:a16="http://schemas.microsoft.com/office/drawing/2014/main" id="{8C6513BC-93D5-F457-C081-D817118A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949950"/>
            <a:ext cx="3132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200" b="1"/>
              <a:t>数据来源：</a:t>
            </a:r>
            <a:r>
              <a:rPr lang="en-US" altLang="zh-CN" sz="1200" b="1"/>
              <a:t>ERP</a:t>
            </a:r>
            <a:r>
              <a:rPr lang="zh-CN" altLang="en-US" sz="1200" b="1"/>
              <a:t>（</a:t>
            </a:r>
            <a:r>
              <a:rPr lang="en-US" altLang="zh-CN" sz="1200" b="1"/>
              <a:t>2007</a:t>
            </a:r>
            <a:r>
              <a:rPr lang="zh-CN" altLang="en-US" sz="1200" b="1"/>
              <a:t>）附表</a:t>
            </a:r>
            <a:r>
              <a:rPr lang="en-US" altLang="zh-CN" sz="1200" b="1"/>
              <a:t>B26</a:t>
            </a:r>
            <a:r>
              <a:rPr lang="zh-CN" altLang="en-US" sz="1200"/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3924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3924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4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33924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3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utoUpdateAnimBg="0"/>
      <p:bldOleChart spid="333924" grpId="0" bld="series"/>
      <p:bldP spid="3339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4695ACC-7595-17C7-2E96-08DD3769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6E8F-9E03-49F8-A018-AF821E8C2D9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F1E92CC-92A1-9E5D-D4ED-59E74CF6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6D2D-59F6-4614-9C21-B437A1E4CA58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5D634C39-4F7A-5DCE-E80D-35C78C5D671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1.7 GDP</a:t>
            </a:r>
            <a:r>
              <a:rPr lang="zh-CN" altLang="en-US" b="1">
                <a:solidFill>
                  <a:srgbClr val="CC0000"/>
                </a:solidFill>
              </a:rPr>
              <a:t>核算中的一些问题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96F9D52A-4B4E-DCFC-D76A-16DEC4DD3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9492" name="Rectangle 4">
            <a:extLst>
              <a:ext uri="{FF2B5EF4-FFF2-40B4-BE49-F238E27FC236}">
                <a16:creationId xmlns:a16="http://schemas.microsoft.com/office/drawing/2014/main" id="{BF0AA6E3-2A04-890A-B1C5-287DE231AF6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7315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当期产量</a:t>
            </a:r>
          </a:p>
        </p:txBody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6D96C737-A62F-0BA1-FB2A-D859C91472E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2362200"/>
            <a:ext cx="5486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计量不充分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虚拟核算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污染、家务等不计入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地下经济</a:t>
            </a:r>
          </a:p>
        </p:txBody>
      </p:sp>
      <p:sp>
        <p:nvSpPr>
          <p:cNvPr id="319494" name="Rectangle 6">
            <a:extLst>
              <a:ext uri="{FF2B5EF4-FFF2-40B4-BE49-F238E27FC236}">
                <a16:creationId xmlns:a16="http://schemas.microsoft.com/office/drawing/2014/main" id="{9FF3FC5D-4342-A3F6-737A-AC2DCB04900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04800" y="4876800"/>
            <a:ext cx="7924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难以反映产品质量的改善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1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0" grpId="0" autoUpdateAnimBg="0"/>
      <p:bldP spid="319492" grpId="0" autoUpdateAnimBg="0"/>
      <p:bldP spid="319493" grpId="0" autoUpdateAnimBg="0"/>
      <p:bldP spid="31949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18E9C84-99FB-57DB-F9B3-A3AFA539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E636-8749-47FD-BF41-68BDFF1A9904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6EEF3DA-A485-8FD0-6BB2-75CF4E8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FC1-069F-4F4C-B73B-2BB5D6438D88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98C8C431-8498-767B-096F-D5C63487BC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2.1 </a:t>
            </a:r>
            <a:r>
              <a:rPr lang="zh-CN" altLang="en-US" b="1">
                <a:solidFill>
                  <a:srgbClr val="CC0000"/>
                </a:solidFill>
              </a:rPr>
              <a:t>一些重要的恒等式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79477800-92A9-A455-968C-935552E87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FA716B4C-D91E-29AD-475D-7FE1A523D13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7315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两部门经济：经济体里只有消费者和厂商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是否有这样的例子？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AE4F40A3-5BB7-1690-1378-CB2A6186FC1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2743200"/>
            <a:ext cx="632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总支出（恒等式）：</a:t>
            </a:r>
            <a:r>
              <a:rPr lang="en-US" altLang="zh-CN" sz="3200" b="1"/>
              <a:t>Y</a:t>
            </a:r>
            <a:r>
              <a:rPr lang="zh-CN" altLang="en-US" sz="3200" b="1"/>
              <a:t>＝</a:t>
            </a:r>
            <a:r>
              <a:rPr lang="en-US" altLang="zh-CN" sz="3200" b="1"/>
              <a:t>C+I</a:t>
            </a:r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DB2B9055-E9F4-A69A-CDB0-C69530B6846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3657600"/>
            <a:ext cx="87407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收入的分配（恒等式）：</a:t>
            </a:r>
            <a:r>
              <a:rPr lang="en-US" altLang="zh-CN" sz="3200" b="1"/>
              <a:t>Y</a:t>
            </a:r>
            <a:r>
              <a:rPr lang="zh-CN" altLang="en-US" sz="3200" b="1"/>
              <a:t>＝</a:t>
            </a:r>
            <a:r>
              <a:rPr lang="en-US" altLang="zh-CN" sz="3200" b="1"/>
              <a:t>C+S</a:t>
            </a:r>
            <a:r>
              <a:rPr lang="zh-CN" altLang="en-US" sz="3200" b="1"/>
              <a:t>（储蓄）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100" b="1">
              <a:solidFill>
                <a:schemeClr val="tx2"/>
              </a:solidFill>
            </a:endParaRPr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43B5C11A-9E54-06FA-A3C4-1B085AC0BB2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4648200"/>
            <a:ext cx="8458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C+I</a:t>
            </a:r>
            <a:r>
              <a:rPr lang="zh-CN" altLang="en-US" sz="3200" b="1"/>
              <a:t>＝</a:t>
            </a:r>
            <a:r>
              <a:rPr lang="en-US" altLang="zh-CN" sz="3200" b="1"/>
              <a:t>C+S     I=S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1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autoUpdateAnimBg="0"/>
      <p:bldP spid="321540" grpId="0" autoUpdateAnimBg="0"/>
      <p:bldP spid="321541" grpId="0" autoUpdateAnimBg="0"/>
      <p:bldP spid="321542" grpId="0" autoUpdateAnimBg="0"/>
      <p:bldP spid="32154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CF394AC-02FA-B628-9239-D67D3FD3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1CF5-4F0A-40FC-B482-73A61C9BF537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D7954BD-4ABC-5BD4-33C1-D9542A7E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85F9-AEFF-49DC-B51E-1ABDB182EB5B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FA174A60-B1AD-3B53-6134-F098B9EFDF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一些重要的恒等式</a:t>
            </a:r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06B7ECE8-3023-B86A-C05F-72604C443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2564" name="Rectangle 4">
            <a:extLst>
              <a:ext uri="{FF2B5EF4-FFF2-40B4-BE49-F238E27FC236}">
                <a16:creationId xmlns:a16="http://schemas.microsoft.com/office/drawing/2014/main" id="{64E97541-1835-289A-8857-A099DF181F9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7315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四部门经济：经济体里有消费者、厂商、政府和其他经济体</a:t>
            </a:r>
          </a:p>
        </p:txBody>
      </p:sp>
      <p:sp>
        <p:nvSpPr>
          <p:cNvPr id="322565" name="Rectangle 5">
            <a:extLst>
              <a:ext uri="{FF2B5EF4-FFF2-40B4-BE49-F238E27FC236}">
                <a16:creationId xmlns:a16="http://schemas.microsoft.com/office/drawing/2014/main" id="{DBC8D616-D895-1D7E-B1FD-729138C1223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2743200"/>
            <a:ext cx="7696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总支出（恒等式）：</a:t>
            </a:r>
            <a:r>
              <a:rPr lang="en-US" altLang="zh-CN" sz="3200" b="1"/>
              <a:t>Y</a:t>
            </a:r>
            <a:r>
              <a:rPr lang="zh-CN" altLang="en-US" sz="3200" b="1"/>
              <a:t>＝</a:t>
            </a:r>
            <a:r>
              <a:rPr lang="en-US" altLang="zh-CN" sz="3200" b="1"/>
              <a:t>C+I+G+NEX</a:t>
            </a:r>
          </a:p>
        </p:txBody>
      </p:sp>
      <p:sp>
        <p:nvSpPr>
          <p:cNvPr id="322566" name="Rectangle 6">
            <a:extLst>
              <a:ext uri="{FF2B5EF4-FFF2-40B4-BE49-F238E27FC236}">
                <a16:creationId xmlns:a16="http://schemas.microsoft.com/office/drawing/2014/main" id="{1144CA2B-417F-9755-8717-10B6186459C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3657600"/>
            <a:ext cx="8534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收入的分配（恒等式）：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Y-TA(</a:t>
            </a:r>
            <a:r>
              <a:rPr lang="zh-CN" altLang="en-US" sz="3200" b="1"/>
              <a:t>税收）</a:t>
            </a:r>
            <a:r>
              <a:rPr lang="en-US" altLang="zh-CN" sz="3200" b="1"/>
              <a:t>+TR</a:t>
            </a:r>
            <a:r>
              <a:rPr lang="zh-CN" altLang="en-US" sz="3200" b="1"/>
              <a:t>（转移支付）＝</a:t>
            </a:r>
            <a:r>
              <a:rPr lang="en-US" altLang="zh-CN" sz="3200" b="1"/>
              <a:t>C+S</a:t>
            </a:r>
            <a:endParaRPr lang="en-US" altLang="zh-CN" sz="3100" b="1">
              <a:solidFill>
                <a:schemeClr val="tx2"/>
              </a:solidFill>
            </a:endParaRPr>
          </a:p>
        </p:txBody>
      </p:sp>
      <p:sp>
        <p:nvSpPr>
          <p:cNvPr id="322567" name="Rectangle 7">
            <a:extLst>
              <a:ext uri="{FF2B5EF4-FFF2-40B4-BE49-F238E27FC236}">
                <a16:creationId xmlns:a16="http://schemas.microsoft.com/office/drawing/2014/main" id="{F4432FB9-EBBE-F455-43AF-D4AFD20E7D5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5181600"/>
            <a:ext cx="8458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C+I+G+NEX+TR-TA</a:t>
            </a:r>
            <a:r>
              <a:rPr lang="zh-CN" altLang="en-US" sz="3200" b="1"/>
              <a:t>＝</a:t>
            </a:r>
            <a:r>
              <a:rPr lang="en-US" altLang="zh-CN" sz="3200" b="1"/>
              <a:t>C+S     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S-I=(G+TR-TA)+NEX </a:t>
            </a:r>
            <a:endParaRPr lang="en-US" altLang="zh-CN" sz="3100" b="1">
              <a:solidFill>
                <a:schemeClr val="tx2"/>
              </a:solidFill>
            </a:endParaRPr>
          </a:p>
        </p:txBody>
      </p:sp>
      <p:grpSp>
        <p:nvGrpSpPr>
          <p:cNvPr id="322570" name="Group 10">
            <a:extLst>
              <a:ext uri="{FF2B5EF4-FFF2-40B4-BE49-F238E27FC236}">
                <a16:creationId xmlns:a16="http://schemas.microsoft.com/office/drawing/2014/main" id="{9A08059E-F270-3BD7-0E89-EB1EDB683354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00600"/>
            <a:ext cx="7696200" cy="1371600"/>
            <a:chOff x="816" y="3024"/>
            <a:chExt cx="4848" cy="864"/>
          </a:xfrm>
        </p:grpSpPr>
        <p:sp>
          <p:nvSpPr>
            <p:cNvPr id="322568" name="Line 8">
              <a:extLst>
                <a:ext uri="{FF2B5EF4-FFF2-40B4-BE49-F238E27FC236}">
                  <a16:creationId xmlns:a16="http://schemas.microsoft.com/office/drawing/2014/main" id="{A88CA77F-6617-06F5-9C0A-60A6AB14B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3024"/>
              <a:ext cx="345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569" name="AutoShape 9">
              <a:extLst>
                <a:ext uri="{FF2B5EF4-FFF2-40B4-BE49-F238E27FC236}">
                  <a16:creationId xmlns:a16="http://schemas.microsoft.com/office/drawing/2014/main" id="{0A5EE5E8-3E01-1568-FBD6-DD0B53FC7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312"/>
              <a:ext cx="1872" cy="576"/>
            </a:xfrm>
            <a:prstGeom prst="cloudCallout">
              <a:avLst>
                <a:gd name="adj1" fmla="val -144713"/>
                <a:gd name="adj2" fmla="val -928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32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这是什么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 autoUpdateAnimBg="0"/>
      <p:bldP spid="322564" grpId="0" autoUpdateAnimBg="0"/>
      <p:bldP spid="322565" grpId="0" autoUpdateAnimBg="0"/>
      <p:bldP spid="322566" grpId="0" autoUpdateAnimBg="0"/>
      <p:bldP spid="32256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297A647-F63B-AB2B-8629-02312743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FFACB-92CC-47E8-83B2-C6107A0E1ADD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3E61E1A-1DBC-EFE3-4210-F836F9FD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51EF-0A9A-4D55-9B66-95A0190AE3AB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745C27E1-ED1B-83AC-D058-B8272BF5A74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 </a:t>
            </a:r>
            <a:r>
              <a:rPr lang="zh-CN" altLang="en-US" b="1">
                <a:solidFill>
                  <a:srgbClr val="CC0000"/>
                </a:solidFill>
              </a:rPr>
              <a:t>价格水平与通货膨胀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D48958A5-1BC4-6D5F-0C9E-9CB64D914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3588" name="Rectangle 4">
            <a:extLst>
              <a:ext uri="{FF2B5EF4-FFF2-40B4-BE49-F238E27FC236}">
                <a16:creationId xmlns:a16="http://schemas.microsoft.com/office/drawing/2014/main" id="{593DB7B8-B334-48F7-4F26-6DEE2D21CFC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" y="1447800"/>
            <a:ext cx="2895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通过价格指数核算价格水平</a:t>
            </a:r>
          </a:p>
        </p:txBody>
      </p:sp>
      <p:sp>
        <p:nvSpPr>
          <p:cNvPr id="323590" name="Rectangle 6">
            <a:extLst>
              <a:ext uri="{FF2B5EF4-FFF2-40B4-BE49-F238E27FC236}">
                <a16:creationId xmlns:a16="http://schemas.microsoft.com/office/drawing/2014/main" id="{FB2328CA-DF60-DA46-31B2-0CC976E033B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867400"/>
            <a:ext cx="6629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通货膨胀：价格水平的变化率</a:t>
            </a:r>
            <a:endParaRPr lang="zh-CN" altLang="en-US" sz="3100" b="1">
              <a:solidFill>
                <a:schemeClr val="tx2"/>
              </a:solidFill>
            </a:endParaRPr>
          </a:p>
        </p:txBody>
      </p:sp>
      <p:sp>
        <p:nvSpPr>
          <p:cNvPr id="323591" name="Rectangle 7">
            <a:extLst>
              <a:ext uri="{FF2B5EF4-FFF2-40B4-BE49-F238E27FC236}">
                <a16:creationId xmlns:a16="http://schemas.microsoft.com/office/drawing/2014/main" id="{E912ECC8-9D3F-F4E9-F903-EF7FCD55B46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895600"/>
            <a:ext cx="86106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三种常见的价格指数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消费者价格指数：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CPI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（一篮子商品）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生产者价格指数：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PPI 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（一篮子商品）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GDP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缩减指数：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GDP Deflator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＝名义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GDP/</a:t>
            </a:r>
            <a:r>
              <a:rPr lang="zh-CN" altLang="en-US" sz="3100" b="1">
                <a:solidFill>
                  <a:schemeClr val="tx2"/>
                </a:solidFill>
                <a:latin typeface="Times New Roman" panose="02020603050405020304" pitchFamily="18" charset="0"/>
              </a:rPr>
              <a:t>实际</a:t>
            </a:r>
            <a:r>
              <a:rPr lang="en-US" altLang="zh-CN" sz="3100" b="1">
                <a:solidFill>
                  <a:schemeClr val="tx2"/>
                </a:solidFill>
                <a:latin typeface="Times New Roman" panose="02020603050405020304" pitchFamily="18" charset="0"/>
              </a:rPr>
              <a:t>GDP</a:t>
            </a:r>
          </a:p>
        </p:txBody>
      </p:sp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95420439-C661-ED7A-3D0E-B79462769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1219200"/>
          <a:ext cx="43942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76854" imgH="1305154" progId="Excel.Sheet.8">
                  <p:embed/>
                </p:oleObj>
              </mc:Choice>
              <mc:Fallback>
                <p:oleObj name="Worksheet" r:id="rId2" imgW="3476854" imgH="1305154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219200"/>
                        <a:ext cx="43942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utoUpdateAnimBg="0"/>
      <p:bldP spid="323588" grpId="0" autoUpdateAnimBg="0"/>
      <p:bldP spid="323590" grpId="0" autoUpdateAnimBg="0"/>
      <p:bldP spid="32359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65F3DEB-7432-AD3C-1F4F-C5EC173D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CA14-A454-43C0-84D7-4F8E1EF484A2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77773B3-89C2-CEDB-53C8-F7C63F10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AA57-1389-4980-B914-AC0D539D7EC4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5DBBB720-D539-D3E4-D5A9-61C95B9B56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CPI</a:t>
            </a:r>
            <a:r>
              <a:rPr lang="zh-CN" altLang="en-US" b="1">
                <a:solidFill>
                  <a:srgbClr val="CC0000"/>
                </a:solidFill>
              </a:rPr>
              <a:t>与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  <a:r>
              <a:rPr lang="zh-CN" altLang="en-US" b="1">
                <a:solidFill>
                  <a:srgbClr val="CC0000"/>
                </a:solidFill>
              </a:rPr>
              <a:t>缩减指数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B12C9543-A8D7-1678-2889-1A1332DCF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34857" name="Object 9">
            <a:extLst>
              <a:ext uri="{FF2B5EF4-FFF2-40B4-BE49-F238E27FC236}">
                <a16:creationId xmlns:a16="http://schemas.microsoft.com/office/drawing/2014/main" id="{F22CBC3F-73A0-AF76-9FB5-41F7037081B3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331913" y="1125538"/>
          <a:ext cx="6697662" cy="521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457450" imgH="1914550" progId="MSGraph.Chart.8">
                  <p:embed/>
                </p:oleObj>
              </mc:Choice>
              <mc:Fallback>
                <p:oleObj name="图表" r:id="rId2" imgW="2457450" imgH="1914550" progId="MSGraph.Char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125538"/>
                        <a:ext cx="6697662" cy="521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9" name="Rectangle 11">
            <a:extLst>
              <a:ext uri="{FF2B5EF4-FFF2-40B4-BE49-F238E27FC236}">
                <a16:creationId xmlns:a16="http://schemas.microsoft.com/office/drawing/2014/main" id="{7F3121DC-FF1C-D30B-D431-468C08C70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6308725"/>
            <a:ext cx="410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200" b="1"/>
              <a:t>数据来源：</a:t>
            </a:r>
            <a:r>
              <a:rPr lang="en-US" altLang="zh-CN" sz="1200" b="1"/>
              <a:t>《</a:t>
            </a:r>
            <a:r>
              <a:rPr lang="zh-CN" altLang="en-US" sz="1200" b="1"/>
              <a:t>中国统计年鉴</a:t>
            </a:r>
            <a:r>
              <a:rPr lang="en-US" altLang="zh-CN" sz="1200" b="1"/>
              <a:t>》</a:t>
            </a:r>
            <a:r>
              <a:rPr lang="zh-CN" altLang="en-US" sz="1200" b="1"/>
              <a:t>（</a:t>
            </a:r>
            <a:r>
              <a:rPr lang="en-US" altLang="zh-CN" sz="1200" b="1"/>
              <a:t>2006</a:t>
            </a:r>
            <a:r>
              <a:rPr lang="zh-CN" altLang="en-US" sz="1200" b="1"/>
              <a:t>）和</a:t>
            </a:r>
            <a:r>
              <a:rPr lang="en-US" altLang="zh-CN" sz="1200" b="1"/>
              <a:t>2006</a:t>
            </a:r>
            <a:r>
              <a:rPr lang="zh-CN" altLang="en-US" sz="1200" b="1"/>
              <a:t>统计公报</a:t>
            </a:r>
            <a:r>
              <a:rPr lang="zh-CN" altLang="en-US" sz="1200"/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34857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34857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34857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autoUpdateAnimBg="0"/>
      <p:bldOleChart spid="334857" grpId="0" bld="series"/>
      <p:bldP spid="3348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EFDFF3-21A9-CD46-7A65-CB9D2933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1AEF-DBCE-4C9F-8D84-3F07A27E303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7FBD2B0-354C-790C-1F85-02A0E83D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8995-2B8C-4722-9CB5-7C37D53A9C2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64546" name="Rectangle 2">
            <a:extLst>
              <a:ext uri="{FF2B5EF4-FFF2-40B4-BE49-F238E27FC236}">
                <a16:creationId xmlns:a16="http://schemas.microsoft.com/office/drawing/2014/main" id="{D2403EAF-AAEC-68C9-BB31-5AD158A6F69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CPI</a:t>
            </a:r>
            <a:r>
              <a:rPr lang="zh-CN" altLang="en-US" b="1">
                <a:solidFill>
                  <a:srgbClr val="CC0000"/>
                </a:solidFill>
              </a:rPr>
              <a:t>与</a:t>
            </a:r>
            <a:r>
              <a:rPr lang="en-US" altLang="zh-CN" b="1">
                <a:solidFill>
                  <a:srgbClr val="CC0000"/>
                </a:solidFill>
              </a:rPr>
              <a:t>GDP</a:t>
            </a:r>
            <a:r>
              <a:rPr lang="zh-CN" altLang="en-US" b="1">
                <a:solidFill>
                  <a:srgbClr val="CC0000"/>
                </a:solidFill>
              </a:rPr>
              <a:t>缩减指数</a:t>
            </a:r>
          </a:p>
        </p:txBody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1E4AD8E8-FD8B-825D-CAC8-C1F416B1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4548" name="Object 4">
            <a:extLst>
              <a:ext uri="{FF2B5EF4-FFF2-40B4-BE49-F238E27FC236}">
                <a16:creationId xmlns:a16="http://schemas.microsoft.com/office/drawing/2014/main" id="{C4E08843-68FD-CA4B-9AA6-AB76B9C340CB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1547813" y="1052513"/>
          <a:ext cx="6697662" cy="521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2" imgW="2457450" imgH="1914550" progId="MSGraph.Chart.8">
                  <p:embed/>
                </p:oleObj>
              </mc:Choice>
              <mc:Fallback>
                <p:oleObj name="图表" r:id="rId2" imgW="2457450" imgH="1914550" progId="MSGraph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052513"/>
                        <a:ext cx="6697662" cy="521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9" name="Rectangle 5">
            <a:extLst>
              <a:ext uri="{FF2B5EF4-FFF2-40B4-BE49-F238E27FC236}">
                <a16:creationId xmlns:a16="http://schemas.microsoft.com/office/drawing/2014/main" id="{2FD79867-6CF0-4CED-89D5-8545A3BF2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237288"/>
            <a:ext cx="41767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200" b="1"/>
              <a:t>数据来源：</a:t>
            </a:r>
            <a:r>
              <a:rPr lang="en-US" altLang="zh-CN" sz="1200" b="1"/>
              <a:t>ERP</a:t>
            </a:r>
            <a:r>
              <a:rPr lang="zh-CN" altLang="en-US" sz="1200" b="1"/>
              <a:t>（</a:t>
            </a:r>
            <a:r>
              <a:rPr lang="en-US" altLang="zh-CN" sz="1200" b="1"/>
              <a:t>2007</a:t>
            </a:r>
            <a:r>
              <a:rPr lang="zh-CN" altLang="en-US" sz="1200" b="1"/>
              <a:t>）附表</a:t>
            </a:r>
            <a:r>
              <a:rPr lang="en-US" altLang="zh-CN" sz="1200" b="1"/>
              <a:t>B1/B2</a:t>
            </a:r>
            <a:r>
              <a:rPr lang="zh-CN" altLang="en-US" sz="1200" b="1"/>
              <a:t>和</a:t>
            </a:r>
            <a:r>
              <a:rPr lang="en-US" altLang="zh-CN" sz="1200" b="1"/>
              <a:t>B64</a:t>
            </a:r>
            <a:r>
              <a:rPr lang="zh-CN" altLang="en-US" sz="1200"/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4548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64548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64548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6" grpId="0" autoUpdateAnimBg="0"/>
      <p:bldOleChart spid="364548" grpId="0" bld="series"/>
      <p:bldP spid="3645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209C6A5-DF3D-4E12-B05A-241D7C10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8FA6-7DBA-4328-A7D1-D65BC395A93E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ECFC4C6-A7AE-A16F-BEFB-FE6F6FAF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4746C-FFEA-450B-BBE8-7F61C216C773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335874" name="Rectangle 2">
            <a:extLst>
              <a:ext uri="{FF2B5EF4-FFF2-40B4-BE49-F238E27FC236}">
                <a16:creationId xmlns:a16="http://schemas.microsoft.com/office/drawing/2014/main" id="{FCA08717-3705-9C62-65C3-9434F8118DA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到哪里找数据</a:t>
            </a:r>
            <a:endParaRPr lang="zh-CN" altLang="en-US" b="1">
              <a:latin typeface="Book Antiqua" pitchFamily="18" charset="0"/>
            </a:endParaRPr>
          </a:p>
        </p:txBody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785279D1-5429-333D-33B3-F1D6120BE09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95288" y="1557338"/>
            <a:ext cx="845343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美国等经济体的数据，参见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P38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。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课后作业，尝试每一个连接，并给出你的评价。</a:t>
            </a:r>
          </a:p>
        </p:txBody>
      </p:sp>
      <p:sp>
        <p:nvSpPr>
          <p:cNvPr id="335877" name="Rectangle 5">
            <a:extLst>
              <a:ext uri="{FF2B5EF4-FFF2-40B4-BE49-F238E27FC236}">
                <a16:creationId xmlns:a16="http://schemas.microsoft.com/office/drawing/2014/main" id="{F8BECED5-4038-41AC-39B6-8C18693DF0D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2809875"/>
            <a:ext cx="8137525" cy="3067050"/>
          </a:xfrm>
          <a:noFill/>
          <a:ln/>
        </p:spPr>
        <p:txBody>
          <a:bodyPr/>
          <a:lstStyle/>
          <a:p>
            <a:r>
              <a:rPr lang="zh-CN" altLang="en-US" b="1"/>
              <a:t>如何找中国的数据</a:t>
            </a:r>
          </a:p>
          <a:p>
            <a:pPr lvl="1"/>
            <a:r>
              <a:rPr lang="en-US" altLang="zh-CN" b="1"/>
              <a:t>《</a:t>
            </a:r>
            <a:r>
              <a:rPr lang="zh-CN" altLang="en-US" sz="2400" b="1"/>
              <a:t>中国统计年鉴</a:t>
            </a:r>
            <a:r>
              <a:rPr lang="en-US" altLang="zh-CN" sz="2400" b="1"/>
              <a:t>》</a:t>
            </a:r>
            <a:r>
              <a:rPr lang="zh-CN" altLang="en-US" sz="2400" b="1"/>
              <a:t>，国家统计局的网站</a:t>
            </a:r>
          </a:p>
          <a:p>
            <a:pPr lvl="1"/>
            <a:r>
              <a:rPr lang="en-US" altLang="zh-CN" sz="2400" b="1"/>
              <a:t>《</a:t>
            </a:r>
            <a:r>
              <a:rPr lang="zh-CN" altLang="en-US" sz="2400" b="1"/>
              <a:t>中国国内生产总值核算历史资料：</a:t>
            </a:r>
            <a:r>
              <a:rPr lang="en-US" altLang="zh-CN" sz="2400" b="1"/>
              <a:t>1952-1995》</a:t>
            </a:r>
            <a:r>
              <a:rPr lang="zh-CN" altLang="en-US" sz="2400" b="1"/>
              <a:t>和</a:t>
            </a:r>
            <a:r>
              <a:rPr lang="en-US" altLang="zh-CN" sz="2400" b="1"/>
              <a:t>《</a:t>
            </a:r>
            <a:r>
              <a:rPr lang="zh-CN" altLang="en-US" sz="2400" b="1"/>
              <a:t>中国国内生产总值核算历史资料：</a:t>
            </a:r>
            <a:r>
              <a:rPr lang="en-US" altLang="zh-CN" sz="2400" b="1"/>
              <a:t>1996-2002》</a:t>
            </a:r>
          </a:p>
          <a:p>
            <a:pPr lvl="1"/>
            <a:r>
              <a:rPr lang="en-US" altLang="zh-CN" sz="2400" b="1"/>
              <a:t>《</a:t>
            </a:r>
            <a:r>
              <a:rPr lang="zh-CN" altLang="en-US" sz="2400" b="1"/>
              <a:t>中国</a:t>
            </a:r>
            <a:r>
              <a:rPr lang="en-US" altLang="zh-CN" sz="2400" b="1"/>
              <a:t>55</a:t>
            </a:r>
            <a:r>
              <a:rPr lang="zh-CN" altLang="en-US" sz="2400" b="1"/>
              <a:t>年统计资料汇编</a:t>
            </a:r>
            <a:r>
              <a:rPr lang="en-US" altLang="zh-CN" sz="2400" b="1"/>
              <a:t>》</a:t>
            </a:r>
          </a:p>
          <a:p>
            <a:pPr lvl="1"/>
            <a:r>
              <a:rPr lang="zh-CN" altLang="en-US" sz="2400" b="1"/>
              <a:t>购买的一些专业数据库。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5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5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5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35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35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358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autoUpdateAnimBg="0"/>
      <p:bldP spid="33587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1AD528C-A119-AD94-12C4-46F83E93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A148-9B68-4C4E-A9FA-531D1ABA1C6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D2B3AA7-3B80-F829-4BD7-60386111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6ADBB-E505-47FA-A8DA-2ACF7ACCB4BF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EF0DC249-E04E-6B91-4DDD-B0029E97D3A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4. </a:t>
            </a:r>
            <a:r>
              <a:rPr lang="zh-CN" altLang="en-US" b="1">
                <a:solidFill>
                  <a:srgbClr val="CC0000"/>
                </a:solidFill>
              </a:rPr>
              <a:t>总供给总需求模型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D88E26FD-A90A-7AD6-42E4-CC6D5A08A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4612" name="Rectangle 4">
            <a:extLst>
              <a:ext uri="{FF2B5EF4-FFF2-40B4-BE49-F238E27FC236}">
                <a16:creationId xmlns:a16="http://schemas.microsoft.com/office/drawing/2014/main" id="{A2D6AE7E-5545-AF7F-6598-1A0F5D1D0AA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1676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回忆微观里的供求模型</a:t>
            </a:r>
          </a:p>
        </p:txBody>
      </p:sp>
      <p:sp>
        <p:nvSpPr>
          <p:cNvPr id="324613" name="Rectangle 5">
            <a:extLst>
              <a:ext uri="{FF2B5EF4-FFF2-40B4-BE49-F238E27FC236}">
                <a16:creationId xmlns:a16="http://schemas.microsoft.com/office/drawing/2014/main" id="{26330500-68F4-6CDD-F663-EFAEB2EBB73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2286000"/>
            <a:ext cx="7696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什么是模型</a:t>
            </a:r>
          </a:p>
        </p:txBody>
      </p:sp>
      <p:sp>
        <p:nvSpPr>
          <p:cNvPr id="324614" name="Rectangle 6">
            <a:extLst>
              <a:ext uri="{FF2B5EF4-FFF2-40B4-BE49-F238E27FC236}">
                <a16:creationId xmlns:a16="http://schemas.microsoft.com/office/drawing/2014/main" id="{E44AA039-8A4C-6B9A-CD60-814B23F7CEC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9718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总需求水平＝</a:t>
            </a:r>
            <a:r>
              <a:rPr lang="en-US" altLang="zh-CN" sz="3200" b="1"/>
              <a:t>C+I+G+NEX</a:t>
            </a:r>
            <a:endParaRPr lang="en-US" altLang="zh-CN" sz="3100" b="1">
              <a:solidFill>
                <a:schemeClr val="tx2"/>
              </a:solidFill>
            </a:endParaRPr>
          </a:p>
        </p:txBody>
      </p:sp>
      <p:sp>
        <p:nvSpPr>
          <p:cNvPr id="324615" name="Rectangle 7">
            <a:extLst>
              <a:ext uri="{FF2B5EF4-FFF2-40B4-BE49-F238E27FC236}">
                <a16:creationId xmlns:a16="http://schemas.microsoft.com/office/drawing/2014/main" id="{EBC3C7AA-6E9D-AC31-2311-3624E5B6B01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79388" y="3789363"/>
            <a:ext cx="8610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总供给水平：给定可用的资源和技术，经济体可能生产的产出量。</a:t>
            </a:r>
            <a:endParaRPr lang="zh-CN" altLang="en-US" sz="31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4617" name="Rectangle 9">
            <a:extLst>
              <a:ext uri="{FF2B5EF4-FFF2-40B4-BE49-F238E27FC236}">
                <a16:creationId xmlns:a16="http://schemas.microsoft.com/office/drawing/2014/main" id="{D8FB0020-32E5-E620-5C54-DE0F14BD335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7950" y="5300663"/>
            <a:ext cx="8610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AS-AD </a:t>
            </a:r>
            <a:r>
              <a:rPr lang="zh-CN" altLang="en-US" sz="3200" b="1"/>
              <a:t>模型的核心假定，如何划分长短期</a:t>
            </a:r>
            <a:endParaRPr lang="zh-CN" altLang="en-US" sz="31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utoUpdateAnimBg="0"/>
      <p:bldP spid="324612" grpId="0" autoUpdateAnimBg="0"/>
      <p:bldP spid="324613" grpId="0" autoUpdateAnimBg="0"/>
      <p:bldP spid="324614" grpId="0" autoUpdateAnimBg="0"/>
      <p:bldP spid="324615" grpId="0" autoUpdateAnimBg="0"/>
      <p:bldP spid="32461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2E77BC5-2E84-09F1-4AD7-2CB0E5AA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6880D-B220-417C-8F63-0D4115377855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1279488-B6A1-94F5-11C0-B4F13DFE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8212F-D92F-45D1-8C6E-EE77E7D24121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564DFCB7-91A0-2502-5ACC-C391B710739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4.1 </a:t>
            </a:r>
            <a:r>
              <a:rPr lang="zh-CN" altLang="en-US" b="1">
                <a:solidFill>
                  <a:srgbClr val="CC0000"/>
                </a:solidFill>
              </a:rPr>
              <a:t>总供给总需求模型－总需求</a:t>
            </a:r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D24DAFF5-AA6E-7ADD-5E07-401131A7B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5636" name="Rectangle 4">
            <a:extLst>
              <a:ext uri="{FF2B5EF4-FFF2-40B4-BE49-F238E27FC236}">
                <a16:creationId xmlns:a16="http://schemas.microsoft.com/office/drawing/2014/main" id="{57AB200A-31FC-DD45-26B2-864F1A1E543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38200" y="1600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总需求曲线：对于每一既定的</a:t>
            </a:r>
            <a:r>
              <a:rPr lang="zh-CN" altLang="en-US" sz="2800" b="1">
                <a:solidFill>
                  <a:schemeClr val="tx2"/>
                </a:solidFill>
              </a:rPr>
              <a:t>价格水平</a:t>
            </a:r>
            <a:r>
              <a:rPr lang="zh-CN" altLang="en-US" sz="2800" b="1"/>
              <a:t>，商品市场和货币市场同时均衡所决定的产量。</a:t>
            </a:r>
          </a:p>
        </p:txBody>
      </p:sp>
      <p:grpSp>
        <p:nvGrpSpPr>
          <p:cNvPr id="325644" name="Group 12">
            <a:extLst>
              <a:ext uri="{FF2B5EF4-FFF2-40B4-BE49-F238E27FC236}">
                <a16:creationId xmlns:a16="http://schemas.microsoft.com/office/drawing/2014/main" id="{762A6074-B245-5D88-7247-63770F634756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048000"/>
            <a:ext cx="4648200" cy="3186113"/>
            <a:chOff x="1440" y="1920"/>
            <a:chExt cx="2928" cy="2007"/>
          </a:xfrm>
        </p:grpSpPr>
        <p:sp>
          <p:nvSpPr>
            <p:cNvPr id="325640" name="Line 8">
              <a:extLst>
                <a:ext uri="{FF2B5EF4-FFF2-40B4-BE49-F238E27FC236}">
                  <a16:creationId xmlns:a16="http://schemas.microsoft.com/office/drawing/2014/main" id="{4930787A-8FEE-CC1D-1085-DA97C31A8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641" name="Line 9">
              <a:extLst>
                <a:ext uri="{FF2B5EF4-FFF2-40B4-BE49-F238E27FC236}">
                  <a16:creationId xmlns:a16="http://schemas.microsoft.com/office/drawing/2014/main" id="{B27C94D2-AEBD-50F6-E4A5-CBC44D70C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642" name="Text Box 10">
              <a:extLst>
                <a:ext uri="{FF2B5EF4-FFF2-40B4-BE49-F238E27FC236}">
                  <a16:creationId xmlns:a16="http://schemas.microsoft.com/office/drawing/2014/main" id="{3B7805CA-8942-02B1-E5A9-4712619C5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5643" name="Text Box 11">
              <a:extLst>
                <a:ext uri="{FF2B5EF4-FFF2-40B4-BE49-F238E27FC236}">
                  <a16:creationId xmlns:a16="http://schemas.microsoft.com/office/drawing/2014/main" id="{950BC554-CDBC-73E8-24EB-81D535A82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grpSp>
        <p:nvGrpSpPr>
          <p:cNvPr id="325648" name="Group 16">
            <a:extLst>
              <a:ext uri="{FF2B5EF4-FFF2-40B4-BE49-F238E27FC236}">
                <a16:creationId xmlns:a16="http://schemas.microsoft.com/office/drawing/2014/main" id="{C8B1E332-CAE6-DE24-B67F-B5C880B502E2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352800"/>
            <a:ext cx="2819400" cy="2187575"/>
            <a:chOff x="2208" y="2112"/>
            <a:chExt cx="1776" cy="1378"/>
          </a:xfrm>
        </p:grpSpPr>
        <p:sp>
          <p:nvSpPr>
            <p:cNvPr id="325645" name="Line 13">
              <a:extLst>
                <a:ext uri="{FF2B5EF4-FFF2-40B4-BE49-F238E27FC236}">
                  <a16:creationId xmlns:a16="http://schemas.microsoft.com/office/drawing/2014/main" id="{AA6475FB-EBB8-54D0-B375-8727FD5C6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12"/>
              <a:ext cx="1488" cy="1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647" name="Text Box 15">
              <a:extLst>
                <a:ext uri="{FF2B5EF4-FFF2-40B4-BE49-F238E27FC236}">
                  <a16:creationId xmlns:a16="http://schemas.microsoft.com/office/drawing/2014/main" id="{21B463DF-874C-78EE-D659-A51DC216C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59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Ａ</a:t>
              </a:r>
              <a:r>
                <a:rPr lang="en-US" altLang="zh-CN" b="1">
                  <a:solidFill>
                    <a:schemeClr val="tx2"/>
                  </a:solidFill>
                </a:rPr>
                <a:t>D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4" grpId="0" autoUpdateAnimBg="0"/>
      <p:bldP spid="32563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BA1E684-E2CF-907E-00CD-2C8A82C0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06987-02B2-44AC-820D-80A48F85328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45D6D96-3FD2-8669-0CD9-168E84FD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8D2-0E03-41C8-9D36-1ED885553DD6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D298E6FA-69EA-C867-7202-3741053917C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4.1 </a:t>
            </a:r>
            <a:r>
              <a:rPr lang="zh-CN" altLang="en-US" b="1">
                <a:solidFill>
                  <a:srgbClr val="CC0000"/>
                </a:solidFill>
              </a:rPr>
              <a:t>总供给总需求模型－总供给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6373693F-01BD-5C97-95B9-C6222F5BB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6660" name="Rectangle 4">
            <a:extLst>
              <a:ext uri="{FF2B5EF4-FFF2-40B4-BE49-F238E27FC236}">
                <a16:creationId xmlns:a16="http://schemas.microsoft.com/office/drawing/2014/main" id="{932FA4DD-BB29-2D46-C2AF-0C7565EF82D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38200" y="1600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总供给曲线：对于每一既定的</a:t>
            </a:r>
            <a:r>
              <a:rPr lang="zh-CN" altLang="en-US" sz="2800" b="1">
                <a:solidFill>
                  <a:schemeClr val="tx2"/>
                </a:solidFill>
              </a:rPr>
              <a:t>价格水平</a:t>
            </a:r>
            <a:r>
              <a:rPr lang="zh-CN" altLang="en-US" sz="2800" b="1"/>
              <a:t>，厂商所愿意提供的产量。</a:t>
            </a:r>
          </a:p>
        </p:txBody>
      </p:sp>
      <p:grpSp>
        <p:nvGrpSpPr>
          <p:cNvPr id="326661" name="Group 5">
            <a:extLst>
              <a:ext uri="{FF2B5EF4-FFF2-40B4-BE49-F238E27FC236}">
                <a16:creationId xmlns:a16="http://schemas.microsoft.com/office/drawing/2014/main" id="{1E0EFD86-C2ED-7187-5464-429333A8230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590800"/>
            <a:ext cx="3352800" cy="2984500"/>
            <a:chOff x="1440" y="1920"/>
            <a:chExt cx="2928" cy="2024"/>
          </a:xfrm>
        </p:grpSpPr>
        <p:sp>
          <p:nvSpPr>
            <p:cNvPr id="326662" name="Line 6">
              <a:extLst>
                <a:ext uri="{FF2B5EF4-FFF2-40B4-BE49-F238E27FC236}">
                  <a16:creationId xmlns:a16="http://schemas.microsoft.com/office/drawing/2014/main" id="{8F89E51B-D616-CE76-0620-79F3FEBF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63" name="Line 7">
              <a:extLst>
                <a:ext uri="{FF2B5EF4-FFF2-40B4-BE49-F238E27FC236}">
                  <a16:creationId xmlns:a16="http://schemas.microsoft.com/office/drawing/2014/main" id="{D0AF87C4-FF6B-ED1C-1AA8-405444B23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64" name="Text Box 8">
              <a:extLst>
                <a:ext uri="{FF2B5EF4-FFF2-40B4-BE49-F238E27FC236}">
                  <a16:creationId xmlns:a16="http://schemas.microsoft.com/office/drawing/2014/main" id="{24357B8D-F2F3-4E89-94DE-CBDA3B85E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6665" name="Text Box 9">
              <a:extLst>
                <a:ext uri="{FF2B5EF4-FFF2-40B4-BE49-F238E27FC236}">
                  <a16:creationId xmlns:a16="http://schemas.microsoft.com/office/drawing/2014/main" id="{2B05ACF0-7D6A-CF4F-A803-97EB6200A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grpSp>
        <p:nvGrpSpPr>
          <p:cNvPr id="326670" name="Group 14">
            <a:extLst>
              <a:ext uri="{FF2B5EF4-FFF2-40B4-BE49-F238E27FC236}">
                <a16:creationId xmlns:a16="http://schemas.microsoft.com/office/drawing/2014/main" id="{BEAA7806-0E5A-9A08-77BD-51770841A6AE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895600"/>
            <a:ext cx="685800" cy="2133600"/>
            <a:chOff x="3120" y="1920"/>
            <a:chExt cx="432" cy="1344"/>
          </a:xfrm>
        </p:grpSpPr>
        <p:sp>
          <p:nvSpPr>
            <p:cNvPr id="326667" name="Line 11">
              <a:extLst>
                <a:ext uri="{FF2B5EF4-FFF2-40B4-BE49-F238E27FC236}">
                  <a16:creationId xmlns:a16="http://schemas.microsoft.com/office/drawing/2014/main" id="{1F28DD68-F89B-ADEE-D8F7-449A93716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112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68" name="Text Box 12">
              <a:extLst>
                <a:ext uri="{FF2B5EF4-FFF2-40B4-BE49-F238E27FC236}">
                  <a16:creationId xmlns:a16="http://schemas.microsoft.com/office/drawing/2014/main" id="{74A9138D-6992-7A4D-8734-356746561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24C03A"/>
                  </a:solidFill>
                </a:rPr>
                <a:t>Ａ</a:t>
              </a:r>
              <a:r>
                <a:rPr lang="en-US" altLang="zh-CN" b="1">
                  <a:solidFill>
                    <a:srgbClr val="24C03A"/>
                  </a:solidFill>
                </a:rPr>
                <a:t>S</a:t>
              </a:r>
            </a:p>
          </p:txBody>
        </p:sp>
      </p:grpSp>
      <p:sp>
        <p:nvSpPr>
          <p:cNvPr id="326671" name="Rectangle 15">
            <a:extLst>
              <a:ext uri="{FF2B5EF4-FFF2-40B4-BE49-F238E27FC236}">
                <a16:creationId xmlns:a16="http://schemas.microsoft.com/office/drawing/2014/main" id="{000BA776-FA8C-DD58-B507-81E11CA2388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791200"/>
            <a:ext cx="2971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长期供给曲线：生产潜力</a:t>
            </a:r>
          </a:p>
        </p:txBody>
      </p:sp>
      <p:grpSp>
        <p:nvGrpSpPr>
          <p:cNvPr id="326672" name="Group 16">
            <a:extLst>
              <a:ext uri="{FF2B5EF4-FFF2-40B4-BE49-F238E27FC236}">
                <a16:creationId xmlns:a16="http://schemas.microsoft.com/office/drawing/2014/main" id="{CBACE0FF-46C6-3B36-467C-8CB008EB1487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90800"/>
            <a:ext cx="3352800" cy="2984500"/>
            <a:chOff x="1440" y="1920"/>
            <a:chExt cx="2928" cy="2024"/>
          </a:xfrm>
        </p:grpSpPr>
        <p:sp>
          <p:nvSpPr>
            <p:cNvPr id="326673" name="Line 17">
              <a:extLst>
                <a:ext uri="{FF2B5EF4-FFF2-40B4-BE49-F238E27FC236}">
                  <a16:creationId xmlns:a16="http://schemas.microsoft.com/office/drawing/2014/main" id="{F225A21D-21CD-ECA2-924D-06CFA56C2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74" name="Line 18">
              <a:extLst>
                <a:ext uri="{FF2B5EF4-FFF2-40B4-BE49-F238E27FC236}">
                  <a16:creationId xmlns:a16="http://schemas.microsoft.com/office/drawing/2014/main" id="{2A13DEF3-BD29-9948-0C66-4D0B2B1B7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75" name="Text Box 19">
              <a:extLst>
                <a:ext uri="{FF2B5EF4-FFF2-40B4-BE49-F238E27FC236}">
                  <a16:creationId xmlns:a16="http://schemas.microsoft.com/office/drawing/2014/main" id="{B781D142-448F-A669-DBE2-ABB203E94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6676" name="Text Box 20">
              <a:extLst>
                <a:ext uri="{FF2B5EF4-FFF2-40B4-BE49-F238E27FC236}">
                  <a16:creationId xmlns:a16="http://schemas.microsoft.com/office/drawing/2014/main" id="{95E2E0AE-5447-08B8-CEE0-F2F96A88C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sp>
        <p:nvSpPr>
          <p:cNvPr id="326680" name="Rectangle 24">
            <a:extLst>
              <a:ext uri="{FF2B5EF4-FFF2-40B4-BE49-F238E27FC236}">
                <a16:creationId xmlns:a16="http://schemas.microsoft.com/office/drawing/2014/main" id="{1AC5FF3F-1A9A-F828-B0E4-4A87836C156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276600" y="5791200"/>
            <a:ext cx="2971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短期供给曲线：产量不受价格水平的影响</a:t>
            </a:r>
          </a:p>
        </p:txBody>
      </p:sp>
      <p:grpSp>
        <p:nvGrpSpPr>
          <p:cNvPr id="326682" name="Group 26">
            <a:extLst>
              <a:ext uri="{FF2B5EF4-FFF2-40B4-BE49-F238E27FC236}">
                <a16:creationId xmlns:a16="http://schemas.microsoft.com/office/drawing/2014/main" id="{30876F03-9341-1BB7-3D54-E737CAFF58E8}"/>
              </a:ext>
            </a:extLst>
          </p:cNvPr>
          <p:cNvGrpSpPr>
            <a:grpSpLocks/>
          </p:cNvGrpSpPr>
          <p:nvPr/>
        </p:nvGrpSpPr>
        <p:grpSpPr bwMode="auto">
          <a:xfrm>
            <a:off x="3732213" y="3733800"/>
            <a:ext cx="2439987" cy="366713"/>
            <a:chOff x="2351" y="2352"/>
            <a:chExt cx="1537" cy="231"/>
          </a:xfrm>
        </p:grpSpPr>
        <p:sp>
          <p:nvSpPr>
            <p:cNvPr id="326678" name="Line 22">
              <a:extLst>
                <a:ext uri="{FF2B5EF4-FFF2-40B4-BE49-F238E27FC236}">
                  <a16:creationId xmlns:a16="http://schemas.microsoft.com/office/drawing/2014/main" id="{AAB89398-7119-2A72-ACB0-7E16DA5B3C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7" y="1895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81" name="Text Box 25">
              <a:extLst>
                <a:ext uri="{FF2B5EF4-FFF2-40B4-BE49-F238E27FC236}">
                  <a16:creationId xmlns:a16="http://schemas.microsoft.com/office/drawing/2014/main" id="{9B167C9D-E597-4E18-0898-B083398F4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352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24C03A"/>
                  </a:solidFill>
                </a:rPr>
                <a:t>AS</a:t>
              </a:r>
            </a:p>
          </p:txBody>
        </p:sp>
      </p:grpSp>
      <p:grpSp>
        <p:nvGrpSpPr>
          <p:cNvPr id="326683" name="Group 27">
            <a:extLst>
              <a:ext uri="{FF2B5EF4-FFF2-40B4-BE49-F238E27FC236}">
                <a16:creationId xmlns:a16="http://schemas.microsoft.com/office/drawing/2014/main" id="{602CEAFF-8784-D5E8-F86F-753024509E12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590800"/>
            <a:ext cx="3352800" cy="2984500"/>
            <a:chOff x="1440" y="1920"/>
            <a:chExt cx="2928" cy="2024"/>
          </a:xfrm>
        </p:grpSpPr>
        <p:sp>
          <p:nvSpPr>
            <p:cNvPr id="326684" name="Line 28">
              <a:extLst>
                <a:ext uri="{FF2B5EF4-FFF2-40B4-BE49-F238E27FC236}">
                  <a16:creationId xmlns:a16="http://schemas.microsoft.com/office/drawing/2014/main" id="{7560C9CE-3434-956C-6306-CBE37A2C5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85" name="Line 29">
              <a:extLst>
                <a:ext uri="{FF2B5EF4-FFF2-40B4-BE49-F238E27FC236}">
                  <a16:creationId xmlns:a16="http://schemas.microsoft.com/office/drawing/2014/main" id="{5AE3C8CA-6016-56CF-D153-924779C3D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86" name="Text Box 30">
              <a:extLst>
                <a:ext uri="{FF2B5EF4-FFF2-40B4-BE49-F238E27FC236}">
                  <a16:creationId xmlns:a16="http://schemas.microsoft.com/office/drawing/2014/main" id="{01FF4704-38E8-FABB-F317-0E98F948C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6687" name="Text Box 31">
              <a:extLst>
                <a:ext uri="{FF2B5EF4-FFF2-40B4-BE49-F238E27FC236}">
                  <a16:creationId xmlns:a16="http://schemas.microsoft.com/office/drawing/2014/main" id="{13FE1BD1-DC96-6B54-12A5-FCC47F5DE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sp>
        <p:nvSpPr>
          <p:cNvPr id="326688" name="Rectangle 32">
            <a:extLst>
              <a:ext uri="{FF2B5EF4-FFF2-40B4-BE49-F238E27FC236}">
                <a16:creationId xmlns:a16="http://schemas.microsoft.com/office/drawing/2014/main" id="{F06EAA6E-D5B7-1B51-2A49-657D4609C8B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0" y="5791200"/>
            <a:ext cx="3048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中期供给曲线：对于每一价格水平，厂商所愿意提供的产量</a:t>
            </a:r>
          </a:p>
        </p:txBody>
      </p:sp>
      <p:grpSp>
        <p:nvGrpSpPr>
          <p:cNvPr id="326689" name="Group 33">
            <a:extLst>
              <a:ext uri="{FF2B5EF4-FFF2-40B4-BE49-F238E27FC236}">
                <a16:creationId xmlns:a16="http://schemas.microsoft.com/office/drawing/2014/main" id="{64C8DF15-9F3B-977B-A3C9-E34BAAD0B5EB}"/>
              </a:ext>
            </a:extLst>
          </p:cNvPr>
          <p:cNvGrpSpPr>
            <a:grpSpLocks/>
          </p:cNvGrpSpPr>
          <p:nvPr/>
        </p:nvGrpSpPr>
        <p:grpSpPr bwMode="auto">
          <a:xfrm rot="-1644279">
            <a:off x="6551613" y="3733800"/>
            <a:ext cx="2439987" cy="366713"/>
            <a:chOff x="2351" y="2352"/>
            <a:chExt cx="1537" cy="231"/>
          </a:xfrm>
        </p:grpSpPr>
        <p:sp>
          <p:nvSpPr>
            <p:cNvPr id="326690" name="Line 34">
              <a:extLst>
                <a:ext uri="{FF2B5EF4-FFF2-40B4-BE49-F238E27FC236}">
                  <a16:creationId xmlns:a16="http://schemas.microsoft.com/office/drawing/2014/main" id="{D3BC3BFA-0577-0451-942F-4E6CF88298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7" y="1895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691" name="Text Box 35">
              <a:extLst>
                <a:ext uri="{FF2B5EF4-FFF2-40B4-BE49-F238E27FC236}">
                  <a16:creationId xmlns:a16="http://schemas.microsoft.com/office/drawing/2014/main" id="{6928B96E-A932-1A0D-DBAE-281E1A34C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352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24C03A"/>
                  </a:solidFill>
                </a:rPr>
                <a:t>AS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2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2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2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3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8" grpId="0" autoUpdateAnimBg="0"/>
      <p:bldP spid="326660" grpId="0" autoUpdateAnimBg="0"/>
      <p:bldP spid="326671" grpId="0" autoUpdateAnimBg="0"/>
      <p:bldP spid="326680" grpId="0" autoUpdateAnimBg="0"/>
      <p:bldP spid="32668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BE8B7AA-C0A9-8926-78C6-AE96BDDB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BED-0C13-4260-AAAA-DBA2F7CE884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A96160A-3851-3AC9-4880-243FCF84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E2F1-DFE6-4B37-9D17-A6EC5A38FA62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100A8E5A-9012-4F55-3AA2-E2905CB7941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4.2 </a:t>
            </a:r>
            <a:r>
              <a:rPr lang="zh-CN" altLang="en-US" b="1">
                <a:solidFill>
                  <a:srgbClr val="CC0000"/>
                </a:solidFill>
              </a:rPr>
              <a:t>总供给总需求模型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123A7D43-9FF4-9214-0956-89E743011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27685" name="Group 5">
            <a:extLst>
              <a:ext uri="{FF2B5EF4-FFF2-40B4-BE49-F238E27FC236}">
                <a16:creationId xmlns:a16="http://schemas.microsoft.com/office/drawing/2014/main" id="{1F022AEA-A8D3-2CA3-1E7F-7B238A95CD7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590800"/>
            <a:ext cx="3352800" cy="2984500"/>
            <a:chOff x="1440" y="1920"/>
            <a:chExt cx="2928" cy="2024"/>
          </a:xfrm>
        </p:grpSpPr>
        <p:sp>
          <p:nvSpPr>
            <p:cNvPr id="327686" name="Line 6">
              <a:extLst>
                <a:ext uri="{FF2B5EF4-FFF2-40B4-BE49-F238E27FC236}">
                  <a16:creationId xmlns:a16="http://schemas.microsoft.com/office/drawing/2014/main" id="{D045C47D-C3F8-D546-742B-EB3A271E1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87" name="Line 7">
              <a:extLst>
                <a:ext uri="{FF2B5EF4-FFF2-40B4-BE49-F238E27FC236}">
                  <a16:creationId xmlns:a16="http://schemas.microsoft.com/office/drawing/2014/main" id="{F1FBE955-1885-7104-E35A-0BD3220BE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88" name="Text Box 8">
              <a:extLst>
                <a:ext uri="{FF2B5EF4-FFF2-40B4-BE49-F238E27FC236}">
                  <a16:creationId xmlns:a16="http://schemas.microsoft.com/office/drawing/2014/main" id="{13D624E6-AB8C-E661-1854-78A3B8E64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7689" name="Text Box 9">
              <a:extLst>
                <a:ext uri="{FF2B5EF4-FFF2-40B4-BE49-F238E27FC236}">
                  <a16:creationId xmlns:a16="http://schemas.microsoft.com/office/drawing/2014/main" id="{D3A5B552-69F2-49F9-5243-622BAC209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grpSp>
        <p:nvGrpSpPr>
          <p:cNvPr id="327690" name="Group 10">
            <a:extLst>
              <a:ext uri="{FF2B5EF4-FFF2-40B4-BE49-F238E27FC236}">
                <a16:creationId xmlns:a16="http://schemas.microsoft.com/office/drawing/2014/main" id="{A321A066-26BD-8507-AD9E-D54A3021F1D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895600"/>
            <a:ext cx="685800" cy="2133600"/>
            <a:chOff x="3120" y="1920"/>
            <a:chExt cx="432" cy="1344"/>
          </a:xfrm>
        </p:grpSpPr>
        <p:sp>
          <p:nvSpPr>
            <p:cNvPr id="327691" name="Line 11">
              <a:extLst>
                <a:ext uri="{FF2B5EF4-FFF2-40B4-BE49-F238E27FC236}">
                  <a16:creationId xmlns:a16="http://schemas.microsoft.com/office/drawing/2014/main" id="{1248C41E-AACA-9E86-DD92-4442C7C54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112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92" name="Text Box 12">
              <a:extLst>
                <a:ext uri="{FF2B5EF4-FFF2-40B4-BE49-F238E27FC236}">
                  <a16:creationId xmlns:a16="http://schemas.microsoft.com/office/drawing/2014/main" id="{05CCB559-0DFA-51D1-2CBB-6E4DB9AA9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24C03A"/>
                  </a:solidFill>
                </a:rPr>
                <a:t>Ａ</a:t>
              </a:r>
              <a:r>
                <a:rPr lang="en-US" altLang="zh-CN" b="1">
                  <a:solidFill>
                    <a:srgbClr val="24C03A"/>
                  </a:solidFill>
                </a:rPr>
                <a:t>S</a:t>
              </a:r>
            </a:p>
          </p:txBody>
        </p:sp>
      </p:grpSp>
      <p:sp>
        <p:nvSpPr>
          <p:cNvPr id="327693" name="Rectangle 13">
            <a:extLst>
              <a:ext uri="{FF2B5EF4-FFF2-40B4-BE49-F238E27FC236}">
                <a16:creationId xmlns:a16="http://schemas.microsoft.com/office/drawing/2014/main" id="{3061F776-E665-7F6B-A27B-B202D4786F5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81000" y="5791200"/>
            <a:ext cx="2971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>
                <a:solidFill>
                  <a:schemeClr val="tx2"/>
                </a:solidFill>
              </a:rPr>
              <a:t>长期中产量只取决于供给，高通货膨胀总是由总需求引起的</a:t>
            </a:r>
          </a:p>
        </p:txBody>
      </p:sp>
      <p:grpSp>
        <p:nvGrpSpPr>
          <p:cNvPr id="327694" name="Group 14">
            <a:extLst>
              <a:ext uri="{FF2B5EF4-FFF2-40B4-BE49-F238E27FC236}">
                <a16:creationId xmlns:a16="http://schemas.microsoft.com/office/drawing/2014/main" id="{57882C34-06FB-82ED-4E07-7569B7E3E9B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90800"/>
            <a:ext cx="3352800" cy="2984500"/>
            <a:chOff x="1440" y="1920"/>
            <a:chExt cx="2928" cy="2024"/>
          </a:xfrm>
        </p:grpSpPr>
        <p:sp>
          <p:nvSpPr>
            <p:cNvPr id="327695" name="Line 15">
              <a:extLst>
                <a:ext uri="{FF2B5EF4-FFF2-40B4-BE49-F238E27FC236}">
                  <a16:creationId xmlns:a16="http://schemas.microsoft.com/office/drawing/2014/main" id="{AE7FEB26-2123-9693-5E24-5FB563D21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96" name="Line 16">
              <a:extLst>
                <a:ext uri="{FF2B5EF4-FFF2-40B4-BE49-F238E27FC236}">
                  <a16:creationId xmlns:a16="http://schemas.microsoft.com/office/drawing/2014/main" id="{BF351ABC-14E5-EB54-A753-7E78AA172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97" name="Text Box 17">
              <a:extLst>
                <a:ext uri="{FF2B5EF4-FFF2-40B4-BE49-F238E27FC236}">
                  <a16:creationId xmlns:a16="http://schemas.microsoft.com/office/drawing/2014/main" id="{2FB7C8CE-2819-8DD1-3A95-D7556C88A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7698" name="Text Box 18">
              <a:extLst>
                <a:ext uri="{FF2B5EF4-FFF2-40B4-BE49-F238E27FC236}">
                  <a16:creationId xmlns:a16="http://schemas.microsoft.com/office/drawing/2014/main" id="{9C544583-C1F0-4013-7983-28869872C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sp>
        <p:nvSpPr>
          <p:cNvPr id="327699" name="Rectangle 19">
            <a:extLst>
              <a:ext uri="{FF2B5EF4-FFF2-40B4-BE49-F238E27FC236}">
                <a16:creationId xmlns:a16="http://schemas.microsoft.com/office/drawing/2014/main" id="{CBA749EE-3D77-C3F2-AB90-807B0773B8E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276600" y="5791200"/>
            <a:ext cx="2971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>
                <a:solidFill>
                  <a:schemeClr val="tx2"/>
                </a:solidFill>
              </a:rPr>
              <a:t>短期产量只取决于总需求，价格水平不受总供给的影响</a:t>
            </a:r>
          </a:p>
        </p:txBody>
      </p:sp>
      <p:grpSp>
        <p:nvGrpSpPr>
          <p:cNvPr id="327700" name="Group 20">
            <a:extLst>
              <a:ext uri="{FF2B5EF4-FFF2-40B4-BE49-F238E27FC236}">
                <a16:creationId xmlns:a16="http://schemas.microsoft.com/office/drawing/2014/main" id="{F83F5F5F-12F6-1C08-2989-2D0557A64BE4}"/>
              </a:ext>
            </a:extLst>
          </p:cNvPr>
          <p:cNvGrpSpPr>
            <a:grpSpLocks/>
          </p:cNvGrpSpPr>
          <p:nvPr/>
        </p:nvGrpSpPr>
        <p:grpSpPr bwMode="auto">
          <a:xfrm>
            <a:off x="3732213" y="3733800"/>
            <a:ext cx="2439987" cy="366713"/>
            <a:chOff x="2351" y="2352"/>
            <a:chExt cx="1537" cy="231"/>
          </a:xfrm>
        </p:grpSpPr>
        <p:sp>
          <p:nvSpPr>
            <p:cNvPr id="327701" name="Line 21">
              <a:extLst>
                <a:ext uri="{FF2B5EF4-FFF2-40B4-BE49-F238E27FC236}">
                  <a16:creationId xmlns:a16="http://schemas.microsoft.com/office/drawing/2014/main" id="{B6F13608-7C63-BD9A-4641-5B38BC6451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7" y="1895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02" name="Text Box 22">
              <a:extLst>
                <a:ext uri="{FF2B5EF4-FFF2-40B4-BE49-F238E27FC236}">
                  <a16:creationId xmlns:a16="http://schemas.microsoft.com/office/drawing/2014/main" id="{5284A1F4-CEC4-E9D1-57C4-120B56198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352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24C03A"/>
                  </a:solidFill>
                </a:rPr>
                <a:t>AS</a:t>
              </a:r>
            </a:p>
          </p:txBody>
        </p:sp>
      </p:grpSp>
      <p:grpSp>
        <p:nvGrpSpPr>
          <p:cNvPr id="327703" name="Group 23">
            <a:extLst>
              <a:ext uri="{FF2B5EF4-FFF2-40B4-BE49-F238E27FC236}">
                <a16:creationId xmlns:a16="http://schemas.microsoft.com/office/drawing/2014/main" id="{F7E07C1F-A2FA-59A7-6C51-6ED9B2875234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590800"/>
            <a:ext cx="3352800" cy="2984500"/>
            <a:chOff x="1440" y="1920"/>
            <a:chExt cx="2928" cy="2024"/>
          </a:xfrm>
        </p:grpSpPr>
        <p:sp>
          <p:nvSpPr>
            <p:cNvPr id="327704" name="Line 24">
              <a:extLst>
                <a:ext uri="{FF2B5EF4-FFF2-40B4-BE49-F238E27FC236}">
                  <a16:creationId xmlns:a16="http://schemas.microsoft.com/office/drawing/2014/main" id="{C2CD8DD1-B34F-43B0-512E-997DC54C5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05" name="Line 25">
              <a:extLst>
                <a:ext uri="{FF2B5EF4-FFF2-40B4-BE49-F238E27FC236}">
                  <a16:creationId xmlns:a16="http://schemas.microsoft.com/office/drawing/2014/main" id="{8EB80FE4-AE53-93E3-C29D-6409D42CA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00"/>
              <a:ext cx="22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06" name="Text Box 26">
              <a:extLst>
                <a:ext uri="{FF2B5EF4-FFF2-40B4-BE49-F238E27FC236}">
                  <a16:creationId xmlns:a16="http://schemas.microsoft.com/office/drawing/2014/main" id="{9433A3C0-6286-77D0-0A55-18E93F0EA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50" cy="1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价格水平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P</a:t>
              </a:r>
            </a:p>
          </p:txBody>
        </p:sp>
        <p:sp>
          <p:nvSpPr>
            <p:cNvPr id="327707" name="Text Box 27">
              <a:extLst>
                <a:ext uri="{FF2B5EF4-FFF2-40B4-BE49-F238E27FC236}">
                  <a16:creationId xmlns:a16="http://schemas.microsoft.com/office/drawing/2014/main" id="{A9371AD6-7D3D-C46F-F089-EBEBF5CCB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96"/>
              <a:ext cx="76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产量 </a:t>
              </a:r>
              <a:r>
                <a:rPr lang="en-US" altLang="zh-CN" b="1"/>
                <a:t>Y</a:t>
              </a:r>
            </a:p>
          </p:txBody>
        </p:sp>
      </p:grpSp>
      <p:sp>
        <p:nvSpPr>
          <p:cNvPr id="327708" name="Rectangle 28">
            <a:extLst>
              <a:ext uri="{FF2B5EF4-FFF2-40B4-BE49-F238E27FC236}">
                <a16:creationId xmlns:a16="http://schemas.microsoft.com/office/drawing/2014/main" id="{DA1C224B-7A86-FF67-C41A-8E2F62FC55E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096000" y="5791200"/>
            <a:ext cx="3048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>
                <a:solidFill>
                  <a:schemeClr val="tx2"/>
                </a:solidFill>
              </a:rPr>
              <a:t>产量和价格水平取决于总供给和总需求</a:t>
            </a:r>
          </a:p>
        </p:txBody>
      </p:sp>
      <p:grpSp>
        <p:nvGrpSpPr>
          <p:cNvPr id="327709" name="Group 29">
            <a:extLst>
              <a:ext uri="{FF2B5EF4-FFF2-40B4-BE49-F238E27FC236}">
                <a16:creationId xmlns:a16="http://schemas.microsoft.com/office/drawing/2014/main" id="{5A06B49E-1C0C-3827-4CAF-9A55BA621679}"/>
              </a:ext>
            </a:extLst>
          </p:cNvPr>
          <p:cNvGrpSpPr>
            <a:grpSpLocks/>
          </p:cNvGrpSpPr>
          <p:nvPr/>
        </p:nvGrpSpPr>
        <p:grpSpPr bwMode="auto">
          <a:xfrm rot="-1644279">
            <a:off x="6551613" y="3733800"/>
            <a:ext cx="2439987" cy="366713"/>
            <a:chOff x="2351" y="2352"/>
            <a:chExt cx="1537" cy="231"/>
          </a:xfrm>
        </p:grpSpPr>
        <p:sp>
          <p:nvSpPr>
            <p:cNvPr id="327710" name="Line 30">
              <a:extLst>
                <a:ext uri="{FF2B5EF4-FFF2-40B4-BE49-F238E27FC236}">
                  <a16:creationId xmlns:a16="http://schemas.microsoft.com/office/drawing/2014/main" id="{8BCC8772-8D5B-1321-5157-1A3A367B52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7" y="1895"/>
              <a:ext cx="0" cy="1152"/>
            </a:xfrm>
            <a:prstGeom prst="line">
              <a:avLst/>
            </a:prstGeom>
            <a:noFill/>
            <a:ln w="38100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11" name="Text Box 31">
              <a:extLst>
                <a:ext uri="{FF2B5EF4-FFF2-40B4-BE49-F238E27FC236}">
                  <a16:creationId xmlns:a16="http://schemas.microsoft.com/office/drawing/2014/main" id="{ADCAD90C-1D70-44DD-3C8A-D3E62A755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352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24C03A"/>
                  </a:solidFill>
                </a:rPr>
                <a:t>AS</a:t>
              </a:r>
            </a:p>
          </p:txBody>
        </p:sp>
      </p:grpSp>
      <p:grpSp>
        <p:nvGrpSpPr>
          <p:cNvPr id="327712" name="Group 32">
            <a:extLst>
              <a:ext uri="{FF2B5EF4-FFF2-40B4-BE49-F238E27FC236}">
                <a16:creationId xmlns:a16="http://schemas.microsoft.com/office/drawing/2014/main" id="{49A9E8BD-AD96-3C27-9581-2A42DC1F1DF9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263900"/>
            <a:ext cx="2057400" cy="1765300"/>
            <a:chOff x="2208" y="2112"/>
            <a:chExt cx="1776" cy="1803"/>
          </a:xfrm>
        </p:grpSpPr>
        <p:sp>
          <p:nvSpPr>
            <p:cNvPr id="327713" name="Line 33">
              <a:extLst>
                <a:ext uri="{FF2B5EF4-FFF2-40B4-BE49-F238E27FC236}">
                  <a16:creationId xmlns:a16="http://schemas.microsoft.com/office/drawing/2014/main" id="{4442C3EB-DA55-0152-D8E8-E6EEDACB7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12"/>
              <a:ext cx="1488" cy="1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14" name="Text Box 34">
              <a:extLst>
                <a:ext uri="{FF2B5EF4-FFF2-40B4-BE49-F238E27FC236}">
                  <a16:creationId xmlns:a16="http://schemas.microsoft.com/office/drawing/2014/main" id="{E0A48B89-9C72-3476-6BA4-8C37C690B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60"/>
              <a:ext cx="432" cy="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Ａ</a:t>
              </a:r>
              <a:r>
                <a:rPr lang="en-US" altLang="zh-CN" b="1">
                  <a:solidFill>
                    <a:schemeClr val="tx2"/>
                  </a:solidFill>
                </a:rPr>
                <a:t>D</a:t>
              </a:r>
            </a:p>
          </p:txBody>
        </p:sp>
      </p:grpSp>
      <p:grpSp>
        <p:nvGrpSpPr>
          <p:cNvPr id="327715" name="Group 35">
            <a:extLst>
              <a:ext uri="{FF2B5EF4-FFF2-40B4-BE49-F238E27FC236}">
                <a16:creationId xmlns:a16="http://schemas.microsoft.com/office/drawing/2014/main" id="{37C2B235-E04A-EA07-80BB-73780E6684B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352800"/>
            <a:ext cx="2057400" cy="1765300"/>
            <a:chOff x="2208" y="2112"/>
            <a:chExt cx="1776" cy="1803"/>
          </a:xfrm>
        </p:grpSpPr>
        <p:sp>
          <p:nvSpPr>
            <p:cNvPr id="327716" name="Line 36">
              <a:extLst>
                <a:ext uri="{FF2B5EF4-FFF2-40B4-BE49-F238E27FC236}">
                  <a16:creationId xmlns:a16="http://schemas.microsoft.com/office/drawing/2014/main" id="{2116F4B6-5B25-4856-3EE3-1D44ADB9D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12"/>
              <a:ext cx="1488" cy="1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17" name="Text Box 37">
              <a:extLst>
                <a:ext uri="{FF2B5EF4-FFF2-40B4-BE49-F238E27FC236}">
                  <a16:creationId xmlns:a16="http://schemas.microsoft.com/office/drawing/2014/main" id="{718E90AF-E169-D540-8504-009885287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60"/>
              <a:ext cx="432" cy="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Ａ</a:t>
              </a:r>
              <a:r>
                <a:rPr lang="en-US" altLang="zh-CN" b="1">
                  <a:solidFill>
                    <a:schemeClr val="tx2"/>
                  </a:solidFill>
                </a:rPr>
                <a:t>D</a:t>
              </a:r>
            </a:p>
          </p:txBody>
        </p:sp>
      </p:grpSp>
      <p:grpSp>
        <p:nvGrpSpPr>
          <p:cNvPr id="327718" name="Group 38">
            <a:extLst>
              <a:ext uri="{FF2B5EF4-FFF2-40B4-BE49-F238E27FC236}">
                <a16:creationId xmlns:a16="http://schemas.microsoft.com/office/drawing/2014/main" id="{D920FA79-93DE-8CD0-CBAD-FF4BE9C285B9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276600"/>
            <a:ext cx="2057400" cy="1765300"/>
            <a:chOff x="2208" y="2112"/>
            <a:chExt cx="1776" cy="1803"/>
          </a:xfrm>
        </p:grpSpPr>
        <p:sp>
          <p:nvSpPr>
            <p:cNvPr id="327719" name="Line 39">
              <a:extLst>
                <a:ext uri="{FF2B5EF4-FFF2-40B4-BE49-F238E27FC236}">
                  <a16:creationId xmlns:a16="http://schemas.microsoft.com/office/drawing/2014/main" id="{ACDCB56E-7E47-00D7-7205-B321CADD0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12"/>
              <a:ext cx="1488" cy="1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20" name="Text Box 40">
              <a:extLst>
                <a:ext uri="{FF2B5EF4-FFF2-40B4-BE49-F238E27FC236}">
                  <a16:creationId xmlns:a16="http://schemas.microsoft.com/office/drawing/2014/main" id="{BAC15B72-655D-3571-9E63-F7F133DC3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60"/>
              <a:ext cx="432" cy="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Ａ</a:t>
              </a:r>
              <a:r>
                <a:rPr lang="en-US" altLang="zh-CN" b="1">
                  <a:solidFill>
                    <a:schemeClr val="tx2"/>
                  </a:solidFill>
                </a:rPr>
                <a:t>D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2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2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32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3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autoUpdateAnimBg="0"/>
      <p:bldP spid="327693" grpId="0" autoUpdateAnimBg="0"/>
      <p:bldP spid="327699" grpId="0" autoUpdateAnimBg="0"/>
      <p:bldP spid="32770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458825A-75FC-448C-401B-B68D4349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92610-BE7C-441A-A53E-B7846993372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AA4F343-16B5-12E3-8B48-1776BB30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2D0E-4D02-497E-AAD6-DBD8649A46D2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5C9AAAC8-BAA3-FE6E-1C33-20EA0FB4ABA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作业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591BC0E5-F5BD-D270-22B3-9D9A9269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8716" name="Rectangle 12">
            <a:extLst>
              <a:ext uri="{FF2B5EF4-FFF2-40B4-BE49-F238E27FC236}">
                <a16:creationId xmlns:a16="http://schemas.microsoft.com/office/drawing/2014/main" id="{2B56DEC3-7A3D-9799-13C0-FA2E902792B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38200" y="1196975"/>
            <a:ext cx="701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600" b="1">
                <a:solidFill>
                  <a:srgbClr val="24C03A"/>
                </a:solidFill>
              </a:rPr>
              <a:t>课后作业：第</a:t>
            </a:r>
            <a:r>
              <a:rPr lang="en-US" altLang="zh-CN" sz="3600" b="1">
                <a:solidFill>
                  <a:srgbClr val="24C03A"/>
                </a:solidFill>
              </a:rPr>
              <a:t>39-40</a:t>
            </a:r>
            <a:r>
              <a:rPr lang="zh-CN" altLang="en-US" sz="3600" b="1">
                <a:solidFill>
                  <a:srgbClr val="24C03A"/>
                </a:solidFill>
              </a:rPr>
              <a:t>页概念题</a:t>
            </a:r>
            <a:r>
              <a:rPr lang="en-US" altLang="zh-CN" sz="3600" b="1">
                <a:solidFill>
                  <a:srgbClr val="24C03A"/>
                </a:solidFill>
              </a:rPr>
              <a:t>1/2/3/7</a:t>
            </a:r>
            <a:r>
              <a:rPr lang="zh-CN" altLang="en-US" sz="3600" b="1">
                <a:solidFill>
                  <a:srgbClr val="24C03A"/>
                </a:solidFill>
              </a:rPr>
              <a:t>；技术题</a:t>
            </a:r>
            <a:r>
              <a:rPr lang="en-US" altLang="zh-CN" sz="3600" b="1">
                <a:solidFill>
                  <a:srgbClr val="24C03A"/>
                </a:solidFill>
              </a:rPr>
              <a:t>2/3</a:t>
            </a:r>
          </a:p>
        </p:txBody>
      </p:sp>
      <p:sp>
        <p:nvSpPr>
          <p:cNvPr id="328731" name="Rectangle 27">
            <a:extLst>
              <a:ext uri="{FF2B5EF4-FFF2-40B4-BE49-F238E27FC236}">
                <a16:creationId xmlns:a16="http://schemas.microsoft.com/office/drawing/2014/main" id="{E7789470-CB55-A647-D3FA-2387647F642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2492375"/>
            <a:ext cx="8134350" cy="396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分组作业：任选一题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、简述</a:t>
            </a: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的发展史（包括在全球和中国的发展历程两部分）以及最近人们对</a:t>
            </a: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的反思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在我国，如何核算</a:t>
            </a: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、国外其他经济体或我国省区宏观经济鸟瞰（选择</a:t>
            </a: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个样本，描述其经济增长、经济波动、通货膨胀、失业等）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要求：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月份的最后一次课做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presentation</a:t>
            </a:r>
            <a:endParaRPr lang="en-US" altLang="zh-CN" sz="2800" b="1">
              <a:solidFill>
                <a:srgbClr val="24C03A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utoUpdateAnimBg="0"/>
      <p:bldP spid="328716" grpId="0" autoUpdateAnimBg="0"/>
      <p:bldP spid="32873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C275E48-EB91-56CF-255C-A2FAEB6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711F2-C0A4-4ABB-90FF-33EE6A2E571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80F3541-A893-D17A-56E3-17F0CFDB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2CA-EBFE-4419-B42B-52913071F940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05154" name="WordArt 2">
            <a:extLst>
              <a:ext uri="{FF2B5EF4-FFF2-40B4-BE49-F238E27FC236}">
                <a16:creationId xmlns:a16="http://schemas.microsoft.com/office/drawing/2014/main" id="{FB7D8989-5292-0744-76A2-2A679EF785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16013" y="1844675"/>
            <a:ext cx="6911975" cy="2736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Triangle">
              <a:avLst>
                <a:gd name="adj" fmla="val 40333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en-US" altLang="zh-CN" sz="48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Thank You</a:t>
            </a:r>
            <a:endParaRPr lang="zh-CN" altLang="en-US" sz="4800" kern="1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2390</TotalTime>
  <Words>1424</Words>
  <Application>Microsoft Office PowerPoint</Application>
  <PresentationFormat>全屏显示(4:3)</PresentationFormat>
  <Paragraphs>250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宋体</vt:lpstr>
      <vt:lpstr>Wingdings</vt:lpstr>
      <vt:lpstr>Wingdings 2</vt:lpstr>
      <vt:lpstr>华文楷体</vt:lpstr>
      <vt:lpstr>Times New Roman</vt:lpstr>
      <vt:lpstr>Book Antiqua</vt:lpstr>
      <vt:lpstr>吉祥如意</vt:lpstr>
      <vt:lpstr>Microsoft Graph 图表</vt:lpstr>
      <vt:lpstr>Microsoft Excel 工作表</vt:lpstr>
      <vt:lpstr>中级宏观经济学</vt:lpstr>
      <vt:lpstr>课程简介</vt:lpstr>
      <vt:lpstr>主要内容</vt:lpstr>
      <vt:lpstr>两个问题</vt:lpstr>
      <vt:lpstr>GDP核算的创立/发展</vt:lpstr>
      <vt:lpstr>1 GDP核算</vt:lpstr>
      <vt:lpstr>1.1 GDP核算-生产法</vt:lpstr>
      <vt:lpstr>1.2 GDP核算－生产法举例</vt:lpstr>
      <vt:lpstr>1.2 GDP核算－生产法举例</vt:lpstr>
      <vt:lpstr>1.3 GDP核算-支出法</vt:lpstr>
      <vt:lpstr>1.3 GDP核算-支出法举例</vt:lpstr>
      <vt:lpstr>1.3 GDP核算-支出法举例</vt:lpstr>
      <vt:lpstr>1.4 GDP核算-收入法</vt:lpstr>
      <vt:lpstr>1.4 GDP核算－收入举例</vt:lpstr>
      <vt:lpstr>1.4 GDP核算－收入举例</vt:lpstr>
      <vt:lpstr>1.5 GDP核算－生产法与支出法比较</vt:lpstr>
      <vt:lpstr>1.6 GDP核算中的其他常见指标</vt:lpstr>
      <vt:lpstr>GDP与GNP</vt:lpstr>
      <vt:lpstr>1.7 GDP核算中的一些问题</vt:lpstr>
      <vt:lpstr>2.1 一些重要的恒等式</vt:lpstr>
      <vt:lpstr>2.2 一些重要的恒等式</vt:lpstr>
      <vt:lpstr>3. 价格水平与通货膨胀</vt:lpstr>
      <vt:lpstr>CPI与GDP缩减指数</vt:lpstr>
      <vt:lpstr>CPI与GDP缩减指数</vt:lpstr>
      <vt:lpstr>到哪里找数据</vt:lpstr>
      <vt:lpstr>4. 总供给总需求模型</vt:lpstr>
      <vt:lpstr>4.1 总供给总需求模型－总需求</vt:lpstr>
      <vt:lpstr>4.1 总供给总需求模型－总供给</vt:lpstr>
      <vt:lpstr>4.2 总供给总需求模型</vt:lpstr>
      <vt:lpstr>作业</vt:lpstr>
      <vt:lpstr>PowerPoint 演示文稿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208</cp:revision>
  <dcterms:created xsi:type="dcterms:W3CDTF">2004-10-12T17:05:21Z</dcterms:created>
  <dcterms:modified xsi:type="dcterms:W3CDTF">2023-10-24T11:36:27Z</dcterms:modified>
</cp:coreProperties>
</file>