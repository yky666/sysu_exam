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CC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CC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3"/>
            <a:ext cx="9137902" cy="68518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246888" y="280416"/>
            <a:ext cx="1060704" cy="1054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1511808" y="594364"/>
            <a:ext cx="3840455" cy="4693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1362455" y="1100329"/>
            <a:ext cx="4142220" cy="19202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115823" y="112776"/>
            <a:ext cx="8891270" cy="6598920"/>
          </a:xfrm>
          <a:custGeom>
            <a:avLst/>
            <a:gdLst/>
            <a:ahLst/>
            <a:cxnLst/>
            <a:rect l="l" t="t" r="r" b="b"/>
            <a:pathLst>
              <a:path w="8891270" h="6598920">
                <a:moveTo>
                  <a:pt x="0" y="0"/>
                </a:moveTo>
                <a:lnTo>
                  <a:pt x="0" y="6598919"/>
                </a:lnTo>
                <a:lnTo>
                  <a:pt x="8891015" y="6598919"/>
                </a:lnTo>
                <a:lnTo>
                  <a:pt x="8891015" y="0"/>
                </a:lnTo>
                <a:lnTo>
                  <a:pt x="0" y="0"/>
                </a:lnTo>
              </a:path>
            </a:pathLst>
          </a:custGeom>
          <a:ln w="18287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k object 21"/>
          <p:cNvSpPr/>
          <p:nvPr/>
        </p:nvSpPr>
        <p:spPr>
          <a:xfrm>
            <a:off x="679704" y="364388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0909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k object 22"/>
          <p:cNvSpPr/>
          <p:nvPr/>
        </p:nvSpPr>
        <p:spPr>
          <a:xfrm>
            <a:off x="679704" y="364693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1212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k object 23"/>
          <p:cNvSpPr/>
          <p:nvPr/>
        </p:nvSpPr>
        <p:spPr>
          <a:xfrm>
            <a:off x="679704" y="364998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k object 24"/>
          <p:cNvSpPr/>
          <p:nvPr/>
        </p:nvSpPr>
        <p:spPr>
          <a:xfrm>
            <a:off x="679704" y="365302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2020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k object 25"/>
          <p:cNvSpPr/>
          <p:nvPr/>
        </p:nvSpPr>
        <p:spPr>
          <a:xfrm>
            <a:off x="679704" y="365607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k object 26"/>
          <p:cNvSpPr/>
          <p:nvPr/>
        </p:nvSpPr>
        <p:spPr>
          <a:xfrm>
            <a:off x="679704" y="365912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2A2A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k object 27"/>
          <p:cNvSpPr/>
          <p:nvPr/>
        </p:nvSpPr>
        <p:spPr>
          <a:xfrm>
            <a:off x="679704" y="366217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3131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k object 28"/>
          <p:cNvSpPr/>
          <p:nvPr/>
        </p:nvSpPr>
        <p:spPr>
          <a:xfrm>
            <a:off x="679704" y="366522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36363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k object 29"/>
          <p:cNvSpPr/>
          <p:nvPr/>
        </p:nvSpPr>
        <p:spPr>
          <a:xfrm>
            <a:off x="679704" y="366826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3C3C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k object 30"/>
          <p:cNvSpPr/>
          <p:nvPr/>
        </p:nvSpPr>
        <p:spPr>
          <a:xfrm>
            <a:off x="679704" y="367131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41414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k object 31"/>
          <p:cNvSpPr/>
          <p:nvPr/>
        </p:nvSpPr>
        <p:spPr>
          <a:xfrm>
            <a:off x="679704" y="367436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49494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bk object 32"/>
          <p:cNvSpPr/>
          <p:nvPr/>
        </p:nvSpPr>
        <p:spPr>
          <a:xfrm>
            <a:off x="679704" y="3677411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4E4E4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bk object 33"/>
          <p:cNvSpPr/>
          <p:nvPr/>
        </p:nvSpPr>
        <p:spPr>
          <a:xfrm>
            <a:off x="679704" y="368046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5454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bk object 34"/>
          <p:cNvSpPr/>
          <p:nvPr/>
        </p:nvSpPr>
        <p:spPr>
          <a:xfrm>
            <a:off x="679704" y="368350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5B5B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bk object 35"/>
          <p:cNvSpPr/>
          <p:nvPr/>
        </p:nvSpPr>
        <p:spPr>
          <a:xfrm>
            <a:off x="679704" y="3686555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61616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bk object 36"/>
          <p:cNvSpPr/>
          <p:nvPr/>
        </p:nvSpPr>
        <p:spPr>
          <a:xfrm>
            <a:off x="679704" y="368960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6767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bk object 37"/>
          <p:cNvSpPr/>
          <p:nvPr/>
        </p:nvSpPr>
        <p:spPr>
          <a:xfrm>
            <a:off x="679704" y="369265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6E6E6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bk object 38"/>
          <p:cNvSpPr/>
          <p:nvPr/>
        </p:nvSpPr>
        <p:spPr>
          <a:xfrm>
            <a:off x="679704" y="369570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7373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bk object 39"/>
          <p:cNvSpPr/>
          <p:nvPr/>
        </p:nvSpPr>
        <p:spPr>
          <a:xfrm>
            <a:off x="679704" y="369874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7979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bk object 40"/>
          <p:cNvSpPr/>
          <p:nvPr/>
        </p:nvSpPr>
        <p:spPr>
          <a:xfrm>
            <a:off x="679704" y="370179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bk object 41"/>
          <p:cNvSpPr/>
          <p:nvPr/>
        </p:nvSpPr>
        <p:spPr>
          <a:xfrm>
            <a:off x="679704" y="370484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86868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bk object 42"/>
          <p:cNvSpPr/>
          <p:nvPr/>
        </p:nvSpPr>
        <p:spPr>
          <a:xfrm>
            <a:off x="679704" y="370789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8C8C8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bk object 43"/>
          <p:cNvSpPr/>
          <p:nvPr/>
        </p:nvSpPr>
        <p:spPr>
          <a:xfrm>
            <a:off x="679704" y="371094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91919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bk object 44"/>
          <p:cNvSpPr/>
          <p:nvPr/>
        </p:nvSpPr>
        <p:spPr>
          <a:xfrm>
            <a:off x="679704" y="371398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98989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bk object 45"/>
          <p:cNvSpPr/>
          <p:nvPr/>
        </p:nvSpPr>
        <p:spPr>
          <a:xfrm>
            <a:off x="679704" y="371703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9D9D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bk object 46"/>
          <p:cNvSpPr/>
          <p:nvPr/>
        </p:nvSpPr>
        <p:spPr>
          <a:xfrm>
            <a:off x="679704" y="372008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A2A2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bk object 47"/>
          <p:cNvSpPr/>
          <p:nvPr/>
        </p:nvSpPr>
        <p:spPr>
          <a:xfrm>
            <a:off x="679704" y="372313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bk object 48"/>
          <p:cNvSpPr/>
          <p:nvPr/>
        </p:nvSpPr>
        <p:spPr>
          <a:xfrm>
            <a:off x="679704" y="372618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bk object 49"/>
          <p:cNvSpPr/>
          <p:nvPr/>
        </p:nvSpPr>
        <p:spPr>
          <a:xfrm>
            <a:off x="679704" y="372922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0B0B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bk object 50"/>
          <p:cNvSpPr/>
          <p:nvPr/>
        </p:nvSpPr>
        <p:spPr>
          <a:xfrm>
            <a:off x="679704" y="373227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4B4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bk object 51"/>
          <p:cNvSpPr/>
          <p:nvPr/>
        </p:nvSpPr>
        <p:spPr>
          <a:xfrm>
            <a:off x="679704" y="373532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8B8B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bk object 52"/>
          <p:cNvSpPr/>
          <p:nvPr/>
        </p:nvSpPr>
        <p:spPr>
          <a:xfrm>
            <a:off x="679704" y="373837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ABA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bk object 53"/>
          <p:cNvSpPr/>
          <p:nvPr/>
        </p:nvSpPr>
        <p:spPr>
          <a:xfrm>
            <a:off x="679704" y="374142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bk object 54"/>
          <p:cNvSpPr/>
          <p:nvPr/>
        </p:nvSpPr>
        <p:spPr>
          <a:xfrm>
            <a:off x="679704" y="374446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2C2C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bk object 55"/>
          <p:cNvSpPr/>
          <p:nvPr/>
        </p:nvSpPr>
        <p:spPr>
          <a:xfrm>
            <a:off x="679704" y="374751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4C4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bk object 56"/>
          <p:cNvSpPr/>
          <p:nvPr/>
        </p:nvSpPr>
        <p:spPr>
          <a:xfrm>
            <a:off x="679704" y="375056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7C7C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bk object 57"/>
          <p:cNvSpPr/>
          <p:nvPr/>
        </p:nvSpPr>
        <p:spPr>
          <a:xfrm>
            <a:off x="679704" y="3753611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ACAC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bk object 58"/>
          <p:cNvSpPr/>
          <p:nvPr/>
        </p:nvSpPr>
        <p:spPr>
          <a:xfrm>
            <a:off x="679704" y="375666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bk object 59"/>
          <p:cNvSpPr/>
          <p:nvPr/>
        </p:nvSpPr>
        <p:spPr>
          <a:xfrm>
            <a:off x="679704" y="375970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bk object 60"/>
          <p:cNvSpPr/>
          <p:nvPr/>
        </p:nvSpPr>
        <p:spPr>
          <a:xfrm>
            <a:off x="679704" y="3762755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FCF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bk object 61"/>
          <p:cNvSpPr/>
          <p:nvPr/>
        </p:nvSpPr>
        <p:spPr>
          <a:xfrm>
            <a:off x="679704" y="376580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bk object 62"/>
          <p:cNvSpPr/>
          <p:nvPr/>
        </p:nvSpPr>
        <p:spPr>
          <a:xfrm>
            <a:off x="679704" y="376885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1D1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bk object 63"/>
          <p:cNvSpPr/>
          <p:nvPr/>
        </p:nvSpPr>
        <p:spPr>
          <a:xfrm>
            <a:off x="679704" y="377190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3D3D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bk object 64"/>
          <p:cNvSpPr/>
          <p:nvPr/>
        </p:nvSpPr>
        <p:spPr>
          <a:xfrm>
            <a:off x="679704" y="377494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4D4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bk object 65"/>
          <p:cNvSpPr/>
          <p:nvPr/>
        </p:nvSpPr>
        <p:spPr>
          <a:xfrm>
            <a:off x="679704" y="377799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bk object 66"/>
          <p:cNvSpPr/>
          <p:nvPr/>
        </p:nvSpPr>
        <p:spPr>
          <a:xfrm>
            <a:off x="679704" y="378104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bk object 67"/>
          <p:cNvSpPr/>
          <p:nvPr/>
        </p:nvSpPr>
        <p:spPr>
          <a:xfrm>
            <a:off x="679704" y="378409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CC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3"/>
            <a:ext cx="9137902" cy="685189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33528" y="42672"/>
            <a:ext cx="2157984" cy="43281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140207" y="185928"/>
            <a:ext cx="8857615" cy="6553200"/>
          </a:xfrm>
          <a:custGeom>
            <a:avLst/>
            <a:gdLst/>
            <a:ahLst/>
            <a:cxnLst/>
            <a:rect l="l" t="t" r="r" b="b"/>
            <a:pathLst>
              <a:path w="8857615" h="6553200">
                <a:moveTo>
                  <a:pt x="0" y="0"/>
                </a:moveTo>
                <a:lnTo>
                  <a:pt x="0" y="6553199"/>
                </a:lnTo>
                <a:lnTo>
                  <a:pt x="8857487" y="6553199"/>
                </a:lnTo>
                <a:lnTo>
                  <a:pt x="8857487" y="0"/>
                </a:lnTo>
                <a:lnTo>
                  <a:pt x="0" y="0"/>
                </a:lnTo>
              </a:path>
            </a:pathLst>
          </a:custGeom>
          <a:ln w="18287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121920" y="141274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0909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121920" y="141579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1212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k object 21"/>
          <p:cNvSpPr/>
          <p:nvPr/>
        </p:nvSpPr>
        <p:spPr>
          <a:xfrm>
            <a:off x="121920" y="141884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k object 22"/>
          <p:cNvSpPr/>
          <p:nvPr/>
        </p:nvSpPr>
        <p:spPr>
          <a:xfrm>
            <a:off x="121920" y="142189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2020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k object 23"/>
          <p:cNvSpPr/>
          <p:nvPr/>
        </p:nvSpPr>
        <p:spPr>
          <a:xfrm>
            <a:off x="121920" y="142494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k object 24"/>
          <p:cNvSpPr/>
          <p:nvPr/>
        </p:nvSpPr>
        <p:spPr>
          <a:xfrm>
            <a:off x="121920" y="142798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2A2A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k object 25"/>
          <p:cNvSpPr/>
          <p:nvPr/>
        </p:nvSpPr>
        <p:spPr>
          <a:xfrm>
            <a:off x="121920" y="143103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3131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k object 26"/>
          <p:cNvSpPr/>
          <p:nvPr/>
        </p:nvSpPr>
        <p:spPr>
          <a:xfrm>
            <a:off x="121920" y="143408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36363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k object 27"/>
          <p:cNvSpPr/>
          <p:nvPr/>
        </p:nvSpPr>
        <p:spPr>
          <a:xfrm>
            <a:off x="121920" y="143713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3C3C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k object 28"/>
          <p:cNvSpPr/>
          <p:nvPr/>
        </p:nvSpPr>
        <p:spPr>
          <a:xfrm>
            <a:off x="121920" y="144018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41414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k object 29"/>
          <p:cNvSpPr/>
          <p:nvPr/>
        </p:nvSpPr>
        <p:spPr>
          <a:xfrm>
            <a:off x="121920" y="144322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49494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k object 30"/>
          <p:cNvSpPr/>
          <p:nvPr/>
        </p:nvSpPr>
        <p:spPr>
          <a:xfrm>
            <a:off x="121920" y="144627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4E4E4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k object 31"/>
          <p:cNvSpPr/>
          <p:nvPr/>
        </p:nvSpPr>
        <p:spPr>
          <a:xfrm>
            <a:off x="121920" y="144932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5454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bk object 32"/>
          <p:cNvSpPr/>
          <p:nvPr/>
        </p:nvSpPr>
        <p:spPr>
          <a:xfrm>
            <a:off x="121920" y="145237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5B5B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bk object 33"/>
          <p:cNvSpPr/>
          <p:nvPr/>
        </p:nvSpPr>
        <p:spPr>
          <a:xfrm>
            <a:off x="121920" y="145542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61616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bk object 34"/>
          <p:cNvSpPr/>
          <p:nvPr/>
        </p:nvSpPr>
        <p:spPr>
          <a:xfrm>
            <a:off x="121920" y="145846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6767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bk object 35"/>
          <p:cNvSpPr/>
          <p:nvPr/>
        </p:nvSpPr>
        <p:spPr>
          <a:xfrm>
            <a:off x="121920" y="146151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6E6E6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bk object 36"/>
          <p:cNvSpPr/>
          <p:nvPr/>
        </p:nvSpPr>
        <p:spPr>
          <a:xfrm>
            <a:off x="121920" y="146456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7373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bk object 37"/>
          <p:cNvSpPr/>
          <p:nvPr/>
        </p:nvSpPr>
        <p:spPr>
          <a:xfrm>
            <a:off x="121920" y="146761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7979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bk object 38"/>
          <p:cNvSpPr/>
          <p:nvPr/>
        </p:nvSpPr>
        <p:spPr>
          <a:xfrm>
            <a:off x="121920" y="147066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bk object 39"/>
          <p:cNvSpPr/>
          <p:nvPr/>
        </p:nvSpPr>
        <p:spPr>
          <a:xfrm>
            <a:off x="121920" y="147370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86868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bk object 40"/>
          <p:cNvSpPr/>
          <p:nvPr/>
        </p:nvSpPr>
        <p:spPr>
          <a:xfrm>
            <a:off x="121920" y="147675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8C8C8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bk object 41"/>
          <p:cNvSpPr/>
          <p:nvPr/>
        </p:nvSpPr>
        <p:spPr>
          <a:xfrm>
            <a:off x="121920" y="147980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91919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bk object 42"/>
          <p:cNvSpPr/>
          <p:nvPr/>
        </p:nvSpPr>
        <p:spPr>
          <a:xfrm>
            <a:off x="121920" y="148285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98989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bk object 43"/>
          <p:cNvSpPr/>
          <p:nvPr/>
        </p:nvSpPr>
        <p:spPr>
          <a:xfrm>
            <a:off x="121920" y="148590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9D9D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bk object 44"/>
          <p:cNvSpPr/>
          <p:nvPr/>
        </p:nvSpPr>
        <p:spPr>
          <a:xfrm>
            <a:off x="121920" y="148894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A2A2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bk object 45"/>
          <p:cNvSpPr/>
          <p:nvPr/>
        </p:nvSpPr>
        <p:spPr>
          <a:xfrm>
            <a:off x="121920" y="149199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bk object 46"/>
          <p:cNvSpPr/>
          <p:nvPr/>
        </p:nvSpPr>
        <p:spPr>
          <a:xfrm>
            <a:off x="121920" y="149504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bk object 47"/>
          <p:cNvSpPr/>
          <p:nvPr/>
        </p:nvSpPr>
        <p:spPr>
          <a:xfrm>
            <a:off x="121920" y="149809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0B0B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bk object 48"/>
          <p:cNvSpPr/>
          <p:nvPr/>
        </p:nvSpPr>
        <p:spPr>
          <a:xfrm>
            <a:off x="121920" y="150114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4B4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bk object 49"/>
          <p:cNvSpPr/>
          <p:nvPr/>
        </p:nvSpPr>
        <p:spPr>
          <a:xfrm>
            <a:off x="121920" y="150418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8B8B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bk object 50"/>
          <p:cNvSpPr/>
          <p:nvPr/>
        </p:nvSpPr>
        <p:spPr>
          <a:xfrm>
            <a:off x="121920" y="150723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ABA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bk object 51"/>
          <p:cNvSpPr/>
          <p:nvPr/>
        </p:nvSpPr>
        <p:spPr>
          <a:xfrm>
            <a:off x="121920" y="151028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bk object 52"/>
          <p:cNvSpPr/>
          <p:nvPr/>
        </p:nvSpPr>
        <p:spPr>
          <a:xfrm>
            <a:off x="121920" y="151333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2C2C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bk object 53"/>
          <p:cNvSpPr/>
          <p:nvPr/>
        </p:nvSpPr>
        <p:spPr>
          <a:xfrm>
            <a:off x="121920" y="151638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4C4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bk object 54"/>
          <p:cNvSpPr/>
          <p:nvPr/>
        </p:nvSpPr>
        <p:spPr>
          <a:xfrm>
            <a:off x="121920" y="151942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7C7C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bk object 55"/>
          <p:cNvSpPr/>
          <p:nvPr/>
        </p:nvSpPr>
        <p:spPr>
          <a:xfrm>
            <a:off x="121920" y="152247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ACAC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bk object 56"/>
          <p:cNvSpPr/>
          <p:nvPr/>
        </p:nvSpPr>
        <p:spPr>
          <a:xfrm>
            <a:off x="121920" y="152552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bk object 57"/>
          <p:cNvSpPr/>
          <p:nvPr/>
        </p:nvSpPr>
        <p:spPr>
          <a:xfrm>
            <a:off x="121920" y="152857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bk object 58"/>
          <p:cNvSpPr/>
          <p:nvPr/>
        </p:nvSpPr>
        <p:spPr>
          <a:xfrm>
            <a:off x="121920" y="153162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FCF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bk object 59"/>
          <p:cNvSpPr/>
          <p:nvPr/>
        </p:nvSpPr>
        <p:spPr>
          <a:xfrm>
            <a:off x="121920" y="153466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bk object 60"/>
          <p:cNvSpPr/>
          <p:nvPr/>
        </p:nvSpPr>
        <p:spPr>
          <a:xfrm>
            <a:off x="121920" y="153771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1D1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bk object 61"/>
          <p:cNvSpPr/>
          <p:nvPr/>
        </p:nvSpPr>
        <p:spPr>
          <a:xfrm>
            <a:off x="121920" y="154076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3D3D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bk object 62"/>
          <p:cNvSpPr/>
          <p:nvPr/>
        </p:nvSpPr>
        <p:spPr>
          <a:xfrm>
            <a:off x="121920" y="154381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4D4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bk object 63"/>
          <p:cNvSpPr/>
          <p:nvPr/>
        </p:nvSpPr>
        <p:spPr>
          <a:xfrm>
            <a:off x="121920" y="154686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bk object 64"/>
          <p:cNvSpPr/>
          <p:nvPr/>
        </p:nvSpPr>
        <p:spPr>
          <a:xfrm>
            <a:off x="121920" y="154990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bk object 65"/>
          <p:cNvSpPr/>
          <p:nvPr/>
        </p:nvSpPr>
        <p:spPr>
          <a:xfrm>
            <a:off x="121920" y="155295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98139" y="639572"/>
            <a:ext cx="3347720" cy="6362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FFCC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93191" y="3209544"/>
            <a:ext cx="8061959" cy="1821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5332" y="2937764"/>
            <a:ext cx="690181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/>
              <a:t>第十一章</a:t>
            </a:r>
            <a:r>
              <a:rPr dirty="0" sz="4800" spc="45"/>
              <a:t> </a:t>
            </a:r>
            <a:r>
              <a:rPr dirty="0" sz="4800"/>
              <a:t>企业兼并与收购</a:t>
            </a:r>
            <a:endParaRPr sz="4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8220" y="639572"/>
            <a:ext cx="206184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本章要点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34260" y="1989836"/>
            <a:ext cx="4640580" cy="32092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兼并与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购的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念</a:t>
            </a:r>
            <a:endParaRPr sz="2800">
              <a:latin typeface="宋体"/>
              <a:cs typeface="宋体"/>
            </a:endParaRPr>
          </a:p>
          <a:p>
            <a:pPr marL="12700" marR="1428115">
              <a:lnSpc>
                <a:spcPts val="7250"/>
              </a:lnSpc>
              <a:spcBef>
                <a:spcPts val="865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兼并与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购的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类</a:t>
            </a:r>
            <a:r>
              <a:rPr dirty="0" sz="2800" spc="-335">
                <a:solidFill>
                  <a:srgbClr val="FFFFFF"/>
                </a:solidFill>
                <a:latin typeface="宋体"/>
                <a:cs typeface="宋体"/>
              </a:rPr>
              <a:t>型 </a:t>
            </a: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兼并与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购的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动</a:t>
            </a:r>
            <a:r>
              <a:rPr dirty="0" sz="2800" spc="-335">
                <a:solidFill>
                  <a:srgbClr val="FFFFFF"/>
                </a:solidFill>
                <a:latin typeface="宋体"/>
                <a:cs typeface="宋体"/>
              </a:rPr>
              <a:t>因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3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兼并与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购价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值的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价值评</a:t>
            </a:r>
            <a:r>
              <a:rPr dirty="0" sz="2800" spc="-245">
                <a:solidFill>
                  <a:srgbClr val="FFFFFF"/>
                </a:solidFill>
                <a:latin typeface="宋体"/>
                <a:cs typeface="宋体"/>
              </a:rPr>
              <a:t>估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3235" y="639572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兼并与</a:t>
            </a:r>
            <a:r>
              <a:rPr dirty="0" spc="-20"/>
              <a:t>收</a:t>
            </a:r>
            <a:r>
              <a:rPr dirty="0" spc="5"/>
              <a:t>购</a:t>
            </a:r>
            <a:r>
              <a:rPr dirty="0" spc="-20"/>
              <a:t>的</a:t>
            </a:r>
            <a:r>
              <a:rPr dirty="0" spc="5"/>
              <a:t>概念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73300" y="2005076"/>
            <a:ext cx="4291330" cy="4215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兼并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(Mergers)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1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收购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(Acquisitions)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31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接管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(Take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over)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31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要约收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购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(Tender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455">
                <a:solidFill>
                  <a:srgbClr val="FFFFFF"/>
                </a:solidFill>
                <a:latin typeface="宋体"/>
                <a:cs typeface="宋体"/>
              </a:rPr>
              <a:t>offer)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1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兼并与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购的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同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47235" y="639572"/>
            <a:ext cx="1043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兼并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602740"/>
            <a:ext cx="8374380" cy="4467860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356870" marR="5080" indent="-344805">
              <a:lnSpc>
                <a:spcPts val="3020"/>
              </a:lnSpc>
              <a:spcBef>
                <a:spcPts val="490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兼并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（Mergers）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指通过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移公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司所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有权的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方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2800" spc="-2240">
                <a:solidFill>
                  <a:srgbClr val="FFFFFF"/>
                </a:solidFill>
                <a:latin typeface="宋体"/>
                <a:cs typeface="宋体"/>
              </a:rPr>
              <a:t>， </a:t>
            </a:r>
            <a:r>
              <a:rPr dirty="0" sz="2800" spc="-139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一个或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个公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司的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全部资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与责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任都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转为另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endParaRPr sz="2800">
              <a:latin typeface="宋体"/>
              <a:cs typeface="宋体"/>
            </a:endParaRPr>
          </a:p>
          <a:p>
            <a:pPr marL="356870">
              <a:lnSpc>
                <a:spcPts val="2985"/>
              </a:lnSpc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司所有。</a:t>
            </a:r>
            <a:endParaRPr sz="2800">
              <a:latin typeface="宋体"/>
              <a:cs typeface="宋体"/>
            </a:endParaRPr>
          </a:p>
          <a:p>
            <a:pPr algn="just" marL="356870" marR="541020" indent="-344805">
              <a:lnSpc>
                <a:spcPct val="90200"/>
              </a:lnSpc>
              <a:spcBef>
                <a:spcPts val="665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作为结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果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资产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与责任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都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予以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转让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的公司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2250">
                <a:solidFill>
                  <a:srgbClr val="FFFFFF"/>
                </a:solidFill>
                <a:latin typeface="宋体"/>
                <a:cs typeface="宋体"/>
              </a:rPr>
              <a:t>不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需要经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过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清算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而不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复存在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而接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受该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公司的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部 资产与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任的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另一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家公司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然完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全以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该另一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公 司的名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继续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运行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（这种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情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况有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中称为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收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合并）。</a:t>
            </a:r>
            <a:endParaRPr sz="2800">
              <a:latin typeface="宋体"/>
              <a:cs typeface="宋体"/>
            </a:endParaRPr>
          </a:p>
          <a:p>
            <a:pPr algn="just" marL="356870" marR="541020" indent="-344805">
              <a:lnSpc>
                <a:spcPts val="3020"/>
              </a:lnSpc>
              <a:spcBef>
                <a:spcPts val="720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这样一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或一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些原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有的公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消失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了，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接受其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800" spc="-2250">
                <a:solidFill>
                  <a:srgbClr val="FFFFFF"/>
                </a:solidFill>
                <a:latin typeface="宋体"/>
                <a:cs typeface="宋体"/>
              </a:rPr>
              <a:t>产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与责任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公司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即兼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并方以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自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己的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名义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继续运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作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下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去。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47235" y="639572"/>
            <a:ext cx="1043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收购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613103"/>
            <a:ext cx="8063230" cy="4475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6870" marR="50800" indent="-344805">
              <a:lnSpc>
                <a:spcPct val="140700"/>
              </a:lnSpc>
              <a:spcBef>
                <a:spcPts val="95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收购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(acquisition)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是指收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购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者购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买另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一家公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司</a:t>
            </a:r>
            <a:r>
              <a:rPr dirty="0" sz="2800" spc="-2225">
                <a:solidFill>
                  <a:srgbClr val="FFFFFF"/>
                </a:solidFill>
                <a:latin typeface="宋体"/>
                <a:cs typeface="宋体"/>
              </a:rPr>
              <a:t>的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部分或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部股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权，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以获得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企业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控制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权的行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2020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收购与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般股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权转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让的关系</a:t>
            </a:r>
            <a:endParaRPr sz="2800">
              <a:latin typeface="宋体"/>
              <a:cs typeface="宋体"/>
            </a:endParaRPr>
          </a:p>
          <a:p>
            <a:pPr lvl="1" marL="935990" indent="-467359">
              <a:lnSpc>
                <a:spcPct val="100000"/>
              </a:lnSpc>
              <a:spcBef>
                <a:spcPts val="2040"/>
              </a:spcBef>
              <a:buClr>
                <a:srgbClr val="FF6600"/>
              </a:buClr>
              <a:buChar char="•"/>
              <a:tabLst>
                <a:tab pos="935990" algn="l"/>
                <a:tab pos="93662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购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是股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权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转让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；（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增资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收购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除外）</a:t>
            </a:r>
            <a:endParaRPr sz="2800">
              <a:latin typeface="宋体"/>
              <a:cs typeface="宋体"/>
            </a:endParaRPr>
          </a:p>
          <a:p>
            <a:pPr lvl="1" marL="756285" marR="5080" indent="-287020">
              <a:lnSpc>
                <a:spcPct val="140400"/>
              </a:lnSpc>
              <a:spcBef>
                <a:spcPts val="655"/>
              </a:spcBef>
              <a:buClr>
                <a:srgbClr val="FF6600"/>
              </a:buClr>
              <a:buFont typeface=""/>
              <a:buChar char="•"/>
              <a:tabLst>
                <a:tab pos="935990" algn="l"/>
                <a:tab pos="936625" algn="l"/>
              </a:tabLst>
            </a:pPr>
            <a:r>
              <a:rPr dirty="0"/>
              <a:t>	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未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实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现控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权的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权转让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一般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股权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转让；实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现控制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权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权转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让为收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购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；（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现有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法规的不 完善）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47235" y="639572"/>
            <a:ext cx="1043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接管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602740"/>
            <a:ext cx="8017509" cy="4902200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356870" marR="5080" indent="-344805">
              <a:lnSpc>
                <a:spcPts val="3020"/>
              </a:lnSpc>
              <a:spcBef>
                <a:spcPts val="490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接管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（Takeover）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是指谋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取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目标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公司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的控制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权</a:t>
            </a:r>
            <a:r>
              <a:rPr dirty="0" sz="2800" spc="-819">
                <a:solidFill>
                  <a:srgbClr val="FFFFFF"/>
                </a:solidFill>
                <a:latin typeface="宋体"/>
                <a:cs typeface="宋体"/>
              </a:rPr>
              <a:t>或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经营权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行为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—并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不限于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绝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对财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产权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的转移 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(Black’s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宋体"/>
                <a:cs typeface="宋体"/>
              </a:rPr>
              <a:t>Law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Dictionary)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。香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港《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公司收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购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与 合并守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》中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文本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将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Takeover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翻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译为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“收购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”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algn="just" marL="356870" marR="184785" indent="-344805">
              <a:lnSpc>
                <a:spcPct val="90200"/>
              </a:lnSpc>
              <a:spcBef>
                <a:spcPts val="635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接管一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在国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内一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般被理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为“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某公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司的原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具</a:t>
            </a:r>
            <a:r>
              <a:rPr dirty="0" sz="2800" spc="-2255">
                <a:solidFill>
                  <a:srgbClr val="FFFFFF"/>
                </a:solidFill>
                <a:latin typeface="宋体"/>
                <a:cs typeface="宋体"/>
              </a:rPr>
              <a:t>有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控股地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东（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通常是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公司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最大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的股东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由 于出售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转让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股权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或者持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数量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被他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人超过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被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取代的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情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形”。</a:t>
            </a:r>
            <a:endParaRPr sz="2800">
              <a:latin typeface="宋体"/>
              <a:cs typeface="宋体"/>
            </a:endParaRPr>
          </a:p>
          <a:p>
            <a:pPr algn="just" marL="356870" indent="-344805">
              <a:lnSpc>
                <a:spcPct val="100000"/>
              </a:lnSpc>
              <a:spcBef>
                <a:spcPts val="335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接管的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实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现主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要有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三种形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  <a:p>
            <a:pPr lvl="1" marL="756285" indent="-287655">
              <a:lnSpc>
                <a:spcPct val="100000"/>
              </a:lnSpc>
              <a:spcBef>
                <a:spcPts val="28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Acquisitions即收购股份；</a:t>
            </a:r>
            <a:endParaRPr sz="2400">
              <a:latin typeface="宋体"/>
              <a:cs typeface="宋体"/>
            </a:endParaRPr>
          </a:p>
          <a:p>
            <a:pPr lvl="1" marL="756285" indent="-287655">
              <a:lnSpc>
                <a:spcPct val="100000"/>
              </a:lnSpc>
              <a:spcBef>
                <a:spcPts val="265"/>
              </a:spcBef>
              <a:buClr>
                <a:srgbClr val="FF6600"/>
              </a:buClr>
              <a:buChar char="•"/>
              <a:tabLst>
                <a:tab pos="756920" algn="l"/>
                <a:tab pos="1670685" algn="l"/>
                <a:tab pos="288988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Proxy	contest	即代理权争夺；</a:t>
            </a:r>
            <a:endParaRPr sz="2400">
              <a:latin typeface="宋体"/>
              <a:cs typeface="宋体"/>
            </a:endParaRPr>
          </a:p>
          <a:p>
            <a:pPr lvl="1" marL="756285" indent="-287655">
              <a:lnSpc>
                <a:spcPct val="100000"/>
              </a:lnSpc>
              <a:spcBef>
                <a:spcPts val="285"/>
              </a:spcBef>
              <a:buClr>
                <a:srgbClr val="FF6600"/>
              </a:buClr>
              <a:buChar char="•"/>
              <a:tabLst>
                <a:tab pos="756920" algn="l"/>
                <a:tab pos="167068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going	private即上市公司转化为非上市公司。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5083" y="1523492"/>
            <a:ext cx="8194040" cy="523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6870" marR="5080" indent="-344805">
              <a:lnSpc>
                <a:spcPct val="100099"/>
              </a:lnSpc>
              <a:spcBef>
                <a:spcPts val="105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从以上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分析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可以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看出，</a:t>
            </a:r>
            <a:r>
              <a:rPr dirty="0" sz="2800" spc="-2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Takeover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包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括两层含义 ：第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层含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义控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制权的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谋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取行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为，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第二层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含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义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为 具体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接管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行为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，接管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谋取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行为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包括收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购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股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份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、投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权争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夺以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及上市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司转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化为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非上市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司。接 管行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是指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实际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获得了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司的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经营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权和管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权，例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如通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过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股东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权利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的行使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改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选董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事会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、聘任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罢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免 公司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高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级管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理人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员等。</a:t>
            </a:r>
            <a:endParaRPr sz="2800">
              <a:latin typeface="宋体"/>
              <a:cs typeface="宋体"/>
            </a:endParaRPr>
          </a:p>
          <a:p>
            <a:pPr marL="356870" marR="361315" indent="-344805">
              <a:lnSpc>
                <a:spcPct val="100000"/>
              </a:lnSpc>
              <a:spcBef>
                <a:spcPts val="670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从我国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行法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律体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系来看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接管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一词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主要在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破</a:t>
            </a:r>
            <a:r>
              <a:rPr dirty="0" sz="2800" spc="-2250">
                <a:solidFill>
                  <a:srgbClr val="FFFFFF"/>
                </a:solidFill>
                <a:latin typeface="宋体"/>
                <a:cs typeface="宋体"/>
              </a:rPr>
              <a:t>产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法领域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使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用。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从破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产法来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看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管的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内涵是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业 的经营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权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和管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理权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的接管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以及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与此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相关的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业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财产、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文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件资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料的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接受。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我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国破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产法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的接管与 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Takeover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二层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含义基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相同。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85235" y="639572"/>
            <a:ext cx="2567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接管（</a:t>
            </a:r>
            <a:r>
              <a:rPr dirty="0" spc="-20"/>
              <a:t>续</a:t>
            </a:r>
            <a:r>
              <a:rPr dirty="0" spc="5"/>
              <a:t>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8220" y="639572"/>
            <a:ext cx="206184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要约收购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7316" y="1639316"/>
            <a:ext cx="7508240" cy="344360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725170">
              <a:lnSpc>
                <a:spcPct val="100099"/>
              </a:lnSpc>
              <a:spcBef>
                <a:spcPts val="105"/>
              </a:spcBef>
            </a:pP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约收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购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（Tender</a:t>
            </a:r>
            <a:r>
              <a:rPr dirty="0" sz="2800" spc="-8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offer）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也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有人翻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译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为 标购、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开收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购，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发盘收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购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国传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统的要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收 购为公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收购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种形式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即收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购者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通过报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或 广告向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被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收购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公司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的股东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发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出购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买股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票的要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  以获得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被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收购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公司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的控制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权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。这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种要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约的目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通 常在于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获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取目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标公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司的控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权。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可见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Tender  offer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是股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份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购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(acquisition)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行为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一种。这 种形式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用于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敌意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收购。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3235" y="639572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兼并与</a:t>
            </a:r>
            <a:r>
              <a:rPr dirty="0" spc="-20"/>
              <a:t>收</a:t>
            </a:r>
            <a:r>
              <a:rPr dirty="0" spc="5"/>
              <a:t>购</a:t>
            </a:r>
            <a:r>
              <a:rPr dirty="0" spc="-20"/>
              <a:t>的</a:t>
            </a:r>
            <a:r>
              <a:rPr dirty="0" spc="5"/>
              <a:t>区别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611883"/>
            <a:ext cx="7990205" cy="4634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6870" marR="5080" indent="-344805">
              <a:lnSpc>
                <a:spcPct val="155000"/>
              </a:lnSpc>
              <a:spcBef>
                <a:spcPts val="100"/>
              </a:spcBef>
              <a:buClr>
                <a:srgbClr val="FF6600"/>
              </a:buClr>
              <a:buFont typeface="Arial"/>
              <a:buChar char="•"/>
              <a:tabLst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兼并发生在两个公司之间，是一家公司与另一家公司之间 合作的结果；收购则是一家公司或个人与另一家公司股东 之间的交易。</a:t>
            </a:r>
            <a:endParaRPr sz="2400">
              <a:latin typeface="宋体"/>
              <a:cs typeface="宋体"/>
            </a:endParaRPr>
          </a:p>
          <a:p>
            <a:pPr algn="just" marL="356870" marR="5080" indent="-344805">
              <a:lnSpc>
                <a:spcPct val="155000"/>
              </a:lnSpc>
              <a:spcBef>
                <a:spcPts val="575"/>
              </a:spcBef>
              <a:buClr>
                <a:srgbClr val="FF6600"/>
              </a:buClr>
              <a:buFont typeface="Arial"/>
              <a:buChar char="•"/>
              <a:tabLst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兼并完全出于双方公司的真实意愿，没有丝毫的强迫或欺 诈，是双方平等协商、自愿合作的结果；收购对于收购公 司和被收购公司的关系不一样，有时被收购公司管理层响 应收购并积极合作，有时则会拒绝收购，拒绝收购时双方 则形成一种强迫与抗拒、收购与反收购的不合作关系。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5083" y="1666748"/>
            <a:ext cx="7990205" cy="426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6870" marR="5080" indent="-344805">
              <a:lnSpc>
                <a:spcPct val="100000"/>
              </a:lnSpc>
              <a:spcBef>
                <a:spcPts val="100"/>
              </a:spcBef>
              <a:buClr>
                <a:srgbClr val="FF6600"/>
              </a:buClr>
              <a:buFont typeface="Arial"/>
              <a:buChar char="•"/>
              <a:tabLst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兼并是特定的双方当事人通过合同的方式进行交易，双方 的权利与义务通过协议规定下来；收购则是通过特定的一 方向不特定的股票持有人发出要约并接受承诺的方式，从 股东手中直接购得有表决权的股票。</a:t>
            </a:r>
            <a:endParaRPr sz="2400">
              <a:latin typeface="宋体"/>
              <a:cs typeface="宋体"/>
            </a:endParaRPr>
          </a:p>
          <a:p>
            <a:pPr algn="just" marL="356870" marR="5080" indent="-344805">
              <a:lnSpc>
                <a:spcPct val="100000"/>
              </a:lnSpc>
              <a:spcBef>
                <a:spcPts val="550"/>
              </a:spcBef>
              <a:buClr>
                <a:srgbClr val="FF6600"/>
              </a:buClr>
              <a:buFont typeface="Arial"/>
              <a:buChar char="•"/>
              <a:tabLst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兼并是全部资产或股权的转让；而收购则有部分收购和全 面收购的区别。</a:t>
            </a:r>
            <a:endParaRPr sz="2400">
              <a:latin typeface="宋体"/>
              <a:cs typeface="宋体"/>
            </a:endParaRPr>
          </a:p>
          <a:p>
            <a:pPr algn="just" marL="356870" marR="5080" indent="-344805">
              <a:lnSpc>
                <a:spcPct val="99700"/>
              </a:lnSpc>
              <a:spcBef>
                <a:spcPts val="585"/>
              </a:spcBef>
              <a:buClr>
                <a:srgbClr val="FF6600"/>
              </a:buClr>
              <a:buFont typeface="Arial"/>
              <a:buChar char="•"/>
              <a:tabLst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在兼并的情况下，被兼并公司作为一个法律实体消失，而 收购，在非全部被收购的情况下，被收购公司仅仅是控股 权的转移，其作为一个法律实体的地位不变并继续经营下 去，其与第三者的关系也可照旧维持。</a:t>
            </a:r>
            <a:endParaRPr sz="2400">
              <a:latin typeface="宋体"/>
              <a:cs typeface="宋体"/>
            </a:endParaRPr>
          </a:p>
          <a:p>
            <a:pPr algn="just" marL="356870" indent="-344805">
              <a:lnSpc>
                <a:spcPct val="100000"/>
              </a:lnSpc>
              <a:spcBef>
                <a:spcPts val="575"/>
              </a:spcBef>
              <a:buClr>
                <a:srgbClr val="FF6600"/>
              </a:buClr>
              <a:buFont typeface="Arial"/>
              <a:buChar char="•"/>
              <a:tabLst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兼并主要由公司法调整，而收购主要接受证券法管制。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61235" y="639572"/>
            <a:ext cx="5615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兼并与</a:t>
            </a:r>
            <a:r>
              <a:rPr dirty="0" spc="-20"/>
              <a:t>收</a:t>
            </a:r>
            <a:r>
              <a:rPr dirty="0" spc="5"/>
              <a:t>购</a:t>
            </a:r>
            <a:r>
              <a:rPr dirty="0" spc="-20"/>
              <a:t>的</a:t>
            </a:r>
            <a:r>
              <a:rPr dirty="0" spc="5"/>
              <a:t>区别（</a:t>
            </a:r>
            <a:r>
              <a:rPr dirty="0" spc="-20"/>
              <a:t>续</a:t>
            </a:r>
            <a:r>
              <a:rPr dirty="0" spc="5"/>
              <a:t>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3235" y="639572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兼并与</a:t>
            </a:r>
            <a:r>
              <a:rPr dirty="0" spc="-20"/>
              <a:t>收</a:t>
            </a:r>
            <a:r>
              <a:rPr dirty="0" spc="5"/>
              <a:t>购</a:t>
            </a:r>
            <a:r>
              <a:rPr dirty="0" spc="-20"/>
              <a:t>的</a:t>
            </a:r>
            <a:r>
              <a:rPr dirty="0" spc="5"/>
              <a:t>类型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07411" y="1947164"/>
            <a:ext cx="3933190" cy="24593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从经济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的角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度看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兼</a:t>
            </a:r>
            <a:r>
              <a:rPr dirty="0" sz="2800" spc="-2715">
                <a:solidFill>
                  <a:srgbClr val="FFFFFF"/>
                </a:solidFill>
                <a:latin typeface="宋体"/>
                <a:cs typeface="宋体"/>
              </a:rPr>
              <a:t>并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5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从法律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角度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看兼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并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5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从兼并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方式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看兼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并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14220" y="639572"/>
            <a:ext cx="510984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从经济</a:t>
            </a:r>
            <a:r>
              <a:rPr dirty="0" spc="-20"/>
              <a:t>学</a:t>
            </a:r>
            <a:r>
              <a:rPr dirty="0" spc="5"/>
              <a:t>的</a:t>
            </a:r>
            <a:r>
              <a:rPr dirty="0" spc="-20"/>
              <a:t>角</a:t>
            </a:r>
            <a:r>
              <a:rPr dirty="0" spc="5"/>
              <a:t>度看兼并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561287"/>
            <a:ext cx="7883525" cy="459486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algn="just" marL="356870" indent="-344805">
              <a:lnSpc>
                <a:spcPct val="100000"/>
              </a:lnSpc>
              <a:spcBef>
                <a:spcPts val="434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横向兼并</a:t>
            </a:r>
            <a:endParaRPr sz="2800">
              <a:latin typeface="宋体"/>
              <a:cs typeface="宋体"/>
            </a:endParaRPr>
          </a:p>
          <a:p>
            <a:pPr algn="just" lvl="1" marL="756285" marR="5080" indent="-287020">
              <a:lnSpc>
                <a:spcPts val="3020"/>
              </a:lnSpc>
              <a:spcBef>
                <a:spcPts val="720"/>
              </a:spcBef>
              <a:buClr>
                <a:srgbClr val="FF6600"/>
              </a:buClr>
              <a:buFont typeface="Arial"/>
              <a:buChar char="•"/>
              <a:tabLst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横向兼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涉及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在同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种商业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活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动中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经营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和竞争的 两家企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形成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一个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更大的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业可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能会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有规模经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济效益。</a:t>
            </a:r>
            <a:endParaRPr sz="2800">
              <a:latin typeface="宋体"/>
              <a:cs typeface="宋体"/>
            </a:endParaRPr>
          </a:p>
          <a:p>
            <a:pPr algn="just" lvl="1" marL="756285" marR="5080" indent="-287020">
              <a:lnSpc>
                <a:spcPts val="3020"/>
              </a:lnSpc>
              <a:spcBef>
                <a:spcPts val="705"/>
              </a:spcBef>
              <a:buClr>
                <a:srgbClr val="FF6600"/>
              </a:buClr>
              <a:buFont typeface="Arial"/>
              <a:buChar char="•"/>
              <a:tabLst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尽管这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些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兼并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一般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都能从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模经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济中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获益，但 并非所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的小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企业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进行横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向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兼并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都是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为了实现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规模经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algn="just" lvl="1" marL="756285" marR="5080" indent="-287020">
              <a:lnSpc>
                <a:spcPts val="3020"/>
              </a:lnSpc>
              <a:spcBef>
                <a:spcPts val="685"/>
              </a:spcBef>
              <a:buClr>
                <a:srgbClr val="FF6600"/>
              </a:buClr>
              <a:buFont typeface="Arial"/>
              <a:buChar char="•"/>
              <a:tabLst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由于横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向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兼并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对于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竞争有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潜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在的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负作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用，它受 到政府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管制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。横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向兼并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减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少了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一个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行业内的 企业数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并使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得行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业中的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成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员更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容易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共谋来谋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取垄断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润。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2891" y="1512519"/>
            <a:ext cx="7883525" cy="506412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algn="just" marL="356870" indent="-344805">
              <a:lnSpc>
                <a:spcPct val="100000"/>
              </a:lnSpc>
              <a:spcBef>
                <a:spcPts val="770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纵向兼并</a:t>
            </a:r>
            <a:endParaRPr sz="2800">
              <a:latin typeface="宋体"/>
              <a:cs typeface="宋体"/>
            </a:endParaRPr>
          </a:p>
          <a:p>
            <a:pPr algn="just" lvl="1" marL="756285" marR="5080" indent="-287020">
              <a:lnSpc>
                <a:spcPct val="100000"/>
              </a:lnSpc>
              <a:spcBef>
                <a:spcPts val="67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纵向兼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发生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在处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于生产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经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营不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同阶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段的企业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之间。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石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油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、药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等。</a:t>
            </a:r>
            <a:endParaRPr sz="2800">
              <a:latin typeface="宋体"/>
              <a:cs typeface="宋体"/>
            </a:endParaRPr>
          </a:p>
          <a:p>
            <a:pPr algn="just" lvl="1" marL="756285" marR="5080" indent="-287020">
              <a:lnSpc>
                <a:spcPct val="100099"/>
              </a:lnSpc>
              <a:spcBef>
                <a:spcPts val="67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企业推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纵向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一体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化有许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原因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。如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技术经济 性，企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内部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交易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可以避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询价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、签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约、收款 和做广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告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等成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本，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也可以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减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少通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讯与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协调生产 的成本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由于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内部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信息交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更有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效，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生产计划 效率也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以提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高。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还有资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专用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性以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及机会主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义行为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algn="just" lvl="1" marL="756285" marR="5080" indent="-287020">
              <a:lnSpc>
                <a:spcPct val="100000"/>
              </a:lnSpc>
              <a:spcBef>
                <a:spcPts val="67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纵向一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体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化的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效率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原理和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其持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肯定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意见的原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因主要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市场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交换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和签定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合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同成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本高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昂。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24203" y="639572"/>
            <a:ext cx="688657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从经济</a:t>
            </a:r>
            <a:r>
              <a:rPr dirty="0" spc="-20"/>
              <a:t>学</a:t>
            </a:r>
            <a:r>
              <a:rPr dirty="0" spc="5"/>
              <a:t>的</a:t>
            </a:r>
            <a:r>
              <a:rPr dirty="0" spc="-20"/>
              <a:t>角</a:t>
            </a:r>
            <a:r>
              <a:rPr dirty="0" spc="5"/>
              <a:t>度看兼</a:t>
            </a:r>
            <a:r>
              <a:rPr dirty="0" spc="-20"/>
              <a:t>并</a:t>
            </a:r>
            <a:r>
              <a:rPr dirty="0" spc="5"/>
              <a:t>（</a:t>
            </a:r>
            <a:r>
              <a:rPr dirty="0" spc="-20"/>
              <a:t>续</a:t>
            </a:r>
            <a:r>
              <a:rPr dirty="0" spc="-185"/>
              <a:t>1）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2891" y="1512519"/>
            <a:ext cx="8178800" cy="513016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algn="just" marL="356870" indent="-344805">
              <a:lnSpc>
                <a:spcPct val="100000"/>
              </a:lnSpc>
              <a:spcBef>
                <a:spcPts val="770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混合兼并</a:t>
            </a:r>
            <a:endParaRPr sz="2800">
              <a:latin typeface="宋体"/>
              <a:cs typeface="宋体"/>
            </a:endParaRPr>
          </a:p>
          <a:p>
            <a:pPr algn="just" lvl="1" marL="756285" marR="300355" indent="-287020">
              <a:lnSpc>
                <a:spcPct val="100000"/>
              </a:lnSpc>
              <a:spcBef>
                <a:spcPts val="67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混合兼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是从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事不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相关业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类型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经营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的企业间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的兼并。</a:t>
            </a:r>
            <a:endParaRPr sz="2800">
              <a:latin typeface="宋体"/>
              <a:cs typeface="宋体"/>
            </a:endParaRPr>
          </a:p>
          <a:p>
            <a:pPr algn="just" lvl="1" marL="756285" indent="-287655">
              <a:lnSpc>
                <a:spcPct val="100000"/>
              </a:lnSpc>
              <a:spcBef>
                <a:spcPts val="695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在混合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兼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并中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又分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为三种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类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型。</a:t>
            </a:r>
            <a:endParaRPr sz="2800">
              <a:latin typeface="宋体"/>
              <a:cs typeface="宋体"/>
            </a:endParaRPr>
          </a:p>
          <a:p>
            <a:pPr algn="just" lvl="2" marL="1155700" marR="297180" indent="-228600">
              <a:lnSpc>
                <a:spcPct val="100000"/>
              </a:lnSpc>
              <a:spcBef>
                <a:spcPts val="545"/>
              </a:spcBef>
              <a:buClr>
                <a:srgbClr val="FF6600"/>
              </a:buClr>
              <a:buSzPct val="95833"/>
              <a:buFont typeface="Wingdings"/>
              <a:buChar char=""/>
              <a:tabLst>
                <a:tab pos="116840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产品扩张型兼并：这种兼并是具有相关经营活动的 企业之间的兼并，拓宽了企业的生产线，也可称之 为“同心圆式兼并“。</a:t>
            </a:r>
            <a:endParaRPr sz="2400">
              <a:latin typeface="宋体"/>
              <a:cs typeface="宋体"/>
            </a:endParaRPr>
          </a:p>
          <a:p>
            <a:pPr lvl="2" marL="1155700" marR="297180" indent="-228600">
              <a:lnSpc>
                <a:spcPct val="100000"/>
              </a:lnSpc>
              <a:spcBef>
                <a:spcPts val="575"/>
              </a:spcBef>
              <a:buClr>
                <a:srgbClr val="FF6600"/>
              </a:buClr>
              <a:buSzPct val="95833"/>
              <a:buFont typeface="Wingdings"/>
              <a:buChar char=""/>
              <a:tabLst>
                <a:tab pos="116840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地域市场扩张型兼并涉及到在不重叠的地理区域上 从事经营的两家企业。</a:t>
            </a:r>
            <a:endParaRPr sz="2400">
              <a:latin typeface="宋体"/>
              <a:cs typeface="宋体"/>
            </a:endParaRPr>
          </a:p>
          <a:p>
            <a:pPr lvl="2" marL="1155700" marR="5080" indent="-228600">
              <a:lnSpc>
                <a:spcPct val="100000"/>
              </a:lnSpc>
              <a:spcBef>
                <a:spcPts val="555"/>
              </a:spcBef>
              <a:buClr>
                <a:srgbClr val="FF6600"/>
              </a:buClr>
              <a:buSzPct val="95833"/>
              <a:buFont typeface="Wingdings"/>
              <a:buChar char=""/>
              <a:tabLst>
                <a:tab pos="116840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纯粹混合兼并，这种兼并所涉及到的是不相关的经 营活动，这些兼并既不能被称之为产品扩张型兼并， 也不能被称之为市场扩张型兼并。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24203" y="639572"/>
            <a:ext cx="688657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从经济</a:t>
            </a:r>
            <a:r>
              <a:rPr dirty="0" spc="-20"/>
              <a:t>学</a:t>
            </a:r>
            <a:r>
              <a:rPr dirty="0" spc="5"/>
              <a:t>的</a:t>
            </a:r>
            <a:r>
              <a:rPr dirty="0" spc="-20"/>
              <a:t>角</a:t>
            </a:r>
            <a:r>
              <a:rPr dirty="0" spc="5"/>
              <a:t>度看兼</a:t>
            </a:r>
            <a:r>
              <a:rPr dirty="0" spc="-20"/>
              <a:t>并</a:t>
            </a:r>
            <a:r>
              <a:rPr dirty="0" spc="5"/>
              <a:t>（</a:t>
            </a:r>
            <a:r>
              <a:rPr dirty="0" spc="-20"/>
              <a:t>续</a:t>
            </a:r>
            <a:r>
              <a:rPr dirty="0" spc="-185"/>
              <a:t>2）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7204" y="639572"/>
            <a:ext cx="460057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从法律</a:t>
            </a:r>
            <a:r>
              <a:rPr dirty="0" spc="-20"/>
              <a:t>的</a:t>
            </a:r>
            <a:r>
              <a:rPr dirty="0" spc="5"/>
              <a:t>角</a:t>
            </a:r>
            <a:r>
              <a:rPr dirty="0" spc="-20"/>
              <a:t>度</a:t>
            </a:r>
            <a:r>
              <a:rPr dirty="0" spc="5"/>
              <a:t>看兼并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1931" y="1585671"/>
            <a:ext cx="8063230" cy="421068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algn="just" marL="356870" indent="-344805">
              <a:lnSpc>
                <a:spcPct val="100000"/>
              </a:lnSpc>
              <a:spcBef>
                <a:spcPts val="770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法定兼并</a:t>
            </a:r>
            <a:endParaRPr sz="2800">
              <a:latin typeface="宋体"/>
              <a:cs typeface="宋体"/>
            </a:endParaRPr>
          </a:p>
          <a:p>
            <a:pPr algn="just" lvl="1" marL="756285" marR="184785" indent="-287020">
              <a:lnSpc>
                <a:spcPct val="100000"/>
              </a:lnSpc>
              <a:spcBef>
                <a:spcPts val="67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法定兼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是最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基本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的兼并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形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式，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指交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易受到法 定条款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规制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。法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定兼并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基本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要素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是：规定 有效的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赞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成票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的比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例数；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有资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格投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票；如何 计票；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交易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或交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易条款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投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反对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票者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的权力等</a:t>
            </a:r>
            <a:endParaRPr sz="2800">
              <a:latin typeface="宋体"/>
              <a:cs typeface="宋体"/>
            </a:endParaRPr>
          </a:p>
          <a:p>
            <a:pPr algn="just" marL="356870" indent="-344805">
              <a:lnSpc>
                <a:spcPct val="100000"/>
              </a:lnSpc>
              <a:spcBef>
                <a:spcPts val="675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简化式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兼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并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（Short-form</a:t>
            </a:r>
            <a:r>
              <a:rPr dirty="0" sz="2800" spc="-2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merger)</a:t>
            </a:r>
            <a:endParaRPr sz="2800">
              <a:latin typeface="宋体"/>
              <a:cs typeface="宋体"/>
            </a:endParaRPr>
          </a:p>
          <a:p>
            <a:pPr lvl="1" marL="756285" marR="5080" indent="-287020">
              <a:lnSpc>
                <a:spcPct val="100000"/>
              </a:lnSpc>
              <a:spcBef>
                <a:spcPts val="695"/>
              </a:spcBef>
              <a:buClr>
                <a:srgbClr val="FF6600"/>
              </a:buClr>
              <a:buFont typeface=""/>
              <a:buChar char="•"/>
              <a:tabLst>
                <a:tab pos="935990" algn="l"/>
                <a:tab pos="936625" algn="l"/>
              </a:tabLst>
            </a:pPr>
            <a:r>
              <a:rPr dirty="0"/>
              <a:t>	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兼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的法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律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程序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标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准化，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需要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经过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股东的同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意。在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这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种交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易中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，公司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所有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权集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中在少数 人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(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常指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内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人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)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手中。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求所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有权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达到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90%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7204" y="639572"/>
            <a:ext cx="460057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从兼并</a:t>
            </a:r>
            <a:r>
              <a:rPr dirty="0" spc="-20"/>
              <a:t>的</a:t>
            </a:r>
            <a:r>
              <a:rPr dirty="0" spc="5"/>
              <a:t>方</a:t>
            </a:r>
            <a:r>
              <a:rPr dirty="0" spc="-20"/>
              <a:t>式</a:t>
            </a:r>
            <a:r>
              <a:rPr dirty="0" spc="5"/>
              <a:t>看兼并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565870"/>
            <a:ext cx="8023859" cy="491998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675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整体兼并</a:t>
            </a:r>
            <a:endParaRPr sz="2400">
              <a:latin typeface="宋体"/>
              <a:cs typeface="宋体"/>
            </a:endParaRPr>
          </a:p>
          <a:p>
            <a:pPr lvl="1" marL="756285" marR="151130" indent="-287020">
              <a:lnSpc>
                <a:spcPct val="100000"/>
              </a:lnSpc>
              <a:spcBef>
                <a:spcPts val="475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指兼并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司以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标公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司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产为基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础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确定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兼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并价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格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受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让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目标公司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全部产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权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的并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购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行为。</a:t>
            </a:r>
            <a:endParaRPr sz="2000">
              <a:latin typeface="宋体"/>
              <a:cs typeface="宋体"/>
            </a:endParaRPr>
          </a:p>
          <a:p>
            <a:pPr lvl="1" marL="756285" indent="-287655">
              <a:lnSpc>
                <a:spcPct val="100000"/>
              </a:lnSpc>
              <a:spcBef>
                <a:spcPts val="455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整体并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购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分为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总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资产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并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购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负债并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购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两种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形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  <a:p>
            <a:pPr lvl="2" marL="1155700" marR="5080" indent="-228600">
              <a:lnSpc>
                <a:spcPct val="100000"/>
              </a:lnSpc>
              <a:spcBef>
                <a:spcPts val="480"/>
              </a:spcBef>
              <a:buClr>
                <a:srgbClr val="FF6600"/>
              </a:buClr>
              <a:buFont typeface="Wingdings"/>
              <a:buChar char=""/>
              <a:tabLst>
                <a:tab pos="11557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总资产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兼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并，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又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称为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净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负债并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购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，是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指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收购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司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以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目标公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司的总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产为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标价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格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受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让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目标公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司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全部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权的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并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购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行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为。</a:t>
            </a:r>
            <a:endParaRPr sz="2000">
              <a:latin typeface="宋体"/>
              <a:cs typeface="宋体"/>
            </a:endParaRPr>
          </a:p>
          <a:p>
            <a:pPr lvl="2" marL="1155700" marR="132715" indent="-228600">
              <a:lnSpc>
                <a:spcPct val="100000"/>
              </a:lnSpc>
              <a:spcBef>
                <a:spcPts val="480"/>
              </a:spcBef>
              <a:buClr>
                <a:srgbClr val="FF6600"/>
              </a:buClr>
              <a:buFont typeface="Wingdings"/>
              <a:buChar char=""/>
              <a:tabLst>
                <a:tab pos="1283335" algn="l"/>
                <a:tab pos="1283970" algn="l"/>
              </a:tabLst>
            </a:pPr>
            <a:r>
              <a:rPr dirty="0"/>
              <a:t>	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负债并购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指收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购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公司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以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承担目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标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公司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债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务为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条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件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受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让目标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公司全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部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资产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并购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行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为。</a:t>
            </a:r>
            <a:endParaRPr sz="20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585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投资控股并购</a:t>
            </a:r>
            <a:endParaRPr sz="2400">
              <a:latin typeface="宋体"/>
              <a:cs typeface="宋体"/>
            </a:endParaRPr>
          </a:p>
          <a:p>
            <a:pPr algn="just" lvl="1" marL="756285" marR="151130" indent="-287020">
              <a:lnSpc>
                <a:spcPct val="100000"/>
              </a:lnSpc>
              <a:spcBef>
                <a:spcPts val="47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投资控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股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并购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指收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购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司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向目标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司投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而将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标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司改组为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收购公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司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的控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股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子公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司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并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购行为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  <a:p>
            <a:pPr algn="just" lvl="1" marL="756285" marR="151130" indent="-287020">
              <a:lnSpc>
                <a:spcPct val="100000"/>
              </a:lnSpc>
              <a:spcBef>
                <a:spcPts val="455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其基本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特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征是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目标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司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所有者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以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目标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司的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净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作为并购 后公司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产权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持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股，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收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购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司向目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标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公司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追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加投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并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以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此作为持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股基础。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6204" y="639572"/>
            <a:ext cx="536257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792605" algn="l"/>
              </a:tabLst>
            </a:pPr>
            <a:r>
              <a:rPr dirty="0" spc="5"/>
              <a:t>第三节</a:t>
            </a:r>
            <a:r>
              <a:rPr dirty="0" spc="5"/>
              <a:t>	</a:t>
            </a:r>
            <a:r>
              <a:rPr dirty="0" spc="5"/>
              <a:t>企</a:t>
            </a:r>
            <a:r>
              <a:rPr dirty="0" spc="-20"/>
              <a:t>业</a:t>
            </a:r>
            <a:r>
              <a:rPr dirty="0" spc="5"/>
              <a:t>并购的</a:t>
            </a:r>
            <a:r>
              <a:rPr dirty="0" spc="-20"/>
              <a:t>动</a:t>
            </a:r>
            <a:r>
              <a:rPr dirty="0" spc="5"/>
              <a:t>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7316" y="1617980"/>
            <a:ext cx="7523480" cy="4135754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algn="just" marL="12700" marR="5080" indent="740410">
              <a:lnSpc>
                <a:spcPct val="102499"/>
              </a:lnSpc>
              <a:spcBef>
                <a:spcPts val="25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购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在本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上是以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为本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的交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易，它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雄心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和对抗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精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神等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人类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的本能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冲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动以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及良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好的战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感 觉等因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素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为驱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动力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量。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900">
              <a:latin typeface="宋体"/>
              <a:cs typeface="宋体"/>
            </a:endParaRPr>
          </a:p>
          <a:p>
            <a:pPr algn="just" marL="113030" marR="288290" indent="709930">
              <a:lnSpc>
                <a:spcPct val="100000"/>
              </a:lnSpc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并购具有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无穷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的诱人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魅力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。他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是巨幅的 戏剧，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动人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的舞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姿。大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笔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一挥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之间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，你的公 司就可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有上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亿美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元的进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为报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纸的头版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头条，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引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发市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场兴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奋。</a:t>
            </a:r>
            <a:endParaRPr sz="2800">
              <a:latin typeface="宋体"/>
              <a:cs typeface="宋体"/>
            </a:endParaRPr>
          </a:p>
          <a:p>
            <a:pPr algn="just" marL="4940935">
              <a:lnSpc>
                <a:spcPct val="100000"/>
              </a:lnSpc>
              <a:spcBef>
                <a:spcPts val="1535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迈克尔</a:t>
            </a:r>
            <a:r>
              <a:rPr dirty="0" sz="2800">
                <a:solidFill>
                  <a:srgbClr val="FFFFFF"/>
                </a:solidFill>
                <a:latin typeface="Times New Roman"/>
                <a:cs typeface="Times New Roman"/>
              </a:rPr>
              <a:t>∙</a:t>
            </a:r>
            <a:r>
              <a:rPr dirty="0" sz="2800" spc="6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波特尔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"/>
            <a:ext cx="9137902" cy="68518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3528" y="42672"/>
            <a:ext cx="2157984" cy="4328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40207" y="185928"/>
            <a:ext cx="8857615" cy="6553200"/>
          </a:xfrm>
          <a:custGeom>
            <a:avLst/>
            <a:gdLst/>
            <a:ahLst/>
            <a:cxnLst/>
            <a:rect l="l" t="t" r="r" b="b"/>
            <a:pathLst>
              <a:path w="8857615" h="6553200">
                <a:moveTo>
                  <a:pt x="0" y="0"/>
                </a:moveTo>
                <a:lnTo>
                  <a:pt x="0" y="6553199"/>
                </a:lnTo>
                <a:lnTo>
                  <a:pt x="8857487" y="6553199"/>
                </a:lnTo>
                <a:lnTo>
                  <a:pt x="8857487" y="0"/>
                </a:lnTo>
                <a:lnTo>
                  <a:pt x="0" y="0"/>
                </a:lnTo>
              </a:path>
            </a:pathLst>
          </a:custGeom>
          <a:ln w="18287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55208" y="1412748"/>
            <a:ext cx="3121660" cy="0"/>
          </a:xfrm>
          <a:custGeom>
            <a:avLst/>
            <a:gdLst/>
            <a:ahLst/>
            <a:cxnLst/>
            <a:rect l="l" t="t" r="r" b="b"/>
            <a:pathLst>
              <a:path w="3121659" h="0">
                <a:moveTo>
                  <a:pt x="0" y="0"/>
                </a:moveTo>
                <a:lnTo>
                  <a:pt x="3121152" y="0"/>
                </a:lnTo>
              </a:path>
            </a:pathLst>
          </a:custGeom>
          <a:ln w="3175">
            <a:solidFill>
              <a:srgbClr val="0909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1920" y="1412748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0909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855208" y="1415796"/>
            <a:ext cx="3121660" cy="0"/>
          </a:xfrm>
          <a:custGeom>
            <a:avLst/>
            <a:gdLst/>
            <a:ahLst/>
            <a:cxnLst/>
            <a:rect l="l" t="t" r="r" b="b"/>
            <a:pathLst>
              <a:path w="3121659" h="0">
                <a:moveTo>
                  <a:pt x="0" y="0"/>
                </a:moveTo>
                <a:lnTo>
                  <a:pt x="3121152" y="0"/>
                </a:lnTo>
              </a:path>
            </a:pathLst>
          </a:custGeom>
          <a:ln w="3175">
            <a:solidFill>
              <a:srgbClr val="1212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1920" y="1415796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1212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855208" y="1418844"/>
            <a:ext cx="3121660" cy="0"/>
          </a:xfrm>
          <a:custGeom>
            <a:avLst/>
            <a:gdLst/>
            <a:ahLst/>
            <a:cxnLst/>
            <a:rect l="l" t="t" r="r" b="b"/>
            <a:pathLst>
              <a:path w="3121659" h="0">
                <a:moveTo>
                  <a:pt x="0" y="0"/>
                </a:moveTo>
                <a:lnTo>
                  <a:pt x="3121152" y="0"/>
                </a:lnTo>
              </a:path>
            </a:pathLst>
          </a:custGeom>
          <a:ln w="3175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1920" y="1418844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855208" y="1421892"/>
            <a:ext cx="3121660" cy="0"/>
          </a:xfrm>
          <a:custGeom>
            <a:avLst/>
            <a:gdLst/>
            <a:ahLst/>
            <a:cxnLst/>
            <a:rect l="l" t="t" r="r" b="b"/>
            <a:pathLst>
              <a:path w="3121659" h="0">
                <a:moveTo>
                  <a:pt x="0" y="0"/>
                </a:moveTo>
                <a:lnTo>
                  <a:pt x="3121152" y="0"/>
                </a:lnTo>
              </a:path>
            </a:pathLst>
          </a:custGeom>
          <a:ln w="3175">
            <a:solidFill>
              <a:srgbClr val="2020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21920" y="1421892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2020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855208" y="1424940"/>
            <a:ext cx="3121660" cy="0"/>
          </a:xfrm>
          <a:custGeom>
            <a:avLst/>
            <a:gdLst/>
            <a:ahLst/>
            <a:cxnLst/>
            <a:rect l="l" t="t" r="r" b="b"/>
            <a:pathLst>
              <a:path w="3121659" h="0">
                <a:moveTo>
                  <a:pt x="0" y="0"/>
                </a:moveTo>
                <a:lnTo>
                  <a:pt x="3121152" y="0"/>
                </a:lnTo>
              </a:path>
            </a:pathLst>
          </a:custGeom>
          <a:ln w="3175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21920" y="1424940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855208" y="1427988"/>
            <a:ext cx="3121660" cy="0"/>
          </a:xfrm>
          <a:custGeom>
            <a:avLst/>
            <a:gdLst/>
            <a:ahLst/>
            <a:cxnLst/>
            <a:rect l="l" t="t" r="r" b="b"/>
            <a:pathLst>
              <a:path w="3121659" h="0">
                <a:moveTo>
                  <a:pt x="0" y="0"/>
                </a:moveTo>
                <a:lnTo>
                  <a:pt x="3121152" y="0"/>
                </a:lnTo>
              </a:path>
            </a:pathLst>
          </a:custGeom>
          <a:ln w="3175">
            <a:solidFill>
              <a:srgbClr val="2A2A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21920" y="1427988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2A2A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855208" y="1431036"/>
            <a:ext cx="3121660" cy="0"/>
          </a:xfrm>
          <a:custGeom>
            <a:avLst/>
            <a:gdLst/>
            <a:ahLst/>
            <a:cxnLst/>
            <a:rect l="l" t="t" r="r" b="b"/>
            <a:pathLst>
              <a:path w="3121659" h="0">
                <a:moveTo>
                  <a:pt x="0" y="0"/>
                </a:moveTo>
                <a:lnTo>
                  <a:pt x="3121152" y="0"/>
                </a:lnTo>
              </a:path>
            </a:pathLst>
          </a:custGeom>
          <a:ln w="3175">
            <a:solidFill>
              <a:srgbClr val="3131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21920" y="1431036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3131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855208" y="1434084"/>
            <a:ext cx="3121660" cy="0"/>
          </a:xfrm>
          <a:custGeom>
            <a:avLst/>
            <a:gdLst/>
            <a:ahLst/>
            <a:cxnLst/>
            <a:rect l="l" t="t" r="r" b="b"/>
            <a:pathLst>
              <a:path w="3121659" h="0">
                <a:moveTo>
                  <a:pt x="0" y="0"/>
                </a:moveTo>
                <a:lnTo>
                  <a:pt x="3121152" y="0"/>
                </a:lnTo>
              </a:path>
            </a:pathLst>
          </a:custGeom>
          <a:ln w="3175">
            <a:solidFill>
              <a:srgbClr val="36363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21920" y="1434084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36363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855208" y="1437132"/>
            <a:ext cx="3121660" cy="0"/>
          </a:xfrm>
          <a:custGeom>
            <a:avLst/>
            <a:gdLst/>
            <a:ahLst/>
            <a:cxnLst/>
            <a:rect l="l" t="t" r="r" b="b"/>
            <a:pathLst>
              <a:path w="3121659" h="0">
                <a:moveTo>
                  <a:pt x="0" y="0"/>
                </a:moveTo>
                <a:lnTo>
                  <a:pt x="3121152" y="0"/>
                </a:lnTo>
              </a:path>
            </a:pathLst>
          </a:custGeom>
          <a:ln w="3175">
            <a:solidFill>
              <a:srgbClr val="3C3C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21920" y="1437132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3C3C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855208" y="1440180"/>
            <a:ext cx="3121660" cy="0"/>
          </a:xfrm>
          <a:custGeom>
            <a:avLst/>
            <a:gdLst/>
            <a:ahLst/>
            <a:cxnLst/>
            <a:rect l="l" t="t" r="r" b="b"/>
            <a:pathLst>
              <a:path w="3121659" h="0">
                <a:moveTo>
                  <a:pt x="0" y="0"/>
                </a:moveTo>
                <a:lnTo>
                  <a:pt x="3121152" y="0"/>
                </a:lnTo>
              </a:path>
            </a:pathLst>
          </a:custGeom>
          <a:ln w="3175">
            <a:solidFill>
              <a:srgbClr val="41414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21920" y="1440180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41414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855208" y="1443228"/>
            <a:ext cx="3121660" cy="0"/>
          </a:xfrm>
          <a:custGeom>
            <a:avLst/>
            <a:gdLst/>
            <a:ahLst/>
            <a:cxnLst/>
            <a:rect l="l" t="t" r="r" b="b"/>
            <a:pathLst>
              <a:path w="3121659" h="0">
                <a:moveTo>
                  <a:pt x="0" y="0"/>
                </a:moveTo>
                <a:lnTo>
                  <a:pt x="3121152" y="0"/>
                </a:lnTo>
              </a:path>
            </a:pathLst>
          </a:custGeom>
          <a:ln w="3175">
            <a:solidFill>
              <a:srgbClr val="49494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21920" y="1443228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49494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855208" y="1446276"/>
            <a:ext cx="3121660" cy="0"/>
          </a:xfrm>
          <a:custGeom>
            <a:avLst/>
            <a:gdLst/>
            <a:ahLst/>
            <a:cxnLst/>
            <a:rect l="l" t="t" r="r" b="b"/>
            <a:pathLst>
              <a:path w="3121659" h="0">
                <a:moveTo>
                  <a:pt x="0" y="0"/>
                </a:moveTo>
                <a:lnTo>
                  <a:pt x="3121152" y="0"/>
                </a:lnTo>
              </a:path>
            </a:pathLst>
          </a:custGeom>
          <a:ln w="3175">
            <a:solidFill>
              <a:srgbClr val="4E4E4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21920" y="1446276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4E4E4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855208" y="1449324"/>
            <a:ext cx="3121660" cy="0"/>
          </a:xfrm>
          <a:custGeom>
            <a:avLst/>
            <a:gdLst/>
            <a:ahLst/>
            <a:cxnLst/>
            <a:rect l="l" t="t" r="r" b="b"/>
            <a:pathLst>
              <a:path w="3121659" h="0">
                <a:moveTo>
                  <a:pt x="0" y="0"/>
                </a:moveTo>
                <a:lnTo>
                  <a:pt x="3121152" y="0"/>
                </a:lnTo>
              </a:path>
            </a:pathLst>
          </a:custGeom>
          <a:ln w="3175">
            <a:solidFill>
              <a:srgbClr val="5454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21920" y="1449324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5454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855208" y="1452372"/>
            <a:ext cx="3121660" cy="0"/>
          </a:xfrm>
          <a:custGeom>
            <a:avLst/>
            <a:gdLst/>
            <a:ahLst/>
            <a:cxnLst/>
            <a:rect l="l" t="t" r="r" b="b"/>
            <a:pathLst>
              <a:path w="3121659" h="0">
                <a:moveTo>
                  <a:pt x="0" y="0"/>
                </a:moveTo>
                <a:lnTo>
                  <a:pt x="3121152" y="0"/>
                </a:lnTo>
              </a:path>
            </a:pathLst>
          </a:custGeom>
          <a:ln w="3175">
            <a:solidFill>
              <a:srgbClr val="5B5B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21920" y="1452372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5B5B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855208" y="1455420"/>
            <a:ext cx="3121660" cy="0"/>
          </a:xfrm>
          <a:custGeom>
            <a:avLst/>
            <a:gdLst/>
            <a:ahLst/>
            <a:cxnLst/>
            <a:rect l="l" t="t" r="r" b="b"/>
            <a:pathLst>
              <a:path w="3121659" h="0">
                <a:moveTo>
                  <a:pt x="0" y="0"/>
                </a:moveTo>
                <a:lnTo>
                  <a:pt x="3121152" y="0"/>
                </a:lnTo>
              </a:path>
            </a:pathLst>
          </a:custGeom>
          <a:ln w="3175">
            <a:solidFill>
              <a:srgbClr val="61616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21920" y="1455420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61616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855208" y="1458468"/>
            <a:ext cx="3121660" cy="0"/>
          </a:xfrm>
          <a:custGeom>
            <a:avLst/>
            <a:gdLst/>
            <a:ahLst/>
            <a:cxnLst/>
            <a:rect l="l" t="t" r="r" b="b"/>
            <a:pathLst>
              <a:path w="3121659" h="0">
                <a:moveTo>
                  <a:pt x="0" y="0"/>
                </a:moveTo>
                <a:lnTo>
                  <a:pt x="3121152" y="0"/>
                </a:lnTo>
              </a:path>
            </a:pathLst>
          </a:custGeom>
          <a:ln w="3175">
            <a:solidFill>
              <a:srgbClr val="6767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21920" y="1458468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6767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855208" y="1461516"/>
            <a:ext cx="3121660" cy="0"/>
          </a:xfrm>
          <a:custGeom>
            <a:avLst/>
            <a:gdLst/>
            <a:ahLst/>
            <a:cxnLst/>
            <a:rect l="l" t="t" r="r" b="b"/>
            <a:pathLst>
              <a:path w="3121659" h="0">
                <a:moveTo>
                  <a:pt x="0" y="0"/>
                </a:moveTo>
                <a:lnTo>
                  <a:pt x="3121152" y="0"/>
                </a:lnTo>
              </a:path>
            </a:pathLst>
          </a:custGeom>
          <a:ln w="3175">
            <a:solidFill>
              <a:srgbClr val="6E6E6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21920" y="1461516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6E6E6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855208" y="1464564"/>
            <a:ext cx="3121660" cy="0"/>
          </a:xfrm>
          <a:custGeom>
            <a:avLst/>
            <a:gdLst/>
            <a:ahLst/>
            <a:cxnLst/>
            <a:rect l="l" t="t" r="r" b="b"/>
            <a:pathLst>
              <a:path w="3121659" h="0">
                <a:moveTo>
                  <a:pt x="0" y="0"/>
                </a:moveTo>
                <a:lnTo>
                  <a:pt x="3121152" y="0"/>
                </a:lnTo>
              </a:path>
            </a:pathLst>
          </a:custGeom>
          <a:ln w="3175">
            <a:solidFill>
              <a:srgbClr val="7373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21920" y="1464564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7373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855208" y="1467612"/>
            <a:ext cx="3121660" cy="0"/>
          </a:xfrm>
          <a:custGeom>
            <a:avLst/>
            <a:gdLst/>
            <a:ahLst/>
            <a:cxnLst/>
            <a:rect l="l" t="t" r="r" b="b"/>
            <a:pathLst>
              <a:path w="3121659" h="0">
                <a:moveTo>
                  <a:pt x="0" y="0"/>
                </a:moveTo>
                <a:lnTo>
                  <a:pt x="3121152" y="0"/>
                </a:lnTo>
              </a:path>
            </a:pathLst>
          </a:custGeom>
          <a:ln w="3175">
            <a:solidFill>
              <a:srgbClr val="7979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21920" y="1467612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7979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855208" y="1470660"/>
            <a:ext cx="3121660" cy="0"/>
          </a:xfrm>
          <a:custGeom>
            <a:avLst/>
            <a:gdLst/>
            <a:ahLst/>
            <a:cxnLst/>
            <a:rect l="l" t="t" r="r" b="b"/>
            <a:pathLst>
              <a:path w="3121659" h="0">
                <a:moveTo>
                  <a:pt x="0" y="0"/>
                </a:moveTo>
                <a:lnTo>
                  <a:pt x="3121152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21920" y="1470660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5855208" y="1473708"/>
            <a:ext cx="3121660" cy="0"/>
          </a:xfrm>
          <a:custGeom>
            <a:avLst/>
            <a:gdLst/>
            <a:ahLst/>
            <a:cxnLst/>
            <a:rect l="l" t="t" r="r" b="b"/>
            <a:pathLst>
              <a:path w="3121659" h="0">
                <a:moveTo>
                  <a:pt x="0" y="0"/>
                </a:moveTo>
                <a:lnTo>
                  <a:pt x="3121152" y="0"/>
                </a:lnTo>
              </a:path>
            </a:pathLst>
          </a:custGeom>
          <a:ln w="3175">
            <a:solidFill>
              <a:srgbClr val="86868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21920" y="1473708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86868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855208" y="1476756"/>
            <a:ext cx="3121660" cy="0"/>
          </a:xfrm>
          <a:custGeom>
            <a:avLst/>
            <a:gdLst/>
            <a:ahLst/>
            <a:cxnLst/>
            <a:rect l="l" t="t" r="r" b="b"/>
            <a:pathLst>
              <a:path w="3121659" h="0">
                <a:moveTo>
                  <a:pt x="0" y="0"/>
                </a:moveTo>
                <a:lnTo>
                  <a:pt x="3121152" y="0"/>
                </a:lnTo>
              </a:path>
            </a:pathLst>
          </a:custGeom>
          <a:ln w="3175">
            <a:solidFill>
              <a:srgbClr val="8C8C8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21920" y="1476756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8C8C8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5855208" y="1479804"/>
            <a:ext cx="3121660" cy="0"/>
          </a:xfrm>
          <a:custGeom>
            <a:avLst/>
            <a:gdLst/>
            <a:ahLst/>
            <a:cxnLst/>
            <a:rect l="l" t="t" r="r" b="b"/>
            <a:pathLst>
              <a:path w="3121659" h="0">
                <a:moveTo>
                  <a:pt x="0" y="0"/>
                </a:moveTo>
                <a:lnTo>
                  <a:pt x="3121152" y="0"/>
                </a:lnTo>
              </a:path>
            </a:pathLst>
          </a:custGeom>
          <a:ln w="3175">
            <a:solidFill>
              <a:srgbClr val="91919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21920" y="1479804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91919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855208" y="1482852"/>
            <a:ext cx="3121660" cy="0"/>
          </a:xfrm>
          <a:custGeom>
            <a:avLst/>
            <a:gdLst/>
            <a:ahLst/>
            <a:cxnLst/>
            <a:rect l="l" t="t" r="r" b="b"/>
            <a:pathLst>
              <a:path w="3121659" h="0">
                <a:moveTo>
                  <a:pt x="0" y="0"/>
                </a:moveTo>
                <a:lnTo>
                  <a:pt x="3121152" y="0"/>
                </a:lnTo>
              </a:path>
            </a:pathLst>
          </a:custGeom>
          <a:ln w="3175">
            <a:solidFill>
              <a:srgbClr val="98989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21920" y="1482852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98989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5855208" y="1485900"/>
            <a:ext cx="3121660" cy="0"/>
          </a:xfrm>
          <a:custGeom>
            <a:avLst/>
            <a:gdLst/>
            <a:ahLst/>
            <a:cxnLst/>
            <a:rect l="l" t="t" r="r" b="b"/>
            <a:pathLst>
              <a:path w="3121659" h="0">
                <a:moveTo>
                  <a:pt x="0" y="0"/>
                </a:moveTo>
                <a:lnTo>
                  <a:pt x="3121152" y="0"/>
                </a:lnTo>
              </a:path>
            </a:pathLst>
          </a:custGeom>
          <a:ln w="3175">
            <a:solidFill>
              <a:srgbClr val="9D9D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21920" y="1485900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9D9D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5855208" y="1488948"/>
            <a:ext cx="3121660" cy="0"/>
          </a:xfrm>
          <a:custGeom>
            <a:avLst/>
            <a:gdLst/>
            <a:ahLst/>
            <a:cxnLst/>
            <a:rect l="l" t="t" r="r" b="b"/>
            <a:pathLst>
              <a:path w="3121659" h="0">
                <a:moveTo>
                  <a:pt x="0" y="0"/>
                </a:moveTo>
                <a:lnTo>
                  <a:pt x="3121152" y="0"/>
                </a:lnTo>
              </a:path>
            </a:pathLst>
          </a:custGeom>
          <a:ln w="3175">
            <a:solidFill>
              <a:srgbClr val="A2A2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21920" y="1488948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A2A2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5855208" y="1491996"/>
            <a:ext cx="3121660" cy="0"/>
          </a:xfrm>
          <a:custGeom>
            <a:avLst/>
            <a:gdLst/>
            <a:ahLst/>
            <a:cxnLst/>
            <a:rect l="l" t="t" r="r" b="b"/>
            <a:pathLst>
              <a:path w="3121659" h="0">
                <a:moveTo>
                  <a:pt x="0" y="0"/>
                </a:moveTo>
                <a:lnTo>
                  <a:pt x="3121152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21920" y="1491996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5855208" y="1495044"/>
            <a:ext cx="3121660" cy="0"/>
          </a:xfrm>
          <a:custGeom>
            <a:avLst/>
            <a:gdLst/>
            <a:ahLst/>
            <a:cxnLst/>
            <a:rect l="l" t="t" r="r" b="b"/>
            <a:pathLst>
              <a:path w="3121659" h="0">
                <a:moveTo>
                  <a:pt x="0" y="0"/>
                </a:moveTo>
                <a:lnTo>
                  <a:pt x="3121152" y="0"/>
                </a:lnTo>
              </a:path>
            </a:pathLst>
          </a:custGeom>
          <a:ln w="3175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21920" y="1495044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5855208" y="1498092"/>
            <a:ext cx="3121660" cy="0"/>
          </a:xfrm>
          <a:custGeom>
            <a:avLst/>
            <a:gdLst/>
            <a:ahLst/>
            <a:cxnLst/>
            <a:rect l="l" t="t" r="r" b="b"/>
            <a:pathLst>
              <a:path w="3121659" h="0">
                <a:moveTo>
                  <a:pt x="0" y="0"/>
                </a:moveTo>
                <a:lnTo>
                  <a:pt x="3121152" y="0"/>
                </a:lnTo>
              </a:path>
            </a:pathLst>
          </a:custGeom>
          <a:ln w="3175">
            <a:solidFill>
              <a:srgbClr val="B0B0B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121920" y="1498092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B0B0B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5855208" y="1501140"/>
            <a:ext cx="3121660" cy="0"/>
          </a:xfrm>
          <a:custGeom>
            <a:avLst/>
            <a:gdLst/>
            <a:ahLst/>
            <a:cxnLst/>
            <a:rect l="l" t="t" r="r" b="b"/>
            <a:pathLst>
              <a:path w="3121659" h="0">
                <a:moveTo>
                  <a:pt x="0" y="0"/>
                </a:moveTo>
                <a:lnTo>
                  <a:pt x="3121152" y="0"/>
                </a:lnTo>
              </a:path>
            </a:pathLst>
          </a:custGeom>
          <a:ln w="3175">
            <a:solidFill>
              <a:srgbClr val="B4B4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121920" y="1501140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B4B4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5855208" y="1504188"/>
            <a:ext cx="3121660" cy="0"/>
          </a:xfrm>
          <a:custGeom>
            <a:avLst/>
            <a:gdLst/>
            <a:ahLst/>
            <a:cxnLst/>
            <a:rect l="l" t="t" r="r" b="b"/>
            <a:pathLst>
              <a:path w="3121659" h="0">
                <a:moveTo>
                  <a:pt x="0" y="0"/>
                </a:moveTo>
                <a:lnTo>
                  <a:pt x="3121152" y="0"/>
                </a:lnTo>
              </a:path>
            </a:pathLst>
          </a:custGeom>
          <a:ln w="3175">
            <a:solidFill>
              <a:srgbClr val="B8B8B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121920" y="1504188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B8B8B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5855208" y="1507236"/>
            <a:ext cx="3121660" cy="0"/>
          </a:xfrm>
          <a:custGeom>
            <a:avLst/>
            <a:gdLst/>
            <a:ahLst/>
            <a:cxnLst/>
            <a:rect l="l" t="t" r="r" b="b"/>
            <a:pathLst>
              <a:path w="3121659" h="0">
                <a:moveTo>
                  <a:pt x="0" y="0"/>
                </a:moveTo>
                <a:lnTo>
                  <a:pt x="3121152" y="0"/>
                </a:lnTo>
              </a:path>
            </a:pathLst>
          </a:custGeom>
          <a:ln w="3175">
            <a:solidFill>
              <a:srgbClr val="BABA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21920" y="1507236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BABA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5855208" y="1510284"/>
            <a:ext cx="3121660" cy="0"/>
          </a:xfrm>
          <a:custGeom>
            <a:avLst/>
            <a:gdLst/>
            <a:ahLst/>
            <a:cxnLst/>
            <a:rect l="l" t="t" r="r" b="b"/>
            <a:pathLst>
              <a:path w="3121659" h="0">
                <a:moveTo>
                  <a:pt x="0" y="0"/>
                </a:moveTo>
                <a:lnTo>
                  <a:pt x="3121152" y="0"/>
                </a:lnTo>
              </a:path>
            </a:pathLst>
          </a:custGeom>
          <a:ln w="3175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21920" y="1510284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5855208" y="1513332"/>
            <a:ext cx="3121660" cy="0"/>
          </a:xfrm>
          <a:custGeom>
            <a:avLst/>
            <a:gdLst/>
            <a:ahLst/>
            <a:cxnLst/>
            <a:rect l="l" t="t" r="r" b="b"/>
            <a:pathLst>
              <a:path w="3121659" h="0">
                <a:moveTo>
                  <a:pt x="0" y="0"/>
                </a:moveTo>
                <a:lnTo>
                  <a:pt x="3121152" y="0"/>
                </a:lnTo>
              </a:path>
            </a:pathLst>
          </a:custGeom>
          <a:ln w="3175">
            <a:solidFill>
              <a:srgbClr val="C2C2C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121920" y="1513332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C2C2C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5855208" y="1516380"/>
            <a:ext cx="3121660" cy="0"/>
          </a:xfrm>
          <a:custGeom>
            <a:avLst/>
            <a:gdLst/>
            <a:ahLst/>
            <a:cxnLst/>
            <a:rect l="l" t="t" r="r" b="b"/>
            <a:pathLst>
              <a:path w="3121659" h="0">
                <a:moveTo>
                  <a:pt x="0" y="0"/>
                </a:moveTo>
                <a:lnTo>
                  <a:pt x="3121152" y="0"/>
                </a:lnTo>
              </a:path>
            </a:pathLst>
          </a:custGeom>
          <a:ln w="3175">
            <a:solidFill>
              <a:srgbClr val="C4C4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121920" y="1516380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C4C4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5855208" y="1519428"/>
            <a:ext cx="3121660" cy="0"/>
          </a:xfrm>
          <a:custGeom>
            <a:avLst/>
            <a:gdLst/>
            <a:ahLst/>
            <a:cxnLst/>
            <a:rect l="l" t="t" r="r" b="b"/>
            <a:pathLst>
              <a:path w="3121659" h="0">
                <a:moveTo>
                  <a:pt x="0" y="0"/>
                </a:moveTo>
                <a:lnTo>
                  <a:pt x="3121152" y="0"/>
                </a:lnTo>
              </a:path>
            </a:pathLst>
          </a:custGeom>
          <a:ln w="3175">
            <a:solidFill>
              <a:srgbClr val="C7C7C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21920" y="1519428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C7C7C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5855208" y="1522476"/>
            <a:ext cx="3121660" cy="0"/>
          </a:xfrm>
          <a:custGeom>
            <a:avLst/>
            <a:gdLst/>
            <a:ahLst/>
            <a:cxnLst/>
            <a:rect l="l" t="t" r="r" b="b"/>
            <a:pathLst>
              <a:path w="3121659" h="0">
                <a:moveTo>
                  <a:pt x="0" y="0"/>
                </a:moveTo>
                <a:lnTo>
                  <a:pt x="3121152" y="0"/>
                </a:lnTo>
              </a:path>
            </a:pathLst>
          </a:custGeom>
          <a:ln w="3175">
            <a:solidFill>
              <a:srgbClr val="CACAC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121920" y="1522476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CACAC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5855208" y="1525524"/>
            <a:ext cx="3121660" cy="0"/>
          </a:xfrm>
          <a:custGeom>
            <a:avLst/>
            <a:gdLst/>
            <a:ahLst/>
            <a:cxnLst/>
            <a:rect l="l" t="t" r="r" b="b"/>
            <a:pathLst>
              <a:path w="3121659" h="0">
                <a:moveTo>
                  <a:pt x="0" y="0"/>
                </a:moveTo>
                <a:lnTo>
                  <a:pt x="3121152" y="0"/>
                </a:lnTo>
              </a:path>
            </a:pathLst>
          </a:custGeom>
          <a:ln w="3175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121920" y="1525524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5855208" y="1528572"/>
            <a:ext cx="3121660" cy="0"/>
          </a:xfrm>
          <a:custGeom>
            <a:avLst/>
            <a:gdLst/>
            <a:ahLst/>
            <a:cxnLst/>
            <a:rect l="l" t="t" r="r" b="b"/>
            <a:pathLst>
              <a:path w="3121659" h="0">
                <a:moveTo>
                  <a:pt x="0" y="0"/>
                </a:moveTo>
                <a:lnTo>
                  <a:pt x="3121152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21920" y="1528572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5855208" y="1531620"/>
            <a:ext cx="3121660" cy="0"/>
          </a:xfrm>
          <a:custGeom>
            <a:avLst/>
            <a:gdLst/>
            <a:ahLst/>
            <a:cxnLst/>
            <a:rect l="l" t="t" r="r" b="b"/>
            <a:pathLst>
              <a:path w="3121659" h="0">
                <a:moveTo>
                  <a:pt x="0" y="0"/>
                </a:moveTo>
                <a:lnTo>
                  <a:pt x="3121152" y="0"/>
                </a:lnTo>
              </a:path>
            </a:pathLst>
          </a:custGeom>
          <a:ln w="3175">
            <a:solidFill>
              <a:srgbClr val="CFCF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121920" y="1531620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CFCF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5855208" y="1534668"/>
            <a:ext cx="3121660" cy="0"/>
          </a:xfrm>
          <a:custGeom>
            <a:avLst/>
            <a:gdLst/>
            <a:ahLst/>
            <a:cxnLst/>
            <a:rect l="l" t="t" r="r" b="b"/>
            <a:pathLst>
              <a:path w="3121659" h="0">
                <a:moveTo>
                  <a:pt x="0" y="0"/>
                </a:moveTo>
                <a:lnTo>
                  <a:pt x="3121152" y="0"/>
                </a:lnTo>
              </a:path>
            </a:pathLst>
          </a:custGeom>
          <a:ln w="3175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121920" y="1534668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5855208" y="1537716"/>
            <a:ext cx="3121660" cy="0"/>
          </a:xfrm>
          <a:custGeom>
            <a:avLst/>
            <a:gdLst/>
            <a:ahLst/>
            <a:cxnLst/>
            <a:rect l="l" t="t" r="r" b="b"/>
            <a:pathLst>
              <a:path w="3121659" h="0">
                <a:moveTo>
                  <a:pt x="0" y="0"/>
                </a:moveTo>
                <a:lnTo>
                  <a:pt x="3121152" y="0"/>
                </a:lnTo>
              </a:path>
            </a:pathLst>
          </a:custGeom>
          <a:ln w="3175">
            <a:solidFill>
              <a:srgbClr val="D1D1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121920" y="1537716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D1D1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5855208" y="1540764"/>
            <a:ext cx="3121660" cy="0"/>
          </a:xfrm>
          <a:custGeom>
            <a:avLst/>
            <a:gdLst/>
            <a:ahLst/>
            <a:cxnLst/>
            <a:rect l="l" t="t" r="r" b="b"/>
            <a:pathLst>
              <a:path w="3121659" h="0">
                <a:moveTo>
                  <a:pt x="0" y="0"/>
                </a:moveTo>
                <a:lnTo>
                  <a:pt x="3121152" y="0"/>
                </a:lnTo>
              </a:path>
            </a:pathLst>
          </a:custGeom>
          <a:ln w="3175">
            <a:solidFill>
              <a:srgbClr val="D3D3D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121920" y="1540764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D3D3D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5855208" y="1543812"/>
            <a:ext cx="3121660" cy="0"/>
          </a:xfrm>
          <a:custGeom>
            <a:avLst/>
            <a:gdLst/>
            <a:ahLst/>
            <a:cxnLst/>
            <a:rect l="l" t="t" r="r" b="b"/>
            <a:pathLst>
              <a:path w="3121659" h="0">
                <a:moveTo>
                  <a:pt x="0" y="0"/>
                </a:moveTo>
                <a:lnTo>
                  <a:pt x="3121152" y="0"/>
                </a:lnTo>
              </a:path>
            </a:pathLst>
          </a:custGeom>
          <a:ln w="3175">
            <a:solidFill>
              <a:srgbClr val="D4D4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121920" y="1543812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D4D4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5855208" y="1546860"/>
            <a:ext cx="3121660" cy="0"/>
          </a:xfrm>
          <a:custGeom>
            <a:avLst/>
            <a:gdLst/>
            <a:ahLst/>
            <a:cxnLst/>
            <a:rect l="l" t="t" r="r" b="b"/>
            <a:pathLst>
              <a:path w="3121659" h="0">
                <a:moveTo>
                  <a:pt x="0" y="0"/>
                </a:moveTo>
                <a:lnTo>
                  <a:pt x="3121152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121920" y="1546860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5855208" y="1549908"/>
            <a:ext cx="3121660" cy="0"/>
          </a:xfrm>
          <a:custGeom>
            <a:avLst/>
            <a:gdLst/>
            <a:ahLst/>
            <a:cxnLst/>
            <a:rect l="l" t="t" r="r" b="b"/>
            <a:pathLst>
              <a:path w="3121659" h="0">
                <a:moveTo>
                  <a:pt x="0" y="0"/>
                </a:moveTo>
                <a:lnTo>
                  <a:pt x="3121152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121920" y="1549908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5855208" y="1552956"/>
            <a:ext cx="3121660" cy="0"/>
          </a:xfrm>
          <a:custGeom>
            <a:avLst/>
            <a:gdLst/>
            <a:ahLst/>
            <a:cxnLst/>
            <a:rect l="l" t="t" r="r" b="b"/>
            <a:pathLst>
              <a:path w="3121659" h="0">
                <a:moveTo>
                  <a:pt x="0" y="0"/>
                </a:moveTo>
                <a:lnTo>
                  <a:pt x="3121152" y="0"/>
                </a:lnTo>
              </a:path>
            </a:pathLst>
          </a:custGeom>
          <a:ln w="3175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121920" y="1552956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3633216" y="2776728"/>
            <a:ext cx="2018030" cy="1584960"/>
          </a:xfrm>
          <a:custGeom>
            <a:avLst/>
            <a:gdLst/>
            <a:ahLst/>
            <a:cxnLst/>
            <a:rect l="l" t="t" r="r" b="b"/>
            <a:pathLst>
              <a:path w="2018029" h="1584960">
                <a:moveTo>
                  <a:pt x="1008888" y="0"/>
                </a:moveTo>
                <a:lnTo>
                  <a:pt x="955253" y="1094"/>
                </a:lnTo>
                <a:lnTo>
                  <a:pt x="902354" y="4342"/>
                </a:lnTo>
                <a:lnTo>
                  <a:pt x="850260" y="9690"/>
                </a:lnTo>
                <a:lnTo>
                  <a:pt x="799040" y="17083"/>
                </a:lnTo>
                <a:lnTo>
                  <a:pt x="748763" y="26468"/>
                </a:lnTo>
                <a:lnTo>
                  <a:pt x="699499" y="37790"/>
                </a:lnTo>
                <a:lnTo>
                  <a:pt x="651318" y="50995"/>
                </a:lnTo>
                <a:lnTo>
                  <a:pt x="604288" y="66030"/>
                </a:lnTo>
                <a:lnTo>
                  <a:pt x="558479" y="82840"/>
                </a:lnTo>
                <a:lnTo>
                  <a:pt x="513961" y="101371"/>
                </a:lnTo>
                <a:lnTo>
                  <a:pt x="470802" y="121570"/>
                </a:lnTo>
                <a:lnTo>
                  <a:pt x="429072" y="143381"/>
                </a:lnTo>
                <a:lnTo>
                  <a:pt x="388841" y="166753"/>
                </a:lnTo>
                <a:lnTo>
                  <a:pt x="350178" y="191629"/>
                </a:lnTo>
                <a:lnTo>
                  <a:pt x="313152" y="217956"/>
                </a:lnTo>
                <a:lnTo>
                  <a:pt x="277832" y="245681"/>
                </a:lnTo>
                <a:lnTo>
                  <a:pt x="244289" y="274749"/>
                </a:lnTo>
                <a:lnTo>
                  <a:pt x="212591" y="305106"/>
                </a:lnTo>
                <a:lnTo>
                  <a:pt x="182807" y="336698"/>
                </a:lnTo>
                <a:lnTo>
                  <a:pt x="155008" y="369471"/>
                </a:lnTo>
                <a:lnTo>
                  <a:pt x="129261" y="403372"/>
                </a:lnTo>
                <a:lnTo>
                  <a:pt x="105638" y="438345"/>
                </a:lnTo>
                <a:lnTo>
                  <a:pt x="84207" y="474338"/>
                </a:lnTo>
                <a:lnTo>
                  <a:pt x="65037" y="511295"/>
                </a:lnTo>
                <a:lnTo>
                  <a:pt x="48199" y="549163"/>
                </a:lnTo>
                <a:lnTo>
                  <a:pt x="33760" y="587889"/>
                </a:lnTo>
                <a:lnTo>
                  <a:pt x="21791" y="627417"/>
                </a:lnTo>
                <a:lnTo>
                  <a:pt x="12361" y="667694"/>
                </a:lnTo>
                <a:lnTo>
                  <a:pt x="5540" y="708667"/>
                </a:lnTo>
                <a:lnTo>
                  <a:pt x="1396" y="750280"/>
                </a:lnTo>
                <a:lnTo>
                  <a:pt x="0" y="792480"/>
                </a:lnTo>
                <a:lnTo>
                  <a:pt x="1396" y="834679"/>
                </a:lnTo>
                <a:lnTo>
                  <a:pt x="5540" y="876293"/>
                </a:lnTo>
                <a:lnTo>
                  <a:pt x="12361" y="917265"/>
                </a:lnTo>
                <a:lnTo>
                  <a:pt x="21791" y="957542"/>
                </a:lnTo>
                <a:lnTo>
                  <a:pt x="33760" y="997070"/>
                </a:lnTo>
                <a:lnTo>
                  <a:pt x="48199" y="1035796"/>
                </a:lnTo>
                <a:lnTo>
                  <a:pt x="65037" y="1073664"/>
                </a:lnTo>
                <a:lnTo>
                  <a:pt x="84207" y="1110622"/>
                </a:lnTo>
                <a:lnTo>
                  <a:pt x="105638" y="1146614"/>
                </a:lnTo>
                <a:lnTo>
                  <a:pt x="129261" y="1181587"/>
                </a:lnTo>
                <a:lnTo>
                  <a:pt x="155008" y="1215488"/>
                </a:lnTo>
                <a:lnTo>
                  <a:pt x="182807" y="1248261"/>
                </a:lnTo>
                <a:lnTo>
                  <a:pt x="212591" y="1279853"/>
                </a:lnTo>
                <a:lnTo>
                  <a:pt x="244289" y="1310210"/>
                </a:lnTo>
                <a:lnTo>
                  <a:pt x="277832" y="1339278"/>
                </a:lnTo>
                <a:lnTo>
                  <a:pt x="313152" y="1367003"/>
                </a:lnTo>
                <a:lnTo>
                  <a:pt x="350178" y="1393330"/>
                </a:lnTo>
                <a:lnTo>
                  <a:pt x="388841" y="1418206"/>
                </a:lnTo>
                <a:lnTo>
                  <a:pt x="429072" y="1441578"/>
                </a:lnTo>
                <a:lnTo>
                  <a:pt x="470802" y="1463389"/>
                </a:lnTo>
                <a:lnTo>
                  <a:pt x="513961" y="1483588"/>
                </a:lnTo>
                <a:lnTo>
                  <a:pt x="558479" y="1502119"/>
                </a:lnTo>
                <a:lnTo>
                  <a:pt x="604288" y="1518929"/>
                </a:lnTo>
                <a:lnTo>
                  <a:pt x="651318" y="1533964"/>
                </a:lnTo>
                <a:lnTo>
                  <a:pt x="699499" y="1547169"/>
                </a:lnTo>
                <a:lnTo>
                  <a:pt x="748763" y="1558491"/>
                </a:lnTo>
                <a:lnTo>
                  <a:pt x="799040" y="1567876"/>
                </a:lnTo>
                <a:lnTo>
                  <a:pt x="850260" y="1575269"/>
                </a:lnTo>
                <a:lnTo>
                  <a:pt x="902354" y="1580617"/>
                </a:lnTo>
                <a:lnTo>
                  <a:pt x="955253" y="1583865"/>
                </a:lnTo>
                <a:lnTo>
                  <a:pt x="1008888" y="1584960"/>
                </a:lnTo>
                <a:lnTo>
                  <a:pt x="1062522" y="1583865"/>
                </a:lnTo>
                <a:lnTo>
                  <a:pt x="1115421" y="1580617"/>
                </a:lnTo>
                <a:lnTo>
                  <a:pt x="1167515" y="1575269"/>
                </a:lnTo>
                <a:lnTo>
                  <a:pt x="1218736" y="1567876"/>
                </a:lnTo>
                <a:lnTo>
                  <a:pt x="1269012" y="1558491"/>
                </a:lnTo>
                <a:lnTo>
                  <a:pt x="1318276" y="1547169"/>
                </a:lnTo>
                <a:lnTo>
                  <a:pt x="1366457" y="1533964"/>
                </a:lnTo>
                <a:lnTo>
                  <a:pt x="1413487" y="1518929"/>
                </a:lnTo>
                <a:lnTo>
                  <a:pt x="1459296" y="1502119"/>
                </a:lnTo>
                <a:lnTo>
                  <a:pt x="1503814" y="1483588"/>
                </a:lnTo>
                <a:lnTo>
                  <a:pt x="1546973" y="1463389"/>
                </a:lnTo>
                <a:lnTo>
                  <a:pt x="1588703" y="1441578"/>
                </a:lnTo>
                <a:lnTo>
                  <a:pt x="1628934" y="1418206"/>
                </a:lnTo>
                <a:lnTo>
                  <a:pt x="1667597" y="1393330"/>
                </a:lnTo>
                <a:lnTo>
                  <a:pt x="1704623" y="1367003"/>
                </a:lnTo>
                <a:lnTo>
                  <a:pt x="1739943" y="1339278"/>
                </a:lnTo>
                <a:lnTo>
                  <a:pt x="1773486" y="1310210"/>
                </a:lnTo>
                <a:lnTo>
                  <a:pt x="1805184" y="1279853"/>
                </a:lnTo>
                <a:lnTo>
                  <a:pt x="1834968" y="1248261"/>
                </a:lnTo>
                <a:lnTo>
                  <a:pt x="1862768" y="1215488"/>
                </a:lnTo>
                <a:lnTo>
                  <a:pt x="1888514" y="1181587"/>
                </a:lnTo>
                <a:lnTo>
                  <a:pt x="1912137" y="1146614"/>
                </a:lnTo>
                <a:lnTo>
                  <a:pt x="1933568" y="1110622"/>
                </a:lnTo>
                <a:lnTo>
                  <a:pt x="1952738" y="1073664"/>
                </a:lnTo>
                <a:lnTo>
                  <a:pt x="1969576" y="1035796"/>
                </a:lnTo>
                <a:lnTo>
                  <a:pt x="1984015" y="997070"/>
                </a:lnTo>
                <a:lnTo>
                  <a:pt x="1995984" y="957542"/>
                </a:lnTo>
                <a:lnTo>
                  <a:pt x="2005414" y="917265"/>
                </a:lnTo>
                <a:lnTo>
                  <a:pt x="2012235" y="876293"/>
                </a:lnTo>
                <a:lnTo>
                  <a:pt x="2016379" y="834679"/>
                </a:lnTo>
                <a:lnTo>
                  <a:pt x="2017776" y="792480"/>
                </a:lnTo>
                <a:lnTo>
                  <a:pt x="2016379" y="750280"/>
                </a:lnTo>
                <a:lnTo>
                  <a:pt x="2012235" y="708667"/>
                </a:lnTo>
                <a:lnTo>
                  <a:pt x="2005414" y="667694"/>
                </a:lnTo>
                <a:lnTo>
                  <a:pt x="1995984" y="627417"/>
                </a:lnTo>
                <a:lnTo>
                  <a:pt x="1984015" y="587889"/>
                </a:lnTo>
                <a:lnTo>
                  <a:pt x="1969576" y="549163"/>
                </a:lnTo>
                <a:lnTo>
                  <a:pt x="1952738" y="511295"/>
                </a:lnTo>
                <a:lnTo>
                  <a:pt x="1933568" y="474338"/>
                </a:lnTo>
                <a:lnTo>
                  <a:pt x="1912137" y="438345"/>
                </a:lnTo>
                <a:lnTo>
                  <a:pt x="1888514" y="403372"/>
                </a:lnTo>
                <a:lnTo>
                  <a:pt x="1862768" y="369471"/>
                </a:lnTo>
                <a:lnTo>
                  <a:pt x="1834968" y="336698"/>
                </a:lnTo>
                <a:lnTo>
                  <a:pt x="1805184" y="305106"/>
                </a:lnTo>
                <a:lnTo>
                  <a:pt x="1773486" y="274749"/>
                </a:lnTo>
                <a:lnTo>
                  <a:pt x="1739943" y="245681"/>
                </a:lnTo>
                <a:lnTo>
                  <a:pt x="1704623" y="217956"/>
                </a:lnTo>
                <a:lnTo>
                  <a:pt x="1667597" y="191629"/>
                </a:lnTo>
                <a:lnTo>
                  <a:pt x="1628934" y="166753"/>
                </a:lnTo>
                <a:lnTo>
                  <a:pt x="1588703" y="143381"/>
                </a:lnTo>
                <a:lnTo>
                  <a:pt x="1546973" y="121570"/>
                </a:lnTo>
                <a:lnTo>
                  <a:pt x="1503814" y="101371"/>
                </a:lnTo>
                <a:lnTo>
                  <a:pt x="1459296" y="82840"/>
                </a:lnTo>
                <a:lnTo>
                  <a:pt x="1413487" y="66030"/>
                </a:lnTo>
                <a:lnTo>
                  <a:pt x="1366457" y="50995"/>
                </a:lnTo>
                <a:lnTo>
                  <a:pt x="1318276" y="37790"/>
                </a:lnTo>
                <a:lnTo>
                  <a:pt x="1269012" y="26468"/>
                </a:lnTo>
                <a:lnTo>
                  <a:pt x="1218736" y="17083"/>
                </a:lnTo>
                <a:lnTo>
                  <a:pt x="1167515" y="9690"/>
                </a:lnTo>
                <a:lnTo>
                  <a:pt x="1115421" y="4342"/>
                </a:lnTo>
                <a:lnTo>
                  <a:pt x="1062522" y="1094"/>
                </a:lnTo>
                <a:lnTo>
                  <a:pt x="100888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3633215" y="2776728"/>
            <a:ext cx="2018030" cy="1584960"/>
          </a:xfrm>
          <a:custGeom>
            <a:avLst/>
            <a:gdLst/>
            <a:ahLst/>
            <a:cxnLst/>
            <a:rect l="l" t="t" r="r" b="b"/>
            <a:pathLst>
              <a:path w="2018029" h="1584960">
                <a:moveTo>
                  <a:pt x="2017775" y="792479"/>
                </a:moveTo>
                <a:lnTo>
                  <a:pt x="2016379" y="750280"/>
                </a:lnTo>
                <a:lnTo>
                  <a:pt x="2012235" y="708666"/>
                </a:lnTo>
                <a:lnTo>
                  <a:pt x="2005414" y="667694"/>
                </a:lnTo>
                <a:lnTo>
                  <a:pt x="1995984" y="627417"/>
                </a:lnTo>
                <a:lnTo>
                  <a:pt x="1984015" y="587889"/>
                </a:lnTo>
                <a:lnTo>
                  <a:pt x="1969576" y="549163"/>
                </a:lnTo>
                <a:lnTo>
                  <a:pt x="1952738" y="511295"/>
                </a:lnTo>
                <a:lnTo>
                  <a:pt x="1933568" y="474337"/>
                </a:lnTo>
                <a:lnTo>
                  <a:pt x="1912137" y="438345"/>
                </a:lnTo>
                <a:lnTo>
                  <a:pt x="1888513" y="403372"/>
                </a:lnTo>
                <a:lnTo>
                  <a:pt x="1862767" y="369471"/>
                </a:lnTo>
                <a:lnTo>
                  <a:pt x="1834968" y="336698"/>
                </a:lnTo>
                <a:lnTo>
                  <a:pt x="1805184" y="305106"/>
                </a:lnTo>
                <a:lnTo>
                  <a:pt x="1773486" y="274749"/>
                </a:lnTo>
                <a:lnTo>
                  <a:pt x="1739943" y="245681"/>
                </a:lnTo>
                <a:lnTo>
                  <a:pt x="1704623" y="217956"/>
                </a:lnTo>
                <a:lnTo>
                  <a:pt x="1667597" y="191629"/>
                </a:lnTo>
                <a:lnTo>
                  <a:pt x="1628934" y="166753"/>
                </a:lnTo>
                <a:lnTo>
                  <a:pt x="1588703" y="143381"/>
                </a:lnTo>
                <a:lnTo>
                  <a:pt x="1546973" y="121570"/>
                </a:lnTo>
                <a:lnTo>
                  <a:pt x="1503814" y="101371"/>
                </a:lnTo>
                <a:lnTo>
                  <a:pt x="1459296" y="82840"/>
                </a:lnTo>
                <a:lnTo>
                  <a:pt x="1413487" y="66030"/>
                </a:lnTo>
                <a:lnTo>
                  <a:pt x="1366457" y="50995"/>
                </a:lnTo>
                <a:lnTo>
                  <a:pt x="1318276" y="37790"/>
                </a:lnTo>
                <a:lnTo>
                  <a:pt x="1269012" y="26468"/>
                </a:lnTo>
                <a:lnTo>
                  <a:pt x="1218735" y="17083"/>
                </a:lnTo>
                <a:lnTo>
                  <a:pt x="1167515" y="9690"/>
                </a:lnTo>
                <a:lnTo>
                  <a:pt x="1115421" y="4342"/>
                </a:lnTo>
                <a:lnTo>
                  <a:pt x="1062522" y="1094"/>
                </a:lnTo>
                <a:lnTo>
                  <a:pt x="1008887" y="0"/>
                </a:lnTo>
                <a:lnTo>
                  <a:pt x="955253" y="1094"/>
                </a:lnTo>
                <a:lnTo>
                  <a:pt x="902354" y="4342"/>
                </a:lnTo>
                <a:lnTo>
                  <a:pt x="850260" y="9690"/>
                </a:lnTo>
                <a:lnTo>
                  <a:pt x="799039" y="17083"/>
                </a:lnTo>
                <a:lnTo>
                  <a:pt x="748763" y="26468"/>
                </a:lnTo>
                <a:lnTo>
                  <a:pt x="699499" y="37790"/>
                </a:lnTo>
                <a:lnTo>
                  <a:pt x="651318" y="50995"/>
                </a:lnTo>
                <a:lnTo>
                  <a:pt x="604288" y="66030"/>
                </a:lnTo>
                <a:lnTo>
                  <a:pt x="558479" y="82840"/>
                </a:lnTo>
                <a:lnTo>
                  <a:pt x="513961" y="101371"/>
                </a:lnTo>
                <a:lnTo>
                  <a:pt x="470802" y="121570"/>
                </a:lnTo>
                <a:lnTo>
                  <a:pt x="429072" y="143381"/>
                </a:lnTo>
                <a:lnTo>
                  <a:pt x="388841" y="166753"/>
                </a:lnTo>
                <a:lnTo>
                  <a:pt x="350178" y="191629"/>
                </a:lnTo>
                <a:lnTo>
                  <a:pt x="313152" y="217956"/>
                </a:lnTo>
                <a:lnTo>
                  <a:pt x="277832" y="245681"/>
                </a:lnTo>
                <a:lnTo>
                  <a:pt x="244289" y="274749"/>
                </a:lnTo>
                <a:lnTo>
                  <a:pt x="212591" y="305106"/>
                </a:lnTo>
                <a:lnTo>
                  <a:pt x="182807" y="336698"/>
                </a:lnTo>
                <a:lnTo>
                  <a:pt x="155008" y="369471"/>
                </a:lnTo>
                <a:lnTo>
                  <a:pt x="129261" y="403372"/>
                </a:lnTo>
                <a:lnTo>
                  <a:pt x="105638" y="438345"/>
                </a:lnTo>
                <a:lnTo>
                  <a:pt x="84207" y="474337"/>
                </a:lnTo>
                <a:lnTo>
                  <a:pt x="65037" y="511295"/>
                </a:lnTo>
                <a:lnTo>
                  <a:pt x="48199" y="549163"/>
                </a:lnTo>
                <a:lnTo>
                  <a:pt x="33760" y="587889"/>
                </a:lnTo>
                <a:lnTo>
                  <a:pt x="21791" y="627417"/>
                </a:lnTo>
                <a:lnTo>
                  <a:pt x="12361" y="667694"/>
                </a:lnTo>
                <a:lnTo>
                  <a:pt x="5540" y="708666"/>
                </a:lnTo>
                <a:lnTo>
                  <a:pt x="1396" y="750280"/>
                </a:lnTo>
                <a:lnTo>
                  <a:pt x="0" y="792479"/>
                </a:lnTo>
                <a:lnTo>
                  <a:pt x="1396" y="834679"/>
                </a:lnTo>
                <a:lnTo>
                  <a:pt x="5540" y="876292"/>
                </a:lnTo>
                <a:lnTo>
                  <a:pt x="12361" y="917265"/>
                </a:lnTo>
                <a:lnTo>
                  <a:pt x="21791" y="957542"/>
                </a:lnTo>
                <a:lnTo>
                  <a:pt x="33760" y="997070"/>
                </a:lnTo>
                <a:lnTo>
                  <a:pt x="48199" y="1035796"/>
                </a:lnTo>
                <a:lnTo>
                  <a:pt x="65037" y="1073664"/>
                </a:lnTo>
                <a:lnTo>
                  <a:pt x="84207" y="1110621"/>
                </a:lnTo>
                <a:lnTo>
                  <a:pt x="105638" y="1146614"/>
                </a:lnTo>
                <a:lnTo>
                  <a:pt x="129261" y="1181587"/>
                </a:lnTo>
                <a:lnTo>
                  <a:pt x="155008" y="1215488"/>
                </a:lnTo>
                <a:lnTo>
                  <a:pt x="182807" y="1248261"/>
                </a:lnTo>
                <a:lnTo>
                  <a:pt x="212591" y="1279853"/>
                </a:lnTo>
                <a:lnTo>
                  <a:pt x="244289" y="1310210"/>
                </a:lnTo>
                <a:lnTo>
                  <a:pt x="277832" y="1339278"/>
                </a:lnTo>
                <a:lnTo>
                  <a:pt x="313152" y="1367003"/>
                </a:lnTo>
                <a:lnTo>
                  <a:pt x="350178" y="1393330"/>
                </a:lnTo>
                <a:lnTo>
                  <a:pt x="388841" y="1418206"/>
                </a:lnTo>
                <a:lnTo>
                  <a:pt x="429072" y="1441578"/>
                </a:lnTo>
                <a:lnTo>
                  <a:pt x="470802" y="1463389"/>
                </a:lnTo>
                <a:lnTo>
                  <a:pt x="513961" y="1483588"/>
                </a:lnTo>
                <a:lnTo>
                  <a:pt x="558479" y="1502119"/>
                </a:lnTo>
                <a:lnTo>
                  <a:pt x="604288" y="1518929"/>
                </a:lnTo>
                <a:lnTo>
                  <a:pt x="651318" y="1533964"/>
                </a:lnTo>
                <a:lnTo>
                  <a:pt x="699499" y="1547169"/>
                </a:lnTo>
                <a:lnTo>
                  <a:pt x="748763" y="1558491"/>
                </a:lnTo>
                <a:lnTo>
                  <a:pt x="799039" y="1567876"/>
                </a:lnTo>
                <a:lnTo>
                  <a:pt x="850260" y="1575269"/>
                </a:lnTo>
                <a:lnTo>
                  <a:pt x="902354" y="1580616"/>
                </a:lnTo>
                <a:lnTo>
                  <a:pt x="955253" y="1583865"/>
                </a:lnTo>
                <a:lnTo>
                  <a:pt x="1008887" y="1584959"/>
                </a:lnTo>
                <a:lnTo>
                  <a:pt x="1062522" y="1583865"/>
                </a:lnTo>
                <a:lnTo>
                  <a:pt x="1115421" y="1580616"/>
                </a:lnTo>
                <a:lnTo>
                  <a:pt x="1167515" y="1575269"/>
                </a:lnTo>
                <a:lnTo>
                  <a:pt x="1218735" y="1567876"/>
                </a:lnTo>
                <a:lnTo>
                  <a:pt x="1269012" y="1558491"/>
                </a:lnTo>
                <a:lnTo>
                  <a:pt x="1318276" y="1547169"/>
                </a:lnTo>
                <a:lnTo>
                  <a:pt x="1366457" y="1533964"/>
                </a:lnTo>
                <a:lnTo>
                  <a:pt x="1413487" y="1518929"/>
                </a:lnTo>
                <a:lnTo>
                  <a:pt x="1459296" y="1502119"/>
                </a:lnTo>
                <a:lnTo>
                  <a:pt x="1503814" y="1483588"/>
                </a:lnTo>
                <a:lnTo>
                  <a:pt x="1546973" y="1463389"/>
                </a:lnTo>
                <a:lnTo>
                  <a:pt x="1588703" y="1441578"/>
                </a:lnTo>
                <a:lnTo>
                  <a:pt x="1628934" y="1418206"/>
                </a:lnTo>
                <a:lnTo>
                  <a:pt x="1667597" y="1393330"/>
                </a:lnTo>
                <a:lnTo>
                  <a:pt x="1704623" y="1367003"/>
                </a:lnTo>
                <a:lnTo>
                  <a:pt x="1739943" y="1339278"/>
                </a:lnTo>
                <a:lnTo>
                  <a:pt x="1773486" y="1310210"/>
                </a:lnTo>
                <a:lnTo>
                  <a:pt x="1805184" y="1279853"/>
                </a:lnTo>
                <a:lnTo>
                  <a:pt x="1834968" y="1248261"/>
                </a:lnTo>
                <a:lnTo>
                  <a:pt x="1862767" y="1215488"/>
                </a:lnTo>
                <a:lnTo>
                  <a:pt x="1888513" y="1181587"/>
                </a:lnTo>
                <a:lnTo>
                  <a:pt x="1912137" y="1146614"/>
                </a:lnTo>
                <a:lnTo>
                  <a:pt x="1933568" y="1110621"/>
                </a:lnTo>
                <a:lnTo>
                  <a:pt x="1952738" y="1073664"/>
                </a:lnTo>
                <a:lnTo>
                  <a:pt x="1969576" y="1035796"/>
                </a:lnTo>
                <a:lnTo>
                  <a:pt x="1984015" y="997070"/>
                </a:lnTo>
                <a:lnTo>
                  <a:pt x="1995984" y="957542"/>
                </a:lnTo>
                <a:lnTo>
                  <a:pt x="2005414" y="917265"/>
                </a:lnTo>
                <a:lnTo>
                  <a:pt x="2012235" y="876292"/>
                </a:lnTo>
                <a:lnTo>
                  <a:pt x="2016379" y="834679"/>
                </a:lnTo>
                <a:lnTo>
                  <a:pt x="2017775" y="792479"/>
                </a:lnTo>
              </a:path>
            </a:pathLst>
          </a:custGeom>
          <a:ln w="27431">
            <a:solidFill>
              <a:srgbClr val="CC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 txBox="1"/>
          <p:nvPr/>
        </p:nvSpPr>
        <p:spPr>
          <a:xfrm>
            <a:off x="4062476" y="3013964"/>
            <a:ext cx="1247775" cy="1000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2540">
              <a:lnSpc>
                <a:spcPct val="100000"/>
              </a:lnSpc>
              <a:spcBef>
                <a:spcPts val="90"/>
              </a:spcBef>
            </a:pPr>
            <a:r>
              <a:rPr dirty="0" sz="3200" spc="10" b="1">
                <a:latin typeface="Microsoft JhengHei"/>
                <a:cs typeface="Microsoft JhengHei"/>
              </a:rPr>
              <a:t>并</a:t>
            </a:r>
            <a:r>
              <a:rPr dirty="0" sz="3200" spc="-10" b="1">
                <a:latin typeface="Microsoft JhengHei"/>
                <a:cs typeface="Microsoft JhengHei"/>
              </a:rPr>
              <a:t>购战 </a:t>
            </a:r>
            <a:r>
              <a:rPr dirty="0" sz="3200" spc="10" b="1">
                <a:latin typeface="Microsoft JhengHei"/>
                <a:cs typeface="Microsoft JhengHei"/>
              </a:rPr>
              <a:t>略</a:t>
            </a:r>
            <a:r>
              <a:rPr dirty="0" sz="3200" spc="-10" b="1">
                <a:latin typeface="Microsoft JhengHei"/>
                <a:cs typeface="Microsoft JhengHei"/>
              </a:rPr>
              <a:t>目标</a:t>
            </a:r>
            <a:endParaRPr sz="3200">
              <a:latin typeface="Microsoft JhengHei"/>
              <a:cs typeface="Microsoft JhengHei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466343" y="1554480"/>
            <a:ext cx="2368550" cy="862965"/>
          </a:xfrm>
          <a:prstGeom prst="rect">
            <a:avLst/>
          </a:prstGeom>
          <a:solidFill>
            <a:srgbClr val="FF9966"/>
          </a:solidFill>
          <a:ln w="9143">
            <a:solidFill>
              <a:srgbClr val="CCFF33"/>
            </a:solidFill>
          </a:ln>
        </p:spPr>
        <p:txBody>
          <a:bodyPr wrap="square" lIns="0" tIns="226060" rIns="0" bIns="0" rtlCol="0" vert="horz">
            <a:spAutoFit/>
          </a:bodyPr>
          <a:lstStyle/>
          <a:p>
            <a:pPr marL="648970">
              <a:lnSpc>
                <a:spcPct val="100000"/>
              </a:lnSpc>
              <a:spcBef>
                <a:spcPts val="1780"/>
              </a:spcBef>
            </a:pPr>
            <a:r>
              <a:rPr dirty="0" sz="2800" spc="5" b="1">
                <a:latin typeface="Microsoft JhengHei"/>
                <a:cs typeface="Microsoft JhengHei"/>
              </a:rPr>
              <a:t>多</a:t>
            </a:r>
            <a:r>
              <a:rPr dirty="0" sz="2800" spc="-20" b="1">
                <a:latin typeface="Microsoft JhengHei"/>
                <a:cs typeface="Microsoft JhengHei"/>
              </a:rPr>
              <a:t>元</a:t>
            </a:r>
            <a:r>
              <a:rPr dirty="0" sz="2800" spc="5" b="1">
                <a:latin typeface="Microsoft JhengHei"/>
                <a:cs typeface="Microsoft JhengHei"/>
              </a:rPr>
              <a:t>化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6513576" y="1697736"/>
            <a:ext cx="2158365" cy="792480"/>
          </a:xfrm>
          <a:prstGeom prst="rect">
            <a:avLst/>
          </a:prstGeom>
          <a:solidFill>
            <a:srgbClr val="99CCFF"/>
          </a:solidFill>
          <a:ln w="9143">
            <a:solidFill>
              <a:srgbClr val="CCFF33"/>
            </a:solidFill>
          </a:ln>
        </p:spPr>
        <p:txBody>
          <a:bodyPr wrap="square" lIns="0" tIns="193040" rIns="0" bIns="0" rtlCol="0" vert="horz">
            <a:spAutoFit/>
          </a:bodyPr>
          <a:lstStyle/>
          <a:p>
            <a:pPr marL="545465">
              <a:lnSpc>
                <a:spcPct val="100000"/>
              </a:lnSpc>
              <a:spcBef>
                <a:spcPts val="1520"/>
              </a:spcBef>
            </a:pPr>
            <a:r>
              <a:rPr dirty="0" sz="2800" spc="5" b="1">
                <a:latin typeface="Microsoft JhengHei"/>
                <a:cs typeface="Microsoft JhengHei"/>
              </a:rPr>
              <a:t>全</a:t>
            </a:r>
            <a:r>
              <a:rPr dirty="0" sz="2800" spc="-20" b="1">
                <a:latin typeface="Microsoft JhengHei"/>
                <a:cs typeface="Microsoft JhengHei"/>
              </a:rPr>
              <a:t>球</a:t>
            </a:r>
            <a:r>
              <a:rPr dirty="0" sz="2800" spc="5" b="1">
                <a:latin typeface="Microsoft JhengHei"/>
                <a:cs typeface="Microsoft JhengHei"/>
              </a:rPr>
              <a:t>化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104" name="object 104"/>
          <p:cNvSpPr/>
          <p:nvPr/>
        </p:nvSpPr>
        <p:spPr>
          <a:xfrm>
            <a:off x="6583680" y="2919984"/>
            <a:ext cx="2091055" cy="1225550"/>
          </a:xfrm>
          <a:custGeom>
            <a:avLst/>
            <a:gdLst/>
            <a:ahLst/>
            <a:cxnLst/>
            <a:rect l="l" t="t" r="r" b="b"/>
            <a:pathLst>
              <a:path w="2091054" h="1225550">
                <a:moveTo>
                  <a:pt x="0" y="0"/>
                </a:moveTo>
                <a:lnTo>
                  <a:pt x="0" y="1225296"/>
                </a:lnTo>
                <a:lnTo>
                  <a:pt x="2090928" y="1225296"/>
                </a:lnTo>
                <a:lnTo>
                  <a:pt x="2090928" y="0"/>
                </a:lnTo>
                <a:lnTo>
                  <a:pt x="0" y="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 txBox="1"/>
          <p:nvPr/>
        </p:nvSpPr>
        <p:spPr>
          <a:xfrm>
            <a:off x="6549643" y="3102356"/>
            <a:ext cx="2159000" cy="88328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 indent="179705">
              <a:lnSpc>
                <a:spcPct val="100699"/>
              </a:lnSpc>
              <a:spcBef>
                <a:spcPts val="85"/>
              </a:spcBef>
            </a:pPr>
            <a:r>
              <a:rPr dirty="0" sz="2800" spc="5" b="1">
                <a:latin typeface="Microsoft JhengHei"/>
                <a:cs typeface="Microsoft JhengHei"/>
              </a:rPr>
              <a:t>创造或</a:t>
            </a:r>
            <a:r>
              <a:rPr dirty="0" sz="2800" spc="-20" b="1">
                <a:latin typeface="Microsoft JhengHei"/>
                <a:cs typeface="Microsoft JhengHei"/>
              </a:rPr>
              <a:t>获</a:t>
            </a:r>
            <a:r>
              <a:rPr dirty="0" sz="2800" spc="5" b="1">
                <a:latin typeface="Microsoft JhengHei"/>
                <a:cs typeface="Microsoft JhengHei"/>
              </a:rPr>
              <a:t>得 </a:t>
            </a:r>
            <a:r>
              <a:rPr dirty="0" sz="2800" spc="5" b="1">
                <a:latin typeface="Microsoft JhengHei"/>
                <a:cs typeface="Microsoft JhengHei"/>
              </a:rPr>
              <a:t>新的分</a:t>
            </a:r>
            <a:r>
              <a:rPr dirty="0" sz="2800" spc="-20" b="1">
                <a:latin typeface="Microsoft JhengHei"/>
                <a:cs typeface="Microsoft JhengHei"/>
              </a:rPr>
              <a:t>销渠</a:t>
            </a:r>
            <a:r>
              <a:rPr dirty="0" sz="2800" spc="5" b="1">
                <a:latin typeface="Microsoft JhengHei"/>
                <a:cs typeface="Microsoft JhengHei"/>
              </a:rPr>
              <a:t>道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106" name="object 106"/>
          <p:cNvSpPr/>
          <p:nvPr/>
        </p:nvSpPr>
        <p:spPr>
          <a:xfrm>
            <a:off x="4639055" y="1813560"/>
            <a:ext cx="0" cy="963294"/>
          </a:xfrm>
          <a:custGeom>
            <a:avLst/>
            <a:gdLst/>
            <a:ahLst/>
            <a:cxnLst/>
            <a:rect l="l" t="t" r="r" b="b"/>
            <a:pathLst>
              <a:path w="0" h="963294">
                <a:moveTo>
                  <a:pt x="0" y="963167"/>
                </a:moveTo>
                <a:lnTo>
                  <a:pt x="0" y="0"/>
                </a:lnTo>
              </a:path>
            </a:pathLst>
          </a:custGeom>
          <a:ln w="76199">
            <a:solidFill>
              <a:srgbClr val="0000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4507992" y="1557528"/>
            <a:ext cx="265430" cy="265430"/>
          </a:xfrm>
          <a:custGeom>
            <a:avLst/>
            <a:gdLst/>
            <a:ahLst/>
            <a:cxnLst/>
            <a:rect l="l" t="t" r="r" b="b"/>
            <a:pathLst>
              <a:path w="265429" h="265430">
                <a:moveTo>
                  <a:pt x="134112" y="0"/>
                </a:moveTo>
                <a:lnTo>
                  <a:pt x="0" y="265176"/>
                </a:lnTo>
                <a:lnTo>
                  <a:pt x="265176" y="265176"/>
                </a:lnTo>
                <a:lnTo>
                  <a:pt x="134112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5504688" y="2301240"/>
            <a:ext cx="783590" cy="695325"/>
          </a:xfrm>
          <a:custGeom>
            <a:avLst/>
            <a:gdLst/>
            <a:ahLst/>
            <a:cxnLst/>
            <a:rect l="l" t="t" r="r" b="b"/>
            <a:pathLst>
              <a:path w="783589" h="695325">
                <a:moveTo>
                  <a:pt x="0" y="694943"/>
                </a:moveTo>
                <a:lnTo>
                  <a:pt x="783335" y="0"/>
                </a:lnTo>
              </a:path>
            </a:pathLst>
          </a:custGeom>
          <a:ln w="76199">
            <a:solidFill>
              <a:srgbClr val="0000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6193536" y="2130552"/>
            <a:ext cx="289560" cy="277495"/>
          </a:xfrm>
          <a:custGeom>
            <a:avLst/>
            <a:gdLst/>
            <a:ahLst/>
            <a:cxnLst/>
            <a:rect l="l" t="t" r="r" b="b"/>
            <a:pathLst>
              <a:path w="289560" h="277494">
                <a:moveTo>
                  <a:pt x="289560" y="0"/>
                </a:moveTo>
                <a:lnTo>
                  <a:pt x="0" y="79248"/>
                </a:lnTo>
                <a:lnTo>
                  <a:pt x="176784" y="277368"/>
                </a:lnTo>
                <a:lnTo>
                  <a:pt x="289560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5647944" y="3425952"/>
            <a:ext cx="716280" cy="3175"/>
          </a:xfrm>
          <a:custGeom>
            <a:avLst/>
            <a:gdLst/>
            <a:ahLst/>
            <a:cxnLst/>
            <a:rect l="l" t="t" r="r" b="b"/>
            <a:pathLst>
              <a:path w="716279" h="3175">
                <a:moveTo>
                  <a:pt x="-38099" y="1523"/>
                </a:moveTo>
                <a:lnTo>
                  <a:pt x="754379" y="1523"/>
                </a:lnTo>
              </a:path>
            </a:pathLst>
          </a:custGeom>
          <a:ln w="79247">
            <a:solidFill>
              <a:srgbClr val="0000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6358128" y="3297936"/>
            <a:ext cx="265430" cy="265430"/>
          </a:xfrm>
          <a:custGeom>
            <a:avLst/>
            <a:gdLst/>
            <a:ahLst/>
            <a:cxnLst/>
            <a:rect l="l" t="t" r="r" b="b"/>
            <a:pathLst>
              <a:path w="265429" h="265429">
                <a:moveTo>
                  <a:pt x="0" y="0"/>
                </a:moveTo>
                <a:lnTo>
                  <a:pt x="0" y="265176"/>
                </a:lnTo>
                <a:lnTo>
                  <a:pt x="265176" y="131064"/>
                </a:lnTo>
                <a:lnTo>
                  <a:pt x="0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5361432" y="4288536"/>
            <a:ext cx="981710" cy="780415"/>
          </a:xfrm>
          <a:custGeom>
            <a:avLst/>
            <a:gdLst/>
            <a:ahLst/>
            <a:cxnLst/>
            <a:rect l="l" t="t" r="r" b="b"/>
            <a:pathLst>
              <a:path w="981710" h="780414">
                <a:moveTo>
                  <a:pt x="0" y="0"/>
                </a:moveTo>
                <a:lnTo>
                  <a:pt x="981455" y="780287"/>
                </a:lnTo>
              </a:path>
            </a:pathLst>
          </a:custGeom>
          <a:ln w="76199">
            <a:solidFill>
              <a:srgbClr val="0000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6254496" y="4959096"/>
            <a:ext cx="289560" cy="268605"/>
          </a:xfrm>
          <a:custGeom>
            <a:avLst/>
            <a:gdLst/>
            <a:ahLst/>
            <a:cxnLst/>
            <a:rect l="l" t="t" r="r" b="b"/>
            <a:pathLst>
              <a:path w="289559" h="268604">
                <a:moveTo>
                  <a:pt x="164592" y="0"/>
                </a:moveTo>
                <a:lnTo>
                  <a:pt x="0" y="207264"/>
                </a:lnTo>
                <a:lnTo>
                  <a:pt x="289560" y="268224"/>
                </a:lnTo>
                <a:lnTo>
                  <a:pt x="164592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 txBox="1"/>
          <p:nvPr/>
        </p:nvSpPr>
        <p:spPr>
          <a:xfrm>
            <a:off x="3416808" y="762000"/>
            <a:ext cx="2438400" cy="767715"/>
          </a:xfrm>
          <a:prstGeom prst="rect">
            <a:avLst/>
          </a:prstGeom>
          <a:solidFill>
            <a:srgbClr val="FF66CC"/>
          </a:solidFill>
          <a:ln w="9143">
            <a:solidFill>
              <a:srgbClr val="CCFF33"/>
            </a:solidFill>
          </a:ln>
        </p:spPr>
        <p:txBody>
          <a:bodyPr wrap="square" lIns="0" tIns="193040" rIns="0" bIns="0" rtlCol="0" vert="horz">
            <a:spAutoFit/>
          </a:bodyPr>
          <a:lstStyle/>
          <a:p>
            <a:pPr marL="508634">
              <a:lnSpc>
                <a:spcPct val="100000"/>
              </a:lnSpc>
              <a:spcBef>
                <a:spcPts val="1520"/>
              </a:spcBef>
            </a:pPr>
            <a:r>
              <a:rPr dirty="0" sz="2800" spc="5" b="1">
                <a:latin typeface="Microsoft JhengHei"/>
                <a:cs typeface="Microsoft JhengHei"/>
              </a:rPr>
              <a:t>规模</a:t>
            </a:r>
            <a:r>
              <a:rPr dirty="0" sz="2800" spc="-20" b="1">
                <a:latin typeface="Microsoft JhengHei"/>
                <a:cs typeface="Microsoft JhengHei"/>
              </a:rPr>
              <a:t>经</a:t>
            </a:r>
            <a:r>
              <a:rPr dirty="0" sz="2800" spc="5" b="1">
                <a:latin typeface="Microsoft JhengHei"/>
                <a:cs typeface="Microsoft JhengHei"/>
              </a:rPr>
              <a:t>济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353059" y="3065780"/>
            <a:ext cx="382270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5" b="1">
                <a:latin typeface="Microsoft JhengHei"/>
                <a:cs typeface="Microsoft JhengHei"/>
              </a:rPr>
              <a:t>加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2486660" y="3065780"/>
            <a:ext cx="382270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5" b="1">
                <a:latin typeface="Microsoft JhengHei"/>
                <a:cs typeface="Microsoft JhengHei"/>
              </a:rPr>
              <a:t>品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393191" y="2919984"/>
            <a:ext cx="2438400" cy="1155700"/>
          </a:xfrm>
          <a:prstGeom prst="rect">
            <a:avLst/>
          </a:prstGeom>
          <a:solidFill>
            <a:srgbClr val="FFFF99"/>
          </a:solidFill>
          <a:ln w="9143">
            <a:solidFill>
              <a:srgbClr val="CCFF33"/>
            </a:solidFill>
          </a:ln>
        </p:spPr>
        <p:txBody>
          <a:bodyPr wrap="square" lIns="0" tIns="156210" rIns="0" bIns="0" rtlCol="0" vert="horz">
            <a:spAutoFit/>
          </a:bodyPr>
          <a:lstStyle/>
          <a:p>
            <a:pPr marL="328930" marR="321310">
              <a:lnSpc>
                <a:spcPct val="100699"/>
              </a:lnSpc>
              <a:spcBef>
                <a:spcPts val="1230"/>
              </a:spcBef>
            </a:pPr>
            <a:r>
              <a:rPr dirty="0" sz="2800" spc="5" b="1">
                <a:latin typeface="Microsoft JhengHei"/>
                <a:cs typeface="Microsoft JhengHei"/>
              </a:rPr>
              <a:t>强或</a:t>
            </a:r>
            <a:r>
              <a:rPr dirty="0" sz="2800" spc="-20" b="1">
                <a:latin typeface="Microsoft JhengHei"/>
                <a:cs typeface="Microsoft JhengHei"/>
              </a:rPr>
              <a:t>提</a:t>
            </a:r>
            <a:r>
              <a:rPr dirty="0" sz="2800" spc="5" b="1">
                <a:latin typeface="Microsoft JhengHei"/>
                <a:cs typeface="Microsoft JhengHei"/>
              </a:rPr>
              <a:t>高产 和服务</a:t>
            </a:r>
            <a:r>
              <a:rPr dirty="0" sz="2800" spc="-20" b="1">
                <a:latin typeface="Microsoft JhengHei"/>
                <a:cs typeface="Microsoft JhengHei"/>
              </a:rPr>
              <a:t>质</a:t>
            </a:r>
            <a:r>
              <a:rPr dirty="0" sz="2800" spc="5" b="1">
                <a:latin typeface="Microsoft JhengHei"/>
                <a:cs typeface="Microsoft JhengHei"/>
              </a:rPr>
              <a:t>量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118" name="object 118"/>
          <p:cNvSpPr/>
          <p:nvPr/>
        </p:nvSpPr>
        <p:spPr>
          <a:xfrm>
            <a:off x="466344" y="4504944"/>
            <a:ext cx="2368550" cy="1152525"/>
          </a:xfrm>
          <a:custGeom>
            <a:avLst/>
            <a:gdLst/>
            <a:ahLst/>
            <a:cxnLst/>
            <a:rect l="l" t="t" r="r" b="b"/>
            <a:pathLst>
              <a:path w="2368550" h="1152525">
                <a:moveTo>
                  <a:pt x="0" y="0"/>
                </a:moveTo>
                <a:lnTo>
                  <a:pt x="0" y="1152144"/>
                </a:lnTo>
                <a:lnTo>
                  <a:pt x="2368296" y="1152144"/>
                </a:lnTo>
                <a:lnTo>
                  <a:pt x="2368296" y="0"/>
                </a:lnTo>
                <a:lnTo>
                  <a:pt x="0" y="0"/>
                </a:lnTo>
                <a:close/>
              </a:path>
            </a:pathLst>
          </a:custGeom>
          <a:solidFill>
            <a:srgbClr val="99C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466343" y="4504944"/>
            <a:ext cx="2368550" cy="1152525"/>
          </a:xfrm>
          <a:custGeom>
            <a:avLst/>
            <a:gdLst/>
            <a:ahLst/>
            <a:cxnLst/>
            <a:rect l="l" t="t" r="r" b="b"/>
            <a:pathLst>
              <a:path w="2368550" h="1152525">
                <a:moveTo>
                  <a:pt x="0" y="0"/>
                </a:moveTo>
                <a:lnTo>
                  <a:pt x="0" y="1152143"/>
                </a:lnTo>
                <a:lnTo>
                  <a:pt x="2368295" y="1152143"/>
                </a:lnTo>
                <a:lnTo>
                  <a:pt x="2368295" y="0"/>
                </a:lnTo>
                <a:lnTo>
                  <a:pt x="0" y="0"/>
                </a:lnTo>
              </a:path>
            </a:pathLst>
          </a:custGeom>
          <a:ln w="9143">
            <a:solidFill>
              <a:srgbClr val="CCFF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 txBox="1"/>
          <p:nvPr/>
        </p:nvSpPr>
        <p:spPr>
          <a:xfrm>
            <a:off x="569468" y="4650740"/>
            <a:ext cx="2162175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5" b="1">
                <a:latin typeface="Microsoft JhengHei"/>
                <a:cs typeface="Microsoft JhengHei"/>
              </a:rPr>
              <a:t>增加市</a:t>
            </a:r>
            <a:r>
              <a:rPr dirty="0" sz="2800" spc="-20" b="1">
                <a:latin typeface="Microsoft JhengHei"/>
                <a:cs typeface="Microsoft JhengHei"/>
              </a:rPr>
              <a:t>场</a:t>
            </a:r>
            <a:r>
              <a:rPr dirty="0" sz="2800" spc="5" b="1">
                <a:latin typeface="Microsoft JhengHei"/>
                <a:cs typeface="Microsoft JhengHei"/>
              </a:rPr>
              <a:t>份额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392684" y="5077460"/>
            <a:ext cx="2515870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5" b="1">
                <a:latin typeface="Microsoft JhengHei"/>
                <a:cs typeface="Microsoft JhengHei"/>
              </a:rPr>
              <a:t>或开辟</a:t>
            </a:r>
            <a:r>
              <a:rPr dirty="0" sz="2800" spc="-20" b="1">
                <a:latin typeface="Microsoft JhengHei"/>
                <a:cs typeface="Microsoft JhengHei"/>
              </a:rPr>
              <a:t>新</a:t>
            </a:r>
            <a:r>
              <a:rPr dirty="0" sz="2800" spc="5" b="1">
                <a:latin typeface="Microsoft JhengHei"/>
                <a:cs typeface="Microsoft JhengHei"/>
              </a:rPr>
              <a:t>的</a:t>
            </a:r>
            <a:r>
              <a:rPr dirty="0" sz="2800" spc="-20" b="1">
                <a:latin typeface="Microsoft JhengHei"/>
                <a:cs typeface="Microsoft JhengHei"/>
              </a:rPr>
              <a:t>市</a:t>
            </a:r>
            <a:r>
              <a:rPr dirty="0" sz="2800" spc="5" b="1">
                <a:latin typeface="Microsoft JhengHei"/>
                <a:cs typeface="Microsoft JhengHei"/>
              </a:rPr>
              <a:t>场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6583679" y="4504944"/>
            <a:ext cx="2091055" cy="1225550"/>
          </a:xfrm>
          <a:prstGeom prst="rect">
            <a:avLst/>
          </a:prstGeom>
          <a:solidFill>
            <a:srgbClr val="CCFF99"/>
          </a:solidFill>
          <a:ln w="9143">
            <a:solidFill>
              <a:srgbClr val="CCFF33"/>
            </a:solidFill>
          </a:ln>
        </p:spPr>
        <p:txBody>
          <a:bodyPr wrap="square" lIns="0" tIns="195580" rIns="0" bIns="0" rtlCol="0" vert="horz">
            <a:spAutoFit/>
          </a:bodyPr>
          <a:lstStyle/>
          <a:p>
            <a:pPr marL="158115" marR="147320" indent="176530">
              <a:lnSpc>
                <a:spcPct val="100000"/>
              </a:lnSpc>
              <a:spcBef>
                <a:spcPts val="1540"/>
              </a:spcBef>
            </a:pPr>
            <a:r>
              <a:rPr dirty="0" sz="2800" spc="5" b="1">
                <a:latin typeface="Microsoft JhengHei"/>
                <a:cs typeface="Microsoft JhengHei"/>
              </a:rPr>
              <a:t>获取新的 </a:t>
            </a:r>
            <a:r>
              <a:rPr dirty="0" sz="2800" spc="5" b="1">
                <a:latin typeface="Microsoft JhengHei"/>
                <a:cs typeface="Microsoft JhengHei"/>
              </a:rPr>
              <a:t>产品或</a:t>
            </a:r>
            <a:r>
              <a:rPr dirty="0" sz="2800" spc="-45" b="1">
                <a:latin typeface="Microsoft JhengHei"/>
                <a:cs typeface="Microsoft JhengHei"/>
              </a:rPr>
              <a:t>技</a:t>
            </a:r>
            <a:r>
              <a:rPr dirty="0" sz="2800" spc="5" b="1">
                <a:latin typeface="Microsoft JhengHei"/>
                <a:cs typeface="Microsoft JhengHei"/>
              </a:rPr>
              <a:t>术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123" name="object 123"/>
          <p:cNvSpPr/>
          <p:nvPr/>
        </p:nvSpPr>
        <p:spPr>
          <a:xfrm>
            <a:off x="3112007" y="2292096"/>
            <a:ext cx="847725" cy="701040"/>
          </a:xfrm>
          <a:custGeom>
            <a:avLst/>
            <a:gdLst/>
            <a:ahLst/>
            <a:cxnLst/>
            <a:rect l="l" t="t" r="r" b="b"/>
            <a:pathLst>
              <a:path w="847725" h="701039">
                <a:moveTo>
                  <a:pt x="847343" y="701039"/>
                </a:moveTo>
                <a:lnTo>
                  <a:pt x="0" y="0"/>
                </a:lnTo>
              </a:path>
            </a:pathLst>
          </a:custGeom>
          <a:ln w="76199">
            <a:solidFill>
              <a:srgbClr val="0000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2916936" y="2130552"/>
            <a:ext cx="289560" cy="274320"/>
          </a:xfrm>
          <a:custGeom>
            <a:avLst/>
            <a:gdLst/>
            <a:ahLst/>
            <a:cxnLst/>
            <a:rect l="l" t="t" r="r" b="b"/>
            <a:pathLst>
              <a:path w="289560" h="274319">
                <a:moveTo>
                  <a:pt x="0" y="0"/>
                </a:moveTo>
                <a:lnTo>
                  <a:pt x="118872" y="274320"/>
                </a:lnTo>
                <a:lnTo>
                  <a:pt x="289560" y="67056"/>
                </a:lnTo>
                <a:lnTo>
                  <a:pt x="0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3172967" y="3355848"/>
            <a:ext cx="506095" cy="0"/>
          </a:xfrm>
          <a:custGeom>
            <a:avLst/>
            <a:gdLst/>
            <a:ahLst/>
            <a:cxnLst/>
            <a:rect l="l" t="t" r="r" b="b"/>
            <a:pathLst>
              <a:path w="506095" h="0">
                <a:moveTo>
                  <a:pt x="50596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0000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2916936" y="3224784"/>
            <a:ext cx="265430" cy="265430"/>
          </a:xfrm>
          <a:custGeom>
            <a:avLst/>
            <a:gdLst/>
            <a:ahLst/>
            <a:cxnLst/>
            <a:rect l="l" t="t" r="r" b="b"/>
            <a:pathLst>
              <a:path w="265430" h="265429">
                <a:moveTo>
                  <a:pt x="265176" y="0"/>
                </a:moveTo>
                <a:lnTo>
                  <a:pt x="0" y="131064"/>
                </a:lnTo>
                <a:lnTo>
                  <a:pt x="265176" y="265176"/>
                </a:lnTo>
                <a:lnTo>
                  <a:pt x="265176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3011423" y="4072128"/>
            <a:ext cx="805180" cy="890269"/>
          </a:xfrm>
          <a:custGeom>
            <a:avLst/>
            <a:gdLst/>
            <a:ahLst/>
            <a:cxnLst/>
            <a:rect l="l" t="t" r="r" b="b"/>
            <a:pathLst>
              <a:path w="805179" h="890270">
                <a:moveTo>
                  <a:pt x="804671" y="0"/>
                </a:moveTo>
                <a:lnTo>
                  <a:pt x="0" y="890015"/>
                </a:lnTo>
              </a:path>
            </a:pathLst>
          </a:custGeom>
          <a:ln w="76199">
            <a:solidFill>
              <a:srgbClr val="0000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2843784" y="4867656"/>
            <a:ext cx="274320" cy="287020"/>
          </a:xfrm>
          <a:custGeom>
            <a:avLst/>
            <a:gdLst/>
            <a:ahLst/>
            <a:cxnLst/>
            <a:rect l="l" t="t" r="r" b="b"/>
            <a:pathLst>
              <a:path w="274319" h="287020">
                <a:moveTo>
                  <a:pt x="76200" y="0"/>
                </a:moveTo>
                <a:lnTo>
                  <a:pt x="0" y="286512"/>
                </a:lnTo>
                <a:lnTo>
                  <a:pt x="274320" y="176784"/>
                </a:lnTo>
                <a:lnTo>
                  <a:pt x="76200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 txBox="1"/>
          <p:nvPr/>
        </p:nvSpPr>
        <p:spPr>
          <a:xfrm>
            <a:off x="3550411" y="5663642"/>
            <a:ext cx="2515870" cy="4743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50" spc="-150" b="1">
                <a:solidFill>
                  <a:srgbClr val="66FFFF"/>
                </a:solidFill>
                <a:latin typeface="Microsoft JhengHei"/>
                <a:cs typeface="Microsoft JhengHei"/>
              </a:rPr>
              <a:t>并购的</a:t>
            </a:r>
            <a:r>
              <a:rPr dirty="0" sz="2950" spc="-170" b="1">
                <a:solidFill>
                  <a:srgbClr val="66FFFF"/>
                </a:solidFill>
                <a:latin typeface="Microsoft JhengHei"/>
                <a:cs typeface="Microsoft JhengHei"/>
              </a:rPr>
              <a:t>战</a:t>
            </a:r>
            <a:r>
              <a:rPr dirty="0" sz="2950" spc="-150" b="1">
                <a:solidFill>
                  <a:srgbClr val="66FFFF"/>
                </a:solidFill>
                <a:latin typeface="Microsoft JhengHei"/>
                <a:cs typeface="Microsoft JhengHei"/>
              </a:rPr>
              <a:t>略目</a:t>
            </a:r>
            <a:r>
              <a:rPr dirty="0" sz="2950" spc="-170" b="1">
                <a:solidFill>
                  <a:srgbClr val="66FFFF"/>
                </a:solidFill>
                <a:latin typeface="Microsoft JhengHei"/>
                <a:cs typeface="Microsoft JhengHei"/>
              </a:rPr>
              <a:t>标</a:t>
            </a:r>
            <a:endParaRPr sz="295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"/>
            <a:ext cx="9137902" cy="68518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3528" y="42672"/>
            <a:ext cx="2157984" cy="4328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40207" y="185928"/>
            <a:ext cx="8857615" cy="6553200"/>
          </a:xfrm>
          <a:custGeom>
            <a:avLst/>
            <a:gdLst/>
            <a:ahLst/>
            <a:cxnLst/>
            <a:rect l="l" t="t" r="r" b="b"/>
            <a:pathLst>
              <a:path w="8857615" h="6553200">
                <a:moveTo>
                  <a:pt x="0" y="0"/>
                </a:moveTo>
                <a:lnTo>
                  <a:pt x="0" y="6553199"/>
                </a:lnTo>
                <a:lnTo>
                  <a:pt x="8857487" y="6553199"/>
                </a:lnTo>
                <a:lnTo>
                  <a:pt x="8857487" y="0"/>
                </a:lnTo>
                <a:lnTo>
                  <a:pt x="0" y="0"/>
                </a:lnTo>
              </a:path>
            </a:pathLst>
          </a:custGeom>
          <a:ln w="18287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937504" y="1412748"/>
            <a:ext cx="3039110" cy="0"/>
          </a:xfrm>
          <a:custGeom>
            <a:avLst/>
            <a:gdLst/>
            <a:ahLst/>
            <a:cxnLst/>
            <a:rect l="l" t="t" r="r" b="b"/>
            <a:pathLst>
              <a:path w="3039109" h="0">
                <a:moveTo>
                  <a:pt x="0" y="0"/>
                </a:moveTo>
                <a:lnTo>
                  <a:pt x="3038856" y="0"/>
                </a:lnTo>
              </a:path>
            </a:pathLst>
          </a:custGeom>
          <a:ln w="3175">
            <a:solidFill>
              <a:srgbClr val="0909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1920" y="1412748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0909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937504" y="1415796"/>
            <a:ext cx="3039110" cy="0"/>
          </a:xfrm>
          <a:custGeom>
            <a:avLst/>
            <a:gdLst/>
            <a:ahLst/>
            <a:cxnLst/>
            <a:rect l="l" t="t" r="r" b="b"/>
            <a:pathLst>
              <a:path w="3039109" h="0">
                <a:moveTo>
                  <a:pt x="0" y="0"/>
                </a:moveTo>
                <a:lnTo>
                  <a:pt x="3038856" y="0"/>
                </a:lnTo>
              </a:path>
            </a:pathLst>
          </a:custGeom>
          <a:ln w="3175">
            <a:solidFill>
              <a:srgbClr val="1212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1920" y="1415796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1212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937504" y="1418844"/>
            <a:ext cx="3039110" cy="0"/>
          </a:xfrm>
          <a:custGeom>
            <a:avLst/>
            <a:gdLst/>
            <a:ahLst/>
            <a:cxnLst/>
            <a:rect l="l" t="t" r="r" b="b"/>
            <a:pathLst>
              <a:path w="3039109" h="0">
                <a:moveTo>
                  <a:pt x="0" y="0"/>
                </a:moveTo>
                <a:lnTo>
                  <a:pt x="3038856" y="0"/>
                </a:lnTo>
              </a:path>
            </a:pathLst>
          </a:custGeom>
          <a:ln w="3175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1920" y="1418844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937504" y="1421892"/>
            <a:ext cx="3039110" cy="0"/>
          </a:xfrm>
          <a:custGeom>
            <a:avLst/>
            <a:gdLst/>
            <a:ahLst/>
            <a:cxnLst/>
            <a:rect l="l" t="t" r="r" b="b"/>
            <a:pathLst>
              <a:path w="3039109" h="0">
                <a:moveTo>
                  <a:pt x="0" y="0"/>
                </a:moveTo>
                <a:lnTo>
                  <a:pt x="3038856" y="0"/>
                </a:lnTo>
              </a:path>
            </a:pathLst>
          </a:custGeom>
          <a:ln w="3175">
            <a:solidFill>
              <a:srgbClr val="2020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21920" y="1421892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2020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937504" y="1424940"/>
            <a:ext cx="3039110" cy="0"/>
          </a:xfrm>
          <a:custGeom>
            <a:avLst/>
            <a:gdLst/>
            <a:ahLst/>
            <a:cxnLst/>
            <a:rect l="l" t="t" r="r" b="b"/>
            <a:pathLst>
              <a:path w="3039109" h="0">
                <a:moveTo>
                  <a:pt x="0" y="0"/>
                </a:moveTo>
                <a:lnTo>
                  <a:pt x="3038856" y="0"/>
                </a:lnTo>
              </a:path>
            </a:pathLst>
          </a:custGeom>
          <a:ln w="3175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21920" y="1424940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937504" y="1427988"/>
            <a:ext cx="3039110" cy="0"/>
          </a:xfrm>
          <a:custGeom>
            <a:avLst/>
            <a:gdLst/>
            <a:ahLst/>
            <a:cxnLst/>
            <a:rect l="l" t="t" r="r" b="b"/>
            <a:pathLst>
              <a:path w="3039109" h="0">
                <a:moveTo>
                  <a:pt x="0" y="0"/>
                </a:moveTo>
                <a:lnTo>
                  <a:pt x="3038856" y="0"/>
                </a:lnTo>
              </a:path>
            </a:pathLst>
          </a:custGeom>
          <a:ln w="3175">
            <a:solidFill>
              <a:srgbClr val="2A2A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21920" y="1427988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2A2A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937504" y="1431036"/>
            <a:ext cx="3039110" cy="0"/>
          </a:xfrm>
          <a:custGeom>
            <a:avLst/>
            <a:gdLst/>
            <a:ahLst/>
            <a:cxnLst/>
            <a:rect l="l" t="t" r="r" b="b"/>
            <a:pathLst>
              <a:path w="3039109" h="0">
                <a:moveTo>
                  <a:pt x="0" y="0"/>
                </a:moveTo>
                <a:lnTo>
                  <a:pt x="3038856" y="0"/>
                </a:lnTo>
              </a:path>
            </a:pathLst>
          </a:custGeom>
          <a:ln w="3175">
            <a:solidFill>
              <a:srgbClr val="3131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21920" y="1431036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3131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937504" y="1434084"/>
            <a:ext cx="3039110" cy="0"/>
          </a:xfrm>
          <a:custGeom>
            <a:avLst/>
            <a:gdLst/>
            <a:ahLst/>
            <a:cxnLst/>
            <a:rect l="l" t="t" r="r" b="b"/>
            <a:pathLst>
              <a:path w="3039109" h="0">
                <a:moveTo>
                  <a:pt x="0" y="0"/>
                </a:moveTo>
                <a:lnTo>
                  <a:pt x="3038856" y="0"/>
                </a:lnTo>
              </a:path>
            </a:pathLst>
          </a:custGeom>
          <a:ln w="3175">
            <a:solidFill>
              <a:srgbClr val="36363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21920" y="1434084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36363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937504" y="1437132"/>
            <a:ext cx="3039110" cy="0"/>
          </a:xfrm>
          <a:custGeom>
            <a:avLst/>
            <a:gdLst/>
            <a:ahLst/>
            <a:cxnLst/>
            <a:rect l="l" t="t" r="r" b="b"/>
            <a:pathLst>
              <a:path w="3039109" h="0">
                <a:moveTo>
                  <a:pt x="0" y="0"/>
                </a:moveTo>
                <a:lnTo>
                  <a:pt x="3038856" y="0"/>
                </a:lnTo>
              </a:path>
            </a:pathLst>
          </a:custGeom>
          <a:ln w="3175">
            <a:solidFill>
              <a:srgbClr val="3C3C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21920" y="1437132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3C3C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937504" y="1440180"/>
            <a:ext cx="3039110" cy="0"/>
          </a:xfrm>
          <a:custGeom>
            <a:avLst/>
            <a:gdLst/>
            <a:ahLst/>
            <a:cxnLst/>
            <a:rect l="l" t="t" r="r" b="b"/>
            <a:pathLst>
              <a:path w="3039109" h="0">
                <a:moveTo>
                  <a:pt x="0" y="0"/>
                </a:moveTo>
                <a:lnTo>
                  <a:pt x="3038856" y="0"/>
                </a:lnTo>
              </a:path>
            </a:pathLst>
          </a:custGeom>
          <a:ln w="3175">
            <a:solidFill>
              <a:srgbClr val="41414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21920" y="1440180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41414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937504" y="1443228"/>
            <a:ext cx="3039110" cy="0"/>
          </a:xfrm>
          <a:custGeom>
            <a:avLst/>
            <a:gdLst/>
            <a:ahLst/>
            <a:cxnLst/>
            <a:rect l="l" t="t" r="r" b="b"/>
            <a:pathLst>
              <a:path w="3039109" h="0">
                <a:moveTo>
                  <a:pt x="0" y="0"/>
                </a:moveTo>
                <a:lnTo>
                  <a:pt x="3038856" y="0"/>
                </a:lnTo>
              </a:path>
            </a:pathLst>
          </a:custGeom>
          <a:ln w="3175">
            <a:solidFill>
              <a:srgbClr val="49494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21920" y="1443228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49494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937504" y="1446276"/>
            <a:ext cx="3039110" cy="0"/>
          </a:xfrm>
          <a:custGeom>
            <a:avLst/>
            <a:gdLst/>
            <a:ahLst/>
            <a:cxnLst/>
            <a:rect l="l" t="t" r="r" b="b"/>
            <a:pathLst>
              <a:path w="3039109" h="0">
                <a:moveTo>
                  <a:pt x="0" y="0"/>
                </a:moveTo>
                <a:lnTo>
                  <a:pt x="3038856" y="0"/>
                </a:lnTo>
              </a:path>
            </a:pathLst>
          </a:custGeom>
          <a:ln w="3175">
            <a:solidFill>
              <a:srgbClr val="4E4E4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21920" y="1446276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4E4E4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937504" y="1449324"/>
            <a:ext cx="3039110" cy="0"/>
          </a:xfrm>
          <a:custGeom>
            <a:avLst/>
            <a:gdLst/>
            <a:ahLst/>
            <a:cxnLst/>
            <a:rect l="l" t="t" r="r" b="b"/>
            <a:pathLst>
              <a:path w="3039109" h="0">
                <a:moveTo>
                  <a:pt x="0" y="0"/>
                </a:moveTo>
                <a:lnTo>
                  <a:pt x="3038856" y="0"/>
                </a:lnTo>
              </a:path>
            </a:pathLst>
          </a:custGeom>
          <a:ln w="3175">
            <a:solidFill>
              <a:srgbClr val="5454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21920" y="1449324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5454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937504" y="1452372"/>
            <a:ext cx="3039110" cy="0"/>
          </a:xfrm>
          <a:custGeom>
            <a:avLst/>
            <a:gdLst/>
            <a:ahLst/>
            <a:cxnLst/>
            <a:rect l="l" t="t" r="r" b="b"/>
            <a:pathLst>
              <a:path w="3039109" h="0">
                <a:moveTo>
                  <a:pt x="0" y="0"/>
                </a:moveTo>
                <a:lnTo>
                  <a:pt x="3038856" y="0"/>
                </a:lnTo>
              </a:path>
            </a:pathLst>
          </a:custGeom>
          <a:ln w="3175">
            <a:solidFill>
              <a:srgbClr val="5B5B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21920" y="1452372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5B5B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937504" y="1455420"/>
            <a:ext cx="3039110" cy="0"/>
          </a:xfrm>
          <a:custGeom>
            <a:avLst/>
            <a:gdLst/>
            <a:ahLst/>
            <a:cxnLst/>
            <a:rect l="l" t="t" r="r" b="b"/>
            <a:pathLst>
              <a:path w="3039109" h="0">
                <a:moveTo>
                  <a:pt x="0" y="0"/>
                </a:moveTo>
                <a:lnTo>
                  <a:pt x="3038856" y="0"/>
                </a:lnTo>
              </a:path>
            </a:pathLst>
          </a:custGeom>
          <a:ln w="3175">
            <a:solidFill>
              <a:srgbClr val="61616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21920" y="1455420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61616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937504" y="1458468"/>
            <a:ext cx="3039110" cy="0"/>
          </a:xfrm>
          <a:custGeom>
            <a:avLst/>
            <a:gdLst/>
            <a:ahLst/>
            <a:cxnLst/>
            <a:rect l="l" t="t" r="r" b="b"/>
            <a:pathLst>
              <a:path w="3039109" h="0">
                <a:moveTo>
                  <a:pt x="0" y="0"/>
                </a:moveTo>
                <a:lnTo>
                  <a:pt x="3038856" y="0"/>
                </a:lnTo>
              </a:path>
            </a:pathLst>
          </a:custGeom>
          <a:ln w="3175">
            <a:solidFill>
              <a:srgbClr val="6767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21920" y="1458468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6767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937504" y="1461516"/>
            <a:ext cx="3039110" cy="0"/>
          </a:xfrm>
          <a:custGeom>
            <a:avLst/>
            <a:gdLst/>
            <a:ahLst/>
            <a:cxnLst/>
            <a:rect l="l" t="t" r="r" b="b"/>
            <a:pathLst>
              <a:path w="3039109" h="0">
                <a:moveTo>
                  <a:pt x="0" y="0"/>
                </a:moveTo>
                <a:lnTo>
                  <a:pt x="3038856" y="0"/>
                </a:lnTo>
              </a:path>
            </a:pathLst>
          </a:custGeom>
          <a:ln w="3175">
            <a:solidFill>
              <a:srgbClr val="6E6E6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21920" y="1461516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6E6E6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937504" y="1464564"/>
            <a:ext cx="3039110" cy="0"/>
          </a:xfrm>
          <a:custGeom>
            <a:avLst/>
            <a:gdLst/>
            <a:ahLst/>
            <a:cxnLst/>
            <a:rect l="l" t="t" r="r" b="b"/>
            <a:pathLst>
              <a:path w="3039109" h="0">
                <a:moveTo>
                  <a:pt x="0" y="0"/>
                </a:moveTo>
                <a:lnTo>
                  <a:pt x="3038856" y="0"/>
                </a:lnTo>
              </a:path>
            </a:pathLst>
          </a:custGeom>
          <a:ln w="3175">
            <a:solidFill>
              <a:srgbClr val="7373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21920" y="1464564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7373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937504" y="1467612"/>
            <a:ext cx="3039110" cy="0"/>
          </a:xfrm>
          <a:custGeom>
            <a:avLst/>
            <a:gdLst/>
            <a:ahLst/>
            <a:cxnLst/>
            <a:rect l="l" t="t" r="r" b="b"/>
            <a:pathLst>
              <a:path w="3039109" h="0">
                <a:moveTo>
                  <a:pt x="0" y="0"/>
                </a:moveTo>
                <a:lnTo>
                  <a:pt x="3038856" y="0"/>
                </a:lnTo>
              </a:path>
            </a:pathLst>
          </a:custGeom>
          <a:ln w="3175">
            <a:solidFill>
              <a:srgbClr val="7979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21920" y="1467612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7979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937504" y="1470660"/>
            <a:ext cx="3039110" cy="0"/>
          </a:xfrm>
          <a:custGeom>
            <a:avLst/>
            <a:gdLst/>
            <a:ahLst/>
            <a:cxnLst/>
            <a:rect l="l" t="t" r="r" b="b"/>
            <a:pathLst>
              <a:path w="3039109" h="0">
                <a:moveTo>
                  <a:pt x="0" y="0"/>
                </a:moveTo>
                <a:lnTo>
                  <a:pt x="3038856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21920" y="1470660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5937504" y="1473708"/>
            <a:ext cx="3039110" cy="0"/>
          </a:xfrm>
          <a:custGeom>
            <a:avLst/>
            <a:gdLst/>
            <a:ahLst/>
            <a:cxnLst/>
            <a:rect l="l" t="t" r="r" b="b"/>
            <a:pathLst>
              <a:path w="3039109" h="0">
                <a:moveTo>
                  <a:pt x="0" y="0"/>
                </a:moveTo>
                <a:lnTo>
                  <a:pt x="3038856" y="0"/>
                </a:lnTo>
              </a:path>
            </a:pathLst>
          </a:custGeom>
          <a:ln w="3175">
            <a:solidFill>
              <a:srgbClr val="86868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21920" y="1473708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86868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937504" y="1476756"/>
            <a:ext cx="3039110" cy="0"/>
          </a:xfrm>
          <a:custGeom>
            <a:avLst/>
            <a:gdLst/>
            <a:ahLst/>
            <a:cxnLst/>
            <a:rect l="l" t="t" r="r" b="b"/>
            <a:pathLst>
              <a:path w="3039109" h="0">
                <a:moveTo>
                  <a:pt x="0" y="0"/>
                </a:moveTo>
                <a:lnTo>
                  <a:pt x="3038856" y="0"/>
                </a:lnTo>
              </a:path>
            </a:pathLst>
          </a:custGeom>
          <a:ln w="3175">
            <a:solidFill>
              <a:srgbClr val="8C8C8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21920" y="1476756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8C8C8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5937504" y="1479804"/>
            <a:ext cx="3039110" cy="0"/>
          </a:xfrm>
          <a:custGeom>
            <a:avLst/>
            <a:gdLst/>
            <a:ahLst/>
            <a:cxnLst/>
            <a:rect l="l" t="t" r="r" b="b"/>
            <a:pathLst>
              <a:path w="3039109" h="0">
                <a:moveTo>
                  <a:pt x="0" y="0"/>
                </a:moveTo>
                <a:lnTo>
                  <a:pt x="3038856" y="0"/>
                </a:lnTo>
              </a:path>
            </a:pathLst>
          </a:custGeom>
          <a:ln w="3175">
            <a:solidFill>
              <a:srgbClr val="91919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21920" y="1479804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91919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937504" y="1482852"/>
            <a:ext cx="3039110" cy="0"/>
          </a:xfrm>
          <a:custGeom>
            <a:avLst/>
            <a:gdLst/>
            <a:ahLst/>
            <a:cxnLst/>
            <a:rect l="l" t="t" r="r" b="b"/>
            <a:pathLst>
              <a:path w="3039109" h="0">
                <a:moveTo>
                  <a:pt x="0" y="0"/>
                </a:moveTo>
                <a:lnTo>
                  <a:pt x="3038856" y="0"/>
                </a:lnTo>
              </a:path>
            </a:pathLst>
          </a:custGeom>
          <a:ln w="3175">
            <a:solidFill>
              <a:srgbClr val="98989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21920" y="1482852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98989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5937504" y="1485900"/>
            <a:ext cx="3039110" cy="0"/>
          </a:xfrm>
          <a:custGeom>
            <a:avLst/>
            <a:gdLst/>
            <a:ahLst/>
            <a:cxnLst/>
            <a:rect l="l" t="t" r="r" b="b"/>
            <a:pathLst>
              <a:path w="3039109" h="0">
                <a:moveTo>
                  <a:pt x="0" y="0"/>
                </a:moveTo>
                <a:lnTo>
                  <a:pt x="3038856" y="0"/>
                </a:lnTo>
              </a:path>
            </a:pathLst>
          </a:custGeom>
          <a:ln w="3175">
            <a:solidFill>
              <a:srgbClr val="9D9D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21920" y="1485900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9D9D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5937504" y="1488948"/>
            <a:ext cx="3039110" cy="0"/>
          </a:xfrm>
          <a:custGeom>
            <a:avLst/>
            <a:gdLst/>
            <a:ahLst/>
            <a:cxnLst/>
            <a:rect l="l" t="t" r="r" b="b"/>
            <a:pathLst>
              <a:path w="3039109" h="0">
                <a:moveTo>
                  <a:pt x="0" y="0"/>
                </a:moveTo>
                <a:lnTo>
                  <a:pt x="3038856" y="0"/>
                </a:lnTo>
              </a:path>
            </a:pathLst>
          </a:custGeom>
          <a:ln w="3175">
            <a:solidFill>
              <a:srgbClr val="A2A2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21920" y="1488948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A2A2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5937504" y="1491996"/>
            <a:ext cx="3039110" cy="0"/>
          </a:xfrm>
          <a:custGeom>
            <a:avLst/>
            <a:gdLst/>
            <a:ahLst/>
            <a:cxnLst/>
            <a:rect l="l" t="t" r="r" b="b"/>
            <a:pathLst>
              <a:path w="3039109" h="0">
                <a:moveTo>
                  <a:pt x="0" y="0"/>
                </a:moveTo>
                <a:lnTo>
                  <a:pt x="3038856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21920" y="1491996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5937504" y="1495044"/>
            <a:ext cx="3039110" cy="0"/>
          </a:xfrm>
          <a:custGeom>
            <a:avLst/>
            <a:gdLst/>
            <a:ahLst/>
            <a:cxnLst/>
            <a:rect l="l" t="t" r="r" b="b"/>
            <a:pathLst>
              <a:path w="3039109" h="0">
                <a:moveTo>
                  <a:pt x="0" y="0"/>
                </a:moveTo>
                <a:lnTo>
                  <a:pt x="3038856" y="0"/>
                </a:lnTo>
              </a:path>
            </a:pathLst>
          </a:custGeom>
          <a:ln w="3175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21920" y="1495044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5937504" y="1498092"/>
            <a:ext cx="3039110" cy="0"/>
          </a:xfrm>
          <a:custGeom>
            <a:avLst/>
            <a:gdLst/>
            <a:ahLst/>
            <a:cxnLst/>
            <a:rect l="l" t="t" r="r" b="b"/>
            <a:pathLst>
              <a:path w="3039109" h="0">
                <a:moveTo>
                  <a:pt x="0" y="0"/>
                </a:moveTo>
                <a:lnTo>
                  <a:pt x="3038856" y="0"/>
                </a:lnTo>
              </a:path>
            </a:pathLst>
          </a:custGeom>
          <a:ln w="3175">
            <a:solidFill>
              <a:srgbClr val="B0B0B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121920" y="1498092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B0B0B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5937504" y="1501140"/>
            <a:ext cx="3039110" cy="0"/>
          </a:xfrm>
          <a:custGeom>
            <a:avLst/>
            <a:gdLst/>
            <a:ahLst/>
            <a:cxnLst/>
            <a:rect l="l" t="t" r="r" b="b"/>
            <a:pathLst>
              <a:path w="3039109" h="0">
                <a:moveTo>
                  <a:pt x="0" y="0"/>
                </a:moveTo>
                <a:lnTo>
                  <a:pt x="3038856" y="0"/>
                </a:lnTo>
              </a:path>
            </a:pathLst>
          </a:custGeom>
          <a:ln w="3175">
            <a:solidFill>
              <a:srgbClr val="B4B4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121920" y="1501140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B4B4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5937504" y="1504188"/>
            <a:ext cx="3039110" cy="0"/>
          </a:xfrm>
          <a:custGeom>
            <a:avLst/>
            <a:gdLst/>
            <a:ahLst/>
            <a:cxnLst/>
            <a:rect l="l" t="t" r="r" b="b"/>
            <a:pathLst>
              <a:path w="3039109" h="0">
                <a:moveTo>
                  <a:pt x="0" y="0"/>
                </a:moveTo>
                <a:lnTo>
                  <a:pt x="3038856" y="0"/>
                </a:lnTo>
              </a:path>
            </a:pathLst>
          </a:custGeom>
          <a:ln w="3175">
            <a:solidFill>
              <a:srgbClr val="B8B8B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121920" y="1504188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B8B8B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5937504" y="1507236"/>
            <a:ext cx="3039110" cy="0"/>
          </a:xfrm>
          <a:custGeom>
            <a:avLst/>
            <a:gdLst/>
            <a:ahLst/>
            <a:cxnLst/>
            <a:rect l="l" t="t" r="r" b="b"/>
            <a:pathLst>
              <a:path w="3039109" h="0">
                <a:moveTo>
                  <a:pt x="0" y="0"/>
                </a:moveTo>
                <a:lnTo>
                  <a:pt x="3038856" y="0"/>
                </a:lnTo>
              </a:path>
            </a:pathLst>
          </a:custGeom>
          <a:ln w="3175">
            <a:solidFill>
              <a:srgbClr val="BABA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21920" y="1507236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BABA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5937504" y="1510284"/>
            <a:ext cx="3039110" cy="0"/>
          </a:xfrm>
          <a:custGeom>
            <a:avLst/>
            <a:gdLst/>
            <a:ahLst/>
            <a:cxnLst/>
            <a:rect l="l" t="t" r="r" b="b"/>
            <a:pathLst>
              <a:path w="3039109" h="0">
                <a:moveTo>
                  <a:pt x="0" y="0"/>
                </a:moveTo>
                <a:lnTo>
                  <a:pt x="3038856" y="0"/>
                </a:lnTo>
              </a:path>
            </a:pathLst>
          </a:custGeom>
          <a:ln w="3175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21920" y="1510284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5937504" y="1513332"/>
            <a:ext cx="3039110" cy="0"/>
          </a:xfrm>
          <a:custGeom>
            <a:avLst/>
            <a:gdLst/>
            <a:ahLst/>
            <a:cxnLst/>
            <a:rect l="l" t="t" r="r" b="b"/>
            <a:pathLst>
              <a:path w="3039109" h="0">
                <a:moveTo>
                  <a:pt x="0" y="0"/>
                </a:moveTo>
                <a:lnTo>
                  <a:pt x="3038856" y="0"/>
                </a:lnTo>
              </a:path>
            </a:pathLst>
          </a:custGeom>
          <a:ln w="3175">
            <a:solidFill>
              <a:srgbClr val="C2C2C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121920" y="1513332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C2C2C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5937504" y="1516380"/>
            <a:ext cx="3039110" cy="0"/>
          </a:xfrm>
          <a:custGeom>
            <a:avLst/>
            <a:gdLst/>
            <a:ahLst/>
            <a:cxnLst/>
            <a:rect l="l" t="t" r="r" b="b"/>
            <a:pathLst>
              <a:path w="3039109" h="0">
                <a:moveTo>
                  <a:pt x="0" y="0"/>
                </a:moveTo>
                <a:lnTo>
                  <a:pt x="3038856" y="0"/>
                </a:lnTo>
              </a:path>
            </a:pathLst>
          </a:custGeom>
          <a:ln w="3175">
            <a:solidFill>
              <a:srgbClr val="C4C4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121920" y="1516380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C4C4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5937504" y="1519428"/>
            <a:ext cx="3039110" cy="0"/>
          </a:xfrm>
          <a:custGeom>
            <a:avLst/>
            <a:gdLst/>
            <a:ahLst/>
            <a:cxnLst/>
            <a:rect l="l" t="t" r="r" b="b"/>
            <a:pathLst>
              <a:path w="3039109" h="0">
                <a:moveTo>
                  <a:pt x="0" y="0"/>
                </a:moveTo>
                <a:lnTo>
                  <a:pt x="3038856" y="0"/>
                </a:lnTo>
              </a:path>
            </a:pathLst>
          </a:custGeom>
          <a:ln w="3175">
            <a:solidFill>
              <a:srgbClr val="C7C7C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21920" y="1519428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C7C7C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5937504" y="1522476"/>
            <a:ext cx="3039110" cy="0"/>
          </a:xfrm>
          <a:custGeom>
            <a:avLst/>
            <a:gdLst/>
            <a:ahLst/>
            <a:cxnLst/>
            <a:rect l="l" t="t" r="r" b="b"/>
            <a:pathLst>
              <a:path w="3039109" h="0">
                <a:moveTo>
                  <a:pt x="0" y="0"/>
                </a:moveTo>
                <a:lnTo>
                  <a:pt x="3038856" y="0"/>
                </a:lnTo>
              </a:path>
            </a:pathLst>
          </a:custGeom>
          <a:ln w="3175">
            <a:solidFill>
              <a:srgbClr val="CACAC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121920" y="1522476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CACAC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5937504" y="1525524"/>
            <a:ext cx="3039110" cy="0"/>
          </a:xfrm>
          <a:custGeom>
            <a:avLst/>
            <a:gdLst/>
            <a:ahLst/>
            <a:cxnLst/>
            <a:rect l="l" t="t" r="r" b="b"/>
            <a:pathLst>
              <a:path w="3039109" h="0">
                <a:moveTo>
                  <a:pt x="0" y="0"/>
                </a:moveTo>
                <a:lnTo>
                  <a:pt x="3038856" y="0"/>
                </a:lnTo>
              </a:path>
            </a:pathLst>
          </a:custGeom>
          <a:ln w="3175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121920" y="1525524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5937504" y="1528572"/>
            <a:ext cx="3039110" cy="0"/>
          </a:xfrm>
          <a:custGeom>
            <a:avLst/>
            <a:gdLst/>
            <a:ahLst/>
            <a:cxnLst/>
            <a:rect l="l" t="t" r="r" b="b"/>
            <a:pathLst>
              <a:path w="3039109" h="0">
                <a:moveTo>
                  <a:pt x="0" y="0"/>
                </a:moveTo>
                <a:lnTo>
                  <a:pt x="3038856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21920" y="1528572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5937504" y="1531620"/>
            <a:ext cx="3039110" cy="0"/>
          </a:xfrm>
          <a:custGeom>
            <a:avLst/>
            <a:gdLst/>
            <a:ahLst/>
            <a:cxnLst/>
            <a:rect l="l" t="t" r="r" b="b"/>
            <a:pathLst>
              <a:path w="3039109" h="0">
                <a:moveTo>
                  <a:pt x="0" y="0"/>
                </a:moveTo>
                <a:lnTo>
                  <a:pt x="3038856" y="0"/>
                </a:lnTo>
              </a:path>
            </a:pathLst>
          </a:custGeom>
          <a:ln w="3175">
            <a:solidFill>
              <a:srgbClr val="CFCF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121920" y="1531620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CFCF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5937504" y="1534668"/>
            <a:ext cx="3039110" cy="0"/>
          </a:xfrm>
          <a:custGeom>
            <a:avLst/>
            <a:gdLst/>
            <a:ahLst/>
            <a:cxnLst/>
            <a:rect l="l" t="t" r="r" b="b"/>
            <a:pathLst>
              <a:path w="3039109" h="0">
                <a:moveTo>
                  <a:pt x="0" y="0"/>
                </a:moveTo>
                <a:lnTo>
                  <a:pt x="3038856" y="0"/>
                </a:lnTo>
              </a:path>
            </a:pathLst>
          </a:custGeom>
          <a:ln w="3175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121920" y="1534668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5937504" y="1537716"/>
            <a:ext cx="3039110" cy="0"/>
          </a:xfrm>
          <a:custGeom>
            <a:avLst/>
            <a:gdLst/>
            <a:ahLst/>
            <a:cxnLst/>
            <a:rect l="l" t="t" r="r" b="b"/>
            <a:pathLst>
              <a:path w="3039109" h="0">
                <a:moveTo>
                  <a:pt x="0" y="0"/>
                </a:moveTo>
                <a:lnTo>
                  <a:pt x="3038856" y="0"/>
                </a:lnTo>
              </a:path>
            </a:pathLst>
          </a:custGeom>
          <a:ln w="3175">
            <a:solidFill>
              <a:srgbClr val="D1D1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121920" y="1537716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D1D1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5937504" y="1540764"/>
            <a:ext cx="3039110" cy="0"/>
          </a:xfrm>
          <a:custGeom>
            <a:avLst/>
            <a:gdLst/>
            <a:ahLst/>
            <a:cxnLst/>
            <a:rect l="l" t="t" r="r" b="b"/>
            <a:pathLst>
              <a:path w="3039109" h="0">
                <a:moveTo>
                  <a:pt x="0" y="0"/>
                </a:moveTo>
                <a:lnTo>
                  <a:pt x="3038856" y="0"/>
                </a:lnTo>
              </a:path>
            </a:pathLst>
          </a:custGeom>
          <a:ln w="3175">
            <a:solidFill>
              <a:srgbClr val="D3D3D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121920" y="1540764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D3D3D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5937504" y="1543812"/>
            <a:ext cx="3039110" cy="0"/>
          </a:xfrm>
          <a:custGeom>
            <a:avLst/>
            <a:gdLst/>
            <a:ahLst/>
            <a:cxnLst/>
            <a:rect l="l" t="t" r="r" b="b"/>
            <a:pathLst>
              <a:path w="3039109" h="0">
                <a:moveTo>
                  <a:pt x="0" y="0"/>
                </a:moveTo>
                <a:lnTo>
                  <a:pt x="3038856" y="0"/>
                </a:lnTo>
              </a:path>
            </a:pathLst>
          </a:custGeom>
          <a:ln w="3175">
            <a:solidFill>
              <a:srgbClr val="D4D4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121920" y="1543812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D4D4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5937504" y="1546860"/>
            <a:ext cx="3039110" cy="0"/>
          </a:xfrm>
          <a:custGeom>
            <a:avLst/>
            <a:gdLst/>
            <a:ahLst/>
            <a:cxnLst/>
            <a:rect l="l" t="t" r="r" b="b"/>
            <a:pathLst>
              <a:path w="3039109" h="0">
                <a:moveTo>
                  <a:pt x="0" y="0"/>
                </a:moveTo>
                <a:lnTo>
                  <a:pt x="3038856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121920" y="1546860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5937504" y="1549908"/>
            <a:ext cx="3039110" cy="0"/>
          </a:xfrm>
          <a:custGeom>
            <a:avLst/>
            <a:gdLst/>
            <a:ahLst/>
            <a:cxnLst/>
            <a:rect l="l" t="t" r="r" b="b"/>
            <a:pathLst>
              <a:path w="3039109" h="0">
                <a:moveTo>
                  <a:pt x="0" y="0"/>
                </a:moveTo>
                <a:lnTo>
                  <a:pt x="3038856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121920" y="1549908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5937504" y="1552956"/>
            <a:ext cx="3039110" cy="0"/>
          </a:xfrm>
          <a:custGeom>
            <a:avLst/>
            <a:gdLst/>
            <a:ahLst/>
            <a:cxnLst/>
            <a:rect l="l" t="t" r="r" b="b"/>
            <a:pathLst>
              <a:path w="3039109" h="0">
                <a:moveTo>
                  <a:pt x="0" y="0"/>
                </a:moveTo>
                <a:lnTo>
                  <a:pt x="3038856" y="0"/>
                </a:lnTo>
              </a:path>
            </a:pathLst>
          </a:custGeom>
          <a:ln w="3175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121920" y="1552956"/>
            <a:ext cx="3295015" cy="0"/>
          </a:xfrm>
          <a:custGeom>
            <a:avLst/>
            <a:gdLst/>
            <a:ahLst/>
            <a:cxnLst/>
            <a:rect l="l" t="t" r="r" b="b"/>
            <a:pathLst>
              <a:path w="3295015" h="0">
                <a:moveTo>
                  <a:pt x="0" y="0"/>
                </a:moveTo>
                <a:lnTo>
                  <a:pt x="3294888" y="0"/>
                </a:lnTo>
              </a:path>
            </a:pathLst>
          </a:custGeom>
          <a:ln w="3175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3703320" y="2776728"/>
            <a:ext cx="2018030" cy="1584960"/>
          </a:xfrm>
          <a:custGeom>
            <a:avLst/>
            <a:gdLst/>
            <a:ahLst/>
            <a:cxnLst/>
            <a:rect l="l" t="t" r="r" b="b"/>
            <a:pathLst>
              <a:path w="2018029" h="1584960">
                <a:moveTo>
                  <a:pt x="1008888" y="0"/>
                </a:moveTo>
                <a:lnTo>
                  <a:pt x="955253" y="1094"/>
                </a:lnTo>
                <a:lnTo>
                  <a:pt x="902354" y="4342"/>
                </a:lnTo>
                <a:lnTo>
                  <a:pt x="850260" y="9690"/>
                </a:lnTo>
                <a:lnTo>
                  <a:pt x="799040" y="17083"/>
                </a:lnTo>
                <a:lnTo>
                  <a:pt x="748763" y="26468"/>
                </a:lnTo>
                <a:lnTo>
                  <a:pt x="699499" y="37790"/>
                </a:lnTo>
                <a:lnTo>
                  <a:pt x="651318" y="50995"/>
                </a:lnTo>
                <a:lnTo>
                  <a:pt x="604288" y="66030"/>
                </a:lnTo>
                <a:lnTo>
                  <a:pt x="558479" y="82840"/>
                </a:lnTo>
                <a:lnTo>
                  <a:pt x="513961" y="101371"/>
                </a:lnTo>
                <a:lnTo>
                  <a:pt x="470802" y="121570"/>
                </a:lnTo>
                <a:lnTo>
                  <a:pt x="429072" y="143381"/>
                </a:lnTo>
                <a:lnTo>
                  <a:pt x="388841" y="166753"/>
                </a:lnTo>
                <a:lnTo>
                  <a:pt x="350178" y="191629"/>
                </a:lnTo>
                <a:lnTo>
                  <a:pt x="313152" y="217956"/>
                </a:lnTo>
                <a:lnTo>
                  <a:pt x="277832" y="245681"/>
                </a:lnTo>
                <a:lnTo>
                  <a:pt x="244289" y="274749"/>
                </a:lnTo>
                <a:lnTo>
                  <a:pt x="212591" y="305106"/>
                </a:lnTo>
                <a:lnTo>
                  <a:pt x="182807" y="336698"/>
                </a:lnTo>
                <a:lnTo>
                  <a:pt x="155008" y="369471"/>
                </a:lnTo>
                <a:lnTo>
                  <a:pt x="129261" y="403372"/>
                </a:lnTo>
                <a:lnTo>
                  <a:pt x="105638" y="438345"/>
                </a:lnTo>
                <a:lnTo>
                  <a:pt x="84207" y="474338"/>
                </a:lnTo>
                <a:lnTo>
                  <a:pt x="65037" y="511295"/>
                </a:lnTo>
                <a:lnTo>
                  <a:pt x="48199" y="549163"/>
                </a:lnTo>
                <a:lnTo>
                  <a:pt x="33760" y="587889"/>
                </a:lnTo>
                <a:lnTo>
                  <a:pt x="21791" y="627417"/>
                </a:lnTo>
                <a:lnTo>
                  <a:pt x="12361" y="667694"/>
                </a:lnTo>
                <a:lnTo>
                  <a:pt x="5540" y="708667"/>
                </a:lnTo>
                <a:lnTo>
                  <a:pt x="1396" y="750280"/>
                </a:lnTo>
                <a:lnTo>
                  <a:pt x="0" y="792480"/>
                </a:lnTo>
                <a:lnTo>
                  <a:pt x="1396" y="834679"/>
                </a:lnTo>
                <a:lnTo>
                  <a:pt x="5540" y="876293"/>
                </a:lnTo>
                <a:lnTo>
                  <a:pt x="12361" y="917265"/>
                </a:lnTo>
                <a:lnTo>
                  <a:pt x="21791" y="957542"/>
                </a:lnTo>
                <a:lnTo>
                  <a:pt x="33760" y="997070"/>
                </a:lnTo>
                <a:lnTo>
                  <a:pt x="48199" y="1035796"/>
                </a:lnTo>
                <a:lnTo>
                  <a:pt x="65037" y="1073664"/>
                </a:lnTo>
                <a:lnTo>
                  <a:pt x="84207" y="1110622"/>
                </a:lnTo>
                <a:lnTo>
                  <a:pt x="105638" y="1146614"/>
                </a:lnTo>
                <a:lnTo>
                  <a:pt x="129261" y="1181587"/>
                </a:lnTo>
                <a:lnTo>
                  <a:pt x="155008" y="1215488"/>
                </a:lnTo>
                <a:lnTo>
                  <a:pt x="182807" y="1248261"/>
                </a:lnTo>
                <a:lnTo>
                  <a:pt x="212591" y="1279853"/>
                </a:lnTo>
                <a:lnTo>
                  <a:pt x="244289" y="1310210"/>
                </a:lnTo>
                <a:lnTo>
                  <a:pt x="277832" y="1339278"/>
                </a:lnTo>
                <a:lnTo>
                  <a:pt x="313152" y="1367003"/>
                </a:lnTo>
                <a:lnTo>
                  <a:pt x="350178" y="1393330"/>
                </a:lnTo>
                <a:lnTo>
                  <a:pt x="388841" y="1418206"/>
                </a:lnTo>
                <a:lnTo>
                  <a:pt x="429072" y="1441578"/>
                </a:lnTo>
                <a:lnTo>
                  <a:pt x="470802" y="1463389"/>
                </a:lnTo>
                <a:lnTo>
                  <a:pt x="513961" y="1483588"/>
                </a:lnTo>
                <a:lnTo>
                  <a:pt x="558479" y="1502119"/>
                </a:lnTo>
                <a:lnTo>
                  <a:pt x="604288" y="1518929"/>
                </a:lnTo>
                <a:lnTo>
                  <a:pt x="651318" y="1533964"/>
                </a:lnTo>
                <a:lnTo>
                  <a:pt x="699499" y="1547169"/>
                </a:lnTo>
                <a:lnTo>
                  <a:pt x="748763" y="1558491"/>
                </a:lnTo>
                <a:lnTo>
                  <a:pt x="799040" y="1567876"/>
                </a:lnTo>
                <a:lnTo>
                  <a:pt x="850260" y="1575269"/>
                </a:lnTo>
                <a:lnTo>
                  <a:pt x="902354" y="1580617"/>
                </a:lnTo>
                <a:lnTo>
                  <a:pt x="955253" y="1583865"/>
                </a:lnTo>
                <a:lnTo>
                  <a:pt x="1008888" y="1584960"/>
                </a:lnTo>
                <a:lnTo>
                  <a:pt x="1062522" y="1583865"/>
                </a:lnTo>
                <a:lnTo>
                  <a:pt x="1115421" y="1580617"/>
                </a:lnTo>
                <a:lnTo>
                  <a:pt x="1167515" y="1575269"/>
                </a:lnTo>
                <a:lnTo>
                  <a:pt x="1218736" y="1567876"/>
                </a:lnTo>
                <a:lnTo>
                  <a:pt x="1269012" y="1558491"/>
                </a:lnTo>
                <a:lnTo>
                  <a:pt x="1318276" y="1547169"/>
                </a:lnTo>
                <a:lnTo>
                  <a:pt x="1366457" y="1533964"/>
                </a:lnTo>
                <a:lnTo>
                  <a:pt x="1413487" y="1518929"/>
                </a:lnTo>
                <a:lnTo>
                  <a:pt x="1459296" y="1502119"/>
                </a:lnTo>
                <a:lnTo>
                  <a:pt x="1503814" y="1483588"/>
                </a:lnTo>
                <a:lnTo>
                  <a:pt x="1546973" y="1463389"/>
                </a:lnTo>
                <a:lnTo>
                  <a:pt x="1588703" y="1441578"/>
                </a:lnTo>
                <a:lnTo>
                  <a:pt x="1628934" y="1418206"/>
                </a:lnTo>
                <a:lnTo>
                  <a:pt x="1667597" y="1393330"/>
                </a:lnTo>
                <a:lnTo>
                  <a:pt x="1704623" y="1367003"/>
                </a:lnTo>
                <a:lnTo>
                  <a:pt x="1739943" y="1339278"/>
                </a:lnTo>
                <a:lnTo>
                  <a:pt x="1773486" y="1310210"/>
                </a:lnTo>
                <a:lnTo>
                  <a:pt x="1805184" y="1279853"/>
                </a:lnTo>
                <a:lnTo>
                  <a:pt x="1834968" y="1248261"/>
                </a:lnTo>
                <a:lnTo>
                  <a:pt x="1862768" y="1215488"/>
                </a:lnTo>
                <a:lnTo>
                  <a:pt x="1888514" y="1181587"/>
                </a:lnTo>
                <a:lnTo>
                  <a:pt x="1912137" y="1146614"/>
                </a:lnTo>
                <a:lnTo>
                  <a:pt x="1933568" y="1110622"/>
                </a:lnTo>
                <a:lnTo>
                  <a:pt x="1952738" y="1073664"/>
                </a:lnTo>
                <a:lnTo>
                  <a:pt x="1969576" y="1035796"/>
                </a:lnTo>
                <a:lnTo>
                  <a:pt x="1984015" y="997070"/>
                </a:lnTo>
                <a:lnTo>
                  <a:pt x="1995984" y="957542"/>
                </a:lnTo>
                <a:lnTo>
                  <a:pt x="2005414" y="917265"/>
                </a:lnTo>
                <a:lnTo>
                  <a:pt x="2012235" y="876293"/>
                </a:lnTo>
                <a:lnTo>
                  <a:pt x="2016379" y="834679"/>
                </a:lnTo>
                <a:lnTo>
                  <a:pt x="2017776" y="792480"/>
                </a:lnTo>
                <a:lnTo>
                  <a:pt x="2016379" y="750280"/>
                </a:lnTo>
                <a:lnTo>
                  <a:pt x="2012235" y="708667"/>
                </a:lnTo>
                <a:lnTo>
                  <a:pt x="2005414" y="667694"/>
                </a:lnTo>
                <a:lnTo>
                  <a:pt x="1995984" y="627417"/>
                </a:lnTo>
                <a:lnTo>
                  <a:pt x="1984015" y="587889"/>
                </a:lnTo>
                <a:lnTo>
                  <a:pt x="1969576" y="549163"/>
                </a:lnTo>
                <a:lnTo>
                  <a:pt x="1952738" y="511295"/>
                </a:lnTo>
                <a:lnTo>
                  <a:pt x="1933568" y="474338"/>
                </a:lnTo>
                <a:lnTo>
                  <a:pt x="1912137" y="438345"/>
                </a:lnTo>
                <a:lnTo>
                  <a:pt x="1888514" y="403372"/>
                </a:lnTo>
                <a:lnTo>
                  <a:pt x="1862768" y="369471"/>
                </a:lnTo>
                <a:lnTo>
                  <a:pt x="1834968" y="336698"/>
                </a:lnTo>
                <a:lnTo>
                  <a:pt x="1805184" y="305106"/>
                </a:lnTo>
                <a:lnTo>
                  <a:pt x="1773486" y="274749"/>
                </a:lnTo>
                <a:lnTo>
                  <a:pt x="1739943" y="245681"/>
                </a:lnTo>
                <a:lnTo>
                  <a:pt x="1704623" y="217956"/>
                </a:lnTo>
                <a:lnTo>
                  <a:pt x="1667597" y="191629"/>
                </a:lnTo>
                <a:lnTo>
                  <a:pt x="1628934" y="166753"/>
                </a:lnTo>
                <a:lnTo>
                  <a:pt x="1588703" y="143381"/>
                </a:lnTo>
                <a:lnTo>
                  <a:pt x="1546973" y="121570"/>
                </a:lnTo>
                <a:lnTo>
                  <a:pt x="1503814" y="101371"/>
                </a:lnTo>
                <a:lnTo>
                  <a:pt x="1459296" y="82840"/>
                </a:lnTo>
                <a:lnTo>
                  <a:pt x="1413487" y="66030"/>
                </a:lnTo>
                <a:lnTo>
                  <a:pt x="1366457" y="50995"/>
                </a:lnTo>
                <a:lnTo>
                  <a:pt x="1318276" y="37790"/>
                </a:lnTo>
                <a:lnTo>
                  <a:pt x="1269012" y="26468"/>
                </a:lnTo>
                <a:lnTo>
                  <a:pt x="1218736" y="17083"/>
                </a:lnTo>
                <a:lnTo>
                  <a:pt x="1167515" y="9690"/>
                </a:lnTo>
                <a:lnTo>
                  <a:pt x="1115421" y="4342"/>
                </a:lnTo>
                <a:lnTo>
                  <a:pt x="1062522" y="1094"/>
                </a:lnTo>
                <a:lnTo>
                  <a:pt x="1008888" y="0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3703320" y="2776728"/>
            <a:ext cx="2018030" cy="1584960"/>
          </a:xfrm>
          <a:custGeom>
            <a:avLst/>
            <a:gdLst/>
            <a:ahLst/>
            <a:cxnLst/>
            <a:rect l="l" t="t" r="r" b="b"/>
            <a:pathLst>
              <a:path w="2018029" h="1584960">
                <a:moveTo>
                  <a:pt x="2017775" y="792479"/>
                </a:moveTo>
                <a:lnTo>
                  <a:pt x="2016379" y="750280"/>
                </a:lnTo>
                <a:lnTo>
                  <a:pt x="2012235" y="708666"/>
                </a:lnTo>
                <a:lnTo>
                  <a:pt x="2005414" y="667694"/>
                </a:lnTo>
                <a:lnTo>
                  <a:pt x="1995984" y="627417"/>
                </a:lnTo>
                <a:lnTo>
                  <a:pt x="1984015" y="587889"/>
                </a:lnTo>
                <a:lnTo>
                  <a:pt x="1969576" y="549163"/>
                </a:lnTo>
                <a:lnTo>
                  <a:pt x="1952738" y="511295"/>
                </a:lnTo>
                <a:lnTo>
                  <a:pt x="1933568" y="474337"/>
                </a:lnTo>
                <a:lnTo>
                  <a:pt x="1912137" y="438345"/>
                </a:lnTo>
                <a:lnTo>
                  <a:pt x="1888513" y="403372"/>
                </a:lnTo>
                <a:lnTo>
                  <a:pt x="1862767" y="369471"/>
                </a:lnTo>
                <a:lnTo>
                  <a:pt x="1834968" y="336698"/>
                </a:lnTo>
                <a:lnTo>
                  <a:pt x="1805184" y="305106"/>
                </a:lnTo>
                <a:lnTo>
                  <a:pt x="1773486" y="274749"/>
                </a:lnTo>
                <a:lnTo>
                  <a:pt x="1739943" y="245681"/>
                </a:lnTo>
                <a:lnTo>
                  <a:pt x="1704623" y="217956"/>
                </a:lnTo>
                <a:lnTo>
                  <a:pt x="1667597" y="191629"/>
                </a:lnTo>
                <a:lnTo>
                  <a:pt x="1628934" y="166753"/>
                </a:lnTo>
                <a:lnTo>
                  <a:pt x="1588703" y="143381"/>
                </a:lnTo>
                <a:lnTo>
                  <a:pt x="1546973" y="121570"/>
                </a:lnTo>
                <a:lnTo>
                  <a:pt x="1503814" y="101371"/>
                </a:lnTo>
                <a:lnTo>
                  <a:pt x="1459296" y="82840"/>
                </a:lnTo>
                <a:lnTo>
                  <a:pt x="1413487" y="66030"/>
                </a:lnTo>
                <a:lnTo>
                  <a:pt x="1366457" y="50995"/>
                </a:lnTo>
                <a:lnTo>
                  <a:pt x="1318276" y="37790"/>
                </a:lnTo>
                <a:lnTo>
                  <a:pt x="1269012" y="26468"/>
                </a:lnTo>
                <a:lnTo>
                  <a:pt x="1218735" y="17083"/>
                </a:lnTo>
                <a:lnTo>
                  <a:pt x="1167515" y="9690"/>
                </a:lnTo>
                <a:lnTo>
                  <a:pt x="1115421" y="4342"/>
                </a:lnTo>
                <a:lnTo>
                  <a:pt x="1062522" y="1094"/>
                </a:lnTo>
                <a:lnTo>
                  <a:pt x="1008887" y="0"/>
                </a:lnTo>
                <a:lnTo>
                  <a:pt x="955253" y="1094"/>
                </a:lnTo>
                <a:lnTo>
                  <a:pt x="902354" y="4342"/>
                </a:lnTo>
                <a:lnTo>
                  <a:pt x="850260" y="9690"/>
                </a:lnTo>
                <a:lnTo>
                  <a:pt x="799039" y="17083"/>
                </a:lnTo>
                <a:lnTo>
                  <a:pt x="748763" y="26468"/>
                </a:lnTo>
                <a:lnTo>
                  <a:pt x="699499" y="37790"/>
                </a:lnTo>
                <a:lnTo>
                  <a:pt x="651318" y="50995"/>
                </a:lnTo>
                <a:lnTo>
                  <a:pt x="604288" y="66030"/>
                </a:lnTo>
                <a:lnTo>
                  <a:pt x="558479" y="82840"/>
                </a:lnTo>
                <a:lnTo>
                  <a:pt x="513961" y="101371"/>
                </a:lnTo>
                <a:lnTo>
                  <a:pt x="470802" y="121570"/>
                </a:lnTo>
                <a:lnTo>
                  <a:pt x="429072" y="143381"/>
                </a:lnTo>
                <a:lnTo>
                  <a:pt x="388841" y="166753"/>
                </a:lnTo>
                <a:lnTo>
                  <a:pt x="350178" y="191629"/>
                </a:lnTo>
                <a:lnTo>
                  <a:pt x="313152" y="217956"/>
                </a:lnTo>
                <a:lnTo>
                  <a:pt x="277832" y="245681"/>
                </a:lnTo>
                <a:lnTo>
                  <a:pt x="244289" y="274749"/>
                </a:lnTo>
                <a:lnTo>
                  <a:pt x="212591" y="305106"/>
                </a:lnTo>
                <a:lnTo>
                  <a:pt x="182807" y="336698"/>
                </a:lnTo>
                <a:lnTo>
                  <a:pt x="155008" y="369471"/>
                </a:lnTo>
                <a:lnTo>
                  <a:pt x="129261" y="403372"/>
                </a:lnTo>
                <a:lnTo>
                  <a:pt x="105638" y="438345"/>
                </a:lnTo>
                <a:lnTo>
                  <a:pt x="84207" y="474337"/>
                </a:lnTo>
                <a:lnTo>
                  <a:pt x="65037" y="511295"/>
                </a:lnTo>
                <a:lnTo>
                  <a:pt x="48199" y="549163"/>
                </a:lnTo>
                <a:lnTo>
                  <a:pt x="33760" y="587889"/>
                </a:lnTo>
                <a:lnTo>
                  <a:pt x="21791" y="627417"/>
                </a:lnTo>
                <a:lnTo>
                  <a:pt x="12361" y="667694"/>
                </a:lnTo>
                <a:lnTo>
                  <a:pt x="5540" y="708666"/>
                </a:lnTo>
                <a:lnTo>
                  <a:pt x="1396" y="750280"/>
                </a:lnTo>
                <a:lnTo>
                  <a:pt x="0" y="792479"/>
                </a:lnTo>
                <a:lnTo>
                  <a:pt x="1396" y="834679"/>
                </a:lnTo>
                <a:lnTo>
                  <a:pt x="5540" y="876292"/>
                </a:lnTo>
                <a:lnTo>
                  <a:pt x="12361" y="917265"/>
                </a:lnTo>
                <a:lnTo>
                  <a:pt x="21791" y="957542"/>
                </a:lnTo>
                <a:lnTo>
                  <a:pt x="33760" y="997070"/>
                </a:lnTo>
                <a:lnTo>
                  <a:pt x="48199" y="1035796"/>
                </a:lnTo>
                <a:lnTo>
                  <a:pt x="65037" y="1073664"/>
                </a:lnTo>
                <a:lnTo>
                  <a:pt x="84207" y="1110621"/>
                </a:lnTo>
                <a:lnTo>
                  <a:pt x="105638" y="1146614"/>
                </a:lnTo>
                <a:lnTo>
                  <a:pt x="129261" y="1181587"/>
                </a:lnTo>
                <a:lnTo>
                  <a:pt x="155008" y="1215488"/>
                </a:lnTo>
                <a:lnTo>
                  <a:pt x="182807" y="1248261"/>
                </a:lnTo>
                <a:lnTo>
                  <a:pt x="212591" y="1279853"/>
                </a:lnTo>
                <a:lnTo>
                  <a:pt x="244289" y="1310210"/>
                </a:lnTo>
                <a:lnTo>
                  <a:pt x="277832" y="1339278"/>
                </a:lnTo>
                <a:lnTo>
                  <a:pt x="313152" y="1367003"/>
                </a:lnTo>
                <a:lnTo>
                  <a:pt x="350178" y="1393330"/>
                </a:lnTo>
                <a:lnTo>
                  <a:pt x="388841" y="1418206"/>
                </a:lnTo>
                <a:lnTo>
                  <a:pt x="429072" y="1441578"/>
                </a:lnTo>
                <a:lnTo>
                  <a:pt x="470802" y="1463389"/>
                </a:lnTo>
                <a:lnTo>
                  <a:pt x="513961" y="1483588"/>
                </a:lnTo>
                <a:lnTo>
                  <a:pt x="558479" y="1502119"/>
                </a:lnTo>
                <a:lnTo>
                  <a:pt x="604288" y="1518929"/>
                </a:lnTo>
                <a:lnTo>
                  <a:pt x="651318" y="1533964"/>
                </a:lnTo>
                <a:lnTo>
                  <a:pt x="699499" y="1547169"/>
                </a:lnTo>
                <a:lnTo>
                  <a:pt x="748763" y="1558491"/>
                </a:lnTo>
                <a:lnTo>
                  <a:pt x="799039" y="1567876"/>
                </a:lnTo>
                <a:lnTo>
                  <a:pt x="850260" y="1575269"/>
                </a:lnTo>
                <a:lnTo>
                  <a:pt x="902354" y="1580616"/>
                </a:lnTo>
                <a:lnTo>
                  <a:pt x="955253" y="1583865"/>
                </a:lnTo>
                <a:lnTo>
                  <a:pt x="1008887" y="1584959"/>
                </a:lnTo>
                <a:lnTo>
                  <a:pt x="1062522" y="1583865"/>
                </a:lnTo>
                <a:lnTo>
                  <a:pt x="1115421" y="1580616"/>
                </a:lnTo>
                <a:lnTo>
                  <a:pt x="1167515" y="1575269"/>
                </a:lnTo>
                <a:lnTo>
                  <a:pt x="1218735" y="1567876"/>
                </a:lnTo>
                <a:lnTo>
                  <a:pt x="1269012" y="1558491"/>
                </a:lnTo>
                <a:lnTo>
                  <a:pt x="1318276" y="1547169"/>
                </a:lnTo>
                <a:lnTo>
                  <a:pt x="1366457" y="1533964"/>
                </a:lnTo>
                <a:lnTo>
                  <a:pt x="1413487" y="1518929"/>
                </a:lnTo>
                <a:lnTo>
                  <a:pt x="1459296" y="1502119"/>
                </a:lnTo>
                <a:lnTo>
                  <a:pt x="1503814" y="1483588"/>
                </a:lnTo>
                <a:lnTo>
                  <a:pt x="1546973" y="1463389"/>
                </a:lnTo>
                <a:lnTo>
                  <a:pt x="1588703" y="1441578"/>
                </a:lnTo>
                <a:lnTo>
                  <a:pt x="1628934" y="1418206"/>
                </a:lnTo>
                <a:lnTo>
                  <a:pt x="1667597" y="1393330"/>
                </a:lnTo>
                <a:lnTo>
                  <a:pt x="1704623" y="1367003"/>
                </a:lnTo>
                <a:lnTo>
                  <a:pt x="1739943" y="1339278"/>
                </a:lnTo>
                <a:lnTo>
                  <a:pt x="1773486" y="1310210"/>
                </a:lnTo>
                <a:lnTo>
                  <a:pt x="1805184" y="1279853"/>
                </a:lnTo>
                <a:lnTo>
                  <a:pt x="1834968" y="1248261"/>
                </a:lnTo>
                <a:lnTo>
                  <a:pt x="1862767" y="1215488"/>
                </a:lnTo>
                <a:lnTo>
                  <a:pt x="1888513" y="1181587"/>
                </a:lnTo>
                <a:lnTo>
                  <a:pt x="1912137" y="1146614"/>
                </a:lnTo>
                <a:lnTo>
                  <a:pt x="1933568" y="1110621"/>
                </a:lnTo>
                <a:lnTo>
                  <a:pt x="1952738" y="1073664"/>
                </a:lnTo>
                <a:lnTo>
                  <a:pt x="1969576" y="1035796"/>
                </a:lnTo>
                <a:lnTo>
                  <a:pt x="1984015" y="997070"/>
                </a:lnTo>
                <a:lnTo>
                  <a:pt x="1995984" y="957542"/>
                </a:lnTo>
                <a:lnTo>
                  <a:pt x="2005414" y="917265"/>
                </a:lnTo>
                <a:lnTo>
                  <a:pt x="2012235" y="876292"/>
                </a:lnTo>
                <a:lnTo>
                  <a:pt x="2016379" y="834679"/>
                </a:lnTo>
                <a:lnTo>
                  <a:pt x="2017775" y="792479"/>
                </a:lnTo>
              </a:path>
            </a:pathLst>
          </a:custGeom>
          <a:ln w="274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 txBox="1"/>
          <p:nvPr/>
        </p:nvSpPr>
        <p:spPr>
          <a:xfrm>
            <a:off x="3809491" y="3303524"/>
            <a:ext cx="1802764" cy="4502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750" spc="50" b="1">
                <a:latin typeface="Microsoft JhengHei"/>
                <a:cs typeface="Microsoft JhengHei"/>
              </a:rPr>
              <a:t>并购的</a:t>
            </a:r>
            <a:r>
              <a:rPr dirty="0" sz="2750" spc="30" b="1">
                <a:latin typeface="Microsoft JhengHei"/>
                <a:cs typeface="Microsoft JhengHei"/>
              </a:rPr>
              <a:t>动机</a:t>
            </a:r>
            <a:endParaRPr sz="2750">
              <a:latin typeface="Microsoft JhengHei"/>
              <a:cs typeface="Microsoft JhengHei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466344" y="1554480"/>
            <a:ext cx="2447925" cy="792480"/>
          </a:xfrm>
          <a:prstGeom prst="rect">
            <a:avLst/>
          </a:prstGeom>
          <a:solidFill>
            <a:srgbClr val="FF9966"/>
          </a:solidFill>
        </p:spPr>
        <p:txBody>
          <a:bodyPr wrap="square" lIns="0" tIns="193040" rIns="0" bIns="0" rtlCol="0" vert="horz">
            <a:spAutoFit/>
          </a:bodyPr>
          <a:lstStyle/>
          <a:p>
            <a:pPr marL="511809">
              <a:lnSpc>
                <a:spcPct val="100000"/>
              </a:lnSpc>
              <a:spcBef>
                <a:spcPts val="1520"/>
              </a:spcBef>
            </a:pPr>
            <a:r>
              <a:rPr dirty="0" sz="2800" spc="5" b="1">
                <a:latin typeface="Microsoft JhengHei"/>
                <a:cs typeface="Microsoft JhengHei"/>
              </a:rPr>
              <a:t>保住</a:t>
            </a:r>
            <a:r>
              <a:rPr dirty="0" sz="2800" spc="-20" b="1">
                <a:latin typeface="Microsoft JhengHei"/>
                <a:cs typeface="Microsoft JhengHei"/>
              </a:rPr>
              <a:t>面</a:t>
            </a:r>
            <a:r>
              <a:rPr dirty="0" sz="2800" spc="5" b="1">
                <a:latin typeface="Microsoft JhengHei"/>
                <a:cs typeface="Microsoft JhengHei"/>
              </a:rPr>
              <a:t>子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6440424" y="1697736"/>
            <a:ext cx="1948180" cy="792480"/>
          </a:xfrm>
          <a:prstGeom prst="rect">
            <a:avLst/>
          </a:prstGeom>
          <a:solidFill>
            <a:srgbClr val="99CCFF"/>
          </a:solidFill>
        </p:spPr>
        <p:txBody>
          <a:bodyPr wrap="square" lIns="0" tIns="193040" rIns="0" bIns="0" rtlCol="0" vert="horz">
            <a:spAutoFit/>
          </a:bodyPr>
          <a:lstStyle/>
          <a:p>
            <a:pPr marL="261620">
              <a:lnSpc>
                <a:spcPct val="100000"/>
              </a:lnSpc>
              <a:spcBef>
                <a:spcPts val="1520"/>
              </a:spcBef>
            </a:pPr>
            <a:r>
              <a:rPr dirty="0" sz="2800" spc="5" b="1">
                <a:latin typeface="Microsoft JhengHei"/>
                <a:cs typeface="Microsoft JhengHei"/>
              </a:rPr>
              <a:t>短期</a:t>
            </a:r>
            <a:r>
              <a:rPr dirty="0" sz="2800" spc="-20" b="1">
                <a:latin typeface="Microsoft JhengHei"/>
                <a:cs typeface="Microsoft JhengHei"/>
              </a:rPr>
              <a:t>压</a:t>
            </a:r>
            <a:r>
              <a:rPr dirty="0" sz="2800" spc="5" b="1">
                <a:latin typeface="Microsoft JhengHei"/>
                <a:cs typeface="Microsoft JhengHei"/>
              </a:rPr>
              <a:t>力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104" name="object 104"/>
          <p:cNvSpPr/>
          <p:nvPr/>
        </p:nvSpPr>
        <p:spPr>
          <a:xfrm>
            <a:off x="6583680" y="2919984"/>
            <a:ext cx="1945005" cy="792480"/>
          </a:xfrm>
          <a:custGeom>
            <a:avLst/>
            <a:gdLst/>
            <a:ahLst/>
            <a:cxnLst/>
            <a:rect l="l" t="t" r="r" b="b"/>
            <a:pathLst>
              <a:path w="1945004" h="792479">
                <a:moveTo>
                  <a:pt x="0" y="0"/>
                </a:moveTo>
                <a:lnTo>
                  <a:pt x="0" y="792480"/>
                </a:lnTo>
                <a:lnTo>
                  <a:pt x="1944624" y="792480"/>
                </a:lnTo>
                <a:lnTo>
                  <a:pt x="1944624" y="0"/>
                </a:lnTo>
                <a:lnTo>
                  <a:pt x="0" y="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 txBox="1"/>
          <p:nvPr/>
        </p:nvSpPr>
        <p:spPr>
          <a:xfrm>
            <a:off x="6583680" y="3099308"/>
            <a:ext cx="1945005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18490">
              <a:lnSpc>
                <a:spcPct val="100000"/>
              </a:lnSpc>
              <a:spcBef>
                <a:spcPts val="105"/>
              </a:spcBef>
            </a:pPr>
            <a:r>
              <a:rPr dirty="0" sz="2800" spc="-20" b="1">
                <a:latin typeface="Microsoft JhengHei"/>
                <a:cs typeface="Microsoft JhengHei"/>
              </a:rPr>
              <a:t>厌</a:t>
            </a:r>
            <a:r>
              <a:rPr dirty="0" sz="2800" spc="5" b="1">
                <a:latin typeface="Microsoft JhengHei"/>
                <a:cs typeface="Microsoft JhengHei"/>
              </a:rPr>
              <a:t>倦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106" name="object 106"/>
          <p:cNvSpPr/>
          <p:nvPr/>
        </p:nvSpPr>
        <p:spPr>
          <a:xfrm>
            <a:off x="4639055" y="1813560"/>
            <a:ext cx="0" cy="963294"/>
          </a:xfrm>
          <a:custGeom>
            <a:avLst/>
            <a:gdLst/>
            <a:ahLst/>
            <a:cxnLst/>
            <a:rect l="l" t="t" r="r" b="b"/>
            <a:pathLst>
              <a:path w="0" h="963294">
                <a:moveTo>
                  <a:pt x="0" y="963167"/>
                </a:moveTo>
                <a:lnTo>
                  <a:pt x="0" y="0"/>
                </a:lnTo>
              </a:path>
            </a:pathLst>
          </a:custGeom>
          <a:ln w="76199">
            <a:solidFill>
              <a:srgbClr val="BADF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4507992" y="1557528"/>
            <a:ext cx="265430" cy="265430"/>
          </a:xfrm>
          <a:custGeom>
            <a:avLst/>
            <a:gdLst/>
            <a:ahLst/>
            <a:cxnLst/>
            <a:rect l="l" t="t" r="r" b="b"/>
            <a:pathLst>
              <a:path w="265429" h="265430">
                <a:moveTo>
                  <a:pt x="134112" y="0"/>
                </a:moveTo>
                <a:lnTo>
                  <a:pt x="0" y="265176"/>
                </a:lnTo>
                <a:lnTo>
                  <a:pt x="265176" y="265176"/>
                </a:lnTo>
                <a:lnTo>
                  <a:pt x="134112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5504688" y="2313432"/>
            <a:ext cx="683260" cy="683260"/>
          </a:xfrm>
          <a:custGeom>
            <a:avLst/>
            <a:gdLst/>
            <a:ahLst/>
            <a:cxnLst/>
            <a:rect l="l" t="t" r="r" b="b"/>
            <a:pathLst>
              <a:path w="683260" h="683260">
                <a:moveTo>
                  <a:pt x="0" y="682751"/>
                </a:moveTo>
                <a:lnTo>
                  <a:pt x="682751" y="0"/>
                </a:lnTo>
              </a:path>
            </a:pathLst>
          </a:custGeom>
          <a:ln w="76199">
            <a:solidFill>
              <a:srgbClr val="BADF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6089904" y="2130552"/>
            <a:ext cx="283845" cy="283845"/>
          </a:xfrm>
          <a:custGeom>
            <a:avLst/>
            <a:gdLst/>
            <a:ahLst/>
            <a:cxnLst/>
            <a:rect l="l" t="t" r="r" b="b"/>
            <a:pathLst>
              <a:path w="283845" h="283844">
                <a:moveTo>
                  <a:pt x="283464" y="0"/>
                </a:moveTo>
                <a:lnTo>
                  <a:pt x="0" y="94488"/>
                </a:lnTo>
                <a:lnTo>
                  <a:pt x="188976" y="283464"/>
                </a:lnTo>
                <a:lnTo>
                  <a:pt x="283464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5647944" y="3425952"/>
            <a:ext cx="749935" cy="3175"/>
          </a:xfrm>
          <a:custGeom>
            <a:avLst/>
            <a:gdLst/>
            <a:ahLst/>
            <a:cxnLst/>
            <a:rect l="l" t="t" r="r" b="b"/>
            <a:pathLst>
              <a:path w="749935" h="3175">
                <a:moveTo>
                  <a:pt x="0" y="0"/>
                </a:moveTo>
                <a:lnTo>
                  <a:pt x="749807" y="3047"/>
                </a:lnTo>
              </a:path>
            </a:pathLst>
          </a:custGeom>
          <a:ln w="76199">
            <a:solidFill>
              <a:srgbClr val="BADF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6391656" y="3297936"/>
            <a:ext cx="268605" cy="265430"/>
          </a:xfrm>
          <a:custGeom>
            <a:avLst/>
            <a:gdLst/>
            <a:ahLst/>
            <a:cxnLst/>
            <a:rect l="l" t="t" r="r" b="b"/>
            <a:pathLst>
              <a:path w="268604" h="265429">
                <a:moveTo>
                  <a:pt x="0" y="0"/>
                </a:moveTo>
                <a:lnTo>
                  <a:pt x="0" y="265176"/>
                </a:lnTo>
                <a:lnTo>
                  <a:pt x="268224" y="131064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5501639" y="4072128"/>
            <a:ext cx="856615" cy="460375"/>
          </a:xfrm>
          <a:custGeom>
            <a:avLst/>
            <a:gdLst/>
            <a:ahLst/>
            <a:cxnLst/>
            <a:rect l="l" t="t" r="r" b="b"/>
            <a:pathLst>
              <a:path w="856614" h="460375">
                <a:moveTo>
                  <a:pt x="0" y="0"/>
                </a:moveTo>
                <a:lnTo>
                  <a:pt x="856487" y="460247"/>
                </a:lnTo>
              </a:path>
            </a:pathLst>
          </a:custGeom>
          <a:ln w="76199">
            <a:solidFill>
              <a:srgbClr val="BADF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6291072" y="4410455"/>
            <a:ext cx="295910" cy="243840"/>
          </a:xfrm>
          <a:custGeom>
            <a:avLst/>
            <a:gdLst/>
            <a:ahLst/>
            <a:cxnLst/>
            <a:rect l="l" t="t" r="r" b="b"/>
            <a:pathLst>
              <a:path w="295909" h="243839">
                <a:moveTo>
                  <a:pt x="124968" y="0"/>
                </a:moveTo>
                <a:lnTo>
                  <a:pt x="0" y="234696"/>
                </a:lnTo>
                <a:lnTo>
                  <a:pt x="295656" y="243840"/>
                </a:lnTo>
                <a:lnTo>
                  <a:pt x="124968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 txBox="1">
            <a:spLocks noGrp="1"/>
          </p:cNvSpPr>
          <p:nvPr>
            <p:ph type="title"/>
          </p:nvPr>
        </p:nvSpPr>
        <p:spPr>
          <a:xfrm>
            <a:off x="3416808" y="762000"/>
            <a:ext cx="2520950" cy="767715"/>
          </a:xfrm>
          <a:prstGeom prst="rect"/>
          <a:solidFill>
            <a:srgbClr val="FF66CC"/>
          </a:solidFill>
          <a:ln w="9143">
            <a:solidFill>
              <a:srgbClr val="CCFF33"/>
            </a:solidFill>
          </a:ln>
        </p:spPr>
        <p:txBody>
          <a:bodyPr wrap="square" lIns="0" tIns="171450" rIns="0" bIns="0" rtlCol="0" vert="horz">
            <a:spAutoFit/>
          </a:bodyPr>
          <a:lstStyle/>
          <a:p>
            <a:pPr marL="191770">
              <a:lnSpc>
                <a:spcPct val="100000"/>
              </a:lnSpc>
              <a:spcBef>
                <a:spcPts val="1350"/>
              </a:spcBef>
            </a:pPr>
            <a:r>
              <a:rPr dirty="0" sz="2800" spc="25">
                <a:solidFill>
                  <a:srgbClr val="000000"/>
                </a:solidFill>
              </a:rPr>
              <a:t>对</a:t>
            </a:r>
            <a:r>
              <a:rPr dirty="0" sz="2800" spc="-40">
                <a:solidFill>
                  <a:srgbClr val="000000"/>
                </a:solidFill>
                <a:latin typeface="Times New Roman"/>
                <a:cs typeface="Times New Roman"/>
              </a:rPr>
              <a:t>“</a:t>
            </a:r>
            <a:r>
              <a:rPr dirty="0" sz="2800" spc="25">
                <a:solidFill>
                  <a:srgbClr val="000000"/>
                </a:solidFill>
              </a:rPr>
              <a:t>大</a:t>
            </a:r>
            <a:r>
              <a:rPr dirty="0" sz="2800" spc="-40">
                <a:solidFill>
                  <a:srgbClr val="000000"/>
                </a:solidFill>
                <a:latin typeface="Times New Roman"/>
                <a:cs typeface="Times New Roman"/>
              </a:rPr>
              <a:t>”</a:t>
            </a:r>
            <a:r>
              <a:rPr dirty="0" sz="2800" spc="5">
                <a:solidFill>
                  <a:srgbClr val="000000"/>
                </a:solidFill>
              </a:rPr>
              <a:t>的</a:t>
            </a:r>
            <a:r>
              <a:rPr dirty="0" sz="2800" spc="-20">
                <a:solidFill>
                  <a:srgbClr val="000000"/>
                </a:solidFill>
              </a:rPr>
              <a:t>追</a:t>
            </a:r>
            <a:r>
              <a:rPr dirty="0" sz="2800" spc="5">
                <a:solidFill>
                  <a:srgbClr val="000000"/>
                </a:solidFill>
              </a:rPr>
              <a:t>求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393192" y="2919984"/>
            <a:ext cx="2520950" cy="792480"/>
          </a:xfrm>
          <a:prstGeom prst="rect">
            <a:avLst/>
          </a:prstGeom>
          <a:solidFill>
            <a:srgbClr val="FFFF99"/>
          </a:solidFill>
        </p:spPr>
        <p:txBody>
          <a:bodyPr wrap="square" lIns="0" tIns="193040" rIns="0" bIns="0" rtlCol="0" vert="horz">
            <a:spAutoFit/>
          </a:bodyPr>
          <a:lstStyle/>
          <a:p>
            <a:pPr marL="548005">
              <a:lnSpc>
                <a:spcPct val="100000"/>
              </a:lnSpc>
              <a:spcBef>
                <a:spcPts val="1520"/>
              </a:spcBef>
            </a:pPr>
            <a:r>
              <a:rPr dirty="0" sz="2800" spc="5" b="1">
                <a:latin typeface="Microsoft JhengHei"/>
                <a:cs typeface="Microsoft JhengHei"/>
              </a:rPr>
              <a:t>唯恐</a:t>
            </a:r>
            <a:r>
              <a:rPr dirty="0" sz="2800" spc="-20" b="1">
                <a:latin typeface="Microsoft JhengHei"/>
                <a:cs typeface="Microsoft JhengHei"/>
              </a:rPr>
              <a:t>落</a:t>
            </a:r>
            <a:r>
              <a:rPr dirty="0" sz="2800" spc="5" b="1">
                <a:latin typeface="Microsoft JhengHei"/>
                <a:cs typeface="Microsoft JhengHei"/>
              </a:rPr>
              <a:t>后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466344" y="4075176"/>
            <a:ext cx="2447925" cy="789940"/>
          </a:xfrm>
          <a:prstGeom prst="rect">
            <a:avLst/>
          </a:prstGeom>
          <a:solidFill>
            <a:srgbClr val="99CC00"/>
          </a:solidFill>
        </p:spPr>
        <p:txBody>
          <a:bodyPr wrap="square" lIns="0" tIns="193040" rIns="0" bIns="0" rtlCol="0" vert="horz">
            <a:spAutoFit/>
          </a:bodyPr>
          <a:lstStyle/>
          <a:p>
            <a:pPr marL="511809">
              <a:lnSpc>
                <a:spcPct val="100000"/>
              </a:lnSpc>
              <a:spcBef>
                <a:spcPts val="1520"/>
              </a:spcBef>
            </a:pPr>
            <a:r>
              <a:rPr dirty="0" sz="2800" spc="5" b="1">
                <a:latin typeface="Microsoft JhengHei"/>
                <a:cs typeface="Microsoft JhengHei"/>
              </a:rPr>
              <a:t>以牙</a:t>
            </a:r>
            <a:r>
              <a:rPr dirty="0" sz="2800" spc="-20" b="1">
                <a:latin typeface="Microsoft JhengHei"/>
                <a:cs typeface="Microsoft JhengHei"/>
              </a:rPr>
              <a:t>还</a:t>
            </a:r>
            <a:r>
              <a:rPr dirty="0" sz="2800" spc="5" b="1">
                <a:latin typeface="Microsoft JhengHei"/>
                <a:cs typeface="Microsoft JhengHei"/>
              </a:rPr>
              <a:t>牙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6583679" y="4218432"/>
            <a:ext cx="1945005" cy="792480"/>
          </a:xfrm>
          <a:prstGeom prst="rect">
            <a:avLst/>
          </a:prstGeom>
          <a:solidFill>
            <a:srgbClr val="FF3300"/>
          </a:solidFill>
          <a:ln w="9143">
            <a:solidFill>
              <a:srgbClr val="CCFF33"/>
            </a:solidFill>
          </a:ln>
        </p:spPr>
        <p:txBody>
          <a:bodyPr wrap="square" lIns="0" tIns="193040" rIns="0" bIns="0" rtlCol="0" vert="horz">
            <a:spAutoFit/>
          </a:bodyPr>
          <a:lstStyle/>
          <a:p>
            <a:pPr marL="261620">
              <a:lnSpc>
                <a:spcPct val="100000"/>
              </a:lnSpc>
              <a:spcBef>
                <a:spcPts val="1520"/>
              </a:spcBef>
            </a:pPr>
            <a:r>
              <a:rPr dirty="0" sz="2800" spc="5" b="1">
                <a:latin typeface="Microsoft JhengHei"/>
                <a:cs typeface="Microsoft JhengHei"/>
              </a:rPr>
              <a:t>自负</a:t>
            </a:r>
            <a:r>
              <a:rPr dirty="0" sz="2800" spc="-20" b="1">
                <a:latin typeface="Microsoft JhengHei"/>
                <a:cs typeface="Microsoft JhengHei"/>
              </a:rPr>
              <a:t>心</a:t>
            </a:r>
            <a:r>
              <a:rPr dirty="0" sz="2800" spc="5" b="1">
                <a:latin typeface="Microsoft JhengHei"/>
                <a:cs typeface="Microsoft JhengHei"/>
              </a:rPr>
              <a:t>理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118" name="object 118"/>
          <p:cNvSpPr/>
          <p:nvPr/>
        </p:nvSpPr>
        <p:spPr>
          <a:xfrm>
            <a:off x="3115055" y="2289048"/>
            <a:ext cx="881380" cy="704215"/>
          </a:xfrm>
          <a:custGeom>
            <a:avLst/>
            <a:gdLst/>
            <a:ahLst/>
            <a:cxnLst/>
            <a:rect l="l" t="t" r="r" b="b"/>
            <a:pathLst>
              <a:path w="881379" h="704214">
                <a:moveTo>
                  <a:pt x="880871" y="704087"/>
                </a:moveTo>
                <a:lnTo>
                  <a:pt x="0" y="0"/>
                </a:lnTo>
              </a:path>
            </a:pathLst>
          </a:custGeom>
          <a:ln w="76199">
            <a:solidFill>
              <a:srgbClr val="BADF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2916936" y="2130552"/>
            <a:ext cx="289560" cy="271780"/>
          </a:xfrm>
          <a:custGeom>
            <a:avLst/>
            <a:gdLst/>
            <a:ahLst/>
            <a:cxnLst/>
            <a:rect l="l" t="t" r="r" b="b"/>
            <a:pathLst>
              <a:path w="289560" h="271780">
                <a:moveTo>
                  <a:pt x="0" y="0"/>
                </a:moveTo>
                <a:lnTo>
                  <a:pt x="124968" y="271272"/>
                </a:lnTo>
                <a:lnTo>
                  <a:pt x="289560" y="64008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3172967" y="3355848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 h="0">
                <a:moveTo>
                  <a:pt x="533399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BADF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2916936" y="3224784"/>
            <a:ext cx="265430" cy="265430"/>
          </a:xfrm>
          <a:custGeom>
            <a:avLst/>
            <a:gdLst/>
            <a:ahLst/>
            <a:cxnLst/>
            <a:rect l="l" t="t" r="r" b="b"/>
            <a:pathLst>
              <a:path w="265430" h="265429">
                <a:moveTo>
                  <a:pt x="265176" y="0"/>
                </a:moveTo>
                <a:lnTo>
                  <a:pt x="0" y="131064"/>
                </a:lnTo>
                <a:lnTo>
                  <a:pt x="265176" y="265176"/>
                </a:lnTo>
                <a:lnTo>
                  <a:pt x="265176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3154679" y="4072128"/>
            <a:ext cx="695325" cy="268605"/>
          </a:xfrm>
          <a:custGeom>
            <a:avLst/>
            <a:gdLst/>
            <a:ahLst/>
            <a:cxnLst/>
            <a:rect l="l" t="t" r="r" b="b"/>
            <a:pathLst>
              <a:path w="695325" h="268604">
                <a:moveTo>
                  <a:pt x="694943" y="0"/>
                </a:moveTo>
                <a:lnTo>
                  <a:pt x="0" y="268223"/>
                </a:lnTo>
              </a:path>
            </a:pathLst>
          </a:custGeom>
          <a:ln w="76199">
            <a:solidFill>
              <a:srgbClr val="BADF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2916936" y="4215384"/>
            <a:ext cx="295910" cy="250190"/>
          </a:xfrm>
          <a:custGeom>
            <a:avLst/>
            <a:gdLst/>
            <a:ahLst/>
            <a:cxnLst/>
            <a:rect l="l" t="t" r="r" b="b"/>
            <a:pathLst>
              <a:path w="295910" h="250189">
                <a:moveTo>
                  <a:pt x="201168" y="0"/>
                </a:moveTo>
                <a:lnTo>
                  <a:pt x="0" y="219456"/>
                </a:lnTo>
                <a:lnTo>
                  <a:pt x="295656" y="249936"/>
                </a:lnTo>
                <a:lnTo>
                  <a:pt x="201168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 txBox="1"/>
          <p:nvPr/>
        </p:nvSpPr>
        <p:spPr>
          <a:xfrm>
            <a:off x="2559811" y="5537708"/>
            <a:ext cx="48717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华文细黑"/>
                <a:cs typeface="华文细黑"/>
              </a:rPr>
              <a:t>资料来源：世界大企业联合会，</a:t>
            </a:r>
            <a:r>
              <a:rPr dirty="0" sz="2400" spc="10">
                <a:solidFill>
                  <a:srgbClr val="FFFFFF"/>
                </a:solidFill>
                <a:latin typeface="华文细黑"/>
                <a:cs typeface="华文细黑"/>
              </a:rPr>
              <a:t>U</a:t>
            </a:r>
            <a:r>
              <a:rPr dirty="0" sz="2400">
                <a:solidFill>
                  <a:srgbClr val="FFFFFF"/>
                </a:solidFill>
                <a:latin typeface="华文细黑"/>
                <a:cs typeface="华文细黑"/>
              </a:rPr>
              <a:t>SA</a:t>
            </a:r>
            <a:endParaRPr sz="2400">
              <a:latin typeface="华文细黑"/>
              <a:cs typeface="华文细黑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76220" y="639572"/>
            <a:ext cx="358267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价值评</a:t>
            </a:r>
            <a:r>
              <a:rPr dirty="0" spc="-20"/>
              <a:t>估</a:t>
            </a:r>
            <a:r>
              <a:rPr dirty="0" spc="5"/>
              <a:t>的</a:t>
            </a:r>
            <a:r>
              <a:rPr dirty="0" spc="-20"/>
              <a:t>方</a:t>
            </a:r>
            <a:r>
              <a:rPr dirty="0" spc="5"/>
              <a:t>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03067" y="1877060"/>
            <a:ext cx="3933190" cy="2632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可比公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或可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比交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易</a:t>
            </a:r>
            <a:r>
              <a:rPr dirty="0" sz="2800" spc="-2715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40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分析表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估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价法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40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公式法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1235" y="639572"/>
            <a:ext cx="5615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可比公</a:t>
            </a:r>
            <a:r>
              <a:rPr dirty="0" spc="-20"/>
              <a:t>司</a:t>
            </a:r>
            <a:r>
              <a:rPr dirty="0" spc="5"/>
              <a:t>法</a:t>
            </a:r>
            <a:r>
              <a:rPr dirty="0" spc="-20"/>
              <a:t>与</a:t>
            </a:r>
            <a:r>
              <a:rPr dirty="0" spc="5"/>
              <a:t>可比交</a:t>
            </a:r>
            <a:r>
              <a:rPr dirty="0" spc="-20"/>
              <a:t>易</a:t>
            </a:r>
            <a:r>
              <a:rPr dirty="0" spc="5"/>
              <a:t>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7316" y="1810004"/>
            <a:ext cx="7493000" cy="38493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55320">
              <a:lnSpc>
                <a:spcPct val="100000"/>
              </a:lnSpc>
              <a:spcBef>
                <a:spcPts val="105"/>
              </a:spcBef>
            </a:pP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比公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可比交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易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法的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关键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之处就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于</a:t>
            </a:r>
            <a:endParaRPr sz="2800">
              <a:latin typeface="宋体"/>
              <a:cs typeface="宋体"/>
            </a:endParaRPr>
          </a:p>
          <a:p>
            <a:pPr algn="just" marL="12700" marR="5080">
              <a:lnSpc>
                <a:spcPct val="155200"/>
              </a:lnSpc>
              <a:spcBef>
                <a:spcPts val="235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用一组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类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似的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公司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或类似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交易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作为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购并企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估 价的基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。由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这些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相似公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的价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值变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量估算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购 并企业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价值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或者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由类似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交易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估算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出购并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业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的价值。</a:t>
            </a:r>
            <a:endParaRPr sz="2800">
              <a:latin typeface="宋体"/>
              <a:cs typeface="宋体"/>
            </a:endParaRPr>
          </a:p>
          <a:p>
            <a:pPr marL="753110">
              <a:lnSpc>
                <a:spcPct val="100000"/>
              </a:lnSpc>
              <a:spcBef>
                <a:spcPts val="2280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下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面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举例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说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明可比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司或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可比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交易法。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10203" y="670052"/>
            <a:ext cx="23114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可比公司法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73100" y="1639316"/>
            <a:ext cx="7910830" cy="15589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 indent="569595">
              <a:lnSpc>
                <a:spcPct val="99600"/>
              </a:lnSpc>
              <a:spcBef>
                <a:spcPts val="11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为了使公司具有可比性，可比公司法将考虑公司规模、 公司的相似性、公司已经营的年限，最近的变化趋势，以 及其他的一些变量。</a:t>
            </a:r>
            <a:endParaRPr sz="2400">
              <a:latin typeface="宋体"/>
              <a:cs typeface="宋体"/>
            </a:endParaRPr>
          </a:p>
          <a:p>
            <a:pPr marL="582295">
              <a:lnSpc>
                <a:spcPct val="100000"/>
              </a:lnSpc>
              <a:spcBef>
                <a:spcPts val="575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假定有A、B、C三个公司满足绝大多数可比性要求。</a:t>
            </a:r>
            <a:endParaRPr sz="2400">
              <a:latin typeface="宋体"/>
              <a:cs typeface="宋体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12647" y="3349752"/>
          <a:ext cx="7793990" cy="1874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35679"/>
                <a:gridCol w="1090929"/>
                <a:gridCol w="1087754"/>
                <a:gridCol w="1087754"/>
                <a:gridCol w="972184"/>
              </a:tblGrid>
              <a:tr h="396239">
                <a:tc grid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2000" spc="1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可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比公</a:t>
                      </a:r>
                      <a:r>
                        <a:rPr dirty="0" sz="2000" spc="1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司</a:t>
                      </a:r>
                      <a:r>
                        <a:rPr dirty="0" sz="2000" spc="-275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比率（W</a:t>
                      </a:r>
                      <a:r>
                        <a:rPr dirty="0" sz="2000" spc="1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公</a:t>
                      </a:r>
                      <a:r>
                        <a:rPr dirty="0" sz="2000" spc="-17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司与</a:t>
                      </a:r>
                      <a:r>
                        <a:rPr dirty="0" sz="2000" spc="-114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A</a:t>
                      </a:r>
                      <a:r>
                        <a:rPr dirty="0" sz="2000" spc="-185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、</a:t>
                      </a:r>
                      <a:r>
                        <a:rPr dirty="0" sz="2000" spc="-11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B</a:t>
                      </a:r>
                      <a:r>
                        <a:rPr dirty="0" sz="2000" spc="-215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、</a:t>
                      </a:r>
                      <a:r>
                        <a:rPr dirty="0" sz="2000" spc="-135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C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公</a:t>
                      </a:r>
                      <a:r>
                        <a:rPr dirty="0" sz="2000" spc="1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司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比较）</a:t>
                      </a:r>
                      <a:endParaRPr sz="20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657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公司A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公司B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公司C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平均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权益资本市价</a:t>
                      </a:r>
                      <a:r>
                        <a:rPr dirty="0" sz="1800" spc="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/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销售额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1.2X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1.0X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0.8X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1.0X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权益资本市价</a:t>
                      </a:r>
                      <a:r>
                        <a:rPr dirty="0" sz="1800" spc="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/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帐面价值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1.3X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1.2X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2.0X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1.5X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权益资本市价</a:t>
                      </a:r>
                      <a:r>
                        <a:rPr dirty="0" sz="1800" spc="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/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净收入</a:t>
                      </a:r>
                      <a:r>
                        <a:rPr dirty="0" sz="1800" spc="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=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市盈率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8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20X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8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15X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8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25X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8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20X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24331" y="5400548"/>
            <a:ext cx="7795259" cy="63055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950" spc="35">
                <a:solidFill>
                  <a:srgbClr val="FFFFFF"/>
                </a:solidFill>
                <a:latin typeface="华文细黑"/>
                <a:cs typeface="华文细黑"/>
              </a:rPr>
              <a:t>X表示倍</a:t>
            </a:r>
            <a:r>
              <a:rPr dirty="0" sz="1950" spc="60">
                <a:solidFill>
                  <a:srgbClr val="FFFFFF"/>
                </a:solidFill>
                <a:latin typeface="华文细黑"/>
                <a:cs typeface="华文细黑"/>
              </a:rPr>
              <a:t>数</a:t>
            </a:r>
            <a:r>
              <a:rPr dirty="0" sz="1950" spc="35">
                <a:solidFill>
                  <a:srgbClr val="FFFFFF"/>
                </a:solidFill>
                <a:latin typeface="华文细黑"/>
                <a:cs typeface="华文细黑"/>
              </a:rPr>
              <a:t>。注</a:t>
            </a:r>
            <a:r>
              <a:rPr dirty="0" sz="1950" spc="60">
                <a:solidFill>
                  <a:srgbClr val="FFFFFF"/>
                </a:solidFill>
                <a:latin typeface="华文细黑"/>
                <a:cs typeface="华文细黑"/>
              </a:rPr>
              <a:t>意</a:t>
            </a:r>
            <a:r>
              <a:rPr dirty="0" sz="1950" spc="35">
                <a:solidFill>
                  <a:srgbClr val="FFFFFF"/>
                </a:solidFill>
                <a:latin typeface="华文细黑"/>
                <a:cs typeface="华文细黑"/>
              </a:rPr>
              <a:t>我们</a:t>
            </a:r>
            <a:r>
              <a:rPr dirty="0" sz="1950" spc="60">
                <a:solidFill>
                  <a:srgbClr val="FFFFFF"/>
                </a:solidFill>
                <a:latin typeface="华文细黑"/>
                <a:cs typeface="华文细黑"/>
              </a:rPr>
              <a:t>选择</a:t>
            </a:r>
            <a:r>
              <a:rPr dirty="0" sz="1950" spc="35">
                <a:solidFill>
                  <a:srgbClr val="FFFFFF"/>
                </a:solidFill>
                <a:latin typeface="华文细黑"/>
                <a:cs typeface="华文细黑"/>
              </a:rPr>
              <a:t>的这几</a:t>
            </a:r>
            <a:r>
              <a:rPr dirty="0" sz="1950" spc="60">
                <a:solidFill>
                  <a:srgbClr val="FFFFFF"/>
                </a:solidFill>
                <a:latin typeface="华文细黑"/>
                <a:cs typeface="华文细黑"/>
              </a:rPr>
              <a:t>个</a:t>
            </a:r>
            <a:r>
              <a:rPr dirty="0" sz="1950" spc="35">
                <a:solidFill>
                  <a:srgbClr val="FFFFFF"/>
                </a:solidFill>
                <a:latin typeface="华文细黑"/>
                <a:cs typeface="华文细黑"/>
              </a:rPr>
              <a:t>公司</a:t>
            </a:r>
            <a:r>
              <a:rPr dirty="0" sz="1950" spc="60">
                <a:solidFill>
                  <a:srgbClr val="FFFFFF"/>
                </a:solidFill>
                <a:latin typeface="华文细黑"/>
                <a:cs typeface="华文细黑"/>
              </a:rPr>
              <a:t>的</a:t>
            </a:r>
            <a:r>
              <a:rPr dirty="0" sz="1950" spc="35">
                <a:solidFill>
                  <a:srgbClr val="FFFFFF"/>
                </a:solidFill>
                <a:latin typeface="华文细黑"/>
                <a:cs typeface="华文细黑"/>
              </a:rPr>
              <a:t>数据</a:t>
            </a:r>
            <a:r>
              <a:rPr dirty="0" sz="1950" spc="60">
                <a:solidFill>
                  <a:srgbClr val="FFFFFF"/>
                </a:solidFill>
                <a:latin typeface="华文细黑"/>
                <a:cs typeface="华文细黑"/>
              </a:rPr>
              <a:t>都</a:t>
            </a:r>
            <a:r>
              <a:rPr dirty="0" sz="1950" spc="35">
                <a:solidFill>
                  <a:srgbClr val="FFFFFF"/>
                </a:solidFill>
                <a:latin typeface="华文细黑"/>
                <a:cs typeface="华文细黑"/>
              </a:rPr>
              <a:t>很</a:t>
            </a:r>
            <a:r>
              <a:rPr dirty="0" sz="1950" spc="60">
                <a:solidFill>
                  <a:srgbClr val="FFFFFF"/>
                </a:solidFill>
                <a:latin typeface="华文细黑"/>
                <a:cs typeface="华文细黑"/>
              </a:rPr>
              <a:t>接</a:t>
            </a:r>
            <a:r>
              <a:rPr dirty="0" sz="1950" spc="35">
                <a:solidFill>
                  <a:srgbClr val="FFFFFF"/>
                </a:solidFill>
                <a:latin typeface="华文细黑"/>
                <a:cs typeface="华文细黑"/>
              </a:rPr>
              <a:t>近，因</a:t>
            </a:r>
            <a:r>
              <a:rPr dirty="0" sz="1950" spc="60">
                <a:solidFill>
                  <a:srgbClr val="FFFFFF"/>
                </a:solidFill>
                <a:latin typeface="华文细黑"/>
                <a:cs typeface="华文细黑"/>
              </a:rPr>
              <a:t>为</a:t>
            </a:r>
            <a:r>
              <a:rPr dirty="0" sz="1950" spc="35">
                <a:solidFill>
                  <a:srgbClr val="FFFFFF"/>
                </a:solidFill>
                <a:latin typeface="华文细黑"/>
                <a:cs typeface="华文细黑"/>
              </a:rPr>
              <a:t>如果</a:t>
            </a:r>
            <a:r>
              <a:rPr dirty="0" sz="1950" spc="15">
                <a:solidFill>
                  <a:srgbClr val="FFFFFF"/>
                </a:solidFill>
                <a:latin typeface="华文细黑"/>
                <a:cs typeface="华文细黑"/>
              </a:rPr>
              <a:t>这 </a:t>
            </a:r>
            <a:r>
              <a:rPr dirty="0" sz="1950" spc="35">
                <a:solidFill>
                  <a:srgbClr val="FFFFFF"/>
                </a:solidFill>
                <a:latin typeface="华文细黑"/>
                <a:cs typeface="华文细黑"/>
              </a:rPr>
              <a:t>个数据</a:t>
            </a:r>
            <a:r>
              <a:rPr dirty="0" sz="1950" spc="60">
                <a:solidFill>
                  <a:srgbClr val="FFFFFF"/>
                </a:solidFill>
                <a:latin typeface="华文细黑"/>
                <a:cs typeface="华文细黑"/>
              </a:rPr>
              <a:t>相</a:t>
            </a:r>
            <a:r>
              <a:rPr dirty="0" sz="1950" spc="35">
                <a:solidFill>
                  <a:srgbClr val="FFFFFF"/>
                </a:solidFill>
                <a:latin typeface="华文细黑"/>
                <a:cs typeface="华文细黑"/>
              </a:rPr>
              <a:t>差很</a:t>
            </a:r>
            <a:r>
              <a:rPr dirty="0" sz="1950" spc="60">
                <a:solidFill>
                  <a:srgbClr val="FFFFFF"/>
                </a:solidFill>
                <a:latin typeface="华文细黑"/>
                <a:cs typeface="华文细黑"/>
              </a:rPr>
              <a:t>大</a:t>
            </a:r>
            <a:r>
              <a:rPr dirty="0" sz="1950" spc="35">
                <a:solidFill>
                  <a:srgbClr val="FFFFFF"/>
                </a:solidFill>
                <a:latin typeface="华文细黑"/>
                <a:cs typeface="华文细黑"/>
              </a:rPr>
              <a:t>的话</a:t>
            </a:r>
            <a:r>
              <a:rPr dirty="0" sz="1950" spc="60">
                <a:solidFill>
                  <a:srgbClr val="FFFFFF"/>
                </a:solidFill>
                <a:latin typeface="华文细黑"/>
                <a:cs typeface="华文细黑"/>
              </a:rPr>
              <a:t>，</a:t>
            </a:r>
            <a:r>
              <a:rPr dirty="0" sz="1950" spc="35">
                <a:solidFill>
                  <a:srgbClr val="FFFFFF"/>
                </a:solidFill>
                <a:latin typeface="华文细黑"/>
                <a:cs typeface="华文细黑"/>
              </a:rPr>
              <a:t>得</a:t>
            </a:r>
            <a:r>
              <a:rPr dirty="0" sz="1950" spc="60">
                <a:solidFill>
                  <a:srgbClr val="FFFFFF"/>
                </a:solidFill>
                <a:latin typeface="华文细黑"/>
                <a:cs typeface="华文细黑"/>
              </a:rPr>
              <a:t>出</a:t>
            </a:r>
            <a:r>
              <a:rPr dirty="0" sz="1950" spc="35">
                <a:solidFill>
                  <a:srgbClr val="FFFFFF"/>
                </a:solidFill>
                <a:latin typeface="华文细黑"/>
                <a:cs typeface="华文细黑"/>
              </a:rPr>
              <a:t>的平均</a:t>
            </a:r>
            <a:r>
              <a:rPr dirty="0" sz="1950" spc="60">
                <a:solidFill>
                  <a:srgbClr val="FFFFFF"/>
                </a:solidFill>
                <a:latin typeface="华文细黑"/>
                <a:cs typeface="华文细黑"/>
              </a:rPr>
              <a:t>值</a:t>
            </a:r>
            <a:r>
              <a:rPr dirty="0" sz="1950" spc="35">
                <a:solidFill>
                  <a:srgbClr val="FFFFFF"/>
                </a:solidFill>
                <a:latin typeface="华文细黑"/>
                <a:cs typeface="华文细黑"/>
              </a:rPr>
              <a:t>对我</a:t>
            </a:r>
            <a:r>
              <a:rPr dirty="0" sz="1950" spc="60">
                <a:solidFill>
                  <a:srgbClr val="FFFFFF"/>
                </a:solidFill>
                <a:latin typeface="华文细黑"/>
                <a:cs typeface="华文细黑"/>
              </a:rPr>
              <a:t>们</a:t>
            </a:r>
            <a:r>
              <a:rPr dirty="0" sz="1950" spc="35">
                <a:solidFill>
                  <a:srgbClr val="FFFFFF"/>
                </a:solidFill>
                <a:latin typeface="华文细黑"/>
                <a:cs typeface="华文细黑"/>
              </a:rPr>
              <a:t>的分</a:t>
            </a:r>
            <a:r>
              <a:rPr dirty="0" sz="1950" spc="60">
                <a:solidFill>
                  <a:srgbClr val="FFFFFF"/>
                </a:solidFill>
                <a:latin typeface="华文细黑"/>
                <a:cs typeface="华文细黑"/>
              </a:rPr>
              <a:t>析</a:t>
            </a:r>
            <a:r>
              <a:rPr dirty="0" sz="1950" spc="35">
                <a:solidFill>
                  <a:srgbClr val="FFFFFF"/>
                </a:solidFill>
                <a:latin typeface="华文细黑"/>
                <a:cs typeface="华文细黑"/>
              </a:rPr>
              <a:t>没</a:t>
            </a:r>
            <a:r>
              <a:rPr dirty="0" sz="1950" spc="60">
                <a:solidFill>
                  <a:srgbClr val="FFFFFF"/>
                </a:solidFill>
                <a:latin typeface="华文细黑"/>
                <a:cs typeface="华文细黑"/>
              </a:rPr>
              <a:t>有</a:t>
            </a:r>
            <a:r>
              <a:rPr dirty="0" sz="1950" spc="35">
                <a:solidFill>
                  <a:srgbClr val="FFFFFF"/>
                </a:solidFill>
                <a:latin typeface="华文细黑"/>
                <a:cs typeface="华文细黑"/>
              </a:rPr>
              <a:t>太大的</a:t>
            </a:r>
            <a:r>
              <a:rPr dirty="0" sz="1950" spc="60">
                <a:solidFill>
                  <a:srgbClr val="FFFFFF"/>
                </a:solidFill>
                <a:latin typeface="华文细黑"/>
                <a:cs typeface="华文细黑"/>
              </a:rPr>
              <a:t>价</a:t>
            </a:r>
            <a:r>
              <a:rPr dirty="0" sz="1950" spc="35">
                <a:solidFill>
                  <a:srgbClr val="FFFFFF"/>
                </a:solidFill>
                <a:latin typeface="华文细黑"/>
                <a:cs typeface="华文细黑"/>
              </a:rPr>
              <a:t>值</a:t>
            </a:r>
            <a:r>
              <a:rPr dirty="0" sz="1950" spc="15">
                <a:solidFill>
                  <a:srgbClr val="FFFFFF"/>
                </a:solidFill>
                <a:latin typeface="华文细黑"/>
                <a:cs typeface="华文细黑"/>
              </a:rPr>
              <a:t>。</a:t>
            </a:r>
            <a:endParaRPr sz="1950">
              <a:latin typeface="华文细黑"/>
              <a:cs typeface="华文细黑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30351" y="1548384"/>
          <a:ext cx="8046720" cy="2676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22905"/>
                <a:gridCol w="2489835"/>
                <a:gridCol w="2614929"/>
              </a:tblGrid>
              <a:tr h="509015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dirty="0" sz="2000" spc="1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用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价值</a:t>
                      </a:r>
                      <a:r>
                        <a:rPr dirty="0" sz="2000" spc="1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比</a:t>
                      </a:r>
                      <a:r>
                        <a:rPr dirty="0" sz="2000" spc="-36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评估</a:t>
                      </a:r>
                      <a:r>
                        <a:rPr dirty="0" sz="2000" spc="-365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W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公</a:t>
                      </a:r>
                      <a:r>
                        <a:rPr dirty="0" sz="2000" spc="1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司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的价值</a:t>
                      </a:r>
                      <a:endParaRPr sz="20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1085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297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dirty="0" sz="1800" spc="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W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公司最近的真实数据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819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市场平均比率由计算得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819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权益资本价值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819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29767">
                <a:tc>
                  <a:txBody>
                    <a:bodyPr/>
                    <a:lstStyle/>
                    <a:p>
                      <a:pPr algn="ctr" marL="8890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销售额=$10000万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819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1.0X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819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dirty="0" sz="18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10000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万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819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32815"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权益资本帐面价值=$6000万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850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1.5X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850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9000万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850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29767"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净收入</a:t>
                      </a:r>
                      <a:r>
                        <a:rPr dirty="0" sz="18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=$500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万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850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8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20X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850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8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10000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万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850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328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平均=$9700万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850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532891" y="4230116"/>
            <a:ext cx="7990205" cy="2363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100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可比公司法的优点在于可以用来确定一个股票不公开交易 的公司的价值。</a:t>
            </a:r>
            <a:endParaRPr sz="2400">
              <a:latin typeface="宋体"/>
              <a:cs typeface="宋体"/>
            </a:endParaRPr>
          </a:p>
          <a:p>
            <a:pPr marL="356870" marR="5080" indent="-344805">
              <a:lnSpc>
                <a:spcPct val="100000"/>
              </a:lnSpc>
              <a:spcBef>
                <a:spcPts val="575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它原来是用于评估上市公司价值的一种方法，除可用于评 估非上市的目标公司外，还可用来评估主并公司的价值。</a:t>
            </a:r>
            <a:endParaRPr sz="2400">
              <a:latin typeface="宋体"/>
              <a:cs typeface="宋体"/>
            </a:endParaRPr>
          </a:p>
          <a:p>
            <a:pPr marL="356870" marR="5080" indent="-344805">
              <a:lnSpc>
                <a:spcPts val="2860"/>
              </a:lnSpc>
              <a:spcBef>
                <a:spcPts val="690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要评估购并价值是因为收购企业和被收购企业都想确定收 购价格是否合理。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24404" y="670052"/>
            <a:ext cx="36830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可比公司法（续）</a:t>
            </a:r>
            <a:endParaRPr sz="3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60247" y="4282440"/>
          <a:ext cx="8296909" cy="2319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15130"/>
                <a:gridCol w="1005839"/>
                <a:gridCol w="1005839"/>
                <a:gridCol w="1009015"/>
                <a:gridCol w="1042670"/>
              </a:tblGrid>
              <a:tr h="490727">
                <a:tc grid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dirty="0" sz="2000" spc="1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可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比交</a:t>
                      </a:r>
                      <a:r>
                        <a:rPr dirty="0" sz="2000" spc="1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易</a:t>
                      </a:r>
                      <a:r>
                        <a:rPr dirty="0" sz="2000" spc="-275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比率（W</a:t>
                      </a:r>
                      <a:r>
                        <a:rPr dirty="0" sz="2000" spc="1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公</a:t>
                      </a:r>
                      <a:r>
                        <a:rPr dirty="0" sz="2000" spc="-8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司与</a:t>
                      </a:r>
                      <a:r>
                        <a:rPr dirty="0" sz="2000" spc="-25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TA</a:t>
                      </a:r>
                      <a:r>
                        <a:rPr dirty="0" sz="2000" spc="-12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、</a:t>
                      </a:r>
                      <a:r>
                        <a:rPr dirty="0" sz="2000" spc="-175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TB</a:t>
                      </a:r>
                      <a:r>
                        <a:rPr dirty="0" sz="2000" spc="-12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、</a:t>
                      </a:r>
                      <a:r>
                        <a:rPr dirty="0" sz="2000" spc="-20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TC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公司</a:t>
                      </a:r>
                      <a:r>
                        <a:rPr dirty="0" sz="2000" spc="1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比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较）</a:t>
                      </a:r>
                      <a:endParaRPr sz="20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1022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541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公司A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971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公司B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971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公司C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971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平均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971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5415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权益资本市价</a:t>
                      </a:r>
                      <a:r>
                        <a:rPr dirty="0" sz="1800" spc="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/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销售额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971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1.4X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971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1.2X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971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1.0X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971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1.2X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971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54151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权益资本市价</a:t>
                      </a:r>
                      <a:r>
                        <a:rPr dirty="0" sz="1800" spc="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/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帐面价值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946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1.5X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946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1.4X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946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2.3X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946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1.7X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946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54151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权益资本市价</a:t>
                      </a:r>
                      <a:r>
                        <a:rPr dirty="0" sz="1800" spc="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/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净收入</a:t>
                      </a:r>
                      <a:r>
                        <a:rPr dirty="0" sz="1800" spc="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=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市盈率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939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dirty="0" sz="18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25X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939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dirty="0" sz="18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20X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939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dirty="0" sz="18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27X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939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dirty="0" sz="18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24X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939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532891" y="1575308"/>
            <a:ext cx="7990205" cy="2509520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algn="just" marL="356870" marR="5080" indent="-344805">
              <a:lnSpc>
                <a:spcPct val="79800"/>
              </a:lnSpc>
              <a:spcBef>
                <a:spcPts val="680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前面表的数据也能用来展示可比交易法。这时表中的数据 就表示有过同类并购交易活动的公司的数据。在购并交易 中，有一点要澄清的是：当我们使用“市场价值”这一术 语时，并不是指并购宣布前该公司普通股的市价，而是指 最近的市场交易价。一般来说，并购会引起股价比并购消 息释放出来以前上升30-40%</a:t>
            </a:r>
            <a:r>
              <a:rPr dirty="0" sz="2400" spc="-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 algn="just" marL="356870" marR="5080" indent="-344805">
              <a:lnSpc>
                <a:spcPts val="2300"/>
              </a:lnSpc>
              <a:spcBef>
                <a:spcPts val="560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下面把前面的表换成下面的表，由于股价上升，所以表中 的数据有所增大。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10203" y="670052"/>
            <a:ext cx="23114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可比交易法</a:t>
            </a:r>
            <a:endParaRPr sz="36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30351" y="1618488"/>
          <a:ext cx="8153400" cy="27495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75305"/>
                <a:gridCol w="1771015"/>
                <a:gridCol w="3288664"/>
              </a:tblGrid>
              <a:tr h="487679">
                <a:tc gridSpan="3">
                  <a:txBody>
                    <a:bodyPr/>
                    <a:lstStyle/>
                    <a:p>
                      <a:pPr algn="ctr" marR="1270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dirty="0" sz="2000" spc="1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用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价值</a:t>
                      </a:r>
                      <a:r>
                        <a:rPr dirty="0" sz="2000" spc="1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比</a:t>
                      </a:r>
                      <a:r>
                        <a:rPr dirty="0" sz="2000" spc="-36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评估</a:t>
                      </a:r>
                      <a:r>
                        <a:rPr dirty="0" sz="2000" spc="-365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W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公</a:t>
                      </a:r>
                      <a:r>
                        <a:rPr dirty="0" sz="2000" spc="1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司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的价值</a:t>
                      </a:r>
                      <a:endParaRPr sz="20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990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511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市场平均比率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939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由计算得到权益资本价值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939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51103"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销售额=$10000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914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1.2X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914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$12000万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914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48055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权益资本帐面价值=$6000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914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1.7X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914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$10200万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914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51103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净收入=$500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939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dirty="0" sz="18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24X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939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$12000万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939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480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平均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939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$11400万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939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532891" y="4519676"/>
            <a:ext cx="7837805" cy="155892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356870" marR="5080" indent="-344805">
              <a:lnSpc>
                <a:spcPts val="2860"/>
              </a:lnSpc>
              <a:spcBef>
                <a:spcPts val="210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表中的大是因为并购使被收购公司股价上升。W公司的股 价现在为$1.14亿，比表5.1中的$0.97亿高了17.5%。</a:t>
            </a:r>
            <a:endParaRPr sz="2400">
              <a:latin typeface="宋体"/>
              <a:cs typeface="宋体"/>
            </a:endParaRPr>
          </a:p>
          <a:p>
            <a:pPr marL="356870" marR="5080" indent="-344805">
              <a:lnSpc>
                <a:spcPct val="100000"/>
              </a:lnSpc>
              <a:spcBef>
                <a:spcPts val="480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当W公司将被收购时而以前没有类似的交易发生，这时无 法用可比交易法，只能用可比公司法。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24404" y="670052"/>
            <a:ext cx="36830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可比交易法（续）</a:t>
            </a:r>
            <a:endParaRPr sz="36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2891" y="1669796"/>
            <a:ext cx="8194040" cy="44678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6870" marR="5080" indent="-344805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Font typeface="Arial"/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这几张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展示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了可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比公司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可比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交易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法。使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的比 率是权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益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市价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对销售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额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的比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率、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权益资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市价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对帐面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价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值的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比率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及市盈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率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algn="just" marL="356870" marR="5080" indent="-344805">
              <a:lnSpc>
                <a:spcPct val="100000"/>
              </a:lnSpc>
              <a:spcBef>
                <a:spcPts val="675"/>
              </a:spcBef>
              <a:buClr>
                <a:srgbClr val="FF6600"/>
              </a:buClr>
              <a:buFont typeface="Arial"/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在其他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情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况下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，也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可使用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他比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率。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例如：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每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个雇 员的销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售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额或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收益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，每个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雇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员的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净收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入，每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元的 销售额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收益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所需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投入的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产额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。这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些比率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提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供了 有关公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绩效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些补充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息。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它们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可用来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调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整由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可比公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或可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比交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易法得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的平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均数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algn="just" marL="356870" marR="5080" indent="-344805">
              <a:lnSpc>
                <a:spcPct val="100000"/>
              </a:lnSpc>
              <a:spcBef>
                <a:spcPts val="695"/>
              </a:spcBef>
              <a:buClr>
                <a:srgbClr val="FF6600"/>
              </a:buClr>
              <a:buFont typeface="Arial"/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在实际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购活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动中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，投资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行既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使用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可比公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法，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又使用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比交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易法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，并且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辅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以其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他可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比方法。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99236" y="639572"/>
            <a:ext cx="7139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可比公</a:t>
            </a:r>
            <a:r>
              <a:rPr dirty="0" spc="-20"/>
              <a:t>司</a:t>
            </a:r>
            <a:r>
              <a:rPr dirty="0" spc="5"/>
              <a:t>法</a:t>
            </a:r>
            <a:r>
              <a:rPr dirty="0" spc="-20"/>
              <a:t>与</a:t>
            </a:r>
            <a:r>
              <a:rPr dirty="0" spc="5"/>
              <a:t>可比交</a:t>
            </a:r>
            <a:r>
              <a:rPr dirty="0" spc="-20"/>
              <a:t>易</a:t>
            </a:r>
            <a:r>
              <a:rPr dirty="0" spc="5"/>
              <a:t>法</a:t>
            </a:r>
            <a:r>
              <a:rPr dirty="0" spc="-20"/>
              <a:t>（</a:t>
            </a:r>
            <a:r>
              <a:rPr dirty="0" spc="5"/>
              <a:t>续）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2251" y="639572"/>
            <a:ext cx="307657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分析表</a:t>
            </a:r>
            <a:r>
              <a:rPr dirty="0" spc="-20"/>
              <a:t>估</a:t>
            </a:r>
            <a:r>
              <a:rPr dirty="0" spc="5"/>
              <a:t>价法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642364"/>
            <a:ext cx="8291830" cy="494728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356870" marR="5080" indent="-344805">
              <a:lnSpc>
                <a:spcPct val="100299"/>
              </a:lnSpc>
              <a:spcBef>
                <a:spcPts val="80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分析表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列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出了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相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关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现金流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。它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从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产负债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平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衡 表、损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益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表、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流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量表得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出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的。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这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种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方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法为详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细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分 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析公司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财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务比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率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提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供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了基础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揭示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了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司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的财务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方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式。 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这种详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细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的财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务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析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涉及</a:t>
            </a:r>
            <a:r>
              <a:rPr dirty="0" sz="2600">
                <a:solidFill>
                  <a:srgbClr val="FFFFFF"/>
                </a:solidFill>
                <a:latin typeface="宋体"/>
                <a:cs typeface="宋体"/>
              </a:rPr>
              <a:t>7--10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年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历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史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数据。</a:t>
            </a:r>
            <a:endParaRPr sz="2600">
              <a:latin typeface="宋体"/>
              <a:cs typeface="宋体"/>
            </a:endParaRPr>
          </a:p>
          <a:p>
            <a:pPr marL="356870" marR="5080" indent="-344805">
              <a:lnSpc>
                <a:spcPct val="100299"/>
              </a:lnSpc>
              <a:spcBef>
                <a:spcPts val="61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分析表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除了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要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使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并购公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司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财务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方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面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历史数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据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外， 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分析者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还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要分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析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该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司所处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行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业的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经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济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前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景，公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司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过 去及将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来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的竞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争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地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位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，并评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估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其竞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争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者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也就是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可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比 公司）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财务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模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公司战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略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和公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司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行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600">
              <a:latin typeface="宋体"/>
              <a:cs typeface="宋体"/>
            </a:endParaRPr>
          </a:p>
          <a:p>
            <a:pPr marL="356870" marR="334010" indent="-344805">
              <a:lnSpc>
                <a:spcPct val="100000"/>
              </a:lnSpc>
              <a:spcBef>
                <a:spcPts val="62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一家收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购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公司</a:t>
            </a:r>
            <a:r>
              <a:rPr dirty="0" sz="2600" spc="15">
                <a:solidFill>
                  <a:srgbClr val="FFFFFF"/>
                </a:solidFill>
                <a:latin typeface="宋体"/>
                <a:cs typeface="宋体"/>
              </a:rPr>
              <a:t>A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拟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收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购目标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司T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标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公司的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购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买价 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600" spc="-5">
                <a:solidFill>
                  <a:srgbClr val="FFFFFF"/>
                </a:solidFill>
                <a:latin typeface="宋体"/>
                <a:cs typeface="宋体"/>
              </a:rPr>
              <a:t>$18000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万，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以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后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600" spc="-5">
                <a:solidFill>
                  <a:srgbClr val="FFFFFF"/>
                </a:solidFill>
                <a:latin typeface="宋体"/>
                <a:cs typeface="宋体"/>
              </a:rPr>
              <a:t>10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年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将从</a:t>
            </a:r>
            <a:r>
              <a:rPr dirty="0" sz="2600" spc="15">
                <a:solidFill>
                  <a:srgbClr val="FFFFFF"/>
                </a:solidFill>
                <a:latin typeface="宋体"/>
                <a:cs typeface="宋体"/>
              </a:rPr>
              <a:t>T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司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得到每年</a:t>
            </a:r>
            <a:endParaRPr sz="2600">
              <a:latin typeface="宋体"/>
              <a:cs typeface="宋体"/>
            </a:endParaRPr>
          </a:p>
          <a:p>
            <a:pPr marL="356870" marR="334010">
              <a:lnSpc>
                <a:spcPts val="3140"/>
              </a:lnSpc>
              <a:spcBef>
                <a:spcPts val="90"/>
              </a:spcBef>
            </a:pPr>
            <a:r>
              <a:rPr dirty="0" sz="2600" spc="-5">
                <a:solidFill>
                  <a:srgbClr val="FFFFFF"/>
                </a:solidFill>
                <a:latin typeface="宋体"/>
                <a:cs typeface="宋体"/>
              </a:rPr>
              <a:t>$4000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万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的净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流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量。资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成本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600" spc="-5">
                <a:solidFill>
                  <a:srgbClr val="FFFFFF"/>
                </a:solidFill>
                <a:latin typeface="宋体"/>
                <a:cs typeface="宋体"/>
              </a:rPr>
              <a:t>14</a:t>
            </a:r>
            <a:r>
              <a:rPr dirty="0" sz="2600" spc="15">
                <a:solidFill>
                  <a:srgbClr val="FFFFFF"/>
                </a:solidFill>
                <a:latin typeface="宋体"/>
                <a:cs typeface="宋体"/>
              </a:rPr>
              <a:t>%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。这一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收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购能 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得到正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600" spc="-5">
                <a:solidFill>
                  <a:srgbClr val="FFFFFF"/>
                </a:solidFill>
                <a:latin typeface="宋体"/>
                <a:cs typeface="宋体"/>
              </a:rPr>
              <a:t>NPV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吗</a:t>
            </a:r>
            <a:r>
              <a:rPr dirty="0" sz="2600">
                <a:solidFill>
                  <a:srgbClr val="FFFFFF"/>
                </a:solidFill>
                <a:latin typeface="宋体"/>
                <a:cs typeface="宋体"/>
              </a:rPr>
              <a:t>？NPV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的计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算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公式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如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下：</a:t>
            </a:r>
            <a:endParaRPr sz="2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"/>
            <a:ext cx="9137902" cy="68518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3528" y="42672"/>
            <a:ext cx="2157984" cy="4328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40207" y="185928"/>
            <a:ext cx="8857615" cy="6553200"/>
          </a:xfrm>
          <a:custGeom>
            <a:avLst/>
            <a:gdLst/>
            <a:ahLst/>
            <a:cxnLst/>
            <a:rect l="l" t="t" r="r" b="b"/>
            <a:pathLst>
              <a:path w="8857615" h="6553200">
                <a:moveTo>
                  <a:pt x="0" y="0"/>
                </a:moveTo>
                <a:lnTo>
                  <a:pt x="0" y="6553199"/>
                </a:lnTo>
                <a:lnTo>
                  <a:pt x="8857487" y="6553199"/>
                </a:lnTo>
                <a:lnTo>
                  <a:pt x="8857487" y="0"/>
                </a:lnTo>
                <a:lnTo>
                  <a:pt x="0" y="0"/>
                </a:lnTo>
              </a:path>
            </a:pathLst>
          </a:custGeom>
          <a:ln w="18287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306056" y="1412748"/>
            <a:ext cx="1670685" cy="0"/>
          </a:xfrm>
          <a:custGeom>
            <a:avLst/>
            <a:gdLst/>
            <a:ahLst/>
            <a:cxnLst/>
            <a:rect l="l" t="t" r="r" b="b"/>
            <a:pathLst>
              <a:path w="1670684" h="0">
                <a:moveTo>
                  <a:pt x="0" y="0"/>
                </a:moveTo>
                <a:lnTo>
                  <a:pt x="1670304" y="0"/>
                </a:lnTo>
              </a:path>
            </a:pathLst>
          </a:custGeom>
          <a:ln w="3175">
            <a:solidFill>
              <a:srgbClr val="0909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1920" y="1412748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264" y="0"/>
                </a:lnTo>
              </a:path>
            </a:pathLst>
          </a:custGeom>
          <a:ln w="3175">
            <a:solidFill>
              <a:srgbClr val="0909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306056" y="1415796"/>
            <a:ext cx="1670685" cy="0"/>
          </a:xfrm>
          <a:custGeom>
            <a:avLst/>
            <a:gdLst/>
            <a:ahLst/>
            <a:cxnLst/>
            <a:rect l="l" t="t" r="r" b="b"/>
            <a:pathLst>
              <a:path w="1670684" h="0">
                <a:moveTo>
                  <a:pt x="0" y="0"/>
                </a:moveTo>
                <a:lnTo>
                  <a:pt x="1670304" y="0"/>
                </a:lnTo>
              </a:path>
            </a:pathLst>
          </a:custGeom>
          <a:ln w="3175">
            <a:solidFill>
              <a:srgbClr val="1212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1920" y="1415796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264" y="0"/>
                </a:lnTo>
              </a:path>
            </a:pathLst>
          </a:custGeom>
          <a:ln w="3175">
            <a:solidFill>
              <a:srgbClr val="1212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306056" y="1418844"/>
            <a:ext cx="1670685" cy="0"/>
          </a:xfrm>
          <a:custGeom>
            <a:avLst/>
            <a:gdLst/>
            <a:ahLst/>
            <a:cxnLst/>
            <a:rect l="l" t="t" r="r" b="b"/>
            <a:pathLst>
              <a:path w="1670684" h="0">
                <a:moveTo>
                  <a:pt x="0" y="0"/>
                </a:moveTo>
                <a:lnTo>
                  <a:pt x="1670304" y="0"/>
                </a:lnTo>
              </a:path>
            </a:pathLst>
          </a:custGeom>
          <a:ln w="3175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1920" y="1418844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264" y="0"/>
                </a:lnTo>
              </a:path>
            </a:pathLst>
          </a:custGeom>
          <a:ln w="3175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306056" y="1421892"/>
            <a:ext cx="1670685" cy="0"/>
          </a:xfrm>
          <a:custGeom>
            <a:avLst/>
            <a:gdLst/>
            <a:ahLst/>
            <a:cxnLst/>
            <a:rect l="l" t="t" r="r" b="b"/>
            <a:pathLst>
              <a:path w="1670684" h="0">
                <a:moveTo>
                  <a:pt x="0" y="0"/>
                </a:moveTo>
                <a:lnTo>
                  <a:pt x="1670304" y="0"/>
                </a:lnTo>
              </a:path>
            </a:pathLst>
          </a:custGeom>
          <a:ln w="3175">
            <a:solidFill>
              <a:srgbClr val="2020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21920" y="1421892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264" y="0"/>
                </a:lnTo>
              </a:path>
            </a:pathLst>
          </a:custGeom>
          <a:ln w="3175">
            <a:solidFill>
              <a:srgbClr val="2020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306056" y="1424940"/>
            <a:ext cx="1670685" cy="0"/>
          </a:xfrm>
          <a:custGeom>
            <a:avLst/>
            <a:gdLst/>
            <a:ahLst/>
            <a:cxnLst/>
            <a:rect l="l" t="t" r="r" b="b"/>
            <a:pathLst>
              <a:path w="1670684" h="0">
                <a:moveTo>
                  <a:pt x="0" y="0"/>
                </a:moveTo>
                <a:lnTo>
                  <a:pt x="1670304" y="0"/>
                </a:lnTo>
              </a:path>
            </a:pathLst>
          </a:custGeom>
          <a:ln w="3175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21920" y="1424940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264" y="0"/>
                </a:lnTo>
              </a:path>
            </a:pathLst>
          </a:custGeom>
          <a:ln w="3175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306056" y="1427988"/>
            <a:ext cx="1670685" cy="0"/>
          </a:xfrm>
          <a:custGeom>
            <a:avLst/>
            <a:gdLst/>
            <a:ahLst/>
            <a:cxnLst/>
            <a:rect l="l" t="t" r="r" b="b"/>
            <a:pathLst>
              <a:path w="1670684" h="0">
                <a:moveTo>
                  <a:pt x="0" y="0"/>
                </a:moveTo>
                <a:lnTo>
                  <a:pt x="1670304" y="0"/>
                </a:lnTo>
              </a:path>
            </a:pathLst>
          </a:custGeom>
          <a:ln w="3175">
            <a:solidFill>
              <a:srgbClr val="2A2A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21920" y="1427988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264" y="0"/>
                </a:lnTo>
              </a:path>
            </a:pathLst>
          </a:custGeom>
          <a:ln w="3175">
            <a:solidFill>
              <a:srgbClr val="2A2A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306056" y="1431036"/>
            <a:ext cx="1670685" cy="0"/>
          </a:xfrm>
          <a:custGeom>
            <a:avLst/>
            <a:gdLst/>
            <a:ahLst/>
            <a:cxnLst/>
            <a:rect l="l" t="t" r="r" b="b"/>
            <a:pathLst>
              <a:path w="1670684" h="0">
                <a:moveTo>
                  <a:pt x="0" y="0"/>
                </a:moveTo>
                <a:lnTo>
                  <a:pt x="1670304" y="0"/>
                </a:lnTo>
              </a:path>
            </a:pathLst>
          </a:custGeom>
          <a:ln w="3175">
            <a:solidFill>
              <a:srgbClr val="3131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21920" y="1431036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264" y="0"/>
                </a:lnTo>
              </a:path>
            </a:pathLst>
          </a:custGeom>
          <a:ln w="3175">
            <a:solidFill>
              <a:srgbClr val="3131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306056" y="1434084"/>
            <a:ext cx="1670685" cy="0"/>
          </a:xfrm>
          <a:custGeom>
            <a:avLst/>
            <a:gdLst/>
            <a:ahLst/>
            <a:cxnLst/>
            <a:rect l="l" t="t" r="r" b="b"/>
            <a:pathLst>
              <a:path w="1670684" h="0">
                <a:moveTo>
                  <a:pt x="0" y="0"/>
                </a:moveTo>
                <a:lnTo>
                  <a:pt x="1670304" y="0"/>
                </a:lnTo>
              </a:path>
            </a:pathLst>
          </a:custGeom>
          <a:ln w="3175">
            <a:solidFill>
              <a:srgbClr val="36363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21920" y="1434084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264" y="0"/>
                </a:lnTo>
              </a:path>
            </a:pathLst>
          </a:custGeom>
          <a:ln w="3175">
            <a:solidFill>
              <a:srgbClr val="36363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306056" y="1437132"/>
            <a:ext cx="1670685" cy="0"/>
          </a:xfrm>
          <a:custGeom>
            <a:avLst/>
            <a:gdLst/>
            <a:ahLst/>
            <a:cxnLst/>
            <a:rect l="l" t="t" r="r" b="b"/>
            <a:pathLst>
              <a:path w="1670684" h="0">
                <a:moveTo>
                  <a:pt x="0" y="0"/>
                </a:moveTo>
                <a:lnTo>
                  <a:pt x="1670304" y="0"/>
                </a:lnTo>
              </a:path>
            </a:pathLst>
          </a:custGeom>
          <a:ln w="3175">
            <a:solidFill>
              <a:srgbClr val="3C3C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21920" y="1437132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264" y="0"/>
                </a:lnTo>
              </a:path>
            </a:pathLst>
          </a:custGeom>
          <a:ln w="3175">
            <a:solidFill>
              <a:srgbClr val="3C3C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306056" y="1440180"/>
            <a:ext cx="1670685" cy="0"/>
          </a:xfrm>
          <a:custGeom>
            <a:avLst/>
            <a:gdLst/>
            <a:ahLst/>
            <a:cxnLst/>
            <a:rect l="l" t="t" r="r" b="b"/>
            <a:pathLst>
              <a:path w="1670684" h="0">
                <a:moveTo>
                  <a:pt x="0" y="0"/>
                </a:moveTo>
                <a:lnTo>
                  <a:pt x="1670304" y="0"/>
                </a:lnTo>
              </a:path>
            </a:pathLst>
          </a:custGeom>
          <a:ln w="3175">
            <a:solidFill>
              <a:srgbClr val="41414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21920" y="1440180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264" y="0"/>
                </a:lnTo>
              </a:path>
            </a:pathLst>
          </a:custGeom>
          <a:ln w="3175">
            <a:solidFill>
              <a:srgbClr val="41414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306056" y="1443228"/>
            <a:ext cx="1670685" cy="0"/>
          </a:xfrm>
          <a:custGeom>
            <a:avLst/>
            <a:gdLst/>
            <a:ahLst/>
            <a:cxnLst/>
            <a:rect l="l" t="t" r="r" b="b"/>
            <a:pathLst>
              <a:path w="1670684" h="0">
                <a:moveTo>
                  <a:pt x="0" y="0"/>
                </a:moveTo>
                <a:lnTo>
                  <a:pt x="1670304" y="0"/>
                </a:lnTo>
              </a:path>
            </a:pathLst>
          </a:custGeom>
          <a:ln w="3175">
            <a:solidFill>
              <a:srgbClr val="49494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21920" y="1443228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264" y="0"/>
                </a:lnTo>
              </a:path>
            </a:pathLst>
          </a:custGeom>
          <a:ln w="3175">
            <a:solidFill>
              <a:srgbClr val="49494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306056" y="1446276"/>
            <a:ext cx="1670685" cy="0"/>
          </a:xfrm>
          <a:custGeom>
            <a:avLst/>
            <a:gdLst/>
            <a:ahLst/>
            <a:cxnLst/>
            <a:rect l="l" t="t" r="r" b="b"/>
            <a:pathLst>
              <a:path w="1670684" h="0">
                <a:moveTo>
                  <a:pt x="0" y="0"/>
                </a:moveTo>
                <a:lnTo>
                  <a:pt x="1670304" y="0"/>
                </a:lnTo>
              </a:path>
            </a:pathLst>
          </a:custGeom>
          <a:ln w="3175">
            <a:solidFill>
              <a:srgbClr val="4E4E4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21920" y="1446276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264" y="0"/>
                </a:lnTo>
              </a:path>
            </a:pathLst>
          </a:custGeom>
          <a:ln w="3175">
            <a:solidFill>
              <a:srgbClr val="4E4E4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306056" y="1449324"/>
            <a:ext cx="1670685" cy="0"/>
          </a:xfrm>
          <a:custGeom>
            <a:avLst/>
            <a:gdLst/>
            <a:ahLst/>
            <a:cxnLst/>
            <a:rect l="l" t="t" r="r" b="b"/>
            <a:pathLst>
              <a:path w="1670684" h="0">
                <a:moveTo>
                  <a:pt x="0" y="0"/>
                </a:moveTo>
                <a:lnTo>
                  <a:pt x="1670304" y="0"/>
                </a:lnTo>
              </a:path>
            </a:pathLst>
          </a:custGeom>
          <a:ln w="3175">
            <a:solidFill>
              <a:srgbClr val="5454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21920" y="1449324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264" y="0"/>
                </a:lnTo>
              </a:path>
            </a:pathLst>
          </a:custGeom>
          <a:ln w="3175">
            <a:solidFill>
              <a:srgbClr val="5454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306056" y="1452372"/>
            <a:ext cx="1670685" cy="0"/>
          </a:xfrm>
          <a:custGeom>
            <a:avLst/>
            <a:gdLst/>
            <a:ahLst/>
            <a:cxnLst/>
            <a:rect l="l" t="t" r="r" b="b"/>
            <a:pathLst>
              <a:path w="1670684" h="0">
                <a:moveTo>
                  <a:pt x="0" y="0"/>
                </a:moveTo>
                <a:lnTo>
                  <a:pt x="1670304" y="0"/>
                </a:lnTo>
              </a:path>
            </a:pathLst>
          </a:custGeom>
          <a:ln w="3175">
            <a:solidFill>
              <a:srgbClr val="5B5B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21920" y="1452372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264" y="0"/>
                </a:lnTo>
              </a:path>
            </a:pathLst>
          </a:custGeom>
          <a:ln w="3175">
            <a:solidFill>
              <a:srgbClr val="5B5B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306056" y="1455420"/>
            <a:ext cx="1670685" cy="0"/>
          </a:xfrm>
          <a:custGeom>
            <a:avLst/>
            <a:gdLst/>
            <a:ahLst/>
            <a:cxnLst/>
            <a:rect l="l" t="t" r="r" b="b"/>
            <a:pathLst>
              <a:path w="1670684" h="0">
                <a:moveTo>
                  <a:pt x="0" y="0"/>
                </a:moveTo>
                <a:lnTo>
                  <a:pt x="1670304" y="0"/>
                </a:lnTo>
              </a:path>
            </a:pathLst>
          </a:custGeom>
          <a:ln w="3175">
            <a:solidFill>
              <a:srgbClr val="61616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21920" y="1455420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264" y="0"/>
                </a:lnTo>
              </a:path>
            </a:pathLst>
          </a:custGeom>
          <a:ln w="3175">
            <a:solidFill>
              <a:srgbClr val="61616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306056" y="1458468"/>
            <a:ext cx="1670685" cy="0"/>
          </a:xfrm>
          <a:custGeom>
            <a:avLst/>
            <a:gdLst/>
            <a:ahLst/>
            <a:cxnLst/>
            <a:rect l="l" t="t" r="r" b="b"/>
            <a:pathLst>
              <a:path w="1670684" h="0">
                <a:moveTo>
                  <a:pt x="0" y="0"/>
                </a:moveTo>
                <a:lnTo>
                  <a:pt x="1670304" y="0"/>
                </a:lnTo>
              </a:path>
            </a:pathLst>
          </a:custGeom>
          <a:ln w="3175">
            <a:solidFill>
              <a:srgbClr val="6767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21920" y="1458468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264" y="0"/>
                </a:lnTo>
              </a:path>
            </a:pathLst>
          </a:custGeom>
          <a:ln w="3175">
            <a:solidFill>
              <a:srgbClr val="6767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306056" y="1461516"/>
            <a:ext cx="1670685" cy="0"/>
          </a:xfrm>
          <a:custGeom>
            <a:avLst/>
            <a:gdLst/>
            <a:ahLst/>
            <a:cxnLst/>
            <a:rect l="l" t="t" r="r" b="b"/>
            <a:pathLst>
              <a:path w="1670684" h="0">
                <a:moveTo>
                  <a:pt x="0" y="0"/>
                </a:moveTo>
                <a:lnTo>
                  <a:pt x="1670304" y="0"/>
                </a:lnTo>
              </a:path>
            </a:pathLst>
          </a:custGeom>
          <a:ln w="3175">
            <a:solidFill>
              <a:srgbClr val="6E6E6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21920" y="1461516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264" y="0"/>
                </a:lnTo>
              </a:path>
            </a:pathLst>
          </a:custGeom>
          <a:ln w="3175">
            <a:solidFill>
              <a:srgbClr val="6E6E6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306056" y="1464564"/>
            <a:ext cx="1670685" cy="0"/>
          </a:xfrm>
          <a:custGeom>
            <a:avLst/>
            <a:gdLst/>
            <a:ahLst/>
            <a:cxnLst/>
            <a:rect l="l" t="t" r="r" b="b"/>
            <a:pathLst>
              <a:path w="1670684" h="0">
                <a:moveTo>
                  <a:pt x="0" y="0"/>
                </a:moveTo>
                <a:lnTo>
                  <a:pt x="1670304" y="0"/>
                </a:lnTo>
              </a:path>
            </a:pathLst>
          </a:custGeom>
          <a:ln w="3175">
            <a:solidFill>
              <a:srgbClr val="7373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21920" y="1464564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264" y="0"/>
                </a:lnTo>
              </a:path>
            </a:pathLst>
          </a:custGeom>
          <a:ln w="3175">
            <a:solidFill>
              <a:srgbClr val="7373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306056" y="1467612"/>
            <a:ext cx="1670685" cy="0"/>
          </a:xfrm>
          <a:custGeom>
            <a:avLst/>
            <a:gdLst/>
            <a:ahLst/>
            <a:cxnLst/>
            <a:rect l="l" t="t" r="r" b="b"/>
            <a:pathLst>
              <a:path w="1670684" h="0">
                <a:moveTo>
                  <a:pt x="0" y="0"/>
                </a:moveTo>
                <a:lnTo>
                  <a:pt x="1670304" y="0"/>
                </a:lnTo>
              </a:path>
            </a:pathLst>
          </a:custGeom>
          <a:ln w="3175">
            <a:solidFill>
              <a:srgbClr val="7979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21920" y="1467612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264" y="0"/>
                </a:lnTo>
              </a:path>
            </a:pathLst>
          </a:custGeom>
          <a:ln w="3175">
            <a:solidFill>
              <a:srgbClr val="7979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306056" y="1470660"/>
            <a:ext cx="1670685" cy="0"/>
          </a:xfrm>
          <a:custGeom>
            <a:avLst/>
            <a:gdLst/>
            <a:ahLst/>
            <a:cxnLst/>
            <a:rect l="l" t="t" r="r" b="b"/>
            <a:pathLst>
              <a:path w="1670684" h="0">
                <a:moveTo>
                  <a:pt x="0" y="0"/>
                </a:moveTo>
                <a:lnTo>
                  <a:pt x="1670304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21920" y="1470660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264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306056" y="1473708"/>
            <a:ext cx="1670685" cy="0"/>
          </a:xfrm>
          <a:custGeom>
            <a:avLst/>
            <a:gdLst/>
            <a:ahLst/>
            <a:cxnLst/>
            <a:rect l="l" t="t" r="r" b="b"/>
            <a:pathLst>
              <a:path w="1670684" h="0">
                <a:moveTo>
                  <a:pt x="0" y="0"/>
                </a:moveTo>
                <a:lnTo>
                  <a:pt x="1670304" y="0"/>
                </a:lnTo>
              </a:path>
            </a:pathLst>
          </a:custGeom>
          <a:ln w="3175">
            <a:solidFill>
              <a:srgbClr val="86868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21920" y="1473708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264" y="0"/>
                </a:lnTo>
              </a:path>
            </a:pathLst>
          </a:custGeom>
          <a:ln w="3175">
            <a:solidFill>
              <a:srgbClr val="86868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306056" y="1476756"/>
            <a:ext cx="1670685" cy="0"/>
          </a:xfrm>
          <a:custGeom>
            <a:avLst/>
            <a:gdLst/>
            <a:ahLst/>
            <a:cxnLst/>
            <a:rect l="l" t="t" r="r" b="b"/>
            <a:pathLst>
              <a:path w="1670684" h="0">
                <a:moveTo>
                  <a:pt x="0" y="0"/>
                </a:moveTo>
                <a:lnTo>
                  <a:pt x="1670304" y="0"/>
                </a:lnTo>
              </a:path>
            </a:pathLst>
          </a:custGeom>
          <a:ln w="3175">
            <a:solidFill>
              <a:srgbClr val="8C8C8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21920" y="1476756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264" y="0"/>
                </a:lnTo>
              </a:path>
            </a:pathLst>
          </a:custGeom>
          <a:ln w="3175">
            <a:solidFill>
              <a:srgbClr val="8C8C8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306056" y="1479804"/>
            <a:ext cx="1670685" cy="0"/>
          </a:xfrm>
          <a:custGeom>
            <a:avLst/>
            <a:gdLst/>
            <a:ahLst/>
            <a:cxnLst/>
            <a:rect l="l" t="t" r="r" b="b"/>
            <a:pathLst>
              <a:path w="1670684" h="0">
                <a:moveTo>
                  <a:pt x="0" y="0"/>
                </a:moveTo>
                <a:lnTo>
                  <a:pt x="1670304" y="0"/>
                </a:lnTo>
              </a:path>
            </a:pathLst>
          </a:custGeom>
          <a:ln w="3175">
            <a:solidFill>
              <a:srgbClr val="91919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21920" y="1479804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264" y="0"/>
                </a:lnTo>
              </a:path>
            </a:pathLst>
          </a:custGeom>
          <a:ln w="3175">
            <a:solidFill>
              <a:srgbClr val="91919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306056" y="1482852"/>
            <a:ext cx="1670685" cy="0"/>
          </a:xfrm>
          <a:custGeom>
            <a:avLst/>
            <a:gdLst/>
            <a:ahLst/>
            <a:cxnLst/>
            <a:rect l="l" t="t" r="r" b="b"/>
            <a:pathLst>
              <a:path w="1670684" h="0">
                <a:moveTo>
                  <a:pt x="0" y="0"/>
                </a:moveTo>
                <a:lnTo>
                  <a:pt x="1670304" y="0"/>
                </a:lnTo>
              </a:path>
            </a:pathLst>
          </a:custGeom>
          <a:ln w="3175">
            <a:solidFill>
              <a:srgbClr val="98989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21920" y="1482852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264" y="0"/>
                </a:lnTo>
              </a:path>
            </a:pathLst>
          </a:custGeom>
          <a:ln w="3175">
            <a:solidFill>
              <a:srgbClr val="98989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7306056" y="1485900"/>
            <a:ext cx="1670685" cy="0"/>
          </a:xfrm>
          <a:custGeom>
            <a:avLst/>
            <a:gdLst/>
            <a:ahLst/>
            <a:cxnLst/>
            <a:rect l="l" t="t" r="r" b="b"/>
            <a:pathLst>
              <a:path w="1670684" h="0">
                <a:moveTo>
                  <a:pt x="0" y="0"/>
                </a:moveTo>
                <a:lnTo>
                  <a:pt x="1670304" y="0"/>
                </a:lnTo>
              </a:path>
            </a:pathLst>
          </a:custGeom>
          <a:ln w="3175">
            <a:solidFill>
              <a:srgbClr val="9D9D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21920" y="1485900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264" y="0"/>
                </a:lnTo>
              </a:path>
            </a:pathLst>
          </a:custGeom>
          <a:ln w="3175">
            <a:solidFill>
              <a:srgbClr val="9D9D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306056" y="1488948"/>
            <a:ext cx="1670685" cy="0"/>
          </a:xfrm>
          <a:custGeom>
            <a:avLst/>
            <a:gdLst/>
            <a:ahLst/>
            <a:cxnLst/>
            <a:rect l="l" t="t" r="r" b="b"/>
            <a:pathLst>
              <a:path w="1670684" h="0">
                <a:moveTo>
                  <a:pt x="0" y="0"/>
                </a:moveTo>
                <a:lnTo>
                  <a:pt x="1670304" y="0"/>
                </a:lnTo>
              </a:path>
            </a:pathLst>
          </a:custGeom>
          <a:ln w="3175">
            <a:solidFill>
              <a:srgbClr val="A2A2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21920" y="1488948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264" y="0"/>
                </a:lnTo>
              </a:path>
            </a:pathLst>
          </a:custGeom>
          <a:ln w="3175">
            <a:solidFill>
              <a:srgbClr val="A2A2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7306056" y="1491996"/>
            <a:ext cx="1670685" cy="0"/>
          </a:xfrm>
          <a:custGeom>
            <a:avLst/>
            <a:gdLst/>
            <a:ahLst/>
            <a:cxnLst/>
            <a:rect l="l" t="t" r="r" b="b"/>
            <a:pathLst>
              <a:path w="1670684" h="0">
                <a:moveTo>
                  <a:pt x="0" y="0"/>
                </a:moveTo>
                <a:lnTo>
                  <a:pt x="1670304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21920" y="1491996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264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7306056" y="1495044"/>
            <a:ext cx="1670685" cy="0"/>
          </a:xfrm>
          <a:custGeom>
            <a:avLst/>
            <a:gdLst/>
            <a:ahLst/>
            <a:cxnLst/>
            <a:rect l="l" t="t" r="r" b="b"/>
            <a:pathLst>
              <a:path w="1670684" h="0">
                <a:moveTo>
                  <a:pt x="0" y="0"/>
                </a:moveTo>
                <a:lnTo>
                  <a:pt x="1670304" y="0"/>
                </a:lnTo>
              </a:path>
            </a:pathLst>
          </a:custGeom>
          <a:ln w="3175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21920" y="1495044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264" y="0"/>
                </a:lnTo>
              </a:path>
            </a:pathLst>
          </a:custGeom>
          <a:ln w="3175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7306056" y="1498092"/>
            <a:ext cx="1670685" cy="0"/>
          </a:xfrm>
          <a:custGeom>
            <a:avLst/>
            <a:gdLst/>
            <a:ahLst/>
            <a:cxnLst/>
            <a:rect l="l" t="t" r="r" b="b"/>
            <a:pathLst>
              <a:path w="1670684" h="0">
                <a:moveTo>
                  <a:pt x="0" y="0"/>
                </a:moveTo>
                <a:lnTo>
                  <a:pt x="1670304" y="0"/>
                </a:lnTo>
              </a:path>
            </a:pathLst>
          </a:custGeom>
          <a:ln w="3175">
            <a:solidFill>
              <a:srgbClr val="B0B0B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121920" y="1498092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264" y="0"/>
                </a:lnTo>
              </a:path>
            </a:pathLst>
          </a:custGeom>
          <a:ln w="3175">
            <a:solidFill>
              <a:srgbClr val="B0B0B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7306056" y="1501140"/>
            <a:ext cx="1670685" cy="0"/>
          </a:xfrm>
          <a:custGeom>
            <a:avLst/>
            <a:gdLst/>
            <a:ahLst/>
            <a:cxnLst/>
            <a:rect l="l" t="t" r="r" b="b"/>
            <a:pathLst>
              <a:path w="1670684" h="0">
                <a:moveTo>
                  <a:pt x="0" y="0"/>
                </a:moveTo>
                <a:lnTo>
                  <a:pt x="1670304" y="0"/>
                </a:lnTo>
              </a:path>
            </a:pathLst>
          </a:custGeom>
          <a:ln w="3175">
            <a:solidFill>
              <a:srgbClr val="B4B4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121920" y="1501140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264" y="0"/>
                </a:lnTo>
              </a:path>
            </a:pathLst>
          </a:custGeom>
          <a:ln w="3175">
            <a:solidFill>
              <a:srgbClr val="B4B4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7306056" y="1504188"/>
            <a:ext cx="1670685" cy="0"/>
          </a:xfrm>
          <a:custGeom>
            <a:avLst/>
            <a:gdLst/>
            <a:ahLst/>
            <a:cxnLst/>
            <a:rect l="l" t="t" r="r" b="b"/>
            <a:pathLst>
              <a:path w="1670684" h="0">
                <a:moveTo>
                  <a:pt x="0" y="0"/>
                </a:moveTo>
                <a:lnTo>
                  <a:pt x="1670304" y="0"/>
                </a:lnTo>
              </a:path>
            </a:pathLst>
          </a:custGeom>
          <a:ln w="3175">
            <a:solidFill>
              <a:srgbClr val="B8B8B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121920" y="1504188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264" y="0"/>
                </a:lnTo>
              </a:path>
            </a:pathLst>
          </a:custGeom>
          <a:ln w="3175">
            <a:solidFill>
              <a:srgbClr val="B8B8B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7306056" y="1507236"/>
            <a:ext cx="1670685" cy="0"/>
          </a:xfrm>
          <a:custGeom>
            <a:avLst/>
            <a:gdLst/>
            <a:ahLst/>
            <a:cxnLst/>
            <a:rect l="l" t="t" r="r" b="b"/>
            <a:pathLst>
              <a:path w="1670684" h="0">
                <a:moveTo>
                  <a:pt x="0" y="0"/>
                </a:moveTo>
                <a:lnTo>
                  <a:pt x="1670304" y="0"/>
                </a:lnTo>
              </a:path>
            </a:pathLst>
          </a:custGeom>
          <a:ln w="3175">
            <a:solidFill>
              <a:srgbClr val="BABA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21920" y="1507236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264" y="0"/>
                </a:lnTo>
              </a:path>
            </a:pathLst>
          </a:custGeom>
          <a:ln w="3175">
            <a:solidFill>
              <a:srgbClr val="BABA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7306056" y="1510284"/>
            <a:ext cx="1670685" cy="0"/>
          </a:xfrm>
          <a:custGeom>
            <a:avLst/>
            <a:gdLst/>
            <a:ahLst/>
            <a:cxnLst/>
            <a:rect l="l" t="t" r="r" b="b"/>
            <a:pathLst>
              <a:path w="1670684" h="0">
                <a:moveTo>
                  <a:pt x="0" y="0"/>
                </a:moveTo>
                <a:lnTo>
                  <a:pt x="1670304" y="0"/>
                </a:lnTo>
              </a:path>
            </a:pathLst>
          </a:custGeom>
          <a:ln w="3175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21920" y="1510284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264" y="0"/>
                </a:lnTo>
              </a:path>
            </a:pathLst>
          </a:custGeom>
          <a:ln w="3175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7306056" y="1513332"/>
            <a:ext cx="1670685" cy="0"/>
          </a:xfrm>
          <a:custGeom>
            <a:avLst/>
            <a:gdLst/>
            <a:ahLst/>
            <a:cxnLst/>
            <a:rect l="l" t="t" r="r" b="b"/>
            <a:pathLst>
              <a:path w="1670684" h="0">
                <a:moveTo>
                  <a:pt x="0" y="0"/>
                </a:moveTo>
                <a:lnTo>
                  <a:pt x="1670304" y="0"/>
                </a:lnTo>
              </a:path>
            </a:pathLst>
          </a:custGeom>
          <a:ln w="3175">
            <a:solidFill>
              <a:srgbClr val="C2C2C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121920" y="1513332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264" y="0"/>
                </a:lnTo>
              </a:path>
            </a:pathLst>
          </a:custGeom>
          <a:ln w="3175">
            <a:solidFill>
              <a:srgbClr val="C2C2C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7306056" y="1516380"/>
            <a:ext cx="1670685" cy="0"/>
          </a:xfrm>
          <a:custGeom>
            <a:avLst/>
            <a:gdLst/>
            <a:ahLst/>
            <a:cxnLst/>
            <a:rect l="l" t="t" r="r" b="b"/>
            <a:pathLst>
              <a:path w="1670684" h="0">
                <a:moveTo>
                  <a:pt x="0" y="0"/>
                </a:moveTo>
                <a:lnTo>
                  <a:pt x="1670304" y="0"/>
                </a:lnTo>
              </a:path>
            </a:pathLst>
          </a:custGeom>
          <a:ln w="3175">
            <a:solidFill>
              <a:srgbClr val="C4C4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121920" y="1516380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264" y="0"/>
                </a:lnTo>
              </a:path>
            </a:pathLst>
          </a:custGeom>
          <a:ln w="3175">
            <a:solidFill>
              <a:srgbClr val="C4C4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7306056" y="1519428"/>
            <a:ext cx="1670685" cy="0"/>
          </a:xfrm>
          <a:custGeom>
            <a:avLst/>
            <a:gdLst/>
            <a:ahLst/>
            <a:cxnLst/>
            <a:rect l="l" t="t" r="r" b="b"/>
            <a:pathLst>
              <a:path w="1670684" h="0">
                <a:moveTo>
                  <a:pt x="0" y="0"/>
                </a:moveTo>
                <a:lnTo>
                  <a:pt x="1670304" y="0"/>
                </a:lnTo>
              </a:path>
            </a:pathLst>
          </a:custGeom>
          <a:ln w="3175">
            <a:solidFill>
              <a:srgbClr val="C7C7C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21920" y="1519428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264" y="0"/>
                </a:lnTo>
              </a:path>
            </a:pathLst>
          </a:custGeom>
          <a:ln w="3175">
            <a:solidFill>
              <a:srgbClr val="C7C7C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7306056" y="1522476"/>
            <a:ext cx="1670685" cy="0"/>
          </a:xfrm>
          <a:custGeom>
            <a:avLst/>
            <a:gdLst/>
            <a:ahLst/>
            <a:cxnLst/>
            <a:rect l="l" t="t" r="r" b="b"/>
            <a:pathLst>
              <a:path w="1670684" h="0">
                <a:moveTo>
                  <a:pt x="0" y="0"/>
                </a:moveTo>
                <a:lnTo>
                  <a:pt x="1670304" y="0"/>
                </a:lnTo>
              </a:path>
            </a:pathLst>
          </a:custGeom>
          <a:ln w="3175">
            <a:solidFill>
              <a:srgbClr val="CACAC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121920" y="1522476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264" y="0"/>
                </a:lnTo>
              </a:path>
            </a:pathLst>
          </a:custGeom>
          <a:ln w="3175">
            <a:solidFill>
              <a:srgbClr val="CACAC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7306056" y="1525524"/>
            <a:ext cx="1670685" cy="0"/>
          </a:xfrm>
          <a:custGeom>
            <a:avLst/>
            <a:gdLst/>
            <a:ahLst/>
            <a:cxnLst/>
            <a:rect l="l" t="t" r="r" b="b"/>
            <a:pathLst>
              <a:path w="1670684" h="0">
                <a:moveTo>
                  <a:pt x="0" y="0"/>
                </a:moveTo>
                <a:lnTo>
                  <a:pt x="1670304" y="0"/>
                </a:lnTo>
              </a:path>
            </a:pathLst>
          </a:custGeom>
          <a:ln w="3175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121920" y="1525524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264" y="0"/>
                </a:lnTo>
              </a:path>
            </a:pathLst>
          </a:custGeom>
          <a:ln w="3175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7306056" y="1528572"/>
            <a:ext cx="1670685" cy="0"/>
          </a:xfrm>
          <a:custGeom>
            <a:avLst/>
            <a:gdLst/>
            <a:ahLst/>
            <a:cxnLst/>
            <a:rect l="l" t="t" r="r" b="b"/>
            <a:pathLst>
              <a:path w="1670684" h="0">
                <a:moveTo>
                  <a:pt x="0" y="0"/>
                </a:moveTo>
                <a:lnTo>
                  <a:pt x="1670304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21920" y="1528572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264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7306056" y="1531620"/>
            <a:ext cx="1670685" cy="0"/>
          </a:xfrm>
          <a:custGeom>
            <a:avLst/>
            <a:gdLst/>
            <a:ahLst/>
            <a:cxnLst/>
            <a:rect l="l" t="t" r="r" b="b"/>
            <a:pathLst>
              <a:path w="1670684" h="0">
                <a:moveTo>
                  <a:pt x="0" y="0"/>
                </a:moveTo>
                <a:lnTo>
                  <a:pt x="1670304" y="0"/>
                </a:lnTo>
              </a:path>
            </a:pathLst>
          </a:custGeom>
          <a:ln w="3175">
            <a:solidFill>
              <a:srgbClr val="CFCF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121920" y="1531620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264" y="0"/>
                </a:lnTo>
              </a:path>
            </a:pathLst>
          </a:custGeom>
          <a:ln w="3175">
            <a:solidFill>
              <a:srgbClr val="CFCF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7306056" y="1534668"/>
            <a:ext cx="1670685" cy="0"/>
          </a:xfrm>
          <a:custGeom>
            <a:avLst/>
            <a:gdLst/>
            <a:ahLst/>
            <a:cxnLst/>
            <a:rect l="l" t="t" r="r" b="b"/>
            <a:pathLst>
              <a:path w="1670684" h="0">
                <a:moveTo>
                  <a:pt x="0" y="0"/>
                </a:moveTo>
                <a:lnTo>
                  <a:pt x="1670304" y="0"/>
                </a:lnTo>
              </a:path>
            </a:pathLst>
          </a:custGeom>
          <a:ln w="3175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121920" y="1534668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264" y="0"/>
                </a:lnTo>
              </a:path>
            </a:pathLst>
          </a:custGeom>
          <a:ln w="3175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7306056" y="1537716"/>
            <a:ext cx="1670685" cy="0"/>
          </a:xfrm>
          <a:custGeom>
            <a:avLst/>
            <a:gdLst/>
            <a:ahLst/>
            <a:cxnLst/>
            <a:rect l="l" t="t" r="r" b="b"/>
            <a:pathLst>
              <a:path w="1670684" h="0">
                <a:moveTo>
                  <a:pt x="0" y="0"/>
                </a:moveTo>
                <a:lnTo>
                  <a:pt x="1670304" y="0"/>
                </a:lnTo>
              </a:path>
            </a:pathLst>
          </a:custGeom>
          <a:ln w="3175">
            <a:solidFill>
              <a:srgbClr val="D1D1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121920" y="1537716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264" y="0"/>
                </a:lnTo>
              </a:path>
            </a:pathLst>
          </a:custGeom>
          <a:ln w="3175">
            <a:solidFill>
              <a:srgbClr val="D1D1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7306056" y="1540764"/>
            <a:ext cx="1670685" cy="0"/>
          </a:xfrm>
          <a:custGeom>
            <a:avLst/>
            <a:gdLst/>
            <a:ahLst/>
            <a:cxnLst/>
            <a:rect l="l" t="t" r="r" b="b"/>
            <a:pathLst>
              <a:path w="1670684" h="0">
                <a:moveTo>
                  <a:pt x="0" y="0"/>
                </a:moveTo>
                <a:lnTo>
                  <a:pt x="1670304" y="0"/>
                </a:lnTo>
              </a:path>
            </a:pathLst>
          </a:custGeom>
          <a:ln w="3175">
            <a:solidFill>
              <a:srgbClr val="D3D3D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121920" y="1540764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264" y="0"/>
                </a:lnTo>
              </a:path>
            </a:pathLst>
          </a:custGeom>
          <a:ln w="3175">
            <a:solidFill>
              <a:srgbClr val="D3D3D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7306056" y="1543812"/>
            <a:ext cx="1670685" cy="0"/>
          </a:xfrm>
          <a:custGeom>
            <a:avLst/>
            <a:gdLst/>
            <a:ahLst/>
            <a:cxnLst/>
            <a:rect l="l" t="t" r="r" b="b"/>
            <a:pathLst>
              <a:path w="1670684" h="0">
                <a:moveTo>
                  <a:pt x="0" y="0"/>
                </a:moveTo>
                <a:lnTo>
                  <a:pt x="1670304" y="0"/>
                </a:lnTo>
              </a:path>
            </a:pathLst>
          </a:custGeom>
          <a:ln w="3175">
            <a:solidFill>
              <a:srgbClr val="D4D4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121920" y="1543812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264" y="0"/>
                </a:lnTo>
              </a:path>
            </a:pathLst>
          </a:custGeom>
          <a:ln w="3175">
            <a:solidFill>
              <a:srgbClr val="D4D4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7306056" y="1546860"/>
            <a:ext cx="1670685" cy="0"/>
          </a:xfrm>
          <a:custGeom>
            <a:avLst/>
            <a:gdLst/>
            <a:ahLst/>
            <a:cxnLst/>
            <a:rect l="l" t="t" r="r" b="b"/>
            <a:pathLst>
              <a:path w="1670684" h="0">
                <a:moveTo>
                  <a:pt x="0" y="0"/>
                </a:moveTo>
                <a:lnTo>
                  <a:pt x="1670304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121920" y="1546860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264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7306056" y="1549908"/>
            <a:ext cx="1670685" cy="0"/>
          </a:xfrm>
          <a:custGeom>
            <a:avLst/>
            <a:gdLst/>
            <a:ahLst/>
            <a:cxnLst/>
            <a:rect l="l" t="t" r="r" b="b"/>
            <a:pathLst>
              <a:path w="1670684" h="0">
                <a:moveTo>
                  <a:pt x="0" y="0"/>
                </a:moveTo>
                <a:lnTo>
                  <a:pt x="1670304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121920" y="1549908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264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7306056" y="1552956"/>
            <a:ext cx="1670685" cy="0"/>
          </a:xfrm>
          <a:custGeom>
            <a:avLst/>
            <a:gdLst/>
            <a:ahLst/>
            <a:cxnLst/>
            <a:rect l="l" t="t" r="r" b="b"/>
            <a:pathLst>
              <a:path w="1670684" h="0">
                <a:moveTo>
                  <a:pt x="0" y="0"/>
                </a:moveTo>
                <a:lnTo>
                  <a:pt x="1670304" y="0"/>
                </a:lnTo>
              </a:path>
            </a:pathLst>
          </a:custGeom>
          <a:ln w="3175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121920" y="1552956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264" y="0"/>
                </a:lnTo>
              </a:path>
            </a:pathLst>
          </a:custGeom>
          <a:ln w="3175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 txBox="1"/>
          <p:nvPr/>
        </p:nvSpPr>
        <p:spPr>
          <a:xfrm>
            <a:off x="1528572" y="3145028"/>
            <a:ext cx="6120765" cy="3308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4398010">
              <a:lnSpc>
                <a:spcPct val="149200"/>
              </a:lnSpc>
              <a:spcBef>
                <a:spcPts val="100"/>
              </a:spcBef>
              <a:tabLst>
                <a:tab pos="79946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NPV=	净现值  GPV=总现值</a:t>
            </a:r>
            <a:endParaRPr sz="2400">
              <a:latin typeface="宋体"/>
              <a:cs typeface="宋体"/>
            </a:endParaRPr>
          </a:p>
          <a:p>
            <a:pPr marL="38100" marR="30480">
              <a:lnSpc>
                <a:spcPct val="149700"/>
              </a:lnSpc>
              <a:spcBef>
                <a:spcPts val="5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NCF</a:t>
            </a:r>
            <a:r>
              <a:rPr dirty="0" baseline="-20833" sz="2400" spc="15">
                <a:solidFill>
                  <a:srgbClr val="FFFFFF"/>
                </a:solidFill>
                <a:latin typeface="宋体"/>
                <a:cs typeface="宋体"/>
              </a:rPr>
              <a:t>t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=第t年的净现金</a:t>
            </a:r>
            <a:r>
              <a:rPr dirty="0" sz="2400" spc="-25">
                <a:solidFill>
                  <a:srgbClr val="FFFFFF"/>
                </a:solidFill>
                <a:latin typeface="宋体"/>
                <a:cs typeface="宋体"/>
              </a:rPr>
              <a:t>流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量（税后值）=$4000万  k= 资 本 边 际 成 本 =14%  n= 年 数 ， 即 投 资 期 限 =10  I</a:t>
            </a:r>
            <a:r>
              <a:rPr dirty="0" baseline="-20833" sz="2400">
                <a:solidFill>
                  <a:srgbClr val="FFFFFF"/>
                </a:solidFill>
                <a:latin typeface="宋体"/>
                <a:cs typeface="宋体"/>
              </a:rPr>
              <a:t>0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=第0年的投资支出</a:t>
            </a:r>
            <a:r>
              <a:rPr dirty="0" sz="2400" spc="-5">
                <a:solidFill>
                  <a:srgbClr val="FFFFFF"/>
                </a:solidFill>
                <a:latin typeface="宋体"/>
                <a:cs typeface="宋体"/>
              </a:rPr>
              <a:t>=$18000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万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00" name="object 100"/>
          <p:cNvSpPr/>
          <p:nvPr/>
        </p:nvSpPr>
        <p:spPr>
          <a:xfrm>
            <a:off x="1472184" y="688848"/>
            <a:ext cx="5834380" cy="1195070"/>
          </a:xfrm>
          <a:custGeom>
            <a:avLst/>
            <a:gdLst/>
            <a:ahLst/>
            <a:cxnLst/>
            <a:rect l="l" t="t" r="r" b="b"/>
            <a:pathLst>
              <a:path w="5834380" h="1195070">
                <a:moveTo>
                  <a:pt x="0" y="0"/>
                </a:moveTo>
                <a:lnTo>
                  <a:pt x="0" y="1194816"/>
                </a:lnTo>
                <a:lnTo>
                  <a:pt x="5833872" y="1194816"/>
                </a:lnTo>
                <a:lnTo>
                  <a:pt x="5833872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3337559" y="1286256"/>
            <a:ext cx="1207135" cy="0"/>
          </a:xfrm>
          <a:custGeom>
            <a:avLst/>
            <a:gdLst/>
            <a:ahLst/>
            <a:cxnLst/>
            <a:rect l="l" t="t" r="r" b="b"/>
            <a:pathLst>
              <a:path w="1207135" h="0">
                <a:moveTo>
                  <a:pt x="0" y="0"/>
                </a:moveTo>
                <a:lnTo>
                  <a:pt x="1207007" y="0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 txBox="1"/>
          <p:nvPr/>
        </p:nvSpPr>
        <p:spPr>
          <a:xfrm>
            <a:off x="2983992" y="706628"/>
            <a:ext cx="134620" cy="3181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900" spc="10">
                <a:latin typeface="Times New Roman"/>
                <a:cs typeface="Times New Roman"/>
              </a:rPr>
              <a:t>n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4398264" y="1276604"/>
            <a:ext cx="80645" cy="3181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900" spc="5" i="1">
                <a:latin typeface="Times New Roman"/>
                <a:cs typeface="Times New Roman"/>
              </a:rPr>
              <a:t>t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4604511" y="959612"/>
            <a:ext cx="2679065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42265" indent="-317500">
              <a:lnSpc>
                <a:spcPct val="100000"/>
              </a:lnSpc>
              <a:spcBef>
                <a:spcPts val="110"/>
              </a:spcBef>
              <a:buFont typeface="Symbol"/>
              <a:buChar char=""/>
              <a:tabLst>
                <a:tab pos="342900" algn="l"/>
                <a:tab pos="771525" algn="l"/>
              </a:tabLst>
            </a:pPr>
            <a:r>
              <a:rPr dirty="0" sz="3300" spc="100" i="1">
                <a:latin typeface="Times New Roman"/>
                <a:cs typeface="Times New Roman"/>
              </a:rPr>
              <a:t>I</a:t>
            </a:r>
            <a:r>
              <a:rPr dirty="0" baseline="-23391" sz="2850" spc="150">
                <a:latin typeface="Times New Roman"/>
                <a:cs typeface="Times New Roman"/>
              </a:rPr>
              <a:t>0	</a:t>
            </a:r>
            <a:r>
              <a:rPr dirty="0" sz="3300" spc="5">
                <a:latin typeface="Symbol"/>
                <a:cs typeface="Symbol"/>
              </a:rPr>
              <a:t></a:t>
            </a:r>
            <a:r>
              <a:rPr dirty="0" sz="3300" spc="5">
                <a:latin typeface="Times New Roman"/>
                <a:cs typeface="Times New Roman"/>
              </a:rPr>
              <a:t> </a:t>
            </a:r>
            <a:r>
              <a:rPr dirty="0" sz="3300" spc="5" i="1">
                <a:latin typeface="Times New Roman"/>
                <a:cs typeface="Times New Roman"/>
              </a:rPr>
              <a:t>GPV </a:t>
            </a:r>
            <a:r>
              <a:rPr dirty="0" sz="3300" spc="-1485">
                <a:latin typeface="Symbol"/>
                <a:cs typeface="Symbol"/>
              </a:rPr>
              <a:t></a:t>
            </a:r>
            <a:r>
              <a:rPr dirty="0" sz="3300" spc="-195">
                <a:latin typeface="Times New Roman"/>
                <a:cs typeface="Times New Roman"/>
              </a:rPr>
              <a:t> </a:t>
            </a:r>
            <a:r>
              <a:rPr dirty="0" sz="3300" i="1">
                <a:latin typeface="Times New Roman"/>
                <a:cs typeface="Times New Roman"/>
              </a:rPr>
              <a:t>I</a:t>
            </a:r>
            <a:r>
              <a:rPr dirty="0" sz="3300" spc="-635" i="1">
                <a:latin typeface="Times New Roman"/>
                <a:cs typeface="Times New Roman"/>
              </a:rPr>
              <a:t> </a:t>
            </a:r>
            <a:r>
              <a:rPr dirty="0" baseline="-23391" sz="2850" spc="15">
                <a:latin typeface="Times New Roman"/>
                <a:cs typeface="Times New Roman"/>
              </a:rPr>
              <a:t>0</a:t>
            </a:r>
            <a:endParaRPr baseline="-23391" sz="2850">
              <a:latin typeface="Times New Roman"/>
              <a:cs typeface="Times New Roman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3333496" y="598729"/>
            <a:ext cx="1087755" cy="1220470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161925">
              <a:lnSpc>
                <a:spcPct val="100000"/>
              </a:lnSpc>
              <a:spcBef>
                <a:spcPts val="840"/>
              </a:spcBef>
            </a:pPr>
            <a:r>
              <a:rPr dirty="0" sz="3300" spc="-45" i="1">
                <a:latin typeface="Times New Roman"/>
                <a:cs typeface="Times New Roman"/>
              </a:rPr>
              <a:t>NCF</a:t>
            </a:r>
            <a:r>
              <a:rPr dirty="0" baseline="-24853" sz="2850" spc="-67" i="1">
                <a:latin typeface="Times New Roman"/>
                <a:cs typeface="Times New Roman"/>
              </a:rPr>
              <a:t>t</a:t>
            </a:r>
            <a:endParaRPr baseline="-24853" sz="285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745"/>
              </a:spcBef>
            </a:pPr>
            <a:r>
              <a:rPr dirty="0" sz="3300" spc="-130">
                <a:latin typeface="Times New Roman"/>
                <a:cs typeface="Times New Roman"/>
              </a:rPr>
              <a:t>(1</a:t>
            </a:r>
            <a:r>
              <a:rPr dirty="0" sz="3300" spc="-585">
                <a:latin typeface="Times New Roman"/>
                <a:cs typeface="Times New Roman"/>
              </a:rPr>
              <a:t> </a:t>
            </a:r>
            <a:r>
              <a:rPr dirty="0" sz="3300" spc="5">
                <a:latin typeface="Symbol"/>
                <a:cs typeface="Symbol"/>
              </a:rPr>
              <a:t></a:t>
            </a:r>
            <a:r>
              <a:rPr dirty="0" sz="3300" spc="-245">
                <a:latin typeface="Times New Roman"/>
                <a:cs typeface="Times New Roman"/>
              </a:rPr>
              <a:t> </a:t>
            </a:r>
            <a:r>
              <a:rPr dirty="0" sz="3300" spc="5" i="1">
                <a:latin typeface="Times New Roman"/>
                <a:cs typeface="Times New Roman"/>
              </a:rPr>
              <a:t>k</a:t>
            </a:r>
            <a:r>
              <a:rPr dirty="0" sz="3300" spc="-565" i="1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)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1548383" y="959612"/>
            <a:ext cx="1195070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3300" spc="5">
                <a:latin typeface="Times New Roman"/>
                <a:cs typeface="Times New Roman"/>
              </a:rPr>
              <a:t>NPV</a:t>
            </a:r>
            <a:r>
              <a:rPr dirty="0" sz="3300" spc="-55">
                <a:latin typeface="Times New Roman"/>
                <a:cs typeface="Times New Roman"/>
              </a:rPr>
              <a:t> </a:t>
            </a:r>
            <a:r>
              <a:rPr dirty="0" sz="3300" spc="5">
                <a:latin typeface="Symbol"/>
                <a:cs typeface="Symbol"/>
              </a:rPr>
              <a:t></a:t>
            </a:r>
            <a:endParaRPr sz="3300">
              <a:latin typeface="Symbol"/>
              <a:cs typeface="Symbol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2825495" y="846836"/>
            <a:ext cx="462915" cy="101028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ts val="5695"/>
              </a:lnSpc>
              <a:spcBef>
                <a:spcPts val="114"/>
              </a:spcBef>
            </a:pPr>
            <a:r>
              <a:rPr dirty="0" sz="4950" spc="950">
                <a:latin typeface="Symbol"/>
                <a:cs typeface="Symbol"/>
              </a:rPr>
              <a:t>凶</a:t>
            </a:r>
            <a:endParaRPr sz="4950">
              <a:latin typeface="Symbol"/>
              <a:cs typeface="Symbol"/>
            </a:endParaRPr>
          </a:p>
          <a:p>
            <a:pPr marL="60960">
              <a:lnSpc>
                <a:spcPts val="2035"/>
              </a:lnSpc>
            </a:pPr>
            <a:r>
              <a:rPr dirty="0" sz="1900" spc="5" i="1">
                <a:latin typeface="Times New Roman"/>
                <a:cs typeface="Times New Roman"/>
              </a:rPr>
              <a:t>t</a:t>
            </a:r>
            <a:r>
              <a:rPr dirty="0" sz="1900" spc="-295" i="1">
                <a:latin typeface="Times New Roman"/>
                <a:cs typeface="Times New Roman"/>
              </a:rPr>
              <a:t> </a:t>
            </a:r>
            <a:r>
              <a:rPr dirty="0" sz="1900" spc="-40">
                <a:latin typeface="Symbol"/>
                <a:cs typeface="Symbol"/>
              </a:rPr>
              <a:t></a:t>
            </a:r>
            <a:r>
              <a:rPr dirty="0" sz="1900" spc="-40">
                <a:latin typeface="Times New Roman"/>
                <a:cs typeface="Times New Roman"/>
              </a:rPr>
              <a:t>1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08" name="object 108"/>
          <p:cNvSpPr/>
          <p:nvPr/>
        </p:nvSpPr>
        <p:spPr>
          <a:xfrm>
            <a:off x="1472184" y="1932432"/>
            <a:ext cx="5834380" cy="1198245"/>
          </a:xfrm>
          <a:custGeom>
            <a:avLst/>
            <a:gdLst/>
            <a:ahLst/>
            <a:cxnLst/>
            <a:rect l="l" t="t" r="r" b="b"/>
            <a:pathLst>
              <a:path w="5834380" h="1198245">
                <a:moveTo>
                  <a:pt x="0" y="0"/>
                </a:moveTo>
                <a:lnTo>
                  <a:pt x="0" y="1197864"/>
                </a:lnTo>
                <a:lnTo>
                  <a:pt x="5833872" y="1197864"/>
                </a:lnTo>
                <a:lnTo>
                  <a:pt x="5833872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3767327" y="2532888"/>
            <a:ext cx="1432560" cy="0"/>
          </a:xfrm>
          <a:custGeom>
            <a:avLst/>
            <a:gdLst/>
            <a:ahLst/>
            <a:cxnLst/>
            <a:rect l="l" t="t" r="r" b="b"/>
            <a:pathLst>
              <a:path w="1432560" h="0">
                <a:moveTo>
                  <a:pt x="0" y="0"/>
                </a:moveTo>
                <a:lnTo>
                  <a:pt x="1432559" y="0"/>
                </a:lnTo>
              </a:path>
            </a:pathLst>
          </a:custGeom>
          <a:ln w="2133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 txBox="1"/>
          <p:nvPr/>
        </p:nvSpPr>
        <p:spPr>
          <a:xfrm>
            <a:off x="3794759" y="1845361"/>
            <a:ext cx="1189355" cy="1220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 indent="39370">
              <a:lnSpc>
                <a:spcPct val="118800"/>
              </a:lnSpc>
              <a:spcBef>
                <a:spcPts val="95"/>
              </a:spcBef>
            </a:pPr>
            <a:r>
              <a:rPr dirty="0" sz="3300" spc="5">
                <a:latin typeface="Times New Roman"/>
                <a:cs typeface="Times New Roman"/>
              </a:rPr>
              <a:t>$</a:t>
            </a:r>
            <a:r>
              <a:rPr dirty="0" sz="3300" spc="-505">
                <a:latin typeface="Times New Roman"/>
                <a:cs typeface="Times New Roman"/>
              </a:rPr>
              <a:t> </a:t>
            </a:r>
            <a:r>
              <a:rPr dirty="0" sz="3300" spc="20">
                <a:latin typeface="Times New Roman"/>
                <a:cs typeface="Times New Roman"/>
              </a:rPr>
              <a:t>4000  </a:t>
            </a:r>
            <a:r>
              <a:rPr dirty="0" sz="3300" spc="-45">
                <a:latin typeface="Times New Roman"/>
                <a:cs typeface="Times New Roman"/>
              </a:rPr>
              <a:t>(1 </a:t>
            </a:r>
            <a:r>
              <a:rPr dirty="0" sz="3300" spc="75">
                <a:latin typeface="Times New Roman"/>
                <a:cs typeface="Times New Roman"/>
              </a:rPr>
              <a:t>.14</a:t>
            </a:r>
            <a:r>
              <a:rPr dirty="0" sz="3300" spc="-56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)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3246120" y="1950212"/>
            <a:ext cx="259715" cy="3181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900" spc="30">
                <a:latin typeface="Times New Roman"/>
                <a:cs typeface="Times New Roman"/>
              </a:rPr>
              <a:t>1</a:t>
            </a:r>
            <a:r>
              <a:rPr dirty="0" sz="1900" spc="10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5306567" y="2203196"/>
            <a:ext cx="1692275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56235" indent="-356870">
              <a:lnSpc>
                <a:spcPct val="100000"/>
              </a:lnSpc>
              <a:spcBef>
                <a:spcPts val="110"/>
              </a:spcBef>
              <a:buFont typeface="Symbol"/>
              <a:buChar char=""/>
              <a:tabLst>
                <a:tab pos="356870" algn="l"/>
              </a:tabLst>
            </a:pPr>
            <a:r>
              <a:rPr dirty="0" sz="3300" spc="5">
                <a:latin typeface="Times New Roman"/>
                <a:cs typeface="Times New Roman"/>
              </a:rPr>
              <a:t>$</a:t>
            </a:r>
            <a:r>
              <a:rPr dirty="0" sz="3300" spc="-515">
                <a:latin typeface="Times New Roman"/>
                <a:cs typeface="Times New Roman"/>
              </a:rPr>
              <a:t> </a:t>
            </a:r>
            <a:r>
              <a:rPr dirty="0" sz="3300" spc="20">
                <a:latin typeface="Times New Roman"/>
                <a:cs typeface="Times New Roman"/>
              </a:rPr>
              <a:t>18000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1566672" y="2203196"/>
            <a:ext cx="1410970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1167130" algn="l"/>
              </a:tabLst>
            </a:pPr>
            <a:r>
              <a:rPr dirty="0" sz="3300" spc="10">
                <a:latin typeface="Times New Roman"/>
                <a:cs typeface="Times New Roman"/>
              </a:rPr>
              <a:t>N</a:t>
            </a:r>
            <a:r>
              <a:rPr dirty="0" sz="3300">
                <a:latin typeface="Times New Roman"/>
                <a:cs typeface="Times New Roman"/>
              </a:rPr>
              <a:t>P</a:t>
            </a:r>
            <a:r>
              <a:rPr dirty="0" sz="3300" spc="5">
                <a:latin typeface="Times New Roman"/>
                <a:cs typeface="Times New Roman"/>
              </a:rPr>
              <a:t>V</a:t>
            </a:r>
            <a:r>
              <a:rPr dirty="0" sz="3300">
                <a:latin typeface="Times New Roman"/>
                <a:cs typeface="Times New Roman"/>
              </a:rPr>
              <a:t>	</a:t>
            </a:r>
            <a:r>
              <a:rPr dirty="0" sz="3300" spc="5">
                <a:latin typeface="Symbol"/>
                <a:cs typeface="Symbol"/>
              </a:rPr>
              <a:t></a:t>
            </a:r>
            <a:endParaRPr sz="3300">
              <a:latin typeface="Symbol"/>
              <a:cs typeface="Symbol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3133344" y="2087372"/>
            <a:ext cx="479425" cy="10160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ts val="5760"/>
              </a:lnSpc>
              <a:spcBef>
                <a:spcPts val="90"/>
              </a:spcBef>
            </a:pPr>
            <a:r>
              <a:rPr dirty="0" sz="5000" spc="930">
                <a:latin typeface="Symbol"/>
                <a:cs typeface="Symbol"/>
              </a:rPr>
              <a:t>凶</a:t>
            </a:r>
            <a:endParaRPr sz="5000">
              <a:latin typeface="Symbol"/>
              <a:cs typeface="Symbol"/>
            </a:endParaRPr>
          </a:p>
          <a:p>
            <a:pPr marL="76200">
              <a:lnSpc>
                <a:spcPts val="2039"/>
              </a:lnSpc>
            </a:pPr>
            <a:r>
              <a:rPr dirty="0" sz="1900" spc="5" i="1">
                <a:latin typeface="Times New Roman"/>
                <a:cs typeface="Times New Roman"/>
              </a:rPr>
              <a:t>t</a:t>
            </a:r>
            <a:r>
              <a:rPr dirty="0" sz="1900" spc="-155" i="1">
                <a:latin typeface="Times New Roman"/>
                <a:cs typeface="Times New Roman"/>
              </a:rPr>
              <a:t> </a:t>
            </a:r>
            <a:r>
              <a:rPr dirty="0" sz="1900" spc="70">
                <a:latin typeface="Symbol"/>
                <a:cs typeface="Symbol"/>
              </a:rPr>
              <a:t></a:t>
            </a:r>
            <a:r>
              <a:rPr dirty="0" sz="1900" spc="70">
                <a:latin typeface="Times New Roman"/>
                <a:cs typeface="Times New Roman"/>
              </a:rPr>
              <a:t>1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5020055" y="2520188"/>
            <a:ext cx="80645" cy="3181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900" spc="5" i="1">
                <a:latin typeface="Times New Roman"/>
                <a:cs typeface="Times New Roman"/>
              </a:rPr>
              <a:t>t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7087" y="731012"/>
            <a:ext cx="8066405" cy="616140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675"/>
              </a:spcBef>
              <a:tabLst>
                <a:tab pos="1004569" algn="l"/>
                <a:tab pos="1309370" algn="l"/>
                <a:tab pos="4966970" algn="l"/>
                <a:tab pos="5271770" algn="l"/>
              </a:tabLst>
            </a:pPr>
            <a:r>
              <a:rPr dirty="0" sz="2400">
                <a:solidFill>
                  <a:srgbClr val="FF6600"/>
                </a:solidFill>
                <a:latin typeface="Wingdings"/>
                <a:cs typeface="Wingdings"/>
              </a:rPr>
              <a:t></a:t>
            </a:r>
            <a:r>
              <a:rPr dirty="0" sz="2400" spc="-3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NPV	=	$40000[PVIFA(14%,10年)]	-	$18000</a:t>
            </a:r>
            <a:endParaRPr sz="2400">
              <a:latin typeface="宋体"/>
              <a:cs typeface="宋体"/>
            </a:endParaRPr>
          </a:p>
          <a:p>
            <a:pPr marL="1117600">
              <a:lnSpc>
                <a:spcPct val="100000"/>
              </a:lnSpc>
              <a:spcBef>
                <a:spcPts val="575"/>
              </a:spcBef>
              <a:tabLst>
                <a:tab pos="1421765" algn="l"/>
                <a:tab pos="3707765" algn="l"/>
                <a:tab pos="401256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=	$40000(5.2161)	-	$18000</a:t>
            </a:r>
            <a:endParaRPr sz="2400">
              <a:latin typeface="宋体"/>
              <a:cs typeface="宋体"/>
            </a:endParaRPr>
          </a:p>
          <a:p>
            <a:pPr marL="1117600">
              <a:lnSpc>
                <a:spcPct val="100000"/>
              </a:lnSpc>
              <a:spcBef>
                <a:spcPts val="555"/>
              </a:spcBef>
              <a:tabLst>
                <a:tab pos="1421765" algn="l"/>
                <a:tab pos="2793365" algn="l"/>
                <a:tab pos="309816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=	$20864.4	-	$18000</a:t>
            </a:r>
            <a:endParaRPr sz="2400">
              <a:latin typeface="宋体"/>
              <a:cs typeface="宋体"/>
            </a:endParaRPr>
          </a:p>
          <a:p>
            <a:pPr marL="394970" marR="43180" indent="-344805">
              <a:lnSpc>
                <a:spcPct val="100000"/>
              </a:lnSpc>
              <a:spcBef>
                <a:spcPts val="575"/>
              </a:spcBef>
              <a:buClr>
                <a:srgbClr val="FF6600"/>
              </a:buClr>
              <a:buFont typeface="Wingdings"/>
              <a:buChar char=""/>
              <a:tabLst>
                <a:tab pos="395605" algn="l"/>
                <a:tab pos="588137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现金流入的现值是该项目的总现值(GPV)	，从这一数值 中减去投资支出的现值就可以得到该项目的NPV。折现率 是适用于该项目的边际资本成本。所以该公式还可写成：</a:t>
            </a:r>
            <a:endParaRPr sz="2400">
              <a:latin typeface="宋体"/>
              <a:cs typeface="宋体"/>
            </a:endParaRPr>
          </a:p>
          <a:p>
            <a:pPr marL="1270000">
              <a:lnSpc>
                <a:spcPct val="100000"/>
              </a:lnSpc>
              <a:spcBef>
                <a:spcPts val="575"/>
              </a:spcBef>
              <a:tabLst>
                <a:tab pos="1878964" algn="l"/>
                <a:tab pos="2183765" algn="l"/>
                <a:tab pos="2793365" algn="l"/>
                <a:tab pos="3098165" algn="l"/>
                <a:tab pos="376301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NPV	=	GPV	-	I</a:t>
            </a:r>
            <a:r>
              <a:rPr dirty="0" baseline="-20833" sz="2400">
                <a:solidFill>
                  <a:srgbClr val="FFFFFF"/>
                </a:solidFill>
                <a:latin typeface="宋体"/>
                <a:cs typeface="宋体"/>
              </a:rPr>
              <a:t>0</a:t>
            </a:r>
            <a:r>
              <a:rPr dirty="0" baseline="-20833" sz="2400" spc="37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=	$2864.4万</a:t>
            </a:r>
            <a:endParaRPr sz="2400">
              <a:latin typeface="宋体"/>
              <a:cs typeface="宋体"/>
            </a:endParaRPr>
          </a:p>
          <a:p>
            <a:pPr marL="394970" marR="195580" indent="-344805">
              <a:lnSpc>
                <a:spcPct val="99800"/>
              </a:lnSpc>
              <a:spcBef>
                <a:spcPts val="555"/>
              </a:spcBef>
              <a:buClr>
                <a:srgbClr val="FF6600"/>
              </a:buClr>
              <a:buFont typeface="Wingdings"/>
              <a:buChar char=""/>
              <a:tabLst>
                <a:tab pos="3956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从以上分析可以看到一个非常重要的法则：即使收购能 带来协同效应，但如果收购企业过度支付，该项收购对 收购企业来说将无利可图。例如，当收购企业支付给目 标企业$25000万时，NPV将变为-$4140万。这时收购企业 的价值将下降。</a:t>
            </a:r>
            <a:endParaRPr sz="2400">
              <a:latin typeface="宋体"/>
              <a:cs typeface="宋体"/>
            </a:endParaRPr>
          </a:p>
          <a:p>
            <a:pPr marL="1270000">
              <a:lnSpc>
                <a:spcPct val="100000"/>
              </a:lnSpc>
              <a:spcBef>
                <a:spcPts val="58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NPV=GPV-I</a:t>
            </a:r>
            <a:r>
              <a:rPr dirty="0" baseline="-20833" sz="2400">
                <a:solidFill>
                  <a:srgbClr val="FFFFFF"/>
                </a:solidFill>
                <a:latin typeface="宋体"/>
                <a:cs typeface="宋体"/>
              </a:rPr>
              <a:t>0</a:t>
            </a:r>
            <a:endParaRPr baseline="-20833" sz="2400">
              <a:latin typeface="宋体"/>
              <a:cs typeface="宋体"/>
            </a:endParaRPr>
          </a:p>
          <a:p>
            <a:pPr marL="1577340">
              <a:lnSpc>
                <a:spcPct val="100000"/>
              </a:lnSpc>
              <a:spcBef>
                <a:spcPts val="575"/>
              </a:spcBef>
            </a:pPr>
            <a:r>
              <a:rPr dirty="0" sz="2400" spc="-5">
                <a:solidFill>
                  <a:srgbClr val="FFFFFF"/>
                </a:solidFill>
                <a:latin typeface="宋体"/>
                <a:cs typeface="宋体"/>
              </a:rPr>
              <a:t>=$20864.4-$25000</a:t>
            </a:r>
            <a:endParaRPr sz="2400">
              <a:latin typeface="宋体"/>
              <a:cs typeface="宋体"/>
            </a:endParaRPr>
          </a:p>
          <a:p>
            <a:pPr marL="1422400">
              <a:lnSpc>
                <a:spcPct val="100000"/>
              </a:lnSpc>
              <a:spcBef>
                <a:spcPts val="575"/>
              </a:spcBef>
            </a:pPr>
            <a:r>
              <a:rPr dirty="0" sz="2400">
                <a:solidFill>
                  <a:srgbClr val="FF6600"/>
                </a:solidFill>
                <a:latin typeface="宋体"/>
                <a:cs typeface="宋体"/>
              </a:rPr>
              <a:t>=-$4135.6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万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9460" y="670052"/>
            <a:ext cx="507301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20"/>
              <a:t>分析</a:t>
            </a:r>
            <a:r>
              <a:rPr dirty="0" sz="3600"/>
              <a:t>表</a:t>
            </a:r>
            <a:r>
              <a:rPr dirty="0" sz="3600" spc="20"/>
              <a:t>估</a:t>
            </a:r>
            <a:r>
              <a:rPr dirty="0" sz="3600"/>
              <a:t>价法</a:t>
            </a:r>
            <a:r>
              <a:rPr dirty="0" sz="3600" spc="20"/>
              <a:t>的具</a:t>
            </a:r>
            <a:r>
              <a:rPr dirty="0" sz="3600"/>
              <a:t>体</a:t>
            </a:r>
            <a:r>
              <a:rPr dirty="0" sz="3600" spc="20"/>
              <a:t>应</a:t>
            </a:r>
            <a:r>
              <a:rPr dirty="0" sz="3600"/>
              <a:t>用</a:t>
            </a:r>
            <a:endParaRPr sz="36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96239" y="2870216"/>
          <a:ext cx="8601710" cy="2089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2365"/>
                <a:gridCol w="1017269"/>
                <a:gridCol w="952500"/>
                <a:gridCol w="890270"/>
                <a:gridCol w="889000"/>
                <a:gridCol w="826770"/>
                <a:gridCol w="509270"/>
                <a:gridCol w="1107440"/>
              </a:tblGrid>
              <a:tr h="318396">
                <a:tc>
                  <a:txBody>
                    <a:bodyPr/>
                    <a:lstStyle/>
                    <a:p>
                      <a:pPr marL="149225">
                        <a:lnSpc>
                          <a:spcPts val="2110"/>
                        </a:lnSpc>
                      </a:pPr>
                      <a:r>
                        <a:rPr dirty="0" sz="20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1.</a:t>
                      </a:r>
                      <a:r>
                        <a:rPr dirty="0" sz="2000" spc="-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销售额</a:t>
                      </a:r>
                      <a:r>
                        <a:rPr dirty="0" sz="20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(S</a:t>
                      </a:r>
                      <a:r>
                        <a:rPr dirty="0" baseline="-21367" sz="195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t</a:t>
                      </a:r>
                      <a:r>
                        <a:rPr dirty="0" sz="20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)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33045">
                        <a:lnSpc>
                          <a:spcPts val="2110"/>
                        </a:lnSpc>
                      </a:pPr>
                      <a:r>
                        <a:rPr dirty="0" sz="2000" spc="-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1000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ts val="2110"/>
                        </a:lnSpc>
                      </a:pPr>
                      <a:r>
                        <a:rPr dirty="0" sz="2000" spc="-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1200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68275">
                        <a:lnSpc>
                          <a:spcPts val="2110"/>
                        </a:lnSpc>
                      </a:pPr>
                      <a:r>
                        <a:rPr dirty="0" sz="2000" spc="-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1440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68275">
                        <a:lnSpc>
                          <a:spcPts val="2110"/>
                        </a:lnSpc>
                      </a:pPr>
                      <a:r>
                        <a:rPr dirty="0" sz="2000" spc="-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1728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ts val="2110"/>
                        </a:lnSpc>
                      </a:pPr>
                      <a:r>
                        <a:rPr dirty="0" sz="2000" spc="-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2074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ts val="2110"/>
                        </a:lnSpc>
                      </a:pPr>
                      <a:r>
                        <a:rPr dirty="0" sz="20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…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2110"/>
                        </a:lnSpc>
                      </a:pPr>
                      <a:r>
                        <a:rPr dirty="0" sz="2000" spc="-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2074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0"/>
                </a:tc>
              </a:tr>
              <a:tr h="335280">
                <a:tc>
                  <a:txBody>
                    <a:bodyPr/>
                    <a:lstStyle/>
                    <a:p>
                      <a:pPr marL="149225">
                        <a:lnSpc>
                          <a:spcPts val="2220"/>
                        </a:lnSpc>
                      </a:pPr>
                      <a:r>
                        <a:rPr dirty="0" sz="20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2.</a:t>
                      </a:r>
                      <a:r>
                        <a:rPr dirty="0" sz="2000" spc="-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总资本</a:t>
                      </a:r>
                      <a:r>
                        <a:rPr dirty="0" sz="20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(A</a:t>
                      </a:r>
                      <a:r>
                        <a:rPr dirty="0" baseline="-21367" sz="195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t</a:t>
                      </a:r>
                      <a:r>
                        <a:rPr dirty="0" sz="20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)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60680">
                        <a:lnSpc>
                          <a:spcPts val="2220"/>
                        </a:lnSpc>
                      </a:pPr>
                      <a:r>
                        <a:rPr dirty="0" sz="2000" spc="-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500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58775">
                        <a:lnSpc>
                          <a:spcPts val="2220"/>
                        </a:lnSpc>
                      </a:pPr>
                      <a:r>
                        <a:rPr dirty="0" sz="2000" spc="-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600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95910">
                        <a:lnSpc>
                          <a:spcPts val="2220"/>
                        </a:lnSpc>
                      </a:pPr>
                      <a:r>
                        <a:rPr dirty="0" sz="2000" spc="-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720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92735">
                        <a:lnSpc>
                          <a:spcPts val="2220"/>
                        </a:lnSpc>
                      </a:pPr>
                      <a:r>
                        <a:rPr dirty="0" sz="20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864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ts val="2220"/>
                        </a:lnSpc>
                      </a:pPr>
                      <a:r>
                        <a:rPr dirty="0" sz="2000" spc="-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1037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ts val="2220"/>
                        </a:lnSpc>
                      </a:pPr>
                      <a:r>
                        <a:rPr dirty="0" sz="20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…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2220"/>
                        </a:lnSpc>
                      </a:pPr>
                      <a:r>
                        <a:rPr dirty="0" sz="2000" spc="-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1037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0"/>
                </a:tc>
              </a:tr>
              <a:tr h="336803">
                <a:tc>
                  <a:txBody>
                    <a:bodyPr/>
                    <a:lstStyle/>
                    <a:p>
                      <a:pPr marL="149225">
                        <a:lnSpc>
                          <a:spcPts val="2245"/>
                        </a:lnSpc>
                      </a:pPr>
                      <a:r>
                        <a:rPr dirty="0" sz="20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3.</a:t>
                      </a:r>
                      <a:r>
                        <a:rPr dirty="0" sz="2000" spc="-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投资</a:t>
                      </a:r>
                      <a:r>
                        <a:rPr dirty="0" sz="20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(I</a:t>
                      </a:r>
                      <a:r>
                        <a:rPr dirty="0" baseline="-21367" sz="195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t</a:t>
                      </a:r>
                      <a:r>
                        <a:rPr dirty="0" sz="20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)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60680">
                        <a:lnSpc>
                          <a:spcPts val="2245"/>
                        </a:lnSpc>
                      </a:pPr>
                      <a:r>
                        <a:rPr dirty="0" sz="2000" spc="-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100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58775">
                        <a:lnSpc>
                          <a:spcPts val="2245"/>
                        </a:lnSpc>
                      </a:pPr>
                      <a:r>
                        <a:rPr dirty="0" sz="2000" spc="-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120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95910">
                        <a:lnSpc>
                          <a:spcPts val="2245"/>
                        </a:lnSpc>
                      </a:pPr>
                      <a:r>
                        <a:rPr dirty="0" sz="2000" spc="-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144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92735">
                        <a:lnSpc>
                          <a:spcPts val="2245"/>
                        </a:lnSpc>
                      </a:pPr>
                      <a:r>
                        <a:rPr dirty="0" sz="20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173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3510">
                        <a:lnSpc>
                          <a:spcPts val="2245"/>
                        </a:lnSpc>
                      </a:pPr>
                      <a:r>
                        <a:rPr dirty="0" sz="20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0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ts val="2245"/>
                        </a:lnSpc>
                      </a:pPr>
                      <a:r>
                        <a:rPr dirty="0" sz="20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…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540">
                        <a:lnSpc>
                          <a:spcPts val="2245"/>
                        </a:lnSpc>
                      </a:pPr>
                      <a:r>
                        <a:rPr dirty="0" sz="20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0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0"/>
                </a:tc>
              </a:tr>
              <a:tr h="309491">
                <a:tc>
                  <a:txBody>
                    <a:bodyPr/>
                    <a:lstStyle/>
                    <a:p>
                      <a:pPr marL="149225">
                        <a:lnSpc>
                          <a:spcPts val="2235"/>
                        </a:lnSpc>
                      </a:pPr>
                      <a:r>
                        <a:rPr dirty="0" sz="20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4.</a:t>
                      </a:r>
                      <a:r>
                        <a:rPr dirty="0" sz="2000" spc="-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净营运收入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22885">
                        <a:lnSpc>
                          <a:spcPts val="2235"/>
                        </a:lnSpc>
                      </a:pPr>
                      <a:r>
                        <a:rPr dirty="0" sz="2000" spc="-1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2</a:t>
                      </a:r>
                      <a:r>
                        <a:rPr dirty="0" sz="2000" spc="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0</a:t>
                      </a:r>
                      <a:r>
                        <a:rPr dirty="0" sz="20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0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0655">
                        <a:lnSpc>
                          <a:spcPts val="2235"/>
                        </a:lnSpc>
                      </a:pPr>
                      <a:r>
                        <a:rPr dirty="0" sz="2000" spc="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2</a:t>
                      </a:r>
                      <a:r>
                        <a:rPr dirty="0" sz="2000" spc="-1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4</a:t>
                      </a:r>
                      <a:r>
                        <a:rPr dirty="0" sz="20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0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0655">
                        <a:lnSpc>
                          <a:spcPts val="2235"/>
                        </a:lnSpc>
                      </a:pPr>
                      <a:r>
                        <a:rPr dirty="0" sz="2000" spc="-1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2</a:t>
                      </a:r>
                      <a:r>
                        <a:rPr dirty="0" sz="2000" spc="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8</a:t>
                      </a:r>
                      <a:r>
                        <a:rPr dirty="0" sz="20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8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8750">
                        <a:lnSpc>
                          <a:spcPts val="2235"/>
                        </a:lnSpc>
                      </a:pPr>
                      <a:r>
                        <a:rPr dirty="0" sz="2000" spc="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34</a:t>
                      </a:r>
                      <a:r>
                        <a:rPr dirty="0" sz="20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6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97790">
                        <a:lnSpc>
                          <a:spcPts val="2235"/>
                        </a:lnSpc>
                      </a:pPr>
                      <a:r>
                        <a:rPr dirty="0" sz="2000" spc="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4</a:t>
                      </a:r>
                      <a:r>
                        <a:rPr dirty="0" sz="2000" spc="-1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</a:t>
                      </a:r>
                      <a:r>
                        <a:rPr dirty="0" sz="20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5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95885">
                        <a:lnSpc>
                          <a:spcPts val="2235"/>
                        </a:lnSpc>
                      </a:pPr>
                      <a:r>
                        <a:rPr dirty="0" sz="20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…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ts val="2235"/>
                        </a:lnSpc>
                      </a:pPr>
                      <a:r>
                        <a:rPr dirty="0" sz="2000" spc="-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415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0"/>
                </a:tc>
              </a:tr>
              <a:tr h="333756"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20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5.</a:t>
                      </a:r>
                      <a:r>
                        <a:rPr dirty="0" sz="2000" spc="-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税收</a:t>
                      </a:r>
                      <a:r>
                        <a:rPr dirty="0" sz="20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(</a:t>
                      </a:r>
                      <a:r>
                        <a:rPr dirty="0" sz="2000" spc="-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税率</a:t>
                      </a:r>
                      <a:r>
                        <a:rPr dirty="0" sz="20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40%)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algn="r" marR="22288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2000" spc="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8</a:t>
                      </a:r>
                      <a:r>
                        <a:rPr dirty="0" sz="20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0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algn="r" marR="16065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2000" spc="-1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9</a:t>
                      </a:r>
                      <a:r>
                        <a:rPr dirty="0" sz="20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6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algn="r" marR="16065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2000" spc="-1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</a:t>
                      </a:r>
                      <a:r>
                        <a:rPr dirty="0" sz="2000" spc="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</a:t>
                      </a:r>
                      <a:r>
                        <a:rPr dirty="0" sz="20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5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algn="r" marR="15875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2000" spc="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13</a:t>
                      </a:r>
                      <a:r>
                        <a:rPr dirty="0" sz="20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8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algn="r" marR="9779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2000" spc="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</a:t>
                      </a:r>
                      <a:r>
                        <a:rPr dirty="0" sz="2000" spc="-1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6</a:t>
                      </a:r>
                      <a:r>
                        <a:rPr dirty="0" sz="20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6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algn="r" marR="9588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20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…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2000" spc="-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166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4445"/>
                </a:tc>
              </a:tr>
              <a:tr h="427720"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20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6.</a:t>
                      </a:r>
                      <a:r>
                        <a:rPr dirty="0" sz="2000" spc="-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税后净营运</a:t>
                      </a:r>
                      <a:r>
                        <a:rPr dirty="0" sz="2000" spc="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收</a:t>
                      </a:r>
                      <a:r>
                        <a:rPr dirty="0" sz="2000" spc="-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入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2540"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2288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2000" spc="-1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</a:t>
                      </a:r>
                      <a:r>
                        <a:rPr dirty="0" sz="2000" spc="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2</a:t>
                      </a:r>
                      <a:r>
                        <a:rPr dirty="0" sz="20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0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2540"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065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2000" spc="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</a:t>
                      </a:r>
                      <a:r>
                        <a:rPr dirty="0" sz="2000" spc="-1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4</a:t>
                      </a:r>
                      <a:r>
                        <a:rPr dirty="0" sz="20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4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2540"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065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2000" spc="-1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</a:t>
                      </a:r>
                      <a:r>
                        <a:rPr dirty="0" sz="2000" spc="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7</a:t>
                      </a:r>
                      <a:r>
                        <a:rPr dirty="0" sz="20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3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2540"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875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2000" spc="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20</a:t>
                      </a:r>
                      <a:r>
                        <a:rPr dirty="0" sz="20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8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2540"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9779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2000" spc="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2</a:t>
                      </a:r>
                      <a:r>
                        <a:rPr dirty="0" sz="2000" spc="-1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4</a:t>
                      </a:r>
                      <a:r>
                        <a:rPr dirty="0" sz="20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9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2540"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9588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20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…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2540"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2000" spc="-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249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2540"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20116" y="1453388"/>
            <a:ext cx="8441055" cy="12357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 marR="5080" indent="548640">
              <a:lnSpc>
                <a:spcPct val="100000"/>
              </a:lnSpc>
              <a:spcBef>
                <a:spcPts val="90"/>
              </a:spcBef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分析表估价法的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基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本思想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实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际上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对资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算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作出更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详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细的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析。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假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设  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A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公司拟收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购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目标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司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T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A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公司对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T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司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的财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务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状况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进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行了详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细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的分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析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，列表 如下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：（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假设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T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司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销售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额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以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20%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速度增长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4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年，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然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后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保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持稳定）</a:t>
            </a:r>
            <a:endParaRPr sz="2000">
              <a:latin typeface="宋体"/>
              <a:cs typeface="宋体"/>
            </a:endParaRPr>
          </a:p>
          <a:p>
            <a:pPr marL="2959735">
              <a:lnSpc>
                <a:spcPts val="2335"/>
              </a:lnSpc>
              <a:tabLst>
                <a:tab pos="3797935" algn="l"/>
                <a:tab pos="4636135" algn="l"/>
                <a:tab pos="5474335" algn="l"/>
                <a:tab pos="6236335" algn="l"/>
                <a:tab pos="6845934" algn="l"/>
              </a:tabLst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0	1	2	3	4	…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0039" y="2651760"/>
            <a:ext cx="8455660" cy="0"/>
          </a:xfrm>
          <a:custGeom>
            <a:avLst/>
            <a:gdLst/>
            <a:ahLst/>
            <a:cxnLst/>
            <a:rect l="l" t="t" r="r" b="b"/>
            <a:pathLst>
              <a:path w="8455660" h="0">
                <a:moveTo>
                  <a:pt x="0" y="0"/>
                </a:moveTo>
                <a:lnTo>
                  <a:pt x="8455151" y="0"/>
                </a:lnTo>
              </a:path>
            </a:pathLst>
          </a:custGeom>
          <a:ln w="18287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026907" y="2394204"/>
            <a:ext cx="380999" cy="1371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71931" y="5114036"/>
            <a:ext cx="8255000" cy="1601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注：第</a:t>
            </a: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1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行是预测的销售额，期望以</a:t>
            </a: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20%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的速度增长；</a:t>
            </a:r>
            <a:endParaRPr sz="1800">
              <a:latin typeface="宋体"/>
              <a:cs typeface="宋体"/>
            </a:endParaRPr>
          </a:p>
          <a:p>
            <a:pPr marL="12700" marR="5080" indent="459740">
              <a:lnSpc>
                <a:spcPct val="95000"/>
              </a:lnSpc>
              <a:spcBef>
                <a:spcPts val="45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2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行代表了为支持第一</a:t>
            </a:r>
            <a:r>
              <a:rPr dirty="0" sz="1800" spc="-25">
                <a:solidFill>
                  <a:srgbClr val="FFFFFF"/>
                </a:solidFill>
                <a:latin typeface="宋体"/>
                <a:cs typeface="宋体"/>
              </a:rPr>
              <a:t>行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所示的销售水平所需要的资本。全部资本要求由净 营运资本以及财产、厂房和设备的净值构成，对目标公司而言，每一元的销售额需 要</a:t>
            </a: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50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美分的资本投入，表明</a:t>
            </a:r>
            <a:r>
              <a:rPr dirty="0" sz="1800" spc="-25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本周转次数为</a:t>
            </a:r>
            <a:r>
              <a:rPr dirty="0" sz="1800" spc="5">
                <a:solidFill>
                  <a:srgbClr val="FFFFFF"/>
                </a:solidFill>
                <a:latin typeface="宋体"/>
                <a:cs typeface="宋体"/>
              </a:rPr>
              <a:t>2；</a:t>
            </a:r>
            <a:endParaRPr sz="1800">
              <a:latin typeface="宋体"/>
              <a:cs typeface="宋体"/>
            </a:endParaRPr>
          </a:p>
          <a:p>
            <a:pPr marL="472440">
              <a:lnSpc>
                <a:spcPts val="1989"/>
              </a:lnSpc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3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行，投资定义为增加</a:t>
            </a:r>
            <a:r>
              <a:rPr dirty="0" sz="1800" spc="-25">
                <a:solidFill>
                  <a:srgbClr val="FFFFFF"/>
                </a:solidFill>
                <a:latin typeface="宋体"/>
                <a:cs typeface="宋体"/>
              </a:rPr>
              <a:t>总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资本；</a:t>
            </a:r>
            <a:endParaRPr sz="1800">
              <a:latin typeface="宋体"/>
              <a:cs typeface="宋体"/>
            </a:endParaRPr>
          </a:p>
          <a:p>
            <a:pPr marL="472440">
              <a:lnSpc>
                <a:spcPts val="2110"/>
              </a:lnSpc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4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行预测经营收入是全</a:t>
            </a:r>
            <a:r>
              <a:rPr dirty="0" sz="1800" spc="-25">
                <a:solidFill>
                  <a:srgbClr val="FFFFFF"/>
                </a:solidFill>
                <a:latin typeface="宋体"/>
                <a:cs typeface="宋体"/>
              </a:rPr>
              <a:t>部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资本的</a:t>
            </a:r>
            <a:r>
              <a:rPr dirty="0" sz="1800" spc="5">
                <a:solidFill>
                  <a:srgbClr val="FFFFFF"/>
                </a:solidFill>
                <a:latin typeface="宋体"/>
                <a:cs typeface="宋体"/>
              </a:rPr>
              <a:t>40%，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即全部资产的收</a:t>
            </a:r>
            <a:r>
              <a:rPr dirty="0" sz="1800" spc="-25">
                <a:solidFill>
                  <a:srgbClr val="FFFFFF"/>
                </a:solidFill>
                <a:latin typeface="宋体"/>
                <a:cs typeface="宋体"/>
              </a:rPr>
              <a:t>益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率为</a:t>
            </a: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40%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7952" y="2587752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 h="0">
                <a:moveTo>
                  <a:pt x="0" y="0"/>
                </a:moveTo>
                <a:lnTo>
                  <a:pt x="8000999" y="0"/>
                </a:lnTo>
              </a:path>
            </a:pathLst>
          </a:custGeom>
          <a:ln w="2743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93191" y="3209544"/>
          <a:ext cx="8061959" cy="18211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62225"/>
                <a:gridCol w="993139"/>
                <a:gridCol w="864235"/>
                <a:gridCol w="838200"/>
                <a:gridCol w="838200"/>
                <a:gridCol w="1104900"/>
                <a:gridCol w="800100"/>
                <a:gridCol w="60959"/>
              </a:tblGrid>
              <a:tr h="55836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1.</a:t>
                      </a:r>
                      <a:r>
                        <a:rPr dirty="0" sz="2400" spc="-1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税前收益</a:t>
                      </a:r>
                      <a:r>
                        <a:rPr dirty="0" sz="2400" spc="-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(X</a:t>
                      </a:r>
                      <a:r>
                        <a:rPr dirty="0" baseline="-20833" sz="2400" spc="-7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2400" spc="-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7813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2400" spc="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240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288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346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415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5811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415</a:t>
                      </a:r>
                      <a:r>
                        <a:rPr dirty="0" sz="2400" spc="-1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415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506178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2.</a:t>
                      </a:r>
                      <a:r>
                        <a:rPr dirty="0" sz="24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税收</a:t>
                      </a:r>
                      <a:r>
                        <a:rPr dirty="0" sz="240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sz="24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税率</a:t>
                      </a:r>
                      <a:r>
                        <a:rPr dirty="0" sz="2400" spc="-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40%)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5565"/>
                </a:tc>
                <a:tc>
                  <a:txBody>
                    <a:bodyPr/>
                    <a:lstStyle/>
                    <a:p>
                      <a:pPr marL="40640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2400" spc="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5565"/>
                </a:tc>
                <a:tc>
                  <a:txBody>
                    <a:bodyPr/>
                    <a:lstStyle/>
                    <a:p>
                      <a:pPr algn="r" marR="220979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5565"/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138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5565"/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166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5565"/>
                </a:tc>
                <a:tc>
                  <a:txBody>
                    <a:bodyPr/>
                    <a:lstStyle/>
                    <a:p>
                      <a:pPr algn="r" marR="18351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166</a:t>
                      </a:r>
                      <a:r>
                        <a:rPr dirty="0" sz="2400" spc="-1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5565"/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166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556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756613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3.</a:t>
                      </a:r>
                      <a:r>
                        <a:rPr dirty="0" sz="2400" spc="-2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税后现金流量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26669"/>
                </a:tc>
                <a:tc>
                  <a:txBody>
                    <a:bodyPr/>
                    <a:lstStyle/>
                    <a:p>
                      <a:pPr marL="33274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144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669"/>
                </a:tc>
                <a:tc>
                  <a:txBody>
                    <a:bodyPr/>
                    <a:lstStyle/>
                    <a:p>
                      <a:pPr algn="r" marR="220979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173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669"/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208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669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249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669"/>
                </a:tc>
                <a:tc>
                  <a:txBody>
                    <a:bodyPr/>
                    <a:lstStyle/>
                    <a:p>
                      <a:pPr algn="r" marR="18351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249…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669"/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249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66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54151" y="5019716"/>
          <a:ext cx="8001000" cy="1177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19045"/>
                <a:gridCol w="1029969"/>
                <a:gridCol w="838200"/>
                <a:gridCol w="885189"/>
                <a:gridCol w="838200"/>
                <a:gridCol w="1066800"/>
                <a:gridCol w="822959"/>
              </a:tblGrid>
              <a:tr h="424592">
                <a:tc>
                  <a:txBody>
                    <a:bodyPr/>
                    <a:lstStyle/>
                    <a:p>
                      <a:pPr marL="15240">
                        <a:lnSpc>
                          <a:spcPts val="2620"/>
                        </a:lnSpc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4.</a:t>
                      </a:r>
                      <a:r>
                        <a:rPr dirty="0" sz="240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投资</a:t>
                      </a:r>
                      <a:r>
                        <a:rPr dirty="0" sz="2400" spc="-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(I</a:t>
                      </a:r>
                      <a:r>
                        <a:rPr dirty="0" baseline="-20833" sz="2400" spc="-7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2400" spc="-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1770">
                        <a:lnSpc>
                          <a:spcPts val="2620"/>
                        </a:lnSpc>
                      </a:pPr>
                      <a:r>
                        <a:rPr dirty="0" u="heavy" sz="2400" spc="2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u="heavy" sz="240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imes New Roman"/>
                          <a:cs typeface="Times New Roman"/>
                        </a:rPr>
                        <a:t>20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1770">
                        <a:lnSpc>
                          <a:spcPts val="2620"/>
                        </a:lnSpc>
                      </a:pPr>
                      <a:r>
                        <a:rPr dirty="0" u="heavy" sz="240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imes New Roman"/>
                          <a:cs typeface="Times New Roman"/>
                        </a:rPr>
                        <a:t>144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8760">
                        <a:lnSpc>
                          <a:spcPts val="2620"/>
                        </a:lnSpc>
                      </a:pPr>
                      <a:r>
                        <a:rPr dirty="0" u="heavy" sz="240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imes New Roman"/>
                          <a:cs typeface="Times New Roman"/>
                        </a:rPr>
                        <a:t>173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38784">
                        <a:lnSpc>
                          <a:spcPts val="2620"/>
                        </a:lnSpc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2620"/>
                        </a:lnSpc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0…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724842">
                <a:tc>
                  <a:txBody>
                    <a:bodyPr/>
                    <a:lstStyle/>
                    <a:p>
                      <a:pPr marL="15240">
                        <a:lnSpc>
                          <a:spcPts val="2875"/>
                        </a:lnSpc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5.</a:t>
                      </a:r>
                      <a:r>
                        <a:rPr dirty="0" sz="2400" spc="-2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自由现金流量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73355">
                        <a:lnSpc>
                          <a:spcPts val="2875"/>
                        </a:lnSpc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73355">
                        <a:lnSpc>
                          <a:spcPts val="2875"/>
                        </a:lnSpc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29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20979">
                        <a:lnSpc>
                          <a:spcPts val="2875"/>
                        </a:lnSpc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ts val="2875"/>
                        </a:lnSpc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249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5415">
                        <a:lnSpc>
                          <a:spcPts val="2875"/>
                        </a:lnSpc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249…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ts val="2875"/>
                        </a:lnSpc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249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98779" y="1739900"/>
            <a:ext cx="7340600" cy="1308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下面我们将目标公司的自由现金流量表列出，如表所示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350">
              <a:latin typeface="宋体"/>
              <a:cs typeface="宋体"/>
            </a:endParaRPr>
          </a:p>
          <a:p>
            <a:pPr marL="2905125">
              <a:lnSpc>
                <a:spcPct val="100000"/>
              </a:lnSpc>
              <a:tabLst>
                <a:tab pos="3743325" algn="l"/>
                <a:tab pos="4581525" algn="l"/>
                <a:tab pos="5419725" algn="l"/>
                <a:tab pos="6181725" algn="l"/>
                <a:tab pos="6791325" algn="l"/>
              </a:tabLst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1	2	3	4	5	…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9591" y="4592828"/>
            <a:ext cx="1483360" cy="1534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[X</a:t>
            </a:r>
            <a:r>
              <a:rPr dirty="0" baseline="-20833" sz="2400" spc="-7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(1­T)]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2555"/>
              </a:spcBef>
            </a:pP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[X</a:t>
            </a:r>
            <a:r>
              <a:rPr dirty="0" baseline="-20833" sz="2400" spc="-7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(1­T)­I</a:t>
            </a:r>
            <a:r>
              <a:rPr dirty="0" baseline="-20833" sz="2400" spc="-7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]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34300" y="2845308"/>
            <a:ext cx="377951" cy="1371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227836" y="670052"/>
            <a:ext cx="667956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20"/>
              <a:t>分析</a:t>
            </a:r>
            <a:r>
              <a:rPr dirty="0" sz="3600"/>
              <a:t>表</a:t>
            </a:r>
            <a:r>
              <a:rPr dirty="0" sz="3600" spc="20"/>
              <a:t>估</a:t>
            </a:r>
            <a:r>
              <a:rPr dirty="0" sz="3600"/>
              <a:t>价法</a:t>
            </a:r>
            <a:r>
              <a:rPr dirty="0" sz="3600" spc="20"/>
              <a:t>的具</a:t>
            </a:r>
            <a:r>
              <a:rPr dirty="0" sz="3600"/>
              <a:t>体</a:t>
            </a:r>
            <a:r>
              <a:rPr dirty="0" sz="3600" spc="20"/>
              <a:t>应</a:t>
            </a:r>
            <a:r>
              <a:rPr dirty="0" sz="3600"/>
              <a:t>用（</a:t>
            </a:r>
            <a:r>
              <a:rPr dirty="0" sz="3600" spc="20"/>
              <a:t>续</a:t>
            </a:r>
            <a:r>
              <a:rPr dirty="0" sz="3600" spc="-325"/>
              <a:t>1</a:t>
            </a:r>
            <a:r>
              <a:rPr dirty="0" sz="3600"/>
              <a:t>）</a:t>
            </a:r>
            <a:endParaRPr sz="36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"/>
            <a:ext cx="9137902" cy="68518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3528" y="42672"/>
            <a:ext cx="2157984" cy="4328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40207" y="185928"/>
            <a:ext cx="8857615" cy="6553200"/>
          </a:xfrm>
          <a:custGeom>
            <a:avLst/>
            <a:gdLst/>
            <a:ahLst/>
            <a:cxnLst/>
            <a:rect l="l" t="t" r="r" b="b"/>
            <a:pathLst>
              <a:path w="8857615" h="6553200">
                <a:moveTo>
                  <a:pt x="0" y="0"/>
                </a:moveTo>
                <a:lnTo>
                  <a:pt x="0" y="6553199"/>
                </a:lnTo>
                <a:lnTo>
                  <a:pt x="8857487" y="6553199"/>
                </a:lnTo>
                <a:lnTo>
                  <a:pt x="8857487" y="0"/>
                </a:lnTo>
                <a:lnTo>
                  <a:pt x="0" y="0"/>
                </a:lnTo>
              </a:path>
            </a:pathLst>
          </a:custGeom>
          <a:ln w="18287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1920" y="141274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0909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1920" y="141579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1212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21920" y="141884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1920" y="142189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2020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1920" y="142494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1920" y="142798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2A2A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21920" y="143103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3131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21920" y="143408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36363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21920" y="143713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3C3C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21920" y="144018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41414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21920" y="144322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49494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21920" y="144627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4E4E4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21920" y="144932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5454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21920" y="145237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5B5B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21920" y="145542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61616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21920" y="145846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6767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21920" y="146151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6E6E6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21920" y="146456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7373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21920" y="146761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7979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21920" y="147066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21920" y="147370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86868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21920" y="147675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8C8C8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21920" y="147980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91919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821168" y="1482852"/>
            <a:ext cx="1155700" cy="0"/>
          </a:xfrm>
          <a:custGeom>
            <a:avLst/>
            <a:gdLst/>
            <a:ahLst/>
            <a:cxnLst/>
            <a:rect l="l" t="t" r="r" b="b"/>
            <a:pathLst>
              <a:path w="1155700" h="0">
                <a:moveTo>
                  <a:pt x="0" y="0"/>
                </a:moveTo>
                <a:lnTo>
                  <a:pt x="1155192" y="0"/>
                </a:lnTo>
              </a:path>
            </a:pathLst>
          </a:custGeom>
          <a:ln w="3175">
            <a:solidFill>
              <a:srgbClr val="98989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21920" y="1482852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 h="0">
                <a:moveTo>
                  <a:pt x="0" y="0"/>
                </a:moveTo>
                <a:lnTo>
                  <a:pt x="990600" y="0"/>
                </a:lnTo>
              </a:path>
            </a:pathLst>
          </a:custGeom>
          <a:ln w="3175">
            <a:solidFill>
              <a:srgbClr val="98989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821168" y="1485900"/>
            <a:ext cx="1155700" cy="0"/>
          </a:xfrm>
          <a:custGeom>
            <a:avLst/>
            <a:gdLst/>
            <a:ahLst/>
            <a:cxnLst/>
            <a:rect l="l" t="t" r="r" b="b"/>
            <a:pathLst>
              <a:path w="1155700" h="0">
                <a:moveTo>
                  <a:pt x="0" y="0"/>
                </a:moveTo>
                <a:lnTo>
                  <a:pt x="1155192" y="0"/>
                </a:lnTo>
              </a:path>
            </a:pathLst>
          </a:custGeom>
          <a:ln w="3175">
            <a:solidFill>
              <a:srgbClr val="9D9D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21920" y="1485900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 h="0">
                <a:moveTo>
                  <a:pt x="0" y="0"/>
                </a:moveTo>
                <a:lnTo>
                  <a:pt x="990600" y="0"/>
                </a:lnTo>
              </a:path>
            </a:pathLst>
          </a:custGeom>
          <a:ln w="3175">
            <a:solidFill>
              <a:srgbClr val="9D9D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821168" y="1488948"/>
            <a:ext cx="1155700" cy="0"/>
          </a:xfrm>
          <a:custGeom>
            <a:avLst/>
            <a:gdLst/>
            <a:ahLst/>
            <a:cxnLst/>
            <a:rect l="l" t="t" r="r" b="b"/>
            <a:pathLst>
              <a:path w="1155700" h="0">
                <a:moveTo>
                  <a:pt x="0" y="0"/>
                </a:moveTo>
                <a:lnTo>
                  <a:pt x="1155192" y="0"/>
                </a:lnTo>
              </a:path>
            </a:pathLst>
          </a:custGeom>
          <a:ln w="3175">
            <a:solidFill>
              <a:srgbClr val="A2A2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21920" y="1488948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 h="0">
                <a:moveTo>
                  <a:pt x="0" y="0"/>
                </a:moveTo>
                <a:lnTo>
                  <a:pt x="990600" y="0"/>
                </a:lnTo>
              </a:path>
            </a:pathLst>
          </a:custGeom>
          <a:ln w="3175">
            <a:solidFill>
              <a:srgbClr val="A2A2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821168" y="1491996"/>
            <a:ext cx="1155700" cy="0"/>
          </a:xfrm>
          <a:custGeom>
            <a:avLst/>
            <a:gdLst/>
            <a:ahLst/>
            <a:cxnLst/>
            <a:rect l="l" t="t" r="r" b="b"/>
            <a:pathLst>
              <a:path w="1155700" h="0">
                <a:moveTo>
                  <a:pt x="0" y="0"/>
                </a:moveTo>
                <a:lnTo>
                  <a:pt x="1155192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21920" y="1491996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 h="0">
                <a:moveTo>
                  <a:pt x="0" y="0"/>
                </a:moveTo>
                <a:lnTo>
                  <a:pt x="990600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821168" y="1495044"/>
            <a:ext cx="1155700" cy="0"/>
          </a:xfrm>
          <a:custGeom>
            <a:avLst/>
            <a:gdLst/>
            <a:ahLst/>
            <a:cxnLst/>
            <a:rect l="l" t="t" r="r" b="b"/>
            <a:pathLst>
              <a:path w="1155700" h="0">
                <a:moveTo>
                  <a:pt x="0" y="0"/>
                </a:moveTo>
                <a:lnTo>
                  <a:pt x="1155192" y="0"/>
                </a:lnTo>
              </a:path>
            </a:pathLst>
          </a:custGeom>
          <a:ln w="3175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21920" y="1495044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 h="0">
                <a:moveTo>
                  <a:pt x="0" y="0"/>
                </a:moveTo>
                <a:lnTo>
                  <a:pt x="990600" y="0"/>
                </a:lnTo>
              </a:path>
            </a:pathLst>
          </a:custGeom>
          <a:ln w="3175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821168" y="1498092"/>
            <a:ext cx="1155700" cy="0"/>
          </a:xfrm>
          <a:custGeom>
            <a:avLst/>
            <a:gdLst/>
            <a:ahLst/>
            <a:cxnLst/>
            <a:rect l="l" t="t" r="r" b="b"/>
            <a:pathLst>
              <a:path w="1155700" h="0">
                <a:moveTo>
                  <a:pt x="0" y="0"/>
                </a:moveTo>
                <a:lnTo>
                  <a:pt x="1155192" y="0"/>
                </a:lnTo>
              </a:path>
            </a:pathLst>
          </a:custGeom>
          <a:ln w="3175">
            <a:solidFill>
              <a:srgbClr val="B0B0B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21920" y="1498092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 h="0">
                <a:moveTo>
                  <a:pt x="0" y="0"/>
                </a:moveTo>
                <a:lnTo>
                  <a:pt x="990600" y="0"/>
                </a:lnTo>
              </a:path>
            </a:pathLst>
          </a:custGeom>
          <a:ln w="3175">
            <a:solidFill>
              <a:srgbClr val="B0B0B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821168" y="1501140"/>
            <a:ext cx="1155700" cy="0"/>
          </a:xfrm>
          <a:custGeom>
            <a:avLst/>
            <a:gdLst/>
            <a:ahLst/>
            <a:cxnLst/>
            <a:rect l="l" t="t" r="r" b="b"/>
            <a:pathLst>
              <a:path w="1155700" h="0">
                <a:moveTo>
                  <a:pt x="0" y="0"/>
                </a:moveTo>
                <a:lnTo>
                  <a:pt x="1155192" y="0"/>
                </a:lnTo>
              </a:path>
            </a:pathLst>
          </a:custGeom>
          <a:ln w="3175">
            <a:solidFill>
              <a:srgbClr val="B4B4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21920" y="1501140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 h="0">
                <a:moveTo>
                  <a:pt x="0" y="0"/>
                </a:moveTo>
                <a:lnTo>
                  <a:pt x="990600" y="0"/>
                </a:lnTo>
              </a:path>
            </a:pathLst>
          </a:custGeom>
          <a:ln w="3175">
            <a:solidFill>
              <a:srgbClr val="B4B4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821168" y="1504188"/>
            <a:ext cx="1155700" cy="0"/>
          </a:xfrm>
          <a:custGeom>
            <a:avLst/>
            <a:gdLst/>
            <a:ahLst/>
            <a:cxnLst/>
            <a:rect l="l" t="t" r="r" b="b"/>
            <a:pathLst>
              <a:path w="1155700" h="0">
                <a:moveTo>
                  <a:pt x="0" y="0"/>
                </a:moveTo>
                <a:lnTo>
                  <a:pt x="1155192" y="0"/>
                </a:lnTo>
              </a:path>
            </a:pathLst>
          </a:custGeom>
          <a:ln w="3175">
            <a:solidFill>
              <a:srgbClr val="B8B8B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21920" y="1504188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 h="0">
                <a:moveTo>
                  <a:pt x="0" y="0"/>
                </a:moveTo>
                <a:lnTo>
                  <a:pt x="990600" y="0"/>
                </a:lnTo>
              </a:path>
            </a:pathLst>
          </a:custGeom>
          <a:ln w="3175">
            <a:solidFill>
              <a:srgbClr val="B8B8B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821168" y="1507236"/>
            <a:ext cx="1155700" cy="0"/>
          </a:xfrm>
          <a:custGeom>
            <a:avLst/>
            <a:gdLst/>
            <a:ahLst/>
            <a:cxnLst/>
            <a:rect l="l" t="t" r="r" b="b"/>
            <a:pathLst>
              <a:path w="1155700" h="0">
                <a:moveTo>
                  <a:pt x="0" y="0"/>
                </a:moveTo>
                <a:lnTo>
                  <a:pt x="1155192" y="0"/>
                </a:lnTo>
              </a:path>
            </a:pathLst>
          </a:custGeom>
          <a:ln w="3175">
            <a:solidFill>
              <a:srgbClr val="BABA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21920" y="1507236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 h="0">
                <a:moveTo>
                  <a:pt x="0" y="0"/>
                </a:moveTo>
                <a:lnTo>
                  <a:pt x="990600" y="0"/>
                </a:lnTo>
              </a:path>
            </a:pathLst>
          </a:custGeom>
          <a:ln w="3175">
            <a:solidFill>
              <a:srgbClr val="BABA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821168" y="1510284"/>
            <a:ext cx="1155700" cy="0"/>
          </a:xfrm>
          <a:custGeom>
            <a:avLst/>
            <a:gdLst/>
            <a:ahLst/>
            <a:cxnLst/>
            <a:rect l="l" t="t" r="r" b="b"/>
            <a:pathLst>
              <a:path w="1155700" h="0">
                <a:moveTo>
                  <a:pt x="0" y="0"/>
                </a:moveTo>
                <a:lnTo>
                  <a:pt x="1155192" y="0"/>
                </a:lnTo>
              </a:path>
            </a:pathLst>
          </a:custGeom>
          <a:ln w="3175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21920" y="1510284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 h="0">
                <a:moveTo>
                  <a:pt x="0" y="0"/>
                </a:moveTo>
                <a:lnTo>
                  <a:pt x="990600" y="0"/>
                </a:lnTo>
              </a:path>
            </a:pathLst>
          </a:custGeom>
          <a:ln w="3175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821168" y="1513332"/>
            <a:ext cx="1155700" cy="0"/>
          </a:xfrm>
          <a:custGeom>
            <a:avLst/>
            <a:gdLst/>
            <a:ahLst/>
            <a:cxnLst/>
            <a:rect l="l" t="t" r="r" b="b"/>
            <a:pathLst>
              <a:path w="1155700" h="0">
                <a:moveTo>
                  <a:pt x="0" y="0"/>
                </a:moveTo>
                <a:lnTo>
                  <a:pt x="1155192" y="0"/>
                </a:lnTo>
              </a:path>
            </a:pathLst>
          </a:custGeom>
          <a:ln w="3175">
            <a:solidFill>
              <a:srgbClr val="C2C2C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21920" y="1513332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 h="0">
                <a:moveTo>
                  <a:pt x="0" y="0"/>
                </a:moveTo>
                <a:lnTo>
                  <a:pt x="990600" y="0"/>
                </a:lnTo>
              </a:path>
            </a:pathLst>
          </a:custGeom>
          <a:ln w="3175">
            <a:solidFill>
              <a:srgbClr val="C2C2C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821168" y="1516380"/>
            <a:ext cx="1155700" cy="0"/>
          </a:xfrm>
          <a:custGeom>
            <a:avLst/>
            <a:gdLst/>
            <a:ahLst/>
            <a:cxnLst/>
            <a:rect l="l" t="t" r="r" b="b"/>
            <a:pathLst>
              <a:path w="1155700" h="0">
                <a:moveTo>
                  <a:pt x="0" y="0"/>
                </a:moveTo>
                <a:lnTo>
                  <a:pt x="1155192" y="0"/>
                </a:lnTo>
              </a:path>
            </a:pathLst>
          </a:custGeom>
          <a:ln w="3175">
            <a:solidFill>
              <a:srgbClr val="C4C4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21920" y="1516380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 h="0">
                <a:moveTo>
                  <a:pt x="0" y="0"/>
                </a:moveTo>
                <a:lnTo>
                  <a:pt x="990600" y="0"/>
                </a:lnTo>
              </a:path>
            </a:pathLst>
          </a:custGeom>
          <a:ln w="3175">
            <a:solidFill>
              <a:srgbClr val="C4C4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821168" y="1519428"/>
            <a:ext cx="1155700" cy="0"/>
          </a:xfrm>
          <a:custGeom>
            <a:avLst/>
            <a:gdLst/>
            <a:ahLst/>
            <a:cxnLst/>
            <a:rect l="l" t="t" r="r" b="b"/>
            <a:pathLst>
              <a:path w="1155700" h="0">
                <a:moveTo>
                  <a:pt x="0" y="0"/>
                </a:moveTo>
                <a:lnTo>
                  <a:pt x="1155192" y="0"/>
                </a:lnTo>
              </a:path>
            </a:pathLst>
          </a:custGeom>
          <a:ln w="3175">
            <a:solidFill>
              <a:srgbClr val="C7C7C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21920" y="1519428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 h="0">
                <a:moveTo>
                  <a:pt x="0" y="0"/>
                </a:moveTo>
                <a:lnTo>
                  <a:pt x="990600" y="0"/>
                </a:lnTo>
              </a:path>
            </a:pathLst>
          </a:custGeom>
          <a:ln w="3175">
            <a:solidFill>
              <a:srgbClr val="C7C7C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7821168" y="1522476"/>
            <a:ext cx="1155700" cy="0"/>
          </a:xfrm>
          <a:custGeom>
            <a:avLst/>
            <a:gdLst/>
            <a:ahLst/>
            <a:cxnLst/>
            <a:rect l="l" t="t" r="r" b="b"/>
            <a:pathLst>
              <a:path w="1155700" h="0">
                <a:moveTo>
                  <a:pt x="0" y="0"/>
                </a:moveTo>
                <a:lnTo>
                  <a:pt x="1155192" y="0"/>
                </a:lnTo>
              </a:path>
            </a:pathLst>
          </a:custGeom>
          <a:ln w="3175">
            <a:solidFill>
              <a:srgbClr val="CACAC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21920" y="1522476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 h="0">
                <a:moveTo>
                  <a:pt x="0" y="0"/>
                </a:moveTo>
                <a:lnTo>
                  <a:pt x="990600" y="0"/>
                </a:lnTo>
              </a:path>
            </a:pathLst>
          </a:custGeom>
          <a:ln w="3175">
            <a:solidFill>
              <a:srgbClr val="CACAC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7821168" y="1525524"/>
            <a:ext cx="1155700" cy="0"/>
          </a:xfrm>
          <a:custGeom>
            <a:avLst/>
            <a:gdLst/>
            <a:ahLst/>
            <a:cxnLst/>
            <a:rect l="l" t="t" r="r" b="b"/>
            <a:pathLst>
              <a:path w="1155700" h="0">
                <a:moveTo>
                  <a:pt x="0" y="0"/>
                </a:moveTo>
                <a:lnTo>
                  <a:pt x="1155192" y="0"/>
                </a:lnTo>
              </a:path>
            </a:pathLst>
          </a:custGeom>
          <a:ln w="3175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21920" y="1525524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 h="0">
                <a:moveTo>
                  <a:pt x="0" y="0"/>
                </a:moveTo>
                <a:lnTo>
                  <a:pt x="990600" y="0"/>
                </a:lnTo>
              </a:path>
            </a:pathLst>
          </a:custGeom>
          <a:ln w="3175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7821168" y="1528572"/>
            <a:ext cx="1155700" cy="0"/>
          </a:xfrm>
          <a:custGeom>
            <a:avLst/>
            <a:gdLst/>
            <a:ahLst/>
            <a:cxnLst/>
            <a:rect l="l" t="t" r="r" b="b"/>
            <a:pathLst>
              <a:path w="1155700" h="0">
                <a:moveTo>
                  <a:pt x="0" y="0"/>
                </a:moveTo>
                <a:lnTo>
                  <a:pt x="1155192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21920" y="1528572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 h="0">
                <a:moveTo>
                  <a:pt x="0" y="0"/>
                </a:moveTo>
                <a:lnTo>
                  <a:pt x="99060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7821168" y="1531620"/>
            <a:ext cx="1155700" cy="0"/>
          </a:xfrm>
          <a:custGeom>
            <a:avLst/>
            <a:gdLst/>
            <a:ahLst/>
            <a:cxnLst/>
            <a:rect l="l" t="t" r="r" b="b"/>
            <a:pathLst>
              <a:path w="1155700" h="0">
                <a:moveTo>
                  <a:pt x="0" y="0"/>
                </a:moveTo>
                <a:lnTo>
                  <a:pt x="1155192" y="0"/>
                </a:lnTo>
              </a:path>
            </a:pathLst>
          </a:custGeom>
          <a:ln w="3175">
            <a:solidFill>
              <a:srgbClr val="CFCF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121920" y="1531620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 h="0">
                <a:moveTo>
                  <a:pt x="0" y="0"/>
                </a:moveTo>
                <a:lnTo>
                  <a:pt x="990600" y="0"/>
                </a:lnTo>
              </a:path>
            </a:pathLst>
          </a:custGeom>
          <a:ln w="3175">
            <a:solidFill>
              <a:srgbClr val="CFCF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7821168" y="1534668"/>
            <a:ext cx="1155700" cy="0"/>
          </a:xfrm>
          <a:custGeom>
            <a:avLst/>
            <a:gdLst/>
            <a:ahLst/>
            <a:cxnLst/>
            <a:rect l="l" t="t" r="r" b="b"/>
            <a:pathLst>
              <a:path w="1155700" h="0">
                <a:moveTo>
                  <a:pt x="0" y="0"/>
                </a:moveTo>
                <a:lnTo>
                  <a:pt x="1155192" y="0"/>
                </a:lnTo>
              </a:path>
            </a:pathLst>
          </a:custGeom>
          <a:ln w="3175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121920" y="1534668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 h="0">
                <a:moveTo>
                  <a:pt x="0" y="0"/>
                </a:moveTo>
                <a:lnTo>
                  <a:pt x="990600" y="0"/>
                </a:lnTo>
              </a:path>
            </a:pathLst>
          </a:custGeom>
          <a:ln w="3175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7821168" y="1537716"/>
            <a:ext cx="1155700" cy="0"/>
          </a:xfrm>
          <a:custGeom>
            <a:avLst/>
            <a:gdLst/>
            <a:ahLst/>
            <a:cxnLst/>
            <a:rect l="l" t="t" r="r" b="b"/>
            <a:pathLst>
              <a:path w="1155700" h="0">
                <a:moveTo>
                  <a:pt x="0" y="0"/>
                </a:moveTo>
                <a:lnTo>
                  <a:pt x="1155192" y="0"/>
                </a:lnTo>
              </a:path>
            </a:pathLst>
          </a:custGeom>
          <a:ln w="3175">
            <a:solidFill>
              <a:srgbClr val="D1D1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121920" y="1537716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 h="0">
                <a:moveTo>
                  <a:pt x="0" y="0"/>
                </a:moveTo>
                <a:lnTo>
                  <a:pt x="990600" y="0"/>
                </a:lnTo>
              </a:path>
            </a:pathLst>
          </a:custGeom>
          <a:ln w="3175">
            <a:solidFill>
              <a:srgbClr val="D1D1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7821168" y="1540764"/>
            <a:ext cx="1155700" cy="0"/>
          </a:xfrm>
          <a:custGeom>
            <a:avLst/>
            <a:gdLst/>
            <a:ahLst/>
            <a:cxnLst/>
            <a:rect l="l" t="t" r="r" b="b"/>
            <a:pathLst>
              <a:path w="1155700" h="0">
                <a:moveTo>
                  <a:pt x="0" y="0"/>
                </a:moveTo>
                <a:lnTo>
                  <a:pt x="1155192" y="0"/>
                </a:lnTo>
              </a:path>
            </a:pathLst>
          </a:custGeom>
          <a:ln w="3175">
            <a:solidFill>
              <a:srgbClr val="D3D3D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21920" y="1540764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 h="0">
                <a:moveTo>
                  <a:pt x="0" y="0"/>
                </a:moveTo>
                <a:lnTo>
                  <a:pt x="990600" y="0"/>
                </a:lnTo>
              </a:path>
            </a:pathLst>
          </a:custGeom>
          <a:ln w="3175">
            <a:solidFill>
              <a:srgbClr val="D3D3D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7821168" y="1543812"/>
            <a:ext cx="1155700" cy="0"/>
          </a:xfrm>
          <a:custGeom>
            <a:avLst/>
            <a:gdLst/>
            <a:ahLst/>
            <a:cxnLst/>
            <a:rect l="l" t="t" r="r" b="b"/>
            <a:pathLst>
              <a:path w="1155700" h="0">
                <a:moveTo>
                  <a:pt x="0" y="0"/>
                </a:moveTo>
                <a:lnTo>
                  <a:pt x="1155192" y="0"/>
                </a:lnTo>
              </a:path>
            </a:pathLst>
          </a:custGeom>
          <a:ln w="3175">
            <a:solidFill>
              <a:srgbClr val="D4D4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21920" y="1543812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 h="0">
                <a:moveTo>
                  <a:pt x="0" y="0"/>
                </a:moveTo>
                <a:lnTo>
                  <a:pt x="990600" y="0"/>
                </a:lnTo>
              </a:path>
            </a:pathLst>
          </a:custGeom>
          <a:ln w="3175">
            <a:solidFill>
              <a:srgbClr val="D4D4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7821168" y="1546860"/>
            <a:ext cx="1155700" cy="0"/>
          </a:xfrm>
          <a:custGeom>
            <a:avLst/>
            <a:gdLst/>
            <a:ahLst/>
            <a:cxnLst/>
            <a:rect l="l" t="t" r="r" b="b"/>
            <a:pathLst>
              <a:path w="1155700" h="0">
                <a:moveTo>
                  <a:pt x="0" y="0"/>
                </a:moveTo>
                <a:lnTo>
                  <a:pt x="1155192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121920" y="1546860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 h="0">
                <a:moveTo>
                  <a:pt x="0" y="0"/>
                </a:moveTo>
                <a:lnTo>
                  <a:pt x="990600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7821168" y="1549908"/>
            <a:ext cx="1155700" cy="0"/>
          </a:xfrm>
          <a:custGeom>
            <a:avLst/>
            <a:gdLst/>
            <a:ahLst/>
            <a:cxnLst/>
            <a:rect l="l" t="t" r="r" b="b"/>
            <a:pathLst>
              <a:path w="1155700" h="0">
                <a:moveTo>
                  <a:pt x="0" y="0"/>
                </a:moveTo>
                <a:lnTo>
                  <a:pt x="1155192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121920" y="1549908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 h="0">
                <a:moveTo>
                  <a:pt x="0" y="0"/>
                </a:moveTo>
                <a:lnTo>
                  <a:pt x="990600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7821168" y="1552956"/>
            <a:ext cx="1155700" cy="0"/>
          </a:xfrm>
          <a:custGeom>
            <a:avLst/>
            <a:gdLst/>
            <a:ahLst/>
            <a:cxnLst/>
            <a:rect l="l" t="t" r="r" b="b"/>
            <a:pathLst>
              <a:path w="1155700" h="0">
                <a:moveTo>
                  <a:pt x="0" y="0"/>
                </a:moveTo>
                <a:lnTo>
                  <a:pt x="1155192" y="0"/>
                </a:lnTo>
              </a:path>
            </a:pathLst>
          </a:custGeom>
          <a:ln w="3175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121920" y="1552956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 h="0">
                <a:moveTo>
                  <a:pt x="0" y="0"/>
                </a:moveTo>
                <a:lnTo>
                  <a:pt x="990600" y="0"/>
                </a:lnTo>
              </a:path>
            </a:pathLst>
          </a:custGeom>
          <a:ln w="3175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112520" y="1481328"/>
            <a:ext cx="6708775" cy="2664460"/>
          </a:xfrm>
          <a:custGeom>
            <a:avLst/>
            <a:gdLst/>
            <a:ahLst/>
            <a:cxnLst/>
            <a:rect l="l" t="t" r="r" b="b"/>
            <a:pathLst>
              <a:path w="6708775" h="2664460">
                <a:moveTo>
                  <a:pt x="0" y="0"/>
                </a:moveTo>
                <a:lnTo>
                  <a:pt x="0" y="2663952"/>
                </a:lnTo>
                <a:lnTo>
                  <a:pt x="6708648" y="2663952"/>
                </a:lnTo>
                <a:lnTo>
                  <a:pt x="670864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2328672" y="1831848"/>
            <a:ext cx="841375" cy="0"/>
          </a:xfrm>
          <a:custGeom>
            <a:avLst/>
            <a:gdLst/>
            <a:ahLst/>
            <a:cxnLst/>
            <a:rect l="l" t="t" r="r" b="b"/>
            <a:pathLst>
              <a:path w="841375" h="0">
                <a:moveTo>
                  <a:pt x="0" y="0"/>
                </a:moveTo>
                <a:lnTo>
                  <a:pt x="841247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3486911" y="1831848"/>
            <a:ext cx="1049020" cy="0"/>
          </a:xfrm>
          <a:custGeom>
            <a:avLst/>
            <a:gdLst/>
            <a:ahLst/>
            <a:cxnLst/>
            <a:rect l="l" t="t" r="r" b="b"/>
            <a:pathLst>
              <a:path w="1049020" h="0">
                <a:moveTo>
                  <a:pt x="0" y="0"/>
                </a:moveTo>
                <a:lnTo>
                  <a:pt x="1048511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5108447" y="1831848"/>
            <a:ext cx="1051560" cy="0"/>
          </a:xfrm>
          <a:custGeom>
            <a:avLst/>
            <a:gdLst/>
            <a:ahLst/>
            <a:cxnLst/>
            <a:rect l="l" t="t" r="r" b="b"/>
            <a:pathLst>
              <a:path w="1051560" h="0">
                <a:moveTo>
                  <a:pt x="0" y="0"/>
                </a:moveTo>
                <a:lnTo>
                  <a:pt x="1051559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6477000" y="1831848"/>
            <a:ext cx="1280160" cy="0"/>
          </a:xfrm>
          <a:custGeom>
            <a:avLst/>
            <a:gdLst/>
            <a:ahLst/>
            <a:cxnLst/>
            <a:rect l="l" t="t" r="r" b="b"/>
            <a:pathLst>
              <a:path w="1280159" h="0">
                <a:moveTo>
                  <a:pt x="0" y="0"/>
                </a:moveTo>
                <a:lnTo>
                  <a:pt x="1280159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2270760" y="2404872"/>
            <a:ext cx="615950" cy="0"/>
          </a:xfrm>
          <a:custGeom>
            <a:avLst/>
            <a:gdLst/>
            <a:ahLst/>
            <a:cxnLst/>
            <a:rect l="l" t="t" r="r" b="b"/>
            <a:pathLst>
              <a:path w="615950" h="0">
                <a:moveTo>
                  <a:pt x="0" y="0"/>
                </a:moveTo>
                <a:lnTo>
                  <a:pt x="615695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3203447" y="2404872"/>
            <a:ext cx="826135" cy="0"/>
          </a:xfrm>
          <a:custGeom>
            <a:avLst/>
            <a:gdLst/>
            <a:ahLst/>
            <a:cxnLst/>
            <a:rect l="l" t="t" r="r" b="b"/>
            <a:pathLst>
              <a:path w="826135" h="0">
                <a:moveTo>
                  <a:pt x="0" y="0"/>
                </a:moveTo>
                <a:lnTo>
                  <a:pt x="826007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4346447" y="2404872"/>
            <a:ext cx="805180" cy="0"/>
          </a:xfrm>
          <a:custGeom>
            <a:avLst/>
            <a:gdLst/>
            <a:ahLst/>
            <a:cxnLst/>
            <a:rect l="l" t="t" r="r" b="b"/>
            <a:pathLst>
              <a:path w="805179" h="0">
                <a:moveTo>
                  <a:pt x="0" y="0"/>
                </a:moveTo>
                <a:lnTo>
                  <a:pt x="804671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5468111" y="2404872"/>
            <a:ext cx="1417320" cy="0"/>
          </a:xfrm>
          <a:custGeom>
            <a:avLst/>
            <a:gdLst/>
            <a:ahLst/>
            <a:cxnLst/>
            <a:rect l="l" t="t" r="r" b="b"/>
            <a:pathLst>
              <a:path w="1417320" h="0">
                <a:moveTo>
                  <a:pt x="0" y="0"/>
                </a:moveTo>
                <a:lnTo>
                  <a:pt x="1417319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2270760" y="2977896"/>
            <a:ext cx="615950" cy="0"/>
          </a:xfrm>
          <a:custGeom>
            <a:avLst/>
            <a:gdLst/>
            <a:ahLst/>
            <a:cxnLst/>
            <a:rect l="l" t="t" r="r" b="b"/>
            <a:pathLst>
              <a:path w="615950" h="0">
                <a:moveTo>
                  <a:pt x="0" y="0"/>
                </a:moveTo>
                <a:lnTo>
                  <a:pt x="615695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3203447" y="2977896"/>
            <a:ext cx="783590" cy="0"/>
          </a:xfrm>
          <a:custGeom>
            <a:avLst/>
            <a:gdLst/>
            <a:ahLst/>
            <a:cxnLst/>
            <a:rect l="l" t="t" r="r" b="b"/>
            <a:pathLst>
              <a:path w="783589" h="0">
                <a:moveTo>
                  <a:pt x="0" y="0"/>
                </a:moveTo>
                <a:lnTo>
                  <a:pt x="783335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4303776" y="2977896"/>
            <a:ext cx="951230" cy="0"/>
          </a:xfrm>
          <a:custGeom>
            <a:avLst/>
            <a:gdLst/>
            <a:ahLst/>
            <a:cxnLst/>
            <a:rect l="l" t="t" r="r" b="b"/>
            <a:pathLst>
              <a:path w="951229" h="0">
                <a:moveTo>
                  <a:pt x="0" y="0"/>
                </a:moveTo>
                <a:lnTo>
                  <a:pt x="950975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5571744" y="2977896"/>
            <a:ext cx="1564005" cy="0"/>
          </a:xfrm>
          <a:custGeom>
            <a:avLst/>
            <a:gdLst/>
            <a:ahLst/>
            <a:cxnLst/>
            <a:rect l="l" t="t" r="r" b="b"/>
            <a:pathLst>
              <a:path w="1564004" h="0">
                <a:moveTo>
                  <a:pt x="0" y="0"/>
                </a:moveTo>
                <a:lnTo>
                  <a:pt x="1563623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89" name="object 89"/>
          <p:cNvGraphicFramePr>
            <a:graphicFrameLocks noGrp="1"/>
          </p:cNvGraphicFramePr>
          <p:nvPr/>
        </p:nvGraphicFramePr>
        <p:xfrm>
          <a:off x="1973833" y="3403486"/>
          <a:ext cx="4387215" cy="7423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4629"/>
                <a:gridCol w="791845"/>
                <a:gridCol w="1047114"/>
                <a:gridCol w="268605"/>
                <a:gridCol w="777875"/>
                <a:gridCol w="839469"/>
                <a:gridCol w="447039"/>
              </a:tblGrid>
              <a:tr h="34371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650">
                          <a:latin typeface="Symbol"/>
                          <a:cs typeface="Symbol"/>
                        </a:rPr>
                        <a:t></a:t>
                      </a:r>
                      <a:endParaRPr sz="1650">
                        <a:latin typeface="Symbol"/>
                        <a:cs typeface="Symbol"/>
                      </a:endParaRPr>
                    </a:p>
                  </a:txBody>
                  <a:tcPr marL="0" marR="0" marB="0" marT="190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650" spc="5">
                          <a:latin typeface="Times New Roman"/>
                          <a:cs typeface="Times New Roman"/>
                        </a:rPr>
                        <a:t>21 </a:t>
                      </a:r>
                      <a:r>
                        <a:rPr dirty="0" sz="165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1650" spc="-1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50" spc="5">
                          <a:latin typeface="Times New Roman"/>
                          <a:cs typeface="Times New Roman"/>
                        </a:rPr>
                        <a:t>82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5"/>
                        </a:spcBef>
                        <a:tabLst>
                          <a:tab pos="329565" algn="l"/>
                        </a:tabLst>
                      </a:pPr>
                      <a:r>
                        <a:rPr dirty="0" sz="1650">
                          <a:latin typeface="Symbol"/>
                          <a:cs typeface="Symbol"/>
                        </a:rPr>
                        <a:t></a:t>
                      </a:r>
                      <a:r>
                        <a:rPr dirty="0" sz="165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50" spc="5">
                          <a:latin typeface="Times New Roman"/>
                          <a:cs typeface="Times New Roman"/>
                        </a:rPr>
                        <a:t>23 </a:t>
                      </a:r>
                      <a:r>
                        <a:rPr dirty="0" sz="165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1650" spc="-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50" spc="5">
                          <a:latin typeface="Times New Roman"/>
                          <a:cs typeface="Times New Roman"/>
                        </a:rPr>
                        <a:t>97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650">
                          <a:latin typeface="Symbol"/>
                          <a:cs typeface="Symbol"/>
                        </a:rPr>
                        <a:t></a:t>
                      </a:r>
                      <a:endParaRPr sz="1650">
                        <a:latin typeface="Symbol"/>
                        <a:cs typeface="Symbol"/>
                      </a:endParaRPr>
                    </a:p>
                  </a:txBody>
                  <a:tcPr marL="0" marR="0" marB="0" marT="190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650" spc="5">
                          <a:latin typeface="Times New Roman"/>
                          <a:cs typeface="Times New Roman"/>
                        </a:rPr>
                        <a:t>26 </a:t>
                      </a:r>
                      <a:r>
                        <a:rPr dirty="0" sz="165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1650" spc="-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50" spc="5">
                          <a:latin typeface="Times New Roman"/>
                          <a:cs typeface="Times New Roman"/>
                        </a:rPr>
                        <a:t>30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650">
                          <a:latin typeface="Symbol"/>
                          <a:cs typeface="Symbol"/>
                        </a:rPr>
                        <a:t></a:t>
                      </a:r>
                      <a:r>
                        <a:rPr dirty="0" sz="1650" spc="2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50" spc="10">
                          <a:latin typeface="Times New Roman"/>
                          <a:cs typeface="Times New Roman"/>
                        </a:rPr>
                        <a:t>1870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65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1650" spc="-2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50" spc="5">
                          <a:latin typeface="Times New Roman"/>
                          <a:cs typeface="Times New Roman"/>
                        </a:rPr>
                        <a:t>77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solidFill>
                      <a:srgbClr val="FFFFFF"/>
                    </a:solidFill>
                  </a:tcPr>
                </a:tc>
              </a:tr>
              <a:tr h="398083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650">
                          <a:latin typeface="Symbol"/>
                          <a:cs typeface="Symbol"/>
                        </a:rPr>
                        <a:t></a:t>
                      </a:r>
                      <a:endParaRPr sz="1650">
                        <a:latin typeface="Symbol"/>
                        <a:cs typeface="Symbol"/>
                      </a:endParaRPr>
                    </a:p>
                  </a:txBody>
                  <a:tcPr marL="0" marR="0" marB="0" marT="8763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650">
                          <a:latin typeface="Times New Roman"/>
                          <a:cs typeface="Times New Roman"/>
                        </a:rPr>
                        <a:t>$</a:t>
                      </a:r>
                      <a:r>
                        <a:rPr dirty="0" sz="165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50" spc="10">
                          <a:latin typeface="Times New Roman"/>
                          <a:cs typeface="Times New Roman"/>
                        </a:rPr>
                        <a:t>1942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763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65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1650" spc="-1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50" spc="5">
                          <a:latin typeface="Times New Roman"/>
                          <a:cs typeface="Times New Roman"/>
                        </a:rPr>
                        <a:t>86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763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" name="object 90"/>
          <p:cNvSpPr txBox="1"/>
          <p:nvPr/>
        </p:nvSpPr>
        <p:spPr>
          <a:xfrm>
            <a:off x="5577332" y="2974340"/>
            <a:ext cx="151320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429385" algn="l"/>
              </a:tabLst>
            </a:pPr>
            <a:r>
              <a:rPr dirty="0" sz="1650">
                <a:latin typeface="Times New Roman"/>
                <a:cs typeface="Times New Roman"/>
              </a:rPr>
              <a:t>(</a:t>
            </a:r>
            <a:r>
              <a:rPr dirty="0" sz="1650" spc="-8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0</a:t>
            </a:r>
            <a:r>
              <a:rPr dirty="0" sz="1650" spc="7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.</a:t>
            </a:r>
            <a:r>
              <a:rPr dirty="0" sz="1650" spc="-18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1</a:t>
            </a:r>
            <a:r>
              <a:rPr dirty="0" sz="1650" spc="-14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)(</a:t>
            </a:r>
            <a:r>
              <a:rPr dirty="0" sz="1650" spc="-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1</a:t>
            </a:r>
            <a:r>
              <a:rPr dirty="0" sz="1650" spc="7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.</a:t>
            </a:r>
            <a:r>
              <a:rPr dirty="0" sz="1650" spc="-180">
                <a:latin typeface="Times New Roman"/>
                <a:cs typeface="Times New Roman"/>
              </a:rPr>
              <a:t> </a:t>
            </a:r>
            <a:r>
              <a:rPr dirty="0" sz="1650" spc="10">
                <a:latin typeface="Times New Roman"/>
                <a:cs typeface="Times New Roman"/>
              </a:rPr>
              <a:t>33</a:t>
            </a:r>
            <a:r>
              <a:rPr dirty="0" sz="1650">
                <a:latin typeface="Times New Roman"/>
                <a:cs typeface="Times New Roman"/>
              </a:rPr>
              <a:t>1</a:t>
            </a:r>
            <a:r>
              <a:rPr dirty="0" sz="1650">
                <a:latin typeface="Times New Roman"/>
                <a:cs typeface="Times New Roman"/>
              </a:rPr>
              <a:t>	</a:t>
            </a:r>
            <a:r>
              <a:rPr dirty="0" sz="1650">
                <a:latin typeface="Times New Roman"/>
                <a:cs typeface="Times New Roman"/>
              </a:rPr>
              <a:t>)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4309364" y="2974340"/>
            <a:ext cx="900430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17244" algn="l"/>
              </a:tabLst>
            </a:pPr>
            <a:r>
              <a:rPr dirty="0" sz="1650" spc="95">
                <a:latin typeface="Times New Roman"/>
                <a:cs typeface="Times New Roman"/>
              </a:rPr>
              <a:t>(</a:t>
            </a:r>
            <a:r>
              <a:rPr dirty="0" sz="1650">
                <a:latin typeface="Times New Roman"/>
                <a:cs typeface="Times New Roman"/>
              </a:rPr>
              <a:t>1</a:t>
            </a:r>
            <a:r>
              <a:rPr dirty="0" sz="1650" spc="7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.</a:t>
            </a:r>
            <a:r>
              <a:rPr dirty="0" sz="1650" spc="-180">
                <a:latin typeface="Times New Roman"/>
                <a:cs typeface="Times New Roman"/>
              </a:rPr>
              <a:t> </a:t>
            </a:r>
            <a:r>
              <a:rPr dirty="0" sz="1650" spc="10">
                <a:latin typeface="Times New Roman"/>
                <a:cs typeface="Times New Roman"/>
              </a:rPr>
              <a:t>33</a:t>
            </a:r>
            <a:r>
              <a:rPr dirty="0" sz="1650">
                <a:latin typeface="Times New Roman"/>
                <a:cs typeface="Times New Roman"/>
              </a:rPr>
              <a:t>1</a:t>
            </a:r>
            <a:r>
              <a:rPr dirty="0" sz="1650">
                <a:latin typeface="Times New Roman"/>
                <a:cs typeface="Times New Roman"/>
              </a:rPr>
              <a:t>	</a:t>
            </a:r>
            <a:r>
              <a:rPr dirty="0" sz="1650">
                <a:latin typeface="Times New Roman"/>
                <a:cs typeface="Times New Roman"/>
              </a:rPr>
              <a:t>)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3209035" y="2974340"/>
            <a:ext cx="73596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50">
                <a:latin typeface="Times New Roman"/>
                <a:cs typeface="Times New Roman"/>
              </a:rPr>
              <a:t>(1 </a:t>
            </a:r>
            <a:r>
              <a:rPr dirty="0" sz="1650">
                <a:latin typeface="Times New Roman"/>
                <a:cs typeface="Times New Roman"/>
              </a:rPr>
              <a:t>. </a:t>
            </a:r>
            <a:r>
              <a:rPr dirty="0" sz="1650" spc="5">
                <a:latin typeface="Times New Roman"/>
                <a:cs typeface="Times New Roman"/>
              </a:rPr>
              <a:t>21</a:t>
            </a:r>
            <a:r>
              <a:rPr dirty="0" sz="1650" spc="10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)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2276348" y="2974340"/>
            <a:ext cx="56832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50">
                <a:latin typeface="Times New Roman"/>
                <a:cs typeface="Times New Roman"/>
              </a:rPr>
              <a:t>(1</a:t>
            </a:r>
            <a:r>
              <a:rPr dirty="0" sz="1650" spc="3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.</a:t>
            </a:r>
            <a:r>
              <a:rPr dirty="0" sz="1650" spc="-20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1</a:t>
            </a:r>
            <a:r>
              <a:rPr dirty="0" sz="1650" spc="-16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)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5445252" y="2465324"/>
            <a:ext cx="1382395" cy="4883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ts val="1820"/>
              </a:lnSpc>
              <a:spcBef>
                <a:spcPts val="105"/>
              </a:spcBef>
            </a:pPr>
            <a:r>
              <a:rPr dirty="0" sz="1650">
                <a:latin typeface="Times New Roman"/>
                <a:cs typeface="Times New Roman"/>
              </a:rPr>
              <a:t>(</a:t>
            </a:r>
            <a:r>
              <a:rPr dirty="0" sz="1650" spc="-6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0</a:t>
            </a:r>
            <a:r>
              <a:rPr dirty="0" sz="1650" spc="6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.</a:t>
            </a:r>
            <a:r>
              <a:rPr dirty="0" sz="1650" spc="-18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1</a:t>
            </a:r>
            <a:r>
              <a:rPr dirty="0" sz="1650" spc="-14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)(</a:t>
            </a:r>
            <a:r>
              <a:rPr dirty="0" sz="1650" spc="-1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1</a:t>
            </a:r>
            <a:r>
              <a:rPr dirty="0" sz="1650" spc="6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.</a:t>
            </a:r>
            <a:r>
              <a:rPr dirty="0" sz="1650" spc="-18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1</a:t>
            </a:r>
            <a:r>
              <a:rPr dirty="0" sz="1650" spc="-14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)</a:t>
            </a:r>
            <a:r>
              <a:rPr dirty="0" sz="1650" spc="-90">
                <a:latin typeface="Times New Roman"/>
                <a:cs typeface="Times New Roman"/>
              </a:rPr>
              <a:t> </a:t>
            </a:r>
            <a:r>
              <a:rPr dirty="0" baseline="25252" sz="2475">
                <a:latin typeface="Times New Roman"/>
                <a:cs typeface="Times New Roman"/>
              </a:rPr>
              <a:t>3</a:t>
            </a:r>
            <a:endParaRPr baseline="25252" sz="2475">
              <a:latin typeface="Times New Roman"/>
              <a:cs typeface="Times New Roman"/>
            </a:endParaRPr>
          </a:p>
          <a:p>
            <a:pPr marL="662305">
              <a:lnSpc>
                <a:spcPts val="1820"/>
              </a:lnSpc>
            </a:pPr>
            <a:r>
              <a:rPr dirty="0" sz="1650" spc="5">
                <a:latin typeface="Times New Roman"/>
                <a:cs typeface="Times New Roman"/>
              </a:rPr>
              <a:t>249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5918708" y="2102612"/>
            <a:ext cx="344170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10">
                <a:latin typeface="Times New Roman"/>
                <a:cs typeface="Times New Roman"/>
              </a:rPr>
              <a:t>24</a:t>
            </a:r>
            <a:r>
              <a:rPr dirty="0" sz="1650">
                <a:latin typeface="Times New Roman"/>
                <a:cs typeface="Times New Roman"/>
              </a:rPr>
              <a:t>9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4326635" y="2465324"/>
            <a:ext cx="767080" cy="4883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ts val="1820"/>
              </a:lnSpc>
              <a:spcBef>
                <a:spcPts val="105"/>
              </a:spcBef>
            </a:pPr>
            <a:r>
              <a:rPr dirty="0" sz="1650" spc="50">
                <a:latin typeface="Times New Roman"/>
                <a:cs typeface="Times New Roman"/>
              </a:rPr>
              <a:t>(1</a:t>
            </a:r>
            <a:r>
              <a:rPr dirty="0" sz="1650" spc="4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.</a:t>
            </a:r>
            <a:r>
              <a:rPr dirty="0" sz="1650" spc="-19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1</a:t>
            </a:r>
            <a:r>
              <a:rPr dirty="0" sz="1650" spc="-15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)</a:t>
            </a:r>
            <a:r>
              <a:rPr dirty="0" sz="1650" spc="-100">
                <a:latin typeface="Times New Roman"/>
                <a:cs typeface="Times New Roman"/>
              </a:rPr>
              <a:t> </a:t>
            </a:r>
            <a:r>
              <a:rPr dirty="0" baseline="25252" sz="2475">
                <a:latin typeface="Times New Roman"/>
                <a:cs typeface="Times New Roman"/>
              </a:rPr>
              <a:t>3</a:t>
            </a:r>
            <a:endParaRPr baseline="25252" sz="2475">
              <a:latin typeface="Times New Roman"/>
              <a:cs typeface="Times New Roman"/>
            </a:endParaRPr>
          </a:p>
          <a:p>
            <a:pPr algn="ctr" marL="20955">
              <a:lnSpc>
                <a:spcPts val="1820"/>
              </a:lnSpc>
            </a:pPr>
            <a:r>
              <a:rPr dirty="0" sz="1650" spc="5">
                <a:latin typeface="Times New Roman"/>
                <a:cs typeface="Times New Roman"/>
              </a:rPr>
              <a:t>35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3183635" y="2465324"/>
            <a:ext cx="779145" cy="4883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ts val="1820"/>
              </a:lnSpc>
              <a:spcBef>
                <a:spcPts val="105"/>
              </a:spcBef>
            </a:pPr>
            <a:r>
              <a:rPr dirty="0" sz="1650" spc="50">
                <a:latin typeface="Times New Roman"/>
                <a:cs typeface="Times New Roman"/>
              </a:rPr>
              <a:t>(1</a:t>
            </a:r>
            <a:r>
              <a:rPr dirty="0" sz="1650" spc="4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.</a:t>
            </a:r>
            <a:r>
              <a:rPr dirty="0" sz="1650" spc="-19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1</a:t>
            </a:r>
            <a:r>
              <a:rPr dirty="0" sz="1650" spc="-15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) </a:t>
            </a:r>
            <a:r>
              <a:rPr dirty="0" baseline="25252" sz="2475">
                <a:latin typeface="Times New Roman"/>
                <a:cs typeface="Times New Roman"/>
              </a:rPr>
              <a:t>2</a:t>
            </a:r>
            <a:endParaRPr baseline="25252" sz="2475">
              <a:latin typeface="Times New Roman"/>
              <a:cs typeface="Times New Roman"/>
            </a:endParaRPr>
          </a:p>
          <a:p>
            <a:pPr marL="251460">
              <a:lnSpc>
                <a:spcPts val="1820"/>
              </a:lnSpc>
            </a:pPr>
            <a:r>
              <a:rPr dirty="0" sz="1650" spc="5">
                <a:latin typeface="Times New Roman"/>
                <a:cs typeface="Times New Roman"/>
              </a:rPr>
              <a:t>29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3443732" y="2102612"/>
            <a:ext cx="237490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10">
                <a:latin typeface="Times New Roman"/>
                <a:cs typeface="Times New Roman"/>
              </a:rPr>
              <a:t>2</a:t>
            </a:r>
            <a:r>
              <a:rPr dirty="0" sz="1650">
                <a:latin typeface="Times New Roman"/>
                <a:cs typeface="Times New Roman"/>
              </a:rPr>
              <a:t>9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2276348" y="2379370"/>
            <a:ext cx="568325" cy="57404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1650" spc="50">
                <a:latin typeface="Times New Roman"/>
                <a:cs typeface="Times New Roman"/>
              </a:rPr>
              <a:t>(1</a:t>
            </a:r>
            <a:r>
              <a:rPr dirty="0" sz="1650" spc="3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.</a:t>
            </a:r>
            <a:r>
              <a:rPr dirty="0" sz="1650" spc="-20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1</a:t>
            </a:r>
            <a:r>
              <a:rPr dirty="0" sz="1650" spc="-16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)</a:t>
            </a:r>
            <a:endParaRPr sz="1650">
              <a:latin typeface="Times New Roman"/>
              <a:cs typeface="Times New Roman"/>
            </a:endParaRPr>
          </a:p>
          <a:p>
            <a:pPr marL="140335">
              <a:lnSpc>
                <a:spcPct val="100000"/>
              </a:lnSpc>
              <a:spcBef>
                <a:spcPts val="180"/>
              </a:spcBef>
            </a:pPr>
            <a:r>
              <a:rPr dirty="0" sz="1650" spc="5">
                <a:latin typeface="Times New Roman"/>
                <a:cs typeface="Times New Roman"/>
              </a:rPr>
              <a:t>24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2404364" y="2102612"/>
            <a:ext cx="237490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10">
                <a:latin typeface="Times New Roman"/>
                <a:cs typeface="Times New Roman"/>
              </a:rPr>
              <a:t>2</a:t>
            </a:r>
            <a:r>
              <a:rPr dirty="0" sz="1650">
                <a:latin typeface="Times New Roman"/>
                <a:cs typeface="Times New Roman"/>
              </a:rPr>
              <a:t>4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2959100" y="1584452"/>
            <a:ext cx="139890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80160" algn="l"/>
              </a:tabLst>
            </a:pPr>
            <a:r>
              <a:rPr dirty="0" sz="1650">
                <a:latin typeface="Times New Roman"/>
                <a:cs typeface="Times New Roman"/>
              </a:rPr>
              <a:t>1</a:t>
            </a:r>
            <a:r>
              <a:rPr dirty="0" sz="1650">
                <a:latin typeface="Times New Roman"/>
                <a:cs typeface="Times New Roman"/>
              </a:rPr>
              <a:t>	</a:t>
            </a:r>
            <a:r>
              <a:rPr dirty="0" sz="1650">
                <a:latin typeface="Times New Roman"/>
                <a:cs typeface="Times New Roman"/>
              </a:rPr>
              <a:t>2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1782572" y="1782572"/>
            <a:ext cx="130810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>
                <a:latin typeface="Times New Roman"/>
                <a:cs typeface="Times New Roman"/>
              </a:rPr>
              <a:t>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1785620" y="3961892"/>
            <a:ext cx="86360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5">
                <a:latin typeface="Times New Roman"/>
                <a:cs typeface="Times New Roman"/>
              </a:rPr>
              <a:t>0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1785620" y="3535172"/>
            <a:ext cx="86360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5">
                <a:latin typeface="Times New Roman"/>
                <a:cs typeface="Times New Roman"/>
              </a:rPr>
              <a:t>0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1785620" y="2949955"/>
            <a:ext cx="86360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5">
                <a:latin typeface="Times New Roman"/>
                <a:cs typeface="Times New Roman"/>
              </a:rPr>
              <a:t>0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1785620" y="2376932"/>
            <a:ext cx="86360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5">
                <a:latin typeface="Times New Roman"/>
                <a:cs typeface="Times New Roman"/>
              </a:rPr>
              <a:t>0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5309108" y="2806700"/>
            <a:ext cx="140970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>
                <a:latin typeface="Symbol"/>
                <a:cs typeface="Symbol"/>
              </a:rPr>
              <a:t>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4044188" y="2806700"/>
            <a:ext cx="140970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>
                <a:latin typeface="Symbol"/>
                <a:cs typeface="Symbol"/>
              </a:rPr>
              <a:t>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2943860" y="2806700"/>
            <a:ext cx="140970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>
                <a:latin typeface="Symbol"/>
                <a:cs typeface="Symbol"/>
              </a:rPr>
              <a:t>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5205476" y="2236724"/>
            <a:ext cx="140970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>
                <a:latin typeface="Symbol"/>
                <a:cs typeface="Symbol"/>
              </a:rPr>
              <a:t>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4083811" y="2236724"/>
            <a:ext cx="140970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>
                <a:latin typeface="Symbol"/>
                <a:cs typeface="Symbol"/>
              </a:rPr>
              <a:t>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2943860" y="2236724"/>
            <a:ext cx="140970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>
                <a:latin typeface="Symbol"/>
                <a:cs typeface="Symbol"/>
              </a:rPr>
              <a:t>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6214364" y="1663700"/>
            <a:ext cx="140970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>
                <a:latin typeface="Symbol"/>
                <a:cs typeface="Symbol"/>
              </a:rPr>
              <a:t>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4571491" y="1663700"/>
            <a:ext cx="422909" cy="7169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0480">
              <a:lnSpc>
                <a:spcPct val="100000"/>
              </a:lnSpc>
              <a:spcBef>
                <a:spcPts val="105"/>
              </a:spcBef>
            </a:pPr>
            <a:r>
              <a:rPr dirty="0" sz="1650">
                <a:latin typeface="Symbol"/>
                <a:cs typeface="Symbol"/>
              </a:rPr>
              <a:t></a:t>
            </a:r>
            <a:r>
              <a:rPr dirty="0" sz="1650" spc="345">
                <a:latin typeface="Times New Roman"/>
                <a:cs typeface="Times New Roman"/>
              </a:rPr>
              <a:t> </a:t>
            </a:r>
            <a:r>
              <a:rPr dirty="0" sz="1650" spc="-5">
                <a:latin typeface="Times New Roman"/>
                <a:cs typeface="Times New Roman"/>
              </a:rPr>
              <a:t>...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dirty="0" sz="1650" spc="5">
                <a:latin typeface="Times New Roman"/>
                <a:cs typeface="Times New Roman"/>
              </a:rPr>
              <a:t>35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3224276" y="1663700"/>
            <a:ext cx="140970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>
                <a:latin typeface="Symbol"/>
                <a:cs typeface="Symbol"/>
              </a:rPr>
              <a:t>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2050795" y="1663700"/>
            <a:ext cx="140970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>
                <a:latin typeface="Symbol"/>
                <a:cs typeface="Symbol"/>
              </a:rPr>
              <a:t>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1166875" y="3391916"/>
            <a:ext cx="422909" cy="7080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i="1">
                <a:latin typeface="Times New Roman"/>
                <a:cs typeface="Times New Roman"/>
              </a:rPr>
              <a:t>NPV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dirty="0" sz="1650" i="1">
                <a:latin typeface="Times New Roman"/>
                <a:cs typeface="Times New Roman"/>
              </a:rPr>
              <a:t>NPV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1166875" y="2806700"/>
            <a:ext cx="96710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38200" algn="l"/>
              </a:tabLst>
            </a:pPr>
            <a:r>
              <a:rPr dirty="0" sz="1650" i="1">
                <a:latin typeface="Times New Roman"/>
                <a:cs typeface="Times New Roman"/>
              </a:rPr>
              <a:t>NPV</a:t>
            </a:r>
            <a:r>
              <a:rPr dirty="0" sz="1650" i="1">
                <a:latin typeface="Times New Roman"/>
                <a:cs typeface="Times New Roman"/>
              </a:rPr>
              <a:t>	</a:t>
            </a:r>
            <a:r>
              <a:rPr dirty="0" sz="1650">
                <a:latin typeface="Symbol"/>
                <a:cs typeface="Symbol"/>
              </a:rPr>
              <a:t>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1166875" y="2236724"/>
            <a:ext cx="96710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38200" algn="l"/>
              </a:tabLst>
            </a:pPr>
            <a:r>
              <a:rPr dirty="0" sz="1650" i="1">
                <a:latin typeface="Times New Roman"/>
                <a:cs typeface="Times New Roman"/>
              </a:rPr>
              <a:t>NPV</a:t>
            </a:r>
            <a:r>
              <a:rPr dirty="0" sz="1650" i="1">
                <a:latin typeface="Times New Roman"/>
                <a:cs typeface="Times New Roman"/>
              </a:rPr>
              <a:t>	</a:t>
            </a:r>
            <a:r>
              <a:rPr dirty="0" sz="1650">
                <a:latin typeface="Symbol"/>
                <a:cs typeface="Symbol"/>
              </a:rPr>
              <a:t>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7128764" y="1581404"/>
            <a:ext cx="563880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i="1">
                <a:latin typeface="Times New Roman"/>
                <a:cs typeface="Times New Roman"/>
              </a:rPr>
              <a:t>n </a:t>
            </a:r>
            <a:r>
              <a:rPr dirty="0" sz="1650">
                <a:latin typeface="Symbol"/>
                <a:cs typeface="Symbol"/>
              </a:rPr>
              <a:t></a:t>
            </a:r>
            <a:r>
              <a:rPr dirty="0" sz="1650" spc="34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1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5072888" y="1892300"/>
            <a:ext cx="260286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571500" algn="l"/>
                <a:tab pos="1449705" algn="l"/>
                <a:tab pos="2144395" algn="l"/>
              </a:tabLst>
            </a:pPr>
            <a:r>
              <a:rPr dirty="0" sz="1650">
                <a:latin typeface="Times New Roman"/>
                <a:cs typeface="Times New Roman"/>
              </a:rPr>
              <a:t>(</a:t>
            </a:r>
            <a:r>
              <a:rPr dirty="0" sz="1650" spc="-29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1</a:t>
            </a:r>
            <a:r>
              <a:rPr dirty="0" sz="1650" spc="270">
                <a:latin typeface="Times New Roman"/>
                <a:cs typeface="Times New Roman"/>
              </a:rPr>
              <a:t> </a:t>
            </a:r>
            <a:r>
              <a:rPr dirty="0" sz="1650">
                <a:latin typeface="Symbol"/>
                <a:cs typeface="Symbol"/>
              </a:rPr>
              <a:t></a:t>
            </a:r>
            <a:r>
              <a:rPr dirty="0" sz="1650">
                <a:latin typeface="Times New Roman"/>
                <a:cs typeface="Times New Roman"/>
              </a:rPr>
              <a:t>	</a:t>
            </a:r>
            <a:r>
              <a:rPr dirty="0" sz="1650" i="1">
                <a:latin typeface="Times New Roman"/>
                <a:cs typeface="Times New Roman"/>
              </a:rPr>
              <a:t>k</a:t>
            </a:r>
            <a:r>
              <a:rPr dirty="0" sz="1650" spc="245" i="1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)</a:t>
            </a:r>
            <a:r>
              <a:rPr dirty="0" sz="1650" spc="20">
                <a:latin typeface="Times New Roman"/>
                <a:cs typeface="Times New Roman"/>
              </a:rPr>
              <a:t> </a:t>
            </a:r>
            <a:r>
              <a:rPr dirty="0" baseline="25252" sz="2475" i="1">
                <a:latin typeface="Times New Roman"/>
                <a:cs typeface="Times New Roman"/>
              </a:rPr>
              <a:t>n	</a:t>
            </a:r>
            <a:r>
              <a:rPr dirty="0" sz="1650" i="1">
                <a:latin typeface="Times New Roman"/>
                <a:cs typeface="Times New Roman"/>
              </a:rPr>
              <a:t>k</a:t>
            </a:r>
            <a:r>
              <a:rPr dirty="0" sz="1650" spc="245" i="1">
                <a:latin typeface="Times New Roman"/>
                <a:cs typeface="Times New Roman"/>
              </a:rPr>
              <a:t> </a:t>
            </a:r>
            <a:r>
              <a:rPr dirty="0" sz="1650" spc="50">
                <a:latin typeface="Times New Roman"/>
                <a:cs typeface="Times New Roman"/>
              </a:rPr>
              <a:t>(1</a:t>
            </a:r>
            <a:r>
              <a:rPr dirty="0" sz="1650" spc="270">
                <a:latin typeface="Times New Roman"/>
                <a:cs typeface="Times New Roman"/>
              </a:rPr>
              <a:t> </a:t>
            </a:r>
            <a:r>
              <a:rPr dirty="0" sz="1650">
                <a:latin typeface="Symbol"/>
                <a:cs typeface="Symbol"/>
              </a:rPr>
              <a:t></a:t>
            </a:r>
            <a:r>
              <a:rPr dirty="0" sz="1650">
                <a:latin typeface="Times New Roman"/>
                <a:cs typeface="Times New Roman"/>
              </a:rPr>
              <a:t>	</a:t>
            </a:r>
            <a:r>
              <a:rPr dirty="0" sz="1650" i="1">
                <a:latin typeface="Times New Roman"/>
                <a:cs typeface="Times New Roman"/>
              </a:rPr>
              <a:t>k </a:t>
            </a:r>
            <a:r>
              <a:rPr dirty="0" sz="1650">
                <a:latin typeface="Times New Roman"/>
                <a:cs typeface="Times New Roman"/>
              </a:rPr>
              <a:t>)</a:t>
            </a:r>
            <a:r>
              <a:rPr dirty="0" sz="1650" spc="-220">
                <a:latin typeface="Times New Roman"/>
                <a:cs typeface="Times New Roman"/>
              </a:rPr>
              <a:t> </a:t>
            </a:r>
            <a:r>
              <a:rPr dirty="0" baseline="25252" sz="2475" i="1">
                <a:latin typeface="Times New Roman"/>
                <a:cs typeface="Times New Roman"/>
              </a:rPr>
              <a:t>n</a:t>
            </a:r>
            <a:endParaRPr baseline="25252" sz="2475">
              <a:latin typeface="Times New Roman"/>
              <a:cs typeface="Times New Roman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5845555" y="1581404"/>
            <a:ext cx="130810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i="1">
                <a:latin typeface="Times New Roman"/>
                <a:cs typeface="Times New Roman"/>
              </a:rPr>
              <a:t>n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5220715" y="1459484"/>
            <a:ext cx="171767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95400" algn="l"/>
              </a:tabLst>
            </a:pPr>
            <a:r>
              <a:rPr dirty="0" sz="1650" i="1">
                <a:latin typeface="Times New Roman"/>
                <a:cs typeface="Times New Roman"/>
              </a:rPr>
              <a:t>NCF</a:t>
            </a:r>
            <a:r>
              <a:rPr dirty="0" sz="1650" i="1">
                <a:latin typeface="Times New Roman"/>
                <a:cs typeface="Times New Roman"/>
              </a:rPr>
              <a:t>	</a:t>
            </a:r>
            <a:r>
              <a:rPr dirty="0" sz="1650" i="1">
                <a:latin typeface="Times New Roman"/>
                <a:cs typeface="Times New Roman"/>
              </a:rPr>
              <a:t>NCF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3467100" y="1892300"/>
            <a:ext cx="1001394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555625" algn="l"/>
              </a:tabLst>
            </a:pPr>
            <a:r>
              <a:rPr dirty="0" sz="1650" spc="50">
                <a:latin typeface="Times New Roman"/>
                <a:cs typeface="Times New Roman"/>
              </a:rPr>
              <a:t>(1</a:t>
            </a:r>
            <a:r>
              <a:rPr dirty="0" sz="1650" spc="265">
                <a:latin typeface="Times New Roman"/>
                <a:cs typeface="Times New Roman"/>
              </a:rPr>
              <a:t> </a:t>
            </a:r>
            <a:r>
              <a:rPr dirty="0" sz="1650">
                <a:latin typeface="Symbol"/>
                <a:cs typeface="Symbol"/>
              </a:rPr>
              <a:t></a:t>
            </a:r>
            <a:r>
              <a:rPr dirty="0" sz="1650">
                <a:latin typeface="Times New Roman"/>
                <a:cs typeface="Times New Roman"/>
              </a:rPr>
              <a:t>	</a:t>
            </a:r>
            <a:r>
              <a:rPr dirty="0" sz="1650" i="1">
                <a:latin typeface="Times New Roman"/>
                <a:cs typeface="Times New Roman"/>
              </a:rPr>
              <a:t>k </a:t>
            </a:r>
            <a:r>
              <a:rPr dirty="0" sz="1650">
                <a:latin typeface="Times New Roman"/>
                <a:cs typeface="Times New Roman"/>
              </a:rPr>
              <a:t>)</a:t>
            </a:r>
            <a:r>
              <a:rPr dirty="0" sz="1650" spc="-220">
                <a:latin typeface="Times New Roman"/>
                <a:cs typeface="Times New Roman"/>
              </a:rPr>
              <a:t> </a:t>
            </a:r>
            <a:r>
              <a:rPr dirty="0" baseline="25252" sz="2475">
                <a:latin typeface="Times New Roman"/>
                <a:cs typeface="Times New Roman"/>
              </a:rPr>
              <a:t>2</a:t>
            </a:r>
            <a:endParaRPr baseline="25252" sz="2475">
              <a:latin typeface="Times New Roman"/>
              <a:cs typeface="Times New Roman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2334260" y="1828292"/>
            <a:ext cx="793750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33400" algn="l"/>
              </a:tabLst>
            </a:pPr>
            <a:r>
              <a:rPr dirty="0" sz="1650" spc="50">
                <a:latin typeface="Times New Roman"/>
                <a:cs typeface="Times New Roman"/>
              </a:rPr>
              <a:t>(1</a:t>
            </a:r>
            <a:r>
              <a:rPr dirty="0" sz="1650" spc="265">
                <a:latin typeface="Times New Roman"/>
                <a:cs typeface="Times New Roman"/>
              </a:rPr>
              <a:t> </a:t>
            </a:r>
            <a:r>
              <a:rPr dirty="0" sz="1650">
                <a:latin typeface="Symbol"/>
                <a:cs typeface="Symbol"/>
              </a:rPr>
              <a:t></a:t>
            </a:r>
            <a:r>
              <a:rPr dirty="0" sz="1650">
                <a:latin typeface="Times New Roman"/>
                <a:cs typeface="Times New Roman"/>
              </a:rPr>
              <a:t>	</a:t>
            </a:r>
            <a:r>
              <a:rPr dirty="0" sz="1650" i="1">
                <a:latin typeface="Times New Roman"/>
                <a:cs typeface="Times New Roman"/>
              </a:rPr>
              <a:t>k</a:t>
            </a:r>
            <a:r>
              <a:rPr dirty="0" sz="1650" spc="160" i="1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)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2370835" y="1462532"/>
            <a:ext cx="1663064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40790" algn="l"/>
              </a:tabLst>
            </a:pPr>
            <a:r>
              <a:rPr dirty="0" sz="1650" i="1">
                <a:latin typeface="Times New Roman"/>
                <a:cs typeface="Times New Roman"/>
              </a:rPr>
              <a:t>NCF</a:t>
            </a:r>
            <a:r>
              <a:rPr dirty="0" sz="1650" i="1">
                <a:latin typeface="Times New Roman"/>
                <a:cs typeface="Times New Roman"/>
              </a:rPr>
              <a:t>	</a:t>
            </a:r>
            <a:r>
              <a:rPr dirty="0" sz="1650" i="1">
                <a:latin typeface="Times New Roman"/>
                <a:cs typeface="Times New Roman"/>
              </a:rPr>
              <a:t>NCF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1166875" y="1663700"/>
            <a:ext cx="422909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i="1">
                <a:latin typeface="Times New Roman"/>
                <a:cs typeface="Times New Roman"/>
              </a:rPr>
              <a:t>NPV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227836" y="670052"/>
            <a:ext cx="667956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20"/>
              <a:t>分析</a:t>
            </a:r>
            <a:r>
              <a:rPr dirty="0" sz="3600"/>
              <a:t>表</a:t>
            </a:r>
            <a:r>
              <a:rPr dirty="0" sz="3600" spc="20"/>
              <a:t>估</a:t>
            </a:r>
            <a:r>
              <a:rPr dirty="0" sz="3600"/>
              <a:t>价法</a:t>
            </a:r>
            <a:r>
              <a:rPr dirty="0" sz="3600" spc="20"/>
              <a:t>的具</a:t>
            </a:r>
            <a:r>
              <a:rPr dirty="0" sz="3600"/>
              <a:t>体</a:t>
            </a:r>
            <a:r>
              <a:rPr dirty="0" sz="3600" spc="20"/>
              <a:t>应</a:t>
            </a:r>
            <a:r>
              <a:rPr dirty="0" sz="3600"/>
              <a:t>用（</a:t>
            </a:r>
            <a:r>
              <a:rPr dirty="0" sz="3600" spc="20"/>
              <a:t>续</a:t>
            </a:r>
            <a:r>
              <a:rPr dirty="0" sz="3600" spc="-325"/>
              <a:t>2</a:t>
            </a:r>
            <a:r>
              <a:rPr dirty="0" sz="3600"/>
              <a:t>）</a:t>
            </a:r>
            <a:endParaRPr sz="3600"/>
          </a:p>
        </p:txBody>
      </p:sp>
      <p:sp>
        <p:nvSpPr>
          <p:cNvPr id="129" name="object 129"/>
          <p:cNvSpPr txBox="1"/>
          <p:nvPr/>
        </p:nvSpPr>
        <p:spPr>
          <a:xfrm>
            <a:off x="682244" y="4239259"/>
            <a:ext cx="7740015" cy="208915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675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用净现值公式计算出的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NPV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$1942.86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 marL="356870" marR="5080" indent="-344805">
              <a:lnSpc>
                <a:spcPct val="105000"/>
              </a:lnSpc>
              <a:spcBef>
                <a:spcPts val="430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如果收购公司能以低于</a:t>
            </a:r>
            <a:r>
              <a:rPr dirty="0" sz="2400" spc="5">
                <a:solidFill>
                  <a:srgbClr val="FFFFFF"/>
                </a:solidFill>
                <a:latin typeface="Arial"/>
                <a:cs typeface="Arial"/>
              </a:rPr>
              <a:t>$194</a:t>
            </a:r>
            <a:r>
              <a:rPr dirty="0" sz="2400" spc="-15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.</a:t>
            </a:r>
            <a:r>
              <a:rPr dirty="0" sz="2400" spc="10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dirty="0" sz="2400" spc="5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的价格购得</a:t>
            </a:r>
            <a:r>
              <a:rPr dirty="0" sz="2400" spc="-25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标公司， 并且能完成其项目，这便是一个净现值为正的投资；</a:t>
            </a:r>
            <a:endParaRPr sz="2400">
              <a:latin typeface="宋体"/>
              <a:cs typeface="宋体"/>
            </a:endParaRPr>
          </a:p>
          <a:p>
            <a:pPr marL="356870" marR="5080" indent="-344805">
              <a:lnSpc>
                <a:spcPct val="104200"/>
              </a:lnSpc>
              <a:spcBef>
                <a:spcPts val="315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如果收购公司的支付价格高于</a:t>
            </a:r>
            <a:r>
              <a:rPr dirty="0" sz="2400" spc="5">
                <a:solidFill>
                  <a:srgbClr val="FFFFFF"/>
                </a:solidFill>
                <a:latin typeface="Arial"/>
                <a:cs typeface="Arial"/>
              </a:rPr>
              <a:t>$194</a:t>
            </a:r>
            <a:r>
              <a:rPr dirty="0" sz="2400" spc="-15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.</a:t>
            </a:r>
            <a:r>
              <a:rPr dirty="0" sz="2400" spc="10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dirty="0" sz="2400" spc="5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，此</a:t>
            </a:r>
            <a:r>
              <a:rPr dirty="0" sz="2400" spc="-25">
                <a:solidFill>
                  <a:srgbClr val="FFFFFF"/>
                </a:solidFill>
                <a:latin typeface="宋体"/>
                <a:cs typeface="宋体"/>
              </a:rPr>
              <a:t>项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收购将成 为净现值为负的投资，那么收购企业的价值将下降。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91203" y="639572"/>
            <a:ext cx="155575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公</a:t>
            </a:r>
            <a:r>
              <a:rPr dirty="0" spc="25"/>
              <a:t>式</a:t>
            </a:r>
            <a:r>
              <a:rPr dirty="0" spc="5"/>
              <a:t>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639316"/>
            <a:ext cx="7837805" cy="4300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6870" marR="5080" indent="-344805">
              <a:lnSpc>
                <a:spcPct val="100200"/>
              </a:lnSpc>
              <a:spcBef>
                <a:spcPts val="100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公式法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分析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表法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没有本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区别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，它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们都使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2800" spc="-2255">
                <a:solidFill>
                  <a:srgbClr val="FFFFFF"/>
                </a:solidFill>
                <a:latin typeface="宋体"/>
                <a:cs typeface="宋体"/>
              </a:rPr>
              <a:t>自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由现金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量折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现来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分析。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析表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是用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一段时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期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 财务报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来分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析，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而公式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则更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摘要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、集中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地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使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用这些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料。</a:t>
            </a:r>
            <a:endParaRPr sz="2800">
              <a:latin typeface="宋体"/>
              <a:cs typeface="宋体"/>
            </a:endParaRPr>
          </a:p>
          <a:p>
            <a:pPr algn="just" marL="356870" indent="-344805">
              <a:lnSpc>
                <a:spcPct val="100000"/>
              </a:lnSpc>
              <a:spcBef>
                <a:spcPts val="670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四种计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算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目标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公司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价值基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公式</a:t>
            </a:r>
            <a:endParaRPr sz="2800">
              <a:latin typeface="宋体"/>
              <a:cs typeface="宋体"/>
            </a:endParaRPr>
          </a:p>
          <a:p>
            <a:pPr lvl="1" marL="756285" indent="-287655">
              <a:lnSpc>
                <a:spcPct val="100000"/>
              </a:lnSpc>
              <a:spcBef>
                <a:spcPts val="675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模型一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零增长</a:t>
            </a:r>
            <a:endParaRPr sz="2800">
              <a:latin typeface="宋体"/>
              <a:cs typeface="宋体"/>
            </a:endParaRPr>
          </a:p>
          <a:p>
            <a:pPr lvl="1" marL="756285" indent="-287655">
              <a:lnSpc>
                <a:spcPct val="100000"/>
              </a:lnSpc>
              <a:spcBef>
                <a:spcPts val="670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模型二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固定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增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长</a:t>
            </a:r>
            <a:endParaRPr sz="2800">
              <a:latin typeface="宋体"/>
              <a:cs typeface="宋体"/>
            </a:endParaRPr>
          </a:p>
          <a:p>
            <a:pPr lvl="1" marL="756285" indent="-287655">
              <a:lnSpc>
                <a:spcPct val="100000"/>
              </a:lnSpc>
              <a:spcBef>
                <a:spcPts val="675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模型三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超常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增长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后的零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增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长</a:t>
            </a:r>
            <a:endParaRPr sz="2800">
              <a:latin typeface="宋体"/>
              <a:cs typeface="宋体"/>
            </a:endParaRPr>
          </a:p>
          <a:p>
            <a:pPr lvl="1" marL="756285" indent="-287655">
              <a:lnSpc>
                <a:spcPct val="100000"/>
              </a:lnSpc>
              <a:spcBef>
                <a:spcPts val="695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模型四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超常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增长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后的固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增长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2463" y="865124"/>
            <a:ext cx="6882765" cy="5140325"/>
          </a:xfrm>
          <a:prstGeom prst="rect">
            <a:avLst/>
          </a:prstGeom>
        </p:spPr>
        <p:txBody>
          <a:bodyPr wrap="square" lIns="0" tIns="15875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模型中各字母的含义：</a:t>
            </a:r>
            <a:endParaRPr sz="2400">
              <a:latin typeface="宋体"/>
              <a:cs typeface="宋体"/>
            </a:endParaRPr>
          </a:p>
          <a:p>
            <a:pPr marL="482600" marR="43180">
              <a:lnSpc>
                <a:spcPct val="140000"/>
              </a:lnSpc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X</a:t>
            </a:r>
            <a:r>
              <a:rPr dirty="0" baseline="-20833" sz="2400">
                <a:solidFill>
                  <a:srgbClr val="FFFFFF"/>
                </a:solidFill>
                <a:latin typeface="宋体"/>
                <a:cs typeface="宋体"/>
              </a:rPr>
              <a:t>0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：息税前收益（EBIT</a:t>
            </a:r>
            <a:r>
              <a:rPr dirty="0" sz="2400" spc="-11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）或净经营收入（NOI）  T：实际税率</a:t>
            </a:r>
            <a:endParaRPr sz="2400">
              <a:latin typeface="宋体"/>
              <a:cs typeface="宋体"/>
            </a:endParaRPr>
          </a:p>
          <a:p>
            <a:pPr marL="482600" marR="1057910">
              <a:lnSpc>
                <a:spcPts val="4029"/>
              </a:lnSpc>
              <a:spcBef>
                <a:spcPts val="305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b：每期投资额与EBIT（1-T）之比 k：加权平均的资本边际成本 r：税后利润除以投资支出的边际利润率</a:t>
            </a:r>
            <a:endParaRPr sz="2400">
              <a:latin typeface="宋体"/>
              <a:cs typeface="宋体"/>
            </a:endParaRPr>
          </a:p>
          <a:p>
            <a:pPr marL="482600" marR="2886710">
              <a:lnSpc>
                <a:spcPts val="4010"/>
              </a:lnSpc>
              <a:spcBef>
                <a:spcPts val="2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n：超常增长的时期数 g：税后现金流量的增长率</a:t>
            </a:r>
            <a:endParaRPr sz="2400">
              <a:latin typeface="宋体"/>
              <a:cs typeface="宋体"/>
            </a:endParaRPr>
          </a:p>
          <a:p>
            <a:pPr marL="482600" marR="2581910">
              <a:lnSpc>
                <a:spcPts val="4029"/>
              </a:lnSpc>
              <a:spcBef>
                <a:spcPts val="5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s：下标，表示超常增长期值  c：下标，表示稳定不变期值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5187" y="1739900"/>
            <a:ext cx="2863215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模型一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零增长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9091" y="3952748"/>
            <a:ext cx="3216910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模型二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固定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增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长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55776" y="4864608"/>
            <a:ext cx="4959350" cy="1240790"/>
          </a:xfrm>
          <a:custGeom>
            <a:avLst/>
            <a:gdLst/>
            <a:ahLst/>
            <a:cxnLst/>
            <a:rect l="l" t="t" r="r" b="b"/>
            <a:pathLst>
              <a:path w="4959350" h="1240789">
                <a:moveTo>
                  <a:pt x="0" y="0"/>
                </a:moveTo>
                <a:lnTo>
                  <a:pt x="0" y="1240536"/>
                </a:lnTo>
                <a:lnTo>
                  <a:pt x="4959096" y="1240536"/>
                </a:lnTo>
                <a:lnTo>
                  <a:pt x="4959096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258567" y="5465064"/>
            <a:ext cx="3877310" cy="0"/>
          </a:xfrm>
          <a:custGeom>
            <a:avLst/>
            <a:gdLst/>
            <a:ahLst/>
            <a:cxnLst/>
            <a:rect l="l" t="t" r="r" b="b"/>
            <a:pathLst>
              <a:path w="3877310" h="0">
                <a:moveTo>
                  <a:pt x="0" y="0"/>
                </a:moveTo>
                <a:lnTo>
                  <a:pt x="3877055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639567" y="5132324"/>
            <a:ext cx="144145" cy="3403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2050" spc="5">
                <a:latin typeface="Times New Roman"/>
                <a:cs typeface="Times New Roman"/>
              </a:rPr>
              <a:t>0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8488" y="5415788"/>
            <a:ext cx="144145" cy="34036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dirty="0" sz="2050" spc="5">
                <a:latin typeface="Times New Roman"/>
                <a:cs typeface="Times New Roman"/>
              </a:rPr>
              <a:t>0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11296" y="4734865"/>
            <a:ext cx="2616835" cy="1299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5904" marR="5080" indent="-256540">
              <a:lnSpc>
                <a:spcPct val="117700"/>
              </a:lnSpc>
              <a:spcBef>
                <a:spcPts val="100"/>
              </a:spcBef>
            </a:pPr>
            <a:r>
              <a:rPr dirty="0" sz="3550" spc="-50">
                <a:latin typeface="Times New Roman"/>
                <a:cs typeface="Times New Roman"/>
              </a:rPr>
              <a:t>T)(1</a:t>
            </a:r>
            <a:r>
              <a:rPr dirty="0" sz="3550" spc="-640">
                <a:latin typeface="Times New Roman"/>
                <a:cs typeface="Times New Roman"/>
              </a:rPr>
              <a:t> </a:t>
            </a:r>
            <a:r>
              <a:rPr dirty="0" sz="3550" spc="-1605">
                <a:latin typeface="Symbol"/>
                <a:cs typeface="Symbol"/>
              </a:rPr>
              <a:t></a:t>
            </a:r>
            <a:r>
              <a:rPr dirty="0" sz="3550" spc="-320">
                <a:latin typeface="Times New Roman"/>
                <a:cs typeface="Times New Roman"/>
              </a:rPr>
              <a:t> </a:t>
            </a:r>
            <a:r>
              <a:rPr dirty="0" sz="3550" spc="-65">
                <a:latin typeface="Times New Roman"/>
                <a:cs typeface="Times New Roman"/>
              </a:rPr>
              <a:t>b)(1</a:t>
            </a:r>
            <a:r>
              <a:rPr dirty="0" sz="3550" spc="-615">
                <a:latin typeface="Times New Roman"/>
                <a:cs typeface="Times New Roman"/>
              </a:rPr>
              <a:t> </a:t>
            </a:r>
            <a:r>
              <a:rPr dirty="0" sz="3550">
                <a:latin typeface="Symbol"/>
                <a:cs typeface="Symbol"/>
              </a:rPr>
              <a:t></a:t>
            </a:r>
            <a:r>
              <a:rPr dirty="0" sz="3550" spc="-320">
                <a:latin typeface="Times New Roman"/>
                <a:cs typeface="Times New Roman"/>
              </a:rPr>
              <a:t> </a:t>
            </a:r>
            <a:r>
              <a:rPr dirty="0" sz="3550" spc="60">
                <a:latin typeface="Times New Roman"/>
                <a:cs typeface="Times New Roman"/>
              </a:rPr>
              <a:t>g)  </a:t>
            </a:r>
            <a:r>
              <a:rPr dirty="0" sz="3550">
                <a:latin typeface="Times New Roman"/>
                <a:cs typeface="Times New Roman"/>
              </a:rPr>
              <a:t>k</a:t>
            </a:r>
            <a:r>
              <a:rPr dirty="0" sz="3550" spc="-180">
                <a:latin typeface="Times New Roman"/>
                <a:cs typeface="Times New Roman"/>
              </a:rPr>
              <a:t> </a:t>
            </a:r>
            <a:r>
              <a:rPr dirty="0" sz="3550" spc="-1605">
                <a:latin typeface="Symbol"/>
                <a:cs typeface="Symbol"/>
              </a:rPr>
              <a:t></a:t>
            </a:r>
            <a:r>
              <a:rPr dirty="0" sz="3550" spc="-345">
                <a:latin typeface="Times New Roman"/>
                <a:cs typeface="Times New Roman"/>
              </a:rPr>
              <a:t> </a:t>
            </a:r>
            <a:r>
              <a:rPr dirty="0" sz="3550">
                <a:latin typeface="Times New Roman"/>
                <a:cs typeface="Times New Roman"/>
              </a:rPr>
              <a:t>g</a:t>
            </a:r>
            <a:endParaRPr sz="35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89048" y="4830572"/>
            <a:ext cx="1165860" cy="567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532765" algn="l"/>
              </a:tabLst>
            </a:pPr>
            <a:r>
              <a:rPr dirty="0" sz="3550">
                <a:latin typeface="Times New Roman"/>
                <a:cs typeface="Times New Roman"/>
              </a:rPr>
              <a:t>X	</a:t>
            </a:r>
            <a:r>
              <a:rPr dirty="0" sz="3550" spc="-150">
                <a:latin typeface="Times New Roman"/>
                <a:cs typeface="Times New Roman"/>
              </a:rPr>
              <a:t>(1</a:t>
            </a:r>
            <a:r>
              <a:rPr dirty="0" sz="3550" spc="-690">
                <a:latin typeface="Times New Roman"/>
                <a:cs typeface="Times New Roman"/>
              </a:rPr>
              <a:t> </a:t>
            </a:r>
            <a:r>
              <a:rPr dirty="0" sz="3550" spc="-1605">
                <a:latin typeface="Symbol"/>
                <a:cs typeface="Symbol"/>
              </a:rPr>
              <a:t></a:t>
            </a:r>
            <a:endParaRPr sz="355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22832" y="5114036"/>
            <a:ext cx="836930" cy="567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575945" algn="l"/>
              </a:tabLst>
            </a:pPr>
            <a:r>
              <a:rPr dirty="0" sz="3550">
                <a:latin typeface="Times New Roman"/>
                <a:cs typeface="Times New Roman"/>
              </a:rPr>
              <a:t>V</a:t>
            </a:r>
            <a:r>
              <a:rPr dirty="0" sz="3550">
                <a:latin typeface="Times New Roman"/>
                <a:cs typeface="Times New Roman"/>
              </a:rPr>
              <a:t>	</a:t>
            </a:r>
            <a:r>
              <a:rPr dirty="0" sz="3550">
                <a:latin typeface="Symbol"/>
                <a:cs typeface="Symbol"/>
              </a:rPr>
              <a:t></a:t>
            </a:r>
            <a:endParaRPr sz="355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73444" y="5287772"/>
            <a:ext cx="1155065" cy="5124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200" spc="-5">
                <a:solidFill>
                  <a:srgbClr val="FFFFFF"/>
                </a:solidFill>
                <a:latin typeface="Times New Roman"/>
                <a:cs typeface="Times New Roman"/>
              </a:rPr>
              <a:t>( </a:t>
            </a:r>
            <a:r>
              <a:rPr dirty="0" sz="3200" spc="-10" i="1">
                <a:solidFill>
                  <a:srgbClr val="FFFFFF"/>
                </a:solidFill>
                <a:latin typeface="Times New Roman"/>
                <a:cs typeface="Times New Roman"/>
              </a:rPr>
              <a:t>k&gt;g</a:t>
            </a:r>
            <a:r>
              <a:rPr dirty="0" sz="3200" spc="-75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029968" y="2368296"/>
            <a:ext cx="2828925" cy="1173480"/>
          </a:xfrm>
          <a:custGeom>
            <a:avLst/>
            <a:gdLst/>
            <a:ahLst/>
            <a:cxnLst/>
            <a:rect l="l" t="t" r="r" b="b"/>
            <a:pathLst>
              <a:path w="2828925" h="1173479">
                <a:moveTo>
                  <a:pt x="0" y="0"/>
                </a:moveTo>
                <a:lnTo>
                  <a:pt x="0" y="1173480"/>
                </a:lnTo>
                <a:lnTo>
                  <a:pt x="2828544" y="1173480"/>
                </a:lnTo>
                <a:lnTo>
                  <a:pt x="2828544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038855" y="2974848"/>
            <a:ext cx="1716405" cy="0"/>
          </a:xfrm>
          <a:custGeom>
            <a:avLst/>
            <a:gdLst/>
            <a:ahLst/>
            <a:cxnLst/>
            <a:rect l="l" t="t" r="r" b="b"/>
            <a:pathLst>
              <a:path w="1716404" h="0">
                <a:moveTo>
                  <a:pt x="0" y="0"/>
                </a:moveTo>
                <a:lnTo>
                  <a:pt x="1716023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419855" y="2642108"/>
            <a:ext cx="144145" cy="3403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2050" spc="5">
                <a:latin typeface="Times New Roman"/>
                <a:cs typeface="Times New Roman"/>
              </a:rPr>
              <a:t>0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98776" y="2925572"/>
            <a:ext cx="144145" cy="3403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2050" spc="5">
                <a:latin typeface="Times New Roman"/>
                <a:cs typeface="Times New Roman"/>
              </a:rPr>
              <a:t>0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69335" y="2244039"/>
            <a:ext cx="1677035" cy="1299845"/>
          </a:xfrm>
          <a:prstGeom prst="rect">
            <a:avLst/>
          </a:prstGeom>
        </p:spPr>
        <p:txBody>
          <a:bodyPr wrap="square" lIns="0" tIns="115570" rIns="0" bIns="0" rtlCol="0" vert="horz">
            <a:spAutoFit/>
          </a:bodyPr>
          <a:lstStyle/>
          <a:p>
            <a:pPr algn="ctr" marR="5080">
              <a:lnSpc>
                <a:spcPct val="100000"/>
              </a:lnSpc>
              <a:spcBef>
                <a:spcPts val="910"/>
              </a:spcBef>
              <a:tabLst>
                <a:tab pos="532765" algn="l"/>
              </a:tabLst>
            </a:pPr>
            <a:r>
              <a:rPr dirty="0" sz="3500" spc="20">
                <a:latin typeface="Times New Roman"/>
                <a:cs typeface="Times New Roman"/>
              </a:rPr>
              <a:t>X	</a:t>
            </a:r>
            <a:r>
              <a:rPr dirty="0" sz="3500" spc="-135">
                <a:latin typeface="Times New Roman"/>
                <a:cs typeface="Times New Roman"/>
              </a:rPr>
              <a:t>(1</a:t>
            </a:r>
            <a:r>
              <a:rPr dirty="0" sz="3500" spc="-610">
                <a:latin typeface="Times New Roman"/>
                <a:cs typeface="Times New Roman"/>
              </a:rPr>
              <a:t> </a:t>
            </a:r>
            <a:r>
              <a:rPr dirty="0" sz="3500" spc="-1565">
                <a:latin typeface="Symbol"/>
                <a:cs typeface="Symbol"/>
              </a:rPr>
              <a:t></a:t>
            </a:r>
            <a:r>
              <a:rPr dirty="0" sz="3500" spc="-380">
                <a:latin typeface="Times New Roman"/>
                <a:cs typeface="Times New Roman"/>
              </a:rPr>
              <a:t> </a:t>
            </a:r>
            <a:r>
              <a:rPr dirty="0" sz="3500" spc="75">
                <a:latin typeface="Times New Roman"/>
                <a:cs typeface="Times New Roman"/>
              </a:rPr>
              <a:t>T)</a:t>
            </a:r>
            <a:endParaRPr sz="3500">
              <a:latin typeface="Times New Roman"/>
              <a:cs typeface="Times New Roman"/>
            </a:endParaRPr>
          </a:p>
          <a:p>
            <a:pPr algn="ctr" marR="24130">
              <a:lnSpc>
                <a:spcPct val="100000"/>
              </a:lnSpc>
              <a:spcBef>
                <a:spcPts val="815"/>
              </a:spcBef>
            </a:pPr>
            <a:r>
              <a:rPr dirty="0" sz="3500" spc="10">
                <a:latin typeface="Times New Roman"/>
                <a:cs typeface="Times New Roman"/>
              </a:rPr>
              <a:t>k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03120" y="2626868"/>
            <a:ext cx="835025" cy="5632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  <a:tabLst>
                <a:tab pos="575945" algn="l"/>
              </a:tabLst>
            </a:pPr>
            <a:r>
              <a:rPr dirty="0" sz="3500" spc="20">
                <a:latin typeface="Times New Roman"/>
                <a:cs typeface="Times New Roman"/>
              </a:rPr>
              <a:t>V</a:t>
            </a:r>
            <a:r>
              <a:rPr dirty="0" sz="3500" spc="20">
                <a:latin typeface="Times New Roman"/>
                <a:cs typeface="Times New Roman"/>
              </a:rPr>
              <a:t>	</a:t>
            </a:r>
            <a:r>
              <a:rPr dirty="0" sz="3500" spc="15">
                <a:latin typeface="Symbol"/>
                <a:cs typeface="Symbol"/>
              </a:rPr>
              <a:t></a:t>
            </a:r>
            <a:endParaRPr sz="3500">
              <a:latin typeface="Symbol"/>
              <a:cs typeface="Symbo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029967" y="2368296"/>
            <a:ext cx="2828925" cy="1173480"/>
          </a:xfrm>
          <a:custGeom>
            <a:avLst/>
            <a:gdLst/>
            <a:ahLst/>
            <a:cxnLst/>
            <a:rect l="l" t="t" r="r" b="b"/>
            <a:pathLst>
              <a:path w="2828925" h="1173479">
                <a:moveTo>
                  <a:pt x="0" y="0"/>
                </a:moveTo>
                <a:lnTo>
                  <a:pt x="0" y="1173479"/>
                </a:lnTo>
                <a:lnTo>
                  <a:pt x="2828543" y="1173479"/>
                </a:lnTo>
                <a:lnTo>
                  <a:pt x="2828543" y="0"/>
                </a:lnTo>
                <a:lnTo>
                  <a:pt x="0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5351779" y="2632964"/>
            <a:ext cx="1155065" cy="5124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200" spc="-5">
                <a:solidFill>
                  <a:srgbClr val="FFFFFF"/>
                </a:solidFill>
                <a:latin typeface="Times New Roman"/>
                <a:cs typeface="Times New Roman"/>
              </a:rPr>
              <a:t>( </a:t>
            </a:r>
            <a:r>
              <a:rPr dirty="0" sz="3200" spc="-10" i="1">
                <a:solidFill>
                  <a:srgbClr val="FFFFFF"/>
                </a:solidFill>
                <a:latin typeface="Times New Roman"/>
                <a:cs typeface="Times New Roman"/>
              </a:rPr>
              <a:t>k&gt;</a:t>
            </a:r>
            <a:r>
              <a:rPr dirty="0" sz="3200" spc="-1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3200" spc="-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2898139" y="639572"/>
            <a:ext cx="3338829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公</a:t>
            </a:r>
            <a:r>
              <a:rPr dirty="0" spc="25"/>
              <a:t>式</a:t>
            </a:r>
            <a:r>
              <a:rPr dirty="0" spc="-100"/>
              <a:t>法（续</a:t>
            </a:r>
            <a:r>
              <a:rPr dirty="0" spc="-50"/>
              <a:t>1</a:t>
            </a:r>
            <a:r>
              <a:rPr dirty="0" spc="5"/>
              <a:t>）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5672" y="2273808"/>
            <a:ext cx="5861685" cy="1798320"/>
          </a:xfrm>
          <a:custGeom>
            <a:avLst/>
            <a:gdLst/>
            <a:ahLst/>
            <a:cxnLst/>
            <a:rect l="l" t="t" r="r" b="b"/>
            <a:pathLst>
              <a:path w="5861684" h="1798320">
                <a:moveTo>
                  <a:pt x="0" y="0"/>
                </a:moveTo>
                <a:lnTo>
                  <a:pt x="0" y="1798320"/>
                </a:lnTo>
                <a:lnTo>
                  <a:pt x="5861304" y="1798320"/>
                </a:lnTo>
                <a:lnTo>
                  <a:pt x="5861304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571744" y="2724912"/>
            <a:ext cx="1384300" cy="0"/>
          </a:xfrm>
          <a:custGeom>
            <a:avLst/>
            <a:gdLst/>
            <a:ahLst/>
            <a:cxnLst/>
            <a:rect l="l" t="t" r="r" b="b"/>
            <a:pathLst>
              <a:path w="1384300" h="0">
                <a:moveTo>
                  <a:pt x="0" y="0"/>
                </a:moveTo>
                <a:lnTo>
                  <a:pt x="1383791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178552" y="2306828"/>
            <a:ext cx="99695" cy="2343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1350" spc="5" i="1">
                <a:latin typeface="Times New Roman"/>
                <a:cs typeface="Times New Roman"/>
              </a:rPr>
              <a:t>n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76400" y="3205988"/>
            <a:ext cx="2267585" cy="384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530225" algn="l"/>
                <a:tab pos="1224915" algn="l"/>
                <a:tab pos="1548130" algn="l"/>
              </a:tabLst>
            </a:pPr>
            <a:r>
              <a:rPr dirty="0" sz="2350" i="1">
                <a:latin typeface="Times New Roman"/>
                <a:cs typeface="Times New Roman"/>
              </a:rPr>
              <a:t>X	</a:t>
            </a:r>
            <a:r>
              <a:rPr dirty="0" sz="2350" spc="60">
                <a:latin typeface="Times New Roman"/>
                <a:cs typeface="Times New Roman"/>
              </a:rPr>
              <a:t>(1</a:t>
            </a:r>
            <a:r>
              <a:rPr dirty="0" sz="2350" spc="375">
                <a:latin typeface="Times New Roman"/>
                <a:cs typeface="Times New Roman"/>
              </a:rPr>
              <a:t> </a:t>
            </a:r>
            <a:r>
              <a:rPr dirty="0" sz="2350" spc="-1060">
                <a:latin typeface="Symbol"/>
                <a:cs typeface="Symbol"/>
              </a:rPr>
              <a:t></a:t>
            </a:r>
            <a:r>
              <a:rPr dirty="0" sz="2350" spc="-1060">
                <a:latin typeface="Times New Roman"/>
                <a:cs typeface="Times New Roman"/>
              </a:rPr>
              <a:t>	</a:t>
            </a:r>
            <a:r>
              <a:rPr dirty="0" sz="2350" i="1">
                <a:latin typeface="Times New Roman"/>
                <a:cs typeface="Times New Roman"/>
              </a:rPr>
              <a:t>T	</a:t>
            </a:r>
            <a:r>
              <a:rPr dirty="0" sz="2350">
                <a:latin typeface="Times New Roman"/>
                <a:cs typeface="Times New Roman"/>
              </a:rPr>
              <a:t>)( 1</a:t>
            </a:r>
            <a:r>
              <a:rPr dirty="0" sz="2350" spc="254">
                <a:latin typeface="Times New Roman"/>
                <a:cs typeface="Times New Roman"/>
              </a:rPr>
              <a:t> </a:t>
            </a:r>
            <a:r>
              <a:rPr dirty="0" sz="2350">
                <a:latin typeface="Symbol"/>
                <a:cs typeface="Symbol"/>
              </a:rPr>
              <a:t>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30375" y="3282188"/>
            <a:ext cx="3883660" cy="731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7780">
              <a:lnSpc>
                <a:spcPts val="2780"/>
              </a:lnSpc>
              <a:spcBef>
                <a:spcPts val="100"/>
              </a:spcBef>
              <a:tabLst>
                <a:tab pos="353060" algn="l"/>
                <a:tab pos="758825" algn="l"/>
                <a:tab pos="3806825" algn="l"/>
              </a:tabLst>
            </a:pPr>
            <a:r>
              <a:rPr dirty="0" baseline="-21276" sz="3525">
                <a:latin typeface="Symbol"/>
                <a:cs typeface="Symbol"/>
              </a:rPr>
              <a:t></a:t>
            </a:r>
            <a:r>
              <a:rPr dirty="0" baseline="-21276" sz="3525">
                <a:latin typeface="Times New Roman"/>
                <a:cs typeface="Times New Roman"/>
              </a:rPr>
              <a:t>	</a:t>
            </a:r>
            <a:r>
              <a:rPr dirty="0" u="heavy" sz="23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dirty="0" u="heavy" sz="135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	</a:t>
            </a:r>
            <a:endParaRPr sz="1350">
              <a:latin typeface="Times New Roman"/>
              <a:cs typeface="Times New Roman"/>
            </a:endParaRPr>
          </a:p>
          <a:p>
            <a:pPr algn="ctr" marL="231775">
              <a:lnSpc>
                <a:spcPts val="2780"/>
              </a:lnSpc>
              <a:tabLst>
                <a:tab pos="1213485" algn="l"/>
              </a:tabLst>
            </a:pPr>
            <a:r>
              <a:rPr dirty="0" sz="2350" i="1">
                <a:latin typeface="Times New Roman"/>
                <a:cs typeface="Times New Roman"/>
              </a:rPr>
              <a:t>k</a:t>
            </a:r>
            <a:r>
              <a:rPr dirty="0" sz="2350" spc="-105" i="1">
                <a:latin typeface="Times New Roman"/>
                <a:cs typeface="Times New Roman"/>
              </a:rPr>
              <a:t> </a:t>
            </a:r>
            <a:r>
              <a:rPr dirty="0" sz="2350">
                <a:latin typeface="Times New Roman"/>
                <a:cs typeface="Times New Roman"/>
              </a:rPr>
              <a:t>( 1</a:t>
            </a:r>
            <a:r>
              <a:rPr dirty="0" sz="2350" spc="350">
                <a:latin typeface="Times New Roman"/>
                <a:cs typeface="Times New Roman"/>
              </a:rPr>
              <a:t> </a:t>
            </a:r>
            <a:r>
              <a:rPr dirty="0" sz="2350">
                <a:latin typeface="Symbol"/>
                <a:cs typeface="Symbol"/>
              </a:rPr>
              <a:t></a:t>
            </a:r>
            <a:r>
              <a:rPr dirty="0" sz="2350">
                <a:latin typeface="Times New Roman"/>
                <a:cs typeface="Times New Roman"/>
              </a:rPr>
              <a:t>	</a:t>
            </a:r>
            <a:r>
              <a:rPr dirty="0" sz="2350" i="1">
                <a:latin typeface="Times New Roman"/>
                <a:cs typeface="Times New Roman"/>
              </a:rPr>
              <a:t>k  </a:t>
            </a:r>
            <a:r>
              <a:rPr dirty="0" sz="2350">
                <a:latin typeface="Times New Roman"/>
                <a:cs typeface="Times New Roman"/>
              </a:rPr>
              <a:t>)</a:t>
            </a:r>
            <a:r>
              <a:rPr dirty="0" sz="2350" spc="-225">
                <a:latin typeface="Times New Roman"/>
                <a:cs typeface="Times New Roman"/>
              </a:rPr>
              <a:t> </a:t>
            </a:r>
            <a:r>
              <a:rPr dirty="0" baseline="43209" sz="2025" spc="7" i="1">
                <a:latin typeface="Times New Roman"/>
                <a:cs typeface="Times New Roman"/>
              </a:rPr>
              <a:t>n</a:t>
            </a:r>
            <a:endParaRPr baseline="43209" sz="2025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70728" y="2232457"/>
            <a:ext cx="1306830" cy="873125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15"/>
              </a:spcBef>
              <a:tabLst>
                <a:tab pos="777875" algn="l"/>
              </a:tabLst>
            </a:pPr>
            <a:r>
              <a:rPr dirty="0" sz="2350" spc="60">
                <a:latin typeface="Times New Roman"/>
                <a:cs typeface="Times New Roman"/>
              </a:rPr>
              <a:t>(1</a:t>
            </a:r>
            <a:r>
              <a:rPr dirty="0" sz="2350" spc="375">
                <a:latin typeface="Times New Roman"/>
                <a:cs typeface="Times New Roman"/>
              </a:rPr>
              <a:t> </a:t>
            </a:r>
            <a:r>
              <a:rPr dirty="0" sz="2350">
                <a:latin typeface="Symbol"/>
                <a:cs typeface="Symbol"/>
              </a:rPr>
              <a:t></a:t>
            </a:r>
            <a:r>
              <a:rPr dirty="0" sz="2350">
                <a:latin typeface="Times New Roman"/>
                <a:cs typeface="Times New Roman"/>
              </a:rPr>
              <a:t>	</a:t>
            </a:r>
            <a:r>
              <a:rPr dirty="0" sz="2350" i="1">
                <a:latin typeface="Times New Roman"/>
                <a:cs typeface="Times New Roman"/>
              </a:rPr>
              <a:t>g  </a:t>
            </a:r>
            <a:r>
              <a:rPr dirty="0" sz="2350">
                <a:latin typeface="Times New Roman"/>
                <a:cs typeface="Times New Roman"/>
              </a:rPr>
              <a:t>)</a:t>
            </a:r>
            <a:r>
              <a:rPr dirty="0" sz="2350" spc="-345">
                <a:latin typeface="Times New Roman"/>
                <a:cs typeface="Times New Roman"/>
              </a:rPr>
              <a:t> </a:t>
            </a:r>
            <a:r>
              <a:rPr dirty="0" baseline="43209" sz="2025" spc="7" i="1">
                <a:latin typeface="Times New Roman"/>
                <a:cs typeface="Times New Roman"/>
              </a:rPr>
              <a:t>t</a:t>
            </a:r>
            <a:endParaRPr baseline="43209" sz="2025">
              <a:latin typeface="Times New Roman"/>
              <a:cs typeface="Times New Roman"/>
            </a:endParaRPr>
          </a:p>
          <a:p>
            <a:pPr marL="46355">
              <a:lnSpc>
                <a:spcPct val="100000"/>
              </a:lnSpc>
              <a:spcBef>
                <a:spcPts val="515"/>
              </a:spcBef>
              <a:tabLst>
                <a:tab pos="777875" algn="l"/>
              </a:tabLst>
            </a:pPr>
            <a:r>
              <a:rPr dirty="0" sz="2350" spc="60">
                <a:latin typeface="Times New Roman"/>
                <a:cs typeface="Times New Roman"/>
              </a:rPr>
              <a:t>(1</a:t>
            </a:r>
            <a:r>
              <a:rPr dirty="0" sz="2350" spc="375">
                <a:latin typeface="Times New Roman"/>
                <a:cs typeface="Times New Roman"/>
              </a:rPr>
              <a:t> </a:t>
            </a:r>
            <a:r>
              <a:rPr dirty="0" sz="2350">
                <a:latin typeface="Symbol"/>
                <a:cs typeface="Symbol"/>
              </a:rPr>
              <a:t></a:t>
            </a:r>
            <a:r>
              <a:rPr dirty="0" sz="2350">
                <a:latin typeface="Times New Roman"/>
                <a:cs typeface="Times New Roman"/>
              </a:rPr>
              <a:t>	</a:t>
            </a:r>
            <a:r>
              <a:rPr dirty="0" sz="2350" i="1">
                <a:latin typeface="Times New Roman"/>
                <a:cs typeface="Times New Roman"/>
              </a:rPr>
              <a:t>k  </a:t>
            </a:r>
            <a:r>
              <a:rPr dirty="0" sz="2350">
                <a:latin typeface="Times New Roman"/>
                <a:cs typeface="Times New Roman"/>
              </a:rPr>
              <a:t>)</a:t>
            </a:r>
            <a:r>
              <a:rPr dirty="0" sz="2350" spc="-385">
                <a:latin typeface="Times New Roman"/>
                <a:cs typeface="Times New Roman"/>
              </a:rPr>
              <a:t> </a:t>
            </a:r>
            <a:r>
              <a:rPr dirty="0" baseline="43209" sz="2025" spc="7" i="1">
                <a:latin typeface="Times New Roman"/>
                <a:cs typeface="Times New Roman"/>
              </a:rPr>
              <a:t>t</a:t>
            </a:r>
            <a:endParaRPr baseline="43209" sz="2025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07688" y="3071876"/>
            <a:ext cx="894080" cy="384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baseline="-24822" sz="3525" i="1">
                <a:latin typeface="Times New Roman"/>
                <a:cs typeface="Times New Roman"/>
              </a:rPr>
              <a:t>g </a:t>
            </a:r>
            <a:r>
              <a:rPr dirty="0" baseline="-24822" sz="3525">
                <a:latin typeface="Times New Roman"/>
                <a:cs typeface="Times New Roman"/>
              </a:rPr>
              <a:t>) </a:t>
            </a:r>
            <a:r>
              <a:rPr dirty="0" sz="1350" spc="5" i="1">
                <a:latin typeface="Times New Roman"/>
                <a:cs typeface="Times New Roman"/>
              </a:rPr>
              <a:t>n </a:t>
            </a:r>
            <a:r>
              <a:rPr dirty="0" sz="1350" spc="5">
                <a:latin typeface="Symbol"/>
                <a:cs typeface="Symbol"/>
              </a:rPr>
              <a:t></a:t>
            </a:r>
            <a:r>
              <a:rPr dirty="0" sz="1350" spc="-60">
                <a:latin typeface="Times New Roman"/>
                <a:cs typeface="Times New Roman"/>
              </a:rPr>
              <a:t> </a:t>
            </a:r>
            <a:r>
              <a:rPr dirty="0" sz="1350" spc="5"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75003" y="2269706"/>
            <a:ext cx="4272280" cy="865505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660"/>
              </a:spcBef>
              <a:tabLst>
                <a:tab pos="601345" algn="l"/>
                <a:tab pos="1007110" algn="l"/>
                <a:tab pos="1345565" algn="l"/>
                <a:tab pos="2229485" algn="l"/>
                <a:tab pos="2552065" algn="l"/>
                <a:tab pos="3418204" algn="l"/>
              </a:tabLst>
            </a:pPr>
            <a:r>
              <a:rPr dirty="0" sz="2350" i="1">
                <a:latin typeface="Times New Roman"/>
                <a:cs typeface="Times New Roman"/>
              </a:rPr>
              <a:t>V</a:t>
            </a:r>
            <a:r>
              <a:rPr dirty="0" sz="2350" spc="135" i="1">
                <a:latin typeface="Times New Roman"/>
                <a:cs typeface="Times New Roman"/>
              </a:rPr>
              <a:t> </a:t>
            </a:r>
            <a:r>
              <a:rPr dirty="0" baseline="-24691" sz="2025" spc="7">
                <a:latin typeface="Times New Roman"/>
                <a:cs typeface="Times New Roman"/>
              </a:rPr>
              <a:t>0	</a:t>
            </a:r>
            <a:r>
              <a:rPr dirty="0" sz="2350">
                <a:latin typeface="Symbol"/>
                <a:cs typeface="Symbol"/>
              </a:rPr>
              <a:t></a:t>
            </a:r>
            <a:r>
              <a:rPr dirty="0" sz="2350">
                <a:latin typeface="Times New Roman"/>
                <a:cs typeface="Times New Roman"/>
              </a:rPr>
              <a:t>	</a:t>
            </a:r>
            <a:r>
              <a:rPr dirty="0" sz="2350" i="1">
                <a:latin typeface="Times New Roman"/>
                <a:cs typeface="Times New Roman"/>
              </a:rPr>
              <a:t>X	</a:t>
            </a:r>
            <a:r>
              <a:rPr dirty="0" baseline="-24691" sz="2025" spc="7">
                <a:latin typeface="Times New Roman"/>
                <a:cs typeface="Times New Roman"/>
              </a:rPr>
              <a:t>0 </a:t>
            </a:r>
            <a:r>
              <a:rPr dirty="0" baseline="-24691" sz="2025" spc="179">
                <a:latin typeface="Times New Roman"/>
                <a:cs typeface="Times New Roman"/>
              </a:rPr>
              <a:t> </a:t>
            </a:r>
            <a:r>
              <a:rPr dirty="0" sz="2350" spc="60">
                <a:latin typeface="Times New Roman"/>
                <a:cs typeface="Times New Roman"/>
              </a:rPr>
              <a:t>(1</a:t>
            </a:r>
            <a:r>
              <a:rPr dirty="0" sz="2350" spc="380">
                <a:latin typeface="Times New Roman"/>
                <a:cs typeface="Times New Roman"/>
              </a:rPr>
              <a:t> </a:t>
            </a:r>
            <a:r>
              <a:rPr dirty="0" sz="2350" spc="-1060">
                <a:latin typeface="Symbol"/>
                <a:cs typeface="Symbol"/>
              </a:rPr>
              <a:t></a:t>
            </a:r>
            <a:r>
              <a:rPr dirty="0" sz="2350" spc="-1060">
                <a:latin typeface="Times New Roman"/>
                <a:cs typeface="Times New Roman"/>
              </a:rPr>
              <a:t>	</a:t>
            </a:r>
            <a:r>
              <a:rPr dirty="0" sz="2350" i="1">
                <a:latin typeface="Times New Roman"/>
                <a:cs typeface="Times New Roman"/>
              </a:rPr>
              <a:t>T	</a:t>
            </a:r>
            <a:r>
              <a:rPr dirty="0" sz="2350">
                <a:latin typeface="Times New Roman"/>
                <a:cs typeface="Times New Roman"/>
              </a:rPr>
              <a:t>)(</a:t>
            </a:r>
            <a:r>
              <a:rPr dirty="0" sz="2350" spc="-30">
                <a:latin typeface="Times New Roman"/>
                <a:cs typeface="Times New Roman"/>
              </a:rPr>
              <a:t> </a:t>
            </a:r>
            <a:r>
              <a:rPr dirty="0" sz="2350">
                <a:latin typeface="Times New Roman"/>
                <a:cs typeface="Times New Roman"/>
              </a:rPr>
              <a:t>1</a:t>
            </a:r>
            <a:r>
              <a:rPr dirty="0" sz="2350" spc="375">
                <a:latin typeface="Times New Roman"/>
                <a:cs typeface="Times New Roman"/>
              </a:rPr>
              <a:t> </a:t>
            </a:r>
            <a:r>
              <a:rPr dirty="0" sz="2350" spc="-1060">
                <a:latin typeface="Symbol"/>
                <a:cs typeface="Symbol"/>
              </a:rPr>
              <a:t></a:t>
            </a:r>
            <a:r>
              <a:rPr dirty="0" sz="2350" spc="-1060">
                <a:latin typeface="Times New Roman"/>
                <a:cs typeface="Times New Roman"/>
              </a:rPr>
              <a:t>	</a:t>
            </a:r>
            <a:r>
              <a:rPr dirty="0" sz="2350" i="1">
                <a:latin typeface="Times New Roman"/>
                <a:cs typeface="Times New Roman"/>
              </a:rPr>
              <a:t>b </a:t>
            </a:r>
            <a:r>
              <a:rPr dirty="0" sz="2350">
                <a:latin typeface="Times New Roman"/>
                <a:cs typeface="Times New Roman"/>
              </a:rPr>
              <a:t>)</a:t>
            </a:r>
            <a:r>
              <a:rPr dirty="0" sz="2350" spc="-35">
                <a:latin typeface="Times New Roman"/>
                <a:cs typeface="Times New Roman"/>
              </a:rPr>
              <a:t> </a:t>
            </a:r>
            <a:r>
              <a:rPr dirty="0" baseline="-8730" sz="5250" spc="-30">
                <a:latin typeface="Symbol"/>
                <a:cs typeface="Symbol"/>
              </a:rPr>
              <a:t>凶</a:t>
            </a:r>
            <a:endParaRPr baseline="-8730" sz="5250">
              <a:latin typeface="Symbol"/>
              <a:cs typeface="Symbol"/>
            </a:endParaRPr>
          </a:p>
          <a:p>
            <a:pPr algn="r" marR="43180">
              <a:lnSpc>
                <a:spcPct val="100000"/>
              </a:lnSpc>
              <a:spcBef>
                <a:spcPts val="229"/>
              </a:spcBef>
            </a:pPr>
            <a:r>
              <a:rPr dirty="0" sz="1350" spc="5" i="1">
                <a:latin typeface="Times New Roman"/>
                <a:cs typeface="Times New Roman"/>
              </a:rPr>
              <a:t>t </a:t>
            </a:r>
            <a:r>
              <a:rPr dirty="0" sz="1350" spc="5">
                <a:latin typeface="Symbol"/>
                <a:cs typeface="Symbol"/>
              </a:rPr>
              <a:t></a:t>
            </a:r>
            <a:r>
              <a:rPr dirty="0" sz="1350" spc="-15">
                <a:latin typeface="Times New Roman"/>
                <a:cs typeface="Times New Roman"/>
              </a:rPr>
              <a:t> </a:t>
            </a:r>
            <a:r>
              <a:rPr dirty="0" sz="1350" spc="5"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898139" y="639572"/>
            <a:ext cx="3338829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公</a:t>
            </a:r>
            <a:r>
              <a:rPr dirty="0" spc="25"/>
              <a:t>式</a:t>
            </a:r>
            <a:r>
              <a:rPr dirty="0" spc="-100"/>
              <a:t>法（续</a:t>
            </a:r>
            <a:r>
              <a:rPr dirty="0" spc="-50"/>
              <a:t>2</a:t>
            </a:r>
            <a:r>
              <a:rPr dirty="0" spc="5"/>
              <a:t>）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32891" y="1639316"/>
            <a:ext cx="4993640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模型三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超常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增长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后的零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增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长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2036" y="4117340"/>
            <a:ext cx="5350510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模型四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超常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增长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后的固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增长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85672" y="4678680"/>
            <a:ext cx="5831205" cy="1844039"/>
          </a:xfrm>
          <a:custGeom>
            <a:avLst/>
            <a:gdLst/>
            <a:ahLst/>
            <a:cxnLst/>
            <a:rect l="l" t="t" r="r" b="b"/>
            <a:pathLst>
              <a:path w="5831205" h="1844040">
                <a:moveTo>
                  <a:pt x="0" y="0"/>
                </a:moveTo>
                <a:lnTo>
                  <a:pt x="0" y="1844040"/>
                </a:lnTo>
                <a:lnTo>
                  <a:pt x="5830824" y="1844040"/>
                </a:lnTo>
                <a:lnTo>
                  <a:pt x="5830824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840223" y="5833364"/>
            <a:ext cx="1783714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  <a:tabLst>
                <a:tab pos="987425" algn="l"/>
                <a:tab pos="1770380" algn="l"/>
              </a:tabLst>
            </a:pPr>
            <a:r>
              <a:rPr dirty="0" u="heavy" sz="14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4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heavy" sz="1400" spc="-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	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92423" y="6269228"/>
            <a:ext cx="9144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400" spc="-5" i="1">
                <a:latin typeface="Times New Roman"/>
                <a:cs typeface="Times New Roman"/>
              </a:rPr>
              <a:t>c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99303" y="4708652"/>
            <a:ext cx="10160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400" spc="-5" i="1">
                <a:latin typeface="Times New Roman"/>
                <a:cs typeface="Times New Roman"/>
              </a:rPr>
              <a:t>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88759" y="4562348"/>
            <a:ext cx="2743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baseline="-25462" sz="3600">
                <a:latin typeface="Times New Roman"/>
                <a:cs typeface="Times New Roman"/>
              </a:rPr>
              <a:t>)</a:t>
            </a:r>
            <a:r>
              <a:rPr dirty="0" baseline="-25462" sz="3600" spc="-284">
                <a:latin typeface="Times New Roman"/>
                <a:cs typeface="Times New Roman"/>
              </a:rPr>
              <a:t> </a:t>
            </a:r>
            <a:r>
              <a:rPr dirty="0" sz="1400" spc="-5" i="1">
                <a:latin typeface="Times New Roman"/>
                <a:cs typeface="Times New Roman"/>
              </a:rPr>
              <a:t>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84959" y="5833364"/>
            <a:ext cx="2896235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  <a:tabLst>
                <a:tab pos="383540" algn="l"/>
                <a:tab pos="2544445" algn="l"/>
                <a:tab pos="2882900" algn="l"/>
              </a:tabLst>
            </a:pPr>
            <a:r>
              <a:rPr dirty="0" u="heavy" sz="14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4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heavy" sz="14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	</a:t>
            </a:r>
            <a:r>
              <a:rPr dirty="0" u="heavy" sz="1400" spc="-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	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64759" y="6065012"/>
            <a:ext cx="12496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716915" algn="l"/>
              </a:tabLst>
            </a:pPr>
            <a:r>
              <a:rPr dirty="0" sz="2400" spc="30">
                <a:latin typeface="Times New Roman"/>
                <a:cs typeface="Times New Roman"/>
              </a:rPr>
              <a:t>(1</a:t>
            </a:r>
            <a:r>
              <a:rPr dirty="0" sz="2400" spc="215">
                <a:latin typeface="Times New Roman"/>
                <a:cs typeface="Times New Roman"/>
              </a:rPr>
              <a:t> </a:t>
            </a:r>
            <a:r>
              <a:rPr dirty="0" sz="2400">
                <a:latin typeface="Symbol"/>
                <a:cs typeface="Symbol"/>
              </a:rPr>
              <a:t>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i="1">
                <a:latin typeface="Times New Roman"/>
                <a:cs typeface="Times New Roman"/>
              </a:rPr>
              <a:t>k </a:t>
            </a:r>
            <a:r>
              <a:rPr dirty="0" sz="2400">
                <a:latin typeface="Times New Roman"/>
                <a:cs typeface="Times New Roman"/>
              </a:rPr>
              <a:t>)</a:t>
            </a:r>
            <a:r>
              <a:rPr dirty="0" sz="2400" spc="40">
                <a:latin typeface="Times New Roman"/>
                <a:cs typeface="Times New Roman"/>
              </a:rPr>
              <a:t> </a:t>
            </a:r>
            <a:r>
              <a:rPr dirty="0" baseline="43650" sz="2100" spc="-7" i="1">
                <a:latin typeface="Times New Roman"/>
                <a:cs typeface="Times New Roman"/>
              </a:rPr>
              <a:t>n</a:t>
            </a:r>
            <a:endParaRPr baseline="43650" sz="21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505455" y="6065012"/>
            <a:ext cx="8083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304165" algn="l"/>
                <a:tab pos="642620" algn="l"/>
              </a:tabLst>
            </a:pPr>
            <a:r>
              <a:rPr dirty="0" sz="2400" i="1">
                <a:latin typeface="Times New Roman"/>
                <a:cs typeface="Times New Roman"/>
              </a:rPr>
              <a:t>k	</a:t>
            </a:r>
            <a:r>
              <a:rPr dirty="0" sz="2400" spc="-1085">
                <a:latin typeface="Symbol"/>
                <a:cs typeface="Symbol"/>
              </a:rPr>
              <a:t></a:t>
            </a:r>
            <a:r>
              <a:rPr dirty="0" sz="2400" spc="-1085">
                <a:latin typeface="Times New Roman"/>
                <a:cs typeface="Times New Roman"/>
              </a:rPr>
              <a:t>	</a:t>
            </a:r>
            <a:r>
              <a:rPr dirty="0" sz="2400" spc="-1085" i="1">
                <a:latin typeface="Times New Roman"/>
                <a:cs typeface="Times New Roman"/>
              </a:rPr>
              <a:t>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23567" y="5629148"/>
            <a:ext cx="414527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525145" algn="l"/>
                <a:tab pos="1487805" algn="l"/>
                <a:tab pos="2301875" algn="l"/>
                <a:tab pos="2676525" algn="l"/>
                <a:tab pos="2905125" algn="l"/>
                <a:tab pos="3240405" algn="l"/>
                <a:tab pos="3954145" algn="l"/>
              </a:tabLst>
            </a:pPr>
            <a:r>
              <a:rPr dirty="0" sz="2400" i="1">
                <a:latin typeface="Times New Roman"/>
                <a:cs typeface="Times New Roman"/>
              </a:rPr>
              <a:t>X	</a:t>
            </a:r>
            <a:r>
              <a:rPr dirty="0" sz="2400" spc="30">
                <a:latin typeface="Times New Roman"/>
                <a:cs typeface="Times New Roman"/>
              </a:rPr>
              <a:t>(1</a:t>
            </a:r>
            <a:r>
              <a:rPr dirty="0" sz="2400" spc="215">
                <a:latin typeface="Times New Roman"/>
                <a:cs typeface="Times New Roman"/>
              </a:rPr>
              <a:t> </a:t>
            </a:r>
            <a:r>
              <a:rPr dirty="0" sz="2400" spc="-1085">
                <a:latin typeface="Symbol"/>
                <a:cs typeface="Symbol"/>
              </a:rPr>
              <a:t></a:t>
            </a:r>
            <a:r>
              <a:rPr dirty="0" sz="2400" spc="385">
                <a:latin typeface="Times New Roman"/>
                <a:cs typeface="Times New Roman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T	</a:t>
            </a:r>
            <a:r>
              <a:rPr dirty="0" sz="2400" spc="5">
                <a:latin typeface="Times New Roman"/>
                <a:cs typeface="Times New Roman"/>
              </a:rPr>
              <a:t>)(</a:t>
            </a:r>
            <a:r>
              <a:rPr dirty="0" sz="2400" spc="-20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1</a:t>
            </a:r>
            <a:r>
              <a:rPr dirty="0" sz="2400" spc="220">
                <a:latin typeface="Times New Roman"/>
                <a:cs typeface="Times New Roman"/>
              </a:rPr>
              <a:t> </a:t>
            </a:r>
            <a:r>
              <a:rPr dirty="0" sz="2400" spc="-1085">
                <a:latin typeface="Symbol"/>
                <a:cs typeface="Symbol"/>
              </a:rPr>
              <a:t></a:t>
            </a:r>
            <a:r>
              <a:rPr dirty="0" sz="2400" spc="-1085">
                <a:latin typeface="Times New Roman"/>
                <a:cs typeface="Times New Roman"/>
              </a:rPr>
              <a:t>	</a:t>
            </a:r>
            <a:r>
              <a:rPr dirty="0" sz="2400" i="1">
                <a:latin typeface="Times New Roman"/>
                <a:cs typeface="Times New Roman"/>
              </a:rPr>
              <a:t>b	</a:t>
            </a:r>
            <a:r>
              <a:rPr dirty="0" sz="2400">
                <a:latin typeface="Times New Roman"/>
                <a:cs typeface="Times New Roman"/>
              </a:rPr>
              <a:t>)	</a:t>
            </a:r>
            <a:r>
              <a:rPr dirty="0" baseline="-35879" sz="3600" spc="195">
                <a:latin typeface="Symbol"/>
                <a:cs typeface="Symbol"/>
              </a:rPr>
              <a:t></a:t>
            </a:r>
            <a:r>
              <a:rPr dirty="0" baseline="-35879" sz="3600" spc="195">
                <a:latin typeface="Times New Roman"/>
                <a:cs typeface="Times New Roman"/>
              </a:rPr>
              <a:t>	</a:t>
            </a:r>
            <a:r>
              <a:rPr dirty="0" sz="2400" spc="30">
                <a:latin typeface="Times New Roman"/>
                <a:cs typeface="Times New Roman"/>
              </a:rPr>
              <a:t>(1</a:t>
            </a:r>
            <a:r>
              <a:rPr dirty="0" sz="2400" spc="215">
                <a:latin typeface="Times New Roman"/>
                <a:cs typeface="Times New Roman"/>
              </a:rPr>
              <a:t> </a:t>
            </a:r>
            <a:r>
              <a:rPr dirty="0" sz="2400">
                <a:latin typeface="Symbol"/>
                <a:cs typeface="Symbol"/>
              </a:rPr>
              <a:t>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i="1">
                <a:latin typeface="Times New Roman"/>
                <a:cs typeface="Times New Roman"/>
              </a:rPr>
              <a:t>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52727" y="5824220"/>
            <a:ext cx="1803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Symbol"/>
                <a:cs typeface="Symbol"/>
              </a:rPr>
              <a:t>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442711" y="4903724"/>
            <a:ext cx="1526540" cy="6197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  <a:tabLst>
                <a:tab pos="1012825" algn="l"/>
                <a:tab pos="1487805" algn="l"/>
              </a:tabLst>
            </a:pPr>
            <a:r>
              <a:rPr dirty="0" u="heavy" sz="14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4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heavy" sz="1400" spc="-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	</a:t>
            </a:r>
            <a:endParaRPr sz="1400">
              <a:latin typeface="Times New Roman"/>
              <a:cs typeface="Times New Roman"/>
            </a:endParaRPr>
          </a:p>
          <a:p>
            <a:pPr marL="147320">
              <a:lnSpc>
                <a:spcPct val="100000"/>
              </a:lnSpc>
              <a:spcBef>
                <a:spcPts val="130"/>
              </a:spcBef>
              <a:tabLst>
                <a:tab pos="838835" algn="l"/>
              </a:tabLst>
            </a:pPr>
            <a:r>
              <a:rPr dirty="0" sz="2400" spc="30">
                <a:latin typeface="Times New Roman"/>
                <a:cs typeface="Times New Roman"/>
              </a:rPr>
              <a:t>(1</a:t>
            </a:r>
            <a:r>
              <a:rPr dirty="0" sz="2400" spc="215">
                <a:latin typeface="Times New Roman"/>
                <a:cs typeface="Times New Roman"/>
              </a:rPr>
              <a:t> </a:t>
            </a:r>
            <a:r>
              <a:rPr dirty="0" sz="2400">
                <a:latin typeface="Symbol"/>
                <a:cs typeface="Symbol"/>
              </a:rPr>
              <a:t>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i="1">
                <a:latin typeface="Times New Roman"/>
                <a:cs typeface="Times New Roman"/>
              </a:rPr>
              <a:t>k </a:t>
            </a:r>
            <a:r>
              <a:rPr dirty="0" sz="2400">
                <a:latin typeface="Times New Roman"/>
                <a:cs typeface="Times New Roman"/>
              </a:rPr>
              <a:t>)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baseline="43650" sz="2100" spc="-7" i="1">
                <a:latin typeface="Times New Roman"/>
                <a:cs typeface="Times New Roman"/>
              </a:rPr>
              <a:t>t</a:t>
            </a:r>
            <a:endParaRPr baseline="43650" sz="21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489447" y="4699508"/>
            <a:ext cx="8788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713105" algn="l"/>
              </a:tabLst>
            </a:pPr>
            <a:r>
              <a:rPr dirty="0" sz="2400" spc="85">
                <a:latin typeface="Times New Roman"/>
                <a:cs typeface="Times New Roman"/>
              </a:rPr>
              <a:t>(</a:t>
            </a:r>
            <a:r>
              <a:rPr dirty="0" sz="2400">
                <a:latin typeface="Times New Roman"/>
                <a:cs typeface="Times New Roman"/>
              </a:rPr>
              <a:t>1</a:t>
            </a:r>
            <a:r>
              <a:rPr dirty="0" sz="2400" spc="215">
                <a:latin typeface="Times New Roman"/>
                <a:cs typeface="Times New Roman"/>
              </a:rPr>
              <a:t> </a:t>
            </a:r>
            <a:r>
              <a:rPr dirty="0" sz="2400">
                <a:latin typeface="Symbol"/>
                <a:cs typeface="Symbol"/>
              </a:rPr>
              <a:t>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i="1">
                <a:latin typeface="Times New Roman"/>
                <a:cs typeface="Times New Roman"/>
              </a:rPr>
              <a:t>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963920" y="5491988"/>
            <a:ext cx="5969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baseline="-25462" sz="3600">
                <a:latin typeface="Times New Roman"/>
                <a:cs typeface="Times New Roman"/>
              </a:rPr>
              <a:t>) </a:t>
            </a:r>
            <a:r>
              <a:rPr dirty="0" sz="1400" spc="-5" i="1">
                <a:latin typeface="Times New Roman"/>
                <a:cs typeface="Times New Roman"/>
              </a:rPr>
              <a:t>n </a:t>
            </a:r>
            <a:r>
              <a:rPr dirty="0" sz="1400" spc="-5">
                <a:latin typeface="Symbol"/>
                <a:cs typeface="Symbol"/>
              </a:rPr>
              <a:t></a:t>
            </a:r>
            <a:r>
              <a:rPr dirty="0" sz="1400" spc="-135">
                <a:latin typeface="Times New Roman"/>
                <a:cs typeface="Times New Roman"/>
              </a:rPr>
              <a:t> </a:t>
            </a:r>
            <a:r>
              <a:rPr dirty="0" sz="1400" spc="-5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992623" y="5315204"/>
            <a:ext cx="33020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400" spc="-5" i="1">
                <a:latin typeface="Times New Roman"/>
                <a:cs typeface="Times New Roman"/>
              </a:rPr>
              <a:t>t </a:t>
            </a:r>
            <a:r>
              <a:rPr dirty="0" sz="1400" spc="-5">
                <a:latin typeface="Symbol"/>
                <a:cs typeface="Symbol"/>
              </a:rPr>
              <a:t></a:t>
            </a:r>
            <a:r>
              <a:rPr dirty="0" sz="1400" spc="-135">
                <a:latin typeface="Times New Roman"/>
                <a:cs typeface="Times New Roman"/>
              </a:rPr>
              <a:t> </a:t>
            </a:r>
            <a:r>
              <a:rPr dirty="0" sz="1400" spc="-5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71955" y="4739132"/>
            <a:ext cx="4135754" cy="577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574040" algn="l"/>
                <a:tab pos="951865" algn="l"/>
                <a:tab pos="1275080" algn="l"/>
                <a:tab pos="2414905" algn="l"/>
                <a:tab pos="3232150" algn="l"/>
              </a:tabLst>
            </a:pPr>
            <a:r>
              <a:rPr dirty="0" sz="2400" i="1">
                <a:latin typeface="Times New Roman"/>
                <a:cs typeface="Times New Roman"/>
              </a:rPr>
              <a:t>V</a:t>
            </a:r>
            <a:r>
              <a:rPr dirty="0" sz="2400" spc="-30" i="1">
                <a:latin typeface="Times New Roman"/>
                <a:cs typeface="Times New Roman"/>
              </a:rPr>
              <a:t> </a:t>
            </a:r>
            <a:r>
              <a:rPr dirty="0" baseline="-23809" sz="2100" spc="-7">
                <a:latin typeface="Times New Roman"/>
                <a:cs typeface="Times New Roman"/>
              </a:rPr>
              <a:t>0	</a:t>
            </a:r>
            <a:r>
              <a:rPr dirty="0" sz="2400">
                <a:latin typeface="Symbol"/>
                <a:cs typeface="Symbol"/>
              </a:rPr>
              <a:t>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i="1">
                <a:latin typeface="Times New Roman"/>
                <a:cs typeface="Times New Roman"/>
              </a:rPr>
              <a:t>X	</a:t>
            </a:r>
            <a:r>
              <a:rPr dirty="0" baseline="-23809" sz="2100" spc="-7">
                <a:latin typeface="Times New Roman"/>
                <a:cs typeface="Times New Roman"/>
              </a:rPr>
              <a:t>0  </a:t>
            </a:r>
            <a:r>
              <a:rPr dirty="0" sz="2400" spc="40">
                <a:latin typeface="Times New Roman"/>
                <a:cs typeface="Times New Roman"/>
              </a:rPr>
              <a:t>(1</a:t>
            </a:r>
            <a:r>
              <a:rPr dirty="0" sz="2400" spc="220">
                <a:latin typeface="Times New Roman"/>
                <a:cs typeface="Times New Roman"/>
              </a:rPr>
              <a:t> </a:t>
            </a:r>
            <a:r>
              <a:rPr dirty="0" sz="2400" spc="-1085">
                <a:latin typeface="Symbol"/>
                <a:cs typeface="Symbol"/>
              </a:rPr>
              <a:t></a:t>
            </a:r>
            <a:r>
              <a:rPr dirty="0" sz="2400" spc="365">
                <a:latin typeface="Times New Roman"/>
                <a:cs typeface="Times New Roman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T	</a:t>
            </a:r>
            <a:r>
              <a:rPr dirty="0" sz="2400" spc="5">
                <a:latin typeface="Times New Roman"/>
                <a:cs typeface="Times New Roman"/>
              </a:rPr>
              <a:t>)(</a:t>
            </a:r>
            <a:r>
              <a:rPr dirty="0" sz="2400" spc="-20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1</a:t>
            </a:r>
            <a:r>
              <a:rPr dirty="0" sz="2400" spc="215">
                <a:latin typeface="Times New Roman"/>
                <a:cs typeface="Times New Roman"/>
              </a:rPr>
              <a:t> </a:t>
            </a:r>
            <a:r>
              <a:rPr dirty="0" sz="2400" spc="-1085">
                <a:latin typeface="Symbol"/>
                <a:cs typeface="Symbol"/>
              </a:rPr>
              <a:t></a:t>
            </a:r>
            <a:r>
              <a:rPr dirty="0" sz="2400" spc="-1085">
                <a:latin typeface="Times New Roman"/>
                <a:cs typeface="Times New Roman"/>
              </a:rPr>
              <a:t>	</a:t>
            </a:r>
            <a:r>
              <a:rPr dirty="0" sz="2400" i="1">
                <a:latin typeface="Times New Roman"/>
                <a:cs typeface="Times New Roman"/>
              </a:rPr>
              <a:t>b </a:t>
            </a:r>
            <a:r>
              <a:rPr dirty="0" baseline="-23809" sz="2100" spc="-7" i="1">
                <a:latin typeface="Times New Roman"/>
                <a:cs typeface="Times New Roman"/>
              </a:rPr>
              <a:t>s </a:t>
            </a:r>
            <a:r>
              <a:rPr dirty="0" sz="2400">
                <a:latin typeface="Times New Roman"/>
                <a:cs typeface="Times New Roman"/>
              </a:rPr>
              <a:t>)</a:t>
            </a:r>
            <a:r>
              <a:rPr dirty="0" sz="2400" spc="-400">
                <a:latin typeface="Times New Roman"/>
                <a:cs typeface="Times New Roman"/>
              </a:rPr>
              <a:t> </a:t>
            </a:r>
            <a:r>
              <a:rPr dirty="0" baseline="-8487" sz="5400" spc="-989">
                <a:latin typeface="Symbol"/>
                <a:cs typeface="Symbol"/>
              </a:rPr>
              <a:t>凶</a:t>
            </a:r>
            <a:endParaRPr baseline="-8487" sz="54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2023-10-22T13:39:31Z</dcterms:created>
  <dcterms:modified xsi:type="dcterms:W3CDTF">2023-10-22T13:39:31Z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2006-06-02T00:00:00Z</vt:filetime>
  </property>
  <property fmtid="{D5CDD505-2E9C-101B-9397-08002B2CF9AE}" pid="3" name="LastSaved">
    <vt:filetime>2006-06-02T00:00:00Z</vt:filetime>
  </property>
</Properties>
</file>