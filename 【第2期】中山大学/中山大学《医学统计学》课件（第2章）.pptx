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90" r:id="rId3"/>
    <p:sldId id="289" r:id="rId4"/>
    <p:sldId id="292" r:id="rId5"/>
    <p:sldId id="293" r:id="rId6"/>
    <p:sldId id="294" r:id="rId7"/>
    <p:sldId id="257" r:id="rId8"/>
    <p:sldId id="258" r:id="rId9"/>
    <p:sldId id="306" r:id="rId10"/>
    <p:sldId id="259" r:id="rId11"/>
    <p:sldId id="307" r:id="rId12"/>
    <p:sldId id="260" r:id="rId13"/>
    <p:sldId id="310" r:id="rId14"/>
    <p:sldId id="308" r:id="rId15"/>
    <p:sldId id="261" r:id="rId16"/>
    <p:sldId id="262" r:id="rId17"/>
    <p:sldId id="263" r:id="rId18"/>
    <p:sldId id="264" r:id="rId19"/>
    <p:sldId id="309" r:id="rId20"/>
    <p:sldId id="311" r:id="rId21"/>
    <p:sldId id="312" r:id="rId22"/>
    <p:sldId id="313" r:id="rId23"/>
    <p:sldId id="266" r:id="rId24"/>
    <p:sldId id="267" r:id="rId25"/>
    <p:sldId id="268" r:id="rId26"/>
    <p:sldId id="269" r:id="rId2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97" autoAdjust="0"/>
    <p:restoredTop sz="90929"/>
  </p:normalViewPr>
  <p:slideViewPr>
    <p:cSldViewPr>
      <p:cViewPr varScale="1">
        <p:scale>
          <a:sx n="113" d="100"/>
          <a:sy n="113" d="100"/>
        </p:scale>
        <p:origin x="114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6861D5AC-E917-54E5-5610-38467DC4156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489068B2-39BD-1BB9-539D-7478D90086DA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solidFill>
            <a:srgbClr val="3366FF">
              <a:alpha val="50000"/>
            </a:srgbClr>
          </a:solidFill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6324" name="Rectangle 1028">
            <a:extLst>
              <a:ext uri="{FF2B5EF4-FFF2-40B4-BE49-F238E27FC236}">
                <a16:creationId xmlns:a16="http://schemas.microsoft.com/office/drawing/2014/main" id="{F4095512-996E-B413-9081-FD4F626B3763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6325" name="Rectangle 1029">
            <a:extLst>
              <a:ext uri="{FF2B5EF4-FFF2-40B4-BE49-F238E27FC236}">
                <a16:creationId xmlns:a16="http://schemas.microsoft.com/office/drawing/2014/main" id="{76CAA528-D243-4B7D-DEF8-56CA51F3324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6326" name="Rectangle 1030">
            <a:extLst>
              <a:ext uri="{FF2B5EF4-FFF2-40B4-BE49-F238E27FC236}">
                <a16:creationId xmlns:a16="http://schemas.microsoft.com/office/drawing/2014/main" id="{0CA2D719-B921-8E5E-D8D5-AC30A9F630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77C6B89-B56B-46F4-9EB6-3CAF389A3EF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9250A-97E2-29D0-AFE1-EF548E55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5D740B-6BC3-6DFB-8984-CD5418538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C0E90-02A8-5182-4C74-55F1737B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4AEEF9-3859-B82A-2AE4-B8A05125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E2CD50-D7C7-D477-07CF-CB0BCBF5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A30044-BCAC-4E73-A178-329221FC7D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393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26027A-2A33-A187-A4D4-355A9882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D621EC-9814-9FDE-7650-D83FCFE0B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731E23-2DF5-2699-1394-C93C42D7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A8C7F-1ED9-BAE1-C034-1831B0B6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6F1C18-492F-AD5B-DDA5-07F1781E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926782-ED8D-4FE9-AC4F-4B12CCFF04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50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A9F50-89AD-75E2-3407-BA069B70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2F53A3-9715-530E-CCF0-4CFF38A85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5E2FD7-C920-E112-BD68-B37999CAA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E4899F-329D-CE0A-759E-73D8AA11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C49714-3DD0-286A-F149-48110618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C4D513-2270-0A3B-E26F-D04F1512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0B7140-ADEB-401A-A5F6-9B092BD856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815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9C90E-2B2D-4188-8DA3-44979459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C326CE-F6B0-248D-888E-65F06DAB5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32295C-8F1B-FCBD-588F-74B3CBE0B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C2C8BD-CCBB-7514-4680-CAA84433E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1785D8-1694-FA8C-C631-0493AA281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626662-A29C-A130-EFE9-EC5C1803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D4C3C0-8AAF-7EB8-CAF1-EE86E0F3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D4F5F7-15A7-D58F-2D2F-45D06900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FD53B-C03B-49F0-A34A-86B7ED2F53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693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14FAD-8724-1823-0E61-88348262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D8E7F8-C4E2-9EC3-21C7-3B82A16F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122F05-A7B8-F85A-9B60-898CA4DE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96D87F-D0C8-ECBC-0418-B5B265B01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8E800-FEB0-48A6-A9DC-811A1F94E9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681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792162-4E7F-A151-ACAA-FAD6A766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4F9A09-250D-D4B2-0085-A6F8116BA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2F6B90-B6BB-6DFA-6599-25EB6786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ADD296-991B-4B86-A60E-AD64BE0793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229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B32298-8C19-F900-FDC1-0DC0E3AC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E7604-51ED-5B6D-40EC-206687D7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DD3F87-4976-DA96-9A1A-DA4A904DD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2BC7BA-0A47-D415-1E52-81218349F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B0378F-951D-FEB4-6794-63C528B2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E05617-BFDF-0229-8328-BF9D6D04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463FF-858A-4EF2-BC5A-E059798F78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285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2AA84-1390-29E9-DCEB-5AC5FCB70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B3782B-9B7D-266D-7089-CFB2118D5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D48C35-1959-A9E8-E5B7-24F0EBCE3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40A2B4-721F-3747-6023-AF39F4A5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C5E892-EE39-77CF-EEEF-D92AAA4CF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6721AC-B2C7-24AE-1176-B15158C6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1DE51-73AB-4D81-ADC9-14F0E490AC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440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989B9-B560-843F-FECF-DDBC97A7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CFA69C-DB0D-4FC2-5F5D-1CF68A9D5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FB3664-D25C-4E10-A54E-88F8612BD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A0FF21-6F01-1EBF-8190-D7E731B9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6499A-20C1-CBE8-4C46-F7EF4C95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B8923-B931-4AB1-A746-4F2AE71BFF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53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71F24D4-BB49-AEDF-BED2-E70EDBC45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07679E-602D-CF03-D79A-D625A774E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6D46D8-C24C-BD74-3F7E-9D11CC3B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67EB3D-42D0-4446-555A-2BA72738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E7E60E-6CC0-7D99-A03A-1D49286B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191C79-7CD1-4327-846F-8418CA8B35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05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1E21B19-EFA6-4F51-B5D2-40A606305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F27714E-AF18-BA48-10EB-C4D4F62818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41BDD3B2-D13D-1F6C-74D6-F89BE9EAA3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EB19BAC4-05F5-708A-7915-1081010445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21525971-BD3F-4DF7-B4E1-61CF79FD9E6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15E9CFF4-14E0-8043-3BA5-C2724B346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3.emf"/><Relationship Id="rId18" Type="http://schemas.openxmlformats.org/officeDocument/2006/relationships/oleObject" Target="../embeddings/oleObject14.bin"/><Relationship Id="rId3" Type="http://schemas.openxmlformats.org/officeDocument/2006/relationships/image" Target="../media/image8.emf"/><Relationship Id="rId21" Type="http://schemas.openxmlformats.org/officeDocument/2006/relationships/image" Target="../media/image17.emf"/><Relationship Id="rId7" Type="http://schemas.openxmlformats.org/officeDocument/2006/relationships/image" Target="../media/image10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5.e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2.emf"/><Relationship Id="rId5" Type="http://schemas.openxmlformats.org/officeDocument/2006/relationships/image" Target="../media/image9.emf"/><Relationship Id="rId15" Type="http://schemas.openxmlformats.org/officeDocument/2006/relationships/image" Target="../media/image14.e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6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emf"/><Relationship Id="rId1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2.bin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29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6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6.emf"/><Relationship Id="rId5" Type="http://schemas.openxmlformats.org/officeDocument/2006/relationships/image" Target="../media/image33.e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5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38.emf"/><Relationship Id="rId7" Type="http://schemas.openxmlformats.org/officeDocument/2006/relationships/image" Target="../media/image40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4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3F68258-8BBD-EC85-8D75-E185AE5C57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0200" y="2743200"/>
            <a:ext cx="6553200" cy="685800"/>
          </a:xfrm>
        </p:spPr>
        <p:txBody>
          <a:bodyPr/>
          <a:lstStyle/>
          <a:p>
            <a:b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altLang="zh-CN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FEBE139-A88C-984B-AD4B-F5803E0AA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600200"/>
            <a:ext cx="6096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9.4   t test and u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>
            <a:extLst>
              <a:ext uri="{FF2B5EF4-FFF2-40B4-BE49-F238E27FC236}">
                <a16:creationId xmlns:a16="http://schemas.microsoft.com/office/drawing/2014/main" id="{9B225DD4-3D3F-B42C-C149-3842F4B68E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788" y="519113"/>
          <a:ext cx="8318500" cy="531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433360" imgH="5397120" progId="Word.Document.8">
                  <p:embed/>
                </p:oleObj>
              </mc:Choice>
              <mc:Fallback>
                <p:oleObj name="Document" r:id="rId2" imgW="8433360" imgH="539712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519113"/>
                        <a:ext cx="8318500" cy="531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7D28E3B-5D20-C890-5089-35144C69ED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br>
              <a:rPr lang="en-US" altLang="zh-CN" sz="3600" b="1">
                <a:cs typeface="Times New Roman" panose="02020603050405020304" pitchFamily="18" charset="0"/>
              </a:rPr>
            </a:br>
            <a:r>
              <a:rPr lang="en-US" altLang="zh-CN" sz="3200" b="1">
                <a:cs typeface="Times New Roman" panose="02020603050405020304" pitchFamily="18" charset="0"/>
              </a:rPr>
              <a:t>Hypothesis testing for population mean</a:t>
            </a:r>
            <a:br>
              <a:rPr lang="en-US" altLang="zh-CN">
                <a:latin typeface="宋体" panose="02010600030101010101" pitchFamily="2" charset="-122"/>
              </a:rPr>
            </a:br>
            <a:endParaRPr lang="en-US" altLang="zh-CN">
              <a:latin typeface="宋体" panose="02010600030101010101" pitchFamily="2" charset="-122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EF32863-2A97-F717-7DBB-CDEB8E19A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Example :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  Hemoglobin of 280 healthy male adults in a region: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Question: Whether the population mean      in this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region is 140.0 g/L?</a:t>
            </a:r>
            <a:endParaRPr lang="en-US" altLang="zh-CN"/>
          </a:p>
        </p:txBody>
      </p:sp>
      <p:graphicFrame>
        <p:nvGraphicFramePr>
          <p:cNvPr id="59396" name="Object 4">
            <a:extLst>
              <a:ext uri="{FF2B5EF4-FFF2-40B4-BE49-F238E27FC236}">
                <a16:creationId xmlns:a16="http://schemas.microsoft.com/office/drawing/2014/main" id="{8131B8CA-5C76-DE60-EE51-9FED215281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514600"/>
          <a:ext cx="68580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215640" progId="Equation.3">
                  <p:embed/>
                </p:oleObj>
              </mc:Choice>
              <mc:Fallback>
                <p:oleObj name="Equation" r:id="rId2" imgW="195552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14600"/>
                        <a:ext cx="68580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5">
            <a:extLst>
              <a:ext uri="{FF2B5EF4-FFF2-40B4-BE49-F238E27FC236}">
                <a16:creationId xmlns:a16="http://schemas.microsoft.com/office/drawing/2014/main" id="{604B235E-AFE8-959E-5A79-4F7990A07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3657600"/>
          <a:ext cx="5619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164880" progId="Equation.3">
                  <p:embed/>
                </p:oleObj>
              </mc:Choice>
              <mc:Fallback>
                <p:oleObj name="Equation" r:id="rId4" imgW="152280" imgH="164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657600"/>
                        <a:ext cx="5619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C9A0231-C485-3D25-6794-B460A4E32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324600"/>
          </a:xfrm>
        </p:spPr>
        <p:txBody>
          <a:bodyPr/>
          <a:lstStyle/>
          <a:p>
            <a:pPr algn="l"/>
            <a:r>
              <a:rPr lang="en-US" altLang="zh-CN" sz="3600" b="1"/>
              <a:t>Two possibilities:</a:t>
            </a:r>
            <a:br>
              <a:rPr lang="en-US" altLang="zh-CN" sz="3600" b="1"/>
            </a:br>
            <a:r>
              <a:rPr lang="en-US" altLang="zh-CN" sz="3200" b="1"/>
              <a:t>(1) The population is 140, the sample mean =136.0 is due to the sampling error</a:t>
            </a:r>
            <a:br>
              <a:rPr lang="en-US" altLang="zh-CN" sz="3600" b="1"/>
            </a:br>
            <a:br>
              <a:rPr lang="en-US" altLang="zh-CN" sz="3600" b="1"/>
            </a:br>
            <a:r>
              <a:rPr lang="en-US" altLang="zh-CN" sz="3600" b="1"/>
              <a:t>             </a:t>
            </a:r>
            <a:r>
              <a:rPr lang="en-US" altLang="zh-CN" sz="3200" b="1"/>
              <a:t>(Null hypothesis)</a:t>
            </a:r>
            <a:br>
              <a:rPr lang="en-US" altLang="zh-CN" sz="3600" b="1"/>
            </a:br>
            <a:r>
              <a:rPr lang="en-US" altLang="zh-CN" sz="3200" b="1"/>
              <a:t>(2) The population is not 140 at all so that the sample mean =136.0</a:t>
            </a:r>
            <a:r>
              <a:rPr lang="en-US" altLang="zh-CN" sz="3600" b="1"/>
              <a:t> </a:t>
            </a:r>
            <a:br>
              <a:rPr lang="en-US" altLang="zh-CN" sz="3600" b="1"/>
            </a:br>
            <a:r>
              <a:rPr lang="en-US" altLang="zh-CN" sz="3600" b="1"/>
              <a:t> </a:t>
            </a:r>
            <a:br>
              <a:rPr lang="en-US" altLang="zh-CN" sz="3600" b="1"/>
            </a:br>
            <a:r>
              <a:rPr lang="en-US" altLang="zh-CN" sz="3600" b="1"/>
              <a:t>            </a:t>
            </a:r>
            <a:r>
              <a:rPr lang="en-US" altLang="zh-CN" sz="3200" b="1"/>
              <a:t>(Alternative hypothesis)</a:t>
            </a:r>
            <a:br>
              <a:rPr lang="en-US" altLang="zh-CN" sz="3600" b="1"/>
            </a:br>
            <a:r>
              <a:rPr lang="en-US" altLang="zh-CN" sz="3600" b="1"/>
              <a:t> </a:t>
            </a:r>
            <a:br>
              <a:rPr lang="en-US" altLang="zh-CN" sz="3600" b="1"/>
            </a:br>
            <a:r>
              <a:rPr lang="en-US" altLang="zh-CN" sz="3600" b="1">
                <a:solidFill>
                  <a:schemeClr val="tx1"/>
                </a:solidFill>
              </a:rPr>
              <a:t>Question: Which is the truth?</a:t>
            </a:r>
            <a:br>
              <a:rPr lang="en-US" altLang="zh-CN" sz="3600" b="1">
                <a:solidFill>
                  <a:schemeClr val="tx1"/>
                </a:solidFill>
              </a:rPr>
            </a:br>
            <a:r>
              <a:rPr lang="en-US" altLang="zh-CN" sz="3600" b="1">
                <a:solidFill>
                  <a:schemeClr val="tx1"/>
                </a:solidFill>
              </a:rPr>
              <a:t>        -- problem of hypothesis test!</a:t>
            </a:r>
          </a:p>
        </p:txBody>
      </p:sp>
      <p:graphicFrame>
        <p:nvGraphicFramePr>
          <p:cNvPr id="60419" name="Object 3">
            <a:extLst>
              <a:ext uri="{FF2B5EF4-FFF2-40B4-BE49-F238E27FC236}">
                <a16:creationId xmlns:a16="http://schemas.microsoft.com/office/drawing/2014/main" id="{D2F99D4E-B0D9-3504-C269-000CABC744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676400"/>
          <a:ext cx="25908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228600" progId="Equation.3">
                  <p:embed/>
                </p:oleObj>
              </mc:Choice>
              <mc:Fallback>
                <p:oleObj name="Equation" r:id="rId2" imgW="78732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76400"/>
                        <a:ext cx="25908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4">
            <a:extLst>
              <a:ext uri="{FF2B5EF4-FFF2-40B4-BE49-F238E27FC236}">
                <a16:creationId xmlns:a16="http://schemas.microsoft.com/office/drawing/2014/main" id="{91F0D7CD-196C-1473-05E3-943B3EFA18D3}"/>
              </a:ext>
            </a:extLst>
          </p:cNvPr>
          <p:cNvGraphicFramePr>
            <a:graphicFrameLocks noChangeAspect="1"/>
          </p:cNvGraphicFramePr>
          <p:nvPr>
            <p:ph type="body" idx="1"/>
          </p:nvPr>
        </p:nvGraphicFramePr>
        <p:xfrm>
          <a:off x="2438400" y="3810000"/>
          <a:ext cx="24384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15640" progId="Equation.3">
                  <p:embed/>
                </p:oleObj>
              </mc:Choice>
              <mc:Fallback>
                <p:oleObj name="Equation" r:id="rId4" imgW="77436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10000"/>
                        <a:ext cx="243840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26">
            <a:extLst>
              <a:ext uri="{FF2B5EF4-FFF2-40B4-BE49-F238E27FC236}">
                <a16:creationId xmlns:a16="http://schemas.microsoft.com/office/drawing/2014/main" id="{F18CDE3E-A839-4511-D50F-DDD1BBE1C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772400" cy="1143000"/>
          </a:xfrm>
        </p:spPr>
        <p:txBody>
          <a:bodyPr/>
          <a:lstStyle/>
          <a:p>
            <a:pPr algn="l"/>
            <a:br>
              <a:rPr lang="en-US" altLang="zh-CN" sz="3600" b="1"/>
            </a:br>
            <a:r>
              <a:rPr lang="en-US" altLang="zh-CN" sz="3600" b="1"/>
              <a:t>Basic logic:</a:t>
            </a:r>
            <a:br>
              <a:rPr lang="en-US" altLang="zh-CN" sz="3600" b="1"/>
            </a:br>
            <a:r>
              <a:rPr lang="en-US" altLang="zh-CN" sz="3200" b="1">
                <a:solidFill>
                  <a:schemeClr val="tx1"/>
                </a:solidFill>
                <a:effectLst/>
              </a:rPr>
              <a:t>Under the null hypothesis</a:t>
            </a:r>
            <a:r>
              <a:rPr lang="en-US" altLang="zh-CN" sz="3600" b="1"/>
              <a:t> </a:t>
            </a:r>
          </a:p>
        </p:txBody>
      </p:sp>
      <p:sp>
        <p:nvSpPr>
          <p:cNvPr id="61443" name="Rectangle 1027">
            <a:extLst>
              <a:ext uri="{FF2B5EF4-FFF2-40B4-BE49-F238E27FC236}">
                <a16:creationId xmlns:a16="http://schemas.microsoft.com/office/drawing/2014/main" id="{162262E2-B078-044B-B9E4-97BB962F8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8991600" cy="5486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How possible to occur the current situation and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even more unfavorable situation to</a:t>
            </a:r>
            <a:r>
              <a:rPr lang="en-US" altLang="zh-CN"/>
              <a:t>         </a:t>
            </a:r>
            <a:r>
              <a:rPr lang="en-US" altLang="zh-CN" b="1"/>
              <a:t>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-- Calculate a probability (     -value)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If it is less possible to occur the current situation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and even more unfavorable situation to         </a:t>
            </a:r>
            <a:r>
              <a:rPr lang="en-US" altLang="zh-CN"/>
              <a:t>,</a:t>
            </a: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then reject        ; otherwise, not reject       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en-US" altLang="zh-CN" b="1"/>
              <a:t>-- Given a small      , compare       and</a:t>
            </a:r>
            <a:r>
              <a:rPr lang="en-US" altLang="zh-CN"/>
              <a:t>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(     is called the level of the test)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</p:txBody>
      </p:sp>
      <p:graphicFrame>
        <p:nvGraphicFramePr>
          <p:cNvPr id="61444" name="Object 1028">
            <a:extLst>
              <a:ext uri="{FF2B5EF4-FFF2-40B4-BE49-F238E27FC236}">
                <a16:creationId xmlns:a16="http://schemas.microsoft.com/office/drawing/2014/main" id="{CC90B8E1-BD1D-60DF-C94B-D188BE25C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838200"/>
          <a:ext cx="21336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228600" progId="Equation.3">
                  <p:embed/>
                </p:oleObj>
              </mc:Choice>
              <mc:Fallback>
                <p:oleObj name="Equation" r:id="rId2" imgW="787320" imgH="2286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838200"/>
                        <a:ext cx="21336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1029">
            <a:extLst>
              <a:ext uri="{FF2B5EF4-FFF2-40B4-BE49-F238E27FC236}">
                <a16:creationId xmlns:a16="http://schemas.microsoft.com/office/drawing/2014/main" id="{E9DD33CC-0BC2-CDA9-479A-B62D79142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1905000"/>
          <a:ext cx="7191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28600" progId="Equation.3">
                  <p:embed/>
                </p:oleObj>
              </mc:Choice>
              <mc:Fallback>
                <p:oleObj name="Equation" r:id="rId4" imgW="215640" imgH="22860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905000"/>
                        <a:ext cx="7191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1030">
            <a:extLst>
              <a:ext uri="{FF2B5EF4-FFF2-40B4-BE49-F238E27FC236}">
                <a16:creationId xmlns:a16="http://schemas.microsoft.com/office/drawing/2014/main" id="{C5039E2E-2025-43B5-00E9-D6815A5711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4267200"/>
          <a:ext cx="7191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228600" progId="Equation.3">
                  <p:embed/>
                </p:oleObj>
              </mc:Choice>
              <mc:Fallback>
                <p:oleObj name="Equation" r:id="rId6" imgW="215640" imgH="22860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267200"/>
                        <a:ext cx="7191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1031">
            <a:extLst>
              <a:ext uri="{FF2B5EF4-FFF2-40B4-BE49-F238E27FC236}">
                <a16:creationId xmlns:a16="http://schemas.microsoft.com/office/drawing/2014/main" id="{F2275BAC-0FBE-A68E-6BA3-A00801FEF1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953000"/>
          <a:ext cx="574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228600" progId="Equation.3">
                  <p:embed/>
                </p:oleObj>
              </mc:Choice>
              <mc:Fallback>
                <p:oleObj name="Equation" r:id="rId8" imgW="215640" imgH="228600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953000"/>
                        <a:ext cx="5746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Object 1032">
            <a:extLst>
              <a:ext uri="{FF2B5EF4-FFF2-40B4-BE49-F238E27FC236}">
                <a16:creationId xmlns:a16="http://schemas.microsoft.com/office/drawing/2014/main" id="{3FE32030-3BBB-E52C-039A-55DC08C2A3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638800"/>
          <a:ext cx="3810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80" imgH="139680" progId="Equation.3">
                  <p:embed/>
                </p:oleObj>
              </mc:Choice>
              <mc:Fallback>
                <p:oleObj name="Equation" r:id="rId10" imgW="152280" imgH="13968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638800"/>
                        <a:ext cx="3810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9" name="Object 1033">
            <a:extLst>
              <a:ext uri="{FF2B5EF4-FFF2-40B4-BE49-F238E27FC236}">
                <a16:creationId xmlns:a16="http://schemas.microsoft.com/office/drawing/2014/main" id="{CC503987-5176-EC0E-ED7E-93EEDF118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5562600"/>
          <a:ext cx="4222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164880" progId="Equation.3">
                  <p:embed/>
                </p:oleObj>
              </mc:Choice>
              <mc:Fallback>
                <p:oleObj name="Equation" r:id="rId12" imgW="152280" imgH="16488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562600"/>
                        <a:ext cx="4222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0" name="Object 1034">
            <a:extLst>
              <a:ext uri="{FF2B5EF4-FFF2-40B4-BE49-F238E27FC236}">
                <a16:creationId xmlns:a16="http://schemas.microsoft.com/office/drawing/2014/main" id="{54D839C2-20EF-29DE-091D-4F96218117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2590800"/>
          <a:ext cx="4921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164880" progId="Equation.3">
                  <p:embed/>
                </p:oleObj>
              </mc:Choice>
              <mc:Fallback>
                <p:oleObj name="Equation" r:id="rId14" imgW="152280" imgH="16488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590800"/>
                        <a:ext cx="4921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035">
            <a:extLst>
              <a:ext uri="{FF2B5EF4-FFF2-40B4-BE49-F238E27FC236}">
                <a16:creationId xmlns:a16="http://schemas.microsoft.com/office/drawing/2014/main" id="{052E2094-115D-9CA4-00CD-6EF1B8CE3F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5638800"/>
          <a:ext cx="3810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139680" progId="Equation.3">
                  <p:embed/>
                </p:oleObj>
              </mc:Choice>
              <mc:Fallback>
                <p:oleObj name="Equation" r:id="rId16" imgW="152280" imgH="139680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638800"/>
                        <a:ext cx="3810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036">
            <a:extLst>
              <a:ext uri="{FF2B5EF4-FFF2-40B4-BE49-F238E27FC236}">
                <a16:creationId xmlns:a16="http://schemas.microsoft.com/office/drawing/2014/main" id="{7D82103B-55D5-FA69-2AB5-A12710B0C3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4953000"/>
          <a:ext cx="574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5640" imgH="228600" progId="Equation.3">
                  <p:embed/>
                </p:oleObj>
              </mc:Choice>
              <mc:Fallback>
                <p:oleObj name="Equation" r:id="rId18" imgW="215640" imgH="228600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953000"/>
                        <a:ext cx="5746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1037">
            <a:extLst>
              <a:ext uri="{FF2B5EF4-FFF2-40B4-BE49-F238E27FC236}">
                <a16:creationId xmlns:a16="http://schemas.microsoft.com/office/drawing/2014/main" id="{3338EEF2-A6F9-99E4-07C6-751FB9D62B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6172200"/>
          <a:ext cx="4572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2280" imgH="139680" progId="Equation.3">
                  <p:embed/>
                </p:oleObj>
              </mc:Choice>
              <mc:Fallback>
                <p:oleObj name="Equation" r:id="rId20" imgW="152280" imgH="139680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172200"/>
                        <a:ext cx="4572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F4C6832-CFF8-016B-5BAC-A4EF501FB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915400" cy="4419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Example 9-15: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The content (mg/L) of               within a material was independently measured 15 times, resulting in: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  <a:r>
              <a:rPr lang="en-US" altLang="zh-CN" sz="2800" b="1" u="sng"/>
              <a:t>20.99,  20.41,  20.62,  20.75,  20.10,  20.00,  20.80,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u="sng"/>
              <a:t> 20.91,  22.60,  22.30,  20.99,  20.41,  20.50,  23.00, 22.60</a:t>
            </a:r>
            <a:r>
              <a:rPr lang="en-US" altLang="zh-CN" b="1"/>
              <a:t>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Please check whether the true value was 20.7mg/L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.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D531996-AE81-FC99-E042-DDC3E17EC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458200" cy="990600"/>
          </a:xfrm>
        </p:spPr>
        <p:txBody>
          <a:bodyPr/>
          <a:lstStyle/>
          <a:p>
            <a:r>
              <a:rPr lang="en-US" altLang="zh-CN" sz="3200" b="1"/>
              <a:t>1. Comparing to a given population mean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81398CE-3327-65E1-323D-83491DA49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9812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/>
              <a:t>CaCo</a:t>
            </a:r>
            <a:r>
              <a:rPr lang="en-US" altLang="zh-CN" sz="2800" baseline="-30000"/>
              <a:t>3</a:t>
            </a:r>
            <a:r>
              <a:rPr lang="en-US" altLang="zh-CN" sz="28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21AEE0A4-CE85-BD60-2455-97448E91C8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57200"/>
          <a:ext cx="7467600" cy="532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1739880" progId="Equation.3">
                  <p:embed/>
                </p:oleObj>
              </mc:Choice>
              <mc:Fallback>
                <p:oleObj name="Equation" r:id="rId2" imgW="2438280" imgH="1739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57200"/>
                        <a:ext cx="7467600" cy="532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Text Box 1028">
            <a:extLst>
              <a:ext uri="{FF2B5EF4-FFF2-40B4-BE49-F238E27FC236}">
                <a16:creationId xmlns:a16="http://schemas.microsoft.com/office/drawing/2014/main" id="{FB2F18A5-3D04-8E2C-C2E7-3BB5AE27EAC6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228600" y="685800"/>
            <a:ext cx="8610600" cy="5410200"/>
          </a:xfrm>
          <a:noFill/>
          <a:ln/>
        </p:spPr>
        <p:txBody>
          <a:bodyPr/>
          <a:lstStyle/>
          <a:p>
            <a:pPr marL="457200" indent="-457200">
              <a:spcBef>
                <a:spcPct val="0"/>
              </a:spcBef>
              <a:buClrTx/>
              <a:buFontTx/>
              <a:buAutoNum type="arabicParenBoth"/>
            </a:pPr>
            <a:r>
              <a:rPr lang="en-US" altLang="zh-CN" b="1"/>
              <a:t>Set hypotheses and the level of test  </a:t>
            </a:r>
          </a:p>
          <a:p>
            <a:pPr marL="457200" indent="-457200">
              <a:spcBef>
                <a:spcPct val="0"/>
              </a:spcBef>
              <a:buClrTx/>
              <a:buFontTx/>
              <a:buAutoNum type="arabicParenBoth"/>
            </a:pPr>
            <a:endParaRPr lang="en-US" altLang="zh-CN" b="1"/>
          </a:p>
          <a:p>
            <a:pPr marL="457200" indent="-457200">
              <a:spcBef>
                <a:spcPct val="0"/>
              </a:spcBef>
              <a:buClrTx/>
              <a:buFontTx/>
              <a:buAutoNum type="arabicParenBoth"/>
            </a:pPr>
            <a:endParaRPr lang="en-US" altLang="zh-CN" sz="2400"/>
          </a:p>
          <a:p>
            <a:pPr marL="457200" indent="-457200">
              <a:spcBef>
                <a:spcPct val="0"/>
              </a:spcBef>
              <a:buClrTx/>
              <a:buFontTx/>
              <a:buAutoNum type="arabicParenBoth"/>
            </a:pPr>
            <a:endParaRPr lang="en-US" altLang="zh-CN" sz="2400"/>
          </a:p>
          <a:p>
            <a:pPr marL="457200" indent="-457200">
              <a:spcBef>
                <a:spcPct val="0"/>
              </a:spcBef>
              <a:buClrTx/>
              <a:buFontTx/>
              <a:buAutoNum type="arabicParenBoth"/>
            </a:pPr>
            <a:endParaRPr lang="en-US" altLang="zh-CN" sz="2400"/>
          </a:p>
          <a:p>
            <a:pPr marL="457200" indent="-457200">
              <a:spcBef>
                <a:spcPct val="0"/>
              </a:spcBef>
              <a:buClrTx/>
              <a:buFontTx/>
              <a:buNone/>
            </a:pPr>
            <a:endParaRPr lang="en-US" altLang="zh-CN" b="1"/>
          </a:p>
          <a:p>
            <a:pPr marL="457200" indent="-457200">
              <a:spcBef>
                <a:spcPct val="0"/>
              </a:spcBef>
              <a:buClrTx/>
              <a:buFontTx/>
              <a:buNone/>
            </a:pPr>
            <a:r>
              <a:rPr lang="en-US" altLang="zh-CN" b="1"/>
              <a:t>To make decision: reject       or accept           ?</a:t>
            </a:r>
          </a:p>
          <a:p>
            <a:pPr marL="457200" indent="-457200">
              <a:spcBef>
                <a:spcPct val="0"/>
              </a:spcBef>
              <a:buClrTx/>
              <a:buFontTx/>
              <a:buNone/>
            </a:pPr>
            <a:endParaRPr lang="en-US" altLang="zh-CN" b="1"/>
          </a:p>
          <a:p>
            <a:pPr marL="457200" indent="-457200">
              <a:spcBef>
                <a:spcPct val="0"/>
              </a:spcBef>
              <a:buClrTx/>
              <a:buFontTx/>
              <a:buNone/>
            </a:pPr>
            <a:r>
              <a:rPr lang="en-US" altLang="zh-CN" b="1"/>
              <a:t>If reject        , the probability of miss reject should not be greater than          .</a:t>
            </a:r>
          </a:p>
        </p:txBody>
      </p:sp>
      <p:graphicFrame>
        <p:nvGraphicFramePr>
          <p:cNvPr id="73733" name="Object 1029">
            <a:extLst>
              <a:ext uri="{FF2B5EF4-FFF2-40B4-BE49-F238E27FC236}">
                <a16:creationId xmlns:a16="http://schemas.microsoft.com/office/drawing/2014/main" id="{023BDBE6-9F9B-DAED-FB52-BD56BF7FB6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1371600"/>
          <a:ext cx="2209800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67240" imgH="647640" progId="Word.Document.8">
                  <p:embed/>
                </p:oleObj>
              </mc:Choice>
              <mc:Fallback>
                <p:oleObj name="Document" r:id="rId2" imgW="867240" imgH="647640" progId="Word.Document.8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371600"/>
                        <a:ext cx="2209800" cy="164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1030">
            <a:extLst>
              <a:ext uri="{FF2B5EF4-FFF2-40B4-BE49-F238E27FC236}">
                <a16:creationId xmlns:a16="http://schemas.microsoft.com/office/drawing/2014/main" id="{EEF38E4C-4D8E-F7D2-DEC8-D0FB3559D2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32766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28600" progId="Equation.3">
                  <p:embed/>
                </p:oleObj>
              </mc:Choice>
              <mc:Fallback>
                <p:oleObj name="Equation" r:id="rId4" imgW="215640" imgH="22860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276600"/>
                        <a:ext cx="5762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Object 1031">
            <a:extLst>
              <a:ext uri="{FF2B5EF4-FFF2-40B4-BE49-F238E27FC236}">
                <a16:creationId xmlns:a16="http://schemas.microsoft.com/office/drawing/2014/main" id="{2EB2B4B5-6269-831F-C65E-A02EC18AB6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4876800"/>
          <a:ext cx="533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139680" progId="Equation.3">
                  <p:embed/>
                </p:oleObj>
              </mc:Choice>
              <mc:Fallback>
                <p:oleObj name="Equation" r:id="rId6" imgW="152280" imgH="139680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876800"/>
                        <a:ext cx="5334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6" name="Object 1032">
            <a:extLst>
              <a:ext uri="{FF2B5EF4-FFF2-40B4-BE49-F238E27FC236}">
                <a16:creationId xmlns:a16="http://schemas.microsoft.com/office/drawing/2014/main" id="{53396911-BB22-C0B9-5581-736788677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32766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228600" progId="Equation.3">
                  <p:embed/>
                </p:oleObj>
              </mc:Choice>
              <mc:Fallback>
                <p:oleObj name="Equation" r:id="rId8" imgW="215640" imgH="2286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276600"/>
                        <a:ext cx="5762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7" name="Object 1033">
            <a:extLst>
              <a:ext uri="{FF2B5EF4-FFF2-40B4-BE49-F238E27FC236}">
                <a16:creationId xmlns:a16="http://schemas.microsoft.com/office/drawing/2014/main" id="{3AC6DD91-C1D5-6E50-6C30-4415A35500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1910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228600" progId="Equation.3">
                  <p:embed/>
                </p:oleObj>
              </mc:Choice>
              <mc:Fallback>
                <p:oleObj name="Equation" r:id="rId10" imgW="215640" imgH="22860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191000"/>
                        <a:ext cx="5762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8" name="Object 1034">
            <a:extLst>
              <a:ext uri="{FF2B5EF4-FFF2-40B4-BE49-F238E27FC236}">
                <a16:creationId xmlns:a16="http://schemas.microsoft.com/office/drawing/2014/main" id="{925A2062-427D-5AB5-680D-BC569FEF34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42672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228600" progId="Equation.3">
                  <p:embed/>
                </p:oleObj>
              </mc:Choice>
              <mc:Fallback>
                <p:oleObj name="Equation" r:id="rId12" imgW="215640" imgH="22860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267200"/>
                        <a:ext cx="5762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DF258D2-C533-5802-71BD-7448C9A803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04800" y="381000"/>
            <a:ext cx="83058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3366FF">
                    <a:alpha val="50000"/>
                  </a:srgbClr>
                </a:solidFill>
              </a14:hiddenFill>
            </a:ext>
          </a:extLst>
        </p:spPr>
        <p:txBody>
          <a:bodyPr/>
          <a:lstStyle/>
          <a:p>
            <a:pPr algn="l"/>
            <a:r>
              <a:rPr lang="en-US" altLang="zh-CN" b="1"/>
              <a:t>(2) Select an appropriate test and calculate the test statistics</a:t>
            </a:r>
            <a:r>
              <a:rPr lang="en-US" altLang="zh-CN" sz="2800" b="1"/>
              <a:t>    </a:t>
            </a:r>
          </a:p>
          <a:p>
            <a:pPr algn="l"/>
            <a:r>
              <a:rPr lang="en-US" altLang="zh-CN" sz="2800" b="1"/>
              <a:t> </a:t>
            </a:r>
          </a:p>
          <a:p>
            <a:pPr algn="l"/>
            <a:endParaRPr lang="en-US" altLang="zh-CN" sz="2800" b="1"/>
          </a:p>
          <a:p>
            <a:pPr algn="l"/>
            <a:r>
              <a:rPr lang="en-US" altLang="zh-CN" sz="2800" b="1"/>
              <a:t>If X follows a normal distribution                       Then </a:t>
            </a:r>
          </a:p>
          <a:p>
            <a:pPr algn="l"/>
            <a:endParaRPr lang="en-US" altLang="zh-CN" sz="2800" b="1"/>
          </a:p>
          <a:p>
            <a:pPr algn="l"/>
            <a:endParaRPr lang="en-US" altLang="zh-CN" sz="2800" b="1"/>
          </a:p>
          <a:p>
            <a:pPr algn="l"/>
            <a:endParaRPr lang="en-US" altLang="zh-CN" sz="2800" b="1"/>
          </a:p>
        </p:txBody>
      </p:sp>
      <p:graphicFrame>
        <p:nvGraphicFramePr>
          <p:cNvPr id="5123" name="Object 3">
            <a:extLst>
              <a:ext uri="{FF2B5EF4-FFF2-40B4-BE49-F238E27FC236}">
                <a16:creationId xmlns:a16="http://schemas.microsoft.com/office/drawing/2014/main" id="{99C7450E-6AC3-2A02-F5C1-EBD86971EB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2981325"/>
          <a:ext cx="1676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28600" progId="Equation.3">
                  <p:embed/>
                </p:oleObj>
              </mc:Choice>
              <mc:Fallback>
                <p:oleObj name="Equation" r:id="rId3" imgW="60948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981325"/>
                        <a:ext cx="1676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>
            <a:extLst>
              <a:ext uri="{FF2B5EF4-FFF2-40B4-BE49-F238E27FC236}">
                <a16:creationId xmlns:a16="http://schemas.microsoft.com/office/drawing/2014/main" id="{6234361C-23D3-0C73-41BA-C7265A7EE5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3962400"/>
          <a:ext cx="419100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2480" imgH="647640" progId="Equation.3">
                  <p:embed/>
                </p:oleObj>
              </mc:Choice>
              <mc:Fallback>
                <p:oleObj name="Equation" r:id="rId5" imgW="1752480" imgH="647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62400"/>
                        <a:ext cx="4191000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1027">
            <a:extLst>
              <a:ext uri="{FF2B5EF4-FFF2-40B4-BE49-F238E27FC236}">
                <a16:creationId xmlns:a16="http://schemas.microsoft.com/office/drawing/2014/main" id="{CC1F57E0-BC48-D57D-91CF-03136F748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715000"/>
          </a:xfrm>
        </p:spPr>
        <p:txBody>
          <a:bodyPr/>
          <a:lstStyle/>
          <a:p>
            <a:r>
              <a:rPr lang="en-US" altLang="zh-CN" b="1"/>
              <a:t>When                             holds,</a:t>
            </a:r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Based on the current sample:</a:t>
            </a:r>
            <a:endParaRPr lang="en-US" altLang="zh-CN" sz="360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  </a:t>
            </a:r>
          </a:p>
          <a:p>
            <a:endParaRPr lang="en-US" altLang="zh-CN"/>
          </a:p>
        </p:txBody>
      </p:sp>
      <p:graphicFrame>
        <p:nvGraphicFramePr>
          <p:cNvPr id="74756" name="Object 1028">
            <a:extLst>
              <a:ext uri="{FF2B5EF4-FFF2-40B4-BE49-F238E27FC236}">
                <a16:creationId xmlns:a16="http://schemas.microsoft.com/office/drawing/2014/main" id="{08FFC1C0-4316-037E-917D-9F2BEDB7B1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1600200"/>
          <a:ext cx="47244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320" imgH="647640" progId="Equation.3">
                  <p:embed/>
                </p:oleObj>
              </mc:Choice>
              <mc:Fallback>
                <p:oleObj name="Equation" r:id="rId2" imgW="1930320" imgH="64764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00200"/>
                        <a:ext cx="472440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1029">
            <a:extLst>
              <a:ext uri="{FF2B5EF4-FFF2-40B4-BE49-F238E27FC236}">
                <a16:creationId xmlns:a16="http://schemas.microsoft.com/office/drawing/2014/main" id="{2545B11E-EEBC-0362-76AD-43573B345B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962400"/>
          <a:ext cx="54102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84120" imgH="647640" progId="Equation.3">
                  <p:embed/>
                </p:oleObj>
              </mc:Choice>
              <mc:Fallback>
                <p:oleObj name="Equation" r:id="rId4" imgW="2184120" imgH="64764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962400"/>
                        <a:ext cx="54102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1030">
            <a:extLst>
              <a:ext uri="{FF2B5EF4-FFF2-40B4-BE49-F238E27FC236}">
                <a16:creationId xmlns:a16="http://schemas.microsoft.com/office/drawing/2014/main" id="{23CF1598-3BDE-E4B7-A506-406D55EF58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838200"/>
          <a:ext cx="22098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228600" progId="Equation.3">
                  <p:embed/>
                </p:oleObj>
              </mc:Choice>
              <mc:Fallback>
                <p:oleObj name="Equation" r:id="rId6" imgW="850680" imgH="22860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838200"/>
                        <a:ext cx="22098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C6DFB3-E698-621C-57ED-81185E110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57200"/>
            <a:ext cx="8458200" cy="1295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(3) Determine </a:t>
            </a:r>
            <a:r>
              <a:rPr lang="en-US" altLang="zh-CN" b="1" i="1"/>
              <a:t>P</a:t>
            </a:r>
            <a:r>
              <a:rPr lang="en-US" altLang="zh-CN" b="1"/>
              <a:t> value, and make decision </a:t>
            </a:r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endParaRPr lang="en-US" altLang="zh-CN" b="1"/>
          </a:p>
        </p:txBody>
      </p:sp>
      <p:pic>
        <p:nvPicPr>
          <p:cNvPr id="6149" name="Picture 5">
            <a:extLst>
              <a:ext uri="{FF2B5EF4-FFF2-40B4-BE49-F238E27FC236}">
                <a16:creationId xmlns:a16="http://schemas.microsoft.com/office/drawing/2014/main" id="{1C000808-6830-061E-4404-64166E9DA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52600"/>
            <a:ext cx="8534400" cy="3160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3" name="AutoShape 9">
            <a:extLst>
              <a:ext uri="{FF2B5EF4-FFF2-40B4-BE49-F238E27FC236}">
                <a16:creationId xmlns:a16="http://schemas.microsoft.com/office/drawing/2014/main" id="{E8DF77A3-D476-94E7-F432-7BC8652AD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114800"/>
            <a:ext cx="609600" cy="304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7" name="Object 3">
            <a:extLst>
              <a:ext uri="{FF2B5EF4-FFF2-40B4-BE49-F238E27FC236}">
                <a16:creationId xmlns:a16="http://schemas.microsoft.com/office/drawing/2014/main" id="{2038BC32-E34D-0DC1-786E-66914254A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28600"/>
          <a:ext cx="8610600" cy="643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87320" imgH="4991040" progId="Word.Document.8">
                  <p:embed/>
                </p:oleObj>
              </mc:Choice>
              <mc:Fallback>
                <p:oleObj name="Document" r:id="rId2" imgW="7087320" imgH="49910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"/>
                        <a:ext cx="8610600" cy="64389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1027">
            <a:extLst>
              <a:ext uri="{FF2B5EF4-FFF2-40B4-BE49-F238E27FC236}">
                <a16:creationId xmlns:a16="http://schemas.microsoft.com/office/drawing/2014/main" id="{B6137127-44E1-4E3E-310F-CFDD348D3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533400"/>
            <a:ext cx="8534400" cy="6019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/>
              <a:t>When         holds, the probability of the current situation (sample mean=21.13) and even more unfavorable situation (sample mean&gt;21.13) to       is  greater than 0.05.</a:t>
            </a:r>
          </a:p>
          <a:p>
            <a:pPr>
              <a:lnSpc>
                <a:spcPct val="120000"/>
              </a:lnSpc>
            </a:pPr>
            <a:r>
              <a:rPr lang="en-US" altLang="zh-CN" b="1"/>
              <a:t>The probability of the current situation and even more unfavorable situation to       is called </a:t>
            </a:r>
            <a:r>
              <a:rPr lang="en-US" altLang="zh-CN" b="1" i="1"/>
              <a:t>P</a:t>
            </a:r>
            <a:r>
              <a:rPr lang="en-US" altLang="zh-CN" b="1"/>
              <a:t> value.</a:t>
            </a:r>
          </a:p>
          <a:p>
            <a:pPr>
              <a:lnSpc>
                <a:spcPct val="120000"/>
              </a:lnSpc>
            </a:pPr>
            <a:r>
              <a:rPr lang="en-US" altLang="zh-CN" b="1"/>
              <a:t>Now </a:t>
            </a:r>
            <a:r>
              <a:rPr lang="en-US" altLang="zh-CN" b="1" i="1"/>
              <a:t>P </a:t>
            </a:r>
            <a:r>
              <a:rPr lang="en-US" altLang="zh-CN" b="1"/>
              <a:t>&gt;      , no reason to reject       .</a:t>
            </a:r>
          </a:p>
          <a:p>
            <a:pPr>
              <a:lnSpc>
                <a:spcPct val="120000"/>
              </a:lnSpc>
            </a:pPr>
            <a:endParaRPr lang="en-US" altLang="zh-CN"/>
          </a:p>
        </p:txBody>
      </p:sp>
      <p:graphicFrame>
        <p:nvGraphicFramePr>
          <p:cNvPr id="75780" name="Object 1028">
            <a:extLst>
              <a:ext uri="{FF2B5EF4-FFF2-40B4-BE49-F238E27FC236}">
                <a16:creationId xmlns:a16="http://schemas.microsoft.com/office/drawing/2014/main" id="{C9B627EC-4E47-1EAA-1C1F-B9FCA34B9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609600"/>
          <a:ext cx="574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228600" progId="Equation.3">
                  <p:embed/>
                </p:oleObj>
              </mc:Choice>
              <mc:Fallback>
                <p:oleObj name="Equation" r:id="rId2" imgW="215640" imgH="2286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609600"/>
                        <a:ext cx="5746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1" name="Object 1029">
            <a:extLst>
              <a:ext uri="{FF2B5EF4-FFF2-40B4-BE49-F238E27FC236}">
                <a16:creationId xmlns:a16="http://schemas.microsoft.com/office/drawing/2014/main" id="{4CE7D5D1-38CF-F268-DD60-7E0DB1E80E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029200"/>
          <a:ext cx="457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139680" progId="Equation.3">
                  <p:embed/>
                </p:oleObj>
              </mc:Choice>
              <mc:Fallback>
                <p:oleObj name="Equation" r:id="rId4" imgW="152280" imgH="13968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029200"/>
                        <a:ext cx="457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1031">
            <a:extLst>
              <a:ext uri="{FF2B5EF4-FFF2-40B4-BE49-F238E27FC236}">
                <a16:creationId xmlns:a16="http://schemas.microsoft.com/office/drawing/2014/main" id="{2E7DE95F-7235-84AB-3B20-96E74E7C91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3733800"/>
          <a:ext cx="503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228600" progId="Equation.3">
                  <p:embed/>
                </p:oleObj>
              </mc:Choice>
              <mc:Fallback>
                <p:oleObj name="Equation" r:id="rId6" imgW="215640" imgH="228600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733800"/>
                        <a:ext cx="5032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1032">
            <a:extLst>
              <a:ext uri="{FF2B5EF4-FFF2-40B4-BE49-F238E27FC236}">
                <a16:creationId xmlns:a16="http://schemas.microsoft.com/office/drawing/2014/main" id="{42A7C935-A6BF-62A9-4FCD-D24875A238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2438400"/>
          <a:ext cx="574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228600" progId="Equation.3">
                  <p:embed/>
                </p:oleObj>
              </mc:Choice>
              <mc:Fallback>
                <p:oleObj name="Equation" r:id="rId8" imgW="215640" imgH="2286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438400"/>
                        <a:ext cx="5746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5" name="Object 1033">
            <a:extLst>
              <a:ext uri="{FF2B5EF4-FFF2-40B4-BE49-F238E27FC236}">
                <a16:creationId xmlns:a16="http://schemas.microsoft.com/office/drawing/2014/main" id="{F0577E1A-953C-D853-5917-0AB2FA8971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4763" y="4953000"/>
          <a:ext cx="5032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228600" progId="Equation.3">
                  <p:embed/>
                </p:oleObj>
              </mc:Choice>
              <mc:Fallback>
                <p:oleObj name="Equation" r:id="rId10" imgW="215640" imgH="22860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3" y="4953000"/>
                        <a:ext cx="5032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9F0BCDD-0C41-FEE1-4A39-5FCB716DB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Comparison for Paired Data 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4489C2E-1136-7DB5-BD2B-51B4E76FD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Example 9-13 (A paired design)</a:t>
            </a:r>
            <a:endParaRPr lang="en-US" altLang="zh-CN">
              <a:latin typeface="宋体" panose="02010600030101010101" pitchFamily="2" charset="-122"/>
            </a:endParaRPr>
          </a:p>
          <a:p>
            <a:pPr algn="just"/>
            <a:r>
              <a:rPr lang="en-US" altLang="zh-CN" b="1">
                <a:cs typeface="Times New Roman" panose="02020603050405020304" pitchFamily="18" charset="0"/>
              </a:rPr>
              <a:t>8 patients with hypertension were treated with a medicine and the DBP was measured before and after the treatment. Data list in the table 9-10.</a:t>
            </a:r>
            <a:endParaRPr lang="en-US" altLang="zh-CN">
              <a:latin typeface="宋体" panose="02010600030101010101" pitchFamily="2" charset="-122"/>
            </a:endParaRPr>
          </a:p>
          <a:p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29716510-BB31-7CFC-BA2B-604B0EE29C1F}"/>
              </a:ext>
            </a:extLst>
          </p:cNvPr>
          <p:cNvGraphicFramePr>
            <a:graphicFrameLocks noChangeAspect="1"/>
          </p:cNvGraphicFramePr>
          <p:nvPr>
            <p:ph type="body" idx="1"/>
          </p:nvPr>
        </p:nvGraphicFramePr>
        <p:xfrm>
          <a:off x="152400" y="990600"/>
          <a:ext cx="8658225" cy="460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792640" imgH="4678560" progId="Word.Document.8">
                  <p:embed/>
                </p:oleObj>
              </mc:Choice>
              <mc:Fallback>
                <p:oleObj name="Document" r:id="rId2" imgW="8792640" imgH="46785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990600"/>
                        <a:ext cx="8658225" cy="46069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D7DB0A5-6093-799E-13FE-257E06FB2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4267200"/>
          </a:xfrm>
        </p:spPr>
        <p:txBody>
          <a:bodyPr/>
          <a:lstStyle/>
          <a:p>
            <a:r>
              <a:rPr lang="en-US" altLang="zh-CN" b="1"/>
              <a:t>                                                      </a:t>
            </a:r>
            <a:r>
              <a:rPr lang="en-US" altLang="zh-CN" b="1" i="1"/>
              <a:t>α</a:t>
            </a:r>
            <a:r>
              <a:rPr lang="en-US" altLang="zh-CN" b="1">
                <a:cs typeface="Times New Roman" panose="02020603050405020304" pitchFamily="18" charset="0"/>
              </a:rPr>
              <a:t>=0.05</a:t>
            </a:r>
            <a:endParaRPr lang="en-US" altLang="zh-CN">
              <a:latin typeface="宋体" panose="02010600030101010101" pitchFamily="2" charset="-122"/>
            </a:endParaRPr>
          </a:p>
          <a:p>
            <a:endParaRPr lang="en-US" altLang="zh-CN"/>
          </a:p>
          <a:p>
            <a:r>
              <a:rPr lang="en-US" altLang="zh-CN" b="1">
                <a:latin typeface="宋体" panose="02010600030101010101" pitchFamily="2" charset="-122"/>
              </a:rPr>
              <a:t>                          </a:t>
            </a:r>
            <a:r>
              <a:rPr lang="en-US" altLang="zh-CN" b="1" i="1">
                <a:latin typeface="宋体" panose="02010600030101010101" pitchFamily="2" charset="-122"/>
              </a:rPr>
              <a:t>υ</a:t>
            </a:r>
            <a:r>
              <a:rPr lang="en-US" altLang="zh-CN" b="1"/>
              <a:t>=8-1=7</a:t>
            </a:r>
            <a:r>
              <a:rPr lang="en-US" altLang="zh-CN"/>
              <a:t>                                                            </a:t>
            </a:r>
          </a:p>
          <a:p>
            <a:endParaRPr lang="en-US" altLang="zh-CN"/>
          </a:p>
          <a:p>
            <a:pPr algn="just"/>
            <a:r>
              <a:rPr lang="en-US" altLang="zh-CN" b="1">
                <a:cs typeface="Times New Roman" panose="02020603050405020304" pitchFamily="18" charset="0"/>
              </a:rPr>
              <a:t> </a:t>
            </a:r>
            <a:r>
              <a:rPr lang="en-US" altLang="zh-CN" b="1" i="1">
                <a:cs typeface="Times New Roman" panose="02020603050405020304" pitchFamily="18" charset="0"/>
              </a:rPr>
              <a:t>t</a:t>
            </a:r>
            <a:r>
              <a:rPr lang="en-US" altLang="zh-CN" b="1">
                <a:cs typeface="Times New Roman" panose="02020603050405020304" pitchFamily="18" charset="0"/>
              </a:rPr>
              <a:t> &gt; </a:t>
            </a:r>
            <a:r>
              <a:rPr lang="en-US" altLang="zh-CN" b="1" i="1">
                <a:cs typeface="Times New Roman" panose="02020603050405020304" pitchFamily="18" charset="0"/>
              </a:rPr>
              <a:t>t</a:t>
            </a:r>
            <a:r>
              <a:rPr lang="en-US" altLang="zh-CN" b="1" baseline="-30000">
                <a:cs typeface="Times New Roman" panose="02020603050405020304" pitchFamily="18" charset="0"/>
              </a:rPr>
              <a:t>0.05,7</a:t>
            </a:r>
            <a:r>
              <a:rPr lang="en-US" altLang="zh-CN" b="1">
                <a:cs typeface="Times New Roman" panose="02020603050405020304" pitchFamily="18" charset="0"/>
              </a:rPr>
              <a:t>=2.365, </a:t>
            </a:r>
            <a:r>
              <a:rPr lang="en-US" altLang="zh-CN" b="1" i="1">
                <a:cs typeface="Times New Roman" panose="02020603050405020304" pitchFamily="18" charset="0"/>
              </a:rPr>
              <a:t>P </a:t>
            </a:r>
            <a:r>
              <a:rPr lang="en-US" altLang="zh-CN" b="1">
                <a:cs typeface="Times New Roman" panose="02020603050405020304" pitchFamily="18" charset="0"/>
              </a:rPr>
              <a:t>&lt; 0.05,    is rejected at significance level </a:t>
            </a:r>
            <a:r>
              <a:rPr lang="en-US" altLang="zh-CN" b="1" i="1"/>
              <a:t>α</a:t>
            </a:r>
            <a:r>
              <a:rPr lang="en-US" altLang="zh-CN" b="1">
                <a:cs typeface="Times New Roman" panose="02020603050405020304" pitchFamily="18" charset="0"/>
              </a:rPr>
              <a:t>=0.05.</a:t>
            </a:r>
            <a:endParaRPr lang="en-US" altLang="zh-CN">
              <a:latin typeface="宋体" panose="02010600030101010101" pitchFamily="2" charset="-122"/>
            </a:endParaRPr>
          </a:p>
          <a:p>
            <a:pPr algn="just"/>
            <a:endParaRPr lang="en-US" altLang="zh-CN">
              <a:latin typeface="宋体" panose="02010600030101010101" pitchFamily="2" charset="-122"/>
            </a:endParaRPr>
          </a:p>
          <a:p>
            <a:endParaRPr lang="en-US" altLang="zh-CN"/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E3B5367C-6D69-71A8-F56C-1B0E21B68E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143000"/>
          <a:ext cx="1828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228600" progId="Equation.3">
                  <p:embed/>
                </p:oleObj>
              </mc:Choice>
              <mc:Fallback>
                <p:oleObj name="Equation" r:id="rId2" imgW="7236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143000"/>
                        <a:ext cx="1828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10F815FB-C3DF-E827-5B37-CEDB4AECA8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143000"/>
          <a:ext cx="1524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28600" progId="Equation.3">
                  <p:embed/>
                </p:oleObj>
              </mc:Choice>
              <mc:Fallback>
                <p:oleObj name="Equation" r:id="rId4" imgW="711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143000"/>
                        <a:ext cx="1524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>
            <a:extLst>
              <a:ext uri="{FF2B5EF4-FFF2-40B4-BE49-F238E27FC236}">
                <a16:creationId xmlns:a16="http://schemas.microsoft.com/office/drawing/2014/main" id="{E92E75EA-D4A3-3E3F-1D7D-1A9F5D6B8B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057400"/>
          <a:ext cx="4038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469800" progId="Equation.3">
                  <p:embed/>
                </p:oleObj>
              </mc:Choice>
              <mc:Fallback>
                <p:oleObj name="Equation" r:id="rId6" imgW="182880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057400"/>
                        <a:ext cx="40386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715B6256-F0F8-924D-6960-4CCD016D1C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3581400"/>
          <a:ext cx="503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228600" progId="Equation.3">
                  <p:embed/>
                </p:oleObj>
              </mc:Choice>
              <mc:Fallback>
                <p:oleObj name="Equation" r:id="rId8" imgW="2156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581400"/>
                        <a:ext cx="5032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D7D66868-0ABD-4A79-FAEF-5DD3A19A5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05800" cy="1905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    </a:t>
            </a:r>
            <a:r>
              <a:rPr lang="en-US" altLang="zh-CN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 Comparison between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               Two Sample Means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>
            <a:extLst>
              <a:ext uri="{FF2B5EF4-FFF2-40B4-BE49-F238E27FC236}">
                <a16:creationId xmlns:a16="http://schemas.microsoft.com/office/drawing/2014/main" id="{891AE0E7-99D4-7CC3-4E9D-375D9127C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609600"/>
            <a:ext cx="8458200" cy="2362200"/>
          </a:xfrm>
        </p:spPr>
        <p:txBody>
          <a:bodyPr/>
          <a:lstStyle/>
          <a:p>
            <a:r>
              <a:rPr lang="en-US" altLang="zh-CN" b="1" u="sng"/>
              <a:t>Example9-18</a:t>
            </a:r>
            <a:r>
              <a:rPr lang="en-US" altLang="zh-CN"/>
              <a:t>: Two group of rats were fed by different food. One contains high protein, another contains low protein.  Comparing the effects of different food on increasing weight.</a:t>
            </a:r>
          </a:p>
        </p:txBody>
      </p:sp>
      <p:graphicFrame>
        <p:nvGraphicFramePr>
          <p:cNvPr id="76804" name="Object 4">
            <a:extLst>
              <a:ext uri="{FF2B5EF4-FFF2-40B4-BE49-F238E27FC236}">
                <a16:creationId xmlns:a16="http://schemas.microsoft.com/office/drawing/2014/main" id="{FE22C772-AA82-0D45-323E-0714B76ACC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3127375"/>
          <a:ext cx="8534400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33320" imgH="985680" progId="Word.Document.8">
                  <p:embed/>
                </p:oleObj>
              </mc:Choice>
              <mc:Fallback>
                <p:oleObj name="Document" r:id="rId2" imgW="6133320" imgH="9856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127375"/>
                        <a:ext cx="8534400" cy="13700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>
            <a:extLst>
              <a:ext uri="{FF2B5EF4-FFF2-40B4-BE49-F238E27FC236}">
                <a16:creationId xmlns:a16="http://schemas.microsoft.com/office/drawing/2014/main" id="{1DB9783A-7628-8E3D-9DC9-8676C7892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               α</a:t>
            </a:r>
            <a:r>
              <a:rPr lang="en-US" altLang="zh-CN" b="1"/>
              <a:t>=0.05</a:t>
            </a:r>
            <a:endParaRPr lang="en-US" altLang="zh-CN"/>
          </a:p>
          <a:p>
            <a:r>
              <a:rPr lang="en-US" altLang="zh-CN" b="1"/>
              <a:t>The pooled estimation of sample variance is </a:t>
            </a:r>
            <a:endParaRPr lang="en-US" altLang="zh-CN"/>
          </a:p>
          <a:p>
            <a:endParaRPr lang="en-US" altLang="zh-CN"/>
          </a:p>
        </p:txBody>
      </p:sp>
      <p:graphicFrame>
        <p:nvGraphicFramePr>
          <p:cNvPr id="78852" name="Object 4">
            <a:extLst>
              <a:ext uri="{FF2B5EF4-FFF2-40B4-BE49-F238E27FC236}">
                <a16:creationId xmlns:a16="http://schemas.microsoft.com/office/drawing/2014/main" id="{1BC0EC52-DBEB-802C-686F-8CC849943F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143000"/>
          <a:ext cx="25146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228600" progId="Equation.3">
                  <p:embed/>
                </p:oleObj>
              </mc:Choice>
              <mc:Fallback>
                <p:oleObj name="Equation" r:id="rId2" imgW="7617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143000"/>
                        <a:ext cx="25146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>
            <a:extLst>
              <a:ext uri="{FF2B5EF4-FFF2-40B4-BE49-F238E27FC236}">
                <a16:creationId xmlns:a16="http://schemas.microsoft.com/office/drawing/2014/main" id="{8C813230-2E2A-DEB8-9686-742E1E50B4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1219200"/>
          <a:ext cx="24384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215640" progId="Equation.3">
                  <p:embed/>
                </p:oleObj>
              </mc:Choice>
              <mc:Fallback>
                <p:oleObj name="Equation" r:id="rId4" imgW="74916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219200"/>
                        <a:ext cx="24384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2">
            <a:extLst>
              <a:ext uri="{FF2B5EF4-FFF2-40B4-BE49-F238E27FC236}">
                <a16:creationId xmlns:a16="http://schemas.microsoft.com/office/drawing/2014/main" id="{971770B1-AEAA-9704-6461-1A92DBBCC9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838200"/>
          <a:ext cx="8763000" cy="463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2361960" progId="Equation.3">
                  <p:embed/>
                </p:oleObj>
              </mc:Choice>
              <mc:Fallback>
                <p:oleObj name="Equation" r:id="rId2" imgW="3200400" imgH="2361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838200"/>
                        <a:ext cx="8763000" cy="463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3">
            <a:extLst>
              <a:ext uri="{FF2B5EF4-FFF2-40B4-BE49-F238E27FC236}">
                <a16:creationId xmlns:a16="http://schemas.microsoft.com/office/drawing/2014/main" id="{6A2DF114-2035-859F-8AED-B8E7ABB11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15000"/>
            <a:ext cx="3678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/>
              <a:t>υ</a:t>
            </a:r>
            <a:r>
              <a:rPr lang="en-US" altLang="zh-CN" sz="2800" b="1"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cs typeface="Times New Roman" panose="02020603050405020304" pitchFamily="18" charset="0"/>
              </a:rPr>
              <a:t>n</a:t>
            </a:r>
            <a:r>
              <a:rPr lang="en-US" altLang="zh-CN" sz="2800" b="1" baseline="-30000"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cs typeface="Times New Roman" panose="02020603050405020304" pitchFamily="18" charset="0"/>
              </a:rPr>
              <a:t>+</a:t>
            </a:r>
            <a:r>
              <a:rPr lang="en-US" altLang="zh-CN" sz="2800" b="1" i="1">
                <a:cs typeface="Times New Roman" panose="02020603050405020304" pitchFamily="18" charset="0"/>
              </a:rPr>
              <a:t>n</a:t>
            </a:r>
            <a:r>
              <a:rPr lang="en-US" altLang="zh-CN" sz="2800" b="1" baseline="-30000"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cs typeface="Times New Roman" panose="02020603050405020304" pitchFamily="18" charset="0"/>
              </a:rPr>
              <a:t>-2=12+7-2=17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>
            <a:extLst>
              <a:ext uri="{FF2B5EF4-FFF2-40B4-BE49-F238E27FC236}">
                <a16:creationId xmlns:a16="http://schemas.microsoft.com/office/drawing/2014/main" id="{E8BD0DEC-CE04-8696-271C-13734191CD0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  <a:noFill/>
          <a:ln/>
        </p:spPr>
        <p:txBody>
          <a:bodyPr/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i="1">
                <a:cs typeface="Times New Roman" panose="02020603050405020304" pitchFamily="18" charset="0"/>
              </a:rPr>
              <a:t>     </a:t>
            </a:r>
            <a:r>
              <a:rPr lang="en-US" altLang="zh-CN" sz="3600" b="1" i="1">
                <a:cs typeface="Times New Roman" panose="02020603050405020304" pitchFamily="18" charset="0"/>
              </a:rPr>
              <a:t>P</a:t>
            </a:r>
            <a:r>
              <a:rPr lang="en-US" altLang="zh-CN" sz="3600" b="1">
                <a:cs typeface="Times New Roman" panose="02020603050405020304" pitchFamily="18" charset="0"/>
              </a:rPr>
              <a:t>&gt;0.05, the null hypothesis is not rejected at the significance level </a:t>
            </a:r>
            <a:r>
              <a:rPr lang="en-US" altLang="zh-CN" sz="3600" b="1" i="1"/>
              <a:t>α</a:t>
            </a:r>
            <a:r>
              <a:rPr lang="en-US" altLang="zh-CN" sz="3600" b="1">
                <a:cs typeface="Times New Roman" panose="02020603050405020304" pitchFamily="18" charset="0"/>
              </a:rPr>
              <a:t>=0.05.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CD8AE00-F959-E7EF-65F4-904658802F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181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  <a:cs typeface="Times New Roman" panose="02020603050405020304" pitchFamily="18" charset="0"/>
              </a:rPr>
              <a:t>a. What does </a:t>
            </a:r>
            <a:r>
              <a:rPr lang="en-US" altLang="zh-CN" sz="2800" b="1" i="1">
                <a:solidFill>
                  <a:schemeClr val="tx2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chemeClr val="tx2"/>
                </a:solidFill>
                <a:cs typeface="Times New Roman" panose="02020603050405020304" pitchFamily="18" charset="0"/>
              </a:rPr>
              <a:t>-value mean?</a:t>
            </a:r>
            <a:endParaRPr lang="en-US" altLang="zh-CN" sz="2800">
              <a:solidFill>
                <a:schemeClr val="tx2"/>
              </a:solidFill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>
                <a:cs typeface="Times New Roman" panose="02020603050405020304" pitchFamily="18" charset="0"/>
              </a:rPr>
              <a:t>   </a:t>
            </a:r>
            <a:r>
              <a:rPr lang="en-US" altLang="zh-CN" sz="2800" b="1" i="1"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cs typeface="Times New Roman" panose="02020603050405020304" pitchFamily="18" charset="0"/>
              </a:rPr>
              <a:t>-value is the area of the tail(s) in the distribution of the test statistic beyond the value(s) of the test statistic calculated based on the sample.</a:t>
            </a:r>
            <a:endParaRPr lang="en-US" altLang="zh-CN" sz="2800">
              <a:latin typeface="宋体" panose="02010600030101010101" pitchFamily="2" charset="-122"/>
            </a:endParaRPr>
          </a:p>
          <a:p>
            <a:pPr algn="just"/>
            <a:r>
              <a:rPr lang="en-US" altLang="zh-CN" sz="2800" b="1">
                <a:cs typeface="Times New Roman" panose="02020603050405020304" pitchFamily="18" charset="0"/>
              </a:rPr>
              <a:t>If the null hypothesis is rejected, the probability of mistake = </a:t>
            </a:r>
            <a:r>
              <a:rPr lang="en-US" altLang="zh-CN" sz="2800" b="1" i="1">
                <a:cs typeface="Times New Roman" panose="02020603050405020304" pitchFamily="18" charset="0"/>
              </a:rPr>
              <a:t>P</a:t>
            </a:r>
            <a:endParaRPr lang="en-US" altLang="zh-CN" sz="2800" b="1"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>
                <a:cs typeface="Times New Roman" panose="02020603050405020304" pitchFamily="18" charset="0"/>
              </a:rPr>
              <a:t>    --  A smaller </a:t>
            </a:r>
            <a:r>
              <a:rPr lang="en-US" altLang="zh-CN" sz="2800" b="1" i="1"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cs typeface="Times New Roman" panose="02020603050405020304" pitchFamily="18" charset="0"/>
              </a:rPr>
              <a:t>-value implies the better quality of your rejection.</a:t>
            </a:r>
            <a:endParaRPr lang="en-US" altLang="zh-CN" sz="2800">
              <a:latin typeface="宋体" panose="02010600030101010101" pitchFamily="2" charset="-122"/>
            </a:endParaRPr>
          </a:p>
          <a:p>
            <a:pPr algn="just"/>
            <a:r>
              <a:rPr lang="en-US" altLang="zh-CN" sz="2800" b="1">
                <a:cs typeface="Times New Roman" panose="02020603050405020304" pitchFamily="18" charset="0"/>
              </a:rPr>
              <a:t>If the null hypothesis is not rejected, the bigger </a:t>
            </a:r>
            <a:r>
              <a:rPr lang="en-US" altLang="zh-CN" sz="2800" b="1" i="1"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cs typeface="Times New Roman" panose="02020603050405020304" pitchFamily="18" charset="0"/>
              </a:rPr>
              <a:t>-value implies the better quality of your acceptation.</a:t>
            </a:r>
            <a:endParaRPr lang="en-US" altLang="zh-CN" sz="2800">
              <a:latin typeface="宋体" panose="02010600030101010101" pitchFamily="2" charset="-122"/>
            </a:endParaRPr>
          </a:p>
          <a:p>
            <a:endParaRPr lang="en-US" altLang="zh-CN" sz="280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580AFAC-D675-68AE-48A6-3F30D43C7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6248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chemeClr val="tx2"/>
                </a:solidFill>
                <a:cs typeface="Times New Roman" panose="02020603050405020304" pitchFamily="18" charset="0"/>
              </a:rPr>
              <a:t>4. Attention for Hypothesis Test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5349EF9-1FC8-07BA-57E0-40046335BD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991600" cy="5791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/>
              <a:t>             </a:t>
            </a:r>
            <a:endParaRPr lang="en-US" altLang="zh-CN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                                </a:t>
            </a:r>
            <a:endParaRPr lang="en-US" altLang="zh-CN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  <a:cs typeface="Times New Roman" panose="02020603050405020304" pitchFamily="18" charset="0"/>
              </a:rPr>
              <a:t>b. What does the significance level </a:t>
            </a:r>
            <a:r>
              <a:rPr lang="en-US" altLang="zh-CN" b="1">
                <a:solidFill>
                  <a:schemeClr val="tx2"/>
                </a:solidFill>
              </a:rPr>
              <a:t>α</a:t>
            </a:r>
            <a:r>
              <a:rPr lang="en-US" altLang="zh-CN" b="1">
                <a:solidFill>
                  <a:schemeClr val="tx2"/>
                </a:solidFill>
                <a:cs typeface="Times New Roman" panose="02020603050405020304" pitchFamily="18" charset="0"/>
              </a:rPr>
              <a:t> mean?</a:t>
            </a:r>
            <a:endParaRPr lang="en-US" altLang="zh-CN" b="1">
              <a:solidFill>
                <a:schemeClr val="tx2"/>
              </a:solidFill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α</a:t>
            </a:r>
            <a:r>
              <a:rPr lang="en-US" altLang="zh-CN" b="1">
                <a:cs typeface="Times New Roman" panose="02020603050405020304" pitchFamily="18" charset="0"/>
              </a:rPr>
              <a:t>shows the quality of the inference.</a:t>
            </a:r>
            <a:endParaRPr lang="en-US" altLang="zh-CN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  </a:t>
            </a:r>
            <a:r>
              <a:rPr lang="en-US" altLang="zh-CN" b="1"/>
              <a:t>If you reject the null hypothesis, the probability of making mistake is limited by </a:t>
            </a:r>
            <a:r>
              <a:rPr lang="en-US" altLang="zh-CN" b="1">
                <a:latin typeface="宋体" panose="02010600030101010101" pitchFamily="2" charset="-122"/>
              </a:rPr>
              <a:t>α</a:t>
            </a:r>
            <a:r>
              <a:rPr lang="en-US" altLang="zh-CN" b="1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B652C0F-F1AD-ED5B-21A1-AE5596A39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62000"/>
            <a:ext cx="8763000" cy="53340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  <a:cs typeface="Times New Roman" panose="02020603050405020304" pitchFamily="18" charset="0"/>
              </a:rPr>
              <a:t>c. What is the situation that </a:t>
            </a:r>
            <a:r>
              <a:rPr lang="en-US" altLang="zh-CN" b="1" i="1">
                <a:solidFill>
                  <a:schemeClr val="tx2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b="1">
                <a:solidFill>
                  <a:schemeClr val="tx2"/>
                </a:solidFill>
                <a:cs typeface="Times New Roman" panose="02020603050405020304" pitchFamily="18" charset="0"/>
              </a:rPr>
              <a:t>-test could be applied?</a:t>
            </a:r>
            <a:endParaRPr lang="en-US" altLang="zh-CN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   The variable follows a normal distribution;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    Sample size is small;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cs typeface="Times New Roman" panose="02020603050405020304" pitchFamily="18" charset="0"/>
              </a:rPr>
              <a:t>    The variances are equal.</a:t>
            </a:r>
            <a:endParaRPr lang="en-US" altLang="zh-CN">
              <a:latin typeface="宋体" panose="02010600030101010101" pitchFamily="2" charset="-122"/>
            </a:endParaRPr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BF93810A-4391-61CB-01A8-B4AB2B34E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2743200"/>
            <a:ext cx="5492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FCDED9E2-2867-D3F3-53DE-B6CDAE310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95600"/>
            <a:ext cx="4191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8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校门">
  <a:themeElements>
    <a:clrScheme name="校门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校门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校门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Settings\jeff\Application Data\Microsoft\Templates\校门.pot</Template>
  <TotalTime>372</TotalTime>
  <Words>703</Words>
  <Application>Microsoft Office PowerPoint</Application>
  <PresentationFormat>全屏显示(4:3)</PresentationFormat>
  <Paragraphs>90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Times New Roman</vt:lpstr>
      <vt:lpstr>宋体</vt:lpstr>
      <vt:lpstr>Arial</vt:lpstr>
      <vt:lpstr>Wingdings</vt:lpstr>
      <vt:lpstr>Tms Rmn</vt:lpstr>
      <vt:lpstr>Symbol</vt:lpstr>
      <vt:lpstr>校门</vt:lpstr>
      <vt:lpstr>Microsoft Word 文档</vt:lpstr>
      <vt:lpstr>Microsoft 公式 3.0</vt:lpstr>
      <vt:lpstr>PowerPoint 演示文稿</vt:lpstr>
      <vt:lpstr> </vt:lpstr>
      <vt:lpstr>PowerPoint 演示文稿</vt:lpstr>
      <vt:lpstr> Hypothesis testing for population mean </vt:lpstr>
      <vt:lpstr>Two possibilities: (1) The population is 140, the sample mean =136.0 is due to the sampling error               (Null hypothesis) (2) The population is not 140 at all so that the sample mean =136.0                (Alternative hypothesis)   Question: Which is the truth?         -- problem of hypothesis test!</vt:lpstr>
      <vt:lpstr> Basic logic: Under the null hypothesis </vt:lpstr>
      <vt:lpstr>1. Comparing to a given population mean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Comparison for Paired Data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9.4  The t test and u test</dc:title>
  <dc:creator>fangjq</dc:creator>
  <cp:lastModifiedBy>超然网络服务店 超然网络服务店</cp:lastModifiedBy>
  <cp:revision>25</cp:revision>
  <dcterms:created xsi:type="dcterms:W3CDTF">2005-02-16T08:05:37Z</dcterms:created>
  <dcterms:modified xsi:type="dcterms:W3CDTF">2023-10-24T11:40:23Z</dcterms:modified>
</cp:coreProperties>
</file>