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18"/>
  </p:notesMasterIdLst>
  <p:handoutMasterIdLst>
    <p:handoutMasterId r:id="rId19"/>
  </p:handoutMasterIdLst>
  <p:sldIdLst>
    <p:sldId id="324" r:id="rId2"/>
    <p:sldId id="257" r:id="rId3"/>
    <p:sldId id="308" r:id="rId4"/>
    <p:sldId id="327" r:id="rId5"/>
    <p:sldId id="310" r:id="rId6"/>
    <p:sldId id="314" r:id="rId7"/>
    <p:sldId id="267" r:id="rId8"/>
    <p:sldId id="269" r:id="rId9"/>
    <p:sldId id="270" r:id="rId10"/>
    <p:sldId id="328" r:id="rId11"/>
    <p:sldId id="317" r:id="rId12"/>
    <p:sldId id="301" r:id="rId13"/>
    <p:sldId id="320" r:id="rId14"/>
    <p:sldId id="329" r:id="rId15"/>
    <p:sldId id="283" r:id="rId16"/>
    <p:sldId id="293" r:id="rId17"/>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240"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45" d="100"/>
          <a:sy n="45" d="100"/>
        </p:scale>
        <p:origin x="-81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7212D156-DFF9-1D64-C21F-7ADCAA8D026F}"/>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50179" name="Rectangle 3">
            <a:extLst>
              <a:ext uri="{FF2B5EF4-FFF2-40B4-BE49-F238E27FC236}">
                <a16:creationId xmlns:a16="http://schemas.microsoft.com/office/drawing/2014/main" id="{9E6B675F-91C2-E2CD-5B7E-26DCC35D24BB}"/>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anose="02020603050405020304" pitchFamily="18" charset="0"/>
              </a:defRPr>
            </a:lvl1pPr>
          </a:lstStyle>
          <a:p>
            <a:endParaRPr lang="en-US" altLang="zh-CN"/>
          </a:p>
        </p:txBody>
      </p:sp>
      <p:sp>
        <p:nvSpPr>
          <p:cNvPr id="50180" name="Rectangle 4">
            <a:extLst>
              <a:ext uri="{FF2B5EF4-FFF2-40B4-BE49-F238E27FC236}">
                <a16:creationId xmlns:a16="http://schemas.microsoft.com/office/drawing/2014/main" id="{1FEC0666-AE38-35D7-843A-E545A9604CB5}"/>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50181" name="Rectangle 5">
            <a:extLst>
              <a:ext uri="{FF2B5EF4-FFF2-40B4-BE49-F238E27FC236}">
                <a16:creationId xmlns:a16="http://schemas.microsoft.com/office/drawing/2014/main" id="{218CB309-4722-46A5-8586-7AA6A9DFF701}"/>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defRPr>
            </a:lvl1pPr>
          </a:lstStyle>
          <a:p>
            <a:fld id="{96BAAFA3-ABD4-423C-ADCF-E2773929BE28}"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E2DCA980-2EEF-674B-A287-8F443D417D02}"/>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89091" name="Rectangle 3">
            <a:extLst>
              <a:ext uri="{FF2B5EF4-FFF2-40B4-BE49-F238E27FC236}">
                <a16:creationId xmlns:a16="http://schemas.microsoft.com/office/drawing/2014/main" id="{7410BD85-2E5D-01CB-F921-60FC2DC6834C}"/>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kumimoji="1" sz="1200">
                <a:latin typeface="Times New Roman" panose="02020603050405020304" pitchFamily="18" charset="0"/>
              </a:defRPr>
            </a:lvl1pPr>
          </a:lstStyle>
          <a:p>
            <a:endParaRPr lang="en-US" altLang="zh-CN"/>
          </a:p>
        </p:txBody>
      </p:sp>
      <p:sp>
        <p:nvSpPr>
          <p:cNvPr id="89092" name="Rectangle 4">
            <a:extLst>
              <a:ext uri="{FF2B5EF4-FFF2-40B4-BE49-F238E27FC236}">
                <a16:creationId xmlns:a16="http://schemas.microsoft.com/office/drawing/2014/main" id="{7CBE6867-5796-7AA8-58A1-26586E040203}"/>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9093" name="Rectangle 5">
            <a:extLst>
              <a:ext uri="{FF2B5EF4-FFF2-40B4-BE49-F238E27FC236}">
                <a16:creationId xmlns:a16="http://schemas.microsoft.com/office/drawing/2014/main" id="{5277B7C5-BEB1-9250-0F47-2F7F58BBA7B2}"/>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9094" name="Rectangle 6">
            <a:extLst>
              <a:ext uri="{FF2B5EF4-FFF2-40B4-BE49-F238E27FC236}">
                <a16:creationId xmlns:a16="http://schemas.microsoft.com/office/drawing/2014/main" id="{806213D1-2981-A55B-4B74-27BF800EB724}"/>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1" sz="1200">
                <a:latin typeface="Times New Roman" panose="02020603050405020304" pitchFamily="18" charset="0"/>
              </a:defRPr>
            </a:lvl1pPr>
          </a:lstStyle>
          <a:p>
            <a:endParaRPr lang="en-US" altLang="zh-CN"/>
          </a:p>
        </p:txBody>
      </p:sp>
      <p:sp>
        <p:nvSpPr>
          <p:cNvPr id="89095" name="Rectangle 7">
            <a:extLst>
              <a:ext uri="{FF2B5EF4-FFF2-40B4-BE49-F238E27FC236}">
                <a16:creationId xmlns:a16="http://schemas.microsoft.com/office/drawing/2014/main" id="{47DCE2EC-8E72-EB05-4B0F-84FD89534C71}"/>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1" sz="1200">
                <a:latin typeface="Times New Roman" panose="02020603050405020304" pitchFamily="18" charset="0"/>
              </a:defRPr>
            </a:lvl1pPr>
          </a:lstStyle>
          <a:p>
            <a:fld id="{DD6B4DEF-8DED-4F6C-B48C-174807D2C152}"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332619-4C17-8E08-F494-D05007F54151}"/>
              </a:ext>
            </a:extLst>
          </p:cNvPr>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518192A-F749-1658-C7BA-9E47133E4F8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751AA24B-0167-CC38-FD4C-36FF2E329ABD}"/>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F0AB847C-C3A6-F154-53AC-37F37B12FEA8}"/>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96E8D2FC-4561-D7C6-9312-8D19EE17CB6B}"/>
              </a:ext>
            </a:extLst>
          </p:cNvPr>
          <p:cNvSpPr>
            <a:spLocks noGrp="1"/>
          </p:cNvSpPr>
          <p:nvPr>
            <p:ph type="sldNum" sz="quarter" idx="12"/>
          </p:nvPr>
        </p:nvSpPr>
        <p:spPr/>
        <p:txBody>
          <a:bodyPr/>
          <a:lstStyle>
            <a:lvl1pPr>
              <a:defRPr/>
            </a:lvl1pPr>
          </a:lstStyle>
          <a:p>
            <a:fld id="{210AA337-D572-438E-AC88-19926EAD6018}" type="slidenum">
              <a:rPr lang="en-US" altLang="zh-CN"/>
              <a:pPr/>
              <a:t>‹#›</a:t>
            </a:fld>
            <a:endParaRPr lang="en-US" altLang="zh-CN"/>
          </a:p>
        </p:txBody>
      </p:sp>
    </p:spTree>
    <p:extLst>
      <p:ext uri="{BB962C8B-B14F-4D97-AF65-F5344CB8AC3E}">
        <p14:creationId xmlns:p14="http://schemas.microsoft.com/office/powerpoint/2010/main" val="9182916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638EE7-B5A3-8B4D-6706-69607115F0F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D8B9BC3-7EB3-EFF4-CA05-8BD0369FC83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5021C67-5C39-24BD-0249-424AFEFDF109}"/>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05DFA84E-1E08-F09D-1528-951BD7EC3208}"/>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0682D5CA-1394-AFD9-E9F2-E7944A98CFA1}"/>
              </a:ext>
            </a:extLst>
          </p:cNvPr>
          <p:cNvSpPr>
            <a:spLocks noGrp="1"/>
          </p:cNvSpPr>
          <p:nvPr>
            <p:ph type="sldNum" sz="quarter" idx="12"/>
          </p:nvPr>
        </p:nvSpPr>
        <p:spPr/>
        <p:txBody>
          <a:bodyPr/>
          <a:lstStyle>
            <a:lvl1pPr>
              <a:defRPr/>
            </a:lvl1pPr>
          </a:lstStyle>
          <a:p>
            <a:fld id="{69E05543-9548-4261-8179-50E9168F12B8}" type="slidenum">
              <a:rPr lang="en-US" altLang="zh-CN"/>
              <a:pPr/>
              <a:t>‹#›</a:t>
            </a:fld>
            <a:endParaRPr lang="en-US" altLang="zh-CN"/>
          </a:p>
        </p:txBody>
      </p:sp>
    </p:spTree>
    <p:extLst>
      <p:ext uri="{BB962C8B-B14F-4D97-AF65-F5344CB8AC3E}">
        <p14:creationId xmlns:p14="http://schemas.microsoft.com/office/powerpoint/2010/main" val="2116251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6C2388-CA6A-D22E-8447-B3FB5B81DE78}"/>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C3A5765-0322-AF08-C54F-4FA7FDED45E4}"/>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42B16EA-D0C6-7B03-5153-3F914D1B3EFC}"/>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8E0494DC-EF81-33C8-B50C-EDD4CEA439B3}"/>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B43971C7-C7E2-EA6D-80B8-CA9A27E2EAAF}"/>
              </a:ext>
            </a:extLst>
          </p:cNvPr>
          <p:cNvSpPr>
            <a:spLocks noGrp="1"/>
          </p:cNvSpPr>
          <p:nvPr>
            <p:ph type="sldNum" sz="quarter" idx="12"/>
          </p:nvPr>
        </p:nvSpPr>
        <p:spPr/>
        <p:txBody>
          <a:bodyPr/>
          <a:lstStyle>
            <a:lvl1pPr>
              <a:defRPr/>
            </a:lvl1pPr>
          </a:lstStyle>
          <a:p>
            <a:fld id="{C1CC986D-1AC2-4136-9859-FECC3E033F68}" type="slidenum">
              <a:rPr lang="en-US" altLang="zh-CN"/>
              <a:pPr/>
              <a:t>‹#›</a:t>
            </a:fld>
            <a:endParaRPr lang="en-US" altLang="zh-CN"/>
          </a:p>
        </p:txBody>
      </p:sp>
    </p:spTree>
    <p:extLst>
      <p:ext uri="{BB962C8B-B14F-4D97-AF65-F5344CB8AC3E}">
        <p14:creationId xmlns:p14="http://schemas.microsoft.com/office/powerpoint/2010/main" val="3281680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8AF0DA-82F1-70DC-B613-02C33B3386A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5B2A52-EC53-2841-B259-7C89DF0D4407}"/>
              </a:ext>
            </a:extLst>
          </p:cNvPr>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F3AFA52-B811-DA7F-BC08-890A572C8307}"/>
              </a:ext>
            </a:extLst>
          </p:cNvPr>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8031A81-6763-8359-8AC2-7749BFB4FA5B}"/>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95B762A0-2748-A64A-CF92-437E13788D73}"/>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2A153266-AB42-34CA-EDEF-0F51AB426DA7}"/>
              </a:ext>
            </a:extLst>
          </p:cNvPr>
          <p:cNvSpPr>
            <a:spLocks noGrp="1"/>
          </p:cNvSpPr>
          <p:nvPr>
            <p:ph type="sldNum" sz="quarter" idx="12"/>
          </p:nvPr>
        </p:nvSpPr>
        <p:spPr/>
        <p:txBody>
          <a:bodyPr/>
          <a:lstStyle>
            <a:lvl1pPr>
              <a:defRPr/>
            </a:lvl1pPr>
          </a:lstStyle>
          <a:p>
            <a:fld id="{0413CEEC-8DA7-4891-B695-279312849816}" type="slidenum">
              <a:rPr lang="en-US" altLang="zh-CN"/>
              <a:pPr/>
              <a:t>‹#›</a:t>
            </a:fld>
            <a:endParaRPr lang="en-US" altLang="zh-CN"/>
          </a:p>
        </p:txBody>
      </p:sp>
    </p:spTree>
    <p:extLst>
      <p:ext uri="{BB962C8B-B14F-4D97-AF65-F5344CB8AC3E}">
        <p14:creationId xmlns:p14="http://schemas.microsoft.com/office/powerpoint/2010/main" val="1078047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760768-61C1-E30C-8C3C-79F3FDF5BE27}"/>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0AF93D2-88FA-4928-D414-94202CDF8345}"/>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BE8655C-7E3E-C03D-E2CD-230E2206D5C8}"/>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0F49EB4-4526-FD21-8D9B-065CCE746ACA}"/>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D237575F-E72E-6282-A352-5A3D5BF97B9F}"/>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658C8ED-B09F-382D-6187-C2FBCD9A1E39}"/>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8" name="页脚占位符 7">
            <a:extLst>
              <a:ext uri="{FF2B5EF4-FFF2-40B4-BE49-F238E27FC236}">
                <a16:creationId xmlns:a16="http://schemas.microsoft.com/office/drawing/2014/main" id="{9E0B6D67-7433-9EB9-3875-E0D0F6D1F125}"/>
              </a:ext>
            </a:extLst>
          </p:cNvPr>
          <p:cNvSpPr>
            <a:spLocks noGrp="1"/>
          </p:cNvSpPr>
          <p:nvPr>
            <p:ph type="ftr" sz="quarter" idx="11"/>
          </p:nvPr>
        </p:nvSpPr>
        <p:spPr/>
        <p:txBody>
          <a:bodyPr/>
          <a:lstStyle>
            <a:lvl1pPr>
              <a:defRPr/>
            </a:lvl1pPr>
          </a:lstStyle>
          <a:p>
            <a:r>
              <a:rPr lang="en-US" altLang="zh-CN"/>
              <a:t>管理学</a:t>
            </a:r>
          </a:p>
        </p:txBody>
      </p:sp>
      <p:sp>
        <p:nvSpPr>
          <p:cNvPr id="9" name="灯片编号占位符 8">
            <a:extLst>
              <a:ext uri="{FF2B5EF4-FFF2-40B4-BE49-F238E27FC236}">
                <a16:creationId xmlns:a16="http://schemas.microsoft.com/office/drawing/2014/main" id="{50EB5F19-B0F5-79B9-0D38-0D34920511F3}"/>
              </a:ext>
            </a:extLst>
          </p:cNvPr>
          <p:cNvSpPr>
            <a:spLocks noGrp="1"/>
          </p:cNvSpPr>
          <p:nvPr>
            <p:ph type="sldNum" sz="quarter" idx="12"/>
          </p:nvPr>
        </p:nvSpPr>
        <p:spPr/>
        <p:txBody>
          <a:bodyPr/>
          <a:lstStyle>
            <a:lvl1pPr>
              <a:defRPr/>
            </a:lvl1pPr>
          </a:lstStyle>
          <a:p>
            <a:fld id="{673CD0E3-A3C4-4F57-A131-C950DD2E7DE9}" type="slidenum">
              <a:rPr lang="en-US" altLang="zh-CN"/>
              <a:pPr/>
              <a:t>‹#›</a:t>
            </a:fld>
            <a:endParaRPr lang="en-US" altLang="zh-CN"/>
          </a:p>
        </p:txBody>
      </p:sp>
    </p:spTree>
    <p:extLst>
      <p:ext uri="{BB962C8B-B14F-4D97-AF65-F5344CB8AC3E}">
        <p14:creationId xmlns:p14="http://schemas.microsoft.com/office/powerpoint/2010/main" val="3942838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287508-4A3C-D3C8-4101-F42689D0F15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3A98841-DB57-0959-A4C6-57A8123FFF33}"/>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73D05C0F-3051-4C96-C9BD-262A0126CCB9}"/>
              </a:ext>
            </a:extLst>
          </p:cNvPr>
          <p:cNvSpPr>
            <a:spLocks noGrp="1"/>
          </p:cNvSpPr>
          <p:nvPr>
            <p:ph type="ftr" sz="quarter" idx="11"/>
          </p:nvPr>
        </p:nvSpPr>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5CDCC564-9A11-78CE-1F98-8742EEA99631}"/>
              </a:ext>
            </a:extLst>
          </p:cNvPr>
          <p:cNvSpPr>
            <a:spLocks noGrp="1"/>
          </p:cNvSpPr>
          <p:nvPr>
            <p:ph type="sldNum" sz="quarter" idx="12"/>
          </p:nvPr>
        </p:nvSpPr>
        <p:spPr/>
        <p:txBody>
          <a:bodyPr/>
          <a:lstStyle>
            <a:lvl1pPr>
              <a:defRPr/>
            </a:lvl1pPr>
          </a:lstStyle>
          <a:p>
            <a:fld id="{D09172FD-F320-4CF3-9BE8-4ED89054F258}" type="slidenum">
              <a:rPr lang="en-US" altLang="zh-CN"/>
              <a:pPr/>
              <a:t>‹#›</a:t>
            </a:fld>
            <a:endParaRPr lang="en-US" altLang="zh-CN"/>
          </a:p>
        </p:txBody>
      </p:sp>
    </p:spTree>
    <p:extLst>
      <p:ext uri="{BB962C8B-B14F-4D97-AF65-F5344CB8AC3E}">
        <p14:creationId xmlns:p14="http://schemas.microsoft.com/office/powerpoint/2010/main" val="667221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1726A42-CA50-B007-3F84-596C4419A28F}"/>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3" name="页脚占位符 2">
            <a:extLst>
              <a:ext uri="{FF2B5EF4-FFF2-40B4-BE49-F238E27FC236}">
                <a16:creationId xmlns:a16="http://schemas.microsoft.com/office/drawing/2014/main" id="{453E8D3B-EF19-7E75-E332-EAC57A99C3E0}"/>
              </a:ext>
            </a:extLst>
          </p:cNvPr>
          <p:cNvSpPr>
            <a:spLocks noGrp="1"/>
          </p:cNvSpPr>
          <p:nvPr>
            <p:ph type="ftr" sz="quarter" idx="11"/>
          </p:nvPr>
        </p:nvSpPr>
        <p:spPr/>
        <p:txBody>
          <a:bodyPr/>
          <a:lstStyle>
            <a:lvl1pPr>
              <a:defRPr/>
            </a:lvl1pPr>
          </a:lstStyle>
          <a:p>
            <a:r>
              <a:rPr lang="en-US" altLang="zh-CN"/>
              <a:t>管理学</a:t>
            </a:r>
          </a:p>
        </p:txBody>
      </p:sp>
      <p:sp>
        <p:nvSpPr>
          <p:cNvPr id="4" name="灯片编号占位符 3">
            <a:extLst>
              <a:ext uri="{FF2B5EF4-FFF2-40B4-BE49-F238E27FC236}">
                <a16:creationId xmlns:a16="http://schemas.microsoft.com/office/drawing/2014/main" id="{84B0EE79-488D-8930-4F5B-A6CE30ED19A8}"/>
              </a:ext>
            </a:extLst>
          </p:cNvPr>
          <p:cNvSpPr>
            <a:spLocks noGrp="1"/>
          </p:cNvSpPr>
          <p:nvPr>
            <p:ph type="sldNum" sz="quarter" idx="12"/>
          </p:nvPr>
        </p:nvSpPr>
        <p:spPr/>
        <p:txBody>
          <a:bodyPr/>
          <a:lstStyle>
            <a:lvl1pPr>
              <a:defRPr/>
            </a:lvl1pPr>
          </a:lstStyle>
          <a:p>
            <a:fld id="{B01806D2-3AE2-4229-BBBF-DAAC39D4430D}" type="slidenum">
              <a:rPr lang="en-US" altLang="zh-CN"/>
              <a:pPr/>
              <a:t>‹#›</a:t>
            </a:fld>
            <a:endParaRPr lang="en-US" altLang="zh-CN"/>
          </a:p>
        </p:txBody>
      </p:sp>
    </p:spTree>
    <p:extLst>
      <p:ext uri="{BB962C8B-B14F-4D97-AF65-F5344CB8AC3E}">
        <p14:creationId xmlns:p14="http://schemas.microsoft.com/office/powerpoint/2010/main" val="3457622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7E1E24-C4A8-2886-576C-30E67AF54BBE}"/>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8945A06-DDFF-1F18-A6AA-033B376134D5}"/>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6962BAC-AC84-FA54-FEF3-A352251F812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FAE675B-C9D4-B149-08F1-35D204780088}"/>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8B82265C-67F1-7339-5370-595B07489B28}"/>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DAD2B9FB-6A8E-F786-AF38-01136A64E495}"/>
              </a:ext>
            </a:extLst>
          </p:cNvPr>
          <p:cNvSpPr>
            <a:spLocks noGrp="1"/>
          </p:cNvSpPr>
          <p:nvPr>
            <p:ph type="sldNum" sz="quarter" idx="12"/>
          </p:nvPr>
        </p:nvSpPr>
        <p:spPr/>
        <p:txBody>
          <a:bodyPr/>
          <a:lstStyle>
            <a:lvl1pPr>
              <a:defRPr/>
            </a:lvl1pPr>
          </a:lstStyle>
          <a:p>
            <a:fld id="{418B0A21-872E-4040-823B-10DE88B56961}" type="slidenum">
              <a:rPr lang="en-US" altLang="zh-CN"/>
              <a:pPr/>
              <a:t>‹#›</a:t>
            </a:fld>
            <a:endParaRPr lang="en-US" altLang="zh-CN"/>
          </a:p>
        </p:txBody>
      </p:sp>
    </p:spTree>
    <p:extLst>
      <p:ext uri="{BB962C8B-B14F-4D97-AF65-F5344CB8AC3E}">
        <p14:creationId xmlns:p14="http://schemas.microsoft.com/office/powerpoint/2010/main" val="345954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C50939-8790-070A-4596-47A10134CD32}"/>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30BA455-DD8F-A1F4-27CF-1C879A3545F3}"/>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B130921-CAA6-9818-9A3E-2D046BEB18D7}"/>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8E9F9C5-9591-B157-E3CE-69A34DA6FF8A}"/>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6" name="页脚占位符 5">
            <a:extLst>
              <a:ext uri="{FF2B5EF4-FFF2-40B4-BE49-F238E27FC236}">
                <a16:creationId xmlns:a16="http://schemas.microsoft.com/office/drawing/2014/main" id="{279411A3-2122-27D0-2E1F-A9D57DC58FC1}"/>
              </a:ext>
            </a:extLst>
          </p:cNvPr>
          <p:cNvSpPr>
            <a:spLocks noGrp="1"/>
          </p:cNvSpPr>
          <p:nvPr>
            <p:ph type="ftr" sz="quarter" idx="11"/>
          </p:nvPr>
        </p:nvSpPr>
        <p:spPr/>
        <p:txBody>
          <a:bodyPr/>
          <a:lstStyle>
            <a:lvl1pPr>
              <a:defRPr/>
            </a:lvl1pPr>
          </a:lstStyle>
          <a:p>
            <a:r>
              <a:rPr lang="en-US" altLang="zh-CN"/>
              <a:t>管理学</a:t>
            </a:r>
          </a:p>
        </p:txBody>
      </p:sp>
      <p:sp>
        <p:nvSpPr>
          <p:cNvPr id="7" name="灯片编号占位符 6">
            <a:extLst>
              <a:ext uri="{FF2B5EF4-FFF2-40B4-BE49-F238E27FC236}">
                <a16:creationId xmlns:a16="http://schemas.microsoft.com/office/drawing/2014/main" id="{988F6F2E-5696-2FF3-18DE-787C7D98D2D4}"/>
              </a:ext>
            </a:extLst>
          </p:cNvPr>
          <p:cNvSpPr>
            <a:spLocks noGrp="1"/>
          </p:cNvSpPr>
          <p:nvPr>
            <p:ph type="sldNum" sz="quarter" idx="12"/>
          </p:nvPr>
        </p:nvSpPr>
        <p:spPr/>
        <p:txBody>
          <a:bodyPr/>
          <a:lstStyle>
            <a:lvl1pPr>
              <a:defRPr/>
            </a:lvl1pPr>
          </a:lstStyle>
          <a:p>
            <a:fld id="{006900BD-46CA-4B95-AFE8-4C6F3EEDF228}" type="slidenum">
              <a:rPr lang="en-US" altLang="zh-CN"/>
              <a:pPr/>
              <a:t>‹#›</a:t>
            </a:fld>
            <a:endParaRPr lang="en-US" altLang="zh-CN"/>
          </a:p>
        </p:txBody>
      </p:sp>
    </p:spTree>
    <p:extLst>
      <p:ext uri="{BB962C8B-B14F-4D97-AF65-F5344CB8AC3E}">
        <p14:creationId xmlns:p14="http://schemas.microsoft.com/office/powerpoint/2010/main" val="3192926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AEF5F3-4CBB-5600-8E0C-CF4BD28BBF8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96CECE08-2CF4-7B1D-C440-49C17155157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C807B6-51BA-9888-A61F-A8308FF72099}"/>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39DFA70C-32F5-6185-6AAB-7B362BF6E3FC}"/>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E740D1E8-C745-929A-ACD5-9536F5E1E44C}"/>
              </a:ext>
            </a:extLst>
          </p:cNvPr>
          <p:cNvSpPr>
            <a:spLocks noGrp="1"/>
          </p:cNvSpPr>
          <p:nvPr>
            <p:ph type="sldNum" sz="quarter" idx="12"/>
          </p:nvPr>
        </p:nvSpPr>
        <p:spPr/>
        <p:txBody>
          <a:bodyPr/>
          <a:lstStyle>
            <a:lvl1pPr>
              <a:defRPr/>
            </a:lvl1pPr>
          </a:lstStyle>
          <a:p>
            <a:fld id="{722BB267-67E7-4A78-BECC-FFDA8628869E}" type="slidenum">
              <a:rPr lang="en-US" altLang="zh-CN"/>
              <a:pPr/>
              <a:t>‹#›</a:t>
            </a:fld>
            <a:endParaRPr lang="en-US" altLang="zh-CN"/>
          </a:p>
        </p:txBody>
      </p:sp>
    </p:spTree>
    <p:extLst>
      <p:ext uri="{BB962C8B-B14F-4D97-AF65-F5344CB8AC3E}">
        <p14:creationId xmlns:p14="http://schemas.microsoft.com/office/powerpoint/2010/main" val="16291986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B6231B-4725-ECEE-D9D7-46E28322DDAB}"/>
              </a:ext>
            </a:extLst>
          </p:cNvPr>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7F3FAD1-2CD1-ED70-B000-E0074E50CD67}"/>
              </a:ext>
            </a:extLst>
          </p:cNvPr>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4BC536-8BF9-3957-B9E9-64C61B815B37}"/>
              </a:ext>
            </a:extLst>
          </p:cNvPr>
          <p:cNvSpPr>
            <a:spLocks noGrp="1"/>
          </p:cNvSpPr>
          <p:nvPr>
            <p:ph type="dt" sz="half" idx="10"/>
          </p:nvPr>
        </p:nvSpPr>
        <p:spPr/>
        <p:txBody>
          <a:bodyPr/>
          <a:lstStyle>
            <a:lvl1pPr>
              <a:defRPr/>
            </a:lvl1pPr>
          </a:lstStyle>
          <a:p>
            <a:r>
              <a:rPr lang="zh-CN" altLang="en-US"/>
              <a:t>版本：2004</a:t>
            </a:r>
            <a:endParaRPr lang="en-US" altLang="zh-CN"/>
          </a:p>
        </p:txBody>
      </p:sp>
      <p:sp>
        <p:nvSpPr>
          <p:cNvPr id="5" name="页脚占位符 4">
            <a:extLst>
              <a:ext uri="{FF2B5EF4-FFF2-40B4-BE49-F238E27FC236}">
                <a16:creationId xmlns:a16="http://schemas.microsoft.com/office/drawing/2014/main" id="{12D4FD45-9013-ED48-A0CD-FB111A50C8FE}"/>
              </a:ext>
            </a:extLst>
          </p:cNvPr>
          <p:cNvSpPr>
            <a:spLocks noGrp="1"/>
          </p:cNvSpPr>
          <p:nvPr>
            <p:ph type="ftr" sz="quarter" idx="11"/>
          </p:nvPr>
        </p:nvSpPr>
        <p:spPr/>
        <p:txBody>
          <a:bodyPr/>
          <a:lstStyle>
            <a:lvl1pPr>
              <a:defRPr/>
            </a:lvl1pPr>
          </a:lstStyle>
          <a:p>
            <a:r>
              <a:rPr lang="en-US" altLang="zh-CN"/>
              <a:t>管理学</a:t>
            </a:r>
          </a:p>
        </p:txBody>
      </p:sp>
      <p:sp>
        <p:nvSpPr>
          <p:cNvPr id="6" name="灯片编号占位符 5">
            <a:extLst>
              <a:ext uri="{FF2B5EF4-FFF2-40B4-BE49-F238E27FC236}">
                <a16:creationId xmlns:a16="http://schemas.microsoft.com/office/drawing/2014/main" id="{044DEB46-2DB1-BFA4-79A9-B4B8D3ECAD2C}"/>
              </a:ext>
            </a:extLst>
          </p:cNvPr>
          <p:cNvSpPr>
            <a:spLocks noGrp="1"/>
          </p:cNvSpPr>
          <p:nvPr>
            <p:ph type="sldNum" sz="quarter" idx="12"/>
          </p:nvPr>
        </p:nvSpPr>
        <p:spPr/>
        <p:txBody>
          <a:bodyPr/>
          <a:lstStyle>
            <a:lvl1pPr>
              <a:defRPr/>
            </a:lvl1pPr>
          </a:lstStyle>
          <a:p>
            <a:fld id="{B658FFED-225F-477C-9C96-109AA38DCA10}" type="slidenum">
              <a:rPr lang="en-US" altLang="zh-CN"/>
              <a:pPr/>
              <a:t>‹#›</a:t>
            </a:fld>
            <a:endParaRPr lang="en-US" altLang="zh-CN"/>
          </a:p>
        </p:txBody>
      </p:sp>
    </p:spTree>
    <p:extLst>
      <p:ext uri="{BB962C8B-B14F-4D97-AF65-F5344CB8AC3E}">
        <p14:creationId xmlns:p14="http://schemas.microsoft.com/office/powerpoint/2010/main" val="3278803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5EDF4AFE-63F1-4D4F-7384-A76AD444695B}"/>
              </a:ext>
            </a:extLst>
          </p:cNvPr>
          <p:cNvSpPr>
            <a:spLocks noGrp="1"/>
          </p:cNvSpPr>
          <p:nvPr>
            <p:ph/>
          </p:nvPr>
        </p:nvSpPr>
        <p:spPr>
          <a:xfrm>
            <a:off x="457200" y="274638"/>
            <a:ext cx="8229600" cy="585152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3" name="日期占位符 2">
            <a:extLst>
              <a:ext uri="{FF2B5EF4-FFF2-40B4-BE49-F238E27FC236}">
                <a16:creationId xmlns:a16="http://schemas.microsoft.com/office/drawing/2014/main" id="{ECDB2363-43DE-4A3F-9C80-5E2761992D37}"/>
              </a:ext>
            </a:extLst>
          </p:cNvPr>
          <p:cNvSpPr>
            <a:spLocks noGrp="1"/>
          </p:cNvSpPr>
          <p:nvPr>
            <p:ph type="dt" sz="half" idx="10"/>
          </p:nvPr>
        </p:nvSpPr>
        <p:spPr>
          <a:xfrm>
            <a:off x="457200" y="6245225"/>
            <a:ext cx="2133600" cy="476250"/>
          </a:xfrm>
        </p:spPr>
        <p:txBody>
          <a:bodyPr/>
          <a:lstStyle>
            <a:lvl1pPr>
              <a:defRPr/>
            </a:lvl1pPr>
          </a:lstStyle>
          <a:p>
            <a:r>
              <a:rPr lang="zh-CN" altLang="en-US"/>
              <a:t>版本：2004</a:t>
            </a:r>
            <a:endParaRPr lang="en-US" altLang="zh-CN"/>
          </a:p>
        </p:txBody>
      </p:sp>
      <p:sp>
        <p:nvSpPr>
          <p:cNvPr id="4" name="页脚占位符 3">
            <a:extLst>
              <a:ext uri="{FF2B5EF4-FFF2-40B4-BE49-F238E27FC236}">
                <a16:creationId xmlns:a16="http://schemas.microsoft.com/office/drawing/2014/main" id="{38A4E0F6-89AD-6DB5-B170-11B1FBEF3ACF}"/>
              </a:ext>
            </a:extLst>
          </p:cNvPr>
          <p:cNvSpPr>
            <a:spLocks noGrp="1"/>
          </p:cNvSpPr>
          <p:nvPr>
            <p:ph type="ftr" sz="quarter" idx="11"/>
          </p:nvPr>
        </p:nvSpPr>
        <p:spPr>
          <a:xfrm>
            <a:off x="3124200" y="6245225"/>
            <a:ext cx="2895600" cy="476250"/>
          </a:xfrm>
        </p:spPr>
        <p:txBody>
          <a:bodyPr/>
          <a:lstStyle>
            <a:lvl1pPr>
              <a:defRPr/>
            </a:lvl1pPr>
          </a:lstStyle>
          <a:p>
            <a:r>
              <a:rPr lang="en-US" altLang="zh-CN"/>
              <a:t>管理学</a:t>
            </a:r>
          </a:p>
        </p:txBody>
      </p:sp>
      <p:sp>
        <p:nvSpPr>
          <p:cNvPr id="5" name="灯片编号占位符 4">
            <a:extLst>
              <a:ext uri="{FF2B5EF4-FFF2-40B4-BE49-F238E27FC236}">
                <a16:creationId xmlns:a16="http://schemas.microsoft.com/office/drawing/2014/main" id="{81D74CFB-8B0E-481B-E19A-D62FD64B7CE5}"/>
              </a:ext>
            </a:extLst>
          </p:cNvPr>
          <p:cNvSpPr>
            <a:spLocks noGrp="1"/>
          </p:cNvSpPr>
          <p:nvPr>
            <p:ph type="sldNum" sz="quarter" idx="12"/>
          </p:nvPr>
        </p:nvSpPr>
        <p:spPr>
          <a:xfrm>
            <a:off x="6553200" y="6245225"/>
            <a:ext cx="2133600" cy="476250"/>
          </a:xfrm>
        </p:spPr>
        <p:txBody>
          <a:bodyPr/>
          <a:lstStyle>
            <a:lvl1pPr>
              <a:defRPr/>
            </a:lvl1pPr>
          </a:lstStyle>
          <a:p>
            <a:fld id="{16CD147F-E43A-4AEA-8FB7-387A90F5759A}" type="slidenum">
              <a:rPr lang="en-US" altLang="zh-CN"/>
              <a:pPr/>
              <a:t>‹#›</a:t>
            </a:fld>
            <a:endParaRPr lang="en-US" altLang="zh-CN"/>
          </a:p>
        </p:txBody>
      </p:sp>
    </p:spTree>
    <p:extLst>
      <p:ext uri="{BB962C8B-B14F-4D97-AF65-F5344CB8AC3E}">
        <p14:creationId xmlns:p14="http://schemas.microsoft.com/office/powerpoint/2010/main" val="3913400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10DC371-B4BF-3433-0892-4886C6F5191F}"/>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84995" name="Rectangle 3">
            <a:extLst>
              <a:ext uri="{FF2B5EF4-FFF2-40B4-BE49-F238E27FC236}">
                <a16:creationId xmlns:a16="http://schemas.microsoft.com/office/drawing/2014/main" id="{7286A86B-DDF3-7DA1-0A34-B831BEAF83B7}"/>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4996" name="Rectangle 4">
            <a:extLst>
              <a:ext uri="{FF2B5EF4-FFF2-40B4-BE49-F238E27FC236}">
                <a16:creationId xmlns:a16="http://schemas.microsoft.com/office/drawing/2014/main" id="{B60FE62B-90A7-44AF-EEAB-BAE2D02073F3}"/>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r>
              <a:rPr lang="zh-CN" altLang="en-US"/>
              <a:t>版本：2004</a:t>
            </a:r>
            <a:endParaRPr lang="en-US" altLang="zh-CN"/>
          </a:p>
        </p:txBody>
      </p:sp>
      <p:sp>
        <p:nvSpPr>
          <p:cNvPr id="84997" name="Rectangle 5">
            <a:extLst>
              <a:ext uri="{FF2B5EF4-FFF2-40B4-BE49-F238E27FC236}">
                <a16:creationId xmlns:a16="http://schemas.microsoft.com/office/drawing/2014/main" id="{DEAA35C2-2BDA-8A30-2035-0529FFA6695B}"/>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ltLang="zh-CN"/>
              <a:t>管理学</a:t>
            </a:r>
          </a:p>
        </p:txBody>
      </p:sp>
      <p:sp>
        <p:nvSpPr>
          <p:cNvPr id="84998" name="Rectangle 6">
            <a:extLst>
              <a:ext uri="{FF2B5EF4-FFF2-40B4-BE49-F238E27FC236}">
                <a16:creationId xmlns:a16="http://schemas.microsoft.com/office/drawing/2014/main" id="{18DCAA8D-0FB3-C1A9-9558-DC04E36729D7}"/>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AFF0AC75-7538-4154-817D-86A0976B0B81}"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hf hdr="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Rectangle 4">
            <a:extLst>
              <a:ext uri="{FF2B5EF4-FFF2-40B4-BE49-F238E27FC236}">
                <a16:creationId xmlns:a16="http://schemas.microsoft.com/office/drawing/2014/main" id="{CD2EAA6A-3D43-FC79-CACC-24F474FB8C54}"/>
              </a:ext>
            </a:extLst>
          </p:cNvPr>
          <p:cNvSpPr>
            <a:spLocks noGrp="1" noChangeArrowheads="1"/>
          </p:cNvSpPr>
          <p:nvPr>
            <p:ph type="ctrTitle"/>
          </p:nvPr>
        </p:nvSpPr>
        <p:spPr>
          <a:xfrm>
            <a:off x="685800" y="2130425"/>
            <a:ext cx="7772400" cy="1470025"/>
          </a:xfrm>
        </p:spPr>
        <p:txBody>
          <a:bodyPr anchor="ctr"/>
          <a:lstStyle/>
          <a:p>
            <a:r>
              <a:rPr lang="zh-CN" altLang="en-US" sz="4400">
                <a:latin typeface="华文行楷" panose="02010800040101010101" pitchFamily="2" charset="-122"/>
                <a:ea typeface="华文行楷" panose="02010800040101010101" pitchFamily="2" charset="-122"/>
              </a:rPr>
              <a:t>第</a:t>
            </a:r>
            <a:r>
              <a:rPr lang="en-US" altLang="zh-CN" sz="4400">
                <a:latin typeface="华文行楷" panose="02010800040101010101" pitchFamily="2" charset="-122"/>
                <a:ea typeface="华文行楷" panose="02010800040101010101" pitchFamily="2" charset="-122"/>
              </a:rPr>
              <a:t>5</a:t>
            </a:r>
            <a:r>
              <a:rPr lang="zh-CN" altLang="en-US" sz="4400">
                <a:latin typeface="华文行楷" panose="02010800040101010101" pitchFamily="2" charset="-122"/>
                <a:ea typeface="华文行楷" panose="02010800040101010101" pitchFamily="2" charset="-122"/>
              </a:rPr>
              <a:t>章 目标与目标管理</a:t>
            </a:r>
          </a:p>
        </p:txBody>
      </p:sp>
      <p:sp>
        <p:nvSpPr>
          <p:cNvPr id="87045" name="Rectangle 5">
            <a:extLst>
              <a:ext uri="{FF2B5EF4-FFF2-40B4-BE49-F238E27FC236}">
                <a16:creationId xmlns:a16="http://schemas.microsoft.com/office/drawing/2014/main" id="{916E742F-D25A-D8F5-5DBB-4A584DCBA247}"/>
              </a:ext>
            </a:extLst>
          </p:cNvPr>
          <p:cNvSpPr>
            <a:spLocks noGrp="1" noChangeArrowheads="1"/>
          </p:cNvSpPr>
          <p:nvPr>
            <p:ph type="subTitle" idx="1"/>
          </p:nvPr>
        </p:nvSpPr>
        <p:spPr>
          <a:xfrm>
            <a:off x="1371600" y="3886200"/>
            <a:ext cx="6400800" cy="1752600"/>
          </a:xfrm>
        </p:spPr>
        <p:txBody>
          <a:bodyPr/>
          <a:lstStyle/>
          <a:p>
            <a:r>
              <a:rPr lang="zh-CN" altLang="en-US" sz="3600">
                <a:latin typeface="华文行楷" panose="02010800040101010101" pitchFamily="2" charset="-122"/>
                <a:ea typeface="华文行楷" panose="02010800040101010101" pitchFamily="2" charset="-122"/>
              </a:rPr>
              <a:t>邵 冲</a:t>
            </a:r>
          </a:p>
          <a:p>
            <a:r>
              <a:rPr lang="zh-CN" altLang="en-US" sz="3600">
                <a:latin typeface="华文行楷" panose="02010800040101010101" pitchFamily="2" charset="-122"/>
                <a:ea typeface="华文行楷" panose="02010800040101010101" pitchFamily="2" charset="-122"/>
              </a:rPr>
              <a:t>中山大学管理学院</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8B2A1BB-86F4-42BD-E37C-3BF8E10E6579}"/>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B4EC1F83-9DC0-82D5-9FA9-359C8B7AB0D7}"/>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B8C2F824-FEC7-9D75-7CA8-37E77EFFC75C}"/>
              </a:ext>
            </a:extLst>
          </p:cNvPr>
          <p:cNvSpPr>
            <a:spLocks noGrp="1"/>
          </p:cNvSpPr>
          <p:nvPr>
            <p:ph type="sldNum" sz="quarter" idx="12"/>
          </p:nvPr>
        </p:nvSpPr>
        <p:spPr/>
        <p:txBody>
          <a:bodyPr/>
          <a:lstStyle/>
          <a:p>
            <a:fld id="{3CCFE761-9D16-4DC2-8B89-B432C307304D}" type="slidenum">
              <a:rPr lang="en-US" altLang="zh-CN"/>
              <a:pPr/>
              <a:t>2</a:t>
            </a:fld>
            <a:endParaRPr lang="en-US" altLang="zh-CN"/>
          </a:p>
        </p:txBody>
      </p:sp>
      <p:sp>
        <p:nvSpPr>
          <p:cNvPr id="3076" name="Text Box 4">
            <a:extLst>
              <a:ext uri="{FF2B5EF4-FFF2-40B4-BE49-F238E27FC236}">
                <a16:creationId xmlns:a16="http://schemas.microsoft.com/office/drawing/2014/main" id="{A9BE82FC-541C-7D69-3C3A-456211866056}"/>
              </a:ext>
            </a:extLst>
          </p:cNvPr>
          <p:cNvSpPr txBox="1">
            <a:spLocks noChangeArrowheads="1"/>
          </p:cNvSpPr>
          <p:nvPr/>
        </p:nvSpPr>
        <p:spPr bwMode="auto">
          <a:xfrm>
            <a:off x="1619250" y="908050"/>
            <a:ext cx="18002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800">
                <a:solidFill>
                  <a:schemeClr val="tx2"/>
                </a:solidFill>
              </a:rPr>
              <a:t>学习内容</a:t>
            </a:r>
          </a:p>
        </p:txBody>
      </p:sp>
      <p:sp>
        <p:nvSpPr>
          <p:cNvPr id="3077" name="Rectangle 5">
            <a:extLst>
              <a:ext uri="{FF2B5EF4-FFF2-40B4-BE49-F238E27FC236}">
                <a16:creationId xmlns:a16="http://schemas.microsoft.com/office/drawing/2014/main" id="{C7CEFC75-C0BE-58A8-046A-81C385FA2ABF}"/>
              </a:ext>
            </a:extLst>
          </p:cNvPr>
          <p:cNvSpPr>
            <a:spLocks noChangeArrowheads="1"/>
          </p:cNvSpPr>
          <p:nvPr/>
        </p:nvSpPr>
        <p:spPr bwMode="auto">
          <a:xfrm>
            <a:off x="1258888" y="1844675"/>
            <a:ext cx="2235200" cy="10080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组织的宗旨与使命</a:t>
            </a:r>
          </a:p>
        </p:txBody>
      </p:sp>
      <p:sp>
        <p:nvSpPr>
          <p:cNvPr id="3078" name="Rectangle 6">
            <a:extLst>
              <a:ext uri="{FF2B5EF4-FFF2-40B4-BE49-F238E27FC236}">
                <a16:creationId xmlns:a16="http://schemas.microsoft.com/office/drawing/2014/main" id="{D12409AE-84D6-1EAD-0DD9-EF2AFDBAA2E1}"/>
              </a:ext>
            </a:extLst>
          </p:cNvPr>
          <p:cNvSpPr>
            <a:spLocks noChangeArrowheads="1"/>
          </p:cNvSpPr>
          <p:nvPr/>
        </p:nvSpPr>
        <p:spPr bwMode="auto">
          <a:xfrm>
            <a:off x="4284663" y="1844675"/>
            <a:ext cx="2235200" cy="10080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目标</a:t>
            </a:r>
          </a:p>
        </p:txBody>
      </p:sp>
      <p:sp>
        <p:nvSpPr>
          <p:cNvPr id="3079" name="Rectangle 7">
            <a:extLst>
              <a:ext uri="{FF2B5EF4-FFF2-40B4-BE49-F238E27FC236}">
                <a16:creationId xmlns:a16="http://schemas.microsoft.com/office/drawing/2014/main" id="{5F16E8B4-19EB-4BA1-DA78-65EECB3D7A0A}"/>
              </a:ext>
            </a:extLst>
          </p:cNvPr>
          <p:cNvSpPr>
            <a:spLocks noChangeArrowheads="1"/>
          </p:cNvSpPr>
          <p:nvPr/>
        </p:nvSpPr>
        <p:spPr bwMode="auto">
          <a:xfrm>
            <a:off x="4284663" y="3644900"/>
            <a:ext cx="2235200" cy="1008063"/>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目标管理</a:t>
            </a:r>
          </a:p>
        </p:txBody>
      </p:sp>
      <p:sp>
        <p:nvSpPr>
          <p:cNvPr id="3082" name="Line 10">
            <a:extLst>
              <a:ext uri="{FF2B5EF4-FFF2-40B4-BE49-F238E27FC236}">
                <a16:creationId xmlns:a16="http://schemas.microsoft.com/office/drawing/2014/main" id="{D082B1C2-DFD8-FE97-B04E-EC1195BEB163}"/>
              </a:ext>
            </a:extLst>
          </p:cNvPr>
          <p:cNvSpPr>
            <a:spLocks noChangeShapeType="1"/>
          </p:cNvSpPr>
          <p:nvPr/>
        </p:nvSpPr>
        <p:spPr bwMode="auto">
          <a:xfrm>
            <a:off x="3492500" y="2349500"/>
            <a:ext cx="792163" cy="0"/>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3083" name="Line 11">
            <a:extLst>
              <a:ext uri="{FF2B5EF4-FFF2-40B4-BE49-F238E27FC236}">
                <a16:creationId xmlns:a16="http://schemas.microsoft.com/office/drawing/2014/main" id="{D4C5F0A6-8552-4C4B-1DC4-6F4D80EBA075}"/>
              </a:ext>
            </a:extLst>
          </p:cNvPr>
          <p:cNvSpPr>
            <a:spLocks noChangeShapeType="1"/>
          </p:cNvSpPr>
          <p:nvPr/>
        </p:nvSpPr>
        <p:spPr bwMode="auto">
          <a:xfrm>
            <a:off x="5435600" y="2852738"/>
            <a:ext cx="0" cy="792162"/>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Tree>
  </p:cSld>
  <p:clrMapOvr>
    <a:masterClrMapping/>
  </p:clrMapOvr>
  <p:transition>
    <p:blinds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EFA06C0-3AC3-D552-D7A7-F145FAAB8C27}"/>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82970C07-610F-2143-FFAE-EDB8BA52CF98}"/>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40E96DA4-A871-E270-D475-FCD8B5083767}"/>
              </a:ext>
            </a:extLst>
          </p:cNvPr>
          <p:cNvSpPr>
            <a:spLocks noGrp="1"/>
          </p:cNvSpPr>
          <p:nvPr>
            <p:ph type="sldNum" sz="quarter" idx="12"/>
          </p:nvPr>
        </p:nvSpPr>
        <p:spPr/>
        <p:txBody>
          <a:bodyPr/>
          <a:lstStyle/>
          <a:p>
            <a:fld id="{C223B529-6A0E-4715-84B0-CE86631B8F6C}" type="slidenum">
              <a:rPr lang="en-US" altLang="zh-CN"/>
              <a:pPr/>
              <a:t>3</a:t>
            </a:fld>
            <a:endParaRPr lang="en-US" altLang="zh-CN"/>
          </a:p>
        </p:txBody>
      </p:sp>
      <p:sp>
        <p:nvSpPr>
          <p:cNvPr id="64516" name="Rectangle 4">
            <a:extLst>
              <a:ext uri="{FF2B5EF4-FFF2-40B4-BE49-F238E27FC236}">
                <a16:creationId xmlns:a16="http://schemas.microsoft.com/office/drawing/2014/main" id="{8617027B-F858-49EC-C245-FEA2B30DD2D6}"/>
              </a:ext>
            </a:extLst>
          </p:cNvPr>
          <p:cNvSpPr>
            <a:spLocks noChangeArrowheads="1"/>
          </p:cNvSpPr>
          <p:nvPr/>
        </p:nvSpPr>
        <p:spPr bwMode="auto">
          <a:xfrm>
            <a:off x="179388" y="212725"/>
            <a:ext cx="20923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tx2"/>
                </a:solidFill>
              </a:rPr>
              <a:t>5.1</a:t>
            </a:r>
            <a:r>
              <a:rPr lang="zh-CN" altLang="en-US" sz="1600">
                <a:solidFill>
                  <a:schemeClr val="tx2"/>
                </a:solidFill>
              </a:rPr>
              <a:t>组织的宗旨与使命</a:t>
            </a:r>
          </a:p>
        </p:txBody>
      </p:sp>
      <p:graphicFrame>
        <p:nvGraphicFramePr>
          <p:cNvPr id="64586" name="Group 74">
            <a:extLst>
              <a:ext uri="{FF2B5EF4-FFF2-40B4-BE49-F238E27FC236}">
                <a16:creationId xmlns:a16="http://schemas.microsoft.com/office/drawing/2014/main" id="{A4E948C1-B33E-3E50-3C9F-0A42EE1E010B}"/>
              </a:ext>
            </a:extLst>
          </p:cNvPr>
          <p:cNvGraphicFramePr>
            <a:graphicFrameLocks noGrp="1"/>
          </p:cNvGraphicFramePr>
          <p:nvPr>
            <p:ph sz="half" idx="4294967295"/>
          </p:nvPr>
        </p:nvGraphicFramePr>
        <p:xfrm>
          <a:off x="539750" y="1268413"/>
          <a:ext cx="8208963" cy="1152525"/>
        </p:xfrm>
        <a:graphic>
          <a:graphicData uri="http://schemas.openxmlformats.org/drawingml/2006/table">
            <a:tbl>
              <a:tblPr/>
              <a:tblGrid>
                <a:gridCol w="1295400">
                  <a:extLst>
                    <a:ext uri="{9D8B030D-6E8A-4147-A177-3AD203B41FA5}">
                      <a16:colId xmlns:a16="http://schemas.microsoft.com/office/drawing/2014/main" val="1519938232"/>
                    </a:ext>
                  </a:extLst>
                </a:gridCol>
                <a:gridCol w="6913563">
                  <a:extLst>
                    <a:ext uri="{9D8B030D-6E8A-4147-A177-3AD203B41FA5}">
                      <a16:colId xmlns:a16="http://schemas.microsoft.com/office/drawing/2014/main" val="4129442389"/>
                    </a:ext>
                  </a:extLst>
                </a:gridCol>
              </a:tblGrid>
              <a:tr h="3841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宗旨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指组织的基本任务，它是组织存在的目的或基本理由。</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06119336"/>
                  </a:ext>
                </a:extLst>
              </a:tr>
              <a:tr h="3841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使命</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实现宗旨的方法。宗旨与使命之间仅有细微的差别。</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98886689"/>
                  </a:ext>
                </a:extLst>
              </a:tr>
              <a:tr h="3841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使命陈述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对组织基本任务的概括性声明，以与其他组织相区别。</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45336058"/>
                  </a:ext>
                </a:extLst>
              </a:tr>
            </a:tbl>
          </a:graphicData>
        </a:graphic>
      </p:graphicFrame>
      <p:graphicFrame>
        <p:nvGraphicFramePr>
          <p:cNvPr id="64589" name="Group 77">
            <a:extLst>
              <a:ext uri="{FF2B5EF4-FFF2-40B4-BE49-F238E27FC236}">
                <a16:creationId xmlns:a16="http://schemas.microsoft.com/office/drawing/2014/main" id="{EC4E9DCA-DFCB-4B90-E20C-54C81C9B74F7}"/>
              </a:ext>
            </a:extLst>
          </p:cNvPr>
          <p:cNvGraphicFramePr>
            <a:graphicFrameLocks noGrp="1"/>
          </p:cNvGraphicFramePr>
          <p:nvPr>
            <p:ph sz="half" idx="4294967295"/>
          </p:nvPr>
        </p:nvGraphicFramePr>
        <p:xfrm>
          <a:off x="539750" y="2492375"/>
          <a:ext cx="8208963" cy="3386138"/>
        </p:xfrm>
        <a:graphic>
          <a:graphicData uri="http://schemas.openxmlformats.org/drawingml/2006/table">
            <a:tbl>
              <a:tblPr/>
              <a:tblGrid>
                <a:gridCol w="792163">
                  <a:extLst>
                    <a:ext uri="{9D8B030D-6E8A-4147-A177-3AD203B41FA5}">
                      <a16:colId xmlns:a16="http://schemas.microsoft.com/office/drawing/2014/main" val="4280214919"/>
                    </a:ext>
                  </a:extLst>
                </a:gridCol>
                <a:gridCol w="7416800">
                  <a:extLst>
                    <a:ext uri="{9D8B030D-6E8A-4147-A177-3AD203B41FA5}">
                      <a16:colId xmlns:a16="http://schemas.microsoft.com/office/drawing/2014/main" val="1630452708"/>
                    </a:ext>
                  </a:extLst>
                </a:gridCol>
              </a:tblGrid>
              <a:tr h="5762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联想</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我们将以全面客户导向为原则，满足家庭、个人、中小企业、大行业大企业四类客户的需求，为其提供针对性的信息产品和服务。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72395334"/>
                  </a:ext>
                </a:extLst>
              </a:tr>
              <a:tr h="5270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长虹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本公司由单一的彩电产业发展为拥有电视、空调、视听、电池、器件、通讯、小家电及可视系统、娱乐科技、液晶显示、应用电视等产业的多元化、综合型跨国企业集团</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80138428"/>
                  </a:ext>
                </a:extLst>
              </a:tr>
              <a:tr h="5476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华为</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华为以产业报国和科教兴国为己任，以公司的发展为所在社区作出贡献。为伟大祖国的繁荣昌盛，为中华民族的振兴，为自己和家人的幸福而不懈努力。</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00906182"/>
                  </a:ext>
                </a:extLst>
              </a:tr>
              <a:tr h="5667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强生</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公司为减轻疼痛和疾病而存在；顾客第一，员工第二，社会第三，股东第四；论功行赏；分权＝创造力＝生产率。</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40500191"/>
                  </a:ext>
                </a:extLst>
              </a:tr>
              <a:tr h="7889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丽珠</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致力于人类生命常青的事业。以发展中国医药工业为己任，努力吸收全人类医药发展相关成果，再少数几个需求量大的药品领域，从事开发、生产、销售等相关业务，并力求拥有若干种药品的自主产权，成为中国医药行业的一流企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56352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F1E4DC9-9AB7-3576-D990-AAE6FFC62CE0}"/>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D7D5AAF9-71B0-A295-BE22-F917A257E87B}"/>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66141F55-EC40-6966-701B-609F22E37DB6}"/>
              </a:ext>
            </a:extLst>
          </p:cNvPr>
          <p:cNvSpPr>
            <a:spLocks noGrp="1"/>
          </p:cNvSpPr>
          <p:nvPr>
            <p:ph type="sldNum" sz="quarter" idx="12"/>
          </p:nvPr>
        </p:nvSpPr>
        <p:spPr/>
        <p:txBody>
          <a:bodyPr/>
          <a:lstStyle/>
          <a:p>
            <a:fld id="{FEE13D11-6C72-465A-9FCE-4539386CC035}" type="slidenum">
              <a:rPr lang="en-US" altLang="zh-CN"/>
              <a:pPr/>
              <a:t>4</a:t>
            </a:fld>
            <a:endParaRPr lang="en-US" altLang="zh-CN"/>
          </a:p>
        </p:txBody>
      </p:sp>
      <p:sp>
        <p:nvSpPr>
          <p:cNvPr id="99330" name="Text Box 2">
            <a:extLst>
              <a:ext uri="{FF2B5EF4-FFF2-40B4-BE49-F238E27FC236}">
                <a16:creationId xmlns:a16="http://schemas.microsoft.com/office/drawing/2014/main" id="{292ED4D7-C500-A9F8-FBCB-FA646F072A7B}"/>
              </a:ext>
            </a:extLst>
          </p:cNvPr>
          <p:cNvSpPr txBox="1">
            <a:spLocks noChangeArrowheads="1"/>
          </p:cNvSpPr>
          <p:nvPr/>
        </p:nvSpPr>
        <p:spPr bwMode="auto">
          <a:xfrm>
            <a:off x="3563938" y="3860800"/>
            <a:ext cx="2087562"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使命陈述的确定</a:t>
            </a:r>
          </a:p>
        </p:txBody>
      </p:sp>
      <p:sp>
        <p:nvSpPr>
          <p:cNvPr id="99331" name="Rectangle 3">
            <a:extLst>
              <a:ext uri="{FF2B5EF4-FFF2-40B4-BE49-F238E27FC236}">
                <a16:creationId xmlns:a16="http://schemas.microsoft.com/office/drawing/2014/main" id="{A6736F4C-97E9-DC77-0BC0-C1298E4DC7A4}"/>
              </a:ext>
            </a:extLst>
          </p:cNvPr>
          <p:cNvSpPr>
            <a:spLocks noChangeArrowheads="1"/>
          </p:cNvSpPr>
          <p:nvPr/>
        </p:nvSpPr>
        <p:spPr bwMode="auto">
          <a:xfrm>
            <a:off x="971550" y="2781300"/>
            <a:ext cx="1728788" cy="11509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r>
              <a:rPr lang="zh-CN" altLang="en-US"/>
              <a:t>我们的企业是</a:t>
            </a:r>
          </a:p>
          <a:p>
            <a:pPr algn="ctr"/>
            <a:r>
              <a:rPr lang="zh-CN" altLang="en-US"/>
              <a:t>什么？</a:t>
            </a:r>
          </a:p>
        </p:txBody>
      </p:sp>
      <p:sp>
        <p:nvSpPr>
          <p:cNvPr id="99332" name="Rectangle 4">
            <a:extLst>
              <a:ext uri="{FF2B5EF4-FFF2-40B4-BE49-F238E27FC236}">
                <a16:creationId xmlns:a16="http://schemas.microsoft.com/office/drawing/2014/main" id="{B8797557-DC2F-BA90-5477-1F1E9316A6F7}"/>
              </a:ext>
            </a:extLst>
          </p:cNvPr>
          <p:cNvSpPr>
            <a:spLocks noChangeArrowheads="1"/>
          </p:cNvSpPr>
          <p:nvPr/>
        </p:nvSpPr>
        <p:spPr bwMode="auto">
          <a:xfrm>
            <a:off x="3708400" y="2708275"/>
            <a:ext cx="1728788" cy="11509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r>
              <a:rPr lang="zh-CN" altLang="en-US"/>
              <a:t>我们的企业将</a:t>
            </a:r>
          </a:p>
          <a:p>
            <a:pPr algn="ctr"/>
            <a:r>
              <a:rPr lang="zh-CN" altLang="en-US"/>
              <a:t>是什么？</a:t>
            </a:r>
          </a:p>
        </p:txBody>
      </p:sp>
      <p:sp>
        <p:nvSpPr>
          <p:cNvPr id="99333" name="Rectangle 5">
            <a:extLst>
              <a:ext uri="{FF2B5EF4-FFF2-40B4-BE49-F238E27FC236}">
                <a16:creationId xmlns:a16="http://schemas.microsoft.com/office/drawing/2014/main" id="{E5C869AB-D522-2131-70E2-E7391950930A}"/>
              </a:ext>
            </a:extLst>
          </p:cNvPr>
          <p:cNvSpPr>
            <a:spLocks noChangeArrowheads="1"/>
          </p:cNvSpPr>
          <p:nvPr/>
        </p:nvSpPr>
        <p:spPr bwMode="auto">
          <a:xfrm>
            <a:off x="6516688" y="2708275"/>
            <a:ext cx="1728787" cy="115093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1.</a:t>
            </a:r>
            <a:r>
              <a:rPr lang="zh-CN" altLang="en-US"/>
              <a:t>我们的企业应</a:t>
            </a:r>
          </a:p>
          <a:p>
            <a:pPr algn="ctr"/>
            <a:r>
              <a:rPr lang="zh-CN" altLang="en-US"/>
              <a:t>该是什么？</a:t>
            </a:r>
          </a:p>
        </p:txBody>
      </p:sp>
      <p:sp>
        <p:nvSpPr>
          <p:cNvPr id="99334" name="Line 6">
            <a:extLst>
              <a:ext uri="{FF2B5EF4-FFF2-40B4-BE49-F238E27FC236}">
                <a16:creationId xmlns:a16="http://schemas.microsoft.com/office/drawing/2014/main" id="{319BFB76-87AE-F643-C9FA-F21B047A49CC}"/>
              </a:ext>
            </a:extLst>
          </p:cNvPr>
          <p:cNvSpPr>
            <a:spLocks noChangeShapeType="1"/>
          </p:cNvSpPr>
          <p:nvPr/>
        </p:nvSpPr>
        <p:spPr bwMode="auto">
          <a:xfrm>
            <a:off x="2700338" y="3357563"/>
            <a:ext cx="10080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35" name="Line 7">
            <a:extLst>
              <a:ext uri="{FF2B5EF4-FFF2-40B4-BE49-F238E27FC236}">
                <a16:creationId xmlns:a16="http://schemas.microsoft.com/office/drawing/2014/main" id="{B406D18F-A238-CFC0-4A62-9C2587FBD1B7}"/>
              </a:ext>
            </a:extLst>
          </p:cNvPr>
          <p:cNvSpPr>
            <a:spLocks noChangeShapeType="1"/>
          </p:cNvSpPr>
          <p:nvPr/>
        </p:nvSpPr>
        <p:spPr bwMode="auto">
          <a:xfrm>
            <a:off x="5435600" y="3357563"/>
            <a:ext cx="108108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9336" name="Text Box 8">
            <a:extLst>
              <a:ext uri="{FF2B5EF4-FFF2-40B4-BE49-F238E27FC236}">
                <a16:creationId xmlns:a16="http://schemas.microsoft.com/office/drawing/2014/main" id="{1D39198C-3E3B-41EC-5717-F90958E608AC}"/>
              </a:ext>
            </a:extLst>
          </p:cNvPr>
          <p:cNvSpPr txBox="1">
            <a:spLocks noChangeArrowheads="1"/>
          </p:cNvSpPr>
          <p:nvPr/>
        </p:nvSpPr>
        <p:spPr bwMode="auto">
          <a:xfrm>
            <a:off x="827088" y="4508500"/>
            <a:ext cx="5545137" cy="339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20000"/>
              </a:spcBef>
            </a:pPr>
            <a:r>
              <a:rPr lang="zh-CN" altLang="en-US"/>
              <a:t>企业使命的确定必须以顾客为中心，以市场为导向。</a:t>
            </a:r>
          </a:p>
        </p:txBody>
      </p:sp>
      <p:sp>
        <p:nvSpPr>
          <p:cNvPr id="99337" name="Rectangle 9">
            <a:extLst>
              <a:ext uri="{FF2B5EF4-FFF2-40B4-BE49-F238E27FC236}">
                <a16:creationId xmlns:a16="http://schemas.microsoft.com/office/drawing/2014/main" id="{E5A31144-A0B9-89AB-772E-2894B8C83E41}"/>
              </a:ext>
            </a:extLst>
          </p:cNvPr>
          <p:cNvSpPr>
            <a:spLocks noChangeArrowheads="1"/>
          </p:cNvSpPr>
          <p:nvPr/>
        </p:nvSpPr>
        <p:spPr bwMode="auto">
          <a:xfrm>
            <a:off x="179388" y="212725"/>
            <a:ext cx="20923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tx2"/>
                </a:solidFill>
              </a:rPr>
              <a:t>5.1</a:t>
            </a:r>
            <a:r>
              <a:rPr lang="zh-CN" altLang="en-US" sz="1600">
                <a:solidFill>
                  <a:schemeClr val="tx2"/>
                </a:solidFill>
              </a:rPr>
              <a:t>组织的宗旨与使命</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DD14C580-A17F-F7F8-82DE-EAA50FD70AF7}"/>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E8962E77-B6EF-865A-5182-59ADE948B825}"/>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F9DDDACF-3530-FC82-3828-900FB7355C44}"/>
              </a:ext>
            </a:extLst>
          </p:cNvPr>
          <p:cNvSpPr>
            <a:spLocks noGrp="1"/>
          </p:cNvSpPr>
          <p:nvPr>
            <p:ph type="sldNum" sz="quarter" idx="12"/>
          </p:nvPr>
        </p:nvSpPr>
        <p:spPr/>
        <p:txBody>
          <a:bodyPr/>
          <a:lstStyle/>
          <a:p>
            <a:fld id="{29C51857-115E-40CC-8AB8-6D21961656FF}" type="slidenum">
              <a:rPr lang="en-US" altLang="zh-CN"/>
              <a:pPr/>
              <a:t>5</a:t>
            </a:fld>
            <a:endParaRPr lang="en-US" altLang="zh-CN"/>
          </a:p>
        </p:txBody>
      </p:sp>
      <p:sp>
        <p:nvSpPr>
          <p:cNvPr id="66564" name="Text Box 4">
            <a:extLst>
              <a:ext uri="{FF2B5EF4-FFF2-40B4-BE49-F238E27FC236}">
                <a16:creationId xmlns:a16="http://schemas.microsoft.com/office/drawing/2014/main" id="{192130C5-2BAC-19B4-D000-894AFB97CCAC}"/>
              </a:ext>
            </a:extLst>
          </p:cNvPr>
          <p:cNvSpPr txBox="1">
            <a:spLocks noChangeArrowheads="1"/>
          </p:cNvSpPr>
          <p:nvPr/>
        </p:nvSpPr>
        <p:spPr bwMode="auto">
          <a:xfrm>
            <a:off x="3708400" y="692150"/>
            <a:ext cx="22320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使命陈述构成内容</a:t>
            </a:r>
          </a:p>
        </p:txBody>
      </p:sp>
      <p:graphicFrame>
        <p:nvGraphicFramePr>
          <p:cNvPr id="66621" name="Group 61">
            <a:extLst>
              <a:ext uri="{FF2B5EF4-FFF2-40B4-BE49-F238E27FC236}">
                <a16:creationId xmlns:a16="http://schemas.microsoft.com/office/drawing/2014/main" id="{0F52D863-11E7-61FB-2805-F7A77335EB28}"/>
              </a:ext>
            </a:extLst>
          </p:cNvPr>
          <p:cNvGraphicFramePr>
            <a:graphicFrameLocks noGrp="1"/>
          </p:cNvGraphicFramePr>
          <p:nvPr>
            <p:ph/>
          </p:nvPr>
        </p:nvGraphicFramePr>
        <p:xfrm>
          <a:off x="684213" y="1196975"/>
          <a:ext cx="7848600" cy="3849688"/>
        </p:xfrm>
        <a:graphic>
          <a:graphicData uri="http://schemas.openxmlformats.org/drawingml/2006/table">
            <a:tbl>
              <a:tblPr/>
              <a:tblGrid>
                <a:gridCol w="1838325">
                  <a:extLst>
                    <a:ext uri="{9D8B030D-6E8A-4147-A177-3AD203B41FA5}">
                      <a16:colId xmlns:a16="http://schemas.microsoft.com/office/drawing/2014/main" val="871451326"/>
                    </a:ext>
                  </a:extLst>
                </a:gridCol>
                <a:gridCol w="6010275">
                  <a:extLst>
                    <a:ext uri="{9D8B030D-6E8A-4147-A177-3AD203B41FA5}">
                      <a16:colId xmlns:a16="http://schemas.microsoft.com/office/drawing/2014/main" val="1606096233"/>
                    </a:ext>
                  </a:extLst>
                </a:gridCol>
              </a:tblGrid>
              <a:tr h="4286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顾客</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组织的顾客是准？</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44875673"/>
                  </a:ext>
                </a:extLst>
              </a:tr>
              <a:tr h="4270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产品或服务</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组织的主要产品或服务是什么？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2908611"/>
                  </a:ext>
                </a:extLst>
              </a:tr>
              <a:tr h="4286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位置</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组织在哪里竞争？</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11180355"/>
                  </a:ext>
                </a:extLst>
              </a:tr>
              <a:tr h="4270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技术</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组织的基本技术是什么？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11724659"/>
                  </a:ext>
                </a:extLst>
              </a:tr>
              <a:tr h="4270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对生存的关心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组织对组织目标的许诺是什么？</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09697169"/>
                  </a:ext>
                </a:extLst>
              </a:tr>
              <a:tr h="4270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哲学</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组织基本的信念、价值、抱负和哲学上优先考虑的事项是什么？</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0599904"/>
                  </a:ext>
                </a:extLst>
              </a:tr>
              <a:tr h="4286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自我观念</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组织的主要强势和竞争优势是什么？</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19870389"/>
                  </a:ext>
                </a:extLst>
              </a:tr>
              <a:tr h="4270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对公共形象的关心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组织的公共责任是什么？组织希望树立什么样的形象？</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79954256"/>
                  </a:ext>
                </a:extLst>
              </a:tr>
              <a:tr h="4286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对雇员的关心</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组织对其雇员的态度是什么？</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2214164"/>
                  </a:ext>
                </a:extLst>
              </a:tr>
            </a:tbl>
          </a:graphicData>
        </a:graphic>
      </p:graphicFrame>
      <p:sp>
        <p:nvSpPr>
          <p:cNvPr id="66622" name="Rectangle 62">
            <a:extLst>
              <a:ext uri="{FF2B5EF4-FFF2-40B4-BE49-F238E27FC236}">
                <a16:creationId xmlns:a16="http://schemas.microsoft.com/office/drawing/2014/main" id="{A84814BD-2C5D-669E-FE0E-3EB8B385778C}"/>
              </a:ext>
            </a:extLst>
          </p:cNvPr>
          <p:cNvSpPr>
            <a:spLocks noChangeArrowheads="1"/>
          </p:cNvSpPr>
          <p:nvPr/>
        </p:nvSpPr>
        <p:spPr bwMode="auto">
          <a:xfrm>
            <a:off x="179388" y="212725"/>
            <a:ext cx="20923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a:solidFill>
                  <a:schemeClr val="tx2"/>
                </a:solidFill>
              </a:rPr>
              <a:t>5.1</a:t>
            </a:r>
            <a:r>
              <a:rPr lang="zh-CN" altLang="en-US" sz="1600">
                <a:solidFill>
                  <a:schemeClr val="tx2"/>
                </a:solidFill>
              </a:rPr>
              <a:t>组织的宗旨与使命</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6940E690-FF5D-E9AD-A2AA-B6515C137C87}"/>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BEE59FDC-9715-385C-EBC2-9AA72E35EB85}"/>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66F9D9E8-795D-29CB-0699-BD8AF86E2FA3}"/>
              </a:ext>
            </a:extLst>
          </p:cNvPr>
          <p:cNvSpPr>
            <a:spLocks noGrp="1"/>
          </p:cNvSpPr>
          <p:nvPr>
            <p:ph type="sldNum" sz="quarter" idx="12"/>
          </p:nvPr>
        </p:nvSpPr>
        <p:spPr/>
        <p:txBody>
          <a:bodyPr/>
          <a:lstStyle/>
          <a:p>
            <a:fld id="{B6C169C5-B013-44E7-915E-091680884E3A}" type="slidenum">
              <a:rPr lang="en-US" altLang="zh-CN"/>
              <a:pPr/>
              <a:t>6</a:t>
            </a:fld>
            <a:endParaRPr lang="en-US" altLang="zh-CN"/>
          </a:p>
        </p:txBody>
      </p:sp>
      <p:sp>
        <p:nvSpPr>
          <p:cNvPr id="70660" name="Text Box 4">
            <a:extLst>
              <a:ext uri="{FF2B5EF4-FFF2-40B4-BE49-F238E27FC236}">
                <a16:creationId xmlns:a16="http://schemas.microsoft.com/office/drawing/2014/main" id="{1DE86FA4-7664-214B-B159-E9D2B2CF7A63}"/>
              </a:ext>
            </a:extLst>
          </p:cNvPr>
          <p:cNvSpPr txBox="1">
            <a:spLocks noChangeArrowheads="1"/>
          </p:cNvSpPr>
          <p:nvPr/>
        </p:nvSpPr>
        <p:spPr bwMode="auto">
          <a:xfrm>
            <a:off x="179388" y="188913"/>
            <a:ext cx="9350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5.2</a:t>
            </a:r>
            <a:r>
              <a:rPr lang="zh-CN" altLang="en-US" sz="1600"/>
              <a:t>目标</a:t>
            </a:r>
          </a:p>
        </p:txBody>
      </p:sp>
      <p:graphicFrame>
        <p:nvGraphicFramePr>
          <p:cNvPr id="70699" name="Group 43">
            <a:extLst>
              <a:ext uri="{FF2B5EF4-FFF2-40B4-BE49-F238E27FC236}">
                <a16:creationId xmlns:a16="http://schemas.microsoft.com/office/drawing/2014/main" id="{F54E7892-A816-3535-5B5D-FBDC5F3B76F7}"/>
              </a:ext>
            </a:extLst>
          </p:cNvPr>
          <p:cNvGraphicFramePr>
            <a:graphicFrameLocks noGrp="1"/>
          </p:cNvGraphicFramePr>
          <p:nvPr>
            <p:ph/>
          </p:nvPr>
        </p:nvGraphicFramePr>
        <p:xfrm>
          <a:off x="468313" y="1125538"/>
          <a:ext cx="8229600" cy="4733925"/>
        </p:xfrm>
        <a:graphic>
          <a:graphicData uri="http://schemas.openxmlformats.org/drawingml/2006/table">
            <a:tbl>
              <a:tblPr/>
              <a:tblGrid>
                <a:gridCol w="1593850">
                  <a:extLst>
                    <a:ext uri="{9D8B030D-6E8A-4147-A177-3AD203B41FA5}">
                      <a16:colId xmlns:a16="http://schemas.microsoft.com/office/drawing/2014/main" val="4289296594"/>
                    </a:ext>
                  </a:extLst>
                </a:gridCol>
                <a:gridCol w="6635750">
                  <a:extLst>
                    <a:ext uri="{9D8B030D-6E8A-4147-A177-3AD203B41FA5}">
                      <a16:colId xmlns:a16="http://schemas.microsoft.com/office/drawing/2014/main" val="4239303277"/>
                    </a:ext>
                  </a:extLst>
                </a:gridCol>
              </a:tblGrid>
              <a:tr h="11525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宋体" panose="02010600030101010101" pitchFamily="2" charset="-122"/>
                          <a:ea typeface="宋体" panose="02010600030101010101" pitchFamily="2" charset="-122"/>
                        </a:rPr>
                        <a:t>目标的性质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目标是指导组织和个人活动的最终目的，表示最终结果。</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目标是管理活动的始点，是决定任何行动的先决条件；目标也是管理活动的终点，是衡量各种行动是否合理的标志和尺度。</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目标需要通过一定的计划工作去确定。</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51676202"/>
                  </a:ext>
                </a:extLst>
              </a:tr>
              <a:tr h="10699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目标的作用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引导组织成员的行动方向；</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对组织成员具有激励作用；</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为控制和评价提供标准；</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使管理活动建立在计划的基础上。</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37994078"/>
                  </a:ext>
                </a:extLst>
              </a:tr>
              <a:tr h="8842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宋体" panose="02010600030101010101" pitchFamily="2" charset="-122"/>
                          <a:ea typeface="宋体" panose="02010600030101010101" pitchFamily="2" charset="-122"/>
                        </a:rPr>
                        <a:t>目标的特点</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目标的层次体系</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目标网络</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目标的多样性</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99760222"/>
                  </a:ext>
                </a:extLst>
              </a:tr>
              <a:tr h="10699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SMART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原则</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具体（</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specific</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可衡量（</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measurable</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可实现（</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attainable</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现实（</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realistic</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有时限（</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time-bound</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95407407"/>
                  </a:ext>
                </a:extLst>
              </a:tr>
            </a:tbl>
          </a:graphicData>
        </a:graphic>
      </p:graphicFrame>
      <p:sp>
        <p:nvSpPr>
          <p:cNvPr id="70700" name="Text Box 44">
            <a:extLst>
              <a:ext uri="{FF2B5EF4-FFF2-40B4-BE49-F238E27FC236}">
                <a16:creationId xmlns:a16="http://schemas.microsoft.com/office/drawing/2014/main" id="{2B6D4BF9-0BD9-D71F-01D0-80CF9DE8ADA8}"/>
              </a:ext>
            </a:extLst>
          </p:cNvPr>
          <p:cNvSpPr txBox="1">
            <a:spLocks noChangeArrowheads="1"/>
          </p:cNvSpPr>
          <p:nvPr/>
        </p:nvSpPr>
        <p:spPr bwMode="auto">
          <a:xfrm>
            <a:off x="3132138" y="692150"/>
            <a:ext cx="3167062"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000">
                <a:ea typeface="黑体" panose="02010609060101010101" pitchFamily="49" charset="-122"/>
              </a:rPr>
              <a:t>目标的性质、作用和特点</a:t>
            </a:r>
          </a:p>
        </p:txBody>
      </p:sp>
    </p:spTree>
  </p:cSld>
  <p:clrMapOvr>
    <a:masterClrMapping/>
  </p:clrMapOvr>
  <p:transition>
    <p:blinds dir="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08CED44-9113-2010-3D4D-E60E8513BBA9}"/>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D5733F4C-050D-AA12-B2AD-1AEB9B1581FA}"/>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5143565F-DF0A-A8A5-BD54-10E212497216}"/>
              </a:ext>
            </a:extLst>
          </p:cNvPr>
          <p:cNvSpPr>
            <a:spLocks noGrp="1"/>
          </p:cNvSpPr>
          <p:nvPr>
            <p:ph type="sldNum" sz="quarter" idx="12"/>
          </p:nvPr>
        </p:nvSpPr>
        <p:spPr/>
        <p:txBody>
          <a:bodyPr/>
          <a:lstStyle/>
          <a:p>
            <a:fld id="{775B3BBA-6D47-46EE-829A-F1BC24CC15FB}" type="slidenum">
              <a:rPr lang="en-US" altLang="zh-CN"/>
              <a:pPr/>
              <a:t>7</a:t>
            </a:fld>
            <a:endParaRPr lang="en-US" altLang="zh-CN"/>
          </a:p>
        </p:txBody>
      </p:sp>
      <p:grpSp>
        <p:nvGrpSpPr>
          <p:cNvPr id="5" name="Diagram 7">
            <a:extLst>
              <a:ext uri="{FF2B5EF4-FFF2-40B4-BE49-F238E27FC236}">
                <a16:creationId xmlns:a16="http://schemas.microsoft.com/office/drawing/2014/main" id="{B393E95A-6AD5-C264-E6DE-94758FD5ECBE}"/>
              </a:ext>
            </a:extLst>
          </p:cNvPr>
          <p:cNvGrpSpPr>
            <a:grpSpLocks noChangeAspect="1"/>
          </p:cNvGrpSpPr>
          <p:nvPr/>
        </p:nvGrpSpPr>
        <p:grpSpPr bwMode="auto">
          <a:xfrm>
            <a:off x="323850" y="765175"/>
            <a:ext cx="4038600" cy="4525963"/>
            <a:chOff x="-232" y="562"/>
            <a:chExt cx="5339" cy="2851"/>
          </a:xfrm>
        </p:grpSpPr>
        <p:sp>
          <p:nvSpPr>
            <p:cNvPr id="6" name="_s13320">
              <a:extLst>
                <a:ext uri="{FF2B5EF4-FFF2-40B4-BE49-F238E27FC236}">
                  <a16:creationId xmlns:a16="http://schemas.microsoft.com/office/drawing/2014/main" id="{CD6F6C79-36F0-C17B-4F81-C431C8F7B149}"/>
                </a:ext>
              </a:extLst>
            </p:cNvPr>
            <p:cNvSpPr>
              <a:spLocks noChangeArrowheads="1"/>
            </p:cNvSpPr>
            <p:nvPr/>
          </p:nvSpPr>
          <p:spPr bwMode="auto">
            <a:xfrm flipV="1">
              <a:off x="2234" y="753"/>
              <a:ext cx="407" cy="353"/>
            </a:xfrm>
            <a:custGeom>
              <a:avLst/>
              <a:gdLst>
                <a:gd name="G0" fmla="+- 10800 0 0"/>
                <a:gd name="G1" fmla="+- 21600 0 10800"/>
                <a:gd name="G2" fmla="*/ 10800 1 2"/>
                <a:gd name="G3" fmla="+- 21600 0 G2"/>
                <a:gd name="G4" fmla="+/ 10800 21600 2"/>
                <a:gd name="G5" fmla="+/ G1 0 2"/>
                <a:gd name="G6" fmla="*/ 21600 21600 10800"/>
                <a:gd name="G7" fmla="*/ G6 1 2"/>
                <a:gd name="G8" fmla="+- 21600 0 G7"/>
                <a:gd name="G9" fmla="*/ 21600 1 2"/>
                <a:gd name="G10" fmla="+- 10800 0 G9"/>
                <a:gd name="G11" fmla="?: G10 G8 0"/>
                <a:gd name="G12" fmla="?: G10 G7 21600"/>
                <a:gd name="T0" fmla="*/ 16200 w 21600"/>
                <a:gd name="T1" fmla="*/ 10800 h 21600"/>
                <a:gd name="T2" fmla="*/ 10800 w 21600"/>
                <a:gd name="T3" fmla="*/ 21600 h 21600"/>
                <a:gd name="T4" fmla="*/ 5400 w 21600"/>
                <a:gd name="T5" fmla="*/ 10800 h 21600"/>
                <a:gd name="T6" fmla="*/ 10800 w 21600"/>
                <a:gd name="T7" fmla="*/ 0 h 21600"/>
                <a:gd name="T8" fmla="*/ 7200 w 21600"/>
                <a:gd name="T9" fmla="*/ 7200 h 21600"/>
                <a:gd name="T10" fmla="*/ 14400 w 21600"/>
                <a:gd name="T11" fmla="*/ 14400 h 21600"/>
              </a:gdLst>
              <a:ahLst/>
              <a:cxnLst>
                <a:cxn ang="0">
                  <a:pos x="T0" y="T1"/>
                </a:cxn>
                <a:cxn ang="0">
                  <a:pos x="T2" y="T3"/>
                </a:cxn>
                <a:cxn ang="0">
                  <a:pos x="T4" y="T5"/>
                </a:cxn>
                <a:cxn ang="0">
                  <a:pos x="T6" y="T7"/>
                </a:cxn>
              </a:cxnLst>
              <a:rect l="T8" t="T9" r="T10" b="T11"/>
              <a:pathLst>
                <a:path w="21600" h="21600">
                  <a:moveTo>
                    <a:pt x="0" y="0"/>
                  </a:moveTo>
                  <a:lnTo>
                    <a:pt x="10800" y="21600"/>
                  </a:lnTo>
                  <a:lnTo>
                    <a:pt x="10800" y="21600"/>
                  </a:lnTo>
                  <a:lnTo>
                    <a:pt x="21600" y="0"/>
                  </a:lnTo>
                  <a:close/>
                </a:path>
              </a:pathLst>
            </a:custGeom>
            <a:solidFill>
              <a:schemeClr val="bg1"/>
            </a:solidFill>
            <a:ln w="4699" algn="in">
              <a:solidFill>
                <a:schemeClr val="tx1"/>
              </a:solidFill>
              <a:miter lim="800000"/>
              <a:headEnd/>
              <a:tailEnd/>
            </a:ln>
          </p:spPr>
          <p:txBody>
            <a:bodyPr rot="10800000" vert="horz" wrap="none" lIns="90000" tIns="46800" rIns="90000" bIns="4680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宗旨</a:t>
              </a:r>
            </a:p>
          </p:txBody>
        </p:sp>
        <p:sp>
          <p:nvSpPr>
            <p:cNvPr id="7" name="_s13323">
              <a:extLst>
                <a:ext uri="{FF2B5EF4-FFF2-40B4-BE49-F238E27FC236}">
                  <a16:creationId xmlns:a16="http://schemas.microsoft.com/office/drawing/2014/main" id="{038AA789-DEB4-6A42-BD9C-E5ED6299DD01}"/>
                </a:ext>
              </a:extLst>
            </p:cNvPr>
            <p:cNvSpPr>
              <a:spLocks noChangeArrowheads="1"/>
            </p:cNvSpPr>
            <p:nvPr/>
          </p:nvSpPr>
          <p:spPr bwMode="auto">
            <a:xfrm flipV="1">
              <a:off x="2030" y="1106"/>
              <a:ext cx="815" cy="35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bg1"/>
            </a:solidFill>
            <a:ln w="4699" algn="in">
              <a:solidFill>
                <a:schemeClr val="tx1"/>
              </a:solidFill>
              <a:miter lim="800000"/>
              <a:headEnd/>
              <a:tailEnd/>
            </a:ln>
          </p:spPr>
          <p:txBody>
            <a:bodyPr rot="10800000"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使命</a:t>
              </a:r>
            </a:p>
          </p:txBody>
        </p:sp>
        <p:sp>
          <p:nvSpPr>
            <p:cNvPr id="8" name="_s13324">
              <a:extLst>
                <a:ext uri="{FF2B5EF4-FFF2-40B4-BE49-F238E27FC236}">
                  <a16:creationId xmlns:a16="http://schemas.microsoft.com/office/drawing/2014/main" id="{71942865-BC0F-9B02-8EA8-10732151C512}"/>
                </a:ext>
              </a:extLst>
            </p:cNvPr>
            <p:cNvSpPr>
              <a:spLocks noChangeArrowheads="1"/>
            </p:cNvSpPr>
            <p:nvPr/>
          </p:nvSpPr>
          <p:spPr bwMode="auto">
            <a:xfrm flipV="1">
              <a:off x="1827" y="1458"/>
              <a:ext cx="1221" cy="353"/>
            </a:xfrm>
            <a:custGeom>
              <a:avLst/>
              <a:gdLst>
                <a:gd name="G0" fmla="+- 3600 0 0"/>
                <a:gd name="G1" fmla="+- 21600 0 3600"/>
                <a:gd name="G2" fmla="*/ 3600 1 2"/>
                <a:gd name="G3" fmla="+- 21600 0 G2"/>
                <a:gd name="G4" fmla="+/ 3600 21600 2"/>
                <a:gd name="G5" fmla="+/ G1 0 2"/>
                <a:gd name="G6" fmla="*/ 21600 21600 3600"/>
                <a:gd name="G7" fmla="*/ G6 1 2"/>
                <a:gd name="G8" fmla="+- 21600 0 G7"/>
                <a:gd name="G9" fmla="*/ 21600 1 2"/>
                <a:gd name="G10" fmla="+- 3600 0 G9"/>
                <a:gd name="G11" fmla="?: G10 G8 0"/>
                <a:gd name="G12" fmla="?: G10 G7 21600"/>
                <a:gd name="T0" fmla="*/ 19800 w 21600"/>
                <a:gd name="T1" fmla="*/ 10800 h 21600"/>
                <a:gd name="T2" fmla="*/ 10800 w 21600"/>
                <a:gd name="T3" fmla="*/ 21600 h 21600"/>
                <a:gd name="T4" fmla="*/ 1800 w 21600"/>
                <a:gd name="T5" fmla="*/ 10800 h 21600"/>
                <a:gd name="T6" fmla="*/ 10800 w 21600"/>
                <a:gd name="T7" fmla="*/ 0 h 21600"/>
                <a:gd name="T8" fmla="*/ 3600 w 21600"/>
                <a:gd name="T9" fmla="*/ 3600 h 21600"/>
                <a:gd name="T10" fmla="*/ 18000 w 21600"/>
                <a:gd name="T11" fmla="*/ 18000 h 21600"/>
              </a:gdLst>
              <a:ahLst/>
              <a:cxnLst>
                <a:cxn ang="0">
                  <a:pos x="T0" y="T1"/>
                </a:cxn>
                <a:cxn ang="0">
                  <a:pos x="T2" y="T3"/>
                </a:cxn>
                <a:cxn ang="0">
                  <a:pos x="T4" y="T5"/>
                </a:cxn>
                <a:cxn ang="0">
                  <a:pos x="T6" y="T7"/>
                </a:cxn>
              </a:cxnLst>
              <a:rect l="T8" t="T9" r="T10" b="T11"/>
              <a:pathLst>
                <a:path w="21600" h="21600">
                  <a:moveTo>
                    <a:pt x="0" y="0"/>
                  </a:moveTo>
                  <a:lnTo>
                    <a:pt x="3600" y="21600"/>
                  </a:lnTo>
                  <a:lnTo>
                    <a:pt x="18000" y="21600"/>
                  </a:lnTo>
                  <a:lnTo>
                    <a:pt x="21600" y="0"/>
                  </a:lnTo>
                  <a:close/>
                </a:path>
              </a:pathLst>
            </a:custGeom>
            <a:solidFill>
              <a:schemeClr val="bg1"/>
            </a:solidFill>
            <a:ln w="4699" algn="in">
              <a:solidFill>
                <a:schemeClr val="tx1"/>
              </a:solidFill>
              <a:miter lim="800000"/>
              <a:headEnd/>
              <a:tailEnd/>
            </a:ln>
          </p:spPr>
          <p:txBody>
            <a:bodyPr rot="10800000"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总体目标</a:t>
              </a:r>
            </a:p>
          </p:txBody>
        </p:sp>
        <p:sp>
          <p:nvSpPr>
            <p:cNvPr id="9" name="_s13321">
              <a:extLst>
                <a:ext uri="{FF2B5EF4-FFF2-40B4-BE49-F238E27FC236}">
                  <a16:creationId xmlns:a16="http://schemas.microsoft.com/office/drawing/2014/main" id="{7E41C41A-B7C6-8586-2692-B20F194E22C4}"/>
                </a:ext>
              </a:extLst>
            </p:cNvPr>
            <p:cNvSpPr>
              <a:spLocks noChangeArrowheads="1"/>
            </p:cNvSpPr>
            <p:nvPr/>
          </p:nvSpPr>
          <p:spPr bwMode="auto">
            <a:xfrm flipV="1">
              <a:off x="1623" y="1811"/>
              <a:ext cx="1629" cy="353"/>
            </a:xfrm>
            <a:custGeom>
              <a:avLst/>
              <a:gdLst>
                <a:gd name="G0" fmla="+- 2700 0 0"/>
                <a:gd name="G1" fmla="+- 21600 0 2700"/>
                <a:gd name="G2" fmla="*/ 2700 1 2"/>
                <a:gd name="G3" fmla="+- 21600 0 G2"/>
                <a:gd name="G4" fmla="+/ 2700 21600 2"/>
                <a:gd name="G5" fmla="+/ G1 0 2"/>
                <a:gd name="G6" fmla="*/ 21600 21600 2700"/>
                <a:gd name="G7" fmla="*/ G6 1 2"/>
                <a:gd name="G8" fmla="+- 21600 0 G7"/>
                <a:gd name="G9" fmla="*/ 21600 1 2"/>
                <a:gd name="G10" fmla="+- 2700 0 G9"/>
                <a:gd name="G11" fmla="?: G10 G8 0"/>
                <a:gd name="G12" fmla="?: G10 G7 21600"/>
                <a:gd name="T0" fmla="*/ 20250 w 21600"/>
                <a:gd name="T1" fmla="*/ 10800 h 21600"/>
                <a:gd name="T2" fmla="*/ 10800 w 21600"/>
                <a:gd name="T3" fmla="*/ 21600 h 21600"/>
                <a:gd name="T4" fmla="*/ 1350 w 21600"/>
                <a:gd name="T5" fmla="*/ 10800 h 21600"/>
                <a:gd name="T6" fmla="*/ 10800 w 21600"/>
                <a:gd name="T7" fmla="*/ 0 h 21600"/>
                <a:gd name="T8" fmla="*/ 3150 w 21600"/>
                <a:gd name="T9" fmla="*/ 3150 h 21600"/>
                <a:gd name="T10" fmla="*/ 18450 w 21600"/>
                <a:gd name="T11" fmla="*/ 18450 h 21600"/>
              </a:gdLst>
              <a:ahLst/>
              <a:cxnLst>
                <a:cxn ang="0">
                  <a:pos x="T0" y="T1"/>
                </a:cxn>
                <a:cxn ang="0">
                  <a:pos x="T2" y="T3"/>
                </a:cxn>
                <a:cxn ang="0">
                  <a:pos x="T4" y="T5"/>
                </a:cxn>
                <a:cxn ang="0">
                  <a:pos x="T6" y="T7"/>
                </a:cxn>
              </a:cxnLst>
              <a:rect l="T8" t="T9" r="T10" b="T11"/>
              <a:pathLst>
                <a:path w="21600" h="21600">
                  <a:moveTo>
                    <a:pt x="0" y="0"/>
                  </a:moveTo>
                  <a:lnTo>
                    <a:pt x="2700" y="21600"/>
                  </a:lnTo>
                  <a:lnTo>
                    <a:pt x="18900" y="21600"/>
                  </a:lnTo>
                  <a:lnTo>
                    <a:pt x="21600" y="0"/>
                  </a:lnTo>
                  <a:close/>
                </a:path>
              </a:pathLst>
            </a:custGeom>
            <a:solidFill>
              <a:schemeClr val="bg1"/>
            </a:solidFill>
            <a:ln w="4699" algn="in">
              <a:solidFill>
                <a:schemeClr val="tx1"/>
              </a:solidFill>
              <a:miter lim="800000"/>
              <a:headEnd/>
              <a:tailEnd/>
            </a:ln>
          </p:spPr>
          <p:txBody>
            <a:bodyPr rot="10800000"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经营目标</a:t>
              </a:r>
            </a:p>
          </p:txBody>
        </p:sp>
        <p:sp>
          <p:nvSpPr>
            <p:cNvPr id="10" name="_s13325">
              <a:extLst>
                <a:ext uri="{FF2B5EF4-FFF2-40B4-BE49-F238E27FC236}">
                  <a16:creationId xmlns:a16="http://schemas.microsoft.com/office/drawing/2014/main" id="{DB95FCF5-E71D-F053-D297-F69D07A59EAC}"/>
                </a:ext>
              </a:extLst>
            </p:cNvPr>
            <p:cNvSpPr>
              <a:spLocks noChangeArrowheads="1"/>
            </p:cNvSpPr>
            <p:nvPr/>
          </p:nvSpPr>
          <p:spPr bwMode="auto">
            <a:xfrm flipV="1">
              <a:off x="1419" y="2164"/>
              <a:ext cx="2037" cy="353"/>
            </a:xfrm>
            <a:custGeom>
              <a:avLst/>
              <a:gdLst>
                <a:gd name="G0" fmla="+- 2160 0 0"/>
                <a:gd name="G1" fmla="+- 21600 0 2160"/>
                <a:gd name="G2" fmla="*/ 2160 1 2"/>
                <a:gd name="G3" fmla="+- 21600 0 G2"/>
                <a:gd name="G4" fmla="+/ 2160 21600 2"/>
                <a:gd name="G5" fmla="+/ G1 0 2"/>
                <a:gd name="G6" fmla="*/ 21600 21600 2160"/>
                <a:gd name="G7" fmla="*/ G6 1 2"/>
                <a:gd name="G8" fmla="+- 21600 0 G7"/>
                <a:gd name="G9" fmla="*/ 21600 1 2"/>
                <a:gd name="G10" fmla="+- 2160 0 G9"/>
                <a:gd name="G11" fmla="?: G10 G8 0"/>
                <a:gd name="G12" fmla="?: G10 G7 21600"/>
                <a:gd name="T0" fmla="*/ 20520 w 21600"/>
                <a:gd name="T1" fmla="*/ 10800 h 21600"/>
                <a:gd name="T2" fmla="*/ 10800 w 21600"/>
                <a:gd name="T3" fmla="*/ 21600 h 21600"/>
                <a:gd name="T4" fmla="*/ 1080 w 21600"/>
                <a:gd name="T5" fmla="*/ 10800 h 21600"/>
                <a:gd name="T6" fmla="*/ 10800 w 21600"/>
                <a:gd name="T7" fmla="*/ 0 h 21600"/>
                <a:gd name="T8" fmla="*/ 2880 w 21600"/>
                <a:gd name="T9" fmla="*/ 2880 h 21600"/>
                <a:gd name="T10" fmla="*/ 18720 w 21600"/>
                <a:gd name="T11" fmla="*/ 18720 h 21600"/>
              </a:gdLst>
              <a:ahLst/>
              <a:cxnLst>
                <a:cxn ang="0">
                  <a:pos x="T0" y="T1"/>
                </a:cxn>
                <a:cxn ang="0">
                  <a:pos x="T2" y="T3"/>
                </a:cxn>
                <a:cxn ang="0">
                  <a:pos x="T4" y="T5"/>
                </a:cxn>
                <a:cxn ang="0">
                  <a:pos x="T6" y="T7"/>
                </a:cxn>
              </a:cxnLst>
              <a:rect l="T8" t="T9" r="T10" b="T11"/>
              <a:pathLst>
                <a:path w="21600" h="21600">
                  <a:moveTo>
                    <a:pt x="0" y="0"/>
                  </a:moveTo>
                  <a:lnTo>
                    <a:pt x="2160" y="21600"/>
                  </a:lnTo>
                  <a:lnTo>
                    <a:pt x="19440" y="21600"/>
                  </a:lnTo>
                  <a:lnTo>
                    <a:pt x="21600" y="0"/>
                  </a:lnTo>
                  <a:close/>
                </a:path>
              </a:pathLst>
            </a:custGeom>
            <a:solidFill>
              <a:schemeClr val="bg1"/>
            </a:solidFill>
            <a:ln w="4699" algn="in">
              <a:solidFill>
                <a:schemeClr val="tx1"/>
              </a:solidFill>
              <a:miter lim="800000"/>
              <a:headEnd/>
              <a:tailEnd/>
            </a:ln>
          </p:spPr>
          <p:txBody>
            <a:bodyPr rot="10800000"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子目标</a:t>
              </a:r>
            </a:p>
          </p:txBody>
        </p:sp>
        <p:sp>
          <p:nvSpPr>
            <p:cNvPr id="11" name="_s13326">
              <a:extLst>
                <a:ext uri="{FF2B5EF4-FFF2-40B4-BE49-F238E27FC236}">
                  <a16:creationId xmlns:a16="http://schemas.microsoft.com/office/drawing/2014/main" id="{716F3C6D-BF2D-64FD-7013-D3E545431E1F}"/>
                </a:ext>
              </a:extLst>
            </p:cNvPr>
            <p:cNvSpPr>
              <a:spLocks noChangeArrowheads="1"/>
            </p:cNvSpPr>
            <p:nvPr/>
          </p:nvSpPr>
          <p:spPr bwMode="auto">
            <a:xfrm flipV="1">
              <a:off x="1216" y="2517"/>
              <a:ext cx="2443" cy="352"/>
            </a:xfrm>
            <a:custGeom>
              <a:avLst/>
              <a:gdLst>
                <a:gd name="G0" fmla="+- 1800 0 0"/>
                <a:gd name="G1" fmla="+- 21600 0 1800"/>
                <a:gd name="G2" fmla="*/ 1800 1 2"/>
                <a:gd name="G3" fmla="+- 21600 0 G2"/>
                <a:gd name="G4" fmla="+/ 1800 21600 2"/>
                <a:gd name="G5" fmla="+/ G1 0 2"/>
                <a:gd name="G6" fmla="*/ 21600 21600 1800"/>
                <a:gd name="G7" fmla="*/ G6 1 2"/>
                <a:gd name="G8" fmla="+- 21600 0 G7"/>
                <a:gd name="G9" fmla="*/ 21600 1 2"/>
                <a:gd name="G10" fmla="+- 1800 0 G9"/>
                <a:gd name="G11" fmla="?: G10 G8 0"/>
                <a:gd name="G12" fmla="?: G10 G7 21600"/>
                <a:gd name="T0" fmla="*/ 20700 w 21600"/>
                <a:gd name="T1" fmla="*/ 10800 h 21600"/>
                <a:gd name="T2" fmla="*/ 10800 w 21600"/>
                <a:gd name="T3" fmla="*/ 21600 h 21600"/>
                <a:gd name="T4" fmla="*/ 900 w 21600"/>
                <a:gd name="T5" fmla="*/ 10800 h 21600"/>
                <a:gd name="T6" fmla="*/ 10800 w 21600"/>
                <a:gd name="T7" fmla="*/ 0 h 21600"/>
                <a:gd name="T8" fmla="*/ 2700 w 21600"/>
                <a:gd name="T9" fmla="*/ 2700 h 21600"/>
                <a:gd name="T10" fmla="*/ 18900 w 21600"/>
                <a:gd name="T11" fmla="*/ 18900 h 21600"/>
              </a:gdLst>
              <a:ahLst/>
              <a:cxnLst>
                <a:cxn ang="0">
                  <a:pos x="T0" y="T1"/>
                </a:cxn>
                <a:cxn ang="0">
                  <a:pos x="T2" y="T3"/>
                </a:cxn>
                <a:cxn ang="0">
                  <a:pos x="T4" y="T5"/>
                </a:cxn>
                <a:cxn ang="0">
                  <a:pos x="T6" y="T7"/>
                </a:cxn>
              </a:cxnLst>
              <a:rect l="T8" t="T9" r="T10" b="T11"/>
              <a:pathLst>
                <a:path w="21600" h="21600">
                  <a:moveTo>
                    <a:pt x="0" y="0"/>
                  </a:moveTo>
                  <a:lnTo>
                    <a:pt x="1800" y="21600"/>
                  </a:lnTo>
                  <a:lnTo>
                    <a:pt x="19800" y="21600"/>
                  </a:lnTo>
                  <a:lnTo>
                    <a:pt x="21600" y="0"/>
                  </a:lnTo>
                  <a:close/>
                </a:path>
              </a:pathLst>
            </a:custGeom>
            <a:solidFill>
              <a:schemeClr val="bg1"/>
            </a:solidFill>
            <a:ln w="4699" algn="in">
              <a:solidFill>
                <a:schemeClr val="tx1"/>
              </a:solidFill>
              <a:miter lim="800000"/>
              <a:headEnd/>
              <a:tailEnd/>
            </a:ln>
          </p:spPr>
          <p:txBody>
            <a:bodyPr rot="10800000"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部门目标</a:t>
              </a:r>
            </a:p>
          </p:txBody>
        </p:sp>
        <p:sp>
          <p:nvSpPr>
            <p:cNvPr id="12" name="_s13322">
              <a:extLst>
                <a:ext uri="{FF2B5EF4-FFF2-40B4-BE49-F238E27FC236}">
                  <a16:creationId xmlns:a16="http://schemas.microsoft.com/office/drawing/2014/main" id="{7B685633-A022-0053-3836-110730D95AEB}"/>
                </a:ext>
              </a:extLst>
            </p:cNvPr>
            <p:cNvSpPr>
              <a:spLocks noChangeArrowheads="1"/>
            </p:cNvSpPr>
            <p:nvPr/>
          </p:nvSpPr>
          <p:spPr bwMode="auto">
            <a:xfrm flipV="1">
              <a:off x="1012" y="2869"/>
              <a:ext cx="2851" cy="353"/>
            </a:xfrm>
            <a:custGeom>
              <a:avLst/>
              <a:gdLst>
                <a:gd name="G0" fmla="+- 1543 0 0"/>
                <a:gd name="G1" fmla="+- 21600 0 1543"/>
                <a:gd name="G2" fmla="*/ 1543 1 2"/>
                <a:gd name="G3" fmla="+- 21600 0 G2"/>
                <a:gd name="G4" fmla="+/ 1543 21600 2"/>
                <a:gd name="G5" fmla="+/ G1 0 2"/>
                <a:gd name="G6" fmla="*/ 21600 21600 1543"/>
                <a:gd name="G7" fmla="*/ G6 1 2"/>
                <a:gd name="G8" fmla="+- 21600 0 G7"/>
                <a:gd name="G9" fmla="*/ 21600 1 2"/>
                <a:gd name="G10" fmla="+- 1543 0 G9"/>
                <a:gd name="G11" fmla="?: G10 G8 0"/>
                <a:gd name="G12" fmla="?: G10 G7 21600"/>
                <a:gd name="T0" fmla="*/ 20828 w 21600"/>
                <a:gd name="T1" fmla="*/ 10800 h 21600"/>
                <a:gd name="T2" fmla="*/ 10800 w 21600"/>
                <a:gd name="T3" fmla="*/ 21600 h 21600"/>
                <a:gd name="T4" fmla="*/ 772 w 21600"/>
                <a:gd name="T5" fmla="*/ 10800 h 21600"/>
                <a:gd name="T6" fmla="*/ 10800 w 21600"/>
                <a:gd name="T7" fmla="*/ 0 h 21600"/>
                <a:gd name="T8" fmla="*/ 2572 w 21600"/>
                <a:gd name="T9" fmla="*/ 2572 h 21600"/>
                <a:gd name="T10" fmla="*/ 19028 w 21600"/>
                <a:gd name="T11" fmla="*/ 19028 h 21600"/>
              </a:gdLst>
              <a:ahLst/>
              <a:cxnLst>
                <a:cxn ang="0">
                  <a:pos x="T0" y="T1"/>
                </a:cxn>
                <a:cxn ang="0">
                  <a:pos x="T2" y="T3"/>
                </a:cxn>
                <a:cxn ang="0">
                  <a:pos x="T4" y="T5"/>
                </a:cxn>
                <a:cxn ang="0">
                  <a:pos x="T6" y="T7"/>
                </a:cxn>
              </a:cxnLst>
              <a:rect l="T8" t="T9" r="T10" b="T11"/>
              <a:pathLst>
                <a:path w="21600" h="21600">
                  <a:moveTo>
                    <a:pt x="0" y="0"/>
                  </a:moveTo>
                  <a:lnTo>
                    <a:pt x="1543" y="21600"/>
                  </a:lnTo>
                  <a:lnTo>
                    <a:pt x="20057" y="21600"/>
                  </a:lnTo>
                  <a:lnTo>
                    <a:pt x="21600" y="0"/>
                  </a:lnTo>
                  <a:close/>
                </a:path>
              </a:pathLst>
            </a:custGeom>
            <a:solidFill>
              <a:schemeClr val="bg1"/>
            </a:solidFill>
            <a:ln w="4699" algn="in">
              <a:solidFill>
                <a:schemeClr val="tx1"/>
              </a:solidFill>
              <a:miter lim="800000"/>
              <a:headEnd/>
              <a:tailEnd/>
            </a:ln>
          </p:spPr>
          <p:txBody>
            <a:bodyPr rot="10800000"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个人目标</a:t>
              </a:r>
            </a:p>
          </p:txBody>
        </p:sp>
      </p:grpSp>
      <p:graphicFrame>
        <p:nvGraphicFramePr>
          <p:cNvPr id="13394" name="Group 82">
            <a:extLst>
              <a:ext uri="{FF2B5EF4-FFF2-40B4-BE49-F238E27FC236}">
                <a16:creationId xmlns:a16="http://schemas.microsoft.com/office/drawing/2014/main" id="{3413CC5F-0CEE-CE3E-0592-125CAF8E0DFF}"/>
              </a:ext>
            </a:extLst>
          </p:cNvPr>
          <p:cNvGraphicFramePr>
            <a:graphicFrameLocks noGrp="1"/>
          </p:cNvGraphicFramePr>
          <p:nvPr>
            <p:ph sz="half" idx="4294967295"/>
          </p:nvPr>
        </p:nvGraphicFramePr>
        <p:xfrm>
          <a:off x="3779838" y="1125538"/>
          <a:ext cx="4038600" cy="3905250"/>
        </p:xfrm>
        <a:graphic>
          <a:graphicData uri="http://schemas.openxmlformats.org/drawingml/2006/table">
            <a:tbl>
              <a:tblPr/>
              <a:tblGrid>
                <a:gridCol w="1584325">
                  <a:extLst>
                    <a:ext uri="{9D8B030D-6E8A-4147-A177-3AD203B41FA5}">
                      <a16:colId xmlns:a16="http://schemas.microsoft.com/office/drawing/2014/main" val="3365335739"/>
                    </a:ext>
                  </a:extLst>
                </a:gridCol>
                <a:gridCol w="2454275">
                  <a:extLst>
                    <a:ext uri="{9D8B030D-6E8A-4147-A177-3AD203B41FA5}">
                      <a16:colId xmlns:a16="http://schemas.microsoft.com/office/drawing/2014/main" val="3658888819"/>
                    </a:ext>
                  </a:extLst>
                </a:gridCol>
              </a:tblGrid>
              <a:tr h="5238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宗旨</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提供交通工具</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64555512"/>
                  </a:ext>
                </a:extLst>
              </a:tr>
              <a:tr h="5476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使命</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制造和销售汽车</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00844216"/>
                  </a:ext>
                </a:extLst>
              </a:tr>
              <a:tr h="5461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战略目标</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低成本节油的小汽车 </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70541592"/>
                  </a:ext>
                </a:extLst>
              </a:tr>
              <a:tr h="5492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经营目标</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产量</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50 000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台</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898075338"/>
                  </a:ext>
                </a:extLst>
              </a:tr>
              <a:tr h="5476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子目标</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产量</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5 000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台</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32681659"/>
                  </a:ext>
                </a:extLst>
              </a:tr>
              <a:tr h="6429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部门目标</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装配</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1 000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台</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28876044"/>
                  </a:ext>
                </a:extLst>
              </a:tr>
              <a:tr h="5476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班组目标</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装配</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台</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1094207"/>
                  </a:ext>
                </a:extLst>
              </a:tr>
            </a:tbl>
          </a:graphicData>
        </a:graphic>
      </p:graphicFrame>
      <p:sp>
        <p:nvSpPr>
          <p:cNvPr id="13396" name="Text Box 84">
            <a:extLst>
              <a:ext uri="{FF2B5EF4-FFF2-40B4-BE49-F238E27FC236}">
                <a16:creationId xmlns:a16="http://schemas.microsoft.com/office/drawing/2014/main" id="{D0684C89-00AE-56EB-80B0-403D598E7DCD}"/>
              </a:ext>
            </a:extLst>
          </p:cNvPr>
          <p:cNvSpPr txBox="1">
            <a:spLocks noChangeArrowheads="1"/>
          </p:cNvSpPr>
          <p:nvPr/>
        </p:nvSpPr>
        <p:spPr bwMode="auto">
          <a:xfrm>
            <a:off x="3563938" y="5229225"/>
            <a:ext cx="20161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000">
                <a:ea typeface="黑体" panose="02010609060101010101" pitchFamily="49" charset="-122"/>
              </a:rPr>
              <a:t>目标的层次体系</a:t>
            </a:r>
          </a:p>
        </p:txBody>
      </p:sp>
      <p:sp>
        <p:nvSpPr>
          <p:cNvPr id="13397" name="Text Box 85">
            <a:extLst>
              <a:ext uri="{FF2B5EF4-FFF2-40B4-BE49-F238E27FC236}">
                <a16:creationId xmlns:a16="http://schemas.microsoft.com/office/drawing/2014/main" id="{DE3CAEBA-E24F-46E2-EC8F-5B5EC896CFD6}"/>
              </a:ext>
            </a:extLst>
          </p:cNvPr>
          <p:cNvSpPr txBox="1">
            <a:spLocks noChangeArrowheads="1"/>
          </p:cNvSpPr>
          <p:nvPr/>
        </p:nvSpPr>
        <p:spPr bwMode="auto">
          <a:xfrm>
            <a:off x="179388" y="188913"/>
            <a:ext cx="9350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5.2</a:t>
            </a:r>
            <a:r>
              <a:rPr lang="zh-CN" altLang="en-US" sz="1600"/>
              <a:t>目标</a:t>
            </a:r>
          </a:p>
        </p:txBody>
      </p:sp>
    </p:spTree>
  </p:cSld>
  <p:clrMapOvr>
    <a:masterClrMapping/>
  </p:clrMapOvr>
  <p:transition>
    <p:blinds dir="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96D6CE7-87BD-12CA-B3D7-A705A7FC8B24}"/>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4F961D48-9164-F12C-C0B4-CEF3CE266573}"/>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590A5A0E-1A2B-1E02-2D98-EF0F1184EFED}"/>
              </a:ext>
            </a:extLst>
          </p:cNvPr>
          <p:cNvSpPr>
            <a:spLocks noGrp="1"/>
          </p:cNvSpPr>
          <p:nvPr>
            <p:ph type="sldNum" sz="quarter" idx="12"/>
          </p:nvPr>
        </p:nvSpPr>
        <p:spPr/>
        <p:txBody>
          <a:bodyPr/>
          <a:lstStyle/>
          <a:p>
            <a:fld id="{26D6F832-F837-4377-87D8-D46B16B2C7FC}" type="slidenum">
              <a:rPr lang="en-US" altLang="zh-CN"/>
              <a:pPr/>
              <a:t>8</a:t>
            </a:fld>
            <a:endParaRPr lang="en-US" altLang="zh-CN"/>
          </a:p>
        </p:txBody>
      </p:sp>
      <p:sp>
        <p:nvSpPr>
          <p:cNvPr id="15362" name="Rectangle 2">
            <a:extLst>
              <a:ext uri="{FF2B5EF4-FFF2-40B4-BE49-F238E27FC236}">
                <a16:creationId xmlns:a16="http://schemas.microsoft.com/office/drawing/2014/main" id="{E5ABCCBC-4CFE-0BD0-93C6-0E044A53E749}"/>
              </a:ext>
            </a:extLst>
          </p:cNvPr>
          <p:cNvSpPr>
            <a:spLocks noChangeArrowheads="1"/>
          </p:cNvSpPr>
          <p:nvPr/>
        </p:nvSpPr>
        <p:spPr bwMode="auto">
          <a:xfrm>
            <a:off x="539750" y="1341438"/>
            <a:ext cx="137160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目标</a:t>
            </a:r>
            <a:r>
              <a:rPr lang="en-US" altLang="zh-CN"/>
              <a:t>1</a:t>
            </a:r>
          </a:p>
        </p:txBody>
      </p:sp>
      <p:sp>
        <p:nvSpPr>
          <p:cNvPr id="15363" name="Oval 3">
            <a:extLst>
              <a:ext uri="{FF2B5EF4-FFF2-40B4-BE49-F238E27FC236}">
                <a16:creationId xmlns:a16="http://schemas.microsoft.com/office/drawing/2014/main" id="{316F6A87-71A6-8594-74FB-857529A003F9}"/>
              </a:ext>
            </a:extLst>
          </p:cNvPr>
          <p:cNvSpPr>
            <a:spLocks noChangeArrowheads="1"/>
          </p:cNvSpPr>
          <p:nvPr/>
        </p:nvSpPr>
        <p:spPr bwMode="auto">
          <a:xfrm>
            <a:off x="2484438" y="1268413"/>
            <a:ext cx="1371600" cy="7620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手段</a:t>
            </a:r>
            <a:r>
              <a:rPr lang="en-US" altLang="zh-CN"/>
              <a:t>2</a:t>
            </a:r>
          </a:p>
        </p:txBody>
      </p:sp>
      <p:sp>
        <p:nvSpPr>
          <p:cNvPr id="15364" name="Rectangle 4">
            <a:extLst>
              <a:ext uri="{FF2B5EF4-FFF2-40B4-BE49-F238E27FC236}">
                <a16:creationId xmlns:a16="http://schemas.microsoft.com/office/drawing/2014/main" id="{A6EA61CA-2C24-18EE-6C95-CC8B5DC8C4ED}"/>
              </a:ext>
            </a:extLst>
          </p:cNvPr>
          <p:cNvSpPr>
            <a:spLocks noChangeArrowheads="1"/>
          </p:cNvSpPr>
          <p:nvPr/>
        </p:nvSpPr>
        <p:spPr bwMode="auto">
          <a:xfrm>
            <a:off x="2484438" y="2492375"/>
            <a:ext cx="144780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目标</a:t>
            </a:r>
            <a:r>
              <a:rPr lang="en-US" altLang="zh-CN"/>
              <a:t>2</a:t>
            </a:r>
          </a:p>
        </p:txBody>
      </p:sp>
      <p:sp>
        <p:nvSpPr>
          <p:cNvPr id="15365" name="Oval 5">
            <a:extLst>
              <a:ext uri="{FF2B5EF4-FFF2-40B4-BE49-F238E27FC236}">
                <a16:creationId xmlns:a16="http://schemas.microsoft.com/office/drawing/2014/main" id="{3A422A4A-A4EE-5F4C-4F1B-69080422703B}"/>
              </a:ext>
            </a:extLst>
          </p:cNvPr>
          <p:cNvSpPr>
            <a:spLocks noChangeArrowheads="1"/>
          </p:cNvSpPr>
          <p:nvPr/>
        </p:nvSpPr>
        <p:spPr bwMode="auto">
          <a:xfrm>
            <a:off x="4787900" y="2420938"/>
            <a:ext cx="1447800" cy="838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手段</a:t>
            </a:r>
            <a:r>
              <a:rPr lang="en-US" altLang="zh-CN"/>
              <a:t>2</a:t>
            </a:r>
          </a:p>
        </p:txBody>
      </p:sp>
      <p:sp>
        <p:nvSpPr>
          <p:cNvPr id="15366" name="Rectangle 6">
            <a:extLst>
              <a:ext uri="{FF2B5EF4-FFF2-40B4-BE49-F238E27FC236}">
                <a16:creationId xmlns:a16="http://schemas.microsoft.com/office/drawing/2014/main" id="{07075D4B-F04B-6EE4-3BAE-3C2A4EC6C8A3}"/>
              </a:ext>
            </a:extLst>
          </p:cNvPr>
          <p:cNvSpPr>
            <a:spLocks noChangeArrowheads="1"/>
          </p:cNvSpPr>
          <p:nvPr/>
        </p:nvSpPr>
        <p:spPr bwMode="auto">
          <a:xfrm>
            <a:off x="4716463" y="3789363"/>
            <a:ext cx="1600200" cy="6858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目标</a:t>
            </a:r>
            <a:r>
              <a:rPr lang="en-US" altLang="zh-CN"/>
              <a:t>3</a:t>
            </a:r>
          </a:p>
        </p:txBody>
      </p:sp>
      <p:sp>
        <p:nvSpPr>
          <p:cNvPr id="15367" name="Oval 7">
            <a:extLst>
              <a:ext uri="{FF2B5EF4-FFF2-40B4-BE49-F238E27FC236}">
                <a16:creationId xmlns:a16="http://schemas.microsoft.com/office/drawing/2014/main" id="{B5EFCF04-B57D-C2BA-127C-BDB8AF67F0D5}"/>
              </a:ext>
            </a:extLst>
          </p:cNvPr>
          <p:cNvSpPr>
            <a:spLocks noChangeArrowheads="1"/>
          </p:cNvSpPr>
          <p:nvPr/>
        </p:nvSpPr>
        <p:spPr bwMode="auto">
          <a:xfrm>
            <a:off x="6948488" y="3716338"/>
            <a:ext cx="1447800" cy="8382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a:t>手段</a:t>
            </a:r>
            <a:r>
              <a:rPr lang="en-US" altLang="zh-CN"/>
              <a:t>3</a:t>
            </a:r>
          </a:p>
        </p:txBody>
      </p:sp>
      <p:sp>
        <p:nvSpPr>
          <p:cNvPr id="15368" name="Line 8">
            <a:extLst>
              <a:ext uri="{FF2B5EF4-FFF2-40B4-BE49-F238E27FC236}">
                <a16:creationId xmlns:a16="http://schemas.microsoft.com/office/drawing/2014/main" id="{A765DEA0-9EA8-FE24-71F6-A7E8936FA06A}"/>
              </a:ext>
            </a:extLst>
          </p:cNvPr>
          <p:cNvSpPr>
            <a:spLocks noChangeShapeType="1"/>
          </p:cNvSpPr>
          <p:nvPr/>
        </p:nvSpPr>
        <p:spPr bwMode="auto">
          <a:xfrm>
            <a:off x="1908175" y="1700213"/>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9" name="Line 9">
            <a:extLst>
              <a:ext uri="{FF2B5EF4-FFF2-40B4-BE49-F238E27FC236}">
                <a16:creationId xmlns:a16="http://schemas.microsoft.com/office/drawing/2014/main" id="{DA8C156A-D639-45E1-3DB1-CC750654F9F1}"/>
              </a:ext>
            </a:extLst>
          </p:cNvPr>
          <p:cNvSpPr>
            <a:spLocks noChangeShapeType="1"/>
          </p:cNvSpPr>
          <p:nvPr/>
        </p:nvSpPr>
        <p:spPr bwMode="auto">
          <a:xfrm>
            <a:off x="3203575" y="2060575"/>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0" name="Line 10">
            <a:extLst>
              <a:ext uri="{FF2B5EF4-FFF2-40B4-BE49-F238E27FC236}">
                <a16:creationId xmlns:a16="http://schemas.microsoft.com/office/drawing/2014/main" id="{06EE0AA7-1088-3AC6-D9EC-54A0405F2A74}"/>
              </a:ext>
            </a:extLst>
          </p:cNvPr>
          <p:cNvSpPr>
            <a:spLocks noChangeShapeType="1"/>
          </p:cNvSpPr>
          <p:nvPr/>
        </p:nvSpPr>
        <p:spPr bwMode="auto">
          <a:xfrm>
            <a:off x="3924300" y="2852738"/>
            <a:ext cx="8382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1" name="Line 11">
            <a:extLst>
              <a:ext uri="{FF2B5EF4-FFF2-40B4-BE49-F238E27FC236}">
                <a16:creationId xmlns:a16="http://schemas.microsoft.com/office/drawing/2014/main" id="{7519FB80-BFD0-26F0-C676-3E3B9551FD8C}"/>
              </a:ext>
            </a:extLst>
          </p:cNvPr>
          <p:cNvSpPr>
            <a:spLocks noChangeShapeType="1"/>
          </p:cNvSpPr>
          <p:nvPr/>
        </p:nvSpPr>
        <p:spPr bwMode="auto">
          <a:xfrm>
            <a:off x="5508625" y="3284538"/>
            <a:ext cx="0" cy="5381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2" name="Line 12">
            <a:extLst>
              <a:ext uri="{FF2B5EF4-FFF2-40B4-BE49-F238E27FC236}">
                <a16:creationId xmlns:a16="http://schemas.microsoft.com/office/drawing/2014/main" id="{D38BF6FA-31DD-75B9-1396-A699EF0F31AB}"/>
              </a:ext>
            </a:extLst>
          </p:cNvPr>
          <p:cNvSpPr>
            <a:spLocks noChangeShapeType="1"/>
          </p:cNvSpPr>
          <p:nvPr/>
        </p:nvSpPr>
        <p:spPr bwMode="auto">
          <a:xfrm>
            <a:off x="6300788" y="4149725"/>
            <a:ext cx="609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0" name="Text Box 20">
            <a:extLst>
              <a:ext uri="{FF2B5EF4-FFF2-40B4-BE49-F238E27FC236}">
                <a16:creationId xmlns:a16="http://schemas.microsoft.com/office/drawing/2014/main" id="{9543FBB5-81E2-9F16-5EF9-FB2A01D8E47E}"/>
              </a:ext>
            </a:extLst>
          </p:cNvPr>
          <p:cNvSpPr txBox="1">
            <a:spLocks noChangeArrowheads="1"/>
          </p:cNvSpPr>
          <p:nvPr/>
        </p:nvSpPr>
        <p:spPr bwMode="auto">
          <a:xfrm>
            <a:off x="4211638" y="4797425"/>
            <a:ext cx="172878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000">
                <a:ea typeface="黑体" panose="02010609060101010101" pitchFamily="49" charset="-122"/>
              </a:rPr>
              <a:t>目的－手段链</a:t>
            </a:r>
          </a:p>
        </p:txBody>
      </p:sp>
      <p:sp>
        <p:nvSpPr>
          <p:cNvPr id="15381" name="Text Box 21">
            <a:extLst>
              <a:ext uri="{FF2B5EF4-FFF2-40B4-BE49-F238E27FC236}">
                <a16:creationId xmlns:a16="http://schemas.microsoft.com/office/drawing/2014/main" id="{DB9315A7-EF40-D90B-2BFC-19C6FDAFBD55}"/>
              </a:ext>
            </a:extLst>
          </p:cNvPr>
          <p:cNvSpPr txBox="1">
            <a:spLocks noChangeArrowheads="1"/>
          </p:cNvSpPr>
          <p:nvPr/>
        </p:nvSpPr>
        <p:spPr bwMode="auto">
          <a:xfrm>
            <a:off x="179388" y="188913"/>
            <a:ext cx="9350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5.2</a:t>
            </a:r>
            <a:r>
              <a:rPr lang="zh-CN" altLang="en-US" sz="1600"/>
              <a:t>目标</a:t>
            </a:r>
          </a:p>
        </p:txBody>
      </p:sp>
    </p:spTree>
  </p:cSld>
  <p:clrMapOvr>
    <a:masterClrMapping/>
  </p:clrMapOvr>
  <p:transition>
    <p:blinds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6851D42-B612-F1AE-CC22-B24DE6CF8512}"/>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9E6B8BF1-F61F-3737-7812-1A2164D42A9C}"/>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AA5D4DA5-3650-8289-6446-65315E87DD14}"/>
              </a:ext>
            </a:extLst>
          </p:cNvPr>
          <p:cNvSpPr>
            <a:spLocks noGrp="1"/>
          </p:cNvSpPr>
          <p:nvPr>
            <p:ph type="sldNum" sz="quarter" idx="12"/>
          </p:nvPr>
        </p:nvSpPr>
        <p:spPr/>
        <p:txBody>
          <a:bodyPr/>
          <a:lstStyle/>
          <a:p>
            <a:fld id="{6D24B2ED-3C9E-4D6A-9B42-21873C93487F}" type="slidenum">
              <a:rPr lang="en-US" altLang="zh-CN"/>
              <a:pPr/>
              <a:t>9</a:t>
            </a:fld>
            <a:endParaRPr lang="en-US" altLang="zh-CN"/>
          </a:p>
        </p:txBody>
      </p:sp>
      <p:sp>
        <p:nvSpPr>
          <p:cNvPr id="16386" name="Oval 2">
            <a:extLst>
              <a:ext uri="{FF2B5EF4-FFF2-40B4-BE49-F238E27FC236}">
                <a16:creationId xmlns:a16="http://schemas.microsoft.com/office/drawing/2014/main" id="{6E944CF3-A0BA-1CCC-B522-37148B8F7072}"/>
              </a:ext>
            </a:extLst>
          </p:cNvPr>
          <p:cNvSpPr>
            <a:spLocks noChangeArrowheads="1"/>
          </p:cNvSpPr>
          <p:nvPr/>
        </p:nvSpPr>
        <p:spPr bwMode="auto">
          <a:xfrm>
            <a:off x="611188" y="2636838"/>
            <a:ext cx="990600" cy="9906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A</a:t>
            </a:r>
          </a:p>
        </p:txBody>
      </p:sp>
      <p:sp>
        <p:nvSpPr>
          <p:cNvPr id="16387" name="Oval 3">
            <a:extLst>
              <a:ext uri="{FF2B5EF4-FFF2-40B4-BE49-F238E27FC236}">
                <a16:creationId xmlns:a16="http://schemas.microsoft.com/office/drawing/2014/main" id="{1F34E594-2F2D-9399-0B62-6F67B25421DA}"/>
              </a:ext>
            </a:extLst>
          </p:cNvPr>
          <p:cNvSpPr>
            <a:spLocks noChangeArrowheads="1"/>
          </p:cNvSpPr>
          <p:nvPr/>
        </p:nvSpPr>
        <p:spPr bwMode="auto">
          <a:xfrm>
            <a:off x="2484438" y="2708275"/>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D</a:t>
            </a:r>
          </a:p>
        </p:txBody>
      </p:sp>
      <p:sp>
        <p:nvSpPr>
          <p:cNvPr id="16388" name="Oval 4">
            <a:extLst>
              <a:ext uri="{FF2B5EF4-FFF2-40B4-BE49-F238E27FC236}">
                <a16:creationId xmlns:a16="http://schemas.microsoft.com/office/drawing/2014/main" id="{0F0B2545-16CA-FD39-1B77-B9457ECB2A4A}"/>
              </a:ext>
            </a:extLst>
          </p:cNvPr>
          <p:cNvSpPr>
            <a:spLocks noChangeArrowheads="1"/>
          </p:cNvSpPr>
          <p:nvPr/>
        </p:nvSpPr>
        <p:spPr bwMode="auto">
          <a:xfrm>
            <a:off x="5795963" y="2708275"/>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I</a:t>
            </a:r>
          </a:p>
        </p:txBody>
      </p:sp>
      <p:sp>
        <p:nvSpPr>
          <p:cNvPr id="16389" name="Oval 5">
            <a:extLst>
              <a:ext uri="{FF2B5EF4-FFF2-40B4-BE49-F238E27FC236}">
                <a16:creationId xmlns:a16="http://schemas.microsoft.com/office/drawing/2014/main" id="{20BE3583-986C-F4A1-C84F-5EBDE9A49472}"/>
              </a:ext>
            </a:extLst>
          </p:cNvPr>
          <p:cNvSpPr>
            <a:spLocks noChangeArrowheads="1"/>
          </p:cNvSpPr>
          <p:nvPr/>
        </p:nvSpPr>
        <p:spPr bwMode="auto">
          <a:xfrm>
            <a:off x="6732588" y="908050"/>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K</a:t>
            </a:r>
          </a:p>
        </p:txBody>
      </p:sp>
      <p:sp>
        <p:nvSpPr>
          <p:cNvPr id="16390" name="Oval 6">
            <a:extLst>
              <a:ext uri="{FF2B5EF4-FFF2-40B4-BE49-F238E27FC236}">
                <a16:creationId xmlns:a16="http://schemas.microsoft.com/office/drawing/2014/main" id="{6E456AC6-CFFF-0C65-AB83-CDE6731380F9}"/>
              </a:ext>
            </a:extLst>
          </p:cNvPr>
          <p:cNvSpPr>
            <a:spLocks noChangeArrowheads="1"/>
          </p:cNvSpPr>
          <p:nvPr/>
        </p:nvSpPr>
        <p:spPr bwMode="auto">
          <a:xfrm>
            <a:off x="3492500" y="908050"/>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E</a:t>
            </a:r>
          </a:p>
        </p:txBody>
      </p:sp>
      <p:sp>
        <p:nvSpPr>
          <p:cNvPr id="16391" name="Oval 7">
            <a:extLst>
              <a:ext uri="{FF2B5EF4-FFF2-40B4-BE49-F238E27FC236}">
                <a16:creationId xmlns:a16="http://schemas.microsoft.com/office/drawing/2014/main" id="{BAB7BD60-80C5-8E31-48FE-95D3EAA029EE}"/>
              </a:ext>
            </a:extLst>
          </p:cNvPr>
          <p:cNvSpPr>
            <a:spLocks noChangeArrowheads="1"/>
          </p:cNvSpPr>
          <p:nvPr/>
        </p:nvSpPr>
        <p:spPr bwMode="auto">
          <a:xfrm>
            <a:off x="3810000" y="4267200"/>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F</a:t>
            </a:r>
          </a:p>
        </p:txBody>
      </p:sp>
      <p:sp>
        <p:nvSpPr>
          <p:cNvPr id="16392" name="Oval 8">
            <a:extLst>
              <a:ext uri="{FF2B5EF4-FFF2-40B4-BE49-F238E27FC236}">
                <a16:creationId xmlns:a16="http://schemas.microsoft.com/office/drawing/2014/main" id="{7CA4D25B-1FAE-5C0B-955F-8F06A935C0A1}"/>
              </a:ext>
            </a:extLst>
          </p:cNvPr>
          <p:cNvSpPr>
            <a:spLocks noChangeArrowheads="1"/>
          </p:cNvSpPr>
          <p:nvPr/>
        </p:nvSpPr>
        <p:spPr bwMode="auto">
          <a:xfrm>
            <a:off x="1763713" y="908050"/>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B</a:t>
            </a:r>
          </a:p>
        </p:txBody>
      </p:sp>
      <p:sp>
        <p:nvSpPr>
          <p:cNvPr id="16393" name="Oval 9">
            <a:extLst>
              <a:ext uri="{FF2B5EF4-FFF2-40B4-BE49-F238E27FC236}">
                <a16:creationId xmlns:a16="http://schemas.microsoft.com/office/drawing/2014/main" id="{ED848A8A-8E59-5F84-5ED5-2C72068C6A7B}"/>
              </a:ext>
            </a:extLst>
          </p:cNvPr>
          <p:cNvSpPr>
            <a:spLocks noChangeArrowheads="1"/>
          </p:cNvSpPr>
          <p:nvPr/>
        </p:nvSpPr>
        <p:spPr bwMode="auto">
          <a:xfrm>
            <a:off x="6019800" y="4267200"/>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J</a:t>
            </a:r>
          </a:p>
        </p:txBody>
      </p:sp>
      <p:sp>
        <p:nvSpPr>
          <p:cNvPr id="16394" name="Oval 10">
            <a:extLst>
              <a:ext uri="{FF2B5EF4-FFF2-40B4-BE49-F238E27FC236}">
                <a16:creationId xmlns:a16="http://schemas.microsoft.com/office/drawing/2014/main" id="{DD09280B-EAE0-E54C-0A97-AC5D32D18AC5}"/>
              </a:ext>
            </a:extLst>
          </p:cNvPr>
          <p:cNvSpPr>
            <a:spLocks noChangeArrowheads="1"/>
          </p:cNvSpPr>
          <p:nvPr/>
        </p:nvSpPr>
        <p:spPr bwMode="auto">
          <a:xfrm>
            <a:off x="5148263" y="908050"/>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H</a:t>
            </a:r>
          </a:p>
        </p:txBody>
      </p:sp>
      <p:sp>
        <p:nvSpPr>
          <p:cNvPr id="16395" name="Oval 11">
            <a:extLst>
              <a:ext uri="{FF2B5EF4-FFF2-40B4-BE49-F238E27FC236}">
                <a16:creationId xmlns:a16="http://schemas.microsoft.com/office/drawing/2014/main" id="{B7BF77AE-8700-AD96-15B0-D6C99DD6B51D}"/>
              </a:ext>
            </a:extLst>
          </p:cNvPr>
          <p:cNvSpPr>
            <a:spLocks noChangeArrowheads="1"/>
          </p:cNvSpPr>
          <p:nvPr/>
        </p:nvSpPr>
        <p:spPr bwMode="auto">
          <a:xfrm>
            <a:off x="1752600" y="4267200"/>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C</a:t>
            </a:r>
          </a:p>
        </p:txBody>
      </p:sp>
      <p:sp>
        <p:nvSpPr>
          <p:cNvPr id="16396" name="Oval 12">
            <a:extLst>
              <a:ext uri="{FF2B5EF4-FFF2-40B4-BE49-F238E27FC236}">
                <a16:creationId xmlns:a16="http://schemas.microsoft.com/office/drawing/2014/main" id="{1DA90990-AE84-3493-1184-3AF42D3A75D3}"/>
              </a:ext>
            </a:extLst>
          </p:cNvPr>
          <p:cNvSpPr>
            <a:spLocks noChangeArrowheads="1"/>
          </p:cNvSpPr>
          <p:nvPr/>
        </p:nvSpPr>
        <p:spPr bwMode="auto">
          <a:xfrm>
            <a:off x="4140200" y="2708275"/>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G</a:t>
            </a:r>
          </a:p>
        </p:txBody>
      </p:sp>
      <p:sp>
        <p:nvSpPr>
          <p:cNvPr id="16397" name="Oval 13">
            <a:extLst>
              <a:ext uri="{FF2B5EF4-FFF2-40B4-BE49-F238E27FC236}">
                <a16:creationId xmlns:a16="http://schemas.microsoft.com/office/drawing/2014/main" id="{C48F2FEC-28C2-F479-F905-2655BE43533D}"/>
              </a:ext>
            </a:extLst>
          </p:cNvPr>
          <p:cNvSpPr>
            <a:spLocks noChangeArrowheads="1"/>
          </p:cNvSpPr>
          <p:nvPr/>
        </p:nvSpPr>
        <p:spPr bwMode="auto">
          <a:xfrm>
            <a:off x="7885113" y="2708275"/>
            <a:ext cx="914400" cy="914400"/>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a:t>L</a:t>
            </a:r>
          </a:p>
        </p:txBody>
      </p:sp>
      <p:sp>
        <p:nvSpPr>
          <p:cNvPr id="16398" name="Line 14">
            <a:extLst>
              <a:ext uri="{FF2B5EF4-FFF2-40B4-BE49-F238E27FC236}">
                <a16:creationId xmlns:a16="http://schemas.microsoft.com/office/drawing/2014/main" id="{D07E5358-F7D9-6519-8C77-A9159FED26EF}"/>
              </a:ext>
            </a:extLst>
          </p:cNvPr>
          <p:cNvSpPr>
            <a:spLocks noChangeShapeType="1"/>
          </p:cNvSpPr>
          <p:nvPr/>
        </p:nvSpPr>
        <p:spPr bwMode="auto">
          <a:xfrm flipV="1">
            <a:off x="1258888" y="1773238"/>
            <a:ext cx="720725" cy="8461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399" name="Line 15">
            <a:extLst>
              <a:ext uri="{FF2B5EF4-FFF2-40B4-BE49-F238E27FC236}">
                <a16:creationId xmlns:a16="http://schemas.microsoft.com/office/drawing/2014/main" id="{721E6EF4-BFAB-744E-5953-EB21CFFCE214}"/>
              </a:ext>
            </a:extLst>
          </p:cNvPr>
          <p:cNvSpPr>
            <a:spLocks noChangeShapeType="1"/>
          </p:cNvSpPr>
          <p:nvPr/>
        </p:nvSpPr>
        <p:spPr bwMode="auto">
          <a:xfrm>
            <a:off x="1331913" y="3573463"/>
            <a:ext cx="573087" cy="8461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2" name="Line 18">
            <a:extLst>
              <a:ext uri="{FF2B5EF4-FFF2-40B4-BE49-F238E27FC236}">
                <a16:creationId xmlns:a16="http://schemas.microsoft.com/office/drawing/2014/main" id="{4E31A099-B9CC-C3D9-AC37-62F4178FEDC8}"/>
              </a:ext>
            </a:extLst>
          </p:cNvPr>
          <p:cNvSpPr>
            <a:spLocks noChangeShapeType="1"/>
          </p:cNvSpPr>
          <p:nvPr/>
        </p:nvSpPr>
        <p:spPr bwMode="auto">
          <a:xfrm>
            <a:off x="2700338" y="1341438"/>
            <a:ext cx="7921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3" name="Line 19">
            <a:extLst>
              <a:ext uri="{FF2B5EF4-FFF2-40B4-BE49-F238E27FC236}">
                <a16:creationId xmlns:a16="http://schemas.microsoft.com/office/drawing/2014/main" id="{2B7594C6-0CAC-5BCB-25E8-56F34DF7807B}"/>
              </a:ext>
            </a:extLst>
          </p:cNvPr>
          <p:cNvSpPr>
            <a:spLocks noChangeShapeType="1"/>
          </p:cNvSpPr>
          <p:nvPr/>
        </p:nvSpPr>
        <p:spPr bwMode="auto">
          <a:xfrm>
            <a:off x="4427538" y="1341438"/>
            <a:ext cx="720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4" name="Line 20">
            <a:extLst>
              <a:ext uri="{FF2B5EF4-FFF2-40B4-BE49-F238E27FC236}">
                <a16:creationId xmlns:a16="http://schemas.microsoft.com/office/drawing/2014/main" id="{3651ABB4-E9F2-3C47-45F0-A25CA81DF7AC}"/>
              </a:ext>
            </a:extLst>
          </p:cNvPr>
          <p:cNvSpPr>
            <a:spLocks noChangeShapeType="1"/>
          </p:cNvSpPr>
          <p:nvPr/>
        </p:nvSpPr>
        <p:spPr bwMode="auto">
          <a:xfrm>
            <a:off x="6084888" y="1341438"/>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5" name="Line 21">
            <a:extLst>
              <a:ext uri="{FF2B5EF4-FFF2-40B4-BE49-F238E27FC236}">
                <a16:creationId xmlns:a16="http://schemas.microsoft.com/office/drawing/2014/main" id="{2FE08DF2-E885-DA10-46FD-6865FE243D92}"/>
              </a:ext>
            </a:extLst>
          </p:cNvPr>
          <p:cNvSpPr>
            <a:spLocks noChangeShapeType="1"/>
          </p:cNvSpPr>
          <p:nvPr/>
        </p:nvSpPr>
        <p:spPr bwMode="auto">
          <a:xfrm>
            <a:off x="7451725" y="1773238"/>
            <a:ext cx="649288" cy="10080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7" name="Line 23">
            <a:extLst>
              <a:ext uri="{FF2B5EF4-FFF2-40B4-BE49-F238E27FC236}">
                <a16:creationId xmlns:a16="http://schemas.microsoft.com/office/drawing/2014/main" id="{20208572-2B14-9C91-9898-FCEF8D80E8B7}"/>
              </a:ext>
            </a:extLst>
          </p:cNvPr>
          <p:cNvSpPr>
            <a:spLocks noChangeShapeType="1"/>
          </p:cNvSpPr>
          <p:nvPr/>
        </p:nvSpPr>
        <p:spPr bwMode="auto">
          <a:xfrm>
            <a:off x="2411413" y="1773238"/>
            <a:ext cx="304800" cy="9906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8" name="Line 24">
            <a:extLst>
              <a:ext uri="{FF2B5EF4-FFF2-40B4-BE49-F238E27FC236}">
                <a16:creationId xmlns:a16="http://schemas.microsoft.com/office/drawing/2014/main" id="{466F4425-74EB-0A60-19C7-5FE229A82FB9}"/>
              </a:ext>
            </a:extLst>
          </p:cNvPr>
          <p:cNvSpPr>
            <a:spLocks noChangeShapeType="1"/>
          </p:cNvSpPr>
          <p:nvPr/>
        </p:nvSpPr>
        <p:spPr bwMode="auto">
          <a:xfrm flipV="1">
            <a:off x="3132138" y="1773238"/>
            <a:ext cx="647700" cy="9223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09" name="Line 25">
            <a:extLst>
              <a:ext uri="{FF2B5EF4-FFF2-40B4-BE49-F238E27FC236}">
                <a16:creationId xmlns:a16="http://schemas.microsoft.com/office/drawing/2014/main" id="{B43E70B4-B99B-D167-9786-AE05B3969342}"/>
              </a:ext>
            </a:extLst>
          </p:cNvPr>
          <p:cNvSpPr>
            <a:spLocks noChangeShapeType="1"/>
          </p:cNvSpPr>
          <p:nvPr/>
        </p:nvSpPr>
        <p:spPr bwMode="auto">
          <a:xfrm flipV="1">
            <a:off x="2362200" y="3573463"/>
            <a:ext cx="409575" cy="6937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0" name="Line 26">
            <a:extLst>
              <a:ext uri="{FF2B5EF4-FFF2-40B4-BE49-F238E27FC236}">
                <a16:creationId xmlns:a16="http://schemas.microsoft.com/office/drawing/2014/main" id="{BDB9B532-0D24-6EFD-D5B7-C3BFAE4A927D}"/>
              </a:ext>
            </a:extLst>
          </p:cNvPr>
          <p:cNvSpPr>
            <a:spLocks noChangeShapeType="1"/>
          </p:cNvSpPr>
          <p:nvPr/>
        </p:nvSpPr>
        <p:spPr bwMode="auto">
          <a:xfrm>
            <a:off x="3419475" y="3213100"/>
            <a:ext cx="7207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1" name="Line 27">
            <a:extLst>
              <a:ext uri="{FF2B5EF4-FFF2-40B4-BE49-F238E27FC236}">
                <a16:creationId xmlns:a16="http://schemas.microsoft.com/office/drawing/2014/main" id="{8218B8EF-2C74-64E3-5BA2-96DB39446C19}"/>
              </a:ext>
            </a:extLst>
          </p:cNvPr>
          <p:cNvSpPr>
            <a:spLocks noChangeShapeType="1"/>
          </p:cNvSpPr>
          <p:nvPr/>
        </p:nvSpPr>
        <p:spPr bwMode="auto">
          <a:xfrm>
            <a:off x="5076825" y="3213100"/>
            <a:ext cx="7191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2" name="Line 28">
            <a:extLst>
              <a:ext uri="{FF2B5EF4-FFF2-40B4-BE49-F238E27FC236}">
                <a16:creationId xmlns:a16="http://schemas.microsoft.com/office/drawing/2014/main" id="{6827BE48-565C-7BCE-7C8C-50E57446860F}"/>
              </a:ext>
            </a:extLst>
          </p:cNvPr>
          <p:cNvSpPr>
            <a:spLocks noChangeShapeType="1"/>
          </p:cNvSpPr>
          <p:nvPr/>
        </p:nvSpPr>
        <p:spPr bwMode="auto">
          <a:xfrm>
            <a:off x="6732588" y="3213100"/>
            <a:ext cx="11525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3" name="Line 29">
            <a:extLst>
              <a:ext uri="{FF2B5EF4-FFF2-40B4-BE49-F238E27FC236}">
                <a16:creationId xmlns:a16="http://schemas.microsoft.com/office/drawing/2014/main" id="{46282B3D-C714-2249-38A5-DB508A3EC6D6}"/>
              </a:ext>
            </a:extLst>
          </p:cNvPr>
          <p:cNvSpPr>
            <a:spLocks noChangeShapeType="1"/>
          </p:cNvSpPr>
          <p:nvPr/>
        </p:nvSpPr>
        <p:spPr bwMode="auto">
          <a:xfrm>
            <a:off x="4724400" y="4724400"/>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4" name="Line 30">
            <a:extLst>
              <a:ext uri="{FF2B5EF4-FFF2-40B4-BE49-F238E27FC236}">
                <a16:creationId xmlns:a16="http://schemas.microsoft.com/office/drawing/2014/main" id="{6BE4F4B7-446F-BB31-C22F-2D7063917ABE}"/>
              </a:ext>
            </a:extLst>
          </p:cNvPr>
          <p:cNvSpPr>
            <a:spLocks noChangeShapeType="1"/>
          </p:cNvSpPr>
          <p:nvPr/>
        </p:nvSpPr>
        <p:spPr bwMode="auto">
          <a:xfrm flipV="1">
            <a:off x="6948488" y="3644900"/>
            <a:ext cx="1223962" cy="9318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5" name="Line 31">
            <a:extLst>
              <a:ext uri="{FF2B5EF4-FFF2-40B4-BE49-F238E27FC236}">
                <a16:creationId xmlns:a16="http://schemas.microsoft.com/office/drawing/2014/main" id="{B96C6C31-5538-4660-98C2-F70FC62C32F7}"/>
              </a:ext>
            </a:extLst>
          </p:cNvPr>
          <p:cNvSpPr>
            <a:spLocks noChangeShapeType="1"/>
          </p:cNvSpPr>
          <p:nvPr/>
        </p:nvSpPr>
        <p:spPr bwMode="auto">
          <a:xfrm>
            <a:off x="2667000" y="4724400"/>
            <a:ext cx="1143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18" name="Line 34">
            <a:extLst>
              <a:ext uri="{FF2B5EF4-FFF2-40B4-BE49-F238E27FC236}">
                <a16:creationId xmlns:a16="http://schemas.microsoft.com/office/drawing/2014/main" id="{B36A7C47-E7EE-258B-0A24-1F1868F76F91}"/>
              </a:ext>
            </a:extLst>
          </p:cNvPr>
          <p:cNvSpPr>
            <a:spLocks noChangeShapeType="1"/>
          </p:cNvSpPr>
          <p:nvPr/>
        </p:nvSpPr>
        <p:spPr bwMode="auto">
          <a:xfrm>
            <a:off x="6300788" y="3644900"/>
            <a:ext cx="100012" cy="6223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1" name="Line 47">
            <a:extLst>
              <a:ext uri="{FF2B5EF4-FFF2-40B4-BE49-F238E27FC236}">
                <a16:creationId xmlns:a16="http://schemas.microsoft.com/office/drawing/2014/main" id="{F9B2E016-1903-425B-70EF-7A10753BEC27}"/>
              </a:ext>
            </a:extLst>
          </p:cNvPr>
          <p:cNvSpPr>
            <a:spLocks noChangeShapeType="1"/>
          </p:cNvSpPr>
          <p:nvPr/>
        </p:nvSpPr>
        <p:spPr bwMode="auto">
          <a:xfrm flipV="1">
            <a:off x="4643438" y="3500438"/>
            <a:ext cx="1296987" cy="9366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2" name="Line 48">
            <a:extLst>
              <a:ext uri="{FF2B5EF4-FFF2-40B4-BE49-F238E27FC236}">
                <a16:creationId xmlns:a16="http://schemas.microsoft.com/office/drawing/2014/main" id="{2D26D6F2-5854-D9CA-63DC-41A7F0790053}"/>
              </a:ext>
            </a:extLst>
          </p:cNvPr>
          <p:cNvSpPr>
            <a:spLocks noChangeShapeType="1"/>
          </p:cNvSpPr>
          <p:nvPr/>
        </p:nvSpPr>
        <p:spPr bwMode="auto">
          <a:xfrm>
            <a:off x="5724525" y="1773238"/>
            <a:ext cx="431800" cy="9350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434" name="Text Box 50">
            <a:extLst>
              <a:ext uri="{FF2B5EF4-FFF2-40B4-BE49-F238E27FC236}">
                <a16:creationId xmlns:a16="http://schemas.microsoft.com/office/drawing/2014/main" id="{4CD23DBD-5FB6-15BD-A5B7-245E9AD3E2F2}"/>
              </a:ext>
            </a:extLst>
          </p:cNvPr>
          <p:cNvSpPr txBox="1">
            <a:spLocks noChangeArrowheads="1"/>
          </p:cNvSpPr>
          <p:nvPr/>
        </p:nvSpPr>
        <p:spPr bwMode="auto">
          <a:xfrm>
            <a:off x="3563938" y="5445125"/>
            <a:ext cx="2087562"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000">
                <a:ea typeface="黑体" panose="02010609060101010101" pitchFamily="49" charset="-122"/>
              </a:rPr>
              <a:t>目标的网络体系</a:t>
            </a:r>
          </a:p>
        </p:txBody>
      </p:sp>
      <p:sp>
        <p:nvSpPr>
          <p:cNvPr id="16436" name="Text Box 52">
            <a:extLst>
              <a:ext uri="{FF2B5EF4-FFF2-40B4-BE49-F238E27FC236}">
                <a16:creationId xmlns:a16="http://schemas.microsoft.com/office/drawing/2014/main" id="{96E394AA-3F18-6B87-26E8-924437E31962}"/>
              </a:ext>
            </a:extLst>
          </p:cNvPr>
          <p:cNvSpPr txBox="1">
            <a:spLocks noChangeArrowheads="1"/>
          </p:cNvSpPr>
          <p:nvPr/>
        </p:nvSpPr>
        <p:spPr bwMode="auto">
          <a:xfrm>
            <a:off x="179388" y="188913"/>
            <a:ext cx="9350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5.2</a:t>
            </a:r>
            <a:r>
              <a:rPr lang="zh-CN" altLang="en-US" sz="1600"/>
              <a:t>目标</a:t>
            </a:r>
          </a:p>
        </p:txBody>
      </p:sp>
    </p:spTree>
  </p:cSld>
  <p:clrMapOvr>
    <a:masterClrMapping/>
  </p:clrMapOvr>
  <p:transition>
    <p:blinds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A09E46A-0915-6F0A-4F95-E3D9C9142BA8}"/>
              </a:ext>
            </a:extLst>
          </p:cNvPr>
          <p:cNvSpPr>
            <a:spLocks noGrp="1"/>
          </p:cNvSpPr>
          <p:nvPr>
            <p:ph type="dt" sz="half" idx="10"/>
          </p:nvPr>
        </p:nvSpPr>
        <p:spPr/>
        <p:txBody>
          <a:bodyPr/>
          <a:lstStyle/>
          <a:p>
            <a:r>
              <a:rPr lang="zh-CN" altLang="en-US"/>
              <a:t>版本：2004</a:t>
            </a:r>
            <a:endParaRPr lang="en-US" altLang="zh-CN"/>
          </a:p>
        </p:txBody>
      </p:sp>
      <p:sp>
        <p:nvSpPr>
          <p:cNvPr id="3" name="页脚占位符 2">
            <a:extLst>
              <a:ext uri="{FF2B5EF4-FFF2-40B4-BE49-F238E27FC236}">
                <a16:creationId xmlns:a16="http://schemas.microsoft.com/office/drawing/2014/main" id="{ADF4AEE8-6204-E70E-3F01-52B7B85E142F}"/>
              </a:ext>
            </a:extLst>
          </p:cNvPr>
          <p:cNvSpPr>
            <a:spLocks noGrp="1"/>
          </p:cNvSpPr>
          <p:nvPr>
            <p:ph type="ftr" sz="quarter" idx="11"/>
          </p:nvPr>
        </p:nvSpPr>
        <p:spPr/>
        <p:txBody>
          <a:bodyPr/>
          <a:lstStyle/>
          <a:p>
            <a:r>
              <a:rPr lang="en-US" altLang="zh-CN"/>
              <a:t>管理学</a:t>
            </a:r>
          </a:p>
        </p:txBody>
      </p:sp>
      <p:sp>
        <p:nvSpPr>
          <p:cNvPr id="4" name="灯片编号占位符 3">
            <a:extLst>
              <a:ext uri="{FF2B5EF4-FFF2-40B4-BE49-F238E27FC236}">
                <a16:creationId xmlns:a16="http://schemas.microsoft.com/office/drawing/2014/main" id="{97CCEE76-B55E-DB0D-5D4C-E2BA3A51C654}"/>
              </a:ext>
            </a:extLst>
          </p:cNvPr>
          <p:cNvSpPr>
            <a:spLocks noGrp="1"/>
          </p:cNvSpPr>
          <p:nvPr>
            <p:ph type="sldNum" sz="quarter" idx="12"/>
          </p:nvPr>
        </p:nvSpPr>
        <p:spPr/>
        <p:txBody>
          <a:bodyPr/>
          <a:lstStyle/>
          <a:p>
            <a:fld id="{F00FE952-13DF-4961-BE47-6FB24917B2BD}" type="slidenum">
              <a:rPr lang="en-US" altLang="zh-CN"/>
              <a:pPr/>
              <a:t>10</a:t>
            </a:fld>
            <a:endParaRPr lang="en-US" altLang="zh-CN"/>
          </a:p>
        </p:txBody>
      </p:sp>
      <p:sp>
        <p:nvSpPr>
          <p:cNvPr id="108548" name="Rectangle 4">
            <a:extLst>
              <a:ext uri="{FF2B5EF4-FFF2-40B4-BE49-F238E27FC236}">
                <a16:creationId xmlns:a16="http://schemas.microsoft.com/office/drawing/2014/main" id="{DC00A306-B651-7225-4515-EA32DC18CF81}"/>
              </a:ext>
            </a:extLst>
          </p:cNvPr>
          <p:cNvSpPr>
            <a:spLocks noChangeArrowheads="1"/>
          </p:cNvSpPr>
          <p:nvPr/>
        </p:nvSpPr>
        <p:spPr bwMode="auto">
          <a:xfrm>
            <a:off x="1331913" y="2492375"/>
            <a:ext cx="1871662" cy="1008063"/>
          </a:xfrm>
          <a:prstGeom prst="rect">
            <a:avLst/>
          </a:prstGeom>
          <a:solidFill>
            <a:schemeClr val="bg1"/>
          </a:solidFill>
          <a:ln w="4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zh-CN" altLang="en-US"/>
              <a:t>生产目标</a:t>
            </a:r>
          </a:p>
        </p:txBody>
      </p:sp>
      <p:sp>
        <p:nvSpPr>
          <p:cNvPr id="108549" name="Oval 5">
            <a:extLst>
              <a:ext uri="{FF2B5EF4-FFF2-40B4-BE49-F238E27FC236}">
                <a16:creationId xmlns:a16="http://schemas.microsoft.com/office/drawing/2014/main" id="{0205BF1E-5209-FF74-5F67-547163771779}"/>
              </a:ext>
            </a:extLst>
          </p:cNvPr>
          <p:cNvSpPr>
            <a:spLocks noChangeArrowheads="1"/>
          </p:cNvSpPr>
          <p:nvPr/>
        </p:nvSpPr>
        <p:spPr bwMode="auto">
          <a:xfrm>
            <a:off x="4787900" y="765175"/>
            <a:ext cx="1223963" cy="1150938"/>
          </a:xfrm>
          <a:prstGeom prst="ellipse">
            <a:avLst/>
          </a:prstGeom>
          <a:solidFill>
            <a:schemeClr val="bg1"/>
          </a:solidFill>
          <a:ln w="4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zh-CN" altLang="en-US"/>
              <a:t>产量目标</a:t>
            </a:r>
          </a:p>
        </p:txBody>
      </p:sp>
      <p:sp>
        <p:nvSpPr>
          <p:cNvPr id="108554" name="Oval 10">
            <a:extLst>
              <a:ext uri="{FF2B5EF4-FFF2-40B4-BE49-F238E27FC236}">
                <a16:creationId xmlns:a16="http://schemas.microsoft.com/office/drawing/2014/main" id="{32C907BF-5055-6F70-BB56-F09160957DE0}"/>
              </a:ext>
            </a:extLst>
          </p:cNvPr>
          <p:cNvSpPr>
            <a:spLocks noChangeArrowheads="1"/>
          </p:cNvSpPr>
          <p:nvPr/>
        </p:nvSpPr>
        <p:spPr bwMode="auto">
          <a:xfrm>
            <a:off x="4787900" y="4221163"/>
            <a:ext cx="1223963" cy="1150937"/>
          </a:xfrm>
          <a:prstGeom prst="ellipse">
            <a:avLst/>
          </a:prstGeom>
          <a:solidFill>
            <a:schemeClr val="bg1"/>
          </a:solidFill>
          <a:ln w="4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zh-CN" altLang="en-US"/>
              <a:t>交货期目标</a:t>
            </a:r>
          </a:p>
        </p:txBody>
      </p:sp>
      <p:sp>
        <p:nvSpPr>
          <p:cNvPr id="108555" name="Oval 11">
            <a:extLst>
              <a:ext uri="{FF2B5EF4-FFF2-40B4-BE49-F238E27FC236}">
                <a16:creationId xmlns:a16="http://schemas.microsoft.com/office/drawing/2014/main" id="{A1407481-D589-3F44-BE1F-22581CCDB65C}"/>
              </a:ext>
            </a:extLst>
          </p:cNvPr>
          <p:cNvSpPr>
            <a:spLocks noChangeArrowheads="1"/>
          </p:cNvSpPr>
          <p:nvPr/>
        </p:nvSpPr>
        <p:spPr bwMode="auto">
          <a:xfrm>
            <a:off x="4787900" y="1916113"/>
            <a:ext cx="1223963" cy="1150937"/>
          </a:xfrm>
          <a:prstGeom prst="ellipse">
            <a:avLst/>
          </a:prstGeom>
          <a:solidFill>
            <a:schemeClr val="bg1"/>
          </a:solidFill>
          <a:ln w="4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zh-CN" altLang="en-US"/>
              <a:t>成本目标</a:t>
            </a:r>
          </a:p>
        </p:txBody>
      </p:sp>
      <p:sp>
        <p:nvSpPr>
          <p:cNvPr id="108556" name="Oval 12">
            <a:extLst>
              <a:ext uri="{FF2B5EF4-FFF2-40B4-BE49-F238E27FC236}">
                <a16:creationId xmlns:a16="http://schemas.microsoft.com/office/drawing/2014/main" id="{F3ECFE62-6890-B9C7-6BF0-9CA931E94259}"/>
              </a:ext>
            </a:extLst>
          </p:cNvPr>
          <p:cNvSpPr>
            <a:spLocks noChangeArrowheads="1"/>
          </p:cNvSpPr>
          <p:nvPr/>
        </p:nvSpPr>
        <p:spPr bwMode="auto">
          <a:xfrm>
            <a:off x="4787900" y="3068638"/>
            <a:ext cx="1223963" cy="1150937"/>
          </a:xfrm>
          <a:prstGeom prst="ellipse">
            <a:avLst/>
          </a:prstGeom>
          <a:solidFill>
            <a:schemeClr val="bg1"/>
          </a:solidFill>
          <a:ln w="4699">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zh-CN" altLang="en-US"/>
              <a:t>质量目标</a:t>
            </a:r>
          </a:p>
        </p:txBody>
      </p:sp>
      <p:sp>
        <p:nvSpPr>
          <p:cNvPr id="108557" name="Line 13">
            <a:extLst>
              <a:ext uri="{FF2B5EF4-FFF2-40B4-BE49-F238E27FC236}">
                <a16:creationId xmlns:a16="http://schemas.microsoft.com/office/drawing/2014/main" id="{8CF23ADF-4A88-25A1-60C4-6EEF2B6BDD64}"/>
              </a:ext>
            </a:extLst>
          </p:cNvPr>
          <p:cNvSpPr>
            <a:spLocks noChangeShapeType="1"/>
          </p:cNvSpPr>
          <p:nvPr/>
        </p:nvSpPr>
        <p:spPr bwMode="auto">
          <a:xfrm flipV="1">
            <a:off x="3203575" y="1341438"/>
            <a:ext cx="1584325" cy="1655762"/>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08558" name="Line 14">
            <a:extLst>
              <a:ext uri="{FF2B5EF4-FFF2-40B4-BE49-F238E27FC236}">
                <a16:creationId xmlns:a16="http://schemas.microsoft.com/office/drawing/2014/main" id="{57B0E64C-5873-09F5-DCAC-7B2695808D0E}"/>
              </a:ext>
            </a:extLst>
          </p:cNvPr>
          <p:cNvSpPr>
            <a:spLocks noChangeShapeType="1"/>
          </p:cNvSpPr>
          <p:nvPr/>
        </p:nvSpPr>
        <p:spPr bwMode="auto">
          <a:xfrm>
            <a:off x="3203575" y="2997200"/>
            <a:ext cx="1584325" cy="1800225"/>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08559" name="Line 15">
            <a:extLst>
              <a:ext uri="{FF2B5EF4-FFF2-40B4-BE49-F238E27FC236}">
                <a16:creationId xmlns:a16="http://schemas.microsoft.com/office/drawing/2014/main" id="{1471AF48-D4CD-E359-14CC-A9620A64EEB9}"/>
              </a:ext>
            </a:extLst>
          </p:cNvPr>
          <p:cNvSpPr>
            <a:spLocks noChangeShapeType="1"/>
          </p:cNvSpPr>
          <p:nvPr/>
        </p:nvSpPr>
        <p:spPr bwMode="auto">
          <a:xfrm flipV="1">
            <a:off x="3203575" y="2492375"/>
            <a:ext cx="1584325" cy="504825"/>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08560" name="Line 16">
            <a:extLst>
              <a:ext uri="{FF2B5EF4-FFF2-40B4-BE49-F238E27FC236}">
                <a16:creationId xmlns:a16="http://schemas.microsoft.com/office/drawing/2014/main" id="{CE65437F-4F1B-91FA-BB4D-C1590AFE4986}"/>
              </a:ext>
            </a:extLst>
          </p:cNvPr>
          <p:cNvSpPr>
            <a:spLocks noChangeShapeType="1"/>
          </p:cNvSpPr>
          <p:nvPr/>
        </p:nvSpPr>
        <p:spPr bwMode="auto">
          <a:xfrm>
            <a:off x="3203575" y="2997200"/>
            <a:ext cx="1584325" cy="647700"/>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108561" name="Text Box 17">
            <a:extLst>
              <a:ext uri="{FF2B5EF4-FFF2-40B4-BE49-F238E27FC236}">
                <a16:creationId xmlns:a16="http://schemas.microsoft.com/office/drawing/2014/main" id="{3EA0B028-E7CE-6A89-2B16-01AE6B6A8D81}"/>
              </a:ext>
            </a:extLst>
          </p:cNvPr>
          <p:cNvSpPr txBox="1">
            <a:spLocks noChangeArrowheads="1"/>
          </p:cNvSpPr>
          <p:nvPr/>
        </p:nvSpPr>
        <p:spPr bwMode="auto">
          <a:xfrm>
            <a:off x="6300788" y="1557338"/>
            <a:ext cx="2374900" cy="3055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zh-CN" sz="1600"/>
              <a:t>1.</a:t>
            </a:r>
            <a:r>
              <a:rPr lang="zh-CN" altLang="en-US" sz="1600"/>
              <a:t>组织的目标不会仅有一个，也不应只有一个惟一的目标。</a:t>
            </a:r>
          </a:p>
          <a:p>
            <a:r>
              <a:rPr lang="en-US" altLang="zh-CN" sz="1600"/>
              <a:t>2.</a:t>
            </a:r>
            <a:r>
              <a:rPr lang="zh-CN" altLang="en-US" sz="1600"/>
              <a:t>在目标层次体系中的每一个层次的目标，都是多种多样。</a:t>
            </a:r>
          </a:p>
          <a:p>
            <a:r>
              <a:rPr lang="en-US" altLang="zh-CN" sz="1600"/>
              <a:t>3.</a:t>
            </a:r>
            <a:r>
              <a:rPr lang="zh-CN" altLang="en-US" sz="1600"/>
              <a:t>目标数量应有所限制，使组织的资源和注意力能够集中在几个主要的方向上。</a:t>
            </a:r>
          </a:p>
          <a:p>
            <a:r>
              <a:rPr lang="en-US" altLang="zh-CN" sz="1600"/>
              <a:t>4.</a:t>
            </a:r>
            <a:r>
              <a:rPr lang="zh-CN" altLang="en-US" sz="1600"/>
              <a:t>能同时有效追求的目标数量视情况而定</a:t>
            </a:r>
            <a:r>
              <a:rPr lang="zh-CN" altLang="en-US"/>
              <a:t>。</a:t>
            </a:r>
          </a:p>
        </p:txBody>
      </p:sp>
      <p:sp>
        <p:nvSpPr>
          <p:cNvPr id="108562" name="Text Box 18">
            <a:extLst>
              <a:ext uri="{FF2B5EF4-FFF2-40B4-BE49-F238E27FC236}">
                <a16:creationId xmlns:a16="http://schemas.microsoft.com/office/drawing/2014/main" id="{0F621816-1338-EA7F-A0F6-4095C55D89A3}"/>
              </a:ext>
            </a:extLst>
          </p:cNvPr>
          <p:cNvSpPr txBox="1">
            <a:spLocks noChangeArrowheads="1"/>
          </p:cNvSpPr>
          <p:nvPr/>
        </p:nvSpPr>
        <p:spPr bwMode="auto">
          <a:xfrm>
            <a:off x="179388" y="188913"/>
            <a:ext cx="935037"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1600"/>
              <a:t>5.2</a:t>
            </a:r>
            <a:r>
              <a:rPr lang="zh-CN" altLang="en-US" sz="1600"/>
              <a:t>目标</a:t>
            </a:r>
          </a:p>
        </p:txBody>
      </p:sp>
      <p:sp>
        <p:nvSpPr>
          <p:cNvPr id="108563" name="Text Box 19">
            <a:extLst>
              <a:ext uri="{FF2B5EF4-FFF2-40B4-BE49-F238E27FC236}">
                <a16:creationId xmlns:a16="http://schemas.microsoft.com/office/drawing/2014/main" id="{0D804191-1820-FBF5-D4FF-B2800FC82CFA}"/>
              </a:ext>
            </a:extLst>
          </p:cNvPr>
          <p:cNvSpPr txBox="1">
            <a:spLocks noChangeArrowheads="1"/>
          </p:cNvSpPr>
          <p:nvPr/>
        </p:nvSpPr>
        <p:spPr bwMode="auto">
          <a:xfrm>
            <a:off x="539750" y="4005263"/>
            <a:ext cx="3311525" cy="146526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zh-CN" altLang="en-US"/>
              <a:t>限制或减少目标的数量办法：</a:t>
            </a:r>
          </a:p>
          <a:p>
            <a:r>
              <a:rPr lang="en-US" altLang="zh-CN"/>
              <a:t>1.</a:t>
            </a:r>
            <a:r>
              <a:rPr lang="zh-CN" altLang="en-US"/>
              <a:t>去掉不必要的目标。</a:t>
            </a:r>
          </a:p>
          <a:p>
            <a:r>
              <a:rPr lang="en-US" altLang="zh-CN"/>
              <a:t>2.</a:t>
            </a:r>
            <a:r>
              <a:rPr lang="zh-CN" altLang="en-US"/>
              <a:t>把次要目标改为约束条件。</a:t>
            </a:r>
          </a:p>
          <a:p>
            <a:r>
              <a:rPr lang="en-US" altLang="zh-CN"/>
              <a:t>3.</a:t>
            </a:r>
            <a:r>
              <a:rPr lang="zh-CN" altLang="en-US"/>
              <a:t>将几项目标结合形成一个综合目标。</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1769665C-E2F2-AC11-6B02-C0DB92C8E3C5}"/>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19721516-C3A7-57F7-67B4-3BCE1F73418F}"/>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8157F7A0-C790-163C-2DE8-C230280622A1}"/>
              </a:ext>
            </a:extLst>
          </p:cNvPr>
          <p:cNvSpPr>
            <a:spLocks noGrp="1"/>
          </p:cNvSpPr>
          <p:nvPr>
            <p:ph type="sldNum" sz="quarter" idx="12"/>
          </p:nvPr>
        </p:nvSpPr>
        <p:spPr/>
        <p:txBody>
          <a:bodyPr/>
          <a:lstStyle/>
          <a:p>
            <a:fld id="{B1BA5B5F-59B4-490E-9ACD-EF6C3696E72E}" type="slidenum">
              <a:rPr lang="en-US" altLang="zh-CN"/>
              <a:pPr/>
              <a:t>11</a:t>
            </a:fld>
            <a:endParaRPr lang="en-US" altLang="zh-CN"/>
          </a:p>
        </p:txBody>
      </p:sp>
      <p:sp>
        <p:nvSpPr>
          <p:cNvPr id="73732" name="Text Box 4">
            <a:extLst>
              <a:ext uri="{FF2B5EF4-FFF2-40B4-BE49-F238E27FC236}">
                <a16:creationId xmlns:a16="http://schemas.microsoft.com/office/drawing/2014/main" id="{564A4558-0F2F-7520-E642-CDAD821601C8}"/>
              </a:ext>
            </a:extLst>
          </p:cNvPr>
          <p:cNvSpPr txBox="1">
            <a:spLocks noChangeArrowheads="1"/>
          </p:cNvSpPr>
          <p:nvPr/>
        </p:nvSpPr>
        <p:spPr bwMode="auto">
          <a:xfrm>
            <a:off x="179388" y="188913"/>
            <a:ext cx="1008062" cy="36671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zh-CN">
                <a:solidFill>
                  <a:schemeClr val="tx2"/>
                </a:solidFill>
              </a:rPr>
              <a:t>5.2</a:t>
            </a:r>
            <a:r>
              <a:rPr lang="zh-CN" altLang="en-US">
                <a:solidFill>
                  <a:schemeClr val="tx2"/>
                </a:solidFill>
              </a:rPr>
              <a:t>目标</a:t>
            </a:r>
          </a:p>
        </p:txBody>
      </p:sp>
      <p:sp>
        <p:nvSpPr>
          <p:cNvPr id="73734" name="Text Box 6">
            <a:extLst>
              <a:ext uri="{FF2B5EF4-FFF2-40B4-BE49-F238E27FC236}">
                <a16:creationId xmlns:a16="http://schemas.microsoft.com/office/drawing/2014/main" id="{9E95971B-1083-96F8-57E7-3D4408C04EA6}"/>
              </a:ext>
            </a:extLst>
          </p:cNvPr>
          <p:cNvSpPr txBox="1">
            <a:spLocks noChangeArrowheads="1"/>
          </p:cNvSpPr>
          <p:nvPr/>
        </p:nvSpPr>
        <p:spPr bwMode="auto">
          <a:xfrm>
            <a:off x="3563938" y="765175"/>
            <a:ext cx="18002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000">
                <a:solidFill>
                  <a:schemeClr val="tx2"/>
                </a:solidFill>
                <a:ea typeface="黑体" panose="02010609060101010101" pitchFamily="49" charset="-122"/>
              </a:rPr>
              <a:t>目标向量分析</a:t>
            </a:r>
          </a:p>
        </p:txBody>
      </p:sp>
      <p:graphicFrame>
        <p:nvGraphicFramePr>
          <p:cNvPr id="73764" name="Group 36">
            <a:extLst>
              <a:ext uri="{FF2B5EF4-FFF2-40B4-BE49-F238E27FC236}">
                <a16:creationId xmlns:a16="http://schemas.microsoft.com/office/drawing/2014/main" id="{5BB93D8D-42E1-20E5-20EC-9E8E9E178BC6}"/>
              </a:ext>
            </a:extLst>
          </p:cNvPr>
          <p:cNvGraphicFramePr>
            <a:graphicFrameLocks noGrp="1"/>
          </p:cNvGraphicFramePr>
          <p:nvPr>
            <p:ph/>
          </p:nvPr>
        </p:nvGraphicFramePr>
        <p:xfrm>
          <a:off x="468313" y="1268413"/>
          <a:ext cx="8229600" cy="4214812"/>
        </p:xfrm>
        <a:graphic>
          <a:graphicData uri="http://schemas.openxmlformats.org/drawingml/2006/table">
            <a:tbl>
              <a:tblPr/>
              <a:tblGrid>
                <a:gridCol w="1522412">
                  <a:extLst>
                    <a:ext uri="{9D8B030D-6E8A-4147-A177-3AD203B41FA5}">
                      <a16:colId xmlns:a16="http://schemas.microsoft.com/office/drawing/2014/main" val="2232745564"/>
                    </a:ext>
                  </a:extLst>
                </a:gridCol>
                <a:gridCol w="6707188">
                  <a:extLst>
                    <a:ext uri="{9D8B030D-6E8A-4147-A177-3AD203B41FA5}">
                      <a16:colId xmlns:a16="http://schemas.microsoft.com/office/drawing/2014/main" val="3293834142"/>
                    </a:ext>
                  </a:extLst>
                </a:gridCol>
              </a:tblGrid>
              <a:tr h="9366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组织目标与个人目标</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组织成员的个人目标与组织目标保持一致，有助于组织目标的实现；反之，组织目标难以实现。</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个人目标与组织目标的关系，可以通过目标向量进行分析。</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39450762"/>
                  </a:ext>
                </a:extLst>
              </a:tr>
              <a:tr h="6477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个人目标构成</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个人目标由两部分构成：组织所要求的目标，称为公目标；个人所追求的目标，称为私目标。公目标与私目标相结合构成个人目标。</a:t>
                      </a:r>
                      <a:endParaRPr kumimoji="0" lang="zh-CN" altLang="en-US" sz="2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32260328"/>
                  </a:ext>
                </a:extLst>
              </a:tr>
              <a:tr h="7921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目标向量</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向量是指有大小、有方向的射线。用向量表示目标的大小和方向称之为目标向量。目标向量的大小是指目标的大小，目标向量的方向也是指目标的方向。</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52015924"/>
                  </a:ext>
                </a:extLst>
              </a:tr>
              <a:tr h="110648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假设：</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代表个人目标向量</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P</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代表公目标向量</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Q</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代表私目标向量</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G</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代表组织目标向量</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以二度空间向量表示个人目标与组织目标之间的关系，则有八种类型。</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5145043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B9177335-4D38-66BE-1ADD-F5638FF66523}"/>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B7FA9CF0-9EEC-AFA6-2430-4BC862963205}"/>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F579DF2C-3F34-7EFA-AFD4-06EFC398AD1E}"/>
              </a:ext>
            </a:extLst>
          </p:cNvPr>
          <p:cNvSpPr>
            <a:spLocks noGrp="1"/>
          </p:cNvSpPr>
          <p:nvPr>
            <p:ph type="sldNum" sz="quarter" idx="12"/>
          </p:nvPr>
        </p:nvSpPr>
        <p:spPr/>
        <p:txBody>
          <a:bodyPr/>
          <a:lstStyle/>
          <a:p>
            <a:fld id="{2D7364F4-A62C-4459-988F-E0997222D0A2}" type="slidenum">
              <a:rPr lang="en-US" altLang="zh-CN"/>
              <a:pPr/>
              <a:t>12</a:t>
            </a:fld>
            <a:endParaRPr lang="en-US" altLang="zh-CN"/>
          </a:p>
        </p:txBody>
      </p:sp>
      <p:sp>
        <p:nvSpPr>
          <p:cNvPr id="48132" name="Text Box 1028">
            <a:extLst>
              <a:ext uri="{FF2B5EF4-FFF2-40B4-BE49-F238E27FC236}">
                <a16:creationId xmlns:a16="http://schemas.microsoft.com/office/drawing/2014/main" id="{D39090F6-AE40-E431-0682-CF43485AD15A}"/>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zh-CN" sz="1600"/>
              <a:t>5.3</a:t>
            </a:r>
            <a:r>
              <a:rPr lang="zh-CN" altLang="en-US" sz="1600">
                <a:solidFill>
                  <a:schemeClr val="tx2"/>
                </a:solidFill>
              </a:rPr>
              <a:t>目标管理</a:t>
            </a:r>
          </a:p>
        </p:txBody>
      </p:sp>
      <p:sp>
        <p:nvSpPr>
          <p:cNvPr id="48134" name="Text Box 1030">
            <a:extLst>
              <a:ext uri="{FF2B5EF4-FFF2-40B4-BE49-F238E27FC236}">
                <a16:creationId xmlns:a16="http://schemas.microsoft.com/office/drawing/2014/main" id="{01ED0F67-CB26-0C65-FE28-7AB92610960B}"/>
              </a:ext>
            </a:extLst>
          </p:cNvPr>
          <p:cNvSpPr txBox="1">
            <a:spLocks noChangeArrowheads="1"/>
          </p:cNvSpPr>
          <p:nvPr/>
        </p:nvSpPr>
        <p:spPr bwMode="auto">
          <a:xfrm>
            <a:off x="2987675" y="1125538"/>
            <a:ext cx="2808288"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000">
                <a:solidFill>
                  <a:schemeClr val="tx2"/>
                </a:solidFill>
                <a:ea typeface="黑体" panose="02010609060101010101" pitchFamily="49" charset="-122"/>
              </a:rPr>
              <a:t>目标管理的产生与发展</a:t>
            </a:r>
          </a:p>
        </p:txBody>
      </p:sp>
      <p:graphicFrame>
        <p:nvGraphicFramePr>
          <p:cNvPr id="48176" name="Group 1072">
            <a:extLst>
              <a:ext uri="{FF2B5EF4-FFF2-40B4-BE49-F238E27FC236}">
                <a16:creationId xmlns:a16="http://schemas.microsoft.com/office/drawing/2014/main" id="{B0781690-CDBE-A138-98A8-6804555F5358}"/>
              </a:ext>
            </a:extLst>
          </p:cNvPr>
          <p:cNvGraphicFramePr>
            <a:graphicFrameLocks noGrp="1"/>
          </p:cNvGraphicFramePr>
          <p:nvPr>
            <p:ph/>
          </p:nvPr>
        </p:nvGraphicFramePr>
        <p:xfrm>
          <a:off x="468313" y="1557338"/>
          <a:ext cx="8229600" cy="3206750"/>
        </p:xfrm>
        <a:graphic>
          <a:graphicData uri="http://schemas.openxmlformats.org/drawingml/2006/table">
            <a:tbl>
              <a:tblPr/>
              <a:tblGrid>
                <a:gridCol w="8229600">
                  <a:extLst>
                    <a:ext uri="{9D8B030D-6E8A-4147-A177-3AD203B41FA5}">
                      <a16:colId xmlns:a16="http://schemas.microsoft.com/office/drawing/2014/main" val="1156738301"/>
                    </a:ext>
                  </a:extLst>
                </a:gridCol>
              </a:tblGrid>
              <a:tr h="5762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1954</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年，彼得</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德鲁克在</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管理实践</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中首次提出“通过目标和自我控制进行管理”的思想。</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93505879"/>
                  </a:ext>
                </a:extLst>
              </a:tr>
              <a:tr h="3556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1957</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年，麦格雷戈在一篇论文中提出了以德鲁克的目标管理概念为基础的评价方法。</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405926669"/>
                  </a:ext>
                </a:extLst>
              </a:tr>
              <a:tr h="3587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1960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年，麦格雷戈在</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企业的人性面</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中提出“</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Y</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理论”，成为目标管理理论依据。</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06564962"/>
                  </a:ext>
                </a:extLst>
              </a:tr>
              <a:tr h="631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1961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年，爱德华</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施莱在</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成果管理</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中提出的“成果管理”理论对目标管理方法的完善与发展有重要影响。</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64874822"/>
                  </a:ext>
                </a:extLst>
              </a:tr>
              <a:tr h="6381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世纪</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70</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年代，海因茨</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韦里克等人主张以全面、综合的系统观点定义目标管理，认为是一种以目标为中心的管理系统方法。</a:t>
                      </a:r>
                    </a:p>
                  </a:txBody>
                  <a:tcPr marL="90000" marR="90000" marT="46800" marB="46800"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3852826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899ECC6C-43F5-1F96-FD1D-5B871130CD4B}"/>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AA7F7095-B411-B300-46AB-FB601B1FF183}"/>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82C848F6-8FD2-0839-2384-B8EA0A30BBC6}"/>
              </a:ext>
            </a:extLst>
          </p:cNvPr>
          <p:cNvSpPr>
            <a:spLocks noGrp="1"/>
          </p:cNvSpPr>
          <p:nvPr>
            <p:ph type="sldNum" sz="quarter" idx="12"/>
          </p:nvPr>
        </p:nvSpPr>
        <p:spPr/>
        <p:txBody>
          <a:bodyPr/>
          <a:lstStyle/>
          <a:p>
            <a:fld id="{3ACF6387-5B42-4804-8C53-F71CBBBB5785}" type="slidenum">
              <a:rPr lang="en-US" altLang="zh-CN"/>
              <a:pPr/>
              <a:t>13</a:t>
            </a:fld>
            <a:endParaRPr lang="en-US" altLang="zh-CN"/>
          </a:p>
        </p:txBody>
      </p:sp>
      <p:sp>
        <p:nvSpPr>
          <p:cNvPr id="76804" name="Text Box 4">
            <a:extLst>
              <a:ext uri="{FF2B5EF4-FFF2-40B4-BE49-F238E27FC236}">
                <a16:creationId xmlns:a16="http://schemas.microsoft.com/office/drawing/2014/main" id="{9CE2AEA1-2C0D-E21A-B955-226DEF900005}"/>
              </a:ext>
            </a:extLst>
          </p:cNvPr>
          <p:cNvSpPr txBox="1">
            <a:spLocks noChangeArrowheads="1"/>
          </p:cNvSpPr>
          <p:nvPr/>
        </p:nvSpPr>
        <p:spPr bwMode="auto">
          <a:xfrm>
            <a:off x="3779838" y="981075"/>
            <a:ext cx="1800225" cy="3667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a:solidFill>
                  <a:schemeClr val="tx2"/>
                </a:solidFill>
                <a:ea typeface="黑体" panose="02010609060101010101" pitchFamily="49" charset="-122"/>
              </a:rPr>
              <a:t>目标管理的定义</a:t>
            </a:r>
          </a:p>
        </p:txBody>
      </p:sp>
      <p:graphicFrame>
        <p:nvGraphicFramePr>
          <p:cNvPr id="76829" name="Group 29">
            <a:extLst>
              <a:ext uri="{FF2B5EF4-FFF2-40B4-BE49-F238E27FC236}">
                <a16:creationId xmlns:a16="http://schemas.microsoft.com/office/drawing/2014/main" id="{806E06D8-96BF-9244-C70F-769D4A22785F}"/>
              </a:ext>
            </a:extLst>
          </p:cNvPr>
          <p:cNvGraphicFramePr>
            <a:graphicFrameLocks noGrp="1"/>
          </p:cNvGraphicFramePr>
          <p:nvPr>
            <p:ph/>
          </p:nvPr>
        </p:nvGraphicFramePr>
        <p:xfrm>
          <a:off x="468313" y="1412875"/>
          <a:ext cx="8229600" cy="4451350"/>
        </p:xfrm>
        <a:graphic>
          <a:graphicData uri="http://schemas.openxmlformats.org/drawingml/2006/table">
            <a:tbl>
              <a:tblPr/>
              <a:tblGrid>
                <a:gridCol w="2374900">
                  <a:extLst>
                    <a:ext uri="{9D8B030D-6E8A-4147-A177-3AD203B41FA5}">
                      <a16:colId xmlns:a16="http://schemas.microsoft.com/office/drawing/2014/main" val="4219552140"/>
                    </a:ext>
                  </a:extLst>
                </a:gridCol>
                <a:gridCol w="5854700">
                  <a:extLst>
                    <a:ext uri="{9D8B030D-6E8A-4147-A177-3AD203B41FA5}">
                      <a16:colId xmlns:a16="http://schemas.microsoft.com/office/drawing/2014/main" val="1387012916"/>
                    </a:ext>
                  </a:extLst>
                </a:gridCol>
              </a:tblGrid>
              <a:tr h="5048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乔治</a:t>
                      </a: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奥迪奥恩的定义</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目标管理是上级和下级一起制定共向目标，用预期结果明确个人责任；并以此来协调各部门的活动和评价每个成员贡献的过程。</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03402297"/>
                  </a:ext>
                </a:extLst>
              </a:tr>
              <a:tr h="64293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海因茨</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韦里克的定义</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目标管理是以系统方法综合诸多关键管理因素，有意识地导向组织目标与个人目标并有效与高效率实现的全面的管理系统。</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50438718"/>
                  </a:ext>
                </a:extLst>
              </a:tr>
              <a:tr h="135572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我们国家企业的定义</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目标管理是一种将企业要达到的目标，同企业各项管理工作和企业每个成员的任务与职责结合在一起的管理方法。</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根据企业在一定时期的总方针，确定企业的总目标；将目标层层分解，逐级展开，通过上下协商，制订出各部门、每个人的目标；用总目标指导分目标：用分目标保证总目标，建立一个自上而下层层展开，自下而上层层保证的目标体系，形成一种全员参加、全程管理、全面负责、全面落实的管理体系。</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4110611"/>
                  </a:ext>
                </a:extLst>
              </a:tr>
            </a:tbl>
          </a:graphicData>
        </a:graphic>
      </p:graphicFrame>
      <p:sp>
        <p:nvSpPr>
          <p:cNvPr id="76825" name="Text Box 25">
            <a:extLst>
              <a:ext uri="{FF2B5EF4-FFF2-40B4-BE49-F238E27FC236}">
                <a16:creationId xmlns:a16="http://schemas.microsoft.com/office/drawing/2014/main" id="{2EB08EF9-7805-F803-DD07-DA8A880CD3C1}"/>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zh-CN" sz="1600"/>
              <a:t>5.3</a:t>
            </a:r>
            <a:r>
              <a:rPr lang="zh-CN" altLang="en-US" sz="1600">
                <a:solidFill>
                  <a:schemeClr val="tx2"/>
                </a:solidFill>
              </a:rPr>
              <a:t>目标管理</a:t>
            </a:r>
          </a:p>
        </p:txBody>
      </p:sp>
    </p:spTree>
  </p:cSld>
  <p:clrMapOvr>
    <a:masterClrMapping/>
  </p:clrMapOvr>
  <p:transition>
    <p:blinds dir="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015534D4-F8B5-F980-D08C-B5A3BE5E7804}"/>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E8FC4EFC-05E6-55E7-5A41-1515D48D2CA8}"/>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56431AE8-A83C-FE84-E848-0141971549A6}"/>
              </a:ext>
            </a:extLst>
          </p:cNvPr>
          <p:cNvSpPr>
            <a:spLocks noGrp="1"/>
          </p:cNvSpPr>
          <p:nvPr>
            <p:ph type="sldNum" sz="quarter" idx="12"/>
          </p:nvPr>
        </p:nvSpPr>
        <p:spPr/>
        <p:txBody>
          <a:bodyPr/>
          <a:lstStyle/>
          <a:p>
            <a:fld id="{77B93279-0A6B-4E22-8C62-D3BAFB5E0C08}" type="slidenum">
              <a:rPr lang="en-US" altLang="zh-CN"/>
              <a:pPr/>
              <a:t>14</a:t>
            </a:fld>
            <a:endParaRPr lang="en-US" altLang="zh-CN"/>
          </a:p>
        </p:txBody>
      </p:sp>
      <p:graphicFrame>
        <p:nvGraphicFramePr>
          <p:cNvPr id="114742" name="Group 54">
            <a:extLst>
              <a:ext uri="{FF2B5EF4-FFF2-40B4-BE49-F238E27FC236}">
                <a16:creationId xmlns:a16="http://schemas.microsoft.com/office/drawing/2014/main" id="{4F7ED63D-5297-5223-6149-C730C74DBDAB}"/>
              </a:ext>
            </a:extLst>
          </p:cNvPr>
          <p:cNvGraphicFramePr>
            <a:graphicFrameLocks noGrp="1"/>
          </p:cNvGraphicFramePr>
          <p:nvPr>
            <p:ph/>
          </p:nvPr>
        </p:nvGraphicFramePr>
        <p:xfrm>
          <a:off x="468313" y="1268413"/>
          <a:ext cx="8229600" cy="4554537"/>
        </p:xfrm>
        <a:graphic>
          <a:graphicData uri="http://schemas.openxmlformats.org/drawingml/2006/table">
            <a:tbl>
              <a:tblPr/>
              <a:tblGrid>
                <a:gridCol w="1666875">
                  <a:extLst>
                    <a:ext uri="{9D8B030D-6E8A-4147-A177-3AD203B41FA5}">
                      <a16:colId xmlns:a16="http://schemas.microsoft.com/office/drawing/2014/main" val="3672113317"/>
                    </a:ext>
                  </a:extLst>
                </a:gridCol>
                <a:gridCol w="1800225">
                  <a:extLst>
                    <a:ext uri="{9D8B030D-6E8A-4147-A177-3AD203B41FA5}">
                      <a16:colId xmlns:a16="http://schemas.microsoft.com/office/drawing/2014/main" val="931982145"/>
                    </a:ext>
                  </a:extLst>
                </a:gridCol>
                <a:gridCol w="3024187">
                  <a:extLst>
                    <a:ext uri="{9D8B030D-6E8A-4147-A177-3AD203B41FA5}">
                      <a16:colId xmlns:a16="http://schemas.microsoft.com/office/drawing/2014/main" val="3707005374"/>
                    </a:ext>
                  </a:extLst>
                </a:gridCol>
                <a:gridCol w="1738313">
                  <a:extLst>
                    <a:ext uri="{9D8B030D-6E8A-4147-A177-3AD203B41FA5}">
                      <a16:colId xmlns:a16="http://schemas.microsoft.com/office/drawing/2014/main" val="1667456996"/>
                    </a:ext>
                  </a:extLst>
                </a:gridCol>
              </a:tblGrid>
              <a:tr h="3603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管理方式</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特点</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依据</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问题</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0631800"/>
                  </a:ext>
                </a:extLst>
              </a:tr>
              <a:tr h="98425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以工作为中心的管理方式</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注重工作的科学化</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人是有感情的，人的行为往往是非理性的，难与组织的要求相一致。</a:t>
                      </a: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在进行管理时刻意排除人性面。一切以组织的业绩为前提，所有的工作都以支持业绩为目标。</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会促使组织走向官僚化；会使组织成员失去工作的意愿。</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3971615"/>
                  </a:ext>
                </a:extLst>
              </a:tr>
              <a:tr h="12493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以人为中心的管理方式</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注重人际关系</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如果员工缺乏工作热忱的话，组织的目标难以达到。重视激发人的工作动机。人际关系，个人的感情以及非正式组织受到重视。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人际关系与组织业绩的提高并无必然的联系；使经理变成老好人。</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13298039"/>
                  </a:ext>
                </a:extLst>
              </a:tr>
              <a:tr h="1273175">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目标管理方式</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将工作因素与人的因素，将组织目标和个人目标相融合</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rPr>
                        <a:t>每个组织成员在工作中找到生活的乐趣，专心地工作，并从工作任务的完成中获得满足和成就感，组织目标也随着个人需求获得满足而达到。</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zh-CN"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94054549"/>
                  </a:ext>
                </a:extLst>
              </a:tr>
            </a:tbl>
          </a:graphicData>
        </a:graphic>
      </p:graphicFrame>
      <p:sp>
        <p:nvSpPr>
          <p:cNvPr id="114743" name="Text Box 55">
            <a:extLst>
              <a:ext uri="{FF2B5EF4-FFF2-40B4-BE49-F238E27FC236}">
                <a16:creationId xmlns:a16="http://schemas.microsoft.com/office/drawing/2014/main" id="{450E179D-EACF-A10F-1F73-711BC06D8470}"/>
              </a:ext>
            </a:extLst>
          </p:cNvPr>
          <p:cNvSpPr txBox="1">
            <a:spLocks noChangeArrowheads="1"/>
          </p:cNvSpPr>
          <p:nvPr/>
        </p:nvSpPr>
        <p:spPr bwMode="auto">
          <a:xfrm>
            <a:off x="3419475" y="765175"/>
            <a:ext cx="25209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000">
                <a:ea typeface="黑体" panose="02010609060101010101" pitchFamily="49" charset="-122"/>
              </a:rPr>
              <a:t>三种管理方式的比较</a:t>
            </a:r>
          </a:p>
        </p:txBody>
      </p:sp>
      <p:sp>
        <p:nvSpPr>
          <p:cNvPr id="114744" name="Text Box 56">
            <a:extLst>
              <a:ext uri="{FF2B5EF4-FFF2-40B4-BE49-F238E27FC236}">
                <a16:creationId xmlns:a16="http://schemas.microsoft.com/office/drawing/2014/main" id="{2B2E2D64-E6D8-CB69-1717-75F977F52E88}"/>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zh-CN" sz="1600"/>
              <a:t>5.3</a:t>
            </a:r>
            <a:r>
              <a:rPr lang="zh-CN" altLang="en-US" sz="1600">
                <a:solidFill>
                  <a:schemeClr val="tx2"/>
                </a:solidFill>
              </a:rPr>
              <a:t>目标管理</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554E125-393B-D0A0-1D58-0E19B8008BB2}"/>
              </a:ext>
            </a:extLst>
          </p:cNvPr>
          <p:cNvSpPr>
            <a:spLocks noGrp="1"/>
          </p:cNvSpPr>
          <p:nvPr>
            <p:ph type="dt" sz="half" idx="10"/>
          </p:nvPr>
        </p:nvSpPr>
        <p:spPr/>
        <p:txBody>
          <a:bodyPr/>
          <a:lstStyle/>
          <a:p>
            <a:r>
              <a:rPr lang="zh-CN" altLang="en-US"/>
              <a:t>版本：2004</a:t>
            </a:r>
            <a:endParaRPr lang="en-US" altLang="zh-CN"/>
          </a:p>
        </p:txBody>
      </p:sp>
      <p:sp>
        <p:nvSpPr>
          <p:cNvPr id="3" name="页脚占位符 4">
            <a:extLst>
              <a:ext uri="{FF2B5EF4-FFF2-40B4-BE49-F238E27FC236}">
                <a16:creationId xmlns:a16="http://schemas.microsoft.com/office/drawing/2014/main" id="{AD10E36D-7EB9-D473-2DD2-0C8E3CB47CF8}"/>
              </a:ext>
            </a:extLst>
          </p:cNvPr>
          <p:cNvSpPr>
            <a:spLocks noGrp="1"/>
          </p:cNvSpPr>
          <p:nvPr>
            <p:ph type="ftr" sz="quarter" idx="11"/>
          </p:nvPr>
        </p:nvSpPr>
        <p:spPr/>
        <p:txBody>
          <a:bodyPr/>
          <a:lstStyle/>
          <a:p>
            <a:r>
              <a:rPr lang="en-US" altLang="zh-CN"/>
              <a:t>管理学</a:t>
            </a:r>
          </a:p>
        </p:txBody>
      </p:sp>
      <p:sp>
        <p:nvSpPr>
          <p:cNvPr id="4" name="灯片编号占位符 5">
            <a:extLst>
              <a:ext uri="{FF2B5EF4-FFF2-40B4-BE49-F238E27FC236}">
                <a16:creationId xmlns:a16="http://schemas.microsoft.com/office/drawing/2014/main" id="{4891738E-3644-51E1-D82C-87B9183D4088}"/>
              </a:ext>
            </a:extLst>
          </p:cNvPr>
          <p:cNvSpPr>
            <a:spLocks noGrp="1"/>
          </p:cNvSpPr>
          <p:nvPr>
            <p:ph type="sldNum" sz="quarter" idx="12"/>
          </p:nvPr>
        </p:nvSpPr>
        <p:spPr/>
        <p:txBody>
          <a:bodyPr/>
          <a:lstStyle/>
          <a:p>
            <a:fld id="{F3306BA0-803B-4D4E-8575-E1A6F287E7D9}" type="slidenum">
              <a:rPr lang="en-US" altLang="zh-CN"/>
              <a:pPr/>
              <a:t>15</a:t>
            </a:fld>
            <a:endParaRPr lang="en-US" altLang="zh-CN"/>
          </a:p>
        </p:txBody>
      </p:sp>
      <p:sp>
        <p:nvSpPr>
          <p:cNvPr id="29701" name="Text Box 5">
            <a:extLst>
              <a:ext uri="{FF2B5EF4-FFF2-40B4-BE49-F238E27FC236}">
                <a16:creationId xmlns:a16="http://schemas.microsoft.com/office/drawing/2014/main" id="{596A2214-3C2A-D2BB-9697-9ECCC284EE67}"/>
              </a:ext>
            </a:extLst>
          </p:cNvPr>
          <p:cNvSpPr txBox="1">
            <a:spLocks noChangeArrowheads="1"/>
          </p:cNvSpPr>
          <p:nvPr/>
        </p:nvSpPr>
        <p:spPr bwMode="auto">
          <a:xfrm>
            <a:off x="3492500" y="5013325"/>
            <a:ext cx="2016125"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000">
                <a:ea typeface="黑体" panose="02010609060101010101" pitchFamily="49" charset="-122"/>
              </a:rPr>
              <a:t>目标管理的过程</a:t>
            </a:r>
          </a:p>
        </p:txBody>
      </p:sp>
      <p:sp>
        <p:nvSpPr>
          <p:cNvPr id="29702" name="Rectangle 6">
            <a:extLst>
              <a:ext uri="{FF2B5EF4-FFF2-40B4-BE49-F238E27FC236}">
                <a16:creationId xmlns:a16="http://schemas.microsoft.com/office/drawing/2014/main" id="{402A7658-6DD2-49C2-337F-0B3D8D5FA633}"/>
              </a:ext>
            </a:extLst>
          </p:cNvPr>
          <p:cNvSpPr>
            <a:spLocks noChangeArrowheads="1"/>
          </p:cNvSpPr>
          <p:nvPr/>
        </p:nvSpPr>
        <p:spPr bwMode="auto">
          <a:xfrm>
            <a:off x="1258888" y="1989138"/>
            <a:ext cx="1657350" cy="936625"/>
          </a:xfrm>
          <a:prstGeom prst="rect">
            <a:avLst/>
          </a:prstGeom>
          <a:solidFill>
            <a:schemeClr val="bg1"/>
          </a:solidFill>
          <a:ln w="4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zh-CN"/>
              <a:t>1.</a:t>
            </a:r>
            <a:r>
              <a:rPr lang="zh-CN" altLang="en-US"/>
              <a:t>目标设置</a:t>
            </a:r>
          </a:p>
        </p:txBody>
      </p:sp>
      <p:sp>
        <p:nvSpPr>
          <p:cNvPr id="29703" name="Rectangle 7">
            <a:extLst>
              <a:ext uri="{FF2B5EF4-FFF2-40B4-BE49-F238E27FC236}">
                <a16:creationId xmlns:a16="http://schemas.microsoft.com/office/drawing/2014/main" id="{FD0A42B1-1B80-1B1B-82FA-8EFC8706BAAD}"/>
              </a:ext>
            </a:extLst>
          </p:cNvPr>
          <p:cNvSpPr>
            <a:spLocks noChangeArrowheads="1"/>
          </p:cNvSpPr>
          <p:nvPr/>
        </p:nvSpPr>
        <p:spPr bwMode="auto">
          <a:xfrm>
            <a:off x="3779838" y="1989138"/>
            <a:ext cx="1657350" cy="936625"/>
          </a:xfrm>
          <a:prstGeom prst="rect">
            <a:avLst/>
          </a:prstGeom>
          <a:solidFill>
            <a:schemeClr val="bg1"/>
          </a:solidFill>
          <a:ln w="4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zh-CN"/>
              <a:t>2.</a:t>
            </a:r>
            <a:r>
              <a:rPr lang="zh-CN" altLang="en-US"/>
              <a:t>目标实施</a:t>
            </a:r>
          </a:p>
        </p:txBody>
      </p:sp>
      <p:sp>
        <p:nvSpPr>
          <p:cNvPr id="29704" name="Rectangle 8">
            <a:extLst>
              <a:ext uri="{FF2B5EF4-FFF2-40B4-BE49-F238E27FC236}">
                <a16:creationId xmlns:a16="http://schemas.microsoft.com/office/drawing/2014/main" id="{808D10BE-E525-11FC-D5EA-ED9FBFFFB2F7}"/>
              </a:ext>
            </a:extLst>
          </p:cNvPr>
          <p:cNvSpPr>
            <a:spLocks noChangeArrowheads="1"/>
          </p:cNvSpPr>
          <p:nvPr/>
        </p:nvSpPr>
        <p:spPr bwMode="auto">
          <a:xfrm>
            <a:off x="6300788" y="1989138"/>
            <a:ext cx="1657350" cy="936625"/>
          </a:xfrm>
          <a:prstGeom prst="rect">
            <a:avLst/>
          </a:prstGeom>
          <a:solidFill>
            <a:schemeClr val="bg1"/>
          </a:solidFill>
          <a:ln w="4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algn="ctr"/>
            <a:r>
              <a:rPr lang="en-US" altLang="zh-CN"/>
              <a:t>3.</a:t>
            </a:r>
            <a:r>
              <a:rPr lang="zh-CN" altLang="en-US"/>
              <a:t>目标评估</a:t>
            </a:r>
          </a:p>
        </p:txBody>
      </p:sp>
      <p:sp>
        <p:nvSpPr>
          <p:cNvPr id="29707" name="Line 11">
            <a:extLst>
              <a:ext uri="{FF2B5EF4-FFF2-40B4-BE49-F238E27FC236}">
                <a16:creationId xmlns:a16="http://schemas.microsoft.com/office/drawing/2014/main" id="{23CF3C6D-FB56-3707-04D6-47811F5CD906}"/>
              </a:ext>
            </a:extLst>
          </p:cNvPr>
          <p:cNvSpPr>
            <a:spLocks noChangeShapeType="1"/>
          </p:cNvSpPr>
          <p:nvPr/>
        </p:nvSpPr>
        <p:spPr bwMode="auto">
          <a:xfrm>
            <a:off x="2916238" y="2420938"/>
            <a:ext cx="863600" cy="0"/>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9708" name="Line 12">
            <a:extLst>
              <a:ext uri="{FF2B5EF4-FFF2-40B4-BE49-F238E27FC236}">
                <a16:creationId xmlns:a16="http://schemas.microsoft.com/office/drawing/2014/main" id="{EEA84374-C2E7-59B3-0292-A7CC1E839D62}"/>
              </a:ext>
            </a:extLst>
          </p:cNvPr>
          <p:cNvSpPr>
            <a:spLocks noChangeShapeType="1"/>
          </p:cNvSpPr>
          <p:nvPr/>
        </p:nvSpPr>
        <p:spPr bwMode="auto">
          <a:xfrm>
            <a:off x="5435600" y="2420938"/>
            <a:ext cx="865188" cy="0"/>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9709" name="Text Box 13">
            <a:extLst>
              <a:ext uri="{FF2B5EF4-FFF2-40B4-BE49-F238E27FC236}">
                <a16:creationId xmlns:a16="http://schemas.microsoft.com/office/drawing/2014/main" id="{37329661-84C4-D35B-E360-53C42C871E64}"/>
              </a:ext>
            </a:extLst>
          </p:cNvPr>
          <p:cNvSpPr txBox="1">
            <a:spLocks noChangeArrowheads="1"/>
          </p:cNvSpPr>
          <p:nvPr/>
        </p:nvSpPr>
        <p:spPr bwMode="auto">
          <a:xfrm>
            <a:off x="3924300" y="3644900"/>
            <a:ext cx="1366838" cy="11906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r>
              <a:rPr lang="en-US" altLang="zh-CN"/>
              <a:t>1.</a:t>
            </a:r>
            <a:r>
              <a:rPr lang="zh-CN" altLang="en-US"/>
              <a:t>目标体系</a:t>
            </a:r>
          </a:p>
          <a:p>
            <a:r>
              <a:rPr lang="en-US" altLang="zh-CN"/>
              <a:t>2.</a:t>
            </a:r>
            <a:r>
              <a:rPr lang="zh-CN" altLang="en-US"/>
              <a:t>自我控制</a:t>
            </a:r>
          </a:p>
          <a:p>
            <a:r>
              <a:rPr lang="en-US" altLang="zh-CN"/>
              <a:t>3.</a:t>
            </a:r>
            <a:r>
              <a:rPr lang="zh-CN" altLang="en-US"/>
              <a:t>分权管理</a:t>
            </a:r>
          </a:p>
          <a:p>
            <a:r>
              <a:rPr lang="en-US" altLang="zh-CN"/>
              <a:t>4.</a:t>
            </a:r>
            <a:r>
              <a:rPr lang="zh-CN" altLang="en-US"/>
              <a:t>成果标准</a:t>
            </a:r>
          </a:p>
        </p:txBody>
      </p:sp>
      <p:sp>
        <p:nvSpPr>
          <p:cNvPr id="29715" name="Line 19">
            <a:extLst>
              <a:ext uri="{FF2B5EF4-FFF2-40B4-BE49-F238E27FC236}">
                <a16:creationId xmlns:a16="http://schemas.microsoft.com/office/drawing/2014/main" id="{65AE3461-F880-C8E8-A4D0-F4BBDA139FCF}"/>
              </a:ext>
            </a:extLst>
          </p:cNvPr>
          <p:cNvSpPr>
            <a:spLocks noChangeShapeType="1"/>
          </p:cNvSpPr>
          <p:nvPr/>
        </p:nvSpPr>
        <p:spPr bwMode="auto">
          <a:xfrm flipH="1" flipV="1">
            <a:off x="1979613" y="2924175"/>
            <a:ext cx="2592387" cy="720725"/>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9716" name="Line 20">
            <a:extLst>
              <a:ext uri="{FF2B5EF4-FFF2-40B4-BE49-F238E27FC236}">
                <a16:creationId xmlns:a16="http://schemas.microsoft.com/office/drawing/2014/main" id="{83BA87BA-826E-6490-4F21-7275D8195735}"/>
              </a:ext>
            </a:extLst>
          </p:cNvPr>
          <p:cNvSpPr>
            <a:spLocks noChangeShapeType="1"/>
          </p:cNvSpPr>
          <p:nvPr/>
        </p:nvSpPr>
        <p:spPr bwMode="auto">
          <a:xfrm flipV="1">
            <a:off x="4572000" y="2924175"/>
            <a:ext cx="2592388" cy="720725"/>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9717" name="Line 21">
            <a:extLst>
              <a:ext uri="{FF2B5EF4-FFF2-40B4-BE49-F238E27FC236}">
                <a16:creationId xmlns:a16="http://schemas.microsoft.com/office/drawing/2014/main" id="{22EDD290-0D78-B0F4-66A3-1315B58C26AF}"/>
              </a:ext>
            </a:extLst>
          </p:cNvPr>
          <p:cNvSpPr>
            <a:spLocks noChangeShapeType="1"/>
          </p:cNvSpPr>
          <p:nvPr/>
        </p:nvSpPr>
        <p:spPr bwMode="auto">
          <a:xfrm flipV="1">
            <a:off x="4572000" y="2924175"/>
            <a:ext cx="0" cy="720725"/>
          </a:xfrm>
          <a:prstGeom prst="line">
            <a:avLst/>
          </a:prstGeom>
          <a:noFill/>
          <a:ln w="4699">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a:p>
        </p:txBody>
      </p:sp>
      <p:sp>
        <p:nvSpPr>
          <p:cNvPr id="29718" name="Text Box 22">
            <a:extLst>
              <a:ext uri="{FF2B5EF4-FFF2-40B4-BE49-F238E27FC236}">
                <a16:creationId xmlns:a16="http://schemas.microsoft.com/office/drawing/2014/main" id="{3E6098E3-91C5-7A75-BBA6-8E56315DEC49}"/>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zh-CN" sz="1600"/>
              <a:t>5.3</a:t>
            </a:r>
            <a:r>
              <a:rPr lang="zh-CN" altLang="en-US" sz="1600">
                <a:solidFill>
                  <a:schemeClr val="tx2"/>
                </a:solidFill>
              </a:rPr>
              <a:t>目标管理</a:t>
            </a:r>
          </a:p>
        </p:txBody>
      </p:sp>
      <p:sp>
        <p:nvSpPr>
          <p:cNvPr id="29719" name="Text Box 23">
            <a:extLst>
              <a:ext uri="{FF2B5EF4-FFF2-40B4-BE49-F238E27FC236}">
                <a16:creationId xmlns:a16="http://schemas.microsoft.com/office/drawing/2014/main" id="{2DD6F46E-FF93-D11B-C424-E4052CD4515D}"/>
              </a:ext>
            </a:extLst>
          </p:cNvPr>
          <p:cNvSpPr txBox="1">
            <a:spLocks noChangeArrowheads="1"/>
          </p:cNvSpPr>
          <p:nvPr/>
        </p:nvSpPr>
        <p:spPr bwMode="auto">
          <a:xfrm>
            <a:off x="3635375" y="549275"/>
            <a:ext cx="5040313" cy="915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20000"/>
              </a:spcBef>
            </a:pPr>
            <a:r>
              <a:rPr lang="zh-CN" altLang="en-US"/>
              <a:t>目标管理是一种依据目标体系由各个组织成员根据其工作意愿自我设置目标，并在实施过程中进行自我控制的管理方法。</a:t>
            </a:r>
          </a:p>
        </p:txBody>
      </p:sp>
    </p:spTree>
  </p:cSld>
  <p:clrMapOvr>
    <a:masterClrMapping/>
  </p:clrMapOvr>
  <p:transition>
    <p:blinds dir="ver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2">
            <a:extLst>
              <a:ext uri="{FF2B5EF4-FFF2-40B4-BE49-F238E27FC236}">
                <a16:creationId xmlns:a16="http://schemas.microsoft.com/office/drawing/2014/main" id="{684CFEDD-50B7-2591-82ED-96BDA40A9686}"/>
              </a:ext>
            </a:extLst>
          </p:cNvPr>
          <p:cNvSpPr>
            <a:spLocks noGrp="1"/>
          </p:cNvSpPr>
          <p:nvPr>
            <p:ph type="dt" sz="half" idx="10"/>
          </p:nvPr>
        </p:nvSpPr>
        <p:spPr/>
        <p:txBody>
          <a:bodyPr/>
          <a:lstStyle/>
          <a:p>
            <a:r>
              <a:rPr lang="zh-CN" altLang="en-US"/>
              <a:t>版本：2004</a:t>
            </a:r>
            <a:endParaRPr lang="en-US" altLang="zh-CN"/>
          </a:p>
        </p:txBody>
      </p:sp>
      <p:sp>
        <p:nvSpPr>
          <p:cNvPr id="3" name="页脚占位符 3">
            <a:extLst>
              <a:ext uri="{FF2B5EF4-FFF2-40B4-BE49-F238E27FC236}">
                <a16:creationId xmlns:a16="http://schemas.microsoft.com/office/drawing/2014/main" id="{288DC221-8307-B2D5-CAEE-00EBB259A977}"/>
              </a:ext>
            </a:extLst>
          </p:cNvPr>
          <p:cNvSpPr>
            <a:spLocks noGrp="1"/>
          </p:cNvSpPr>
          <p:nvPr>
            <p:ph type="ftr" sz="quarter" idx="11"/>
          </p:nvPr>
        </p:nvSpPr>
        <p:spPr/>
        <p:txBody>
          <a:bodyPr/>
          <a:lstStyle/>
          <a:p>
            <a:r>
              <a:rPr lang="en-US" altLang="zh-CN"/>
              <a:t>管理学</a:t>
            </a:r>
          </a:p>
        </p:txBody>
      </p:sp>
      <p:sp>
        <p:nvSpPr>
          <p:cNvPr id="4" name="灯片编号占位符 4">
            <a:extLst>
              <a:ext uri="{FF2B5EF4-FFF2-40B4-BE49-F238E27FC236}">
                <a16:creationId xmlns:a16="http://schemas.microsoft.com/office/drawing/2014/main" id="{D37C227C-8AF1-4C72-386A-13B92313C4B8}"/>
              </a:ext>
            </a:extLst>
          </p:cNvPr>
          <p:cNvSpPr>
            <a:spLocks noGrp="1"/>
          </p:cNvSpPr>
          <p:nvPr>
            <p:ph type="sldNum" sz="quarter" idx="12"/>
          </p:nvPr>
        </p:nvSpPr>
        <p:spPr/>
        <p:txBody>
          <a:bodyPr/>
          <a:lstStyle/>
          <a:p>
            <a:fld id="{3BEFE66D-3CE5-48BA-9FD6-8F29CD7136B0}" type="slidenum">
              <a:rPr lang="en-US" altLang="zh-CN"/>
              <a:pPr/>
              <a:t>16</a:t>
            </a:fld>
            <a:endParaRPr lang="en-US" altLang="zh-CN"/>
          </a:p>
        </p:txBody>
      </p:sp>
      <p:graphicFrame>
        <p:nvGraphicFramePr>
          <p:cNvPr id="39955" name="Group 19">
            <a:extLst>
              <a:ext uri="{FF2B5EF4-FFF2-40B4-BE49-F238E27FC236}">
                <a16:creationId xmlns:a16="http://schemas.microsoft.com/office/drawing/2014/main" id="{70D98B6F-2FAD-9871-31F4-B1D3AC06CE44}"/>
              </a:ext>
            </a:extLst>
          </p:cNvPr>
          <p:cNvGraphicFramePr>
            <a:graphicFrameLocks noGrp="1"/>
          </p:cNvGraphicFramePr>
          <p:nvPr>
            <p:ph/>
          </p:nvPr>
        </p:nvGraphicFramePr>
        <p:xfrm>
          <a:off x="468313" y="1484313"/>
          <a:ext cx="8229600" cy="3162300"/>
        </p:xfrm>
        <a:graphic>
          <a:graphicData uri="http://schemas.openxmlformats.org/drawingml/2006/table">
            <a:tbl>
              <a:tblPr/>
              <a:tblGrid>
                <a:gridCol w="4114800">
                  <a:extLst>
                    <a:ext uri="{9D8B030D-6E8A-4147-A177-3AD203B41FA5}">
                      <a16:colId xmlns:a16="http://schemas.microsoft.com/office/drawing/2014/main" val="19649240"/>
                    </a:ext>
                  </a:extLst>
                </a:gridCol>
                <a:gridCol w="4114800">
                  <a:extLst>
                    <a:ext uri="{9D8B030D-6E8A-4147-A177-3AD203B41FA5}">
                      <a16:colId xmlns:a16="http://schemas.microsoft.com/office/drawing/2014/main" val="3032971231"/>
                    </a:ext>
                  </a:extLst>
                </a:gridCol>
              </a:tblGrid>
              <a:tr h="43180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目标管理的优点</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目标管理的缺点</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3127201"/>
                  </a:ext>
                </a:extLst>
              </a:tr>
              <a:tr h="1960563">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促使经理去考虑怎样为目标而进行计划，而不是仅仅为了安排工作而进行计划。</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有助于明确组织结构的作用和职权关系。</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有助于诱发人们对自己的工作成效承担责任。</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通过目标管理建立起来的目标体系提供了明确、具体的控制标准。</a:t>
                      </a:r>
                    </a:p>
                  </a:txBody>
                  <a:tcPr marL="90000" marR="90000" marT="46800" marB="4680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1.</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过分强调结果可能会产生不道德的行为。</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2.</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过分强调短期目标而产生短期行为。</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3.</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过分强调定量目标而忽视定性目标。</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缺乏灵活性。</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r>
                        <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rPr>
                        <a:t>需要投入足够的时间。</a:t>
                      </a:r>
                    </a:p>
                  </a:txBody>
                  <a:tcPr marL="90000" marR="90000" marT="46800" marB="4680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11371346"/>
                  </a:ext>
                </a:extLst>
              </a:tr>
            </a:tbl>
          </a:graphicData>
        </a:graphic>
      </p:graphicFrame>
      <p:sp>
        <p:nvSpPr>
          <p:cNvPr id="39954" name="Text Box 18">
            <a:extLst>
              <a:ext uri="{FF2B5EF4-FFF2-40B4-BE49-F238E27FC236}">
                <a16:creationId xmlns:a16="http://schemas.microsoft.com/office/drawing/2014/main" id="{D73B9463-6B06-E84B-AE57-8391A25D0A67}"/>
              </a:ext>
            </a:extLst>
          </p:cNvPr>
          <p:cNvSpPr txBox="1">
            <a:spLocks noChangeArrowheads="1"/>
          </p:cNvSpPr>
          <p:nvPr/>
        </p:nvSpPr>
        <p:spPr bwMode="auto">
          <a:xfrm>
            <a:off x="3203575" y="981075"/>
            <a:ext cx="2736850"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2000">
                <a:ea typeface="黑体" panose="02010609060101010101" pitchFamily="49" charset="-122"/>
              </a:rPr>
              <a:t>目标管理的优点和缺点</a:t>
            </a:r>
          </a:p>
        </p:txBody>
      </p:sp>
      <p:sp>
        <p:nvSpPr>
          <p:cNvPr id="39956" name="Text Box 20">
            <a:extLst>
              <a:ext uri="{FF2B5EF4-FFF2-40B4-BE49-F238E27FC236}">
                <a16:creationId xmlns:a16="http://schemas.microsoft.com/office/drawing/2014/main" id="{04665D22-68BE-9E2C-95E7-39771C18F6CB}"/>
              </a:ext>
            </a:extLst>
          </p:cNvPr>
          <p:cNvSpPr txBox="1">
            <a:spLocks noChangeArrowheads="1"/>
          </p:cNvSpPr>
          <p:nvPr/>
        </p:nvSpPr>
        <p:spPr bwMode="auto">
          <a:xfrm>
            <a:off x="468313" y="4724400"/>
            <a:ext cx="8207375" cy="5810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zh-CN" altLang="en-US" sz="1600"/>
              <a:t>美国</a:t>
            </a:r>
            <a:r>
              <a:rPr lang="en-US" altLang="zh-CN" sz="1600"/>
              <a:t>《</a:t>
            </a:r>
            <a:r>
              <a:rPr lang="zh-CN" altLang="en-US" sz="1600"/>
              <a:t>幸福</a:t>
            </a:r>
            <a:r>
              <a:rPr lang="en-US" altLang="zh-CN" sz="1600"/>
              <a:t>》</a:t>
            </a:r>
            <a:r>
              <a:rPr lang="zh-CN" altLang="en-US" sz="1600"/>
              <a:t>杂志对美国最大</a:t>
            </a:r>
            <a:r>
              <a:rPr lang="en-US" altLang="zh-CN" sz="1600"/>
              <a:t>500</a:t>
            </a:r>
            <a:r>
              <a:rPr lang="zh-CN" altLang="en-US" sz="1600"/>
              <a:t>家公司所做的调查来看，对于目标管理，大多数企业还是说得多，做得少，能够取得成效的则更加少。</a:t>
            </a:r>
          </a:p>
        </p:txBody>
      </p:sp>
      <p:sp>
        <p:nvSpPr>
          <p:cNvPr id="39957" name="Text Box 21">
            <a:extLst>
              <a:ext uri="{FF2B5EF4-FFF2-40B4-BE49-F238E27FC236}">
                <a16:creationId xmlns:a16="http://schemas.microsoft.com/office/drawing/2014/main" id="{22D12D99-0DEA-BFCF-F7F4-A62C94170073}"/>
              </a:ext>
            </a:extLst>
          </p:cNvPr>
          <p:cNvSpPr txBox="1">
            <a:spLocks noChangeArrowheads="1"/>
          </p:cNvSpPr>
          <p:nvPr/>
        </p:nvSpPr>
        <p:spPr bwMode="auto">
          <a:xfrm>
            <a:off x="179388" y="188913"/>
            <a:ext cx="1368425"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4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pPr>
              <a:spcBef>
                <a:spcPct val="50000"/>
              </a:spcBef>
            </a:pPr>
            <a:r>
              <a:rPr lang="en-US" altLang="zh-CN" sz="1600"/>
              <a:t>5.3</a:t>
            </a:r>
            <a:r>
              <a:rPr lang="zh-CN" altLang="en-US" sz="1600">
                <a:solidFill>
                  <a:schemeClr val="tx2"/>
                </a:solidFill>
              </a:rPr>
              <a:t>目标管理</a:t>
            </a:r>
          </a:p>
        </p:txBody>
      </p:sp>
    </p:spTree>
  </p:cSld>
  <p:clrMapOvr>
    <a:masterClrMapping/>
  </p:clrMapOvr>
  <p:transition>
    <p:blinds dir="vert"/>
  </p:transition>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bg1"/>
        </a:solidFill>
        <a:ln w="4699"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4699"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0000" tIns="46800" rIns="90000" bIns="4680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657</TotalTime>
  <Words>1864</Words>
  <Application>Microsoft Office PowerPoint</Application>
  <PresentationFormat>全屏显示(4:3)</PresentationFormat>
  <Paragraphs>250</Paragraphs>
  <Slides>16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16</vt:i4>
      </vt:variant>
    </vt:vector>
  </HeadingPairs>
  <TitlesOfParts>
    <vt:vector size="23" baseType="lpstr">
      <vt:lpstr>Times New Roman</vt:lpstr>
      <vt:lpstr>宋体</vt:lpstr>
      <vt:lpstr>Arial</vt:lpstr>
      <vt:lpstr>华文行楷</vt:lpstr>
      <vt:lpstr>黑体</vt:lpstr>
      <vt:lpstr>Courier New</vt:lpstr>
      <vt:lpstr>默认设计模板</vt:lpstr>
      <vt:lpstr>第5章 目标与目标管理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TDR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目标与目标管理</dc:title>
  <dc:creator>sc</dc:creator>
  <cp:lastModifiedBy>先生 刘</cp:lastModifiedBy>
  <cp:revision>47</cp:revision>
  <dcterms:created xsi:type="dcterms:W3CDTF">2002-03-19T01:29:45Z</dcterms:created>
  <dcterms:modified xsi:type="dcterms:W3CDTF">2023-10-22T14:24:38Z</dcterms:modified>
</cp:coreProperties>
</file>