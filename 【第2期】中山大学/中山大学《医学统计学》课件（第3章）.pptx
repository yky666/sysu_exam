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8" r:id="rId2"/>
    <p:sldId id="288" r:id="rId3"/>
    <p:sldId id="284" r:id="rId4"/>
    <p:sldId id="287" r:id="rId5"/>
    <p:sldId id="285" r:id="rId6"/>
    <p:sldId id="286" r:id="rId7"/>
    <p:sldId id="256" r:id="rId8"/>
    <p:sldId id="259" r:id="rId9"/>
    <p:sldId id="268" r:id="rId10"/>
    <p:sldId id="296" r:id="rId11"/>
    <p:sldId id="263" r:id="rId12"/>
    <p:sldId id="264" r:id="rId13"/>
    <p:sldId id="265" r:id="rId14"/>
    <p:sldId id="297" r:id="rId15"/>
    <p:sldId id="290" r:id="rId16"/>
    <p:sldId id="257" r:id="rId17"/>
    <p:sldId id="260" r:id="rId18"/>
    <p:sldId id="261" r:id="rId19"/>
    <p:sldId id="262" r:id="rId20"/>
    <p:sldId id="298" r:id="rId21"/>
    <p:sldId id="267" r:id="rId22"/>
    <p:sldId id="270" r:id="rId23"/>
    <p:sldId id="274" r:id="rId24"/>
    <p:sldId id="271" r:id="rId25"/>
    <p:sldId id="272" r:id="rId26"/>
    <p:sldId id="273" r:id="rId27"/>
    <p:sldId id="269" r:id="rId28"/>
    <p:sldId id="282" r:id="rId29"/>
    <p:sldId id="299" r:id="rId30"/>
    <p:sldId id="276" r:id="rId31"/>
    <p:sldId id="277" r:id="rId32"/>
    <p:sldId id="278" r:id="rId33"/>
    <p:sldId id="279" r:id="rId34"/>
    <p:sldId id="280" r:id="rId35"/>
    <p:sldId id="283" r:id="rId36"/>
    <p:sldId id="300" r:id="rId37"/>
    <p:sldId id="289" r:id="rId38"/>
    <p:sldId id="281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0CF44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3" autoAdjust="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0204CE-042A-D88C-0CD2-CF2875A30A7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01042F6-AEF0-DF05-A75B-F3D01ADAC133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D3B209C-FC71-5C4C-9675-7F4EBC6C338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0F3820C-F540-9D48-E373-AED74A5827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DED45A0-4513-C23E-1980-1A42CC4CA4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160C174-0750-407B-B0FC-20AB906B3F0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B9A03-4B50-100E-6CCF-FD9C7A9A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4835E-2103-35FA-FC20-4B86F16DD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06AE2-89E2-4AE1-882D-C30C56CD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56674F-51F4-AD4D-CB18-A50F166B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EDCAEE-2E57-CD2E-DC27-29801456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257C5-D7A3-4660-88D4-82601DAFD0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71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96577-F18C-773C-31B7-ACB48DD8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F236EB-3C0E-A7D4-2527-81E9D0501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DD733-2D6F-9454-D64B-B69A7896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5DB75-8B94-21F8-FA90-813E5DD0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7D1E15-4D32-270C-88DC-6DB156C3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C23595-FFB5-4093-B596-21E39B7C02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71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E1996-CEE9-B045-0380-D880AC23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AEAB3B-044A-D4FA-3855-B12788B15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B4E52D-8B31-8336-259C-9A19F21B5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99546B-A47D-DEA8-3BC3-87A2AF01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8D2833-17DD-94D7-A565-1DC3FA30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03BF7B-5C9C-EC10-2952-941F9419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A177D-4A60-499D-9DA4-48E2718719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98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51802-D4D2-BED0-726C-30370203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6BA72D-4073-2050-87C5-2A06B398F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7EE97F-CCDB-5573-A90A-D5452F035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5FAB96-2A00-B0D0-B6CA-003810B5C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7834B2-76C4-ACDD-3437-D1690DDAD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22F56E-C584-BEFF-3F73-255B0591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A53F0E-6A43-03D8-B04D-71F2017C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10650F-C65B-E0AD-DFF3-5375DA24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66ABE-8089-4058-978E-2028BA9557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35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18BC4-FB99-9284-8EBC-2B3BA17C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C981B5-10D8-76D6-E545-D254155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E725AB-F168-8F56-608A-226417B6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EE2BCE-2EF7-B78E-6D1A-4C1D8203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F39CB6-B55B-49FC-A6A1-364C2B9A01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52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B4D8CD-EB4A-3067-6735-A04A835E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CF144C-F11A-1D7A-CBC4-B18462A4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671A05-165A-5088-CCA1-D519BE99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50687-8DC1-40CB-92FA-A95D91D9BF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61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BCF93-D721-8538-EE78-D6A6B2CFC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562CF8-D18E-CB0C-7EFF-A38CBD43C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4D6A7B-576C-06CC-A2A9-28DE8D468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C3DD5E-68B0-F3FA-08FB-57C89CA0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F04C8D-8BEE-C242-C35E-26BCAA5B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1F8B93-059C-0F62-42CE-83E4EDDC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B7095-03D1-45C4-B410-3E91406F03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438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1AAEB7-9E83-9098-ACFD-681EFEC1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268186-AA26-9078-164B-B08E7D2A8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D84FD5-A8EA-5F09-7485-3C869E342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C0E9A5-6ADC-07C3-5F96-F55E848C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271295-2194-8BF6-0B6E-E0AC5142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7A464-5C7A-0975-526A-D0753168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16896-4EA3-4A75-A478-71F310F5F2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29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10C77-D622-5D8F-A9A0-53D45474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45972B-604B-478E-40A6-0085A776B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6ED308-4D25-648C-84BA-0A957F1C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476FB-69B7-4AB4-FAB2-15E930E9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4109E-5B35-F008-57F6-D3010F5B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606CE-0C7A-4489-8C92-AE2786D227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605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2E686E-CD11-C5E9-80AA-EF037D118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4FA1A-3AF6-FA7A-E84B-F39355882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FBBF1-8650-3D02-62C2-E1E4294E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346F1D-B51C-0360-43EE-498EC31E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9FD1D0-BDCF-456C-A371-671EB2D5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2C2E6-B156-4F16-8379-8F449DD4E6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4438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61DF3-87B1-74E1-CA8D-736BE884708F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7D1C69-C8DB-5E49-C86D-9E65CEA9B6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19A57-6524-3D5C-2424-ECEED69F94A4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A341A02-A074-DF47-3E6E-8E1E595569E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9339EE-6C6B-77BD-AB57-45AE2EE55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64CAD0-D733-ECEE-82E6-46888E08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6E9C91-0728-87BD-59B3-1B700FA4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84B52E-5119-442C-8087-E541DD73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1C358B7-7B3F-4827-87D0-2EB863FA97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7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8A6DD2B-2647-833E-48BB-A2662FB84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04FED45-EBA9-619F-80F9-9B125BCDF0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4F9CE6-4C4C-1EB2-6DC8-8F9CFB9CE6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A26948F-137C-8E53-E488-C44A263BAA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DCE9937C-5502-4385-9E1E-AD936324DC0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6AA5EAA-ABE0-C9E2-C41D-843A5604A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8.emf"/><Relationship Id="rId21" Type="http://schemas.openxmlformats.org/officeDocument/2006/relationships/image" Target="../media/image17.emf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5.emf"/><Relationship Id="rId25" Type="http://schemas.openxmlformats.org/officeDocument/2006/relationships/image" Target="../media/image19.e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21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2.e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23" Type="http://schemas.openxmlformats.org/officeDocument/2006/relationships/image" Target="../media/image18.emf"/><Relationship Id="rId28" Type="http://schemas.openxmlformats.org/officeDocument/2006/relationships/oleObject" Target="../embeddings/oleObject19.bin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6.emf"/><Relationship Id="rId31" Type="http://schemas.openxmlformats.org/officeDocument/2006/relationships/image" Target="../media/image22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20.emf"/><Relationship Id="rId30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5.e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35.emf"/><Relationship Id="rId7" Type="http://schemas.openxmlformats.org/officeDocument/2006/relationships/image" Target="../media/image37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4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953BD6C-82A1-F42A-E8FD-28CA3CB25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412875"/>
            <a:ext cx="691515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Analysis of Variance</a:t>
            </a:r>
          </a:p>
          <a:p>
            <a:pPr algn="ctr"/>
            <a:endParaRPr lang="en-US" altLang="zh-CN" sz="40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zh-CN" altLang="en-US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</a:t>
            </a:r>
            <a:r>
              <a:rPr lang="en-US" altLang="zh-CN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Part Ⅰ</a:t>
            </a:r>
            <a:r>
              <a:rPr lang="zh-CN" altLang="en-US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D695D80-2118-3A99-9DB8-7F50DCE59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724400"/>
            <a:ext cx="3627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>
                <a:effectLst>
                  <a:outerShdw blurRad="38100" dist="38100" dir="2700000" algn="tl">
                    <a:srgbClr val="000000"/>
                  </a:outerShdw>
                </a:effectLst>
              </a:rPr>
              <a:t>March,7th,2005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050">
            <a:extLst>
              <a:ext uri="{FF2B5EF4-FFF2-40B4-BE49-F238E27FC236}">
                <a16:creationId xmlns:a16="http://schemas.microsoft.com/office/drawing/2014/main" id="{D5DCADAE-4335-7618-4CE5-EBECA0261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Vocabulary(1/4)</a:t>
            </a:r>
          </a:p>
        </p:txBody>
      </p:sp>
      <p:sp>
        <p:nvSpPr>
          <p:cNvPr id="44035" name="Rectangle 2051">
            <a:extLst>
              <a:ext uri="{FF2B5EF4-FFF2-40B4-BE49-F238E27FC236}">
                <a16:creationId xmlns:a16="http://schemas.microsoft.com/office/drawing/2014/main" id="{C20B83B3-262D-2563-AD35-09B2C951B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81200"/>
            <a:ext cx="89646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variance    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方差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abbreviation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缩写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ANOVA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方差分析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one-way ANOVA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单因素方差分析</a:t>
            </a:r>
            <a:r>
              <a:rPr lang="zh-CN" altLang="en-US" sz="4400" b="1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>
            <a:extLst>
              <a:ext uri="{FF2B5EF4-FFF2-40B4-BE49-F238E27FC236}">
                <a16:creationId xmlns:a16="http://schemas.microsoft.com/office/drawing/2014/main" id="{6285AC8A-4E64-55A0-52A7-AA4595474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Vocabulary(2/4)</a:t>
            </a:r>
          </a:p>
        </p:txBody>
      </p:sp>
      <p:sp>
        <p:nvSpPr>
          <p:cNvPr id="47107" name="Rectangle 1027">
            <a:extLst>
              <a:ext uri="{FF2B5EF4-FFF2-40B4-BE49-F238E27FC236}">
                <a16:creationId xmlns:a16="http://schemas.microsoft.com/office/drawing/2014/main" id="{FE13090D-3084-8224-0670-A65B4D9F09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invalid </a:t>
            </a:r>
            <a:r>
              <a:rPr lang="en-US" altLang="zh-CN" b="1"/>
              <a:t>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（依照律条而判为）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                                         无效的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permutation </a:t>
            </a:r>
            <a:r>
              <a:rPr lang="en-US" altLang="zh-CN" b="1"/>
              <a:t>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排列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combination </a:t>
            </a:r>
            <a:r>
              <a:rPr lang="en-US" altLang="zh-CN" b="1"/>
              <a:t>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组合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athlete </a:t>
            </a:r>
            <a:r>
              <a:rPr lang="en-US" altLang="zh-CN" b="1"/>
              <a:t>     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运动员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0D729E46-A2AB-55E6-AAD5-DA6C798A2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Vocabulary(3/4)</a:t>
            </a:r>
          </a:p>
        </p:txBody>
      </p:sp>
      <p:sp>
        <p:nvSpPr>
          <p:cNvPr id="45059" name="Rectangle 1027">
            <a:extLst>
              <a:ext uri="{FF2B5EF4-FFF2-40B4-BE49-F238E27FC236}">
                <a16:creationId xmlns:a16="http://schemas.microsoft.com/office/drawing/2014/main" id="{BB7C179E-AA00-E2ED-AF9D-30AB8A679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7847012" cy="44672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high jumper</a:t>
            </a:r>
            <a:r>
              <a:rPr lang="en-US" altLang="zh-CN" sz="2800" b="1"/>
              <a:t>                       </a:t>
            </a:r>
            <a:r>
              <a:rPr lang="zh-CN" altLang="en-US" sz="4000" b="1">
                <a:solidFill>
                  <a:schemeClr val="folHlink"/>
                </a:solidFill>
                <a:ea typeface="黑体" panose="02010609060101010101" pitchFamily="49" charset="-122"/>
              </a:rPr>
              <a:t>跳高运动员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square </a:t>
            </a:r>
            <a:r>
              <a:rPr lang="en-US" altLang="zh-CN" sz="2800" b="1"/>
              <a:t>                                                      </a:t>
            </a:r>
            <a:r>
              <a:rPr lang="zh-CN" altLang="en-US" sz="4000" b="1">
                <a:solidFill>
                  <a:schemeClr val="folHlink"/>
                </a:solidFill>
                <a:ea typeface="黑体" panose="02010609060101010101" pitchFamily="49" charset="-122"/>
              </a:rPr>
              <a:t>平方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sum of squares</a:t>
            </a:r>
            <a:r>
              <a:rPr lang="en-US" altLang="zh-CN" sz="2800" b="1"/>
              <a:t>           </a:t>
            </a:r>
            <a:r>
              <a:rPr lang="zh-CN" altLang="en-US" sz="4000" b="1">
                <a:solidFill>
                  <a:schemeClr val="folHlink"/>
                </a:solidFill>
                <a:ea typeface="黑体" panose="02010609060101010101" pitchFamily="49" charset="-122"/>
              </a:rPr>
              <a:t>平方（之）和</a:t>
            </a:r>
            <a:r>
              <a:rPr lang="zh-CN" altLang="en-US" sz="2800" b="1"/>
              <a:t>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numerator </a:t>
            </a:r>
            <a:r>
              <a:rPr lang="en-US" altLang="zh-CN" sz="2800" b="1"/>
              <a:t>                                            </a:t>
            </a:r>
            <a:r>
              <a:rPr lang="zh-CN" altLang="en-US" sz="4000" b="1">
                <a:solidFill>
                  <a:schemeClr val="folHlink"/>
                </a:solidFill>
                <a:ea typeface="黑体" panose="02010609060101010101" pitchFamily="49" charset="-122"/>
              </a:rPr>
              <a:t>分子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denominator</a:t>
            </a:r>
            <a:r>
              <a:rPr lang="en-US" altLang="zh-CN" sz="2800" b="1"/>
              <a:t>                                        </a:t>
            </a:r>
            <a:r>
              <a:rPr lang="zh-CN" altLang="en-US" sz="4000" b="1">
                <a:solidFill>
                  <a:schemeClr val="folHlink"/>
                </a:solidFill>
                <a:ea typeface="黑体" panose="02010609060101010101" pitchFamily="49" charset="-122"/>
              </a:rPr>
              <a:t>分母</a:t>
            </a:r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>
            <a:extLst>
              <a:ext uri="{FF2B5EF4-FFF2-40B4-BE49-F238E27FC236}">
                <a16:creationId xmlns:a16="http://schemas.microsoft.com/office/drawing/2014/main" id="{97665739-D8BC-65A7-CCA9-ED9E38BCF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Vocabulary(4/4)</a:t>
            </a:r>
          </a:p>
        </p:txBody>
      </p:sp>
      <p:sp>
        <p:nvSpPr>
          <p:cNvPr id="46083" name="Rectangle 1027">
            <a:extLst>
              <a:ext uri="{FF2B5EF4-FFF2-40B4-BE49-F238E27FC236}">
                <a16:creationId xmlns:a16="http://schemas.microsoft.com/office/drawing/2014/main" id="{BDE11B93-54FA-E456-5BE7-ADC084066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liver </a:t>
            </a:r>
            <a:r>
              <a:rPr lang="en-US" altLang="zh-CN" b="1"/>
              <a:t>                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肝脏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completely randomized design</a:t>
            </a:r>
            <a:r>
              <a:rPr lang="en-US" altLang="zh-CN" b="1"/>
              <a:t>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>
                <a:solidFill>
                  <a:schemeClr val="folHlink"/>
                </a:solidFill>
                <a:ea typeface="黑体" panose="02010609060101010101" pitchFamily="49" charset="-122"/>
              </a:rPr>
              <a:t>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完全随机设计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ratio</a:t>
            </a:r>
            <a:r>
              <a:rPr lang="en-US" altLang="zh-CN" b="1"/>
              <a:t>                                            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比</a:t>
            </a:r>
            <a:r>
              <a:rPr lang="en-US" altLang="zh-CN" sz="4400" b="1">
                <a:solidFill>
                  <a:schemeClr val="folHlink"/>
                </a:solidFill>
                <a:ea typeface="黑体" panose="02010609060101010101" pitchFamily="49" charset="-122"/>
              </a:rPr>
              <a:t>,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比值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4400" b="1"/>
              <a:t>proportion</a:t>
            </a:r>
            <a:r>
              <a:rPr lang="en-US" altLang="zh-CN" b="1"/>
              <a:t>                          </a:t>
            </a:r>
            <a:r>
              <a:rPr lang="en-US" altLang="zh-CN" sz="4400" b="1">
                <a:solidFill>
                  <a:schemeClr val="folHlink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百分</a:t>
            </a:r>
            <a:r>
              <a:rPr lang="en-US" altLang="zh-CN" sz="4400" b="1">
                <a:solidFill>
                  <a:schemeClr val="folHlink"/>
                </a:solidFill>
                <a:ea typeface="黑体" panose="02010609060101010101" pitchFamily="49" charset="-122"/>
              </a:rPr>
              <a:t>) </a:t>
            </a:r>
            <a:r>
              <a:rPr lang="zh-CN" altLang="en-US" sz="4400" b="1">
                <a:solidFill>
                  <a:schemeClr val="folHlink"/>
                </a:solidFill>
                <a:ea typeface="黑体" panose="02010609060101010101" pitchFamily="49" charset="-122"/>
              </a:rPr>
              <a:t>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174B9E9-5EA0-029D-11A4-A1FDCA7F4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412875"/>
            <a:ext cx="691515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</a:t>
            </a:r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alysis </a:t>
            </a:r>
            <a:r>
              <a:rPr lang="en-US" altLang="zh-CN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f </a:t>
            </a:r>
            <a:r>
              <a:rPr lang="en-US" altLang="zh-CN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</a:t>
            </a:r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riance</a:t>
            </a:r>
          </a:p>
          <a:p>
            <a:pPr algn="ctr"/>
            <a:endParaRPr lang="en-US" altLang="zh-CN" sz="40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CN" sz="6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ANOVA</a:t>
            </a:r>
            <a:r>
              <a:rPr lang="en-US" altLang="zh-CN" sz="6000" b="1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24D2E08-F539-5FA5-33DE-A030652FB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8991600" cy="1143000"/>
          </a:xfrm>
        </p:spPr>
        <p:txBody>
          <a:bodyPr/>
          <a:lstStyle/>
          <a:p>
            <a:r>
              <a:rPr lang="en-US" altLang="zh-CN"/>
              <a:t>Variance </a:t>
            </a:r>
            <a:r>
              <a:rPr lang="en-US" altLang="zh-CN">
                <a:latin typeface="Times New Roman" panose="02020603050405020304" pitchFamily="18" charset="0"/>
              </a:rPr>
              <a:t>—</a:t>
            </a:r>
            <a:r>
              <a:rPr lang="en-US" altLang="zh-CN"/>
              <a:t> </a:t>
            </a:r>
            <a:r>
              <a:rPr lang="en-US" altLang="zh-CN" sz="3600" i="1"/>
              <a:t>average</a:t>
            </a:r>
            <a:r>
              <a:rPr lang="en-US" altLang="zh-CN" sz="3600"/>
              <a:t> </a:t>
            </a:r>
            <a:r>
              <a:rPr lang="en-US" altLang="zh-CN" sz="3600" i="1"/>
              <a:t>variation of data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E9BB15CF-8C8F-C37E-225D-9DF5B267B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92B1DD6F-59C6-38AE-2BFC-31783CC469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844675"/>
          <a:ext cx="4692650" cy="391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84200" imgH="1117440" progId="Equation.3">
                  <p:embed/>
                </p:oleObj>
              </mc:Choice>
              <mc:Fallback>
                <p:oleObj name="公式" r:id="rId2" imgW="1384200" imgH="11174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844675"/>
                        <a:ext cx="4692650" cy="3919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F5E24ECE-B147-B350-C207-F02948E7E2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71450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4960" imgH="2933640" progId="Word.Document.8">
                  <p:embed/>
                </p:oleObj>
              </mc:Choice>
              <mc:Fallback>
                <p:oleObj name="文档" r:id="rId2" imgW="5484960" imgH="2933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14500"/>
                        <a:ext cx="91440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1E63C047-8906-0641-3441-B85A89423A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572000"/>
          <a:ext cx="53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41200" progId="Equation.3">
                  <p:embed/>
                </p:oleObj>
              </mc:Choice>
              <mc:Fallback>
                <p:oleObj name="Equation" r:id="rId4" imgW="2156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53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4">
            <a:extLst>
              <a:ext uri="{FF2B5EF4-FFF2-40B4-BE49-F238E27FC236}">
                <a16:creationId xmlns:a16="http://schemas.microsoft.com/office/drawing/2014/main" id="{50653950-B53F-FD1C-F74B-11AE89529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26E5C9C5-F087-E8CE-C336-D0A66797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9F012767-42E9-4431-BAC2-83929C571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3248025"/>
          <a:ext cx="2000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51" imgH="215619" progId="Equation.3">
                  <p:embed/>
                </p:oleObj>
              </mc:Choice>
              <mc:Fallback>
                <p:oleObj r:id="rId6" imgW="114151" imgH="2156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248025"/>
                        <a:ext cx="20002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>
            <a:extLst>
              <a:ext uri="{FF2B5EF4-FFF2-40B4-BE49-F238E27FC236}">
                <a16:creationId xmlns:a16="http://schemas.microsoft.com/office/drawing/2014/main" id="{4B95D735-5DF4-9960-9DBC-5C44E0CA0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4572000"/>
          <a:ext cx="5064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90440" progId="Equation.3">
                  <p:embed/>
                </p:oleObj>
              </mc:Choice>
              <mc:Fallback>
                <p:oleObj name="Equation" r:id="rId8" imgW="177480" imgH="190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572000"/>
                        <a:ext cx="50641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0594FBBB-DC5C-DFB9-9493-17A2F2774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6D5C27BC-ECDF-4AFA-7105-781109734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</a:t>
            </a:r>
            <a:r>
              <a:rPr lang="en-US" altLang="zh-CN" sz="3600" b="1">
                <a:solidFill>
                  <a:srgbClr val="0CF443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An example in sport school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A  medical research on p.297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Conditions for ANOVA application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1D75930-9F8D-C7EA-2834-7BFDF4930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333375"/>
            <a:ext cx="7772400" cy="1143000"/>
          </a:xfrm>
        </p:spPr>
        <p:txBody>
          <a:bodyPr/>
          <a:lstStyle/>
          <a:p>
            <a:r>
              <a:rPr lang="en-US" altLang="zh-CN" sz="4800" b="1" u="sng">
                <a:latin typeface="Times New Roman" panose="02020603050405020304" pitchFamily="18" charset="0"/>
              </a:rPr>
              <a:t>1.  Introduction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7094471-84F1-2670-ED0B-938836EF3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640763" cy="4611687"/>
          </a:xfrm>
        </p:spPr>
        <p:txBody>
          <a:bodyPr/>
          <a:lstStyle/>
          <a:p>
            <a:pPr algn="just"/>
            <a:r>
              <a:rPr lang="en-US" altLang="zh-CN" sz="4000" b="1">
                <a:cs typeface="Times New Roman" panose="02020603050405020304" pitchFamily="18" charset="0"/>
              </a:rPr>
              <a:t>The </a:t>
            </a:r>
            <a:r>
              <a:rPr lang="en-US" altLang="zh-CN" sz="4000" b="1" i="1">
                <a:cs typeface="Times New Roman" panose="02020603050405020304" pitchFamily="18" charset="0"/>
              </a:rPr>
              <a:t>t</a:t>
            </a:r>
            <a:r>
              <a:rPr lang="en-US" altLang="zh-CN" sz="4000" b="1">
                <a:cs typeface="Times New Roman" panose="02020603050405020304" pitchFamily="18" charset="0"/>
              </a:rPr>
              <a:t> test and </a:t>
            </a:r>
            <a:r>
              <a:rPr lang="en-US" altLang="zh-CN" sz="4000" b="1" i="1">
                <a:cs typeface="Times New Roman" panose="02020603050405020304" pitchFamily="18" charset="0"/>
              </a:rPr>
              <a:t>u</a:t>
            </a:r>
            <a:r>
              <a:rPr lang="en-US" altLang="zh-CN" sz="4000" b="1">
                <a:cs typeface="Times New Roman" panose="02020603050405020304" pitchFamily="18" charset="0"/>
              </a:rPr>
              <a:t> test are only suitable to compare two sample means. </a:t>
            </a:r>
          </a:p>
          <a:p>
            <a:pPr algn="just"/>
            <a:r>
              <a:rPr lang="en-US" altLang="zh-CN" sz="4000" b="1">
                <a:cs typeface="Times New Roman" panose="02020603050405020304" pitchFamily="18" charset="0"/>
              </a:rPr>
              <a:t>However, in medical practice, we often try to compare more than two sample means. </a:t>
            </a:r>
          </a:p>
          <a:p>
            <a:pPr algn="just"/>
            <a:r>
              <a:rPr lang="en-US" altLang="zh-CN" sz="4000" b="1">
                <a:cs typeface="Times New Roman" panose="02020603050405020304" pitchFamily="18" charset="0"/>
              </a:rPr>
              <a:t>In this situation, analysis of variance (ANOVA) is a powerful method.</a:t>
            </a:r>
            <a:endParaRPr lang="en-US" altLang="zh-CN" sz="4000">
              <a:latin typeface="宋体" panose="02010600030101010101" pitchFamily="2" charset="-122"/>
            </a:endParaRPr>
          </a:p>
          <a:p>
            <a:endParaRPr lang="en-US" altLang="zh-CN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3EFA5A9-CCE8-FAC6-558A-867C8497097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zh-CN" sz="4000" b="1">
                <a:latin typeface="Times New Roman" panose="02020603050405020304" pitchFamily="18" charset="0"/>
              </a:rPr>
              <a:t>How about compare every pairs of</a:t>
            </a:r>
            <a:br>
              <a:rPr lang="en-US" altLang="zh-CN" sz="4000" b="1">
                <a:latin typeface="Times New Roman" panose="02020603050405020304" pitchFamily="18" charset="0"/>
              </a:rPr>
            </a:br>
            <a:r>
              <a:rPr lang="en-US" altLang="zh-CN" sz="4000" b="1">
                <a:latin typeface="Times New Roman" panose="02020603050405020304" pitchFamily="18" charset="0"/>
              </a:rPr>
              <a:t>        and          with </a:t>
            </a:r>
            <a:r>
              <a:rPr lang="en-US" altLang="zh-CN" sz="4000" b="1" i="1">
                <a:latin typeface="Times New Roman" panose="02020603050405020304" pitchFamily="18" charset="0"/>
              </a:rPr>
              <a:t>t</a:t>
            </a:r>
            <a:r>
              <a:rPr lang="en-US" altLang="zh-CN" sz="4000" b="1">
                <a:latin typeface="Times New Roman" panose="02020603050405020304" pitchFamily="18" charset="0"/>
              </a:rPr>
              <a:t> test or </a:t>
            </a:r>
            <a:r>
              <a:rPr lang="en-US" altLang="zh-CN" sz="4000" b="1" i="1">
                <a:latin typeface="Times New Roman" panose="02020603050405020304" pitchFamily="18" charset="0"/>
              </a:rPr>
              <a:t>u</a:t>
            </a:r>
            <a:r>
              <a:rPr lang="en-US" altLang="zh-CN" sz="4000" b="1">
                <a:latin typeface="Times New Roman" panose="02020603050405020304" pitchFamily="18" charset="0"/>
              </a:rPr>
              <a:t> test?</a:t>
            </a:r>
          </a:p>
        </p:txBody>
      </p:sp>
      <p:graphicFrame>
        <p:nvGraphicFramePr>
          <p:cNvPr id="13318" name="Object 6">
            <a:extLst>
              <a:ext uri="{FF2B5EF4-FFF2-40B4-BE49-F238E27FC236}">
                <a16:creationId xmlns:a16="http://schemas.microsoft.com/office/drawing/2014/main" id="{261B6F11-0AC1-4CD1-B3A9-3CEB8846795A}"/>
              </a:ext>
            </a:extLst>
          </p:cNvPr>
          <p:cNvGraphicFramePr>
            <a:graphicFrameLocks noChangeAspect="1"/>
          </p:cNvGraphicFramePr>
          <p:nvPr>
            <p:ph sz="quarter" idx="1"/>
          </p:nvPr>
        </p:nvGraphicFramePr>
        <p:xfrm>
          <a:off x="2843213" y="3860800"/>
          <a:ext cx="7477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640" imgH="228600" progId="Equation.3">
                  <p:embed/>
                </p:oleObj>
              </mc:Choice>
              <mc:Fallback>
                <p:oleObj name="公式" r:id="rId2" imgW="2156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860800"/>
                        <a:ext cx="74771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>
            <a:extLst>
              <a:ext uri="{FF2B5EF4-FFF2-40B4-BE49-F238E27FC236}">
                <a16:creationId xmlns:a16="http://schemas.microsoft.com/office/drawing/2014/main" id="{78792039-46B7-71D8-D54F-F6939D271C26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372225" y="3790950"/>
          <a:ext cx="70008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5640" imgH="241200" progId="Equation.3">
                  <p:embed/>
                </p:oleObj>
              </mc:Choice>
              <mc:Fallback>
                <p:oleObj name="公式" r:id="rId4" imgW="21564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790950"/>
                        <a:ext cx="700088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Object 18">
            <a:extLst>
              <a:ext uri="{FF2B5EF4-FFF2-40B4-BE49-F238E27FC236}">
                <a16:creationId xmlns:a16="http://schemas.microsoft.com/office/drawing/2014/main" id="{91CD4D1B-0953-2C70-4D70-4F7F5C9D0A7B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284663" y="5326063"/>
          <a:ext cx="7683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5640" imgH="228600" progId="Equation.3">
                  <p:embed/>
                </p:oleObj>
              </mc:Choice>
              <mc:Fallback>
                <p:oleObj name="公式" r:id="rId6" imgW="21564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326063"/>
                        <a:ext cx="7683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5">
            <a:extLst>
              <a:ext uri="{FF2B5EF4-FFF2-40B4-BE49-F238E27FC236}">
                <a16:creationId xmlns:a16="http://schemas.microsoft.com/office/drawing/2014/main" id="{A9291C97-DF45-3251-AA84-F2D5604E5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AEB8D1C5-24FA-C155-EDD0-A8AB4528DC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125538"/>
          <a:ext cx="7286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3040" imgH="241200" progId="Equation.3">
                  <p:embed/>
                </p:oleObj>
              </mc:Choice>
              <mc:Fallback>
                <p:oleObj name="公式" r:id="rId8" imgW="20304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125538"/>
                        <a:ext cx="728662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9">
            <a:extLst>
              <a:ext uri="{FF2B5EF4-FFF2-40B4-BE49-F238E27FC236}">
                <a16:creationId xmlns:a16="http://schemas.microsoft.com/office/drawing/2014/main" id="{F408C67F-CF94-7A4F-B9DF-22A48FC17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F6D49198-7B05-0D79-3580-A1359F2C6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205038"/>
          <a:ext cx="3455987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88840" imgH="393480" progId="Equation.3">
                  <p:embed/>
                </p:oleObj>
              </mc:Choice>
              <mc:Fallback>
                <p:oleObj name="公式" r:id="rId10" imgW="88884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205038"/>
                        <a:ext cx="3455987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0">
            <a:extLst>
              <a:ext uri="{FF2B5EF4-FFF2-40B4-BE49-F238E27FC236}">
                <a16:creationId xmlns:a16="http://schemas.microsoft.com/office/drawing/2014/main" id="{1FAA1D93-386D-2CB1-3C5B-19C72809B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60800"/>
            <a:ext cx="229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/>
              <a:t>and           ,</a:t>
            </a:r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7B5670DB-9E7B-524D-8D79-C019D8B8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652963"/>
            <a:ext cx="229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/>
              <a:t>and           ,</a:t>
            </a:r>
          </a:p>
        </p:txBody>
      </p:sp>
      <p:sp>
        <p:nvSpPr>
          <p:cNvPr id="13326" name="Rectangle 14">
            <a:extLst>
              <a:ext uri="{FF2B5EF4-FFF2-40B4-BE49-F238E27FC236}">
                <a16:creationId xmlns:a16="http://schemas.microsoft.com/office/drawing/2014/main" id="{93A26D6F-771B-1DA2-AFA8-5300200F7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373688"/>
            <a:ext cx="229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/>
              <a:t>and           ,</a:t>
            </a:r>
          </a:p>
        </p:txBody>
      </p:sp>
      <p:sp>
        <p:nvSpPr>
          <p:cNvPr id="13327" name="Rectangle 15">
            <a:extLst>
              <a:ext uri="{FF2B5EF4-FFF2-40B4-BE49-F238E27FC236}">
                <a16:creationId xmlns:a16="http://schemas.microsoft.com/office/drawing/2014/main" id="{594365EC-967C-6F28-0143-E2E4DFE29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373688"/>
            <a:ext cx="229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/>
              <a:t>and           ,</a:t>
            </a:r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CB043CF2-A8C1-68E2-B7C5-A0E4A3639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508500"/>
            <a:ext cx="229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/>
              <a:t>and           ,</a:t>
            </a:r>
          </a:p>
        </p:txBody>
      </p:sp>
      <p:sp>
        <p:nvSpPr>
          <p:cNvPr id="13329" name="Rectangle 17">
            <a:extLst>
              <a:ext uri="{FF2B5EF4-FFF2-40B4-BE49-F238E27FC236}">
                <a16:creationId xmlns:a16="http://schemas.microsoft.com/office/drawing/2014/main" id="{F97FE7A0-F1EB-0F84-7C01-EB5D9C990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716338"/>
            <a:ext cx="229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/>
              <a:t>and           ,</a:t>
            </a:r>
          </a:p>
        </p:txBody>
      </p:sp>
      <p:graphicFrame>
        <p:nvGraphicFramePr>
          <p:cNvPr id="13332" name="Object 20">
            <a:extLst>
              <a:ext uri="{FF2B5EF4-FFF2-40B4-BE49-F238E27FC236}">
                <a16:creationId xmlns:a16="http://schemas.microsoft.com/office/drawing/2014/main" id="{EA18BBF6-77E6-2EA6-92F2-783500AB06C3}"/>
              </a:ext>
            </a:extLst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6372225" y="4652963"/>
          <a:ext cx="6604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3040" imgH="228600" progId="Equation.3">
                  <p:embed/>
                </p:oleObj>
              </mc:Choice>
              <mc:Fallback>
                <p:oleObj name="公式" r:id="rId12" imgW="20304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652963"/>
                        <a:ext cx="6604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Object 22">
            <a:extLst>
              <a:ext uri="{FF2B5EF4-FFF2-40B4-BE49-F238E27FC236}">
                <a16:creationId xmlns:a16="http://schemas.microsoft.com/office/drawing/2014/main" id="{FACE6F7C-BCB9-5EBC-2FE3-88FD2CFC2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789363"/>
          <a:ext cx="7334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3040" imgH="228600" progId="Equation.3">
                  <p:embed/>
                </p:oleObj>
              </mc:Choice>
              <mc:Fallback>
                <p:oleObj name="公式" r:id="rId14" imgW="20304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789363"/>
                        <a:ext cx="7334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Object 23">
            <a:extLst>
              <a:ext uri="{FF2B5EF4-FFF2-40B4-BE49-F238E27FC236}">
                <a16:creationId xmlns:a16="http://schemas.microsoft.com/office/drawing/2014/main" id="{D61DDD78-ED9D-39BA-2C40-04993DBE1A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2438" y="4508500"/>
          <a:ext cx="779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5640" imgH="228600" progId="Equation.3">
                  <p:embed/>
                </p:oleObj>
              </mc:Choice>
              <mc:Fallback>
                <p:oleObj name="公式" r:id="rId16" imgW="21564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4508500"/>
                        <a:ext cx="779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6" name="Object 24">
            <a:extLst>
              <a:ext uri="{FF2B5EF4-FFF2-40B4-BE49-F238E27FC236}">
                <a16:creationId xmlns:a16="http://schemas.microsoft.com/office/drawing/2014/main" id="{E0F34A3A-C19F-BB56-04C0-4651A05BC4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9413" y="3716338"/>
          <a:ext cx="779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5640" imgH="228600" progId="Equation.3">
                  <p:embed/>
                </p:oleObj>
              </mc:Choice>
              <mc:Fallback>
                <p:oleObj name="公式" r:id="rId18" imgW="21564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3716338"/>
                        <a:ext cx="779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7" name="Object 25">
            <a:extLst>
              <a:ext uri="{FF2B5EF4-FFF2-40B4-BE49-F238E27FC236}">
                <a16:creationId xmlns:a16="http://schemas.microsoft.com/office/drawing/2014/main" id="{218963F6-F743-E6C5-821A-B55DF018D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325" y="4486275"/>
          <a:ext cx="7794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15640" imgH="241200" progId="Equation.3">
                  <p:embed/>
                </p:oleObj>
              </mc:Choice>
              <mc:Fallback>
                <p:oleObj name="公式" r:id="rId20" imgW="215640" imgH="2412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4486275"/>
                        <a:ext cx="779463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8" name="Object 26">
            <a:extLst>
              <a:ext uri="{FF2B5EF4-FFF2-40B4-BE49-F238E27FC236}">
                <a16:creationId xmlns:a16="http://schemas.microsoft.com/office/drawing/2014/main" id="{271D1DAF-D1F7-DD57-0620-263CFC4DB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229225"/>
          <a:ext cx="7334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3040" imgH="228600" progId="Equation.3">
                  <p:embed/>
                </p:oleObj>
              </mc:Choice>
              <mc:Fallback>
                <p:oleObj name="公式" r:id="rId22" imgW="20304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229225"/>
                        <a:ext cx="7334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9" name="Object 27">
            <a:extLst>
              <a:ext uri="{FF2B5EF4-FFF2-40B4-BE49-F238E27FC236}">
                <a16:creationId xmlns:a16="http://schemas.microsoft.com/office/drawing/2014/main" id="{3CC5EB4A-153A-1434-446E-E24739D60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9550" y="4652963"/>
          <a:ext cx="7794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15640" imgH="228600" progId="Equation.3">
                  <p:embed/>
                </p:oleObj>
              </mc:Choice>
              <mc:Fallback>
                <p:oleObj name="公式" r:id="rId24" imgW="21564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4652963"/>
                        <a:ext cx="7794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0" name="Object 28">
            <a:extLst>
              <a:ext uri="{FF2B5EF4-FFF2-40B4-BE49-F238E27FC236}">
                <a16:creationId xmlns:a16="http://schemas.microsoft.com/office/drawing/2014/main" id="{2DB20D08-D34E-C121-82DE-857109EE94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8113" y="5351463"/>
          <a:ext cx="77946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15640" imgH="241200" progId="Equation.3">
                  <p:embed/>
                </p:oleObj>
              </mc:Choice>
              <mc:Fallback>
                <p:oleObj name="公式" r:id="rId26" imgW="215640" imgH="241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5351463"/>
                        <a:ext cx="77946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1" name="Object 29">
            <a:extLst>
              <a:ext uri="{FF2B5EF4-FFF2-40B4-BE49-F238E27FC236}">
                <a16:creationId xmlns:a16="http://schemas.microsoft.com/office/drawing/2014/main" id="{D384C766-3E0D-0C67-98C1-850C4183B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8563" y="5373688"/>
          <a:ext cx="779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15640" imgH="228600" progId="Equation.3">
                  <p:embed/>
                </p:oleObj>
              </mc:Choice>
              <mc:Fallback>
                <p:oleObj name="公式" r:id="rId28" imgW="21564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5373688"/>
                        <a:ext cx="779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2" name="Object 30">
            <a:extLst>
              <a:ext uri="{FF2B5EF4-FFF2-40B4-BE49-F238E27FC236}">
                <a16:creationId xmlns:a16="http://schemas.microsoft.com/office/drawing/2014/main" id="{013EB1BC-F708-03F9-04A8-B24A29282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4013" y="1079500"/>
          <a:ext cx="7794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15640" imgH="253800" progId="Equation.3">
                  <p:embed/>
                </p:oleObj>
              </mc:Choice>
              <mc:Fallback>
                <p:oleObj name="公式" r:id="rId30" imgW="215640" imgH="2538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1079500"/>
                        <a:ext cx="7794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4121166-EB2D-2905-2BD5-AE519862C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/>
              <a:t>The Probability with which we wrongly reject at least one true null hypothesis is,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F7B2230E-9261-A427-319A-D2C680F15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B987D36D-0763-A791-6F49-BD62EE913C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838" y="2541588"/>
          <a:ext cx="847407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54280" imgH="406080" progId="Equation.3">
                  <p:embed/>
                </p:oleObj>
              </mc:Choice>
              <mc:Fallback>
                <p:oleObj name="公式" r:id="rId2" imgW="2654280" imgH="406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8" y="2541588"/>
                        <a:ext cx="8474075" cy="1360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6">
            <a:extLst>
              <a:ext uri="{FF2B5EF4-FFF2-40B4-BE49-F238E27FC236}">
                <a16:creationId xmlns:a16="http://schemas.microsoft.com/office/drawing/2014/main" id="{EE7C06B0-FBB0-F0C8-6BE4-7197D64CA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2116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The risk that we actually take is higher than what we assumed!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EFDB5F3-C757-DCEA-4157-7A4B80AEE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6204C87-500C-FDF0-4DBE-190B4AD0DC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</a:t>
            </a:r>
            <a:r>
              <a:rPr lang="en-US" altLang="zh-CN" sz="3600" b="1">
                <a:solidFill>
                  <a:srgbClr val="FF66FF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</a:t>
            </a:r>
            <a:r>
              <a:rPr lang="en-US" altLang="zh-CN" sz="3600" b="1">
                <a:solidFill>
                  <a:srgbClr val="0CF443"/>
                </a:solidFill>
              </a:rPr>
              <a:t>An example in sport school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A  medical research on p.297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Conditions for ANOVA application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5162CCC-CBB4-49DE-6C4C-35AE3B36C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609600"/>
            <a:ext cx="7989887" cy="1143000"/>
          </a:xfrm>
        </p:spPr>
        <p:txBody>
          <a:bodyPr/>
          <a:lstStyle/>
          <a:p>
            <a:r>
              <a:rPr lang="en-US" altLang="zh-CN" sz="4800" b="1" u="sng">
                <a:latin typeface="Times New Roman" panose="02020603050405020304" pitchFamily="18" charset="0"/>
              </a:rPr>
              <a:t>2. An example in sport school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052D38D-220A-B2A5-96E4-C3F01400A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981200"/>
            <a:ext cx="8062912" cy="4114800"/>
          </a:xfrm>
        </p:spPr>
        <p:txBody>
          <a:bodyPr/>
          <a:lstStyle/>
          <a:p>
            <a:r>
              <a:rPr lang="en-US" altLang="zh-CN" sz="4000" b="1"/>
              <a:t>Thirty teenagers are chosen to be cultivated as high jumpers in 2000-09-01.</a:t>
            </a:r>
          </a:p>
          <a:p>
            <a:endParaRPr lang="en-US" altLang="zh-CN" sz="2400" b="1"/>
          </a:p>
          <a:p>
            <a:r>
              <a:rPr lang="en-US" altLang="zh-CN" sz="4000" b="1"/>
              <a:t>The three groups are guided by three different coaches.</a:t>
            </a:r>
          </a:p>
          <a:p>
            <a:endParaRPr lang="en-US" altLang="zh-CN" sz="40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>
            <a:extLst>
              <a:ext uri="{FF2B5EF4-FFF2-40B4-BE49-F238E27FC236}">
                <a16:creationId xmlns:a16="http://schemas.microsoft.com/office/drawing/2014/main" id="{C97F12B2-158E-FA61-7723-88C3CD7F2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3" name="Line 3">
            <a:extLst>
              <a:ext uri="{FF2B5EF4-FFF2-40B4-BE49-F238E27FC236}">
                <a16:creationId xmlns:a16="http://schemas.microsoft.com/office/drawing/2014/main" id="{D3EF289A-4F41-008A-AF7A-1F3618ED9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4" name="Line 4">
            <a:extLst>
              <a:ext uri="{FF2B5EF4-FFF2-40B4-BE49-F238E27FC236}">
                <a16:creationId xmlns:a16="http://schemas.microsoft.com/office/drawing/2014/main" id="{20D114A4-F2CB-C340-A27A-EFF6C5424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39F402BF-C86E-32CA-E7D0-F8250185A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6" name="Line 6">
            <a:extLst>
              <a:ext uri="{FF2B5EF4-FFF2-40B4-BE49-F238E27FC236}">
                <a16:creationId xmlns:a16="http://schemas.microsoft.com/office/drawing/2014/main" id="{2F9A39AC-87FF-6182-CC8A-CA265D0CF8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75AC2BEA-A328-641F-B6A0-C237B06B5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8" name="Line 8">
            <a:extLst>
              <a:ext uri="{FF2B5EF4-FFF2-40B4-BE49-F238E27FC236}">
                <a16:creationId xmlns:a16="http://schemas.microsoft.com/office/drawing/2014/main" id="{EDBE9688-90C1-C6BD-44C7-F7E889F6A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5300663"/>
            <a:ext cx="352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A815330F-F153-94CB-3865-C40ABF50B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692650"/>
            <a:ext cx="1214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/>
              <a:t>1.1m</a:t>
            </a:r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35619EFA-2D53-C526-84E5-2694968EB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84724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/>
              <a:t>30 teenagers ——</a:t>
            </a:r>
          </a:p>
          <a:p>
            <a:r>
              <a:rPr lang="en-US" altLang="zh-CN" sz="4000" b="1"/>
              <a:t>         Future high-jump athletes in GD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30CEAB0-B112-7CE1-A162-CFF999182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4941888"/>
            <a:ext cx="7772400" cy="1143000"/>
          </a:xfrm>
        </p:spPr>
        <p:txBody>
          <a:bodyPr/>
          <a:lstStyle/>
          <a:p>
            <a:r>
              <a:rPr lang="en-US" altLang="zh-CN"/>
              <a:t>The situation, 2 years later</a:t>
            </a:r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296DA90E-7020-705F-B4B5-78F9D5CB2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7163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9A1E4011-67D7-C0CE-9961-448BFB450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4290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FC3F6AF5-514F-C66A-CDFB-6C7E82E55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8608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07F76A4C-BE8F-70D9-548C-A92BF12F4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004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EDABE3C6-83AF-E846-15D8-6981459EB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6449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2038F922-0543-994E-E27D-A866D7FE7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004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4" name="Line 12">
            <a:extLst>
              <a:ext uri="{FF2B5EF4-FFF2-40B4-BE49-F238E27FC236}">
                <a16:creationId xmlns:a16="http://schemas.microsoft.com/office/drawing/2014/main" id="{BC31BBC0-E8F9-CB0F-6F1C-E8BAEAB44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7346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05" name="Line 13">
            <a:extLst>
              <a:ext uri="{FF2B5EF4-FFF2-40B4-BE49-F238E27FC236}">
                <a16:creationId xmlns:a16="http://schemas.microsoft.com/office/drawing/2014/main" id="{9D79A528-7114-4300-0847-67CBC21AB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6449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15" name="Line 23">
            <a:extLst>
              <a:ext uri="{FF2B5EF4-FFF2-40B4-BE49-F238E27FC236}">
                <a16:creationId xmlns:a16="http://schemas.microsoft.com/office/drawing/2014/main" id="{423B7C0B-5A12-595D-3322-EE8D3C7AD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644900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19" name="Rectangle 27">
            <a:extLst>
              <a:ext uri="{FF2B5EF4-FFF2-40B4-BE49-F238E27FC236}">
                <a16:creationId xmlns:a16="http://schemas.microsoft.com/office/drawing/2014/main" id="{E6890721-6898-72A4-46CF-EA91127C7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182938"/>
            <a:ext cx="5873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graphicFrame>
        <p:nvGraphicFramePr>
          <p:cNvPr id="8220" name="Object 28">
            <a:extLst>
              <a:ext uri="{FF2B5EF4-FFF2-40B4-BE49-F238E27FC236}">
                <a16:creationId xmlns:a16="http://schemas.microsoft.com/office/drawing/2014/main" id="{941B6A88-AB45-1AD2-A4DC-7D32C92C5A4E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4500563" y="3213100"/>
          <a:ext cx="29511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1760" imgH="228600" progId="Equation.3">
                  <p:embed/>
                </p:oleObj>
              </mc:Choice>
              <mc:Fallback>
                <p:oleObj name="公式" r:id="rId2" imgW="76176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213100"/>
                        <a:ext cx="29511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20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527A43C-9954-3358-92ED-157C1F0E5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4652963"/>
            <a:ext cx="7772400" cy="1143000"/>
          </a:xfrm>
        </p:spPr>
        <p:txBody>
          <a:bodyPr/>
          <a:lstStyle/>
          <a:p>
            <a:r>
              <a:rPr lang="en-US" altLang="zh-CN"/>
              <a:t>The situation, 2 years later</a:t>
            </a:r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29E974D9-C6E9-EC83-CB2E-38C6BDE6D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7163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C9410575-4FAC-9A53-044F-282EF380A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4290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91C2F176-AE08-7284-90A6-B432DE111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8608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B981C7AF-7FCA-8A3B-6D3A-0A145C7E2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004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5585D9B4-EEBF-C17B-FE53-C2959ED24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8608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7932B481-5B36-BA70-524E-75C8C42D7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6449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6" name="Line 10">
            <a:extLst>
              <a:ext uri="{FF2B5EF4-FFF2-40B4-BE49-F238E27FC236}">
                <a16:creationId xmlns:a16="http://schemas.microsoft.com/office/drawing/2014/main" id="{82E98C57-ED5C-D666-EC33-ED95553A5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004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6A759CDF-EE8C-198A-9701-5ACC85D5C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7346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FAE5201A-4254-BB2A-A0CD-FFE4295A3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6449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0" name="Line 14">
            <a:extLst>
              <a:ext uri="{FF2B5EF4-FFF2-40B4-BE49-F238E27FC236}">
                <a16:creationId xmlns:a16="http://schemas.microsoft.com/office/drawing/2014/main" id="{8FC16408-CBC0-9A01-2EBA-8F23571FA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6368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1" name="Line 15">
            <a:extLst>
              <a:ext uri="{FF2B5EF4-FFF2-40B4-BE49-F238E27FC236}">
                <a16:creationId xmlns:a16="http://schemas.microsoft.com/office/drawing/2014/main" id="{86D96C7E-3C67-56B4-0CAF-825711265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565400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9B93257C-E46B-1B84-364B-9562D8776A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49237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D84BA8B8-7B22-9179-96F0-CDB321F2C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270827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4" name="Line 18">
            <a:extLst>
              <a:ext uri="{FF2B5EF4-FFF2-40B4-BE49-F238E27FC236}">
                <a16:creationId xmlns:a16="http://schemas.microsoft.com/office/drawing/2014/main" id="{F8A375D3-6BF4-50CC-1A1A-4948B9AF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05251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5" name="Line 19">
            <a:extLst>
              <a:ext uri="{FF2B5EF4-FFF2-40B4-BE49-F238E27FC236}">
                <a16:creationId xmlns:a16="http://schemas.microsoft.com/office/drawing/2014/main" id="{6B800FB9-EC9F-F5D4-E537-75F749B76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98107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6" name="Line 20">
            <a:extLst>
              <a:ext uri="{FF2B5EF4-FFF2-40B4-BE49-F238E27FC236}">
                <a16:creationId xmlns:a16="http://schemas.microsoft.com/office/drawing/2014/main" id="{D0D8CF08-A09E-28C0-5561-5E25503D46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125538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7" name="Line 21">
            <a:extLst>
              <a:ext uri="{FF2B5EF4-FFF2-40B4-BE49-F238E27FC236}">
                <a16:creationId xmlns:a16="http://schemas.microsoft.com/office/drawing/2014/main" id="{25C070D7-1FB3-113E-4B18-C0549978B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26841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8" name="Line 22">
            <a:extLst>
              <a:ext uri="{FF2B5EF4-FFF2-40B4-BE49-F238E27FC236}">
                <a16:creationId xmlns:a16="http://schemas.microsoft.com/office/drawing/2014/main" id="{315E991C-B8CF-0DB3-48B9-C33E75E00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3644900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9" name="Line 23">
            <a:extLst>
              <a:ext uri="{FF2B5EF4-FFF2-40B4-BE49-F238E27FC236}">
                <a16:creationId xmlns:a16="http://schemas.microsoft.com/office/drawing/2014/main" id="{D6F69A46-55A7-1761-939D-0B1051973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6368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0" name="Line 24">
            <a:extLst>
              <a:ext uri="{FF2B5EF4-FFF2-40B4-BE49-F238E27FC236}">
                <a16:creationId xmlns:a16="http://schemas.microsoft.com/office/drawing/2014/main" id="{F0C3E517-DBF3-2749-F51D-22F676B95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1255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1" name="Line 25">
            <a:extLst>
              <a:ext uri="{FF2B5EF4-FFF2-40B4-BE49-F238E27FC236}">
                <a16:creationId xmlns:a16="http://schemas.microsoft.com/office/drawing/2014/main" id="{4E69F166-5F4C-10D8-D5BA-C21EDB8CB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2420938"/>
            <a:ext cx="73453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42" name="Rectangle 26">
            <a:extLst>
              <a:ext uri="{FF2B5EF4-FFF2-40B4-BE49-F238E27FC236}">
                <a16:creationId xmlns:a16="http://schemas.microsoft.com/office/drawing/2014/main" id="{50BA9C8E-1BC5-2BFF-D4B6-3E4A3884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429000"/>
            <a:ext cx="5508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9243" name="Rectangle 27">
            <a:extLst>
              <a:ext uri="{FF2B5EF4-FFF2-40B4-BE49-F238E27FC236}">
                <a16:creationId xmlns:a16="http://schemas.microsoft.com/office/drawing/2014/main" id="{FA5DE7B4-B5EC-CE4E-4D48-3AFD6E97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276475"/>
            <a:ext cx="5222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9244" name="Rectangle 28">
            <a:extLst>
              <a:ext uri="{FF2B5EF4-FFF2-40B4-BE49-F238E27FC236}">
                <a16:creationId xmlns:a16="http://schemas.microsoft.com/office/drawing/2014/main" id="{AE32DF8D-A73C-9677-12F8-BA6CCCFE5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2150"/>
            <a:ext cx="5508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9246" name="Rectangle 30">
            <a:extLst>
              <a:ext uri="{FF2B5EF4-FFF2-40B4-BE49-F238E27FC236}">
                <a16:creationId xmlns:a16="http://schemas.microsoft.com/office/drawing/2014/main" id="{439E7702-5111-80CA-9797-6191B5206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45" name="Object 29">
            <a:extLst>
              <a:ext uri="{FF2B5EF4-FFF2-40B4-BE49-F238E27FC236}">
                <a16:creationId xmlns:a16="http://schemas.microsoft.com/office/drawing/2014/main" id="{0CE2749C-D2A0-87D7-7999-EF67EA10C5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284538"/>
          <a:ext cx="22701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1760" imgH="228600" progId="Equation.3">
                  <p:embed/>
                </p:oleObj>
              </mc:Choice>
              <mc:Fallback>
                <p:oleObj name="公式" r:id="rId2" imgW="76176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284538"/>
                        <a:ext cx="2270125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8" name="Rectangle 32">
            <a:extLst>
              <a:ext uri="{FF2B5EF4-FFF2-40B4-BE49-F238E27FC236}">
                <a16:creationId xmlns:a16="http://schemas.microsoft.com/office/drawing/2014/main" id="{7DB31382-8328-0F6B-7D13-D0685A367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47" name="Object 31">
            <a:extLst>
              <a:ext uri="{FF2B5EF4-FFF2-40B4-BE49-F238E27FC236}">
                <a16:creationId xmlns:a16="http://schemas.microsoft.com/office/drawing/2014/main" id="{062846AB-C385-896D-85B6-FA8D86679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492375"/>
          <a:ext cx="26019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1760" imgH="228600" progId="Equation.3">
                  <p:embed/>
                </p:oleObj>
              </mc:Choice>
              <mc:Fallback>
                <p:oleObj name="公式" r:id="rId4" imgW="76176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492375"/>
                        <a:ext cx="2601912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0" name="Rectangle 34">
            <a:extLst>
              <a:ext uri="{FF2B5EF4-FFF2-40B4-BE49-F238E27FC236}">
                <a16:creationId xmlns:a16="http://schemas.microsoft.com/office/drawing/2014/main" id="{F6326B3A-DAD7-BA61-300E-0EE5E946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49" name="Object 33">
            <a:extLst>
              <a:ext uri="{FF2B5EF4-FFF2-40B4-BE49-F238E27FC236}">
                <a16:creationId xmlns:a16="http://schemas.microsoft.com/office/drawing/2014/main" id="{859FA03E-1419-E92F-CE00-008D7E1D2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49275"/>
          <a:ext cx="24082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61760" imgH="241200" progId="Equation.3">
                  <p:embed/>
                </p:oleObj>
              </mc:Choice>
              <mc:Fallback>
                <p:oleObj name="公式" r:id="rId6" imgW="761760" imgH="2412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49275"/>
                        <a:ext cx="2408238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2" name="Rectangle 36">
            <a:extLst>
              <a:ext uri="{FF2B5EF4-FFF2-40B4-BE49-F238E27FC236}">
                <a16:creationId xmlns:a16="http://schemas.microsoft.com/office/drawing/2014/main" id="{E3F11A11-96E4-60B5-424E-725713038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51" name="Object 35">
            <a:extLst>
              <a:ext uri="{FF2B5EF4-FFF2-40B4-BE49-F238E27FC236}">
                <a16:creationId xmlns:a16="http://schemas.microsoft.com/office/drawing/2014/main" id="{9263AF67-FFD0-6370-D81C-7FBB7A82D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150" y="1604963"/>
          <a:ext cx="2500313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98400" imgH="203040" progId="Equation.3">
                  <p:embed/>
                </p:oleObj>
              </mc:Choice>
              <mc:Fallback>
                <p:oleObj name="公式" r:id="rId8" imgW="698400" imgH="20304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" y="1604963"/>
                        <a:ext cx="2500313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411EA15-C3E5-7722-4AAC-50AC38A53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/>
          <a:lstStyle/>
          <a:p>
            <a:r>
              <a:rPr lang="en-US" altLang="zh-CN"/>
              <a:t>The situation in GX province</a:t>
            </a:r>
          </a:p>
        </p:txBody>
      </p:sp>
      <p:sp>
        <p:nvSpPr>
          <p:cNvPr id="11267" name="Line 3">
            <a:extLst>
              <a:ext uri="{FF2B5EF4-FFF2-40B4-BE49-F238E27FC236}">
                <a16:creationId xmlns:a16="http://schemas.microsoft.com/office/drawing/2014/main" id="{0750E4A1-4619-67B4-E8F6-D413F1F73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40767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68" name="Line 4">
            <a:extLst>
              <a:ext uri="{FF2B5EF4-FFF2-40B4-BE49-F238E27FC236}">
                <a16:creationId xmlns:a16="http://schemas.microsoft.com/office/drawing/2014/main" id="{44872BD8-F307-4B89-49B8-2DFA1B5A3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5734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0E955E67-31CA-5EF9-3901-5D50A594B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7163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0" name="Line 6">
            <a:extLst>
              <a:ext uri="{FF2B5EF4-FFF2-40B4-BE49-F238E27FC236}">
                <a16:creationId xmlns:a16="http://schemas.microsoft.com/office/drawing/2014/main" id="{355E2AAD-257A-B082-2CD8-E6FF8145F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170021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1" name="Line 7">
            <a:extLst>
              <a:ext uri="{FF2B5EF4-FFF2-40B4-BE49-F238E27FC236}">
                <a16:creationId xmlns:a16="http://schemas.microsoft.com/office/drawing/2014/main" id="{2E2E2D68-62D6-1373-BF08-94B62A69A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458152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2" name="Line 8">
            <a:extLst>
              <a:ext uri="{FF2B5EF4-FFF2-40B4-BE49-F238E27FC236}">
                <a16:creationId xmlns:a16="http://schemas.microsoft.com/office/drawing/2014/main" id="{D6619DD6-F876-292E-524E-E9A15903E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13414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3" name="Line 9">
            <a:extLst>
              <a:ext uri="{FF2B5EF4-FFF2-40B4-BE49-F238E27FC236}">
                <a16:creationId xmlns:a16="http://schemas.microsoft.com/office/drawing/2014/main" id="{F53B7F23-6061-59D0-543C-F4495F5AB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0686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4" name="Line 10">
            <a:extLst>
              <a:ext uri="{FF2B5EF4-FFF2-40B4-BE49-F238E27FC236}">
                <a16:creationId xmlns:a16="http://schemas.microsoft.com/office/drawing/2014/main" id="{B9ADAF21-5E64-225F-DA51-4FF8BC5F3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42926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0B02385B-151E-67AC-150B-B5B390985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2988" y="2276475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84" name="Line 20">
            <a:extLst>
              <a:ext uri="{FF2B5EF4-FFF2-40B4-BE49-F238E27FC236}">
                <a16:creationId xmlns:a16="http://schemas.microsoft.com/office/drawing/2014/main" id="{DD7169EF-5393-C0F2-258F-368AC4B06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3357563"/>
            <a:ext cx="1800225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86" name="Line 22">
            <a:extLst>
              <a:ext uri="{FF2B5EF4-FFF2-40B4-BE49-F238E27FC236}">
                <a16:creationId xmlns:a16="http://schemas.microsoft.com/office/drawing/2014/main" id="{9F84E558-5940-7E9E-E81C-2A19182F4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2636838"/>
            <a:ext cx="1944688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87" name="Line 23">
            <a:extLst>
              <a:ext uri="{FF2B5EF4-FFF2-40B4-BE49-F238E27FC236}">
                <a16:creationId xmlns:a16="http://schemas.microsoft.com/office/drawing/2014/main" id="{4DB290EB-26BE-38E1-3947-A093EBD1E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113" y="2924175"/>
            <a:ext cx="73453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91" name="Rectangle 27">
            <a:extLst>
              <a:ext uri="{FF2B5EF4-FFF2-40B4-BE49-F238E27FC236}">
                <a16:creationId xmlns:a16="http://schemas.microsoft.com/office/drawing/2014/main" id="{BEC79DB2-068A-1F58-20BE-DC95868E9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92" name="Object 28">
            <a:extLst>
              <a:ext uri="{FF2B5EF4-FFF2-40B4-BE49-F238E27FC236}">
                <a16:creationId xmlns:a16="http://schemas.microsoft.com/office/drawing/2014/main" id="{CC6F5690-D584-823F-A024-D4A441242C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157788"/>
          <a:ext cx="22701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1760" imgH="228600" progId="Equation.3">
                  <p:embed/>
                </p:oleObj>
              </mc:Choice>
              <mc:Fallback>
                <p:oleObj name="公式" r:id="rId2" imgW="76176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157788"/>
                        <a:ext cx="2270125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3" name="Rectangle 29">
            <a:extLst>
              <a:ext uri="{FF2B5EF4-FFF2-40B4-BE49-F238E27FC236}">
                <a16:creationId xmlns:a16="http://schemas.microsoft.com/office/drawing/2014/main" id="{777B81E6-D6F7-8955-39BB-C8CC6AA17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94" name="Object 30">
            <a:extLst>
              <a:ext uri="{FF2B5EF4-FFF2-40B4-BE49-F238E27FC236}">
                <a16:creationId xmlns:a16="http://schemas.microsoft.com/office/drawing/2014/main" id="{DB346D9A-800B-9763-FD67-A1F0015730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130800"/>
          <a:ext cx="244951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1760" imgH="228600" progId="Equation.3">
                  <p:embed/>
                </p:oleObj>
              </mc:Choice>
              <mc:Fallback>
                <p:oleObj name="公式" r:id="rId4" imgW="76176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130800"/>
                        <a:ext cx="2449512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5" name="Rectangle 31">
            <a:extLst>
              <a:ext uri="{FF2B5EF4-FFF2-40B4-BE49-F238E27FC236}">
                <a16:creationId xmlns:a16="http://schemas.microsoft.com/office/drawing/2014/main" id="{EB6EA89C-223C-02BA-5019-375482574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96" name="Object 32">
            <a:extLst>
              <a:ext uri="{FF2B5EF4-FFF2-40B4-BE49-F238E27FC236}">
                <a16:creationId xmlns:a16="http://schemas.microsoft.com/office/drawing/2014/main" id="{4169EF98-92AE-4CA2-3EE7-71EAF7764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084763"/>
          <a:ext cx="240823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61760" imgH="241200" progId="Equation.3">
                  <p:embed/>
                </p:oleObj>
              </mc:Choice>
              <mc:Fallback>
                <p:oleObj name="公式" r:id="rId6" imgW="761760" imgH="24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084763"/>
                        <a:ext cx="2408237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7" name="Rectangle 33">
            <a:extLst>
              <a:ext uri="{FF2B5EF4-FFF2-40B4-BE49-F238E27FC236}">
                <a16:creationId xmlns:a16="http://schemas.microsoft.com/office/drawing/2014/main" id="{2FF327A8-2FDF-CA08-A722-2CC3F6043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98" name="Object 34">
            <a:extLst>
              <a:ext uri="{FF2B5EF4-FFF2-40B4-BE49-F238E27FC236}">
                <a16:creationId xmlns:a16="http://schemas.microsoft.com/office/drawing/2014/main" id="{D43B6B0E-833F-D1A3-CB97-830EB3F54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133600"/>
          <a:ext cx="2500313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98400" imgH="203040" progId="Equation.3">
                  <p:embed/>
                </p:oleObj>
              </mc:Choice>
              <mc:Fallback>
                <p:oleObj name="公式" r:id="rId8" imgW="698400" imgH="2030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33600"/>
                        <a:ext cx="2500313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9" name="Line 35">
            <a:extLst>
              <a:ext uri="{FF2B5EF4-FFF2-40B4-BE49-F238E27FC236}">
                <a16:creationId xmlns:a16="http://schemas.microsoft.com/office/drawing/2014/main" id="{CF86865E-269B-77C6-3D53-27D044D8C0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550" y="494188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0" name="Line 36">
            <a:extLst>
              <a:ext uri="{FF2B5EF4-FFF2-40B4-BE49-F238E27FC236}">
                <a16:creationId xmlns:a16="http://schemas.microsoft.com/office/drawing/2014/main" id="{5C26827E-2680-DD15-9271-38CAF35F2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7163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1" name="Line 37">
            <a:extLst>
              <a:ext uri="{FF2B5EF4-FFF2-40B4-BE49-F238E27FC236}">
                <a16:creationId xmlns:a16="http://schemas.microsoft.com/office/drawing/2014/main" id="{64F39019-362B-2A38-D6AF-763DA380C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84467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2" name="Line 38">
            <a:extLst>
              <a:ext uri="{FF2B5EF4-FFF2-40B4-BE49-F238E27FC236}">
                <a16:creationId xmlns:a16="http://schemas.microsoft.com/office/drawing/2014/main" id="{A2AB0AA0-DCB1-57E3-3EFA-46F315146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9891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3" name="Line 39">
            <a:extLst>
              <a:ext uri="{FF2B5EF4-FFF2-40B4-BE49-F238E27FC236}">
                <a16:creationId xmlns:a16="http://schemas.microsoft.com/office/drawing/2014/main" id="{19CFCAE8-A35F-5ABC-910F-EC763244E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2050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4" name="Line 40">
            <a:extLst>
              <a:ext uri="{FF2B5EF4-FFF2-40B4-BE49-F238E27FC236}">
                <a16:creationId xmlns:a16="http://schemas.microsoft.com/office/drawing/2014/main" id="{307FD613-AD1B-ECFE-7F52-83F388ADB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5654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5" name="Line 41">
            <a:extLst>
              <a:ext uri="{FF2B5EF4-FFF2-40B4-BE49-F238E27FC236}">
                <a16:creationId xmlns:a16="http://schemas.microsoft.com/office/drawing/2014/main" id="{6786B67B-E88D-5ED6-D3BC-726EBE509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7813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6" name="Line 42">
            <a:extLst>
              <a:ext uri="{FF2B5EF4-FFF2-40B4-BE49-F238E27FC236}">
                <a16:creationId xmlns:a16="http://schemas.microsoft.com/office/drawing/2014/main" id="{84CD49E0-AAAA-0881-8548-FDB7C42AB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0686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7" name="Line 43">
            <a:extLst>
              <a:ext uri="{FF2B5EF4-FFF2-40B4-BE49-F238E27FC236}">
                <a16:creationId xmlns:a16="http://schemas.microsoft.com/office/drawing/2014/main" id="{4EF1CB6F-D918-E07B-02EF-761D21B22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5734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8" name="Line 44">
            <a:extLst>
              <a:ext uri="{FF2B5EF4-FFF2-40B4-BE49-F238E27FC236}">
                <a16:creationId xmlns:a16="http://schemas.microsoft.com/office/drawing/2014/main" id="{2D8EF1D9-9489-9741-6F2E-21C9464C9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0767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09" name="Line 45">
            <a:extLst>
              <a:ext uri="{FF2B5EF4-FFF2-40B4-BE49-F238E27FC236}">
                <a16:creationId xmlns:a16="http://schemas.microsoft.com/office/drawing/2014/main" id="{3600B11C-4A69-5404-96B3-E409A03D8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58152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0" name="Line 46">
            <a:extLst>
              <a:ext uri="{FF2B5EF4-FFF2-40B4-BE49-F238E27FC236}">
                <a16:creationId xmlns:a16="http://schemas.microsoft.com/office/drawing/2014/main" id="{3986F30C-1171-1595-64C8-E61A1FEF0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19697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1" name="Line 47">
            <a:extLst>
              <a:ext uri="{FF2B5EF4-FFF2-40B4-BE49-F238E27FC236}">
                <a16:creationId xmlns:a16="http://schemas.microsoft.com/office/drawing/2014/main" id="{6367A7A2-272C-45F7-8424-F74CA2F3E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9891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2" name="Line 48">
            <a:extLst>
              <a:ext uri="{FF2B5EF4-FFF2-40B4-BE49-F238E27FC236}">
                <a16:creationId xmlns:a16="http://schemas.microsoft.com/office/drawing/2014/main" id="{77F8EAD1-B001-01DF-598D-1B23BB402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7732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3" name="Line 49">
            <a:extLst>
              <a:ext uri="{FF2B5EF4-FFF2-40B4-BE49-F238E27FC236}">
                <a16:creationId xmlns:a16="http://schemas.microsoft.com/office/drawing/2014/main" id="{8FACE5CC-7188-4A7F-A62F-5BA8D846A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48431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4" name="Line 50">
            <a:extLst>
              <a:ext uri="{FF2B5EF4-FFF2-40B4-BE49-F238E27FC236}">
                <a16:creationId xmlns:a16="http://schemas.microsoft.com/office/drawing/2014/main" id="{85EB5313-186E-0CC5-8EED-E173FCA92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2276475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5" name="Line 51">
            <a:extLst>
              <a:ext uri="{FF2B5EF4-FFF2-40B4-BE49-F238E27FC236}">
                <a16:creationId xmlns:a16="http://schemas.microsoft.com/office/drawing/2014/main" id="{93D166E8-241B-2C34-C8D2-2814D7480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2852738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6" name="Line 52">
            <a:extLst>
              <a:ext uri="{FF2B5EF4-FFF2-40B4-BE49-F238E27FC236}">
                <a16:creationId xmlns:a16="http://schemas.microsoft.com/office/drawing/2014/main" id="{5D883DD0-7A73-2995-B78F-A216308272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321310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7" name="Line 53">
            <a:extLst>
              <a:ext uri="{FF2B5EF4-FFF2-40B4-BE49-F238E27FC236}">
                <a16:creationId xmlns:a16="http://schemas.microsoft.com/office/drawing/2014/main" id="{7EC4216E-EAB0-72EA-4B45-D51794F74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35734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19" name="Line 55">
            <a:extLst>
              <a:ext uri="{FF2B5EF4-FFF2-40B4-BE49-F238E27FC236}">
                <a16:creationId xmlns:a16="http://schemas.microsoft.com/office/drawing/2014/main" id="{A9C057C7-BDC9-E54E-59A0-CFAD35664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37893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20" name="Line 56">
            <a:extLst>
              <a:ext uri="{FF2B5EF4-FFF2-40B4-BE49-F238E27FC236}">
                <a16:creationId xmlns:a16="http://schemas.microsoft.com/office/drawing/2014/main" id="{2A8C9B1A-0B81-EAC4-306B-0B640C421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4868863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21" name="Line 57">
            <a:extLst>
              <a:ext uri="{FF2B5EF4-FFF2-40B4-BE49-F238E27FC236}">
                <a16:creationId xmlns:a16="http://schemas.microsoft.com/office/drawing/2014/main" id="{3C1234BE-35B1-6824-9EAD-4FFDD06C4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141663"/>
            <a:ext cx="1944688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1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1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1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1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1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1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7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1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8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9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0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92F1533-75C8-7F85-5ED7-51A0D4C00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F02FC94-0624-845C-28B8-FB993B8737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</a:t>
            </a:r>
            <a:r>
              <a:rPr lang="en-US" altLang="zh-CN" sz="3600" b="1">
                <a:solidFill>
                  <a:srgbClr val="FF66FF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</a:t>
            </a:r>
            <a:r>
              <a:rPr lang="en-US" altLang="zh-CN" sz="3600" b="1">
                <a:solidFill>
                  <a:srgbClr val="FF66FF"/>
                </a:solidFill>
              </a:rPr>
              <a:t>An example in sport school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</a:t>
            </a:r>
            <a:r>
              <a:rPr lang="en-US" altLang="zh-CN" sz="3600" b="1">
                <a:solidFill>
                  <a:srgbClr val="0CF443"/>
                </a:solidFill>
              </a:rPr>
              <a:t>A  medical research on p.297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Conditions for ANOVA application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B1E7D1BB-A01B-334C-3923-2870D7E2A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71450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4960" imgH="2933640" progId="Word.Document.8">
                  <p:embed/>
                </p:oleObj>
              </mc:Choice>
              <mc:Fallback>
                <p:oleObj name="文档" r:id="rId2" imgW="5484960" imgH="29336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14500"/>
                        <a:ext cx="91440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>
            <a:extLst>
              <a:ext uri="{FF2B5EF4-FFF2-40B4-BE49-F238E27FC236}">
                <a16:creationId xmlns:a16="http://schemas.microsoft.com/office/drawing/2014/main" id="{B90B9810-DE14-BE45-BFE7-E6341BA95F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572000"/>
          <a:ext cx="533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41200" progId="Equation.3">
                  <p:embed/>
                </p:oleObj>
              </mc:Choice>
              <mc:Fallback>
                <p:oleObj name="Equation" r:id="rId4" imgW="21564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533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>
            <a:extLst>
              <a:ext uri="{FF2B5EF4-FFF2-40B4-BE49-F238E27FC236}">
                <a16:creationId xmlns:a16="http://schemas.microsoft.com/office/drawing/2014/main" id="{BBAD8E86-9CBF-9A5C-0FC1-9473336B9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81C527B7-6684-F3FE-5F5E-FEBD2F0DC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0486" name="Object 6">
            <a:extLst>
              <a:ext uri="{FF2B5EF4-FFF2-40B4-BE49-F238E27FC236}">
                <a16:creationId xmlns:a16="http://schemas.microsoft.com/office/drawing/2014/main" id="{A96CB939-D5E6-A4CE-B465-E2CF2C650D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3248025"/>
          <a:ext cx="2000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51" imgH="215619" progId="Equation.3">
                  <p:embed/>
                </p:oleObj>
              </mc:Choice>
              <mc:Fallback>
                <p:oleObj r:id="rId6" imgW="114151" imgH="2156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248025"/>
                        <a:ext cx="20002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9D3A1059-88AC-3E52-C0E6-A76328A8E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4572000"/>
          <a:ext cx="5064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90440" progId="Equation.3">
                  <p:embed/>
                </p:oleObj>
              </mc:Choice>
              <mc:Fallback>
                <p:oleObj name="Equation" r:id="rId8" imgW="17748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4572000"/>
                        <a:ext cx="50641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>
            <a:extLst>
              <a:ext uri="{FF2B5EF4-FFF2-40B4-BE49-F238E27FC236}">
                <a16:creationId xmlns:a16="http://schemas.microsoft.com/office/drawing/2014/main" id="{8D196FEB-11AD-B359-8381-60292D49D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20713"/>
            <a:ext cx="86423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800" b="1" u="sng">
                <a:latin typeface="Times New Roman" panose="02020603050405020304" pitchFamily="18" charset="0"/>
              </a:rPr>
              <a:t>3. A  medical research on </a:t>
            </a:r>
            <a:r>
              <a:rPr lang="en-US" altLang="zh-CN" sz="4800" b="1" i="1" u="sng">
                <a:latin typeface="Times New Roman" panose="02020603050405020304" pitchFamily="18" charset="0"/>
              </a:rPr>
              <a:t>p</a:t>
            </a:r>
            <a:r>
              <a:rPr lang="en-US" altLang="zh-CN" sz="4800" b="1" u="sng">
                <a:latin typeface="Times New Roman" panose="02020603050405020304" pitchFamily="18" charset="0"/>
              </a:rPr>
              <a:t>.297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>
            <a:extLst>
              <a:ext uri="{FF2B5EF4-FFF2-40B4-BE49-F238E27FC236}">
                <a16:creationId xmlns:a16="http://schemas.microsoft.com/office/drawing/2014/main" id="{E83F4E53-1CC1-5BE5-7D7F-8C8EED6D9B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524000"/>
          <a:ext cx="3505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53800" progId="Equation.3">
                  <p:embed/>
                </p:oleObj>
              </mc:Choice>
              <mc:Fallback>
                <p:oleObj name="Equation" r:id="rId2" imgW="115560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524000"/>
                        <a:ext cx="3505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>
            <a:extLst>
              <a:ext uri="{FF2B5EF4-FFF2-40B4-BE49-F238E27FC236}">
                <a16:creationId xmlns:a16="http://schemas.microsoft.com/office/drawing/2014/main" id="{9BB341E9-4138-323F-17A7-DFB76213E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590800"/>
          <a:ext cx="39624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253800" progId="Equation.3">
                  <p:embed/>
                </p:oleObj>
              </mc:Choice>
              <mc:Fallback>
                <p:oleObj name="Equation" r:id="rId4" imgW="1333440" imgH="25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90800"/>
                        <a:ext cx="39624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8BF7E9EF-B894-591A-1528-BA0DC462E6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505200"/>
          <a:ext cx="396398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253800" progId="Equation.3">
                  <p:embed/>
                </p:oleObj>
              </mc:Choice>
              <mc:Fallback>
                <p:oleObj name="Equation" r:id="rId6" imgW="140940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05200"/>
                        <a:ext cx="396398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>
            <a:extLst>
              <a:ext uri="{FF2B5EF4-FFF2-40B4-BE49-F238E27FC236}">
                <a16:creationId xmlns:a16="http://schemas.microsoft.com/office/drawing/2014/main" id="{D37DFD8B-3F75-A2D4-783E-35DEAE43A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953000"/>
          <a:ext cx="39004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228600" progId="Equation.3">
                  <p:embed/>
                </p:oleObj>
              </mc:Choice>
              <mc:Fallback>
                <p:oleObj name="Equation" r:id="rId8" imgW="11430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53000"/>
                        <a:ext cx="39004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6">
            <a:extLst>
              <a:ext uri="{FF2B5EF4-FFF2-40B4-BE49-F238E27FC236}">
                <a16:creationId xmlns:a16="http://schemas.microsoft.com/office/drawing/2014/main" id="{9AB64024-F8B3-1EE3-CFB0-056715244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350"/>
            <a:ext cx="88931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um of </a:t>
            </a:r>
            <a:r>
              <a:rPr lang="en-US" altLang="zh-CN" sz="40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quares</a:t>
            </a:r>
            <a:r>
              <a:rPr lang="en-US" altLang="zh-CN"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algn="r"/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zh-CN" sz="36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summarized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zh-CN" sz="36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variation of data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8C5026D-AB5E-C2EF-7BDE-92596C5B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67200"/>
            <a:ext cx="6026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The following can be proved,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>
            <a:extLst>
              <a:ext uri="{FF2B5EF4-FFF2-40B4-BE49-F238E27FC236}">
                <a16:creationId xmlns:a16="http://schemas.microsoft.com/office/drawing/2014/main" id="{8AB74336-B901-9B08-1929-8B22125C7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676400"/>
          <a:ext cx="64484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253800" progId="Equation.3">
                  <p:embed/>
                </p:oleObj>
              </mc:Choice>
              <mc:Fallback>
                <p:oleObj name="Equation" r:id="rId2" imgW="2374560" imgH="253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76400"/>
                        <a:ext cx="6448425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>
            <a:extLst>
              <a:ext uri="{FF2B5EF4-FFF2-40B4-BE49-F238E27FC236}">
                <a16:creationId xmlns:a16="http://schemas.microsoft.com/office/drawing/2014/main" id="{A73249CF-B215-99EB-7FE2-11289E9C49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429000"/>
          <a:ext cx="7526338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9920" imgH="457200" progId="Equation.3">
                  <p:embed/>
                </p:oleObj>
              </mc:Choice>
              <mc:Fallback>
                <p:oleObj name="Equation" r:id="rId4" imgW="286992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29000"/>
                        <a:ext cx="7526338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B493F766-69D9-BACE-0787-195512ECC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724400"/>
          <a:ext cx="71389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253800" progId="Equation.3">
                  <p:embed/>
                </p:oleObj>
              </mc:Choice>
              <mc:Fallback>
                <p:oleObj name="Equation" r:id="rId6" imgW="279396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24400"/>
                        <a:ext cx="71389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F6823AC3-DCCF-AD15-719E-352371913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514600"/>
          <a:ext cx="377825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419040" progId="Equation.3">
                  <p:embed/>
                </p:oleObj>
              </mc:Choice>
              <mc:Fallback>
                <p:oleObj name="Equation" r:id="rId8" imgW="132048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514600"/>
                        <a:ext cx="377825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Rectangle 6">
            <a:extLst>
              <a:ext uri="{FF2B5EF4-FFF2-40B4-BE49-F238E27FC236}">
                <a16:creationId xmlns:a16="http://schemas.microsoft.com/office/drawing/2014/main" id="{309D2695-5587-F0A5-9D5D-DE275FED1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3"/>
            <a:ext cx="6610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Calculation for </a:t>
            </a:r>
            <a:r>
              <a:rPr lang="en-US" altLang="zh-CN" sz="4000" b="1" i="1" u="sng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40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um of </a:t>
            </a:r>
            <a:r>
              <a:rPr lang="en-US" altLang="zh-CN" sz="4000" b="1" i="1" u="sng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altLang="zh-CN" sz="4000" b="1" i="1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quare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extLst>
              <a:ext uri="{FF2B5EF4-FFF2-40B4-BE49-F238E27FC236}">
                <a16:creationId xmlns:a16="http://schemas.microsoft.com/office/drawing/2014/main" id="{708DA58A-BCAD-B62E-8A35-1D02887C53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209800"/>
          <a:ext cx="30686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215640" progId="Equation.3">
                  <p:embed/>
                </p:oleObj>
              </mc:Choice>
              <mc:Fallback>
                <p:oleObj name="Equation" r:id="rId2" imgW="113004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09800"/>
                        <a:ext cx="306863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Rectangle 6">
            <a:extLst>
              <a:ext uri="{FF2B5EF4-FFF2-40B4-BE49-F238E27FC236}">
                <a16:creationId xmlns:a16="http://schemas.microsoft.com/office/drawing/2014/main" id="{DA02BE76-FFA3-F14A-1A74-52F000CF9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685800"/>
            <a:ext cx="8743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6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Decomposition of “</a:t>
            </a:r>
            <a:r>
              <a:rPr lang="en-US" altLang="zh-CN" sz="3600" b="1" i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degree of freedom</a:t>
            </a:r>
            <a:r>
              <a:rPr lang="en-US" altLang="zh-CN" sz="36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”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4495359A-A85C-316A-D4D9-D6EFD13D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7499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Since 16 individuals being drawn,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2EFE8416-89E6-0877-3F2E-65C262BDD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19400"/>
            <a:ext cx="6686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Since 4 groups being studied,</a:t>
            </a:r>
          </a:p>
        </p:txBody>
      </p:sp>
      <p:graphicFrame>
        <p:nvGraphicFramePr>
          <p:cNvPr id="25609" name="Object 9">
            <a:extLst>
              <a:ext uri="{FF2B5EF4-FFF2-40B4-BE49-F238E27FC236}">
                <a16:creationId xmlns:a16="http://schemas.microsoft.com/office/drawing/2014/main" id="{89572A1C-6999-6F27-9375-42F0EF7BC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29000"/>
          <a:ext cx="29321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215640" progId="Equation.3">
                  <p:embed/>
                </p:oleObj>
              </mc:Choice>
              <mc:Fallback>
                <p:oleObj name="Equation" r:id="rId4" imgW="10792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29000"/>
                        <a:ext cx="29321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10">
            <a:extLst>
              <a:ext uri="{FF2B5EF4-FFF2-40B4-BE49-F238E27FC236}">
                <a16:creationId xmlns:a16="http://schemas.microsoft.com/office/drawing/2014/main" id="{3ED4899F-6E44-0869-33DD-A00FB220D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038600"/>
            <a:ext cx="864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Just like  decomposition of dispersion,</a:t>
            </a:r>
          </a:p>
        </p:txBody>
      </p:sp>
      <p:graphicFrame>
        <p:nvGraphicFramePr>
          <p:cNvPr id="25611" name="Object 11">
            <a:extLst>
              <a:ext uri="{FF2B5EF4-FFF2-40B4-BE49-F238E27FC236}">
                <a16:creationId xmlns:a16="http://schemas.microsoft.com/office/drawing/2014/main" id="{A53A52DF-F7BE-D020-8F0A-C5644960D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800600"/>
          <a:ext cx="7796213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228600" progId="Equation.3">
                  <p:embed/>
                </p:oleObj>
              </mc:Choice>
              <mc:Fallback>
                <p:oleObj name="Equation" r:id="rId6" imgW="286992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00600"/>
                        <a:ext cx="7796213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>
            <a:extLst>
              <a:ext uri="{FF2B5EF4-FFF2-40B4-BE49-F238E27FC236}">
                <a16:creationId xmlns:a16="http://schemas.microsoft.com/office/drawing/2014/main" id="{FD6807AB-A599-86BD-5865-CA7AAC022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838" y="2362200"/>
          <a:ext cx="838835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69800" progId="Equation.3">
                  <p:embed/>
                </p:oleObj>
              </mc:Choice>
              <mc:Fallback>
                <p:oleObj name="Equation" r:id="rId2" imgW="320040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8" y="2362200"/>
                        <a:ext cx="838835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>
            <a:extLst>
              <a:ext uri="{FF2B5EF4-FFF2-40B4-BE49-F238E27FC236}">
                <a16:creationId xmlns:a16="http://schemas.microsoft.com/office/drawing/2014/main" id="{E2396B27-B8DF-0180-05BD-85D35E77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85800"/>
            <a:ext cx="830421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Mean Square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MS</a:t>
            </a:r>
            <a:r>
              <a:rPr lang="en-US" altLang="zh-CN" sz="3600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</a:t>
            </a:r>
            <a:r>
              <a:rPr lang="en-US" altLang="zh-CN"/>
              <a:t>    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average variation</a:t>
            </a:r>
          </a:p>
          <a:p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                                within all groups 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3898F5C2-EE48-3997-0C00-F3E22E740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657600"/>
            <a:ext cx="80327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Actually, mean square is exactly the</a:t>
            </a:r>
          </a:p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same concept as variance.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DFB4C113-64D3-573E-1B38-5BA585786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29200"/>
            <a:ext cx="7159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What is the causation of  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MS</a:t>
            </a:r>
            <a:r>
              <a:rPr lang="en-US" altLang="zh-CN" sz="3600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 </a:t>
            </a:r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>
            <a:extLst>
              <a:ext uri="{FF2B5EF4-FFF2-40B4-BE49-F238E27FC236}">
                <a16:creationId xmlns:a16="http://schemas.microsoft.com/office/drawing/2014/main" id="{C19DF4AF-856F-9025-708C-FCCB9BD689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667000"/>
          <a:ext cx="812482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98520" imgH="469800" progId="Equation.3">
                  <p:embed/>
                </p:oleObj>
              </mc:Choice>
              <mc:Fallback>
                <p:oleObj name="Equation" r:id="rId2" imgW="309852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8124825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>
            <a:extLst>
              <a:ext uri="{FF2B5EF4-FFF2-40B4-BE49-F238E27FC236}">
                <a16:creationId xmlns:a16="http://schemas.microsoft.com/office/drawing/2014/main" id="{F76CD011-7CC0-ED60-3AB9-580C7DDE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85800"/>
            <a:ext cx="83629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Mean Square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MS</a:t>
            </a:r>
            <a:r>
              <a:rPr lang="en-US" altLang="zh-CN" sz="3600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</a:t>
            </a:r>
            <a:r>
              <a:rPr lang="en-US" altLang="zh-CN"/>
              <a:t>     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average variation</a:t>
            </a:r>
          </a:p>
          <a:p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                                between groups 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C5ED6B62-E7D0-822E-EDD9-98C5B0F72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19600"/>
            <a:ext cx="70754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What is the causation of  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MS</a:t>
            </a:r>
            <a:r>
              <a:rPr lang="en-US" altLang="zh-CN" sz="3600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 </a:t>
            </a:r>
            <a:r>
              <a:rPr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90BC528E-5ED4-0CF7-729E-8FA9192DA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133600"/>
          <a:ext cx="5051425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431640" progId="Equation.3">
                  <p:embed/>
                </p:oleObj>
              </mc:Choice>
              <mc:Fallback>
                <p:oleObj name="Equation" r:id="rId2" imgW="177768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5051425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>
            <a:extLst>
              <a:ext uri="{FF2B5EF4-FFF2-40B4-BE49-F238E27FC236}">
                <a16:creationId xmlns:a16="http://schemas.microsoft.com/office/drawing/2014/main" id="{46CD3BAC-3624-84F8-4CF5-33AE1059F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6872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F</a:t>
            </a:r>
            <a:r>
              <a:rPr lang="en-US" altLang="zh-CN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-value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ratio of MS</a:t>
            </a:r>
            <a:r>
              <a:rPr lang="en-US" altLang="zh-CN" sz="3600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altLang="zh-CN" sz="36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over MS</a:t>
            </a:r>
            <a:r>
              <a:rPr lang="en-US" altLang="zh-CN" sz="3600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BE01CBA7-308A-D00A-BE2D-960A21957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581400"/>
            <a:ext cx="7599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What does </a:t>
            </a:r>
            <a:r>
              <a:rPr lang="en-US" altLang="zh-CN" sz="3200" b="1" i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indicate if it is near to 1 ?</a:t>
            </a: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B079FE30-A57A-1A3E-7E1C-5FD429492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4572000"/>
            <a:ext cx="8886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What does </a:t>
            </a:r>
            <a:r>
              <a:rPr lang="en-US" altLang="zh-CN" sz="3200" b="1" i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indicate if it is far away from 1 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Rectangle 6">
            <a:extLst>
              <a:ext uri="{FF2B5EF4-FFF2-40B4-BE49-F238E27FC236}">
                <a16:creationId xmlns:a16="http://schemas.microsoft.com/office/drawing/2014/main" id="{25ADFA40-5ABE-6961-90CF-80D443CDA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i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5400" i="1">
                <a:latin typeface="Times New Roman" panose="02020603050405020304" pitchFamily="18" charset="0"/>
              </a:rPr>
              <a:t> </a:t>
            </a:r>
            <a:r>
              <a:rPr lang="en-US" altLang="zh-CN" sz="5400">
                <a:latin typeface="Times New Roman" panose="02020603050405020304" pitchFamily="18" charset="0"/>
              </a:rPr>
              <a:t>- distribution</a:t>
            </a:r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A709496B-FA64-F479-0119-B2C0827710AE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693863"/>
            <a:ext cx="8424863" cy="4989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36872" name="Object 8">
            <a:extLst>
              <a:ext uri="{FF2B5EF4-FFF2-40B4-BE49-F238E27FC236}">
                <a16:creationId xmlns:a16="http://schemas.microsoft.com/office/drawing/2014/main" id="{912E8E10-2634-D0E0-A225-339F297BF9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5943600"/>
          <a:ext cx="1219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819048" imgH="390580" progId="Paint.Picture">
                  <p:embed/>
                </p:oleObj>
              </mc:Choice>
              <mc:Fallback>
                <p:oleObj name="位图图像" r:id="rId3" imgW="819048" imgH="390580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943600"/>
                        <a:ext cx="1219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166B5C90-200B-D3EF-26E0-2307B28D77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4572000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5" imgW="343039" imgH="419048" progId="Paint.Picture">
                  <p:embed/>
                </p:oleObj>
              </mc:Choice>
              <mc:Fallback>
                <p:oleObj name="位图图像" r:id="rId5" imgW="343039" imgH="419048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572000"/>
                        <a:ext cx="34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E11D4825-28F0-B020-C576-078D79929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626100"/>
          <a:ext cx="8382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7" imgW="581106" imgH="533474" progId="Paint.Picture">
                  <p:embed/>
                </p:oleObj>
              </mc:Choice>
              <mc:Fallback>
                <p:oleObj name="位图图像" r:id="rId7" imgW="581106" imgH="533474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26100"/>
                        <a:ext cx="8382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805A427-89BC-E31A-F29F-D13C1EF72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FFCAD10-9E68-AB20-A622-59051C82D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</a:t>
            </a:r>
            <a:r>
              <a:rPr lang="en-US" altLang="zh-CN" sz="3600" b="1">
                <a:solidFill>
                  <a:srgbClr val="FF66FF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</a:t>
            </a:r>
            <a:r>
              <a:rPr lang="en-US" altLang="zh-CN" sz="3600" b="1">
                <a:solidFill>
                  <a:srgbClr val="FF66FF"/>
                </a:solidFill>
              </a:rPr>
              <a:t>An example in sport school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</a:t>
            </a:r>
            <a:r>
              <a:rPr lang="en-US" altLang="zh-CN" sz="3600" b="1">
                <a:solidFill>
                  <a:srgbClr val="FF66FF"/>
                </a:solidFill>
              </a:rPr>
              <a:t>A  medical research on p.297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</a:t>
            </a:r>
            <a:r>
              <a:rPr lang="en-US" altLang="zh-CN" sz="3600" b="1">
                <a:solidFill>
                  <a:srgbClr val="0CF443"/>
                </a:solidFill>
              </a:rPr>
              <a:t>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Conditions for ANOVA application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6070223-043B-AF63-018C-B12361AAB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b="1" u="sng">
                <a:latin typeface="Times New Roman" panose="02020603050405020304" pitchFamily="18" charset="0"/>
              </a:rPr>
              <a:t>4. Steps of ANOVA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A453582-FF0A-7C4C-CF13-3F109CB98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924800" cy="4648200"/>
          </a:xfrm>
        </p:spPr>
        <p:txBody>
          <a:bodyPr/>
          <a:lstStyle/>
          <a:p>
            <a:pPr algn="just"/>
            <a:r>
              <a:rPr lang="en-US" altLang="zh-CN" b="1">
                <a:solidFill>
                  <a:schemeClr val="folHlink"/>
                </a:solidFill>
              </a:rPr>
              <a:t>(1) Hypothesis &amp; significance level.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0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=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=…=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k</a:t>
            </a: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1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,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,…,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k </a:t>
            </a:r>
            <a:r>
              <a:rPr lang="en-US" altLang="zh-CN" b="1"/>
              <a:t>are not same in all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</a:t>
            </a:r>
            <a:r>
              <a:rPr lang="en-US" altLang="zh-CN" b="1">
                <a:sym typeface="Symbol" panose="05050102010706020507" pitchFamily="18" charset="2"/>
              </a:rPr>
              <a:t></a:t>
            </a:r>
            <a:r>
              <a:rPr lang="en-US" altLang="zh-CN" b="1"/>
              <a:t>=0.05</a:t>
            </a:r>
          </a:p>
          <a:p>
            <a:pPr algn="just"/>
            <a:r>
              <a:rPr lang="en-US" altLang="zh-CN" b="1">
                <a:solidFill>
                  <a:schemeClr val="folHlink"/>
                </a:solidFill>
              </a:rPr>
              <a:t>(2)</a:t>
            </a:r>
            <a:r>
              <a:rPr lang="en-US" altLang="zh-CN" b="1"/>
              <a:t> </a:t>
            </a:r>
            <a:r>
              <a:rPr lang="en-US" altLang="zh-CN" b="1">
                <a:solidFill>
                  <a:schemeClr val="folHlink"/>
                </a:solidFill>
              </a:rPr>
              <a:t>Calculation of </a:t>
            </a:r>
            <a:r>
              <a:rPr lang="en-US" altLang="zh-CN" b="1" i="1"/>
              <a:t>F</a:t>
            </a:r>
            <a:r>
              <a:rPr lang="en-US" altLang="zh-CN" b="1">
                <a:solidFill>
                  <a:schemeClr val="folHlink"/>
                </a:solidFill>
              </a:rPr>
              <a:t> value.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 Construct a table of ANOVA</a:t>
            </a:r>
          </a:p>
          <a:p>
            <a:pPr algn="just"/>
            <a:r>
              <a:rPr lang="en-US" altLang="zh-CN" b="1">
                <a:solidFill>
                  <a:schemeClr val="folHlink"/>
                </a:solidFill>
              </a:rPr>
              <a:t>(3) Make a judgment based on </a:t>
            </a:r>
            <a:r>
              <a:rPr lang="en-US" altLang="zh-CN" b="1" i="1"/>
              <a:t>P</a:t>
            </a:r>
            <a:r>
              <a:rPr lang="en-US" altLang="zh-CN" b="1">
                <a:solidFill>
                  <a:schemeClr val="folHlink"/>
                </a:solidFill>
              </a:rPr>
              <a:t> value 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45A75C8-9F68-85BA-4B45-E1883F3E1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077200" cy="1143000"/>
          </a:xfrm>
        </p:spPr>
        <p:txBody>
          <a:bodyPr/>
          <a:lstStyle/>
          <a:p>
            <a:r>
              <a:rPr lang="en-US" altLang="zh-CN" sz="3600" b="1"/>
              <a:t>Analysis to </a:t>
            </a:r>
            <a:r>
              <a:rPr lang="en-US" altLang="zh-CN" sz="3600" b="1">
                <a:solidFill>
                  <a:schemeClr val="folHlink"/>
                </a:solidFill>
              </a:rPr>
              <a:t>Example 9-19</a:t>
            </a:r>
            <a:r>
              <a:rPr lang="en-US" altLang="zh-CN" sz="3600" b="1"/>
              <a:t> on </a:t>
            </a:r>
            <a:r>
              <a:rPr lang="en-US" altLang="zh-CN" sz="3600" b="1" i="1"/>
              <a:t>p</a:t>
            </a:r>
            <a:r>
              <a:rPr lang="en-US" altLang="zh-CN" sz="3600" b="1"/>
              <a:t>. 297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A8B9731-5150-DF90-0DA4-80FD9D8DE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7924800" cy="4648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</a:rPr>
              <a:t>   (1)  Hypothesis &amp; significance level.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0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=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=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3</a:t>
            </a:r>
            <a:r>
              <a:rPr lang="en-US" altLang="zh-CN" b="1"/>
              <a:t> =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4</a:t>
            </a:r>
            <a:r>
              <a:rPr lang="en-US" altLang="zh-CN" b="1"/>
              <a:t>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H</a:t>
            </a:r>
            <a:r>
              <a:rPr lang="en-US" altLang="zh-CN" b="1" baseline="-30000"/>
              <a:t>1</a:t>
            </a:r>
            <a:r>
              <a:rPr lang="en-US" altLang="zh-CN" b="1"/>
              <a:t>: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1</a:t>
            </a:r>
            <a:r>
              <a:rPr lang="en-US" altLang="zh-CN" b="1"/>
              <a:t>,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2</a:t>
            </a:r>
            <a:r>
              <a:rPr lang="en-US" altLang="zh-CN" b="1"/>
              <a:t>,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3</a:t>
            </a:r>
            <a:r>
              <a:rPr lang="en-US" altLang="zh-CN" b="1"/>
              <a:t> , </a:t>
            </a:r>
            <a:r>
              <a:rPr lang="en-US" altLang="zh-CN" b="1" i="1">
                <a:sym typeface="Symbol" panose="05050102010706020507" pitchFamily="18" charset="2"/>
              </a:rPr>
              <a:t></a:t>
            </a:r>
            <a:r>
              <a:rPr lang="en-US" altLang="zh-CN" b="1" baseline="-30000"/>
              <a:t>4</a:t>
            </a:r>
            <a:r>
              <a:rPr lang="en-US" altLang="zh-CN" b="1"/>
              <a:t> are not same in all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</a:t>
            </a:r>
            <a:r>
              <a:rPr lang="en-US" altLang="zh-CN" b="1">
                <a:sym typeface="Symbol" panose="05050102010706020507" pitchFamily="18" charset="2"/>
              </a:rPr>
              <a:t></a:t>
            </a:r>
            <a:r>
              <a:rPr lang="en-US" altLang="zh-CN" b="1"/>
              <a:t>=0.05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D7756B8-6A62-E0E7-DD92-7796C9BA6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l"/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(2) Calculation of </a:t>
            </a:r>
            <a:r>
              <a:rPr lang="en-US" altLang="zh-CN" sz="3200" b="1" i="1">
                <a:solidFill>
                  <a:srgbClr val="FF9900"/>
                </a:solidFill>
                <a:effectLst/>
                <a:latin typeface="Times New Roman" panose="02020603050405020304" pitchFamily="18" charset="0"/>
              </a:rPr>
              <a:t>F-</a:t>
            </a:r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value.</a:t>
            </a:r>
          </a:p>
        </p:txBody>
      </p:sp>
      <p:graphicFrame>
        <p:nvGraphicFramePr>
          <p:cNvPr id="32849" name="Object 81">
            <a:extLst>
              <a:ext uri="{FF2B5EF4-FFF2-40B4-BE49-F238E27FC236}">
                <a16:creationId xmlns:a16="http://schemas.microsoft.com/office/drawing/2014/main" id="{D79947E6-FD9A-FBB7-AA01-28150A1C4D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6853238" y="1441450"/>
          <a:ext cx="22701251" cy="1702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1121480" imgH="8344080" progId="Word.Document.8">
                  <p:embed/>
                </p:oleObj>
              </mc:Choice>
              <mc:Fallback>
                <p:oleObj name="文档" r:id="rId2" imgW="11121480" imgH="8344080" progId="Word.Document.8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853238" y="1441450"/>
                        <a:ext cx="22701251" cy="1702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59A156B-8900-C5DF-4706-C21CB5BD8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(3) Make a judgment based on </a:t>
            </a:r>
            <a:r>
              <a:rPr lang="en-US" altLang="zh-CN" sz="3200" b="1" i="1">
                <a:solidFill>
                  <a:srgbClr val="FF99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altLang="zh-CN" sz="3200" b="1">
                <a:solidFill>
                  <a:schemeClr val="folHlink"/>
                </a:solidFill>
                <a:effectLst/>
                <a:latin typeface="Times New Roman" panose="02020603050405020304" pitchFamily="18" charset="0"/>
              </a:rPr>
              <a:t> value .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190364B-A81F-9A2B-3DBC-09B334C358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/>
              <a:t>Since </a:t>
            </a:r>
            <a:r>
              <a:rPr lang="en-US" altLang="zh-CN" b="1" i="1"/>
              <a:t>P</a:t>
            </a:r>
            <a:r>
              <a:rPr lang="en-US" altLang="zh-CN" b="1"/>
              <a:t> &lt; 0.01, it can be concluded that the </a:t>
            </a:r>
            <a:r>
              <a:rPr lang="en-US" altLang="zh-CN" b="1">
                <a:solidFill>
                  <a:schemeClr val="hlink"/>
                </a:solidFill>
              </a:rPr>
              <a:t>means </a:t>
            </a:r>
            <a:r>
              <a:rPr lang="en-US" altLang="zh-CN" b="1"/>
              <a:t>of  </a:t>
            </a:r>
            <a:r>
              <a:rPr lang="en-US" altLang="zh-CN" b="1">
                <a:solidFill>
                  <a:schemeClr val="folHlink"/>
                </a:solidFill>
              </a:rPr>
              <a:t>liver/body proportion</a:t>
            </a:r>
            <a:r>
              <a:rPr lang="en-US" altLang="zh-CN" b="1"/>
              <a:t> are not same in all.</a:t>
            </a:r>
          </a:p>
          <a:p>
            <a:endParaRPr lang="en-US" altLang="zh-CN" b="1"/>
          </a:p>
          <a:p>
            <a:r>
              <a:rPr lang="en-US" altLang="zh-CN" b="1">
                <a:solidFill>
                  <a:schemeClr val="folHlink"/>
                </a:solidFill>
              </a:rPr>
              <a:t>Question:</a:t>
            </a:r>
            <a:r>
              <a:rPr lang="en-US" altLang="zh-CN" b="1"/>
              <a:t> Is the above mentioned means are </a:t>
            </a:r>
            <a:r>
              <a:rPr lang="en-US" altLang="zh-CN" b="1" i="1">
                <a:solidFill>
                  <a:schemeClr val="tx2"/>
                </a:solidFill>
              </a:rPr>
              <a:t>sample means</a:t>
            </a:r>
            <a:r>
              <a:rPr lang="en-US" altLang="zh-CN" b="1"/>
              <a:t> or </a:t>
            </a:r>
            <a:r>
              <a:rPr lang="en-US" altLang="zh-CN" b="1" i="1">
                <a:solidFill>
                  <a:schemeClr val="tx2"/>
                </a:solidFill>
              </a:rPr>
              <a:t>population means</a:t>
            </a:r>
            <a:r>
              <a:rPr lang="en-US" altLang="zh-CN" b="1"/>
              <a:t>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C5E8E095-508E-5181-F47B-BA0AD6686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8686800" cy="5257800"/>
          </a:xfrm>
        </p:spPr>
        <p:txBody>
          <a:bodyPr/>
          <a:lstStyle/>
          <a:p>
            <a:r>
              <a:rPr lang="en-US" altLang="zh-CN" sz="3600" b="1"/>
              <a:t>Because the differences among the </a:t>
            </a:r>
            <a:r>
              <a:rPr lang="en-US" altLang="zh-CN" sz="3600" b="1">
                <a:solidFill>
                  <a:srgbClr val="FF9900"/>
                </a:solidFill>
              </a:rPr>
              <a:t>sample means</a:t>
            </a:r>
            <a:r>
              <a:rPr lang="en-US" altLang="zh-CN" sz="3600" b="1"/>
              <a:t> are statistically significant,  we can draw a conclusion that the </a:t>
            </a:r>
            <a:r>
              <a:rPr lang="en-US" altLang="zh-CN" sz="3600" b="1" i="1">
                <a:solidFill>
                  <a:schemeClr val="folHlink"/>
                </a:solidFill>
              </a:rPr>
              <a:t>population means are not same in all</a:t>
            </a:r>
            <a:r>
              <a:rPr lang="en-US" altLang="zh-CN" sz="3600" b="1"/>
              <a:t>. </a:t>
            </a:r>
          </a:p>
          <a:p>
            <a:endParaRPr lang="en-US" altLang="zh-CN" sz="3600" b="1"/>
          </a:p>
          <a:p>
            <a:r>
              <a:rPr lang="en-US" altLang="zh-CN" sz="3600" b="1"/>
              <a:t>If we try to know in detail, which pair of them are different, </a:t>
            </a:r>
            <a:r>
              <a:rPr lang="en-US" altLang="zh-CN" sz="3600" b="1" i="1">
                <a:solidFill>
                  <a:schemeClr val="folHlink"/>
                </a:solidFill>
              </a:rPr>
              <a:t>which pair</a:t>
            </a:r>
            <a:r>
              <a:rPr lang="en-US" altLang="zh-CN" sz="3600" b="1"/>
              <a:t> of them are equal, we need to do </a:t>
            </a:r>
            <a:r>
              <a:rPr lang="en-US" altLang="zh-CN" sz="3600" b="1" i="1">
                <a:solidFill>
                  <a:schemeClr val="folHlink"/>
                </a:solidFill>
              </a:rPr>
              <a:t>further analysis</a:t>
            </a:r>
            <a:r>
              <a:rPr lang="en-US" altLang="zh-CN" sz="3600" b="1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93FB306-452A-1339-B75E-D9D1823C3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81300"/>
            <a:ext cx="9144000" cy="1143000"/>
          </a:xfrm>
        </p:spPr>
        <p:txBody>
          <a:bodyPr/>
          <a:lstStyle/>
          <a:p>
            <a:pPr algn="l"/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</a:rPr>
              <a:t>When two sample means are compared,</a:t>
            </a:r>
            <a:r>
              <a:rPr lang="en-US" altLang="zh-CN" sz="4000" b="1"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</a:rPr>
              <a:t>both</a:t>
            </a:r>
            <a:r>
              <a:rPr lang="en-US" altLang="zh-CN" sz="4000" b="1">
                <a:latin typeface="Times New Roman" panose="02020603050405020304" pitchFamily="18" charset="0"/>
              </a:rPr>
              <a:t> </a:t>
            </a:r>
            <a:r>
              <a:rPr lang="en-US" altLang="zh-CN" sz="4000" b="1" i="1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4000" b="1">
                <a:solidFill>
                  <a:schemeClr val="folHlink"/>
                </a:solidFill>
                <a:latin typeface="Times New Roman" panose="02020603050405020304" pitchFamily="18" charset="0"/>
              </a:rPr>
              <a:t>-test</a:t>
            </a:r>
            <a:r>
              <a:rPr lang="en-US" altLang="zh-CN" sz="4000" b="1"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</a:rPr>
              <a:t>and</a:t>
            </a:r>
            <a:r>
              <a:rPr lang="en-US" altLang="zh-CN" sz="4000" b="1"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solidFill>
                  <a:schemeClr val="folHlink"/>
                </a:solidFill>
                <a:latin typeface="Times New Roman" panose="02020603050405020304" pitchFamily="18" charset="0"/>
              </a:rPr>
              <a:t>ANOVA</a:t>
            </a:r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</a:rPr>
              <a:t> can be used.</a:t>
            </a:r>
            <a:r>
              <a:rPr lang="en-US" altLang="zh-CN" sz="4000" b="1">
                <a:latin typeface="Times New Roman" panose="02020603050405020304" pitchFamily="18" charset="0"/>
              </a:rPr>
              <a:t> </a:t>
            </a:r>
            <a:br>
              <a:rPr lang="en-US" altLang="zh-CN" sz="4000" b="1">
                <a:latin typeface="Times New Roman" panose="02020603050405020304" pitchFamily="18" charset="0"/>
              </a:rPr>
            </a:br>
            <a:br>
              <a:rPr lang="en-US" altLang="zh-CN" sz="2000" b="1">
                <a:latin typeface="Times New Roman" panose="02020603050405020304" pitchFamily="18" charset="0"/>
              </a:rPr>
            </a:br>
            <a:r>
              <a:rPr lang="en-US" altLang="zh-CN" sz="4000" b="1">
                <a:latin typeface="Times New Roman" panose="02020603050405020304" pitchFamily="18" charset="0"/>
              </a:rPr>
              <a:t>(1) The conclusions will be equivalent.</a:t>
            </a:r>
            <a:br>
              <a:rPr lang="en-US" altLang="zh-CN" sz="4000" b="1">
                <a:latin typeface="Times New Roman" panose="02020603050405020304" pitchFamily="18" charset="0"/>
              </a:rPr>
            </a:br>
            <a:r>
              <a:rPr lang="en-US" altLang="zh-CN" sz="4000" b="1">
                <a:latin typeface="Times New Roman" panose="02020603050405020304" pitchFamily="18" charset="0"/>
              </a:rPr>
              <a:t>(2) The statistics being used have the following relationship:</a:t>
            </a:r>
            <a:br>
              <a:rPr lang="en-US" altLang="zh-CN" sz="4000" b="1">
                <a:latin typeface="Times New Roman" panose="02020603050405020304" pitchFamily="18" charset="0"/>
              </a:rPr>
            </a:br>
            <a:br>
              <a:rPr lang="en-US" altLang="zh-CN" sz="4000" b="1">
                <a:latin typeface="Times New Roman" panose="02020603050405020304" pitchFamily="18" charset="0"/>
              </a:rPr>
            </a:br>
            <a:r>
              <a:rPr lang="en-US" altLang="zh-CN" sz="4000" b="1">
                <a:latin typeface="Times New Roman" panose="02020603050405020304" pitchFamily="18" charset="0"/>
              </a:rPr>
              <a:t>(3) Conditions for ANOVA application </a:t>
            </a:r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</a:rPr>
              <a:t>mentioned on </a:t>
            </a:r>
            <a:r>
              <a:rPr lang="en-US" altLang="zh-CN" sz="40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4000" b="1">
                <a:solidFill>
                  <a:schemeClr val="tx1"/>
                </a:solidFill>
                <a:latin typeface="Times New Roman" panose="02020603050405020304" pitchFamily="18" charset="0"/>
              </a:rPr>
              <a:t>.295</a:t>
            </a:r>
            <a:r>
              <a:rPr lang="en-US" altLang="zh-CN" sz="4000" b="1">
                <a:latin typeface="Times New Roman" panose="02020603050405020304" pitchFamily="18" charset="0"/>
              </a:rPr>
              <a:t>  are similar to those for </a:t>
            </a:r>
            <a:r>
              <a:rPr lang="en-US" altLang="zh-CN" sz="4000" b="1" i="1">
                <a:latin typeface="Times New Roman" panose="02020603050405020304" pitchFamily="18" charset="0"/>
              </a:rPr>
              <a:t>t</a:t>
            </a:r>
            <a:r>
              <a:rPr lang="en-US" altLang="zh-CN" sz="4000" b="1">
                <a:latin typeface="Times New Roman" panose="02020603050405020304" pitchFamily="18" charset="0"/>
              </a:rPr>
              <a:t>-test.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959A5626-083B-7BA1-4CDA-E50057EEE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3D2F8D5C-836E-0CD4-94AB-BDE905617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789363"/>
          <a:ext cx="172878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82181" imgH="215713" progId="Equation.3">
                  <p:embed/>
                </p:oleObj>
              </mc:Choice>
              <mc:Fallback>
                <p:oleObj name="公式" r:id="rId2" imgW="482181" imgH="2157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789363"/>
                        <a:ext cx="1728788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4639489-2DD0-828B-6BE4-C49F0D4F7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FBAA958-0E55-D2D3-0CDC-98C006914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16113"/>
            <a:ext cx="8062912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1. </a:t>
            </a:r>
            <a:r>
              <a:rPr lang="en-US" altLang="zh-CN" sz="3600" b="1">
                <a:solidFill>
                  <a:srgbClr val="FF66FF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2. </a:t>
            </a:r>
            <a:r>
              <a:rPr lang="en-US" altLang="zh-CN" sz="3600" b="1">
                <a:solidFill>
                  <a:srgbClr val="FF66FF"/>
                </a:solidFill>
              </a:rPr>
              <a:t>An example in sport school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3. </a:t>
            </a:r>
            <a:r>
              <a:rPr lang="en-US" altLang="zh-CN" sz="3600" b="1">
                <a:solidFill>
                  <a:srgbClr val="FF66FF"/>
                </a:solidFill>
              </a:rPr>
              <a:t>A  medical research on p.297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4. </a:t>
            </a:r>
            <a:r>
              <a:rPr lang="en-US" altLang="zh-CN" sz="3600" b="1">
                <a:solidFill>
                  <a:srgbClr val="FF66FF"/>
                </a:solidFill>
              </a:rPr>
              <a:t>Steps of ANOVA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3600" b="1"/>
              <a:t>5. </a:t>
            </a:r>
            <a:r>
              <a:rPr lang="en-US" altLang="zh-CN" sz="3600" b="1">
                <a:solidFill>
                  <a:srgbClr val="0CF443"/>
                </a:solidFill>
              </a:rPr>
              <a:t>Conditions for ANOVA application</a:t>
            </a:r>
          </a:p>
          <a:p>
            <a:endParaRPr lang="en-US" altLang="zh-CN" sz="3600" b="1" u="sng"/>
          </a:p>
          <a:p>
            <a:endParaRPr lang="en-US" altLang="zh-CN" sz="3600" b="1" u="sng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42DD09B-54A5-CBB9-9D3E-AC3661F59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609600"/>
            <a:ext cx="8640762" cy="1143000"/>
          </a:xfrm>
        </p:spPr>
        <p:txBody>
          <a:bodyPr/>
          <a:lstStyle/>
          <a:p>
            <a:pPr algn="l"/>
            <a:r>
              <a:rPr lang="en-US" altLang="zh-CN" b="1">
                <a:latin typeface="Times New Roman" panose="02020603050405020304" pitchFamily="18" charset="0"/>
              </a:rPr>
              <a:t>5. Conditions </a:t>
            </a:r>
            <a:br>
              <a:rPr lang="en-US" altLang="zh-CN" b="1">
                <a:latin typeface="Times New Roman" panose="02020603050405020304" pitchFamily="18" charset="0"/>
              </a:rPr>
            </a:br>
            <a:r>
              <a:rPr lang="en-US" altLang="zh-CN" b="1">
                <a:latin typeface="Times New Roman" panose="02020603050405020304" pitchFamily="18" charset="0"/>
              </a:rPr>
              <a:t>                for ANOVA application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FE0B97F-36D6-97A6-28E5-C1C2B7E71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773238"/>
            <a:ext cx="8748712" cy="41148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sz="4000" b="1"/>
              <a:t> </a:t>
            </a:r>
            <a:r>
              <a:rPr lang="en-US" altLang="zh-CN" sz="3600" b="1"/>
              <a:t>Individuals are drawn from the population </a:t>
            </a:r>
            <a:r>
              <a:rPr lang="en-US" altLang="zh-CN" sz="3600" b="1" i="1">
                <a:solidFill>
                  <a:schemeClr val="folHlink"/>
                </a:solidFill>
              </a:rPr>
              <a:t>randomly</a:t>
            </a:r>
            <a:r>
              <a:rPr lang="en-US" altLang="zh-CN" sz="3600" b="1"/>
              <a:t> and </a:t>
            </a:r>
            <a:r>
              <a:rPr lang="en-US" altLang="zh-CN" sz="3600" b="1" i="1">
                <a:solidFill>
                  <a:schemeClr val="folHlink"/>
                </a:solidFill>
              </a:rPr>
              <a:t>independently</a:t>
            </a:r>
            <a:r>
              <a:rPr lang="en-US" altLang="zh-CN" sz="3600" b="1"/>
              <a:t>. </a:t>
            </a:r>
          </a:p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sz="3600" b="1"/>
              <a:t>The concerned populations all belong to </a:t>
            </a:r>
            <a:r>
              <a:rPr lang="en-US" altLang="zh-CN" sz="3600" b="1" i="1">
                <a:solidFill>
                  <a:schemeClr val="folHlink"/>
                </a:solidFill>
              </a:rPr>
              <a:t>normal distributions</a:t>
            </a:r>
            <a:r>
              <a:rPr lang="en-US" altLang="zh-CN" sz="3600" b="1"/>
              <a:t>.</a:t>
            </a:r>
          </a:p>
          <a:p>
            <a:pPr marL="609600" indent="-609600">
              <a:buFont typeface="Wingdings" panose="05000000000000000000" pitchFamily="2" charset="2"/>
              <a:buAutoNum type="arabicParenBoth"/>
            </a:pPr>
            <a:r>
              <a:rPr lang="en-US" altLang="zh-CN" sz="3600" b="1"/>
              <a:t>The </a:t>
            </a:r>
            <a:r>
              <a:rPr lang="en-US" altLang="zh-CN" sz="3600" b="1" i="1">
                <a:solidFill>
                  <a:schemeClr val="folHlink"/>
                </a:solidFill>
              </a:rPr>
              <a:t>variances</a:t>
            </a:r>
            <a:r>
              <a:rPr lang="en-US" altLang="zh-CN" sz="3600" b="1"/>
              <a:t> in each populations are </a:t>
            </a:r>
            <a:r>
              <a:rPr lang="en-US" altLang="zh-CN" sz="3600" b="1" i="1">
                <a:solidFill>
                  <a:schemeClr val="folHlink"/>
                </a:solidFill>
              </a:rPr>
              <a:t>equal</a:t>
            </a:r>
            <a:r>
              <a:rPr lang="en-US" altLang="zh-CN" sz="3600" b="1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E:\张晋昕文档\01备课本\本科\05j02全英\备查文件\校门.pot</Template>
  <TotalTime>471</TotalTime>
  <Words>884</Words>
  <Application>Microsoft Office PowerPoint</Application>
  <PresentationFormat>全屏显示(4:3)</PresentationFormat>
  <Paragraphs>136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Times New Roman</vt:lpstr>
      <vt:lpstr>宋体</vt:lpstr>
      <vt:lpstr>Arial</vt:lpstr>
      <vt:lpstr>Wingdings</vt:lpstr>
      <vt:lpstr>黑体</vt:lpstr>
      <vt:lpstr>Tms Rmn</vt:lpstr>
      <vt:lpstr>Symbol</vt:lpstr>
      <vt:lpstr>校门</vt:lpstr>
      <vt:lpstr>Microsoft 公式 3.0</vt:lpstr>
      <vt:lpstr>Microsoft Word 文档</vt:lpstr>
      <vt:lpstr>位图图像</vt:lpstr>
      <vt:lpstr>PowerPoint 演示文稿</vt:lpstr>
      <vt:lpstr>PowerPoint 演示文稿</vt:lpstr>
      <vt:lpstr>Vocabulary(1/4)</vt:lpstr>
      <vt:lpstr>Vocabulary(2/4)</vt:lpstr>
      <vt:lpstr>Vocabulary(3/4)</vt:lpstr>
      <vt:lpstr>Vocabulary(4/4)</vt:lpstr>
      <vt:lpstr>PowerPoint 演示文稿</vt:lpstr>
      <vt:lpstr>Variance — average variation of data</vt:lpstr>
      <vt:lpstr>PowerPoint 演示文稿</vt:lpstr>
      <vt:lpstr>Contents</vt:lpstr>
      <vt:lpstr>1.  Introduction</vt:lpstr>
      <vt:lpstr>How about compare every pairs of         and          with t test or u test?</vt:lpstr>
      <vt:lpstr>The Probability with which we wrongly reject at least one true null hypothesis is,</vt:lpstr>
      <vt:lpstr>Contents</vt:lpstr>
      <vt:lpstr>2. An example in sport school</vt:lpstr>
      <vt:lpstr>PowerPoint 演示文稿</vt:lpstr>
      <vt:lpstr>The situation, 2 years later</vt:lpstr>
      <vt:lpstr>The situation, 2 years later</vt:lpstr>
      <vt:lpstr>The situation in GX province</vt:lpstr>
      <vt:lpstr>Contents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 - distribution</vt:lpstr>
      <vt:lpstr>Contents</vt:lpstr>
      <vt:lpstr>4. Steps of ANOVA</vt:lpstr>
      <vt:lpstr>Analysis to Example 9-19 on p. 297</vt:lpstr>
      <vt:lpstr>(2) Calculation of F-value.</vt:lpstr>
      <vt:lpstr>(3) Make a judgment based on P value .</vt:lpstr>
      <vt:lpstr>PowerPoint 演示文稿</vt:lpstr>
      <vt:lpstr>When two sample means are compared, both t-test and ANOVA can be used.   (1) The conclusions will be equivalent. (2) The statistics being used have the following relationship:  (3) Conditions for ANOVA application mentioned on p.295  are similar to those for t-test.</vt:lpstr>
      <vt:lpstr>Contents</vt:lpstr>
      <vt:lpstr>5. Conditions                  for ANOVA application</vt:lpstr>
      <vt:lpstr>PowerPoint 演示文稿</vt:lpstr>
    </vt:vector>
  </TitlesOfParts>
  <Company>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zjx</dc:creator>
  <cp:lastModifiedBy>超然网络服务店 超然网络服务店</cp:lastModifiedBy>
  <cp:revision>23</cp:revision>
  <dcterms:created xsi:type="dcterms:W3CDTF">2005-02-28T03:28:35Z</dcterms:created>
  <dcterms:modified xsi:type="dcterms:W3CDTF">2023-10-24T11:43:16Z</dcterms:modified>
</cp:coreProperties>
</file>