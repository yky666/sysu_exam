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3" r:id="rId1"/>
  </p:sldMasterIdLst>
  <p:notesMasterIdLst>
    <p:notesMasterId r:id="rId25"/>
  </p:notesMasterIdLst>
  <p:handoutMasterIdLst>
    <p:handoutMasterId r:id="rId26"/>
  </p:handoutMasterIdLst>
  <p:sldIdLst>
    <p:sldId id="256" r:id="rId2"/>
    <p:sldId id="258" r:id="rId3"/>
    <p:sldId id="391" r:id="rId4"/>
    <p:sldId id="263" r:id="rId5"/>
    <p:sldId id="392" r:id="rId6"/>
    <p:sldId id="394" r:id="rId7"/>
    <p:sldId id="396" r:id="rId8"/>
    <p:sldId id="395" r:id="rId9"/>
    <p:sldId id="397" r:id="rId10"/>
    <p:sldId id="398" r:id="rId11"/>
    <p:sldId id="399" r:id="rId12"/>
    <p:sldId id="401" r:id="rId13"/>
    <p:sldId id="402" r:id="rId14"/>
    <p:sldId id="403" r:id="rId15"/>
    <p:sldId id="404" r:id="rId16"/>
    <p:sldId id="405" r:id="rId17"/>
    <p:sldId id="410" r:id="rId18"/>
    <p:sldId id="406" r:id="rId19"/>
    <p:sldId id="411" r:id="rId20"/>
    <p:sldId id="412" r:id="rId21"/>
    <p:sldId id="413" r:id="rId22"/>
    <p:sldId id="408" r:id="rId23"/>
    <p:sldId id="409" r:id="rId24"/>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FF9900"/>
    <a:srgbClr val="00CC00"/>
    <a:srgbClr val="003300"/>
    <a:srgbClr val="007A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5" autoAdjust="0"/>
    <p:restoredTop sz="94561" autoAdjust="0"/>
  </p:normalViewPr>
  <p:slideViewPr>
    <p:cSldViewPr>
      <p:cViewPr varScale="1">
        <p:scale>
          <a:sx n="68" d="100"/>
          <a:sy n="68" d="100"/>
        </p:scale>
        <p:origin x="124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482"/>
    </p:cViewPr>
  </p:sorterViewPr>
  <p:notesViewPr>
    <p:cSldViewPr>
      <p:cViewPr varScale="1">
        <p:scale>
          <a:sx n="45" d="100"/>
          <a:sy n="45" d="100"/>
        </p:scale>
        <p:origin x="-1440"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9C5AF0ED-9190-F246-82E3-E7694698EC05}"/>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153603" name="Rectangle 3">
            <a:extLst>
              <a:ext uri="{FF2B5EF4-FFF2-40B4-BE49-F238E27FC236}">
                <a16:creationId xmlns:a16="http://schemas.microsoft.com/office/drawing/2014/main" id="{C0E40AB5-41F9-671B-8F83-FAC7348979A8}"/>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153604" name="Rectangle 4">
            <a:extLst>
              <a:ext uri="{FF2B5EF4-FFF2-40B4-BE49-F238E27FC236}">
                <a16:creationId xmlns:a16="http://schemas.microsoft.com/office/drawing/2014/main" id="{590A47F9-378C-9EAE-C224-34F1873E3CAD}"/>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r>
              <a:rPr lang="en-US" altLang="zh-CN"/>
              <a:t>讲义制做：中山大学管理学院陈志祥</a:t>
            </a:r>
          </a:p>
        </p:txBody>
      </p:sp>
      <p:sp>
        <p:nvSpPr>
          <p:cNvPr id="153605" name="Rectangle 5">
            <a:extLst>
              <a:ext uri="{FF2B5EF4-FFF2-40B4-BE49-F238E27FC236}">
                <a16:creationId xmlns:a16="http://schemas.microsoft.com/office/drawing/2014/main" id="{1DF35B3E-EF01-B141-D9F9-B056352A007D}"/>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5D90D7A2-1F40-40FB-993A-5F84F57A34B9}" type="slidenum">
              <a:rPr lang="en-US" altLang="zh-CN"/>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6FD36C8D-F77F-1ECA-90D2-67D8455D9CDD}"/>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150531" name="Rectangle 3">
            <a:extLst>
              <a:ext uri="{FF2B5EF4-FFF2-40B4-BE49-F238E27FC236}">
                <a16:creationId xmlns:a16="http://schemas.microsoft.com/office/drawing/2014/main" id="{9F6013D5-ED48-07DC-E9F5-57D6BBB2E2BA}"/>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150532" name="Rectangle 4">
            <a:extLst>
              <a:ext uri="{FF2B5EF4-FFF2-40B4-BE49-F238E27FC236}">
                <a16:creationId xmlns:a16="http://schemas.microsoft.com/office/drawing/2014/main" id="{661B503E-C027-0F3A-370B-F659452049D3}"/>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0533" name="Rectangle 5">
            <a:extLst>
              <a:ext uri="{FF2B5EF4-FFF2-40B4-BE49-F238E27FC236}">
                <a16:creationId xmlns:a16="http://schemas.microsoft.com/office/drawing/2014/main" id="{F3CDD252-7814-5875-9745-494DEA5ADE47}"/>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50534" name="Rectangle 6">
            <a:extLst>
              <a:ext uri="{FF2B5EF4-FFF2-40B4-BE49-F238E27FC236}">
                <a16:creationId xmlns:a16="http://schemas.microsoft.com/office/drawing/2014/main" id="{F4D42FA4-B264-066C-DB7B-2DF7D645995A}"/>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r>
              <a:rPr lang="en-US" altLang="zh-CN"/>
              <a:t>讲义制做：中山大学管理学院陈志祥</a:t>
            </a:r>
          </a:p>
        </p:txBody>
      </p:sp>
      <p:sp>
        <p:nvSpPr>
          <p:cNvPr id="150535" name="Rectangle 7">
            <a:extLst>
              <a:ext uri="{FF2B5EF4-FFF2-40B4-BE49-F238E27FC236}">
                <a16:creationId xmlns:a16="http://schemas.microsoft.com/office/drawing/2014/main" id="{769B3A76-3AAC-D54A-D6A9-6399A9C8722A}"/>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3E9BE860-4B0B-4A23-B703-E32517EEA57B}" type="slidenum">
              <a:rPr lang="en-US" altLang="zh-CN"/>
              <a:pPr/>
              <a:t>‹#›</a:t>
            </a:fld>
            <a:endParaRPr lang="en-US" altLang="zh-CN"/>
          </a:p>
        </p:txBody>
      </p:sp>
    </p:spTree>
  </p:cSld>
  <p:clrMap bg1="lt1" tx1="dk1" bg2="lt2" tx2="dk2" accent1="accent1" accent2="accent2" accent3="accent3" accent4="accent4" accent5="accent5" accent6="accent6" hlink="hlink" folHlink="folHlink"/>
  <p:hf hdr="0" dt="0"/>
  <p:notesStyle>
    <a:lvl1pPr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707033F8-7B35-8611-B69C-7FFF8BE14167}"/>
              </a:ext>
            </a:extLst>
          </p:cNvPr>
          <p:cNvSpPr>
            <a:spLocks noGrp="1" noChangeArrowheads="1"/>
          </p:cNvSpPr>
          <p:nvPr>
            <p:ph type="ftr" sz="quarter" idx="4"/>
          </p:nvPr>
        </p:nvSpPr>
        <p:spPr>
          <a:ln/>
        </p:spPr>
        <p:txBody>
          <a:bodyPr/>
          <a:lstStyle/>
          <a:p>
            <a:r>
              <a:rPr lang="en-US" altLang="zh-CN"/>
              <a:t>讲义制做：中山大学管理学院陈志祥</a:t>
            </a:r>
          </a:p>
        </p:txBody>
      </p:sp>
      <p:sp>
        <p:nvSpPr>
          <p:cNvPr id="5" name="Rectangle 7">
            <a:extLst>
              <a:ext uri="{FF2B5EF4-FFF2-40B4-BE49-F238E27FC236}">
                <a16:creationId xmlns:a16="http://schemas.microsoft.com/office/drawing/2014/main" id="{573C7356-BCD3-9CB0-D352-009A5F1A0532}"/>
              </a:ext>
            </a:extLst>
          </p:cNvPr>
          <p:cNvSpPr>
            <a:spLocks noGrp="1" noChangeArrowheads="1"/>
          </p:cNvSpPr>
          <p:nvPr>
            <p:ph type="sldNum" sz="quarter" idx="5"/>
          </p:nvPr>
        </p:nvSpPr>
        <p:spPr>
          <a:ln/>
        </p:spPr>
        <p:txBody>
          <a:bodyPr/>
          <a:lstStyle/>
          <a:p>
            <a:fld id="{1433F934-34D6-4722-85C6-F410EC2EA32E}" type="slidenum">
              <a:rPr lang="en-US" altLang="zh-CN"/>
              <a:pPr/>
              <a:t>4</a:t>
            </a:fld>
            <a:endParaRPr lang="en-US" altLang="zh-CN"/>
          </a:p>
        </p:txBody>
      </p:sp>
      <p:sp>
        <p:nvSpPr>
          <p:cNvPr id="151554" name="Rectangle 2">
            <a:extLst>
              <a:ext uri="{FF2B5EF4-FFF2-40B4-BE49-F238E27FC236}">
                <a16:creationId xmlns:a16="http://schemas.microsoft.com/office/drawing/2014/main" id="{3F96C8D0-6092-02B2-4EF8-8E12CD5E91C9}"/>
              </a:ext>
            </a:extLst>
          </p:cNvPr>
          <p:cNvSpPr>
            <a:spLocks noRot="1" noChangeArrowheads="1" noTextEdit="1"/>
          </p:cNvSpPr>
          <p:nvPr>
            <p:ph type="sldImg"/>
          </p:nvPr>
        </p:nvSpPr>
        <p:spPr>
          <a:ln/>
        </p:spPr>
      </p:sp>
      <p:sp>
        <p:nvSpPr>
          <p:cNvPr id="151555" name="Rectangle 3">
            <a:extLst>
              <a:ext uri="{FF2B5EF4-FFF2-40B4-BE49-F238E27FC236}">
                <a16:creationId xmlns:a16="http://schemas.microsoft.com/office/drawing/2014/main" id="{64B82238-FD25-C408-4758-DACDBA1F9995}"/>
              </a:ext>
            </a:extLst>
          </p:cNvPr>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65218" name="Group 2">
            <a:extLst>
              <a:ext uri="{FF2B5EF4-FFF2-40B4-BE49-F238E27FC236}">
                <a16:creationId xmlns:a16="http://schemas.microsoft.com/office/drawing/2014/main" id="{9D0EE67D-483B-857E-285D-E532C4AE50C6}"/>
              </a:ext>
            </a:extLst>
          </p:cNvPr>
          <p:cNvGrpSpPr>
            <a:grpSpLocks/>
          </p:cNvGrpSpPr>
          <p:nvPr/>
        </p:nvGrpSpPr>
        <p:grpSpPr bwMode="auto">
          <a:xfrm>
            <a:off x="-6350" y="20638"/>
            <a:ext cx="9144000" cy="6858000"/>
            <a:chOff x="0" y="0"/>
            <a:chExt cx="5760" cy="4320"/>
          </a:xfrm>
        </p:grpSpPr>
        <p:sp>
          <p:nvSpPr>
            <p:cNvPr id="265219" name="Freeform 3">
              <a:extLst>
                <a:ext uri="{FF2B5EF4-FFF2-40B4-BE49-F238E27FC236}">
                  <a16:creationId xmlns:a16="http://schemas.microsoft.com/office/drawing/2014/main" id="{5F48460E-F847-967C-2BE2-CED00ED2D694}"/>
                </a:ext>
              </a:extLst>
            </p:cNvPr>
            <p:cNvSpPr>
              <a:spLocks/>
            </p:cNvSpPr>
            <p:nvPr/>
          </p:nvSpPr>
          <p:spPr bwMode="hidden">
            <a:xfrm>
              <a:off x="0" y="3072"/>
              <a:ext cx="5760" cy="1248"/>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20" name="Freeform 4">
              <a:extLst>
                <a:ext uri="{FF2B5EF4-FFF2-40B4-BE49-F238E27FC236}">
                  <a16:creationId xmlns:a16="http://schemas.microsoft.com/office/drawing/2014/main" id="{61EDCDC3-A1A2-7E52-5788-E2E67A707532}"/>
                </a:ext>
              </a:extLst>
            </p:cNvPr>
            <p:cNvSpPr>
              <a:spLocks/>
            </p:cNvSpPr>
            <p:nvPr/>
          </p:nvSpPr>
          <p:spPr bwMode="hidden">
            <a:xfrm>
              <a:off x="0" y="0"/>
              <a:ext cx="5760" cy="3072"/>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amma/>
                    <a:shade val="46275"/>
                    <a:invGamma/>
                  </a:scheme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5221" name="Freeform 5">
            <a:extLst>
              <a:ext uri="{FF2B5EF4-FFF2-40B4-BE49-F238E27FC236}">
                <a16:creationId xmlns:a16="http://schemas.microsoft.com/office/drawing/2014/main" id="{CABB19D2-BCCD-B85A-B934-7DAE4BF10ED1}"/>
              </a:ext>
            </a:extLst>
          </p:cNvPr>
          <p:cNvSpPr>
            <a:spLocks/>
          </p:cNvSpPr>
          <p:nvPr/>
        </p:nvSpPr>
        <p:spPr bwMode="hidden">
          <a:xfrm>
            <a:off x="6242050" y="6269038"/>
            <a:ext cx="2895600" cy="609600"/>
          </a:xfrm>
          <a:custGeom>
            <a:avLst/>
            <a:gdLst>
              <a:gd name="T0" fmla="*/ 5748 w 5748"/>
              <a:gd name="T1" fmla="*/ 246 h 246"/>
              <a:gd name="T2" fmla="*/ 0 w 5748"/>
              <a:gd name="T3" fmla="*/ 246 h 246"/>
              <a:gd name="T4" fmla="*/ 0 w 5748"/>
              <a:gd name="T5" fmla="*/ 0 h 246"/>
              <a:gd name="T6" fmla="*/ 5748 w 5748"/>
              <a:gd name="T7" fmla="*/ 0 h 246"/>
              <a:gd name="T8" fmla="*/ 5748 w 5748"/>
              <a:gd name="T9" fmla="*/ 246 h 246"/>
              <a:gd name="T10" fmla="*/ 5748 w 5748"/>
              <a:gd name="T11" fmla="*/ 246 h 246"/>
            </a:gdLst>
            <a:ahLst/>
            <a:cxnLst>
              <a:cxn ang="0">
                <a:pos x="T0" y="T1"/>
              </a:cxn>
              <a:cxn ang="0">
                <a:pos x="T2" y="T3"/>
              </a:cxn>
              <a:cxn ang="0">
                <a:pos x="T4" y="T5"/>
              </a:cxn>
              <a:cxn ang="0">
                <a:pos x="T6" y="T7"/>
              </a:cxn>
              <a:cxn ang="0">
                <a:pos x="T8" y="T9"/>
              </a:cxn>
              <a:cxn ang="0">
                <a:pos x="T10" y="T11"/>
              </a:cxn>
            </a:cxnLst>
            <a:rect l="0" t="0" r="r" b="b"/>
            <a:pathLst>
              <a:path w="5748" h="246">
                <a:moveTo>
                  <a:pt x="5748" y="246"/>
                </a:moveTo>
                <a:lnTo>
                  <a:pt x="0" y="246"/>
                </a:lnTo>
                <a:lnTo>
                  <a:pt x="0" y="0"/>
                </a:lnTo>
                <a:lnTo>
                  <a:pt x="5748" y="0"/>
                </a:lnTo>
                <a:lnTo>
                  <a:pt x="5748" y="246"/>
                </a:lnTo>
                <a:lnTo>
                  <a:pt x="5748" y="246"/>
                </a:lnTo>
                <a:close/>
              </a:path>
            </a:pathLst>
          </a:cu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65222" name="Group 6">
            <a:extLst>
              <a:ext uri="{FF2B5EF4-FFF2-40B4-BE49-F238E27FC236}">
                <a16:creationId xmlns:a16="http://schemas.microsoft.com/office/drawing/2014/main" id="{01880BDD-4787-B944-BD58-71EFE9F8572E}"/>
              </a:ext>
            </a:extLst>
          </p:cNvPr>
          <p:cNvGrpSpPr>
            <a:grpSpLocks/>
          </p:cNvGrpSpPr>
          <p:nvPr/>
        </p:nvGrpSpPr>
        <p:grpSpPr bwMode="auto">
          <a:xfrm>
            <a:off x="-1588" y="6034088"/>
            <a:ext cx="7845426" cy="850900"/>
            <a:chOff x="0" y="3792"/>
            <a:chExt cx="4942" cy="536"/>
          </a:xfrm>
        </p:grpSpPr>
        <p:sp>
          <p:nvSpPr>
            <p:cNvPr id="265223" name="Freeform 7">
              <a:extLst>
                <a:ext uri="{FF2B5EF4-FFF2-40B4-BE49-F238E27FC236}">
                  <a16:creationId xmlns:a16="http://schemas.microsoft.com/office/drawing/2014/main" id="{4C01BCE4-B899-5139-7685-5104E9BFC559}"/>
                </a:ext>
              </a:extLst>
            </p:cNvPr>
            <p:cNvSpPr>
              <a:spLocks/>
            </p:cNvSpPr>
            <p:nvPr userDrawn="1"/>
          </p:nvSpPr>
          <p:spPr bwMode="ltGray">
            <a:xfrm>
              <a:off x="1488" y="3792"/>
              <a:ext cx="3240" cy="536"/>
            </a:xfrm>
            <a:custGeom>
              <a:avLst/>
              <a:gdLst>
                <a:gd name="T0" fmla="*/ 3132 w 3240"/>
                <a:gd name="T1" fmla="*/ 469 h 536"/>
                <a:gd name="T2" fmla="*/ 2995 w 3240"/>
                <a:gd name="T3" fmla="*/ 395 h 536"/>
                <a:gd name="T4" fmla="*/ 2911 w 3240"/>
                <a:gd name="T5" fmla="*/ 375 h 536"/>
                <a:gd name="T6" fmla="*/ 2678 w 3240"/>
                <a:gd name="T7" fmla="*/ 228 h 536"/>
                <a:gd name="T8" fmla="*/ 2553 w 3240"/>
                <a:gd name="T9" fmla="*/ 74 h 536"/>
                <a:gd name="T10" fmla="*/ 2457 w 3240"/>
                <a:gd name="T11" fmla="*/ 7 h 536"/>
                <a:gd name="T12" fmla="*/ 2403 w 3240"/>
                <a:gd name="T13" fmla="*/ 47 h 536"/>
                <a:gd name="T14" fmla="*/ 2289 w 3240"/>
                <a:gd name="T15" fmla="*/ 74 h 536"/>
                <a:gd name="T16" fmla="*/ 2134 w 3240"/>
                <a:gd name="T17" fmla="*/ 74 h 536"/>
                <a:gd name="T18" fmla="*/ 2044 w 3240"/>
                <a:gd name="T19" fmla="*/ 128 h 536"/>
                <a:gd name="T20" fmla="*/ 1775 w 3240"/>
                <a:gd name="T21" fmla="*/ 222 h 536"/>
                <a:gd name="T22" fmla="*/ 1602 w 3240"/>
                <a:gd name="T23" fmla="*/ 181 h 536"/>
                <a:gd name="T24" fmla="*/ 1560 w 3240"/>
                <a:gd name="T25" fmla="*/ 101 h 536"/>
                <a:gd name="T26" fmla="*/ 1542 w 3240"/>
                <a:gd name="T27" fmla="*/ 87 h 536"/>
                <a:gd name="T28" fmla="*/ 1446 w 3240"/>
                <a:gd name="T29" fmla="*/ 60 h 536"/>
                <a:gd name="T30" fmla="*/ 1375 w 3240"/>
                <a:gd name="T31" fmla="*/ 74 h 536"/>
                <a:gd name="T32" fmla="*/ 1309 w 3240"/>
                <a:gd name="T33" fmla="*/ 87 h 536"/>
                <a:gd name="T34" fmla="*/ 1243 w 3240"/>
                <a:gd name="T35" fmla="*/ 13 h 536"/>
                <a:gd name="T36" fmla="*/ 1225 w 3240"/>
                <a:gd name="T37" fmla="*/ 0 h 536"/>
                <a:gd name="T38" fmla="*/ 1189 w 3240"/>
                <a:gd name="T39" fmla="*/ 0 h 536"/>
                <a:gd name="T40" fmla="*/ 1106 w 3240"/>
                <a:gd name="T41" fmla="*/ 34 h 536"/>
                <a:gd name="T42" fmla="*/ 1106 w 3240"/>
                <a:gd name="T43" fmla="*/ 34 h 536"/>
                <a:gd name="T44" fmla="*/ 1094 w 3240"/>
                <a:gd name="T45" fmla="*/ 40 h 536"/>
                <a:gd name="T46" fmla="*/ 1070 w 3240"/>
                <a:gd name="T47" fmla="*/ 54 h 536"/>
                <a:gd name="T48" fmla="*/ 1034 w 3240"/>
                <a:gd name="T49" fmla="*/ 74 h 536"/>
                <a:gd name="T50" fmla="*/ 1004 w 3240"/>
                <a:gd name="T51" fmla="*/ 74 h 536"/>
                <a:gd name="T52" fmla="*/ 986 w 3240"/>
                <a:gd name="T53" fmla="*/ 74 h 536"/>
                <a:gd name="T54" fmla="*/ 956 w 3240"/>
                <a:gd name="T55" fmla="*/ 81 h 536"/>
                <a:gd name="T56" fmla="*/ 920 w 3240"/>
                <a:gd name="T57" fmla="*/ 94 h 536"/>
                <a:gd name="T58" fmla="*/ 884 w 3240"/>
                <a:gd name="T59" fmla="*/ 107 h 536"/>
                <a:gd name="T60" fmla="*/ 843 w 3240"/>
                <a:gd name="T61" fmla="*/ 128 h 536"/>
                <a:gd name="T62" fmla="*/ 813 w 3240"/>
                <a:gd name="T63" fmla="*/ 141 h 536"/>
                <a:gd name="T64" fmla="*/ 789 w 3240"/>
                <a:gd name="T65" fmla="*/ 148 h 536"/>
                <a:gd name="T66" fmla="*/ 783 w 3240"/>
                <a:gd name="T67" fmla="*/ 154 h 536"/>
                <a:gd name="T68" fmla="*/ 556 w 3240"/>
                <a:gd name="T69" fmla="*/ 228 h 536"/>
                <a:gd name="T70" fmla="*/ 394 w 3240"/>
                <a:gd name="T71" fmla="*/ 294 h 536"/>
                <a:gd name="T72" fmla="*/ 107 w 3240"/>
                <a:gd name="T73" fmla="*/ 462 h 536"/>
                <a:gd name="T74" fmla="*/ 0 w 3240"/>
                <a:gd name="T75" fmla="*/ 536 h 536"/>
                <a:gd name="T76" fmla="*/ 3240 w 3240"/>
                <a:gd name="T77" fmla="*/ 536 h 536"/>
                <a:gd name="T78" fmla="*/ 3132 w 3240"/>
                <a:gd name="T79" fmla="*/ 469 h 536"/>
                <a:gd name="T80" fmla="*/ 3132 w 3240"/>
                <a:gd name="T81" fmla="*/ 469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40" h="536">
                  <a:moveTo>
                    <a:pt x="3132" y="469"/>
                  </a:moveTo>
                  <a:lnTo>
                    <a:pt x="2995" y="395"/>
                  </a:lnTo>
                  <a:lnTo>
                    <a:pt x="2911" y="375"/>
                  </a:lnTo>
                  <a:lnTo>
                    <a:pt x="2678" y="228"/>
                  </a:lnTo>
                  <a:lnTo>
                    <a:pt x="2553" y="74"/>
                  </a:lnTo>
                  <a:lnTo>
                    <a:pt x="2457" y="7"/>
                  </a:lnTo>
                  <a:lnTo>
                    <a:pt x="2403" y="47"/>
                  </a:lnTo>
                  <a:lnTo>
                    <a:pt x="2289" y="74"/>
                  </a:lnTo>
                  <a:lnTo>
                    <a:pt x="2134" y="74"/>
                  </a:lnTo>
                  <a:lnTo>
                    <a:pt x="2044" y="128"/>
                  </a:lnTo>
                  <a:lnTo>
                    <a:pt x="1775" y="222"/>
                  </a:lnTo>
                  <a:lnTo>
                    <a:pt x="1602" y="181"/>
                  </a:lnTo>
                  <a:lnTo>
                    <a:pt x="1560" y="101"/>
                  </a:lnTo>
                  <a:lnTo>
                    <a:pt x="1542" y="87"/>
                  </a:lnTo>
                  <a:lnTo>
                    <a:pt x="1446" y="60"/>
                  </a:lnTo>
                  <a:lnTo>
                    <a:pt x="1375" y="74"/>
                  </a:lnTo>
                  <a:lnTo>
                    <a:pt x="1309" y="87"/>
                  </a:lnTo>
                  <a:lnTo>
                    <a:pt x="1243" y="13"/>
                  </a:lnTo>
                  <a:lnTo>
                    <a:pt x="1225" y="0"/>
                  </a:lnTo>
                  <a:lnTo>
                    <a:pt x="1189" y="0"/>
                  </a:lnTo>
                  <a:lnTo>
                    <a:pt x="1106" y="34"/>
                  </a:lnTo>
                  <a:lnTo>
                    <a:pt x="1106" y="34"/>
                  </a:lnTo>
                  <a:lnTo>
                    <a:pt x="1094" y="40"/>
                  </a:lnTo>
                  <a:lnTo>
                    <a:pt x="1070" y="54"/>
                  </a:lnTo>
                  <a:lnTo>
                    <a:pt x="1034" y="74"/>
                  </a:lnTo>
                  <a:lnTo>
                    <a:pt x="1004" y="74"/>
                  </a:lnTo>
                  <a:lnTo>
                    <a:pt x="986" y="74"/>
                  </a:lnTo>
                  <a:lnTo>
                    <a:pt x="956" y="81"/>
                  </a:lnTo>
                  <a:lnTo>
                    <a:pt x="920" y="94"/>
                  </a:lnTo>
                  <a:lnTo>
                    <a:pt x="884" y="107"/>
                  </a:lnTo>
                  <a:lnTo>
                    <a:pt x="843" y="128"/>
                  </a:lnTo>
                  <a:lnTo>
                    <a:pt x="813" y="141"/>
                  </a:lnTo>
                  <a:lnTo>
                    <a:pt x="789" y="148"/>
                  </a:lnTo>
                  <a:lnTo>
                    <a:pt x="783" y="154"/>
                  </a:lnTo>
                  <a:lnTo>
                    <a:pt x="556" y="228"/>
                  </a:lnTo>
                  <a:lnTo>
                    <a:pt x="394" y="294"/>
                  </a:lnTo>
                  <a:lnTo>
                    <a:pt x="107" y="462"/>
                  </a:lnTo>
                  <a:lnTo>
                    <a:pt x="0" y="536"/>
                  </a:lnTo>
                  <a:lnTo>
                    <a:pt x="3240" y="536"/>
                  </a:lnTo>
                  <a:lnTo>
                    <a:pt x="3132" y="469"/>
                  </a:lnTo>
                  <a:lnTo>
                    <a:pt x="3132" y="469"/>
                  </a:lnTo>
                  <a:close/>
                </a:path>
              </a:pathLst>
            </a:custGeom>
            <a:gradFill rotWithShape="0">
              <a:gsLst>
                <a:gs pos="0">
                  <a:schemeClr val="bg2">
                    <a:gamma/>
                    <a:tint val="66667"/>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65224" name="Group 8">
              <a:extLst>
                <a:ext uri="{FF2B5EF4-FFF2-40B4-BE49-F238E27FC236}">
                  <a16:creationId xmlns:a16="http://schemas.microsoft.com/office/drawing/2014/main" id="{F1A9C8B9-F07B-1AAC-B4ED-88983BD67CFF}"/>
                </a:ext>
              </a:extLst>
            </p:cNvPr>
            <p:cNvGrpSpPr>
              <a:grpSpLocks/>
            </p:cNvGrpSpPr>
            <p:nvPr userDrawn="1"/>
          </p:nvGrpSpPr>
          <p:grpSpPr bwMode="auto">
            <a:xfrm>
              <a:off x="2486" y="3792"/>
              <a:ext cx="2456" cy="536"/>
              <a:chOff x="2486" y="3792"/>
              <a:chExt cx="2456" cy="536"/>
            </a:xfrm>
          </p:grpSpPr>
          <p:sp>
            <p:nvSpPr>
              <p:cNvPr id="265225" name="Freeform 9">
                <a:extLst>
                  <a:ext uri="{FF2B5EF4-FFF2-40B4-BE49-F238E27FC236}">
                    <a16:creationId xmlns:a16="http://schemas.microsoft.com/office/drawing/2014/main" id="{BA946FB6-DEE6-A5B6-6549-1007855817C6}"/>
                  </a:ext>
                </a:extLst>
              </p:cNvPr>
              <p:cNvSpPr>
                <a:spLocks/>
              </p:cNvSpPr>
              <p:nvPr userDrawn="1"/>
            </p:nvSpPr>
            <p:spPr bwMode="ltGray">
              <a:xfrm>
                <a:off x="3948" y="3799"/>
                <a:ext cx="994" cy="529"/>
              </a:xfrm>
              <a:custGeom>
                <a:avLst/>
                <a:gdLst>
                  <a:gd name="T0" fmla="*/ 636 w 994"/>
                  <a:gd name="T1" fmla="*/ 373 h 529"/>
                  <a:gd name="T2" fmla="*/ 495 w 994"/>
                  <a:gd name="T3" fmla="*/ 370 h 529"/>
                  <a:gd name="T4" fmla="*/ 280 w 994"/>
                  <a:gd name="T5" fmla="*/ 249 h 529"/>
                  <a:gd name="T6" fmla="*/ 127 w 994"/>
                  <a:gd name="T7" fmla="*/ 66 h 529"/>
                  <a:gd name="T8" fmla="*/ 0 w 994"/>
                  <a:gd name="T9" fmla="*/ 0 h 529"/>
                  <a:gd name="T10" fmla="*/ 22 w 994"/>
                  <a:gd name="T11" fmla="*/ 26 h 529"/>
                  <a:gd name="T12" fmla="*/ 0 w 994"/>
                  <a:gd name="T13" fmla="*/ 65 h 529"/>
                  <a:gd name="T14" fmla="*/ 30 w 994"/>
                  <a:gd name="T15" fmla="*/ 119 h 529"/>
                  <a:gd name="T16" fmla="*/ 75 w 994"/>
                  <a:gd name="T17" fmla="*/ 243 h 529"/>
                  <a:gd name="T18" fmla="*/ 45 w 994"/>
                  <a:gd name="T19" fmla="*/ 422 h 529"/>
                  <a:gd name="T20" fmla="*/ 200 w 994"/>
                  <a:gd name="T21" fmla="*/ 329 h 529"/>
                  <a:gd name="T22" fmla="*/ 592 w 994"/>
                  <a:gd name="T23" fmla="*/ 527 h 529"/>
                  <a:gd name="T24" fmla="*/ 994 w 994"/>
                  <a:gd name="T25" fmla="*/ 529 h 529"/>
                  <a:gd name="T26" fmla="*/ 828 w 994"/>
                  <a:gd name="T27" fmla="*/ 473 h 529"/>
                  <a:gd name="T28" fmla="*/ 636 w 994"/>
                  <a:gd name="T29" fmla="*/ 373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4" h="529">
                    <a:moveTo>
                      <a:pt x="636" y="373"/>
                    </a:moveTo>
                    <a:lnTo>
                      <a:pt x="495" y="370"/>
                    </a:lnTo>
                    <a:lnTo>
                      <a:pt x="280" y="249"/>
                    </a:lnTo>
                    <a:lnTo>
                      <a:pt x="127" y="66"/>
                    </a:lnTo>
                    <a:lnTo>
                      <a:pt x="0" y="0"/>
                    </a:lnTo>
                    <a:lnTo>
                      <a:pt x="22" y="26"/>
                    </a:lnTo>
                    <a:lnTo>
                      <a:pt x="0" y="65"/>
                    </a:lnTo>
                    <a:lnTo>
                      <a:pt x="30" y="119"/>
                    </a:lnTo>
                    <a:lnTo>
                      <a:pt x="75" y="243"/>
                    </a:lnTo>
                    <a:lnTo>
                      <a:pt x="45" y="422"/>
                    </a:lnTo>
                    <a:lnTo>
                      <a:pt x="200" y="329"/>
                    </a:lnTo>
                    <a:lnTo>
                      <a:pt x="592" y="527"/>
                    </a:lnTo>
                    <a:lnTo>
                      <a:pt x="994" y="529"/>
                    </a:lnTo>
                    <a:lnTo>
                      <a:pt x="828" y="473"/>
                    </a:lnTo>
                    <a:lnTo>
                      <a:pt x="636" y="373"/>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26" name="Freeform 10">
                <a:extLst>
                  <a:ext uri="{FF2B5EF4-FFF2-40B4-BE49-F238E27FC236}">
                    <a16:creationId xmlns:a16="http://schemas.microsoft.com/office/drawing/2014/main" id="{C7421D1E-A8A9-A738-BC1E-0CAE79A411A2}"/>
                  </a:ext>
                </a:extLst>
              </p:cNvPr>
              <p:cNvSpPr>
                <a:spLocks/>
              </p:cNvSpPr>
              <p:nvPr userDrawn="1"/>
            </p:nvSpPr>
            <p:spPr bwMode="ltGray">
              <a:xfrm>
                <a:off x="2677" y="3792"/>
                <a:ext cx="186" cy="395"/>
              </a:xfrm>
              <a:custGeom>
                <a:avLst/>
                <a:gdLst>
                  <a:gd name="T0" fmla="*/ 36 w 186"/>
                  <a:gd name="T1" fmla="*/ 0 h 353"/>
                  <a:gd name="T2" fmla="*/ 54 w 186"/>
                  <a:gd name="T3" fmla="*/ 18 h 353"/>
                  <a:gd name="T4" fmla="*/ 24 w 186"/>
                  <a:gd name="T5" fmla="*/ 30 h 353"/>
                  <a:gd name="T6" fmla="*/ 18 w 186"/>
                  <a:gd name="T7" fmla="*/ 66 h 353"/>
                  <a:gd name="T8" fmla="*/ 42 w 186"/>
                  <a:gd name="T9" fmla="*/ 114 h 353"/>
                  <a:gd name="T10" fmla="*/ 48 w 186"/>
                  <a:gd name="T11" fmla="*/ 162 h 353"/>
                  <a:gd name="T12" fmla="*/ 0 w 186"/>
                  <a:gd name="T13" fmla="*/ 353 h 353"/>
                  <a:gd name="T14" fmla="*/ 54 w 186"/>
                  <a:gd name="T15" fmla="*/ 233 h 353"/>
                  <a:gd name="T16" fmla="*/ 84 w 186"/>
                  <a:gd name="T17" fmla="*/ 216 h 353"/>
                  <a:gd name="T18" fmla="*/ 126 w 186"/>
                  <a:gd name="T19" fmla="*/ 126 h 353"/>
                  <a:gd name="T20" fmla="*/ 144 w 186"/>
                  <a:gd name="T21" fmla="*/ 120 h 353"/>
                  <a:gd name="T22" fmla="*/ 144 w 186"/>
                  <a:gd name="T23" fmla="*/ 90 h 353"/>
                  <a:gd name="T24" fmla="*/ 186 w 186"/>
                  <a:gd name="T25" fmla="*/ 66 h 353"/>
                  <a:gd name="T26" fmla="*/ 162 w 186"/>
                  <a:gd name="T27" fmla="*/ 60 h 353"/>
                  <a:gd name="T28" fmla="*/ 36 w 186"/>
                  <a:gd name="T29" fmla="*/ 0 h 353"/>
                  <a:gd name="T30" fmla="*/ 36 w 186"/>
                  <a:gd name="T31"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6" h="353">
                    <a:moveTo>
                      <a:pt x="36" y="0"/>
                    </a:moveTo>
                    <a:lnTo>
                      <a:pt x="54" y="18"/>
                    </a:lnTo>
                    <a:lnTo>
                      <a:pt x="24" y="30"/>
                    </a:lnTo>
                    <a:lnTo>
                      <a:pt x="18" y="66"/>
                    </a:lnTo>
                    <a:lnTo>
                      <a:pt x="42" y="114"/>
                    </a:lnTo>
                    <a:lnTo>
                      <a:pt x="48" y="162"/>
                    </a:lnTo>
                    <a:lnTo>
                      <a:pt x="0" y="353"/>
                    </a:lnTo>
                    <a:lnTo>
                      <a:pt x="54" y="233"/>
                    </a:lnTo>
                    <a:lnTo>
                      <a:pt x="84" y="216"/>
                    </a:lnTo>
                    <a:lnTo>
                      <a:pt x="126" y="126"/>
                    </a:lnTo>
                    <a:lnTo>
                      <a:pt x="144" y="120"/>
                    </a:lnTo>
                    <a:lnTo>
                      <a:pt x="144" y="90"/>
                    </a:lnTo>
                    <a:lnTo>
                      <a:pt x="186" y="66"/>
                    </a:lnTo>
                    <a:lnTo>
                      <a:pt x="162" y="60"/>
                    </a:lnTo>
                    <a:lnTo>
                      <a:pt x="36" y="0"/>
                    </a:lnTo>
                    <a:lnTo>
                      <a:pt x="3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27" name="Freeform 11">
                <a:extLst>
                  <a:ext uri="{FF2B5EF4-FFF2-40B4-BE49-F238E27FC236}">
                    <a16:creationId xmlns:a16="http://schemas.microsoft.com/office/drawing/2014/main" id="{FA3B9559-1898-FB83-57D1-418FE61BF180}"/>
                  </a:ext>
                </a:extLst>
              </p:cNvPr>
              <p:cNvSpPr>
                <a:spLocks/>
              </p:cNvSpPr>
              <p:nvPr userDrawn="1"/>
            </p:nvSpPr>
            <p:spPr bwMode="ltGray">
              <a:xfrm>
                <a:off x="3030" y="3893"/>
                <a:ext cx="378" cy="271"/>
              </a:xfrm>
              <a:custGeom>
                <a:avLst/>
                <a:gdLst>
                  <a:gd name="T0" fmla="*/ 18 w 378"/>
                  <a:gd name="T1" fmla="*/ 0 h 271"/>
                  <a:gd name="T2" fmla="*/ 12 w 378"/>
                  <a:gd name="T3" fmla="*/ 13 h 271"/>
                  <a:gd name="T4" fmla="*/ 0 w 378"/>
                  <a:gd name="T5" fmla="*/ 40 h 271"/>
                  <a:gd name="T6" fmla="*/ 60 w 378"/>
                  <a:gd name="T7" fmla="*/ 121 h 271"/>
                  <a:gd name="T8" fmla="*/ 310 w 378"/>
                  <a:gd name="T9" fmla="*/ 271 h 271"/>
                  <a:gd name="T10" fmla="*/ 290 w 378"/>
                  <a:gd name="T11" fmla="*/ 139 h 271"/>
                  <a:gd name="T12" fmla="*/ 378 w 378"/>
                  <a:gd name="T13" fmla="*/ 76 h 271"/>
                  <a:gd name="T14" fmla="*/ 251 w 378"/>
                  <a:gd name="T15" fmla="*/ 94 h 271"/>
                  <a:gd name="T16" fmla="*/ 90 w 378"/>
                  <a:gd name="T17" fmla="*/ 54 h 271"/>
                  <a:gd name="T18" fmla="*/ 18 w 378"/>
                  <a:gd name="T19" fmla="*/ 0 h 271"/>
                  <a:gd name="T20" fmla="*/ 18 w 378"/>
                  <a:gd name="T21"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8" h="271">
                    <a:moveTo>
                      <a:pt x="18" y="0"/>
                    </a:moveTo>
                    <a:lnTo>
                      <a:pt x="12" y="13"/>
                    </a:lnTo>
                    <a:lnTo>
                      <a:pt x="0" y="40"/>
                    </a:lnTo>
                    <a:lnTo>
                      <a:pt x="60" y="121"/>
                    </a:lnTo>
                    <a:lnTo>
                      <a:pt x="310" y="271"/>
                    </a:lnTo>
                    <a:lnTo>
                      <a:pt x="290" y="139"/>
                    </a:lnTo>
                    <a:lnTo>
                      <a:pt x="378" y="76"/>
                    </a:lnTo>
                    <a:lnTo>
                      <a:pt x="251" y="94"/>
                    </a:lnTo>
                    <a:lnTo>
                      <a:pt x="90" y="54"/>
                    </a:lnTo>
                    <a:lnTo>
                      <a:pt x="18" y="0"/>
                    </a:lnTo>
                    <a:lnTo>
                      <a:pt x="18"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28" name="Freeform 12">
                <a:extLst>
                  <a:ext uri="{FF2B5EF4-FFF2-40B4-BE49-F238E27FC236}">
                    <a16:creationId xmlns:a16="http://schemas.microsoft.com/office/drawing/2014/main" id="{CF53A55E-E615-4CDB-A3CD-759B1FC40AFA}"/>
                  </a:ext>
                </a:extLst>
              </p:cNvPr>
              <p:cNvSpPr>
                <a:spLocks/>
              </p:cNvSpPr>
              <p:nvPr userDrawn="1"/>
            </p:nvSpPr>
            <p:spPr bwMode="ltGray">
              <a:xfrm>
                <a:off x="3628" y="3866"/>
                <a:ext cx="155" cy="74"/>
              </a:xfrm>
              <a:custGeom>
                <a:avLst/>
                <a:gdLst>
                  <a:gd name="T0" fmla="*/ 114 w 155"/>
                  <a:gd name="T1" fmla="*/ 0 h 66"/>
                  <a:gd name="T2" fmla="*/ 0 w 155"/>
                  <a:gd name="T3" fmla="*/ 0 h 66"/>
                  <a:gd name="T4" fmla="*/ 0 w 155"/>
                  <a:gd name="T5" fmla="*/ 0 h 66"/>
                  <a:gd name="T6" fmla="*/ 6 w 155"/>
                  <a:gd name="T7" fmla="*/ 6 h 66"/>
                  <a:gd name="T8" fmla="*/ 6 w 155"/>
                  <a:gd name="T9" fmla="*/ 18 h 66"/>
                  <a:gd name="T10" fmla="*/ 0 w 155"/>
                  <a:gd name="T11" fmla="*/ 24 h 66"/>
                  <a:gd name="T12" fmla="*/ 78 w 155"/>
                  <a:gd name="T13" fmla="*/ 60 h 66"/>
                  <a:gd name="T14" fmla="*/ 96 w 155"/>
                  <a:gd name="T15" fmla="*/ 42 h 66"/>
                  <a:gd name="T16" fmla="*/ 155 w 155"/>
                  <a:gd name="T17" fmla="*/ 66 h 66"/>
                  <a:gd name="T18" fmla="*/ 126 w 155"/>
                  <a:gd name="T19" fmla="*/ 24 h 66"/>
                  <a:gd name="T20" fmla="*/ 149 w 155"/>
                  <a:gd name="T21" fmla="*/ 0 h 66"/>
                  <a:gd name="T22" fmla="*/ 114 w 155"/>
                  <a:gd name="T23" fmla="*/ 0 h 66"/>
                  <a:gd name="T24" fmla="*/ 114 w 155"/>
                  <a:gd name="T25"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5" h="66">
                    <a:moveTo>
                      <a:pt x="114" y="0"/>
                    </a:moveTo>
                    <a:lnTo>
                      <a:pt x="0" y="0"/>
                    </a:lnTo>
                    <a:lnTo>
                      <a:pt x="0" y="0"/>
                    </a:lnTo>
                    <a:lnTo>
                      <a:pt x="6" y="6"/>
                    </a:lnTo>
                    <a:lnTo>
                      <a:pt x="6" y="18"/>
                    </a:lnTo>
                    <a:lnTo>
                      <a:pt x="0" y="24"/>
                    </a:lnTo>
                    <a:lnTo>
                      <a:pt x="78" y="60"/>
                    </a:lnTo>
                    <a:lnTo>
                      <a:pt x="96" y="42"/>
                    </a:lnTo>
                    <a:lnTo>
                      <a:pt x="155" y="66"/>
                    </a:lnTo>
                    <a:lnTo>
                      <a:pt x="126" y="24"/>
                    </a:lnTo>
                    <a:lnTo>
                      <a:pt x="149" y="0"/>
                    </a:lnTo>
                    <a:lnTo>
                      <a:pt x="114" y="0"/>
                    </a:lnTo>
                    <a:lnTo>
                      <a:pt x="11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29" name="Freeform 13">
                <a:extLst>
                  <a:ext uri="{FF2B5EF4-FFF2-40B4-BE49-F238E27FC236}">
                    <a16:creationId xmlns:a16="http://schemas.microsoft.com/office/drawing/2014/main" id="{1527BAF1-2DEB-BD03-B2C1-D8DBE7363916}"/>
                  </a:ext>
                </a:extLst>
              </p:cNvPr>
              <p:cNvSpPr>
                <a:spLocks/>
              </p:cNvSpPr>
              <p:nvPr userDrawn="1"/>
            </p:nvSpPr>
            <p:spPr bwMode="ltGray">
              <a:xfrm>
                <a:off x="2486" y="3859"/>
                <a:ext cx="42" cy="81"/>
              </a:xfrm>
              <a:custGeom>
                <a:avLst/>
                <a:gdLst>
                  <a:gd name="T0" fmla="*/ 6 w 42"/>
                  <a:gd name="T1" fmla="*/ 36 h 72"/>
                  <a:gd name="T2" fmla="*/ 0 w 42"/>
                  <a:gd name="T3" fmla="*/ 18 h 72"/>
                  <a:gd name="T4" fmla="*/ 12 w 42"/>
                  <a:gd name="T5" fmla="*/ 6 h 72"/>
                  <a:gd name="T6" fmla="*/ 0 w 42"/>
                  <a:gd name="T7" fmla="*/ 6 h 72"/>
                  <a:gd name="T8" fmla="*/ 12 w 42"/>
                  <a:gd name="T9" fmla="*/ 6 h 72"/>
                  <a:gd name="T10" fmla="*/ 24 w 42"/>
                  <a:gd name="T11" fmla="*/ 6 h 72"/>
                  <a:gd name="T12" fmla="*/ 36 w 42"/>
                  <a:gd name="T13" fmla="*/ 6 h 72"/>
                  <a:gd name="T14" fmla="*/ 42 w 42"/>
                  <a:gd name="T15" fmla="*/ 0 h 72"/>
                  <a:gd name="T16" fmla="*/ 30 w 42"/>
                  <a:gd name="T17" fmla="*/ 18 h 72"/>
                  <a:gd name="T18" fmla="*/ 42 w 42"/>
                  <a:gd name="T19" fmla="*/ 48 h 72"/>
                  <a:gd name="T20" fmla="*/ 12 w 42"/>
                  <a:gd name="T21" fmla="*/ 72 h 72"/>
                  <a:gd name="T22" fmla="*/ 6 w 42"/>
                  <a:gd name="T23" fmla="*/ 36 h 72"/>
                  <a:gd name="T24" fmla="*/ 6 w 42"/>
                  <a:gd name="T25" fmla="*/ 3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72">
                    <a:moveTo>
                      <a:pt x="6" y="36"/>
                    </a:moveTo>
                    <a:lnTo>
                      <a:pt x="0" y="18"/>
                    </a:lnTo>
                    <a:lnTo>
                      <a:pt x="12" y="6"/>
                    </a:lnTo>
                    <a:lnTo>
                      <a:pt x="0" y="6"/>
                    </a:lnTo>
                    <a:lnTo>
                      <a:pt x="12" y="6"/>
                    </a:lnTo>
                    <a:lnTo>
                      <a:pt x="24" y="6"/>
                    </a:lnTo>
                    <a:lnTo>
                      <a:pt x="36" y="6"/>
                    </a:lnTo>
                    <a:lnTo>
                      <a:pt x="42" y="0"/>
                    </a:lnTo>
                    <a:lnTo>
                      <a:pt x="30" y="18"/>
                    </a:lnTo>
                    <a:lnTo>
                      <a:pt x="42" y="48"/>
                    </a:lnTo>
                    <a:lnTo>
                      <a:pt x="12" y="72"/>
                    </a:lnTo>
                    <a:lnTo>
                      <a:pt x="6" y="36"/>
                    </a:lnTo>
                    <a:lnTo>
                      <a:pt x="6"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5230" name="Freeform 14">
              <a:extLst>
                <a:ext uri="{FF2B5EF4-FFF2-40B4-BE49-F238E27FC236}">
                  <a16:creationId xmlns:a16="http://schemas.microsoft.com/office/drawing/2014/main" id="{0F41C800-7ADB-4CAA-5733-D9563CACC9BB}"/>
                </a:ext>
              </a:extLst>
            </p:cNvPr>
            <p:cNvSpPr>
              <a:spLocks/>
            </p:cNvSpPr>
            <p:nvPr userDrawn="1"/>
          </p:nvSpPr>
          <p:spPr bwMode="ltGray">
            <a:xfrm>
              <a:off x="0" y="3792"/>
              <a:ext cx="3976" cy="535"/>
            </a:xfrm>
            <a:custGeom>
              <a:avLst/>
              <a:gdLst>
                <a:gd name="T0" fmla="*/ 3976 w 3976"/>
                <a:gd name="T1" fmla="*/ 527 h 527"/>
                <a:gd name="T2" fmla="*/ 3970 w 3976"/>
                <a:gd name="T3" fmla="*/ 527 h 527"/>
                <a:gd name="T4" fmla="*/ 3844 w 3976"/>
                <a:gd name="T5" fmla="*/ 509 h 527"/>
                <a:gd name="T6" fmla="*/ 2487 w 3976"/>
                <a:gd name="T7" fmla="*/ 305 h 527"/>
                <a:gd name="T8" fmla="*/ 2039 w 3976"/>
                <a:gd name="T9" fmla="*/ 36 h 527"/>
                <a:gd name="T10" fmla="*/ 1907 w 3976"/>
                <a:gd name="T11" fmla="*/ 24 h 527"/>
                <a:gd name="T12" fmla="*/ 1883 w 3976"/>
                <a:gd name="T13" fmla="*/ 54 h 527"/>
                <a:gd name="T14" fmla="*/ 1859 w 3976"/>
                <a:gd name="T15" fmla="*/ 54 h 527"/>
                <a:gd name="T16" fmla="*/ 1830 w 3976"/>
                <a:gd name="T17" fmla="*/ 30 h 527"/>
                <a:gd name="T18" fmla="*/ 1704 w 3976"/>
                <a:gd name="T19" fmla="*/ 102 h 527"/>
                <a:gd name="T20" fmla="*/ 1608 w 3976"/>
                <a:gd name="T21" fmla="*/ 126 h 527"/>
                <a:gd name="T22" fmla="*/ 1561 w 3976"/>
                <a:gd name="T23" fmla="*/ 132 h 527"/>
                <a:gd name="T24" fmla="*/ 1495 w 3976"/>
                <a:gd name="T25" fmla="*/ 102 h 527"/>
                <a:gd name="T26" fmla="*/ 1357 w 3976"/>
                <a:gd name="T27" fmla="*/ 126 h 527"/>
                <a:gd name="T28" fmla="*/ 1285 w 3976"/>
                <a:gd name="T29" fmla="*/ 24 h 527"/>
                <a:gd name="T30" fmla="*/ 1280 w 3976"/>
                <a:gd name="T31" fmla="*/ 18 h 527"/>
                <a:gd name="T32" fmla="*/ 1262 w 3976"/>
                <a:gd name="T33" fmla="*/ 12 h 527"/>
                <a:gd name="T34" fmla="*/ 1238 w 3976"/>
                <a:gd name="T35" fmla="*/ 6 h 527"/>
                <a:gd name="T36" fmla="*/ 1220 w 3976"/>
                <a:gd name="T37" fmla="*/ 0 h 527"/>
                <a:gd name="T38" fmla="*/ 1196 w 3976"/>
                <a:gd name="T39" fmla="*/ 0 h 527"/>
                <a:gd name="T40" fmla="*/ 1166 w 3976"/>
                <a:gd name="T41" fmla="*/ 0 h 527"/>
                <a:gd name="T42" fmla="*/ 1142 w 3976"/>
                <a:gd name="T43" fmla="*/ 0 h 527"/>
                <a:gd name="T44" fmla="*/ 1136 w 3976"/>
                <a:gd name="T45" fmla="*/ 0 h 527"/>
                <a:gd name="T46" fmla="*/ 1130 w 3976"/>
                <a:gd name="T47" fmla="*/ 0 h 527"/>
                <a:gd name="T48" fmla="*/ 1124 w 3976"/>
                <a:gd name="T49" fmla="*/ 6 h 527"/>
                <a:gd name="T50" fmla="*/ 1118 w 3976"/>
                <a:gd name="T51" fmla="*/ 12 h 527"/>
                <a:gd name="T52" fmla="*/ 1100 w 3976"/>
                <a:gd name="T53" fmla="*/ 18 h 527"/>
                <a:gd name="T54" fmla="*/ 1088 w 3976"/>
                <a:gd name="T55" fmla="*/ 18 h 527"/>
                <a:gd name="T56" fmla="*/ 1070 w 3976"/>
                <a:gd name="T57" fmla="*/ 24 h 527"/>
                <a:gd name="T58" fmla="*/ 1052 w 3976"/>
                <a:gd name="T59" fmla="*/ 30 h 527"/>
                <a:gd name="T60" fmla="*/ 1034 w 3976"/>
                <a:gd name="T61" fmla="*/ 36 h 527"/>
                <a:gd name="T62" fmla="*/ 1028 w 3976"/>
                <a:gd name="T63" fmla="*/ 42 h 527"/>
                <a:gd name="T64" fmla="*/ 969 w 3976"/>
                <a:gd name="T65" fmla="*/ 60 h 527"/>
                <a:gd name="T66" fmla="*/ 921 w 3976"/>
                <a:gd name="T67" fmla="*/ 72 h 527"/>
                <a:gd name="T68" fmla="*/ 855 w 3976"/>
                <a:gd name="T69" fmla="*/ 48 h 527"/>
                <a:gd name="T70" fmla="*/ 825 w 3976"/>
                <a:gd name="T71" fmla="*/ 48 h 527"/>
                <a:gd name="T72" fmla="*/ 759 w 3976"/>
                <a:gd name="T73" fmla="*/ 72 h 527"/>
                <a:gd name="T74" fmla="*/ 735 w 3976"/>
                <a:gd name="T75" fmla="*/ 72 h 527"/>
                <a:gd name="T76" fmla="*/ 706 w 3976"/>
                <a:gd name="T77" fmla="*/ 60 h 527"/>
                <a:gd name="T78" fmla="*/ 640 w 3976"/>
                <a:gd name="T79" fmla="*/ 60 h 527"/>
                <a:gd name="T80" fmla="*/ 544 w 3976"/>
                <a:gd name="T81" fmla="*/ 72 h 527"/>
                <a:gd name="T82" fmla="*/ 389 w 3976"/>
                <a:gd name="T83" fmla="*/ 18 h 527"/>
                <a:gd name="T84" fmla="*/ 323 w 3976"/>
                <a:gd name="T85" fmla="*/ 60 h 527"/>
                <a:gd name="T86" fmla="*/ 317 w 3976"/>
                <a:gd name="T87" fmla="*/ 60 h 527"/>
                <a:gd name="T88" fmla="*/ 305 w 3976"/>
                <a:gd name="T89" fmla="*/ 72 h 527"/>
                <a:gd name="T90" fmla="*/ 287 w 3976"/>
                <a:gd name="T91" fmla="*/ 78 h 527"/>
                <a:gd name="T92" fmla="*/ 263 w 3976"/>
                <a:gd name="T93" fmla="*/ 90 h 527"/>
                <a:gd name="T94" fmla="*/ 203 w 3976"/>
                <a:gd name="T95" fmla="*/ 120 h 527"/>
                <a:gd name="T96" fmla="*/ 149 w 3976"/>
                <a:gd name="T97" fmla="*/ 150 h 527"/>
                <a:gd name="T98" fmla="*/ 78 w 3976"/>
                <a:gd name="T99" fmla="*/ 168 h 527"/>
                <a:gd name="T100" fmla="*/ 0 w 3976"/>
                <a:gd name="T101" fmla="*/ 180 h 527"/>
                <a:gd name="T102" fmla="*/ 0 w 3976"/>
                <a:gd name="T103" fmla="*/ 527 h 527"/>
                <a:gd name="T104" fmla="*/ 1010 w 3976"/>
                <a:gd name="T105" fmla="*/ 527 h 527"/>
                <a:gd name="T106" fmla="*/ 3725 w 3976"/>
                <a:gd name="T107" fmla="*/ 527 h 527"/>
                <a:gd name="T108" fmla="*/ 3976 w 3976"/>
                <a:gd name="T109" fmla="*/ 527 h 527"/>
                <a:gd name="T110" fmla="*/ 3976 w 3976"/>
                <a:gd name="T111" fmla="*/ 52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76" h="527">
                  <a:moveTo>
                    <a:pt x="3976" y="527"/>
                  </a:moveTo>
                  <a:lnTo>
                    <a:pt x="3970" y="527"/>
                  </a:lnTo>
                  <a:lnTo>
                    <a:pt x="3844" y="509"/>
                  </a:lnTo>
                  <a:lnTo>
                    <a:pt x="2487" y="305"/>
                  </a:lnTo>
                  <a:lnTo>
                    <a:pt x="2039" y="36"/>
                  </a:lnTo>
                  <a:lnTo>
                    <a:pt x="1907" y="24"/>
                  </a:lnTo>
                  <a:lnTo>
                    <a:pt x="1883" y="54"/>
                  </a:lnTo>
                  <a:lnTo>
                    <a:pt x="1859" y="54"/>
                  </a:lnTo>
                  <a:lnTo>
                    <a:pt x="1830" y="30"/>
                  </a:lnTo>
                  <a:lnTo>
                    <a:pt x="1704" y="102"/>
                  </a:lnTo>
                  <a:lnTo>
                    <a:pt x="1608" y="126"/>
                  </a:lnTo>
                  <a:lnTo>
                    <a:pt x="1561" y="132"/>
                  </a:lnTo>
                  <a:lnTo>
                    <a:pt x="1495" y="102"/>
                  </a:lnTo>
                  <a:lnTo>
                    <a:pt x="1357" y="126"/>
                  </a:lnTo>
                  <a:lnTo>
                    <a:pt x="1285" y="24"/>
                  </a:lnTo>
                  <a:lnTo>
                    <a:pt x="1280" y="18"/>
                  </a:lnTo>
                  <a:lnTo>
                    <a:pt x="1262" y="12"/>
                  </a:lnTo>
                  <a:lnTo>
                    <a:pt x="1238" y="6"/>
                  </a:lnTo>
                  <a:lnTo>
                    <a:pt x="1220" y="0"/>
                  </a:lnTo>
                  <a:lnTo>
                    <a:pt x="1196" y="0"/>
                  </a:lnTo>
                  <a:lnTo>
                    <a:pt x="1166" y="0"/>
                  </a:lnTo>
                  <a:lnTo>
                    <a:pt x="1142" y="0"/>
                  </a:lnTo>
                  <a:lnTo>
                    <a:pt x="1136" y="0"/>
                  </a:lnTo>
                  <a:lnTo>
                    <a:pt x="1130" y="0"/>
                  </a:lnTo>
                  <a:lnTo>
                    <a:pt x="1124" y="6"/>
                  </a:lnTo>
                  <a:lnTo>
                    <a:pt x="1118" y="12"/>
                  </a:lnTo>
                  <a:lnTo>
                    <a:pt x="1100" y="18"/>
                  </a:lnTo>
                  <a:lnTo>
                    <a:pt x="1088" y="18"/>
                  </a:lnTo>
                  <a:lnTo>
                    <a:pt x="1070" y="24"/>
                  </a:lnTo>
                  <a:lnTo>
                    <a:pt x="1052" y="30"/>
                  </a:lnTo>
                  <a:lnTo>
                    <a:pt x="1034" y="36"/>
                  </a:lnTo>
                  <a:lnTo>
                    <a:pt x="1028" y="42"/>
                  </a:lnTo>
                  <a:lnTo>
                    <a:pt x="969" y="60"/>
                  </a:lnTo>
                  <a:lnTo>
                    <a:pt x="921" y="72"/>
                  </a:lnTo>
                  <a:lnTo>
                    <a:pt x="855" y="48"/>
                  </a:lnTo>
                  <a:lnTo>
                    <a:pt x="825" y="48"/>
                  </a:lnTo>
                  <a:lnTo>
                    <a:pt x="759" y="72"/>
                  </a:lnTo>
                  <a:lnTo>
                    <a:pt x="735" y="72"/>
                  </a:lnTo>
                  <a:lnTo>
                    <a:pt x="706" y="60"/>
                  </a:lnTo>
                  <a:lnTo>
                    <a:pt x="640" y="60"/>
                  </a:lnTo>
                  <a:lnTo>
                    <a:pt x="544" y="72"/>
                  </a:lnTo>
                  <a:lnTo>
                    <a:pt x="389" y="18"/>
                  </a:lnTo>
                  <a:lnTo>
                    <a:pt x="323" y="60"/>
                  </a:lnTo>
                  <a:lnTo>
                    <a:pt x="317" y="60"/>
                  </a:lnTo>
                  <a:lnTo>
                    <a:pt x="305" y="72"/>
                  </a:lnTo>
                  <a:lnTo>
                    <a:pt x="287" y="78"/>
                  </a:lnTo>
                  <a:lnTo>
                    <a:pt x="263" y="90"/>
                  </a:lnTo>
                  <a:lnTo>
                    <a:pt x="203" y="120"/>
                  </a:lnTo>
                  <a:lnTo>
                    <a:pt x="149" y="150"/>
                  </a:lnTo>
                  <a:lnTo>
                    <a:pt x="78" y="168"/>
                  </a:lnTo>
                  <a:lnTo>
                    <a:pt x="0" y="180"/>
                  </a:lnTo>
                  <a:lnTo>
                    <a:pt x="0" y="527"/>
                  </a:lnTo>
                  <a:lnTo>
                    <a:pt x="1010" y="527"/>
                  </a:lnTo>
                  <a:lnTo>
                    <a:pt x="3725" y="527"/>
                  </a:lnTo>
                  <a:lnTo>
                    <a:pt x="3976" y="527"/>
                  </a:lnTo>
                  <a:lnTo>
                    <a:pt x="3976" y="527"/>
                  </a:lnTo>
                  <a:close/>
                </a:path>
              </a:pathLst>
            </a:custGeom>
            <a:gradFill rotWithShape="0">
              <a:gsLst>
                <a:gs pos="0">
                  <a:schemeClr val="bg2">
                    <a:gamma/>
                    <a:tint val="75686"/>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5231" name="Group 15">
            <a:extLst>
              <a:ext uri="{FF2B5EF4-FFF2-40B4-BE49-F238E27FC236}">
                <a16:creationId xmlns:a16="http://schemas.microsoft.com/office/drawing/2014/main" id="{D0608C26-FF36-807B-B2D4-76199997FA80}"/>
              </a:ext>
            </a:extLst>
          </p:cNvPr>
          <p:cNvGrpSpPr>
            <a:grpSpLocks/>
          </p:cNvGrpSpPr>
          <p:nvPr/>
        </p:nvGrpSpPr>
        <p:grpSpPr bwMode="auto">
          <a:xfrm>
            <a:off x="627063" y="6021388"/>
            <a:ext cx="5684837" cy="849312"/>
            <a:chOff x="395" y="3793"/>
            <a:chExt cx="3581" cy="535"/>
          </a:xfrm>
        </p:grpSpPr>
        <p:sp>
          <p:nvSpPr>
            <p:cNvPr id="265232" name="Freeform 16">
              <a:extLst>
                <a:ext uri="{FF2B5EF4-FFF2-40B4-BE49-F238E27FC236}">
                  <a16:creationId xmlns:a16="http://schemas.microsoft.com/office/drawing/2014/main" id="{11162278-714E-4F95-BDCC-A371CF9B93BD}"/>
                </a:ext>
              </a:extLst>
            </p:cNvPr>
            <p:cNvSpPr>
              <a:spLocks/>
            </p:cNvSpPr>
            <p:nvPr userDrawn="1"/>
          </p:nvSpPr>
          <p:spPr bwMode="auto">
            <a:xfrm>
              <a:off x="1196" y="3793"/>
              <a:ext cx="365" cy="291"/>
            </a:xfrm>
            <a:custGeom>
              <a:avLst/>
              <a:gdLst>
                <a:gd name="T0" fmla="*/ 24 w 365"/>
                <a:gd name="T1" fmla="*/ 24 h 287"/>
                <a:gd name="T2" fmla="*/ 0 w 365"/>
                <a:gd name="T3" fmla="*/ 60 h 287"/>
                <a:gd name="T4" fmla="*/ 66 w 365"/>
                <a:gd name="T5" fmla="*/ 108 h 287"/>
                <a:gd name="T6" fmla="*/ 143 w 365"/>
                <a:gd name="T7" fmla="*/ 180 h 287"/>
                <a:gd name="T8" fmla="*/ 191 w 365"/>
                <a:gd name="T9" fmla="*/ 168 h 287"/>
                <a:gd name="T10" fmla="*/ 341 w 365"/>
                <a:gd name="T11" fmla="*/ 287 h 287"/>
                <a:gd name="T12" fmla="*/ 305 w 365"/>
                <a:gd name="T13" fmla="*/ 174 h 287"/>
                <a:gd name="T14" fmla="*/ 365 w 365"/>
                <a:gd name="T15" fmla="*/ 132 h 287"/>
                <a:gd name="T16" fmla="*/ 359 w 365"/>
                <a:gd name="T17" fmla="*/ 126 h 287"/>
                <a:gd name="T18" fmla="*/ 335 w 365"/>
                <a:gd name="T19" fmla="*/ 114 h 287"/>
                <a:gd name="T20" fmla="*/ 299 w 365"/>
                <a:gd name="T21" fmla="*/ 90 h 287"/>
                <a:gd name="T22" fmla="*/ 257 w 365"/>
                <a:gd name="T23" fmla="*/ 72 h 287"/>
                <a:gd name="T24" fmla="*/ 215 w 365"/>
                <a:gd name="T25" fmla="*/ 54 h 287"/>
                <a:gd name="T26" fmla="*/ 173 w 365"/>
                <a:gd name="T27" fmla="*/ 36 h 287"/>
                <a:gd name="T28" fmla="*/ 143 w 365"/>
                <a:gd name="T29" fmla="*/ 24 h 287"/>
                <a:gd name="T30" fmla="*/ 131 w 365"/>
                <a:gd name="T31" fmla="*/ 18 h 287"/>
                <a:gd name="T32" fmla="*/ 107 w 365"/>
                <a:gd name="T33" fmla="*/ 18 h 287"/>
                <a:gd name="T34" fmla="*/ 95 w 365"/>
                <a:gd name="T35" fmla="*/ 18 h 287"/>
                <a:gd name="T36" fmla="*/ 72 w 365"/>
                <a:gd name="T37" fmla="*/ 12 h 287"/>
                <a:gd name="T38" fmla="*/ 66 w 365"/>
                <a:gd name="T39" fmla="*/ 12 h 287"/>
                <a:gd name="T40" fmla="*/ 54 w 365"/>
                <a:gd name="T41" fmla="*/ 6 h 287"/>
                <a:gd name="T42" fmla="*/ 42 w 365"/>
                <a:gd name="T43" fmla="*/ 0 h 287"/>
                <a:gd name="T44" fmla="*/ 30 w 365"/>
                <a:gd name="T45" fmla="*/ 0 h 287"/>
                <a:gd name="T46" fmla="*/ 24 w 365"/>
                <a:gd name="T47" fmla="*/ 24 h 287"/>
                <a:gd name="T48" fmla="*/ 24 w 365"/>
                <a:gd name="T49" fmla="*/ 2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5" h="287">
                  <a:moveTo>
                    <a:pt x="24" y="24"/>
                  </a:moveTo>
                  <a:lnTo>
                    <a:pt x="0" y="60"/>
                  </a:lnTo>
                  <a:lnTo>
                    <a:pt x="66" y="108"/>
                  </a:lnTo>
                  <a:lnTo>
                    <a:pt x="143" y="180"/>
                  </a:lnTo>
                  <a:lnTo>
                    <a:pt x="191" y="168"/>
                  </a:lnTo>
                  <a:lnTo>
                    <a:pt x="341" y="287"/>
                  </a:lnTo>
                  <a:lnTo>
                    <a:pt x="305" y="174"/>
                  </a:lnTo>
                  <a:lnTo>
                    <a:pt x="365" y="132"/>
                  </a:lnTo>
                  <a:lnTo>
                    <a:pt x="359" y="126"/>
                  </a:lnTo>
                  <a:lnTo>
                    <a:pt x="335" y="114"/>
                  </a:lnTo>
                  <a:lnTo>
                    <a:pt x="299" y="90"/>
                  </a:lnTo>
                  <a:lnTo>
                    <a:pt x="257" y="72"/>
                  </a:lnTo>
                  <a:lnTo>
                    <a:pt x="215" y="54"/>
                  </a:lnTo>
                  <a:lnTo>
                    <a:pt x="173" y="36"/>
                  </a:lnTo>
                  <a:lnTo>
                    <a:pt x="143" y="24"/>
                  </a:lnTo>
                  <a:lnTo>
                    <a:pt x="131" y="18"/>
                  </a:lnTo>
                  <a:lnTo>
                    <a:pt x="107" y="18"/>
                  </a:lnTo>
                  <a:lnTo>
                    <a:pt x="95" y="18"/>
                  </a:lnTo>
                  <a:lnTo>
                    <a:pt x="72" y="12"/>
                  </a:lnTo>
                  <a:lnTo>
                    <a:pt x="66" y="12"/>
                  </a:lnTo>
                  <a:lnTo>
                    <a:pt x="54" y="6"/>
                  </a:lnTo>
                  <a:lnTo>
                    <a:pt x="42" y="0"/>
                  </a:lnTo>
                  <a:lnTo>
                    <a:pt x="30" y="0"/>
                  </a:lnTo>
                  <a:lnTo>
                    <a:pt x="24" y="24"/>
                  </a:lnTo>
                  <a:lnTo>
                    <a:pt x="24" y="2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33" name="Freeform 17">
              <a:extLst>
                <a:ext uri="{FF2B5EF4-FFF2-40B4-BE49-F238E27FC236}">
                  <a16:creationId xmlns:a16="http://schemas.microsoft.com/office/drawing/2014/main" id="{5BEABF62-015C-9253-9E9F-80A3E57554F3}"/>
                </a:ext>
              </a:extLst>
            </p:cNvPr>
            <p:cNvSpPr>
              <a:spLocks/>
            </p:cNvSpPr>
            <p:nvPr userDrawn="1"/>
          </p:nvSpPr>
          <p:spPr bwMode="auto">
            <a:xfrm>
              <a:off x="1943" y="3829"/>
              <a:ext cx="2033" cy="499"/>
            </a:xfrm>
            <a:custGeom>
              <a:avLst/>
              <a:gdLst>
                <a:gd name="T0" fmla="*/ 186 w 2033"/>
                <a:gd name="T1" fmla="*/ 18 h 499"/>
                <a:gd name="T2" fmla="*/ 138 w 2033"/>
                <a:gd name="T3" fmla="*/ 6 h 499"/>
                <a:gd name="T4" fmla="*/ 96 w 2033"/>
                <a:gd name="T5" fmla="*/ 0 h 499"/>
                <a:gd name="T6" fmla="*/ 36 w 2033"/>
                <a:gd name="T7" fmla="*/ 0 h 499"/>
                <a:gd name="T8" fmla="*/ 12 w 2033"/>
                <a:gd name="T9" fmla="*/ 25 h 499"/>
                <a:gd name="T10" fmla="*/ 0 w 2033"/>
                <a:gd name="T11" fmla="*/ 128 h 499"/>
                <a:gd name="T12" fmla="*/ 60 w 2033"/>
                <a:gd name="T13" fmla="*/ 104 h 499"/>
                <a:gd name="T14" fmla="*/ 90 w 2033"/>
                <a:gd name="T15" fmla="*/ 134 h 499"/>
                <a:gd name="T16" fmla="*/ 150 w 2033"/>
                <a:gd name="T17" fmla="*/ 153 h 499"/>
                <a:gd name="T18" fmla="*/ 209 w 2033"/>
                <a:gd name="T19" fmla="*/ 273 h 499"/>
                <a:gd name="T20" fmla="*/ 401 w 2033"/>
                <a:gd name="T21" fmla="*/ 359 h 499"/>
                <a:gd name="T22" fmla="*/ 777 w 2033"/>
                <a:gd name="T23" fmla="*/ 359 h 499"/>
                <a:gd name="T24" fmla="*/ 2033 w 2033"/>
                <a:gd name="T25" fmla="*/ 499 h 499"/>
                <a:gd name="T26" fmla="*/ 2033 w 2033"/>
                <a:gd name="T27" fmla="*/ 499 h 499"/>
                <a:gd name="T28" fmla="*/ 1991 w 2033"/>
                <a:gd name="T29" fmla="*/ 493 h 499"/>
                <a:gd name="T30" fmla="*/ 676 w 2033"/>
                <a:gd name="T31" fmla="*/ 243 h 499"/>
                <a:gd name="T32" fmla="*/ 514 w 2033"/>
                <a:gd name="T33" fmla="*/ 159 h 499"/>
                <a:gd name="T34" fmla="*/ 425 w 2033"/>
                <a:gd name="T35" fmla="*/ 110 h 499"/>
                <a:gd name="T36" fmla="*/ 365 w 2033"/>
                <a:gd name="T37" fmla="*/ 92 h 499"/>
                <a:gd name="T38" fmla="*/ 281 w 2033"/>
                <a:gd name="T39" fmla="*/ 61 h 499"/>
                <a:gd name="T40" fmla="*/ 186 w 2033"/>
                <a:gd name="T41" fmla="*/ 18 h 499"/>
                <a:gd name="T42" fmla="*/ 186 w 2033"/>
                <a:gd name="T43" fmla="*/ 18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33" h="499">
                  <a:moveTo>
                    <a:pt x="186" y="18"/>
                  </a:moveTo>
                  <a:lnTo>
                    <a:pt x="138" y="6"/>
                  </a:lnTo>
                  <a:lnTo>
                    <a:pt x="96" y="0"/>
                  </a:lnTo>
                  <a:lnTo>
                    <a:pt x="36" y="0"/>
                  </a:lnTo>
                  <a:lnTo>
                    <a:pt x="12" y="25"/>
                  </a:lnTo>
                  <a:lnTo>
                    <a:pt x="0" y="128"/>
                  </a:lnTo>
                  <a:lnTo>
                    <a:pt x="60" y="104"/>
                  </a:lnTo>
                  <a:lnTo>
                    <a:pt x="90" y="134"/>
                  </a:lnTo>
                  <a:lnTo>
                    <a:pt x="150" y="153"/>
                  </a:lnTo>
                  <a:lnTo>
                    <a:pt x="209" y="273"/>
                  </a:lnTo>
                  <a:lnTo>
                    <a:pt x="401" y="359"/>
                  </a:lnTo>
                  <a:lnTo>
                    <a:pt x="777" y="359"/>
                  </a:lnTo>
                  <a:lnTo>
                    <a:pt x="2033" y="499"/>
                  </a:lnTo>
                  <a:lnTo>
                    <a:pt x="2033" y="499"/>
                  </a:lnTo>
                  <a:lnTo>
                    <a:pt x="1991" y="493"/>
                  </a:lnTo>
                  <a:lnTo>
                    <a:pt x="676" y="243"/>
                  </a:lnTo>
                  <a:lnTo>
                    <a:pt x="514" y="159"/>
                  </a:lnTo>
                  <a:lnTo>
                    <a:pt x="425" y="110"/>
                  </a:lnTo>
                  <a:lnTo>
                    <a:pt x="365" y="92"/>
                  </a:lnTo>
                  <a:lnTo>
                    <a:pt x="281" y="61"/>
                  </a:lnTo>
                  <a:lnTo>
                    <a:pt x="186" y="18"/>
                  </a:lnTo>
                  <a:lnTo>
                    <a:pt x="186"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34" name="Freeform 18">
              <a:extLst>
                <a:ext uri="{FF2B5EF4-FFF2-40B4-BE49-F238E27FC236}">
                  <a16:creationId xmlns:a16="http://schemas.microsoft.com/office/drawing/2014/main" id="{4CE885E1-0DEE-3F7F-9FC8-04B77D7492FE}"/>
                </a:ext>
              </a:extLst>
            </p:cNvPr>
            <p:cNvSpPr>
              <a:spLocks/>
            </p:cNvSpPr>
            <p:nvPr userDrawn="1"/>
          </p:nvSpPr>
          <p:spPr bwMode="auto">
            <a:xfrm>
              <a:off x="1830" y="3823"/>
              <a:ext cx="71" cy="61"/>
            </a:xfrm>
            <a:custGeom>
              <a:avLst/>
              <a:gdLst>
                <a:gd name="T0" fmla="*/ 0 w 71"/>
                <a:gd name="T1" fmla="*/ 18 h 60"/>
                <a:gd name="T2" fmla="*/ 6 w 71"/>
                <a:gd name="T3" fmla="*/ 18 h 60"/>
                <a:gd name="T4" fmla="*/ 12 w 71"/>
                <a:gd name="T5" fmla="*/ 12 h 60"/>
                <a:gd name="T6" fmla="*/ 6 w 71"/>
                <a:gd name="T7" fmla="*/ 6 h 60"/>
                <a:gd name="T8" fmla="*/ 0 w 71"/>
                <a:gd name="T9" fmla="*/ 0 h 60"/>
                <a:gd name="T10" fmla="*/ 29 w 71"/>
                <a:gd name="T11" fmla="*/ 18 h 60"/>
                <a:gd name="T12" fmla="*/ 53 w 71"/>
                <a:gd name="T13" fmla="*/ 18 h 60"/>
                <a:gd name="T14" fmla="*/ 59 w 71"/>
                <a:gd name="T15" fmla="*/ 30 h 60"/>
                <a:gd name="T16" fmla="*/ 65 w 71"/>
                <a:gd name="T17" fmla="*/ 42 h 60"/>
                <a:gd name="T18" fmla="*/ 71 w 71"/>
                <a:gd name="T19" fmla="*/ 54 h 60"/>
                <a:gd name="T20" fmla="*/ 71 w 71"/>
                <a:gd name="T21" fmla="*/ 60 h 60"/>
                <a:gd name="T22" fmla="*/ 59 w 71"/>
                <a:gd name="T23" fmla="*/ 54 h 60"/>
                <a:gd name="T24" fmla="*/ 47 w 71"/>
                <a:gd name="T25" fmla="*/ 42 h 60"/>
                <a:gd name="T26" fmla="*/ 23 w 71"/>
                <a:gd name="T27" fmla="*/ 30 h 60"/>
                <a:gd name="T28" fmla="*/ 23 w 71"/>
                <a:gd name="T29" fmla="*/ 36 h 60"/>
                <a:gd name="T30" fmla="*/ 18 w 71"/>
                <a:gd name="T31" fmla="*/ 42 h 60"/>
                <a:gd name="T32" fmla="*/ 12 w 71"/>
                <a:gd name="T33" fmla="*/ 48 h 60"/>
                <a:gd name="T34" fmla="*/ 6 w 71"/>
                <a:gd name="T35" fmla="*/ 48 h 60"/>
                <a:gd name="T36" fmla="*/ 6 w 71"/>
                <a:gd name="T37" fmla="*/ 48 h 60"/>
                <a:gd name="T38" fmla="*/ 6 w 71"/>
                <a:gd name="T39" fmla="*/ 36 h 60"/>
                <a:gd name="T40" fmla="*/ 0 w 71"/>
                <a:gd name="T41" fmla="*/ 18 h 60"/>
                <a:gd name="T42" fmla="*/ 0 w 71"/>
                <a:gd name="T43" fmla="*/ 1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1" h="60">
                  <a:moveTo>
                    <a:pt x="0" y="18"/>
                  </a:moveTo>
                  <a:lnTo>
                    <a:pt x="6" y="18"/>
                  </a:lnTo>
                  <a:lnTo>
                    <a:pt x="12" y="12"/>
                  </a:lnTo>
                  <a:lnTo>
                    <a:pt x="6" y="6"/>
                  </a:lnTo>
                  <a:lnTo>
                    <a:pt x="0" y="0"/>
                  </a:lnTo>
                  <a:lnTo>
                    <a:pt x="29" y="18"/>
                  </a:lnTo>
                  <a:lnTo>
                    <a:pt x="53" y="18"/>
                  </a:lnTo>
                  <a:lnTo>
                    <a:pt x="59" y="30"/>
                  </a:lnTo>
                  <a:lnTo>
                    <a:pt x="65" y="42"/>
                  </a:lnTo>
                  <a:lnTo>
                    <a:pt x="71" y="54"/>
                  </a:lnTo>
                  <a:lnTo>
                    <a:pt x="71" y="60"/>
                  </a:lnTo>
                  <a:lnTo>
                    <a:pt x="59" y="54"/>
                  </a:lnTo>
                  <a:lnTo>
                    <a:pt x="47" y="42"/>
                  </a:lnTo>
                  <a:lnTo>
                    <a:pt x="23" y="30"/>
                  </a:lnTo>
                  <a:lnTo>
                    <a:pt x="23" y="36"/>
                  </a:lnTo>
                  <a:lnTo>
                    <a:pt x="18" y="42"/>
                  </a:lnTo>
                  <a:lnTo>
                    <a:pt x="12" y="48"/>
                  </a:lnTo>
                  <a:lnTo>
                    <a:pt x="6" y="48"/>
                  </a:lnTo>
                  <a:lnTo>
                    <a:pt x="6" y="48"/>
                  </a:lnTo>
                  <a:lnTo>
                    <a:pt x="6" y="36"/>
                  </a:lnTo>
                  <a:lnTo>
                    <a:pt x="0" y="18"/>
                  </a:lnTo>
                  <a:lnTo>
                    <a:pt x="0"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35" name="Freeform 19">
              <a:extLst>
                <a:ext uri="{FF2B5EF4-FFF2-40B4-BE49-F238E27FC236}">
                  <a16:creationId xmlns:a16="http://schemas.microsoft.com/office/drawing/2014/main" id="{B2FC812E-7CF8-7765-0ACB-C2731B14048B}"/>
                </a:ext>
              </a:extLst>
            </p:cNvPr>
            <p:cNvSpPr>
              <a:spLocks/>
            </p:cNvSpPr>
            <p:nvPr userDrawn="1"/>
          </p:nvSpPr>
          <p:spPr bwMode="auto">
            <a:xfrm>
              <a:off x="855" y="3842"/>
              <a:ext cx="161" cy="164"/>
            </a:xfrm>
            <a:custGeom>
              <a:avLst/>
              <a:gdLst>
                <a:gd name="T0" fmla="*/ 30 w 161"/>
                <a:gd name="T1" fmla="*/ 0 h 162"/>
                <a:gd name="T2" fmla="*/ 48 w 161"/>
                <a:gd name="T3" fmla="*/ 6 h 162"/>
                <a:gd name="T4" fmla="*/ 72 w 161"/>
                <a:gd name="T5" fmla="*/ 6 h 162"/>
                <a:gd name="T6" fmla="*/ 114 w 161"/>
                <a:gd name="T7" fmla="*/ 12 h 162"/>
                <a:gd name="T8" fmla="*/ 96 w 161"/>
                <a:gd name="T9" fmla="*/ 54 h 162"/>
                <a:gd name="T10" fmla="*/ 96 w 161"/>
                <a:gd name="T11" fmla="*/ 60 h 162"/>
                <a:gd name="T12" fmla="*/ 102 w 161"/>
                <a:gd name="T13" fmla="*/ 72 h 162"/>
                <a:gd name="T14" fmla="*/ 108 w 161"/>
                <a:gd name="T15" fmla="*/ 84 h 162"/>
                <a:gd name="T16" fmla="*/ 120 w 161"/>
                <a:gd name="T17" fmla="*/ 96 h 162"/>
                <a:gd name="T18" fmla="*/ 143 w 161"/>
                <a:gd name="T19" fmla="*/ 114 h 162"/>
                <a:gd name="T20" fmla="*/ 155 w 161"/>
                <a:gd name="T21" fmla="*/ 138 h 162"/>
                <a:gd name="T22" fmla="*/ 161 w 161"/>
                <a:gd name="T23" fmla="*/ 156 h 162"/>
                <a:gd name="T24" fmla="*/ 161 w 161"/>
                <a:gd name="T25" fmla="*/ 162 h 162"/>
                <a:gd name="T26" fmla="*/ 96 w 161"/>
                <a:gd name="T27" fmla="*/ 102 h 162"/>
                <a:gd name="T28" fmla="*/ 30 w 161"/>
                <a:gd name="T29" fmla="*/ 54 h 162"/>
                <a:gd name="T30" fmla="*/ 0 w 161"/>
                <a:gd name="T31" fmla="*/ 0 h 162"/>
                <a:gd name="T32" fmla="*/ 30 w 161"/>
                <a:gd name="T33" fmla="*/ 0 h 162"/>
                <a:gd name="T34" fmla="*/ 30 w 161"/>
                <a:gd name="T35"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162">
                  <a:moveTo>
                    <a:pt x="30" y="0"/>
                  </a:moveTo>
                  <a:lnTo>
                    <a:pt x="48" y="6"/>
                  </a:lnTo>
                  <a:lnTo>
                    <a:pt x="72" y="6"/>
                  </a:lnTo>
                  <a:lnTo>
                    <a:pt x="114" y="12"/>
                  </a:lnTo>
                  <a:lnTo>
                    <a:pt x="96" y="54"/>
                  </a:lnTo>
                  <a:lnTo>
                    <a:pt x="96" y="60"/>
                  </a:lnTo>
                  <a:lnTo>
                    <a:pt x="102" y="72"/>
                  </a:lnTo>
                  <a:lnTo>
                    <a:pt x="108" y="84"/>
                  </a:lnTo>
                  <a:lnTo>
                    <a:pt x="120" y="96"/>
                  </a:lnTo>
                  <a:lnTo>
                    <a:pt x="143" y="114"/>
                  </a:lnTo>
                  <a:lnTo>
                    <a:pt x="155" y="138"/>
                  </a:lnTo>
                  <a:lnTo>
                    <a:pt x="161" y="156"/>
                  </a:lnTo>
                  <a:lnTo>
                    <a:pt x="161" y="162"/>
                  </a:lnTo>
                  <a:lnTo>
                    <a:pt x="96" y="102"/>
                  </a:lnTo>
                  <a:lnTo>
                    <a:pt x="30" y="54"/>
                  </a:lnTo>
                  <a:lnTo>
                    <a:pt x="0" y="0"/>
                  </a:lnTo>
                  <a:lnTo>
                    <a:pt x="30" y="0"/>
                  </a:lnTo>
                  <a:lnTo>
                    <a:pt x="3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36" name="Freeform 20">
              <a:extLst>
                <a:ext uri="{FF2B5EF4-FFF2-40B4-BE49-F238E27FC236}">
                  <a16:creationId xmlns:a16="http://schemas.microsoft.com/office/drawing/2014/main" id="{A7777089-8344-C94E-6EBA-C024CB120BA0}"/>
                </a:ext>
              </a:extLst>
            </p:cNvPr>
            <p:cNvSpPr>
              <a:spLocks/>
            </p:cNvSpPr>
            <p:nvPr userDrawn="1"/>
          </p:nvSpPr>
          <p:spPr bwMode="auto">
            <a:xfrm>
              <a:off x="706" y="3854"/>
              <a:ext cx="59" cy="61"/>
            </a:xfrm>
            <a:custGeom>
              <a:avLst/>
              <a:gdLst>
                <a:gd name="T0" fmla="*/ 59 w 59"/>
                <a:gd name="T1" fmla="*/ 6 h 60"/>
                <a:gd name="T2" fmla="*/ 41 w 59"/>
                <a:gd name="T3" fmla="*/ 30 h 60"/>
                <a:gd name="T4" fmla="*/ 41 w 59"/>
                <a:gd name="T5" fmla="*/ 36 h 60"/>
                <a:gd name="T6" fmla="*/ 47 w 59"/>
                <a:gd name="T7" fmla="*/ 42 h 60"/>
                <a:gd name="T8" fmla="*/ 53 w 59"/>
                <a:gd name="T9" fmla="*/ 54 h 60"/>
                <a:gd name="T10" fmla="*/ 53 w 59"/>
                <a:gd name="T11" fmla="*/ 60 h 60"/>
                <a:gd name="T12" fmla="*/ 47 w 59"/>
                <a:gd name="T13" fmla="*/ 54 h 60"/>
                <a:gd name="T14" fmla="*/ 35 w 59"/>
                <a:gd name="T15" fmla="*/ 48 h 60"/>
                <a:gd name="T16" fmla="*/ 23 w 59"/>
                <a:gd name="T17" fmla="*/ 36 h 60"/>
                <a:gd name="T18" fmla="*/ 17 w 59"/>
                <a:gd name="T19" fmla="*/ 30 h 60"/>
                <a:gd name="T20" fmla="*/ 0 w 59"/>
                <a:gd name="T21" fmla="*/ 0 h 60"/>
                <a:gd name="T22" fmla="*/ 59 w 59"/>
                <a:gd name="T23" fmla="*/ 6 h 60"/>
                <a:gd name="T24" fmla="*/ 59 w 59"/>
                <a:gd name="T25" fmla="*/ 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60">
                  <a:moveTo>
                    <a:pt x="59" y="6"/>
                  </a:moveTo>
                  <a:lnTo>
                    <a:pt x="41" y="30"/>
                  </a:lnTo>
                  <a:lnTo>
                    <a:pt x="41" y="36"/>
                  </a:lnTo>
                  <a:lnTo>
                    <a:pt x="47" y="42"/>
                  </a:lnTo>
                  <a:lnTo>
                    <a:pt x="53" y="54"/>
                  </a:lnTo>
                  <a:lnTo>
                    <a:pt x="53" y="60"/>
                  </a:lnTo>
                  <a:lnTo>
                    <a:pt x="47" y="54"/>
                  </a:lnTo>
                  <a:lnTo>
                    <a:pt x="35" y="48"/>
                  </a:lnTo>
                  <a:lnTo>
                    <a:pt x="23" y="36"/>
                  </a:lnTo>
                  <a:lnTo>
                    <a:pt x="17" y="30"/>
                  </a:lnTo>
                  <a:lnTo>
                    <a:pt x="0" y="0"/>
                  </a:lnTo>
                  <a:lnTo>
                    <a:pt x="59" y="6"/>
                  </a:lnTo>
                  <a:lnTo>
                    <a:pt x="59" y="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37" name="Freeform 21">
              <a:extLst>
                <a:ext uri="{FF2B5EF4-FFF2-40B4-BE49-F238E27FC236}">
                  <a16:creationId xmlns:a16="http://schemas.microsoft.com/office/drawing/2014/main" id="{31CDA491-D12D-2E12-D841-DF62E41A9980}"/>
                </a:ext>
              </a:extLst>
            </p:cNvPr>
            <p:cNvSpPr>
              <a:spLocks/>
            </p:cNvSpPr>
            <p:nvPr userDrawn="1"/>
          </p:nvSpPr>
          <p:spPr bwMode="auto">
            <a:xfrm>
              <a:off x="395" y="3811"/>
              <a:ext cx="245" cy="207"/>
            </a:xfrm>
            <a:custGeom>
              <a:avLst/>
              <a:gdLst>
                <a:gd name="T0" fmla="*/ 233 w 245"/>
                <a:gd name="T1" fmla="*/ 36 h 204"/>
                <a:gd name="T2" fmla="*/ 245 w 245"/>
                <a:gd name="T3" fmla="*/ 42 h 204"/>
                <a:gd name="T4" fmla="*/ 209 w 245"/>
                <a:gd name="T5" fmla="*/ 84 h 204"/>
                <a:gd name="T6" fmla="*/ 143 w 245"/>
                <a:gd name="T7" fmla="*/ 132 h 204"/>
                <a:gd name="T8" fmla="*/ 167 w 245"/>
                <a:gd name="T9" fmla="*/ 156 h 204"/>
                <a:gd name="T10" fmla="*/ 179 w 245"/>
                <a:gd name="T11" fmla="*/ 204 h 204"/>
                <a:gd name="T12" fmla="*/ 77 w 245"/>
                <a:gd name="T13" fmla="*/ 132 h 204"/>
                <a:gd name="T14" fmla="*/ 47 w 245"/>
                <a:gd name="T15" fmla="*/ 84 h 204"/>
                <a:gd name="T16" fmla="*/ 89 w 245"/>
                <a:gd name="T17" fmla="*/ 66 h 204"/>
                <a:gd name="T18" fmla="*/ 59 w 245"/>
                <a:gd name="T19" fmla="*/ 36 h 204"/>
                <a:gd name="T20" fmla="*/ 0 w 245"/>
                <a:gd name="T21" fmla="*/ 12 h 204"/>
                <a:gd name="T22" fmla="*/ 0 w 245"/>
                <a:gd name="T23" fmla="*/ 0 h 204"/>
                <a:gd name="T24" fmla="*/ 6 w 245"/>
                <a:gd name="T25" fmla="*/ 0 h 204"/>
                <a:gd name="T26" fmla="*/ 12 w 245"/>
                <a:gd name="T27" fmla="*/ 0 h 204"/>
                <a:gd name="T28" fmla="*/ 47 w 245"/>
                <a:gd name="T29" fmla="*/ 6 h 204"/>
                <a:gd name="T30" fmla="*/ 77 w 245"/>
                <a:gd name="T31" fmla="*/ 6 h 204"/>
                <a:gd name="T32" fmla="*/ 83 w 245"/>
                <a:gd name="T33" fmla="*/ 6 h 204"/>
                <a:gd name="T34" fmla="*/ 89 w 245"/>
                <a:gd name="T35" fmla="*/ 6 h 204"/>
                <a:gd name="T36" fmla="*/ 101 w 245"/>
                <a:gd name="T37" fmla="*/ 12 h 204"/>
                <a:gd name="T38" fmla="*/ 125 w 245"/>
                <a:gd name="T39" fmla="*/ 12 h 204"/>
                <a:gd name="T40" fmla="*/ 143 w 245"/>
                <a:gd name="T41" fmla="*/ 18 h 204"/>
                <a:gd name="T42" fmla="*/ 149 w 245"/>
                <a:gd name="T43" fmla="*/ 18 h 204"/>
                <a:gd name="T44" fmla="*/ 149 w 245"/>
                <a:gd name="T45" fmla="*/ 18 h 204"/>
                <a:gd name="T46" fmla="*/ 203 w 245"/>
                <a:gd name="T47" fmla="*/ 24 h 204"/>
                <a:gd name="T48" fmla="*/ 233 w 245"/>
                <a:gd name="T49" fmla="*/ 36 h 204"/>
                <a:gd name="T50" fmla="*/ 233 w 245"/>
                <a:gd name="T51" fmla="*/ 3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5" h="204">
                  <a:moveTo>
                    <a:pt x="233" y="36"/>
                  </a:moveTo>
                  <a:lnTo>
                    <a:pt x="245" y="42"/>
                  </a:lnTo>
                  <a:lnTo>
                    <a:pt x="209" y="84"/>
                  </a:lnTo>
                  <a:lnTo>
                    <a:pt x="143" y="132"/>
                  </a:lnTo>
                  <a:lnTo>
                    <a:pt x="167" y="156"/>
                  </a:lnTo>
                  <a:lnTo>
                    <a:pt x="179" y="204"/>
                  </a:lnTo>
                  <a:lnTo>
                    <a:pt x="77" y="132"/>
                  </a:lnTo>
                  <a:lnTo>
                    <a:pt x="47" y="84"/>
                  </a:lnTo>
                  <a:lnTo>
                    <a:pt x="89" y="66"/>
                  </a:lnTo>
                  <a:lnTo>
                    <a:pt x="59" y="36"/>
                  </a:lnTo>
                  <a:lnTo>
                    <a:pt x="0" y="12"/>
                  </a:lnTo>
                  <a:lnTo>
                    <a:pt x="0" y="0"/>
                  </a:lnTo>
                  <a:lnTo>
                    <a:pt x="6" y="0"/>
                  </a:lnTo>
                  <a:lnTo>
                    <a:pt x="12" y="0"/>
                  </a:lnTo>
                  <a:lnTo>
                    <a:pt x="47" y="6"/>
                  </a:lnTo>
                  <a:lnTo>
                    <a:pt x="77" y="6"/>
                  </a:lnTo>
                  <a:lnTo>
                    <a:pt x="83" y="6"/>
                  </a:lnTo>
                  <a:lnTo>
                    <a:pt x="89" y="6"/>
                  </a:lnTo>
                  <a:lnTo>
                    <a:pt x="101" y="12"/>
                  </a:lnTo>
                  <a:lnTo>
                    <a:pt x="125" y="12"/>
                  </a:lnTo>
                  <a:lnTo>
                    <a:pt x="143" y="18"/>
                  </a:lnTo>
                  <a:lnTo>
                    <a:pt x="149" y="18"/>
                  </a:lnTo>
                  <a:lnTo>
                    <a:pt x="149" y="18"/>
                  </a:lnTo>
                  <a:lnTo>
                    <a:pt x="203" y="24"/>
                  </a:lnTo>
                  <a:lnTo>
                    <a:pt x="233" y="36"/>
                  </a:lnTo>
                  <a:lnTo>
                    <a:pt x="233"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5238" name="Rectangle 22">
            <a:extLst>
              <a:ext uri="{FF2B5EF4-FFF2-40B4-BE49-F238E27FC236}">
                <a16:creationId xmlns:a16="http://schemas.microsoft.com/office/drawing/2014/main" id="{2B52EE31-4240-149A-FA2F-27616CBBA650}"/>
              </a:ext>
            </a:extLst>
          </p:cNvPr>
          <p:cNvSpPr>
            <a:spLocks noGrp="1" noChangeArrowheads="1"/>
          </p:cNvSpPr>
          <p:nvPr>
            <p:ph type="ctrTitle" sz="quarter"/>
          </p:nvPr>
        </p:nvSpPr>
        <p:spPr>
          <a:xfrm>
            <a:off x="457200" y="1447800"/>
            <a:ext cx="8229600" cy="1736725"/>
          </a:xfrm>
        </p:spPr>
        <p:txBody>
          <a:bodyPr/>
          <a:lstStyle>
            <a:lvl1pPr>
              <a:defRPr sz="5400"/>
            </a:lvl1pPr>
          </a:lstStyle>
          <a:p>
            <a:pPr lvl="0"/>
            <a:r>
              <a:rPr lang="zh-CN" altLang="en-US" noProof="0"/>
              <a:t>单击此处编辑母版标题样式</a:t>
            </a:r>
          </a:p>
        </p:txBody>
      </p:sp>
      <p:sp>
        <p:nvSpPr>
          <p:cNvPr id="265239" name="Rectangle 23">
            <a:extLst>
              <a:ext uri="{FF2B5EF4-FFF2-40B4-BE49-F238E27FC236}">
                <a16:creationId xmlns:a16="http://schemas.microsoft.com/office/drawing/2014/main" id="{134103EE-4AF4-59A6-1A9E-C1675B699D9C}"/>
              </a:ext>
            </a:extLst>
          </p:cNvPr>
          <p:cNvSpPr>
            <a:spLocks noGrp="1" noChangeArrowheads="1"/>
          </p:cNvSpPr>
          <p:nvPr>
            <p:ph type="subTitle" sz="quarter" idx="1"/>
          </p:nvPr>
        </p:nvSpPr>
        <p:spPr>
          <a:xfrm>
            <a:off x="1371600" y="3429000"/>
            <a:ext cx="6400800" cy="1752600"/>
          </a:xfrm>
        </p:spPr>
        <p:txBody>
          <a:bodyPr/>
          <a:lstStyle>
            <a:lvl1pPr marL="0" indent="0" algn="ctr">
              <a:buFontTx/>
              <a:buNone/>
              <a:defRPr>
                <a:effectLst>
                  <a:outerShdw blurRad="38100" dist="38100" dir="2700000" algn="tl">
                    <a:srgbClr val="000000"/>
                  </a:outerShdw>
                </a:effectLst>
              </a:defRPr>
            </a:lvl1pPr>
          </a:lstStyle>
          <a:p>
            <a:pPr lvl="0"/>
            <a:r>
              <a:rPr lang="zh-CN" altLang="en-US" noProof="0"/>
              <a:t>单击此处编辑母版副标题样式</a:t>
            </a:r>
          </a:p>
        </p:txBody>
      </p:sp>
      <p:sp>
        <p:nvSpPr>
          <p:cNvPr id="265240" name="Rectangle 24">
            <a:extLst>
              <a:ext uri="{FF2B5EF4-FFF2-40B4-BE49-F238E27FC236}">
                <a16:creationId xmlns:a16="http://schemas.microsoft.com/office/drawing/2014/main" id="{78C25969-89CE-B914-21FB-C999D6BB3B9F}"/>
              </a:ext>
            </a:extLst>
          </p:cNvPr>
          <p:cNvSpPr>
            <a:spLocks noGrp="1" noChangeArrowheads="1"/>
          </p:cNvSpPr>
          <p:nvPr>
            <p:ph type="dt" sz="quarter" idx="2"/>
          </p:nvPr>
        </p:nvSpPr>
        <p:spPr/>
        <p:txBody>
          <a:bodyPr/>
          <a:lstStyle>
            <a:lvl1pPr>
              <a:defRPr/>
            </a:lvl1pPr>
          </a:lstStyle>
          <a:p>
            <a:r>
              <a:rPr lang="zh-CN" altLang="en-US"/>
              <a:t>讲义制作：李丽，陈志祥审</a:t>
            </a:r>
            <a:endParaRPr lang="en-US" altLang="zh-CN"/>
          </a:p>
        </p:txBody>
      </p:sp>
      <p:sp>
        <p:nvSpPr>
          <p:cNvPr id="265241" name="Rectangle 25">
            <a:extLst>
              <a:ext uri="{FF2B5EF4-FFF2-40B4-BE49-F238E27FC236}">
                <a16:creationId xmlns:a16="http://schemas.microsoft.com/office/drawing/2014/main" id="{97255152-C0EE-2293-D112-FC1A8ECADB1B}"/>
              </a:ext>
            </a:extLst>
          </p:cNvPr>
          <p:cNvSpPr>
            <a:spLocks noGrp="1" noChangeArrowheads="1"/>
          </p:cNvSpPr>
          <p:nvPr>
            <p:ph type="sldNum" sz="quarter" idx="4"/>
          </p:nvPr>
        </p:nvSpPr>
        <p:spPr/>
        <p:txBody>
          <a:bodyPr/>
          <a:lstStyle>
            <a:lvl1pPr>
              <a:defRPr/>
            </a:lvl1pPr>
          </a:lstStyle>
          <a:p>
            <a:fld id="{9EDB5DAF-03EB-4A32-B725-31390EE40B86}" type="slidenum">
              <a:rPr lang="en-US" altLang="zh-CN"/>
              <a:pPr/>
              <a:t>‹#›</a:t>
            </a:fld>
            <a:endParaRPr lang="en-US" altLang="zh-CN"/>
          </a:p>
        </p:txBody>
      </p:sp>
      <p:sp>
        <p:nvSpPr>
          <p:cNvPr id="265242" name="Rectangle 26">
            <a:extLst>
              <a:ext uri="{FF2B5EF4-FFF2-40B4-BE49-F238E27FC236}">
                <a16:creationId xmlns:a16="http://schemas.microsoft.com/office/drawing/2014/main" id="{AA8AC3A5-E953-3A9C-C83B-FB9900790D62}"/>
              </a:ext>
            </a:extLst>
          </p:cNvPr>
          <p:cNvSpPr>
            <a:spLocks noGrp="1" noChangeArrowheads="1"/>
          </p:cNvSpPr>
          <p:nvPr>
            <p:ph type="ftr" sz="quarter" idx="3"/>
          </p:nvPr>
        </p:nvSpPr>
        <p:spPr/>
        <p:txBody>
          <a:bodyPr/>
          <a:lstStyle>
            <a:lvl1pPr>
              <a:defRPr/>
            </a:lvl1pPr>
          </a:lstStyle>
          <a:p>
            <a:endParaRPr lang="en-US" altLang="zh-CN"/>
          </a:p>
        </p:txBody>
      </p:sp>
    </p:spTree>
  </p:cSld>
  <p:clrMapOvr>
    <a:masterClrMapping/>
  </p:clrMapOvr>
  <p:transition spd="slow">
    <p:strips dir="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D1AFA1-0D45-1339-CF9F-C77AB01EAA6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B794201-2650-ED39-217D-C80C8E16417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7414524-D41C-67E4-90E4-58542653D68F}"/>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5" name="页脚占位符 4">
            <a:extLst>
              <a:ext uri="{FF2B5EF4-FFF2-40B4-BE49-F238E27FC236}">
                <a16:creationId xmlns:a16="http://schemas.microsoft.com/office/drawing/2014/main" id="{0253BCEE-DC14-262E-33D3-F5C4D68197BB}"/>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C548F4ED-B30D-C489-3978-5B67A8D1F311}"/>
              </a:ext>
            </a:extLst>
          </p:cNvPr>
          <p:cNvSpPr>
            <a:spLocks noGrp="1"/>
          </p:cNvSpPr>
          <p:nvPr>
            <p:ph type="sldNum" sz="quarter" idx="12"/>
          </p:nvPr>
        </p:nvSpPr>
        <p:spPr/>
        <p:txBody>
          <a:bodyPr/>
          <a:lstStyle>
            <a:lvl1pPr>
              <a:defRPr/>
            </a:lvl1pPr>
          </a:lstStyle>
          <a:p>
            <a:fld id="{234CE61D-61A3-40FB-A0DF-E57D940E79C9}" type="slidenum">
              <a:rPr lang="en-US" altLang="zh-CN"/>
              <a:pPr/>
              <a:t>‹#›</a:t>
            </a:fld>
            <a:endParaRPr lang="en-US" altLang="zh-CN"/>
          </a:p>
        </p:txBody>
      </p:sp>
    </p:spTree>
    <p:extLst>
      <p:ext uri="{BB962C8B-B14F-4D97-AF65-F5344CB8AC3E}">
        <p14:creationId xmlns:p14="http://schemas.microsoft.com/office/powerpoint/2010/main" val="3652497335"/>
      </p:ext>
    </p:extLst>
  </p:cSld>
  <p:clrMapOvr>
    <a:masterClrMapping/>
  </p:clrMapOvr>
  <p:transition spd="slow">
    <p:strips dir="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A884D0-A9C5-0188-8724-1DCDF1FD3962}"/>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1822FA-8B86-A9AC-E656-20C340F92376}"/>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43CC202-57E8-EBB0-31BC-95111C79350A}"/>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5" name="页脚占位符 4">
            <a:extLst>
              <a:ext uri="{FF2B5EF4-FFF2-40B4-BE49-F238E27FC236}">
                <a16:creationId xmlns:a16="http://schemas.microsoft.com/office/drawing/2014/main" id="{EDB9750F-1811-6038-6DC8-A624D2B7DD37}"/>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74A6ADAD-1282-A067-94C9-5C2ED0B2B3A2}"/>
              </a:ext>
            </a:extLst>
          </p:cNvPr>
          <p:cNvSpPr>
            <a:spLocks noGrp="1"/>
          </p:cNvSpPr>
          <p:nvPr>
            <p:ph type="sldNum" sz="quarter" idx="12"/>
          </p:nvPr>
        </p:nvSpPr>
        <p:spPr/>
        <p:txBody>
          <a:bodyPr/>
          <a:lstStyle>
            <a:lvl1pPr>
              <a:defRPr/>
            </a:lvl1pPr>
          </a:lstStyle>
          <a:p>
            <a:fld id="{ED1BCCA7-845E-4A2D-93E7-C6655811163B}" type="slidenum">
              <a:rPr lang="en-US" altLang="zh-CN"/>
              <a:pPr/>
              <a:t>‹#›</a:t>
            </a:fld>
            <a:endParaRPr lang="en-US" altLang="zh-CN"/>
          </a:p>
        </p:txBody>
      </p:sp>
    </p:spTree>
    <p:extLst>
      <p:ext uri="{BB962C8B-B14F-4D97-AF65-F5344CB8AC3E}">
        <p14:creationId xmlns:p14="http://schemas.microsoft.com/office/powerpoint/2010/main" val="1009140281"/>
      </p:ext>
    </p:extLst>
  </p:cSld>
  <p:clrMapOvr>
    <a:masterClrMapping/>
  </p:clrMapOvr>
  <p:transition spd="slow">
    <p:strips dir="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6A6C01-1EAA-330D-E6A2-86EB0D1DC62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F8678ED-C8DA-8089-4297-10CA5DC45976}"/>
              </a:ext>
            </a:extLst>
          </p:cNvPr>
          <p:cNvSpPr>
            <a:spLocks noGrp="1"/>
          </p:cNvSpPr>
          <p:nvPr>
            <p:ph sz="half" idx="1"/>
          </p:nvPr>
        </p:nvSpPr>
        <p:spPr>
          <a:xfrm>
            <a:off x="457200" y="1600200"/>
            <a:ext cx="4038600" cy="4495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78C6A22-3900-FF6F-B209-0667889C97E8}"/>
              </a:ext>
            </a:extLst>
          </p:cNvPr>
          <p:cNvSpPr>
            <a:spLocks noGrp="1"/>
          </p:cNvSpPr>
          <p:nvPr>
            <p:ph sz="half" idx="2"/>
          </p:nvPr>
        </p:nvSpPr>
        <p:spPr>
          <a:xfrm>
            <a:off x="4648200" y="1600200"/>
            <a:ext cx="4038600" cy="4495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C989095-C3B6-AA22-8CC3-D75B128CB5A0}"/>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6" name="页脚占位符 5">
            <a:extLst>
              <a:ext uri="{FF2B5EF4-FFF2-40B4-BE49-F238E27FC236}">
                <a16:creationId xmlns:a16="http://schemas.microsoft.com/office/drawing/2014/main" id="{44551552-BD2C-2501-9E73-2838CBAD455F}"/>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3C4F814D-B735-2A42-FE12-EEAE8B04DA03}"/>
              </a:ext>
            </a:extLst>
          </p:cNvPr>
          <p:cNvSpPr>
            <a:spLocks noGrp="1"/>
          </p:cNvSpPr>
          <p:nvPr>
            <p:ph type="sldNum" sz="quarter" idx="12"/>
          </p:nvPr>
        </p:nvSpPr>
        <p:spPr/>
        <p:txBody>
          <a:bodyPr/>
          <a:lstStyle>
            <a:lvl1pPr>
              <a:defRPr/>
            </a:lvl1pPr>
          </a:lstStyle>
          <a:p>
            <a:fld id="{075DEAC5-5B6E-4A34-9FA8-7D952292C1C5}" type="slidenum">
              <a:rPr lang="en-US" altLang="zh-CN"/>
              <a:pPr/>
              <a:t>‹#›</a:t>
            </a:fld>
            <a:endParaRPr lang="en-US" altLang="zh-CN"/>
          </a:p>
        </p:txBody>
      </p:sp>
    </p:spTree>
    <p:extLst>
      <p:ext uri="{BB962C8B-B14F-4D97-AF65-F5344CB8AC3E}">
        <p14:creationId xmlns:p14="http://schemas.microsoft.com/office/powerpoint/2010/main" val="2329170033"/>
      </p:ext>
    </p:extLst>
  </p:cSld>
  <p:clrMapOvr>
    <a:masterClrMapping/>
  </p:clrMapOvr>
  <p:transition spd="slow">
    <p:strips dir="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BC4370-DBA1-AD5A-C1DA-88D2DE208707}"/>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9C0C638-7024-9512-166D-278791C47181}"/>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619CBFA-0652-6FCF-AC07-31E05B7633C0}"/>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A4B4375-7BB8-1FEC-B1C7-AE583C1CCC79}"/>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05A8A56-B37A-8BFA-9AAB-EC4CB2F200F9}"/>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745B6EA-37B5-C7AC-71F1-73820498022F}"/>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8" name="页脚占位符 7">
            <a:extLst>
              <a:ext uri="{FF2B5EF4-FFF2-40B4-BE49-F238E27FC236}">
                <a16:creationId xmlns:a16="http://schemas.microsoft.com/office/drawing/2014/main" id="{EF1179E5-F9DA-7C17-9DA3-B58F99BD4474}"/>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7B510915-5547-F046-23FE-92EF40000BEA}"/>
              </a:ext>
            </a:extLst>
          </p:cNvPr>
          <p:cNvSpPr>
            <a:spLocks noGrp="1"/>
          </p:cNvSpPr>
          <p:nvPr>
            <p:ph type="sldNum" sz="quarter" idx="12"/>
          </p:nvPr>
        </p:nvSpPr>
        <p:spPr/>
        <p:txBody>
          <a:bodyPr/>
          <a:lstStyle>
            <a:lvl1pPr>
              <a:defRPr/>
            </a:lvl1pPr>
          </a:lstStyle>
          <a:p>
            <a:fld id="{071D4927-E079-4B8B-874B-CED342C38522}" type="slidenum">
              <a:rPr lang="en-US" altLang="zh-CN"/>
              <a:pPr/>
              <a:t>‹#›</a:t>
            </a:fld>
            <a:endParaRPr lang="en-US" altLang="zh-CN"/>
          </a:p>
        </p:txBody>
      </p:sp>
    </p:spTree>
    <p:extLst>
      <p:ext uri="{BB962C8B-B14F-4D97-AF65-F5344CB8AC3E}">
        <p14:creationId xmlns:p14="http://schemas.microsoft.com/office/powerpoint/2010/main" val="2887356647"/>
      </p:ext>
    </p:extLst>
  </p:cSld>
  <p:clrMapOvr>
    <a:masterClrMapping/>
  </p:clrMapOvr>
  <p:transition spd="slow">
    <p:strips dir="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FABD93-C797-B1A3-F12D-4CEDD3FE4E2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9941EF7-2E9A-E231-1D97-B3464FA3C33E}"/>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4" name="页脚占位符 3">
            <a:extLst>
              <a:ext uri="{FF2B5EF4-FFF2-40B4-BE49-F238E27FC236}">
                <a16:creationId xmlns:a16="http://schemas.microsoft.com/office/drawing/2014/main" id="{AAF9D320-0601-578B-7868-1170CD890D17}"/>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C5786DBB-BBB6-9AB1-FC39-3D25E35EBC93}"/>
              </a:ext>
            </a:extLst>
          </p:cNvPr>
          <p:cNvSpPr>
            <a:spLocks noGrp="1"/>
          </p:cNvSpPr>
          <p:nvPr>
            <p:ph type="sldNum" sz="quarter" idx="12"/>
          </p:nvPr>
        </p:nvSpPr>
        <p:spPr/>
        <p:txBody>
          <a:bodyPr/>
          <a:lstStyle>
            <a:lvl1pPr>
              <a:defRPr/>
            </a:lvl1pPr>
          </a:lstStyle>
          <a:p>
            <a:fld id="{DE6902F5-57D4-4E27-9149-6C5BDB7079F4}" type="slidenum">
              <a:rPr lang="en-US" altLang="zh-CN"/>
              <a:pPr/>
              <a:t>‹#›</a:t>
            </a:fld>
            <a:endParaRPr lang="en-US" altLang="zh-CN"/>
          </a:p>
        </p:txBody>
      </p:sp>
    </p:spTree>
    <p:extLst>
      <p:ext uri="{BB962C8B-B14F-4D97-AF65-F5344CB8AC3E}">
        <p14:creationId xmlns:p14="http://schemas.microsoft.com/office/powerpoint/2010/main" val="3143055035"/>
      </p:ext>
    </p:extLst>
  </p:cSld>
  <p:clrMapOvr>
    <a:masterClrMapping/>
  </p:clrMapOvr>
  <p:transition spd="slow">
    <p:strips dir="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171C132-30EC-5C4C-7585-FDCC0FF52C90}"/>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3" name="页脚占位符 2">
            <a:extLst>
              <a:ext uri="{FF2B5EF4-FFF2-40B4-BE49-F238E27FC236}">
                <a16:creationId xmlns:a16="http://schemas.microsoft.com/office/drawing/2014/main" id="{5D0D3F61-1C20-9E6B-EF9E-041D94F1464F}"/>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E8B2E88C-CB3C-062A-76BB-769D285CFABC}"/>
              </a:ext>
            </a:extLst>
          </p:cNvPr>
          <p:cNvSpPr>
            <a:spLocks noGrp="1"/>
          </p:cNvSpPr>
          <p:nvPr>
            <p:ph type="sldNum" sz="quarter" idx="12"/>
          </p:nvPr>
        </p:nvSpPr>
        <p:spPr/>
        <p:txBody>
          <a:bodyPr/>
          <a:lstStyle>
            <a:lvl1pPr>
              <a:defRPr/>
            </a:lvl1pPr>
          </a:lstStyle>
          <a:p>
            <a:fld id="{0560CA06-DF26-4003-B6B6-399A4DCABA7E}" type="slidenum">
              <a:rPr lang="en-US" altLang="zh-CN"/>
              <a:pPr/>
              <a:t>‹#›</a:t>
            </a:fld>
            <a:endParaRPr lang="en-US" altLang="zh-CN"/>
          </a:p>
        </p:txBody>
      </p:sp>
    </p:spTree>
    <p:extLst>
      <p:ext uri="{BB962C8B-B14F-4D97-AF65-F5344CB8AC3E}">
        <p14:creationId xmlns:p14="http://schemas.microsoft.com/office/powerpoint/2010/main" val="1808165449"/>
      </p:ext>
    </p:extLst>
  </p:cSld>
  <p:clrMapOvr>
    <a:masterClrMapping/>
  </p:clrMapOvr>
  <p:transition spd="slow">
    <p:strips dir="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846E74-5F34-37C4-6EEA-368D09AF2AAC}"/>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24F50D4-E1D0-E66E-652A-4A5BF5545FB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B60233A-652A-485E-6301-8345DA07CE7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672BC68-28AC-B979-B873-ADB1371C07FA}"/>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6" name="页脚占位符 5">
            <a:extLst>
              <a:ext uri="{FF2B5EF4-FFF2-40B4-BE49-F238E27FC236}">
                <a16:creationId xmlns:a16="http://schemas.microsoft.com/office/drawing/2014/main" id="{9741B914-2BCB-99C0-1DFD-B08AAFBD51AA}"/>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804046C2-CB4A-86B6-31A0-F50473BA6C39}"/>
              </a:ext>
            </a:extLst>
          </p:cNvPr>
          <p:cNvSpPr>
            <a:spLocks noGrp="1"/>
          </p:cNvSpPr>
          <p:nvPr>
            <p:ph type="sldNum" sz="quarter" idx="12"/>
          </p:nvPr>
        </p:nvSpPr>
        <p:spPr/>
        <p:txBody>
          <a:bodyPr/>
          <a:lstStyle>
            <a:lvl1pPr>
              <a:defRPr/>
            </a:lvl1pPr>
          </a:lstStyle>
          <a:p>
            <a:fld id="{E0D280D4-17C7-46C8-8A29-FC536641D169}" type="slidenum">
              <a:rPr lang="en-US" altLang="zh-CN"/>
              <a:pPr/>
              <a:t>‹#›</a:t>
            </a:fld>
            <a:endParaRPr lang="en-US" altLang="zh-CN"/>
          </a:p>
        </p:txBody>
      </p:sp>
    </p:spTree>
    <p:extLst>
      <p:ext uri="{BB962C8B-B14F-4D97-AF65-F5344CB8AC3E}">
        <p14:creationId xmlns:p14="http://schemas.microsoft.com/office/powerpoint/2010/main" val="1363523947"/>
      </p:ext>
    </p:extLst>
  </p:cSld>
  <p:clrMapOvr>
    <a:masterClrMapping/>
  </p:clrMapOvr>
  <p:transition spd="slow">
    <p:strips dir="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701081-8845-4C1B-0B6E-DB7197F0EB83}"/>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F4BA9E4-89EF-F545-2A2E-94843FE6B2A3}"/>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7CCA2FE-4427-846B-7115-5E93830E31C5}"/>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E329E63-50C5-4A96-E504-9E7B492CC6FB}"/>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6" name="页脚占位符 5">
            <a:extLst>
              <a:ext uri="{FF2B5EF4-FFF2-40B4-BE49-F238E27FC236}">
                <a16:creationId xmlns:a16="http://schemas.microsoft.com/office/drawing/2014/main" id="{BED28777-AC2B-6FA7-0B0B-D3B36AC368FB}"/>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85E009F1-3474-2452-114B-6B92B1D36167}"/>
              </a:ext>
            </a:extLst>
          </p:cNvPr>
          <p:cNvSpPr>
            <a:spLocks noGrp="1"/>
          </p:cNvSpPr>
          <p:nvPr>
            <p:ph type="sldNum" sz="quarter" idx="12"/>
          </p:nvPr>
        </p:nvSpPr>
        <p:spPr/>
        <p:txBody>
          <a:bodyPr/>
          <a:lstStyle>
            <a:lvl1pPr>
              <a:defRPr/>
            </a:lvl1pPr>
          </a:lstStyle>
          <a:p>
            <a:fld id="{257D3307-9928-49FE-B2D3-20586E4E4853}" type="slidenum">
              <a:rPr lang="en-US" altLang="zh-CN"/>
              <a:pPr/>
              <a:t>‹#›</a:t>
            </a:fld>
            <a:endParaRPr lang="en-US" altLang="zh-CN"/>
          </a:p>
        </p:txBody>
      </p:sp>
    </p:spTree>
    <p:extLst>
      <p:ext uri="{BB962C8B-B14F-4D97-AF65-F5344CB8AC3E}">
        <p14:creationId xmlns:p14="http://schemas.microsoft.com/office/powerpoint/2010/main" val="1225215580"/>
      </p:ext>
    </p:extLst>
  </p:cSld>
  <p:clrMapOvr>
    <a:masterClrMapping/>
  </p:clrMapOvr>
  <p:transition spd="slow">
    <p:strips dir="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0F784E-EDCE-B575-018F-07262923459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EB39E63-4C7C-5D9E-EE6E-07D12930D4A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AD9BDF5-57B4-24E4-01BD-68EB9B782C96}"/>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5" name="页脚占位符 4">
            <a:extLst>
              <a:ext uri="{FF2B5EF4-FFF2-40B4-BE49-F238E27FC236}">
                <a16:creationId xmlns:a16="http://schemas.microsoft.com/office/drawing/2014/main" id="{29385695-9AD6-881B-701E-EF0A8397F121}"/>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8C2383A9-7B9C-04B4-1D08-509E58872E93}"/>
              </a:ext>
            </a:extLst>
          </p:cNvPr>
          <p:cNvSpPr>
            <a:spLocks noGrp="1"/>
          </p:cNvSpPr>
          <p:nvPr>
            <p:ph type="sldNum" sz="quarter" idx="12"/>
          </p:nvPr>
        </p:nvSpPr>
        <p:spPr/>
        <p:txBody>
          <a:bodyPr/>
          <a:lstStyle>
            <a:lvl1pPr>
              <a:defRPr/>
            </a:lvl1pPr>
          </a:lstStyle>
          <a:p>
            <a:fld id="{13F9FBCC-0617-4331-A676-699DFBEA842D}" type="slidenum">
              <a:rPr lang="en-US" altLang="zh-CN"/>
              <a:pPr/>
              <a:t>‹#›</a:t>
            </a:fld>
            <a:endParaRPr lang="en-US" altLang="zh-CN"/>
          </a:p>
        </p:txBody>
      </p:sp>
    </p:spTree>
    <p:extLst>
      <p:ext uri="{BB962C8B-B14F-4D97-AF65-F5344CB8AC3E}">
        <p14:creationId xmlns:p14="http://schemas.microsoft.com/office/powerpoint/2010/main" val="3059015476"/>
      </p:ext>
    </p:extLst>
  </p:cSld>
  <p:clrMapOvr>
    <a:masterClrMapping/>
  </p:clrMapOvr>
  <p:transition spd="slow">
    <p:strips dir="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6C06ED4-8064-BA67-AB97-A657F37D06C1}"/>
              </a:ext>
            </a:extLst>
          </p:cNvPr>
          <p:cNvSpPr>
            <a:spLocks noGrp="1"/>
          </p:cNvSpPr>
          <p:nvPr>
            <p:ph type="title" orient="vert"/>
          </p:nvPr>
        </p:nvSpPr>
        <p:spPr>
          <a:xfrm>
            <a:off x="6629400" y="228600"/>
            <a:ext cx="2057400" cy="5867400"/>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C010E23-AE62-A264-1827-DED06B7EFF39}"/>
              </a:ext>
            </a:extLst>
          </p:cNvPr>
          <p:cNvSpPr>
            <a:spLocks noGrp="1"/>
          </p:cNvSpPr>
          <p:nvPr>
            <p:ph type="body" orient="vert" idx="1"/>
          </p:nvPr>
        </p:nvSpPr>
        <p:spPr>
          <a:xfrm>
            <a:off x="457200" y="228600"/>
            <a:ext cx="6019800" cy="58674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22C977B-0C83-BDCA-53E8-325BCE339E5B}"/>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5" name="页脚占位符 4">
            <a:extLst>
              <a:ext uri="{FF2B5EF4-FFF2-40B4-BE49-F238E27FC236}">
                <a16:creationId xmlns:a16="http://schemas.microsoft.com/office/drawing/2014/main" id="{9AA6B7E6-813C-C6EB-516C-94653BC54591}"/>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84741429-FEDB-593F-59AC-86C368082215}"/>
              </a:ext>
            </a:extLst>
          </p:cNvPr>
          <p:cNvSpPr>
            <a:spLocks noGrp="1"/>
          </p:cNvSpPr>
          <p:nvPr>
            <p:ph type="sldNum" sz="quarter" idx="12"/>
          </p:nvPr>
        </p:nvSpPr>
        <p:spPr/>
        <p:txBody>
          <a:bodyPr/>
          <a:lstStyle>
            <a:lvl1pPr>
              <a:defRPr/>
            </a:lvl1pPr>
          </a:lstStyle>
          <a:p>
            <a:fld id="{0D281226-A219-4717-AEBD-E3CCD5C06F46}" type="slidenum">
              <a:rPr lang="en-US" altLang="zh-CN"/>
              <a:pPr/>
              <a:t>‹#›</a:t>
            </a:fld>
            <a:endParaRPr lang="en-US" altLang="zh-CN"/>
          </a:p>
        </p:txBody>
      </p:sp>
    </p:spTree>
    <p:extLst>
      <p:ext uri="{BB962C8B-B14F-4D97-AF65-F5344CB8AC3E}">
        <p14:creationId xmlns:p14="http://schemas.microsoft.com/office/powerpoint/2010/main" val="3916974542"/>
      </p:ext>
    </p:extLst>
  </p:cSld>
  <p:clrMapOvr>
    <a:masterClrMapping/>
  </p:clrMapOvr>
  <p:transition spd="slow">
    <p:strips dir="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8EAFC6-892F-FD61-A24E-1ED058C1002F}"/>
              </a:ext>
            </a:extLst>
          </p:cNvPr>
          <p:cNvSpPr>
            <a:spLocks noGrp="1"/>
          </p:cNvSpPr>
          <p:nvPr>
            <p:ph type="title"/>
          </p:nvPr>
        </p:nvSpPr>
        <p:spPr>
          <a:xfrm>
            <a:off x="457200" y="228600"/>
            <a:ext cx="8229600" cy="11430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47F917C-0F5B-2F8A-BFC5-5D2DC4AF4A91}"/>
              </a:ext>
            </a:extLst>
          </p:cNvPr>
          <p:cNvSpPr>
            <a:spLocks noGrp="1"/>
          </p:cNvSpPr>
          <p:nvPr>
            <p:ph type="body" sz="half" idx="1"/>
          </p:nvPr>
        </p:nvSpPr>
        <p:spPr>
          <a:xfrm>
            <a:off x="457200" y="1600200"/>
            <a:ext cx="4038600" cy="4495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8DEBCF2-BA92-0739-FC2C-4800A705A6FB}"/>
              </a:ext>
            </a:extLst>
          </p:cNvPr>
          <p:cNvSpPr>
            <a:spLocks noGrp="1"/>
          </p:cNvSpPr>
          <p:nvPr>
            <p:ph sz="half" idx="2"/>
          </p:nvPr>
        </p:nvSpPr>
        <p:spPr>
          <a:xfrm>
            <a:off x="4648200" y="1600200"/>
            <a:ext cx="4038600" cy="4495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417FE98-5E59-AB8F-C8AC-38F9DAF78AE8}"/>
              </a:ext>
            </a:extLst>
          </p:cNvPr>
          <p:cNvSpPr>
            <a:spLocks noGrp="1"/>
          </p:cNvSpPr>
          <p:nvPr>
            <p:ph type="dt" sz="half" idx="10"/>
          </p:nvPr>
        </p:nvSpPr>
        <p:spPr>
          <a:xfrm>
            <a:off x="457200" y="6248400"/>
            <a:ext cx="2133600" cy="457200"/>
          </a:xfrm>
        </p:spPr>
        <p:txBody>
          <a:bodyPr/>
          <a:lstStyle>
            <a:lvl1pPr>
              <a:defRPr/>
            </a:lvl1pPr>
          </a:lstStyle>
          <a:p>
            <a:r>
              <a:rPr lang="zh-CN" altLang="en-US"/>
              <a:t>讲义制作：李丽，陈志祥审</a:t>
            </a:r>
            <a:endParaRPr lang="en-US" altLang="zh-CN"/>
          </a:p>
        </p:txBody>
      </p:sp>
      <p:sp>
        <p:nvSpPr>
          <p:cNvPr id="6" name="页脚占位符 5">
            <a:extLst>
              <a:ext uri="{FF2B5EF4-FFF2-40B4-BE49-F238E27FC236}">
                <a16:creationId xmlns:a16="http://schemas.microsoft.com/office/drawing/2014/main" id="{3F4F1822-B2B6-2295-099F-4C127F079FCF}"/>
              </a:ext>
            </a:extLst>
          </p:cNvPr>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17AEF1D5-BB64-7B04-6DCE-C7491C88A4F1}"/>
              </a:ext>
            </a:extLst>
          </p:cNvPr>
          <p:cNvSpPr>
            <a:spLocks noGrp="1"/>
          </p:cNvSpPr>
          <p:nvPr>
            <p:ph type="sldNum" sz="quarter" idx="12"/>
          </p:nvPr>
        </p:nvSpPr>
        <p:spPr>
          <a:xfrm>
            <a:off x="6553200" y="6248400"/>
            <a:ext cx="2133600" cy="457200"/>
          </a:xfrm>
        </p:spPr>
        <p:txBody>
          <a:bodyPr/>
          <a:lstStyle>
            <a:lvl1pPr>
              <a:defRPr/>
            </a:lvl1pPr>
          </a:lstStyle>
          <a:p>
            <a:fld id="{E91941AD-4F38-4125-9D2F-9BE118528A8E}" type="slidenum">
              <a:rPr lang="en-US" altLang="zh-CN"/>
              <a:pPr/>
              <a:t>‹#›</a:t>
            </a:fld>
            <a:endParaRPr lang="en-US" altLang="zh-CN"/>
          </a:p>
        </p:txBody>
      </p:sp>
    </p:spTree>
    <p:extLst>
      <p:ext uri="{BB962C8B-B14F-4D97-AF65-F5344CB8AC3E}">
        <p14:creationId xmlns:p14="http://schemas.microsoft.com/office/powerpoint/2010/main" val="3331749007"/>
      </p:ext>
    </p:extLst>
  </p:cSld>
  <p:clrMapOvr>
    <a:masterClrMapping/>
  </p:clrMapOvr>
  <p:transition spd="slow">
    <p:strips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amma/>
                <a:shade val="46275"/>
                <a:invGamma/>
              </a:schemeClr>
            </a:gs>
            <a:gs pos="100000">
              <a:schemeClr val="bg1"/>
            </a:gs>
          </a:gsLst>
          <a:lin ang="5400000" scaled="1"/>
        </a:gradFill>
        <a:effectLst/>
      </p:bgPr>
    </p:bg>
    <p:spTree>
      <p:nvGrpSpPr>
        <p:cNvPr id="1" name=""/>
        <p:cNvGrpSpPr/>
        <p:nvPr/>
      </p:nvGrpSpPr>
      <p:grpSpPr>
        <a:xfrm>
          <a:off x="0" y="0"/>
          <a:ext cx="0" cy="0"/>
          <a:chOff x="0" y="0"/>
          <a:chExt cx="0" cy="0"/>
        </a:xfrm>
      </p:grpSpPr>
      <p:grpSp>
        <p:nvGrpSpPr>
          <p:cNvPr id="264194" name="Group 2">
            <a:extLst>
              <a:ext uri="{FF2B5EF4-FFF2-40B4-BE49-F238E27FC236}">
                <a16:creationId xmlns:a16="http://schemas.microsoft.com/office/drawing/2014/main" id="{55A74FF5-8B8E-0B53-6620-004AADF5266A}"/>
              </a:ext>
            </a:extLst>
          </p:cNvPr>
          <p:cNvGrpSpPr>
            <a:grpSpLocks/>
          </p:cNvGrpSpPr>
          <p:nvPr/>
        </p:nvGrpSpPr>
        <p:grpSpPr bwMode="auto">
          <a:xfrm>
            <a:off x="0" y="0"/>
            <a:ext cx="9144000" cy="6858000"/>
            <a:chOff x="0" y="0"/>
            <a:chExt cx="5760" cy="4320"/>
          </a:xfrm>
        </p:grpSpPr>
        <p:sp>
          <p:nvSpPr>
            <p:cNvPr id="264195" name="Freeform 3">
              <a:extLst>
                <a:ext uri="{FF2B5EF4-FFF2-40B4-BE49-F238E27FC236}">
                  <a16:creationId xmlns:a16="http://schemas.microsoft.com/office/drawing/2014/main" id="{6D0BB033-BE28-CA23-0666-E3766D6C9C55}"/>
                </a:ext>
              </a:extLst>
            </p:cNvPr>
            <p:cNvSpPr>
              <a:spLocks/>
            </p:cNvSpPr>
            <p:nvPr/>
          </p:nvSpPr>
          <p:spPr bwMode="hidden">
            <a:xfrm>
              <a:off x="0" y="3072"/>
              <a:ext cx="5760" cy="1248"/>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196" name="Freeform 4">
              <a:extLst>
                <a:ext uri="{FF2B5EF4-FFF2-40B4-BE49-F238E27FC236}">
                  <a16:creationId xmlns:a16="http://schemas.microsoft.com/office/drawing/2014/main" id="{13FC8EF6-7411-D84B-C64F-D6E8E3BA204A}"/>
                </a:ext>
              </a:extLst>
            </p:cNvPr>
            <p:cNvSpPr>
              <a:spLocks/>
            </p:cNvSpPr>
            <p:nvPr/>
          </p:nvSpPr>
          <p:spPr bwMode="hidden">
            <a:xfrm>
              <a:off x="0" y="0"/>
              <a:ext cx="5760" cy="3072"/>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amma/>
                    <a:shade val="46275"/>
                    <a:invGamma/>
                  </a:scheme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4197" name="Freeform 5">
            <a:extLst>
              <a:ext uri="{FF2B5EF4-FFF2-40B4-BE49-F238E27FC236}">
                <a16:creationId xmlns:a16="http://schemas.microsoft.com/office/drawing/2014/main" id="{DD7AD45B-FDDE-D1D1-C2CC-4F562DDAEA74}"/>
              </a:ext>
            </a:extLst>
          </p:cNvPr>
          <p:cNvSpPr>
            <a:spLocks/>
          </p:cNvSpPr>
          <p:nvPr/>
        </p:nvSpPr>
        <p:spPr bwMode="hidden">
          <a:xfrm>
            <a:off x="6248400" y="6262688"/>
            <a:ext cx="2895600" cy="609600"/>
          </a:xfrm>
          <a:custGeom>
            <a:avLst/>
            <a:gdLst>
              <a:gd name="T0" fmla="*/ 5748 w 5748"/>
              <a:gd name="T1" fmla="*/ 246 h 246"/>
              <a:gd name="T2" fmla="*/ 0 w 5748"/>
              <a:gd name="T3" fmla="*/ 246 h 246"/>
              <a:gd name="T4" fmla="*/ 0 w 5748"/>
              <a:gd name="T5" fmla="*/ 0 h 246"/>
              <a:gd name="T6" fmla="*/ 5748 w 5748"/>
              <a:gd name="T7" fmla="*/ 0 h 246"/>
              <a:gd name="T8" fmla="*/ 5748 w 5748"/>
              <a:gd name="T9" fmla="*/ 246 h 246"/>
              <a:gd name="T10" fmla="*/ 5748 w 5748"/>
              <a:gd name="T11" fmla="*/ 246 h 246"/>
            </a:gdLst>
            <a:ahLst/>
            <a:cxnLst>
              <a:cxn ang="0">
                <a:pos x="T0" y="T1"/>
              </a:cxn>
              <a:cxn ang="0">
                <a:pos x="T2" y="T3"/>
              </a:cxn>
              <a:cxn ang="0">
                <a:pos x="T4" y="T5"/>
              </a:cxn>
              <a:cxn ang="0">
                <a:pos x="T6" y="T7"/>
              </a:cxn>
              <a:cxn ang="0">
                <a:pos x="T8" y="T9"/>
              </a:cxn>
              <a:cxn ang="0">
                <a:pos x="T10" y="T11"/>
              </a:cxn>
            </a:cxnLst>
            <a:rect l="0" t="0" r="r" b="b"/>
            <a:pathLst>
              <a:path w="5748" h="246">
                <a:moveTo>
                  <a:pt x="5748" y="246"/>
                </a:moveTo>
                <a:lnTo>
                  <a:pt x="0" y="246"/>
                </a:lnTo>
                <a:lnTo>
                  <a:pt x="0" y="0"/>
                </a:lnTo>
                <a:lnTo>
                  <a:pt x="5748" y="0"/>
                </a:lnTo>
                <a:lnTo>
                  <a:pt x="5748" y="246"/>
                </a:lnTo>
                <a:lnTo>
                  <a:pt x="5748" y="246"/>
                </a:lnTo>
                <a:close/>
              </a:path>
            </a:pathLst>
          </a:cu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64198" name="Group 6">
            <a:extLst>
              <a:ext uri="{FF2B5EF4-FFF2-40B4-BE49-F238E27FC236}">
                <a16:creationId xmlns:a16="http://schemas.microsoft.com/office/drawing/2014/main" id="{845B6B75-07AF-88A2-3FD5-EBCF2E0FB16B}"/>
              </a:ext>
            </a:extLst>
          </p:cNvPr>
          <p:cNvGrpSpPr>
            <a:grpSpLocks/>
          </p:cNvGrpSpPr>
          <p:nvPr/>
        </p:nvGrpSpPr>
        <p:grpSpPr bwMode="auto">
          <a:xfrm>
            <a:off x="0" y="6019800"/>
            <a:ext cx="7848600" cy="857250"/>
            <a:chOff x="0" y="3792"/>
            <a:chExt cx="4944" cy="540"/>
          </a:xfrm>
        </p:grpSpPr>
        <p:sp>
          <p:nvSpPr>
            <p:cNvPr id="264199" name="Freeform 7">
              <a:extLst>
                <a:ext uri="{FF2B5EF4-FFF2-40B4-BE49-F238E27FC236}">
                  <a16:creationId xmlns:a16="http://schemas.microsoft.com/office/drawing/2014/main" id="{ECCBD592-DC81-31B7-9B5E-62E74A1E2A6D}"/>
                </a:ext>
              </a:extLst>
            </p:cNvPr>
            <p:cNvSpPr>
              <a:spLocks/>
            </p:cNvSpPr>
            <p:nvPr userDrawn="1"/>
          </p:nvSpPr>
          <p:spPr bwMode="ltGray">
            <a:xfrm>
              <a:off x="1488" y="3792"/>
              <a:ext cx="3240" cy="536"/>
            </a:xfrm>
            <a:custGeom>
              <a:avLst/>
              <a:gdLst>
                <a:gd name="T0" fmla="*/ 3132 w 3240"/>
                <a:gd name="T1" fmla="*/ 469 h 536"/>
                <a:gd name="T2" fmla="*/ 2995 w 3240"/>
                <a:gd name="T3" fmla="*/ 395 h 536"/>
                <a:gd name="T4" fmla="*/ 2911 w 3240"/>
                <a:gd name="T5" fmla="*/ 375 h 536"/>
                <a:gd name="T6" fmla="*/ 2678 w 3240"/>
                <a:gd name="T7" fmla="*/ 228 h 536"/>
                <a:gd name="T8" fmla="*/ 2553 w 3240"/>
                <a:gd name="T9" fmla="*/ 74 h 536"/>
                <a:gd name="T10" fmla="*/ 2457 w 3240"/>
                <a:gd name="T11" fmla="*/ 7 h 536"/>
                <a:gd name="T12" fmla="*/ 2403 w 3240"/>
                <a:gd name="T13" fmla="*/ 47 h 536"/>
                <a:gd name="T14" fmla="*/ 2289 w 3240"/>
                <a:gd name="T15" fmla="*/ 74 h 536"/>
                <a:gd name="T16" fmla="*/ 2134 w 3240"/>
                <a:gd name="T17" fmla="*/ 74 h 536"/>
                <a:gd name="T18" fmla="*/ 2044 w 3240"/>
                <a:gd name="T19" fmla="*/ 128 h 536"/>
                <a:gd name="T20" fmla="*/ 1775 w 3240"/>
                <a:gd name="T21" fmla="*/ 222 h 536"/>
                <a:gd name="T22" fmla="*/ 1602 w 3240"/>
                <a:gd name="T23" fmla="*/ 181 h 536"/>
                <a:gd name="T24" fmla="*/ 1560 w 3240"/>
                <a:gd name="T25" fmla="*/ 101 h 536"/>
                <a:gd name="T26" fmla="*/ 1542 w 3240"/>
                <a:gd name="T27" fmla="*/ 87 h 536"/>
                <a:gd name="T28" fmla="*/ 1446 w 3240"/>
                <a:gd name="T29" fmla="*/ 60 h 536"/>
                <a:gd name="T30" fmla="*/ 1375 w 3240"/>
                <a:gd name="T31" fmla="*/ 74 h 536"/>
                <a:gd name="T32" fmla="*/ 1309 w 3240"/>
                <a:gd name="T33" fmla="*/ 87 h 536"/>
                <a:gd name="T34" fmla="*/ 1243 w 3240"/>
                <a:gd name="T35" fmla="*/ 13 h 536"/>
                <a:gd name="T36" fmla="*/ 1225 w 3240"/>
                <a:gd name="T37" fmla="*/ 0 h 536"/>
                <a:gd name="T38" fmla="*/ 1189 w 3240"/>
                <a:gd name="T39" fmla="*/ 0 h 536"/>
                <a:gd name="T40" fmla="*/ 1106 w 3240"/>
                <a:gd name="T41" fmla="*/ 34 h 536"/>
                <a:gd name="T42" fmla="*/ 1106 w 3240"/>
                <a:gd name="T43" fmla="*/ 34 h 536"/>
                <a:gd name="T44" fmla="*/ 1094 w 3240"/>
                <a:gd name="T45" fmla="*/ 40 h 536"/>
                <a:gd name="T46" fmla="*/ 1070 w 3240"/>
                <a:gd name="T47" fmla="*/ 54 h 536"/>
                <a:gd name="T48" fmla="*/ 1034 w 3240"/>
                <a:gd name="T49" fmla="*/ 74 h 536"/>
                <a:gd name="T50" fmla="*/ 1004 w 3240"/>
                <a:gd name="T51" fmla="*/ 74 h 536"/>
                <a:gd name="T52" fmla="*/ 986 w 3240"/>
                <a:gd name="T53" fmla="*/ 74 h 536"/>
                <a:gd name="T54" fmla="*/ 956 w 3240"/>
                <a:gd name="T55" fmla="*/ 81 h 536"/>
                <a:gd name="T56" fmla="*/ 920 w 3240"/>
                <a:gd name="T57" fmla="*/ 94 h 536"/>
                <a:gd name="T58" fmla="*/ 884 w 3240"/>
                <a:gd name="T59" fmla="*/ 107 h 536"/>
                <a:gd name="T60" fmla="*/ 843 w 3240"/>
                <a:gd name="T61" fmla="*/ 128 h 536"/>
                <a:gd name="T62" fmla="*/ 813 w 3240"/>
                <a:gd name="T63" fmla="*/ 141 h 536"/>
                <a:gd name="T64" fmla="*/ 789 w 3240"/>
                <a:gd name="T65" fmla="*/ 148 h 536"/>
                <a:gd name="T66" fmla="*/ 783 w 3240"/>
                <a:gd name="T67" fmla="*/ 154 h 536"/>
                <a:gd name="T68" fmla="*/ 556 w 3240"/>
                <a:gd name="T69" fmla="*/ 228 h 536"/>
                <a:gd name="T70" fmla="*/ 394 w 3240"/>
                <a:gd name="T71" fmla="*/ 294 h 536"/>
                <a:gd name="T72" fmla="*/ 107 w 3240"/>
                <a:gd name="T73" fmla="*/ 462 h 536"/>
                <a:gd name="T74" fmla="*/ 0 w 3240"/>
                <a:gd name="T75" fmla="*/ 536 h 536"/>
                <a:gd name="T76" fmla="*/ 3240 w 3240"/>
                <a:gd name="T77" fmla="*/ 536 h 536"/>
                <a:gd name="T78" fmla="*/ 3132 w 3240"/>
                <a:gd name="T79" fmla="*/ 469 h 536"/>
                <a:gd name="T80" fmla="*/ 3132 w 3240"/>
                <a:gd name="T81" fmla="*/ 469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40" h="536">
                  <a:moveTo>
                    <a:pt x="3132" y="469"/>
                  </a:moveTo>
                  <a:lnTo>
                    <a:pt x="2995" y="395"/>
                  </a:lnTo>
                  <a:lnTo>
                    <a:pt x="2911" y="375"/>
                  </a:lnTo>
                  <a:lnTo>
                    <a:pt x="2678" y="228"/>
                  </a:lnTo>
                  <a:lnTo>
                    <a:pt x="2553" y="74"/>
                  </a:lnTo>
                  <a:lnTo>
                    <a:pt x="2457" y="7"/>
                  </a:lnTo>
                  <a:lnTo>
                    <a:pt x="2403" y="47"/>
                  </a:lnTo>
                  <a:lnTo>
                    <a:pt x="2289" y="74"/>
                  </a:lnTo>
                  <a:lnTo>
                    <a:pt x="2134" y="74"/>
                  </a:lnTo>
                  <a:lnTo>
                    <a:pt x="2044" y="128"/>
                  </a:lnTo>
                  <a:lnTo>
                    <a:pt x="1775" y="222"/>
                  </a:lnTo>
                  <a:lnTo>
                    <a:pt x="1602" y="181"/>
                  </a:lnTo>
                  <a:lnTo>
                    <a:pt x="1560" y="101"/>
                  </a:lnTo>
                  <a:lnTo>
                    <a:pt x="1542" y="87"/>
                  </a:lnTo>
                  <a:lnTo>
                    <a:pt x="1446" y="60"/>
                  </a:lnTo>
                  <a:lnTo>
                    <a:pt x="1375" y="74"/>
                  </a:lnTo>
                  <a:lnTo>
                    <a:pt x="1309" y="87"/>
                  </a:lnTo>
                  <a:lnTo>
                    <a:pt x="1243" y="13"/>
                  </a:lnTo>
                  <a:lnTo>
                    <a:pt x="1225" y="0"/>
                  </a:lnTo>
                  <a:lnTo>
                    <a:pt x="1189" y="0"/>
                  </a:lnTo>
                  <a:lnTo>
                    <a:pt x="1106" y="34"/>
                  </a:lnTo>
                  <a:lnTo>
                    <a:pt x="1106" y="34"/>
                  </a:lnTo>
                  <a:lnTo>
                    <a:pt x="1094" y="40"/>
                  </a:lnTo>
                  <a:lnTo>
                    <a:pt x="1070" y="54"/>
                  </a:lnTo>
                  <a:lnTo>
                    <a:pt x="1034" y="74"/>
                  </a:lnTo>
                  <a:lnTo>
                    <a:pt x="1004" y="74"/>
                  </a:lnTo>
                  <a:lnTo>
                    <a:pt x="986" y="74"/>
                  </a:lnTo>
                  <a:lnTo>
                    <a:pt x="956" y="81"/>
                  </a:lnTo>
                  <a:lnTo>
                    <a:pt x="920" y="94"/>
                  </a:lnTo>
                  <a:lnTo>
                    <a:pt x="884" y="107"/>
                  </a:lnTo>
                  <a:lnTo>
                    <a:pt x="843" y="128"/>
                  </a:lnTo>
                  <a:lnTo>
                    <a:pt x="813" y="141"/>
                  </a:lnTo>
                  <a:lnTo>
                    <a:pt x="789" y="148"/>
                  </a:lnTo>
                  <a:lnTo>
                    <a:pt x="783" y="154"/>
                  </a:lnTo>
                  <a:lnTo>
                    <a:pt x="556" y="228"/>
                  </a:lnTo>
                  <a:lnTo>
                    <a:pt x="394" y="294"/>
                  </a:lnTo>
                  <a:lnTo>
                    <a:pt x="107" y="462"/>
                  </a:lnTo>
                  <a:lnTo>
                    <a:pt x="0" y="536"/>
                  </a:lnTo>
                  <a:lnTo>
                    <a:pt x="3240" y="536"/>
                  </a:lnTo>
                  <a:lnTo>
                    <a:pt x="3132" y="469"/>
                  </a:lnTo>
                  <a:lnTo>
                    <a:pt x="3132" y="469"/>
                  </a:lnTo>
                  <a:close/>
                </a:path>
              </a:pathLst>
            </a:custGeom>
            <a:gradFill rotWithShape="0">
              <a:gsLst>
                <a:gs pos="0">
                  <a:schemeClr val="bg2">
                    <a:gamma/>
                    <a:tint val="66667"/>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64200" name="Group 8">
              <a:extLst>
                <a:ext uri="{FF2B5EF4-FFF2-40B4-BE49-F238E27FC236}">
                  <a16:creationId xmlns:a16="http://schemas.microsoft.com/office/drawing/2014/main" id="{279D78FA-DF3B-39FA-C00E-B155E1FD59FB}"/>
                </a:ext>
              </a:extLst>
            </p:cNvPr>
            <p:cNvGrpSpPr>
              <a:grpSpLocks/>
            </p:cNvGrpSpPr>
            <p:nvPr userDrawn="1"/>
          </p:nvGrpSpPr>
          <p:grpSpPr bwMode="auto">
            <a:xfrm>
              <a:off x="2486" y="3792"/>
              <a:ext cx="2458" cy="540"/>
              <a:chOff x="2486" y="3792"/>
              <a:chExt cx="2458" cy="540"/>
            </a:xfrm>
          </p:grpSpPr>
          <p:sp>
            <p:nvSpPr>
              <p:cNvPr id="264201" name="Freeform 9">
                <a:extLst>
                  <a:ext uri="{FF2B5EF4-FFF2-40B4-BE49-F238E27FC236}">
                    <a16:creationId xmlns:a16="http://schemas.microsoft.com/office/drawing/2014/main" id="{87C7BB7C-06FE-98C1-7C60-C29C1D38B3BC}"/>
                  </a:ext>
                </a:extLst>
              </p:cNvPr>
              <p:cNvSpPr>
                <a:spLocks/>
              </p:cNvSpPr>
              <p:nvPr userDrawn="1"/>
            </p:nvSpPr>
            <p:spPr bwMode="ltGray">
              <a:xfrm>
                <a:off x="3948" y="3799"/>
                <a:ext cx="996" cy="533"/>
              </a:xfrm>
              <a:custGeom>
                <a:avLst/>
                <a:gdLst>
                  <a:gd name="T0" fmla="*/ 636 w 996"/>
                  <a:gd name="T1" fmla="*/ 373 h 533"/>
                  <a:gd name="T2" fmla="*/ 495 w 996"/>
                  <a:gd name="T3" fmla="*/ 370 h 533"/>
                  <a:gd name="T4" fmla="*/ 280 w 996"/>
                  <a:gd name="T5" fmla="*/ 249 h 533"/>
                  <a:gd name="T6" fmla="*/ 127 w 996"/>
                  <a:gd name="T7" fmla="*/ 66 h 533"/>
                  <a:gd name="T8" fmla="*/ 0 w 996"/>
                  <a:gd name="T9" fmla="*/ 0 h 533"/>
                  <a:gd name="T10" fmla="*/ 22 w 996"/>
                  <a:gd name="T11" fmla="*/ 26 h 533"/>
                  <a:gd name="T12" fmla="*/ 0 w 996"/>
                  <a:gd name="T13" fmla="*/ 65 h 533"/>
                  <a:gd name="T14" fmla="*/ 30 w 996"/>
                  <a:gd name="T15" fmla="*/ 119 h 533"/>
                  <a:gd name="T16" fmla="*/ 75 w 996"/>
                  <a:gd name="T17" fmla="*/ 243 h 533"/>
                  <a:gd name="T18" fmla="*/ 45 w 996"/>
                  <a:gd name="T19" fmla="*/ 422 h 533"/>
                  <a:gd name="T20" fmla="*/ 200 w 996"/>
                  <a:gd name="T21" fmla="*/ 329 h 533"/>
                  <a:gd name="T22" fmla="*/ 612 w 996"/>
                  <a:gd name="T23" fmla="*/ 533 h 533"/>
                  <a:gd name="T24" fmla="*/ 996 w 996"/>
                  <a:gd name="T25" fmla="*/ 529 h 533"/>
                  <a:gd name="T26" fmla="*/ 828 w 996"/>
                  <a:gd name="T27" fmla="*/ 473 h 533"/>
                  <a:gd name="T28" fmla="*/ 636 w 996"/>
                  <a:gd name="T29" fmla="*/ 373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6" h="533">
                    <a:moveTo>
                      <a:pt x="636" y="373"/>
                    </a:moveTo>
                    <a:lnTo>
                      <a:pt x="495" y="370"/>
                    </a:lnTo>
                    <a:lnTo>
                      <a:pt x="280" y="249"/>
                    </a:lnTo>
                    <a:lnTo>
                      <a:pt x="127" y="66"/>
                    </a:lnTo>
                    <a:lnTo>
                      <a:pt x="0" y="0"/>
                    </a:lnTo>
                    <a:lnTo>
                      <a:pt x="22" y="26"/>
                    </a:lnTo>
                    <a:lnTo>
                      <a:pt x="0" y="65"/>
                    </a:lnTo>
                    <a:lnTo>
                      <a:pt x="30" y="119"/>
                    </a:lnTo>
                    <a:lnTo>
                      <a:pt x="75" y="243"/>
                    </a:lnTo>
                    <a:lnTo>
                      <a:pt x="45" y="422"/>
                    </a:lnTo>
                    <a:lnTo>
                      <a:pt x="200" y="329"/>
                    </a:lnTo>
                    <a:lnTo>
                      <a:pt x="612" y="533"/>
                    </a:lnTo>
                    <a:lnTo>
                      <a:pt x="996" y="529"/>
                    </a:lnTo>
                    <a:lnTo>
                      <a:pt x="828" y="473"/>
                    </a:lnTo>
                    <a:lnTo>
                      <a:pt x="636" y="373"/>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02" name="Freeform 10">
                <a:extLst>
                  <a:ext uri="{FF2B5EF4-FFF2-40B4-BE49-F238E27FC236}">
                    <a16:creationId xmlns:a16="http://schemas.microsoft.com/office/drawing/2014/main" id="{FD52069A-7D4F-44A7-B5A2-6AD9B1F056B1}"/>
                  </a:ext>
                </a:extLst>
              </p:cNvPr>
              <p:cNvSpPr>
                <a:spLocks/>
              </p:cNvSpPr>
              <p:nvPr userDrawn="1"/>
            </p:nvSpPr>
            <p:spPr bwMode="ltGray">
              <a:xfrm>
                <a:off x="2677" y="3792"/>
                <a:ext cx="186" cy="395"/>
              </a:xfrm>
              <a:custGeom>
                <a:avLst/>
                <a:gdLst>
                  <a:gd name="T0" fmla="*/ 36 w 186"/>
                  <a:gd name="T1" fmla="*/ 0 h 353"/>
                  <a:gd name="T2" fmla="*/ 54 w 186"/>
                  <a:gd name="T3" fmla="*/ 18 h 353"/>
                  <a:gd name="T4" fmla="*/ 24 w 186"/>
                  <a:gd name="T5" fmla="*/ 30 h 353"/>
                  <a:gd name="T6" fmla="*/ 18 w 186"/>
                  <a:gd name="T7" fmla="*/ 66 h 353"/>
                  <a:gd name="T8" fmla="*/ 42 w 186"/>
                  <a:gd name="T9" fmla="*/ 114 h 353"/>
                  <a:gd name="T10" fmla="*/ 48 w 186"/>
                  <a:gd name="T11" fmla="*/ 162 h 353"/>
                  <a:gd name="T12" fmla="*/ 0 w 186"/>
                  <a:gd name="T13" fmla="*/ 353 h 353"/>
                  <a:gd name="T14" fmla="*/ 54 w 186"/>
                  <a:gd name="T15" fmla="*/ 233 h 353"/>
                  <a:gd name="T16" fmla="*/ 84 w 186"/>
                  <a:gd name="T17" fmla="*/ 216 h 353"/>
                  <a:gd name="T18" fmla="*/ 126 w 186"/>
                  <a:gd name="T19" fmla="*/ 126 h 353"/>
                  <a:gd name="T20" fmla="*/ 144 w 186"/>
                  <a:gd name="T21" fmla="*/ 120 h 353"/>
                  <a:gd name="T22" fmla="*/ 144 w 186"/>
                  <a:gd name="T23" fmla="*/ 90 h 353"/>
                  <a:gd name="T24" fmla="*/ 186 w 186"/>
                  <a:gd name="T25" fmla="*/ 66 h 353"/>
                  <a:gd name="T26" fmla="*/ 162 w 186"/>
                  <a:gd name="T27" fmla="*/ 60 h 353"/>
                  <a:gd name="T28" fmla="*/ 36 w 186"/>
                  <a:gd name="T29" fmla="*/ 0 h 353"/>
                  <a:gd name="T30" fmla="*/ 36 w 186"/>
                  <a:gd name="T31"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6" h="353">
                    <a:moveTo>
                      <a:pt x="36" y="0"/>
                    </a:moveTo>
                    <a:lnTo>
                      <a:pt x="54" y="18"/>
                    </a:lnTo>
                    <a:lnTo>
                      <a:pt x="24" y="30"/>
                    </a:lnTo>
                    <a:lnTo>
                      <a:pt x="18" y="66"/>
                    </a:lnTo>
                    <a:lnTo>
                      <a:pt x="42" y="114"/>
                    </a:lnTo>
                    <a:lnTo>
                      <a:pt x="48" y="162"/>
                    </a:lnTo>
                    <a:lnTo>
                      <a:pt x="0" y="353"/>
                    </a:lnTo>
                    <a:lnTo>
                      <a:pt x="54" y="233"/>
                    </a:lnTo>
                    <a:lnTo>
                      <a:pt x="84" y="216"/>
                    </a:lnTo>
                    <a:lnTo>
                      <a:pt x="126" y="126"/>
                    </a:lnTo>
                    <a:lnTo>
                      <a:pt x="144" y="120"/>
                    </a:lnTo>
                    <a:lnTo>
                      <a:pt x="144" y="90"/>
                    </a:lnTo>
                    <a:lnTo>
                      <a:pt x="186" y="66"/>
                    </a:lnTo>
                    <a:lnTo>
                      <a:pt x="162" y="60"/>
                    </a:lnTo>
                    <a:lnTo>
                      <a:pt x="36" y="0"/>
                    </a:lnTo>
                    <a:lnTo>
                      <a:pt x="3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03" name="Freeform 11">
                <a:extLst>
                  <a:ext uri="{FF2B5EF4-FFF2-40B4-BE49-F238E27FC236}">
                    <a16:creationId xmlns:a16="http://schemas.microsoft.com/office/drawing/2014/main" id="{3FE6EFB6-53B4-C44E-0684-7614D3F21209}"/>
                  </a:ext>
                </a:extLst>
              </p:cNvPr>
              <p:cNvSpPr>
                <a:spLocks/>
              </p:cNvSpPr>
              <p:nvPr userDrawn="1"/>
            </p:nvSpPr>
            <p:spPr bwMode="ltGray">
              <a:xfrm>
                <a:off x="3030" y="3893"/>
                <a:ext cx="378" cy="271"/>
              </a:xfrm>
              <a:custGeom>
                <a:avLst/>
                <a:gdLst>
                  <a:gd name="T0" fmla="*/ 18 w 378"/>
                  <a:gd name="T1" fmla="*/ 0 h 271"/>
                  <a:gd name="T2" fmla="*/ 12 w 378"/>
                  <a:gd name="T3" fmla="*/ 13 h 271"/>
                  <a:gd name="T4" fmla="*/ 0 w 378"/>
                  <a:gd name="T5" fmla="*/ 40 h 271"/>
                  <a:gd name="T6" fmla="*/ 60 w 378"/>
                  <a:gd name="T7" fmla="*/ 121 h 271"/>
                  <a:gd name="T8" fmla="*/ 310 w 378"/>
                  <a:gd name="T9" fmla="*/ 271 h 271"/>
                  <a:gd name="T10" fmla="*/ 290 w 378"/>
                  <a:gd name="T11" fmla="*/ 139 h 271"/>
                  <a:gd name="T12" fmla="*/ 378 w 378"/>
                  <a:gd name="T13" fmla="*/ 76 h 271"/>
                  <a:gd name="T14" fmla="*/ 251 w 378"/>
                  <a:gd name="T15" fmla="*/ 94 h 271"/>
                  <a:gd name="T16" fmla="*/ 90 w 378"/>
                  <a:gd name="T17" fmla="*/ 54 h 271"/>
                  <a:gd name="T18" fmla="*/ 18 w 378"/>
                  <a:gd name="T19" fmla="*/ 0 h 271"/>
                  <a:gd name="T20" fmla="*/ 18 w 378"/>
                  <a:gd name="T21"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8" h="271">
                    <a:moveTo>
                      <a:pt x="18" y="0"/>
                    </a:moveTo>
                    <a:lnTo>
                      <a:pt x="12" y="13"/>
                    </a:lnTo>
                    <a:lnTo>
                      <a:pt x="0" y="40"/>
                    </a:lnTo>
                    <a:lnTo>
                      <a:pt x="60" y="121"/>
                    </a:lnTo>
                    <a:lnTo>
                      <a:pt x="310" y="271"/>
                    </a:lnTo>
                    <a:lnTo>
                      <a:pt x="290" y="139"/>
                    </a:lnTo>
                    <a:lnTo>
                      <a:pt x="378" y="76"/>
                    </a:lnTo>
                    <a:lnTo>
                      <a:pt x="251" y="94"/>
                    </a:lnTo>
                    <a:lnTo>
                      <a:pt x="90" y="54"/>
                    </a:lnTo>
                    <a:lnTo>
                      <a:pt x="18" y="0"/>
                    </a:lnTo>
                    <a:lnTo>
                      <a:pt x="18"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04" name="Freeform 12">
                <a:extLst>
                  <a:ext uri="{FF2B5EF4-FFF2-40B4-BE49-F238E27FC236}">
                    <a16:creationId xmlns:a16="http://schemas.microsoft.com/office/drawing/2014/main" id="{0795B32D-87AE-4EEF-1111-EE69ADF4F627}"/>
                  </a:ext>
                </a:extLst>
              </p:cNvPr>
              <p:cNvSpPr>
                <a:spLocks/>
              </p:cNvSpPr>
              <p:nvPr userDrawn="1"/>
            </p:nvSpPr>
            <p:spPr bwMode="ltGray">
              <a:xfrm>
                <a:off x="3628" y="3866"/>
                <a:ext cx="155" cy="74"/>
              </a:xfrm>
              <a:custGeom>
                <a:avLst/>
                <a:gdLst>
                  <a:gd name="T0" fmla="*/ 114 w 155"/>
                  <a:gd name="T1" fmla="*/ 0 h 66"/>
                  <a:gd name="T2" fmla="*/ 0 w 155"/>
                  <a:gd name="T3" fmla="*/ 0 h 66"/>
                  <a:gd name="T4" fmla="*/ 0 w 155"/>
                  <a:gd name="T5" fmla="*/ 0 h 66"/>
                  <a:gd name="T6" fmla="*/ 6 w 155"/>
                  <a:gd name="T7" fmla="*/ 6 h 66"/>
                  <a:gd name="T8" fmla="*/ 6 w 155"/>
                  <a:gd name="T9" fmla="*/ 18 h 66"/>
                  <a:gd name="T10" fmla="*/ 0 w 155"/>
                  <a:gd name="T11" fmla="*/ 24 h 66"/>
                  <a:gd name="T12" fmla="*/ 78 w 155"/>
                  <a:gd name="T13" fmla="*/ 60 h 66"/>
                  <a:gd name="T14" fmla="*/ 96 w 155"/>
                  <a:gd name="T15" fmla="*/ 42 h 66"/>
                  <a:gd name="T16" fmla="*/ 155 w 155"/>
                  <a:gd name="T17" fmla="*/ 66 h 66"/>
                  <a:gd name="T18" fmla="*/ 126 w 155"/>
                  <a:gd name="T19" fmla="*/ 24 h 66"/>
                  <a:gd name="T20" fmla="*/ 149 w 155"/>
                  <a:gd name="T21" fmla="*/ 0 h 66"/>
                  <a:gd name="T22" fmla="*/ 114 w 155"/>
                  <a:gd name="T23" fmla="*/ 0 h 66"/>
                  <a:gd name="T24" fmla="*/ 114 w 155"/>
                  <a:gd name="T25"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5" h="66">
                    <a:moveTo>
                      <a:pt x="114" y="0"/>
                    </a:moveTo>
                    <a:lnTo>
                      <a:pt x="0" y="0"/>
                    </a:lnTo>
                    <a:lnTo>
                      <a:pt x="0" y="0"/>
                    </a:lnTo>
                    <a:lnTo>
                      <a:pt x="6" y="6"/>
                    </a:lnTo>
                    <a:lnTo>
                      <a:pt x="6" y="18"/>
                    </a:lnTo>
                    <a:lnTo>
                      <a:pt x="0" y="24"/>
                    </a:lnTo>
                    <a:lnTo>
                      <a:pt x="78" y="60"/>
                    </a:lnTo>
                    <a:lnTo>
                      <a:pt x="96" y="42"/>
                    </a:lnTo>
                    <a:lnTo>
                      <a:pt x="155" y="66"/>
                    </a:lnTo>
                    <a:lnTo>
                      <a:pt x="126" y="24"/>
                    </a:lnTo>
                    <a:lnTo>
                      <a:pt x="149" y="0"/>
                    </a:lnTo>
                    <a:lnTo>
                      <a:pt x="114" y="0"/>
                    </a:lnTo>
                    <a:lnTo>
                      <a:pt x="11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05" name="Freeform 13">
                <a:extLst>
                  <a:ext uri="{FF2B5EF4-FFF2-40B4-BE49-F238E27FC236}">
                    <a16:creationId xmlns:a16="http://schemas.microsoft.com/office/drawing/2014/main" id="{F3F0DE99-8FFC-C48C-00A2-405D6AF558B6}"/>
                  </a:ext>
                </a:extLst>
              </p:cNvPr>
              <p:cNvSpPr>
                <a:spLocks/>
              </p:cNvSpPr>
              <p:nvPr userDrawn="1"/>
            </p:nvSpPr>
            <p:spPr bwMode="ltGray">
              <a:xfrm>
                <a:off x="2486" y="3859"/>
                <a:ext cx="42" cy="81"/>
              </a:xfrm>
              <a:custGeom>
                <a:avLst/>
                <a:gdLst>
                  <a:gd name="T0" fmla="*/ 6 w 42"/>
                  <a:gd name="T1" fmla="*/ 36 h 72"/>
                  <a:gd name="T2" fmla="*/ 0 w 42"/>
                  <a:gd name="T3" fmla="*/ 18 h 72"/>
                  <a:gd name="T4" fmla="*/ 12 w 42"/>
                  <a:gd name="T5" fmla="*/ 6 h 72"/>
                  <a:gd name="T6" fmla="*/ 0 w 42"/>
                  <a:gd name="T7" fmla="*/ 6 h 72"/>
                  <a:gd name="T8" fmla="*/ 12 w 42"/>
                  <a:gd name="T9" fmla="*/ 6 h 72"/>
                  <a:gd name="T10" fmla="*/ 24 w 42"/>
                  <a:gd name="T11" fmla="*/ 6 h 72"/>
                  <a:gd name="T12" fmla="*/ 36 w 42"/>
                  <a:gd name="T13" fmla="*/ 6 h 72"/>
                  <a:gd name="T14" fmla="*/ 42 w 42"/>
                  <a:gd name="T15" fmla="*/ 0 h 72"/>
                  <a:gd name="T16" fmla="*/ 30 w 42"/>
                  <a:gd name="T17" fmla="*/ 18 h 72"/>
                  <a:gd name="T18" fmla="*/ 42 w 42"/>
                  <a:gd name="T19" fmla="*/ 48 h 72"/>
                  <a:gd name="T20" fmla="*/ 12 w 42"/>
                  <a:gd name="T21" fmla="*/ 72 h 72"/>
                  <a:gd name="T22" fmla="*/ 6 w 42"/>
                  <a:gd name="T23" fmla="*/ 36 h 72"/>
                  <a:gd name="T24" fmla="*/ 6 w 42"/>
                  <a:gd name="T25" fmla="*/ 3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72">
                    <a:moveTo>
                      <a:pt x="6" y="36"/>
                    </a:moveTo>
                    <a:lnTo>
                      <a:pt x="0" y="18"/>
                    </a:lnTo>
                    <a:lnTo>
                      <a:pt x="12" y="6"/>
                    </a:lnTo>
                    <a:lnTo>
                      <a:pt x="0" y="6"/>
                    </a:lnTo>
                    <a:lnTo>
                      <a:pt x="12" y="6"/>
                    </a:lnTo>
                    <a:lnTo>
                      <a:pt x="24" y="6"/>
                    </a:lnTo>
                    <a:lnTo>
                      <a:pt x="36" y="6"/>
                    </a:lnTo>
                    <a:lnTo>
                      <a:pt x="42" y="0"/>
                    </a:lnTo>
                    <a:lnTo>
                      <a:pt x="30" y="18"/>
                    </a:lnTo>
                    <a:lnTo>
                      <a:pt x="42" y="48"/>
                    </a:lnTo>
                    <a:lnTo>
                      <a:pt x="12" y="72"/>
                    </a:lnTo>
                    <a:lnTo>
                      <a:pt x="6" y="36"/>
                    </a:lnTo>
                    <a:lnTo>
                      <a:pt x="6"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4206" name="Freeform 14">
              <a:extLst>
                <a:ext uri="{FF2B5EF4-FFF2-40B4-BE49-F238E27FC236}">
                  <a16:creationId xmlns:a16="http://schemas.microsoft.com/office/drawing/2014/main" id="{9919242A-8738-0EA6-3A94-A6A2DE76BC16}"/>
                </a:ext>
              </a:extLst>
            </p:cNvPr>
            <p:cNvSpPr>
              <a:spLocks/>
            </p:cNvSpPr>
            <p:nvPr userDrawn="1"/>
          </p:nvSpPr>
          <p:spPr bwMode="ltGray">
            <a:xfrm>
              <a:off x="0" y="3792"/>
              <a:ext cx="3976" cy="535"/>
            </a:xfrm>
            <a:custGeom>
              <a:avLst/>
              <a:gdLst>
                <a:gd name="T0" fmla="*/ 3976 w 3976"/>
                <a:gd name="T1" fmla="*/ 527 h 527"/>
                <a:gd name="T2" fmla="*/ 3970 w 3976"/>
                <a:gd name="T3" fmla="*/ 527 h 527"/>
                <a:gd name="T4" fmla="*/ 3844 w 3976"/>
                <a:gd name="T5" fmla="*/ 509 h 527"/>
                <a:gd name="T6" fmla="*/ 2487 w 3976"/>
                <a:gd name="T7" fmla="*/ 305 h 527"/>
                <a:gd name="T8" fmla="*/ 2039 w 3976"/>
                <a:gd name="T9" fmla="*/ 36 h 527"/>
                <a:gd name="T10" fmla="*/ 1907 w 3976"/>
                <a:gd name="T11" fmla="*/ 24 h 527"/>
                <a:gd name="T12" fmla="*/ 1883 w 3976"/>
                <a:gd name="T13" fmla="*/ 54 h 527"/>
                <a:gd name="T14" fmla="*/ 1859 w 3976"/>
                <a:gd name="T15" fmla="*/ 54 h 527"/>
                <a:gd name="T16" fmla="*/ 1830 w 3976"/>
                <a:gd name="T17" fmla="*/ 30 h 527"/>
                <a:gd name="T18" fmla="*/ 1704 w 3976"/>
                <a:gd name="T19" fmla="*/ 102 h 527"/>
                <a:gd name="T20" fmla="*/ 1608 w 3976"/>
                <a:gd name="T21" fmla="*/ 126 h 527"/>
                <a:gd name="T22" fmla="*/ 1561 w 3976"/>
                <a:gd name="T23" fmla="*/ 132 h 527"/>
                <a:gd name="T24" fmla="*/ 1495 w 3976"/>
                <a:gd name="T25" fmla="*/ 102 h 527"/>
                <a:gd name="T26" fmla="*/ 1357 w 3976"/>
                <a:gd name="T27" fmla="*/ 126 h 527"/>
                <a:gd name="T28" fmla="*/ 1285 w 3976"/>
                <a:gd name="T29" fmla="*/ 24 h 527"/>
                <a:gd name="T30" fmla="*/ 1280 w 3976"/>
                <a:gd name="T31" fmla="*/ 18 h 527"/>
                <a:gd name="T32" fmla="*/ 1262 w 3976"/>
                <a:gd name="T33" fmla="*/ 12 h 527"/>
                <a:gd name="T34" fmla="*/ 1238 w 3976"/>
                <a:gd name="T35" fmla="*/ 6 h 527"/>
                <a:gd name="T36" fmla="*/ 1220 w 3976"/>
                <a:gd name="T37" fmla="*/ 0 h 527"/>
                <a:gd name="T38" fmla="*/ 1196 w 3976"/>
                <a:gd name="T39" fmla="*/ 0 h 527"/>
                <a:gd name="T40" fmla="*/ 1166 w 3976"/>
                <a:gd name="T41" fmla="*/ 0 h 527"/>
                <a:gd name="T42" fmla="*/ 1142 w 3976"/>
                <a:gd name="T43" fmla="*/ 0 h 527"/>
                <a:gd name="T44" fmla="*/ 1136 w 3976"/>
                <a:gd name="T45" fmla="*/ 0 h 527"/>
                <a:gd name="T46" fmla="*/ 1130 w 3976"/>
                <a:gd name="T47" fmla="*/ 0 h 527"/>
                <a:gd name="T48" fmla="*/ 1124 w 3976"/>
                <a:gd name="T49" fmla="*/ 6 h 527"/>
                <a:gd name="T50" fmla="*/ 1118 w 3976"/>
                <a:gd name="T51" fmla="*/ 12 h 527"/>
                <a:gd name="T52" fmla="*/ 1100 w 3976"/>
                <a:gd name="T53" fmla="*/ 18 h 527"/>
                <a:gd name="T54" fmla="*/ 1088 w 3976"/>
                <a:gd name="T55" fmla="*/ 18 h 527"/>
                <a:gd name="T56" fmla="*/ 1070 w 3976"/>
                <a:gd name="T57" fmla="*/ 24 h 527"/>
                <a:gd name="T58" fmla="*/ 1052 w 3976"/>
                <a:gd name="T59" fmla="*/ 30 h 527"/>
                <a:gd name="T60" fmla="*/ 1034 w 3976"/>
                <a:gd name="T61" fmla="*/ 36 h 527"/>
                <a:gd name="T62" fmla="*/ 1028 w 3976"/>
                <a:gd name="T63" fmla="*/ 42 h 527"/>
                <a:gd name="T64" fmla="*/ 969 w 3976"/>
                <a:gd name="T65" fmla="*/ 60 h 527"/>
                <a:gd name="T66" fmla="*/ 921 w 3976"/>
                <a:gd name="T67" fmla="*/ 72 h 527"/>
                <a:gd name="T68" fmla="*/ 855 w 3976"/>
                <a:gd name="T69" fmla="*/ 48 h 527"/>
                <a:gd name="T70" fmla="*/ 825 w 3976"/>
                <a:gd name="T71" fmla="*/ 48 h 527"/>
                <a:gd name="T72" fmla="*/ 759 w 3976"/>
                <a:gd name="T73" fmla="*/ 72 h 527"/>
                <a:gd name="T74" fmla="*/ 735 w 3976"/>
                <a:gd name="T75" fmla="*/ 72 h 527"/>
                <a:gd name="T76" fmla="*/ 706 w 3976"/>
                <a:gd name="T77" fmla="*/ 60 h 527"/>
                <a:gd name="T78" fmla="*/ 640 w 3976"/>
                <a:gd name="T79" fmla="*/ 60 h 527"/>
                <a:gd name="T80" fmla="*/ 544 w 3976"/>
                <a:gd name="T81" fmla="*/ 72 h 527"/>
                <a:gd name="T82" fmla="*/ 389 w 3976"/>
                <a:gd name="T83" fmla="*/ 18 h 527"/>
                <a:gd name="T84" fmla="*/ 323 w 3976"/>
                <a:gd name="T85" fmla="*/ 60 h 527"/>
                <a:gd name="T86" fmla="*/ 317 w 3976"/>
                <a:gd name="T87" fmla="*/ 60 h 527"/>
                <a:gd name="T88" fmla="*/ 305 w 3976"/>
                <a:gd name="T89" fmla="*/ 72 h 527"/>
                <a:gd name="T90" fmla="*/ 287 w 3976"/>
                <a:gd name="T91" fmla="*/ 78 h 527"/>
                <a:gd name="T92" fmla="*/ 263 w 3976"/>
                <a:gd name="T93" fmla="*/ 90 h 527"/>
                <a:gd name="T94" fmla="*/ 203 w 3976"/>
                <a:gd name="T95" fmla="*/ 120 h 527"/>
                <a:gd name="T96" fmla="*/ 149 w 3976"/>
                <a:gd name="T97" fmla="*/ 150 h 527"/>
                <a:gd name="T98" fmla="*/ 78 w 3976"/>
                <a:gd name="T99" fmla="*/ 168 h 527"/>
                <a:gd name="T100" fmla="*/ 0 w 3976"/>
                <a:gd name="T101" fmla="*/ 180 h 527"/>
                <a:gd name="T102" fmla="*/ 0 w 3976"/>
                <a:gd name="T103" fmla="*/ 527 h 527"/>
                <a:gd name="T104" fmla="*/ 1010 w 3976"/>
                <a:gd name="T105" fmla="*/ 527 h 527"/>
                <a:gd name="T106" fmla="*/ 3725 w 3976"/>
                <a:gd name="T107" fmla="*/ 527 h 527"/>
                <a:gd name="T108" fmla="*/ 3976 w 3976"/>
                <a:gd name="T109" fmla="*/ 527 h 527"/>
                <a:gd name="T110" fmla="*/ 3976 w 3976"/>
                <a:gd name="T111" fmla="*/ 52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76" h="527">
                  <a:moveTo>
                    <a:pt x="3976" y="527"/>
                  </a:moveTo>
                  <a:lnTo>
                    <a:pt x="3970" y="527"/>
                  </a:lnTo>
                  <a:lnTo>
                    <a:pt x="3844" y="509"/>
                  </a:lnTo>
                  <a:lnTo>
                    <a:pt x="2487" y="305"/>
                  </a:lnTo>
                  <a:lnTo>
                    <a:pt x="2039" y="36"/>
                  </a:lnTo>
                  <a:lnTo>
                    <a:pt x="1907" y="24"/>
                  </a:lnTo>
                  <a:lnTo>
                    <a:pt x="1883" y="54"/>
                  </a:lnTo>
                  <a:lnTo>
                    <a:pt x="1859" y="54"/>
                  </a:lnTo>
                  <a:lnTo>
                    <a:pt x="1830" y="30"/>
                  </a:lnTo>
                  <a:lnTo>
                    <a:pt x="1704" y="102"/>
                  </a:lnTo>
                  <a:lnTo>
                    <a:pt x="1608" y="126"/>
                  </a:lnTo>
                  <a:lnTo>
                    <a:pt x="1561" y="132"/>
                  </a:lnTo>
                  <a:lnTo>
                    <a:pt x="1495" y="102"/>
                  </a:lnTo>
                  <a:lnTo>
                    <a:pt x="1357" y="126"/>
                  </a:lnTo>
                  <a:lnTo>
                    <a:pt x="1285" y="24"/>
                  </a:lnTo>
                  <a:lnTo>
                    <a:pt x="1280" y="18"/>
                  </a:lnTo>
                  <a:lnTo>
                    <a:pt x="1262" y="12"/>
                  </a:lnTo>
                  <a:lnTo>
                    <a:pt x="1238" y="6"/>
                  </a:lnTo>
                  <a:lnTo>
                    <a:pt x="1220" y="0"/>
                  </a:lnTo>
                  <a:lnTo>
                    <a:pt x="1196" y="0"/>
                  </a:lnTo>
                  <a:lnTo>
                    <a:pt x="1166" y="0"/>
                  </a:lnTo>
                  <a:lnTo>
                    <a:pt x="1142" y="0"/>
                  </a:lnTo>
                  <a:lnTo>
                    <a:pt x="1136" y="0"/>
                  </a:lnTo>
                  <a:lnTo>
                    <a:pt x="1130" y="0"/>
                  </a:lnTo>
                  <a:lnTo>
                    <a:pt x="1124" y="6"/>
                  </a:lnTo>
                  <a:lnTo>
                    <a:pt x="1118" y="12"/>
                  </a:lnTo>
                  <a:lnTo>
                    <a:pt x="1100" y="18"/>
                  </a:lnTo>
                  <a:lnTo>
                    <a:pt x="1088" y="18"/>
                  </a:lnTo>
                  <a:lnTo>
                    <a:pt x="1070" y="24"/>
                  </a:lnTo>
                  <a:lnTo>
                    <a:pt x="1052" y="30"/>
                  </a:lnTo>
                  <a:lnTo>
                    <a:pt x="1034" y="36"/>
                  </a:lnTo>
                  <a:lnTo>
                    <a:pt x="1028" y="42"/>
                  </a:lnTo>
                  <a:lnTo>
                    <a:pt x="969" y="60"/>
                  </a:lnTo>
                  <a:lnTo>
                    <a:pt x="921" y="72"/>
                  </a:lnTo>
                  <a:lnTo>
                    <a:pt x="855" y="48"/>
                  </a:lnTo>
                  <a:lnTo>
                    <a:pt x="825" y="48"/>
                  </a:lnTo>
                  <a:lnTo>
                    <a:pt x="759" y="72"/>
                  </a:lnTo>
                  <a:lnTo>
                    <a:pt x="735" y="72"/>
                  </a:lnTo>
                  <a:lnTo>
                    <a:pt x="706" y="60"/>
                  </a:lnTo>
                  <a:lnTo>
                    <a:pt x="640" y="60"/>
                  </a:lnTo>
                  <a:lnTo>
                    <a:pt x="544" y="72"/>
                  </a:lnTo>
                  <a:lnTo>
                    <a:pt x="389" y="18"/>
                  </a:lnTo>
                  <a:lnTo>
                    <a:pt x="323" y="60"/>
                  </a:lnTo>
                  <a:lnTo>
                    <a:pt x="317" y="60"/>
                  </a:lnTo>
                  <a:lnTo>
                    <a:pt x="305" y="72"/>
                  </a:lnTo>
                  <a:lnTo>
                    <a:pt x="287" y="78"/>
                  </a:lnTo>
                  <a:lnTo>
                    <a:pt x="263" y="90"/>
                  </a:lnTo>
                  <a:lnTo>
                    <a:pt x="203" y="120"/>
                  </a:lnTo>
                  <a:lnTo>
                    <a:pt x="149" y="150"/>
                  </a:lnTo>
                  <a:lnTo>
                    <a:pt x="78" y="168"/>
                  </a:lnTo>
                  <a:lnTo>
                    <a:pt x="0" y="180"/>
                  </a:lnTo>
                  <a:lnTo>
                    <a:pt x="0" y="527"/>
                  </a:lnTo>
                  <a:lnTo>
                    <a:pt x="1010" y="527"/>
                  </a:lnTo>
                  <a:lnTo>
                    <a:pt x="3725" y="527"/>
                  </a:lnTo>
                  <a:lnTo>
                    <a:pt x="3976" y="527"/>
                  </a:lnTo>
                  <a:lnTo>
                    <a:pt x="3976" y="527"/>
                  </a:lnTo>
                  <a:close/>
                </a:path>
              </a:pathLst>
            </a:custGeom>
            <a:gradFill rotWithShape="0">
              <a:gsLst>
                <a:gs pos="0">
                  <a:schemeClr val="bg2">
                    <a:gamma/>
                    <a:tint val="75686"/>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4207" name="Group 15">
            <a:extLst>
              <a:ext uri="{FF2B5EF4-FFF2-40B4-BE49-F238E27FC236}">
                <a16:creationId xmlns:a16="http://schemas.microsoft.com/office/drawing/2014/main" id="{A74A305C-E407-2612-CB9A-B9B43F9BC6CB}"/>
              </a:ext>
            </a:extLst>
          </p:cNvPr>
          <p:cNvGrpSpPr>
            <a:grpSpLocks/>
          </p:cNvGrpSpPr>
          <p:nvPr/>
        </p:nvGrpSpPr>
        <p:grpSpPr bwMode="auto">
          <a:xfrm>
            <a:off x="627063" y="6021388"/>
            <a:ext cx="5684837" cy="849312"/>
            <a:chOff x="395" y="3793"/>
            <a:chExt cx="3581" cy="535"/>
          </a:xfrm>
        </p:grpSpPr>
        <p:sp>
          <p:nvSpPr>
            <p:cNvPr id="264208" name="Freeform 16">
              <a:extLst>
                <a:ext uri="{FF2B5EF4-FFF2-40B4-BE49-F238E27FC236}">
                  <a16:creationId xmlns:a16="http://schemas.microsoft.com/office/drawing/2014/main" id="{90103A7C-1E31-2D3E-07CE-9F00AFF5E2CE}"/>
                </a:ext>
              </a:extLst>
            </p:cNvPr>
            <p:cNvSpPr>
              <a:spLocks/>
            </p:cNvSpPr>
            <p:nvPr/>
          </p:nvSpPr>
          <p:spPr bwMode="auto">
            <a:xfrm>
              <a:off x="1196" y="3793"/>
              <a:ext cx="365" cy="291"/>
            </a:xfrm>
            <a:custGeom>
              <a:avLst/>
              <a:gdLst>
                <a:gd name="T0" fmla="*/ 24 w 365"/>
                <a:gd name="T1" fmla="*/ 24 h 287"/>
                <a:gd name="T2" fmla="*/ 0 w 365"/>
                <a:gd name="T3" fmla="*/ 60 h 287"/>
                <a:gd name="T4" fmla="*/ 66 w 365"/>
                <a:gd name="T5" fmla="*/ 108 h 287"/>
                <a:gd name="T6" fmla="*/ 143 w 365"/>
                <a:gd name="T7" fmla="*/ 180 h 287"/>
                <a:gd name="T8" fmla="*/ 191 w 365"/>
                <a:gd name="T9" fmla="*/ 168 h 287"/>
                <a:gd name="T10" fmla="*/ 341 w 365"/>
                <a:gd name="T11" fmla="*/ 287 h 287"/>
                <a:gd name="T12" fmla="*/ 305 w 365"/>
                <a:gd name="T13" fmla="*/ 174 h 287"/>
                <a:gd name="T14" fmla="*/ 365 w 365"/>
                <a:gd name="T15" fmla="*/ 132 h 287"/>
                <a:gd name="T16" fmla="*/ 359 w 365"/>
                <a:gd name="T17" fmla="*/ 126 h 287"/>
                <a:gd name="T18" fmla="*/ 335 w 365"/>
                <a:gd name="T19" fmla="*/ 114 h 287"/>
                <a:gd name="T20" fmla="*/ 299 w 365"/>
                <a:gd name="T21" fmla="*/ 90 h 287"/>
                <a:gd name="T22" fmla="*/ 257 w 365"/>
                <a:gd name="T23" fmla="*/ 72 h 287"/>
                <a:gd name="T24" fmla="*/ 215 w 365"/>
                <a:gd name="T25" fmla="*/ 54 h 287"/>
                <a:gd name="T26" fmla="*/ 173 w 365"/>
                <a:gd name="T27" fmla="*/ 36 h 287"/>
                <a:gd name="T28" fmla="*/ 143 w 365"/>
                <a:gd name="T29" fmla="*/ 24 h 287"/>
                <a:gd name="T30" fmla="*/ 131 w 365"/>
                <a:gd name="T31" fmla="*/ 18 h 287"/>
                <a:gd name="T32" fmla="*/ 107 w 365"/>
                <a:gd name="T33" fmla="*/ 18 h 287"/>
                <a:gd name="T34" fmla="*/ 95 w 365"/>
                <a:gd name="T35" fmla="*/ 18 h 287"/>
                <a:gd name="T36" fmla="*/ 72 w 365"/>
                <a:gd name="T37" fmla="*/ 12 h 287"/>
                <a:gd name="T38" fmla="*/ 66 w 365"/>
                <a:gd name="T39" fmla="*/ 12 h 287"/>
                <a:gd name="T40" fmla="*/ 54 w 365"/>
                <a:gd name="T41" fmla="*/ 6 h 287"/>
                <a:gd name="T42" fmla="*/ 42 w 365"/>
                <a:gd name="T43" fmla="*/ 0 h 287"/>
                <a:gd name="T44" fmla="*/ 30 w 365"/>
                <a:gd name="T45" fmla="*/ 0 h 287"/>
                <a:gd name="T46" fmla="*/ 24 w 365"/>
                <a:gd name="T47" fmla="*/ 24 h 287"/>
                <a:gd name="T48" fmla="*/ 24 w 365"/>
                <a:gd name="T49" fmla="*/ 2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5" h="287">
                  <a:moveTo>
                    <a:pt x="24" y="24"/>
                  </a:moveTo>
                  <a:lnTo>
                    <a:pt x="0" y="60"/>
                  </a:lnTo>
                  <a:lnTo>
                    <a:pt x="66" y="108"/>
                  </a:lnTo>
                  <a:lnTo>
                    <a:pt x="143" y="180"/>
                  </a:lnTo>
                  <a:lnTo>
                    <a:pt x="191" y="168"/>
                  </a:lnTo>
                  <a:lnTo>
                    <a:pt x="341" y="287"/>
                  </a:lnTo>
                  <a:lnTo>
                    <a:pt x="305" y="174"/>
                  </a:lnTo>
                  <a:lnTo>
                    <a:pt x="365" y="132"/>
                  </a:lnTo>
                  <a:lnTo>
                    <a:pt x="359" y="126"/>
                  </a:lnTo>
                  <a:lnTo>
                    <a:pt x="335" y="114"/>
                  </a:lnTo>
                  <a:lnTo>
                    <a:pt x="299" y="90"/>
                  </a:lnTo>
                  <a:lnTo>
                    <a:pt x="257" y="72"/>
                  </a:lnTo>
                  <a:lnTo>
                    <a:pt x="215" y="54"/>
                  </a:lnTo>
                  <a:lnTo>
                    <a:pt x="173" y="36"/>
                  </a:lnTo>
                  <a:lnTo>
                    <a:pt x="143" y="24"/>
                  </a:lnTo>
                  <a:lnTo>
                    <a:pt x="131" y="18"/>
                  </a:lnTo>
                  <a:lnTo>
                    <a:pt x="107" y="18"/>
                  </a:lnTo>
                  <a:lnTo>
                    <a:pt x="95" y="18"/>
                  </a:lnTo>
                  <a:lnTo>
                    <a:pt x="72" y="12"/>
                  </a:lnTo>
                  <a:lnTo>
                    <a:pt x="66" y="12"/>
                  </a:lnTo>
                  <a:lnTo>
                    <a:pt x="54" y="6"/>
                  </a:lnTo>
                  <a:lnTo>
                    <a:pt x="42" y="0"/>
                  </a:lnTo>
                  <a:lnTo>
                    <a:pt x="30" y="0"/>
                  </a:lnTo>
                  <a:lnTo>
                    <a:pt x="24" y="24"/>
                  </a:lnTo>
                  <a:lnTo>
                    <a:pt x="24" y="2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09" name="Freeform 17">
              <a:extLst>
                <a:ext uri="{FF2B5EF4-FFF2-40B4-BE49-F238E27FC236}">
                  <a16:creationId xmlns:a16="http://schemas.microsoft.com/office/drawing/2014/main" id="{127AF0E9-20D9-E545-E2CD-FB72F3ED39B8}"/>
                </a:ext>
              </a:extLst>
            </p:cNvPr>
            <p:cNvSpPr>
              <a:spLocks/>
            </p:cNvSpPr>
            <p:nvPr/>
          </p:nvSpPr>
          <p:spPr bwMode="auto">
            <a:xfrm>
              <a:off x="1943" y="3829"/>
              <a:ext cx="2033" cy="499"/>
            </a:xfrm>
            <a:custGeom>
              <a:avLst/>
              <a:gdLst>
                <a:gd name="T0" fmla="*/ 186 w 2033"/>
                <a:gd name="T1" fmla="*/ 18 h 499"/>
                <a:gd name="T2" fmla="*/ 138 w 2033"/>
                <a:gd name="T3" fmla="*/ 6 h 499"/>
                <a:gd name="T4" fmla="*/ 96 w 2033"/>
                <a:gd name="T5" fmla="*/ 0 h 499"/>
                <a:gd name="T6" fmla="*/ 36 w 2033"/>
                <a:gd name="T7" fmla="*/ 0 h 499"/>
                <a:gd name="T8" fmla="*/ 12 w 2033"/>
                <a:gd name="T9" fmla="*/ 25 h 499"/>
                <a:gd name="T10" fmla="*/ 0 w 2033"/>
                <a:gd name="T11" fmla="*/ 128 h 499"/>
                <a:gd name="T12" fmla="*/ 60 w 2033"/>
                <a:gd name="T13" fmla="*/ 104 h 499"/>
                <a:gd name="T14" fmla="*/ 90 w 2033"/>
                <a:gd name="T15" fmla="*/ 134 h 499"/>
                <a:gd name="T16" fmla="*/ 150 w 2033"/>
                <a:gd name="T17" fmla="*/ 153 h 499"/>
                <a:gd name="T18" fmla="*/ 209 w 2033"/>
                <a:gd name="T19" fmla="*/ 273 h 499"/>
                <a:gd name="T20" fmla="*/ 401 w 2033"/>
                <a:gd name="T21" fmla="*/ 359 h 499"/>
                <a:gd name="T22" fmla="*/ 777 w 2033"/>
                <a:gd name="T23" fmla="*/ 359 h 499"/>
                <a:gd name="T24" fmla="*/ 2033 w 2033"/>
                <a:gd name="T25" fmla="*/ 499 h 499"/>
                <a:gd name="T26" fmla="*/ 2033 w 2033"/>
                <a:gd name="T27" fmla="*/ 499 h 499"/>
                <a:gd name="T28" fmla="*/ 1991 w 2033"/>
                <a:gd name="T29" fmla="*/ 493 h 499"/>
                <a:gd name="T30" fmla="*/ 676 w 2033"/>
                <a:gd name="T31" fmla="*/ 243 h 499"/>
                <a:gd name="T32" fmla="*/ 514 w 2033"/>
                <a:gd name="T33" fmla="*/ 159 h 499"/>
                <a:gd name="T34" fmla="*/ 425 w 2033"/>
                <a:gd name="T35" fmla="*/ 110 h 499"/>
                <a:gd name="T36" fmla="*/ 365 w 2033"/>
                <a:gd name="T37" fmla="*/ 92 h 499"/>
                <a:gd name="T38" fmla="*/ 281 w 2033"/>
                <a:gd name="T39" fmla="*/ 61 h 499"/>
                <a:gd name="T40" fmla="*/ 186 w 2033"/>
                <a:gd name="T41" fmla="*/ 18 h 499"/>
                <a:gd name="T42" fmla="*/ 186 w 2033"/>
                <a:gd name="T43" fmla="*/ 18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33" h="499">
                  <a:moveTo>
                    <a:pt x="186" y="18"/>
                  </a:moveTo>
                  <a:lnTo>
                    <a:pt x="138" y="6"/>
                  </a:lnTo>
                  <a:lnTo>
                    <a:pt x="96" y="0"/>
                  </a:lnTo>
                  <a:lnTo>
                    <a:pt x="36" y="0"/>
                  </a:lnTo>
                  <a:lnTo>
                    <a:pt x="12" y="25"/>
                  </a:lnTo>
                  <a:lnTo>
                    <a:pt x="0" y="128"/>
                  </a:lnTo>
                  <a:lnTo>
                    <a:pt x="60" y="104"/>
                  </a:lnTo>
                  <a:lnTo>
                    <a:pt x="90" y="134"/>
                  </a:lnTo>
                  <a:lnTo>
                    <a:pt x="150" y="153"/>
                  </a:lnTo>
                  <a:lnTo>
                    <a:pt x="209" y="273"/>
                  </a:lnTo>
                  <a:lnTo>
                    <a:pt x="401" y="359"/>
                  </a:lnTo>
                  <a:lnTo>
                    <a:pt x="777" y="359"/>
                  </a:lnTo>
                  <a:lnTo>
                    <a:pt x="2033" y="499"/>
                  </a:lnTo>
                  <a:lnTo>
                    <a:pt x="2033" y="499"/>
                  </a:lnTo>
                  <a:lnTo>
                    <a:pt x="1991" y="493"/>
                  </a:lnTo>
                  <a:lnTo>
                    <a:pt x="676" y="243"/>
                  </a:lnTo>
                  <a:lnTo>
                    <a:pt x="514" y="159"/>
                  </a:lnTo>
                  <a:lnTo>
                    <a:pt x="425" y="110"/>
                  </a:lnTo>
                  <a:lnTo>
                    <a:pt x="365" y="92"/>
                  </a:lnTo>
                  <a:lnTo>
                    <a:pt x="281" y="61"/>
                  </a:lnTo>
                  <a:lnTo>
                    <a:pt x="186" y="18"/>
                  </a:lnTo>
                  <a:lnTo>
                    <a:pt x="186"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10" name="Freeform 18">
              <a:extLst>
                <a:ext uri="{FF2B5EF4-FFF2-40B4-BE49-F238E27FC236}">
                  <a16:creationId xmlns:a16="http://schemas.microsoft.com/office/drawing/2014/main" id="{5B350924-6BDC-1F7B-5405-649259AFB828}"/>
                </a:ext>
              </a:extLst>
            </p:cNvPr>
            <p:cNvSpPr>
              <a:spLocks/>
            </p:cNvSpPr>
            <p:nvPr/>
          </p:nvSpPr>
          <p:spPr bwMode="auto">
            <a:xfrm>
              <a:off x="1830" y="3823"/>
              <a:ext cx="71" cy="61"/>
            </a:xfrm>
            <a:custGeom>
              <a:avLst/>
              <a:gdLst>
                <a:gd name="T0" fmla="*/ 0 w 71"/>
                <a:gd name="T1" fmla="*/ 18 h 60"/>
                <a:gd name="T2" fmla="*/ 6 w 71"/>
                <a:gd name="T3" fmla="*/ 18 h 60"/>
                <a:gd name="T4" fmla="*/ 12 w 71"/>
                <a:gd name="T5" fmla="*/ 12 h 60"/>
                <a:gd name="T6" fmla="*/ 6 w 71"/>
                <a:gd name="T7" fmla="*/ 6 h 60"/>
                <a:gd name="T8" fmla="*/ 0 w 71"/>
                <a:gd name="T9" fmla="*/ 0 h 60"/>
                <a:gd name="T10" fmla="*/ 29 w 71"/>
                <a:gd name="T11" fmla="*/ 18 h 60"/>
                <a:gd name="T12" fmla="*/ 53 w 71"/>
                <a:gd name="T13" fmla="*/ 18 h 60"/>
                <a:gd name="T14" fmla="*/ 59 w 71"/>
                <a:gd name="T15" fmla="*/ 30 h 60"/>
                <a:gd name="T16" fmla="*/ 65 w 71"/>
                <a:gd name="T17" fmla="*/ 42 h 60"/>
                <a:gd name="T18" fmla="*/ 71 w 71"/>
                <a:gd name="T19" fmla="*/ 54 h 60"/>
                <a:gd name="T20" fmla="*/ 71 w 71"/>
                <a:gd name="T21" fmla="*/ 60 h 60"/>
                <a:gd name="T22" fmla="*/ 59 w 71"/>
                <a:gd name="T23" fmla="*/ 54 h 60"/>
                <a:gd name="T24" fmla="*/ 47 w 71"/>
                <a:gd name="T25" fmla="*/ 42 h 60"/>
                <a:gd name="T26" fmla="*/ 23 w 71"/>
                <a:gd name="T27" fmla="*/ 30 h 60"/>
                <a:gd name="T28" fmla="*/ 23 w 71"/>
                <a:gd name="T29" fmla="*/ 36 h 60"/>
                <a:gd name="T30" fmla="*/ 18 w 71"/>
                <a:gd name="T31" fmla="*/ 42 h 60"/>
                <a:gd name="T32" fmla="*/ 12 w 71"/>
                <a:gd name="T33" fmla="*/ 48 h 60"/>
                <a:gd name="T34" fmla="*/ 6 w 71"/>
                <a:gd name="T35" fmla="*/ 48 h 60"/>
                <a:gd name="T36" fmla="*/ 6 w 71"/>
                <a:gd name="T37" fmla="*/ 48 h 60"/>
                <a:gd name="T38" fmla="*/ 6 w 71"/>
                <a:gd name="T39" fmla="*/ 36 h 60"/>
                <a:gd name="T40" fmla="*/ 0 w 71"/>
                <a:gd name="T41" fmla="*/ 18 h 60"/>
                <a:gd name="T42" fmla="*/ 0 w 71"/>
                <a:gd name="T43" fmla="*/ 1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1" h="60">
                  <a:moveTo>
                    <a:pt x="0" y="18"/>
                  </a:moveTo>
                  <a:lnTo>
                    <a:pt x="6" y="18"/>
                  </a:lnTo>
                  <a:lnTo>
                    <a:pt x="12" y="12"/>
                  </a:lnTo>
                  <a:lnTo>
                    <a:pt x="6" y="6"/>
                  </a:lnTo>
                  <a:lnTo>
                    <a:pt x="0" y="0"/>
                  </a:lnTo>
                  <a:lnTo>
                    <a:pt x="29" y="18"/>
                  </a:lnTo>
                  <a:lnTo>
                    <a:pt x="53" y="18"/>
                  </a:lnTo>
                  <a:lnTo>
                    <a:pt x="59" y="30"/>
                  </a:lnTo>
                  <a:lnTo>
                    <a:pt x="65" y="42"/>
                  </a:lnTo>
                  <a:lnTo>
                    <a:pt x="71" y="54"/>
                  </a:lnTo>
                  <a:lnTo>
                    <a:pt x="71" y="60"/>
                  </a:lnTo>
                  <a:lnTo>
                    <a:pt x="59" y="54"/>
                  </a:lnTo>
                  <a:lnTo>
                    <a:pt x="47" y="42"/>
                  </a:lnTo>
                  <a:lnTo>
                    <a:pt x="23" y="30"/>
                  </a:lnTo>
                  <a:lnTo>
                    <a:pt x="23" y="36"/>
                  </a:lnTo>
                  <a:lnTo>
                    <a:pt x="18" y="42"/>
                  </a:lnTo>
                  <a:lnTo>
                    <a:pt x="12" y="48"/>
                  </a:lnTo>
                  <a:lnTo>
                    <a:pt x="6" y="48"/>
                  </a:lnTo>
                  <a:lnTo>
                    <a:pt x="6" y="48"/>
                  </a:lnTo>
                  <a:lnTo>
                    <a:pt x="6" y="36"/>
                  </a:lnTo>
                  <a:lnTo>
                    <a:pt x="0" y="18"/>
                  </a:lnTo>
                  <a:lnTo>
                    <a:pt x="0"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11" name="Freeform 19">
              <a:extLst>
                <a:ext uri="{FF2B5EF4-FFF2-40B4-BE49-F238E27FC236}">
                  <a16:creationId xmlns:a16="http://schemas.microsoft.com/office/drawing/2014/main" id="{421230CC-52AD-DEBB-2D0C-9C966BD36345}"/>
                </a:ext>
              </a:extLst>
            </p:cNvPr>
            <p:cNvSpPr>
              <a:spLocks/>
            </p:cNvSpPr>
            <p:nvPr/>
          </p:nvSpPr>
          <p:spPr bwMode="auto">
            <a:xfrm>
              <a:off x="855" y="3842"/>
              <a:ext cx="161" cy="164"/>
            </a:xfrm>
            <a:custGeom>
              <a:avLst/>
              <a:gdLst>
                <a:gd name="T0" fmla="*/ 30 w 161"/>
                <a:gd name="T1" fmla="*/ 0 h 162"/>
                <a:gd name="T2" fmla="*/ 48 w 161"/>
                <a:gd name="T3" fmla="*/ 6 h 162"/>
                <a:gd name="T4" fmla="*/ 72 w 161"/>
                <a:gd name="T5" fmla="*/ 6 h 162"/>
                <a:gd name="T6" fmla="*/ 114 w 161"/>
                <a:gd name="T7" fmla="*/ 12 h 162"/>
                <a:gd name="T8" fmla="*/ 96 w 161"/>
                <a:gd name="T9" fmla="*/ 54 h 162"/>
                <a:gd name="T10" fmla="*/ 96 w 161"/>
                <a:gd name="T11" fmla="*/ 60 h 162"/>
                <a:gd name="T12" fmla="*/ 102 w 161"/>
                <a:gd name="T13" fmla="*/ 72 h 162"/>
                <a:gd name="T14" fmla="*/ 108 w 161"/>
                <a:gd name="T15" fmla="*/ 84 h 162"/>
                <a:gd name="T16" fmla="*/ 120 w 161"/>
                <a:gd name="T17" fmla="*/ 96 h 162"/>
                <a:gd name="T18" fmla="*/ 143 w 161"/>
                <a:gd name="T19" fmla="*/ 114 h 162"/>
                <a:gd name="T20" fmla="*/ 155 w 161"/>
                <a:gd name="T21" fmla="*/ 138 h 162"/>
                <a:gd name="T22" fmla="*/ 161 w 161"/>
                <a:gd name="T23" fmla="*/ 156 h 162"/>
                <a:gd name="T24" fmla="*/ 161 w 161"/>
                <a:gd name="T25" fmla="*/ 162 h 162"/>
                <a:gd name="T26" fmla="*/ 96 w 161"/>
                <a:gd name="T27" fmla="*/ 102 h 162"/>
                <a:gd name="T28" fmla="*/ 30 w 161"/>
                <a:gd name="T29" fmla="*/ 54 h 162"/>
                <a:gd name="T30" fmla="*/ 0 w 161"/>
                <a:gd name="T31" fmla="*/ 0 h 162"/>
                <a:gd name="T32" fmla="*/ 30 w 161"/>
                <a:gd name="T33" fmla="*/ 0 h 162"/>
                <a:gd name="T34" fmla="*/ 30 w 161"/>
                <a:gd name="T35"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162">
                  <a:moveTo>
                    <a:pt x="30" y="0"/>
                  </a:moveTo>
                  <a:lnTo>
                    <a:pt x="48" y="6"/>
                  </a:lnTo>
                  <a:lnTo>
                    <a:pt x="72" y="6"/>
                  </a:lnTo>
                  <a:lnTo>
                    <a:pt x="114" y="12"/>
                  </a:lnTo>
                  <a:lnTo>
                    <a:pt x="96" y="54"/>
                  </a:lnTo>
                  <a:lnTo>
                    <a:pt x="96" y="60"/>
                  </a:lnTo>
                  <a:lnTo>
                    <a:pt x="102" y="72"/>
                  </a:lnTo>
                  <a:lnTo>
                    <a:pt x="108" y="84"/>
                  </a:lnTo>
                  <a:lnTo>
                    <a:pt x="120" y="96"/>
                  </a:lnTo>
                  <a:lnTo>
                    <a:pt x="143" y="114"/>
                  </a:lnTo>
                  <a:lnTo>
                    <a:pt x="155" y="138"/>
                  </a:lnTo>
                  <a:lnTo>
                    <a:pt x="161" y="156"/>
                  </a:lnTo>
                  <a:lnTo>
                    <a:pt x="161" y="162"/>
                  </a:lnTo>
                  <a:lnTo>
                    <a:pt x="96" y="102"/>
                  </a:lnTo>
                  <a:lnTo>
                    <a:pt x="30" y="54"/>
                  </a:lnTo>
                  <a:lnTo>
                    <a:pt x="0" y="0"/>
                  </a:lnTo>
                  <a:lnTo>
                    <a:pt x="30" y="0"/>
                  </a:lnTo>
                  <a:lnTo>
                    <a:pt x="3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12" name="Freeform 20">
              <a:extLst>
                <a:ext uri="{FF2B5EF4-FFF2-40B4-BE49-F238E27FC236}">
                  <a16:creationId xmlns:a16="http://schemas.microsoft.com/office/drawing/2014/main" id="{0FEDA64D-6C52-341E-D371-827FCC4A49F3}"/>
                </a:ext>
              </a:extLst>
            </p:cNvPr>
            <p:cNvSpPr>
              <a:spLocks/>
            </p:cNvSpPr>
            <p:nvPr/>
          </p:nvSpPr>
          <p:spPr bwMode="auto">
            <a:xfrm>
              <a:off x="706" y="3854"/>
              <a:ext cx="59" cy="61"/>
            </a:xfrm>
            <a:custGeom>
              <a:avLst/>
              <a:gdLst>
                <a:gd name="T0" fmla="*/ 59 w 59"/>
                <a:gd name="T1" fmla="*/ 6 h 60"/>
                <a:gd name="T2" fmla="*/ 41 w 59"/>
                <a:gd name="T3" fmla="*/ 30 h 60"/>
                <a:gd name="T4" fmla="*/ 41 w 59"/>
                <a:gd name="T5" fmla="*/ 36 h 60"/>
                <a:gd name="T6" fmla="*/ 47 w 59"/>
                <a:gd name="T7" fmla="*/ 42 h 60"/>
                <a:gd name="T8" fmla="*/ 53 w 59"/>
                <a:gd name="T9" fmla="*/ 54 h 60"/>
                <a:gd name="T10" fmla="*/ 53 w 59"/>
                <a:gd name="T11" fmla="*/ 60 h 60"/>
                <a:gd name="T12" fmla="*/ 47 w 59"/>
                <a:gd name="T13" fmla="*/ 54 h 60"/>
                <a:gd name="T14" fmla="*/ 35 w 59"/>
                <a:gd name="T15" fmla="*/ 48 h 60"/>
                <a:gd name="T16" fmla="*/ 23 w 59"/>
                <a:gd name="T17" fmla="*/ 36 h 60"/>
                <a:gd name="T18" fmla="*/ 17 w 59"/>
                <a:gd name="T19" fmla="*/ 30 h 60"/>
                <a:gd name="T20" fmla="*/ 0 w 59"/>
                <a:gd name="T21" fmla="*/ 0 h 60"/>
                <a:gd name="T22" fmla="*/ 59 w 59"/>
                <a:gd name="T23" fmla="*/ 6 h 60"/>
                <a:gd name="T24" fmla="*/ 59 w 59"/>
                <a:gd name="T25" fmla="*/ 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60">
                  <a:moveTo>
                    <a:pt x="59" y="6"/>
                  </a:moveTo>
                  <a:lnTo>
                    <a:pt x="41" y="30"/>
                  </a:lnTo>
                  <a:lnTo>
                    <a:pt x="41" y="36"/>
                  </a:lnTo>
                  <a:lnTo>
                    <a:pt x="47" y="42"/>
                  </a:lnTo>
                  <a:lnTo>
                    <a:pt x="53" y="54"/>
                  </a:lnTo>
                  <a:lnTo>
                    <a:pt x="53" y="60"/>
                  </a:lnTo>
                  <a:lnTo>
                    <a:pt x="47" y="54"/>
                  </a:lnTo>
                  <a:lnTo>
                    <a:pt x="35" y="48"/>
                  </a:lnTo>
                  <a:lnTo>
                    <a:pt x="23" y="36"/>
                  </a:lnTo>
                  <a:lnTo>
                    <a:pt x="17" y="30"/>
                  </a:lnTo>
                  <a:lnTo>
                    <a:pt x="0" y="0"/>
                  </a:lnTo>
                  <a:lnTo>
                    <a:pt x="59" y="6"/>
                  </a:lnTo>
                  <a:lnTo>
                    <a:pt x="59" y="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13" name="Freeform 21">
              <a:extLst>
                <a:ext uri="{FF2B5EF4-FFF2-40B4-BE49-F238E27FC236}">
                  <a16:creationId xmlns:a16="http://schemas.microsoft.com/office/drawing/2014/main" id="{74836C9B-11A5-6645-73E9-D9CF00362F5A}"/>
                </a:ext>
              </a:extLst>
            </p:cNvPr>
            <p:cNvSpPr>
              <a:spLocks/>
            </p:cNvSpPr>
            <p:nvPr/>
          </p:nvSpPr>
          <p:spPr bwMode="auto">
            <a:xfrm>
              <a:off x="395" y="3811"/>
              <a:ext cx="245" cy="207"/>
            </a:xfrm>
            <a:custGeom>
              <a:avLst/>
              <a:gdLst>
                <a:gd name="T0" fmla="*/ 233 w 245"/>
                <a:gd name="T1" fmla="*/ 36 h 204"/>
                <a:gd name="T2" fmla="*/ 245 w 245"/>
                <a:gd name="T3" fmla="*/ 42 h 204"/>
                <a:gd name="T4" fmla="*/ 209 w 245"/>
                <a:gd name="T5" fmla="*/ 84 h 204"/>
                <a:gd name="T6" fmla="*/ 143 w 245"/>
                <a:gd name="T7" fmla="*/ 132 h 204"/>
                <a:gd name="T8" fmla="*/ 167 w 245"/>
                <a:gd name="T9" fmla="*/ 156 h 204"/>
                <a:gd name="T10" fmla="*/ 179 w 245"/>
                <a:gd name="T11" fmla="*/ 204 h 204"/>
                <a:gd name="T12" fmla="*/ 77 w 245"/>
                <a:gd name="T13" fmla="*/ 132 h 204"/>
                <a:gd name="T14" fmla="*/ 47 w 245"/>
                <a:gd name="T15" fmla="*/ 84 h 204"/>
                <a:gd name="T16" fmla="*/ 89 w 245"/>
                <a:gd name="T17" fmla="*/ 66 h 204"/>
                <a:gd name="T18" fmla="*/ 59 w 245"/>
                <a:gd name="T19" fmla="*/ 36 h 204"/>
                <a:gd name="T20" fmla="*/ 0 w 245"/>
                <a:gd name="T21" fmla="*/ 12 h 204"/>
                <a:gd name="T22" fmla="*/ 0 w 245"/>
                <a:gd name="T23" fmla="*/ 0 h 204"/>
                <a:gd name="T24" fmla="*/ 6 w 245"/>
                <a:gd name="T25" fmla="*/ 0 h 204"/>
                <a:gd name="T26" fmla="*/ 12 w 245"/>
                <a:gd name="T27" fmla="*/ 0 h 204"/>
                <a:gd name="T28" fmla="*/ 47 w 245"/>
                <a:gd name="T29" fmla="*/ 6 h 204"/>
                <a:gd name="T30" fmla="*/ 77 w 245"/>
                <a:gd name="T31" fmla="*/ 6 h 204"/>
                <a:gd name="T32" fmla="*/ 83 w 245"/>
                <a:gd name="T33" fmla="*/ 6 h 204"/>
                <a:gd name="T34" fmla="*/ 89 w 245"/>
                <a:gd name="T35" fmla="*/ 6 h 204"/>
                <a:gd name="T36" fmla="*/ 101 w 245"/>
                <a:gd name="T37" fmla="*/ 12 h 204"/>
                <a:gd name="T38" fmla="*/ 125 w 245"/>
                <a:gd name="T39" fmla="*/ 12 h 204"/>
                <a:gd name="T40" fmla="*/ 143 w 245"/>
                <a:gd name="T41" fmla="*/ 18 h 204"/>
                <a:gd name="T42" fmla="*/ 149 w 245"/>
                <a:gd name="T43" fmla="*/ 18 h 204"/>
                <a:gd name="T44" fmla="*/ 149 w 245"/>
                <a:gd name="T45" fmla="*/ 18 h 204"/>
                <a:gd name="T46" fmla="*/ 203 w 245"/>
                <a:gd name="T47" fmla="*/ 24 h 204"/>
                <a:gd name="T48" fmla="*/ 233 w 245"/>
                <a:gd name="T49" fmla="*/ 36 h 204"/>
                <a:gd name="T50" fmla="*/ 233 w 245"/>
                <a:gd name="T51" fmla="*/ 3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5" h="204">
                  <a:moveTo>
                    <a:pt x="233" y="36"/>
                  </a:moveTo>
                  <a:lnTo>
                    <a:pt x="245" y="42"/>
                  </a:lnTo>
                  <a:lnTo>
                    <a:pt x="209" y="84"/>
                  </a:lnTo>
                  <a:lnTo>
                    <a:pt x="143" y="132"/>
                  </a:lnTo>
                  <a:lnTo>
                    <a:pt x="167" y="156"/>
                  </a:lnTo>
                  <a:lnTo>
                    <a:pt x="179" y="204"/>
                  </a:lnTo>
                  <a:lnTo>
                    <a:pt x="77" y="132"/>
                  </a:lnTo>
                  <a:lnTo>
                    <a:pt x="47" y="84"/>
                  </a:lnTo>
                  <a:lnTo>
                    <a:pt x="89" y="66"/>
                  </a:lnTo>
                  <a:lnTo>
                    <a:pt x="59" y="36"/>
                  </a:lnTo>
                  <a:lnTo>
                    <a:pt x="0" y="12"/>
                  </a:lnTo>
                  <a:lnTo>
                    <a:pt x="0" y="0"/>
                  </a:lnTo>
                  <a:lnTo>
                    <a:pt x="6" y="0"/>
                  </a:lnTo>
                  <a:lnTo>
                    <a:pt x="12" y="0"/>
                  </a:lnTo>
                  <a:lnTo>
                    <a:pt x="47" y="6"/>
                  </a:lnTo>
                  <a:lnTo>
                    <a:pt x="77" y="6"/>
                  </a:lnTo>
                  <a:lnTo>
                    <a:pt x="83" y="6"/>
                  </a:lnTo>
                  <a:lnTo>
                    <a:pt x="89" y="6"/>
                  </a:lnTo>
                  <a:lnTo>
                    <a:pt x="101" y="12"/>
                  </a:lnTo>
                  <a:lnTo>
                    <a:pt x="125" y="12"/>
                  </a:lnTo>
                  <a:lnTo>
                    <a:pt x="143" y="18"/>
                  </a:lnTo>
                  <a:lnTo>
                    <a:pt x="149" y="18"/>
                  </a:lnTo>
                  <a:lnTo>
                    <a:pt x="149" y="18"/>
                  </a:lnTo>
                  <a:lnTo>
                    <a:pt x="203" y="24"/>
                  </a:lnTo>
                  <a:lnTo>
                    <a:pt x="233" y="36"/>
                  </a:lnTo>
                  <a:lnTo>
                    <a:pt x="233"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4214" name="Rectangle 22">
            <a:extLst>
              <a:ext uri="{FF2B5EF4-FFF2-40B4-BE49-F238E27FC236}">
                <a16:creationId xmlns:a16="http://schemas.microsoft.com/office/drawing/2014/main" id="{27D18F66-9807-8774-A066-B6B73F79AF35}"/>
              </a:ext>
            </a:extLst>
          </p:cNvPr>
          <p:cNvSpPr>
            <a:spLocks noGrp="1" noChangeArrowheads="1"/>
          </p:cNvSpPr>
          <p:nvPr>
            <p:ph type="title"/>
          </p:nvPr>
        </p:nvSpPr>
        <p:spPr bwMode="auto">
          <a:xfrm>
            <a:off x="457200" y="228600"/>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64215" name="Rectangle 23">
            <a:extLst>
              <a:ext uri="{FF2B5EF4-FFF2-40B4-BE49-F238E27FC236}">
                <a16:creationId xmlns:a16="http://schemas.microsoft.com/office/drawing/2014/main" id="{CCB5FF27-66DA-EF05-6600-C56694CDBF47}"/>
              </a:ext>
            </a:extLst>
          </p:cNvPr>
          <p:cNvSpPr>
            <a:spLocks noGrp="1" noChangeArrowheads="1"/>
          </p:cNvSpPr>
          <p:nvPr>
            <p:ph type="body" idx="1"/>
          </p:nvPr>
        </p:nvSpPr>
        <p:spPr bwMode="auto">
          <a:xfrm>
            <a:off x="457200" y="1600200"/>
            <a:ext cx="8229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64216" name="Rectangle 24">
            <a:extLst>
              <a:ext uri="{FF2B5EF4-FFF2-40B4-BE49-F238E27FC236}">
                <a16:creationId xmlns:a16="http://schemas.microsoft.com/office/drawing/2014/main" id="{5C20D837-B7E5-8A14-006A-9D5EE6156E7F}"/>
              </a:ext>
            </a:extLst>
          </p:cNvPr>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effectLst>
                  <a:outerShdw blurRad="38100" dist="38100" dir="2700000" algn="tl">
                    <a:srgbClr val="000000"/>
                  </a:outerShdw>
                </a:effectLst>
              </a:defRPr>
            </a:lvl1pPr>
          </a:lstStyle>
          <a:p>
            <a:r>
              <a:rPr lang="zh-CN" altLang="en-US"/>
              <a:t>讲义制作：李丽，陈志祥审</a:t>
            </a:r>
            <a:endParaRPr lang="en-US" altLang="zh-CN"/>
          </a:p>
        </p:txBody>
      </p:sp>
      <p:sp>
        <p:nvSpPr>
          <p:cNvPr id="264217" name="Rectangle 25">
            <a:extLst>
              <a:ext uri="{FF2B5EF4-FFF2-40B4-BE49-F238E27FC236}">
                <a16:creationId xmlns:a16="http://schemas.microsoft.com/office/drawing/2014/main" id="{14A1BDF1-67B0-F8D8-D76D-A2D324DD068D}"/>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200">
                <a:effectLst>
                  <a:outerShdw blurRad="38100" dist="38100" dir="2700000" algn="tl">
                    <a:srgbClr val="000000"/>
                  </a:outerShdw>
                </a:effectLst>
              </a:defRPr>
            </a:lvl1pPr>
          </a:lstStyle>
          <a:p>
            <a:endParaRPr lang="en-US" altLang="zh-CN"/>
          </a:p>
        </p:txBody>
      </p:sp>
      <p:sp>
        <p:nvSpPr>
          <p:cNvPr id="264218" name="Rectangle 26">
            <a:extLst>
              <a:ext uri="{FF2B5EF4-FFF2-40B4-BE49-F238E27FC236}">
                <a16:creationId xmlns:a16="http://schemas.microsoft.com/office/drawing/2014/main" id="{3D89C705-5389-57C4-096D-C71AC0623475}"/>
              </a:ext>
            </a:extLst>
          </p:cNvPr>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effectLst>
                  <a:outerShdw blurRad="38100" dist="38100" dir="2700000" algn="tl">
                    <a:srgbClr val="000000"/>
                  </a:outerShdw>
                </a:effectLst>
              </a:defRPr>
            </a:lvl1pPr>
          </a:lstStyle>
          <a:p>
            <a:fld id="{BAC0523E-6505-4FA8-ADB6-2510CC09600F}" type="slidenum">
              <a:rPr lang="en-US" altLang="zh-CN"/>
              <a:pPr/>
              <a:t>‹#›</a:t>
            </a:fld>
            <a:endParaRPr lang="en-US" altLang="zh-CN"/>
          </a:p>
        </p:txBody>
      </p:sp>
    </p:spTree>
  </p:cSld>
  <p:clrMap bg1="dk2" tx1="lt1" bg2="dk1"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Lst>
  <p:transition spd="slow">
    <p:strips dir="rd"/>
  </p:transition>
  <p:hf sldNum="0" hdr="0" ftr="0"/>
  <p:txStyles>
    <p:titleStyle>
      <a:lvl1pPr algn="ctr" rtl="0" fontAlgn="base">
        <a:spcBef>
          <a:spcPct val="0"/>
        </a:spcBef>
        <a:spcAft>
          <a:spcPct val="0"/>
        </a:spcAft>
        <a:defRPr sz="4400" kern="12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nsczx@mail.sysu.edu.c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4A68FED-183D-1CA8-ACA6-A4416FB0CF54}"/>
              </a:ext>
            </a:extLst>
          </p:cNvPr>
          <p:cNvSpPr>
            <a:spLocks noGrp="1" noChangeArrowheads="1"/>
          </p:cNvSpPr>
          <p:nvPr>
            <p:ph type="ctrTitle"/>
          </p:nvPr>
        </p:nvSpPr>
        <p:spPr>
          <a:xfrm>
            <a:off x="971550" y="476250"/>
            <a:ext cx="7631113" cy="2376488"/>
          </a:xfrm>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chemeClr val="tx2"/>
                </a:solidFill>
                <a:miter lim="800000"/>
                <a:headEnd/>
                <a:tailEnd/>
              </a14:hiddenLine>
            </a:ext>
          </a:extLst>
        </p:spPr>
        <p:txBody>
          <a:bodyPr/>
          <a:lstStyle/>
          <a:p>
            <a:r>
              <a:rPr kumimoji="1" lang="en-US" altLang="zh-CN" sz="4400" b="1">
                <a:latin typeface="黑体" panose="02010609060101010101" pitchFamily="49" charset="-122"/>
                <a:ea typeface="黑体" panose="02010609060101010101" pitchFamily="49" charset="-122"/>
              </a:rPr>
              <a:t>《</a:t>
            </a:r>
            <a:r>
              <a:rPr kumimoji="1" lang="zh-CN" altLang="en-US" sz="4400" b="1">
                <a:latin typeface="黑体" panose="02010609060101010101" pitchFamily="49" charset="-122"/>
                <a:ea typeface="黑体" panose="02010609060101010101" pitchFamily="49" charset="-122"/>
              </a:rPr>
              <a:t>生产与运作管理</a:t>
            </a:r>
            <a:r>
              <a:rPr kumimoji="1" lang="en-US" altLang="zh-CN" sz="4400" b="1">
                <a:latin typeface="黑体" panose="02010609060101010101" pitchFamily="49" charset="-122"/>
                <a:ea typeface="黑体" panose="02010609060101010101" pitchFamily="49" charset="-122"/>
              </a:rPr>
              <a:t>》</a:t>
            </a:r>
            <a:r>
              <a:rPr kumimoji="1" lang="zh-CN" altLang="en-US" sz="4400" b="1">
                <a:latin typeface="黑体" panose="02010609060101010101" pitchFamily="49" charset="-122"/>
                <a:ea typeface="黑体" panose="02010609060101010101" pitchFamily="49" charset="-122"/>
              </a:rPr>
              <a:t>教辅材料参考讲义</a:t>
            </a:r>
          </a:p>
        </p:txBody>
      </p:sp>
      <p:sp>
        <p:nvSpPr>
          <p:cNvPr id="2052" name="Text Box 4">
            <a:extLst>
              <a:ext uri="{FF2B5EF4-FFF2-40B4-BE49-F238E27FC236}">
                <a16:creationId xmlns:a16="http://schemas.microsoft.com/office/drawing/2014/main" id="{C2E7EAFE-392D-5815-C34F-C5C92D486D40}"/>
              </a:ext>
            </a:extLst>
          </p:cNvPr>
          <p:cNvSpPr txBox="1">
            <a:spLocks noChangeArrowheads="1"/>
          </p:cNvSpPr>
          <p:nvPr/>
        </p:nvSpPr>
        <p:spPr bwMode="auto">
          <a:xfrm>
            <a:off x="1403350" y="2636838"/>
            <a:ext cx="6840538" cy="160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b="1"/>
              <a:t>出版社：北京：机械工业出版社，</a:t>
            </a:r>
            <a:r>
              <a:rPr lang="en-US" altLang="zh-CN" b="1"/>
              <a:t>2009</a:t>
            </a:r>
            <a:r>
              <a:rPr lang="zh-CN" altLang="en-US" b="1"/>
              <a:t>年</a:t>
            </a:r>
            <a:r>
              <a:rPr lang="en-US" altLang="zh-CN" b="1"/>
              <a:t>7</a:t>
            </a:r>
            <a:r>
              <a:rPr lang="zh-CN" altLang="en-US" b="1"/>
              <a:t>月</a:t>
            </a:r>
          </a:p>
          <a:p>
            <a:pPr algn="ctr">
              <a:spcBef>
                <a:spcPct val="50000"/>
              </a:spcBef>
            </a:pPr>
            <a:r>
              <a:rPr lang="zh-CN" altLang="en-US" b="1"/>
              <a:t>编著者：陈志祥，李丽</a:t>
            </a:r>
          </a:p>
          <a:p>
            <a:pPr algn="ctr">
              <a:spcBef>
                <a:spcPct val="50000"/>
              </a:spcBef>
            </a:pPr>
            <a:r>
              <a:rPr lang="zh-CN" altLang="en-US" b="1"/>
              <a:t>本讲义由李丽老师制作，陈志祥教授审校</a:t>
            </a:r>
          </a:p>
          <a:p>
            <a:pPr algn="ctr">
              <a:spcBef>
                <a:spcPct val="50000"/>
              </a:spcBef>
            </a:pPr>
            <a:r>
              <a:rPr lang="en-US" altLang="zh-CN" b="1">
                <a:hlinkClick r:id="rId2"/>
              </a:rPr>
              <a:t>mnsczx@mail.sysu.edu.cn</a:t>
            </a:r>
            <a:r>
              <a:rPr lang="en-US" altLang="zh-CN" b="1"/>
              <a:t> </a:t>
            </a:r>
          </a:p>
        </p:txBody>
      </p:sp>
      <p:sp>
        <p:nvSpPr>
          <p:cNvPr id="2053" name="Rectangle 5">
            <a:extLst>
              <a:ext uri="{FF2B5EF4-FFF2-40B4-BE49-F238E27FC236}">
                <a16:creationId xmlns:a16="http://schemas.microsoft.com/office/drawing/2014/main" id="{A282A9F8-D6B6-D6ED-EE41-556807AFC73B}"/>
              </a:ext>
            </a:extLst>
          </p:cNvPr>
          <p:cNvSpPr>
            <a:spLocks noGrp="1" noChangeArrowheads="1"/>
          </p:cNvSpPr>
          <p:nvPr>
            <p:ph type="subTitle" idx="1"/>
          </p:nvPr>
        </p:nvSpPr>
        <p:spPr>
          <a:xfrm>
            <a:off x="1476375" y="4508500"/>
            <a:ext cx="6400800" cy="1536700"/>
          </a:xfrm>
          <a:ln>
            <a:solidFill>
              <a:schemeClr val="tx1"/>
            </a:solidFill>
            <a:miter lim="800000"/>
            <a:headEnd/>
            <a:tailEnd/>
          </a:ln>
        </p:spPr>
        <p:txBody>
          <a:bodyPr/>
          <a:lstStyle/>
          <a:p>
            <a:r>
              <a:rPr lang="zh-CN" altLang="en-US" sz="2800"/>
              <a:t>声明：本讲义只提供给购买与使用本教材的教师作为教学使用，未经允许不得转发给其他任何人</a:t>
            </a:r>
          </a:p>
        </p:txBody>
      </p:sp>
    </p:spTree>
  </p:cSld>
  <p:clrMapOvr>
    <a:masterClrMapping/>
  </p:clrMapOvr>
  <p:transition spd="slow">
    <p:strips dir="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67171BDD-9C73-60D7-2581-EB9C6A79120C}"/>
              </a:ext>
            </a:extLst>
          </p:cNvPr>
          <p:cNvSpPr>
            <a:spLocks noGrp="1"/>
          </p:cNvSpPr>
          <p:nvPr>
            <p:ph type="dt" sz="half" idx="10"/>
          </p:nvPr>
        </p:nvSpPr>
        <p:spPr/>
        <p:txBody>
          <a:bodyPr/>
          <a:lstStyle/>
          <a:p>
            <a:r>
              <a:rPr lang="zh-CN" altLang="en-US"/>
              <a:t>讲义制作：李丽，陈志祥审</a:t>
            </a:r>
            <a:endParaRPr lang="en-US" altLang="zh-CN"/>
          </a:p>
        </p:txBody>
      </p:sp>
      <p:sp>
        <p:nvSpPr>
          <p:cNvPr id="7170" name="Rectangle 2">
            <a:extLst>
              <a:ext uri="{FF2B5EF4-FFF2-40B4-BE49-F238E27FC236}">
                <a16:creationId xmlns:a16="http://schemas.microsoft.com/office/drawing/2014/main" id="{9DFF9280-0B34-6397-E8FD-35E5E0FA20E2}"/>
              </a:ext>
            </a:extLst>
          </p:cNvPr>
          <p:cNvSpPr>
            <a:spLocks noGrp="1" noChangeArrowheads="1"/>
          </p:cNvSpPr>
          <p:nvPr>
            <p:ph type="title"/>
          </p:nvPr>
        </p:nvSpPr>
        <p:spPr/>
        <p:txBody>
          <a:bodyPr/>
          <a:lstStyle/>
          <a:p>
            <a:r>
              <a:rPr lang="zh-CN" altLang="en-US" b="1"/>
              <a:t>第</a:t>
            </a:r>
            <a:r>
              <a:rPr lang="en-US" altLang="zh-CN" b="1"/>
              <a:t>1</a:t>
            </a:r>
            <a:r>
              <a:rPr lang="zh-CN" altLang="en-US" b="1"/>
              <a:t>章：生产与运作管理概述</a:t>
            </a:r>
          </a:p>
        </p:txBody>
      </p:sp>
      <p:sp>
        <p:nvSpPr>
          <p:cNvPr id="7171" name="Rectangle 3">
            <a:extLst>
              <a:ext uri="{FF2B5EF4-FFF2-40B4-BE49-F238E27FC236}">
                <a16:creationId xmlns:a16="http://schemas.microsoft.com/office/drawing/2014/main" id="{DA6277C5-E361-3B9B-A54B-F6EEA16CB198}"/>
              </a:ext>
            </a:extLst>
          </p:cNvPr>
          <p:cNvSpPr>
            <a:spLocks noGrp="1" noChangeArrowheads="1"/>
          </p:cNvSpPr>
          <p:nvPr>
            <p:ph type="body" idx="1"/>
          </p:nvPr>
        </p:nvSpPr>
        <p:spPr/>
        <p:txBody>
          <a:bodyPr/>
          <a:lstStyle/>
          <a:p>
            <a:pPr>
              <a:lnSpc>
                <a:spcPct val="90000"/>
              </a:lnSpc>
              <a:buFontTx/>
              <a:buNone/>
            </a:pPr>
            <a:r>
              <a:rPr lang="zh-CN" altLang="en-US" sz="2400" b="1">
                <a:effectLst>
                  <a:outerShdw blurRad="38100" dist="38100" dir="2700000" algn="tl">
                    <a:srgbClr val="000000"/>
                  </a:outerShdw>
                </a:effectLst>
              </a:rPr>
              <a:t>一、学习目标</a:t>
            </a:r>
          </a:p>
          <a:p>
            <a:pPr>
              <a:lnSpc>
                <a:spcPct val="90000"/>
              </a:lnSpc>
              <a:buFontTx/>
              <a:buNone/>
            </a:pPr>
            <a:r>
              <a:rPr lang="zh-CN" altLang="en-US" sz="2400" b="1">
                <a:effectLst>
                  <a:outerShdw blurRad="38100" dist="38100" dir="2700000" algn="tl">
                    <a:srgbClr val="000000"/>
                  </a:outerShdw>
                </a:effectLst>
              </a:rPr>
              <a:t>   </a:t>
            </a:r>
            <a:r>
              <a:rPr lang="en-US" altLang="zh-CN" sz="2400" b="1">
                <a:effectLst>
                  <a:outerShdw blurRad="38100" dist="38100" dir="2700000" algn="tl">
                    <a:srgbClr val="000000"/>
                  </a:outerShdw>
                </a:effectLst>
              </a:rPr>
              <a:t>1</a:t>
            </a:r>
            <a:r>
              <a:rPr lang="zh-CN" altLang="en-US" sz="2400" b="1">
                <a:effectLst>
                  <a:outerShdw blurRad="38100" dist="38100" dir="2700000" algn="tl">
                    <a:srgbClr val="000000"/>
                  </a:outerShdw>
                </a:effectLst>
              </a:rPr>
              <a:t>、了解生产系统的基本要素</a:t>
            </a:r>
          </a:p>
          <a:p>
            <a:pPr>
              <a:lnSpc>
                <a:spcPct val="90000"/>
              </a:lnSpc>
              <a:buFontTx/>
              <a:buNone/>
            </a:pPr>
            <a:r>
              <a:rPr lang="zh-CN" altLang="en-US" sz="2400" b="1">
                <a:effectLst>
                  <a:outerShdw blurRad="38100" dist="38100" dir="2700000" algn="tl">
                    <a:srgbClr val="000000"/>
                  </a:outerShdw>
                </a:effectLst>
              </a:rPr>
              <a:t>   </a:t>
            </a:r>
            <a:r>
              <a:rPr lang="en-US" altLang="zh-CN" sz="2400" b="1">
                <a:effectLst>
                  <a:outerShdw blurRad="38100" dist="38100" dir="2700000" algn="tl">
                    <a:srgbClr val="000000"/>
                  </a:outerShdw>
                </a:effectLst>
              </a:rPr>
              <a:t>2</a:t>
            </a:r>
            <a:r>
              <a:rPr lang="zh-CN" altLang="en-US" sz="2400" b="1">
                <a:effectLst>
                  <a:outerShdw blurRad="38100" dist="38100" dir="2700000" algn="tl">
                    <a:srgbClr val="000000"/>
                  </a:outerShdw>
                </a:effectLst>
              </a:rPr>
              <a:t>、熟悉生产管理的目标与主要工作内容</a:t>
            </a:r>
          </a:p>
          <a:p>
            <a:pPr>
              <a:lnSpc>
                <a:spcPct val="90000"/>
              </a:lnSpc>
              <a:buFontTx/>
              <a:buNone/>
            </a:pPr>
            <a:r>
              <a:rPr lang="zh-CN" altLang="en-US" sz="2400" b="1">
                <a:effectLst>
                  <a:outerShdw blurRad="38100" dist="38100" dir="2700000" algn="tl">
                    <a:srgbClr val="000000"/>
                  </a:outerShdw>
                </a:effectLst>
              </a:rPr>
              <a:t>   </a:t>
            </a:r>
            <a:r>
              <a:rPr lang="en-US" altLang="zh-CN" sz="2400" b="1">
                <a:effectLst>
                  <a:outerShdw blurRad="38100" dist="38100" dir="2700000" algn="tl">
                    <a:srgbClr val="000000"/>
                  </a:outerShdw>
                </a:effectLst>
              </a:rPr>
              <a:t>3</a:t>
            </a:r>
            <a:r>
              <a:rPr lang="zh-CN" altLang="en-US" sz="2400" b="1">
                <a:effectLst>
                  <a:outerShdw blurRad="38100" dist="38100" dir="2700000" algn="tl">
                    <a:srgbClr val="000000"/>
                  </a:outerShdw>
                </a:effectLst>
              </a:rPr>
              <a:t>、了解合作生产类型的特征与管理策略</a:t>
            </a:r>
          </a:p>
          <a:p>
            <a:pPr>
              <a:lnSpc>
                <a:spcPct val="90000"/>
              </a:lnSpc>
              <a:buFontTx/>
              <a:buNone/>
            </a:pPr>
            <a:r>
              <a:rPr lang="zh-CN" altLang="en-US" sz="2400" b="1">
                <a:effectLst>
                  <a:outerShdw blurRad="38100" dist="38100" dir="2700000" algn="tl">
                    <a:srgbClr val="000000"/>
                  </a:outerShdw>
                </a:effectLst>
              </a:rPr>
              <a:t>   </a:t>
            </a:r>
            <a:r>
              <a:rPr lang="en-US" altLang="zh-CN" sz="2400" b="1">
                <a:effectLst>
                  <a:outerShdw blurRad="38100" dist="38100" dir="2700000" algn="tl">
                    <a:srgbClr val="000000"/>
                  </a:outerShdw>
                </a:effectLst>
              </a:rPr>
              <a:t>4</a:t>
            </a:r>
            <a:r>
              <a:rPr lang="zh-CN" altLang="en-US" sz="2400" b="1">
                <a:effectLst>
                  <a:outerShdw blurRad="38100" dist="38100" dir="2700000" algn="tl">
                    <a:srgbClr val="000000"/>
                  </a:outerShdw>
                </a:effectLst>
              </a:rPr>
              <a:t>、了解生产运作管理的发展</a:t>
            </a:r>
          </a:p>
          <a:p>
            <a:pPr>
              <a:lnSpc>
                <a:spcPct val="90000"/>
              </a:lnSpc>
              <a:buFontTx/>
              <a:buNone/>
            </a:pPr>
            <a:r>
              <a:rPr lang="zh-CN" altLang="en-US" sz="2400" b="1">
                <a:effectLst>
                  <a:outerShdw blurRad="38100" dist="38100" dir="2700000" algn="tl">
                    <a:srgbClr val="000000"/>
                  </a:outerShdw>
                </a:effectLst>
              </a:rPr>
              <a:t>二、内容提要</a:t>
            </a:r>
          </a:p>
          <a:p>
            <a:pPr>
              <a:lnSpc>
                <a:spcPct val="90000"/>
              </a:lnSpc>
              <a:buFontTx/>
              <a:buNone/>
            </a:pPr>
            <a:r>
              <a:rPr lang="zh-CN" altLang="en-US" sz="2400" b="1">
                <a:effectLst>
                  <a:outerShdw blurRad="38100" dist="38100" dir="2700000" algn="tl">
                    <a:srgbClr val="000000"/>
                  </a:outerShdw>
                </a:effectLst>
              </a:rPr>
              <a:t>   </a:t>
            </a:r>
            <a:r>
              <a:rPr lang="en-US" altLang="zh-CN" sz="2400" b="1">
                <a:effectLst>
                  <a:outerShdw blurRad="38100" dist="38100" dir="2700000" algn="tl">
                    <a:srgbClr val="000000"/>
                  </a:outerShdw>
                </a:effectLst>
              </a:rPr>
              <a:t>1</a:t>
            </a:r>
            <a:r>
              <a:rPr lang="zh-CN" altLang="en-US" sz="2400" b="1">
                <a:effectLst>
                  <a:outerShdw blurRad="38100" dist="38100" dir="2700000" algn="tl">
                    <a:srgbClr val="000000"/>
                  </a:outerShdw>
                </a:effectLst>
              </a:rPr>
              <a:t>、生产系统的要素与特征</a:t>
            </a:r>
          </a:p>
          <a:p>
            <a:pPr>
              <a:lnSpc>
                <a:spcPct val="90000"/>
              </a:lnSpc>
              <a:buFontTx/>
              <a:buNone/>
            </a:pPr>
            <a:r>
              <a:rPr lang="zh-CN" altLang="en-US" sz="2400" b="1">
                <a:effectLst>
                  <a:outerShdw blurRad="38100" dist="38100" dir="2700000" algn="tl">
                    <a:srgbClr val="000000"/>
                  </a:outerShdw>
                </a:effectLst>
              </a:rPr>
              <a:t>   </a:t>
            </a:r>
            <a:r>
              <a:rPr lang="en-US" altLang="zh-CN" sz="2400" b="1">
                <a:effectLst>
                  <a:outerShdw blurRad="38100" dist="38100" dir="2700000" algn="tl">
                    <a:srgbClr val="000000"/>
                  </a:outerShdw>
                </a:effectLst>
              </a:rPr>
              <a:t>2</a:t>
            </a:r>
            <a:r>
              <a:rPr lang="zh-CN" altLang="en-US" sz="2400" b="1">
                <a:effectLst>
                  <a:outerShdw blurRad="38100" dist="38100" dir="2700000" algn="tl">
                    <a:srgbClr val="000000"/>
                  </a:outerShdw>
                </a:effectLst>
              </a:rPr>
              <a:t>、生产运作管理的任务与目标</a:t>
            </a:r>
          </a:p>
          <a:p>
            <a:pPr>
              <a:lnSpc>
                <a:spcPct val="90000"/>
              </a:lnSpc>
              <a:buFontTx/>
              <a:buNone/>
            </a:pPr>
            <a:r>
              <a:rPr lang="zh-CN" altLang="en-US" sz="2400" b="1">
                <a:effectLst>
                  <a:outerShdw blurRad="38100" dist="38100" dir="2700000" algn="tl">
                    <a:srgbClr val="000000"/>
                  </a:outerShdw>
                </a:effectLst>
              </a:rPr>
              <a:t>   </a:t>
            </a:r>
            <a:r>
              <a:rPr lang="en-US" altLang="zh-CN" sz="2400" b="1">
                <a:effectLst>
                  <a:outerShdw blurRad="38100" dist="38100" dir="2700000" algn="tl">
                    <a:srgbClr val="000000"/>
                  </a:outerShdw>
                </a:effectLst>
              </a:rPr>
              <a:t>3</a:t>
            </a:r>
            <a:r>
              <a:rPr lang="zh-CN" altLang="en-US" sz="2400" b="1">
                <a:effectLst>
                  <a:outerShdw blurRad="38100" dist="38100" dir="2700000" algn="tl">
                    <a:srgbClr val="000000"/>
                  </a:outerShdw>
                </a:effectLst>
              </a:rPr>
              <a:t>。生产运作管理的决策</a:t>
            </a:r>
          </a:p>
          <a:p>
            <a:pPr>
              <a:lnSpc>
                <a:spcPct val="90000"/>
              </a:lnSpc>
              <a:buFontTx/>
              <a:buNone/>
            </a:pPr>
            <a:r>
              <a:rPr lang="zh-CN" altLang="en-US" sz="2400" b="1">
                <a:effectLst>
                  <a:outerShdw blurRad="38100" dist="38100" dir="2700000" algn="tl">
                    <a:srgbClr val="000000"/>
                  </a:outerShdw>
                </a:effectLst>
              </a:rPr>
              <a:t>   </a:t>
            </a:r>
            <a:r>
              <a:rPr lang="en-US" altLang="zh-CN" sz="2400" b="1">
                <a:effectLst>
                  <a:outerShdw blurRad="38100" dist="38100" dir="2700000" algn="tl">
                    <a:srgbClr val="000000"/>
                  </a:outerShdw>
                </a:effectLst>
              </a:rPr>
              <a:t>4</a:t>
            </a:r>
            <a:r>
              <a:rPr lang="zh-CN" altLang="en-US" sz="2400" b="1">
                <a:effectLst>
                  <a:outerShdw blurRad="38100" dist="38100" dir="2700000" algn="tl">
                    <a:srgbClr val="000000"/>
                  </a:outerShdw>
                </a:effectLst>
              </a:rPr>
              <a:t>、生产运作管理的发展</a:t>
            </a:r>
          </a:p>
          <a:p>
            <a:pPr>
              <a:lnSpc>
                <a:spcPct val="90000"/>
              </a:lnSpc>
              <a:buFontTx/>
              <a:buNone/>
            </a:pPr>
            <a:r>
              <a:rPr lang="zh-CN" altLang="en-US" sz="2400" b="1">
                <a:effectLst>
                  <a:outerShdw blurRad="38100" dist="38100" dir="2700000" algn="tl">
                    <a:srgbClr val="000000"/>
                  </a:outerShdw>
                </a:effectLst>
              </a:rPr>
              <a:t>   </a:t>
            </a:r>
          </a:p>
        </p:txBody>
      </p:sp>
    </p:spTree>
  </p:cSld>
  <p:clrMapOvr>
    <a:masterClrMapping/>
  </p:clrMapOvr>
  <p:transition spd="slow">
    <p:strips dir="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01EA5AC8-3FCE-0408-07B8-5172B0FA732D}"/>
              </a:ext>
            </a:extLst>
          </p:cNvPr>
          <p:cNvSpPr>
            <a:spLocks noGrp="1"/>
          </p:cNvSpPr>
          <p:nvPr>
            <p:ph type="dt" sz="half" idx="10"/>
          </p:nvPr>
        </p:nvSpPr>
        <p:spPr/>
        <p:txBody>
          <a:bodyPr/>
          <a:lstStyle/>
          <a:p>
            <a:r>
              <a:rPr lang="zh-CN" altLang="en-US"/>
              <a:t>讲义制作：李丽，陈志祥审</a:t>
            </a:r>
            <a:endParaRPr lang="en-US" altLang="zh-CN"/>
          </a:p>
        </p:txBody>
      </p:sp>
      <p:sp>
        <p:nvSpPr>
          <p:cNvPr id="281602" name="Rectangle 2">
            <a:extLst>
              <a:ext uri="{FF2B5EF4-FFF2-40B4-BE49-F238E27FC236}">
                <a16:creationId xmlns:a16="http://schemas.microsoft.com/office/drawing/2014/main" id="{17A03814-8CAA-31B5-1AA9-A1F39333061A}"/>
              </a:ext>
            </a:extLst>
          </p:cNvPr>
          <p:cNvSpPr>
            <a:spLocks noGrp="1" noChangeArrowheads="1"/>
          </p:cNvSpPr>
          <p:nvPr>
            <p:ph type="title"/>
          </p:nvPr>
        </p:nvSpPr>
        <p:spPr/>
        <p:txBody>
          <a:bodyPr/>
          <a:lstStyle/>
          <a:p>
            <a:r>
              <a:rPr lang="zh-CN" altLang="en-US" sz="4000"/>
              <a:t>引导案例：广州本田汽车有限公司</a:t>
            </a:r>
          </a:p>
        </p:txBody>
      </p:sp>
      <p:sp>
        <p:nvSpPr>
          <p:cNvPr id="281603" name="Rectangle 3">
            <a:extLst>
              <a:ext uri="{FF2B5EF4-FFF2-40B4-BE49-F238E27FC236}">
                <a16:creationId xmlns:a16="http://schemas.microsoft.com/office/drawing/2014/main" id="{9C349E8D-2305-DFEF-8007-B4FD48064FD1}"/>
              </a:ext>
            </a:extLst>
          </p:cNvPr>
          <p:cNvSpPr>
            <a:spLocks noGrp="1" noChangeArrowheads="1"/>
          </p:cNvSpPr>
          <p:nvPr>
            <p:ph type="body" idx="1"/>
          </p:nvPr>
        </p:nvSpPr>
        <p:spPr>
          <a:xfrm>
            <a:off x="457200" y="1600200"/>
            <a:ext cx="8229600" cy="4781550"/>
          </a:xfrm>
        </p:spPr>
        <p:txBody>
          <a:bodyPr/>
          <a:lstStyle/>
          <a:p>
            <a:pPr>
              <a:buFontTx/>
              <a:buNone/>
            </a:pPr>
            <a:r>
              <a:rPr lang="en-US" altLang="zh-CN" sz="1200"/>
              <a:t>                            </a:t>
            </a:r>
            <a:r>
              <a:rPr lang="zh-CN" altLang="en-US" sz="2400">
                <a:latin typeface="楷体_GB2312" pitchFamily="49" charset="-122"/>
                <a:ea typeface="楷体_GB2312" pitchFamily="49" charset="-122"/>
              </a:rPr>
              <a:t>广州本田汽车有限公司</a:t>
            </a:r>
            <a:r>
              <a:rPr lang="en-US" altLang="zh-CN" sz="2400">
                <a:latin typeface="楷体_GB2312" pitchFamily="49" charset="-122"/>
                <a:ea typeface="楷体_GB2312" pitchFamily="49" charset="-122"/>
              </a:rPr>
              <a:t>(</a:t>
            </a:r>
            <a:r>
              <a:rPr lang="zh-CN" altLang="en-US" sz="2400">
                <a:latin typeface="楷体_GB2312" pitchFamily="49" charset="-122"/>
                <a:ea typeface="楷体_GB2312" pitchFamily="49" charset="-122"/>
              </a:rPr>
              <a:t>简称广州本田</a:t>
            </a:r>
            <a:r>
              <a:rPr lang="en-US" altLang="zh-CN" sz="2400">
                <a:latin typeface="楷体_GB2312" pitchFamily="49" charset="-122"/>
                <a:ea typeface="楷体_GB2312" pitchFamily="49" charset="-122"/>
              </a:rPr>
              <a:t>)</a:t>
            </a:r>
            <a:r>
              <a:rPr lang="zh-CN" altLang="en-US" sz="2400">
                <a:latin typeface="楷体_GB2312" pitchFamily="49" charset="-122"/>
                <a:ea typeface="楷体_GB2312" pitchFamily="49" charset="-122"/>
              </a:rPr>
              <a:t>于</a:t>
            </a:r>
            <a:r>
              <a:rPr lang="en-US" altLang="zh-CN" sz="2400">
                <a:latin typeface="楷体_GB2312" pitchFamily="49" charset="-122"/>
                <a:ea typeface="楷体_GB2312" pitchFamily="49" charset="-122"/>
              </a:rPr>
              <a:t>1998</a:t>
            </a:r>
            <a:r>
              <a:rPr lang="zh-CN" altLang="en-US" sz="2400">
                <a:latin typeface="楷体_GB2312" pitchFamily="49" charset="-122"/>
                <a:ea typeface="楷体_GB2312" pitchFamily="49" charset="-122"/>
              </a:rPr>
              <a:t>年</a:t>
            </a:r>
            <a:r>
              <a:rPr lang="en-US" altLang="zh-CN" sz="2400">
                <a:latin typeface="楷体_GB2312" pitchFamily="49" charset="-122"/>
                <a:ea typeface="楷体_GB2312" pitchFamily="49" charset="-122"/>
              </a:rPr>
              <a:t>7</a:t>
            </a:r>
            <a:r>
              <a:rPr lang="zh-CN" altLang="en-US" sz="2400">
                <a:latin typeface="楷体_GB2312" pitchFamily="49" charset="-122"/>
                <a:ea typeface="楷体_GB2312" pitchFamily="49" charset="-122"/>
              </a:rPr>
              <a:t>月</a:t>
            </a:r>
            <a:r>
              <a:rPr lang="en-US" altLang="zh-CN" sz="2400">
                <a:latin typeface="楷体_GB2312" pitchFamily="49" charset="-122"/>
                <a:ea typeface="楷体_GB2312" pitchFamily="49" charset="-122"/>
              </a:rPr>
              <a:t>1</a:t>
            </a:r>
            <a:r>
              <a:rPr lang="zh-CN" altLang="en-US" sz="2400">
                <a:latin typeface="楷体_GB2312" pitchFamily="49" charset="-122"/>
                <a:ea typeface="楷体_GB2312" pitchFamily="49" charset="-122"/>
              </a:rPr>
              <a:t>日成立，它是由广州汽车集团公司与日本本田技研工业株式会社共同出资组建的合资公司。广州本田总部黄埔工厂位于广州市黄埔区，占地面积为</a:t>
            </a:r>
            <a:r>
              <a:rPr lang="en-US" altLang="zh-CN" sz="2400">
                <a:latin typeface="楷体_GB2312" pitchFamily="49" charset="-122"/>
                <a:ea typeface="楷体_GB2312" pitchFamily="49" charset="-122"/>
              </a:rPr>
              <a:t>60</a:t>
            </a:r>
            <a:r>
              <a:rPr lang="zh-CN" altLang="en-US" sz="2400">
                <a:latin typeface="楷体_GB2312" pitchFamily="49" charset="-122"/>
                <a:ea typeface="楷体_GB2312" pitchFamily="49" charset="-122"/>
              </a:rPr>
              <a:t>万平方米，黄埔工厂年生产能力为</a:t>
            </a:r>
            <a:r>
              <a:rPr lang="en-US" altLang="zh-CN" sz="2400">
                <a:latin typeface="楷体_GB2312" pitchFamily="49" charset="-122"/>
                <a:ea typeface="楷体_GB2312" pitchFamily="49" charset="-122"/>
              </a:rPr>
              <a:t>24</a:t>
            </a:r>
            <a:r>
              <a:rPr lang="zh-CN" altLang="en-US" sz="2400">
                <a:latin typeface="楷体_GB2312" pitchFamily="49" charset="-122"/>
                <a:ea typeface="楷体_GB2312" pitchFamily="49" charset="-122"/>
              </a:rPr>
              <a:t>万辆，实行双班生产，日产量为</a:t>
            </a:r>
            <a:r>
              <a:rPr lang="en-US" altLang="zh-CN" sz="2400">
                <a:latin typeface="楷体_GB2312" pitchFamily="49" charset="-122"/>
                <a:ea typeface="楷体_GB2312" pitchFamily="49" charset="-122"/>
              </a:rPr>
              <a:t>1000</a:t>
            </a:r>
            <a:r>
              <a:rPr lang="zh-CN" altLang="en-US" sz="2400">
                <a:latin typeface="楷体_GB2312" pitchFamily="49" charset="-122"/>
                <a:ea typeface="楷体_GB2312" pitchFamily="49" charset="-122"/>
              </a:rPr>
              <a:t>台，即每</a:t>
            </a:r>
            <a:r>
              <a:rPr lang="en-US" altLang="zh-CN" sz="2400">
                <a:latin typeface="楷体_GB2312" pitchFamily="49" charset="-122"/>
                <a:ea typeface="楷体_GB2312" pitchFamily="49" charset="-122"/>
              </a:rPr>
              <a:t>51.7</a:t>
            </a:r>
            <a:r>
              <a:rPr lang="zh-CN" altLang="en-US" sz="2400">
                <a:latin typeface="楷体_GB2312" pitchFamily="49" charset="-122"/>
                <a:ea typeface="楷体_GB2312" pitchFamily="49" charset="-122"/>
              </a:rPr>
              <a:t>秒就有一台车在总装生产线下线。于</a:t>
            </a:r>
            <a:r>
              <a:rPr lang="en-US" altLang="zh-CN" sz="2400">
                <a:latin typeface="楷体_GB2312" pitchFamily="49" charset="-122"/>
                <a:ea typeface="楷体_GB2312" pitchFamily="49" charset="-122"/>
              </a:rPr>
              <a:t>2006</a:t>
            </a:r>
            <a:r>
              <a:rPr lang="zh-CN" altLang="en-US" sz="2400">
                <a:latin typeface="楷体_GB2312" pitchFamily="49" charset="-122"/>
                <a:ea typeface="楷体_GB2312" pitchFamily="49" charset="-122"/>
              </a:rPr>
              <a:t>年</a:t>
            </a:r>
            <a:r>
              <a:rPr lang="en-US" altLang="zh-CN" sz="2400">
                <a:latin typeface="楷体_GB2312" pitchFamily="49" charset="-122"/>
                <a:ea typeface="楷体_GB2312" pitchFamily="49" charset="-122"/>
              </a:rPr>
              <a:t>9</a:t>
            </a:r>
            <a:r>
              <a:rPr lang="zh-CN" altLang="en-US" sz="2400">
                <a:latin typeface="楷体_GB2312" pitchFamily="49" charset="-122"/>
                <a:ea typeface="楷体_GB2312" pitchFamily="49" charset="-122"/>
              </a:rPr>
              <a:t>月</a:t>
            </a:r>
            <a:r>
              <a:rPr lang="en-US" altLang="zh-CN" sz="2400">
                <a:latin typeface="楷体_GB2312" pitchFamily="49" charset="-122"/>
                <a:ea typeface="楷体_GB2312" pitchFamily="49" charset="-122"/>
              </a:rPr>
              <a:t>19</a:t>
            </a:r>
            <a:r>
              <a:rPr lang="zh-CN" altLang="en-US" sz="2400">
                <a:latin typeface="楷体_GB2312" pitchFamily="49" charset="-122"/>
                <a:ea typeface="楷体_GB2312" pitchFamily="49" charset="-122"/>
              </a:rPr>
              <a:t>日全面落成的广州本田增城工厂位于增城市新塘镇，占地面积为</a:t>
            </a:r>
            <a:r>
              <a:rPr lang="en-US" altLang="zh-CN" sz="2400">
                <a:latin typeface="楷体_GB2312" pitchFamily="49" charset="-122"/>
                <a:ea typeface="楷体_GB2312" pitchFamily="49" charset="-122"/>
              </a:rPr>
              <a:t>100</a:t>
            </a:r>
            <a:r>
              <a:rPr lang="zh-CN" altLang="en-US" sz="2400">
                <a:latin typeface="楷体_GB2312" pitchFamily="49" charset="-122"/>
                <a:ea typeface="楷体_GB2312" pitchFamily="49" charset="-122"/>
              </a:rPr>
              <a:t>万平方米，首期生产规模为年产</a:t>
            </a:r>
            <a:r>
              <a:rPr lang="en-US" altLang="zh-CN" sz="2400">
                <a:latin typeface="楷体_GB2312" pitchFamily="49" charset="-122"/>
                <a:ea typeface="楷体_GB2312" pitchFamily="49" charset="-122"/>
              </a:rPr>
              <a:t>12</a:t>
            </a:r>
            <a:r>
              <a:rPr lang="zh-CN" altLang="en-US" sz="2400">
                <a:latin typeface="楷体_GB2312" pitchFamily="49" charset="-122"/>
                <a:ea typeface="楷体_GB2312" pitchFamily="49" charset="-122"/>
              </a:rPr>
              <a:t>万辆，目前生产的车型为雅阁系列轿车。</a:t>
            </a:r>
          </a:p>
          <a:p>
            <a:r>
              <a:rPr lang="zh-CN" altLang="en-US" sz="2800"/>
              <a:t>     </a:t>
            </a:r>
          </a:p>
        </p:txBody>
      </p:sp>
    </p:spTree>
  </p:cSld>
  <p:clrMapOvr>
    <a:masterClrMapping/>
  </p:clrMapOvr>
  <p:transition spd="slow">
    <p:strips dir="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7002B59-819A-39C6-D270-05F111C56A6D}"/>
              </a:ext>
            </a:extLst>
          </p:cNvPr>
          <p:cNvSpPr>
            <a:spLocks noGrp="1"/>
          </p:cNvSpPr>
          <p:nvPr>
            <p:ph type="dt" sz="half" idx="10"/>
          </p:nvPr>
        </p:nvSpPr>
        <p:spPr/>
        <p:txBody>
          <a:bodyPr/>
          <a:lstStyle/>
          <a:p>
            <a:r>
              <a:rPr lang="zh-CN" altLang="en-US"/>
              <a:t>讲义制作：李丽，陈志祥审</a:t>
            </a:r>
            <a:endParaRPr lang="en-US" altLang="zh-CN"/>
          </a:p>
        </p:txBody>
      </p:sp>
      <p:sp>
        <p:nvSpPr>
          <p:cNvPr id="119810" name="Rectangle 2">
            <a:extLst>
              <a:ext uri="{FF2B5EF4-FFF2-40B4-BE49-F238E27FC236}">
                <a16:creationId xmlns:a16="http://schemas.microsoft.com/office/drawing/2014/main" id="{F6F17EBE-1292-493C-345B-A15045351FA6}"/>
              </a:ext>
            </a:extLst>
          </p:cNvPr>
          <p:cNvSpPr>
            <a:spLocks noGrp="1" noChangeArrowheads="1"/>
          </p:cNvSpPr>
          <p:nvPr>
            <p:ph type="title"/>
          </p:nvPr>
        </p:nvSpPr>
        <p:spPr/>
        <p:txBody>
          <a:bodyPr/>
          <a:lstStyle/>
          <a:p>
            <a:r>
              <a:rPr lang="zh-CN" altLang="en-US"/>
              <a:t>一、生产系统要素与特征</a:t>
            </a:r>
          </a:p>
        </p:txBody>
      </p:sp>
      <p:sp>
        <p:nvSpPr>
          <p:cNvPr id="119811" name="Rectangle 3">
            <a:extLst>
              <a:ext uri="{FF2B5EF4-FFF2-40B4-BE49-F238E27FC236}">
                <a16:creationId xmlns:a16="http://schemas.microsoft.com/office/drawing/2014/main" id="{A36EAB81-4403-76D5-B302-DB0E42C88342}"/>
              </a:ext>
            </a:extLst>
          </p:cNvPr>
          <p:cNvSpPr>
            <a:spLocks noGrp="1" noChangeArrowheads="1"/>
          </p:cNvSpPr>
          <p:nvPr>
            <p:ph type="body" idx="1"/>
          </p:nvPr>
        </p:nvSpPr>
        <p:spPr/>
        <p:txBody>
          <a:bodyPr/>
          <a:lstStyle/>
          <a:p>
            <a:r>
              <a:rPr lang="zh-CN" altLang="en-US"/>
              <a:t>（一）、生产系统组成与结构</a:t>
            </a:r>
          </a:p>
          <a:p>
            <a:r>
              <a:rPr lang="zh-CN" altLang="en-US"/>
              <a:t>（二）、生产类型与特征</a:t>
            </a:r>
          </a:p>
          <a:p>
            <a:r>
              <a:rPr lang="zh-CN" altLang="en-US"/>
              <a:t>  </a:t>
            </a:r>
            <a:r>
              <a:rPr lang="en-US" altLang="zh-CN"/>
              <a:t>(</a:t>
            </a:r>
            <a:r>
              <a:rPr lang="zh-CN" altLang="en-US"/>
              <a:t>三</a:t>
            </a:r>
            <a:r>
              <a:rPr lang="en-US" altLang="zh-CN"/>
              <a:t>)</a:t>
            </a:r>
            <a:r>
              <a:rPr lang="zh-CN" altLang="en-US"/>
              <a:t>、 服务运作管理的特点</a:t>
            </a:r>
          </a:p>
        </p:txBody>
      </p:sp>
    </p:spTree>
  </p:cSld>
  <p:clrMapOvr>
    <a:masterClrMapping/>
  </p:clrMapOvr>
  <p:transition spd="slow">
    <p:strips dir="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4">
            <a:extLst>
              <a:ext uri="{FF2B5EF4-FFF2-40B4-BE49-F238E27FC236}">
                <a16:creationId xmlns:a16="http://schemas.microsoft.com/office/drawing/2014/main" id="{B5E31CB3-3C33-9725-D15F-440397D51B39}"/>
              </a:ext>
            </a:extLst>
          </p:cNvPr>
          <p:cNvSpPr>
            <a:spLocks noGrp="1"/>
          </p:cNvSpPr>
          <p:nvPr>
            <p:ph type="dt" sz="half" idx="10"/>
          </p:nvPr>
        </p:nvSpPr>
        <p:spPr/>
        <p:txBody>
          <a:bodyPr/>
          <a:lstStyle/>
          <a:p>
            <a:r>
              <a:rPr lang="zh-CN" altLang="en-US"/>
              <a:t>讲义制作：李丽，陈志祥审</a:t>
            </a:r>
            <a:endParaRPr lang="en-US" altLang="zh-CN"/>
          </a:p>
        </p:txBody>
      </p:sp>
      <p:sp>
        <p:nvSpPr>
          <p:cNvPr id="282626" name="Rectangle 2">
            <a:extLst>
              <a:ext uri="{FF2B5EF4-FFF2-40B4-BE49-F238E27FC236}">
                <a16:creationId xmlns:a16="http://schemas.microsoft.com/office/drawing/2014/main" id="{04046635-9AE6-2D2A-0D18-BF0A9E31441F}"/>
              </a:ext>
            </a:extLst>
          </p:cNvPr>
          <p:cNvSpPr>
            <a:spLocks noGrp="1" noChangeArrowheads="1"/>
          </p:cNvSpPr>
          <p:nvPr>
            <p:ph type="title"/>
          </p:nvPr>
        </p:nvSpPr>
        <p:spPr>
          <a:xfrm>
            <a:off x="395288" y="260350"/>
            <a:ext cx="8229600" cy="752475"/>
          </a:xfrm>
        </p:spPr>
        <p:txBody>
          <a:bodyPr/>
          <a:lstStyle/>
          <a:p>
            <a:r>
              <a:rPr lang="zh-CN" altLang="en-US" sz="3600"/>
              <a:t>（一）生产系统的组成与结构</a:t>
            </a:r>
          </a:p>
        </p:txBody>
      </p:sp>
      <p:sp>
        <p:nvSpPr>
          <p:cNvPr id="282627" name="Rectangle 3">
            <a:extLst>
              <a:ext uri="{FF2B5EF4-FFF2-40B4-BE49-F238E27FC236}">
                <a16:creationId xmlns:a16="http://schemas.microsoft.com/office/drawing/2014/main" id="{ABE7BF53-1AF0-BD90-7EB0-C145F95406B0}"/>
              </a:ext>
            </a:extLst>
          </p:cNvPr>
          <p:cNvSpPr>
            <a:spLocks noGrp="1" noChangeArrowheads="1"/>
          </p:cNvSpPr>
          <p:nvPr>
            <p:ph type="body" sz="half" idx="1"/>
          </p:nvPr>
        </p:nvSpPr>
        <p:spPr>
          <a:xfrm>
            <a:off x="250825" y="1125538"/>
            <a:ext cx="8497888" cy="1252537"/>
          </a:xfrm>
        </p:spPr>
        <p:txBody>
          <a:bodyPr/>
          <a:lstStyle/>
          <a:p>
            <a:pPr>
              <a:lnSpc>
                <a:spcPct val="80000"/>
              </a:lnSpc>
              <a:buFontTx/>
              <a:buNone/>
            </a:pPr>
            <a:r>
              <a:rPr lang="en-US" altLang="zh-CN" sz="2400"/>
              <a:t>1.</a:t>
            </a:r>
            <a:r>
              <a:rPr lang="zh-CN" altLang="en-US" sz="2400"/>
              <a:t>企业的输入与输出与生产活动</a:t>
            </a:r>
          </a:p>
          <a:p>
            <a:pPr>
              <a:lnSpc>
                <a:spcPct val="80000"/>
              </a:lnSpc>
              <a:buFontTx/>
              <a:buNone/>
            </a:pPr>
            <a:r>
              <a:rPr lang="zh-CN" altLang="en-US" sz="2400"/>
              <a:t>        </a:t>
            </a:r>
            <a:r>
              <a:rPr lang="zh-CN" altLang="en-US" sz="1800"/>
              <a:t>生产是把企业输入转化为输出的经济活动</a:t>
            </a:r>
            <a:r>
              <a:rPr lang="zh-CN" altLang="en-US" sz="2400"/>
              <a:t>．</a:t>
            </a:r>
            <a:r>
              <a:rPr lang="zh-CN" altLang="en-US" sz="1800"/>
              <a:t>不同的企业组织，其输入与输出的内容与转化的方式不同，以下是不同组织的输入与输出的转化关系。下 表为不同组织的输入与输出关系。</a:t>
            </a:r>
          </a:p>
        </p:txBody>
      </p:sp>
      <p:graphicFrame>
        <p:nvGraphicFramePr>
          <p:cNvPr id="282699" name="Group 75">
            <a:extLst>
              <a:ext uri="{FF2B5EF4-FFF2-40B4-BE49-F238E27FC236}">
                <a16:creationId xmlns:a16="http://schemas.microsoft.com/office/drawing/2014/main" id="{2B1652D6-97BD-CD13-CA21-78EBD8E951C3}"/>
              </a:ext>
            </a:extLst>
          </p:cNvPr>
          <p:cNvGraphicFramePr>
            <a:graphicFrameLocks noGrp="1"/>
          </p:cNvGraphicFramePr>
          <p:nvPr>
            <p:ph sz="half" idx="2"/>
          </p:nvPr>
        </p:nvGraphicFramePr>
        <p:xfrm>
          <a:off x="395288" y="2636838"/>
          <a:ext cx="8497887" cy="3835400"/>
        </p:xfrm>
        <a:graphic>
          <a:graphicData uri="http://schemas.openxmlformats.org/drawingml/2006/table">
            <a:tbl>
              <a:tblPr/>
              <a:tblGrid>
                <a:gridCol w="1166812">
                  <a:extLst>
                    <a:ext uri="{9D8B030D-6E8A-4147-A177-3AD203B41FA5}">
                      <a16:colId xmlns:a16="http://schemas.microsoft.com/office/drawing/2014/main" val="1138125863"/>
                    </a:ext>
                  </a:extLst>
                </a:gridCol>
                <a:gridCol w="1762125">
                  <a:extLst>
                    <a:ext uri="{9D8B030D-6E8A-4147-A177-3AD203B41FA5}">
                      <a16:colId xmlns:a16="http://schemas.microsoft.com/office/drawing/2014/main" val="3972809089"/>
                    </a:ext>
                  </a:extLst>
                </a:gridCol>
                <a:gridCol w="2170113">
                  <a:extLst>
                    <a:ext uri="{9D8B030D-6E8A-4147-A177-3AD203B41FA5}">
                      <a16:colId xmlns:a16="http://schemas.microsoft.com/office/drawing/2014/main" val="2445314653"/>
                    </a:ext>
                  </a:extLst>
                </a:gridCol>
                <a:gridCol w="1743075">
                  <a:extLst>
                    <a:ext uri="{9D8B030D-6E8A-4147-A177-3AD203B41FA5}">
                      <a16:colId xmlns:a16="http://schemas.microsoft.com/office/drawing/2014/main" val="1037245798"/>
                    </a:ext>
                  </a:extLst>
                </a:gridCol>
                <a:gridCol w="1655762">
                  <a:extLst>
                    <a:ext uri="{9D8B030D-6E8A-4147-A177-3AD203B41FA5}">
                      <a16:colId xmlns:a16="http://schemas.microsoft.com/office/drawing/2014/main" val="3590797774"/>
                    </a:ext>
                  </a:extLst>
                </a:gridCol>
              </a:tblGrid>
              <a:tr h="149225">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组织</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主要输入</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转化资源</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价值转化方式</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主要输出</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643021622"/>
                  </a:ext>
                </a:extLst>
              </a:tr>
              <a:tr h="276225">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制造企业</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材料</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工具、设备、工人</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加工</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产品</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4074718716"/>
                  </a:ext>
                </a:extLst>
              </a:tr>
              <a:tr h="341313">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医院</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病人</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医生与护士</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诊断与治疗</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恢复健康的人</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3414777567"/>
                  </a:ext>
                </a:extLst>
              </a:tr>
              <a:tr h="339725">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大学</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高中毕业生</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教师、教材、教室</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教学</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高级专门人才</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3347415685"/>
                  </a:ext>
                </a:extLst>
              </a:tr>
              <a:tr h="277813">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运输公司</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发货地物资</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运输设备</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搬运</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接受地物资</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3182654431"/>
                  </a:ext>
                </a:extLst>
              </a:tr>
              <a:tr h="403225">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百货商店</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购买者</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商品 、柜台、售货员</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吸引顾客、推销</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满意的顾客</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3978780973"/>
                  </a:ext>
                </a:extLst>
              </a:tr>
              <a:tr h="404813">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餐馆</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需要就餐的顾客</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食物、厨师、服务员</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食品制作、服务</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满意的顾客</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815562129"/>
                  </a:ext>
                </a:extLst>
              </a:tr>
              <a:tr h="341313">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邮局</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待投邮件</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邮递工具、邮递员</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分发、邮递</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接收邮件</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2139270807"/>
                  </a:ext>
                </a:extLst>
              </a:tr>
              <a:tr h="276225">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报社</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信息</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记者、编辑</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编辑与排版</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solidFill>
                      <a:schemeClr val="tx1"/>
                    </a:solidFill>
                  </a:tcPr>
                </a:tc>
                <a:tc>
                  <a:txBody>
                    <a:bodyPr/>
                    <a:lstStyle>
                      <a:lvl1pPr marL="342900" indent="-342900">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1800" b="0" i="0" u="none" strike="noStrike" cap="none" normalizeH="0" baseline="0">
                          <a:ln>
                            <a:noFill/>
                          </a:ln>
                          <a:solidFill>
                            <a:srgbClr val="003300"/>
                          </a:solidFill>
                          <a:effectLst/>
                          <a:latin typeface="Times New Roman" panose="02020603050405020304" pitchFamily="18" charset="0"/>
                          <a:ea typeface="宋体" panose="02010600030101010101" pitchFamily="2" charset="-122"/>
                          <a:cs typeface="Times New Roman" panose="02020603050405020304" pitchFamily="18" charset="0"/>
                        </a:rPr>
                        <a:t>新闻</a:t>
                      </a:r>
                      <a:endParaRPr kumimoji="0" lang="zh-CN" altLang="en-US" sz="1800" b="0" i="0" u="none" strike="noStrike" cap="none" normalizeH="0" baseline="0">
                        <a:ln>
                          <a:noFill/>
                        </a:ln>
                        <a:solidFill>
                          <a:srgbClr val="003300"/>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385241425"/>
                  </a:ext>
                </a:extLst>
              </a:tr>
            </a:tbl>
          </a:graphicData>
        </a:graphic>
      </p:graphicFrame>
    </p:spTree>
  </p:cSld>
  <p:clrMapOvr>
    <a:masterClrMapping/>
  </p:clrMapOvr>
  <p:transition spd="slow">
    <p:strips dir="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DEC521CF-620D-C1B9-AB5C-BFD63047F84A}"/>
              </a:ext>
            </a:extLst>
          </p:cNvPr>
          <p:cNvSpPr>
            <a:spLocks noGrp="1"/>
          </p:cNvSpPr>
          <p:nvPr>
            <p:ph type="dt" sz="half" idx="10"/>
          </p:nvPr>
        </p:nvSpPr>
        <p:spPr/>
        <p:txBody>
          <a:bodyPr/>
          <a:lstStyle/>
          <a:p>
            <a:r>
              <a:rPr lang="zh-CN" altLang="en-US"/>
              <a:t>讲义制作：李丽，陈志祥审</a:t>
            </a:r>
            <a:endParaRPr lang="en-US" altLang="zh-CN"/>
          </a:p>
        </p:txBody>
      </p:sp>
      <p:sp>
        <p:nvSpPr>
          <p:cNvPr id="285698" name="Rectangle 2">
            <a:extLst>
              <a:ext uri="{FF2B5EF4-FFF2-40B4-BE49-F238E27FC236}">
                <a16:creationId xmlns:a16="http://schemas.microsoft.com/office/drawing/2014/main" id="{0E894518-EAF2-1CA6-88AF-5F2FC47E628E}"/>
              </a:ext>
            </a:extLst>
          </p:cNvPr>
          <p:cNvSpPr>
            <a:spLocks noGrp="1" noChangeArrowheads="1"/>
          </p:cNvSpPr>
          <p:nvPr>
            <p:ph type="title"/>
          </p:nvPr>
        </p:nvSpPr>
        <p:spPr/>
        <p:txBody>
          <a:bodyPr/>
          <a:lstStyle/>
          <a:p>
            <a:r>
              <a:rPr lang="zh-CN" altLang="en-US" sz="3600"/>
              <a:t>（一）生产系统的组成与结构（续）</a:t>
            </a:r>
          </a:p>
        </p:txBody>
      </p:sp>
      <p:sp>
        <p:nvSpPr>
          <p:cNvPr id="285699" name="Rectangle 3">
            <a:extLst>
              <a:ext uri="{FF2B5EF4-FFF2-40B4-BE49-F238E27FC236}">
                <a16:creationId xmlns:a16="http://schemas.microsoft.com/office/drawing/2014/main" id="{CA65F5D9-7CC4-42C2-8DF9-9A35A9345CD0}"/>
              </a:ext>
            </a:extLst>
          </p:cNvPr>
          <p:cNvSpPr>
            <a:spLocks noGrp="1" noChangeArrowheads="1"/>
          </p:cNvSpPr>
          <p:nvPr>
            <p:ph type="body" idx="1"/>
          </p:nvPr>
        </p:nvSpPr>
        <p:spPr/>
        <p:txBody>
          <a:bodyPr/>
          <a:lstStyle/>
          <a:p>
            <a:pPr>
              <a:lnSpc>
                <a:spcPct val="80000"/>
              </a:lnSpc>
              <a:buFontTx/>
              <a:buNone/>
            </a:pPr>
            <a:r>
              <a:rPr lang="zh-CN" altLang="en-US" sz="2400"/>
              <a:t>２．生产系统要素</a:t>
            </a:r>
          </a:p>
          <a:p>
            <a:pPr>
              <a:lnSpc>
                <a:spcPct val="80000"/>
              </a:lnSpc>
              <a:buFontTx/>
              <a:buNone/>
            </a:pPr>
            <a:r>
              <a:rPr lang="zh-CN" altLang="en-US" sz="2400"/>
              <a:t>　　　从运作管理的角度，任何一个生产系统都具有</a:t>
            </a:r>
            <a:r>
              <a:rPr lang="en-US" altLang="zh-CN" sz="2400"/>
              <a:t>5</a:t>
            </a:r>
            <a:r>
              <a:rPr lang="zh-CN" altLang="en-US" sz="2400"/>
              <a:t>个基本要素，这就是人（</a:t>
            </a:r>
            <a:r>
              <a:rPr lang="en-US" altLang="zh-CN" sz="2400"/>
              <a:t>People</a:t>
            </a:r>
            <a:r>
              <a:rPr lang="zh-CN" altLang="en-US" sz="2400"/>
              <a:t>）、工厂或设施（</a:t>
            </a:r>
            <a:r>
              <a:rPr lang="en-US" altLang="zh-CN" sz="2400"/>
              <a:t>Plants</a:t>
            </a:r>
            <a:r>
              <a:rPr lang="zh-CN" altLang="en-US" sz="2400"/>
              <a:t>）、产品或零件</a:t>
            </a:r>
            <a:r>
              <a:rPr lang="en-US" altLang="zh-CN" sz="2400"/>
              <a:t>(product, parts)</a:t>
            </a:r>
            <a:r>
              <a:rPr lang="zh-CN" altLang="en-US" sz="2400"/>
              <a:t>、工艺</a:t>
            </a:r>
            <a:r>
              <a:rPr lang="en-US" altLang="zh-CN" sz="2400"/>
              <a:t>(process)</a:t>
            </a:r>
            <a:r>
              <a:rPr lang="zh-CN" altLang="en-US" sz="2400"/>
              <a:t>、生产计划与控制系统</a:t>
            </a:r>
            <a:r>
              <a:rPr lang="en-US" altLang="zh-CN" sz="2400"/>
              <a:t>(production planning and control)</a:t>
            </a:r>
            <a:r>
              <a:rPr lang="zh-CN" altLang="en-US" sz="2400"/>
              <a:t>。</a:t>
            </a:r>
          </a:p>
          <a:p>
            <a:pPr>
              <a:lnSpc>
                <a:spcPct val="80000"/>
              </a:lnSpc>
              <a:buFontTx/>
              <a:buNone/>
            </a:pPr>
            <a:r>
              <a:rPr lang="zh-CN" altLang="en-US" sz="2400"/>
              <a:t>　　　   五大要素构成生产运作管理的两个子系统：管理系统与执行系统。管理系统即计划与控制系统。管理系统具有两大功能：</a:t>
            </a:r>
          </a:p>
          <a:p>
            <a:pPr>
              <a:lnSpc>
                <a:spcPct val="80000"/>
              </a:lnSpc>
              <a:buFontTx/>
              <a:buNone/>
            </a:pPr>
            <a:r>
              <a:rPr lang="zh-CN" altLang="en-US" sz="2400"/>
              <a:t>　　　（</a:t>
            </a:r>
            <a:r>
              <a:rPr lang="en-US" altLang="zh-CN" sz="2400"/>
              <a:t>1</a:t>
            </a:r>
            <a:r>
              <a:rPr lang="zh-CN" altLang="en-US" sz="2400"/>
              <a:t>）信息功能</a:t>
            </a:r>
            <a:r>
              <a:rPr lang="en-US" altLang="zh-CN" sz="2400"/>
              <a:t>---</a:t>
            </a:r>
            <a:r>
              <a:rPr lang="zh-CN" altLang="en-US" sz="2400"/>
              <a:t>信息收集、转换、处理等</a:t>
            </a:r>
          </a:p>
          <a:p>
            <a:pPr>
              <a:lnSpc>
                <a:spcPct val="80000"/>
              </a:lnSpc>
              <a:buFontTx/>
              <a:buNone/>
            </a:pPr>
            <a:r>
              <a:rPr lang="zh-CN" altLang="en-US" sz="2400"/>
              <a:t>　　　（</a:t>
            </a:r>
            <a:r>
              <a:rPr lang="en-US" altLang="zh-CN" sz="2400"/>
              <a:t>2</a:t>
            </a:r>
            <a:r>
              <a:rPr lang="zh-CN" altLang="en-US" sz="2400"/>
              <a:t>）决策功能</a:t>
            </a:r>
            <a:r>
              <a:rPr lang="en-US" altLang="zh-CN" sz="2400"/>
              <a:t>---</a:t>
            </a:r>
            <a:r>
              <a:rPr lang="zh-CN" altLang="en-US" sz="2400"/>
              <a:t>选择决策、指示的传达、控制命令等</a:t>
            </a:r>
          </a:p>
        </p:txBody>
      </p:sp>
    </p:spTree>
  </p:cSld>
  <p:clrMapOvr>
    <a:masterClrMapping/>
  </p:clrMapOvr>
  <p:transition spd="slow">
    <p:strips dir="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A1B08B90-C8F6-288F-3690-616DD9BDE1C1}"/>
              </a:ext>
            </a:extLst>
          </p:cNvPr>
          <p:cNvSpPr>
            <a:spLocks noGrp="1"/>
          </p:cNvSpPr>
          <p:nvPr>
            <p:ph type="dt" sz="half" idx="10"/>
          </p:nvPr>
        </p:nvSpPr>
        <p:spPr/>
        <p:txBody>
          <a:bodyPr/>
          <a:lstStyle/>
          <a:p>
            <a:r>
              <a:rPr lang="zh-CN" altLang="en-US"/>
              <a:t>讲义制作：李丽，陈志祥审</a:t>
            </a:r>
            <a:endParaRPr lang="en-US" altLang="zh-CN"/>
          </a:p>
        </p:txBody>
      </p:sp>
      <p:sp>
        <p:nvSpPr>
          <p:cNvPr id="287746" name="Rectangle 2">
            <a:extLst>
              <a:ext uri="{FF2B5EF4-FFF2-40B4-BE49-F238E27FC236}">
                <a16:creationId xmlns:a16="http://schemas.microsoft.com/office/drawing/2014/main" id="{410145E5-9C88-C94D-3A52-C9BC47CD595C}"/>
              </a:ext>
            </a:extLst>
          </p:cNvPr>
          <p:cNvSpPr>
            <a:spLocks noGrp="1" noChangeArrowheads="1"/>
          </p:cNvSpPr>
          <p:nvPr>
            <p:ph type="title"/>
          </p:nvPr>
        </p:nvSpPr>
        <p:spPr/>
        <p:txBody>
          <a:bodyPr/>
          <a:lstStyle/>
          <a:p>
            <a:r>
              <a:rPr lang="zh-CN" altLang="en-US"/>
              <a:t>（二）生产系统的类型与特征</a:t>
            </a:r>
          </a:p>
        </p:txBody>
      </p:sp>
      <p:sp>
        <p:nvSpPr>
          <p:cNvPr id="287747" name="Rectangle 3">
            <a:extLst>
              <a:ext uri="{FF2B5EF4-FFF2-40B4-BE49-F238E27FC236}">
                <a16:creationId xmlns:a16="http://schemas.microsoft.com/office/drawing/2014/main" id="{D1888EDB-74C1-0DB6-DFA7-73333558FB8E}"/>
              </a:ext>
            </a:extLst>
          </p:cNvPr>
          <p:cNvSpPr>
            <a:spLocks noGrp="1" noChangeArrowheads="1"/>
          </p:cNvSpPr>
          <p:nvPr>
            <p:ph type="body" idx="1"/>
          </p:nvPr>
        </p:nvSpPr>
        <p:spPr/>
        <p:txBody>
          <a:bodyPr/>
          <a:lstStyle/>
          <a:p>
            <a:pPr>
              <a:buFontTx/>
              <a:buNone/>
            </a:pPr>
            <a:br>
              <a:rPr lang="en-US" altLang="zh-CN"/>
            </a:br>
            <a:r>
              <a:rPr lang="en-US" altLang="zh-CN"/>
              <a:t>1</a:t>
            </a:r>
            <a:r>
              <a:rPr lang="zh-CN" altLang="en-US"/>
              <a:t>。按照产品特征分：单件生产，批量、大量生产</a:t>
            </a:r>
          </a:p>
          <a:p>
            <a:r>
              <a:rPr lang="en-US" altLang="zh-CN"/>
              <a:t>2</a:t>
            </a:r>
            <a:r>
              <a:rPr lang="zh-CN" altLang="en-US"/>
              <a:t>。按照需求特征分的：备货生产与订单生产</a:t>
            </a:r>
          </a:p>
          <a:p>
            <a:r>
              <a:rPr lang="en-US" altLang="zh-CN"/>
              <a:t>3</a:t>
            </a:r>
            <a:r>
              <a:rPr lang="zh-CN" altLang="en-US"/>
              <a:t>。按照工艺特征分的：连续生产与加工装配式生产</a:t>
            </a:r>
          </a:p>
        </p:txBody>
      </p:sp>
    </p:spTree>
  </p:cSld>
  <p:clrMapOvr>
    <a:masterClrMapping/>
  </p:clrMapOvr>
  <p:transition spd="slow">
    <p:strips dir="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257189D-F7E9-757D-4CF0-5BD22A581E27}"/>
              </a:ext>
            </a:extLst>
          </p:cNvPr>
          <p:cNvSpPr>
            <a:spLocks noGrp="1"/>
          </p:cNvSpPr>
          <p:nvPr>
            <p:ph type="dt" sz="half" idx="10"/>
          </p:nvPr>
        </p:nvSpPr>
        <p:spPr/>
        <p:txBody>
          <a:bodyPr/>
          <a:lstStyle/>
          <a:p>
            <a:r>
              <a:rPr lang="zh-CN" altLang="en-US"/>
              <a:t>讲义制作：李丽，陈志祥审</a:t>
            </a:r>
            <a:endParaRPr lang="en-US" altLang="zh-CN"/>
          </a:p>
        </p:txBody>
      </p:sp>
      <p:graphicFrame>
        <p:nvGraphicFramePr>
          <p:cNvPr id="286783" name="Group 63">
            <a:extLst>
              <a:ext uri="{FF2B5EF4-FFF2-40B4-BE49-F238E27FC236}">
                <a16:creationId xmlns:a16="http://schemas.microsoft.com/office/drawing/2014/main" id="{864ABD87-750B-B152-7DC6-830D33EA4DDD}"/>
              </a:ext>
            </a:extLst>
          </p:cNvPr>
          <p:cNvGraphicFramePr>
            <a:graphicFrameLocks noGrp="1"/>
          </p:cNvGraphicFramePr>
          <p:nvPr/>
        </p:nvGraphicFramePr>
        <p:xfrm>
          <a:off x="468313" y="1341438"/>
          <a:ext cx="8280400" cy="3838575"/>
        </p:xfrm>
        <a:graphic>
          <a:graphicData uri="http://schemas.openxmlformats.org/drawingml/2006/table">
            <a:tbl>
              <a:tblPr/>
              <a:tblGrid>
                <a:gridCol w="2049462">
                  <a:extLst>
                    <a:ext uri="{9D8B030D-6E8A-4147-A177-3AD203B41FA5}">
                      <a16:colId xmlns:a16="http://schemas.microsoft.com/office/drawing/2014/main" val="3202136945"/>
                    </a:ext>
                  </a:extLst>
                </a:gridCol>
                <a:gridCol w="2166938">
                  <a:extLst>
                    <a:ext uri="{9D8B030D-6E8A-4147-A177-3AD203B41FA5}">
                      <a16:colId xmlns:a16="http://schemas.microsoft.com/office/drawing/2014/main" val="4008896674"/>
                    </a:ext>
                  </a:extLst>
                </a:gridCol>
                <a:gridCol w="2165350">
                  <a:extLst>
                    <a:ext uri="{9D8B030D-6E8A-4147-A177-3AD203B41FA5}">
                      <a16:colId xmlns:a16="http://schemas.microsoft.com/office/drawing/2014/main" val="1952142644"/>
                    </a:ext>
                  </a:extLst>
                </a:gridCol>
                <a:gridCol w="1898650">
                  <a:extLst>
                    <a:ext uri="{9D8B030D-6E8A-4147-A177-3AD203B41FA5}">
                      <a16:colId xmlns:a16="http://schemas.microsoft.com/office/drawing/2014/main" val="1092606607"/>
                    </a:ext>
                  </a:extLst>
                </a:gridCol>
              </a:tblGrid>
              <a:tr h="515938">
                <a:tc>
                  <a:txBody>
                    <a:bodyPr/>
                    <a:lstStyle>
                      <a:lvl1pPr>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714500" algn="l"/>
                        </a:tabLst>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生产类型</a:t>
                      </a:r>
                    </a:p>
                    <a:p>
                      <a:pPr marL="0" marR="0" lvl="0" indent="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特征</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25400" cap="flat" cmpd="sng" algn="ctr">
                      <a:solidFill>
                        <a:srgbClr val="008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单件生产</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8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批量生产</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大量生产</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245251846"/>
                  </a:ext>
                </a:extLst>
              </a:tr>
              <a:tr h="1457325">
                <a:tc>
                  <a:txBody>
                    <a:bodyPr/>
                    <a:lstStyle>
                      <a:lvl1pPr>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产品顾客化程度</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生产品种</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生产批量</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生产能力调整</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自动化程度</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劳动组织</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工作标准化程度</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生产柔性</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生产效率</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单件成本</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25400" cap="flat" cmpd="sng" algn="ctr">
                      <a:solidFill>
                        <a:srgbClr val="008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高</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很多</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单件</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容易</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低</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复杂</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很低</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高</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低</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高</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8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低</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多</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较多</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一般</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一般</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较复杂</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一般</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一般</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中等</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中等</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很低</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少</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大</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困难</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很高</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简单</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很高</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低</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很高</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低</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3643723983"/>
                  </a:ext>
                </a:extLst>
              </a:tr>
            </a:tbl>
          </a:graphicData>
        </a:graphic>
      </p:graphicFrame>
      <p:sp>
        <p:nvSpPr>
          <p:cNvPr id="286779" name="Rectangle 59">
            <a:extLst>
              <a:ext uri="{FF2B5EF4-FFF2-40B4-BE49-F238E27FC236}">
                <a16:creationId xmlns:a16="http://schemas.microsoft.com/office/drawing/2014/main" id="{560A0415-DEF9-5BD1-8C59-8D237070ACCF}"/>
              </a:ext>
            </a:extLst>
          </p:cNvPr>
          <p:cNvSpPr>
            <a:spLocks noChangeArrowheads="1"/>
          </p:cNvSpPr>
          <p:nvPr/>
        </p:nvSpPr>
        <p:spPr bwMode="auto">
          <a:xfrm>
            <a:off x="1835150" y="836613"/>
            <a:ext cx="49895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tabLst>
                <a:tab pos="1714500" algn="l"/>
              </a:tabLst>
              <a:defRPr>
                <a:solidFill>
                  <a:schemeClr val="tx1"/>
                </a:solidFill>
                <a:latin typeface="Arial" panose="020B0604020202020204" pitchFamily="34" charset="0"/>
                <a:ea typeface="宋体" panose="02010600030101010101" pitchFamily="2" charset="-122"/>
              </a:defRPr>
            </a:lvl1pPr>
            <a:lvl2pPr>
              <a:tabLst>
                <a:tab pos="1714500" algn="l"/>
              </a:tabLst>
              <a:defRPr>
                <a:solidFill>
                  <a:schemeClr val="tx1"/>
                </a:solidFill>
                <a:latin typeface="Arial" panose="020B0604020202020204" pitchFamily="34" charset="0"/>
                <a:ea typeface="宋体" panose="02010600030101010101" pitchFamily="2" charset="-122"/>
              </a:defRPr>
            </a:lvl2pPr>
            <a:lvl3pPr>
              <a:tabLst>
                <a:tab pos="1714500" algn="l"/>
              </a:tabLst>
              <a:defRPr>
                <a:solidFill>
                  <a:schemeClr val="tx1"/>
                </a:solidFill>
                <a:latin typeface="Arial" panose="020B0604020202020204" pitchFamily="34" charset="0"/>
                <a:ea typeface="宋体" panose="02010600030101010101" pitchFamily="2" charset="-122"/>
              </a:defRPr>
            </a:lvl3pPr>
            <a:lvl4pPr>
              <a:tabLst>
                <a:tab pos="1714500" algn="l"/>
              </a:tabLst>
              <a:defRPr>
                <a:solidFill>
                  <a:schemeClr val="tx1"/>
                </a:solidFill>
                <a:latin typeface="Arial" panose="020B0604020202020204" pitchFamily="34" charset="0"/>
                <a:ea typeface="宋体" panose="02010600030101010101" pitchFamily="2" charset="-122"/>
              </a:defRPr>
            </a:lvl4pPr>
            <a:lvl5pPr>
              <a:tabLst>
                <a:tab pos="17145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17145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17145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17145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1714500" algn="l"/>
              </a:tabLst>
              <a:defRPr>
                <a:solidFill>
                  <a:schemeClr val="tx1"/>
                </a:solidFill>
                <a:latin typeface="Arial" panose="020B0604020202020204" pitchFamily="34" charset="0"/>
                <a:ea typeface="宋体" panose="02010600030101010101" pitchFamily="2" charset="-122"/>
              </a:defRPr>
            </a:lvl9pPr>
          </a:lstStyle>
          <a:p>
            <a:pPr algn="ctr"/>
            <a:r>
              <a:rPr lang="zh-CN" altLang="en-US" b="1"/>
              <a:t>表</a:t>
            </a:r>
            <a:r>
              <a:rPr lang="en-US" altLang="zh-CN" b="1"/>
              <a:t>1-2 </a:t>
            </a:r>
            <a:r>
              <a:rPr lang="zh-CN" altLang="en-US" b="1"/>
              <a:t>单件生产，批量生产与大量生产的特征</a:t>
            </a:r>
          </a:p>
        </p:txBody>
      </p:sp>
      <p:sp>
        <p:nvSpPr>
          <p:cNvPr id="286780" name="Rectangle 60">
            <a:extLst>
              <a:ext uri="{FF2B5EF4-FFF2-40B4-BE49-F238E27FC236}">
                <a16:creationId xmlns:a16="http://schemas.microsoft.com/office/drawing/2014/main" id="{10DE7B8A-F68C-87B9-4FA5-A98D86A6FD01}"/>
              </a:ext>
            </a:extLst>
          </p:cNvPr>
          <p:cNvSpPr>
            <a:spLocks noChangeArrowheads="1"/>
          </p:cNvSpPr>
          <p:nvPr/>
        </p:nvSpPr>
        <p:spPr bwMode="auto">
          <a:xfrm>
            <a:off x="250825" y="333375"/>
            <a:ext cx="675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t>1</a:t>
            </a:r>
            <a:r>
              <a:rPr lang="zh-CN" altLang="en-US" sz="2400"/>
              <a:t>。按照产品特征分：单件生产，批量、大量生产</a:t>
            </a:r>
          </a:p>
        </p:txBody>
      </p:sp>
    </p:spTree>
  </p:cSld>
  <p:clrMapOvr>
    <a:masterClrMapping/>
  </p:clrMapOvr>
  <p:transition spd="slow">
    <p:strips dir="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A0B99C3-782A-31C1-F897-7D004DFBB9A0}"/>
              </a:ext>
            </a:extLst>
          </p:cNvPr>
          <p:cNvSpPr>
            <a:spLocks noGrp="1"/>
          </p:cNvSpPr>
          <p:nvPr>
            <p:ph type="dt" sz="half" idx="10"/>
          </p:nvPr>
        </p:nvSpPr>
        <p:spPr/>
        <p:txBody>
          <a:bodyPr/>
          <a:lstStyle/>
          <a:p>
            <a:r>
              <a:rPr lang="zh-CN" altLang="en-US"/>
              <a:t>讲义制作：李丽，陈志祥审</a:t>
            </a:r>
            <a:endParaRPr lang="en-US" altLang="zh-CN"/>
          </a:p>
        </p:txBody>
      </p:sp>
      <p:graphicFrame>
        <p:nvGraphicFramePr>
          <p:cNvPr id="288852" name="Group 84">
            <a:extLst>
              <a:ext uri="{FF2B5EF4-FFF2-40B4-BE49-F238E27FC236}">
                <a16:creationId xmlns:a16="http://schemas.microsoft.com/office/drawing/2014/main" id="{CC7823E9-02AD-032F-E80B-7F60D7656257}"/>
              </a:ext>
            </a:extLst>
          </p:cNvPr>
          <p:cNvGraphicFramePr>
            <a:graphicFrameLocks noGrp="1"/>
          </p:cNvGraphicFramePr>
          <p:nvPr/>
        </p:nvGraphicFramePr>
        <p:xfrm>
          <a:off x="684213" y="1125538"/>
          <a:ext cx="7416800" cy="3832225"/>
        </p:xfrm>
        <a:graphic>
          <a:graphicData uri="http://schemas.openxmlformats.org/drawingml/2006/table">
            <a:tbl>
              <a:tblPr/>
              <a:tblGrid>
                <a:gridCol w="2481262">
                  <a:extLst>
                    <a:ext uri="{9D8B030D-6E8A-4147-A177-3AD203B41FA5}">
                      <a16:colId xmlns:a16="http://schemas.microsoft.com/office/drawing/2014/main" val="1110634541"/>
                    </a:ext>
                  </a:extLst>
                </a:gridCol>
                <a:gridCol w="2587625">
                  <a:extLst>
                    <a:ext uri="{9D8B030D-6E8A-4147-A177-3AD203B41FA5}">
                      <a16:colId xmlns:a16="http://schemas.microsoft.com/office/drawing/2014/main" val="736578712"/>
                    </a:ext>
                  </a:extLst>
                </a:gridCol>
                <a:gridCol w="2347913">
                  <a:extLst>
                    <a:ext uri="{9D8B030D-6E8A-4147-A177-3AD203B41FA5}">
                      <a16:colId xmlns:a16="http://schemas.microsoft.com/office/drawing/2014/main" val="4263503388"/>
                    </a:ext>
                  </a:extLst>
                </a:gridCol>
              </a:tblGrid>
              <a:tr h="292100">
                <a:tc>
                  <a:txBody>
                    <a:bodyPr/>
                    <a:lstStyle>
                      <a:lvl1pPr>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714500" algn="l"/>
                        </a:tabLst>
                      </a:pP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生产类型</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特征</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8000"/>
                      </a:solidFill>
                      <a:prstDash val="solid"/>
                      <a:round/>
                      <a:headEnd type="none" w="med" len="med"/>
                      <a:tailEnd type="none" w="med" len="med"/>
                    </a:lnL>
                    <a:lnR w="25400" cap="flat" cmpd="sng" algn="ctr">
                      <a:solidFill>
                        <a:srgbClr val="008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备货型生产</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8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订货型生产</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1392719747"/>
                  </a:ext>
                </a:extLst>
              </a:tr>
              <a:tr h="1047750">
                <a:tc>
                  <a:txBody>
                    <a:bodyPr/>
                    <a:lstStyle>
                      <a:lvl1pPr>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产品特征</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生产组织</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市场适应性</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交货能力</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人员技能要求</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工艺与设备</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资源利用率</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25400" cap="flat" cmpd="sng" algn="ctr">
                      <a:solidFill>
                        <a:srgbClr val="008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需求稳定</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按照预测组织生产</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不灵活</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快速</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专业化</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多采用专用设备</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高</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8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需求波动大</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按照订单组织生产</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灵活</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慢</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多能化</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柔性制造系统</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低</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875966295"/>
                  </a:ext>
                </a:extLst>
              </a:tr>
            </a:tbl>
          </a:graphicData>
        </a:graphic>
      </p:graphicFrame>
      <p:sp>
        <p:nvSpPr>
          <p:cNvPr id="288850" name="Rectangle 82">
            <a:extLst>
              <a:ext uri="{FF2B5EF4-FFF2-40B4-BE49-F238E27FC236}">
                <a16:creationId xmlns:a16="http://schemas.microsoft.com/office/drawing/2014/main" id="{CAA6E020-4F00-8E32-2E01-156CC1CC0D59}"/>
              </a:ext>
            </a:extLst>
          </p:cNvPr>
          <p:cNvSpPr>
            <a:spLocks noChangeArrowheads="1"/>
          </p:cNvSpPr>
          <p:nvPr/>
        </p:nvSpPr>
        <p:spPr bwMode="auto">
          <a:xfrm>
            <a:off x="539750" y="331788"/>
            <a:ext cx="6145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t>2</a:t>
            </a:r>
            <a:r>
              <a:rPr lang="zh-CN" altLang="en-US" sz="2400"/>
              <a:t>。按照需求特征分的：备货生产与订单生产</a:t>
            </a:r>
          </a:p>
        </p:txBody>
      </p:sp>
    </p:spTree>
  </p:cSld>
  <p:clrMapOvr>
    <a:masterClrMapping/>
  </p:clrMapOvr>
  <p:transition spd="slow">
    <p:strips dir="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EBEEC84-7D3F-ED5C-0DDD-B67AECFEBD17}"/>
              </a:ext>
            </a:extLst>
          </p:cNvPr>
          <p:cNvSpPr>
            <a:spLocks noGrp="1"/>
          </p:cNvSpPr>
          <p:nvPr>
            <p:ph type="dt" sz="half" idx="10"/>
          </p:nvPr>
        </p:nvSpPr>
        <p:spPr/>
        <p:txBody>
          <a:bodyPr/>
          <a:lstStyle/>
          <a:p>
            <a:r>
              <a:rPr lang="zh-CN" altLang="en-US"/>
              <a:t>讲义制作：李丽，陈志祥审</a:t>
            </a:r>
            <a:endParaRPr lang="en-US" altLang="zh-CN"/>
          </a:p>
        </p:txBody>
      </p:sp>
      <p:sp>
        <p:nvSpPr>
          <p:cNvPr id="290820" name="Rectangle 4">
            <a:extLst>
              <a:ext uri="{FF2B5EF4-FFF2-40B4-BE49-F238E27FC236}">
                <a16:creationId xmlns:a16="http://schemas.microsoft.com/office/drawing/2014/main" id="{8A784F1F-58C1-6891-735D-37FF1D98B8FA}"/>
              </a:ext>
            </a:extLst>
          </p:cNvPr>
          <p:cNvSpPr>
            <a:spLocks noChangeArrowheads="1"/>
          </p:cNvSpPr>
          <p:nvPr/>
        </p:nvSpPr>
        <p:spPr bwMode="auto">
          <a:xfrm>
            <a:off x="395288" y="260350"/>
            <a:ext cx="7165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chemeClr val="tx2"/>
              </a:buClr>
              <a:buFontTx/>
              <a:buChar char="•"/>
            </a:pPr>
            <a:r>
              <a:rPr lang="en-US" altLang="zh-CN" sz="2400"/>
              <a:t>3</a:t>
            </a:r>
            <a:r>
              <a:rPr lang="zh-CN" altLang="en-US" sz="2400"/>
              <a:t>。按照工艺特征分的：连续生产与加工装配式生产</a:t>
            </a:r>
          </a:p>
        </p:txBody>
      </p:sp>
      <p:graphicFrame>
        <p:nvGraphicFramePr>
          <p:cNvPr id="290843" name="Group 27">
            <a:extLst>
              <a:ext uri="{FF2B5EF4-FFF2-40B4-BE49-F238E27FC236}">
                <a16:creationId xmlns:a16="http://schemas.microsoft.com/office/drawing/2014/main" id="{BDB7FD38-9C1E-1EDC-9F7F-32FC02DAD425}"/>
              </a:ext>
            </a:extLst>
          </p:cNvPr>
          <p:cNvGraphicFramePr>
            <a:graphicFrameLocks noGrp="1"/>
          </p:cNvGraphicFramePr>
          <p:nvPr/>
        </p:nvGraphicFramePr>
        <p:xfrm>
          <a:off x="250825" y="1125538"/>
          <a:ext cx="7850188" cy="3832225"/>
        </p:xfrm>
        <a:graphic>
          <a:graphicData uri="http://schemas.openxmlformats.org/drawingml/2006/table">
            <a:tbl>
              <a:tblPr/>
              <a:tblGrid>
                <a:gridCol w="3241675">
                  <a:extLst>
                    <a:ext uri="{9D8B030D-6E8A-4147-A177-3AD203B41FA5}">
                      <a16:colId xmlns:a16="http://schemas.microsoft.com/office/drawing/2014/main" val="2150955028"/>
                    </a:ext>
                  </a:extLst>
                </a:gridCol>
                <a:gridCol w="2159000">
                  <a:extLst>
                    <a:ext uri="{9D8B030D-6E8A-4147-A177-3AD203B41FA5}">
                      <a16:colId xmlns:a16="http://schemas.microsoft.com/office/drawing/2014/main" val="3480389342"/>
                    </a:ext>
                  </a:extLst>
                </a:gridCol>
                <a:gridCol w="2449513">
                  <a:extLst>
                    <a:ext uri="{9D8B030D-6E8A-4147-A177-3AD203B41FA5}">
                      <a16:colId xmlns:a16="http://schemas.microsoft.com/office/drawing/2014/main" val="3880576850"/>
                    </a:ext>
                  </a:extLst>
                </a:gridCol>
              </a:tblGrid>
              <a:tr h="292100">
                <a:tc>
                  <a:txBody>
                    <a:bodyPr/>
                    <a:lstStyle>
                      <a:lvl1pPr>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714500" algn="l"/>
                        </a:tabLst>
                      </a:pPr>
                      <a:r>
                        <a:rPr kumimoji="0" lang="en-US" altLang="zh-CN"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a:t>
                      </a: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生产类型</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特征</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8000"/>
                      </a:solidFill>
                      <a:prstDash val="solid"/>
                      <a:round/>
                      <a:headEnd type="none" w="med" len="med"/>
                      <a:tailEnd type="none" w="med" len="med"/>
                    </a:lnL>
                    <a:lnR w="25400" cap="flat" cmpd="sng" algn="ctr">
                      <a:solidFill>
                        <a:srgbClr val="008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连续生产</a:t>
                      </a:r>
                    </a:p>
                  </a:txBody>
                  <a:tcPr horzOverflow="overflow">
                    <a:lnL w="25400" cap="flat" cmpd="sng" algn="ctr">
                      <a:solidFill>
                        <a:srgbClr val="008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加工装配式生产</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416500699"/>
                  </a:ext>
                </a:extLst>
              </a:tr>
              <a:tr h="1047750">
                <a:tc>
                  <a:txBody>
                    <a:bodyPr/>
                    <a:lstStyle>
                      <a:lvl1pPr>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产品品种</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产品标准化</a:t>
                      </a: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生产能力调整难易程度</a:t>
                      </a: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生产组织难度</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加工工艺复杂度</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自动化</a:t>
                      </a: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生产系统柔性</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原料供应商</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25400" cap="flat" cmpd="sng" algn="ctr">
                      <a:solidFill>
                        <a:srgbClr val="008000"/>
                      </a:solidFill>
                      <a:prstDash val="solid"/>
                      <a:round/>
                      <a:headEnd type="none" w="med" len="med"/>
                      <a:tailEnd type="none" w="med" len="med"/>
                    </a:lnR>
                    <a:lnT w="254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品种单一</a:t>
                      </a: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比较高</a:t>
                      </a: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比较难</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比较容易</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比较高</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比较高</a:t>
                      </a: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比较低</a:t>
                      </a: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rPr>
                        <a:t>比较少</a:t>
                      </a:r>
                    </a:p>
                  </a:txBody>
                  <a:tcPr horzOverflow="overflow">
                    <a:lnL w="25400" cap="flat" cmpd="sng" algn="ctr">
                      <a:solidFill>
                        <a:srgbClr val="008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1714500" algn="l"/>
                        </a:tabLst>
                        <a:defRPr sz="2800">
                          <a:solidFill>
                            <a:schemeClr val="tx1"/>
                          </a:solidFill>
                          <a:latin typeface="Arial" panose="020B0604020202020204" pitchFamily="34" charset="0"/>
                          <a:ea typeface="宋体" panose="02010600030101010101" pitchFamily="2" charset="-122"/>
                        </a:defRPr>
                      </a:lvl1pPr>
                      <a:lvl2pPr>
                        <a:spcBef>
                          <a:spcPct val="20000"/>
                        </a:spcBef>
                        <a:tabLst>
                          <a:tab pos="1714500" algn="l"/>
                        </a:tabLst>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tabLst>
                          <a:tab pos="1714500" algn="l"/>
                        </a:tabLst>
                        <a:defRPr sz="2000">
                          <a:solidFill>
                            <a:schemeClr val="tx1"/>
                          </a:solidFill>
                          <a:latin typeface="Arial" panose="020B0604020202020204" pitchFamily="34" charset="0"/>
                          <a:ea typeface="宋体" panose="02010600030101010101" pitchFamily="2" charset="-122"/>
                        </a:defRPr>
                      </a:lvl3pPr>
                      <a:lvl4pPr>
                        <a:spcBef>
                          <a:spcPct val="20000"/>
                        </a:spcBef>
                        <a:tabLst>
                          <a:tab pos="1714500" algn="l"/>
                        </a:tabLst>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tabLst>
                          <a:tab pos="1714500" algn="l"/>
                        </a:tabLst>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tabLst>
                          <a:tab pos="1714500" algn="l"/>
                        </a:tabLs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品种多</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比较低</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比较易</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比较难</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比较低</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比较低</a:t>
                      </a: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比较高</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0" algn="l"/>
                        </a:tabLst>
                      </a:pPr>
                      <a:r>
                        <a:rPr kumimoji="0" lang="zh-CN" altLang="en-US" sz="2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比较多</a:t>
                      </a:r>
                      <a:endParaRPr kumimoji="0" lang="zh-CN" altLang="en-US"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254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1058232567"/>
                  </a:ext>
                </a:extLst>
              </a:tr>
            </a:tbl>
          </a:graphicData>
        </a:graphic>
      </p:graphicFrame>
    </p:spTree>
  </p:cSld>
  <p:clrMapOvr>
    <a:masterClrMapping/>
  </p:clrMapOvr>
  <p:transition spd="slow">
    <p:strips dir="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2D91437C-1F40-60E9-A2EE-E7CE9DB58697}"/>
              </a:ext>
            </a:extLst>
          </p:cNvPr>
          <p:cNvSpPr>
            <a:spLocks noGrp="1"/>
          </p:cNvSpPr>
          <p:nvPr>
            <p:ph type="dt" sz="half" idx="10"/>
          </p:nvPr>
        </p:nvSpPr>
        <p:spPr/>
        <p:txBody>
          <a:bodyPr/>
          <a:lstStyle/>
          <a:p>
            <a:r>
              <a:rPr lang="zh-CN" altLang="en-US"/>
              <a:t>讲义制作：李丽，陈志祥审</a:t>
            </a:r>
            <a:endParaRPr lang="en-US" altLang="zh-CN"/>
          </a:p>
        </p:txBody>
      </p:sp>
      <p:sp>
        <p:nvSpPr>
          <p:cNvPr id="291842" name="Rectangle 2">
            <a:extLst>
              <a:ext uri="{FF2B5EF4-FFF2-40B4-BE49-F238E27FC236}">
                <a16:creationId xmlns:a16="http://schemas.microsoft.com/office/drawing/2014/main" id="{B281EF21-AB1B-17E0-C339-B2C6DD67F686}"/>
              </a:ext>
            </a:extLst>
          </p:cNvPr>
          <p:cNvSpPr>
            <a:spLocks noGrp="1" noChangeArrowheads="1"/>
          </p:cNvSpPr>
          <p:nvPr>
            <p:ph type="title"/>
          </p:nvPr>
        </p:nvSpPr>
        <p:spPr/>
        <p:txBody>
          <a:bodyPr/>
          <a:lstStyle/>
          <a:p>
            <a:r>
              <a:rPr lang="zh-CN" altLang="en-US"/>
              <a:t>（三）服务运作管理的特点</a:t>
            </a:r>
          </a:p>
        </p:txBody>
      </p:sp>
      <p:sp>
        <p:nvSpPr>
          <p:cNvPr id="291843" name="Rectangle 3">
            <a:extLst>
              <a:ext uri="{FF2B5EF4-FFF2-40B4-BE49-F238E27FC236}">
                <a16:creationId xmlns:a16="http://schemas.microsoft.com/office/drawing/2014/main" id="{CF41E8B0-9B17-822F-384C-628D2B280852}"/>
              </a:ext>
            </a:extLst>
          </p:cNvPr>
          <p:cNvSpPr>
            <a:spLocks noGrp="1" noChangeArrowheads="1"/>
          </p:cNvSpPr>
          <p:nvPr>
            <p:ph type="body" idx="1"/>
          </p:nvPr>
        </p:nvSpPr>
        <p:spPr/>
        <p:txBody>
          <a:bodyPr/>
          <a:lstStyle/>
          <a:p>
            <a:pPr>
              <a:lnSpc>
                <a:spcPct val="90000"/>
              </a:lnSpc>
            </a:pPr>
            <a:r>
              <a:rPr lang="zh-CN" altLang="en-US" sz="2800"/>
              <a:t>（</a:t>
            </a:r>
            <a:r>
              <a:rPr lang="en-US" altLang="zh-CN" sz="2800"/>
              <a:t>1</a:t>
            </a:r>
            <a:r>
              <a:rPr lang="zh-CN" altLang="en-US" sz="2800"/>
              <a:t>）大多数服务业的生产过程与营销过程是同时发生的</a:t>
            </a:r>
          </a:p>
          <a:p>
            <a:pPr>
              <a:lnSpc>
                <a:spcPct val="90000"/>
              </a:lnSpc>
            </a:pPr>
            <a:r>
              <a:rPr lang="zh-CN" altLang="en-US" sz="2800"/>
              <a:t>（</a:t>
            </a:r>
            <a:r>
              <a:rPr lang="en-US" altLang="zh-CN" sz="2800"/>
              <a:t>2</a:t>
            </a:r>
            <a:r>
              <a:rPr lang="zh-CN" altLang="en-US" sz="2800"/>
              <a:t>）服务业与顾客的接触程度要高于制造业。</a:t>
            </a:r>
          </a:p>
          <a:p>
            <a:pPr>
              <a:lnSpc>
                <a:spcPct val="90000"/>
              </a:lnSpc>
            </a:pPr>
            <a:r>
              <a:rPr lang="zh-CN" altLang="en-US" sz="2800"/>
              <a:t>（</a:t>
            </a:r>
            <a:r>
              <a:rPr lang="en-US" altLang="zh-CN" sz="2800"/>
              <a:t>3</a:t>
            </a:r>
            <a:r>
              <a:rPr lang="zh-CN" altLang="en-US" sz="2800"/>
              <a:t>）服务运作的投入比制造运作的投入具有更大的不确定性，也即生产能力具有更大弹性。</a:t>
            </a:r>
          </a:p>
          <a:p>
            <a:pPr>
              <a:lnSpc>
                <a:spcPct val="90000"/>
              </a:lnSpc>
            </a:pPr>
            <a:r>
              <a:rPr lang="zh-CN" altLang="en-US" sz="2800"/>
              <a:t>（</a:t>
            </a:r>
            <a:r>
              <a:rPr lang="en-US" altLang="zh-CN" sz="2800"/>
              <a:t>4</a:t>
            </a:r>
            <a:r>
              <a:rPr lang="zh-CN" altLang="en-US" sz="2800"/>
              <a:t>）由于需求的强度与工作要求的多变性，使服务业的生产率相对难测定。</a:t>
            </a:r>
          </a:p>
          <a:p>
            <a:pPr>
              <a:lnSpc>
                <a:spcPct val="90000"/>
              </a:lnSpc>
            </a:pPr>
            <a:r>
              <a:rPr lang="zh-CN" altLang="en-US" sz="2800"/>
              <a:t>（</a:t>
            </a:r>
            <a:r>
              <a:rPr lang="en-US" altLang="zh-CN" sz="2800"/>
              <a:t>5</a:t>
            </a:r>
            <a:r>
              <a:rPr lang="zh-CN" altLang="en-US" sz="2800"/>
              <a:t>）服务业对质量要求更高，同时质量控制的难度也大。</a:t>
            </a:r>
          </a:p>
          <a:p>
            <a:pPr>
              <a:lnSpc>
                <a:spcPct val="90000"/>
              </a:lnSpc>
            </a:pPr>
            <a:r>
              <a:rPr lang="zh-CN" altLang="en-US" sz="2800"/>
              <a:t>（</a:t>
            </a:r>
            <a:r>
              <a:rPr lang="en-US" altLang="zh-CN" sz="2800"/>
              <a:t>6</a:t>
            </a:r>
            <a:r>
              <a:rPr lang="zh-CN" altLang="en-US" sz="2800"/>
              <a:t>）服务不能用库存来调节。</a:t>
            </a:r>
          </a:p>
        </p:txBody>
      </p:sp>
    </p:spTree>
  </p:cSld>
  <p:clrMapOvr>
    <a:masterClrMapping/>
  </p:clrMapOvr>
  <p:transition spd="slow">
    <p:strips dir="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AF340EB9-74D2-93C8-2A33-DE4402133C49}"/>
              </a:ext>
            </a:extLst>
          </p:cNvPr>
          <p:cNvSpPr>
            <a:spLocks noGrp="1"/>
          </p:cNvSpPr>
          <p:nvPr>
            <p:ph type="dt" sz="half" idx="10"/>
          </p:nvPr>
        </p:nvSpPr>
        <p:spPr/>
        <p:txBody>
          <a:bodyPr/>
          <a:lstStyle/>
          <a:p>
            <a:r>
              <a:rPr lang="zh-CN" altLang="en-US"/>
              <a:t>讲义制作：李丽，陈志祥审</a:t>
            </a:r>
            <a:endParaRPr lang="en-US" altLang="zh-CN"/>
          </a:p>
        </p:txBody>
      </p:sp>
      <p:sp>
        <p:nvSpPr>
          <p:cNvPr id="293891" name="Rectangle 3">
            <a:extLst>
              <a:ext uri="{FF2B5EF4-FFF2-40B4-BE49-F238E27FC236}">
                <a16:creationId xmlns:a16="http://schemas.microsoft.com/office/drawing/2014/main" id="{8F8404E6-5D9C-4A1D-394B-EC7676B6ED72}"/>
              </a:ext>
            </a:extLst>
          </p:cNvPr>
          <p:cNvSpPr>
            <a:spLocks noGrp="1" noChangeArrowheads="1"/>
          </p:cNvSpPr>
          <p:nvPr>
            <p:ph type="body" idx="1"/>
          </p:nvPr>
        </p:nvSpPr>
        <p:spPr/>
        <p:txBody>
          <a:bodyPr/>
          <a:lstStyle/>
          <a:p>
            <a:pPr>
              <a:lnSpc>
                <a:spcPct val="80000"/>
              </a:lnSpc>
            </a:pPr>
            <a:r>
              <a:rPr lang="en-US" altLang="zh-CN" sz="2400"/>
              <a:t>  </a:t>
            </a:r>
            <a:r>
              <a:rPr lang="zh-CN" altLang="en-US" sz="2400"/>
              <a:t>（一）任务：</a:t>
            </a:r>
          </a:p>
          <a:p>
            <a:pPr>
              <a:lnSpc>
                <a:spcPct val="80000"/>
              </a:lnSpc>
            </a:pPr>
            <a:endParaRPr lang="zh-CN" altLang="en-US" sz="2400"/>
          </a:p>
          <a:p>
            <a:pPr>
              <a:lnSpc>
                <a:spcPct val="80000"/>
              </a:lnSpc>
            </a:pPr>
            <a:r>
              <a:rPr lang="en-US" altLang="zh-CN" sz="2400"/>
              <a:t>1</a:t>
            </a:r>
            <a:r>
              <a:rPr lang="zh-CN" altLang="en-US" sz="2400"/>
              <a:t>．生产系统设计与组织活动</a:t>
            </a:r>
          </a:p>
          <a:p>
            <a:pPr>
              <a:lnSpc>
                <a:spcPct val="80000"/>
              </a:lnSpc>
            </a:pPr>
            <a:r>
              <a:rPr lang="zh-CN" altLang="en-US" sz="2400"/>
              <a:t>     生产系统设计与组织活动包括对一次性生产基础设施的投资与建设和生产过程组织活动，具体来讲包括这些活动：</a:t>
            </a:r>
          </a:p>
          <a:p>
            <a:pPr>
              <a:lnSpc>
                <a:spcPct val="80000"/>
              </a:lnSpc>
            </a:pPr>
            <a:r>
              <a:rPr lang="zh-CN" altLang="en-US" sz="2400"/>
              <a:t>（</a:t>
            </a:r>
            <a:r>
              <a:rPr lang="en-US" altLang="zh-CN" sz="2400"/>
              <a:t>1</a:t>
            </a:r>
            <a:r>
              <a:rPr lang="zh-CN" altLang="en-US" sz="2400"/>
              <a:t>）选址与设施布置</a:t>
            </a:r>
          </a:p>
          <a:p>
            <a:pPr>
              <a:lnSpc>
                <a:spcPct val="80000"/>
              </a:lnSpc>
            </a:pPr>
            <a:r>
              <a:rPr lang="zh-CN" altLang="en-US" sz="2400"/>
              <a:t>（</a:t>
            </a:r>
            <a:r>
              <a:rPr lang="en-US" altLang="zh-CN" sz="2400"/>
              <a:t>2</a:t>
            </a:r>
            <a:r>
              <a:rPr lang="zh-CN" altLang="en-US" sz="2400"/>
              <a:t>）产品开发、工艺与技术组织</a:t>
            </a:r>
          </a:p>
          <a:p>
            <a:pPr>
              <a:lnSpc>
                <a:spcPct val="80000"/>
              </a:lnSpc>
            </a:pPr>
            <a:r>
              <a:rPr lang="zh-CN" altLang="en-US" sz="2400"/>
              <a:t>（</a:t>
            </a:r>
            <a:r>
              <a:rPr lang="en-US" altLang="zh-CN" sz="2400"/>
              <a:t>3</a:t>
            </a:r>
            <a:r>
              <a:rPr lang="zh-CN" altLang="en-US" sz="2400"/>
              <a:t>）劳动分工与组织机构的设置</a:t>
            </a:r>
          </a:p>
          <a:p>
            <a:pPr>
              <a:lnSpc>
                <a:spcPct val="80000"/>
              </a:lnSpc>
            </a:pPr>
            <a:r>
              <a:rPr lang="zh-CN" altLang="en-US" sz="2400"/>
              <a:t>（</a:t>
            </a:r>
            <a:r>
              <a:rPr lang="en-US" altLang="zh-CN" sz="2400"/>
              <a:t>4</a:t>
            </a:r>
            <a:r>
              <a:rPr lang="zh-CN" altLang="en-US" sz="2400"/>
              <a:t>）设备与工具投资与规划管理</a:t>
            </a:r>
          </a:p>
          <a:p>
            <a:pPr>
              <a:lnSpc>
                <a:spcPct val="80000"/>
              </a:lnSpc>
            </a:pPr>
            <a:r>
              <a:rPr lang="zh-CN" altLang="en-US" sz="2400"/>
              <a:t>（</a:t>
            </a:r>
            <a:r>
              <a:rPr lang="en-US" altLang="zh-CN" sz="2400"/>
              <a:t>5</a:t>
            </a:r>
            <a:r>
              <a:rPr lang="zh-CN" altLang="en-US" sz="2400"/>
              <a:t>）作业标准与规程设计</a:t>
            </a:r>
          </a:p>
          <a:p>
            <a:pPr>
              <a:lnSpc>
                <a:spcPct val="80000"/>
              </a:lnSpc>
            </a:pPr>
            <a:r>
              <a:rPr lang="zh-CN" altLang="en-US" sz="2400"/>
              <a:t>（</a:t>
            </a:r>
            <a:r>
              <a:rPr lang="en-US" altLang="zh-CN" sz="2400"/>
              <a:t>6</a:t>
            </a:r>
            <a:r>
              <a:rPr lang="zh-CN" altLang="en-US" sz="2400"/>
              <a:t>）附属生产设施与后勤保障组织</a:t>
            </a:r>
          </a:p>
        </p:txBody>
      </p:sp>
      <p:sp>
        <p:nvSpPr>
          <p:cNvPr id="293893" name="Rectangle 5">
            <a:extLst>
              <a:ext uri="{FF2B5EF4-FFF2-40B4-BE49-F238E27FC236}">
                <a16:creationId xmlns:a16="http://schemas.microsoft.com/office/drawing/2014/main" id="{397E62D3-2C28-2DCD-6A6B-AC968E9DD0AF}"/>
              </a:ext>
            </a:extLst>
          </p:cNvPr>
          <p:cNvSpPr>
            <a:spLocks noGrp="1" noChangeArrowheads="1"/>
          </p:cNvSpPr>
          <p:nvPr>
            <p:ph type="title"/>
          </p:nvPr>
        </p:nvSpPr>
        <p:spPr>
          <a:noFill/>
          <a:ln/>
        </p:spPr>
        <p:txBody>
          <a:bodyPr/>
          <a:lstStyle/>
          <a:p>
            <a:r>
              <a:rPr lang="zh-CN" altLang="en-US" sz="4000" b="1"/>
              <a:t>二、生产运作管理的任务与目标</a:t>
            </a:r>
            <a:br>
              <a:rPr lang="zh-CN" altLang="en-US" sz="4000" b="1"/>
            </a:br>
            <a:endParaRPr lang="zh-CN" altLang="en-US" sz="4000" b="1"/>
          </a:p>
        </p:txBody>
      </p:sp>
    </p:spTree>
  </p:cSld>
  <p:clrMapOvr>
    <a:masterClrMapping/>
  </p:clrMapOvr>
  <p:transition spd="slow">
    <p:strips dir="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619A189E-BB54-87E7-D705-CE00F22FEE47}"/>
              </a:ext>
            </a:extLst>
          </p:cNvPr>
          <p:cNvSpPr>
            <a:spLocks noGrp="1"/>
          </p:cNvSpPr>
          <p:nvPr>
            <p:ph type="dt" sz="half" idx="10"/>
          </p:nvPr>
        </p:nvSpPr>
        <p:spPr/>
        <p:txBody>
          <a:bodyPr/>
          <a:lstStyle/>
          <a:p>
            <a:r>
              <a:rPr lang="zh-CN" altLang="en-US"/>
              <a:t>讲义制作：李丽，陈志祥审</a:t>
            </a:r>
            <a:endParaRPr lang="en-US" altLang="zh-CN"/>
          </a:p>
        </p:txBody>
      </p:sp>
      <p:sp>
        <p:nvSpPr>
          <p:cNvPr id="294914" name="Rectangle 2">
            <a:extLst>
              <a:ext uri="{FF2B5EF4-FFF2-40B4-BE49-F238E27FC236}">
                <a16:creationId xmlns:a16="http://schemas.microsoft.com/office/drawing/2014/main" id="{4E79B3AF-AFEB-5449-AB43-A28E1ADBD991}"/>
              </a:ext>
            </a:extLst>
          </p:cNvPr>
          <p:cNvSpPr>
            <a:spLocks noGrp="1" noChangeArrowheads="1"/>
          </p:cNvSpPr>
          <p:nvPr>
            <p:ph type="title"/>
          </p:nvPr>
        </p:nvSpPr>
        <p:spPr/>
        <p:txBody>
          <a:bodyPr/>
          <a:lstStyle/>
          <a:p>
            <a:r>
              <a:rPr lang="zh-CN" altLang="en-US" sz="4000" b="1"/>
              <a:t>二、生产管理的任务与目标</a:t>
            </a:r>
            <a:br>
              <a:rPr lang="zh-CN" altLang="en-US" sz="4000" b="1"/>
            </a:br>
            <a:endParaRPr lang="zh-CN" altLang="en-US" sz="4000" b="1"/>
          </a:p>
        </p:txBody>
      </p:sp>
      <p:sp>
        <p:nvSpPr>
          <p:cNvPr id="294915" name="Rectangle 3">
            <a:extLst>
              <a:ext uri="{FF2B5EF4-FFF2-40B4-BE49-F238E27FC236}">
                <a16:creationId xmlns:a16="http://schemas.microsoft.com/office/drawing/2014/main" id="{378625AA-85F2-E3BD-52D7-5ACE22BBDE3C}"/>
              </a:ext>
            </a:extLst>
          </p:cNvPr>
          <p:cNvSpPr>
            <a:spLocks noGrp="1" noChangeArrowheads="1"/>
          </p:cNvSpPr>
          <p:nvPr>
            <p:ph type="body" idx="1"/>
          </p:nvPr>
        </p:nvSpPr>
        <p:spPr/>
        <p:txBody>
          <a:bodyPr/>
          <a:lstStyle/>
          <a:p>
            <a:pPr>
              <a:lnSpc>
                <a:spcPct val="80000"/>
              </a:lnSpc>
            </a:pPr>
            <a:r>
              <a:rPr lang="en-US" altLang="zh-CN" sz="2000"/>
              <a:t>2</a:t>
            </a:r>
            <a:r>
              <a:rPr lang="zh-CN" altLang="en-US" sz="2000"/>
              <a:t>．生产系统运行管理活动</a:t>
            </a:r>
          </a:p>
          <a:p>
            <a:pPr>
              <a:lnSpc>
                <a:spcPct val="80000"/>
              </a:lnSpc>
            </a:pPr>
            <a:r>
              <a:rPr lang="zh-CN" altLang="en-US" sz="2000"/>
              <a:t>     生产系统运行管理活动是生产管理者日常的工作，其中最主要的是生产计划与控制的工作。具体来讲包括：</a:t>
            </a:r>
          </a:p>
          <a:p>
            <a:pPr>
              <a:lnSpc>
                <a:spcPct val="80000"/>
              </a:lnSpc>
            </a:pPr>
            <a:r>
              <a:rPr lang="zh-CN" altLang="en-US" sz="2000"/>
              <a:t>（</a:t>
            </a:r>
            <a:r>
              <a:rPr lang="en-US" altLang="zh-CN" sz="2000"/>
              <a:t>1</a:t>
            </a:r>
            <a:r>
              <a:rPr lang="zh-CN" altLang="en-US" sz="2000"/>
              <a:t>）需求分析与预测</a:t>
            </a:r>
          </a:p>
          <a:p>
            <a:pPr>
              <a:lnSpc>
                <a:spcPct val="80000"/>
              </a:lnSpc>
            </a:pPr>
            <a:r>
              <a:rPr lang="zh-CN" altLang="en-US" sz="2000"/>
              <a:t>（</a:t>
            </a:r>
            <a:r>
              <a:rPr lang="en-US" altLang="zh-CN" sz="2000"/>
              <a:t>2</a:t>
            </a:r>
            <a:r>
              <a:rPr lang="zh-CN" altLang="en-US" sz="2000"/>
              <a:t>）生产策略与生产计划</a:t>
            </a:r>
          </a:p>
          <a:p>
            <a:pPr>
              <a:lnSpc>
                <a:spcPct val="80000"/>
              </a:lnSpc>
            </a:pPr>
            <a:r>
              <a:rPr lang="zh-CN" altLang="en-US" sz="2000"/>
              <a:t>（</a:t>
            </a:r>
            <a:r>
              <a:rPr lang="en-US" altLang="zh-CN" sz="2000"/>
              <a:t>3</a:t>
            </a:r>
            <a:r>
              <a:rPr lang="zh-CN" altLang="en-US" sz="2000"/>
              <a:t>）库存控制</a:t>
            </a:r>
          </a:p>
          <a:p>
            <a:pPr>
              <a:lnSpc>
                <a:spcPct val="80000"/>
              </a:lnSpc>
            </a:pPr>
            <a:r>
              <a:rPr lang="zh-CN" altLang="en-US" sz="2000"/>
              <a:t>（</a:t>
            </a:r>
            <a:r>
              <a:rPr lang="en-US" altLang="zh-CN" sz="2000"/>
              <a:t>4</a:t>
            </a:r>
            <a:r>
              <a:rPr lang="zh-CN" altLang="en-US" sz="2000"/>
              <a:t>）生产统计与调度活动</a:t>
            </a:r>
          </a:p>
          <a:p>
            <a:pPr>
              <a:lnSpc>
                <a:spcPct val="80000"/>
              </a:lnSpc>
            </a:pPr>
            <a:r>
              <a:rPr lang="zh-CN" altLang="en-US" sz="2000"/>
              <a:t>（</a:t>
            </a:r>
            <a:r>
              <a:rPr lang="en-US" altLang="zh-CN" sz="2000"/>
              <a:t>5</a:t>
            </a:r>
            <a:r>
              <a:rPr lang="zh-CN" altLang="en-US" sz="2000"/>
              <a:t>）现场管理活动</a:t>
            </a:r>
          </a:p>
          <a:p>
            <a:pPr>
              <a:lnSpc>
                <a:spcPct val="80000"/>
              </a:lnSpc>
            </a:pPr>
            <a:r>
              <a:rPr lang="zh-CN" altLang="en-US" sz="2000"/>
              <a:t>（</a:t>
            </a:r>
            <a:r>
              <a:rPr lang="en-US" altLang="zh-CN" sz="2000"/>
              <a:t>6</a:t>
            </a:r>
            <a:r>
              <a:rPr lang="zh-CN" altLang="en-US" sz="2000"/>
              <a:t>）质量控制活动</a:t>
            </a:r>
          </a:p>
          <a:p>
            <a:pPr>
              <a:lnSpc>
                <a:spcPct val="80000"/>
              </a:lnSpc>
            </a:pPr>
            <a:r>
              <a:rPr lang="zh-CN" altLang="en-US" sz="2000"/>
              <a:t>（</a:t>
            </a:r>
            <a:r>
              <a:rPr lang="en-US" altLang="zh-CN" sz="2000"/>
              <a:t>7</a:t>
            </a:r>
            <a:r>
              <a:rPr lang="zh-CN" altLang="en-US" sz="2000"/>
              <a:t>）物资供应与采购活动</a:t>
            </a:r>
          </a:p>
          <a:p>
            <a:pPr>
              <a:lnSpc>
                <a:spcPct val="80000"/>
              </a:lnSpc>
            </a:pPr>
            <a:r>
              <a:rPr lang="zh-CN" altLang="en-US" sz="2000"/>
              <a:t>（</a:t>
            </a:r>
            <a:r>
              <a:rPr lang="en-US" altLang="zh-CN" sz="2000"/>
              <a:t>8</a:t>
            </a:r>
            <a:r>
              <a:rPr lang="zh-CN" altLang="en-US" sz="2000"/>
              <a:t>）设备运行与维护管理</a:t>
            </a:r>
          </a:p>
          <a:p>
            <a:pPr>
              <a:lnSpc>
                <a:spcPct val="80000"/>
              </a:lnSpc>
            </a:pPr>
            <a:r>
              <a:rPr lang="zh-CN" altLang="en-US" sz="2000"/>
              <a:t>（</a:t>
            </a:r>
            <a:r>
              <a:rPr lang="en-US" altLang="zh-CN" sz="2000"/>
              <a:t>9</a:t>
            </a:r>
            <a:r>
              <a:rPr lang="zh-CN" altLang="en-US" sz="2000"/>
              <a:t>）外协与分供方业务管理</a:t>
            </a:r>
          </a:p>
          <a:p>
            <a:pPr>
              <a:lnSpc>
                <a:spcPct val="80000"/>
              </a:lnSpc>
            </a:pPr>
            <a:r>
              <a:rPr lang="zh-CN" altLang="en-US" sz="2000"/>
              <a:t>（</a:t>
            </a:r>
            <a:r>
              <a:rPr lang="en-US" altLang="zh-CN" sz="2000"/>
              <a:t>10</a:t>
            </a:r>
            <a:r>
              <a:rPr lang="zh-CN" altLang="en-US" sz="2000"/>
              <a:t>）生产绩效的评价与改善活动</a:t>
            </a:r>
          </a:p>
          <a:p>
            <a:pPr>
              <a:lnSpc>
                <a:spcPct val="80000"/>
              </a:lnSpc>
            </a:pPr>
            <a:endParaRPr lang="zh-CN" altLang="en-US" sz="2000"/>
          </a:p>
          <a:p>
            <a:pPr>
              <a:lnSpc>
                <a:spcPct val="80000"/>
              </a:lnSpc>
            </a:pPr>
            <a:endParaRPr lang="en-US" altLang="zh-CN" sz="2000"/>
          </a:p>
        </p:txBody>
      </p:sp>
    </p:spTree>
  </p:cSld>
  <p:clrMapOvr>
    <a:masterClrMapping/>
  </p:clrMapOvr>
  <p:transition spd="slow">
    <p:strips dir="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65109A68-D24C-6E6D-F628-FCC3018B786A}"/>
              </a:ext>
            </a:extLst>
          </p:cNvPr>
          <p:cNvSpPr>
            <a:spLocks noGrp="1"/>
          </p:cNvSpPr>
          <p:nvPr>
            <p:ph type="dt" sz="half" idx="10"/>
          </p:nvPr>
        </p:nvSpPr>
        <p:spPr/>
        <p:txBody>
          <a:bodyPr/>
          <a:lstStyle/>
          <a:p>
            <a:r>
              <a:rPr lang="zh-CN" altLang="en-US"/>
              <a:t>讲义制作：李丽，陈志祥审</a:t>
            </a:r>
            <a:endParaRPr lang="en-US" altLang="zh-CN"/>
          </a:p>
        </p:txBody>
      </p:sp>
      <p:sp>
        <p:nvSpPr>
          <p:cNvPr id="295938" name="Rectangle 2">
            <a:extLst>
              <a:ext uri="{FF2B5EF4-FFF2-40B4-BE49-F238E27FC236}">
                <a16:creationId xmlns:a16="http://schemas.microsoft.com/office/drawing/2014/main" id="{8A94C78A-4238-972F-5657-E29BAFBC8F29}"/>
              </a:ext>
            </a:extLst>
          </p:cNvPr>
          <p:cNvSpPr>
            <a:spLocks noGrp="1" noChangeArrowheads="1"/>
          </p:cNvSpPr>
          <p:nvPr>
            <p:ph type="title"/>
          </p:nvPr>
        </p:nvSpPr>
        <p:spPr/>
        <p:txBody>
          <a:bodyPr/>
          <a:lstStyle/>
          <a:p>
            <a:r>
              <a:rPr lang="zh-CN" altLang="en-US" sz="4000" b="1"/>
              <a:t>二、生产管理的任务与目标</a:t>
            </a:r>
            <a:br>
              <a:rPr lang="zh-CN" altLang="en-US" sz="4000" b="1"/>
            </a:br>
            <a:endParaRPr lang="zh-CN" altLang="en-US" sz="4000" b="1"/>
          </a:p>
        </p:txBody>
      </p:sp>
      <p:sp>
        <p:nvSpPr>
          <p:cNvPr id="295939" name="Rectangle 3">
            <a:extLst>
              <a:ext uri="{FF2B5EF4-FFF2-40B4-BE49-F238E27FC236}">
                <a16:creationId xmlns:a16="http://schemas.microsoft.com/office/drawing/2014/main" id="{74F6C576-9286-C51A-50D2-08CA500924F9}"/>
              </a:ext>
            </a:extLst>
          </p:cNvPr>
          <p:cNvSpPr>
            <a:spLocks noGrp="1" noChangeArrowheads="1"/>
          </p:cNvSpPr>
          <p:nvPr>
            <p:ph type="body" idx="1"/>
          </p:nvPr>
        </p:nvSpPr>
        <p:spPr/>
        <p:txBody>
          <a:bodyPr/>
          <a:lstStyle/>
          <a:p>
            <a:pPr>
              <a:lnSpc>
                <a:spcPct val="80000"/>
              </a:lnSpc>
            </a:pPr>
            <a:r>
              <a:rPr lang="en-US" altLang="zh-CN" sz="2000"/>
              <a:t> </a:t>
            </a:r>
            <a:r>
              <a:rPr lang="zh-CN" altLang="en-US" sz="2400"/>
              <a:t>（</a:t>
            </a:r>
            <a:r>
              <a:rPr lang="zh-CN" altLang="en-US" sz="2400">
                <a:sym typeface="Wingdings" panose="05000000000000000000" pitchFamily="2" charset="2"/>
              </a:rPr>
              <a:t>二）</a:t>
            </a:r>
            <a:r>
              <a:rPr lang="zh-CN" altLang="en-US" sz="2400" b="1"/>
              <a:t>目标</a:t>
            </a:r>
            <a:endParaRPr lang="zh-CN" altLang="en-US" sz="2400"/>
          </a:p>
          <a:p>
            <a:pPr>
              <a:lnSpc>
                <a:spcPct val="80000"/>
              </a:lnSpc>
            </a:pPr>
            <a:r>
              <a:rPr lang="zh-CN" altLang="en-US" sz="2000"/>
              <a:t>        生产管理的基本目标是灵活、高效、准时、低耗地提供合格的产品或服务。</a:t>
            </a:r>
          </a:p>
          <a:p>
            <a:pPr>
              <a:lnSpc>
                <a:spcPct val="80000"/>
              </a:lnSpc>
            </a:pPr>
            <a:r>
              <a:rPr lang="zh-CN" altLang="en-US" sz="2000"/>
              <a:t>（</a:t>
            </a:r>
            <a:r>
              <a:rPr lang="en-US" altLang="zh-CN" sz="2000"/>
              <a:t>1</a:t>
            </a:r>
            <a:r>
              <a:rPr lang="zh-CN" altLang="en-US" sz="2000"/>
              <a:t>）灵活即企业要适应市场的变化，不断调整生产要素的组合，根据用户的需要进行生产，以提高生产对用户需求响应的能力。</a:t>
            </a:r>
          </a:p>
          <a:p>
            <a:pPr>
              <a:lnSpc>
                <a:spcPct val="80000"/>
              </a:lnSpc>
            </a:pPr>
            <a:r>
              <a:rPr lang="zh-CN" altLang="en-US" sz="2000"/>
              <a:t>（</a:t>
            </a:r>
            <a:r>
              <a:rPr lang="en-US" altLang="zh-CN" sz="2000"/>
              <a:t>2</a:t>
            </a:r>
            <a:r>
              <a:rPr lang="zh-CN" altLang="en-US" sz="2000"/>
              <a:t>）提高效率是生产始终追求的一个基本目标。在剧烈的市场竞争中，企业只有不断提高效率，才能迅速响应用户的需求，为此需要采用先进技术装备、改进工作方法、合理制定管理制度、提高员工素质等。</a:t>
            </a:r>
          </a:p>
          <a:p>
            <a:pPr>
              <a:lnSpc>
                <a:spcPct val="80000"/>
              </a:lnSpc>
            </a:pPr>
            <a:r>
              <a:rPr lang="zh-CN" altLang="en-US" sz="2000"/>
              <a:t>（</a:t>
            </a:r>
            <a:r>
              <a:rPr lang="en-US" altLang="zh-CN" sz="2000"/>
              <a:t>3</a:t>
            </a:r>
            <a:r>
              <a:rPr lang="zh-CN" altLang="en-US" sz="2000"/>
              <a:t>）准时即在用户需要的时候，按照需要的数量，提供需要的产品或服务。准时是现代生产的一个基本要求，准时生产可以消除企业不必要的浪费，从而降低成本，提高响应能力。</a:t>
            </a:r>
          </a:p>
          <a:p>
            <a:pPr>
              <a:lnSpc>
                <a:spcPct val="80000"/>
              </a:lnSpc>
            </a:pPr>
            <a:r>
              <a:rPr lang="zh-CN" altLang="en-US" sz="2000"/>
              <a:t>（</a:t>
            </a:r>
            <a:r>
              <a:rPr lang="en-US" altLang="zh-CN" sz="2000"/>
              <a:t>4</a:t>
            </a:r>
            <a:r>
              <a:rPr lang="zh-CN" altLang="en-US" sz="2000"/>
              <a:t>）低耗是指提供相同数量和质量的产品或服务，消耗的人、财、物最低，通过降低消耗，可以降低成本，而成本降低又具有价格的竞争优势。</a:t>
            </a:r>
          </a:p>
        </p:txBody>
      </p:sp>
    </p:spTree>
  </p:cSld>
  <p:clrMapOvr>
    <a:masterClrMapping/>
  </p:clrMapOvr>
  <p:transition spd="slow">
    <p:strips dir="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DBEE93D8-CC93-6056-6756-77AD89905BA2}"/>
              </a:ext>
            </a:extLst>
          </p:cNvPr>
          <p:cNvSpPr>
            <a:spLocks noGrp="1"/>
          </p:cNvSpPr>
          <p:nvPr>
            <p:ph type="dt" sz="half" idx="10"/>
          </p:nvPr>
        </p:nvSpPr>
        <p:spPr/>
        <p:txBody>
          <a:bodyPr/>
          <a:lstStyle/>
          <a:p>
            <a:r>
              <a:rPr lang="zh-CN" altLang="en-US"/>
              <a:t>讲义制作：李丽，陈志祥审</a:t>
            </a:r>
            <a:endParaRPr lang="en-US" altLang="zh-CN"/>
          </a:p>
        </p:txBody>
      </p:sp>
      <p:sp>
        <p:nvSpPr>
          <p:cNvPr id="296962" name="Rectangle 2">
            <a:extLst>
              <a:ext uri="{FF2B5EF4-FFF2-40B4-BE49-F238E27FC236}">
                <a16:creationId xmlns:a16="http://schemas.microsoft.com/office/drawing/2014/main" id="{4DD17597-E5C3-1578-0091-79F3510F9790}"/>
              </a:ext>
            </a:extLst>
          </p:cNvPr>
          <p:cNvSpPr>
            <a:spLocks noGrp="1" noChangeArrowheads="1"/>
          </p:cNvSpPr>
          <p:nvPr>
            <p:ph type="title"/>
          </p:nvPr>
        </p:nvSpPr>
        <p:spPr/>
        <p:txBody>
          <a:bodyPr/>
          <a:lstStyle/>
          <a:p>
            <a:r>
              <a:rPr lang="zh-CN" altLang="en-US"/>
              <a:t>三、生产运作管理的决策</a:t>
            </a:r>
          </a:p>
        </p:txBody>
      </p:sp>
      <p:sp>
        <p:nvSpPr>
          <p:cNvPr id="296963" name="Rectangle 3">
            <a:extLst>
              <a:ext uri="{FF2B5EF4-FFF2-40B4-BE49-F238E27FC236}">
                <a16:creationId xmlns:a16="http://schemas.microsoft.com/office/drawing/2014/main" id="{FBCF6072-C9E0-E51E-6861-62D4918FC086}"/>
              </a:ext>
            </a:extLst>
          </p:cNvPr>
          <p:cNvSpPr>
            <a:spLocks noGrp="1" noChangeArrowheads="1"/>
          </p:cNvSpPr>
          <p:nvPr>
            <p:ph type="body" idx="1"/>
          </p:nvPr>
        </p:nvSpPr>
        <p:spPr/>
        <p:txBody>
          <a:bodyPr/>
          <a:lstStyle/>
          <a:p>
            <a:pPr>
              <a:lnSpc>
                <a:spcPct val="80000"/>
              </a:lnSpc>
            </a:pPr>
            <a:r>
              <a:rPr lang="zh-CN" altLang="en-US" sz="2800"/>
              <a:t>（一）生产运作管理的决策问题</a:t>
            </a:r>
          </a:p>
          <a:p>
            <a:pPr>
              <a:lnSpc>
                <a:spcPct val="80000"/>
              </a:lnSpc>
            </a:pPr>
            <a:r>
              <a:rPr lang="en-US" altLang="zh-CN" sz="2800"/>
              <a:t>1</a:t>
            </a:r>
            <a:r>
              <a:rPr lang="zh-CN" altLang="en-US" sz="2800"/>
              <a:t>。什么（</a:t>
            </a:r>
            <a:r>
              <a:rPr lang="en-US" altLang="zh-CN" sz="2800"/>
              <a:t>what): </a:t>
            </a:r>
            <a:r>
              <a:rPr lang="zh-CN" altLang="en-US" sz="2800"/>
              <a:t>生产什么？，什么原料？用什么工具生产？</a:t>
            </a:r>
          </a:p>
          <a:p>
            <a:pPr>
              <a:lnSpc>
                <a:spcPct val="80000"/>
              </a:lnSpc>
            </a:pPr>
            <a:r>
              <a:rPr lang="en-US" altLang="zh-CN" sz="2800"/>
              <a:t>2</a:t>
            </a:r>
            <a:r>
              <a:rPr lang="zh-CN" altLang="en-US" sz="2800"/>
              <a:t>。谁（</a:t>
            </a:r>
            <a:r>
              <a:rPr lang="en-US" altLang="zh-CN" sz="2800"/>
              <a:t>who)</a:t>
            </a:r>
            <a:r>
              <a:rPr lang="zh-CN" altLang="en-US" sz="2800"/>
              <a:t>：谁是顾客？谁生产？</a:t>
            </a:r>
          </a:p>
          <a:p>
            <a:pPr>
              <a:lnSpc>
                <a:spcPct val="80000"/>
              </a:lnSpc>
            </a:pPr>
            <a:r>
              <a:rPr lang="en-US" altLang="zh-CN" sz="2800"/>
              <a:t>3</a:t>
            </a:r>
            <a:r>
              <a:rPr lang="zh-CN" altLang="en-US" sz="2800"/>
              <a:t>。何时（</a:t>
            </a:r>
            <a:r>
              <a:rPr lang="en-US" altLang="zh-CN" sz="2800"/>
              <a:t>when)</a:t>
            </a:r>
            <a:r>
              <a:rPr lang="zh-CN" altLang="en-US" sz="2800"/>
              <a:t>：什么时候生产？</a:t>
            </a:r>
          </a:p>
          <a:p>
            <a:pPr>
              <a:lnSpc>
                <a:spcPct val="80000"/>
              </a:lnSpc>
            </a:pPr>
            <a:r>
              <a:rPr lang="en-US" altLang="zh-CN" sz="2800"/>
              <a:t>4</a:t>
            </a:r>
            <a:r>
              <a:rPr lang="zh-CN" altLang="en-US" sz="2800"/>
              <a:t>。哪里（</a:t>
            </a:r>
            <a:r>
              <a:rPr lang="en-US" altLang="zh-CN" sz="2800"/>
              <a:t>where</a:t>
            </a:r>
            <a:r>
              <a:rPr lang="zh-CN" altLang="en-US" sz="2800"/>
              <a:t>）：在哪里生产？</a:t>
            </a:r>
          </a:p>
          <a:p>
            <a:pPr>
              <a:lnSpc>
                <a:spcPct val="80000"/>
              </a:lnSpc>
            </a:pPr>
            <a:r>
              <a:rPr lang="en-US" altLang="zh-CN" sz="2800"/>
              <a:t>5</a:t>
            </a:r>
            <a:r>
              <a:rPr lang="zh-CN" altLang="en-US" sz="2800"/>
              <a:t>。怎样（</a:t>
            </a:r>
            <a:r>
              <a:rPr lang="en-US" altLang="zh-CN" sz="2800"/>
              <a:t>how</a:t>
            </a:r>
            <a:r>
              <a:rPr lang="zh-CN" altLang="en-US" sz="2800"/>
              <a:t>）：怎么样生产？</a:t>
            </a:r>
          </a:p>
          <a:p>
            <a:pPr>
              <a:lnSpc>
                <a:spcPct val="80000"/>
              </a:lnSpc>
            </a:pPr>
            <a:r>
              <a:rPr lang="en-US" altLang="zh-CN" sz="2800"/>
              <a:t>1</a:t>
            </a:r>
            <a:r>
              <a:rPr lang="zh-CN" altLang="en-US" sz="2800"/>
              <a:t>。战略决策：设施选址，设备更新等</a:t>
            </a:r>
          </a:p>
          <a:p>
            <a:pPr>
              <a:lnSpc>
                <a:spcPct val="80000"/>
              </a:lnSpc>
            </a:pPr>
            <a:r>
              <a:rPr lang="en-US" altLang="zh-CN" sz="2800"/>
              <a:t>2</a:t>
            </a:r>
            <a:r>
              <a:rPr lang="zh-CN" altLang="en-US" sz="2800"/>
              <a:t>。战术决策：生产计划</a:t>
            </a:r>
          </a:p>
          <a:p>
            <a:pPr>
              <a:lnSpc>
                <a:spcPct val="80000"/>
              </a:lnSpc>
            </a:pPr>
            <a:r>
              <a:rPr lang="en-US" altLang="zh-CN" sz="2800"/>
              <a:t>3</a:t>
            </a:r>
            <a:r>
              <a:rPr lang="zh-CN" altLang="en-US" sz="2800"/>
              <a:t>。操作决策：作业计划</a:t>
            </a:r>
          </a:p>
        </p:txBody>
      </p:sp>
    </p:spTree>
  </p:cSld>
  <p:clrMapOvr>
    <a:masterClrMapping/>
  </p:clrMapOvr>
  <p:transition spd="slow">
    <p:strips dir="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0D38514F-D499-1352-FD57-84822A0F8A27}"/>
              </a:ext>
            </a:extLst>
          </p:cNvPr>
          <p:cNvSpPr>
            <a:spLocks noGrp="1"/>
          </p:cNvSpPr>
          <p:nvPr>
            <p:ph type="dt" sz="half" idx="10"/>
          </p:nvPr>
        </p:nvSpPr>
        <p:spPr/>
        <p:txBody>
          <a:bodyPr/>
          <a:lstStyle/>
          <a:p>
            <a:r>
              <a:rPr lang="zh-CN" altLang="en-US"/>
              <a:t>讲义制作：李丽，陈志祥审</a:t>
            </a:r>
            <a:endParaRPr lang="en-US" altLang="zh-CN"/>
          </a:p>
        </p:txBody>
      </p:sp>
      <p:sp>
        <p:nvSpPr>
          <p:cNvPr id="297986" name="Rectangle 2">
            <a:extLst>
              <a:ext uri="{FF2B5EF4-FFF2-40B4-BE49-F238E27FC236}">
                <a16:creationId xmlns:a16="http://schemas.microsoft.com/office/drawing/2014/main" id="{389D9654-607C-8D0B-BC1D-73BB547046DE}"/>
              </a:ext>
            </a:extLst>
          </p:cNvPr>
          <p:cNvSpPr>
            <a:spLocks noGrp="1" noChangeArrowheads="1"/>
          </p:cNvSpPr>
          <p:nvPr>
            <p:ph type="title"/>
          </p:nvPr>
        </p:nvSpPr>
        <p:spPr/>
        <p:txBody>
          <a:bodyPr/>
          <a:lstStyle/>
          <a:p>
            <a:r>
              <a:rPr lang="zh-CN" altLang="en-US"/>
              <a:t>三、生产运作管理的决策</a:t>
            </a:r>
          </a:p>
        </p:txBody>
      </p:sp>
      <p:sp>
        <p:nvSpPr>
          <p:cNvPr id="297987" name="Rectangle 3">
            <a:extLst>
              <a:ext uri="{FF2B5EF4-FFF2-40B4-BE49-F238E27FC236}">
                <a16:creationId xmlns:a16="http://schemas.microsoft.com/office/drawing/2014/main" id="{2F5688A5-8414-BB64-DC90-A29D981DC861}"/>
              </a:ext>
            </a:extLst>
          </p:cNvPr>
          <p:cNvSpPr>
            <a:spLocks noGrp="1" noChangeArrowheads="1"/>
          </p:cNvSpPr>
          <p:nvPr>
            <p:ph type="body" idx="1"/>
          </p:nvPr>
        </p:nvSpPr>
        <p:spPr/>
        <p:txBody>
          <a:bodyPr/>
          <a:lstStyle/>
          <a:p>
            <a:r>
              <a:rPr lang="zh-CN" altLang="en-US"/>
              <a:t>（二）生产运作的决策方法</a:t>
            </a:r>
          </a:p>
          <a:p>
            <a:r>
              <a:rPr lang="en-US" altLang="zh-CN"/>
              <a:t>1</a:t>
            </a:r>
            <a:r>
              <a:rPr lang="zh-CN" altLang="en-US"/>
              <a:t>。定性方法</a:t>
            </a:r>
            <a:r>
              <a:rPr lang="en-US" altLang="zh-CN"/>
              <a:t>:</a:t>
            </a:r>
            <a:r>
              <a:rPr lang="zh-CN" altLang="en-US"/>
              <a:t>判断与分析决策</a:t>
            </a:r>
          </a:p>
          <a:p>
            <a:r>
              <a:rPr lang="en-US" altLang="zh-CN"/>
              <a:t>2</a:t>
            </a:r>
            <a:r>
              <a:rPr lang="zh-CN" altLang="en-US"/>
              <a:t>。定量方法</a:t>
            </a:r>
            <a:r>
              <a:rPr lang="en-US" altLang="zh-CN"/>
              <a:t>:</a:t>
            </a:r>
            <a:r>
              <a:rPr lang="zh-CN" altLang="en-US"/>
              <a:t>运筹学与统计决策</a:t>
            </a:r>
          </a:p>
          <a:p>
            <a:r>
              <a:rPr lang="en-US" altLang="zh-CN"/>
              <a:t>3</a:t>
            </a:r>
            <a:r>
              <a:rPr lang="zh-CN" altLang="en-US"/>
              <a:t>。系统方法</a:t>
            </a:r>
            <a:r>
              <a:rPr lang="en-US" altLang="zh-CN"/>
              <a:t>:</a:t>
            </a:r>
            <a:r>
              <a:rPr lang="zh-CN" altLang="en-US"/>
              <a:t>系统观点与系统方法论</a:t>
            </a:r>
          </a:p>
        </p:txBody>
      </p:sp>
    </p:spTree>
  </p:cSld>
  <p:clrMapOvr>
    <a:masterClrMapping/>
  </p:clrMapOvr>
  <p:transition spd="slow">
    <p:strips dir="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D98F26AD-6D6F-D880-1D42-150720E04053}"/>
              </a:ext>
            </a:extLst>
          </p:cNvPr>
          <p:cNvSpPr>
            <a:spLocks noGrp="1"/>
          </p:cNvSpPr>
          <p:nvPr>
            <p:ph type="dt" sz="half" idx="10"/>
          </p:nvPr>
        </p:nvSpPr>
        <p:spPr/>
        <p:txBody>
          <a:bodyPr/>
          <a:lstStyle/>
          <a:p>
            <a:r>
              <a:rPr lang="zh-CN" altLang="en-US"/>
              <a:t>讲义制作：李丽，陈志祥审</a:t>
            </a:r>
            <a:endParaRPr lang="en-US" altLang="zh-CN"/>
          </a:p>
        </p:txBody>
      </p:sp>
      <p:sp>
        <p:nvSpPr>
          <p:cNvPr id="304130" name="Rectangle 2">
            <a:extLst>
              <a:ext uri="{FF2B5EF4-FFF2-40B4-BE49-F238E27FC236}">
                <a16:creationId xmlns:a16="http://schemas.microsoft.com/office/drawing/2014/main" id="{B3118828-30D9-92E1-6A5D-901C2949B4CD}"/>
              </a:ext>
            </a:extLst>
          </p:cNvPr>
          <p:cNvSpPr>
            <a:spLocks noGrp="1" noChangeArrowheads="1"/>
          </p:cNvSpPr>
          <p:nvPr>
            <p:ph type="title"/>
          </p:nvPr>
        </p:nvSpPr>
        <p:spPr/>
        <p:txBody>
          <a:bodyPr/>
          <a:lstStyle/>
          <a:p>
            <a:r>
              <a:rPr lang="zh-CN" altLang="en-US"/>
              <a:t>三、生产运作管理的决策</a:t>
            </a:r>
            <a:r>
              <a:rPr lang="en-US" altLang="zh-CN"/>
              <a:t>(</a:t>
            </a:r>
            <a:r>
              <a:rPr lang="zh-CN" altLang="en-US"/>
              <a:t>续</a:t>
            </a:r>
            <a:r>
              <a:rPr lang="en-US" altLang="zh-CN"/>
              <a:t>)</a:t>
            </a:r>
          </a:p>
        </p:txBody>
      </p:sp>
      <p:sp>
        <p:nvSpPr>
          <p:cNvPr id="304131" name="Rectangle 3">
            <a:extLst>
              <a:ext uri="{FF2B5EF4-FFF2-40B4-BE49-F238E27FC236}">
                <a16:creationId xmlns:a16="http://schemas.microsoft.com/office/drawing/2014/main" id="{FA662C40-6EBC-4ADB-892C-922DBC1F0007}"/>
              </a:ext>
            </a:extLst>
          </p:cNvPr>
          <p:cNvSpPr>
            <a:spLocks noGrp="1" noChangeArrowheads="1"/>
          </p:cNvSpPr>
          <p:nvPr>
            <p:ph type="body" idx="1"/>
          </p:nvPr>
        </p:nvSpPr>
        <p:spPr/>
        <p:txBody>
          <a:bodyPr/>
          <a:lstStyle/>
          <a:p>
            <a:pPr>
              <a:lnSpc>
                <a:spcPct val="90000"/>
              </a:lnSpc>
            </a:pPr>
            <a:r>
              <a:rPr lang="en-US" altLang="zh-CN" sz="2800"/>
              <a:t>(</a:t>
            </a:r>
            <a:r>
              <a:rPr lang="zh-CN" altLang="en-US" sz="2800"/>
              <a:t>三</a:t>
            </a:r>
            <a:r>
              <a:rPr lang="en-US" altLang="zh-CN" sz="2800"/>
              <a:t>) </a:t>
            </a:r>
            <a:r>
              <a:rPr lang="zh-CN" altLang="en-US" sz="2800" b="1"/>
              <a:t>生产运作管理与其他职能管理的关系</a:t>
            </a:r>
          </a:p>
          <a:p>
            <a:pPr>
              <a:lnSpc>
                <a:spcPct val="90000"/>
              </a:lnSpc>
            </a:pPr>
            <a:endParaRPr lang="zh-CN" altLang="en-US" sz="2800" b="1"/>
          </a:p>
          <a:p>
            <a:pPr>
              <a:lnSpc>
                <a:spcPct val="90000"/>
              </a:lnSpc>
            </a:pPr>
            <a:r>
              <a:rPr lang="en-US" altLang="zh-CN" sz="2000" b="1"/>
              <a:t>1.</a:t>
            </a:r>
            <a:r>
              <a:rPr lang="zh-CN" altLang="en-US" sz="2000" b="1"/>
              <a:t>销售部门</a:t>
            </a:r>
            <a:r>
              <a:rPr lang="en-US" altLang="zh-CN" sz="2000" b="1"/>
              <a:t>:  </a:t>
            </a:r>
            <a:r>
              <a:rPr lang="zh-CN" altLang="en-US" sz="2000" b="1"/>
              <a:t>销售部门提供预测与订单资料，顾客信息反馈给生产部门作为生产计划与控制参考，生产部门提供非销售部门订单完成进度</a:t>
            </a:r>
            <a:r>
              <a:rPr lang="en-US" altLang="zh-CN" sz="2000" b="1"/>
              <a:t>.</a:t>
            </a:r>
          </a:p>
          <a:p>
            <a:pPr>
              <a:lnSpc>
                <a:spcPct val="90000"/>
              </a:lnSpc>
            </a:pPr>
            <a:endParaRPr lang="en-US" altLang="zh-CN" sz="2000" b="1"/>
          </a:p>
          <a:p>
            <a:pPr>
              <a:lnSpc>
                <a:spcPct val="90000"/>
              </a:lnSpc>
            </a:pPr>
            <a:r>
              <a:rPr lang="en-US" altLang="zh-CN" sz="2000" b="1"/>
              <a:t>2.</a:t>
            </a:r>
            <a:r>
              <a:rPr lang="zh-CN" altLang="en-US" sz="2000" b="1"/>
              <a:t>财务部门</a:t>
            </a:r>
            <a:r>
              <a:rPr lang="en-US" altLang="zh-CN" sz="2000" b="1"/>
              <a:t>:  </a:t>
            </a:r>
            <a:r>
              <a:rPr lang="zh-CN" altLang="en-US" sz="2000" b="1"/>
              <a:t>财务部门提供给生产部门有关投资分析决策信息、生产能力与库存管理需要资金信息、财务报表信息以便分析生产经营状态</a:t>
            </a:r>
            <a:r>
              <a:rPr lang="en-US" altLang="zh-CN" sz="2000" b="1"/>
              <a:t>.</a:t>
            </a:r>
          </a:p>
          <a:p>
            <a:pPr>
              <a:lnSpc>
                <a:spcPct val="90000"/>
              </a:lnSpc>
            </a:pPr>
            <a:endParaRPr lang="en-US" altLang="zh-CN" sz="2000" b="1"/>
          </a:p>
          <a:p>
            <a:pPr>
              <a:lnSpc>
                <a:spcPct val="90000"/>
              </a:lnSpc>
            </a:pPr>
            <a:r>
              <a:rPr lang="en-US" altLang="zh-CN" sz="2000" b="1"/>
              <a:t>3.</a:t>
            </a:r>
            <a:r>
              <a:rPr lang="zh-CN" altLang="en-US" sz="2000" b="1"/>
              <a:t>人事部门： 人事部门了解生产需要的人力资源需求，搞好招聘工作，配合生产部门进行员工培训，处理劳资纠纷。</a:t>
            </a:r>
          </a:p>
          <a:p>
            <a:pPr>
              <a:lnSpc>
                <a:spcPct val="90000"/>
              </a:lnSpc>
            </a:pPr>
            <a:endParaRPr lang="zh-CN" altLang="en-US" sz="2000" b="1"/>
          </a:p>
          <a:p>
            <a:pPr>
              <a:lnSpc>
                <a:spcPct val="90000"/>
              </a:lnSpc>
            </a:pPr>
            <a:r>
              <a:rPr lang="en-US" altLang="zh-CN" sz="2000" b="1"/>
              <a:t>4.</a:t>
            </a:r>
            <a:r>
              <a:rPr lang="zh-CN" altLang="en-US" sz="2000" b="1"/>
              <a:t>技术部门：提供生产部门有关生产工艺信息，生产部门提供技术部门有关生产条件，以便改进产品设计。 </a:t>
            </a:r>
          </a:p>
        </p:txBody>
      </p:sp>
    </p:spTree>
  </p:cSld>
  <p:clrMapOvr>
    <a:masterClrMapping/>
  </p:clrMapOvr>
  <p:transition spd="slow">
    <p:strips dir="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F2F6527E-DB3F-281E-80B5-C0278CF61E18}"/>
              </a:ext>
            </a:extLst>
          </p:cNvPr>
          <p:cNvSpPr>
            <a:spLocks noGrp="1"/>
          </p:cNvSpPr>
          <p:nvPr>
            <p:ph type="dt" sz="half" idx="10"/>
          </p:nvPr>
        </p:nvSpPr>
        <p:spPr/>
        <p:txBody>
          <a:bodyPr/>
          <a:lstStyle/>
          <a:p>
            <a:r>
              <a:rPr lang="zh-CN" altLang="en-US"/>
              <a:t>讲义制作：李丽，陈志祥审</a:t>
            </a:r>
            <a:endParaRPr lang="en-US" altLang="zh-CN"/>
          </a:p>
        </p:txBody>
      </p:sp>
      <p:sp>
        <p:nvSpPr>
          <p:cNvPr id="299010" name="Rectangle 2">
            <a:extLst>
              <a:ext uri="{FF2B5EF4-FFF2-40B4-BE49-F238E27FC236}">
                <a16:creationId xmlns:a16="http://schemas.microsoft.com/office/drawing/2014/main" id="{1AFD1858-97CD-A021-7429-B65E88BB24C2}"/>
              </a:ext>
            </a:extLst>
          </p:cNvPr>
          <p:cNvSpPr>
            <a:spLocks noGrp="1" noChangeArrowheads="1"/>
          </p:cNvSpPr>
          <p:nvPr>
            <p:ph type="title"/>
          </p:nvPr>
        </p:nvSpPr>
        <p:spPr/>
        <p:txBody>
          <a:bodyPr/>
          <a:lstStyle/>
          <a:p>
            <a:r>
              <a:rPr lang="zh-CN" altLang="en-US"/>
              <a:t>四、生产运作管理的发展</a:t>
            </a:r>
          </a:p>
        </p:txBody>
      </p:sp>
      <p:sp>
        <p:nvSpPr>
          <p:cNvPr id="299011" name="Rectangle 3">
            <a:extLst>
              <a:ext uri="{FF2B5EF4-FFF2-40B4-BE49-F238E27FC236}">
                <a16:creationId xmlns:a16="http://schemas.microsoft.com/office/drawing/2014/main" id="{4955AD97-C16F-DB5E-E0E7-ACA4369F1727}"/>
              </a:ext>
            </a:extLst>
          </p:cNvPr>
          <p:cNvSpPr>
            <a:spLocks noGrp="1" noChangeArrowheads="1"/>
          </p:cNvSpPr>
          <p:nvPr>
            <p:ph type="body" idx="1"/>
          </p:nvPr>
        </p:nvSpPr>
        <p:spPr/>
        <p:txBody>
          <a:bodyPr/>
          <a:lstStyle/>
          <a:p>
            <a:r>
              <a:rPr lang="zh-CN" altLang="en-US" b="1"/>
              <a:t>（一）生产运作管理历史 </a:t>
            </a:r>
          </a:p>
          <a:p>
            <a:r>
              <a:rPr lang="en-US" altLang="zh-CN" sz="2800" b="1"/>
              <a:t>1</a:t>
            </a:r>
            <a:r>
              <a:rPr lang="zh-CN" altLang="en-US" sz="2800" b="1"/>
              <a:t>。 亚当</a:t>
            </a:r>
            <a:r>
              <a:rPr lang="en-US" altLang="zh-CN" sz="2800" b="1"/>
              <a:t>·</a:t>
            </a:r>
            <a:r>
              <a:rPr lang="zh-CN" altLang="en-US" sz="2800" b="1"/>
              <a:t>斯密的劳动分工理论与古典生产方式</a:t>
            </a:r>
          </a:p>
          <a:p>
            <a:r>
              <a:rPr lang="zh-CN" altLang="en-US" sz="2800" b="1"/>
              <a:t> </a:t>
            </a:r>
            <a:r>
              <a:rPr lang="en-US" altLang="zh-CN" sz="2800" b="1"/>
              <a:t>2</a:t>
            </a:r>
            <a:r>
              <a:rPr lang="zh-CN" altLang="en-US" sz="2800" b="1"/>
              <a:t>。 科学管理原理与福特生产模式</a:t>
            </a:r>
          </a:p>
          <a:p>
            <a:r>
              <a:rPr lang="zh-CN" altLang="en-US" sz="2800" b="1"/>
              <a:t> </a:t>
            </a:r>
            <a:r>
              <a:rPr lang="en-US" altLang="zh-CN" sz="2800" b="1"/>
              <a:t>3</a:t>
            </a:r>
            <a:r>
              <a:rPr lang="zh-CN" altLang="en-US" sz="2800" b="1"/>
              <a:t>。 运筹学与与生产管理</a:t>
            </a:r>
          </a:p>
          <a:p>
            <a:r>
              <a:rPr lang="en-US" altLang="zh-CN" sz="2800" b="1"/>
              <a:t>4</a:t>
            </a:r>
            <a:r>
              <a:rPr lang="zh-CN" altLang="en-US" sz="2800" b="1"/>
              <a:t>。  计算机辅助生产管理</a:t>
            </a:r>
          </a:p>
          <a:p>
            <a:r>
              <a:rPr lang="en-US" altLang="zh-CN" sz="2800" b="1"/>
              <a:t>5</a:t>
            </a:r>
            <a:r>
              <a:rPr lang="zh-CN" altLang="en-US" sz="2800" b="1"/>
              <a:t>。 日本管理模式的兴起与丰田生产方式</a:t>
            </a:r>
          </a:p>
          <a:p>
            <a:r>
              <a:rPr lang="en-US" altLang="zh-CN" sz="2800" b="1"/>
              <a:t>6</a:t>
            </a:r>
            <a:r>
              <a:rPr lang="zh-CN" altLang="en-US" sz="2800" b="1"/>
              <a:t>。其他先进生产管理模式的兴起</a:t>
            </a:r>
          </a:p>
        </p:txBody>
      </p:sp>
    </p:spTree>
  </p:cSld>
  <p:clrMapOvr>
    <a:masterClrMapping/>
  </p:clrMapOvr>
  <p:transition spd="slow">
    <p:strips dir="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9F60034D-972C-DA64-92EE-D5CA47ED43FC}"/>
              </a:ext>
            </a:extLst>
          </p:cNvPr>
          <p:cNvSpPr>
            <a:spLocks noGrp="1"/>
          </p:cNvSpPr>
          <p:nvPr>
            <p:ph type="dt" sz="half" idx="10"/>
          </p:nvPr>
        </p:nvSpPr>
        <p:spPr/>
        <p:txBody>
          <a:bodyPr/>
          <a:lstStyle/>
          <a:p>
            <a:r>
              <a:rPr lang="zh-CN" altLang="en-US"/>
              <a:t>讲义制作：李丽，陈志祥审</a:t>
            </a:r>
            <a:endParaRPr lang="en-US" altLang="zh-CN"/>
          </a:p>
        </p:txBody>
      </p:sp>
      <p:sp>
        <p:nvSpPr>
          <p:cNvPr id="305154" name="Rectangle 2">
            <a:extLst>
              <a:ext uri="{FF2B5EF4-FFF2-40B4-BE49-F238E27FC236}">
                <a16:creationId xmlns:a16="http://schemas.microsoft.com/office/drawing/2014/main" id="{50870BB0-0099-B419-79C5-FD5B5DC6BDA6}"/>
              </a:ext>
            </a:extLst>
          </p:cNvPr>
          <p:cNvSpPr>
            <a:spLocks noGrp="1" noChangeArrowheads="1"/>
          </p:cNvSpPr>
          <p:nvPr>
            <p:ph type="title"/>
          </p:nvPr>
        </p:nvSpPr>
        <p:spPr/>
        <p:txBody>
          <a:bodyPr/>
          <a:lstStyle/>
          <a:p>
            <a:r>
              <a:rPr lang="zh-CN" altLang="en-US"/>
              <a:t>四、生产运作管理的发展（续）</a:t>
            </a:r>
          </a:p>
        </p:txBody>
      </p:sp>
      <p:sp>
        <p:nvSpPr>
          <p:cNvPr id="305155" name="Rectangle 3">
            <a:extLst>
              <a:ext uri="{FF2B5EF4-FFF2-40B4-BE49-F238E27FC236}">
                <a16:creationId xmlns:a16="http://schemas.microsoft.com/office/drawing/2014/main" id="{11FAA4B1-38F7-BBC3-520F-749AA0F1C309}"/>
              </a:ext>
            </a:extLst>
          </p:cNvPr>
          <p:cNvSpPr>
            <a:spLocks noGrp="1" noChangeArrowheads="1"/>
          </p:cNvSpPr>
          <p:nvPr>
            <p:ph type="body" idx="1"/>
          </p:nvPr>
        </p:nvSpPr>
        <p:spPr/>
        <p:txBody>
          <a:bodyPr/>
          <a:lstStyle/>
          <a:p>
            <a:endParaRPr lang="en-US" altLang="zh-CN"/>
          </a:p>
          <a:p>
            <a:r>
              <a:rPr lang="en-US" altLang="zh-CN"/>
              <a:t>1</a:t>
            </a:r>
            <a:r>
              <a:rPr lang="zh-CN" altLang="en-US"/>
              <a:t>。亚当斯密的劳动分工理论如何解释生产率提高的？：</a:t>
            </a:r>
          </a:p>
          <a:p>
            <a:r>
              <a:rPr lang="zh-CN" altLang="en-US"/>
              <a:t>（</a:t>
            </a:r>
            <a:r>
              <a:rPr lang="en-US" altLang="zh-CN"/>
              <a:t>1</a:t>
            </a:r>
            <a:r>
              <a:rPr lang="zh-CN" altLang="en-US"/>
              <a:t>）劳动熟练程度提高；</a:t>
            </a:r>
          </a:p>
          <a:p>
            <a:r>
              <a:rPr lang="zh-CN" altLang="en-US"/>
              <a:t>（</a:t>
            </a:r>
            <a:r>
              <a:rPr lang="en-US" altLang="zh-CN"/>
              <a:t>2</a:t>
            </a:r>
            <a:r>
              <a:rPr lang="zh-CN" altLang="en-US"/>
              <a:t>）节省了劳动转换的时间浪费；</a:t>
            </a:r>
          </a:p>
          <a:p>
            <a:r>
              <a:rPr lang="zh-CN" altLang="en-US"/>
              <a:t>（</a:t>
            </a:r>
            <a:r>
              <a:rPr lang="en-US" altLang="zh-CN"/>
              <a:t>3</a:t>
            </a:r>
            <a:r>
              <a:rPr lang="zh-CN" altLang="en-US"/>
              <a:t>）机械的使用，简化劳动。</a:t>
            </a:r>
          </a:p>
        </p:txBody>
      </p:sp>
    </p:spTree>
  </p:cSld>
  <p:clrMapOvr>
    <a:masterClrMapping/>
  </p:clrMapOvr>
  <p:transition spd="slow">
    <p:strips dir="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F393770-8D9B-8838-CB6C-18118558A860}"/>
              </a:ext>
            </a:extLst>
          </p:cNvPr>
          <p:cNvSpPr>
            <a:spLocks noGrp="1"/>
          </p:cNvSpPr>
          <p:nvPr>
            <p:ph type="dt" sz="half" idx="10"/>
          </p:nvPr>
        </p:nvSpPr>
        <p:spPr/>
        <p:txBody>
          <a:bodyPr/>
          <a:lstStyle/>
          <a:p>
            <a:r>
              <a:rPr lang="zh-CN" altLang="en-US"/>
              <a:t>讲义制作：李丽，陈志祥审</a:t>
            </a:r>
            <a:endParaRPr lang="en-US" altLang="zh-CN"/>
          </a:p>
        </p:txBody>
      </p:sp>
      <p:sp>
        <p:nvSpPr>
          <p:cNvPr id="306178" name="Rectangle 2">
            <a:extLst>
              <a:ext uri="{FF2B5EF4-FFF2-40B4-BE49-F238E27FC236}">
                <a16:creationId xmlns:a16="http://schemas.microsoft.com/office/drawing/2014/main" id="{F4475AD8-599B-4E0D-C22F-A1AA62AD3A5C}"/>
              </a:ext>
            </a:extLst>
          </p:cNvPr>
          <p:cNvSpPr>
            <a:spLocks noGrp="1" noChangeArrowheads="1"/>
          </p:cNvSpPr>
          <p:nvPr>
            <p:ph type="title"/>
          </p:nvPr>
        </p:nvSpPr>
        <p:spPr/>
        <p:txBody>
          <a:bodyPr/>
          <a:lstStyle/>
          <a:p>
            <a:r>
              <a:rPr lang="zh-CN" altLang="en-US"/>
              <a:t>四、生产运作管理的发展（续）</a:t>
            </a:r>
          </a:p>
        </p:txBody>
      </p:sp>
      <p:sp>
        <p:nvSpPr>
          <p:cNvPr id="306179" name="Rectangle 3">
            <a:extLst>
              <a:ext uri="{FF2B5EF4-FFF2-40B4-BE49-F238E27FC236}">
                <a16:creationId xmlns:a16="http://schemas.microsoft.com/office/drawing/2014/main" id="{05B18EBD-13D7-6FCF-0112-D5F2E6ECB84E}"/>
              </a:ext>
            </a:extLst>
          </p:cNvPr>
          <p:cNvSpPr>
            <a:spLocks noGrp="1" noChangeArrowheads="1"/>
          </p:cNvSpPr>
          <p:nvPr>
            <p:ph type="body" idx="1"/>
          </p:nvPr>
        </p:nvSpPr>
        <p:spPr/>
        <p:txBody>
          <a:bodyPr/>
          <a:lstStyle/>
          <a:p>
            <a:r>
              <a:rPr lang="en-US" altLang="zh-CN"/>
              <a:t>2</a:t>
            </a:r>
            <a:r>
              <a:rPr lang="zh-CN" altLang="en-US"/>
              <a:t>。泰勒科学管理原理的四个基本观点是什么？：</a:t>
            </a:r>
          </a:p>
          <a:p>
            <a:r>
              <a:rPr lang="zh-CN" altLang="en-US"/>
              <a:t>（</a:t>
            </a:r>
            <a:r>
              <a:rPr lang="en-US" altLang="zh-CN"/>
              <a:t>1</a:t>
            </a:r>
            <a:r>
              <a:rPr lang="zh-CN" altLang="en-US"/>
              <a:t>）以提高效率为目标；</a:t>
            </a:r>
          </a:p>
          <a:p>
            <a:r>
              <a:rPr lang="zh-CN" altLang="en-US"/>
              <a:t>（</a:t>
            </a:r>
            <a:r>
              <a:rPr lang="en-US" altLang="zh-CN"/>
              <a:t>2</a:t>
            </a:r>
            <a:r>
              <a:rPr lang="zh-CN" altLang="en-US"/>
              <a:t>）以科学态度进行调查研究；</a:t>
            </a:r>
          </a:p>
          <a:p>
            <a:r>
              <a:rPr lang="zh-CN" altLang="en-US"/>
              <a:t>（</a:t>
            </a:r>
            <a:r>
              <a:rPr lang="en-US" altLang="zh-CN"/>
              <a:t>3</a:t>
            </a:r>
            <a:r>
              <a:rPr lang="zh-CN" altLang="en-US"/>
              <a:t>）强调以个人为研究对象；</a:t>
            </a:r>
          </a:p>
          <a:p>
            <a:r>
              <a:rPr lang="zh-CN" altLang="en-US"/>
              <a:t>（</a:t>
            </a:r>
            <a:r>
              <a:rPr lang="en-US" altLang="zh-CN"/>
              <a:t>4</a:t>
            </a:r>
            <a:r>
              <a:rPr lang="zh-CN" altLang="en-US"/>
              <a:t>）强调规章制度的重要性。</a:t>
            </a:r>
          </a:p>
          <a:p>
            <a:endParaRPr lang="zh-CN" altLang="en-US"/>
          </a:p>
          <a:p>
            <a:endParaRPr lang="zh-CN" altLang="en-US"/>
          </a:p>
          <a:p>
            <a:endParaRPr lang="en-US" altLang="zh-CN"/>
          </a:p>
        </p:txBody>
      </p:sp>
    </p:spTree>
  </p:cSld>
  <p:clrMapOvr>
    <a:masterClrMapping/>
  </p:clrMapOvr>
  <p:transition spd="slow">
    <p:strips dir="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A33B5F1E-EFC1-A3E2-A373-2698F9ADB454}"/>
              </a:ext>
            </a:extLst>
          </p:cNvPr>
          <p:cNvSpPr>
            <a:spLocks noGrp="1"/>
          </p:cNvSpPr>
          <p:nvPr>
            <p:ph type="dt" sz="half" idx="10"/>
          </p:nvPr>
        </p:nvSpPr>
        <p:spPr/>
        <p:txBody>
          <a:bodyPr/>
          <a:lstStyle/>
          <a:p>
            <a:r>
              <a:rPr lang="zh-CN" altLang="en-US"/>
              <a:t>讲义制作：李丽，陈志祥审</a:t>
            </a:r>
            <a:endParaRPr lang="en-US" altLang="zh-CN"/>
          </a:p>
        </p:txBody>
      </p:sp>
      <p:sp>
        <p:nvSpPr>
          <p:cNvPr id="307202" name="Rectangle 2">
            <a:extLst>
              <a:ext uri="{FF2B5EF4-FFF2-40B4-BE49-F238E27FC236}">
                <a16:creationId xmlns:a16="http://schemas.microsoft.com/office/drawing/2014/main" id="{1F62C263-0FAF-DC76-2E2E-B3CF19F8900B}"/>
              </a:ext>
            </a:extLst>
          </p:cNvPr>
          <p:cNvSpPr>
            <a:spLocks noGrp="1" noChangeArrowheads="1"/>
          </p:cNvSpPr>
          <p:nvPr>
            <p:ph type="title"/>
          </p:nvPr>
        </p:nvSpPr>
        <p:spPr/>
        <p:txBody>
          <a:bodyPr/>
          <a:lstStyle/>
          <a:p>
            <a:r>
              <a:rPr lang="zh-CN" altLang="en-US"/>
              <a:t>四、生产运作管理的发展（续）</a:t>
            </a:r>
          </a:p>
        </p:txBody>
      </p:sp>
      <p:sp>
        <p:nvSpPr>
          <p:cNvPr id="307203" name="Rectangle 3">
            <a:extLst>
              <a:ext uri="{FF2B5EF4-FFF2-40B4-BE49-F238E27FC236}">
                <a16:creationId xmlns:a16="http://schemas.microsoft.com/office/drawing/2014/main" id="{2A2C44C0-382A-FE28-9252-D838304BF9FE}"/>
              </a:ext>
            </a:extLst>
          </p:cNvPr>
          <p:cNvSpPr>
            <a:spLocks noGrp="1" noChangeArrowheads="1"/>
          </p:cNvSpPr>
          <p:nvPr>
            <p:ph type="body" idx="1"/>
          </p:nvPr>
        </p:nvSpPr>
        <p:spPr/>
        <p:txBody>
          <a:bodyPr/>
          <a:lstStyle/>
          <a:p>
            <a:r>
              <a:rPr lang="en-US" altLang="zh-CN"/>
              <a:t>3</a:t>
            </a:r>
            <a:r>
              <a:rPr lang="zh-CN" altLang="en-US"/>
              <a:t>。日本管理模式的特点是什么？：</a:t>
            </a:r>
          </a:p>
          <a:p>
            <a:r>
              <a:rPr lang="zh-CN" altLang="en-US"/>
              <a:t>（</a:t>
            </a:r>
            <a:r>
              <a:rPr lang="en-US" altLang="zh-CN"/>
              <a:t>1</a:t>
            </a:r>
            <a:r>
              <a:rPr lang="zh-CN" altLang="en-US"/>
              <a:t>）重视人的作用；</a:t>
            </a:r>
          </a:p>
          <a:p>
            <a:r>
              <a:rPr lang="zh-CN" altLang="en-US"/>
              <a:t>（</a:t>
            </a:r>
            <a:r>
              <a:rPr lang="en-US" altLang="zh-CN"/>
              <a:t>2</a:t>
            </a:r>
            <a:r>
              <a:rPr lang="zh-CN" altLang="en-US"/>
              <a:t>）重视团队的作用；</a:t>
            </a:r>
          </a:p>
          <a:p>
            <a:r>
              <a:rPr lang="zh-CN" altLang="en-US"/>
              <a:t>（</a:t>
            </a:r>
            <a:r>
              <a:rPr lang="en-US" altLang="zh-CN"/>
              <a:t>3</a:t>
            </a:r>
            <a:r>
              <a:rPr lang="zh-CN" altLang="en-US"/>
              <a:t>）精细化管理思想；</a:t>
            </a:r>
          </a:p>
          <a:p>
            <a:endParaRPr lang="en-US" altLang="zh-CN"/>
          </a:p>
        </p:txBody>
      </p:sp>
    </p:spTree>
  </p:cSld>
  <p:clrMapOvr>
    <a:masterClrMapping/>
  </p:clrMapOvr>
  <p:transition spd="slow">
    <p:strips dir="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C49C9E9D-ECAE-E387-3349-2764D7C61519}"/>
              </a:ext>
            </a:extLst>
          </p:cNvPr>
          <p:cNvSpPr>
            <a:spLocks noGrp="1"/>
          </p:cNvSpPr>
          <p:nvPr>
            <p:ph type="dt" sz="half" idx="10"/>
          </p:nvPr>
        </p:nvSpPr>
        <p:spPr/>
        <p:txBody>
          <a:bodyPr/>
          <a:lstStyle/>
          <a:p>
            <a:r>
              <a:rPr lang="zh-CN" altLang="en-US"/>
              <a:t>讲义制作：李丽，陈志祥审</a:t>
            </a:r>
            <a:endParaRPr lang="en-US" altLang="zh-CN"/>
          </a:p>
        </p:txBody>
      </p:sp>
      <p:sp>
        <p:nvSpPr>
          <p:cNvPr id="301058" name="Rectangle 2">
            <a:extLst>
              <a:ext uri="{FF2B5EF4-FFF2-40B4-BE49-F238E27FC236}">
                <a16:creationId xmlns:a16="http://schemas.microsoft.com/office/drawing/2014/main" id="{BD1D3CF0-DF0B-87D5-CBF8-1D82EDFF34E0}"/>
              </a:ext>
            </a:extLst>
          </p:cNvPr>
          <p:cNvSpPr>
            <a:spLocks noGrp="1" noChangeArrowheads="1"/>
          </p:cNvSpPr>
          <p:nvPr>
            <p:ph type="title"/>
          </p:nvPr>
        </p:nvSpPr>
        <p:spPr/>
        <p:txBody>
          <a:bodyPr/>
          <a:lstStyle/>
          <a:p>
            <a:r>
              <a:rPr lang="zh-CN" altLang="en-US" sz="4000" b="1"/>
              <a:t>（二）、生产管理的未来趋势</a:t>
            </a:r>
            <a:br>
              <a:rPr lang="zh-CN" altLang="en-US" sz="4000"/>
            </a:br>
            <a:endParaRPr lang="zh-CN" altLang="en-US" sz="4000"/>
          </a:p>
        </p:txBody>
      </p:sp>
      <p:sp>
        <p:nvSpPr>
          <p:cNvPr id="301059" name="Rectangle 3">
            <a:extLst>
              <a:ext uri="{FF2B5EF4-FFF2-40B4-BE49-F238E27FC236}">
                <a16:creationId xmlns:a16="http://schemas.microsoft.com/office/drawing/2014/main" id="{80CAAFC3-965F-20FA-45AD-D6AC19662F08}"/>
              </a:ext>
            </a:extLst>
          </p:cNvPr>
          <p:cNvSpPr>
            <a:spLocks noGrp="1" noChangeArrowheads="1"/>
          </p:cNvSpPr>
          <p:nvPr>
            <p:ph type="body" idx="1"/>
          </p:nvPr>
        </p:nvSpPr>
        <p:spPr/>
        <p:txBody>
          <a:bodyPr/>
          <a:lstStyle/>
          <a:p>
            <a:pPr>
              <a:lnSpc>
                <a:spcPct val="90000"/>
              </a:lnSpc>
            </a:pPr>
            <a:r>
              <a:rPr lang="en-US" altLang="zh-CN" sz="2400"/>
              <a:t>   </a:t>
            </a:r>
            <a:r>
              <a:rPr lang="zh-CN" altLang="en-US" sz="2400"/>
              <a:t>（</a:t>
            </a:r>
            <a:r>
              <a:rPr lang="en-US" altLang="zh-CN" sz="2400"/>
              <a:t>1</a:t>
            </a:r>
            <a:r>
              <a:rPr lang="zh-CN" altLang="en-US" sz="2400"/>
              <a:t>）基于时间的竞争将进一步加速新产品设计到投产的过程。</a:t>
            </a:r>
          </a:p>
          <a:p>
            <a:pPr>
              <a:lnSpc>
                <a:spcPct val="90000"/>
              </a:lnSpc>
            </a:pPr>
            <a:r>
              <a:rPr lang="zh-CN" altLang="en-US" sz="2400"/>
              <a:t>    （</a:t>
            </a:r>
            <a:r>
              <a:rPr lang="en-US" altLang="zh-CN" sz="2400"/>
              <a:t>2</a:t>
            </a:r>
            <a:r>
              <a:rPr lang="zh-CN" altLang="en-US" sz="2400"/>
              <a:t>）顾客需求多样化，生产系统需要具有更大的柔性以实现产品与服务的多样化。</a:t>
            </a:r>
          </a:p>
          <a:p>
            <a:pPr>
              <a:lnSpc>
                <a:spcPct val="90000"/>
              </a:lnSpc>
            </a:pPr>
            <a:r>
              <a:rPr lang="zh-CN" altLang="en-US" sz="2400"/>
              <a:t>（</a:t>
            </a:r>
            <a:r>
              <a:rPr lang="en-US" altLang="zh-CN" sz="2400"/>
              <a:t>3</a:t>
            </a:r>
            <a:r>
              <a:rPr lang="zh-CN" altLang="en-US" sz="2400"/>
              <a:t>）新技术层出不穷，如何合理利用新技术，并与现有生产技术结合是企业技术改造的决策难点。</a:t>
            </a:r>
          </a:p>
          <a:p>
            <a:pPr>
              <a:lnSpc>
                <a:spcPct val="90000"/>
              </a:lnSpc>
            </a:pPr>
            <a:r>
              <a:rPr lang="zh-CN" altLang="en-US" sz="2400"/>
              <a:t>（</a:t>
            </a:r>
            <a:r>
              <a:rPr lang="en-US" altLang="zh-CN" sz="2400"/>
              <a:t>4</a:t>
            </a:r>
            <a:r>
              <a:rPr lang="zh-CN" altLang="en-US" sz="2400"/>
              <a:t>）环保问题是未来生产必须考虑的重要问题，清洁生产与可重用资源的利用是未来生产的方向</a:t>
            </a:r>
          </a:p>
          <a:p>
            <a:pPr>
              <a:lnSpc>
                <a:spcPct val="90000"/>
              </a:lnSpc>
            </a:pPr>
            <a:r>
              <a:rPr lang="zh-CN" altLang="en-US" sz="2400"/>
              <a:t>（</a:t>
            </a:r>
            <a:r>
              <a:rPr lang="en-US" altLang="zh-CN" sz="2400"/>
              <a:t>5</a:t>
            </a:r>
            <a:r>
              <a:rPr lang="zh-CN" altLang="en-US" sz="2400"/>
              <a:t>）经济全球化趋势，使跨国生产与全球供应链成为不可逆转的趋势。管理全球化生产网络是未来生产管理者面临的新挑战。</a:t>
            </a:r>
          </a:p>
          <a:p>
            <a:pPr>
              <a:lnSpc>
                <a:spcPct val="90000"/>
              </a:lnSpc>
            </a:pPr>
            <a:endParaRPr lang="zh-CN" altLang="en-US" sz="2400"/>
          </a:p>
          <a:p>
            <a:pPr>
              <a:lnSpc>
                <a:spcPct val="90000"/>
              </a:lnSpc>
            </a:pPr>
            <a:endParaRPr lang="zh-CN" altLang="en-US" sz="2400"/>
          </a:p>
          <a:p>
            <a:pPr>
              <a:lnSpc>
                <a:spcPct val="90000"/>
              </a:lnSpc>
            </a:pPr>
            <a:endParaRPr lang="zh-CN" altLang="en-US" sz="2400"/>
          </a:p>
          <a:p>
            <a:pPr>
              <a:lnSpc>
                <a:spcPct val="90000"/>
              </a:lnSpc>
            </a:pPr>
            <a:endParaRPr lang="en-US" altLang="zh-CN" sz="2400"/>
          </a:p>
        </p:txBody>
      </p:sp>
    </p:spTree>
  </p:cSld>
  <p:clrMapOvr>
    <a:masterClrMapping/>
  </p:clrMapOvr>
  <p:transition spd="slow">
    <p:strips dir="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929417BD-5894-49FE-0E93-9A3854DFCE60}"/>
              </a:ext>
            </a:extLst>
          </p:cNvPr>
          <p:cNvSpPr>
            <a:spLocks noGrp="1"/>
          </p:cNvSpPr>
          <p:nvPr>
            <p:ph type="dt" sz="half" idx="10"/>
          </p:nvPr>
        </p:nvSpPr>
        <p:spPr/>
        <p:txBody>
          <a:bodyPr/>
          <a:lstStyle/>
          <a:p>
            <a:r>
              <a:rPr lang="zh-CN" altLang="en-US"/>
              <a:t>讲义制作：李丽，陈志祥审</a:t>
            </a:r>
            <a:endParaRPr lang="en-US" altLang="zh-CN"/>
          </a:p>
        </p:txBody>
      </p:sp>
      <p:sp>
        <p:nvSpPr>
          <p:cNvPr id="303106" name="Rectangle 2">
            <a:extLst>
              <a:ext uri="{FF2B5EF4-FFF2-40B4-BE49-F238E27FC236}">
                <a16:creationId xmlns:a16="http://schemas.microsoft.com/office/drawing/2014/main" id="{D7DB2F91-EECE-7E7F-409A-AC22133B3780}"/>
              </a:ext>
            </a:extLst>
          </p:cNvPr>
          <p:cNvSpPr>
            <a:spLocks noGrp="1" noChangeArrowheads="1"/>
          </p:cNvSpPr>
          <p:nvPr>
            <p:ph type="title"/>
          </p:nvPr>
        </p:nvSpPr>
        <p:spPr/>
        <p:txBody>
          <a:bodyPr/>
          <a:lstStyle/>
          <a:p>
            <a:r>
              <a:rPr lang="zh-CN" altLang="en-US"/>
              <a:t>本章小结</a:t>
            </a:r>
          </a:p>
        </p:txBody>
      </p:sp>
      <p:sp>
        <p:nvSpPr>
          <p:cNvPr id="303107" name="Rectangle 3">
            <a:extLst>
              <a:ext uri="{FF2B5EF4-FFF2-40B4-BE49-F238E27FC236}">
                <a16:creationId xmlns:a16="http://schemas.microsoft.com/office/drawing/2014/main" id="{505B0220-AE8A-6B03-198C-D156383DED65}"/>
              </a:ext>
            </a:extLst>
          </p:cNvPr>
          <p:cNvSpPr>
            <a:spLocks noGrp="1" noChangeArrowheads="1"/>
          </p:cNvSpPr>
          <p:nvPr>
            <p:ph type="body" idx="1"/>
          </p:nvPr>
        </p:nvSpPr>
        <p:spPr/>
        <p:txBody>
          <a:bodyPr/>
          <a:lstStyle/>
          <a:p>
            <a:r>
              <a:rPr lang="zh-CN" altLang="en-US"/>
              <a:t>本章介绍了生产与运作管理的基本知识。第一节对生产系统与生产管理的定义，包括生产系统结构特征，服务生产运作的特点等。第二节介绍了生产运作管理的任务与决策，包括目标、内容与主要决策与决策方法。第三节，论述生产管理的发展过程，并阐述了生产管理未来的发展方向与面临的新挑战。</a:t>
            </a:r>
          </a:p>
        </p:txBody>
      </p:sp>
    </p:spTree>
  </p:cSld>
  <p:clrMapOvr>
    <a:masterClrMapping/>
  </p:clrMapOvr>
  <p:transition spd="slow">
    <p:strips dir="rd"/>
  </p:transition>
</p:sld>
</file>

<file path=ppt/theme/theme1.xml><?xml version="1.0" encoding="utf-8"?>
<a:theme xmlns:a="http://schemas.openxmlformats.org/drawingml/2006/main" name="Mountain Top">
  <a:themeElements>
    <a:clrScheme name="Mountain Top 5">
      <a:dk1>
        <a:srgbClr val="463416"/>
      </a:dk1>
      <a:lt1>
        <a:srgbClr val="FFFFFF"/>
      </a:lt1>
      <a:dk2>
        <a:srgbClr val="003399"/>
      </a:dk2>
      <a:lt2>
        <a:srgbClr val="E3E3FF"/>
      </a:lt2>
      <a:accent1>
        <a:srgbClr val="3399FF"/>
      </a:accent1>
      <a:accent2>
        <a:srgbClr val="33CCCC"/>
      </a:accent2>
      <a:accent3>
        <a:srgbClr val="AAADCA"/>
      </a:accent3>
      <a:accent4>
        <a:srgbClr val="DADADA"/>
      </a:accent4>
      <a:accent5>
        <a:srgbClr val="ADCAFF"/>
      </a:accent5>
      <a:accent6>
        <a:srgbClr val="2DB9B9"/>
      </a:accent6>
      <a:hlink>
        <a:srgbClr val="00FFCC"/>
      </a:hlink>
      <a:folHlink>
        <a:srgbClr val="808000"/>
      </a:folHlink>
    </a:clrScheme>
    <a:fontScheme name="Mountain Top">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Mountain Top 1">
        <a:dk1>
          <a:srgbClr val="4C3A1C"/>
        </a:dk1>
        <a:lt1>
          <a:srgbClr val="FFFFFF"/>
        </a:lt1>
        <a:dk2>
          <a:srgbClr val="993300"/>
        </a:dk2>
        <a:lt2>
          <a:srgbClr val="CCAA00"/>
        </a:lt2>
        <a:accent1>
          <a:srgbClr val="FF3300"/>
        </a:accent1>
        <a:accent2>
          <a:srgbClr val="9E6600"/>
        </a:accent2>
        <a:accent3>
          <a:srgbClr val="CAADAA"/>
        </a:accent3>
        <a:accent4>
          <a:srgbClr val="DADADA"/>
        </a:accent4>
        <a:accent5>
          <a:srgbClr val="FFADAA"/>
        </a:accent5>
        <a:accent6>
          <a:srgbClr val="8F5C00"/>
        </a:accent6>
        <a:hlink>
          <a:srgbClr val="FFCC00"/>
        </a:hlink>
        <a:folHlink>
          <a:srgbClr val="F7DC97"/>
        </a:folHlink>
      </a:clrScheme>
      <a:clrMap bg1="dk2" tx1="lt1" bg2="dk1" tx2="lt2" accent1="accent1" accent2="accent2" accent3="accent3" accent4="accent4" accent5="accent5" accent6="accent6" hlink="hlink" folHlink="folHlink"/>
    </a:extraClrScheme>
    <a:extraClrScheme>
      <a:clrScheme name="Mountain Top 2">
        <a:dk1>
          <a:srgbClr val="3D0058"/>
        </a:dk1>
        <a:lt1>
          <a:srgbClr val="FFFFFF"/>
        </a:lt1>
        <a:dk2>
          <a:srgbClr val="9188B0"/>
        </a:dk2>
        <a:lt2>
          <a:srgbClr val="DDE0DC"/>
        </a:lt2>
        <a:accent1>
          <a:srgbClr val="FFCC00"/>
        </a:accent1>
        <a:accent2>
          <a:srgbClr val="4C3D78"/>
        </a:accent2>
        <a:accent3>
          <a:srgbClr val="C7C3D4"/>
        </a:accent3>
        <a:accent4>
          <a:srgbClr val="DADADA"/>
        </a:accent4>
        <a:accent5>
          <a:srgbClr val="FFE2AA"/>
        </a:accent5>
        <a:accent6>
          <a:srgbClr val="44366C"/>
        </a:accent6>
        <a:hlink>
          <a:srgbClr val="743D78"/>
        </a:hlink>
        <a:folHlink>
          <a:srgbClr val="CC9900"/>
        </a:folHlink>
      </a:clrScheme>
      <a:clrMap bg1="dk2" tx1="lt1" bg2="dk1" tx2="lt2" accent1="accent1" accent2="accent2" accent3="accent3" accent4="accent4" accent5="accent5" accent6="accent6" hlink="hlink" folHlink="folHlink"/>
    </a:extraClrScheme>
    <a:extraClrScheme>
      <a:clrScheme name="Mountain Top 3">
        <a:dk1>
          <a:srgbClr val="10104C"/>
        </a:dk1>
        <a:lt1>
          <a:srgbClr val="FFFFFF"/>
        </a:lt1>
        <a:dk2>
          <a:srgbClr val="003366"/>
        </a:dk2>
        <a:lt2>
          <a:srgbClr val="C6CCD4"/>
        </a:lt2>
        <a:accent1>
          <a:srgbClr val="33CCFF"/>
        </a:accent1>
        <a:accent2>
          <a:srgbClr val="5B5B8D"/>
        </a:accent2>
        <a:accent3>
          <a:srgbClr val="AAADB8"/>
        </a:accent3>
        <a:accent4>
          <a:srgbClr val="DADADA"/>
        </a:accent4>
        <a:accent5>
          <a:srgbClr val="ADE2FF"/>
        </a:accent5>
        <a:accent6>
          <a:srgbClr val="52527F"/>
        </a:accent6>
        <a:hlink>
          <a:srgbClr val="4529AB"/>
        </a:hlink>
        <a:folHlink>
          <a:srgbClr val="00CC99"/>
        </a:folHlink>
      </a:clrScheme>
      <a:clrMap bg1="dk2" tx1="lt1" bg2="dk1" tx2="lt2" accent1="accent1" accent2="accent2" accent3="accent3" accent4="accent4" accent5="accent5" accent6="accent6" hlink="hlink" folHlink="folHlink"/>
    </a:extraClrScheme>
    <a:extraClrScheme>
      <a:clrScheme name="Mountain Top 4">
        <a:dk1>
          <a:srgbClr val="B0C8CA"/>
        </a:dk1>
        <a:lt1>
          <a:srgbClr val="FFFFFF"/>
        </a:lt1>
        <a:dk2>
          <a:srgbClr val="000099"/>
        </a:dk2>
        <a:lt2>
          <a:srgbClr val="FFFFFF"/>
        </a:lt2>
        <a:accent1>
          <a:srgbClr val="89C4FF"/>
        </a:accent1>
        <a:accent2>
          <a:srgbClr val="00008C"/>
        </a:accent2>
        <a:accent3>
          <a:srgbClr val="AAAACA"/>
        </a:accent3>
        <a:accent4>
          <a:srgbClr val="DADADA"/>
        </a:accent4>
        <a:accent5>
          <a:srgbClr val="C4DEFF"/>
        </a:accent5>
        <a:accent6>
          <a:srgbClr val="00007E"/>
        </a:accent6>
        <a:hlink>
          <a:srgbClr val="6666FF"/>
        </a:hlink>
        <a:folHlink>
          <a:srgbClr val="C0C0C0"/>
        </a:folHlink>
      </a:clrScheme>
      <a:clrMap bg1="dk2" tx1="lt1" bg2="dk1" tx2="lt2" accent1="accent1" accent2="accent2" accent3="accent3" accent4="accent4" accent5="accent5" accent6="accent6" hlink="hlink" folHlink="folHlink"/>
    </a:extraClrScheme>
    <a:extraClrScheme>
      <a:clrScheme name="Mountain Top 5">
        <a:dk1>
          <a:srgbClr val="463416"/>
        </a:dk1>
        <a:lt1>
          <a:srgbClr val="FFFFFF"/>
        </a:lt1>
        <a:dk2>
          <a:srgbClr val="003399"/>
        </a:dk2>
        <a:lt2>
          <a:srgbClr val="E3E3FF"/>
        </a:lt2>
        <a:accent1>
          <a:srgbClr val="3399FF"/>
        </a:accent1>
        <a:accent2>
          <a:srgbClr val="33CCCC"/>
        </a:accent2>
        <a:accent3>
          <a:srgbClr val="AAADCA"/>
        </a:accent3>
        <a:accent4>
          <a:srgbClr val="DADADA"/>
        </a:accent4>
        <a:accent5>
          <a:srgbClr val="ADCAFF"/>
        </a:accent5>
        <a:accent6>
          <a:srgbClr val="2DB9B9"/>
        </a:accent6>
        <a:hlink>
          <a:srgbClr val="00FFCC"/>
        </a:hlink>
        <a:folHlink>
          <a:srgbClr val="808000"/>
        </a:folHlink>
      </a:clrScheme>
      <a:clrMap bg1="dk2" tx1="lt1" bg2="dk1" tx2="lt2" accent1="accent1" accent2="accent2" accent3="accent3" accent4="accent4" accent5="accent5" accent6="accent6" hlink="hlink" folHlink="folHlink"/>
    </a:extraClrScheme>
    <a:extraClrScheme>
      <a:clrScheme name="Mountain Top 6">
        <a:dk1>
          <a:srgbClr val="809296"/>
        </a:dk1>
        <a:lt1>
          <a:srgbClr val="FFFFFF"/>
        </a:lt1>
        <a:dk2>
          <a:srgbClr val="6699FF"/>
        </a:dk2>
        <a:lt2>
          <a:srgbClr val="B3EDFF"/>
        </a:lt2>
        <a:accent1>
          <a:srgbClr val="FF9933"/>
        </a:accent1>
        <a:accent2>
          <a:srgbClr val="FFAA99"/>
        </a:accent2>
        <a:accent3>
          <a:srgbClr val="B8CAFF"/>
        </a:accent3>
        <a:accent4>
          <a:srgbClr val="DADADA"/>
        </a:accent4>
        <a:accent5>
          <a:srgbClr val="FFCAAD"/>
        </a:accent5>
        <a:accent6>
          <a:srgbClr val="E79A8A"/>
        </a:accent6>
        <a:hlink>
          <a:srgbClr val="FFCFAB"/>
        </a:hlink>
        <a:folHlink>
          <a:srgbClr val="CC9900"/>
        </a:folHlink>
      </a:clrScheme>
      <a:clrMap bg1="dk2" tx1="lt1" bg2="dk1" tx2="lt2" accent1="accent1" accent2="accent2" accent3="accent3" accent4="accent4" accent5="accent5" accent6="accent6" hlink="hlink" folHlink="folHlink"/>
    </a:extraClrScheme>
    <a:extraClrScheme>
      <a:clrScheme name="Mountain Top 7">
        <a:dk1>
          <a:srgbClr val="006666"/>
        </a:dk1>
        <a:lt1>
          <a:srgbClr val="FFFFFF"/>
        </a:lt1>
        <a:dk2>
          <a:srgbClr val="85D1E3"/>
        </a:dk2>
        <a:lt2>
          <a:srgbClr val="CCFFFF"/>
        </a:lt2>
        <a:accent1>
          <a:srgbClr val="FFCC00"/>
        </a:accent1>
        <a:accent2>
          <a:srgbClr val="00CC99"/>
        </a:accent2>
        <a:accent3>
          <a:srgbClr val="C2E5EF"/>
        </a:accent3>
        <a:accent4>
          <a:srgbClr val="DADADA"/>
        </a:accent4>
        <a:accent5>
          <a:srgbClr val="FFE2AA"/>
        </a:accent5>
        <a:accent6>
          <a:srgbClr val="00B98A"/>
        </a:accent6>
        <a:hlink>
          <a:srgbClr val="0099FF"/>
        </a:hlink>
        <a:folHlink>
          <a:srgbClr val="6600CC"/>
        </a:folHlink>
      </a:clrScheme>
      <a:clrMap bg1="dk2" tx1="lt1" bg2="dk1" tx2="lt2" accent1="accent1" accent2="accent2" accent3="accent3" accent4="accent4" accent5="accent5" accent6="accent6" hlink="hlink" folHlink="folHlink"/>
    </a:extraClrScheme>
    <a:extraClrScheme>
      <a:clrScheme name="Mountain Top 8">
        <a:dk1>
          <a:srgbClr val="404B3D"/>
        </a:dk1>
        <a:lt1>
          <a:srgbClr val="FFFFFF"/>
        </a:lt1>
        <a:dk2>
          <a:srgbClr val="A7A491"/>
        </a:dk2>
        <a:lt2>
          <a:srgbClr val="CCD0CA"/>
        </a:lt2>
        <a:accent1>
          <a:srgbClr val="33CCCC"/>
        </a:accent1>
        <a:accent2>
          <a:srgbClr val="004E4C"/>
        </a:accent2>
        <a:accent3>
          <a:srgbClr val="D0CFC7"/>
        </a:accent3>
        <a:accent4>
          <a:srgbClr val="DADADA"/>
        </a:accent4>
        <a:accent5>
          <a:srgbClr val="ADE2E2"/>
        </a:accent5>
        <a:accent6>
          <a:srgbClr val="004644"/>
        </a:accent6>
        <a:hlink>
          <a:srgbClr val="477781"/>
        </a:hlink>
        <a:folHlink>
          <a:srgbClr val="85CC74"/>
        </a:folHlink>
      </a:clrScheme>
      <a:clrMap bg1="dk2" tx1="lt1" bg2="dk1" tx2="lt2" accent1="accent1" accent2="accent2" accent3="accent3" accent4="accent4" accent5="accent5" accent6="accent6" hlink="hlink" folHlink="folHlink"/>
    </a:extraClrScheme>
    <a:extraClrScheme>
      <a:clrScheme name="Mountain Top 9">
        <a:dk1>
          <a:srgbClr val="000000"/>
        </a:dk1>
        <a:lt1>
          <a:srgbClr val="FFFFFF"/>
        </a:lt1>
        <a:dk2>
          <a:srgbClr val="FFFFAF"/>
        </a:dk2>
        <a:lt2>
          <a:srgbClr val="676597"/>
        </a:lt2>
        <a:accent1>
          <a:srgbClr val="66CCFF"/>
        </a:accent1>
        <a:accent2>
          <a:srgbClr val="CCECFF"/>
        </a:accent2>
        <a:accent3>
          <a:srgbClr val="FFFFFF"/>
        </a:accent3>
        <a:accent4>
          <a:srgbClr val="000000"/>
        </a:accent4>
        <a:accent5>
          <a:srgbClr val="B8E2FF"/>
        </a:accent5>
        <a:accent6>
          <a:srgbClr val="B9D6E7"/>
        </a:accent6>
        <a:hlink>
          <a:srgbClr val="6600CC"/>
        </a:hlink>
        <a:folHlink>
          <a:srgbClr val="0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Mountain Top</Template>
  <TotalTime>3232</TotalTime>
  <Words>2379</Words>
  <Application>Microsoft Office PowerPoint</Application>
  <PresentationFormat>全屏显示(4:3)</PresentationFormat>
  <Paragraphs>308</Paragraphs>
  <Slides>23</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23</vt:i4>
      </vt:variant>
    </vt:vector>
  </HeadingPairs>
  <TitlesOfParts>
    <vt:vector size="30" baseType="lpstr">
      <vt:lpstr>Arial</vt:lpstr>
      <vt:lpstr>宋体</vt:lpstr>
      <vt:lpstr>Wingdings</vt:lpstr>
      <vt:lpstr>黑体</vt:lpstr>
      <vt:lpstr>楷体_GB2312</vt:lpstr>
      <vt:lpstr>Times New Roman</vt:lpstr>
      <vt:lpstr>Mountain Top</vt:lpstr>
      <vt:lpstr>《生产与运作管理》教辅材料参考讲义</vt:lpstr>
      <vt:lpstr>第1章：生产与运作管理概述</vt:lpstr>
      <vt:lpstr>引导案例：广州本田汽车有限公司</vt:lpstr>
      <vt:lpstr>一、生产系统要素与特征</vt:lpstr>
      <vt:lpstr>（一）生产系统的组成与结构</vt:lpstr>
      <vt:lpstr>（一）生产系统的组成与结构（续）</vt:lpstr>
      <vt:lpstr>（二）生产系统的类型与特征</vt:lpstr>
      <vt:lpstr>PowerPoint 演示文稿</vt:lpstr>
      <vt:lpstr>PowerPoint 演示文稿</vt:lpstr>
      <vt:lpstr>PowerPoint 演示文稿</vt:lpstr>
      <vt:lpstr>（三）服务运作管理的特点</vt:lpstr>
      <vt:lpstr>二、生产运作管理的任务与目标 </vt:lpstr>
      <vt:lpstr>二、生产管理的任务与目标 </vt:lpstr>
      <vt:lpstr>二、生产管理的任务与目标 </vt:lpstr>
      <vt:lpstr>三、生产运作管理的决策</vt:lpstr>
      <vt:lpstr>三、生产运作管理的决策</vt:lpstr>
      <vt:lpstr>三、生产运作管理的决策(续)</vt:lpstr>
      <vt:lpstr>四、生产运作管理的发展</vt:lpstr>
      <vt:lpstr>四、生产运作管理的发展（续）</vt:lpstr>
      <vt:lpstr>四、生产运作管理的发展（续）</vt:lpstr>
      <vt:lpstr>四、生产运作管理的发展（续）</vt:lpstr>
      <vt:lpstr>（二）、生产管理的未来趋势 </vt:lpstr>
      <vt:lpstr>本章小结</vt:lpstr>
    </vt:vector>
  </TitlesOfParts>
  <Company>mns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中山大学管理学院管理学院 高级经理EMBA培训班 《生产与运作管理》</dc:title>
  <dc:creator>a</dc:creator>
  <cp:lastModifiedBy>先生 刘</cp:lastModifiedBy>
  <cp:revision>200</cp:revision>
  <dcterms:created xsi:type="dcterms:W3CDTF">2004-02-09T09:24:44Z</dcterms:created>
  <dcterms:modified xsi:type="dcterms:W3CDTF">2023-10-23T06:14:11Z</dcterms:modified>
</cp:coreProperties>
</file>