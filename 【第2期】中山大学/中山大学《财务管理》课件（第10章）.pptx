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246888" y="280416"/>
            <a:ext cx="1060704" cy="1054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511808" y="594364"/>
            <a:ext cx="3840455" cy="4693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362455" y="1100329"/>
            <a:ext cx="4142220" cy="1920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15823" y="112776"/>
            <a:ext cx="8891270" cy="6598920"/>
          </a:xfrm>
          <a:custGeom>
            <a:avLst/>
            <a:gdLst/>
            <a:ahLst/>
            <a:cxnLst/>
            <a:rect l="l" t="t" r="r" b="b"/>
            <a:pathLst>
              <a:path w="8891270" h="6598920">
                <a:moveTo>
                  <a:pt x="0" y="0"/>
                </a:moveTo>
                <a:lnTo>
                  <a:pt x="0" y="6598919"/>
                </a:lnTo>
                <a:lnTo>
                  <a:pt x="8891015" y="6598919"/>
                </a:lnTo>
                <a:lnTo>
                  <a:pt x="8891015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679704" y="36438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679704" y="36469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679704" y="36499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679704" y="36530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679704" y="36560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679704" y="36591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679704" y="36621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679704" y="36652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679704" y="36682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679704" y="36713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679704" y="36743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679704" y="36774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679704" y="36804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679704" y="36835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679704" y="36865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679704" y="36896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679704" y="36926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679704" y="36957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679704" y="36987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679704" y="37017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679704" y="37048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679704" y="37078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679704" y="371094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679704" y="371398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679704" y="371703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679704" y="37200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679704" y="37231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679704" y="37261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679704" y="37292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679704" y="37322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679704" y="37353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k object 52"/>
          <p:cNvSpPr/>
          <p:nvPr/>
        </p:nvSpPr>
        <p:spPr>
          <a:xfrm>
            <a:off x="679704" y="37383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k object 53"/>
          <p:cNvSpPr/>
          <p:nvPr/>
        </p:nvSpPr>
        <p:spPr>
          <a:xfrm>
            <a:off x="679704" y="37414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k object 54"/>
          <p:cNvSpPr/>
          <p:nvPr/>
        </p:nvSpPr>
        <p:spPr>
          <a:xfrm>
            <a:off x="679704" y="37444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k object 55"/>
          <p:cNvSpPr/>
          <p:nvPr/>
        </p:nvSpPr>
        <p:spPr>
          <a:xfrm>
            <a:off x="679704" y="37475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k object 56"/>
          <p:cNvSpPr/>
          <p:nvPr/>
        </p:nvSpPr>
        <p:spPr>
          <a:xfrm>
            <a:off x="679704" y="37505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k object 57"/>
          <p:cNvSpPr/>
          <p:nvPr/>
        </p:nvSpPr>
        <p:spPr>
          <a:xfrm>
            <a:off x="679704" y="37536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k object 58"/>
          <p:cNvSpPr/>
          <p:nvPr/>
        </p:nvSpPr>
        <p:spPr>
          <a:xfrm>
            <a:off x="679704" y="37566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k object 59"/>
          <p:cNvSpPr/>
          <p:nvPr/>
        </p:nvSpPr>
        <p:spPr>
          <a:xfrm>
            <a:off x="679704" y="37597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k object 60"/>
          <p:cNvSpPr/>
          <p:nvPr/>
        </p:nvSpPr>
        <p:spPr>
          <a:xfrm>
            <a:off x="679704" y="37627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k object 61"/>
          <p:cNvSpPr/>
          <p:nvPr/>
        </p:nvSpPr>
        <p:spPr>
          <a:xfrm>
            <a:off x="679704" y="37658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k object 62"/>
          <p:cNvSpPr/>
          <p:nvPr/>
        </p:nvSpPr>
        <p:spPr>
          <a:xfrm>
            <a:off x="679704" y="37688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k object 63"/>
          <p:cNvSpPr/>
          <p:nvPr/>
        </p:nvSpPr>
        <p:spPr>
          <a:xfrm>
            <a:off x="679704" y="37719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k object 64"/>
          <p:cNvSpPr/>
          <p:nvPr/>
        </p:nvSpPr>
        <p:spPr>
          <a:xfrm>
            <a:off x="679704" y="37749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k object 65"/>
          <p:cNvSpPr/>
          <p:nvPr/>
        </p:nvSpPr>
        <p:spPr>
          <a:xfrm>
            <a:off x="679704" y="37779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bk object 66"/>
          <p:cNvSpPr/>
          <p:nvPr/>
        </p:nvSpPr>
        <p:spPr>
          <a:xfrm>
            <a:off x="679704" y="37810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bk object 67"/>
          <p:cNvSpPr/>
          <p:nvPr/>
        </p:nvSpPr>
        <p:spPr>
          <a:xfrm>
            <a:off x="679704" y="37840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3528" y="42672"/>
            <a:ext cx="2157984" cy="4328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40207" y="185928"/>
            <a:ext cx="8857615" cy="6553200"/>
          </a:xfrm>
          <a:custGeom>
            <a:avLst/>
            <a:gdLst/>
            <a:ahLst/>
            <a:cxnLst/>
            <a:rect l="l" t="t" r="r" b="b"/>
            <a:pathLst>
              <a:path w="8857615" h="6553200">
                <a:moveTo>
                  <a:pt x="0" y="0"/>
                </a:moveTo>
                <a:lnTo>
                  <a:pt x="0" y="6553199"/>
                </a:lnTo>
                <a:lnTo>
                  <a:pt x="8857487" y="6553199"/>
                </a:lnTo>
                <a:lnTo>
                  <a:pt x="8857487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21920" y="14127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21920" y="14157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121920" y="14188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121920" y="14218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121920" y="14249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121920" y="14279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121920" y="14310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121920" y="14340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121920" y="14371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121920" y="14401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121920" y="14432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121920" y="14462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121920" y="14493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121920" y="14523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121920" y="14554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121920" y="14584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121920" y="14615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121920" y="14645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121920" y="14676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121920" y="14706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121920" y="14737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121920" y="14767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121920" y="147980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121920" y="148285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121920" y="148590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121920" y="14889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121920" y="14919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121920" y="14950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121920" y="14980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121920" y="15011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121920" y="15041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121920" y="15072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121920" y="15102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k object 52"/>
          <p:cNvSpPr/>
          <p:nvPr/>
        </p:nvSpPr>
        <p:spPr>
          <a:xfrm>
            <a:off x="121920" y="15133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k object 53"/>
          <p:cNvSpPr/>
          <p:nvPr/>
        </p:nvSpPr>
        <p:spPr>
          <a:xfrm>
            <a:off x="121920" y="15163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k object 54"/>
          <p:cNvSpPr/>
          <p:nvPr/>
        </p:nvSpPr>
        <p:spPr>
          <a:xfrm>
            <a:off x="121920" y="15194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k object 55"/>
          <p:cNvSpPr/>
          <p:nvPr/>
        </p:nvSpPr>
        <p:spPr>
          <a:xfrm>
            <a:off x="121920" y="15224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k object 56"/>
          <p:cNvSpPr/>
          <p:nvPr/>
        </p:nvSpPr>
        <p:spPr>
          <a:xfrm>
            <a:off x="121920" y="15255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k object 57"/>
          <p:cNvSpPr/>
          <p:nvPr/>
        </p:nvSpPr>
        <p:spPr>
          <a:xfrm>
            <a:off x="121920" y="15285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k object 58"/>
          <p:cNvSpPr/>
          <p:nvPr/>
        </p:nvSpPr>
        <p:spPr>
          <a:xfrm>
            <a:off x="121920" y="15316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k object 59"/>
          <p:cNvSpPr/>
          <p:nvPr/>
        </p:nvSpPr>
        <p:spPr>
          <a:xfrm>
            <a:off x="121920" y="15346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k object 60"/>
          <p:cNvSpPr/>
          <p:nvPr/>
        </p:nvSpPr>
        <p:spPr>
          <a:xfrm>
            <a:off x="121920" y="15377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k object 61"/>
          <p:cNvSpPr/>
          <p:nvPr/>
        </p:nvSpPr>
        <p:spPr>
          <a:xfrm>
            <a:off x="121920" y="15407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k object 62"/>
          <p:cNvSpPr/>
          <p:nvPr/>
        </p:nvSpPr>
        <p:spPr>
          <a:xfrm>
            <a:off x="121920" y="15438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k object 63"/>
          <p:cNvSpPr/>
          <p:nvPr/>
        </p:nvSpPr>
        <p:spPr>
          <a:xfrm>
            <a:off x="121920" y="15468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k object 64"/>
          <p:cNvSpPr/>
          <p:nvPr/>
        </p:nvSpPr>
        <p:spPr>
          <a:xfrm>
            <a:off x="121920" y="15499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k object 65"/>
          <p:cNvSpPr/>
          <p:nvPr/>
        </p:nvSpPr>
        <p:spPr>
          <a:xfrm>
            <a:off x="121920" y="15529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6830" y="560324"/>
            <a:ext cx="7530338" cy="636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5247" y="1503375"/>
            <a:ext cx="8493505" cy="3713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5411" y="2815844"/>
            <a:ext cx="585025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79320" algn="l"/>
              </a:tabLst>
            </a:pPr>
            <a:r>
              <a:rPr dirty="0" sz="4800"/>
              <a:t>第十章	财务预算管理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639572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76220" y="1813052"/>
            <a:ext cx="4046220" cy="28498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249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预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算管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理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的框架</a:t>
            </a:r>
            <a:endParaRPr sz="32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dirty="0" sz="3200" spc="249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全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面预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的编制</a:t>
            </a:r>
            <a:endParaRPr sz="3200">
              <a:latin typeface="Microsoft JhengHei"/>
              <a:cs typeface="Microsoft JhengHei"/>
            </a:endParaRPr>
          </a:p>
          <a:p>
            <a:pPr marL="12700" marR="5080">
              <a:lnSpc>
                <a:spcPct val="159400"/>
              </a:lnSpc>
              <a:spcBef>
                <a:spcPts val="25"/>
              </a:spcBef>
            </a:pPr>
            <a:r>
              <a:rPr dirty="0" sz="3200" spc="249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预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算的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不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同表达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方</a:t>
            </a:r>
            <a:r>
              <a:rPr dirty="0" sz="3200" spc="-2880" b="1">
                <a:solidFill>
                  <a:srgbClr val="FFFFFF"/>
                </a:solidFill>
                <a:latin typeface="Microsoft JhengHei"/>
                <a:cs typeface="Microsoft JhengHei"/>
              </a:rPr>
              <a:t>式 </a:t>
            </a:r>
            <a:r>
              <a:rPr dirty="0" sz="3200" spc="249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预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算管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理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与业绩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评</a:t>
            </a:r>
            <a:r>
              <a:rPr dirty="0" sz="3200" spc="-2885" b="1">
                <a:solidFill>
                  <a:srgbClr val="FFFFFF"/>
                </a:solidFill>
                <a:latin typeface="Microsoft JhengHei"/>
                <a:cs typeface="Microsoft JhengHei"/>
              </a:rPr>
              <a:t>价</a:t>
            </a:r>
            <a:endParaRPr sz="32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6220" y="63957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预算管</a:t>
            </a:r>
            <a:r>
              <a:rPr dirty="0" spc="-20"/>
              <a:t>理</a:t>
            </a:r>
            <a:r>
              <a:rPr dirty="0" spc="5"/>
              <a:t>的</a:t>
            </a:r>
            <a:r>
              <a:rPr dirty="0" spc="-20"/>
              <a:t>框</a:t>
            </a:r>
            <a:r>
              <a:rPr dirty="0" spc="5"/>
              <a:t>架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4411" y="1686865"/>
            <a:ext cx="6481445" cy="3585845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3200" spc="249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预算管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的定义</a:t>
            </a:r>
            <a:endParaRPr sz="3200">
              <a:latin typeface="宋体"/>
              <a:cs typeface="宋体"/>
            </a:endParaRPr>
          </a:p>
          <a:p>
            <a:pPr marL="12700" marR="2037714">
              <a:lnSpc>
                <a:spcPct val="119400"/>
              </a:lnSpc>
              <a:spcBef>
                <a:spcPts val="240"/>
              </a:spcBef>
            </a:pPr>
            <a:r>
              <a:rPr dirty="0" sz="3200" spc="249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预算管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循环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环节</a:t>
            </a:r>
            <a:r>
              <a:rPr dirty="0" sz="3200" spc="-2885">
                <a:solidFill>
                  <a:srgbClr val="FFFFFF"/>
                </a:solidFill>
                <a:latin typeface="宋体"/>
                <a:cs typeface="宋体"/>
              </a:rPr>
              <a:t>） </a:t>
            </a:r>
            <a:r>
              <a:rPr dirty="0" sz="3200" spc="249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预算管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的职能</a:t>
            </a:r>
            <a:endParaRPr sz="3200">
              <a:latin typeface="宋体"/>
              <a:cs typeface="宋体"/>
            </a:endParaRPr>
          </a:p>
          <a:p>
            <a:pPr marL="12700" marR="3256915">
              <a:lnSpc>
                <a:spcPct val="120000"/>
              </a:lnSpc>
            </a:pPr>
            <a:r>
              <a:rPr dirty="0" sz="3200" spc="249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预算管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的作</a:t>
            </a:r>
            <a:r>
              <a:rPr dirty="0" sz="3200" spc="-2890">
                <a:solidFill>
                  <a:srgbClr val="FFFFFF"/>
                </a:solidFill>
                <a:latin typeface="宋体"/>
                <a:cs typeface="宋体"/>
              </a:rPr>
              <a:t>用 </a:t>
            </a:r>
            <a:r>
              <a:rPr dirty="0" sz="3200" spc="249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预算管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的组</a:t>
            </a:r>
            <a:r>
              <a:rPr dirty="0" sz="3200" spc="-2890">
                <a:solidFill>
                  <a:srgbClr val="FFFFFF"/>
                </a:solidFill>
                <a:latin typeface="宋体"/>
                <a:cs typeface="宋体"/>
              </a:rPr>
              <a:t>织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3200" spc="249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实施预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管理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企业内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部</a:t>
            </a:r>
            <a:r>
              <a:rPr dirty="0" sz="3200" spc="-10">
                <a:solidFill>
                  <a:srgbClr val="FFFFFF"/>
                </a:solidFill>
                <a:latin typeface="宋体"/>
                <a:cs typeface="宋体"/>
              </a:rPr>
              <a:t>制度</a:t>
            </a:r>
            <a:r>
              <a:rPr dirty="0" sz="3200" spc="10">
                <a:solidFill>
                  <a:srgbClr val="FFFFFF"/>
                </a:solidFill>
                <a:latin typeface="宋体"/>
                <a:cs typeface="宋体"/>
              </a:rPr>
              <a:t>环</a:t>
            </a:r>
            <a:r>
              <a:rPr dirty="0" sz="3200" spc="-2790">
                <a:solidFill>
                  <a:srgbClr val="FFFFFF"/>
                </a:solidFill>
                <a:latin typeface="宋体"/>
                <a:cs typeface="宋体"/>
              </a:rPr>
              <a:t>境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79" y="1917903"/>
            <a:ext cx="8559800" cy="3162300"/>
          </a:xfrm>
          <a:prstGeom prst="rect">
            <a:avLst/>
          </a:prstGeom>
        </p:spPr>
        <p:txBody>
          <a:bodyPr wrap="square" lIns="0" tIns="36194" rIns="0" bIns="0" rtlCol="0" vert="horz">
            <a:spAutoFit/>
          </a:bodyPr>
          <a:lstStyle/>
          <a:p>
            <a:pPr marL="12700" marR="5080" indent="706755">
              <a:lnSpc>
                <a:spcPct val="121600"/>
              </a:lnSpc>
              <a:spcBef>
                <a:spcPts val="284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企业预算管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，是指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体出发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通过科 学、合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预测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货币或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量的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预算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形式明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企业预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定期间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营成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果、财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状况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及其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实现手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段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和措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从而对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业及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各业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务部门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活动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进行全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调节和 控制，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保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证企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略目标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目标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得以实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的一个 工具。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6220" y="667004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预算管</a:t>
            </a:r>
            <a:r>
              <a:rPr dirty="0" spc="-20"/>
              <a:t>理</a:t>
            </a:r>
            <a:r>
              <a:rPr dirty="0" spc="5"/>
              <a:t>的</a:t>
            </a:r>
            <a:r>
              <a:rPr dirty="0" spc="-20"/>
              <a:t>定</a:t>
            </a:r>
            <a:r>
              <a:rPr dirty="0" spc="5"/>
              <a:t>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268" y="1663700"/>
            <a:ext cx="8913495" cy="12858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预算管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理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包括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编制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预算、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预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算执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行、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预算考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核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三个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环节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700">
              <a:latin typeface="Microsoft JhengHei"/>
              <a:cs typeface="Microsoft JhengHei"/>
            </a:endParaRPr>
          </a:p>
          <a:p>
            <a:pPr marL="841375" indent="-372110">
              <a:lnSpc>
                <a:spcPct val="100000"/>
              </a:lnSpc>
              <a:buClr>
                <a:srgbClr val="FF6600"/>
              </a:buClr>
              <a:buFont typeface="Wingdings"/>
              <a:buChar char="►"/>
              <a:tabLst>
                <a:tab pos="842010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预算的编制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2251" y="624332"/>
            <a:ext cx="3076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 b="0">
                <a:latin typeface="宋体"/>
                <a:cs typeface="宋体"/>
              </a:rPr>
              <a:t>预算管</a:t>
            </a:r>
            <a:r>
              <a:rPr dirty="0" spc="-20" b="0">
                <a:latin typeface="宋体"/>
                <a:cs typeface="宋体"/>
              </a:rPr>
              <a:t>理</a:t>
            </a:r>
            <a:r>
              <a:rPr dirty="0" spc="5" b="0">
                <a:latin typeface="宋体"/>
                <a:cs typeface="宋体"/>
              </a:rPr>
              <a:t>循环</a:t>
            </a:r>
          </a:p>
        </p:txBody>
      </p:sp>
      <p:sp>
        <p:nvSpPr>
          <p:cNvPr id="4" name="object 4"/>
          <p:cNvSpPr/>
          <p:nvPr/>
        </p:nvSpPr>
        <p:spPr>
          <a:xfrm>
            <a:off x="3319271" y="4605528"/>
            <a:ext cx="2170430" cy="0"/>
          </a:xfrm>
          <a:custGeom>
            <a:avLst/>
            <a:gdLst/>
            <a:ahLst/>
            <a:cxnLst/>
            <a:rect l="l" t="t" r="r" b="b"/>
            <a:pathLst>
              <a:path w="2170429" h="0">
                <a:moveTo>
                  <a:pt x="0" y="0"/>
                </a:moveTo>
                <a:lnTo>
                  <a:pt x="2170175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483352" y="4544568"/>
            <a:ext cx="121920" cy="125095"/>
          </a:xfrm>
          <a:custGeom>
            <a:avLst/>
            <a:gdLst/>
            <a:ahLst/>
            <a:cxnLst/>
            <a:rect l="l" t="t" r="r" b="b"/>
            <a:pathLst>
              <a:path w="121920" h="125095">
                <a:moveTo>
                  <a:pt x="0" y="0"/>
                </a:moveTo>
                <a:lnTo>
                  <a:pt x="0" y="124968"/>
                </a:lnTo>
                <a:lnTo>
                  <a:pt x="121920" y="609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19272" y="4696968"/>
            <a:ext cx="125095" cy="125095"/>
          </a:xfrm>
          <a:custGeom>
            <a:avLst/>
            <a:gdLst/>
            <a:ahLst/>
            <a:cxnLst/>
            <a:rect l="l" t="t" r="r" b="b"/>
            <a:pathLst>
              <a:path w="125095" h="125095">
                <a:moveTo>
                  <a:pt x="124968" y="0"/>
                </a:moveTo>
                <a:lnTo>
                  <a:pt x="0" y="60960"/>
                </a:lnTo>
                <a:lnTo>
                  <a:pt x="124968" y="124968"/>
                </a:lnTo>
                <a:lnTo>
                  <a:pt x="1249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88591" y="4398264"/>
            <a:ext cx="1582420" cy="466725"/>
          </a:xfrm>
          <a:custGeom>
            <a:avLst/>
            <a:gdLst/>
            <a:ahLst/>
            <a:cxnLst/>
            <a:rect l="l" t="t" r="r" b="b"/>
            <a:pathLst>
              <a:path w="1582420" h="466725">
                <a:moveTo>
                  <a:pt x="0" y="0"/>
                </a:moveTo>
                <a:lnTo>
                  <a:pt x="0" y="466343"/>
                </a:lnTo>
                <a:lnTo>
                  <a:pt x="1581911" y="466343"/>
                </a:lnTo>
                <a:lnTo>
                  <a:pt x="1581911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560064" y="3822192"/>
            <a:ext cx="1728470" cy="466725"/>
          </a:xfrm>
          <a:custGeom>
            <a:avLst/>
            <a:gdLst/>
            <a:ahLst/>
            <a:cxnLst/>
            <a:rect l="l" t="t" r="r" b="b"/>
            <a:pathLst>
              <a:path w="1728470" h="466725">
                <a:moveTo>
                  <a:pt x="0" y="0"/>
                </a:moveTo>
                <a:lnTo>
                  <a:pt x="0" y="466343"/>
                </a:lnTo>
                <a:lnTo>
                  <a:pt x="1728215" y="466343"/>
                </a:lnTo>
                <a:lnTo>
                  <a:pt x="1728215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03320" y="4974336"/>
            <a:ext cx="1442085" cy="466725"/>
          </a:xfrm>
          <a:custGeom>
            <a:avLst/>
            <a:gdLst/>
            <a:ahLst/>
            <a:cxnLst/>
            <a:rect l="l" t="t" r="r" b="b"/>
            <a:pathLst>
              <a:path w="1442085" h="466725">
                <a:moveTo>
                  <a:pt x="0" y="0"/>
                </a:moveTo>
                <a:lnTo>
                  <a:pt x="0" y="466343"/>
                </a:lnTo>
                <a:lnTo>
                  <a:pt x="1441703" y="466343"/>
                </a:lnTo>
                <a:lnTo>
                  <a:pt x="1441703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47944" y="4398264"/>
            <a:ext cx="1515110" cy="466725"/>
          </a:xfrm>
          <a:custGeom>
            <a:avLst/>
            <a:gdLst/>
            <a:ahLst/>
            <a:cxnLst/>
            <a:rect l="l" t="t" r="r" b="b"/>
            <a:pathLst>
              <a:path w="1515109" h="466725">
                <a:moveTo>
                  <a:pt x="0" y="0"/>
                </a:moveTo>
                <a:lnTo>
                  <a:pt x="0" y="466343"/>
                </a:lnTo>
                <a:lnTo>
                  <a:pt x="1514855" y="466343"/>
                </a:lnTo>
                <a:lnTo>
                  <a:pt x="1514855" y="0"/>
                </a:ln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855723" y="3660140"/>
            <a:ext cx="5167630" cy="1735455"/>
          </a:xfrm>
          <a:prstGeom prst="rect">
            <a:avLst/>
          </a:prstGeom>
        </p:spPr>
        <p:txBody>
          <a:bodyPr wrap="square" lIns="0" tIns="222885" rIns="0" bIns="0" rtlCol="0" vert="horz">
            <a:spAutoFit/>
          </a:bodyPr>
          <a:lstStyle/>
          <a:p>
            <a:pPr algn="ctr" marR="25400">
              <a:lnSpc>
                <a:spcPct val="100000"/>
              </a:lnSpc>
              <a:spcBef>
                <a:spcPts val="1755"/>
              </a:spcBef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分解与落实</a:t>
            </a:r>
            <a:endParaRPr sz="2400">
              <a:latin typeface="Microsoft JhengHei"/>
              <a:cs typeface="Microsoft JhengHei"/>
            </a:endParaRPr>
          </a:p>
          <a:p>
            <a:pPr algn="ctr" marL="12700" marR="5080">
              <a:lnSpc>
                <a:spcPct val="152500"/>
              </a:lnSpc>
              <a:spcBef>
                <a:spcPts val="145"/>
              </a:spcBef>
              <a:tabLst>
                <a:tab pos="822960" algn="l"/>
                <a:tab pos="1579245" algn="l"/>
                <a:tab pos="3751579" algn="l"/>
                <a:tab pos="3935095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全面预算	</a:t>
            </a:r>
            <a:r>
              <a:rPr dirty="0" u="heavy" sz="24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	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责任预算 反	馈</a:t>
            </a:r>
            <a:endParaRPr sz="24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9371" y="2005076"/>
            <a:ext cx="1854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控制：建立责</a:t>
            </a:r>
            <a:endParaRPr sz="2400">
              <a:latin typeface="Microsoft JhengHei"/>
              <a:cs typeface="Microsoft JhengHe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8779" y="1460727"/>
            <a:ext cx="5951220" cy="271589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预算的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执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行与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控制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过程</a:t>
            </a:r>
            <a:endParaRPr sz="2800">
              <a:latin typeface="Microsoft JhengHei"/>
              <a:cs typeface="Microsoft JhengHei"/>
            </a:endParaRPr>
          </a:p>
          <a:p>
            <a:pPr lvl="1" marL="756285" marR="5080" indent="-287020">
              <a:lnSpc>
                <a:spcPct val="105000"/>
              </a:lnSpc>
              <a:spcBef>
                <a:spcPts val="280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利用会计、统计等信息进行实时、动态 任会计信息系统</a:t>
            </a:r>
            <a:endParaRPr sz="2400">
              <a:latin typeface="Microsoft JhengHei"/>
              <a:cs typeface="Microsoft JhengHei"/>
            </a:endParaRPr>
          </a:p>
          <a:p>
            <a:pPr lvl="2" marL="1576705" indent="-650240">
              <a:lnSpc>
                <a:spcPct val="100000"/>
              </a:lnSpc>
              <a:spcBef>
                <a:spcPts val="1240"/>
              </a:spcBef>
              <a:buSzPct val="95000"/>
              <a:buAutoNum type="arabicPlain"/>
              <a:tabLst>
                <a:tab pos="1577340" algn="l"/>
              </a:tabLst>
            </a:pP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外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部控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制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：上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级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对下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级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的控制</a:t>
            </a:r>
            <a:endParaRPr sz="2000">
              <a:latin typeface="Microsoft JhengHei"/>
              <a:cs typeface="Microsoft JhengHei"/>
            </a:endParaRPr>
          </a:p>
          <a:p>
            <a:pPr lvl="2" marL="1576705" indent="-650240">
              <a:lnSpc>
                <a:spcPct val="100000"/>
              </a:lnSpc>
              <a:spcBef>
                <a:spcPts val="1370"/>
              </a:spcBef>
              <a:buSzPct val="95000"/>
              <a:buAutoNum type="arabicPlain"/>
              <a:tabLst>
                <a:tab pos="1577340" algn="l"/>
              </a:tabLst>
            </a:pP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自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我控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制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：责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任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单位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（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中心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）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的自控</a:t>
            </a:r>
            <a:endParaRPr sz="2000">
              <a:latin typeface="Microsoft JhengHei"/>
              <a:cs typeface="Microsoft JhengHei"/>
            </a:endParaRPr>
          </a:p>
          <a:p>
            <a:pPr lvl="1" marL="756285" indent="-287655">
              <a:lnSpc>
                <a:spcPct val="100000"/>
              </a:lnSpc>
              <a:spcBef>
                <a:spcPts val="70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预算差异分析：执行结果与预算的对比</a:t>
            </a:r>
            <a:endParaRPr sz="240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5980" y="4224020"/>
            <a:ext cx="7627620" cy="190817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299085" marR="5080" indent="-287020">
              <a:lnSpc>
                <a:spcPts val="2740"/>
              </a:lnSpc>
              <a:spcBef>
                <a:spcPts val="305"/>
              </a:spcBef>
              <a:buClr>
                <a:srgbClr val="FF6600"/>
              </a:buClr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预算差异调查：产生差异原因的调查与责任的归属（注 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意</a:t>
            </a:r>
            <a:r>
              <a:rPr dirty="0" sz="2400" spc="-25" b="1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责任归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属</a:t>
            </a:r>
            <a:r>
              <a:rPr dirty="0" sz="2400" spc="-25" b="1">
                <a:solidFill>
                  <a:srgbClr val="FFFFFF"/>
                </a:solidFill>
                <a:latin typeface="Arial"/>
                <a:cs typeface="Arial"/>
              </a:rPr>
              <a:t>”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的滞后性）</a:t>
            </a:r>
            <a:endParaRPr sz="2400">
              <a:latin typeface="Microsoft JhengHei"/>
              <a:cs typeface="Microsoft JhengHei"/>
            </a:endParaRPr>
          </a:p>
          <a:p>
            <a:pPr marL="299085" indent="-287020">
              <a:lnSpc>
                <a:spcPct val="100000"/>
              </a:lnSpc>
              <a:spcBef>
                <a:spcPts val="480"/>
              </a:spcBef>
              <a:buClr>
                <a:srgbClr val="FF6600"/>
              </a:buClr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利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用</a:t>
            </a:r>
            <a:r>
              <a:rPr dirty="0" sz="2400" spc="-25" b="1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例外管理原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理</a:t>
            </a:r>
            <a:r>
              <a:rPr dirty="0" sz="2400" spc="-25" b="1">
                <a:solidFill>
                  <a:srgbClr val="FFFFFF"/>
                </a:solidFill>
                <a:latin typeface="Arial"/>
                <a:cs typeface="Arial"/>
              </a:rPr>
              <a:t>”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纠正偏差</a:t>
            </a:r>
            <a:endParaRPr sz="2400">
              <a:latin typeface="Microsoft JhengHei"/>
              <a:cs typeface="Microsoft JhengHei"/>
            </a:endParaRPr>
          </a:p>
          <a:p>
            <a:pPr lvl="1" marL="1119505" indent="-650240">
              <a:lnSpc>
                <a:spcPct val="100000"/>
              </a:lnSpc>
              <a:spcBef>
                <a:spcPts val="495"/>
              </a:spcBef>
              <a:buSzPct val="95000"/>
              <a:buAutoNum type="arabicPlain"/>
              <a:tabLst>
                <a:tab pos="1120140" algn="l"/>
              </a:tabLst>
            </a:pP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检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讨与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调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整预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（注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意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：应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严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格限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制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预算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调整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权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）</a:t>
            </a:r>
            <a:endParaRPr sz="2000">
              <a:latin typeface="Microsoft JhengHei"/>
              <a:cs typeface="Microsoft JhengHei"/>
            </a:endParaRPr>
          </a:p>
          <a:p>
            <a:pPr lvl="1" marL="1119505" indent="-650240">
              <a:lnSpc>
                <a:spcPct val="100000"/>
              </a:lnSpc>
              <a:spcBef>
                <a:spcPts val="480"/>
              </a:spcBef>
              <a:buSzPct val="95000"/>
              <a:buAutoNum type="arabicPlain"/>
              <a:tabLst>
                <a:tab pos="1120140" algn="l"/>
              </a:tabLst>
            </a:pP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消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除差异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26995" y="593852"/>
            <a:ext cx="48844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 b="0">
                <a:latin typeface="宋体"/>
                <a:cs typeface="宋体"/>
              </a:rPr>
              <a:t>预算管</a:t>
            </a:r>
            <a:r>
              <a:rPr dirty="0" spc="-20" b="0">
                <a:latin typeface="宋体"/>
                <a:cs typeface="宋体"/>
              </a:rPr>
              <a:t>理</a:t>
            </a:r>
            <a:r>
              <a:rPr dirty="0" spc="5" b="0">
                <a:latin typeface="宋体"/>
                <a:cs typeface="宋体"/>
              </a:rPr>
              <a:t>循</a:t>
            </a:r>
            <a:r>
              <a:rPr dirty="0" spc="-20" b="0">
                <a:latin typeface="宋体"/>
                <a:cs typeface="宋体"/>
              </a:rPr>
              <a:t>环</a:t>
            </a:r>
            <a:r>
              <a:rPr dirty="0" spc="5" b="0">
                <a:latin typeface="宋体"/>
                <a:cs typeface="宋体"/>
              </a:rPr>
              <a:t>（续</a:t>
            </a:r>
            <a:r>
              <a:rPr dirty="0" b="0">
                <a:latin typeface="Arial"/>
                <a:cs typeface="Arial"/>
              </a:rPr>
              <a:t>1</a:t>
            </a:r>
            <a:r>
              <a:rPr dirty="0" spc="5" b="0">
                <a:latin typeface="宋体"/>
                <a:cs typeface="宋体"/>
              </a:rPr>
              <a:t>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79" y="1369226"/>
            <a:ext cx="8389620" cy="382841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77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预算的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评与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励</a:t>
            </a:r>
            <a:endParaRPr sz="2800">
              <a:latin typeface="宋体"/>
              <a:cs typeface="宋体"/>
            </a:endParaRPr>
          </a:p>
          <a:p>
            <a:pPr lvl="1" marL="756285" indent="-287655">
              <a:lnSpc>
                <a:spcPct val="100000"/>
              </a:lnSpc>
              <a:spcBef>
                <a:spcPts val="56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建立一套良好的业绩评价系统</a:t>
            </a:r>
            <a:endParaRPr sz="2400">
              <a:latin typeface="Microsoft JhengHei"/>
              <a:cs typeface="Microsoft JhengHei"/>
            </a:endParaRPr>
          </a:p>
          <a:p>
            <a:pPr lvl="1" marL="756285" indent="-287655">
              <a:lnSpc>
                <a:spcPct val="100000"/>
              </a:lnSpc>
              <a:spcBef>
                <a:spcPts val="55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建立一套激励与约束兼容的奖惩制度</a:t>
            </a:r>
            <a:endParaRPr sz="2400">
              <a:latin typeface="Microsoft JhengHei"/>
              <a:cs typeface="Microsoft JhengHei"/>
            </a:endParaRPr>
          </a:p>
          <a:p>
            <a:pPr algn="ctr" marL="481330">
              <a:lnSpc>
                <a:spcPct val="100000"/>
              </a:lnSpc>
              <a:spcBef>
                <a:spcPts val="395"/>
              </a:spcBef>
            </a:pPr>
            <a:r>
              <a:rPr dirty="0" sz="2100" spc="-90" b="1">
                <a:solidFill>
                  <a:srgbClr val="FFFFFF"/>
                </a:solidFill>
                <a:latin typeface="Microsoft JhengHei"/>
                <a:cs typeface="Microsoft JhengHei"/>
              </a:rPr>
              <a:t>（</a:t>
            </a:r>
            <a:r>
              <a:rPr dirty="0" sz="2100" spc="-110" b="1">
                <a:solidFill>
                  <a:srgbClr val="FFFFFF"/>
                </a:solidFill>
                <a:latin typeface="Microsoft JhengHei"/>
                <a:cs typeface="Microsoft JhengHei"/>
              </a:rPr>
              <a:t>不能</a:t>
            </a:r>
            <a:r>
              <a:rPr dirty="0" sz="2100" spc="-90" b="1">
                <a:solidFill>
                  <a:srgbClr val="FFFFFF"/>
                </a:solidFill>
                <a:latin typeface="Microsoft JhengHei"/>
                <a:cs typeface="Microsoft JhengHei"/>
              </a:rPr>
              <a:t>事</a:t>
            </a:r>
            <a:r>
              <a:rPr dirty="0" sz="2100" spc="-110" b="1">
                <a:solidFill>
                  <a:srgbClr val="FFFFFF"/>
                </a:solidFill>
                <a:latin typeface="Microsoft JhengHei"/>
                <a:cs typeface="Microsoft JhengHei"/>
              </a:rPr>
              <a:t>后定</a:t>
            </a:r>
            <a:r>
              <a:rPr dirty="0" sz="2100" spc="-90" b="1">
                <a:solidFill>
                  <a:srgbClr val="FFFFFF"/>
                </a:solidFill>
                <a:latin typeface="Microsoft JhengHei"/>
                <a:cs typeface="Microsoft JhengHei"/>
              </a:rPr>
              <a:t>奖</a:t>
            </a:r>
            <a:r>
              <a:rPr dirty="0" sz="2100" spc="-110" b="1">
                <a:solidFill>
                  <a:srgbClr val="FFFFFF"/>
                </a:solidFill>
                <a:latin typeface="Microsoft JhengHei"/>
                <a:cs typeface="Microsoft JhengHei"/>
              </a:rPr>
              <a:t>惩的</a:t>
            </a:r>
            <a:r>
              <a:rPr dirty="0" sz="2100" spc="-90" b="1">
                <a:solidFill>
                  <a:srgbClr val="FFFFFF"/>
                </a:solidFill>
                <a:latin typeface="Microsoft JhengHei"/>
                <a:cs typeface="Microsoft JhengHei"/>
              </a:rPr>
              <a:t>规</a:t>
            </a:r>
            <a:r>
              <a:rPr dirty="0" sz="2100" spc="-110" b="1">
                <a:solidFill>
                  <a:srgbClr val="FFFFFF"/>
                </a:solidFill>
                <a:latin typeface="Microsoft JhengHei"/>
                <a:cs typeface="Microsoft JhengHei"/>
              </a:rPr>
              <a:t>矩）</a:t>
            </a:r>
            <a:endParaRPr sz="2100">
              <a:latin typeface="Microsoft JhengHei"/>
              <a:cs typeface="Microsoft JhengHei"/>
            </a:endParaRPr>
          </a:p>
          <a:p>
            <a:pPr lvl="1" marL="756285" indent="-287655">
              <a:lnSpc>
                <a:spcPct val="100000"/>
              </a:lnSpc>
              <a:spcBef>
                <a:spcPts val="56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建立制度时应贯彻的指导原则</a:t>
            </a:r>
            <a:endParaRPr sz="2400">
              <a:latin typeface="Microsoft JhengHei"/>
              <a:cs typeface="Microsoft JhengHei"/>
            </a:endParaRPr>
          </a:p>
          <a:p>
            <a:pPr marL="741045">
              <a:lnSpc>
                <a:spcPct val="100000"/>
              </a:lnSpc>
              <a:spcBef>
                <a:spcPts val="275"/>
              </a:spcBef>
            </a:pPr>
            <a:r>
              <a:rPr dirty="0" sz="2100" spc="-90" b="1">
                <a:solidFill>
                  <a:srgbClr val="FFFFFF"/>
                </a:solidFill>
                <a:latin typeface="Microsoft JhengHei"/>
                <a:cs typeface="Microsoft JhengHei"/>
              </a:rPr>
              <a:t>目</a:t>
            </a:r>
            <a:r>
              <a:rPr dirty="0" sz="2100" spc="-110" b="1">
                <a:solidFill>
                  <a:srgbClr val="FFFFFF"/>
                </a:solidFill>
                <a:latin typeface="Microsoft JhengHei"/>
                <a:cs typeface="Microsoft JhengHei"/>
              </a:rPr>
              <a:t>标一</a:t>
            </a:r>
            <a:r>
              <a:rPr dirty="0" sz="2100" spc="-90" b="1">
                <a:solidFill>
                  <a:srgbClr val="FFFFFF"/>
                </a:solidFill>
                <a:latin typeface="Microsoft JhengHei"/>
                <a:cs typeface="Microsoft JhengHei"/>
              </a:rPr>
              <a:t>致</a:t>
            </a:r>
            <a:r>
              <a:rPr dirty="0" sz="2100" spc="-110" b="1">
                <a:solidFill>
                  <a:srgbClr val="FFFFFF"/>
                </a:solidFill>
                <a:latin typeface="Microsoft JhengHei"/>
                <a:cs typeface="Microsoft JhengHei"/>
              </a:rPr>
              <a:t>、激</a:t>
            </a:r>
            <a:r>
              <a:rPr dirty="0" sz="2100" spc="-90" b="1">
                <a:solidFill>
                  <a:srgbClr val="FFFFFF"/>
                </a:solidFill>
                <a:latin typeface="Microsoft JhengHei"/>
                <a:cs typeface="Microsoft JhengHei"/>
              </a:rPr>
              <a:t>励</a:t>
            </a:r>
            <a:r>
              <a:rPr dirty="0" sz="2100" spc="-110" b="1">
                <a:solidFill>
                  <a:srgbClr val="FFFFFF"/>
                </a:solidFill>
                <a:latin typeface="Microsoft JhengHei"/>
                <a:cs typeface="Microsoft JhengHei"/>
              </a:rPr>
              <a:t>与约</a:t>
            </a:r>
            <a:r>
              <a:rPr dirty="0" sz="2100" spc="-90" b="1">
                <a:solidFill>
                  <a:srgbClr val="FFFFFF"/>
                </a:solidFill>
                <a:latin typeface="Microsoft JhengHei"/>
                <a:cs typeface="Microsoft JhengHei"/>
              </a:rPr>
              <a:t>束</a:t>
            </a:r>
            <a:r>
              <a:rPr dirty="0" sz="2100" spc="-110" b="1">
                <a:solidFill>
                  <a:srgbClr val="FFFFFF"/>
                </a:solidFill>
                <a:latin typeface="Microsoft JhengHei"/>
                <a:cs typeface="Microsoft JhengHei"/>
              </a:rPr>
              <a:t>兼容</a:t>
            </a:r>
            <a:r>
              <a:rPr dirty="0" sz="2100" spc="-90" b="1">
                <a:solidFill>
                  <a:srgbClr val="FFFFFF"/>
                </a:solidFill>
                <a:latin typeface="Microsoft JhengHei"/>
                <a:cs typeface="Microsoft JhengHei"/>
              </a:rPr>
              <a:t>、</a:t>
            </a:r>
            <a:r>
              <a:rPr dirty="0" sz="2100" spc="-110" b="1">
                <a:solidFill>
                  <a:srgbClr val="FFFFFF"/>
                </a:solidFill>
                <a:latin typeface="Microsoft JhengHei"/>
                <a:cs typeface="Microsoft JhengHei"/>
              </a:rPr>
              <a:t>及时</a:t>
            </a:r>
            <a:r>
              <a:rPr dirty="0" sz="2100" spc="-90" b="1">
                <a:solidFill>
                  <a:srgbClr val="FFFFFF"/>
                </a:solidFill>
                <a:latin typeface="Microsoft JhengHei"/>
                <a:cs typeface="Microsoft JhengHei"/>
              </a:rPr>
              <a:t>兑</a:t>
            </a:r>
            <a:r>
              <a:rPr dirty="0" sz="2100" spc="-110" b="1">
                <a:solidFill>
                  <a:srgbClr val="FFFFFF"/>
                </a:solidFill>
                <a:latin typeface="Microsoft JhengHei"/>
                <a:cs typeface="Microsoft JhengHei"/>
              </a:rPr>
              <a:t>现</a:t>
            </a:r>
            <a:r>
              <a:rPr dirty="0" sz="2100" spc="20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100" spc="-110" b="1">
                <a:solidFill>
                  <a:srgbClr val="FFFFFF"/>
                </a:solidFill>
                <a:latin typeface="Microsoft JhengHei"/>
                <a:cs typeface="Microsoft JhengHei"/>
              </a:rPr>
              <a:t>、</a:t>
            </a:r>
            <a:r>
              <a:rPr dirty="0" sz="2100" spc="-90" b="1">
                <a:solidFill>
                  <a:srgbClr val="FFFFFF"/>
                </a:solidFill>
                <a:latin typeface="Microsoft JhengHei"/>
                <a:cs typeface="Microsoft JhengHei"/>
              </a:rPr>
              <a:t>例</a:t>
            </a:r>
            <a:r>
              <a:rPr dirty="0" sz="2100" spc="-110" b="1">
                <a:solidFill>
                  <a:srgbClr val="FFFFFF"/>
                </a:solidFill>
                <a:latin typeface="Microsoft JhengHei"/>
                <a:cs typeface="Microsoft JhengHei"/>
              </a:rPr>
              <a:t>外管</a:t>
            </a:r>
            <a:r>
              <a:rPr dirty="0" sz="2100" spc="-90" b="1">
                <a:solidFill>
                  <a:srgbClr val="FFFFFF"/>
                </a:solidFill>
                <a:latin typeface="Microsoft JhengHei"/>
                <a:cs typeface="Microsoft JhengHei"/>
              </a:rPr>
              <a:t>理</a:t>
            </a:r>
            <a:r>
              <a:rPr dirty="0" sz="2100" spc="-110" b="1">
                <a:solidFill>
                  <a:srgbClr val="FFFFFF"/>
                </a:solidFill>
                <a:latin typeface="Microsoft JhengHei"/>
                <a:cs typeface="Microsoft JhengHei"/>
              </a:rPr>
              <a:t>、分</a:t>
            </a:r>
            <a:r>
              <a:rPr dirty="0" sz="2100" spc="-90" b="1">
                <a:solidFill>
                  <a:srgbClr val="FFFFFF"/>
                </a:solidFill>
                <a:latin typeface="Microsoft JhengHei"/>
                <a:cs typeface="Microsoft JhengHei"/>
              </a:rPr>
              <a:t>级</a:t>
            </a:r>
            <a:r>
              <a:rPr dirty="0" sz="2100" spc="-110" b="1">
                <a:solidFill>
                  <a:srgbClr val="FFFFFF"/>
                </a:solidFill>
                <a:latin typeface="Microsoft JhengHei"/>
                <a:cs typeface="Microsoft JhengHei"/>
              </a:rPr>
              <a:t>考评</a:t>
            </a:r>
            <a:endParaRPr sz="2100">
              <a:latin typeface="Microsoft JhengHei"/>
              <a:cs typeface="Microsoft JhengHei"/>
            </a:endParaRPr>
          </a:p>
          <a:p>
            <a:pPr lvl="1" marL="756285" indent="-287655">
              <a:lnSpc>
                <a:spcPct val="100000"/>
              </a:lnSpc>
              <a:spcBef>
                <a:spcPts val="660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严格执行制度，贵在</a:t>
            </a:r>
            <a:r>
              <a:rPr dirty="0" sz="2400" b="1">
                <a:solidFill>
                  <a:srgbClr val="99CC00"/>
                </a:solidFill>
                <a:latin typeface="Microsoft JhengHei"/>
                <a:cs typeface="Microsoft JhengHei"/>
              </a:rPr>
              <a:t>持之以恒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（否则制度将形同虚设）</a:t>
            </a:r>
            <a:endParaRPr sz="2400">
              <a:latin typeface="Microsoft JhengHei"/>
              <a:cs typeface="Microsoft JhengHei"/>
            </a:endParaRPr>
          </a:p>
          <a:p>
            <a:pPr lvl="1" marL="756285" marR="5080" indent="-287020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修订制度，使之适应变化了的情况（不能墨守成规），并 持续改进预算管理</a:t>
            </a:r>
            <a:endParaRPr sz="2400">
              <a:latin typeface="Microsoft JhengHei"/>
              <a:cs typeface="Microsoft JhengHe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26995" y="593852"/>
            <a:ext cx="488442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 b="0">
                <a:latin typeface="宋体"/>
                <a:cs typeface="宋体"/>
              </a:rPr>
              <a:t>预算管</a:t>
            </a:r>
            <a:r>
              <a:rPr dirty="0" spc="-20" b="0">
                <a:latin typeface="宋体"/>
                <a:cs typeface="宋体"/>
              </a:rPr>
              <a:t>理</a:t>
            </a:r>
            <a:r>
              <a:rPr dirty="0" spc="5" b="0">
                <a:latin typeface="宋体"/>
                <a:cs typeface="宋体"/>
              </a:rPr>
              <a:t>循</a:t>
            </a:r>
            <a:r>
              <a:rPr dirty="0" spc="-20" b="0">
                <a:latin typeface="宋体"/>
                <a:cs typeface="宋体"/>
              </a:rPr>
              <a:t>环</a:t>
            </a:r>
            <a:r>
              <a:rPr dirty="0" spc="5" b="0">
                <a:latin typeface="宋体"/>
                <a:cs typeface="宋体"/>
              </a:rPr>
              <a:t>（续</a:t>
            </a:r>
            <a:r>
              <a:rPr dirty="0" b="0">
                <a:latin typeface="Arial"/>
                <a:cs typeface="Arial"/>
              </a:rPr>
              <a:t>2</a:t>
            </a:r>
            <a:r>
              <a:rPr dirty="0" spc="5" b="0">
                <a:latin typeface="宋体"/>
                <a:cs typeface="宋体"/>
              </a:rPr>
              <a:t>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658823"/>
            <a:ext cx="7127240" cy="207391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77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规划（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源配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置；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发现瓶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沟通与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调（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保证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信息交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确与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效率</a:t>
            </a:r>
            <a:r>
              <a:rPr dirty="0" sz="2800" spc="-217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50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激励与</a:t>
            </a:r>
            <a:r>
              <a:rPr dirty="0" sz="2800" spc="-64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控制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84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业绩考评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9267" y="62433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 b="0">
                <a:latin typeface="宋体"/>
                <a:cs typeface="宋体"/>
              </a:rPr>
              <a:t>预算管</a:t>
            </a:r>
            <a:r>
              <a:rPr dirty="0" spc="-20" b="0">
                <a:latin typeface="宋体"/>
                <a:cs typeface="宋体"/>
              </a:rPr>
              <a:t>理</a:t>
            </a:r>
            <a:r>
              <a:rPr dirty="0" spc="5" b="0">
                <a:latin typeface="宋体"/>
                <a:cs typeface="宋体"/>
              </a:rPr>
              <a:t>的</a:t>
            </a:r>
            <a:r>
              <a:rPr dirty="0" spc="-20" b="0">
                <a:latin typeface="宋体"/>
                <a:cs typeface="宋体"/>
              </a:rPr>
              <a:t>职</a:t>
            </a:r>
            <a:r>
              <a:rPr dirty="0" spc="5" b="0">
                <a:latin typeface="宋体"/>
                <a:cs typeface="宋体"/>
              </a:rPr>
              <a:t>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6051" y="712724"/>
            <a:ext cx="32258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0">
                <a:latin typeface="宋体"/>
                <a:cs typeface="宋体"/>
              </a:rPr>
              <a:t>预算管理的作用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8883" y="1630172"/>
            <a:ext cx="8425815" cy="3308350"/>
          </a:xfrm>
          <a:prstGeom prst="rect">
            <a:avLst/>
          </a:prstGeom>
        </p:spPr>
        <p:txBody>
          <a:bodyPr wrap="square" lIns="0" tIns="192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z="2400" spc="5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、促进企业决策科学化，提高企业创造价值的能力。</a:t>
            </a:r>
            <a:endParaRPr sz="24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2400" spc="5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、形成明确的目标体系，增强激励效果。</a:t>
            </a:r>
            <a:endParaRPr sz="24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 spc="5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、激发自我管理，让高层管理者专注于企业战略管理。</a:t>
            </a:r>
            <a:endParaRPr sz="24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 spc="5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、建立良好的信息交流网络，使企业各部门协调一致。</a:t>
            </a:r>
            <a:endParaRPr sz="24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2400" spc="5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、实施全员、全过程、全方位的控制，可增加控制的有效性。</a:t>
            </a:r>
            <a:endParaRPr sz="24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 spc="5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、正确、及时考评各部门的业绩，使得奖罚分明、公平合理。</a:t>
            </a:r>
            <a:endParaRPr sz="24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6220" y="602996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预算管</a:t>
            </a:r>
            <a:r>
              <a:rPr dirty="0" spc="-20"/>
              <a:t>理</a:t>
            </a:r>
            <a:r>
              <a:rPr dirty="0" spc="5"/>
              <a:t>的</a:t>
            </a:r>
            <a:r>
              <a:rPr dirty="0" spc="-20"/>
              <a:t>组</a:t>
            </a:r>
            <a:r>
              <a:rPr dirty="0" spc="5"/>
              <a:t>织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5627" y="1566164"/>
            <a:ext cx="8349615" cy="349186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356870" marR="5080" indent="-344805">
              <a:lnSpc>
                <a:spcPct val="83500"/>
              </a:lnSpc>
              <a:spcBef>
                <a:spcPts val="660"/>
              </a:spcBef>
            </a:pP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、预算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管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理委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员会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可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作为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董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事会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或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总经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理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的下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属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机构， 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是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预算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管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理的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最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高权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力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机关。</a:t>
            </a:r>
            <a:endParaRPr sz="2600">
              <a:latin typeface="Microsoft JhengHei"/>
              <a:cs typeface="Microsoft JhengHei"/>
            </a:endParaRPr>
          </a:p>
          <a:p>
            <a:pPr marL="12700">
              <a:lnSpc>
                <a:spcPts val="3279"/>
              </a:lnSpc>
            </a:pP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、预算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专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门办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事机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构</a:t>
            </a:r>
            <a:endParaRPr sz="2800">
              <a:latin typeface="Microsoft JhengHei"/>
              <a:cs typeface="Microsoft JhengHei"/>
            </a:endParaRPr>
          </a:p>
          <a:p>
            <a:pPr algn="ctr" marL="301625">
              <a:lnSpc>
                <a:spcPct val="100000"/>
              </a:lnSpc>
              <a:spcBef>
                <a:spcPts val="10"/>
              </a:spcBef>
            </a:pP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预算管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理的日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常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工作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机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构，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隶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属于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预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算管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理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委</a:t>
            </a:r>
            <a:endParaRPr sz="2600">
              <a:latin typeface="Microsoft JhengHei"/>
              <a:cs typeface="Microsoft JhengHei"/>
            </a:endParaRPr>
          </a:p>
          <a:p>
            <a:pPr marL="12700">
              <a:lnSpc>
                <a:spcPts val="3354"/>
              </a:lnSpc>
              <a:spcBef>
                <a:spcPts val="15"/>
              </a:spcBef>
            </a:pP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、预算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管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理责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任网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络：责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任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中心</a:t>
            </a:r>
            <a:endParaRPr sz="2800">
              <a:latin typeface="Microsoft JhengHei"/>
              <a:cs typeface="Microsoft JhengHei"/>
            </a:endParaRPr>
          </a:p>
          <a:p>
            <a:pPr marL="1250315" indent="-781050">
              <a:lnSpc>
                <a:spcPts val="2875"/>
              </a:lnSpc>
              <a:buSzPct val="95833"/>
              <a:buAutoNum type="arabicPlain"/>
              <a:tabLst>
                <a:tab pos="1250950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投资中心</a:t>
            </a:r>
            <a:endParaRPr sz="2400">
              <a:latin typeface="Microsoft JhengHei"/>
              <a:cs typeface="Microsoft JhengHei"/>
            </a:endParaRPr>
          </a:p>
          <a:p>
            <a:pPr marL="1250315" indent="-781050">
              <a:lnSpc>
                <a:spcPts val="2870"/>
              </a:lnSpc>
              <a:buSzPct val="95833"/>
              <a:buAutoNum type="arabicPlain"/>
              <a:tabLst>
                <a:tab pos="1250950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利润中心</a:t>
            </a:r>
            <a:endParaRPr sz="2400">
              <a:latin typeface="Microsoft JhengHei"/>
              <a:cs typeface="Microsoft JhengHei"/>
            </a:endParaRPr>
          </a:p>
          <a:p>
            <a:pPr marL="1250315" indent="-781050">
              <a:lnSpc>
                <a:spcPts val="2830"/>
              </a:lnSpc>
              <a:buSzPct val="95833"/>
              <a:buAutoNum type="arabicPlain"/>
              <a:tabLst>
                <a:tab pos="1250950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成本中心</a:t>
            </a:r>
            <a:endParaRPr sz="2400">
              <a:latin typeface="Microsoft JhengHei"/>
              <a:cs typeface="Microsoft JhengHei"/>
            </a:endParaRPr>
          </a:p>
          <a:p>
            <a:pPr marL="1764664">
              <a:lnSpc>
                <a:spcPts val="2960"/>
              </a:lnSpc>
            </a:pPr>
            <a:r>
              <a:rPr dirty="0" sz="2500" spc="-100" b="1">
                <a:solidFill>
                  <a:srgbClr val="FFFFFF"/>
                </a:solidFill>
                <a:latin typeface="Microsoft JhengHei"/>
                <a:cs typeface="Microsoft JhengHei"/>
              </a:rPr>
              <a:t>责任中心之间的联系纽带：转移价格</a:t>
            </a:r>
            <a:endParaRPr sz="25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739" y="645668"/>
            <a:ext cx="7459980" cy="62166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900" spc="10"/>
              <a:t>实施</a:t>
            </a:r>
            <a:r>
              <a:rPr dirty="0" sz="3900" spc="-15"/>
              <a:t>预</a:t>
            </a:r>
            <a:r>
              <a:rPr dirty="0" sz="3900" spc="10"/>
              <a:t>算</a:t>
            </a:r>
            <a:r>
              <a:rPr dirty="0" sz="3900" spc="-15"/>
              <a:t>管理</a:t>
            </a:r>
            <a:r>
              <a:rPr dirty="0" sz="3900" spc="10"/>
              <a:t>的企</a:t>
            </a:r>
            <a:r>
              <a:rPr dirty="0" sz="3900" spc="-15"/>
              <a:t>业</a:t>
            </a:r>
            <a:r>
              <a:rPr dirty="0" sz="3900" spc="10"/>
              <a:t>内</a:t>
            </a:r>
            <a:r>
              <a:rPr dirty="0" sz="3900" spc="-15"/>
              <a:t>部制</a:t>
            </a:r>
            <a:r>
              <a:rPr dirty="0" sz="3900" spc="10"/>
              <a:t>度环境</a:t>
            </a:r>
            <a:endParaRPr sz="39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192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275"/>
              </a:spcBef>
              <a:buClr>
                <a:srgbClr val="FF6600"/>
              </a:buClr>
              <a:buFont typeface="Wingdings"/>
              <a:buChar char="►"/>
              <a:tabLst>
                <a:tab pos="358140" algn="l"/>
              </a:tabLst>
            </a:pPr>
            <a:r>
              <a:rPr dirty="0" spc="5"/>
              <a:t>健全会</a:t>
            </a:r>
            <a:r>
              <a:rPr dirty="0" spc="-20"/>
              <a:t>计</a:t>
            </a:r>
            <a:r>
              <a:rPr dirty="0" spc="5"/>
              <a:t>（特</a:t>
            </a:r>
            <a:r>
              <a:rPr dirty="0" spc="-20"/>
              <a:t>别是</a:t>
            </a:r>
            <a:r>
              <a:rPr dirty="0" spc="5"/>
              <a:t>管理会</a:t>
            </a:r>
            <a:r>
              <a:rPr dirty="0" spc="-20"/>
              <a:t>计</a:t>
            </a:r>
            <a:r>
              <a:rPr dirty="0" spc="5"/>
              <a:t>）与</a:t>
            </a:r>
            <a:r>
              <a:rPr dirty="0" spc="-20"/>
              <a:t>财务</a:t>
            </a:r>
            <a:r>
              <a:rPr dirty="0" spc="5"/>
              <a:t>管理制</a:t>
            </a:r>
            <a:r>
              <a:rPr dirty="0" spc="-20"/>
              <a:t>度</a:t>
            </a:r>
            <a:r>
              <a:rPr dirty="0" spc="5"/>
              <a:t>。</a:t>
            </a:r>
          </a:p>
          <a:p>
            <a:pPr marL="356870" marR="5080" indent="-344805">
              <a:lnSpc>
                <a:spcPct val="135000"/>
              </a:lnSpc>
              <a:buClr>
                <a:srgbClr val="FF6600"/>
              </a:buClr>
              <a:buFont typeface="Wingdings"/>
              <a:buChar char="►"/>
              <a:tabLst>
                <a:tab pos="358140" algn="l"/>
              </a:tabLst>
            </a:pPr>
            <a:r>
              <a:rPr dirty="0" spc="125"/>
              <a:t>建立</a:t>
            </a:r>
            <a:r>
              <a:rPr dirty="0" spc="100" b="0">
                <a:latin typeface="宋体"/>
                <a:cs typeface="宋体"/>
              </a:rPr>
              <a:t>全员参与</a:t>
            </a:r>
            <a:r>
              <a:rPr dirty="0" spc="125"/>
              <a:t>的</a:t>
            </a:r>
            <a:r>
              <a:rPr dirty="0" spc="100"/>
              <a:t>预</a:t>
            </a:r>
            <a:r>
              <a:rPr dirty="0" spc="125"/>
              <a:t>算</a:t>
            </a:r>
            <a:r>
              <a:rPr dirty="0" spc="100"/>
              <a:t>管理</a:t>
            </a:r>
            <a:r>
              <a:rPr dirty="0" spc="125"/>
              <a:t>制</a:t>
            </a:r>
            <a:r>
              <a:rPr dirty="0" spc="100"/>
              <a:t>度，</a:t>
            </a:r>
            <a:r>
              <a:rPr dirty="0" spc="125"/>
              <a:t>形</a:t>
            </a:r>
            <a:r>
              <a:rPr dirty="0" spc="100"/>
              <a:t>成</a:t>
            </a:r>
            <a:r>
              <a:rPr dirty="0" spc="125"/>
              <a:t>适应</a:t>
            </a:r>
            <a:r>
              <a:rPr dirty="0" spc="75"/>
              <a:t>预</a:t>
            </a:r>
            <a:r>
              <a:rPr dirty="0" spc="100"/>
              <a:t>算管</a:t>
            </a:r>
            <a:r>
              <a:rPr dirty="0" spc="-2250"/>
              <a:t>理 </a:t>
            </a:r>
            <a:r>
              <a:rPr dirty="0" spc="5"/>
              <a:t>的企业</a:t>
            </a:r>
            <a:r>
              <a:rPr dirty="0" spc="-20"/>
              <a:t>文</a:t>
            </a:r>
            <a:r>
              <a:rPr dirty="0" spc="5"/>
              <a:t>化。</a:t>
            </a:r>
          </a:p>
          <a:p>
            <a:pPr marL="356870" indent="-344805">
              <a:lnSpc>
                <a:spcPct val="100000"/>
              </a:lnSpc>
              <a:spcBef>
                <a:spcPts val="1845"/>
              </a:spcBef>
              <a:buClr>
                <a:srgbClr val="FF6600"/>
              </a:buClr>
              <a:buFont typeface="Wingdings"/>
              <a:buChar char="►"/>
              <a:tabLst>
                <a:tab pos="358140" algn="l"/>
              </a:tabLst>
            </a:pPr>
            <a:r>
              <a:rPr dirty="0" spc="5"/>
              <a:t>完善营</a:t>
            </a:r>
            <a:r>
              <a:rPr dirty="0" spc="-20"/>
              <a:t>销</a:t>
            </a:r>
            <a:r>
              <a:rPr dirty="0" spc="5"/>
              <a:t>管理</a:t>
            </a:r>
            <a:r>
              <a:rPr dirty="0" spc="-20"/>
              <a:t>、生</a:t>
            </a:r>
            <a:r>
              <a:rPr dirty="0" spc="5"/>
              <a:t>产管理</a:t>
            </a:r>
            <a:r>
              <a:rPr dirty="0" spc="-20"/>
              <a:t>、</a:t>
            </a:r>
            <a:r>
              <a:rPr dirty="0" spc="5"/>
              <a:t>成本</a:t>
            </a:r>
            <a:r>
              <a:rPr dirty="0" spc="-20"/>
              <a:t>管理</a:t>
            </a:r>
            <a:r>
              <a:rPr dirty="0" spc="5"/>
              <a:t>等制度。</a:t>
            </a:r>
          </a:p>
          <a:p>
            <a:pPr marL="356870" indent="-344805">
              <a:lnSpc>
                <a:spcPct val="100000"/>
              </a:lnSpc>
              <a:spcBef>
                <a:spcPts val="1875"/>
              </a:spcBef>
              <a:buClr>
                <a:srgbClr val="FF6600"/>
              </a:buClr>
              <a:buFont typeface="Wingdings"/>
              <a:buChar char="►"/>
              <a:tabLst>
                <a:tab pos="358140" algn="l"/>
              </a:tabLst>
            </a:pPr>
            <a:r>
              <a:rPr dirty="0" spc="5"/>
              <a:t>建立全</a:t>
            </a:r>
            <a:r>
              <a:rPr dirty="0" spc="-20"/>
              <a:t>面</a:t>
            </a:r>
            <a:r>
              <a:rPr dirty="0" spc="5"/>
              <a:t>质量</a:t>
            </a:r>
            <a:r>
              <a:rPr dirty="0" spc="-20"/>
              <a:t>管理</a:t>
            </a:r>
            <a:r>
              <a:rPr dirty="0" spc="5"/>
              <a:t>制度。</a:t>
            </a:r>
          </a:p>
          <a:p>
            <a:pPr marL="356870" indent="-344805">
              <a:lnSpc>
                <a:spcPct val="100000"/>
              </a:lnSpc>
              <a:spcBef>
                <a:spcPts val="1630"/>
              </a:spcBef>
              <a:buClr>
                <a:srgbClr val="FF6600"/>
              </a:buClr>
              <a:buFont typeface="Wingdings"/>
              <a:buChar char="►"/>
              <a:tabLst>
                <a:tab pos="358140" algn="l"/>
              </a:tabLst>
            </a:pPr>
            <a:r>
              <a:rPr dirty="0" spc="5"/>
              <a:t>优化企</a:t>
            </a:r>
            <a:r>
              <a:rPr dirty="0" spc="-20"/>
              <a:t>业</a:t>
            </a:r>
            <a:r>
              <a:rPr dirty="0" spc="5"/>
              <a:t>激励</a:t>
            </a:r>
            <a:r>
              <a:rPr dirty="0" spc="-20"/>
              <a:t>制度</a:t>
            </a:r>
            <a:r>
              <a:rPr dirty="0" spc="5"/>
              <a:t>（人力</a:t>
            </a:r>
            <a:r>
              <a:rPr dirty="0" spc="-20"/>
              <a:t>资</a:t>
            </a:r>
            <a:r>
              <a:rPr dirty="0" spc="5"/>
              <a:t>源管</a:t>
            </a:r>
            <a:r>
              <a:rPr dirty="0" spc="-20"/>
              <a:t>理制</a:t>
            </a:r>
            <a:r>
              <a:rPr dirty="0" spc="5"/>
              <a:t>度）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6220" y="63957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预算管</a:t>
            </a:r>
            <a:r>
              <a:rPr dirty="0" spc="-20"/>
              <a:t>理</a:t>
            </a:r>
            <a:r>
              <a:rPr dirty="0" spc="5"/>
              <a:t>的</a:t>
            </a:r>
            <a:r>
              <a:rPr dirty="0" spc="-20"/>
              <a:t>框</a:t>
            </a:r>
            <a:r>
              <a:rPr dirty="0" spc="5"/>
              <a:t>架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4411" y="1357071"/>
            <a:ext cx="4640580" cy="4810760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预算的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定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义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全面预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的构成</a:t>
            </a:r>
            <a:endParaRPr sz="2800">
              <a:latin typeface="Microsoft JhengHei"/>
              <a:cs typeface="Microsoft JhengHei"/>
            </a:endParaRPr>
          </a:p>
          <a:p>
            <a:pPr marL="12700" marR="5080">
              <a:lnSpc>
                <a:spcPct val="140000"/>
              </a:lnSpc>
              <a:spcBef>
                <a:spcPts val="25"/>
              </a:spcBef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财务预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与全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面预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算的关</a:t>
            </a:r>
            <a:r>
              <a:rPr dirty="0" sz="2800" spc="-2530" b="1">
                <a:solidFill>
                  <a:srgbClr val="FFFFFF"/>
                </a:solidFill>
                <a:latin typeface="Microsoft JhengHei"/>
                <a:cs typeface="Microsoft JhengHei"/>
              </a:rPr>
              <a:t>系 </a:t>
            </a: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全面预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的编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制程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序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全面预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的编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制原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理</a:t>
            </a:r>
            <a:endParaRPr sz="2800">
              <a:latin typeface="Microsoft JhengHei"/>
              <a:cs typeface="Microsoft JhengHei"/>
            </a:endParaRPr>
          </a:p>
          <a:p>
            <a:pPr marL="12700" marR="361315">
              <a:lnSpc>
                <a:spcPct val="140000"/>
              </a:lnSpc>
              <a:spcBef>
                <a:spcPts val="20"/>
              </a:spcBef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编制预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时应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避免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的问</a:t>
            </a:r>
            <a:r>
              <a:rPr dirty="0" sz="2800" spc="-2530" b="1">
                <a:solidFill>
                  <a:srgbClr val="FFFFFF"/>
                </a:solidFill>
                <a:latin typeface="Microsoft JhengHei"/>
                <a:cs typeface="Microsoft JhengHei"/>
              </a:rPr>
              <a:t>题 </a:t>
            </a: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成功预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的共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同要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素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2800" spc="240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预算中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的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道德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问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题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5235" y="639572"/>
            <a:ext cx="2567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预算的</a:t>
            </a:r>
            <a:r>
              <a:rPr dirty="0" spc="-20"/>
              <a:t>定</a:t>
            </a:r>
            <a:r>
              <a:rPr dirty="0" spc="5"/>
              <a:t>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0051" y="1718564"/>
            <a:ext cx="8139430" cy="372110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181610" indent="838200">
              <a:lnSpc>
                <a:spcPct val="102499"/>
              </a:lnSpc>
              <a:spcBef>
                <a:spcPts val="25"/>
              </a:spcBef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预算（</a:t>
            </a:r>
            <a:r>
              <a:rPr dirty="0" sz="2800" spc="-10" b="1">
                <a:solidFill>
                  <a:srgbClr val="FFFFFF"/>
                </a:solidFill>
                <a:latin typeface="Arial"/>
                <a:cs typeface="Arial"/>
              </a:rPr>
              <a:t>Budg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et</a:t>
            </a:r>
            <a:r>
              <a:rPr dirty="0" sz="2800" spc="10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2800" spc="-15" b="1">
                <a:solidFill>
                  <a:srgbClr val="FFFFFF"/>
                </a:solidFill>
                <a:latin typeface="Arial"/>
                <a:cs typeface="Arial"/>
              </a:rPr>
              <a:t>ng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）就是以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货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币为主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要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计量单 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位，将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决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策结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果以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规范的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格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式具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体地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、系统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地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表达 出来，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成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为企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业未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来行动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的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指南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的过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程。</a:t>
            </a:r>
            <a:endParaRPr sz="2800">
              <a:latin typeface="Microsoft JhengHei"/>
              <a:cs typeface="Microsoft JhengHei"/>
            </a:endParaRPr>
          </a:p>
          <a:p>
            <a:pPr marL="12700" marR="264795" indent="737235">
              <a:lnSpc>
                <a:spcPct val="105700"/>
              </a:lnSpc>
              <a:spcBef>
                <a:spcPts val="310"/>
              </a:spcBef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预算是一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种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数量计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划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，用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来明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确为实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现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企业的 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预算目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标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所需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的资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源和活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动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749935">
              <a:lnSpc>
                <a:spcPct val="100000"/>
              </a:lnSpc>
              <a:spcBef>
                <a:spcPts val="505"/>
              </a:spcBef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预算是从</a:t>
            </a:r>
            <a:r>
              <a:rPr dirty="0" sz="2800" spc="-15" b="1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决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策会计</a:t>
            </a:r>
            <a:r>
              <a:rPr dirty="0" sz="2800" spc="-15" b="1">
                <a:solidFill>
                  <a:srgbClr val="FFFFFF"/>
                </a:solidFill>
                <a:latin typeface="Arial"/>
                <a:cs typeface="Arial"/>
              </a:rPr>
              <a:t>”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到</a:t>
            </a:r>
            <a:r>
              <a:rPr dirty="0" sz="2800" spc="-15" b="1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执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行会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计</a:t>
            </a:r>
            <a:r>
              <a:rPr dirty="0" sz="2800" spc="-15" b="1">
                <a:solidFill>
                  <a:srgbClr val="FFFFFF"/>
                </a:solidFill>
                <a:latin typeface="Arial"/>
                <a:cs typeface="Arial"/>
              </a:rPr>
              <a:t>”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的中介。</a:t>
            </a:r>
            <a:endParaRPr sz="2800">
              <a:latin typeface="Microsoft JhengHei"/>
              <a:cs typeface="Microsoft JhengHei"/>
            </a:endParaRPr>
          </a:p>
          <a:p>
            <a:pPr marL="12700" marR="5080" indent="838200">
              <a:lnSpc>
                <a:spcPct val="105000"/>
              </a:lnSpc>
              <a:spcBef>
                <a:spcPts val="505"/>
              </a:spcBef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简言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之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，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预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800" spc="-5" b="1">
                <a:solidFill>
                  <a:srgbClr val="FFFFFF"/>
                </a:solidFill>
                <a:latin typeface="Microsoft JhengHei"/>
                <a:cs typeface="Microsoft JhengHei"/>
              </a:rPr>
              <a:t>（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Budget</a:t>
            </a:r>
            <a:r>
              <a:rPr dirty="0" sz="2800" spc="-5" b="1">
                <a:solidFill>
                  <a:srgbClr val="FFFFFF"/>
                </a:solidFill>
                <a:latin typeface="Microsoft JhengHei"/>
                <a:cs typeface="Microsoft JhengHei"/>
              </a:rPr>
              <a:t>）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就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是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决策的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具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体化，  即把决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策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变成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可以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实际操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作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的行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动指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南。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79" y="1453388"/>
            <a:ext cx="8407400" cy="50895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7495">
              <a:lnSpc>
                <a:spcPts val="3290"/>
              </a:lnSpc>
              <a:spcBef>
                <a:spcPts val="105"/>
              </a:spcBef>
              <a:tabLst>
                <a:tab pos="6148070" algn="l"/>
              </a:tabLst>
            </a:pPr>
            <a:r>
              <a:rPr dirty="0" sz="2800" spc="-254" b="1">
                <a:solidFill>
                  <a:srgbClr val="FFFFFF"/>
                </a:solidFill>
                <a:latin typeface="Microsoft JhengHei"/>
                <a:cs typeface="Microsoft JhengHei"/>
              </a:rPr>
              <a:t>1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、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经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营（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业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务）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预</a:t>
            </a:r>
            <a:r>
              <a:rPr dirty="0" sz="2800" spc="-31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800" spc="-40" b="1">
                <a:solidFill>
                  <a:srgbClr val="FFFFFF"/>
                </a:solidFill>
                <a:latin typeface="Microsoft JhengHei"/>
                <a:cs typeface="Microsoft JhengHei"/>
              </a:rPr>
              <a:t>（Operational	</a:t>
            </a:r>
            <a:r>
              <a:rPr dirty="0" sz="2800" spc="-210" b="1">
                <a:solidFill>
                  <a:srgbClr val="FFFFFF"/>
                </a:solidFill>
                <a:latin typeface="Microsoft JhengHei"/>
                <a:cs typeface="Microsoft JhengHei"/>
              </a:rPr>
              <a:t>Budget）</a:t>
            </a:r>
            <a:endParaRPr sz="2800">
              <a:latin typeface="Microsoft JhengHei"/>
              <a:cs typeface="Microsoft JhengHei"/>
            </a:endParaRPr>
          </a:p>
          <a:p>
            <a:pPr marL="558165">
              <a:lnSpc>
                <a:spcPts val="2570"/>
              </a:lnSpc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经营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算是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企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业日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常发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生的各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项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基本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务活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动的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预算，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主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要包</a:t>
            </a:r>
            <a:endParaRPr sz="2200">
              <a:latin typeface="宋体"/>
              <a:cs typeface="宋体"/>
            </a:endParaRPr>
          </a:p>
          <a:p>
            <a:pPr marL="12700" marR="5080">
              <a:lnSpc>
                <a:spcPct val="99700"/>
              </a:lnSpc>
              <a:spcBef>
                <a:spcPts val="130"/>
              </a:spcBef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括销售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算、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产预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算（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又可分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生产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预算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、生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产成本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算和期 末产成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品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存货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算，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生产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成本预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再可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细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分为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直接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材料预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、直接 人工预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和制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造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费用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预算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）、销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售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与管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费用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预算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、财务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费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用预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、 研究与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开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发费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预算。</a:t>
            </a:r>
            <a:endParaRPr sz="2200">
              <a:latin typeface="宋体"/>
              <a:cs typeface="宋体"/>
            </a:endParaRPr>
          </a:p>
          <a:p>
            <a:pPr marL="277495">
              <a:lnSpc>
                <a:spcPts val="2630"/>
              </a:lnSpc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、财务预算</a:t>
            </a:r>
            <a:r>
              <a:rPr dirty="0" sz="2400" spc="-5" b="1">
                <a:solidFill>
                  <a:srgbClr val="FFFFFF"/>
                </a:solidFill>
                <a:latin typeface="Microsoft JhengHei"/>
                <a:cs typeface="Microsoft JhengHei"/>
              </a:rPr>
              <a:t>（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Financial Budget</a:t>
            </a:r>
            <a:r>
              <a:rPr dirty="0" sz="2400" spc="-5" b="1">
                <a:solidFill>
                  <a:srgbClr val="FFFFFF"/>
                </a:solidFill>
                <a:latin typeface="Microsoft JhengHei"/>
                <a:cs typeface="Microsoft JhengHei"/>
              </a:rPr>
              <a:t>）</a:t>
            </a:r>
            <a:endParaRPr sz="2400">
              <a:latin typeface="Microsoft JhengHei"/>
              <a:cs typeface="Microsoft JhengHei"/>
            </a:endParaRPr>
          </a:p>
          <a:p>
            <a:pPr algn="just" marL="12700" marR="193675" indent="645795">
              <a:lnSpc>
                <a:spcPct val="98200"/>
              </a:lnSpc>
              <a:spcBef>
                <a:spcPts val="105"/>
              </a:spcBef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财务预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是企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期内现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收支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经营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成果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和财务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状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况的预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算，主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要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包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括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现金预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200" b="1">
                <a:solidFill>
                  <a:srgbClr val="FFFFFF"/>
                </a:solidFill>
                <a:latin typeface="Microsoft JhengHei"/>
                <a:cs typeface="Microsoft JhengHei"/>
              </a:rPr>
              <a:t>（</a:t>
            </a:r>
            <a:r>
              <a:rPr dirty="0" sz="2200" b="1">
                <a:solidFill>
                  <a:srgbClr val="FFFFFF"/>
                </a:solidFill>
                <a:latin typeface="Times New Roman"/>
                <a:cs typeface="Times New Roman"/>
              </a:rPr>
              <a:t>cash</a:t>
            </a:r>
            <a:r>
              <a:rPr dirty="0" sz="2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FFFF"/>
                </a:solidFill>
                <a:latin typeface="Times New Roman"/>
                <a:cs typeface="Times New Roman"/>
              </a:rPr>
              <a:t>budget</a:t>
            </a:r>
            <a:r>
              <a:rPr dirty="0" sz="2200" spc="-5" b="1">
                <a:solidFill>
                  <a:srgbClr val="FFFFFF"/>
                </a:solidFill>
                <a:latin typeface="Microsoft JhengHei"/>
                <a:cs typeface="Microsoft JhengHei"/>
              </a:rPr>
              <a:t>）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、预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计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收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益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表和预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计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资产负 债表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200">
              <a:latin typeface="宋体"/>
              <a:cs typeface="宋体"/>
            </a:endParaRPr>
          </a:p>
          <a:p>
            <a:pPr marL="277495">
              <a:lnSpc>
                <a:spcPts val="2610"/>
              </a:lnSpc>
            </a:pP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、专门决策预算</a:t>
            </a:r>
            <a:r>
              <a:rPr dirty="0" sz="2400" spc="-5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Special Decision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Budget</a:t>
            </a:r>
            <a:r>
              <a:rPr dirty="0" sz="2400" spc="-5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400">
              <a:latin typeface="宋体"/>
              <a:cs typeface="宋体"/>
            </a:endParaRPr>
          </a:p>
          <a:p>
            <a:pPr marL="12700" marR="117475" indent="721995">
              <a:lnSpc>
                <a:spcPct val="95200"/>
              </a:lnSpc>
              <a:spcBef>
                <a:spcPts val="180"/>
              </a:spcBef>
            </a:pP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专门决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策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预算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是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企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业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为不经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常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发生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的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一次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性业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务所作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的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预算， 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如根据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长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期投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资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决策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编制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资本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支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出预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（主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要包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括固定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资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产投资 预算、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权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益性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资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本投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资预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算、债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券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投资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预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算）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、根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据筹资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决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策编制 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筹资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预算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、根据利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润分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配决策</a:t>
            </a:r>
            <a:r>
              <a:rPr dirty="0" sz="22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编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制的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润分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配预算</a:t>
            </a:r>
            <a:r>
              <a:rPr dirty="0" sz="2200" spc="5" b="1">
                <a:solidFill>
                  <a:srgbClr val="FFFFFF"/>
                </a:solidFill>
                <a:latin typeface="Microsoft JhengHei"/>
                <a:cs typeface="Microsoft JhengHei"/>
              </a:rPr>
              <a:t>等。</a:t>
            </a:r>
            <a:endParaRPr sz="2200">
              <a:latin typeface="Microsoft JhengHei"/>
              <a:cs typeface="Microsoft JhengHe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79267" y="63957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 b="0">
                <a:latin typeface="宋体"/>
                <a:cs typeface="宋体"/>
              </a:rPr>
              <a:t>全面预</a:t>
            </a:r>
            <a:r>
              <a:rPr dirty="0" spc="-20" b="0">
                <a:latin typeface="宋体"/>
                <a:cs typeface="宋体"/>
              </a:rPr>
              <a:t>算</a:t>
            </a:r>
            <a:r>
              <a:rPr dirty="0" spc="5" b="0">
                <a:latin typeface="宋体"/>
                <a:cs typeface="宋体"/>
              </a:rPr>
              <a:t>的</a:t>
            </a:r>
            <a:r>
              <a:rPr dirty="0" spc="-20" b="0">
                <a:latin typeface="宋体"/>
                <a:cs typeface="宋体"/>
              </a:rPr>
              <a:t>构</a:t>
            </a:r>
            <a:r>
              <a:rPr dirty="0" spc="5" b="0">
                <a:latin typeface="宋体"/>
                <a:cs typeface="宋体"/>
              </a:rPr>
              <a:t>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8207" y="2459736"/>
            <a:ext cx="0" cy="365760"/>
          </a:xfrm>
          <a:custGeom>
            <a:avLst/>
            <a:gdLst/>
            <a:ahLst/>
            <a:cxnLst/>
            <a:rect l="l" t="t" r="r" b="b"/>
            <a:pathLst>
              <a:path w="0" h="365760">
                <a:moveTo>
                  <a:pt x="0" y="0"/>
                </a:moveTo>
                <a:lnTo>
                  <a:pt x="0" y="36575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139440" y="2819400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4" h="97789">
                <a:moveTo>
                  <a:pt x="100584" y="0"/>
                </a:moveTo>
                <a:lnTo>
                  <a:pt x="0" y="0"/>
                </a:lnTo>
                <a:lnTo>
                  <a:pt x="51816" y="97536"/>
                </a:lnTo>
                <a:lnTo>
                  <a:pt x="1005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074407" y="1773936"/>
            <a:ext cx="0" cy="137160"/>
          </a:xfrm>
          <a:custGeom>
            <a:avLst/>
            <a:gdLst/>
            <a:ahLst/>
            <a:cxnLst/>
            <a:rect l="l" t="t" r="r" b="b"/>
            <a:pathLst>
              <a:path w="0" h="137160">
                <a:moveTo>
                  <a:pt x="0" y="0"/>
                </a:moveTo>
                <a:lnTo>
                  <a:pt x="0" y="13715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025640" y="1905000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5" h="97789">
                <a:moveTo>
                  <a:pt x="100584" y="0"/>
                </a:moveTo>
                <a:lnTo>
                  <a:pt x="0" y="0"/>
                </a:lnTo>
                <a:lnTo>
                  <a:pt x="48768" y="97536"/>
                </a:lnTo>
                <a:lnTo>
                  <a:pt x="1005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962400" y="2231136"/>
            <a:ext cx="2197735" cy="0"/>
          </a:xfrm>
          <a:custGeom>
            <a:avLst/>
            <a:gdLst/>
            <a:ahLst/>
            <a:cxnLst/>
            <a:rect l="l" t="t" r="r" b="b"/>
            <a:pathLst>
              <a:path w="2197735" h="0">
                <a:moveTo>
                  <a:pt x="2197607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874008" y="2182368"/>
            <a:ext cx="97790" cy="100965"/>
          </a:xfrm>
          <a:custGeom>
            <a:avLst/>
            <a:gdLst/>
            <a:ahLst/>
            <a:cxnLst/>
            <a:rect l="l" t="t" r="r" b="b"/>
            <a:pathLst>
              <a:path w="97789" h="100964">
                <a:moveTo>
                  <a:pt x="97536" y="0"/>
                </a:moveTo>
                <a:lnTo>
                  <a:pt x="0" y="51816"/>
                </a:lnTo>
                <a:lnTo>
                  <a:pt x="97536" y="100584"/>
                </a:lnTo>
                <a:lnTo>
                  <a:pt x="97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065007" y="2231136"/>
            <a:ext cx="304800" cy="0"/>
          </a:xfrm>
          <a:custGeom>
            <a:avLst/>
            <a:gdLst/>
            <a:ahLst/>
            <a:cxnLst/>
            <a:rect l="l" t="t" r="r" b="b"/>
            <a:pathLst>
              <a:path w="304800" h="0">
                <a:moveTo>
                  <a:pt x="0" y="0"/>
                </a:moveTo>
                <a:lnTo>
                  <a:pt x="304799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369807" y="2231136"/>
            <a:ext cx="0" cy="3337560"/>
          </a:xfrm>
          <a:custGeom>
            <a:avLst/>
            <a:gdLst/>
            <a:ahLst/>
            <a:cxnLst/>
            <a:rect l="l" t="t" r="r" b="b"/>
            <a:pathLst>
              <a:path w="0" h="3337560">
                <a:moveTo>
                  <a:pt x="0" y="0"/>
                </a:moveTo>
                <a:lnTo>
                  <a:pt x="0" y="333755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321040" y="5562600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5" h="97789">
                <a:moveTo>
                  <a:pt x="100584" y="0"/>
                </a:moveTo>
                <a:lnTo>
                  <a:pt x="0" y="0"/>
                </a:lnTo>
                <a:lnTo>
                  <a:pt x="51816" y="97536"/>
                </a:lnTo>
                <a:lnTo>
                  <a:pt x="1005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188207" y="3297936"/>
            <a:ext cx="0" cy="304800"/>
          </a:xfrm>
          <a:custGeom>
            <a:avLst/>
            <a:gdLst/>
            <a:ahLst/>
            <a:cxnLst/>
            <a:rect l="l" t="t" r="r" b="b"/>
            <a:pathLst>
              <a:path w="0" h="304800">
                <a:moveTo>
                  <a:pt x="0" y="0"/>
                </a:moveTo>
                <a:lnTo>
                  <a:pt x="0" y="30479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11808" y="3602736"/>
            <a:ext cx="5181600" cy="0"/>
          </a:xfrm>
          <a:custGeom>
            <a:avLst/>
            <a:gdLst/>
            <a:ahLst/>
            <a:cxnLst/>
            <a:rect l="l" t="t" r="r" b="b"/>
            <a:pathLst>
              <a:path w="5181600" h="0">
                <a:moveTo>
                  <a:pt x="0" y="0"/>
                </a:moveTo>
                <a:lnTo>
                  <a:pt x="5181599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42287" y="3636264"/>
            <a:ext cx="3175" cy="137160"/>
          </a:xfrm>
          <a:custGeom>
            <a:avLst/>
            <a:gdLst/>
            <a:ahLst/>
            <a:cxnLst/>
            <a:rect l="l" t="t" r="r" b="b"/>
            <a:pathLst>
              <a:path w="3175" h="137160">
                <a:moveTo>
                  <a:pt x="0" y="0"/>
                </a:moveTo>
                <a:lnTo>
                  <a:pt x="3047" y="13715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96568" y="3767328"/>
            <a:ext cx="100965" cy="100965"/>
          </a:xfrm>
          <a:custGeom>
            <a:avLst/>
            <a:gdLst/>
            <a:ahLst/>
            <a:cxnLst/>
            <a:rect l="l" t="t" r="r" b="b"/>
            <a:pathLst>
              <a:path w="100965" h="100964">
                <a:moveTo>
                  <a:pt x="100584" y="0"/>
                </a:moveTo>
                <a:lnTo>
                  <a:pt x="0" y="0"/>
                </a:lnTo>
                <a:lnTo>
                  <a:pt x="48768" y="100584"/>
                </a:lnTo>
                <a:lnTo>
                  <a:pt x="1005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188207" y="3526536"/>
            <a:ext cx="0" cy="213360"/>
          </a:xfrm>
          <a:custGeom>
            <a:avLst/>
            <a:gdLst/>
            <a:ahLst/>
            <a:cxnLst/>
            <a:rect l="l" t="t" r="r" b="b"/>
            <a:pathLst>
              <a:path w="0" h="213360">
                <a:moveTo>
                  <a:pt x="0" y="0"/>
                </a:moveTo>
                <a:lnTo>
                  <a:pt x="0" y="21335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139440" y="3733800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4" h="97789">
                <a:moveTo>
                  <a:pt x="100584" y="0"/>
                </a:moveTo>
                <a:lnTo>
                  <a:pt x="0" y="0"/>
                </a:lnTo>
                <a:lnTo>
                  <a:pt x="51816" y="97536"/>
                </a:lnTo>
                <a:lnTo>
                  <a:pt x="1005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998720" y="3636264"/>
            <a:ext cx="9525" cy="104139"/>
          </a:xfrm>
          <a:custGeom>
            <a:avLst/>
            <a:gdLst/>
            <a:ahLst/>
            <a:cxnLst/>
            <a:rect l="l" t="t" r="r" b="b"/>
            <a:pathLst>
              <a:path w="9525" h="104139">
                <a:moveTo>
                  <a:pt x="4571" y="-4571"/>
                </a:moveTo>
                <a:lnTo>
                  <a:pt x="4571" y="108203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959096" y="3727704"/>
            <a:ext cx="100965" cy="104139"/>
          </a:xfrm>
          <a:custGeom>
            <a:avLst/>
            <a:gdLst/>
            <a:ahLst/>
            <a:cxnLst/>
            <a:rect l="l" t="t" r="r" b="b"/>
            <a:pathLst>
              <a:path w="100964" h="104139">
                <a:moveTo>
                  <a:pt x="100584" y="0"/>
                </a:moveTo>
                <a:lnTo>
                  <a:pt x="0" y="9144"/>
                </a:lnTo>
                <a:lnTo>
                  <a:pt x="60960" y="103632"/>
                </a:lnTo>
                <a:lnTo>
                  <a:pt x="1005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693407" y="3602736"/>
            <a:ext cx="0" cy="137160"/>
          </a:xfrm>
          <a:custGeom>
            <a:avLst/>
            <a:gdLst/>
            <a:ahLst/>
            <a:cxnLst/>
            <a:rect l="l" t="t" r="r" b="b"/>
            <a:pathLst>
              <a:path w="0" h="137160">
                <a:moveTo>
                  <a:pt x="0" y="0"/>
                </a:moveTo>
                <a:lnTo>
                  <a:pt x="0" y="13715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644640" y="3733800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5" h="97789">
                <a:moveTo>
                  <a:pt x="100584" y="0"/>
                </a:moveTo>
                <a:lnTo>
                  <a:pt x="0" y="0"/>
                </a:lnTo>
                <a:lnTo>
                  <a:pt x="51816" y="97536"/>
                </a:lnTo>
                <a:lnTo>
                  <a:pt x="1005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188207" y="2612136"/>
            <a:ext cx="3733800" cy="0"/>
          </a:xfrm>
          <a:custGeom>
            <a:avLst/>
            <a:gdLst/>
            <a:ahLst/>
            <a:cxnLst/>
            <a:rect l="l" t="t" r="r" b="b"/>
            <a:pathLst>
              <a:path w="3733800" h="0">
                <a:moveTo>
                  <a:pt x="0" y="0"/>
                </a:moveTo>
                <a:lnTo>
                  <a:pt x="3733799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922007" y="2612136"/>
            <a:ext cx="0" cy="1127760"/>
          </a:xfrm>
          <a:custGeom>
            <a:avLst/>
            <a:gdLst/>
            <a:ahLst/>
            <a:cxnLst/>
            <a:rect l="l" t="t" r="r" b="b"/>
            <a:pathLst>
              <a:path w="0" h="1127760">
                <a:moveTo>
                  <a:pt x="0" y="0"/>
                </a:moveTo>
                <a:lnTo>
                  <a:pt x="0" y="112775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873240" y="3733800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5" h="97789">
                <a:moveTo>
                  <a:pt x="100584" y="0"/>
                </a:moveTo>
                <a:lnTo>
                  <a:pt x="0" y="0"/>
                </a:lnTo>
                <a:lnTo>
                  <a:pt x="48768" y="97536"/>
                </a:lnTo>
                <a:lnTo>
                  <a:pt x="1005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074407" y="4376928"/>
            <a:ext cx="0" cy="1283335"/>
          </a:xfrm>
          <a:custGeom>
            <a:avLst/>
            <a:gdLst/>
            <a:ahLst/>
            <a:cxnLst/>
            <a:rect l="l" t="t" r="r" b="b"/>
            <a:pathLst>
              <a:path w="0" h="1283335">
                <a:moveTo>
                  <a:pt x="0" y="1283207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025640" y="4288536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5" h="97789">
                <a:moveTo>
                  <a:pt x="48768" y="0"/>
                </a:moveTo>
                <a:lnTo>
                  <a:pt x="0" y="97536"/>
                </a:lnTo>
                <a:lnTo>
                  <a:pt x="100584" y="97536"/>
                </a:lnTo>
                <a:lnTo>
                  <a:pt x="487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542287" y="4428744"/>
            <a:ext cx="3505200" cy="0"/>
          </a:xfrm>
          <a:custGeom>
            <a:avLst/>
            <a:gdLst/>
            <a:ahLst/>
            <a:cxnLst/>
            <a:rect l="l" t="t" r="r" b="b"/>
            <a:pathLst>
              <a:path w="3505200" h="0">
                <a:moveTo>
                  <a:pt x="0" y="0"/>
                </a:moveTo>
                <a:lnTo>
                  <a:pt x="3505199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511808" y="4212336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59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188207" y="4212336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59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071871" y="4212336"/>
            <a:ext cx="3175" cy="228600"/>
          </a:xfrm>
          <a:custGeom>
            <a:avLst/>
            <a:gdLst/>
            <a:ahLst/>
            <a:cxnLst/>
            <a:rect l="l" t="t" r="r" b="b"/>
            <a:pathLst>
              <a:path w="3175" h="228600">
                <a:moveTo>
                  <a:pt x="0" y="0"/>
                </a:moveTo>
                <a:lnTo>
                  <a:pt x="3047" y="22859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188207" y="4440936"/>
            <a:ext cx="0" cy="289560"/>
          </a:xfrm>
          <a:custGeom>
            <a:avLst/>
            <a:gdLst/>
            <a:ahLst/>
            <a:cxnLst/>
            <a:rect l="l" t="t" r="r" b="b"/>
            <a:pathLst>
              <a:path w="0" h="289560">
                <a:moveTo>
                  <a:pt x="0" y="0"/>
                </a:moveTo>
                <a:lnTo>
                  <a:pt x="0" y="28955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139440" y="4724400"/>
            <a:ext cx="100965" cy="100965"/>
          </a:xfrm>
          <a:custGeom>
            <a:avLst/>
            <a:gdLst/>
            <a:ahLst/>
            <a:cxnLst/>
            <a:rect l="l" t="t" r="r" b="b"/>
            <a:pathLst>
              <a:path w="100964" h="100964">
                <a:moveTo>
                  <a:pt x="100584" y="0"/>
                </a:moveTo>
                <a:lnTo>
                  <a:pt x="0" y="0"/>
                </a:lnTo>
                <a:lnTo>
                  <a:pt x="51816" y="100584"/>
                </a:lnTo>
                <a:lnTo>
                  <a:pt x="1005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200400" y="4572000"/>
            <a:ext cx="2286000" cy="3175"/>
          </a:xfrm>
          <a:custGeom>
            <a:avLst/>
            <a:gdLst/>
            <a:ahLst/>
            <a:cxnLst/>
            <a:rect l="l" t="t" r="r" b="b"/>
            <a:pathLst>
              <a:path w="2286000" h="3175">
                <a:moveTo>
                  <a:pt x="0" y="0"/>
                </a:moveTo>
                <a:lnTo>
                  <a:pt x="2285999" y="3047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474207" y="4593336"/>
            <a:ext cx="0" cy="838200"/>
          </a:xfrm>
          <a:custGeom>
            <a:avLst/>
            <a:gdLst/>
            <a:ahLst/>
            <a:cxnLst/>
            <a:rect l="l" t="t" r="r" b="b"/>
            <a:pathLst>
              <a:path w="0" h="838200">
                <a:moveTo>
                  <a:pt x="0" y="0"/>
                </a:moveTo>
                <a:lnTo>
                  <a:pt x="0" y="83819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185159" y="5431536"/>
            <a:ext cx="2289175" cy="0"/>
          </a:xfrm>
          <a:custGeom>
            <a:avLst/>
            <a:gdLst/>
            <a:ahLst/>
            <a:cxnLst/>
            <a:rect l="l" t="t" r="r" b="b"/>
            <a:pathLst>
              <a:path w="2289175" h="0">
                <a:moveTo>
                  <a:pt x="2289047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188207" y="5431536"/>
            <a:ext cx="0" cy="137160"/>
          </a:xfrm>
          <a:custGeom>
            <a:avLst/>
            <a:gdLst/>
            <a:ahLst/>
            <a:cxnLst/>
            <a:rect l="l" t="t" r="r" b="b"/>
            <a:pathLst>
              <a:path w="0" h="137160">
                <a:moveTo>
                  <a:pt x="0" y="0"/>
                </a:moveTo>
                <a:lnTo>
                  <a:pt x="0" y="13715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139440" y="5562600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4" h="97789">
                <a:moveTo>
                  <a:pt x="100584" y="0"/>
                </a:moveTo>
                <a:lnTo>
                  <a:pt x="0" y="0"/>
                </a:lnTo>
                <a:lnTo>
                  <a:pt x="51816" y="97536"/>
                </a:lnTo>
                <a:lnTo>
                  <a:pt x="1005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693407" y="4364736"/>
            <a:ext cx="0" cy="1066800"/>
          </a:xfrm>
          <a:custGeom>
            <a:avLst/>
            <a:gdLst/>
            <a:ahLst/>
            <a:cxnLst/>
            <a:rect l="l" t="t" r="r" b="b"/>
            <a:pathLst>
              <a:path w="0" h="1066800">
                <a:moveTo>
                  <a:pt x="0" y="0"/>
                </a:moveTo>
                <a:lnTo>
                  <a:pt x="0" y="106679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474207" y="5431536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 h="0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962400" y="5888736"/>
            <a:ext cx="1359535" cy="0"/>
          </a:xfrm>
          <a:custGeom>
            <a:avLst/>
            <a:gdLst/>
            <a:ahLst/>
            <a:cxnLst/>
            <a:rect l="l" t="t" r="r" b="b"/>
            <a:pathLst>
              <a:path w="1359535" h="0">
                <a:moveTo>
                  <a:pt x="1359407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874008" y="5839968"/>
            <a:ext cx="97790" cy="100965"/>
          </a:xfrm>
          <a:custGeom>
            <a:avLst/>
            <a:gdLst/>
            <a:ahLst/>
            <a:cxnLst/>
            <a:rect l="l" t="t" r="r" b="b"/>
            <a:pathLst>
              <a:path w="97789" h="100964">
                <a:moveTo>
                  <a:pt x="97536" y="0"/>
                </a:moveTo>
                <a:lnTo>
                  <a:pt x="0" y="51816"/>
                </a:lnTo>
                <a:lnTo>
                  <a:pt x="97536" y="100584"/>
                </a:lnTo>
                <a:lnTo>
                  <a:pt x="97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94359" y="2231136"/>
            <a:ext cx="1908175" cy="0"/>
          </a:xfrm>
          <a:custGeom>
            <a:avLst/>
            <a:gdLst/>
            <a:ahLst/>
            <a:cxnLst/>
            <a:rect l="l" t="t" r="r" b="b"/>
            <a:pathLst>
              <a:path w="1908175" h="0">
                <a:moveTo>
                  <a:pt x="1908047" y="0"/>
                </a:moveTo>
                <a:lnTo>
                  <a:pt x="0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97407" y="2231136"/>
            <a:ext cx="0" cy="4267200"/>
          </a:xfrm>
          <a:custGeom>
            <a:avLst/>
            <a:gdLst/>
            <a:ahLst/>
            <a:cxnLst/>
            <a:rect l="l" t="t" r="r" b="b"/>
            <a:pathLst>
              <a:path w="0" h="4267200">
                <a:moveTo>
                  <a:pt x="0" y="0"/>
                </a:moveTo>
                <a:lnTo>
                  <a:pt x="0" y="426719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97407" y="6498336"/>
            <a:ext cx="1965960" cy="0"/>
          </a:xfrm>
          <a:custGeom>
            <a:avLst/>
            <a:gdLst/>
            <a:ahLst/>
            <a:cxnLst/>
            <a:rect l="l" t="t" r="r" b="b"/>
            <a:pathLst>
              <a:path w="1965960" h="0">
                <a:moveTo>
                  <a:pt x="0" y="0"/>
                </a:moveTo>
                <a:lnTo>
                  <a:pt x="1965959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557272" y="6449568"/>
            <a:ext cx="97790" cy="100965"/>
          </a:xfrm>
          <a:custGeom>
            <a:avLst/>
            <a:gdLst/>
            <a:ahLst/>
            <a:cxnLst/>
            <a:rect l="l" t="t" r="r" b="b"/>
            <a:pathLst>
              <a:path w="97789" h="100965">
                <a:moveTo>
                  <a:pt x="0" y="0"/>
                </a:moveTo>
                <a:lnTo>
                  <a:pt x="0" y="100584"/>
                </a:lnTo>
                <a:lnTo>
                  <a:pt x="97536" y="518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97407" y="4974336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 h="0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188207" y="6117336"/>
            <a:ext cx="0" cy="60960"/>
          </a:xfrm>
          <a:custGeom>
            <a:avLst/>
            <a:gdLst/>
            <a:ahLst/>
            <a:cxnLst/>
            <a:rect l="l" t="t" r="r" b="b"/>
            <a:pathLst>
              <a:path w="0" h="60960">
                <a:moveTo>
                  <a:pt x="0" y="0"/>
                </a:moveTo>
                <a:lnTo>
                  <a:pt x="0" y="6095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139440" y="6172200"/>
            <a:ext cx="100965" cy="97790"/>
          </a:xfrm>
          <a:custGeom>
            <a:avLst/>
            <a:gdLst/>
            <a:ahLst/>
            <a:cxnLst/>
            <a:rect l="l" t="t" r="r" b="b"/>
            <a:pathLst>
              <a:path w="100964" h="97789">
                <a:moveTo>
                  <a:pt x="100584" y="0"/>
                </a:moveTo>
                <a:lnTo>
                  <a:pt x="0" y="0"/>
                </a:lnTo>
                <a:lnTo>
                  <a:pt x="51816" y="97536"/>
                </a:lnTo>
                <a:lnTo>
                  <a:pt x="1005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319015" y="4288536"/>
            <a:ext cx="2222500" cy="1923414"/>
          </a:xfrm>
          <a:custGeom>
            <a:avLst/>
            <a:gdLst/>
            <a:ahLst/>
            <a:cxnLst/>
            <a:rect l="l" t="t" r="r" b="b"/>
            <a:pathLst>
              <a:path w="2222500" h="1923414">
                <a:moveTo>
                  <a:pt x="2221991" y="0"/>
                </a:moveTo>
                <a:lnTo>
                  <a:pt x="0" y="1923287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251960" y="6169152"/>
            <a:ext cx="109855" cy="100965"/>
          </a:xfrm>
          <a:custGeom>
            <a:avLst/>
            <a:gdLst/>
            <a:ahLst/>
            <a:cxnLst/>
            <a:rect l="l" t="t" r="r" b="b"/>
            <a:pathLst>
              <a:path w="109854" h="100964">
                <a:moveTo>
                  <a:pt x="42672" y="0"/>
                </a:moveTo>
                <a:lnTo>
                  <a:pt x="0" y="100584"/>
                </a:lnTo>
                <a:lnTo>
                  <a:pt x="109728" y="73152"/>
                </a:lnTo>
                <a:lnTo>
                  <a:pt x="426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407407" y="5202936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599"/>
                </a:lnTo>
              </a:path>
            </a:pathLst>
          </a:custGeom>
          <a:ln w="914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6595364" y="1444244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战略计划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458203" y="2020316"/>
            <a:ext cx="139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长期销售计划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727451" y="2020316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销售预算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727451" y="2882900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生产预算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34059" y="3812540"/>
            <a:ext cx="139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直接材料预算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535427" y="3818636"/>
            <a:ext cx="139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直接人工预算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333747" y="3818636"/>
            <a:ext cx="139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制造费用预算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135115" y="3818636"/>
            <a:ext cx="1397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期间费用预算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023364" y="4827524"/>
            <a:ext cx="2997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生产成本预算和期末存活预算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727451" y="5690108"/>
            <a:ext cx="939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现金预算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586476" y="5751068"/>
            <a:ext cx="3289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资本</a:t>
            </a:r>
            <a:r>
              <a:rPr dirty="0" sz="1800" spc="-35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支出、筹资、利润分配预算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904235" y="6327140"/>
            <a:ext cx="3975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预计财务报表</a:t>
            </a:r>
            <a:r>
              <a:rPr dirty="0" sz="1800" spc="-35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（资产负债表、利润表）</a:t>
            </a:r>
            <a:endParaRPr sz="1800">
              <a:latin typeface="Microsoft JhengHei"/>
              <a:cs typeface="Microsoft JhengHei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title"/>
          </p:nvPr>
        </p:nvSpPr>
        <p:spPr>
          <a:xfrm>
            <a:off x="3212083" y="569468"/>
            <a:ext cx="2058670" cy="5124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10"/>
              <a:t>预</a:t>
            </a:r>
            <a:r>
              <a:rPr dirty="0" sz="3200" spc="-10"/>
              <a:t>算体</a:t>
            </a:r>
            <a:r>
              <a:rPr dirty="0" sz="3200" spc="10"/>
              <a:t>系</a:t>
            </a:r>
            <a:r>
              <a:rPr dirty="0" sz="3200" spc="-10"/>
              <a:t>图</a:t>
            </a:r>
            <a:endParaRPr sz="3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8252" y="615188"/>
            <a:ext cx="6124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财务预</a:t>
            </a:r>
            <a:r>
              <a:rPr dirty="0" spc="-20"/>
              <a:t>算</a:t>
            </a:r>
            <a:r>
              <a:rPr dirty="0" spc="5"/>
              <a:t>与</a:t>
            </a:r>
            <a:r>
              <a:rPr dirty="0" spc="-20"/>
              <a:t>全</a:t>
            </a:r>
            <a:r>
              <a:rPr dirty="0" spc="5"/>
              <a:t>面预算</a:t>
            </a:r>
            <a:r>
              <a:rPr dirty="0" spc="-20"/>
              <a:t>的</a:t>
            </a:r>
            <a:r>
              <a:rPr dirty="0" spc="5"/>
              <a:t>关系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2036" y="2035556"/>
            <a:ext cx="8456295" cy="40900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19125" indent="-607060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Arial"/>
              <a:buChar char="•"/>
              <a:tabLst>
                <a:tab pos="619125" algn="l"/>
                <a:tab pos="619760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财务预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是全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面预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算的一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个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必不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可少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的组成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部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分</a:t>
            </a:r>
            <a:endParaRPr sz="2800">
              <a:latin typeface="Microsoft JhengHei"/>
              <a:cs typeface="Microsoft JhengHei"/>
            </a:endParaRPr>
          </a:p>
          <a:p>
            <a:pPr marL="619125" marR="5080" indent="-607060">
              <a:lnSpc>
                <a:spcPct val="160000"/>
              </a:lnSpc>
              <a:spcBef>
                <a:spcPts val="675"/>
              </a:spcBef>
              <a:buClr>
                <a:srgbClr val="FF6600"/>
              </a:buClr>
              <a:buFont typeface="Arial"/>
              <a:buChar char="•"/>
              <a:tabLst>
                <a:tab pos="619125" algn="l"/>
                <a:tab pos="619760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财务预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的编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制依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赖于全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面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预算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中的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经营（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业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务） 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预算和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专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门决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策预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endParaRPr sz="2800">
              <a:latin typeface="Microsoft JhengHei"/>
              <a:cs typeface="Microsoft JhengHei"/>
            </a:endParaRPr>
          </a:p>
          <a:p>
            <a:pPr marL="619125" marR="361315" indent="-607060">
              <a:lnSpc>
                <a:spcPct val="160000"/>
              </a:lnSpc>
              <a:spcBef>
                <a:spcPts val="670"/>
              </a:spcBef>
              <a:buClr>
                <a:srgbClr val="FF6600"/>
              </a:buClr>
              <a:buFont typeface="Arial"/>
              <a:buChar char="•"/>
              <a:tabLst>
                <a:tab pos="619125" algn="l"/>
                <a:tab pos="619760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进行财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务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预算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管理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必须搞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全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面预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算管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理，否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则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财 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务预算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管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理也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无法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操作</a:t>
            </a:r>
            <a:endParaRPr sz="2800">
              <a:latin typeface="Microsoft JhengHei"/>
              <a:cs typeface="Microsoft JhengHei"/>
            </a:endParaRPr>
          </a:p>
          <a:p>
            <a:pPr marL="619125" indent="-607060">
              <a:lnSpc>
                <a:spcPct val="100000"/>
              </a:lnSpc>
              <a:spcBef>
                <a:spcPts val="2425"/>
              </a:spcBef>
              <a:buClr>
                <a:srgbClr val="FF6600"/>
              </a:buClr>
              <a:buFont typeface="Arial"/>
              <a:buChar char="•"/>
              <a:tabLst>
                <a:tab pos="619125" algn="l"/>
                <a:tab pos="619760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讲</a:t>
            </a:r>
            <a:r>
              <a:rPr dirty="0" sz="2800" spc="-15" b="1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财务预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管理</a:t>
            </a:r>
            <a:r>
              <a:rPr dirty="0" sz="2800" spc="-40" b="1">
                <a:solidFill>
                  <a:srgbClr val="FFFFFF"/>
                </a:solidFill>
                <a:latin typeface="Arial"/>
                <a:cs typeface="Arial"/>
              </a:rPr>
              <a:t>”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实质上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等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于讲</a:t>
            </a:r>
            <a:r>
              <a:rPr dirty="0" sz="2800" spc="-15" b="1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全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面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预算管理</a:t>
            </a:r>
            <a:r>
              <a:rPr dirty="0" sz="2800" b="1">
                <a:solidFill>
                  <a:srgbClr val="FFFFFF"/>
                </a:solidFill>
                <a:latin typeface="Arial"/>
                <a:cs typeface="Arial"/>
              </a:rPr>
              <a:t>”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6220" y="639572"/>
            <a:ext cx="3582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编制预</a:t>
            </a:r>
            <a:r>
              <a:rPr dirty="0" spc="-20"/>
              <a:t>算</a:t>
            </a:r>
            <a:r>
              <a:rPr dirty="0" spc="5"/>
              <a:t>的</a:t>
            </a:r>
            <a:r>
              <a:rPr dirty="0" spc="-20"/>
              <a:t>程</a:t>
            </a:r>
            <a:r>
              <a:rPr dirty="0" spc="5"/>
              <a:t>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5627" y="1418031"/>
            <a:ext cx="5350510" cy="3997325"/>
          </a:xfrm>
          <a:prstGeom prst="rect">
            <a:avLst/>
          </a:prstGeom>
        </p:spPr>
        <p:txBody>
          <a:bodyPr wrap="square" lIns="0" tIns="24701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194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成立预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委员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会及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日常办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事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机</a:t>
            </a:r>
            <a:r>
              <a:rPr dirty="0" sz="2800" spc="-2175" b="1">
                <a:solidFill>
                  <a:srgbClr val="FFFFFF"/>
                </a:solidFill>
                <a:latin typeface="Microsoft JhengHei"/>
                <a:cs typeface="Microsoft JhengHei"/>
              </a:rPr>
              <a:t>构</a:t>
            </a:r>
            <a:endParaRPr sz="2800">
              <a:latin typeface="Microsoft JhengHei"/>
              <a:cs typeface="Microsoft JhengHei"/>
            </a:endParaRPr>
          </a:p>
          <a:p>
            <a:pPr marL="356870" indent="-344805">
              <a:lnSpc>
                <a:spcPct val="100000"/>
              </a:lnSpc>
              <a:spcBef>
                <a:spcPts val="185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确定预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期</a:t>
            </a:r>
            <a:endParaRPr sz="2800">
              <a:latin typeface="Microsoft JhengHei"/>
              <a:cs typeface="Microsoft JhengHei"/>
            </a:endParaRPr>
          </a:p>
          <a:p>
            <a:pPr marL="356870" indent="-344805">
              <a:lnSpc>
                <a:spcPct val="100000"/>
              </a:lnSpc>
              <a:spcBef>
                <a:spcPts val="187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明确预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原则</a:t>
            </a:r>
            <a:endParaRPr sz="2800">
              <a:latin typeface="Microsoft JhengHei"/>
              <a:cs typeface="Microsoft JhengHei"/>
            </a:endParaRPr>
          </a:p>
          <a:p>
            <a:pPr marL="356870" indent="-344805">
              <a:lnSpc>
                <a:spcPct val="100000"/>
              </a:lnSpc>
              <a:spcBef>
                <a:spcPts val="185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进行预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协调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：讨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价还价</a:t>
            </a:r>
            <a:endParaRPr sz="2800">
              <a:latin typeface="Microsoft JhengHei"/>
              <a:cs typeface="Microsoft JhengHei"/>
            </a:endParaRPr>
          </a:p>
          <a:p>
            <a:pPr marL="356870" indent="-344805">
              <a:lnSpc>
                <a:spcPct val="100000"/>
              </a:lnSpc>
              <a:spcBef>
                <a:spcPts val="1845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复议和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审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批预算</a:t>
            </a:r>
            <a:endParaRPr sz="2800">
              <a:latin typeface="Microsoft JhengHei"/>
              <a:cs typeface="Microsoft JhengHei"/>
            </a:endParaRPr>
          </a:p>
          <a:p>
            <a:pPr marL="356870" indent="-344805">
              <a:lnSpc>
                <a:spcPct val="100000"/>
              </a:lnSpc>
              <a:spcBef>
                <a:spcPts val="1850"/>
              </a:spcBef>
              <a:buClr>
                <a:srgbClr val="FF6600"/>
              </a:buClr>
              <a:buFont typeface="Wingdings"/>
              <a:buChar char="►"/>
              <a:tabLst>
                <a:tab pos="357505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修正或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调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整预算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0804" y="1488745"/>
            <a:ext cx="7673340" cy="481393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、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销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售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预算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：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销售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收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入</a:t>
            </a:r>
            <a:r>
              <a:rPr dirty="0" sz="2000" spc="45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＝</a:t>
            </a:r>
            <a:r>
              <a:rPr dirty="0" sz="2000" spc="50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销</a:t>
            </a:r>
            <a:r>
              <a:rPr dirty="0" sz="2000" spc="175" b="1">
                <a:solidFill>
                  <a:srgbClr val="FFFFFF"/>
                </a:solidFill>
                <a:latin typeface="Microsoft JhengHei"/>
                <a:cs typeface="Microsoft JhengHei"/>
              </a:rPr>
              <a:t>量</a:t>
            </a:r>
            <a:r>
              <a:rPr dirty="0" sz="2000" spc="130" b="1">
                <a:solidFill>
                  <a:srgbClr val="FFFFFF"/>
                </a:solidFill>
                <a:latin typeface="Microsoft JhengHei"/>
                <a:cs typeface="Microsoft JhengHei"/>
              </a:rPr>
              <a:t>×</a:t>
            </a:r>
            <a:r>
              <a:rPr dirty="0" sz="2000" spc="195" b="1">
                <a:solidFill>
                  <a:srgbClr val="FFFFFF"/>
                </a:solidFill>
                <a:latin typeface="Microsoft JhengHei"/>
                <a:cs typeface="Microsoft JhengHei"/>
              </a:rPr>
              <a:t>单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价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、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生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产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预算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：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产量</a:t>
            </a:r>
            <a:r>
              <a:rPr dirty="0" sz="2000" spc="30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＝</a:t>
            </a:r>
            <a:r>
              <a:rPr dirty="0" sz="2000" spc="55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销量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＋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期末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产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成品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存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货量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－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期初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产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成品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存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货量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、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直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接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材料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预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算：</a:t>
            </a:r>
            <a:endParaRPr sz="2000">
              <a:latin typeface="Microsoft JhengHei"/>
              <a:cs typeface="Microsoft JhengHei"/>
            </a:endParaRPr>
          </a:p>
          <a:p>
            <a:pPr marL="850900" marR="684530">
              <a:lnSpc>
                <a:spcPct val="121000"/>
              </a:lnSpc>
            </a:pP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采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购量</a:t>
            </a:r>
            <a:r>
              <a:rPr dirty="0" sz="2000" spc="45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5" b="1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dirty="0" sz="20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生产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用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量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＋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期末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材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料存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货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量－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期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初材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料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存货量 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采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购成本</a:t>
            </a:r>
            <a:r>
              <a:rPr dirty="0" sz="2000" spc="70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＝</a:t>
            </a:r>
            <a:r>
              <a:rPr dirty="0" sz="2000" spc="50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采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购</a:t>
            </a:r>
            <a:r>
              <a:rPr dirty="0" sz="2000" spc="275" b="1">
                <a:solidFill>
                  <a:srgbClr val="FFFFFF"/>
                </a:solidFill>
                <a:latin typeface="Microsoft JhengHei"/>
                <a:cs typeface="Microsoft JhengHei"/>
              </a:rPr>
              <a:t>量</a:t>
            </a:r>
            <a:r>
              <a:rPr dirty="0" sz="2000" spc="225" b="1">
                <a:solidFill>
                  <a:srgbClr val="FFFFFF"/>
                </a:solidFill>
                <a:latin typeface="Microsoft JhengHei"/>
                <a:cs typeface="Microsoft JhengHei"/>
              </a:rPr>
              <a:t>×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单价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、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直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接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人工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预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算：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人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工成本</a:t>
            </a:r>
            <a:r>
              <a:rPr dirty="0" sz="2000" spc="65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＝</a:t>
            </a:r>
            <a:r>
              <a:rPr dirty="0" sz="2000" spc="40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（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产</a:t>
            </a:r>
            <a:r>
              <a:rPr dirty="0" sz="2000" spc="175" b="1">
                <a:solidFill>
                  <a:srgbClr val="FFFFFF"/>
                </a:solidFill>
                <a:latin typeface="Microsoft JhengHei"/>
                <a:cs typeface="Microsoft JhengHei"/>
              </a:rPr>
              <a:t>量</a:t>
            </a:r>
            <a:r>
              <a:rPr dirty="0" sz="2000" spc="130" b="1">
                <a:solidFill>
                  <a:srgbClr val="FFFFFF"/>
                </a:solidFill>
                <a:latin typeface="Microsoft JhengHei"/>
                <a:cs typeface="Microsoft JhengHei"/>
              </a:rPr>
              <a:t>×</a:t>
            </a:r>
            <a:r>
              <a:rPr dirty="0" sz="2000" spc="195" b="1">
                <a:solidFill>
                  <a:srgbClr val="FFFFFF"/>
                </a:solidFill>
                <a:latin typeface="Microsoft JhengHei"/>
                <a:cs typeface="Microsoft JhengHei"/>
              </a:rPr>
              <a:t>单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位产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品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工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时</a:t>
            </a:r>
            <a:r>
              <a:rPr dirty="0" sz="2000" spc="150" b="1">
                <a:solidFill>
                  <a:srgbClr val="FFFFFF"/>
                </a:solidFill>
                <a:latin typeface="Microsoft JhengHei"/>
                <a:cs typeface="Microsoft JhengHei"/>
              </a:rPr>
              <a:t>）×</a:t>
            </a:r>
            <a:r>
              <a:rPr dirty="0" sz="2000" spc="195" b="1">
                <a:solidFill>
                  <a:srgbClr val="FFFFFF"/>
                </a:solidFill>
                <a:latin typeface="Microsoft JhengHei"/>
                <a:cs typeface="Microsoft JhengHei"/>
              </a:rPr>
              <a:t>工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资率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、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制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造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费用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预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算：</a:t>
            </a:r>
            <a:endParaRPr sz="2000">
              <a:latin typeface="Microsoft JhengHei"/>
              <a:cs typeface="Microsoft JhengHei"/>
            </a:endParaRPr>
          </a:p>
          <a:p>
            <a:pPr marL="850900">
              <a:lnSpc>
                <a:spcPct val="100000"/>
              </a:lnSpc>
              <a:spcBef>
                <a:spcPts val="505"/>
              </a:spcBef>
            </a:pP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制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造费用</a:t>
            </a:r>
            <a:r>
              <a:rPr dirty="0" sz="2000" spc="70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＝</a:t>
            </a:r>
            <a:r>
              <a:rPr dirty="0" sz="2000" spc="50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变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动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制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造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费用</a:t>
            </a:r>
            <a:r>
              <a:rPr dirty="0" sz="2000" spc="45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＋</a:t>
            </a:r>
            <a:r>
              <a:rPr dirty="0" sz="2000" spc="75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固定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制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造费用</a:t>
            </a:r>
            <a:endParaRPr sz="2000">
              <a:latin typeface="Microsoft JhengHei"/>
              <a:cs typeface="Microsoft JhengHei"/>
            </a:endParaRPr>
          </a:p>
          <a:p>
            <a:pPr marL="850900">
              <a:lnSpc>
                <a:spcPct val="100000"/>
              </a:lnSpc>
              <a:spcBef>
                <a:spcPts val="480"/>
              </a:spcBef>
            </a:pP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变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动制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造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费用</a:t>
            </a:r>
            <a:r>
              <a:rPr dirty="0" sz="2000" spc="45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＝</a:t>
            </a:r>
            <a:r>
              <a:rPr dirty="0" sz="2000" spc="70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（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产</a:t>
            </a:r>
            <a:r>
              <a:rPr dirty="0" sz="2000" spc="175" b="1">
                <a:solidFill>
                  <a:srgbClr val="FFFFFF"/>
                </a:solidFill>
                <a:latin typeface="Microsoft JhengHei"/>
                <a:cs typeface="Microsoft JhengHei"/>
              </a:rPr>
              <a:t>量</a:t>
            </a:r>
            <a:r>
              <a:rPr dirty="0" sz="2000" spc="130" b="1">
                <a:solidFill>
                  <a:srgbClr val="FFFFFF"/>
                </a:solidFill>
                <a:latin typeface="Microsoft JhengHei"/>
                <a:cs typeface="Microsoft JhengHei"/>
              </a:rPr>
              <a:t>×</a:t>
            </a:r>
            <a:r>
              <a:rPr dirty="0" sz="2000" spc="195" b="1">
                <a:solidFill>
                  <a:srgbClr val="FFFFFF"/>
                </a:solidFill>
                <a:latin typeface="Microsoft JhengHei"/>
                <a:cs typeface="Microsoft JhengHei"/>
              </a:rPr>
              <a:t>单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位产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品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工时</a:t>
            </a:r>
            <a:r>
              <a:rPr dirty="0" sz="2000" spc="70" b="1">
                <a:solidFill>
                  <a:srgbClr val="FFFFFF"/>
                </a:solidFill>
                <a:latin typeface="Microsoft JhengHei"/>
                <a:cs typeface="Microsoft JhengHei"/>
              </a:rPr>
              <a:t>）×</a:t>
            </a:r>
            <a:r>
              <a:rPr dirty="0" sz="2000" spc="175" b="1">
                <a:solidFill>
                  <a:srgbClr val="FFFFFF"/>
                </a:solidFill>
                <a:latin typeface="Microsoft JhengHei"/>
                <a:cs typeface="Microsoft JhengHei"/>
              </a:rPr>
              <a:t>分</a:t>
            </a:r>
            <a:r>
              <a:rPr dirty="0" sz="2000" spc="195" b="1">
                <a:solidFill>
                  <a:srgbClr val="FFFFFF"/>
                </a:solidFill>
                <a:latin typeface="Microsoft JhengHei"/>
                <a:cs typeface="Microsoft JhengHei"/>
              </a:rPr>
              <a:t>配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率</a:t>
            </a:r>
            <a:endParaRPr sz="20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、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生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产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成本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预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算：</a:t>
            </a:r>
            <a:endParaRPr sz="2000">
              <a:latin typeface="Microsoft JhengHei"/>
              <a:cs typeface="Microsoft JhengHei"/>
            </a:endParaRPr>
          </a:p>
          <a:p>
            <a:pPr marL="780415" marR="901065">
              <a:lnSpc>
                <a:spcPct val="121000"/>
              </a:lnSpc>
            </a:pP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生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产成本</a:t>
            </a:r>
            <a:r>
              <a:rPr dirty="0" sz="2000" spc="45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＝</a:t>
            </a:r>
            <a:r>
              <a:rPr dirty="0" sz="2000" spc="25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直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接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材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料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成本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＋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直接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人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工成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本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＋制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造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费用 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单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位产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品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成本</a:t>
            </a:r>
            <a:r>
              <a:rPr dirty="0" sz="2000" spc="70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5" b="1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生产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成本</a:t>
            </a:r>
            <a:r>
              <a:rPr dirty="0" sz="2000" spc="-35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产量</a:t>
            </a:r>
            <a:endParaRPr sz="2000">
              <a:latin typeface="Microsoft JhengHei"/>
              <a:cs typeface="Microsoft JhengHei"/>
            </a:endParaRPr>
          </a:p>
          <a:p>
            <a:pPr marL="780415">
              <a:lnSpc>
                <a:spcPct val="100000"/>
              </a:lnSpc>
              <a:spcBef>
                <a:spcPts val="505"/>
              </a:spcBef>
            </a:pP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期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末产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成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品存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货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成本</a:t>
            </a:r>
            <a:r>
              <a:rPr dirty="0" sz="2000" spc="40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＝</a:t>
            </a:r>
            <a:r>
              <a:rPr dirty="0" sz="2000" spc="70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期末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产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成品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存</a:t>
            </a:r>
            <a:r>
              <a:rPr dirty="0" sz="2000" spc="175" b="1">
                <a:solidFill>
                  <a:srgbClr val="FFFFFF"/>
                </a:solidFill>
                <a:latin typeface="Microsoft JhengHei"/>
                <a:cs typeface="Microsoft JhengHei"/>
              </a:rPr>
              <a:t>货量</a:t>
            </a:r>
            <a:r>
              <a:rPr dirty="0" sz="2000" spc="150" b="1">
                <a:solidFill>
                  <a:srgbClr val="FFFFFF"/>
                </a:solidFill>
                <a:latin typeface="Microsoft JhengHei"/>
                <a:cs typeface="Microsoft JhengHei"/>
              </a:rPr>
              <a:t>×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单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位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产品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成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本</a:t>
            </a:r>
            <a:endParaRPr sz="2000">
              <a:latin typeface="Microsoft JhengHei"/>
              <a:cs typeface="Microsoft JhengHe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70251" y="639572"/>
            <a:ext cx="4600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全面预</a:t>
            </a:r>
            <a:r>
              <a:rPr dirty="0" spc="-20"/>
              <a:t>算</a:t>
            </a:r>
            <a:r>
              <a:rPr dirty="0" spc="5"/>
              <a:t>的</a:t>
            </a:r>
            <a:r>
              <a:rPr dirty="0" spc="-20"/>
              <a:t>编</a:t>
            </a:r>
            <a:r>
              <a:rPr dirty="0" spc="5"/>
              <a:t>制原理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8252" y="566420"/>
            <a:ext cx="6124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全面预</a:t>
            </a:r>
            <a:r>
              <a:rPr dirty="0" spc="-20"/>
              <a:t>算</a:t>
            </a:r>
            <a:r>
              <a:rPr dirty="0" spc="5"/>
              <a:t>的</a:t>
            </a:r>
            <a:r>
              <a:rPr dirty="0" spc="-20"/>
              <a:t>编</a:t>
            </a:r>
            <a:r>
              <a:rPr dirty="0" spc="5"/>
              <a:t>制原理</a:t>
            </a:r>
            <a:r>
              <a:rPr dirty="0" spc="-20"/>
              <a:t>（</a:t>
            </a:r>
            <a:r>
              <a:rPr dirty="0" spc="5"/>
              <a:t>续）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779" y="1465580"/>
            <a:ext cx="8102600" cy="499681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2400" spc="-20" b="1">
                <a:solidFill>
                  <a:srgbClr val="FFFFFF"/>
                </a:solidFill>
                <a:latin typeface="Microsoft JhengHei"/>
                <a:cs typeface="Microsoft JhengHei"/>
              </a:rPr>
              <a:t>7</a:t>
            </a:r>
            <a:r>
              <a:rPr dirty="0" sz="2400" spc="-30" b="1">
                <a:solidFill>
                  <a:srgbClr val="FFFFFF"/>
                </a:solidFill>
                <a:latin typeface="Microsoft JhengHei"/>
                <a:cs typeface="Microsoft JhengHei"/>
              </a:rPr>
              <a:t>、期间费用预算：</a:t>
            </a:r>
            <a:endParaRPr sz="2400">
              <a:latin typeface="Microsoft JhengHei"/>
              <a:cs typeface="Microsoft JhengHei"/>
            </a:endParaRPr>
          </a:p>
          <a:p>
            <a:pPr marL="1079500" marR="5080">
              <a:lnSpc>
                <a:spcPct val="106700"/>
              </a:lnSpc>
              <a:spcBef>
                <a:spcPts val="25"/>
              </a:spcBef>
              <a:tabLst>
                <a:tab pos="2450465" algn="l"/>
                <a:tab pos="2907665" algn="l"/>
                <a:tab pos="4279265" algn="l"/>
                <a:tab pos="4736465" algn="l"/>
                <a:tab pos="6108065" algn="l"/>
                <a:tab pos="6565265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期间费用	＝	管理费用	＋	销售费用	＋	财务费用 管理费用与销售费用预算可比照制造费用预算的编制</a:t>
            </a:r>
            <a:endParaRPr sz="2400">
              <a:latin typeface="Microsoft JhengHei"/>
              <a:cs typeface="Microsoft JhengHei"/>
            </a:endParaRPr>
          </a:p>
          <a:p>
            <a:pPr marL="356870">
              <a:lnSpc>
                <a:spcPts val="2590"/>
              </a:lnSpc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原理</a:t>
            </a:r>
            <a:endParaRPr sz="2400">
              <a:latin typeface="Microsoft JhengHei"/>
              <a:cs typeface="Microsoft JhengHei"/>
            </a:endParaRPr>
          </a:p>
          <a:p>
            <a:pPr marL="356870" marR="5080" indent="721995">
              <a:lnSpc>
                <a:spcPts val="2570"/>
              </a:lnSpc>
              <a:spcBef>
                <a:spcPts val="560"/>
              </a:spcBef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财务费用主要与筹资有关，应根据已有付息负债和筹 资预算估计</a:t>
            </a:r>
            <a:endParaRPr sz="24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2400" spc="-10" b="1">
                <a:solidFill>
                  <a:srgbClr val="FFFFFF"/>
                </a:solidFill>
                <a:latin typeface="Microsoft JhengHei"/>
                <a:cs typeface="Microsoft JhengHei"/>
              </a:rPr>
              <a:t>8</a:t>
            </a:r>
            <a:r>
              <a:rPr dirty="0" sz="2400" spc="-20" b="1">
                <a:solidFill>
                  <a:srgbClr val="FFFFFF"/>
                </a:solidFill>
                <a:latin typeface="Microsoft JhengHei"/>
                <a:cs typeface="Microsoft JhengHei"/>
              </a:rPr>
              <a:t>、现金预算（预计现金流量表）</a:t>
            </a:r>
            <a:endParaRPr sz="2400">
              <a:latin typeface="Microsoft JhengHei"/>
              <a:cs typeface="Microsoft JhengHei"/>
            </a:endParaRPr>
          </a:p>
          <a:p>
            <a:pPr marL="1079500" marR="920115">
              <a:lnSpc>
                <a:spcPct val="106700"/>
              </a:lnSpc>
              <a:spcBef>
                <a:spcPts val="20"/>
              </a:spcBef>
              <a:tabLst>
                <a:tab pos="2450465" algn="l"/>
                <a:tab pos="2907665" algn="l"/>
                <a:tab pos="3060065" algn="l"/>
                <a:tab pos="3517265" algn="l"/>
                <a:tab pos="4888865" algn="l"/>
                <a:tab pos="5346065" algn="l"/>
                <a:tab pos="5498465" algn="l"/>
                <a:tab pos="5955665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期初现金余额	＋	预计现金收入	＝	可用现金 可用现金	－	预计现金支出	＝	现金余缺</a:t>
            </a:r>
            <a:endParaRPr sz="2400">
              <a:latin typeface="Microsoft JhengHei"/>
              <a:cs typeface="Microsoft JhengHei"/>
            </a:endParaRPr>
          </a:p>
          <a:p>
            <a:pPr marL="12700" marR="310515" indent="1066800">
              <a:lnSpc>
                <a:spcPct val="107500"/>
              </a:lnSpc>
              <a:tabLst>
                <a:tab pos="2450465" algn="l"/>
                <a:tab pos="2907665" algn="l"/>
                <a:tab pos="5498465" algn="l"/>
                <a:tab pos="5955665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现金余缺	＋	现金的筹集与运用	＝	期末现金余额  </a:t>
            </a:r>
            <a:r>
              <a:rPr dirty="0" sz="2400" spc="-20" b="1">
                <a:solidFill>
                  <a:srgbClr val="FFFFFF"/>
                </a:solidFill>
                <a:latin typeface="Microsoft JhengHei"/>
                <a:cs typeface="Microsoft JhengHei"/>
              </a:rPr>
              <a:t>9</a:t>
            </a:r>
            <a:r>
              <a:rPr dirty="0" sz="2400" spc="-35" b="1">
                <a:solidFill>
                  <a:srgbClr val="FFFFFF"/>
                </a:solidFill>
                <a:latin typeface="Microsoft JhengHei"/>
                <a:cs typeface="Microsoft JhengHei"/>
              </a:rPr>
              <a:t>、预计财务报表</a:t>
            </a:r>
            <a:endParaRPr sz="2400">
              <a:latin typeface="Microsoft JhengHei"/>
              <a:cs typeface="Microsoft JhengHei"/>
            </a:endParaRPr>
          </a:p>
          <a:p>
            <a:pPr marL="1079500" marR="615315">
              <a:lnSpc>
                <a:spcPts val="3100"/>
              </a:lnSpc>
              <a:spcBef>
                <a:spcPts val="115"/>
              </a:spcBef>
              <a:tabLst>
                <a:tab pos="3669665" algn="l"/>
                <a:tab pos="4126865" algn="l"/>
                <a:tab pos="4279265" algn="l"/>
                <a:tab pos="4736465" algn="l"/>
                <a:tab pos="4888865" algn="l"/>
                <a:tab pos="5346065" algn="l"/>
                <a:tab pos="5498465" algn="l"/>
                <a:tab pos="5955665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预计资产负债表：资产	＝	负债	＋	所有者权益 预计利润表：收入	－	费用		＝	利润</a:t>
            </a:r>
            <a:endParaRPr sz="24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1235" y="602996"/>
            <a:ext cx="5615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编制预</a:t>
            </a:r>
            <a:r>
              <a:rPr dirty="0" spc="-20"/>
              <a:t>算</a:t>
            </a:r>
            <a:r>
              <a:rPr dirty="0" spc="5"/>
              <a:t>时</a:t>
            </a:r>
            <a:r>
              <a:rPr dirty="0" spc="-20"/>
              <a:t>应</a:t>
            </a:r>
            <a:r>
              <a:rPr dirty="0" spc="5"/>
              <a:t>避免的</a:t>
            </a:r>
            <a:r>
              <a:rPr dirty="0" spc="-20"/>
              <a:t>问</a:t>
            </a:r>
            <a:r>
              <a:rPr dirty="0" spc="5"/>
              <a:t>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2723" y="1594815"/>
            <a:ext cx="8136255" cy="2842260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275"/>
              </a:spcBef>
              <a:buClr>
                <a:srgbClr val="FF6600"/>
              </a:buClr>
              <a:buChar char="•"/>
              <a:tabLst>
                <a:tab pos="2997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预算编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耗时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力，操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成本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居高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不下；</a:t>
            </a:r>
            <a:endParaRPr sz="2800">
              <a:latin typeface="宋体"/>
              <a:cs typeface="宋体"/>
            </a:endParaRPr>
          </a:p>
          <a:p>
            <a:pPr marL="299085" marR="5080" indent="-287020">
              <a:lnSpc>
                <a:spcPct val="120000"/>
              </a:lnSpc>
              <a:spcBef>
                <a:spcPts val="500"/>
              </a:spcBef>
              <a:buClr>
                <a:srgbClr val="FF6600"/>
              </a:buClr>
              <a:buChar char="•"/>
              <a:tabLst>
                <a:tab pos="2997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预算管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过程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中，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常常会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随某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些不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正当的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益纠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纷；</a:t>
            </a:r>
            <a:endParaRPr sz="2800">
              <a:latin typeface="宋体"/>
              <a:cs typeface="宋体"/>
            </a:endParaRPr>
          </a:p>
          <a:p>
            <a:pPr marL="299085" indent="-287020">
              <a:lnSpc>
                <a:spcPct val="100000"/>
              </a:lnSpc>
              <a:spcBef>
                <a:spcPts val="1180"/>
              </a:spcBef>
              <a:buClr>
                <a:srgbClr val="FF6600"/>
              </a:buClr>
              <a:buChar char="•"/>
              <a:tabLst>
                <a:tab pos="2997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预算编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果没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有得到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司员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工的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认同；</a:t>
            </a:r>
            <a:endParaRPr sz="2800">
              <a:latin typeface="宋体"/>
              <a:cs typeface="宋体"/>
            </a:endParaRPr>
          </a:p>
          <a:p>
            <a:pPr marL="299085" indent="-287020">
              <a:lnSpc>
                <a:spcPct val="100000"/>
              </a:lnSpc>
              <a:spcBef>
                <a:spcPts val="1175"/>
              </a:spcBef>
              <a:buClr>
                <a:srgbClr val="FF6600"/>
              </a:buClr>
              <a:buChar char="•"/>
              <a:tabLst>
                <a:tab pos="2997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预算体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僵化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，难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以适应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变的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经营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环境。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7204" y="417068"/>
            <a:ext cx="4600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成功预</a:t>
            </a:r>
            <a:r>
              <a:rPr dirty="0" spc="-20"/>
              <a:t>算</a:t>
            </a:r>
            <a:r>
              <a:rPr dirty="0" spc="5"/>
              <a:t>的</a:t>
            </a:r>
            <a:r>
              <a:rPr dirty="0" spc="-20"/>
              <a:t>共</a:t>
            </a:r>
            <a:r>
              <a:rPr dirty="0" spc="5"/>
              <a:t>同要素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8883" y="1652727"/>
            <a:ext cx="7837805" cy="258889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720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最重要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高层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管理者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认同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和支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持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2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普通员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认为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是自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己的预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目标一</a:t>
            </a:r>
            <a:r>
              <a:rPr dirty="0" sz="2400" spc="-25">
                <a:solidFill>
                  <a:srgbClr val="FFFFFF"/>
                </a:solidFill>
                <a:latin typeface="宋体"/>
                <a:cs typeface="宋体"/>
              </a:rPr>
              <a:t>致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性</a:t>
            </a:r>
            <a:endParaRPr sz="24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激励机制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预算目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高低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度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790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预算数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术分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析具有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确性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和相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当的精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0188" y="560324"/>
            <a:ext cx="4091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预算中</a:t>
            </a:r>
            <a:r>
              <a:rPr dirty="0" spc="-20"/>
              <a:t>的</a:t>
            </a:r>
            <a:r>
              <a:rPr dirty="0" spc="5"/>
              <a:t>道</a:t>
            </a:r>
            <a:r>
              <a:rPr dirty="0" spc="-20"/>
              <a:t>德</a:t>
            </a:r>
            <a:r>
              <a:rPr dirty="0" spc="5"/>
              <a:t>问题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5459" y="1627124"/>
            <a:ext cx="7929245" cy="245491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409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虚报预算数据：预算宽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余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宽松</a:t>
            </a:r>
            <a:endParaRPr sz="2400">
              <a:latin typeface="Microsoft JhengHei"/>
              <a:cs typeface="Microsoft JhengHei"/>
            </a:endParaRPr>
          </a:p>
          <a:p>
            <a:pPr marL="768350">
              <a:lnSpc>
                <a:spcPct val="100000"/>
              </a:lnSpc>
              <a:spcBef>
                <a:spcPts val="315"/>
              </a:spcBef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编制预算时的道德问题，以争取轻松完成预算。</a:t>
            </a:r>
            <a:endParaRPr sz="2400">
              <a:latin typeface="Microsoft JhengHei"/>
              <a:cs typeface="Microsoft JhengHei"/>
            </a:endParaRPr>
          </a:p>
          <a:p>
            <a:pPr marL="356870" marR="464820" indent="-356870">
              <a:lnSpc>
                <a:spcPct val="110000"/>
              </a:lnSpc>
              <a:spcBef>
                <a:spcPts val="20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盈余管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理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利润操纵（正向或反向操纵）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、</a:t>
            </a:r>
            <a:r>
              <a:rPr dirty="0" sz="2400" spc="-25" b="1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偷工减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料</a:t>
            </a:r>
            <a:r>
              <a:rPr dirty="0" sz="2400" b="1">
                <a:solidFill>
                  <a:srgbClr val="FFFFFF"/>
                </a:solidFill>
                <a:latin typeface="Arial"/>
                <a:cs typeface="Arial"/>
              </a:rPr>
              <a:t>” 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执行预算时的道德问题，与业绩报酬相关。</a:t>
            </a:r>
            <a:endParaRPr sz="2400">
              <a:latin typeface="Microsoft JhengHei"/>
              <a:cs typeface="Microsoft JhengHei"/>
            </a:endParaRPr>
          </a:p>
          <a:p>
            <a:pPr marL="356870" indent="-344805">
              <a:lnSpc>
                <a:spcPct val="100000"/>
              </a:lnSpc>
              <a:spcBef>
                <a:spcPts val="459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用尽预算</a:t>
            </a:r>
            <a:endParaRPr sz="2400">
              <a:latin typeface="Microsoft JhengHei"/>
              <a:cs typeface="Microsoft JhengHei"/>
            </a:endParaRPr>
          </a:p>
          <a:p>
            <a:pPr marL="600710">
              <a:lnSpc>
                <a:spcPct val="100000"/>
              </a:lnSpc>
              <a:spcBef>
                <a:spcPts val="165"/>
              </a:spcBef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执行预算时的道德问题，以增加以后预算的谈判筹码。</a:t>
            </a:r>
            <a:endParaRPr sz="24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4619" y="663956"/>
            <a:ext cx="663067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预算中</a:t>
            </a:r>
            <a:r>
              <a:rPr dirty="0" spc="-20"/>
              <a:t>的</a:t>
            </a:r>
            <a:r>
              <a:rPr dirty="0" spc="5"/>
              <a:t>道</a:t>
            </a:r>
            <a:r>
              <a:rPr dirty="0" spc="-20"/>
              <a:t>德</a:t>
            </a:r>
            <a:r>
              <a:rPr dirty="0" spc="5"/>
              <a:t>问题：</a:t>
            </a:r>
            <a:r>
              <a:rPr dirty="0" spc="-20"/>
              <a:t>解</a:t>
            </a:r>
            <a:r>
              <a:rPr dirty="0" spc="5"/>
              <a:t>决</a:t>
            </a:r>
            <a:r>
              <a:rPr dirty="0" spc="-20"/>
              <a:t>之</a:t>
            </a:r>
            <a:r>
              <a:rPr dirty="0" spc="5"/>
              <a:t>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291" y="1838655"/>
            <a:ext cx="7127240" cy="308610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86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对业绩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频繁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反馈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（如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海尔</a:t>
            </a:r>
            <a:r>
              <a:rPr dirty="0" sz="2800" spc="-25">
                <a:solidFill>
                  <a:srgbClr val="FFFFFF"/>
                </a:solidFill>
                <a:latin typeface="Arial"/>
                <a:cs typeface="Arial"/>
              </a:rPr>
              <a:t>”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77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货币性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非货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币性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奖励相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采用参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式预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算模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预算目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（标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准）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建立在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实环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境基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础之上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注意成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运用多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重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业绩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衡量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指标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7204" y="639572"/>
            <a:ext cx="4600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预算的</a:t>
            </a:r>
            <a:r>
              <a:rPr dirty="0" spc="-20"/>
              <a:t>不</a:t>
            </a:r>
            <a:r>
              <a:rPr dirty="0" spc="5"/>
              <a:t>同</a:t>
            </a:r>
            <a:r>
              <a:rPr dirty="0" spc="-20"/>
              <a:t>表</a:t>
            </a:r>
            <a:r>
              <a:rPr dirty="0" spc="5"/>
              <a:t>达方式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10588" y="1342440"/>
            <a:ext cx="4856480" cy="3433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815340">
              <a:lnSpc>
                <a:spcPct val="139800"/>
              </a:lnSpc>
              <a:spcBef>
                <a:spcPts val="110"/>
              </a:spcBef>
            </a:pPr>
            <a:r>
              <a:rPr dirty="0" sz="3200" spc="249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固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定预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与弹性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预</a:t>
            </a:r>
            <a:r>
              <a:rPr dirty="0" sz="3200" spc="-2875" b="1">
                <a:solidFill>
                  <a:srgbClr val="FFFFFF"/>
                </a:solidFill>
                <a:latin typeface="Microsoft JhengHei"/>
                <a:cs typeface="Microsoft JhengHei"/>
              </a:rPr>
              <a:t>算 </a:t>
            </a:r>
            <a:r>
              <a:rPr dirty="0" sz="3200" spc="249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增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量预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与零基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预</a:t>
            </a:r>
            <a:r>
              <a:rPr dirty="0" sz="3200" spc="-2875" b="1">
                <a:solidFill>
                  <a:srgbClr val="FFFFFF"/>
                </a:solidFill>
                <a:latin typeface="Microsoft JhengHei"/>
                <a:cs typeface="Microsoft JhengHei"/>
              </a:rPr>
              <a:t>算 </a:t>
            </a:r>
            <a:r>
              <a:rPr dirty="0" sz="3200" spc="249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定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期预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与滚动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预</a:t>
            </a:r>
            <a:r>
              <a:rPr dirty="0" sz="3200" spc="-2875" b="1">
                <a:solidFill>
                  <a:srgbClr val="FFFFFF"/>
                </a:solidFill>
                <a:latin typeface="Microsoft JhengHei"/>
                <a:cs typeface="Microsoft JhengHei"/>
              </a:rPr>
              <a:t>算 </a:t>
            </a:r>
            <a:r>
              <a:rPr dirty="0" sz="3200" spc="249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定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值预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与概率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预</a:t>
            </a:r>
            <a:r>
              <a:rPr dirty="0" sz="3200" spc="-288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endParaRPr sz="32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dirty="0" sz="3200" spc="249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各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种预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方式的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结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合运</a:t>
            </a:r>
            <a:r>
              <a:rPr dirty="0" sz="3200" spc="-2795" b="1">
                <a:solidFill>
                  <a:srgbClr val="FFFFFF"/>
                </a:solidFill>
                <a:latin typeface="Microsoft JhengHei"/>
                <a:cs typeface="Microsoft JhengHei"/>
              </a:rPr>
              <a:t>用</a:t>
            </a:r>
            <a:endParaRPr sz="32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883" y="1761236"/>
            <a:ext cx="8559800" cy="3443604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713105">
              <a:lnSpc>
                <a:spcPct val="98300"/>
              </a:lnSpc>
              <a:spcBef>
                <a:spcPts val="165"/>
              </a:spcBef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固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定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预算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（Fixed</a:t>
            </a:r>
            <a:r>
              <a:rPr dirty="0" sz="2800" spc="-2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Budget）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额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确定的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算，  是一个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务量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水平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上的预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而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弹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性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预算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（Flexible  Budget）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则是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在相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关范围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多个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量水平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  可以说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多个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固定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预算的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迭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加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 marR="358140" indent="713105">
              <a:lnSpc>
                <a:spcPct val="100000"/>
              </a:lnSpc>
              <a:spcBef>
                <a:spcPts val="16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分关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键是责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定，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如销售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算，对 销售部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应当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定的，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生产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部门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应当是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性的。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600">
              <a:latin typeface="宋体"/>
              <a:cs typeface="宋体"/>
            </a:endParaRPr>
          </a:p>
          <a:p>
            <a:pPr marL="725805">
              <a:lnSpc>
                <a:spcPct val="100000"/>
              </a:lnSpc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弹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性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预算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同时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还可以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作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为预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算调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整的工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具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70251" y="639572"/>
            <a:ext cx="4600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 b="0">
                <a:latin typeface="宋体"/>
                <a:cs typeface="宋体"/>
              </a:rPr>
              <a:t>固定预</a:t>
            </a:r>
            <a:r>
              <a:rPr dirty="0" spc="-20" b="0">
                <a:latin typeface="宋体"/>
                <a:cs typeface="宋体"/>
              </a:rPr>
              <a:t>算</a:t>
            </a:r>
            <a:r>
              <a:rPr dirty="0" spc="5" b="0">
                <a:latin typeface="宋体"/>
                <a:cs typeface="宋体"/>
              </a:rPr>
              <a:t>与</a:t>
            </a:r>
            <a:r>
              <a:rPr dirty="0" spc="-20" b="0">
                <a:latin typeface="宋体"/>
                <a:cs typeface="宋体"/>
              </a:rPr>
              <a:t>弹</a:t>
            </a:r>
            <a:r>
              <a:rPr dirty="0" spc="5" b="0">
                <a:latin typeface="宋体"/>
                <a:cs typeface="宋体"/>
              </a:rPr>
              <a:t>性预算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5627" y="1663700"/>
            <a:ext cx="8255000" cy="404304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algn="just" marL="12700" marR="5080" indent="609600">
              <a:lnSpc>
                <a:spcPct val="97500"/>
              </a:lnSpc>
              <a:spcBef>
                <a:spcPts val="170"/>
              </a:spcBef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增量预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400" spc="-5">
                <a:solidFill>
                  <a:srgbClr val="FFFFFF"/>
                </a:solidFill>
                <a:latin typeface="宋体"/>
                <a:cs typeface="宋体"/>
              </a:rPr>
              <a:t>（Incremental</a:t>
            </a:r>
            <a:r>
              <a:rPr dirty="0" sz="2400" spc="-6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Budget）是在现有的费用水平基 础，根据业务量预期的变化，对现有费用作增减变化来确定预 算期的预算数，它承认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存在即合理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622300">
              <a:lnSpc>
                <a:spcPct val="100000"/>
              </a:lnSpc>
              <a:tabLst>
                <a:tab pos="3669665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零基预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400" spc="-5">
                <a:solidFill>
                  <a:srgbClr val="FFFFFF"/>
                </a:solidFill>
                <a:latin typeface="宋体"/>
                <a:cs typeface="宋体"/>
              </a:rPr>
              <a:t>（Zero-base	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Budget）则是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一切从零开始</a:t>
            </a:r>
            <a:r>
              <a:rPr dirty="0" sz="2400" spc="-5">
                <a:solidFill>
                  <a:srgbClr val="FFFFFF"/>
                </a:solidFill>
                <a:latin typeface="Arial"/>
                <a:cs typeface="Arial"/>
              </a:rPr>
              <a:t>”</a:t>
            </a:r>
            <a:r>
              <a:rPr dirty="0" sz="2400" spc="-5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endParaRPr sz="24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每项费用开支作认真的成本效益分析（Cost-benefit  Analysis），据以判断各项开支的合理性和优先顺序，形成最 终的预算方案。所以，零基预算明显优于增量预算，但零基预 算本身有可能不符合成本效益原则。</a:t>
            </a:r>
            <a:endParaRPr sz="2400">
              <a:latin typeface="宋体"/>
              <a:cs typeface="宋体"/>
            </a:endParaRPr>
          </a:p>
          <a:p>
            <a:pPr algn="just" marL="12700" marR="5080" indent="609600">
              <a:lnSpc>
                <a:spcPct val="99600"/>
              </a:lnSpc>
              <a:spcBef>
                <a:spcPts val="1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从成本效益角度考虑，企业可每隔若干年（如三五年）进 行一次零基预算，以后几年内则用增量预算作适当调整，这样 便可使两种预算方式较好地进行配合。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70251" y="639572"/>
            <a:ext cx="4600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 b="0">
                <a:latin typeface="宋体"/>
                <a:cs typeface="宋体"/>
              </a:rPr>
              <a:t>增量预</a:t>
            </a:r>
            <a:r>
              <a:rPr dirty="0" spc="-20" b="0">
                <a:latin typeface="宋体"/>
                <a:cs typeface="宋体"/>
              </a:rPr>
              <a:t>算</a:t>
            </a:r>
            <a:r>
              <a:rPr dirty="0" spc="5" b="0">
                <a:latin typeface="宋体"/>
                <a:cs typeface="宋体"/>
              </a:rPr>
              <a:t>与</a:t>
            </a:r>
            <a:r>
              <a:rPr dirty="0" spc="-20" b="0">
                <a:latin typeface="宋体"/>
                <a:cs typeface="宋体"/>
              </a:rPr>
              <a:t>零</a:t>
            </a:r>
            <a:r>
              <a:rPr dirty="0" spc="5" b="0">
                <a:latin typeface="宋体"/>
                <a:cs typeface="宋体"/>
              </a:rPr>
              <a:t>基预算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2067" y="746252"/>
            <a:ext cx="4493895" cy="5124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10"/>
              <a:t>附</a:t>
            </a:r>
            <a:r>
              <a:rPr dirty="0" sz="3200" spc="-10"/>
              <a:t>：零</a:t>
            </a:r>
            <a:r>
              <a:rPr dirty="0" sz="3200" spc="10"/>
              <a:t>基</a:t>
            </a:r>
            <a:r>
              <a:rPr dirty="0" sz="3200" spc="-10"/>
              <a:t>预算的</a:t>
            </a:r>
            <a:r>
              <a:rPr dirty="0" sz="3200" spc="10"/>
              <a:t>基</a:t>
            </a:r>
            <a:r>
              <a:rPr dirty="0" sz="3200" spc="-10"/>
              <a:t>本做法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95019" y="1517395"/>
            <a:ext cx="7685405" cy="405828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700"/>
              </a:spcBef>
              <a:buClr>
                <a:srgbClr val="FF6600"/>
              </a:buClr>
              <a:buFont typeface=""/>
              <a:buChar char="•"/>
              <a:tabLst>
                <a:tab pos="357505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划分基层预算单位；</a:t>
            </a:r>
            <a:endParaRPr sz="2400">
              <a:latin typeface="Microsoft JhengHei"/>
              <a:cs typeface="Microsoft JhengHei"/>
            </a:endParaRPr>
          </a:p>
          <a:p>
            <a:pPr marL="356870" marR="172720" indent="-344805">
              <a:lnSpc>
                <a:spcPts val="2860"/>
              </a:lnSpc>
              <a:spcBef>
                <a:spcPts val="710"/>
              </a:spcBef>
              <a:buClr>
                <a:srgbClr val="FF6600"/>
              </a:buClr>
              <a:buFont typeface=""/>
              <a:buChar char="•"/>
              <a:tabLst>
                <a:tab pos="357505" algn="l"/>
              </a:tabLst>
            </a:pPr>
            <a:r>
              <a:rPr dirty="0" sz="2400" spc="45" b="1">
                <a:solidFill>
                  <a:srgbClr val="FFFFFF"/>
                </a:solidFill>
                <a:latin typeface="Microsoft JhengHei"/>
                <a:cs typeface="Microsoft JhengHei"/>
              </a:rPr>
              <a:t>对基层预</a:t>
            </a:r>
            <a:r>
              <a:rPr dirty="0" sz="2400" spc="7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400" spc="45" b="1">
                <a:solidFill>
                  <a:srgbClr val="FFFFFF"/>
                </a:solidFill>
                <a:latin typeface="Microsoft JhengHei"/>
                <a:cs typeface="Microsoft JhengHei"/>
              </a:rPr>
              <a:t>单位的业务活动计划</a:t>
            </a:r>
            <a:r>
              <a:rPr dirty="0" sz="2400" spc="70" b="1">
                <a:solidFill>
                  <a:srgbClr val="FFFFFF"/>
                </a:solidFill>
                <a:latin typeface="Microsoft JhengHei"/>
                <a:cs typeface="Microsoft JhengHei"/>
              </a:rPr>
              <a:t>的</a:t>
            </a:r>
            <a:r>
              <a:rPr dirty="0" sz="2400" spc="45" b="1">
                <a:solidFill>
                  <a:srgbClr val="FFFFFF"/>
                </a:solidFill>
                <a:latin typeface="Microsoft JhengHei"/>
                <a:cs typeface="Microsoft JhengHei"/>
              </a:rPr>
              <a:t>目的及需</a:t>
            </a:r>
            <a:r>
              <a:rPr dirty="0" sz="2400" spc="20" b="1">
                <a:solidFill>
                  <a:srgbClr val="FFFFFF"/>
                </a:solidFill>
                <a:latin typeface="Microsoft JhengHei"/>
                <a:cs typeface="Microsoft JhengHei"/>
              </a:rPr>
              <a:t>要</a:t>
            </a:r>
            <a:r>
              <a:rPr dirty="0" sz="2400" spc="45" b="1">
                <a:solidFill>
                  <a:srgbClr val="FFFFFF"/>
                </a:solidFill>
                <a:latin typeface="Microsoft JhengHei"/>
                <a:cs typeface="Microsoft JhengHei"/>
              </a:rPr>
              <a:t>开支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的 费用逐项进行考核；</a:t>
            </a:r>
            <a:endParaRPr sz="2400">
              <a:latin typeface="Microsoft JhengHei"/>
              <a:cs typeface="Microsoft JhengHei"/>
            </a:endParaRPr>
          </a:p>
          <a:p>
            <a:pPr marL="356870" indent="-344805">
              <a:lnSpc>
                <a:spcPct val="100000"/>
              </a:lnSpc>
              <a:spcBef>
                <a:spcPts val="505"/>
              </a:spcBef>
              <a:buClr>
                <a:srgbClr val="FF6600"/>
              </a:buClr>
              <a:buFont typeface=""/>
              <a:buChar char="•"/>
              <a:tabLst>
                <a:tab pos="357505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由基层单位对本身业务活动具体分析，提出方案；</a:t>
            </a:r>
            <a:endParaRPr sz="2400">
              <a:latin typeface="Microsoft JhengHei"/>
              <a:cs typeface="Microsoft JhengHei"/>
            </a:endParaRPr>
          </a:p>
          <a:p>
            <a:pPr marL="356870" marR="175260" indent="-344805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"/>
              <a:buChar char="•"/>
              <a:tabLst>
                <a:tab pos="357505" algn="l"/>
              </a:tabLst>
            </a:pPr>
            <a:r>
              <a:rPr dirty="0" sz="2400" spc="120" b="1">
                <a:solidFill>
                  <a:srgbClr val="FFFFFF"/>
                </a:solidFill>
                <a:latin typeface="Microsoft JhengHei"/>
                <a:cs typeface="Microsoft JhengHei"/>
              </a:rPr>
              <a:t>对每项业</a:t>
            </a:r>
            <a:r>
              <a:rPr dirty="0" sz="2400" spc="95" b="1">
                <a:solidFill>
                  <a:srgbClr val="FFFFFF"/>
                </a:solidFill>
                <a:latin typeface="Microsoft JhengHei"/>
                <a:cs typeface="Microsoft JhengHei"/>
              </a:rPr>
              <a:t>务活动计划进</a:t>
            </a:r>
            <a:r>
              <a:rPr dirty="0" sz="2400" spc="120" b="1">
                <a:solidFill>
                  <a:srgbClr val="FFFFFF"/>
                </a:solidFill>
                <a:latin typeface="Microsoft JhengHei"/>
                <a:cs typeface="Microsoft JhengHei"/>
              </a:rPr>
              <a:t>行</a:t>
            </a:r>
            <a:r>
              <a:rPr dirty="0" sz="2400" spc="95" b="1">
                <a:solidFill>
                  <a:srgbClr val="FFFFFF"/>
                </a:solidFill>
                <a:latin typeface="Microsoft JhengHei"/>
                <a:cs typeface="Microsoft JhengHei"/>
              </a:rPr>
              <a:t>成本</a:t>
            </a:r>
            <a:r>
              <a:rPr dirty="0" sz="2400" spc="250" b="1">
                <a:solidFill>
                  <a:srgbClr val="FFFFFF"/>
                </a:solidFill>
                <a:latin typeface="Microsoft JhengHei"/>
                <a:cs typeface="Microsoft JhengHei"/>
              </a:rPr>
              <a:t>-</a:t>
            </a:r>
            <a:r>
              <a:rPr dirty="0" sz="2400" spc="95" b="1">
                <a:solidFill>
                  <a:srgbClr val="FFFFFF"/>
                </a:solidFill>
                <a:latin typeface="Microsoft JhengHei"/>
                <a:cs typeface="Microsoft JhengHei"/>
              </a:rPr>
              <a:t>效益</a:t>
            </a:r>
            <a:r>
              <a:rPr dirty="0" sz="2400" spc="120" b="1">
                <a:solidFill>
                  <a:srgbClr val="FFFFFF"/>
                </a:solidFill>
                <a:latin typeface="Microsoft JhengHei"/>
                <a:cs typeface="Microsoft JhengHei"/>
              </a:rPr>
              <a:t>分</a:t>
            </a:r>
            <a:r>
              <a:rPr dirty="0" sz="2400" spc="95" b="1">
                <a:solidFill>
                  <a:srgbClr val="FFFFFF"/>
                </a:solidFill>
                <a:latin typeface="Microsoft JhengHei"/>
                <a:cs typeface="Microsoft JhengHei"/>
              </a:rPr>
              <a:t>析，排</a:t>
            </a:r>
            <a:r>
              <a:rPr dirty="0" sz="2400" spc="120" b="1">
                <a:solidFill>
                  <a:srgbClr val="FFFFFF"/>
                </a:solidFill>
                <a:latin typeface="Microsoft JhengHei"/>
                <a:cs typeface="Microsoft JhengHei"/>
              </a:rPr>
              <a:t>列</a:t>
            </a:r>
            <a:r>
              <a:rPr dirty="0" sz="2400" spc="70" b="1">
                <a:solidFill>
                  <a:srgbClr val="FFFFFF"/>
                </a:solidFill>
                <a:latin typeface="Microsoft JhengHei"/>
                <a:cs typeface="Microsoft JhengHei"/>
              </a:rPr>
              <a:t>优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先 顺序与等级；</a:t>
            </a:r>
            <a:endParaRPr sz="2400">
              <a:latin typeface="Microsoft JhengHei"/>
              <a:cs typeface="Microsoft JhengHei"/>
            </a:endParaRPr>
          </a:p>
          <a:p>
            <a:pPr marL="356870" marR="5080" indent="-344805">
              <a:lnSpc>
                <a:spcPct val="99700"/>
              </a:lnSpc>
              <a:spcBef>
                <a:spcPts val="610"/>
              </a:spcBef>
              <a:buClr>
                <a:srgbClr val="FF6600"/>
              </a:buClr>
              <a:buFont typeface=""/>
              <a:buChar char="•"/>
              <a:tabLst>
                <a:tab pos="357505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根据生产经营的客观需要和一定期间内资金供应的实 际可能，判定纳入预算中的费用项目可以达到几级，  并对已确定可纳入预算中的费用项目进行加工、汇总、 形成综合性的费用预算。</a:t>
            </a:r>
            <a:endParaRPr sz="24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2036" y="1633220"/>
            <a:ext cx="7914005" cy="4936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97535">
              <a:lnSpc>
                <a:spcPct val="100000"/>
              </a:lnSpc>
              <a:spcBef>
                <a:spcPts val="105"/>
              </a:spcBef>
            </a:pPr>
            <a:r>
              <a:rPr dirty="0" sz="2300" b="1">
                <a:solidFill>
                  <a:srgbClr val="FFFFFF"/>
                </a:solidFill>
                <a:latin typeface="Microsoft JhengHei"/>
                <a:cs typeface="Microsoft JhengHei"/>
              </a:rPr>
              <a:t>定期预算</a:t>
            </a:r>
            <a:r>
              <a:rPr dirty="0" sz="2300" spc="-5">
                <a:solidFill>
                  <a:srgbClr val="FFFFFF"/>
                </a:solidFill>
                <a:latin typeface="宋体"/>
                <a:cs typeface="宋体"/>
              </a:rPr>
              <a:t>（Periodical 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Budget）是按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照确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定的预算期</a:t>
            </a:r>
            <a:endParaRPr sz="23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</a:pP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（通常为一个会计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年度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）来编制的预算，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这种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预算执行一段便 少了一段，可能导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致企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业忽视长远打算。</a:t>
            </a:r>
            <a:endParaRPr sz="2300">
              <a:latin typeface="宋体"/>
              <a:cs typeface="宋体"/>
            </a:endParaRPr>
          </a:p>
          <a:p>
            <a:pPr marL="12700" indent="584835">
              <a:lnSpc>
                <a:spcPct val="100000"/>
              </a:lnSpc>
            </a:pPr>
            <a:r>
              <a:rPr dirty="0" sz="2300" spc="25" b="1">
                <a:solidFill>
                  <a:srgbClr val="FFFFFF"/>
                </a:solidFill>
                <a:latin typeface="Microsoft JhengHei"/>
                <a:cs typeface="Microsoft JhengHei"/>
              </a:rPr>
              <a:t>滚动</a:t>
            </a:r>
            <a:r>
              <a:rPr dirty="0" sz="2300" spc="10" b="1">
                <a:solidFill>
                  <a:srgbClr val="FFFFFF"/>
                </a:solidFill>
                <a:latin typeface="Microsoft JhengHei"/>
                <a:cs typeface="Microsoft JhengHei"/>
              </a:rPr>
              <a:t>/</a:t>
            </a:r>
            <a:r>
              <a:rPr dirty="0" sz="2300" spc="25" b="1">
                <a:solidFill>
                  <a:srgbClr val="FFFFFF"/>
                </a:solidFill>
                <a:latin typeface="Microsoft JhengHei"/>
                <a:cs typeface="Microsoft JhengHei"/>
              </a:rPr>
              <a:t>连续预算</a:t>
            </a:r>
            <a:r>
              <a:rPr dirty="0" sz="2300" spc="-5">
                <a:solidFill>
                  <a:srgbClr val="FFFFFF"/>
                </a:solidFill>
                <a:latin typeface="宋体"/>
                <a:cs typeface="宋体"/>
              </a:rPr>
              <a:t>（Rolling/Continuous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300" spc="-5">
                <a:solidFill>
                  <a:srgbClr val="FFFFFF"/>
                </a:solidFill>
                <a:latin typeface="宋体"/>
                <a:cs typeface="宋体"/>
              </a:rPr>
              <a:t>Budget）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则是在编</a:t>
            </a:r>
            <a:endParaRPr sz="23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制一定期间预算的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基础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上，待预算执行一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段后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，立即再补充后 续一个相应期间的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预算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，并对剩余期间的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预算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可根据经营环境 的变化作适当调整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（要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注意预算的严肃性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），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如此往后滚动，  从而使预算始终都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保持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为一个事先预定的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期间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内的预算。滚动 预算可以克服定期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预算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的缺点，并使预算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增加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灵活性和适应环 境变化的能力（符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dirty="0" sz="2300" spc="-25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dirty="0" sz="2300" b="1">
                <a:solidFill>
                  <a:srgbClr val="FFFFFF"/>
                </a:solidFill>
                <a:latin typeface="Microsoft JhengHei"/>
                <a:cs typeface="Microsoft JhengHei"/>
              </a:rPr>
              <a:t>持续改善</a:t>
            </a:r>
            <a:r>
              <a:rPr dirty="0" sz="2300">
                <a:solidFill>
                  <a:srgbClr val="FFFFFF"/>
                </a:solidFill>
                <a:latin typeface="Arial"/>
                <a:cs typeface="Arial"/>
              </a:rPr>
              <a:t>”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的哲学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思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想</a:t>
            </a:r>
            <a:r>
              <a:rPr dirty="0" sz="2300" spc="-10">
                <a:solidFill>
                  <a:srgbClr val="FFFFFF"/>
                </a:solidFill>
                <a:latin typeface="宋体"/>
                <a:cs typeface="宋体"/>
              </a:rPr>
              <a:t>），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有利于充分发 挥预算的指导和控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制作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用，值得在企业中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推广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应用。</a:t>
            </a:r>
            <a:endParaRPr sz="2300">
              <a:latin typeface="宋体"/>
              <a:cs typeface="宋体"/>
            </a:endParaRPr>
          </a:p>
          <a:p>
            <a:pPr marL="12700" marR="5080" indent="588010">
              <a:lnSpc>
                <a:spcPct val="100000"/>
              </a:lnSpc>
            </a:pP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滚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动预算还可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发展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300" b="1">
                <a:solidFill>
                  <a:srgbClr val="FFFFFF"/>
                </a:solidFill>
                <a:latin typeface="Microsoft JhengHei"/>
                <a:cs typeface="Microsoft JhengHei"/>
              </a:rPr>
              <a:t>连续更新预算</a:t>
            </a:r>
            <a:r>
              <a:rPr dirty="0" sz="2300" spc="-5">
                <a:solidFill>
                  <a:srgbClr val="FFFFFF"/>
                </a:solidFill>
                <a:latin typeface="宋体"/>
                <a:cs typeface="宋体"/>
              </a:rPr>
              <a:t>(Continuously  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Updated Budget )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。它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的主要目的是利用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新的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信息来修正该年 度全面预算中已确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定的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经营方针。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70251" y="639572"/>
            <a:ext cx="4600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 b="0">
                <a:latin typeface="宋体"/>
                <a:cs typeface="宋体"/>
              </a:rPr>
              <a:t>定期预</a:t>
            </a:r>
            <a:r>
              <a:rPr dirty="0" spc="-20" b="0">
                <a:latin typeface="宋体"/>
                <a:cs typeface="宋体"/>
              </a:rPr>
              <a:t>算</a:t>
            </a:r>
            <a:r>
              <a:rPr dirty="0" spc="5" b="0">
                <a:latin typeface="宋体"/>
                <a:cs typeface="宋体"/>
              </a:rPr>
              <a:t>与</a:t>
            </a:r>
            <a:r>
              <a:rPr dirty="0" spc="-20" b="0">
                <a:latin typeface="宋体"/>
                <a:cs typeface="宋体"/>
              </a:rPr>
              <a:t>滚</a:t>
            </a:r>
            <a:r>
              <a:rPr dirty="0" spc="5" b="0">
                <a:latin typeface="宋体"/>
                <a:cs typeface="宋体"/>
              </a:rPr>
              <a:t>动预算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6900" y="1971548"/>
            <a:ext cx="7947659" cy="28009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496570">
              <a:lnSpc>
                <a:spcPct val="100000"/>
              </a:lnSpc>
              <a:spcBef>
                <a:spcPts val="90"/>
              </a:spcBef>
            </a:pP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定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值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预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600" spc="-5">
                <a:solidFill>
                  <a:srgbClr val="FFFFFF"/>
                </a:solidFill>
                <a:latin typeface="宋体"/>
                <a:cs typeface="宋体"/>
              </a:rPr>
              <a:t>（Certain</a:t>
            </a:r>
            <a:r>
              <a:rPr dirty="0" sz="2600" spc="-3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spc="-5">
                <a:solidFill>
                  <a:srgbClr val="FFFFFF"/>
                </a:solidFill>
                <a:latin typeface="宋体"/>
                <a:cs typeface="宋体"/>
              </a:rPr>
              <a:t>Budget）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确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定环境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给出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预算涉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及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的销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售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单价、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量、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等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变量一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确定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值的预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  <a:p>
            <a:pPr marL="12700" marR="5080" indent="661035">
              <a:lnSpc>
                <a:spcPct val="100000"/>
              </a:lnSpc>
            </a:pP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概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率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预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600" spc="-5">
                <a:solidFill>
                  <a:srgbClr val="FFFFFF"/>
                </a:solidFill>
                <a:latin typeface="宋体"/>
                <a:cs typeface="宋体"/>
              </a:rPr>
              <a:t>（Probability</a:t>
            </a:r>
            <a:r>
              <a:rPr dirty="0" sz="2600" spc="-3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 spc="-5">
                <a:solidFill>
                  <a:srgbClr val="FFFFFF"/>
                </a:solidFill>
                <a:latin typeface="宋体"/>
                <a:cs typeface="宋体"/>
              </a:rPr>
              <a:t>Budget）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是在风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险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环境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下给出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预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算涉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及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各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种变量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概率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布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再利用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它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计算</a:t>
            </a:r>
            <a:endParaRPr sz="26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出各自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期望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并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以此来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确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定预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算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这样可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提高 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预算的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科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学性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准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确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性。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70251" y="639572"/>
            <a:ext cx="4600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 b="0">
                <a:latin typeface="宋体"/>
                <a:cs typeface="宋体"/>
              </a:rPr>
              <a:t>定值预</a:t>
            </a:r>
            <a:r>
              <a:rPr dirty="0" spc="-20" b="0">
                <a:latin typeface="宋体"/>
                <a:cs typeface="宋体"/>
              </a:rPr>
              <a:t>算</a:t>
            </a:r>
            <a:r>
              <a:rPr dirty="0" spc="5" b="0">
                <a:latin typeface="宋体"/>
                <a:cs typeface="宋体"/>
              </a:rPr>
              <a:t>与</a:t>
            </a:r>
            <a:r>
              <a:rPr dirty="0" spc="-20" b="0">
                <a:latin typeface="宋体"/>
                <a:cs typeface="宋体"/>
              </a:rPr>
              <a:t>概</a:t>
            </a:r>
            <a:r>
              <a:rPr dirty="0" spc="5" b="0">
                <a:latin typeface="宋体"/>
                <a:cs typeface="宋体"/>
              </a:rPr>
              <a:t>率预算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2244" y="2079447"/>
            <a:ext cx="7493000" cy="25888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 indent="713105">
              <a:lnSpc>
                <a:spcPct val="150200"/>
              </a:lnSpc>
              <a:spcBef>
                <a:spcPts val="90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业编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制预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算时，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种预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算形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式是可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同 时配合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使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用的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不必拘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某种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预算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形式，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弹 性预算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零基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预算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、滚动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算和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概率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预算就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以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同时用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预算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编制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之中。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61235" y="639572"/>
            <a:ext cx="5615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 b="0">
                <a:latin typeface="宋体"/>
                <a:cs typeface="宋体"/>
              </a:rPr>
              <a:t>各种预</a:t>
            </a:r>
            <a:r>
              <a:rPr dirty="0" spc="-20" b="0">
                <a:latin typeface="宋体"/>
                <a:cs typeface="宋体"/>
              </a:rPr>
              <a:t>算</a:t>
            </a:r>
            <a:r>
              <a:rPr dirty="0" spc="5" b="0">
                <a:latin typeface="宋体"/>
                <a:cs typeface="宋体"/>
              </a:rPr>
              <a:t>方</a:t>
            </a:r>
            <a:r>
              <a:rPr dirty="0" spc="-20" b="0">
                <a:latin typeface="宋体"/>
                <a:cs typeface="宋体"/>
              </a:rPr>
              <a:t>式</a:t>
            </a:r>
            <a:r>
              <a:rPr dirty="0" spc="5" b="0">
                <a:latin typeface="宋体"/>
                <a:cs typeface="宋体"/>
              </a:rPr>
              <a:t>的结合</a:t>
            </a:r>
            <a:r>
              <a:rPr dirty="0" spc="-20" b="0">
                <a:latin typeface="宋体"/>
                <a:cs typeface="宋体"/>
              </a:rPr>
              <a:t>运</a:t>
            </a:r>
            <a:r>
              <a:rPr dirty="0" spc="5" b="0">
                <a:latin typeface="宋体"/>
                <a:cs typeface="宋体"/>
              </a:rPr>
              <a:t>用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7204" y="639572"/>
            <a:ext cx="4600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预算管</a:t>
            </a:r>
            <a:r>
              <a:rPr dirty="0" spc="-20"/>
              <a:t>理</a:t>
            </a:r>
            <a:r>
              <a:rPr dirty="0" spc="5"/>
              <a:t>与</a:t>
            </a:r>
            <a:r>
              <a:rPr dirty="0" spc="-20"/>
              <a:t>业</a:t>
            </a:r>
            <a:r>
              <a:rPr dirty="0" spc="5"/>
              <a:t>绩评价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7227" y="1875841"/>
            <a:ext cx="5606415" cy="2153285"/>
          </a:xfrm>
          <a:prstGeom prst="rect">
            <a:avLst/>
          </a:prstGeom>
        </p:spPr>
        <p:txBody>
          <a:bodyPr wrap="square" lIns="0" tIns="2228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5"/>
              </a:spcBef>
            </a:pPr>
            <a:r>
              <a:rPr dirty="0" sz="3200" spc="249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预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算管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理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评价体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系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的建立</a:t>
            </a:r>
            <a:endParaRPr sz="3200">
              <a:latin typeface="Microsoft JhengHei"/>
              <a:cs typeface="Microsoft JhengHei"/>
            </a:endParaRPr>
          </a:p>
          <a:p>
            <a:pPr marL="12700" marR="5080">
              <a:lnSpc>
                <a:spcPts val="5760"/>
              </a:lnSpc>
              <a:spcBef>
                <a:spcPts val="250"/>
              </a:spcBef>
            </a:pPr>
            <a:r>
              <a:rPr dirty="0" sz="3200" spc="249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业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绩评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价</a:t>
            </a:r>
            <a:r>
              <a:rPr dirty="0" sz="3200" spc="-15" b="1">
                <a:solidFill>
                  <a:srgbClr val="FFFFFF"/>
                </a:solidFill>
                <a:latin typeface="Arial"/>
                <a:cs typeface="Arial"/>
              </a:rPr>
              <a:t>­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经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济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增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加</a:t>
            </a:r>
            <a:r>
              <a:rPr dirty="0" sz="3200" spc="-80" b="1">
                <a:solidFill>
                  <a:srgbClr val="FFFFFF"/>
                </a:solidFill>
                <a:latin typeface="Microsoft JhengHei"/>
                <a:cs typeface="Microsoft JhengHei"/>
              </a:rPr>
              <a:t>值</a:t>
            </a:r>
            <a:r>
              <a:rPr dirty="0" sz="3200" spc="-655" b="1">
                <a:solidFill>
                  <a:srgbClr val="FFFFFF"/>
                </a:solidFill>
                <a:latin typeface="Microsoft JhengHei"/>
                <a:cs typeface="Microsoft JhengHei"/>
              </a:rPr>
              <a:t>（</a:t>
            </a:r>
            <a:r>
              <a:rPr dirty="0" sz="3200" spc="-610" b="1">
                <a:solidFill>
                  <a:srgbClr val="FFFFFF"/>
                </a:solidFill>
                <a:latin typeface="Microsoft JhengHei"/>
                <a:cs typeface="Microsoft JhengHei"/>
              </a:rPr>
              <a:t>E</a:t>
            </a:r>
            <a:r>
              <a:rPr dirty="0" sz="3200" spc="-1175" b="1">
                <a:solidFill>
                  <a:srgbClr val="FFFFFF"/>
                </a:solidFill>
                <a:latin typeface="Microsoft JhengHei"/>
                <a:cs typeface="Microsoft JhengHei"/>
              </a:rPr>
              <a:t>V</a:t>
            </a:r>
            <a:r>
              <a:rPr dirty="0" sz="3200" spc="-1270" b="1">
                <a:solidFill>
                  <a:srgbClr val="FFFFFF"/>
                </a:solidFill>
                <a:latin typeface="Microsoft JhengHei"/>
                <a:cs typeface="Microsoft JhengHei"/>
              </a:rPr>
              <a:t>A</a:t>
            </a:r>
            <a:r>
              <a:rPr dirty="0" sz="3200" spc="-580" b="1">
                <a:solidFill>
                  <a:srgbClr val="FFFFFF"/>
                </a:solidFill>
                <a:latin typeface="Microsoft JhengHei"/>
                <a:cs typeface="Microsoft JhengHei"/>
              </a:rPr>
              <a:t>） </a:t>
            </a:r>
            <a:r>
              <a:rPr dirty="0" sz="3200" spc="249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业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绩评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价</a:t>
            </a:r>
            <a:r>
              <a:rPr dirty="0" sz="3200" spc="-15" b="1">
                <a:solidFill>
                  <a:srgbClr val="FFFFFF"/>
                </a:solidFill>
                <a:latin typeface="Arial"/>
                <a:cs typeface="Arial"/>
              </a:rPr>
              <a:t>­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综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合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平</a:t>
            </a:r>
            <a:r>
              <a:rPr dirty="0" sz="3200" spc="10" b="1">
                <a:solidFill>
                  <a:srgbClr val="FFFFFF"/>
                </a:solidFill>
                <a:latin typeface="Microsoft JhengHei"/>
                <a:cs typeface="Microsoft JhengHei"/>
              </a:rPr>
              <a:t>衡</a:t>
            </a:r>
            <a:r>
              <a:rPr dirty="0" sz="3200" spc="-10" b="1">
                <a:solidFill>
                  <a:srgbClr val="FFFFFF"/>
                </a:solidFill>
                <a:latin typeface="Microsoft JhengHei"/>
                <a:cs typeface="Microsoft JhengHei"/>
              </a:rPr>
              <a:t>记分卡</a:t>
            </a:r>
            <a:endParaRPr sz="32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1235" y="557276"/>
            <a:ext cx="5615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预算管</a:t>
            </a:r>
            <a:r>
              <a:rPr dirty="0" spc="-20"/>
              <a:t>理</a:t>
            </a:r>
            <a:r>
              <a:rPr dirty="0" spc="5"/>
              <a:t>评</a:t>
            </a:r>
            <a:r>
              <a:rPr dirty="0" spc="-20"/>
              <a:t>价</a:t>
            </a:r>
            <a:r>
              <a:rPr dirty="0" spc="5"/>
              <a:t>体系的</a:t>
            </a:r>
            <a:r>
              <a:rPr dirty="0" spc="-20"/>
              <a:t>建</a:t>
            </a:r>
            <a:r>
              <a:rPr dirty="0" spc="5"/>
              <a:t>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891" y="1454156"/>
            <a:ext cx="8237220" cy="394462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09855">
              <a:lnSpc>
                <a:spcPct val="100000"/>
              </a:lnSpc>
              <a:spcBef>
                <a:spcPts val="650"/>
              </a:spcBef>
            </a:pPr>
            <a:r>
              <a:rPr dirty="0" sz="2900" b="1">
                <a:solidFill>
                  <a:srgbClr val="FFFFFF"/>
                </a:solidFill>
                <a:latin typeface="Microsoft JhengHei"/>
                <a:cs typeface="Microsoft JhengHei"/>
              </a:rPr>
              <a:t>在设计</a:t>
            </a:r>
            <a:r>
              <a:rPr dirty="0" sz="2900" spc="-25" b="1">
                <a:solidFill>
                  <a:srgbClr val="FFFFFF"/>
                </a:solidFill>
                <a:latin typeface="Microsoft JhengHei"/>
                <a:cs typeface="Microsoft JhengHei"/>
              </a:rPr>
              <a:t>预</a:t>
            </a:r>
            <a:r>
              <a:rPr dirty="0" sz="2900" b="1">
                <a:solidFill>
                  <a:srgbClr val="FFFFFF"/>
                </a:solidFill>
                <a:latin typeface="Microsoft JhengHei"/>
                <a:cs typeface="Microsoft JhengHei"/>
              </a:rPr>
              <a:t>算</a:t>
            </a:r>
            <a:r>
              <a:rPr dirty="0" sz="2900" spc="-25" b="1">
                <a:solidFill>
                  <a:srgbClr val="FFFFFF"/>
                </a:solidFill>
                <a:latin typeface="Microsoft JhengHei"/>
                <a:cs typeface="Microsoft JhengHei"/>
              </a:rPr>
              <a:t>管</a:t>
            </a:r>
            <a:r>
              <a:rPr dirty="0" sz="2900" b="1">
                <a:solidFill>
                  <a:srgbClr val="FFFFFF"/>
                </a:solidFill>
                <a:latin typeface="Microsoft JhengHei"/>
                <a:cs typeface="Microsoft JhengHei"/>
              </a:rPr>
              <a:t>理评价体系时要</a:t>
            </a:r>
            <a:r>
              <a:rPr dirty="0" sz="2900" spc="-25" b="1">
                <a:solidFill>
                  <a:srgbClr val="FFFFFF"/>
                </a:solidFill>
                <a:latin typeface="Microsoft JhengHei"/>
                <a:cs typeface="Microsoft JhengHei"/>
              </a:rPr>
              <a:t>注</a:t>
            </a:r>
            <a:r>
              <a:rPr dirty="0" sz="2900" b="1">
                <a:solidFill>
                  <a:srgbClr val="FFFFFF"/>
                </a:solidFill>
                <a:latin typeface="Microsoft JhengHei"/>
                <a:cs typeface="Microsoft JhengHei"/>
              </a:rPr>
              <a:t>意以下两点：</a:t>
            </a:r>
            <a:endParaRPr sz="2900">
              <a:latin typeface="Microsoft JhengHei"/>
              <a:cs typeface="Microsoft JhengHei"/>
            </a:endParaRPr>
          </a:p>
          <a:p>
            <a:pPr algn="just" marL="299085" marR="5080" indent="-287020">
              <a:lnSpc>
                <a:spcPct val="100000"/>
              </a:lnSpc>
              <a:spcBef>
                <a:spcPts val="450"/>
              </a:spcBef>
              <a:buClr>
                <a:srgbClr val="FF6600"/>
              </a:buClr>
              <a:buFont typeface=""/>
              <a:buChar char="•"/>
              <a:tabLst>
                <a:tab pos="299720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在衡量业绩时，要尽量排除无法控制因素所产生的影响，如 重大意外灾害、原料价格变动、利率调整、汇率变动、政策 改变等，业绩评价应以可控制范围为基准。</a:t>
            </a:r>
            <a:endParaRPr sz="2400">
              <a:latin typeface="Microsoft JhengHei"/>
              <a:cs typeface="Microsoft JhengHei"/>
            </a:endParaRPr>
          </a:p>
          <a:p>
            <a:pPr algn="just" marL="299085" marR="5080" indent="-287020">
              <a:lnSpc>
                <a:spcPct val="99800"/>
              </a:lnSpc>
              <a:spcBef>
                <a:spcPts val="484"/>
              </a:spcBef>
              <a:buClr>
                <a:srgbClr val="FF6600"/>
              </a:buClr>
              <a:buFont typeface=""/>
              <a:buChar char="•"/>
              <a:tabLst>
                <a:tab pos="299720" algn="l"/>
              </a:tabLst>
            </a:pP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在对责任中心进行业绩评价时，还应充分考虑员工士气、企 业形象等非量化因素，为避免人为主观成分的介入，应设法 采用最简易的方式将非量化因素予以量化。企业只有建立起 科学的业绩考评体系，对企业内部各部门进行合理的业绩评 价，并据以进行奖惩，才能促使其积极纠正偏差，完成所负 责任，保证企业总体目标的实现。</a:t>
            </a:r>
            <a:endParaRPr sz="24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12140"/>
            <a:ext cx="7395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01240" algn="l"/>
                <a:tab pos="3060065" algn="l"/>
              </a:tabLst>
            </a:pPr>
            <a:r>
              <a:rPr dirty="0" spc="5"/>
              <a:t>业绩评价</a:t>
            </a:r>
            <a:r>
              <a:rPr dirty="0" spc="5"/>
              <a:t>	</a:t>
            </a:r>
            <a:r>
              <a:rPr dirty="0" spc="5">
                <a:latin typeface="Arial"/>
                <a:cs typeface="Arial"/>
              </a:rPr>
              <a:t>—</a:t>
            </a:r>
            <a:r>
              <a:rPr dirty="0" spc="5">
                <a:latin typeface="Arial"/>
                <a:cs typeface="Arial"/>
              </a:rPr>
              <a:t>	</a:t>
            </a:r>
            <a:r>
              <a:rPr dirty="0" spc="5"/>
              <a:t>经济增</a:t>
            </a:r>
            <a:r>
              <a:rPr dirty="0" spc="-20"/>
              <a:t>加</a:t>
            </a:r>
            <a:r>
              <a:rPr dirty="0" spc="5"/>
              <a:t>值</a:t>
            </a:r>
            <a:r>
              <a:rPr dirty="0" spc="-20"/>
              <a:t>（</a:t>
            </a:r>
            <a:r>
              <a:rPr dirty="0" spc="-215"/>
              <a:t>E</a:t>
            </a:r>
            <a:r>
              <a:rPr dirty="0" spc="-765"/>
              <a:t>V</a:t>
            </a:r>
            <a:r>
              <a:rPr dirty="0" spc="-865"/>
              <a:t>A</a:t>
            </a:r>
            <a:r>
              <a:rPr dirty="0" spc="5"/>
              <a:t>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40483" y="2279396"/>
            <a:ext cx="3225800" cy="27120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906144" indent="-894080">
              <a:lnSpc>
                <a:spcPct val="100000"/>
              </a:lnSpc>
              <a:spcBef>
                <a:spcPts val="105"/>
              </a:spcBef>
              <a:buSzPct val="96428"/>
              <a:buAutoNum type="arabicPlain"/>
              <a:tabLst>
                <a:tab pos="906780" algn="l"/>
              </a:tabLst>
            </a:pP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理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解</a:t>
            </a:r>
            <a:r>
              <a:rPr dirty="0" sz="2800" spc="-434" b="1">
                <a:solidFill>
                  <a:srgbClr val="FFFFFF"/>
                </a:solidFill>
                <a:latin typeface="Microsoft JhengHei"/>
                <a:cs typeface="Microsoft JhengHei"/>
              </a:rPr>
              <a:t>EVA</a:t>
            </a:r>
            <a:endParaRPr sz="2800">
              <a:latin typeface="Microsoft JhengHei"/>
              <a:cs typeface="Microsoft JhengHei"/>
            </a:endParaRPr>
          </a:p>
          <a:p>
            <a:pPr marL="906144" indent="-894080">
              <a:lnSpc>
                <a:spcPct val="100000"/>
              </a:lnSpc>
              <a:spcBef>
                <a:spcPts val="2210"/>
              </a:spcBef>
              <a:buSzPct val="96428"/>
              <a:buAutoNum type="arabicPlain"/>
              <a:tabLst>
                <a:tab pos="906780" algn="l"/>
              </a:tabLst>
            </a:pPr>
            <a:r>
              <a:rPr dirty="0" sz="2800" spc="-440" b="1">
                <a:solidFill>
                  <a:srgbClr val="FFFFFF"/>
                </a:solidFill>
                <a:latin typeface="Microsoft JhengHei"/>
                <a:cs typeface="Microsoft JhengHei"/>
              </a:rPr>
              <a:t>EVA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的计算</a:t>
            </a:r>
            <a:endParaRPr sz="2800">
              <a:latin typeface="Microsoft JhengHei"/>
              <a:cs typeface="Microsoft JhengHei"/>
            </a:endParaRPr>
          </a:p>
          <a:p>
            <a:pPr marL="906144" indent="-894080">
              <a:lnSpc>
                <a:spcPct val="100000"/>
              </a:lnSpc>
              <a:spcBef>
                <a:spcPts val="2185"/>
              </a:spcBef>
              <a:buSzPct val="96428"/>
              <a:buAutoNum type="arabicPlain"/>
              <a:tabLst>
                <a:tab pos="906780" algn="l"/>
              </a:tabLst>
            </a:pPr>
            <a:r>
              <a:rPr dirty="0" sz="2800" spc="-170" b="1">
                <a:solidFill>
                  <a:srgbClr val="FFFFFF"/>
                </a:solidFill>
                <a:latin typeface="Microsoft JhengHei"/>
                <a:cs typeface="Microsoft JhengHei"/>
              </a:rPr>
              <a:t>E</a:t>
            </a:r>
            <a:r>
              <a:rPr dirty="0" sz="2800" spc="-515" b="1">
                <a:solidFill>
                  <a:srgbClr val="FFFFFF"/>
                </a:solidFill>
                <a:latin typeface="Microsoft JhengHei"/>
                <a:cs typeface="Microsoft JhengHei"/>
              </a:rPr>
              <a:t>V</a:t>
            </a:r>
            <a:r>
              <a:rPr dirty="0" sz="2800" spc="-625" b="1">
                <a:solidFill>
                  <a:srgbClr val="FFFFFF"/>
                </a:solidFill>
                <a:latin typeface="Microsoft JhengHei"/>
                <a:cs typeface="Microsoft JhengHei"/>
              </a:rPr>
              <a:t>A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与价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值管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理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Microsoft JhengHei"/>
              <a:buAutoNum type="arabicPlain"/>
            </a:pPr>
            <a:endParaRPr sz="1800">
              <a:latin typeface="Microsoft JhengHei"/>
              <a:cs typeface="Microsoft JhengHei"/>
            </a:endParaRPr>
          </a:p>
          <a:p>
            <a:pPr marL="906144" indent="-894080">
              <a:lnSpc>
                <a:spcPct val="100000"/>
              </a:lnSpc>
              <a:buSzPct val="96428"/>
              <a:buAutoNum type="arabicPlain"/>
              <a:tabLst>
                <a:tab pos="906780" algn="l"/>
              </a:tabLst>
            </a:pPr>
            <a:r>
              <a:rPr dirty="0" sz="2800" spc="-440" b="1">
                <a:solidFill>
                  <a:srgbClr val="FFFFFF"/>
                </a:solidFill>
                <a:latin typeface="Microsoft JhengHei"/>
                <a:cs typeface="Microsoft JhengHei"/>
              </a:rPr>
              <a:t>EVA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与激励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105"/>
              </a:spcBef>
              <a:tabLst>
                <a:tab pos="2435860" algn="l"/>
                <a:tab pos="3194685" algn="l"/>
              </a:tabLst>
            </a:pPr>
            <a:r>
              <a:rPr dirty="0" spc="5"/>
              <a:t>业绩评价</a:t>
            </a:r>
            <a:r>
              <a:rPr dirty="0" spc="5"/>
              <a:t>	</a:t>
            </a:r>
            <a:r>
              <a:rPr dirty="0" spc="5">
                <a:latin typeface="Arial"/>
                <a:cs typeface="Arial"/>
              </a:rPr>
              <a:t>—</a:t>
            </a:r>
            <a:r>
              <a:rPr dirty="0" spc="5">
                <a:latin typeface="Arial"/>
                <a:cs typeface="Arial"/>
              </a:rPr>
              <a:t>	</a:t>
            </a:r>
            <a:r>
              <a:rPr dirty="0" spc="5"/>
              <a:t>经济增</a:t>
            </a:r>
            <a:r>
              <a:rPr dirty="0" spc="-20"/>
              <a:t>加</a:t>
            </a:r>
            <a:r>
              <a:rPr dirty="0" spc="5"/>
              <a:t>值</a:t>
            </a:r>
            <a:r>
              <a:rPr dirty="0" spc="-20"/>
              <a:t>（</a:t>
            </a:r>
            <a:r>
              <a:rPr dirty="0" spc="-215"/>
              <a:t>E</a:t>
            </a:r>
            <a:r>
              <a:rPr dirty="0" spc="-765"/>
              <a:t>V</a:t>
            </a:r>
            <a:r>
              <a:rPr dirty="0" spc="-865"/>
              <a:t>A</a:t>
            </a:r>
            <a:r>
              <a:rPr dirty="0" spc="5"/>
              <a:t>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8779" y="1736852"/>
            <a:ext cx="8295005" cy="48158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56870" marR="5080" indent="-344805">
              <a:lnSpc>
                <a:spcPct val="99600"/>
              </a:lnSpc>
              <a:spcBef>
                <a:spcPts val="110"/>
              </a:spcBef>
              <a:buClr>
                <a:srgbClr val="FF6600"/>
              </a:buClr>
              <a:buFont typeface=""/>
              <a:buChar char="•"/>
              <a:tabLst>
                <a:tab pos="357505" algn="l"/>
                <a:tab pos="1728470" algn="l"/>
              </a:tabLst>
            </a:pPr>
            <a:r>
              <a:rPr dirty="0" sz="2400" spc="-215" b="1">
                <a:solidFill>
                  <a:srgbClr val="FFFFFF"/>
                </a:solidFill>
                <a:latin typeface="Microsoft JhengHei"/>
                <a:cs typeface="Microsoft JhengHei"/>
              </a:rPr>
              <a:t>Economic	</a:t>
            </a:r>
            <a:r>
              <a:rPr dirty="0" sz="2400" spc="-95" b="1">
                <a:solidFill>
                  <a:srgbClr val="FFFFFF"/>
                </a:solidFill>
                <a:latin typeface="Microsoft JhengHei"/>
                <a:cs typeface="Microsoft JhengHei"/>
              </a:rPr>
              <a:t>Value-Added（EVA）</a:t>
            </a:r>
            <a:r>
              <a:rPr dirty="0" sz="2400" spc="-145" b="1">
                <a:solidFill>
                  <a:srgbClr val="FFFFFF"/>
                </a:solidFill>
                <a:latin typeface="Microsoft JhengHei"/>
                <a:cs typeface="Microsoft JhengHei"/>
              </a:rPr>
              <a:t>的基本理念是：资本获得的 </a:t>
            </a:r>
            <a:r>
              <a:rPr dirty="0" sz="2400" b="1">
                <a:solidFill>
                  <a:srgbClr val="FFFFFF"/>
                </a:solidFill>
                <a:latin typeface="Microsoft JhengHei"/>
                <a:cs typeface="Microsoft JhengHei"/>
              </a:rPr>
              <a:t>收益至少要能补偿投资者承担的风险；也就是说，股东必须 赚取至少等于资本市场上类似风险投资回报的收益率。</a:t>
            </a:r>
            <a:endParaRPr sz="2400">
              <a:latin typeface="Microsoft JhengHei"/>
              <a:cs typeface="Microsoft JhengHei"/>
            </a:endParaRPr>
          </a:p>
          <a:p>
            <a:pPr marL="356870" indent="-344805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"/>
              <a:buChar char="•"/>
              <a:tabLst>
                <a:tab pos="357505" algn="l"/>
              </a:tabLst>
            </a:pPr>
            <a:r>
              <a:rPr dirty="0" sz="2400" spc="-35" b="1">
                <a:solidFill>
                  <a:srgbClr val="FFFFFF"/>
                </a:solidFill>
                <a:latin typeface="Microsoft JhengHei"/>
                <a:cs typeface="Microsoft JhengHei"/>
              </a:rPr>
              <a:t>EVA</a:t>
            </a:r>
            <a:r>
              <a:rPr dirty="0" sz="2400" spc="-55" b="1">
                <a:solidFill>
                  <a:srgbClr val="FFFFFF"/>
                </a:solidFill>
                <a:latin typeface="Microsoft JhengHei"/>
                <a:cs typeface="Microsoft JhengHei"/>
              </a:rPr>
              <a:t>是一种基于会计系统的公司业绩评估体系。</a:t>
            </a:r>
            <a:endParaRPr sz="2400">
              <a:latin typeface="Microsoft JhengHei"/>
              <a:cs typeface="Microsoft JhengHei"/>
            </a:endParaRPr>
          </a:p>
          <a:p>
            <a:pPr marL="356870" marR="5080" indent="-344805">
              <a:lnSpc>
                <a:spcPct val="100299"/>
              </a:lnSpc>
              <a:spcBef>
                <a:spcPts val="605"/>
              </a:spcBef>
              <a:buClr>
                <a:srgbClr val="FF6600"/>
              </a:buClr>
              <a:buFont typeface=""/>
              <a:buChar char="•"/>
              <a:tabLst>
                <a:tab pos="357505" algn="l"/>
              </a:tabLst>
            </a:pP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建</a:t>
            </a:r>
            <a:r>
              <a:rPr dirty="0" sz="2600" spc="-204" b="1">
                <a:solidFill>
                  <a:srgbClr val="FFFFFF"/>
                </a:solidFill>
                <a:latin typeface="Microsoft JhengHei"/>
                <a:cs typeface="Microsoft JhengHei"/>
              </a:rPr>
              <a:t>立在</a:t>
            </a:r>
            <a:r>
              <a:rPr dirty="0" sz="2600" spc="-130" b="1">
                <a:solidFill>
                  <a:srgbClr val="FFFFFF"/>
                </a:solidFill>
                <a:latin typeface="Microsoft JhengHei"/>
                <a:cs typeface="Microsoft JhengHei"/>
              </a:rPr>
              <a:t>EVA</a:t>
            </a:r>
            <a:r>
              <a:rPr dirty="0" sz="2600" spc="-220" b="1">
                <a:solidFill>
                  <a:srgbClr val="FFFFFF"/>
                </a:solidFill>
                <a:latin typeface="Microsoft JhengHei"/>
                <a:cs typeface="Microsoft JhengHei"/>
              </a:rPr>
              <a:t>基</a:t>
            </a:r>
            <a:r>
              <a:rPr dirty="0" sz="2600" spc="-200" b="1">
                <a:solidFill>
                  <a:srgbClr val="FFFFFF"/>
                </a:solidFill>
                <a:latin typeface="Microsoft JhengHei"/>
                <a:cs typeface="Microsoft JhengHei"/>
              </a:rPr>
              <a:t>础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上的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激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励制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度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使所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有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者和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经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营者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的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利益 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取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向趋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于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一致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；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经营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者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的奖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励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是他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为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所有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者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创造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的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增量 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价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值的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一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部分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；</a:t>
            </a:r>
            <a:r>
              <a:rPr dirty="0" sz="2600" spc="-415" b="1">
                <a:solidFill>
                  <a:srgbClr val="FFFFFF"/>
                </a:solidFill>
                <a:latin typeface="Microsoft JhengHei"/>
                <a:cs typeface="Microsoft JhengHei"/>
              </a:rPr>
              <a:t>以</a:t>
            </a:r>
            <a:r>
              <a:rPr dirty="0" sz="2600" spc="-265" b="1">
                <a:solidFill>
                  <a:srgbClr val="FFFFFF"/>
                </a:solidFill>
                <a:latin typeface="Microsoft JhengHei"/>
                <a:cs typeface="Microsoft JhengHei"/>
              </a:rPr>
              <a:t>EVA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为绩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效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指标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，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可以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使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经理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人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员象 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所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有者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一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样思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考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和行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为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。可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以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在很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大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程度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上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缓解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因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委托</a:t>
            </a:r>
            <a:endParaRPr sz="2600">
              <a:latin typeface="Microsoft JhengHei"/>
              <a:cs typeface="Microsoft JhengHei"/>
            </a:endParaRPr>
          </a:p>
          <a:p>
            <a:pPr marL="356870" marR="5080">
              <a:lnSpc>
                <a:spcPct val="100000"/>
              </a:lnSpc>
            </a:pP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－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代理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关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系而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产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生的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道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德风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险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和逆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向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选择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。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最终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降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低全 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社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会的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管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理成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本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；正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确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的激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励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制度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的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建立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和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实施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是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落实</a:t>
            </a:r>
            <a:endParaRPr sz="2600">
              <a:latin typeface="Microsoft JhengHei"/>
              <a:cs typeface="Microsoft JhengHei"/>
            </a:endParaRPr>
          </a:p>
          <a:p>
            <a:pPr marL="356870" marR="5080">
              <a:lnSpc>
                <a:spcPct val="100000"/>
              </a:lnSpc>
              <a:spcBef>
                <a:spcPts val="25"/>
              </a:spcBef>
              <a:tabLst>
                <a:tab pos="1844039" algn="l"/>
              </a:tabLst>
            </a:pPr>
            <a:r>
              <a:rPr dirty="0" sz="2600" spc="-290" b="1">
                <a:solidFill>
                  <a:srgbClr val="FFFFFF"/>
                </a:solidFill>
                <a:latin typeface="Microsoft JhengHei"/>
                <a:cs typeface="Microsoft JhengHei"/>
              </a:rPr>
              <a:t>E</a:t>
            </a:r>
            <a:r>
              <a:rPr dirty="0" sz="2600" spc="-340" b="1">
                <a:solidFill>
                  <a:srgbClr val="FFFFFF"/>
                </a:solidFill>
                <a:latin typeface="Microsoft JhengHei"/>
                <a:cs typeface="Microsoft JhengHei"/>
              </a:rPr>
              <a:t>V</a:t>
            </a:r>
            <a:r>
              <a:rPr dirty="0" sz="2600" spc="-190" b="1">
                <a:solidFill>
                  <a:srgbClr val="FFFFFF"/>
                </a:solidFill>
                <a:latin typeface="Microsoft JhengHei"/>
                <a:cs typeface="Microsoft JhengHei"/>
              </a:rPr>
              <a:t>A的</a:t>
            </a:r>
            <a:r>
              <a:rPr dirty="0" sz="2600" spc="-200" b="1">
                <a:solidFill>
                  <a:srgbClr val="FFFFFF"/>
                </a:solidFill>
                <a:latin typeface="Microsoft JhengHei"/>
                <a:cs typeface="Microsoft JhengHei"/>
              </a:rPr>
              <a:t>最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关键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的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制度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保</a:t>
            </a:r>
            <a:r>
              <a:rPr dirty="0" sz="2600" spc="-175" b="1">
                <a:solidFill>
                  <a:srgbClr val="FFFFFF"/>
                </a:solidFill>
                <a:latin typeface="Microsoft JhengHei"/>
                <a:cs typeface="Microsoft JhengHei"/>
              </a:rPr>
              <a:t>障；E</a:t>
            </a:r>
            <a:r>
              <a:rPr dirty="0" sz="2600" spc="-120" b="1">
                <a:solidFill>
                  <a:srgbClr val="FFFFFF"/>
                </a:solidFill>
                <a:latin typeface="Microsoft JhengHei"/>
                <a:cs typeface="Microsoft JhengHei"/>
              </a:rPr>
              <a:t>V</a:t>
            </a:r>
            <a:r>
              <a:rPr dirty="0" sz="2600" spc="-190" b="1">
                <a:solidFill>
                  <a:srgbClr val="FFFFFF"/>
                </a:solidFill>
                <a:latin typeface="Microsoft JhengHei"/>
                <a:cs typeface="Microsoft JhengHei"/>
              </a:rPr>
              <a:t>A最</a:t>
            </a:r>
            <a:r>
              <a:rPr dirty="0" sz="2600" spc="-200" b="1">
                <a:solidFill>
                  <a:srgbClr val="FFFFFF"/>
                </a:solidFill>
                <a:latin typeface="Microsoft JhengHei"/>
                <a:cs typeface="Microsoft JhengHei"/>
              </a:rPr>
              <a:t>终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必将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对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组织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行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为产生 </a:t>
            </a:r>
            <a:r>
              <a:rPr dirty="0" sz="2600" spc="10" b="1">
                <a:solidFill>
                  <a:srgbClr val="FFFFFF"/>
                </a:solidFill>
                <a:latin typeface="Microsoft JhengHei"/>
                <a:cs typeface="Microsoft JhengHei"/>
              </a:rPr>
              <a:t>积</a:t>
            </a:r>
            <a:r>
              <a:rPr dirty="0" sz="26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极影响	。</a:t>
            </a:r>
            <a:endParaRPr sz="26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188" y="572516"/>
            <a:ext cx="7139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01240" algn="l"/>
                <a:tab pos="3060065" algn="l"/>
              </a:tabLst>
            </a:pPr>
            <a:r>
              <a:rPr dirty="0" spc="5"/>
              <a:t>业绩评价</a:t>
            </a:r>
            <a:r>
              <a:rPr dirty="0" spc="5"/>
              <a:t>	</a:t>
            </a:r>
            <a:r>
              <a:rPr dirty="0" spc="5">
                <a:latin typeface="Arial"/>
                <a:cs typeface="Arial"/>
              </a:rPr>
              <a:t>—</a:t>
            </a:r>
            <a:r>
              <a:rPr dirty="0" spc="5">
                <a:latin typeface="Arial"/>
                <a:cs typeface="Arial"/>
              </a:rPr>
              <a:t>	</a:t>
            </a:r>
            <a:r>
              <a:rPr dirty="0" spc="5"/>
              <a:t>经济增</a:t>
            </a:r>
            <a:r>
              <a:rPr dirty="0" spc="-20"/>
              <a:t>加</a:t>
            </a:r>
            <a:r>
              <a:rPr dirty="0" spc="5"/>
              <a:t>值</a:t>
            </a:r>
            <a:r>
              <a:rPr dirty="0" spc="-20"/>
              <a:t>（</a:t>
            </a:r>
            <a:r>
              <a:rPr dirty="0" spc="5"/>
              <a:t>续）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5627" y="1675892"/>
            <a:ext cx="8258175" cy="417576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356870" marR="5080" indent="-344805">
              <a:lnSpc>
                <a:spcPts val="2020"/>
              </a:lnSpc>
              <a:spcBef>
                <a:spcPts val="475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000" spc="-15" b="1">
                <a:solidFill>
                  <a:srgbClr val="FFFFFF"/>
                </a:solidFill>
                <a:latin typeface="Arial"/>
                <a:cs typeface="Arial"/>
              </a:rPr>
              <a:t>EVA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是公司每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年创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造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的经济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附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加值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等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于税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后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净营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业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利润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与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全部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资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本成本 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之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间的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差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额：</a:t>
            </a:r>
            <a:endParaRPr sz="20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Clr>
                <a:srgbClr val="FF6600"/>
              </a:buClr>
              <a:buFont typeface="Arial"/>
              <a:buChar char="•"/>
            </a:pPr>
            <a:endParaRPr sz="1100">
              <a:latin typeface="Microsoft JhengHei"/>
              <a:cs typeface="Microsoft JhengHei"/>
            </a:endParaRPr>
          </a:p>
          <a:p>
            <a:pPr marL="58864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经济附加值</a:t>
            </a:r>
            <a:endParaRPr sz="1800">
              <a:latin typeface="宋体"/>
              <a:cs typeface="宋体"/>
            </a:endParaRPr>
          </a:p>
          <a:p>
            <a:pPr marL="26860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1800" spc="-40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税后净营业利润</a:t>
            </a:r>
            <a:r>
              <a:rPr dirty="0" sz="1800" spc="-40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－</a:t>
            </a:r>
            <a:r>
              <a:rPr dirty="0" sz="1800" spc="-40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1800" spc="-25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成本</a:t>
            </a:r>
            <a:endParaRPr sz="1800">
              <a:latin typeface="宋体"/>
              <a:cs typeface="宋体"/>
            </a:endParaRPr>
          </a:p>
          <a:p>
            <a:pPr marL="268605">
              <a:lnSpc>
                <a:spcPct val="100000"/>
              </a:lnSpc>
              <a:spcBef>
                <a:spcPts val="2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1800" spc="-40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税后净营业利润</a:t>
            </a:r>
            <a:r>
              <a:rPr dirty="0" sz="1800" spc="-40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－</a:t>
            </a:r>
            <a:r>
              <a:rPr dirty="0" sz="1800" spc="-40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1800" spc="-25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总额×加权平均资本成本（率）</a:t>
            </a:r>
            <a:endParaRPr sz="1800">
              <a:latin typeface="宋体"/>
              <a:cs typeface="宋体"/>
            </a:endParaRPr>
          </a:p>
          <a:p>
            <a:pPr marL="585470" marR="3436620" indent="-573405">
              <a:lnSpc>
                <a:spcPct val="196700"/>
              </a:lnSpc>
              <a:spcBef>
                <a:spcPts val="190"/>
              </a:spcBef>
            </a:pP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其中，税后净营业利润，是调整后的会计利润： 税后净营业利润</a:t>
            </a:r>
            <a:endParaRPr sz="1800">
              <a:latin typeface="Microsoft JhengHei"/>
              <a:cs typeface="Microsoft JhengHei"/>
            </a:endParaRPr>
          </a:p>
          <a:p>
            <a:pPr marL="265430">
              <a:lnSpc>
                <a:spcPct val="100000"/>
              </a:lnSpc>
              <a:spcBef>
                <a:spcPts val="25"/>
              </a:spcBef>
            </a:pP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＝</a:t>
            </a:r>
            <a:r>
              <a:rPr dirty="0" sz="1800" spc="45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息税前利润</a:t>
            </a:r>
            <a:r>
              <a:rPr dirty="0" sz="1800" spc="50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－</a:t>
            </a:r>
            <a:r>
              <a:rPr dirty="0" sz="1800" spc="50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所得税</a:t>
            </a:r>
            <a:endParaRPr sz="1800">
              <a:latin typeface="Microsoft JhengHei"/>
              <a:cs typeface="Microsoft JhengHei"/>
            </a:endParaRPr>
          </a:p>
          <a:p>
            <a:pPr marL="265430">
              <a:lnSpc>
                <a:spcPct val="100000"/>
              </a:lnSpc>
              <a:spcBef>
                <a:spcPts val="25"/>
              </a:spcBef>
            </a:pP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＝</a:t>
            </a:r>
            <a:r>
              <a:rPr dirty="0" sz="1800" spc="45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收入</a:t>
            </a:r>
            <a:r>
              <a:rPr dirty="0" sz="1800" spc="50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－</a:t>
            </a:r>
            <a:r>
              <a:rPr dirty="0" sz="1800" spc="45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不包括利息在内的成本（费用）－</a:t>
            </a:r>
            <a:r>
              <a:rPr dirty="0" sz="1800" spc="50" b="1">
                <a:solidFill>
                  <a:srgbClr val="FFFFFF"/>
                </a:solidFill>
                <a:latin typeface="Microsoft JhengHei"/>
                <a:cs typeface="Microsoft JhengHei"/>
              </a:rPr>
              <a:t> </a:t>
            </a:r>
            <a:r>
              <a:rPr dirty="0" sz="1800" b="1">
                <a:solidFill>
                  <a:srgbClr val="FFFFFF"/>
                </a:solidFill>
                <a:latin typeface="Microsoft JhengHei"/>
                <a:cs typeface="Microsoft JhengHei"/>
              </a:rPr>
              <a:t>所得税</a:t>
            </a:r>
            <a:endParaRPr sz="1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>
              <a:latin typeface="Microsoft JhengHei"/>
              <a:cs typeface="Microsoft JhengHei"/>
            </a:endParaRPr>
          </a:p>
          <a:p>
            <a:pPr marL="356870" marR="20955" indent="-344805">
              <a:lnSpc>
                <a:spcPct val="80000"/>
              </a:lnSpc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加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权平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均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资本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成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本是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一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种机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会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成本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，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既包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括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债务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资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本的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成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本，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也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包括股 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本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资本</a:t>
            </a:r>
            <a:r>
              <a:rPr dirty="0" sz="2000" spc="10" b="1">
                <a:solidFill>
                  <a:srgbClr val="FFFFFF"/>
                </a:solidFill>
                <a:latin typeface="Microsoft JhengHei"/>
                <a:cs typeface="Microsoft JhengHei"/>
              </a:rPr>
              <a:t>的</a:t>
            </a:r>
            <a:r>
              <a:rPr dirty="0" sz="2000" spc="-10" b="1">
                <a:solidFill>
                  <a:srgbClr val="FFFFFF"/>
                </a:solidFill>
                <a:latin typeface="Microsoft JhengHei"/>
                <a:cs typeface="Microsoft JhengHei"/>
              </a:rPr>
              <a:t>成本。</a:t>
            </a:r>
            <a:endParaRPr sz="20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7188" y="602996"/>
            <a:ext cx="6377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01240" algn="l"/>
              </a:tabLst>
            </a:pPr>
            <a:r>
              <a:rPr dirty="0" spc="5"/>
              <a:t>业绩评价</a:t>
            </a:r>
            <a:r>
              <a:rPr dirty="0" spc="5"/>
              <a:t>	</a:t>
            </a:r>
            <a:r>
              <a:rPr dirty="0" spc="-20">
                <a:latin typeface="Arial"/>
                <a:cs typeface="Arial"/>
              </a:rPr>
              <a:t>—</a:t>
            </a:r>
            <a:r>
              <a:rPr dirty="0" spc="5"/>
              <a:t>综合平</a:t>
            </a:r>
            <a:r>
              <a:rPr dirty="0" spc="-20"/>
              <a:t>衡</a:t>
            </a:r>
            <a:r>
              <a:rPr dirty="0" spc="5"/>
              <a:t>记</a:t>
            </a:r>
            <a:r>
              <a:rPr dirty="0" spc="-20"/>
              <a:t>分</a:t>
            </a:r>
            <a:r>
              <a:rPr dirty="0" spc="5"/>
              <a:t>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3308" y="1675892"/>
            <a:ext cx="7849870" cy="421513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196850" indent="877569">
              <a:lnSpc>
                <a:spcPts val="3529"/>
              </a:lnSpc>
              <a:spcBef>
                <a:spcPts val="80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前国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际上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较为流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略业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绩指标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价体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系的方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综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合平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衡记分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5">
                <a:solidFill>
                  <a:srgbClr val="FFFFFF"/>
                </a:solidFill>
                <a:latin typeface="Arial"/>
                <a:cs typeface="Arial"/>
              </a:rPr>
              <a:t>”</a:t>
            </a: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（The</a:t>
            </a:r>
            <a:r>
              <a:rPr dirty="0" sz="2800" spc="-3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>
                <a:solidFill>
                  <a:srgbClr val="FFFFFF"/>
                </a:solidFill>
                <a:latin typeface="宋体"/>
                <a:cs typeface="宋体"/>
              </a:rPr>
              <a:t>Balanced</a:t>
            </a:r>
            <a:endParaRPr sz="2800">
              <a:latin typeface="宋体"/>
              <a:cs typeface="宋体"/>
            </a:endParaRPr>
          </a:p>
          <a:p>
            <a:pPr marL="12700" marR="5080">
              <a:lnSpc>
                <a:spcPct val="110100"/>
              </a:lnSpc>
              <a:spcBef>
                <a:spcPts val="45"/>
              </a:spcBef>
            </a:pPr>
            <a:r>
              <a:rPr dirty="0" sz="2800" spc="-5">
                <a:solidFill>
                  <a:srgbClr val="FFFFFF"/>
                </a:solidFill>
                <a:latin typeface="宋体"/>
                <a:cs typeface="宋体"/>
              </a:rPr>
              <a:t>Scorecard，BSC）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。该方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是企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财务、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顾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客、 内部营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、学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习与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成长等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四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个方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面入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手，根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 业生命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期不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同阶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段的实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情况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和采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取的战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  为每一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面设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计适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当的评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指标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，赋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予不同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权 重，形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一套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完整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的业绩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标体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系。每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 业要根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自己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的具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体情况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从上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述四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个维度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计 适合自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己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的具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体评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价指标。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236" y="636524"/>
            <a:ext cx="790448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01240" algn="l"/>
              </a:tabLst>
            </a:pPr>
            <a:r>
              <a:rPr dirty="0" spc="5"/>
              <a:t>业绩评价	</a:t>
            </a:r>
            <a:r>
              <a:rPr dirty="0" spc="-20">
                <a:latin typeface="Arial"/>
                <a:cs typeface="Arial"/>
              </a:rPr>
              <a:t>—</a:t>
            </a:r>
            <a:r>
              <a:rPr dirty="0" spc="5"/>
              <a:t>综合平</a:t>
            </a:r>
            <a:r>
              <a:rPr dirty="0" spc="-20"/>
              <a:t>衡</a:t>
            </a:r>
            <a:r>
              <a:rPr dirty="0" spc="5"/>
              <a:t>记</a:t>
            </a:r>
            <a:r>
              <a:rPr dirty="0" spc="-20"/>
              <a:t>分</a:t>
            </a:r>
            <a:r>
              <a:rPr dirty="0" spc="5"/>
              <a:t>卡（续）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8883" y="1508252"/>
            <a:ext cx="8112125" cy="4916805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algn="just" marL="356870" marR="129539" indent="-344805">
              <a:lnSpc>
                <a:spcPct val="90500"/>
              </a:lnSpc>
              <a:spcBef>
                <a:spcPts val="320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从顾客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角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度一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可选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取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市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占有率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顾客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满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意度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客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户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保持程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度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、新 客户的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获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得、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顾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客获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能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力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以及在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标范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围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内的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市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份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额和会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份额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等指标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进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行评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algn="just" marL="356870" marR="129539" indent="-344805">
              <a:lnSpc>
                <a:spcPct val="91300"/>
              </a:lnSpc>
              <a:spcBef>
                <a:spcPts val="375"/>
              </a:spcBef>
              <a:buClr>
                <a:srgbClr val="FF6600"/>
              </a:buClr>
              <a:buChar char="•"/>
              <a:tabLst>
                <a:tab pos="357505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内部经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过程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面：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创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新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客户需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的确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确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市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场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开发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品提 供服务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、经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（生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或劳务</a:t>
            </a:r>
            <a:r>
              <a:rPr dirty="0" sz="2000" spc="1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提供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品或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劳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务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和售后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服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务。 从内部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运角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度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可以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选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取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创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新能力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营运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能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力水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平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售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后服务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水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平等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指标进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评价。</a:t>
            </a:r>
            <a:endParaRPr sz="2000">
              <a:latin typeface="宋体"/>
              <a:cs typeface="宋体"/>
            </a:endParaRPr>
          </a:p>
          <a:p>
            <a:pPr marL="356870" marR="5080" indent="-344805">
              <a:lnSpc>
                <a:spcPts val="2160"/>
              </a:lnSpc>
              <a:spcBef>
                <a:spcPts val="535"/>
              </a:spcBef>
              <a:buClr>
                <a:srgbClr val="FF6600"/>
              </a:buClr>
              <a:buChar char="•"/>
              <a:tabLst>
                <a:tab pos="356870" algn="l"/>
                <a:tab pos="357505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从学习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成长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角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度可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选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取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员工潜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力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的增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加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-3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雇员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满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意程度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雇员保 特、雇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员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培训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雇员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术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信息系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统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能力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增加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激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励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、权责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目标 一致性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增强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等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指标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进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价。</a:t>
            </a:r>
            <a:endParaRPr sz="2000">
              <a:latin typeface="宋体"/>
              <a:cs typeface="宋体"/>
            </a:endParaRPr>
          </a:p>
          <a:p>
            <a:pPr marL="356870" marR="5080" indent="-344805">
              <a:lnSpc>
                <a:spcPct val="90200"/>
              </a:lnSpc>
              <a:spcBef>
                <a:spcPts val="470"/>
              </a:spcBef>
              <a:buClr>
                <a:srgbClr val="FF6600"/>
              </a:buClr>
              <a:buChar char="•"/>
              <a:tabLst>
                <a:tab pos="356870" algn="l"/>
                <a:tab pos="357505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从财务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角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度一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可选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取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三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类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指标进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评价：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(1)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收入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增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长与构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指标。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如各部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的销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售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成长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新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产品、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新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服务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及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新顾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客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成百分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比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，顾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客与生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线的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获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利能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力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等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(2)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成本降低和生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力改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进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指标。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全员劳 动生产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、成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降低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等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指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标；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(3)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资产利用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投资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指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标。如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投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资占销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售的百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比、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研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究开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发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费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占销售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百分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比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、营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运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比率、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产利 用率以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及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投资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回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收期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等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指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。反映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业获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能力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财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务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指标有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营业 收入、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本报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率、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经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济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加值（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剩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余收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）和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量等。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2908" y="685292"/>
            <a:ext cx="6289040" cy="5448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400" spc="-20"/>
              <a:t>案例：ECI</a:t>
            </a:r>
            <a:r>
              <a:rPr dirty="0" sz="3400" spc="5"/>
              <a:t>公</a:t>
            </a:r>
            <a:r>
              <a:rPr dirty="0" sz="3400" spc="-20"/>
              <a:t>司</a:t>
            </a:r>
            <a:r>
              <a:rPr dirty="0" sz="3400" spc="5"/>
              <a:t>的平衡</a:t>
            </a:r>
            <a:r>
              <a:rPr dirty="0" sz="3400" spc="-20"/>
              <a:t>计</a:t>
            </a:r>
            <a:r>
              <a:rPr dirty="0" sz="3400" spc="5"/>
              <a:t>分测</a:t>
            </a:r>
            <a:r>
              <a:rPr dirty="0" sz="3400" spc="-20"/>
              <a:t>评</a:t>
            </a:r>
            <a:r>
              <a:rPr dirty="0" sz="3400" spc="5"/>
              <a:t>法</a:t>
            </a:r>
            <a:endParaRPr sz="3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4151" y="1834896"/>
          <a:ext cx="8376284" cy="4407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5485"/>
                <a:gridCol w="3524885"/>
                <a:gridCol w="1435735"/>
                <a:gridCol w="2689860"/>
              </a:tblGrid>
              <a:tr h="731519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30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财务角度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21971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1730"/>
                        </a:spcBef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顾客角度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21971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330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473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目标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35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测评指标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目标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测评指标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35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330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47320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生存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现金流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新产品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新产品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销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售所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占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的百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分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比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29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473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成功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35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各分部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季度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销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售增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长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率和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经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营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收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入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供货反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应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灵敏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3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按时交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货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率（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由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顾客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评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定）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35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315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199390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繁荣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市场份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额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增加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额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和权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益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报酬率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优先供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货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商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重要帐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户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的购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买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份额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330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顾客伙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伴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关系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合作性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工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程活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动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的数量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6731" y="685292"/>
            <a:ext cx="7587615" cy="5448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400" spc="-20"/>
              <a:t>案例：ECI</a:t>
            </a:r>
            <a:r>
              <a:rPr dirty="0" sz="3400" spc="5"/>
              <a:t>公</a:t>
            </a:r>
            <a:r>
              <a:rPr dirty="0" sz="3400" spc="-20"/>
              <a:t>司</a:t>
            </a:r>
            <a:r>
              <a:rPr dirty="0" sz="3400" spc="5"/>
              <a:t>的平衡</a:t>
            </a:r>
            <a:r>
              <a:rPr dirty="0" sz="3400" spc="-20"/>
              <a:t>计</a:t>
            </a:r>
            <a:r>
              <a:rPr dirty="0" sz="3400" spc="5"/>
              <a:t>分测</a:t>
            </a:r>
            <a:r>
              <a:rPr dirty="0" sz="3400" spc="-20"/>
              <a:t>评</a:t>
            </a:r>
            <a:r>
              <a:rPr dirty="0" sz="3400" spc="5"/>
              <a:t>法（续）</a:t>
            </a:r>
            <a:endParaRPr sz="3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0791" y="1591056"/>
          <a:ext cx="8669020" cy="4794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3375"/>
                <a:gridCol w="2620010"/>
                <a:gridCol w="1805939"/>
                <a:gridCol w="2620009"/>
              </a:tblGrid>
              <a:tr h="79552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内部业</a:t>
                      </a:r>
                      <a:r>
                        <a:rPr dirty="0" sz="20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务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角度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508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创新与</a:t>
                      </a:r>
                      <a:r>
                        <a:rPr dirty="0" sz="20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学</a:t>
                      </a:r>
                      <a:r>
                        <a:rPr dirty="0" sz="20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习角度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 marT="50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970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目标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0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测评指标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08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 marR="635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目标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08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测评指标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08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970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技术能力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98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相对于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竞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争的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生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产规律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985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 marR="635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技术领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先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性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开发新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一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代产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品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所需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时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间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985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970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 marL="2540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制造水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平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的卓越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0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循环周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期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单位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成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本报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酬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率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08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制造过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程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中的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学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习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08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产品成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熟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过程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所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需时间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08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970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设计能力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98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硅片效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率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、工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程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效率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985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 marR="635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产品重心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占销售</a:t>
                      </a:r>
                      <a:r>
                        <a:rPr dirty="0" sz="14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额</a:t>
                      </a:r>
                      <a:r>
                        <a:rPr dirty="0" sz="1400" spc="-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8%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</a:t>
                      </a:r>
                      <a:r>
                        <a:rPr dirty="0" sz="14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产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品所</a:t>
                      </a:r>
                      <a:r>
                        <a:rPr dirty="0" sz="1400" spc="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占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百分比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B="0" marT="254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9705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新产品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引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入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08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相对于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计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划的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实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际引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入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进度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08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产品上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市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时间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080">
                    <a:lnL w="1270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相对竞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争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对手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的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新产</a:t>
                      </a:r>
                      <a:r>
                        <a:rPr dirty="0" sz="1600" spc="-2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品</a:t>
                      </a:r>
                      <a:r>
                        <a:rPr dirty="0" sz="1600" spc="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引入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B="0" marT="5080">
                    <a:lnL w="190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2023-10-22T13:39:07Z</dcterms:created>
  <dcterms:modified xsi:type="dcterms:W3CDTF">2023-10-22T13:39:07Z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2006-06-02T00:00:00Z</vt:filetime>
  </property>
  <property fmtid="{D5CDD505-2E9C-101B-9397-08002B2CF9AE}" pid="3" name="LastSaved">
    <vt:filetime>2006-06-02T00:00:00Z</vt:filetime>
  </property>
</Properties>
</file>