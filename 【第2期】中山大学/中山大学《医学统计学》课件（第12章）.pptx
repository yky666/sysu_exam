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sldIdLst>
    <p:sldId id="319" r:id="rId2"/>
    <p:sldId id="318" r:id="rId3"/>
    <p:sldId id="256" r:id="rId4"/>
    <p:sldId id="317" r:id="rId5"/>
    <p:sldId id="336" r:id="rId6"/>
    <p:sldId id="321" r:id="rId7"/>
    <p:sldId id="299" r:id="rId8"/>
    <p:sldId id="296" r:id="rId9"/>
    <p:sldId id="322" r:id="rId10"/>
    <p:sldId id="323" r:id="rId11"/>
    <p:sldId id="337" r:id="rId12"/>
    <p:sldId id="315" r:id="rId13"/>
    <p:sldId id="287" r:id="rId14"/>
    <p:sldId id="288" r:id="rId15"/>
    <p:sldId id="324" r:id="rId16"/>
    <p:sldId id="289" r:id="rId17"/>
    <p:sldId id="325" r:id="rId18"/>
    <p:sldId id="331" r:id="rId19"/>
    <p:sldId id="297" r:id="rId20"/>
    <p:sldId id="294" r:id="rId21"/>
    <p:sldId id="304" r:id="rId22"/>
    <p:sldId id="295" r:id="rId23"/>
    <p:sldId id="303" r:id="rId24"/>
    <p:sldId id="330" r:id="rId25"/>
    <p:sldId id="326" r:id="rId26"/>
    <p:sldId id="332" r:id="rId27"/>
    <p:sldId id="329" r:id="rId28"/>
    <p:sldId id="333" r:id="rId29"/>
    <p:sldId id="334" r:id="rId30"/>
    <p:sldId id="338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52" autoAdjust="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F2557CE-982D-5F08-B931-A2DB08B6B562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31FC4A6E-908E-5EC2-CCB3-5925CAD33ECB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solidFill>
            <a:srgbClr val="3366FF">
              <a:alpha val="50000"/>
            </a:srgbClr>
          </a:solidFill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17144F03-FC63-F9B6-E0F4-F72A38341174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53EA68BD-5D36-D5B7-F206-44159F3451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275F0773-757D-A718-9A02-BEAA4225FD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7081AC1-C5FD-4737-92F9-70CD4674DE7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77F1B-FA82-1437-F11C-D714DA86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1EE52A-D2C2-E939-38E3-D3593F477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53A7A2-FC9B-470A-ACF0-1CBCDAC9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E85CC6-DDA9-79CA-8BD9-E09E2CE3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0B2B23-6574-E4A7-1FC8-1FAFADD8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AF37B-C8E9-4818-B3FA-1A47FA5031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588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A4CA2-F8B7-4507-56E2-7C0FA36C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85D204-02F2-93E9-6DE1-377AD2130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D71CFF-A191-E098-4E96-B1C1EF60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05A80-104F-4956-F7CC-06ECECE8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2BE34C-7DE0-3324-8F54-5C6B72841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A4494D-B35A-4E1D-968B-4B89723ED0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4247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A5E94-24E4-BE74-B3BE-FD1614BD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49F56-FCC1-9FDB-CB5C-E8425FC98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69BED0-1542-8BEA-A5C9-D30E0FF3C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D7C5DB-D0B7-65C1-D210-70EBC8409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2E99A8-539C-5C5B-05F7-EBA89FF8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1931E4-519B-9A2A-F256-40C9B507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3151AD-04A4-499E-B62B-225302C1F86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692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FC379-B7FD-DA98-194F-739E4572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FB42DA-6A6F-4D88-D25D-D9736B42B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D72758-D44F-3728-971D-9DBACB1B6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F8BB64-D56F-365A-FFAE-3333B2E33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53FD5C-0388-659E-3E35-5700890F8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935533-C9E2-AE4B-98AC-B44C9EFF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C6FDE9-5503-42FD-654A-A419E267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A1141C-CA54-651B-0DE2-4EE835AC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42B4A7-8ADF-4FBD-9B91-BDB15E984F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588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8F065B-BF3C-C244-0087-752E8C23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A91652-C434-06BC-97D4-88211402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473DED-FF12-78DC-E95A-86F13E00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AA76E5-AB6C-F095-B51F-FBF2270A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79845E-F645-43DD-817C-26C77FB4B9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189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22386A-202D-CBCE-33CA-21BCF684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C431E3-20B8-986C-D8D4-4CF4E5FC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A6B98-8F89-5811-0DB9-76F6E14B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AB7B51-5B70-4306-A83A-5D6FBB9BDE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9978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672E0-B402-AFF3-2325-E9482FDB5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BB9DA0-15AB-E5BF-B17F-3486CE705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854EB9-8C04-0F2E-2045-5FF59B670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2D5E53-03AB-734B-3C29-38C2C115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A8EDF6-C66A-9712-37D3-8F113F54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E31E31-2DAB-812F-52C1-3E3816FD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E79502-3D88-4D24-BA26-127499A6A9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13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635ED-5370-BDEC-3F36-92ADE87B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B0DD05-2D1E-54D2-2A63-4B9CA57B6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097FA8-8D50-E091-6131-70C502959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31E6ED-798E-5C12-6E4E-3C4DBD97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0CAF6B-31DC-811B-1091-FAAE2E1A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17CBB1-1633-2236-B4A0-A773A69E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2506C-78D6-43FB-9921-722431D5B9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26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94BAF-FB95-B49C-27EB-9E44CEAA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3C7A17-A28B-7088-18F1-0DB0CBBCD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A8C707-25A5-17E1-62D1-138ECF09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C27DF5-C978-FDD1-7F99-50C9965E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C95F36-109D-ADC9-BCBA-D679C2CE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ED759-6497-48EC-82DC-020B56F79B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406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6F5DAE-FB2A-563F-E555-B831B9A3A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AE8F4-397E-89CF-424E-4E010C9A6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7C3CB-1248-0ED6-B4AB-4983D74B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68B4C0-73D4-6033-2A59-4347261E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36B20A-4DD4-3DA4-2AD5-0FC3AEDF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1DA7A-AAC6-4F77-9CE2-CD532D5994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557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ABADDA4B-88F0-136C-689B-7F6B74254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680AE9D0-6F17-E071-0A43-FBAF10F7B67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112644" name="Rectangle 4">
            <a:extLst>
              <a:ext uri="{FF2B5EF4-FFF2-40B4-BE49-F238E27FC236}">
                <a16:creationId xmlns:a16="http://schemas.microsoft.com/office/drawing/2014/main" id="{CB933988-01E9-AD92-77B3-78FB30706C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112645" name="Rectangle 5">
            <a:extLst>
              <a:ext uri="{FF2B5EF4-FFF2-40B4-BE49-F238E27FC236}">
                <a16:creationId xmlns:a16="http://schemas.microsoft.com/office/drawing/2014/main" id="{19E265E8-9BCE-2347-87E1-5603C4C798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F35EA6FC-5396-44B1-A195-C6896947DBA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12646" name="Rectangle 6">
            <a:extLst>
              <a:ext uri="{FF2B5EF4-FFF2-40B4-BE49-F238E27FC236}">
                <a16:creationId xmlns:a16="http://schemas.microsoft.com/office/drawing/2014/main" id="{E264F4C0-53CB-B4F4-606D-5D033629C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6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0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7.emf"/><Relationship Id="rId7" Type="http://schemas.openxmlformats.org/officeDocument/2006/relationships/image" Target="../media/image30.jpeg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35.png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emf"/><Relationship Id="rId4" Type="http://schemas.openxmlformats.org/officeDocument/2006/relationships/oleObject" Target="../embeddings/oleObject24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26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102D29EF-2E9B-1A24-6CF2-6DEEC91BCC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600200"/>
            <a:ext cx="7772400" cy="1143000"/>
          </a:xfrm>
        </p:spPr>
        <p:txBody>
          <a:bodyPr/>
          <a:lstStyle/>
          <a:p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Medical Statistics </a:t>
            </a:r>
            <a:b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(full English class)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948E4ABC-4644-269B-C5E2-EC5C98D6F4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4038600"/>
            <a:ext cx="6400800" cy="1981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3366FF">
                    <a:alpha val="50000"/>
                  </a:srgbClr>
                </a:solidFill>
              </a14:hiddenFill>
            </a:ext>
          </a:extLst>
        </p:spPr>
        <p:txBody>
          <a:bodyPr/>
          <a:lstStyle/>
          <a:p>
            <a:endParaRPr lang="en-US" altLang="zh-CN"/>
          </a:p>
          <a:p>
            <a:r>
              <a:rPr lang="en-US" altLang="zh-CN" b="1"/>
              <a:t>Ji-Qian Fang</a:t>
            </a:r>
          </a:p>
          <a:p>
            <a:r>
              <a:rPr lang="en-US" altLang="zh-CN" b="1"/>
              <a:t>School of  Public Health </a:t>
            </a:r>
          </a:p>
          <a:p>
            <a:r>
              <a:rPr lang="en-US" altLang="zh-CN" b="1"/>
              <a:t>Sun Yat-Sen University</a:t>
            </a:r>
          </a:p>
          <a:p>
            <a:endParaRPr lang="en-US" altLang="zh-C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F2F394D-B5A5-EDEB-3750-51662E860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362200"/>
            <a:ext cx="7772400" cy="1143000"/>
          </a:xfrm>
        </p:spPr>
        <p:txBody>
          <a:bodyPr/>
          <a:lstStyle/>
          <a:p>
            <a:r>
              <a:rPr lang="en-US" altLang="zh-CN" b="1"/>
              <a:t>Chapter 12 </a:t>
            </a:r>
            <a:br>
              <a:rPr lang="en-US" altLang="zh-CN" b="1"/>
            </a:br>
            <a:br>
              <a:rPr lang="en-US" altLang="zh-CN" b="1"/>
            </a:br>
            <a:r>
              <a:rPr lang="en-US" altLang="zh-CN" b="1"/>
              <a:t>Linear Correlation </a:t>
            </a:r>
            <a:br>
              <a:rPr lang="en-US" altLang="zh-CN" b="1"/>
            </a:br>
            <a:r>
              <a:rPr lang="en-US" altLang="zh-CN" b="1"/>
              <a:t>and </a:t>
            </a:r>
            <a:br>
              <a:rPr lang="en-US" altLang="zh-CN" b="1"/>
            </a:br>
            <a:r>
              <a:rPr lang="en-US" altLang="zh-CN" b="1"/>
              <a:t>Linear Regression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19" name="Object 3">
            <a:extLst>
              <a:ext uri="{FF2B5EF4-FFF2-40B4-BE49-F238E27FC236}">
                <a16:creationId xmlns:a16="http://schemas.microsoft.com/office/drawing/2014/main" id="{3005A0B6-FFA1-0339-1DBC-6F19294920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28600"/>
          <a:ext cx="14249400" cy="624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377440" progId="Word.Document.8">
                  <p:embed/>
                </p:oleObj>
              </mc:Choice>
              <mc:Fallback>
                <p:oleObj name="Document" r:id="rId2" imgW="5420880" imgH="23774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600"/>
                        <a:ext cx="14249400" cy="624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46" name="Object 2">
            <a:extLst>
              <a:ext uri="{FF2B5EF4-FFF2-40B4-BE49-F238E27FC236}">
                <a16:creationId xmlns:a16="http://schemas.microsoft.com/office/drawing/2014/main" id="{B99C29F3-B1A6-E330-9C67-1F311F074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76200" y="779463"/>
          <a:ext cx="12115800" cy="531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377440" progId="Word.Document.8">
                  <p:embed/>
                </p:oleObj>
              </mc:Choice>
              <mc:Fallback>
                <p:oleObj name="Document" r:id="rId2" imgW="5420880" imgH="23774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6200" y="779463"/>
                        <a:ext cx="12115800" cy="531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1027">
            <a:extLst>
              <a:ext uri="{FF2B5EF4-FFF2-40B4-BE49-F238E27FC236}">
                <a16:creationId xmlns:a16="http://schemas.microsoft.com/office/drawing/2014/main" id="{74B5F8A2-5823-1437-EE16-7887E85C2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28600"/>
            <a:ext cx="9144000" cy="6629400"/>
          </a:xfrm>
        </p:spPr>
        <p:txBody>
          <a:bodyPr/>
          <a:lstStyle/>
          <a:p>
            <a:r>
              <a:rPr lang="en-US" altLang="zh-CN" b="1"/>
              <a:t>Up to now, the statistical methods we have learnt concern with single variable only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Such as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Estimate the average </a:t>
            </a:r>
            <a:r>
              <a:rPr lang="en-US" altLang="zh-CN" b="1">
                <a:solidFill>
                  <a:srgbClr val="FF9900"/>
                </a:solidFill>
              </a:rPr>
              <a:t>height</a:t>
            </a:r>
            <a:r>
              <a:rPr lang="en-US" altLang="zh-CN" b="1"/>
              <a:t> among high school students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Comparing the average </a:t>
            </a:r>
            <a:r>
              <a:rPr lang="en-US" altLang="zh-CN" b="1">
                <a:solidFill>
                  <a:srgbClr val="FF9900"/>
                </a:solidFill>
              </a:rPr>
              <a:t>height</a:t>
            </a:r>
            <a:r>
              <a:rPr lang="en-US" altLang="zh-CN" b="1"/>
              <a:t> of high school students between city and country side</a:t>
            </a:r>
          </a:p>
          <a:p>
            <a:r>
              <a:rPr lang="en-US" altLang="zh-CN" b="1"/>
              <a:t>The relationship between </a:t>
            </a:r>
            <a:r>
              <a:rPr lang="en-US" altLang="zh-CN" b="1">
                <a:solidFill>
                  <a:srgbClr val="FF9900"/>
                </a:solidFill>
              </a:rPr>
              <a:t>two</a:t>
            </a:r>
            <a:r>
              <a:rPr lang="en-US" altLang="zh-CN" b="1"/>
              <a:t> variables are often concerned: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Example: For high school students,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</a:t>
            </a:r>
            <a:r>
              <a:rPr lang="en-US" altLang="zh-CN" b="1">
                <a:solidFill>
                  <a:srgbClr val="FF9900"/>
                </a:solidFill>
              </a:rPr>
              <a:t>Height</a:t>
            </a:r>
            <a:r>
              <a:rPr lang="en-US" altLang="zh-CN" b="1"/>
              <a:t> and </a:t>
            </a:r>
            <a:r>
              <a:rPr lang="en-US" altLang="zh-CN" b="1">
                <a:solidFill>
                  <a:srgbClr val="FF9900"/>
                </a:solidFill>
              </a:rPr>
              <a:t>Age – linear relation?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</a:t>
            </a:r>
            <a:r>
              <a:rPr lang="en-US" altLang="zh-CN" b="1">
                <a:solidFill>
                  <a:srgbClr val="FF9900"/>
                </a:solidFill>
              </a:rPr>
              <a:t>Height </a:t>
            </a:r>
            <a:r>
              <a:rPr lang="en-US" altLang="zh-CN" b="1"/>
              <a:t>and </a:t>
            </a:r>
            <a:r>
              <a:rPr lang="en-US" altLang="zh-CN" b="1">
                <a:solidFill>
                  <a:srgbClr val="FF9900"/>
                </a:solidFill>
              </a:rPr>
              <a:t>Vital capacity -- linear relation?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A66EF1F-A9AC-162F-D454-DD3F1F51C3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In this chapter, we are going to study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  two variables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  linear relationship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r>
              <a:rPr lang="en-US" altLang="zh-CN" b="1"/>
              <a:t>Two types of questions: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Whether there is a linear relationship?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-- Linear correlation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How to predict one variable by another variable?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-- Linear regression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F9AFAD96-8C31-EE2C-E39D-AF34FBA50C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540750" cy="990600"/>
          </a:xfrm>
        </p:spPr>
        <p:txBody>
          <a:bodyPr/>
          <a:lstStyle/>
          <a:p>
            <a:pPr algn="l"/>
            <a:r>
              <a:rPr kumimoji="0" lang="en-US" altLang="zh-CN" sz="3200" b="1">
                <a:solidFill>
                  <a:srgbClr val="FFCC00"/>
                </a:solidFill>
                <a:effectLst/>
              </a:rPr>
              <a:t>Example  Chest circumference and vital capacity of 15 high school female students</a:t>
            </a:r>
          </a:p>
        </p:txBody>
      </p:sp>
      <p:graphicFrame>
        <p:nvGraphicFramePr>
          <p:cNvPr id="83976" name="Object 8">
            <a:extLst>
              <a:ext uri="{FF2B5EF4-FFF2-40B4-BE49-F238E27FC236}">
                <a16:creationId xmlns:a16="http://schemas.microsoft.com/office/drawing/2014/main" id="{BCB67984-9FEC-FE60-1432-9805B20C0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1066800"/>
          <a:ext cx="89154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402640" progId="Word.Document.8">
                  <p:embed/>
                </p:oleObj>
              </mc:Choice>
              <mc:Fallback>
                <p:oleObj name="Document" r:id="rId2" imgW="5420880" imgH="240264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8915400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7" name="Text Box 9">
            <a:extLst>
              <a:ext uri="{FF2B5EF4-FFF2-40B4-BE49-F238E27FC236}">
                <a16:creationId xmlns:a16="http://schemas.microsoft.com/office/drawing/2014/main" id="{E9D8EE79-3F1F-8FA1-AA53-2D0D7CA96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76800"/>
            <a:ext cx="89154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zh-CN" sz="2800" b="1"/>
              <a:t>  Is there a linear relationship between Vital Capacity </a:t>
            </a:r>
            <a:r>
              <a:rPr lang="en-US" altLang="zh-CN" sz="2800" b="1" i="1"/>
              <a:t>Y</a:t>
            </a:r>
            <a:r>
              <a:rPr lang="en-US" altLang="zh-CN" sz="2800" b="1"/>
              <a:t> and Chest circumference </a:t>
            </a:r>
            <a:r>
              <a:rPr lang="en-US" altLang="zh-CN" sz="2800" b="1" i="1"/>
              <a:t>X</a:t>
            </a:r>
            <a:r>
              <a:rPr lang="en-US" altLang="zh-CN" sz="2800" b="1"/>
              <a:t>? -- </a:t>
            </a:r>
            <a:r>
              <a:rPr lang="en-US" altLang="zh-CN" sz="2800" b="1">
                <a:solidFill>
                  <a:srgbClr val="FF9900"/>
                </a:solidFill>
              </a:rPr>
              <a:t>Linear correlation</a:t>
            </a:r>
          </a:p>
          <a:p>
            <a:pPr>
              <a:buFontTx/>
              <a:buChar char="•"/>
            </a:pPr>
            <a:r>
              <a:rPr lang="en-US" altLang="zh-CN" sz="2800" b="1"/>
              <a:t>  If Chest circumference </a:t>
            </a:r>
            <a:r>
              <a:rPr lang="en-US" altLang="zh-CN" sz="2800" b="1" i="1"/>
              <a:t>X </a:t>
            </a:r>
            <a:r>
              <a:rPr lang="en-US" altLang="zh-CN" sz="2800" b="1"/>
              <a:t>is known, can we predict her Vital Capacity </a:t>
            </a:r>
            <a:r>
              <a:rPr lang="en-US" altLang="zh-CN" sz="2800" b="1" i="1"/>
              <a:t>Y</a:t>
            </a:r>
            <a:r>
              <a:rPr lang="en-US" altLang="zh-CN" sz="2800" b="1"/>
              <a:t>? -- </a:t>
            </a:r>
            <a:r>
              <a:rPr lang="en-US" altLang="zh-CN" sz="2800" b="1">
                <a:solidFill>
                  <a:srgbClr val="FF9900"/>
                </a:solidFill>
              </a:rPr>
              <a:t>Linear 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D345D6FD-B81A-F7F8-3BE3-5D0729B77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905000"/>
            <a:ext cx="7772400" cy="1143000"/>
          </a:xfrm>
        </p:spPr>
        <p:txBody>
          <a:bodyPr/>
          <a:lstStyle/>
          <a:p>
            <a:r>
              <a:rPr kumimoji="0" lang="en-US" altLang="zh-CN" sz="4000" b="1">
                <a:solidFill>
                  <a:srgbClr val="FFCC00"/>
                </a:solidFill>
                <a:effectLst/>
              </a:rPr>
              <a:t>12.1 Linear correlation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34" name="Object 2">
            <a:extLst>
              <a:ext uri="{FF2B5EF4-FFF2-40B4-BE49-F238E27FC236}">
                <a16:creationId xmlns:a16="http://schemas.microsoft.com/office/drawing/2014/main" id="{8DCA6F0C-C046-6F2E-CCF6-2E98263E7F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600" y="152400"/>
          <a:ext cx="89154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402640" progId="Word.Document.8">
                  <p:embed/>
                </p:oleObj>
              </mc:Choice>
              <mc:Fallback>
                <p:oleObj name="Document" r:id="rId2" imgW="5420880" imgH="24026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152400"/>
                        <a:ext cx="8915400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7" name="Rectangle 5">
            <a:extLst>
              <a:ext uri="{FF2B5EF4-FFF2-40B4-BE49-F238E27FC236}">
                <a16:creationId xmlns:a16="http://schemas.microsoft.com/office/drawing/2014/main" id="{85BDE78B-CC18-660C-7DBA-4E78CE2DC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2271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0841" name="Text Box 9">
            <a:extLst>
              <a:ext uri="{FF2B5EF4-FFF2-40B4-BE49-F238E27FC236}">
                <a16:creationId xmlns:a16="http://schemas.microsoft.com/office/drawing/2014/main" id="{4099BD0B-B7FD-98A6-D33A-59251FC55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4008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graphicFrame>
        <p:nvGraphicFramePr>
          <p:cNvPr id="120895" name="Object 63">
            <a:extLst>
              <a:ext uri="{FF2B5EF4-FFF2-40B4-BE49-F238E27FC236}">
                <a16:creationId xmlns:a16="http://schemas.microsoft.com/office/drawing/2014/main" id="{EDBBE74D-F16B-C480-5DFE-0FCF3E9871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810000"/>
          <a:ext cx="5638800" cy="3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4162654" imgH="2010156" progId="Excel.Chart.8">
                  <p:embed followColorScheme="full"/>
                </p:oleObj>
              </mc:Choice>
              <mc:Fallback>
                <p:oleObj name="Chart" r:id="rId4" imgW="4162654" imgH="2010156" progId="Excel.Chart.8">
                  <p:embed followColorScheme="full"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810000"/>
                        <a:ext cx="5638800" cy="307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96" name="Text Box 64">
            <a:extLst>
              <a:ext uri="{FF2B5EF4-FFF2-40B4-BE49-F238E27FC236}">
                <a16:creationId xmlns:a16="http://schemas.microsoft.com/office/drawing/2014/main" id="{028DC531-B091-66EA-5224-4CD12A760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910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Scatter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0" name="Picture 1026">
            <a:extLst>
              <a:ext uri="{FF2B5EF4-FFF2-40B4-BE49-F238E27FC236}">
                <a16:creationId xmlns:a16="http://schemas.microsoft.com/office/drawing/2014/main" id="{ECD85C80-39D2-E65C-BD32-FD414AF89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2667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171" name="Picture 1027">
            <a:extLst>
              <a:ext uri="{FF2B5EF4-FFF2-40B4-BE49-F238E27FC236}">
                <a16:creationId xmlns:a16="http://schemas.microsoft.com/office/drawing/2014/main" id="{CF25625A-F1A0-BFEC-86A2-8EAC124B4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00"/>
            <a:ext cx="2590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172" name="Picture 1028">
            <a:extLst>
              <a:ext uri="{FF2B5EF4-FFF2-40B4-BE49-F238E27FC236}">
                <a16:creationId xmlns:a16="http://schemas.microsoft.com/office/drawing/2014/main" id="{8CA5DBF7-2C8B-0E09-A6F6-0DCAF7231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558925"/>
            <a:ext cx="2971800" cy="240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173" name="Text Box 1029">
            <a:extLst>
              <a:ext uri="{FF2B5EF4-FFF2-40B4-BE49-F238E27FC236}">
                <a16:creationId xmlns:a16="http://schemas.microsoft.com/office/drawing/2014/main" id="{571BB30E-11C6-09C9-226C-DC9F0107A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962400"/>
            <a:ext cx="2744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Exponential function</a:t>
            </a:r>
          </a:p>
        </p:txBody>
      </p:sp>
      <p:sp>
        <p:nvSpPr>
          <p:cNvPr id="135174" name="Text Box 1030">
            <a:extLst>
              <a:ext uri="{FF2B5EF4-FFF2-40B4-BE49-F238E27FC236}">
                <a16:creationId xmlns:a16="http://schemas.microsoft.com/office/drawing/2014/main" id="{2D373208-B628-0990-FC4A-C5D7F7958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3962400"/>
            <a:ext cx="2559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Logarithm function</a:t>
            </a:r>
          </a:p>
        </p:txBody>
      </p:sp>
      <p:sp>
        <p:nvSpPr>
          <p:cNvPr id="135175" name="Text Box 1031">
            <a:extLst>
              <a:ext uri="{FF2B5EF4-FFF2-40B4-BE49-F238E27FC236}">
                <a16:creationId xmlns:a16="http://schemas.microsoft.com/office/drawing/2014/main" id="{84B1ACD0-3BC2-6D65-5E5E-5A2F381CB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638" y="3962400"/>
            <a:ext cx="1884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Sine Function</a:t>
            </a:r>
          </a:p>
        </p:txBody>
      </p:sp>
      <p:sp>
        <p:nvSpPr>
          <p:cNvPr id="135176" name="Text Box 1032">
            <a:extLst>
              <a:ext uri="{FF2B5EF4-FFF2-40B4-BE49-F238E27FC236}">
                <a16:creationId xmlns:a16="http://schemas.microsoft.com/office/drawing/2014/main" id="{4FB05F40-F2BB-9DE5-A4CB-B5D1696BC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30225"/>
            <a:ext cx="65008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4000" b="1">
                <a:solidFill>
                  <a:srgbClr val="FFCC00"/>
                </a:solidFill>
                <a:latin typeface="Arial" panose="020B0604020202020204" pitchFamily="34" charset="0"/>
              </a:rPr>
              <a:t>Function between Y and X</a:t>
            </a:r>
          </a:p>
        </p:txBody>
      </p:sp>
      <p:sp>
        <p:nvSpPr>
          <p:cNvPr id="135177" name="Text Box 1033">
            <a:extLst>
              <a:ext uri="{FF2B5EF4-FFF2-40B4-BE49-F238E27FC236}">
                <a16:creationId xmlns:a16="http://schemas.microsoft.com/office/drawing/2014/main" id="{AEDA5E5A-3310-6BD2-3B0D-D86319E69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953000"/>
            <a:ext cx="8991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/>
              <a:t>  There is a fixed value of Y </a:t>
            </a:r>
          </a:p>
          <a:p>
            <a:pPr>
              <a:spcBef>
                <a:spcPct val="50000"/>
              </a:spcBef>
            </a:pPr>
            <a:r>
              <a:rPr lang="en-US" altLang="zh-CN" sz="3200" b="1"/>
              <a:t>                   corresponding to any given value of  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5" name="Rectangle 7">
            <a:extLst>
              <a:ext uri="{FF2B5EF4-FFF2-40B4-BE49-F238E27FC236}">
                <a16:creationId xmlns:a16="http://schemas.microsoft.com/office/drawing/2014/main" id="{3CF37CE9-51AA-DC51-38B0-1391C34BC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6208713"/>
            <a:ext cx="204788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</a:rPr>
              <a:t> </a:t>
            </a:r>
            <a:endParaRPr lang="en-US" altLang="zh-CN"/>
          </a:p>
        </p:txBody>
      </p:sp>
      <p:sp>
        <p:nvSpPr>
          <p:cNvPr id="104456" name="Rectangle 8">
            <a:extLst>
              <a:ext uri="{FF2B5EF4-FFF2-40B4-BE49-F238E27FC236}">
                <a16:creationId xmlns:a16="http://schemas.microsoft.com/office/drawing/2014/main" id="{83351B17-3E29-44F3-9A00-A50E262C7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6153150"/>
            <a:ext cx="5489575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61" name="Rectangle 13">
            <a:extLst>
              <a:ext uri="{FF2B5EF4-FFF2-40B4-BE49-F238E27FC236}">
                <a16:creationId xmlns:a16="http://schemas.microsoft.com/office/drawing/2014/main" id="{687CFED9-600F-7AFE-4FCF-E91349FC0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883275"/>
            <a:ext cx="4800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 sz="3200"/>
              <a:t>Fig 12-2   Linear correlation</a:t>
            </a:r>
          </a:p>
        </p:txBody>
      </p:sp>
      <p:sp>
        <p:nvSpPr>
          <p:cNvPr id="104462" name="Rectangle 14">
            <a:extLst>
              <a:ext uri="{FF2B5EF4-FFF2-40B4-BE49-F238E27FC236}">
                <a16:creationId xmlns:a16="http://schemas.microsoft.com/office/drawing/2014/main" id="{81EE1F27-D6C8-1119-4EFE-6A2411D3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6340475"/>
            <a:ext cx="17462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100">
                <a:solidFill>
                  <a:srgbClr val="000000"/>
                </a:solidFill>
              </a:rPr>
              <a:t> </a:t>
            </a:r>
            <a:endParaRPr lang="en-US" altLang="zh-CN"/>
          </a:p>
        </p:txBody>
      </p:sp>
      <p:pic>
        <p:nvPicPr>
          <p:cNvPr id="104454" name="Picture 6">
            <a:extLst>
              <a:ext uri="{FF2B5EF4-FFF2-40B4-BE49-F238E27FC236}">
                <a16:creationId xmlns:a16="http://schemas.microsoft.com/office/drawing/2014/main" id="{FF20E74D-7798-602A-5EFB-50BC466D4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9144000" cy="469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050">
            <a:extLst>
              <a:ext uri="{FF2B5EF4-FFF2-40B4-BE49-F238E27FC236}">
                <a16:creationId xmlns:a16="http://schemas.microsoft.com/office/drawing/2014/main" id="{67C273D6-872C-217F-B753-DA8EED71F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38213"/>
            <a:ext cx="9144000" cy="57912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A measurement of linear relationship: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1) Whether there is a correlation;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    If the correlation coefficient is 0 or not big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enough                -- no correlation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2) If correlation coefficient is big enough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         The </a:t>
            </a:r>
            <a:r>
              <a:rPr lang="en-US" altLang="zh-CN" b="1">
                <a:solidFill>
                  <a:srgbClr val="FF9900"/>
                </a:solidFill>
              </a:rPr>
              <a:t>direction</a:t>
            </a:r>
            <a:r>
              <a:rPr lang="en-US" altLang="zh-CN" b="1"/>
              <a:t> of correlation?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                      -- positive + or negative -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         The </a:t>
            </a:r>
            <a:r>
              <a:rPr lang="en-US" altLang="zh-CN" b="1">
                <a:solidFill>
                  <a:srgbClr val="FF9900"/>
                </a:solidFill>
              </a:rPr>
              <a:t>strength</a:t>
            </a:r>
            <a:r>
              <a:rPr lang="en-US" altLang="zh-CN" b="1"/>
              <a:t> of correlation? high or not?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                       -- +1 or -1, complete correlation</a:t>
            </a:r>
            <a:r>
              <a:rPr lang="en-US" altLang="zh-CN" sz="2800" b="1"/>
              <a:t>            </a:t>
            </a:r>
          </a:p>
        </p:txBody>
      </p:sp>
      <p:sp>
        <p:nvSpPr>
          <p:cNvPr id="74756" name="Text Box 2052">
            <a:extLst>
              <a:ext uri="{FF2B5EF4-FFF2-40B4-BE49-F238E27FC236}">
                <a16:creationId xmlns:a16="http://schemas.microsoft.com/office/drawing/2014/main" id="{30549B93-78B1-43B3-D78B-61A1CEAC7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3050"/>
            <a:ext cx="937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kumimoji="0" lang="en-US" altLang="zh-CN" sz="3600" b="1">
                <a:solidFill>
                  <a:srgbClr val="FFCC00"/>
                </a:solidFill>
              </a:rPr>
              <a:t>Correlation Coefficient and Calculation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>
            <a:extLst>
              <a:ext uri="{FF2B5EF4-FFF2-40B4-BE49-F238E27FC236}">
                <a16:creationId xmlns:a16="http://schemas.microsoft.com/office/drawing/2014/main" id="{A8BF6D5F-A21F-D342-1C67-1252E4D60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DFC34EFC-CC0F-C9CE-E984-800B5BFCC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5789" name="Object 13">
            <a:extLst>
              <a:ext uri="{FF2B5EF4-FFF2-40B4-BE49-F238E27FC236}">
                <a16:creationId xmlns:a16="http://schemas.microsoft.com/office/drawing/2014/main" id="{CE3C61AF-B669-B37D-EBD2-F5CC1DE5D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533400"/>
          <a:ext cx="8610600" cy="505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16040" imgH="2006280" progId="Equation.3">
                  <p:embed/>
                </p:oleObj>
              </mc:Choice>
              <mc:Fallback>
                <p:oleObj name="Equation" r:id="rId2" imgW="3416040" imgH="20062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3400"/>
                        <a:ext cx="8610600" cy="5056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60" name="Object 1028">
            <a:extLst>
              <a:ext uri="{FF2B5EF4-FFF2-40B4-BE49-F238E27FC236}">
                <a16:creationId xmlns:a16="http://schemas.microsoft.com/office/drawing/2014/main" id="{A12DAAF8-2731-12DB-3981-7CEE65CF25FB}"/>
              </a:ext>
            </a:extLst>
          </p:cNvPr>
          <p:cNvGraphicFramePr>
            <a:graphicFrameLocks noChangeAspect="1"/>
          </p:cNvGraphicFramePr>
          <p:nvPr>
            <p:ph type="title"/>
          </p:nvPr>
        </p:nvGraphicFramePr>
        <p:xfrm>
          <a:off x="228600" y="50800"/>
          <a:ext cx="86868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402640" progId="Word.Document.8">
                  <p:embed/>
                </p:oleObj>
              </mc:Choice>
              <mc:Fallback>
                <p:oleObj name="Document" r:id="rId2" imgW="5420880" imgH="2402640" progId="Word.Document.8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0800"/>
                        <a:ext cx="86868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1" name="Object 1029">
            <a:extLst>
              <a:ext uri="{FF2B5EF4-FFF2-40B4-BE49-F238E27FC236}">
                <a16:creationId xmlns:a16="http://schemas.microsoft.com/office/drawing/2014/main" id="{1A70B4D8-0B65-0D50-A1DF-13C8DB67AB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760788"/>
          <a:ext cx="8229600" cy="309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20880" imgH="1701720" progId="Equation.3">
                  <p:embed/>
                </p:oleObj>
              </mc:Choice>
              <mc:Fallback>
                <p:oleObj name="Equation" r:id="rId4" imgW="4520880" imgH="170172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760788"/>
                        <a:ext cx="8229600" cy="309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CB222D8-CB07-377A-84FD-D140F556C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957888"/>
          </a:xfrm>
        </p:spPr>
        <p:txBody>
          <a:bodyPr/>
          <a:lstStyle/>
          <a:p>
            <a:pPr marL="609600" indent="-609600"/>
            <a:r>
              <a:rPr lang="en-US" altLang="zh-CN" b="1" i="1"/>
              <a:t>r</a:t>
            </a:r>
            <a:r>
              <a:rPr lang="en-US" altLang="zh-CN" b="1"/>
              <a:t> is sample correlation coefficient, change from sample to sample</a:t>
            </a:r>
          </a:p>
          <a:p>
            <a:pPr marL="609600" indent="-609600"/>
            <a:r>
              <a:rPr lang="en-US" altLang="zh-CN" b="1"/>
              <a:t>There is a population correlation coefficient, denoted by </a:t>
            </a:r>
            <a:r>
              <a:rPr lang="en-US" altLang="zh-CN" b="1" i="1"/>
              <a:t>ρ</a:t>
            </a:r>
          </a:p>
          <a:p>
            <a:pPr marL="609600" indent="-609600"/>
            <a:r>
              <a:rPr lang="en-US" altLang="zh-CN" b="1"/>
              <a:t>Question : Whether </a:t>
            </a:r>
            <a:r>
              <a:rPr lang="en-US" altLang="zh-CN" b="1" i="1"/>
              <a:t>ρ</a:t>
            </a:r>
            <a:r>
              <a:rPr lang="en-US" altLang="zh-CN" b="1"/>
              <a:t>=0 or not?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01649DFC-FC2F-CDDE-8338-EBDF40BA2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E979FB17-AE0A-957F-D505-C0617C91B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6" name="Text Box 6">
            <a:extLst>
              <a:ext uri="{FF2B5EF4-FFF2-40B4-BE49-F238E27FC236}">
                <a16:creationId xmlns:a16="http://schemas.microsoft.com/office/drawing/2014/main" id="{D741E514-D557-65B6-FB86-09BCEF9D8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46609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3600" b="1">
                <a:solidFill>
                  <a:srgbClr val="FFCC00"/>
                </a:solidFill>
                <a:latin typeface="Arial" panose="020B0604020202020204" pitchFamily="34" charset="0"/>
              </a:rPr>
              <a:t>2. Hypothesis test</a:t>
            </a:r>
            <a:r>
              <a:rPr kumimoji="0" lang="en-US" altLang="zh-CN" sz="4000">
                <a:latin typeface="Arial" panose="020B0604020202020204" pitchFamily="34" charset="0"/>
              </a:rPr>
              <a:t> 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3">
            <a:extLst>
              <a:ext uri="{FF2B5EF4-FFF2-40B4-BE49-F238E27FC236}">
                <a16:creationId xmlns:a16="http://schemas.microsoft.com/office/drawing/2014/main" id="{FDE439E5-E98B-68BB-87C5-9391D59BD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228600"/>
            <a:ext cx="8991600" cy="6629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 i="1"/>
              <a:t>H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: </a:t>
            </a:r>
            <a:r>
              <a:rPr lang="en-US" altLang="zh-CN" sz="2800" b="1" i="1"/>
              <a:t>ρ</a:t>
            </a:r>
            <a:r>
              <a:rPr lang="en-US" altLang="zh-CN" sz="2800" b="1"/>
              <a:t>=0, 		</a:t>
            </a:r>
            <a:r>
              <a:rPr lang="en-US" altLang="zh-CN" sz="2800" b="1" i="1"/>
              <a:t>H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: </a:t>
            </a:r>
            <a:r>
              <a:rPr lang="en-US" altLang="zh-CN" sz="2800" b="1" i="1"/>
              <a:t>ρ</a:t>
            </a:r>
            <a:r>
              <a:rPr lang="en-US" altLang="zh-CN" sz="2800" b="1"/>
              <a:t>≠0</a:t>
            </a:r>
            <a:br>
              <a:rPr lang="en-US" altLang="zh-CN" sz="2800" b="1"/>
            </a:br>
            <a:r>
              <a:rPr lang="en-US" altLang="zh-CN" sz="2800" b="1" i="1"/>
              <a:t>α</a:t>
            </a:r>
            <a:r>
              <a:rPr lang="en-US" altLang="zh-CN" sz="2800" b="1"/>
              <a:t>=0.05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en-US" altLang="zh-CN" sz="2800" b="1"/>
              <a:t>(1) Checking a special table (</a:t>
            </a:r>
            <a:r>
              <a:rPr lang="en-US" altLang="zh-CN" sz="2800" b="1">
                <a:solidFill>
                  <a:srgbClr val="FF9900"/>
                </a:solidFill>
              </a:rPr>
              <a:t>Table 12-3</a:t>
            </a:r>
            <a:r>
              <a:rPr lang="en-US" altLang="zh-CN" sz="2800" b="1"/>
              <a:t>)</a:t>
            </a:r>
            <a:endParaRPr lang="en-US" altLang="zh-CN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Two-side 0.05 and 0.01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i="1"/>
              <a:t>                       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i="1"/>
              <a:t>                         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i="1"/>
              <a:t>                                                  H</a:t>
            </a:r>
            <a:r>
              <a:rPr lang="en-US" altLang="zh-CN" sz="2800" baseline="-25000"/>
              <a:t>0 </a:t>
            </a:r>
            <a:r>
              <a:rPr lang="en-US" altLang="zh-CN" sz="2800"/>
              <a:t>is rejected.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9900"/>
                </a:solidFill>
              </a:rPr>
              <a:t>Conclusion:</a:t>
            </a:r>
            <a:r>
              <a:rPr lang="en-US" altLang="zh-CN" sz="2800"/>
              <a:t> There is linear correlation between Vital Capacity and Chest Circumference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9900"/>
                </a:solidFill>
              </a:rPr>
              <a:t>Question:</a:t>
            </a:r>
            <a:r>
              <a:rPr lang="en-US" altLang="zh-CN" sz="2800"/>
              <a:t> Since                , very small, can we say the correlation is very strong?</a:t>
            </a:r>
          </a:p>
        </p:txBody>
      </p:sp>
      <p:graphicFrame>
        <p:nvGraphicFramePr>
          <p:cNvPr id="122884" name="Object 4">
            <a:extLst>
              <a:ext uri="{FF2B5EF4-FFF2-40B4-BE49-F238E27FC236}">
                <a16:creationId xmlns:a16="http://schemas.microsoft.com/office/drawing/2014/main" id="{8AF72CA3-C4BB-E56D-9AB1-CCA84186D5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971800"/>
          <a:ext cx="4495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241200" progId="Equation.3">
                  <p:embed/>
                </p:oleObj>
              </mc:Choice>
              <mc:Fallback>
                <p:oleObj name="Equation" r:id="rId2" imgW="181584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971800"/>
                        <a:ext cx="4495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5">
            <a:extLst>
              <a:ext uri="{FF2B5EF4-FFF2-40B4-BE49-F238E27FC236}">
                <a16:creationId xmlns:a16="http://schemas.microsoft.com/office/drawing/2014/main" id="{8A58AE14-C0F1-B5AB-9CD6-4E48D154BD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3657600"/>
          <a:ext cx="3048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06360" imgH="241200" progId="Equation.3">
                  <p:embed/>
                </p:oleObj>
              </mc:Choice>
              <mc:Fallback>
                <p:oleObj name="Equation" r:id="rId4" imgW="12063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657600"/>
                        <a:ext cx="3048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6" name="Object 6">
            <a:extLst>
              <a:ext uri="{FF2B5EF4-FFF2-40B4-BE49-F238E27FC236}">
                <a16:creationId xmlns:a16="http://schemas.microsoft.com/office/drawing/2014/main" id="{36086670-221E-06EF-B70A-22D0DA2C9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4343400"/>
          <a:ext cx="13716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177480" progId="Equation.3">
                  <p:embed/>
                </p:oleObj>
              </mc:Choice>
              <mc:Fallback>
                <p:oleObj name="Equation" r:id="rId6" imgW="545760" imgH="177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343400"/>
                        <a:ext cx="13716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7" name="Object 7">
            <a:extLst>
              <a:ext uri="{FF2B5EF4-FFF2-40B4-BE49-F238E27FC236}">
                <a16:creationId xmlns:a16="http://schemas.microsoft.com/office/drawing/2014/main" id="{80A34096-DE1B-84E3-5794-350CFFC8B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438400"/>
          <a:ext cx="2438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01440" imgH="177480" progId="Equation.3">
                  <p:embed/>
                </p:oleObj>
              </mc:Choice>
              <mc:Fallback>
                <p:oleObj name="Equation" r:id="rId8" imgW="90144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438400"/>
                        <a:ext cx="24384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8" name="Object 8">
            <a:extLst>
              <a:ext uri="{FF2B5EF4-FFF2-40B4-BE49-F238E27FC236}">
                <a16:creationId xmlns:a16="http://schemas.microsoft.com/office/drawing/2014/main" id="{4336C107-B615-779C-DC24-07C2BE6E2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5740400"/>
          <a:ext cx="13716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5760" imgH="177480" progId="Equation.3">
                  <p:embed/>
                </p:oleObj>
              </mc:Choice>
              <mc:Fallback>
                <p:oleObj name="Equation" r:id="rId10" imgW="545760" imgH="17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740400"/>
                        <a:ext cx="13716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9" name="Text Box 5">
            <a:extLst>
              <a:ext uri="{FF2B5EF4-FFF2-40B4-BE49-F238E27FC236}">
                <a16:creationId xmlns:a16="http://schemas.microsoft.com/office/drawing/2014/main" id="{B5AD3BE4-E4C6-6935-164A-523738967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800600"/>
            <a:ext cx="9144000" cy="170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600" b="1">
                <a:latin typeface="Times New Roman" panose="02020603050405020304" pitchFamily="18" charset="0"/>
              </a:rPr>
              <a:t>Question: </a:t>
            </a:r>
          </a:p>
          <a:p>
            <a:r>
              <a:rPr lang="en-US" altLang="zh-CN" sz="2600" b="1">
                <a:latin typeface="Times New Roman" panose="02020603050405020304" pitchFamily="18" charset="0"/>
              </a:rPr>
              <a:t>       If </a:t>
            </a:r>
            <a:r>
              <a:rPr lang="en-US" altLang="zh-CN" sz="2600" b="1" i="1">
                <a:latin typeface="Times New Roman" panose="02020603050405020304" pitchFamily="18" charset="0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</a:rPr>
              <a:t>=0.90, can you claim the two variables are correlated </a:t>
            </a:r>
          </a:p>
          <a:p>
            <a:r>
              <a:rPr lang="en-US" altLang="zh-CN" sz="2600" b="1">
                <a:latin typeface="Times New Roman" panose="02020603050405020304" pitchFamily="18" charset="0"/>
              </a:rPr>
              <a:t>each other? </a:t>
            </a:r>
          </a:p>
          <a:p>
            <a:r>
              <a:rPr lang="en-US" altLang="zh-CN" sz="2600" b="1">
                <a:latin typeface="Times New Roman" panose="02020603050405020304" pitchFamily="18" charset="0"/>
              </a:rPr>
              <a:t>      Does a small </a:t>
            </a:r>
            <a:r>
              <a:rPr lang="en-US" altLang="zh-CN" sz="2600" b="1" i="1">
                <a:latin typeface="Times New Roman" panose="02020603050405020304" pitchFamily="18" charset="0"/>
              </a:rPr>
              <a:t>P</a:t>
            </a:r>
            <a:r>
              <a:rPr lang="en-US" altLang="zh-CN" sz="2600" b="1">
                <a:latin typeface="Times New Roman" panose="02020603050405020304" pitchFamily="18" charset="0"/>
              </a:rPr>
              <a:t> value mean that  the correlation is strong ?</a:t>
            </a:r>
            <a:r>
              <a:rPr lang="en-US" altLang="zh-CN" sz="2800" b="1">
                <a:latin typeface="Times New Roman" panose="02020603050405020304" pitchFamily="18" charset="0"/>
              </a:rPr>
              <a:t>                  </a:t>
            </a:r>
          </a:p>
        </p:txBody>
      </p:sp>
      <p:graphicFrame>
        <p:nvGraphicFramePr>
          <p:cNvPr id="129033" name="Object 9">
            <a:extLst>
              <a:ext uri="{FF2B5EF4-FFF2-40B4-BE49-F238E27FC236}">
                <a16:creationId xmlns:a16="http://schemas.microsoft.com/office/drawing/2014/main" id="{4AE4831E-29C0-CF6D-00AA-82DC88A47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381000"/>
          <a:ext cx="9144000" cy="507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3400" imgH="3009960" progId="Word.Document.8">
                  <p:embed/>
                </p:oleObj>
              </mc:Choice>
              <mc:Fallback>
                <p:oleObj name="Document" r:id="rId2" imgW="5423400" imgH="300996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"/>
                        <a:ext cx="9144000" cy="507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4" name="Text Box 10">
            <a:extLst>
              <a:ext uri="{FF2B5EF4-FFF2-40B4-BE49-F238E27FC236}">
                <a16:creationId xmlns:a16="http://schemas.microsoft.com/office/drawing/2014/main" id="{1717DDBB-33B3-6662-1551-5541F3E0D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0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9900"/>
                </a:solidFill>
              </a:rPr>
              <a:t>Table 12-3</a:t>
            </a:r>
            <a:r>
              <a:rPr lang="en-US" altLang="zh-CN" b="1"/>
              <a:t> Critical values for </a:t>
            </a:r>
            <a:r>
              <a:rPr lang="en-US" altLang="zh-CN" b="1" i="1"/>
              <a:t>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521C52E-1B66-978E-7081-B3C208702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txBody>
          <a:bodyPr/>
          <a:lstStyle/>
          <a:p>
            <a:pPr algn="l"/>
            <a:br>
              <a:rPr lang="en-US" altLang="zh-CN" sz="3600" b="1" i="1"/>
            </a:br>
            <a:br>
              <a:rPr lang="en-US" altLang="zh-CN" sz="3600" b="1" i="1"/>
            </a:br>
            <a:r>
              <a:rPr lang="en-US" altLang="zh-CN" sz="3200" b="1">
                <a:solidFill>
                  <a:schemeClr val="tx1"/>
                </a:solidFill>
              </a:rPr>
              <a:t>(2) </a:t>
            </a:r>
            <a:r>
              <a:rPr lang="en-US" altLang="zh-CN" sz="3200" b="1" i="1">
                <a:solidFill>
                  <a:schemeClr val="tx1"/>
                </a:solidFill>
              </a:rPr>
              <a:t>t</a:t>
            </a:r>
            <a:r>
              <a:rPr lang="en-US" altLang="zh-CN" sz="3200" b="1">
                <a:solidFill>
                  <a:schemeClr val="tx1"/>
                </a:solidFill>
              </a:rPr>
              <a:t>  test</a:t>
            </a:r>
            <a:r>
              <a:rPr lang="en-US" altLang="zh-CN" sz="3200" b="1" i="1">
                <a:solidFill>
                  <a:schemeClr val="tx1"/>
                </a:solidFill>
              </a:rPr>
              <a:t>      </a:t>
            </a:r>
            <a:r>
              <a:rPr lang="en-US" altLang="zh-CN" sz="3200" b="1">
                <a:solidFill>
                  <a:schemeClr val="tx1"/>
                </a:solidFill>
              </a:rPr>
              <a:t>(Assume normal distribution)</a:t>
            </a:r>
            <a:r>
              <a:rPr lang="en-US" altLang="zh-CN" sz="3200" b="1" i="1">
                <a:solidFill>
                  <a:schemeClr val="tx1"/>
                </a:solidFill>
              </a:rPr>
              <a:t> </a:t>
            </a:r>
            <a:br>
              <a:rPr lang="en-US" altLang="zh-CN" sz="3200" b="1" i="1">
                <a:solidFill>
                  <a:schemeClr val="tx1"/>
                </a:solidFill>
              </a:rPr>
            </a:br>
            <a:r>
              <a:rPr lang="en-US" altLang="zh-CN" sz="3600" b="1"/>
              <a:t> </a:t>
            </a:r>
            <a:r>
              <a:rPr lang="en-US" altLang="zh-CN" sz="3600" b="1" i="1">
                <a:solidFill>
                  <a:schemeClr val="tx1"/>
                </a:solidFill>
              </a:rPr>
              <a:t>H</a:t>
            </a:r>
            <a:r>
              <a:rPr lang="en-US" altLang="zh-CN" sz="3600" b="1" baseline="-25000">
                <a:solidFill>
                  <a:schemeClr val="tx1"/>
                </a:solidFill>
              </a:rPr>
              <a:t>0</a:t>
            </a:r>
            <a:r>
              <a:rPr lang="en-US" altLang="zh-CN" sz="3600" b="1">
                <a:solidFill>
                  <a:schemeClr val="tx1"/>
                </a:solidFill>
              </a:rPr>
              <a:t>: </a:t>
            </a:r>
            <a:r>
              <a:rPr lang="en-US" altLang="zh-CN" sz="3600" b="1" i="1">
                <a:solidFill>
                  <a:schemeClr val="tx1"/>
                </a:solidFill>
              </a:rPr>
              <a:t>ρ</a:t>
            </a:r>
            <a:r>
              <a:rPr lang="en-US" altLang="zh-CN" sz="3600" b="1">
                <a:solidFill>
                  <a:schemeClr val="tx1"/>
                </a:solidFill>
              </a:rPr>
              <a:t>=0, 		</a:t>
            </a:r>
            <a:r>
              <a:rPr lang="en-US" altLang="zh-CN" sz="3600" b="1" i="1">
                <a:solidFill>
                  <a:schemeClr val="tx1"/>
                </a:solidFill>
              </a:rPr>
              <a:t>H</a:t>
            </a:r>
            <a:r>
              <a:rPr lang="en-US" altLang="zh-CN" sz="3600" b="1" baseline="-25000">
                <a:solidFill>
                  <a:schemeClr val="tx1"/>
                </a:solidFill>
              </a:rPr>
              <a:t>1</a:t>
            </a:r>
            <a:r>
              <a:rPr lang="en-US" altLang="zh-CN" sz="3600" b="1">
                <a:solidFill>
                  <a:schemeClr val="tx1"/>
                </a:solidFill>
              </a:rPr>
              <a:t>: </a:t>
            </a:r>
            <a:r>
              <a:rPr lang="en-US" altLang="zh-CN" sz="3600" b="1" i="1">
                <a:solidFill>
                  <a:schemeClr val="tx1"/>
                </a:solidFill>
              </a:rPr>
              <a:t>ρ</a:t>
            </a:r>
            <a:r>
              <a:rPr lang="en-US" altLang="zh-CN" sz="3600" b="1">
                <a:solidFill>
                  <a:schemeClr val="tx1"/>
                </a:solidFill>
              </a:rPr>
              <a:t>≠0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C1FFCA8-5640-989B-E31C-8DE7894887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438400"/>
            <a:ext cx="91440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b="1"/>
          </a:p>
          <a:p>
            <a:pPr>
              <a:lnSpc>
                <a:spcPct val="90000"/>
              </a:lnSpc>
            </a:pPr>
            <a:r>
              <a:rPr lang="en-US" altLang="zh-CN" b="1"/>
              <a:t>If </a:t>
            </a:r>
            <a:r>
              <a:rPr lang="en-US" altLang="zh-CN" b="1" i="1"/>
              <a:t>P</a:t>
            </a:r>
            <a:r>
              <a:rPr lang="en-US" altLang="zh-CN" b="1"/>
              <a:t>-value &lt;</a:t>
            </a:r>
            <a:r>
              <a:rPr lang="en-US" altLang="zh-CN" b="1" i="1"/>
              <a:t>α</a:t>
            </a:r>
            <a:r>
              <a:rPr lang="en-US" altLang="zh-CN" b="1"/>
              <a:t>, then reject </a:t>
            </a:r>
            <a:r>
              <a:rPr lang="en-US" altLang="zh-CN" b="1" i="1"/>
              <a:t>H</a:t>
            </a:r>
            <a:r>
              <a:rPr lang="en-US" altLang="zh-CN" b="1" baseline="-25000"/>
              <a:t>0</a:t>
            </a:r>
            <a:r>
              <a:rPr lang="en-US" altLang="zh-CN" b="1"/>
              <a:t> , conclude that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the population correlation coefficient is significantly different from 0.</a:t>
            </a:r>
          </a:p>
          <a:p>
            <a:pPr>
              <a:lnSpc>
                <a:spcPct val="90000"/>
              </a:lnSpc>
            </a:pPr>
            <a:r>
              <a:rPr lang="en-US" altLang="zh-CN" sz="2800" b="1" i="1"/>
              <a:t>                                         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/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 i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/>
              <a:t>υ</a:t>
            </a:r>
            <a:r>
              <a:rPr lang="en-US" altLang="zh-CN" sz="2800" b="1"/>
              <a:t>=10-2=8, </a:t>
            </a:r>
            <a:r>
              <a:rPr lang="en-US" altLang="zh-CN" sz="2800" b="1" i="1"/>
              <a:t>p</a:t>
            </a:r>
            <a:r>
              <a:rPr lang="en-US" altLang="zh-CN" sz="2800" b="1"/>
              <a:t>&lt;0.05. The population correlation coefficient  might not be 0.</a:t>
            </a:r>
          </a:p>
          <a:p>
            <a:pPr>
              <a:lnSpc>
                <a:spcPct val="90000"/>
              </a:lnSpc>
            </a:pPr>
            <a:endParaRPr lang="en-US" altLang="zh-CN" sz="2800"/>
          </a:p>
        </p:txBody>
      </p:sp>
      <p:graphicFrame>
        <p:nvGraphicFramePr>
          <p:cNvPr id="84996" name="Object 4">
            <a:extLst>
              <a:ext uri="{FF2B5EF4-FFF2-40B4-BE49-F238E27FC236}">
                <a16:creationId xmlns:a16="http://schemas.microsoft.com/office/drawing/2014/main" id="{FEFEC738-07C2-D719-B204-EFF67B573E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495800"/>
          <a:ext cx="5808663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46300" imgH="647700" progId="Equation.3">
                  <p:embed/>
                </p:oleObj>
              </mc:Choice>
              <mc:Fallback>
                <p:oleObj name="公式" r:id="rId2" imgW="2146300" imgH="647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495800"/>
                        <a:ext cx="5808663" cy="1417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9" name="Object 7">
            <a:extLst>
              <a:ext uri="{FF2B5EF4-FFF2-40B4-BE49-F238E27FC236}">
                <a16:creationId xmlns:a16="http://schemas.microsoft.com/office/drawing/2014/main" id="{FF5798EF-AF9A-A015-D5BB-D799C92F2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371600"/>
          <a:ext cx="46482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660240" progId="Equation.3">
                  <p:embed/>
                </p:oleObj>
              </mc:Choice>
              <mc:Fallback>
                <p:oleObj name="Equation" r:id="rId4" imgW="1955520" imgH="660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371600"/>
                        <a:ext cx="4648200" cy="157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FD6904D8-C699-45CD-B9C7-EC82695092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97013"/>
            <a:ext cx="9144000" cy="53609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000" b="1"/>
              <a:t>1. Spearman rank correlation coefficient</a:t>
            </a:r>
            <a:endParaRPr lang="en-US" altLang="zh-CN" sz="3600" b="1"/>
          </a:p>
          <a:p>
            <a:r>
              <a:rPr lang="en-US" altLang="zh-CN" sz="3600" b="1"/>
              <a:t> It is useful to: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Ranked data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Measurement data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   --      not follow normal distribution;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    or    not precisely measured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</p:txBody>
      </p:sp>
      <p:sp>
        <p:nvSpPr>
          <p:cNvPr id="81924" name="Text Box 4">
            <a:extLst>
              <a:ext uri="{FF2B5EF4-FFF2-40B4-BE49-F238E27FC236}">
                <a16:creationId xmlns:a16="http://schemas.microsoft.com/office/drawing/2014/main" id="{2A7445F9-8B92-67FB-6CE2-678CAED57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488" y="457200"/>
            <a:ext cx="5573712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kumimoji="0" lang="en-US" altLang="zh-CN" sz="4000" b="1">
                <a:solidFill>
                  <a:srgbClr val="FFCC00"/>
                </a:solidFill>
                <a:latin typeface="Arial" panose="020B0604020202020204" pitchFamily="34" charset="0"/>
              </a:rPr>
              <a:t>12.2 Rank correlation</a:t>
            </a:r>
          </a:p>
          <a:p>
            <a:pPr algn="ctr"/>
            <a:endParaRPr kumimoji="0" lang="en-US" altLang="zh-CN" sz="180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8" name="Object 4">
            <a:extLst>
              <a:ext uri="{FF2B5EF4-FFF2-40B4-BE49-F238E27FC236}">
                <a16:creationId xmlns:a16="http://schemas.microsoft.com/office/drawing/2014/main" id="{D07A2AA6-AFF7-DAC9-9FCB-BE2A455ED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76200"/>
          <a:ext cx="8458200" cy="555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3393360" progId="Word.Document.8">
                  <p:embed/>
                </p:oleObj>
              </mc:Choice>
              <mc:Fallback>
                <p:oleObj name="Document" r:id="rId2" imgW="5420880" imgH="33933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6200"/>
                        <a:ext cx="8458200" cy="555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6">
            <a:extLst>
              <a:ext uri="{FF2B5EF4-FFF2-40B4-BE49-F238E27FC236}">
                <a16:creationId xmlns:a16="http://schemas.microsoft.com/office/drawing/2014/main" id="{281532F6-200F-599E-D6E2-2953233A07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641975"/>
          <a:ext cx="57150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90560" imgH="482400" progId="Equation.3">
                  <p:embed/>
                </p:oleObj>
              </mc:Choice>
              <mc:Fallback>
                <p:oleObj name="Equation" r:id="rId4" imgW="259056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641975"/>
                        <a:ext cx="5715000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C1361454-CEDA-7016-7A39-AAE7C3C49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00113"/>
            <a:ext cx="9296400" cy="59578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(1) Checking a special table (Table 12-4)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/>
              <a:t>   P</a:t>
            </a:r>
            <a:r>
              <a:rPr lang="en-US" altLang="zh-CN" b="1"/>
              <a:t>=0.01 and it is significant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(2) </a:t>
            </a:r>
            <a:r>
              <a:rPr lang="en-US" altLang="zh-CN" b="1" i="1"/>
              <a:t>t</a:t>
            </a:r>
            <a:r>
              <a:rPr lang="en-US" altLang="zh-CN" b="1"/>
              <a:t> test  Same as the </a:t>
            </a:r>
            <a:r>
              <a:rPr lang="en-US" altLang="zh-CN" b="1" i="1"/>
              <a:t>t</a:t>
            </a:r>
            <a:r>
              <a:rPr lang="en-US" altLang="zh-CN" b="1"/>
              <a:t> test for Pearson’s correlation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coefficient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/>
              <a:t>                    </a:t>
            </a:r>
            <a:r>
              <a:rPr lang="en-US" altLang="zh-CN" sz="2800" b="1" i="1"/>
              <a:t>H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: </a:t>
            </a:r>
            <a:r>
              <a:rPr lang="en-US" altLang="zh-CN" sz="2800" b="1" i="1"/>
              <a:t>ρ</a:t>
            </a:r>
            <a:r>
              <a:rPr lang="en-US" altLang="zh-CN" sz="2800" b="1"/>
              <a:t>=0, 		</a:t>
            </a:r>
            <a:r>
              <a:rPr lang="en-US" altLang="zh-CN" sz="2800" b="1" i="1"/>
              <a:t>H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: </a:t>
            </a:r>
            <a:r>
              <a:rPr lang="en-US" altLang="zh-CN" sz="2800" b="1" i="1"/>
              <a:t>ρ</a:t>
            </a:r>
            <a:r>
              <a:rPr lang="en-US" altLang="zh-CN" sz="2800" b="1"/>
              <a:t>≠0</a:t>
            </a:r>
            <a:br>
              <a:rPr lang="en-US" altLang="zh-CN" sz="2800" b="1"/>
            </a:br>
            <a:endParaRPr lang="en-US" altLang="zh-CN" sz="2400" b="1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DE152BC-5C21-5629-CC87-2FD2296CF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3400"/>
            <a:ext cx="914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sz="4000" b="1">
                <a:latin typeface="Arial" panose="020B0604020202020204" pitchFamily="34" charset="0"/>
              </a:rPr>
              <a:t>2. Hypothesis test for </a:t>
            </a:r>
            <a:r>
              <a:rPr kumimoji="0" lang="en-US" altLang="zh-CN" sz="4000" b="1" i="1">
                <a:latin typeface="Arial" panose="020B0604020202020204" pitchFamily="34" charset="0"/>
              </a:rPr>
              <a:t>r</a:t>
            </a:r>
            <a:r>
              <a:rPr kumimoji="0" lang="en-US" altLang="zh-CN" sz="4000" b="1" i="1" baseline="-2500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AE029E7C-5AAE-DEB1-B1C9-CB721BE42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2951" name="Object 7">
            <a:extLst>
              <a:ext uri="{FF2B5EF4-FFF2-40B4-BE49-F238E27FC236}">
                <a16:creationId xmlns:a16="http://schemas.microsoft.com/office/drawing/2014/main" id="{8D046FE7-6057-7252-DA52-7ABBE0DCD9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133600"/>
          <a:ext cx="44958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241200" progId="Equation.3">
                  <p:embed/>
                </p:oleObj>
              </mc:Choice>
              <mc:Fallback>
                <p:oleObj name="Equation" r:id="rId2" imgW="196848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133600"/>
                        <a:ext cx="44958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2" name="Object 8">
            <a:extLst>
              <a:ext uri="{FF2B5EF4-FFF2-40B4-BE49-F238E27FC236}">
                <a16:creationId xmlns:a16="http://schemas.microsoft.com/office/drawing/2014/main" id="{2368DFD4-92BB-B7C9-6D61-2BE60A53C7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257800"/>
          <a:ext cx="4267200" cy="146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672840" progId="Equation.3">
                  <p:embed/>
                </p:oleObj>
              </mc:Choice>
              <mc:Fallback>
                <p:oleObj name="Equation" r:id="rId4" imgW="1955520" imgH="672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257800"/>
                        <a:ext cx="4267200" cy="146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7B33AFE3-D8CF-3501-672B-6A0CDD2017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What if there are more ties?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D6221B0-81A8-644B-9A1E-6DF7CE50B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752600"/>
            <a:ext cx="9144000" cy="42703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(1) ranking the values of </a:t>
            </a:r>
            <a:r>
              <a:rPr lang="en-US" altLang="zh-CN" b="1" i="1"/>
              <a:t>x</a:t>
            </a:r>
            <a:r>
              <a:rPr lang="en-US" altLang="zh-CN" b="1"/>
              <a:t> and </a:t>
            </a:r>
            <a:r>
              <a:rPr lang="en-US" altLang="zh-CN" b="1" i="1"/>
              <a:t>y </a:t>
            </a:r>
            <a:r>
              <a:rPr lang="en-US" altLang="zh-CN" b="1"/>
              <a:t>separately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-- Calculate the mean rank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(2) Calculating the spearman </a:t>
            </a:r>
            <a:r>
              <a:rPr lang="en-US" altLang="zh-CN" b="1" i="1"/>
              <a:t>r</a:t>
            </a:r>
            <a:r>
              <a:rPr lang="en-US" altLang="zh-CN" b="1" i="1" baseline="-25000"/>
              <a:t>s</a:t>
            </a:r>
            <a:r>
              <a:rPr lang="en-US" altLang="zh-CN" b="1"/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Use the formula for Pearson correlation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en-US" altLang="zh-CN" b="1"/>
              <a:t>-- Put the ranks (column 4 and 5) into the formula of Pearson’s correlation coefficient </a:t>
            </a:r>
            <a:r>
              <a:rPr lang="en-US" altLang="zh-CN" b="1" i="1"/>
              <a:t>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CFBC9E19-7211-532D-D46E-553644A41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6220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Caution for correlation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1027">
            <a:extLst>
              <a:ext uri="{FF2B5EF4-FFF2-40B4-BE49-F238E27FC236}">
                <a16:creationId xmlns:a16="http://schemas.microsoft.com/office/drawing/2014/main" id="{4BD8DD28-97A9-C0D8-95B9-8F646417C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372600" cy="68580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</a:rPr>
              <a:t>Story  1  Correlation between height of son and tree.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A correlation coefficient was calculated at the first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anniversary 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>
              <a:solidFill>
                <a:schemeClr val="tx2"/>
              </a:solidFill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Conclusion: The tree made his son growing up quickly, or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his son made the tree growing up quickly?!</a:t>
            </a:r>
            <a:endParaRPr lang="en-US" altLang="zh-CN" sz="2800"/>
          </a:p>
        </p:txBody>
      </p:sp>
      <p:graphicFrame>
        <p:nvGraphicFramePr>
          <p:cNvPr id="123910" name="Object 1030">
            <a:extLst>
              <a:ext uri="{FF2B5EF4-FFF2-40B4-BE49-F238E27FC236}">
                <a16:creationId xmlns:a16="http://schemas.microsoft.com/office/drawing/2014/main" id="{BE5B5701-6706-62C1-3BFE-F09803B189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4724400"/>
          <a:ext cx="35845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03040" progId="Equation.3">
                  <p:embed/>
                </p:oleObj>
              </mc:Choice>
              <mc:Fallback>
                <p:oleObj name="Equation" r:id="rId2" imgW="1663560" imgH="20304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724400"/>
                        <a:ext cx="35845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2" name="Object 1032">
            <a:extLst>
              <a:ext uri="{FF2B5EF4-FFF2-40B4-BE49-F238E27FC236}">
                <a16:creationId xmlns:a16="http://schemas.microsoft.com/office/drawing/2014/main" id="{5F6BE360-29FB-20E7-8136-908FDB07E8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971800"/>
          <a:ext cx="9118600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20880" imgH="824400" progId="Word.Document.8">
                  <p:embed/>
                </p:oleObj>
              </mc:Choice>
              <mc:Fallback>
                <p:oleObj name="Document" r:id="rId4" imgW="5420880" imgH="824400" progId="Word.Document.8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71800"/>
                        <a:ext cx="9118600" cy="148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915" name="Picture 1035">
            <a:extLst>
              <a:ext uri="{FF2B5EF4-FFF2-40B4-BE49-F238E27FC236}">
                <a16:creationId xmlns:a16="http://schemas.microsoft.com/office/drawing/2014/main" id="{930D19C1-B4B3-0553-A9C7-22D7DCF64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966913"/>
            <a:ext cx="1695450" cy="85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17" name="Picture 1037">
            <a:extLst>
              <a:ext uri="{FF2B5EF4-FFF2-40B4-BE49-F238E27FC236}">
                <a16:creationId xmlns:a16="http://schemas.microsoft.com/office/drawing/2014/main" id="{37AFA6E9-0477-BB23-2688-BA63D399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066800"/>
            <a:ext cx="1109663" cy="169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19" name="Picture 1039">
            <a:extLst>
              <a:ext uri="{FF2B5EF4-FFF2-40B4-BE49-F238E27FC236}">
                <a16:creationId xmlns:a16="http://schemas.microsoft.com/office/drawing/2014/main" id="{8FF5A50D-F9F1-64A3-5FC6-9D4625A6A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1457325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>
            <a:extLst>
              <a:ext uri="{FF2B5EF4-FFF2-40B4-BE49-F238E27FC236}">
                <a16:creationId xmlns:a16="http://schemas.microsoft.com/office/drawing/2014/main" id="{92CC06C4-824D-BFD6-35DE-6C50B0D19D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</a:rPr>
              <a:t>Story 2  Correlation between swimming and ice cream</a:t>
            </a:r>
            <a:r>
              <a:rPr lang="en-US" altLang="zh-CN" sz="2800" b="1"/>
              <a:t>.</a:t>
            </a:r>
            <a:r>
              <a:rPr lang="en-US" altLang="zh-CN" b="1">
                <a:solidFill>
                  <a:schemeClr val="tx2"/>
                </a:solidFill>
              </a:rPr>
              <a:t> </a:t>
            </a:r>
            <a:endParaRPr lang="en-US" altLang="zh-CN" sz="2800" b="1"/>
          </a:p>
        </p:txBody>
      </p:sp>
      <p:graphicFrame>
        <p:nvGraphicFramePr>
          <p:cNvPr id="130052" name="Object 4">
            <a:extLst>
              <a:ext uri="{FF2B5EF4-FFF2-40B4-BE49-F238E27FC236}">
                <a16:creationId xmlns:a16="http://schemas.microsoft.com/office/drawing/2014/main" id="{827680AC-BBCE-8A22-506B-BE57543AEF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663825"/>
          <a:ext cx="9144000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1220400" progId="Word.Document.8">
                  <p:embed/>
                </p:oleObj>
              </mc:Choice>
              <mc:Fallback>
                <p:oleObj name="Document" r:id="rId2" imgW="5420880" imgH="1220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63825"/>
                        <a:ext cx="9144000" cy="205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3" name="Rectangle 5">
            <a:extLst>
              <a:ext uri="{FF2B5EF4-FFF2-40B4-BE49-F238E27FC236}">
                <a16:creationId xmlns:a16="http://schemas.microsoft.com/office/drawing/2014/main" id="{789C28AE-FFD1-A195-FADF-B845ABEDC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48200"/>
            <a:ext cx="883920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 b="1"/>
              <a:t>   They calculated a correlation coefficient at the end of year</a:t>
            </a:r>
          </a:p>
        </p:txBody>
      </p:sp>
      <p:graphicFrame>
        <p:nvGraphicFramePr>
          <p:cNvPr id="130054" name="Object 6">
            <a:extLst>
              <a:ext uri="{FF2B5EF4-FFF2-40B4-BE49-F238E27FC236}">
                <a16:creationId xmlns:a16="http://schemas.microsoft.com/office/drawing/2014/main" id="{52EBD3EF-F9A2-D140-ACC4-E141C94DD2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181600"/>
          <a:ext cx="35845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203040" progId="Equation.3">
                  <p:embed/>
                </p:oleObj>
              </mc:Choice>
              <mc:Fallback>
                <p:oleObj name="Equation" r:id="rId4" imgW="166356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81600"/>
                        <a:ext cx="35845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5" name="Rectangle 7">
            <a:extLst>
              <a:ext uri="{FF2B5EF4-FFF2-40B4-BE49-F238E27FC236}">
                <a16:creationId xmlns:a16="http://schemas.microsoft.com/office/drawing/2014/main" id="{5BDBAC82-4079-DFAB-6F96-0F08DEE0B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150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Conclusion: Swimming people must like ice ream, or buying ice ream must go to swimming?!</a:t>
            </a:r>
          </a:p>
        </p:txBody>
      </p:sp>
      <p:pic>
        <p:nvPicPr>
          <p:cNvPr id="130056" name="Picture 8">
            <a:extLst>
              <a:ext uri="{FF2B5EF4-FFF2-40B4-BE49-F238E27FC236}">
                <a16:creationId xmlns:a16="http://schemas.microsoft.com/office/drawing/2014/main" id="{2373323A-2FEB-4996-CA97-5C4F2B9B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609600"/>
            <a:ext cx="2667000" cy="177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059" name="Picture 11">
            <a:extLst>
              <a:ext uri="{FF2B5EF4-FFF2-40B4-BE49-F238E27FC236}">
                <a16:creationId xmlns:a16="http://schemas.microsoft.com/office/drawing/2014/main" id="{5EA4365F-FBCC-0983-A063-18D5A23BE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609600"/>
            <a:ext cx="2133600" cy="181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3">
            <a:extLst>
              <a:ext uri="{FF2B5EF4-FFF2-40B4-BE49-F238E27FC236}">
                <a16:creationId xmlns:a16="http://schemas.microsoft.com/office/drawing/2014/main" id="{48143D02-05E5-77B9-C3A7-E03ABD56B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1) Don’t put any two variables together for correlation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-- They must have some relation in subject matter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2)   </a:t>
            </a:r>
            <a:r>
              <a:rPr lang="en-US" altLang="zh-CN" b="1">
                <a:solidFill>
                  <a:schemeClr val="folHlink"/>
                </a:solidFill>
              </a:rPr>
              <a:t>Simple correlation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F9900"/>
                </a:solidFill>
              </a:rPr>
              <a:t> </a:t>
            </a:r>
            <a:r>
              <a:rPr lang="en-US" altLang="zh-CN" b="1">
                <a:solidFill>
                  <a:schemeClr val="folHlink"/>
                </a:solidFill>
              </a:rPr>
              <a:t>=</a:t>
            </a:r>
            <a:r>
              <a:rPr lang="en-US" altLang="zh-CN" b="1">
                <a:solidFill>
                  <a:srgbClr val="FF9900"/>
                </a:solidFill>
              </a:rPr>
              <a:t> </a:t>
            </a:r>
            <a:r>
              <a:rPr lang="en-US" altLang="zh-CN" b="1"/>
              <a:t>Direct association</a:t>
            </a:r>
            <a:r>
              <a:rPr lang="en-US" altLang="zh-CN" b="1">
                <a:solidFill>
                  <a:srgbClr val="FF9900"/>
                </a:solidFill>
              </a:rPr>
              <a:t> + indirect association</a:t>
            </a:r>
            <a:r>
              <a:rPr lang="en-US" altLang="zh-CN" b="1"/>
              <a:t> 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</a:rPr>
              <a:t>      Simple correlation does not necessary mean a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</a:rPr>
              <a:t>direct association</a:t>
            </a:r>
          </a:p>
        </p:txBody>
      </p:sp>
      <p:sp>
        <p:nvSpPr>
          <p:cNvPr id="126999" name="Text Box 23">
            <a:extLst>
              <a:ext uri="{FF2B5EF4-FFF2-40B4-BE49-F238E27FC236}">
                <a16:creationId xmlns:a16="http://schemas.microsoft.com/office/drawing/2014/main" id="{ACE57FC9-C7CF-21A4-A66D-69E710B73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876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Son</a:t>
            </a:r>
          </a:p>
        </p:txBody>
      </p:sp>
      <p:sp>
        <p:nvSpPr>
          <p:cNvPr id="127000" name="Text Box 24">
            <a:extLst>
              <a:ext uri="{FF2B5EF4-FFF2-40B4-BE49-F238E27FC236}">
                <a16:creationId xmlns:a16="http://schemas.microsoft.com/office/drawing/2014/main" id="{D9D48240-03B8-219A-B07C-46B22EBF2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68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Tree</a:t>
            </a:r>
          </a:p>
        </p:txBody>
      </p:sp>
      <p:sp>
        <p:nvSpPr>
          <p:cNvPr id="127005" name="Line 29">
            <a:extLst>
              <a:ext uri="{FF2B5EF4-FFF2-40B4-BE49-F238E27FC236}">
                <a16:creationId xmlns:a16="http://schemas.microsoft.com/office/drawing/2014/main" id="{8BAB649F-E099-3B35-2800-E2761CFA3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181600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6" name="Text Box 30">
            <a:extLst>
              <a:ext uri="{FF2B5EF4-FFF2-40B4-BE49-F238E27FC236}">
                <a16:creationId xmlns:a16="http://schemas.microsoft.com/office/drawing/2014/main" id="{0D66C3BF-D255-F433-B0D5-5EAC24A5E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80060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?</a:t>
            </a:r>
          </a:p>
        </p:txBody>
      </p:sp>
      <p:sp>
        <p:nvSpPr>
          <p:cNvPr id="127007" name="Line 31">
            <a:extLst>
              <a:ext uri="{FF2B5EF4-FFF2-40B4-BE49-F238E27FC236}">
                <a16:creationId xmlns:a16="http://schemas.microsoft.com/office/drawing/2014/main" id="{216155F9-A3D6-9114-BC9D-AE69099AC1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0" y="5410200"/>
            <a:ext cx="457200" cy="4953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8" name="Line 32">
            <a:extLst>
              <a:ext uri="{FF2B5EF4-FFF2-40B4-BE49-F238E27FC236}">
                <a16:creationId xmlns:a16="http://schemas.microsoft.com/office/drawing/2014/main" id="{BE61970A-5DFA-11FD-7818-4FF8043BD9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5410200"/>
            <a:ext cx="457200" cy="4953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9" name="Text Box 33">
            <a:extLst>
              <a:ext uri="{FF2B5EF4-FFF2-40B4-BE49-F238E27FC236}">
                <a16:creationId xmlns:a16="http://schemas.microsoft.com/office/drawing/2014/main" id="{5F234C82-837E-27C1-3FC9-80E8E76FD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791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>
                <a:solidFill>
                  <a:srgbClr val="FF9900"/>
                </a:solidFill>
              </a:rPr>
              <a:t>Time</a:t>
            </a:r>
          </a:p>
        </p:txBody>
      </p:sp>
      <p:sp>
        <p:nvSpPr>
          <p:cNvPr id="127010" name="Text Box 34">
            <a:extLst>
              <a:ext uri="{FF2B5EF4-FFF2-40B4-BE49-F238E27FC236}">
                <a16:creationId xmlns:a16="http://schemas.microsoft.com/office/drawing/2014/main" id="{A45D7E89-2AFD-8FC6-3884-388C50F1D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876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Swimming</a:t>
            </a:r>
          </a:p>
        </p:txBody>
      </p:sp>
      <p:sp>
        <p:nvSpPr>
          <p:cNvPr id="127011" name="Text Box 35">
            <a:extLst>
              <a:ext uri="{FF2B5EF4-FFF2-40B4-BE49-F238E27FC236}">
                <a16:creationId xmlns:a16="http://schemas.microsoft.com/office/drawing/2014/main" id="{924F5C3D-1E23-FCE8-108D-835DD8C10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876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Ice ream</a:t>
            </a:r>
          </a:p>
        </p:txBody>
      </p:sp>
      <p:sp>
        <p:nvSpPr>
          <p:cNvPr id="127012" name="Line 36">
            <a:extLst>
              <a:ext uri="{FF2B5EF4-FFF2-40B4-BE49-F238E27FC236}">
                <a16:creationId xmlns:a16="http://schemas.microsoft.com/office/drawing/2014/main" id="{BE3B8CED-8AC0-8081-F814-65DC3EA74D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100" y="5181600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13" name="Text Box 37">
            <a:extLst>
              <a:ext uri="{FF2B5EF4-FFF2-40B4-BE49-F238E27FC236}">
                <a16:creationId xmlns:a16="http://schemas.microsoft.com/office/drawing/2014/main" id="{FC9ABA00-E313-DB36-4C63-50DB50259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713" y="4800600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?</a:t>
            </a:r>
          </a:p>
        </p:txBody>
      </p:sp>
      <p:sp>
        <p:nvSpPr>
          <p:cNvPr id="127014" name="Text Box 38">
            <a:extLst>
              <a:ext uri="{FF2B5EF4-FFF2-40B4-BE49-F238E27FC236}">
                <a16:creationId xmlns:a16="http://schemas.microsoft.com/office/drawing/2014/main" id="{BDC3AF28-418D-0B78-273E-3049CC0A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7912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>
                <a:solidFill>
                  <a:srgbClr val="FF9900"/>
                </a:solidFill>
              </a:rPr>
              <a:t>Temperature</a:t>
            </a:r>
          </a:p>
        </p:txBody>
      </p:sp>
      <p:sp>
        <p:nvSpPr>
          <p:cNvPr id="127015" name="Line 39">
            <a:extLst>
              <a:ext uri="{FF2B5EF4-FFF2-40B4-BE49-F238E27FC236}">
                <a16:creationId xmlns:a16="http://schemas.microsoft.com/office/drawing/2014/main" id="{CE634432-1C54-3A25-887C-DDCD77ED55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81700" y="5334000"/>
            <a:ext cx="457200" cy="4953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16" name="Line 40">
            <a:extLst>
              <a:ext uri="{FF2B5EF4-FFF2-40B4-BE49-F238E27FC236}">
                <a16:creationId xmlns:a16="http://schemas.microsoft.com/office/drawing/2014/main" id="{F32D4C65-00B4-A9C6-EA1C-5F90D33E48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5334000"/>
            <a:ext cx="457200" cy="4953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8845B2B5-FB28-A8AE-B871-BDAD380AF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772400" cy="1143000"/>
          </a:xfrm>
        </p:spPr>
        <p:txBody>
          <a:bodyPr/>
          <a:lstStyle/>
          <a:p>
            <a:r>
              <a:rPr lang="en-US" altLang="zh-CN"/>
              <a:t>Summary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5CE51308-3BA4-3041-D6F8-36E5A8C294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/>
              <a:t>Concept of linear correlation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-- The scatter diagram shows a linear tendency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Correlation          Direct association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Correlation          Causation  </a:t>
            </a:r>
          </a:p>
          <a:p>
            <a:pPr>
              <a:lnSpc>
                <a:spcPct val="90000"/>
              </a:lnSpc>
            </a:pPr>
            <a:r>
              <a:rPr lang="en-US" altLang="zh-CN" sz="2800" b="1"/>
              <a:t>After calculating a sample correlation coefficient, it is necessary to have a test for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   </a:t>
            </a:r>
            <a:r>
              <a:rPr lang="en-US" altLang="zh-CN" sz="2800" b="1" i="1"/>
              <a:t> H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: </a:t>
            </a:r>
            <a:r>
              <a:rPr lang="en-US" altLang="zh-CN" sz="2800" b="1" i="1"/>
              <a:t>ρ</a:t>
            </a:r>
            <a:r>
              <a:rPr lang="en-US" altLang="zh-CN" sz="2800" b="1"/>
              <a:t>=0,     </a:t>
            </a:r>
            <a:r>
              <a:rPr lang="en-US" altLang="zh-CN" sz="2800" b="1" i="1"/>
              <a:t>H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: </a:t>
            </a:r>
            <a:r>
              <a:rPr lang="en-US" altLang="zh-CN" sz="2800" b="1" i="1"/>
              <a:t>ρ</a:t>
            </a:r>
            <a:r>
              <a:rPr lang="en-US" altLang="zh-CN" sz="2800" b="1"/>
              <a:t>≠0</a:t>
            </a:r>
            <a:br>
              <a:rPr lang="en-US" altLang="zh-CN" sz="2800" b="1"/>
            </a:br>
            <a:r>
              <a:rPr lang="en-US" altLang="zh-CN" sz="2800" b="1"/>
              <a:t>Rejecting </a:t>
            </a:r>
            <a:r>
              <a:rPr lang="en-US" altLang="zh-CN" sz="2800" b="1" i="1"/>
              <a:t>H</a:t>
            </a:r>
            <a:r>
              <a:rPr lang="en-US" altLang="zh-CN" sz="2800" b="1" baseline="-25000"/>
              <a:t>0  </a:t>
            </a:r>
            <a:r>
              <a:rPr lang="en-US" altLang="zh-CN" sz="2800" b="1"/>
              <a:t>just means </a:t>
            </a:r>
            <a:r>
              <a:rPr lang="en-US" altLang="zh-CN" sz="2800" b="1" baseline="-25000"/>
              <a:t> </a:t>
            </a:r>
            <a:r>
              <a:rPr lang="en-US" altLang="zh-CN" sz="2800" b="1" i="1"/>
              <a:t>ρ</a:t>
            </a:r>
            <a:r>
              <a:rPr lang="en-US" altLang="zh-CN" sz="2800" b="1"/>
              <a:t>≠0.</a:t>
            </a:r>
          </a:p>
          <a:p>
            <a:pPr>
              <a:lnSpc>
                <a:spcPct val="90000"/>
              </a:lnSpc>
            </a:pPr>
            <a:r>
              <a:rPr lang="en-US" altLang="zh-CN" sz="2800" b="1"/>
              <a:t>There are two correlation coefficients commonly used: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Pearson’s product moment correlation coefficient</a:t>
            </a:r>
            <a:r>
              <a:rPr lang="en-US" altLang="zh-CN" sz="2800" b="1" i="1"/>
              <a:t> r</a:t>
            </a:r>
            <a:br>
              <a:rPr lang="en-US" altLang="zh-CN" sz="2800" b="1"/>
            </a:br>
            <a:r>
              <a:rPr lang="en-US" altLang="zh-CN" sz="2800" b="1"/>
              <a:t> Spearmen’s rank correlation correlation coefficient</a:t>
            </a:r>
            <a:r>
              <a:rPr lang="en-US" altLang="zh-CN" sz="2800" b="1" i="1"/>
              <a:t> r</a:t>
            </a:r>
            <a:r>
              <a:rPr lang="en-US" altLang="zh-CN" sz="2800" b="1" i="1" baseline="-25000"/>
              <a:t>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baseline="-25000"/>
              <a:t>      </a:t>
            </a:r>
            <a:r>
              <a:rPr lang="en-US" altLang="zh-CN" sz="2800" b="1" i="1"/>
              <a:t>--</a:t>
            </a:r>
            <a:r>
              <a:rPr lang="en-US" altLang="zh-CN" sz="2800" b="1" i="1" baseline="-25000"/>
              <a:t> </a:t>
            </a:r>
            <a:r>
              <a:rPr lang="en-US" altLang="zh-CN" sz="2800" b="1" i="1"/>
              <a:t>The formulas do not have to be remembered</a:t>
            </a: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</a:t>
            </a:r>
            <a:br>
              <a:rPr lang="en-US" altLang="zh-CN" sz="2800" b="1"/>
            </a:b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</p:txBody>
      </p:sp>
      <p:graphicFrame>
        <p:nvGraphicFramePr>
          <p:cNvPr id="131076" name="Object 4">
            <a:extLst>
              <a:ext uri="{FF2B5EF4-FFF2-40B4-BE49-F238E27FC236}">
                <a16:creationId xmlns:a16="http://schemas.microsoft.com/office/drawing/2014/main" id="{24C99970-4FC1-982A-1658-742B64520B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1905000"/>
          <a:ext cx="6794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39680" progId="Equation.3">
                  <p:embed/>
                </p:oleObj>
              </mc:Choice>
              <mc:Fallback>
                <p:oleObj name="Equation" r:id="rId2" imgW="139680" imgH="139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05000"/>
                        <a:ext cx="6794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7" name="Object 5">
            <a:extLst>
              <a:ext uri="{FF2B5EF4-FFF2-40B4-BE49-F238E27FC236}">
                <a16:creationId xmlns:a16="http://schemas.microsoft.com/office/drawing/2014/main" id="{094AA0BF-BBFB-9054-26F9-0597C5E214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7400" y="2362200"/>
          <a:ext cx="5032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39680" progId="Equation.3">
                  <p:embed/>
                </p:oleObj>
              </mc:Choice>
              <mc:Fallback>
                <p:oleObj name="Equation" r:id="rId4" imgW="139680" imgH="1396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2362200"/>
                        <a:ext cx="5032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3A48B13-6285-1383-C8D0-B149ACFC50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Next lecture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05242F5-746D-C2B7-C1B0-E0CCC24D17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91440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</a:t>
            </a:r>
            <a:r>
              <a:rPr lang="en-US" altLang="zh-CN" sz="3600" b="1"/>
              <a:t>Question: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If there is linear correlation between </a:t>
            </a:r>
            <a:r>
              <a:rPr lang="en-US" altLang="zh-CN" sz="3600" b="1" i="1"/>
              <a:t>X </a:t>
            </a:r>
            <a:r>
              <a:rPr lang="en-US" altLang="zh-CN" sz="3600" b="1"/>
              <a:t>and </a:t>
            </a:r>
            <a:r>
              <a:rPr lang="en-US" altLang="zh-CN" sz="3600" b="1" i="1"/>
              <a:t>Y,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 i="1"/>
              <a:t>    </a:t>
            </a:r>
            <a:r>
              <a:rPr lang="en-US" altLang="zh-CN" sz="3600" b="1" i="1">
                <a:solidFill>
                  <a:srgbClr val="FF9900"/>
                </a:solidFill>
              </a:rPr>
              <a:t>Given a value of X, can we predict the value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 i="1">
                <a:solidFill>
                  <a:srgbClr val="FF9900"/>
                </a:solidFill>
              </a:rPr>
              <a:t>of Y ?  How?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 i="1">
                <a:solidFill>
                  <a:srgbClr val="FF9900"/>
                </a:solidFill>
              </a:rPr>
              <a:t>     </a:t>
            </a:r>
            <a:r>
              <a:rPr lang="en-US" altLang="zh-CN" sz="3600" b="1"/>
              <a:t>-- Linear regression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校门">
  <a:themeElements>
    <a:clrScheme name="校门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校门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校门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Settings\jeff\Application Data\Microsoft\Templates\校门.pot</Template>
  <TotalTime>1408</TotalTime>
  <Words>931</Words>
  <Application>Microsoft Office PowerPoint</Application>
  <PresentationFormat>全屏显示(4:3)</PresentationFormat>
  <Paragraphs>145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Times New Roman</vt:lpstr>
      <vt:lpstr>Wingdings</vt:lpstr>
      <vt:lpstr>校门</vt:lpstr>
      <vt:lpstr>Microsoft Word 文档</vt:lpstr>
      <vt:lpstr>Microsoft Excel 图表</vt:lpstr>
      <vt:lpstr>Microsoft 公式 3.0</vt:lpstr>
      <vt:lpstr>PowerPoint 演示文稿</vt:lpstr>
      <vt:lpstr>Medical Statistics  (full English class)</vt:lpstr>
      <vt:lpstr>Chapter 12   Linear Correlation  and  Linear Regression</vt:lpstr>
      <vt:lpstr>PowerPoint 演示文稿</vt:lpstr>
      <vt:lpstr>PowerPoint 演示文稿</vt:lpstr>
      <vt:lpstr>PowerPoint 演示文稿</vt:lpstr>
      <vt:lpstr>PowerPoint 演示文稿</vt:lpstr>
      <vt:lpstr>Example  Chest circumference and vital capacity of 15 high school female students</vt:lpstr>
      <vt:lpstr>12.1 Linear correlation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(2) t  test      (Assume normal distribution)   H0: ρ=0,   H1: ρ≠0</vt:lpstr>
      <vt:lpstr>PowerPoint 演示文稿</vt:lpstr>
      <vt:lpstr>PowerPoint 演示文稿</vt:lpstr>
      <vt:lpstr>PowerPoint 演示文稿</vt:lpstr>
      <vt:lpstr>What if there are more ties?</vt:lpstr>
      <vt:lpstr>PowerPoint 演示文稿</vt:lpstr>
      <vt:lpstr>PowerPoint 演示文稿</vt:lpstr>
      <vt:lpstr>PowerPoint 演示文稿</vt:lpstr>
      <vt:lpstr>PowerPoint 演示文稿</vt:lpstr>
      <vt:lpstr>Summary</vt:lpstr>
      <vt:lpstr>Next lecture</vt:lpstr>
      <vt:lpstr>PowerPoint 演示文稿</vt:lpstr>
    </vt:vector>
  </TitlesOfParts>
  <Company>Micro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 and correlation</dc:title>
  <dc:creator>yang</dc:creator>
  <cp:lastModifiedBy>超然网络服务店 超然网络服务店</cp:lastModifiedBy>
  <cp:revision>44</cp:revision>
  <dcterms:created xsi:type="dcterms:W3CDTF">2002-09-25T04:26:59Z</dcterms:created>
  <dcterms:modified xsi:type="dcterms:W3CDTF">2023-10-24T11:44:38Z</dcterms:modified>
</cp:coreProperties>
</file>