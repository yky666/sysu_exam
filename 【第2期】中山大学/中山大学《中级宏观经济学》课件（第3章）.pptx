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7" r:id="rId2"/>
    <p:sldId id="476" r:id="rId3"/>
    <p:sldId id="259" r:id="rId4"/>
    <p:sldId id="447" r:id="rId5"/>
    <p:sldId id="448" r:id="rId6"/>
    <p:sldId id="449" r:id="rId7"/>
    <p:sldId id="441" r:id="rId8"/>
    <p:sldId id="442" r:id="rId9"/>
    <p:sldId id="443" r:id="rId10"/>
    <p:sldId id="450" r:id="rId11"/>
    <p:sldId id="451" r:id="rId12"/>
    <p:sldId id="457" r:id="rId13"/>
    <p:sldId id="460" r:id="rId14"/>
    <p:sldId id="456" r:id="rId15"/>
    <p:sldId id="475" r:id="rId16"/>
    <p:sldId id="407" r:id="rId17"/>
    <p:sldId id="458" r:id="rId18"/>
    <p:sldId id="408" r:id="rId19"/>
    <p:sldId id="433" r:id="rId20"/>
    <p:sldId id="415" r:id="rId21"/>
    <p:sldId id="414" r:id="rId22"/>
    <p:sldId id="379" r:id="rId23"/>
    <p:sldId id="411" r:id="rId24"/>
    <p:sldId id="382" r:id="rId25"/>
    <p:sldId id="383" r:id="rId26"/>
    <p:sldId id="439" r:id="rId27"/>
    <p:sldId id="385" r:id="rId28"/>
    <p:sldId id="386" r:id="rId29"/>
    <p:sldId id="387" r:id="rId30"/>
    <p:sldId id="477" r:id="rId31"/>
    <p:sldId id="388" r:id="rId32"/>
    <p:sldId id="389" r:id="rId33"/>
    <p:sldId id="478" r:id="rId34"/>
    <p:sldId id="391" r:id="rId35"/>
    <p:sldId id="392" r:id="rId36"/>
    <p:sldId id="461" r:id="rId37"/>
    <p:sldId id="395" r:id="rId38"/>
    <p:sldId id="466" r:id="rId39"/>
    <p:sldId id="480" r:id="rId40"/>
    <p:sldId id="469" r:id="rId41"/>
    <p:sldId id="470" r:id="rId42"/>
    <p:sldId id="474" r:id="rId43"/>
    <p:sldId id="393" r:id="rId44"/>
    <p:sldId id="462" r:id="rId45"/>
    <p:sldId id="463" r:id="rId46"/>
    <p:sldId id="464" r:id="rId47"/>
    <p:sldId id="465" r:id="rId48"/>
    <p:sldId id="405" r:id="rId49"/>
    <p:sldId id="396" r:id="rId50"/>
  </p:sldIdLst>
  <p:sldSz cx="9144000" cy="6858000" type="screen4x3"/>
  <p:notesSz cx="6858000" cy="9180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1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FF0000"/>
    <a:srgbClr val="FFFFFF"/>
    <a:srgbClr val="FFCC99"/>
    <a:srgbClr val="CCFFFF"/>
    <a:srgbClr val="FF33CC"/>
    <a:srgbClr val="FFFF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274" autoAdjust="0"/>
  </p:normalViewPr>
  <p:slideViewPr>
    <p:cSldViewPr snapToGrid="0">
      <p:cViewPr varScale="1">
        <p:scale>
          <a:sx n="109" d="100"/>
          <a:sy n="109" d="100"/>
        </p:scale>
        <p:origin x="165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4" d="100"/>
          <a:sy n="34" d="100"/>
        </p:scale>
        <p:origin x="-1416" y="-90"/>
      </p:cViewPr>
      <p:guideLst>
        <p:guide orient="horz" pos="2891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2110B0F-5780-B6BA-5B42-88A00B1506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746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C2B280F-4192-68C7-743E-9BFF9F0223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1746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393D315-461D-F66F-8F96-D78193D02D91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9350" y="709613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A4C8044-14BD-E323-A1A0-FCABB5D39E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60B2316-DEE4-B481-5921-7E9E389DCA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0426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736E8DCB-2775-C430-9916-AB77F69522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0426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ea typeface="宋体" panose="02010600030101010101" pitchFamily="2" charset="-122"/>
              </a:defRPr>
            </a:lvl1pPr>
          </a:lstStyle>
          <a:p>
            <a:fld id="{AD92FD29-EC3B-40DB-B3FB-8CA73636849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3" name="Group 31">
            <a:extLst>
              <a:ext uri="{FF2B5EF4-FFF2-40B4-BE49-F238E27FC236}">
                <a16:creationId xmlns:a16="http://schemas.microsoft.com/office/drawing/2014/main" id="{9BBB5F27-CD93-8219-D301-839E019B7F4A}"/>
              </a:ext>
            </a:extLst>
          </p:cNvPr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3074" name="Rectangle 2">
              <a:extLst>
                <a:ext uri="{FF2B5EF4-FFF2-40B4-BE49-F238E27FC236}">
                  <a16:creationId xmlns:a16="http://schemas.microsoft.com/office/drawing/2014/main" id="{4CED3B13-035E-1B54-4C1E-013C7B871E1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02" name="Group 30">
              <a:extLst>
                <a:ext uri="{FF2B5EF4-FFF2-40B4-BE49-F238E27FC236}">
                  <a16:creationId xmlns:a16="http://schemas.microsoft.com/office/drawing/2014/main" id="{803801C3-D745-93D7-E73D-7873EAEE9A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3075" name="Rectangle 3">
                <a:extLst>
                  <a:ext uri="{FF2B5EF4-FFF2-40B4-BE49-F238E27FC236}">
                    <a16:creationId xmlns:a16="http://schemas.microsoft.com/office/drawing/2014/main" id="{86567F15-C5F1-924C-5083-B46F525A956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081" name="Group 9">
                <a:extLst>
                  <a:ext uri="{FF2B5EF4-FFF2-40B4-BE49-F238E27FC236}">
                    <a16:creationId xmlns:a16="http://schemas.microsoft.com/office/drawing/2014/main" id="{B4279822-96CE-F26F-8C5D-5EA79E5B48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3076" name="Freeform 4">
                  <a:extLst>
                    <a:ext uri="{FF2B5EF4-FFF2-40B4-BE49-F238E27FC236}">
                      <a16:creationId xmlns:a16="http://schemas.microsoft.com/office/drawing/2014/main" id="{441366D1-AB30-0694-AE10-DF59714BAED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" name="Line 5">
                  <a:extLst>
                    <a:ext uri="{FF2B5EF4-FFF2-40B4-BE49-F238E27FC236}">
                      <a16:creationId xmlns:a16="http://schemas.microsoft.com/office/drawing/2014/main" id="{6ABEF9DE-A94D-7F32-B6CC-8DD4561C2B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78" name="Line 6">
                  <a:extLst>
                    <a:ext uri="{FF2B5EF4-FFF2-40B4-BE49-F238E27FC236}">
                      <a16:creationId xmlns:a16="http://schemas.microsoft.com/office/drawing/2014/main" id="{C9320D40-DB4F-2FA0-B577-3B6DE3A77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79" name="Line 7">
                  <a:extLst>
                    <a:ext uri="{FF2B5EF4-FFF2-40B4-BE49-F238E27FC236}">
                      <a16:creationId xmlns:a16="http://schemas.microsoft.com/office/drawing/2014/main" id="{12D0EB36-C380-DDBF-2231-746CDE7884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80" name="Freeform 8">
                  <a:extLst>
                    <a:ext uri="{FF2B5EF4-FFF2-40B4-BE49-F238E27FC236}">
                      <a16:creationId xmlns:a16="http://schemas.microsoft.com/office/drawing/2014/main" id="{DED6D20C-492B-2740-52C1-C0A80AAD6187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082" name="Oval 10">
                <a:extLst>
                  <a:ext uri="{FF2B5EF4-FFF2-40B4-BE49-F238E27FC236}">
                    <a16:creationId xmlns:a16="http://schemas.microsoft.com/office/drawing/2014/main" id="{0EA4F46D-003B-E090-8041-39998415ABBD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101" name="Group 29">
                <a:extLst>
                  <a:ext uri="{FF2B5EF4-FFF2-40B4-BE49-F238E27FC236}">
                    <a16:creationId xmlns:a16="http://schemas.microsoft.com/office/drawing/2014/main" id="{405736AB-9D4B-5F7E-14B2-BE28B1A7B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3083" name="Freeform 11">
                  <a:extLst>
                    <a:ext uri="{FF2B5EF4-FFF2-40B4-BE49-F238E27FC236}">
                      <a16:creationId xmlns:a16="http://schemas.microsoft.com/office/drawing/2014/main" id="{FDAA5ACB-06F9-0727-880E-F5CFC47FC2B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" name="Freeform 12">
                  <a:extLst>
                    <a:ext uri="{FF2B5EF4-FFF2-40B4-BE49-F238E27FC236}">
                      <a16:creationId xmlns:a16="http://schemas.microsoft.com/office/drawing/2014/main" id="{9F7AA7E0-1D02-9965-3E75-0D6F68020D3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" name="Freeform 13">
                  <a:extLst>
                    <a:ext uri="{FF2B5EF4-FFF2-40B4-BE49-F238E27FC236}">
                      <a16:creationId xmlns:a16="http://schemas.microsoft.com/office/drawing/2014/main" id="{5E244AFB-3B3F-6BF7-AD28-E02B9C6D0F6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" name="Freeform 14">
                  <a:extLst>
                    <a:ext uri="{FF2B5EF4-FFF2-40B4-BE49-F238E27FC236}">
                      <a16:creationId xmlns:a16="http://schemas.microsoft.com/office/drawing/2014/main" id="{7C5D2036-54B0-2AB5-DAD2-045085B9FE9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" name="Freeform 15">
                  <a:extLst>
                    <a:ext uri="{FF2B5EF4-FFF2-40B4-BE49-F238E27FC236}">
                      <a16:creationId xmlns:a16="http://schemas.microsoft.com/office/drawing/2014/main" id="{B69CF666-CABD-0BA5-3AFC-118C7CB953E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" name="Freeform 16">
                  <a:extLst>
                    <a:ext uri="{FF2B5EF4-FFF2-40B4-BE49-F238E27FC236}">
                      <a16:creationId xmlns:a16="http://schemas.microsoft.com/office/drawing/2014/main" id="{039BD659-C9E4-4F94-ACE2-0BD6CC740F4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" name="Freeform 17">
                  <a:extLst>
                    <a:ext uri="{FF2B5EF4-FFF2-40B4-BE49-F238E27FC236}">
                      <a16:creationId xmlns:a16="http://schemas.microsoft.com/office/drawing/2014/main" id="{0AFD243E-C8BC-AC08-1EFD-C927BEA3150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" name="Freeform 18">
                  <a:extLst>
                    <a:ext uri="{FF2B5EF4-FFF2-40B4-BE49-F238E27FC236}">
                      <a16:creationId xmlns:a16="http://schemas.microsoft.com/office/drawing/2014/main" id="{5C4BABBB-B4FC-6753-890E-94735C45980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" name="Freeform 19">
                  <a:extLst>
                    <a:ext uri="{FF2B5EF4-FFF2-40B4-BE49-F238E27FC236}">
                      <a16:creationId xmlns:a16="http://schemas.microsoft.com/office/drawing/2014/main" id="{1A48117D-62A0-2F78-F0D6-B6220D4685B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" name="Freeform 20">
                  <a:extLst>
                    <a:ext uri="{FF2B5EF4-FFF2-40B4-BE49-F238E27FC236}">
                      <a16:creationId xmlns:a16="http://schemas.microsoft.com/office/drawing/2014/main" id="{45302BB9-C090-BC7A-28D1-9C21F11764C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" name="Freeform 21">
                  <a:extLst>
                    <a:ext uri="{FF2B5EF4-FFF2-40B4-BE49-F238E27FC236}">
                      <a16:creationId xmlns:a16="http://schemas.microsoft.com/office/drawing/2014/main" id="{DA7F4C68-B558-C4C2-71BF-80170F90942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" name="Freeform 22">
                  <a:extLst>
                    <a:ext uri="{FF2B5EF4-FFF2-40B4-BE49-F238E27FC236}">
                      <a16:creationId xmlns:a16="http://schemas.microsoft.com/office/drawing/2014/main" id="{3B6259DA-CB9B-9774-B601-1E9579C680E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" name="Freeform 23">
                  <a:extLst>
                    <a:ext uri="{FF2B5EF4-FFF2-40B4-BE49-F238E27FC236}">
                      <a16:creationId xmlns:a16="http://schemas.microsoft.com/office/drawing/2014/main" id="{7B772358-AE70-C1B1-46CF-FB66C6068FA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" name="Freeform 24">
                  <a:extLst>
                    <a:ext uri="{FF2B5EF4-FFF2-40B4-BE49-F238E27FC236}">
                      <a16:creationId xmlns:a16="http://schemas.microsoft.com/office/drawing/2014/main" id="{58CC231C-4DCB-65A1-E441-657F85235E3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" name="Freeform 25">
                  <a:extLst>
                    <a:ext uri="{FF2B5EF4-FFF2-40B4-BE49-F238E27FC236}">
                      <a16:creationId xmlns:a16="http://schemas.microsoft.com/office/drawing/2014/main" id="{E85B2631-0B31-614D-187A-95B1A5B269D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" name="Freeform 26">
                  <a:extLst>
                    <a:ext uri="{FF2B5EF4-FFF2-40B4-BE49-F238E27FC236}">
                      <a16:creationId xmlns:a16="http://schemas.microsoft.com/office/drawing/2014/main" id="{7D6F7423-3BAD-8971-E7BA-F72EEE10BB4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" name="Freeform 27">
                  <a:extLst>
                    <a:ext uri="{FF2B5EF4-FFF2-40B4-BE49-F238E27FC236}">
                      <a16:creationId xmlns:a16="http://schemas.microsoft.com/office/drawing/2014/main" id="{3AE676A0-3EC8-3936-0591-490CD9481A7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" name="Freeform 28">
                  <a:extLst>
                    <a:ext uri="{FF2B5EF4-FFF2-40B4-BE49-F238E27FC236}">
                      <a16:creationId xmlns:a16="http://schemas.microsoft.com/office/drawing/2014/main" id="{A368B4E9-DD0D-D24B-EEAA-A37785E5DEC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104" name="Rectangle 32">
            <a:extLst>
              <a:ext uri="{FF2B5EF4-FFF2-40B4-BE49-F238E27FC236}">
                <a16:creationId xmlns:a16="http://schemas.microsoft.com/office/drawing/2014/main" id="{AE9ECDB8-B42F-8A28-9370-E4638C49F06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3105" name="Rectangle 33">
            <a:extLst>
              <a:ext uri="{FF2B5EF4-FFF2-40B4-BE49-F238E27FC236}">
                <a16:creationId xmlns:a16="http://schemas.microsoft.com/office/drawing/2014/main" id="{D2B85FF0-0F52-D8EF-CADA-17E22C397B0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3106" name="Rectangle 34">
            <a:extLst>
              <a:ext uri="{FF2B5EF4-FFF2-40B4-BE49-F238E27FC236}">
                <a16:creationId xmlns:a16="http://schemas.microsoft.com/office/drawing/2014/main" id="{A53B79A9-EAFB-CD72-5D30-4F3A21BC242C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107" name="Rectangle 35">
            <a:extLst>
              <a:ext uri="{FF2B5EF4-FFF2-40B4-BE49-F238E27FC236}">
                <a16:creationId xmlns:a16="http://schemas.microsoft.com/office/drawing/2014/main" id="{88DAFA5E-3D71-FA28-6C58-B7155ABFB7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sz="1400" b="0">
                <a:effectLst/>
              </a:defRPr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3108" name="Rectangle 36">
            <a:extLst>
              <a:ext uri="{FF2B5EF4-FFF2-40B4-BE49-F238E27FC236}">
                <a16:creationId xmlns:a16="http://schemas.microsoft.com/office/drawing/2014/main" id="{0EEC63C0-8789-3661-38A9-A5BB715C12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 sz="1400" b="0">
                <a:effectLst/>
              </a:defRPr>
            </a:lvl1pPr>
          </a:lstStyle>
          <a:p>
            <a:fld id="{8F9284E2-FF71-4680-9065-DE297E04AD4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3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4" grpId="0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CE461-17AA-79DF-2158-F6B61D59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D88438-0B1E-56B7-D7FC-861290A97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319B1-9039-C925-08F7-4471E4AE2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5A93C-E1ED-C321-4577-9CCBFDBF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9E0EE8-8AD8-FCDA-F21D-8C3D9A15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79C632-D728-4553-B068-061CADD46A2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7008303"/>
      </p:ext>
    </p:extLst>
  </p:cSld>
  <p:clrMapOvr>
    <a:masterClrMapping/>
  </p:clrMapOvr>
  <p:transition spd="slow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DCCEC-9DA3-D5B9-A881-9273DB9B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BEE886-5AF8-1065-D2CE-70A3A3EF7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388AD9-59F6-1A84-96BD-1685FCDE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E513BB-BD91-BCB2-710A-3B0B5C34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0BD880-F54F-FA17-DDC3-DD0E46F9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B45F5-083B-40B5-BA7F-F1D3C1BF323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230307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011BD-A909-8DA9-E44D-21E07CCC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E47F11-27A6-E8F1-E20B-AF88A1FA1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EEEECC-B1B4-F897-B14C-C463958CD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66904A-7103-B733-9CDC-427F96D2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A2E0D5-2A6E-48B9-E0A3-070DE333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8692F3-4BD0-754F-E481-6A18F251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83E7AA-0374-4A40-AC97-233459DC94B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4703988"/>
      </p:ext>
    </p:extLst>
  </p:cSld>
  <p:clrMapOvr>
    <a:masterClrMapping/>
  </p:clrMapOvr>
  <p:transition spd="slow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D1AAB-82A0-A615-A13F-42C72B77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62D10D-ADE9-2AFA-C422-B41105933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FFC6EA-58C0-A7DA-7339-DC2424D6E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B54CD6-6B12-DC7E-E4DF-C005DC8FB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A17191-F081-2F97-2BB7-0622A018D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2BBD3C-0302-263F-2923-BD04C3E9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E980E4-9FE1-69F7-D4A3-694D0B78A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1C948C-1F03-89A8-5464-BB30229D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F9B959-7986-4BE5-A97F-45B846E3D74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1120944"/>
      </p:ext>
    </p:extLst>
  </p:cSld>
  <p:clrMapOvr>
    <a:masterClrMapping/>
  </p:clrMapOvr>
  <p:transition spd="slow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126-E9A6-A6FD-6666-27471528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B4171A-2371-9D55-3A9C-CF5B9DA2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7ABF8F-E80B-7BF3-BBC4-FA65A88A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D3A3BA-622C-9E4A-16A5-59D6836D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19A27A-8E25-454E-B0CB-DDE80DEECC7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5047947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1DF65D-950C-039B-283E-86B426CA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C2CAB9-40E8-66DD-E666-772908BC5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E8A6F5-99DD-B0A3-5665-7F6B6D2C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FCD51-0EA4-4389-9C92-F2AF6884908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9319537"/>
      </p:ext>
    </p:extLst>
  </p:cSld>
  <p:clrMapOvr>
    <a:masterClrMapping/>
  </p:clrMapOvr>
  <p:transition spd="slow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9C6CB-5828-8C00-C8B1-F7FE6E94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F652D-CF3C-A4AF-1B3C-7F362A21C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BF4758-C19F-8B45-5B0C-1BD4177C8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FAA928-F93F-3B49-4D31-9A72DFB7A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B2359D-92D9-1EEC-552D-4FDEC258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2B77A9-7018-4CFC-4338-4D314091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6CC398-D386-4ACB-AB5A-374472B7C86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2039166"/>
      </p:ext>
    </p:extLst>
  </p:cSld>
  <p:clrMapOvr>
    <a:masterClrMapping/>
  </p:clrMapOvr>
  <p:transition spd="slow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7E02E-CFFD-0A33-1AB8-2C455B56D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E00FD0-D31A-3DBC-5389-461C4685C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E55FED-20D2-D78E-0C55-34D3A6CB9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69DBC2-1334-D874-5444-BD2E24D1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3694BB-64AA-B9DA-872C-1820E6B8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1CB97F-F524-EE27-B3C1-FFBC15D02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1B056-BB76-4BB2-B5C3-4BA390A9B4A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1572423"/>
      </p:ext>
    </p:extLst>
  </p:cSld>
  <p:clrMapOvr>
    <a:masterClrMapping/>
  </p:clrMapOvr>
  <p:transition spd="slow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E2BBA-C936-D876-7D96-B5C362A6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4D34B0-6AC7-DA71-B05C-564790A84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9717A9-545D-7241-804A-AC3A40B0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FD25A7-1110-F10C-B5A4-4BE83F85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C86987-C853-2DAC-65A6-9210E594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80E2FC-79A9-4926-A68E-9F634C2B2FE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7678363"/>
      </p:ext>
    </p:extLst>
  </p:cSld>
  <p:clrMapOvr>
    <a:masterClrMapping/>
  </p:clrMapOvr>
  <p:transition spd="slow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604756-34EE-49DC-D948-08DC1D8BF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23FDDE-0378-B34B-EC91-B993E330F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060BB-B725-E63F-29FE-2C13A9A6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6BEEB8-35C2-8AC2-4420-EDB8BC0CA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9338D-1484-A250-A91B-0AFF3EE4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FEA770-2623-4D20-99E9-60F80058087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882061"/>
      </p:ext>
    </p:extLst>
  </p:cSld>
  <p:clrMapOvr>
    <a:masterClrMapping/>
  </p:clrMapOvr>
  <p:transition spd="slow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E9BE7-2E9B-0AFB-B44F-EBF96D8B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B7394D-E7CE-62B9-A756-5AEBCFA2F0C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图表占位符 3">
            <a:extLst>
              <a:ext uri="{FF2B5EF4-FFF2-40B4-BE49-F238E27FC236}">
                <a16:creationId xmlns:a16="http://schemas.microsoft.com/office/drawing/2014/main" id="{4CC1F123-7ED7-67D7-3308-83FC33AC3F44}"/>
              </a:ext>
            </a:extLst>
          </p:cNvPr>
          <p:cNvSpPr>
            <a:spLocks noGrp="1"/>
          </p:cNvSpPr>
          <p:nvPr>
            <p:ph type="chart"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8F31BB-1465-9D19-FAC1-ECE18452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9E9FC1-8741-CF5F-C430-78811FB2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0EDDC7-9823-26B0-15F6-78819110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92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2CFF0AE-A883-4C84-9A75-338759D67A0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4735255"/>
      </p:ext>
    </p:extLst>
  </p:cSld>
  <p:clrMapOvr>
    <a:masterClrMapping/>
  </p:clrMapOvr>
  <p:transition spd="slow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C325E-62D7-A0B4-0A78-B11953C5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6F8C47-E68A-F4C0-0964-03407C35B75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9AE173-E801-05A4-B453-5E83DFA5F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7436EB-15A2-2D20-FCBE-9BE742BE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78A92D-1B7E-C45A-7E2B-E2064C6A0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953C23-F4C6-D9AA-2A01-0D028662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92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6A6F3A-46A5-4773-865F-EA9D2051178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0908147"/>
      </p:ext>
    </p:extLst>
  </p:cSld>
  <p:clrMapOvr>
    <a:masterClrMapping/>
  </p:clrMapOvr>
  <p:transition spd="slow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hlink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roup 29">
            <a:extLst>
              <a:ext uri="{FF2B5EF4-FFF2-40B4-BE49-F238E27FC236}">
                <a16:creationId xmlns:a16="http://schemas.microsoft.com/office/drawing/2014/main" id="{1EA22E90-206D-0019-979F-D556BF665336}"/>
              </a:ext>
            </a:extLst>
          </p:cNvPr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26" name="Rectangle 2">
              <a:extLst>
                <a:ext uri="{FF2B5EF4-FFF2-40B4-BE49-F238E27FC236}">
                  <a16:creationId xmlns:a16="http://schemas.microsoft.com/office/drawing/2014/main" id="{20F9512C-45CD-8620-4F27-CBB361FEEFB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52" name="Group 28">
              <a:extLst>
                <a:ext uri="{FF2B5EF4-FFF2-40B4-BE49-F238E27FC236}">
                  <a16:creationId xmlns:a16="http://schemas.microsoft.com/office/drawing/2014/main" id="{E98FEAA9-6538-B202-3817-64AF661009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27" name="Freeform 3">
                <a:extLst>
                  <a:ext uri="{FF2B5EF4-FFF2-40B4-BE49-F238E27FC236}">
                    <a16:creationId xmlns:a16="http://schemas.microsoft.com/office/drawing/2014/main" id="{D996158A-EA53-F394-D24F-76C35082BE0A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" name="Line 4">
                <a:extLst>
                  <a:ext uri="{FF2B5EF4-FFF2-40B4-BE49-F238E27FC236}">
                    <a16:creationId xmlns:a16="http://schemas.microsoft.com/office/drawing/2014/main" id="{D831F159-8164-465B-7550-86C765B6C64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9" name="Line 5">
                <a:extLst>
                  <a:ext uri="{FF2B5EF4-FFF2-40B4-BE49-F238E27FC236}">
                    <a16:creationId xmlns:a16="http://schemas.microsoft.com/office/drawing/2014/main" id="{42BE1C27-6776-2A72-CE2B-04909EC159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0" name="Line 6">
                <a:extLst>
                  <a:ext uri="{FF2B5EF4-FFF2-40B4-BE49-F238E27FC236}">
                    <a16:creationId xmlns:a16="http://schemas.microsoft.com/office/drawing/2014/main" id="{305E32A9-64C8-D29B-7532-FDA43730D7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1" name="Freeform 7">
                <a:extLst>
                  <a:ext uri="{FF2B5EF4-FFF2-40B4-BE49-F238E27FC236}">
                    <a16:creationId xmlns:a16="http://schemas.microsoft.com/office/drawing/2014/main" id="{91F30DE4-75DC-E94A-98F6-CDFE5BA63793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" name="Oval 8">
                <a:extLst>
                  <a:ext uri="{FF2B5EF4-FFF2-40B4-BE49-F238E27FC236}">
                    <a16:creationId xmlns:a16="http://schemas.microsoft.com/office/drawing/2014/main" id="{2A4313B0-EA9C-448C-A08B-F0A28F27FDAD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51" name="Group 27">
                <a:extLst>
                  <a:ext uri="{FF2B5EF4-FFF2-40B4-BE49-F238E27FC236}">
                    <a16:creationId xmlns:a16="http://schemas.microsoft.com/office/drawing/2014/main" id="{93C4CC80-D17E-F7DD-21F5-49FBBC7D71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33" name="Freeform 9">
                  <a:extLst>
                    <a:ext uri="{FF2B5EF4-FFF2-40B4-BE49-F238E27FC236}">
                      <a16:creationId xmlns:a16="http://schemas.microsoft.com/office/drawing/2014/main" id="{F05600FA-68B8-CA69-570F-FCDFDE5BF24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4" name="Freeform 10">
                  <a:extLst>
                    <a:ext uri="{FF2B5EF4-FFF2-40B4-BE49-F238E27FC236}">
                      <a16:creationId xmlns:a16="http://schemas.microsoft.com/office/drawing/2014/main" id="{1EEC628E-87A5-3491-2F47-2A1ED4AF570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5" name="Freeform 11">
                  <a:extLst>
                    <a:ext uri="{FF2B5EF4-FFF2-40B4-BE49-F238E27FC236}">
                      <a16:creationId xmlns:a16="http://schemas.microsoft.com/office/drawing/2014/main" id="{E0EBC4B0-B999-60EC-26AE-F703CA77079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6" name="Freeform 12">
                  <a:extLst>
                    <a:ext uri="{FF2B5EF4-FFF2-40B4-BE49-F238E27FC236}">
                      <a16:creationId xmlns:a16="http://schemas.microsoft.com/office/drawing/2014/main" id="{42D90BDB-0719-96DF-F984-8A50231E752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7" name="Freeform 13">
                  <a:extLst>
                    <a:ext uri="{FF2B5EF4-FFF2-40B4-BE49-F238E27FC236}">
                      <a16:creationId xmlns:a16="http://schemas.microsoft.com/office/drawing/2014/main" id="{E191C265-9E14-4C6B-C967-CB9B2518468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8" name="Freeform 14">
                  <a:extLst>
                    <a:ext uri="{FF2B5EF4-FFF2-40B4-BE49-F238E27FC236}">
                      <a16:creationId xmlns:a16="http://schemas.microsoft.com/office/drawing/2014/main" id="{4A3D2EE0-9FB3-453A-6A40-F9EFC85D286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9" name="Freeform 15">
                  <a:extLst>
                    <a:ext uri="{FF2B5EF4-FFF2-40B4-BE49-F238E27FC236}">
                      <a16:creationId xmlns:a16="http://schemas.microsoft.com/office/drawing/2014/main" id="{6D23B152-80CB-B99A-7FB4-093293BD6D5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0" name="Freeform 16">
                  <a:extLst>
                    <a:ext uri="{FF2B5EF4-FFF2-40B4-BE49-F238E27FC236}">
                      <a16:creationId xmlns:a16="http://schemas.microsoft.com/office/drawing/2014/main" id="{8C9B1FBA-0364-B5BC-5C55-56ADAA914F1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1" name="Freeform 17">
                  <a:extLst>
                    <a:ext uri="{FF2B5EF4-FFF2-40B4-BE49-F238E27FC236}">
                      <a16:creationId xmlns:a16="http://schemas.microsoft.com/office/drawing/2014/main" id="{6D4F2CE2-62A0-1ACE-6B7E-7BA04FA511C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2" name="Freeform 18">
                  <a:extLst>
                    <a:ext uri="{FF2B5EF4-FFF2-40B4-BE49-F238E27FC236}">
                      <a16:creationId xmlns:a16="http://schemas.microsoft.com/office/drawing/2014/main" id="{0987B777-8BB4-0625-DC50-D69C7C0B4E4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3" name="Freeform 19">
                  <a:extLst>
                    <a:ext uri="{FF2B5EF4-FFF2-40B4-BE49-F238E27FC236}">
                      <a16:creationId xmlns:a16="http://schemas.microsoft.com/office/drawing/2014/main" id="{C815EBC2-ED5A-51D2-BB35-4FB3E07AC4E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" name="Freeform 20">
                  <a:extLst>
                    <a:ext uri="{FF2B5EF4-FFF2-40B4-BE49-F238E27FC236}">
                      <a16:creationId xmlns:a16="http://schemas.microsoft.com/office/drawing/2014/main" id="{FC5A67FE-BF75-365F-9DC6-2615BF65F21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" name="Freeform 21">
                  <a:extLst>
                    <a:ext uri="{FF2B5EF4-FFF2-40B4-BE49-F238E27FC236}">
                      <a16:creationId xmlns:a16="http://schemas.microsoft.com/office/drawing/2014/main" id="{4F9F5712-2C41-0678-2F28-E95BAFE2D8E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" name="Freeform 22">
                  <a:extLst>
                    <a:ext uri="{FF2B5EF4-FFF2-40B4-BE49-F238E27FC236}">
                      <a16:creationId xmlns:a16="http://schemas.microsoft.com/office/drawing/2014/main" id="{A323DE26-CB69-F4A0-4ED0-B373E49AA23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7" name="Freeform 23">
                  <a:extLst>
                    <a:ext uri="{FF2B5EF4-FFF2-40B4-BE49-F238E27FC236}">
                      <a16:creationId xmlns:a16="http://schemas.microsoft.com/office/drawing/2014/main" id="{9E3BB3B8-6686-F6C7-33E2-84018898FA4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8" name="Freeform 24">
                  <a:extLst>
                    <a:ext uri="{FF2B5EF4-FFF2-40B4-BE49-F238E27FC236}">
                      <a16:creationId xmlns:a16="http://schemas.microsoft.com/office/drawing/2014/main" id="{AB13B1E9-5862-BA3A-96BE-AE637A0A9BF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9" name="Freeform 25">
                  <a:extLst>
                    <a:ext uri="{FF2B5EF4-FFF2-40B4-BE49-F238E27FC236}">
                      <a16:creationId xmlns:a16="http://schemas.microsoft.com/office/drawing/2014/main" id="{A687AFC3-D7C2-7359-962F-B710D6FE6C1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0" name="Freeform 26">
                  <a:extLst>
                    <a:ext uri="{FF2B5EF4-FFF2-40B4-BE49-F238E27FC236}">
                      <a16:creationId xmlns:a16="http://schemas.microsoft.com/office/drawing/2014/main" id="{42960257-4C26-149F-7B44-21AE918B1A5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54" name="Rectangle 30">
            <a:extLst>
              <a:ext uri="{FF2B5EF4-FFF2-40B4-BE49-F238E27FC236}">
                <a16:creationId xmlns:a16="http://schemas.microsoft.com/office/drawing/2014/main" id="{7DD19E58-2D98-F283-810C-C0903F09B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55" name="Rectangle 31">
            <a:extLst>
              <a:ext uri="{FF2B5EF4-FFF2-40B4-BE49-F238E27FC236}">
                <a16:creationId xmlns:a16="http://schemas.microsoft.com/office/drawing/2014/main" id="{791B9850-C6BB-2DB4-56BF-56EC5F8EB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B0EB98FA-6832-8E80-0369-8575FE8A22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57" name="Rectangle 33">
            <a:extLst>
              <a:ext uri="{FF2B5EF4-FFF2-40B4-BE49-F238E27FC236}">
                <a16:creationId xmlns:a16="http://schemas.microsoft.com/office/drawing/2014/main" id="{E04E396B-7FE9-9D55-239B-3A197BDA13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600" b="1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Lesson One part 1</a:t>
            </a:r>
            <a:endParaRPr lang="en-US" altLang="zh-CN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F99CE5E0-4EC6-4CFD-FBC9-46249B0E26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600" b="1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fld id="{D477943E-B546-417D-889F-F784BDAA6D6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" grpId="0" build="p" autoUpdateAnimBg="0" advAuto="1000">
        <p:tmplLst>
          <p:tmpl lvl="1">
            <p:tnLst>
              <p:par>
                <p:cTn presetID="22" presetClass="entr" presetSubtype="8" fill="hold" nodeType="after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75000"/>
        <a:buFont typeface="Monotype Sorts" pitchFamily="2" charset="2"/>
        <a:buChar char="F"/>
        <a:defRPr sz="3200" b="1" kern="12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b="1" kern="12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400" b="1" kern="12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b="1" kern="12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 b="1" kern="120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6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6.emf"/><Relationship Id="rId5" Type="http://schemas.openxmlformats.org/officeDocument/2006/relationships/image" Target="../media/image33.e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5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emf"/><Relationship Id="rId7" Type="http://schemas.openxmlformats.org/officeDocument/2006/relationships/image" Target="../media/image39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3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oleObject" Target="../embeddings/oleObject3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03F34D13-CA84-89E8-88D5-8ECEE6E399E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41313" y="1082675"/>
            <a:ext cx="8802687" cy="2308225"/>
          </a:xfrm>
        </p:spPr>
        <p:txBody>
          <a:bodyPr/>
          <a:lstStyle/>
          <a:p>
            <a:r>
              <a:rPr lang="zh-CN" altLang="en-US" sz="5400">
                <a:ea typeface="宋体" panose="02010600030101010101" pitchFamily="2" charset="-122"/>
              </a:rPr>
              <a:t>第三章：增长与积累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460C0D3C-70CF-152A-4586-2C286280230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17650" y="3630613"/>
            <a:ext cx="6937375" cy="2371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4000">
                <a:solidFill>
                  <a:srgbClr val="FFFF00"/>
                </a:solidFill>
                <a:ea typeface="宋体" panose="02010600030101010101" pitchFamily="2" charset="-122"/>
              </a:rPr>
              <a:t>徐现祥</a:t>
            </a:r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</a:p>
          <a:p>
            <a:endParaRPr lang="en-US" altLang="zh-CN" sz="1000">
              <a:solidFill>
                <a:srgbClr val="FFFF00"/>
              </a:solidFill>
              <a:ea typeface="宋体" panose="02010600030101010101" pitchFamily="2" charset="-122"/>
            </a:endParaRPr>
          </a:p>
          <a:p>
            <a:r>
              <a:rPr lang="en-US" altLang="zh-CN" sz="4000">
                <a:solidFill>
                  <a:srgbClr val="FFFF00"/>
                </a:solidFill>
                <a:ea typeface="宋体" panose="02010600030101010101" pitchFamily="2" charset="-122"/>
              </a:rPr>
              <a:t>Lnsxuxx@mail.sysu.edu.cn</a:t>
            </a:r>
          </a:p>
          <a:p>
            <a:r>
              <a:rPr lang="zh-CN" altLang="en-US" sz="4000">
                <a:solidFill>
                  <a:srgbClr val="FFFF00"/>
                </a:solidFill>
                <a:ea typeface="宋体" panose="02010600030101010101" pitchFamily="2" charset="-122"/>
              </a:rPr>
              <a:t>84112173（</a:t>
            </a:r>
            <a:r>
              <a:rPr lang="en-US" altLang="zh-CN" sz="4000">
                <a:solidFill>
                  <a:srgbClr val="FFFF00"/>
                </a:solidFill>
                <a:ea typeface="宋体" panose="02010600030101010101" pitchFamily="2" charset="-122"/>
              </a:rPr>
              <a:t>o）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/>
      <p:bldP spid="1454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306CF573-8ADE-96FE-BB4D-3D9F402FB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课程简介</a:t>
            </a: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0A88C37F-89DB-2688-8D31-1DF0E6C9F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600">
                <a:ea typeface="宋体" panose="02010600030101010101" pitchFamily="2" charset="-122"/>
              </a:rPr>
              <a:t>序论：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宏观经济现象、国民经济核算和总供给总需求模型</a:t>
            </a:r>
          </a:p>
          <a:p>
            <a:pPr>
              <a:lnSpc>
                <a:spcPct val="90000"/>
              </a:lnSpc>
            </a:pPr>
            <a:r>
              <a:rPr lang="zh-CN" altLang="en-US" sz="3600">
                <a:ea typeface="宋体" panose="02010600030101010101" pitchFamily="2" charset="-122"/>
              </a:rPr>
              <a:t>总供给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经济增长、经济波动和总供给曲线的推导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>
                <a:ea typeface="宋体" panose="02010600030101010101" pitchFamily="2" charset="-122"/>
              </a:rPr>
              <a:t>总需求 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IS-LM</a:t>
            </a:r>
            <a:r>
              <a:rPr lang="zh-CN" altLang="en-US">
                <a:ea typeface="宋体" panose="02010600030101010101" pitchFamily="2" charset="-122"/>
              </a:rPr>
              <a:t>模型、微观基础和总需求曲线的推导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>
                <a:ea typeface="宋体" panose="02010600030101010101" pitchFamily="2" charset="-122"/>
              </a:rPr>
              <a:t>宏观经济管理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目标、政策和绩效</a:t>
            </a:r>
          </a:p>
        </p:txBody>
      </p:sp>
      <p:sp>
        <p:nvSpPr>
          <p:cNvPr id="423940" name="Oval 4">
            <a:extLst>
              <a:ext uri="{FF2B5EF4-FFF2-40B4-BE49-F238E27FC236}">
                <a16:creationId xmlns:a16="http://schemas.microsoft.com/office/drawing/2014/main" id="{F47A91EF-B240-A63E-D1AD-8F3B7B6C2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3679825"/>
            <a:ext cx="2286000" cy="55245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23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23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23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23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0" fill="hold"/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 build="p" autoUpdateAnimBg="0"/>
      <p:bldP spid="423940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495D73F0-1123-761D-53E0-6EB2FBAE6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750"/>
            <a:ext cx="9144000" cy="1143000"/>
          </a:xfrm>
        </p:spPr>
        <p:txBody>
          <a:bodyPr/>
          <a:lstStyle/>
          <a:p>
            <a:r>
              <a:rPr lang="zh-CN" altLang="en-US" sz="4800">
                <a:ea typeface="宋体" panose="02010600030101010101" pitchFamily="2" charset="-122"/>
              </a:rPr>
              <a:t>第一讲 经济增长的典型事实</a:t>
            </a:r>
          </a:p>
        </p:txBody>
      </p:sp>
      <p:sp>
        <p:nvSpPr>
          <p:cNvPr id="147463" name="Rectangle 7">
            <a:extLst>
              <a:ext uri="{FF2B5EF4-FFF2-40B4-BE49-F238E27FC236}">
                <a16:creationId xmlns:a16="http://schemas.microsoft.com/office/drawing/2014/main" id="{58FE3013-8F80-A994-7286-EB370108C7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4525" y="2171700"/>
            <a:ext cx="4852988" cy="2609850"/>
          </a:xfrm>
          <a:noFill/>
          <a:ln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预备知识</a:t>
            </a:r>
          </a:p>
          <a:p>
            <a:r>
              <a:rPr lang="zh-CN" altLang="en-US">
                <a:ea typeface="宋体" panose="02010600030101010101" pitchFamily="2" charset="-122"/>
              </a:rPr>
              <a:t>当今世界的发展概况</a:t>
            </a:r>
          </a:p>
          <a:p>
            <a:r>
              <a:rPr lang="zh-CN" altLang="en-US">
                <a:ea typeface="宋体" panose="02010600030101010101" pitchFamily="2" charset="-122"/>
              </a:rPr>
              <a:t>人类发展的历史</a:t>
            </a:r>
          </a:p>
          <a:p>
            <a:r>
              <a:rPr lang="zh-CN" altLang="en-US">
                <a:ea typeface="宋体" panose="02010600030101010101" pitchFamily="2" charset="-122"/>
              </a:rPr>
              <a:t>经济增长的典型事实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7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7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7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3" grpId="0" uiExpand="1" build="p" bldLvl="3" autoUpdateAnimBg="0" advAuto="100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7F3D2C24-A9F9-9C66-2021-4C29CA9B1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5750" y="285750"/>
            <a:ext cx="5513388" cy="1143000"/>
          </a:xfrm>
        </p:spPr>
        <p:txBody>
          <a:bodyPr/>
          <a:lstStyle/>
          <a:p>
            <a:r>
              <a:rPr lang="zh-CN" altLang="en-US" sz="4800">
                <a:ea typeface="宋体" panose="02010600030101010101" pitchFamily="2" charset="-122"/>
              </a:rPr>
              <a:t>1 预备知识</a:t>
            </a:r>
          </a:p>
        </p:txBody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id="{E69A317C-646F-A809-7789-57AF84C78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4525" y="2486025"/>
            <a:ext cx="5740400" cy="1366838"/>
          </a:xfrm>
          <a:noFill/>
          <a:ln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一点数学预备知识</a:t>
            </a:r>
          </a:p>
          <a:p>
            <a:r>
              <a:rPr lang="zh-CN" altLang="en-US">
                <a:ea typeface="宋体" panose="02010600030101010101" pitchFamily="2" charset="-122"/>
              </a:rPr>
              <a:t>一点国际比较的预备知识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9" grpId="0" build="p" bldLvl="3" autoUpdateAnimBg="0" advAuto="100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>
            <a:extLst>
              <a:ext uri="{FF2B5EF4-FFF2-40B4-BE49-F238E27FC236}">
                <a16:creationId xmlns:a16="http://schemas.microsoft.com/office/drawing/2014/main" id="{6734003C-64C8-F9E3-71F8-C831BB44B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838" y="285750"/>
            <a:ext cx="8461375" cy="1143000"/>
          </a:xfrm>
        </p:spPr>
        <p:txBody>
          <a:bodyPr/>
          <a:lstStyle/>
          <a:p>
            <a:r>
              <a:rPr lang="zh-CN" altLang="en-US" sz="4800">
                <a:ea typeface="宋体" panose="02010600030101010101" pitchFamily="2" charset="-122"/>
              </a:rPr>
              <a:t>1.1  预备知识_增长分析中的常用技巧</a:t>
            </a:r>
          </a:p>
        </p:txBody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id="{89A03281-9F9B-0805-CC09-86A074634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1475" y="2071688"/>
            <a:ext cx="5740400" cy="1135062"/>
          </a:xfrm>
          <a:noFill/>
          <a:ln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时间的度量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离散的和连续的两种</a:t>
            </a:r>
          </a:p>
        </p:txBody>
      </p:sp>
      <p:sp>
        <p:nvSpPr>
          <p:cNvPr id="384004" name="Rectangle 4">
            <a:extLst>
              <a:ext uri="{FF2B5EF4-FFF2-40B4-BE49-F238E27FC236}">
                <a16:creationId xmlns:a16="http://schemas.microsoft.com/office/drawing/2014/main" id="{64BB9BB1-8565-01C1-D94E-B2A8E3B1F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3468688"/>
            <a:ext cx="2260600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导数：</a:t>
            </a:r>
            <a:endParaRPr lang="zh-CN" altLang="en-US" sz="28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384005" name="Object 5">
            <a:extLst>
              <a:ext uri="{FF2B5EF4-FFF2-40B4-BE49-F238E27FC236}">
                <a16:creationId xmlns:a16="http://schemas.microsoft.com/office/drawing/2014/main" id="{A2211185-FE0D-E259-4F04-CE7969FCFB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4500" y="3195638"/>
          <a:ext cx="4886325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355320" progId="Equation.DSMT4">
                  <p:embed/>
                </p:oleObj>
              </mc:Choice>
              <mc:Fallback>
                <p:oleObj name="Equation" r:id="rId2" imgW="1320480" imgH="3553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195638"/>
                        <a:ext cx="4886325" cy="130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06" name="Object 6">
            <a:extLst>
              <a:ext uri="{FF2B5EF4-FFF2-40B4-BE49-F238E27FC236}">
                <a16:creationId xmlns:a16="http://schemas.microsoft.com/office/drawing/2014/main" id="{D2B031C8-BF9B-7D0A-1909-AF37285BD8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5300" y="4778375"/>
          <a:ext cx="4135438" cy="153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419040" progId="Equation.DSMT4">
                  <p:embed/>
                </p:oleObj>
              </mc:Choice>
              <mc:Fallback>
                <p:oleObj name="Equation" r:id="rId4" imgW="1117440" imgH="419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4778375"/>
                        <a:ext cx="4135438" cy="153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4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8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 bldLvl="3" autoUpdateAnimBg="0" advAuto="1000"/>
      <p:bldP spid="384004" grpId="0" build="p" bldLvl="3" autoUpdateAnimBg="0" advAuto="100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>
            <a:extLst>
              <a:ext uri="{FF2B5EF4-FFF2-40B4-BE49-F238E27FC236}">
                <a16:creationId xmlns:a16="http://schemas.microsoft.com/office/drawing/2014/main" id="{74D93EE4-2A22-7311-69FF-B62493724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838" y="285750"/>
            <a:ext cx="8475662" cy="1320800"/>
          </a:xfrm>
        </p:spPr>
        <p:txBody>
          <a:bodyPr/>
          <a:lstStyle/>
          <a:p>
            <a:r>
              <a:rPr lang="zh-CN" altLang="en-US" sz="4800">
                <a:ea typeface="宋体" panose="02010600030101010101" pitchFamily="2" charset="-122"/>
              </a:rPr>
              <a:t>1.1  预备知识_增长分析中的常用技巧</a:t>
            </a:r>
          </a:p>
        </p:txBody>
      </p:sp>
      <p:sp>
        <p:nvSpPr>
          <p:cNvPr id="385028" name="Rectangle 4">
            <a:extLst>
              <a:ext uri="{FF2B5EF4-FFF2-40B4-BE49-F238E27FC236}">
                <a16:creationId xmlns:a16="http://schemas.microsoft.com/office/drawing/2014/main" id="{498D6934-11D7-A5F1-D256-2AE94E606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2082800"/>
            <a:ext cx="4689475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增长速度的表达式</a:t>
            </a:r>
            <a:endParaRPr lang="zh-CN" altLang="en-US" sz="28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385029" name="Object 5">
            <a:extLst>
              <a:ext uri="{FF2B5EF4-FFF2-40B4-BE49-F238E27FC236}">
                <a16:creationId xmlns:a16="http://schemas.microsoft.com/office/drawing/2014/main" id="{E49E6B85-746B-5388-A13A-67996D479E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4463" y="3149600"/>
          <a:ext cx="4370387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380880" progId="Equation.DSMT4">
                  <p:embed/>
                </p:oleObj>
              </mc:Choice>
              <mc:Fallback>
                <p:oleObj name="Equation" r:id="rId2" imgW="1180800" imgH="3808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3149600"/>
                        <a:ext cx="4370387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30" name="Object 6">
            <a:extLst>
              <a:ext uri="{FF2B5EF4-FFF2-40B4-BE49-F238E27FC236}">
                <a16:creationId xmlns:a16="http://schemas.microsoft.com/office/drawing/2014/main" id="{74F21F84-2C36-4C22-8A80-BBE9F11755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4732338"/>
          <a:ext cx="217805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444240" progId="Equation.DSMT4">
                  <p:embed/>
                </p:oleObj>
              </mc:Choice>
              <mc:Fallback>
                <p:oleObj name="Equation" r:id="rId4" imgW="55872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732338"/>
                        <a:ext cx="217805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32" name="Rectangle 8">
            <a:extLst>
              <a:ext uri="{FF2B5EF4-FFF2-40B4-BE49-F238E27FC236}">
                <a16:creationId xmlns:a16="http://schemas.microsoft.com/office/drawing/2014/main" id="{9814F16C-6FD2-7669-5E26-AAFD1977C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3670300"/>
            <a:ext cx="2573338" cy="2293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离散</a:t>
            </a:r>
          </a:p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endParaRPr lang="zh-CN" altLang="en-US" sz="32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endParaRPr lang="zh-CN" altLang="en-US" sz="32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连续</a:t>
            </a:r>
            <a:endParaRPr lang="zh-CN" altLang="en-US" sz="28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385033" name="Object 9">
            <a:extLst>
              <a:ext uri="{FF2B5EF4-FFF2-40B4-BE49-F238E27FC236}">
                <a16:creationId xmlns:a16="http://schemas.microsoft.com/office/drawing/2014/main" id="{F8D58B2A-E188-0820-483C-647AF5BCC1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0" y="5026025"/>
          <a:ext cx="222726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266400" progId="Equation.DSMT4">
                  <p:embed/>
                </p:oleObj>
              </mc:Choice>
              <mc:Fallback>
                <p:oleObj name="Equation" r:id="rId6" imgW="571320" imgH="26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5026025"/>
                        <a:ext cx="2227263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5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5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50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8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8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8" grpId="0" build="p" bldLvl="3" autoUpdateAnimBg="0" advAuto="1000"/>
      <p:bldP spid="385032" grpId="0" build="p" bldLvl="3" autoUpdateAnimBg="0" advAuto="100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>
            <a:extLst>
              <a:ext uri="{FF2B5EF4-FFF2-40B4-BE49-F238E27FC236}">
                <a16:creationId xmlns:a16="http://schemas.microsoft.com/office/drawing/2014/main" id="{B5635B6E-0701-CCEB-F4D5-C84DE44B2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285750"/>
            <a:ext cx="8277225" cy="1143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“</a:t>
            </a:r>
            <a:r>
              <a:rPr lang="zh-CN" altLang="en-US">
                <a:ea typeface="宋体" panose="02010600030101010101" pitchFamily="2" charset="-122"/>
              </a:rPr>
              <a:t>两边取自然对数并对时间求导”</a:t>
            </a:r>
          </a:p>
        </p:txBody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5A20C48D-264F-85D1-178A-46D9EBECD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657350"/>
            <a:ext cx="7621588" cy="633413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已知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L</a:t>
            </a:r>
            <a:r>
              <a:rPr lang="zh-CN" altLang="en-US">
                <a:ea typeface="宋体" panose="02010600030101010101" pitchFamily="2" charset="-122"/>
              </a:rPr>
              <a:t>的增长速度，求</a:t>
            </a:r>
            <a:r>
              <a:rPr lang="en-US" altLang="zh-CN">
                <a:ea typeface="宋体" panose="02010600030101010101" pitchFamily="2" charset="-122"/>
              </a:rPr>
              <a:t>Y</a:t>
            </a:r>
            <a:r>
              <a:rPr lang="zh-CN" altLang="en-US">
                <a:ea typeface="宋体" panose="02010600030101010101" pitchFamily="2" charset="-122"/>
              </a:rPr>
              <a:t>的增长速度</a:t>
            </a:r>
          </a:p>
        </p:txBody>
      </p:sp>
      <p:sp>
        <p:nvSpPr>
          <p:cNvPr id="376836" name="Rectangle 4">
            <a:extLst>
              <a:ext uri="{FF2B5EF4-FFF2-40B4-BE49-F238E27FC236}">
                <a16:creationId xmlns:a16="http://schemas.microsoft.com/office/drawing/2014/main" id="{8BF5A351-4700-6F0C-5ED0-1558D15DD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6837" name="Object 5">
            <a:extLst>
              <a:ext uri="{FF2B5EF4-FFF2-40B4-BE49-F238E27FC236}">
                <a16:creationId xmlns:a16="http://schemas.microsoft.com/office/drawing/2014/main" id="{8F6EBA68-4954-0DFD-5821-CFD4697D04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4288" y="2265363"/>
          <a:ext cx="26511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190500" progId="Equation.DSMT4">
                  <p:embed/>
                </p:oleObj>
              </mc:Choice>
              <mc:Fallback>
                <p:oleObj name="Equation" r:id="rId2" imgW="736600" imgH="190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2265363"/>
                        <a:ext cx="2651125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38" name="Rectangle 6">
            <a:extLst>
              <a:ext uri="{FF2B5EF4-FFF2-40B4-BE49-F238E27FC236}">
                <a16:creationId xmlns:a16="http://schemas.microsoft.com/office/drawing/2014/main" id="{68AEBD61-BCC4-5B25-9F96-A123E1F33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6839" name="Object 7">
            <a:extLst>
              <a:ext uri="{FF2B5EF4-FFF2-40B4-BE49-F238E27FC236}">
                <a16:creationId xmlns:a16="http://schemas.microsoft.com/office/drawing/2014/main" id="{492FC410-0901-B889-B55A-4E8A603477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713" y="3978275"/>
          <a:ext cx="32813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164880" progId="Equation.DSMT4">
                  <p:embed/>
                </p:oleObj>
              </mc:Choice>
              <mc:Fallback>
                <p:oleObj name="Equation" r:id="rId4" imgW="1091880" imgH="164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3978275"/>
                        <a:ext cx="32813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0" name="Rectangle 8">
            <a:extLst>
              <a:ext uri="{FF2B5EF4-FFF2-40B4-BE49-F238E27FC236}">
                <a16:creationId xmlns:a16="http://schemas.microsoft.com/office/drawing/2014/main" id="{C5F87217-DC09-2BDF-439C-CA540D564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6841" name="Object 9">
            <a:extLst>
              <a:ext uri="{FF2B5EF4-FFF2-40B4-BE49-F238E27FC236}">
                <a16:creationId xmlns:a16="http://schemas.microsoft.com/office/drawing/2014/main" id="{5FDD4549-446D-A3A3-FD9C-503295803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2488" y="5570538"/>
          <a:ext cx="41814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190440" progId="Equation.DSMT4">
                  <p:embed/>
                </p:oleObj>
              </mc:Choice>
              <mc:Fallback>
                <p:oleObj name="Equation" r:id="rId6" imgW="1358640" imgH="1904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5570538"/>
                        <a:ext cx="4181475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>
            <a:extLst>
              <a:ext uri="{FF2B5EF4-FFF2-40B4-BE49-F238E27FC236}">
                <a16:creationId xmlns:a16="http://schemas.microsoft.com/office/drawing/2014/main" id="{3A0E4B64-455B-526A-90C3-243B704CB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6843" name="Object 11">
            <a:extLst>
              <a:ext uri="{FF2B5EF4-FFF2-40B4-BE49-F238E27FC236}">
                <a16:creationId xmlns:a16="http://schemas.microsoft.com/office/drawing/2014/main" id="{E3932ED6-61AF-F2C0-1DBB-0D1C88883D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5375" y="5153025"/>
          <a:ext cx="3259138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5400" imgH="482600" progId="Equation.DSMT4">
                  <p:embed/>
                </p:oleObj>
              </mc:Choice>
              <mc:Fallback>
                <p:oleObj name="Equation" r:id="rId8" imgW="1295400" imgH="482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5153025"/>
                        <a:ext cx="3259138" cy="1222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4" name="Rectangle 12">
            <a:extLst>
              <a:ext uri="{FF2B5EF4-FFF2-40B4-BE49-F238E27FC236}">
                <a16:creationId xmlns:a16="http://schemas.microsoft.com/office/drawing/2014/main" id="{3EB1D06C-C5CE-E08E-22CD-D26B106F7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119438"/>
            <a:ext cx="5056188" cy="63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两边取自然求对数</a:t>
            </a:r>
          </a:p>
        </p:txBody>
      </p:sp>
      <p:sp>
        <p:nvSpPr>
          <p:cNvPr id="376845" name="Rectangle 13">
            <a:extLst>
              <a:ext uri="{FF2B5EF4-FFF2-40B4-BE49-F238E27FC236}">
                <a16:creationId xmlns:a16="http://schemas.microsoft.com/office/drawing/2014/main" id="{40118A6B-D0E8-B078-ADCA-25BE831D3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552950"/>
            <a:ext cx="3881438" cy="63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两边对时间求导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7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7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6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76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76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5" grpId="0" build="p" autoUpdateAnimBg="0" advAuto="0"/>
      <p:bldP spid="376844" grpId="0" autoUpdateAnimBg="0"/>
      <p:bldP spid="37684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>
            <a:extLst>
              <a:ext uri="{FF2B5EF4-FFF2-40B4-BE49-F238E27FC236}">
                <a16:creationId xmlns:a16="http://schemas.microsoft.com/office/drawing/2014/main" id="{CC05B46D-2DDA-5515-D872-A27E66EA6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989F8224-C109-9385-CBF7-B6FE4F871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43100"/>
            <a:ext cx="7772400" cy="3008313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假设</a:t>
            </a:r>
            <a:r>
              <a:rPr lang="en-US" altLang="zh-CN">
                <a:ea typeface="宋体" panose="02010600030101010101" pitchFamily="2" charset="-122"/>
              </a:rPr>
              <a:t>z = x/y ,</a:t>
            </a:r>
            <a:r>
              <a:rPr lang="zh-CN" altLang="en-US">
                <a:ea typeface="宋体" panose="02010600030101010101" pitchFamily="2" charset="-122"/>
              </a:rPr>
              <a:t>求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的增长速度</a:t>
            </a: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如果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是常数，求证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y</a:t>
            </a:r>
            <a:r>
              <a:rPr lang="zh-CN" altLang="en-US">
                <a:ea typeface="宋体" panose="02010600030101010101" pitchFamily="2" charset="-122"/>
              </a:rPr>
              <a:t>的增长率相等。</a:t>
            </a:r>
          </a:p>
        </p:txBody>
      </p:sp>
      <p:sp>
        <p:nvSpPr>
          <p:cNvPr id="377860" name="Rectangle 4">
            <a:extLst>
              <a:ext uri="{FF2B5EF4-FFF2-40B4-BE49-F238E27FC236}">
                <a16:creationId xmlns:a16="http://schemas.microsoft.com/office/drawing/2014/main" id="{1A83F477-2F5C-32A7-1E1C-28BDBF8C0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7862" name="Rectangle 6">
            <a:extLst>
              <a:ext uri="{FF2B5EF4-FFF2-40B4-BE49-F238E27FC236}">
                <a16:creationId xmlns:a16="http://schemas.microsoft.com/office/drawing/2014/main" id="{5B128028-3E1A-CA68-00E4-A7EDCEE58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>
            <a:extLst>
              <a:ext uri="{FF2B5EF4-FFF2-40B4-BE49-F238E27FC236}">
                <a16:creationId xmlns:a16="http://schemas.microsoft.com/office/drawing/2014/main" id="{6AEDA4EF-5D2D-DA1D-D860-D9280606F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840663" cy="1320800"/>
          </a:xfrm>
        </p:spPr>
        <p:txBody>
          <a:bodyPr/>
          <a:lstStyle/>
          <a:p>
            <a:r>
              <a:rPr lang="zh-CN" altLang="en-US" sz="4800">
                <a:ea typeface="宋体" panose="02010600030101010101" pitchFamily="2" charset="-122"/>
              </a:rPr>
              <a:t>1.2  预备知识_增长分析中的常用技巧</a:t>
            </a:r>
          </a:p>
        </p:txBody>
      </p:sp>
      <p:sp>
        <p:nvSpPr>
          <p:cNvPr id="378883" name="Rectangle 3">
            <a:extLst>
              <a:ext uri="{FF2B5EF4-FFF2-40B4-BE49-F238E27FC236}">
                <a16:creationId xmlns:a16="http://schemas.microsoft.com/office/drawing/2014/main" id="{116CE7F5-2AA1-B74A-F0BB-B80B7237E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1657350"/>
            <a:ext cx="3228975" cy="6889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平均增长速度</a:t>
            </a:r>
          </a:p>
        </p:txBody>
      </p:sp>
      <p:sp>
        <p:nvSpPr>
          <p:cNvPr id="378884" name="Rectangle 4">
            <a:extLst>
              <a:ext uri="{FF2B5EF4-FFF2-40B4-BE49-F238E27FC236}">
                <a16:creationId xmlns:a16="http://schemas.microsoft.com/office/drawing/2014/main" id="{ED1B96D6-BE23-42A8-7B2F-2EB628C1A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8885" name="Object 5">
            <a:extLst>
              <a:ext uri="{FF2B5EF4-FFF2-40B4-BE49-F238E27FC236}">
                <a16:creationId xmlns:a16="http://schemas.microsoft.com/office/drawing/2014/main" id="{6ADD8DBE-9D71-50D0-9C79-C908273569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0738" y="2417763"/>
          <a:ext cx="70612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228600" progId="Equation.DSMT4">
                  <p:embed/>
                </p:oleObj>
              </mc:Choice>
              <mc:Fallback>
                <p:oleObj name="Equation" r:id="rId2" imgW="195552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2417763"/>
                        <a:ext cx="70612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86" name="Rectangle 6">
            <a:extLst>
              <a:ext uri="{FF2B5EF4-FFF2-40B4-BE49-F238E27FC236}">
                <a16:creationId xmlns:a16="http://schemas.microsoft.com/office/drawing/2014/main" id="{D737D3FA-00DB-7A36-F794-283EC2AD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8887" name="Object 7">
            <a:extLst>
              <a:ext uri="{FF2B5EF4-FFF2-40B4-BE49-F238E27FC236}">
                <a16:creationId xmlns:a16="http://schemas.microsoft.com/office/drawing/2014/main" id="{D0EBACA0-EE38-E3EE-3FB8-8202D525ED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800475"/>
          <a:ext cx="2743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190440" progId="Equation.DSMT4">
                  <p:embed/>
                </p:oleObj>
              </mc:Choice>
              <mc:Fallback>
                <p:oleObj name="Equation" r:id="rId4" imgW="1117440" imgH="190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800475"/>
                        <a:ext cx="27432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88" name="Rectangle 8">
            <a:extLst>
              <a:ext uri="{FF2B5EF4-FFF2-40B4-BE49-F238E27FC236}">
                <a16:creationId xmlns:a16="http://schemas.microsoft.com/office/drawing/2014/main" id="{22948DE9-C0E6-D0B1-AB0E-A162C1830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8889" name="Object 9">
            <a:extLst>
              <a:ext uri="{FF2B5EF4-FFF2-40B4-BE49-F238E27FC236}">
                <a16:creationId xmlns:a16="http://schemas.microsoft.com/office/drawing/2014/main" id="{13E6CC21-015B-0D32-DF31-514D48F61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4640263"/>
          <a:ext cx="2692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355320" progId="Equation.DSMT4">
                  <p:embed/>
                </p:oleObj>
              </mc:Choice>
              <mc:Fallback>
                <p:oleObj name="Equation" r:id="rId6" imgW="1104840" imgH="3553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4640263"/>
                        <a:ext cx="26924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90" name="Rectangle 10">
            <a:extLst>
              <a:ext uri="{FF2B5EF4-FFF2-40B4-BE49-F238E27FC236}">
                <a16:creationId xmlns:a16="http://schemas.microsoft.com/office/drawing/2014/main" id="{94E42B47-B9B7-DAF1-E02A-9141643BB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76500"/>
            <a:ext cx="3228975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离散</a:t>
            </a:r>
          </a:p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endParaRPr lang="zh-CN" altLang="en-US" sz="32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连续</a:t>
            </a:r>
          </a:p>
        </p:txBody>
      </p:sp>
      <p:graphicFrame>
        <p:nvGraphicFramePr>
          <p:cNvPr id="378891" name="Object 11">
            <a:extLst>
              <a:ext uri="{FF2B5EF4-FFF2-40B4-BE49-F238E27FC236}">
                <a16:creationId xmlns:a16="http://schemas.microsoft.com/office/drawing/2014/main" id="{A046F5DF-E14C-707A-094D-098DEF7BE7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6313" y="3717925"/>
          <a:ext cx="1925637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203040" progId="Equation.DSMT4">
                  <p:embed/>
                </p:oleObj>
              </mc:Choice>
              <mc:Fallback>
                <p:oleObj name="Equation" r:id="rId8" imgW="62208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3717925"/>
                        <a:ext cx="1925637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92" name="Rectangle 12">
            <a:extLst>
              <a:ext uri="{FF2B5EF4-FFF2-40B4-BE49-F238E27FC236}">
                <a16:creationId xmlns:a16="http://schemas.microsoft.com/office/drawing/2014/main" id="{092927F1-A96B-1033-57A5-580912E58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4645025"/>
            <a:ext cx="3228975" cy="9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平均增长速度的几何含义</a:t>
            </a:r>
          </a:p>
        </p:txBody>
      </p:sp>
      <p:graphicFrame>
        <p:nvGraphicFramePr>
          <p:cNvPr id="378893" name="Object 13">
            <a:extLst>
              <a:ext uri="{FF2B5EF4-FFF2-40B4-BE49-F238E27FC236}">
                <a16:creationId xmlns:a16="http://schemas.microsoft.com/office/drawing/2014/main" id="{7BDDC331-1243-0983-8E58-A70E605CF3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8238" y="5681663"/>
          <a:ext cx="21605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0474" imgH="203112" progId="Equation.DSMT4">
                  <p:embed/>
                </p:oleObj>
              </mc:Choice>
              <mc:Fallback>
                <p:oleObj name="Equation" r:id="rId10" imgW="520474" imgH="20311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5681663"/>
                        <a:ext cx="2160587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94" name="Rectangle 14">
            <a:extLst>
              <a:ext uri="{FF2B5EF4-FFF2-40B4-BE49-F238E27FC236}">
                <a16:creationId xmlns:a16="http://schemas.microsoft.com/office/drawing/2014/main" id="{86C2104C-E123-DBA0-53CF-527C344B3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5822950"/>
            <a:ext cx="3228975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等价性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7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7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7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7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7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37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3" grpId="0" build="p" autoUpdateAnimBg="0" advAuto="0"/>
      <p:bldP spid="378890" grpId="0" autoUpdateAnimBg="0"/>
      <p:bldP spid="378892" grpId="0" autoUpdateAnimBg="0"/>
      <p:bldP spid="37889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>
            <a:extLst>
              <a:ext uri="{FF2B5EF4-FFF2-40B4-BE49-F238E27FC236}">
                <a16:creationId xmlns:a16="http://schemas.microsoft.com/office/drawing/2014/main" id="{496D3792-FF11-19E6-2652-AAB5096E9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840663" cy="1320800"/>
          </a:xfrm>
        </p:spPr>
        <p:txBody>
          <a:bodyPr/>
          <a:lstStyle/>
          <a:p>
            <a:r>
              <a:rPr lang="zh-CN" altLang="en-US" sz="4800">
                <a:ea typeface="宋体" panose="02010600030101010101" pitchFamily="2" charset="-122"/>
              </a:rPr>
              <a:t>1.3  预备知识_增长分析中的常用技巧</a:t>
            </a:r>
          </a:p>
        </p:txBody>
      </p:sp>
      <p:sp>
        <p:nvSpPr>
          <p:cNvPr id="386051" name="Rectangle 3">
            <a:extLst>
              <a:ext uri="{FF2B5EF4-FFF2-40B4-BE49-F238E27FC236}">
                <a16:creationId xmlns:a16="http://schemas.microsoft.com/office/drawing/2014/main" id="{D056CB6C-83A7-3131-A51A-10E375BA9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1657350"/>
            <a:ext cx="4948238" cy="6889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翻一番需要的时间</a:t>
            </a:r>
          </a:p>
        </p:txBody>
      </p:sp>
      <p:sp>
        <p:nvSpPr>
          <p:cNvPr id="386052" name="Rectangle 4">
            <a:extLst>
              <a:ext uri="{FF2B5EF4-FFF2-40B4-BE49-F238E27FC236}">
                <a16:creationId xmlns:a16="http://schemas.microsoft.com/office/drawing/2014/main" id="{DF1B1A4A-D147-EF8C-F51A-DEECC62DF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6054" name="Rectangle 6">
            <a:extLst>
              <a:ext uri="{FF2B5EF4-FFF2-40B4-BE49-F238E27FC236}">
                <a16:creationId xmlns:a16="http://schemas.microsoft.com/office/drawing/2014/main" id="{FE47EEC4-F3A6-38D4-66A8-62043A8BA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86055" name="Object 7">
            <a:extLst>
              <a:ext uri="{FF2B5EF4-FFF2-40B4-BE49-F238E27FC236}">
                <a16:creationId xmlns:a16="http://schemas.microsoft.com/office/drawing/2014/main" id="{7225A811-A75B-F5C4-86AE-431D5B5847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3800475"/>
          <a:ext cx="2743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190440" progId="Equation.DSMT4">
                  <p:embed/>
                </p:oleObj>
              </mc:Choice>
              <mc:Fallback>
                <p:oleObj name="Equation" r:id="rId2" imgW="1117440" imgH="190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3800475"/>
                        <a:ext cx="27432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56" name="Rectangle 8">
            <a:extLst>
              <a:ext uri="{FF2B5EF4-FFF2-40B4-BE49-F238E27FC236}">
                <a16:creationId xmlns:a16="http://schemas.microsoft.com/office/drawing/2014/main" id="{084862B7-AB23-F02C-D475-673F87773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86057" name="Object 9">
            <a:extLst>
              <a:ext uri="{FF2B5EF4-FFF2-40B4-BE49-F238E27FC236}">
                <a16:creationId xmlns:a16="http://schemas.microsoft.com/office/drawing/2014/main" id="{08A79669-9B49-7631-E96E-0AFC6B471B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4597400"/>
          <a:ext cx="324961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393480" progId="Equation.DSMT4">
                  <p:embed/>
                </p:oleObj>
              </mc:Choice>
              <mc:Fallback>
                <p:oleObj name="Equation" r:id="rId4" imgW="133344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4597400"/>
                        <a:ext cx="3249612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58" name="Rectangle 10">
            <a:extLst>
              <a:ext uri="{FF2B5EF4-FFF2-40B4-BE49-F238E27FC236}">
                <a16:creationId xmlns:a16="http://schemas.microsoft.com/office/drawing/2014/main" id="{9B1D948C-0129-5555-8FEF-06E2777F8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76500"/>
            <a:ext cx="9001125" cy="111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假定你今年年初在银行存了100元，利息是2％，问多少年能够翻一番？      10？20？30？40？50？</a:t>
            </a:r>
          </a:p>
        </p:txBody>
      </p:sp>
      <p:graphicFrame>
        <p:nvGraphicFramePr>
          <p:cNvPr id="386059" name="Object 11">
            <a:extLst>
              <a:ext uri="{FF2B5EF4-FFF2-40B4-BE49-F238E27FC236}">
                <a16:creationId xmlns:a16="http://schemas.microsoft.com/office/drawing/2014/main" id="{503AEFC7-544D-627D-D612-3C9CAC107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7625" y="3717925"/>
          <a:ext cx="19256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203040" progId="Equation.DSMT4">
                  <p:embed/>
                </p:oleObj>
              </mc:Choice>
              <mc:Fallback>
                <p:oleObj name="Equation" r:id="rId6" imgW="62208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3717925"/>
                        <a:ext cx="1925638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61" name="Object 13">
            <a:extLst>
              <a:ext uri="{FF2B5EF4-FFF2-40B4-BE49-F238E27FC236}">
                <a16:creationId xmlns:a16="http://schemas.microsoft.com/office/drawing/2014/main" id="{75F045F1-D03E-CC4E-3BBE-2298A86A8B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7575" y="5570538"/>
          <a:ext cx="31210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380880" progId="Equation.DSMT4">
                  <p:embed/>
                </p:oleObj>
              </mc:Choice>
              <mc:Fallback>
                <p:oleObj name="Equation" r:id="rId8" imgW="850680" imgH="380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5" y="5570538"/>
                        <a:ext cx="3121025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8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8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8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8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build="p" autoUpdateAnimBg="0" advAuto="0"/>
      <p:bldP spid="38605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>
            <a:extLst>
              <a:ext uri="{FF2B5EF4-FFF2-40B4-BE49-F238E27FC236}">
                <a16:creationId xmlns:a16="http://schemas.microsoft.com/office/drawing/2014/main" id="{BBC88A76-05FA-F5EA-BE60-99137D486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840663" cy="1320800"/>
          </a:xfrm>
        </p:spPr>
        <p:txBody>
          <a:bodyPr/>
          <a:lstStyle/>
          <a:p>
            <a:r>
              <a:rPr lang="zh-CN" altLang="en-US" sz="4800">
                <a:ea typeface="宋体" panose="02010600030101010101" pitchFamily="2" charset="-122"/>
              </a:rPr>
              <a:t>1.4  预备知识_如何进行增长绩效的国际比较</a:t>
            </a:r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58E02ED2-8E01-C6C8-B73F-45161BA8A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1657350"/>
            <a:ext cx="7608888" cy="6889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（产出）收入水平、增长速度的比较</a:t>
            </a:r>
          </a:p>
        </p:txBody>
      </p:sp>
      <p:sp>
        <p:nvSpPr>
          <p:cNvPr id="387076" name="Rectangle 4">
            <a:extLst>
              <a:ext uri="{FF2B5EF4-FFF2-40B4-BE49-F238E27FC236}">
                <a16:creationId xmlns:a16="http://schemas.microsoft.com/office/drawing/2014/main" id="{31C65446-6742-5B54-0C11-23EDCA6E3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7077" name="Rectangle 5">
            <a:extLst>
              <a:ext uri="{FF2B5EF4-FFF2-40B4-BE49-F238E27FC236}">
                <a16:creationId xmlns:a16="http://schemas.microsoft.com/office/drawing/2014/main" id="{7B9412D6-580C-5ADB-83DD-B98A838A4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7079" name="Rectangle 7">
            <a:extLst>
              <a:ext uri="{FF2B5EF4-FFF2-40B4-BE49-F238E27FC236}">
                <a16:creationId xmlns:a16="http://schemas.microsoft.com/office/drawing/2014/main" id="{EFCDF68E-3AE7-9030-C234-6BFCE5179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7081" name="Rectangle 9">
            <a:extLst>
              <a:ext uri="{FF2B5EF4-FFF2-40B4-BE49-F238E27FC236}">
                <a16:creationId xmlns:a16="http://schemas.microsoft.com/office/drawing/2014/main" id="{9C1000BE-4B89-F688-4C7F-BC7F38C2A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76500"/>
            <a:ext cx="4456113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广州珠海校区食堂的例子</a:t>
            </a:r>
          </a:p>
        </p:txBody>
      </p:sp>
      <p:sp>
        <p:nvSpPr>
          <p:cNvPr id="387084" name="Rectangle 12">
            <a:extLst>
              <a:ext uri="{FF2B5EF4-FFF2-40B4-BE49-F238E27FC236}">
                <a16:creationId xmlns:a16="http://schemas.microsoft.com/office/drawing/2014/main" id="{6A2FA74A-5AB3-5359-8DB5-1659D30C4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3132138"/>
            <a:ext cx="8223250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国际收入水平的比较，如何解决可比性的问题？</a:t>
            </a:r>
          </a:p>
          <a:p>
            <a:pPr lvl="1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国美的</a:t>
            </a:r>
            <a:r>
              <a:rPr lang="en-U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GDP</a:t>
            </a: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是按照美元核算，中国的</a:t>
            </a:r>
            <a:r>
              <a:rPr lang="en-U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GDP</a:t>
            </a: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试算按照人民币核算，二者如何才可比？</a:t>
            </a:r>
          </a:p>
        </p:txBody>
      </p:sp>
      <p:sp>
        <p:nvSpPr>
          <p:cNvPr id="387085" name="Rectangle 13">
            <a:extLst>
              <a:ext uri="{FF2B5EF4-FFF2-40B4-BE49-F238E27FC236}">
                <a16:creationId xmlns:a16="http://schemas.microsoft.com/office/drawing/2014/main" id="{0E1ADA92-2F9F-52B2-D247-E0D3510CF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68838"/>
            <a:ext cx="9144000" cy="107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市场汇率</a:t>
            </a:r>
          </a:p>
          <a:p>
            <a:pPr lvl="1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购买力平价（</a:t>
            </a:r>
            <a:r>
              <a:rPr lang="en-U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Purchasing power parity，</a:t>
            </a: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简称</a:t>
            </a:r>
            <a:r>
              <a:rPr lang="en-U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PPP）</a:t>
            </a:r>
          </a:p>
        </p:txBody>
      </p:sp>
      <p:sp>
        <p:nvSpPr>
          <p:cNvPr id="387086" name="Rectangle 14">
            <a:extLst>
              <a:ext uri="{FF2B5EF4-FFF2-40B4-BE49-F238E27FC236}">
                <a16:creationId xmlns:a16="http://schemas.microsoft.com/office/drawing/2014/main" id="{B43556A9-4E1D-8590-0F8A-4F8273CA8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86438"/>
            <a:ext cx="9144000" cy="107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国际比较中常用数据库：</a:t>
            </a:r>
          </a:p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en-U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Maddison</a:t>
            </a: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数据库</a:t>
            </a:r>
            <a:r>
              <a:rPr lang="en-U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和 </a:t>
            </a:r>
            <a:r>
              <a:rPr lang="en-U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Summers-Heston</a:t>
            </a: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数据库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8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8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5" grpId="0" build="p" autoUpdateAnimBg="0" advAuto="0"/>
      <p:bldP spid="387081" grpId="0" autoUpdateAnimBg="0"/>
      <p:bldP spid="387084" grpId="0" autoUpdateAnimBg="0"/>
      <p:bldP spid="387085" grpId="0" autoUpdateAnimBg="0"/>
      <p:bldP spid="38708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FEF31684-0DAA-9C9D-FAEF-6D269C08A7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47700" y="5559425"/>
            <a:ext cx="7772400" cy="11430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人类有经济增长的历史并不长</a:t>
            </a:r>
          </a:p>
        </p:txBody>
      </p:sp>
      <p:pic>
        <p:nvPicPr>
          <p:cNvPr id="393221" name="Picture 5">
            <a:extLst>
              <a:ext uri="{FF2B5EF4-FFF2-40B4-BE49-F238E27FC236}">
                <a16:creationId xmlns:a16="http://schemas.microsoft.com/office/drawing/2014/main" id="{3A7C437F-D489-862D-C88F-12C62D665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244475"/>
            <a:ext cx="8153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4BA941F1-8DAA-9E0E-60A2-A55EC4E5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C732F-7D3D-421C-8BE5-8E8918B0793E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397320" name="Text Box 8">
            <a:extLst>
              <a:ext uri="{FF2B5EF4-FFF2-40B4-BE49-F238E27FC236}">
                <a16:creationId xmlns:a16="http://schemas.microsoft.com/office/drawing/2014/main" id="{DC276E25-F8AC-CD78-7440-D066A8B1A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61950"/>
            <a:ext cx="67818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zh-CN" b="1">
                <a:ea typeface="宋体" panose="02010600030101010101" pitchFamily="2" charset="-122"/>
              </a:rPr>
              <a:t>FIGURE 3-1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zh-CN" b="1">
                <a:ea typeface="宋体" panose="02010600030101010101" pitchFamily="2" charset="-122"/>
              </a:rPr>
              <a:t>GDP PER CAPITA FOR FOUR COUNTRIES, 1820-2000</a:t>
            </a:r>
          </a:p>
        </p:txBody>
      </p:sp>
      <p:sp>
        <p:nvSpPr>
          <p:cNvPr id="397321" name="Text Box 9">
            <a:extLst>
              <a:ext uri="{FF2B5EF4-FFF2-40B4-BE49-F238E27FC236}">
                <a16:creationId xmlns:a16="http://schemas.microsoft.com/office/drawing/2014/main" id="{7DA539A8-3B0A-A5A4-CA41-33C5B5A40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64008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 i="1">
                <a:ea typeface="宋体" panose="02010600030101010101" pitchFamily="2" charset="-122"/>
              </a:rPr>
              <a:t>Source: Angus Maddison, </a:t>
            </a:r>
            <a:r>
              <a:rPr lang="en-US" altLang="zh-CN" sz="1200">
                <a:ea typeface="宋体" panose="02010600030101010101" pitchFamily="2" charset="-122"/>
              </a:rPr>
              <a:t>Monitoring the World Economy 1820-1992</a:t>
            </a:r>
            <a:r>
              <a:rPr lang="en-US" altLang="zh-CN" sz="1200" b="1" i="1">
                <a:ea typeface="宋体" panose="02010600030101010101" pitchFamily="2" charset="-122"/>
              </a:rPr>
              <a:t>, Paris: Organization for Economic Cooperation and Development, 1995</a:t>
            </a:r>
          </a:p>
        </p:txBody>
      </p:sp>
      <p:pic>
        <p:nvPicPr>
          <p:cNvPr id="397322" name="Picture 10">
            <a:extLst>
              <a:ext uri="{FF2B5EF4-FFF2-40B4-BE49-F238E27FC236}">
                <a16:creationId xmlns:a16="http://schemas.microsoft.com/office/drawing/2014/main" id="{F0A45E73-A2F6-87F6-3ADB-868A7B2B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8" y="1779588"/>
            <a:ext cx="6938962" cy="443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194" name="Picture 2">
            <a:extLst>
              <a:ext uri="{FF2B5EF4-FFF2-40B4-BE49-F238E27FC236}">
                <a16:creationId xmlns:a16="http://schemas.microsoft.com/office/drawing/2014/main" id="{C1E59211-ECF7-1611-AA3A-14CACA959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3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2195" name="Text Box 3">
            <a:extLst>
              <a:ext uri="{FF2B5EF4-FFF2-40B4-BE49-F238E27FC236}">
                <a16:creationId xmlns:a16="http://schemas.microsoft.com/office/drawing/2014/main" id="{3C3BCD3B-FDA0-86E1-99E4-295219C01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338" y="1652588"/>
            <a:ext cx="5759450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经济增长的典型事实：</a:t>
            </a:r>
          </a:p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ea typeface="宋体" panose="02010600030101010101" pitchFamily="2" charset="-122"/>
              </a:rPr>
              <a:t>1、各国人均收入存在巨大差异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794" name="Picture 2">
            <a:extLst>
              <a:ext uri="{FF2B5EF4-FFF2-40B4-BE49-F238E27FC236}">
                <a16:creationId xmlns:a16="http://schemas.microsoft.com/office/drawing/2014/main" id="{C38C46DE-727A-DB85-7556-C14AAE990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C91311ED-DA90-5E59-AAC1-A3A4E34E4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2.3   </a:t>
            </a:r>
            <a:r>
              <a:rPr lang="zh-CN" altLang="en-US">
                <a:ea typeface="宋体" panose="02010600030101010101" pitchFamily="2" charset="-122"/>
              </a:rPr>
              <a:t>经济增长的典型事实之二</a:t>
            </a:r>
            <a:br>
              <a:rPr lang="zh-CN" altLang="en-US">
                <a:ea typeface="宋体" panose="02010600030101010101" pitchFamily="2" charset="-122"/>
              </a:rPr>
            </a:br>
            <a:r>
              <a:rPr lang="zh-CN" altLang="en-US" sz="3200">
                <a:ea typeface="宋体" panose="02010600030101010101" pitchFamily="2" charset="-122"/>
              </a:rPr>
              <a:t>各国经济增长速度存在巨大差异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graphicFrame>
        <p:nvGraphicFramePr>
          <p:cNvPr id="332806" name="Object 6">
            <a:extLst>
              <a:ext uri="{FF2B5EF4-FFF2-40B4-BE49-F238E27FC236}">
                <a16:creationId xmlns:a16="http://schemas.microsoft.com/office/drawing/2014/main" id="{5725ABA4-8657-1893-05C7-02F62EA19DF5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0" y="1258888"/>
          <a:ext cx="8861425" cy="59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6905625" imgH="6610350" progId="MSGraph.Chart.8">
                  <p:embed followColorScheme="full"/>
                </p:oleObj>
              </mc:Choice>
              <mc:Fallback>
                <p:oleObj name="图表" r:id="rId2" imgW="6905625" imgH="6610350" progId="MSGraph.Chart.8">
                  <p:embed followColorScheme="full"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58888"/>
                        <a:ext cx="8861425" cy="593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32806" grpId="0" 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>
            <a:extLst>
              <a:ext uri="{FF2B5EF4-FFF2-40B4-BE49-F238E27FC236}">
                <a16:creationId xmlns:a16="http://schemas.microsoft.com/office/drawing/2014/main" id="{D24AE262-BF4A-649F-D8FC-66626EC2A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2.3   </a:t>
            </a:r>
            <a:r>
              <a:rPr lang="zh-CN" altLang="en-US">
                <a:ea typeface="宋体" panose="02010600030101010101" pitchFamily="2" charset="-122"/>
              </a:rPr>
              <a:t>经济增长的典型事实之二</a:t>
            </a:r>
            <a:br>
              <a:rPr lang="zh-CN" altLang="en-US">
                <a:ea typeface="宋体" panose="02010600030101010101" pitchFamily="2" charset="-122"/>
              </a:rPr>
            </a:br>
            <a:r>
              <a:rPr lang="zh-CN" altLang="en-US" sz="3200">
                <a:ea typeface="宋体" panose="02010600030101010101" pitchFamily="2" charset="-122"/>
              </a:rPr>
              <a:t>各国经济增长速度存在巨大差异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395269" name="Picture 5">
            <a:extLst>
              <a:ext uri="{FF2B5EF4-FFF2-40B4-BE49-F238E27FC236}">
                <a16:creationId xmlns:a16="http://schemas.microsoft.com/office/drawing/2014/main" id="{0CF9F99D-B449-666F-483F-BA920B5D1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498600"/>
            <a:ext cx="7331075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BD5D7AE6-B464-0A57-43F5-40E344F7E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815263" cy="81756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2.3 </a:t>
            </a:r>
            <a:r>
              <a:rPr lang="zh-CN" altLang="en-US">
                <a:ea typeface="宋体" panose="02010600030101010101" pitchFamily="2" charset="-122"/>
              </a:rPr>
              <a:t>经济增长的典型事实之三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33470052-C12D-64A5-A9C6-76E54B98A8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55638" y="1289050"/>
            <a:ext cx="8039100" cy="1123950"/>
          </a:xfrm>
        </p:spPr>
        <p:txBody>
          <a:bodyPr/>
          <a:lstStyle/>
          <a:p>
            <a:r>
              <a:rPr lang="zh-CN" altLang="en-US" sz="2800">
                <a:ea typeface="宋体" panose="02010600030101010101" pitchFamily="2" charset="-122"/>
              </a:rPr>
              <a:t>一国在世界人均收入分配中的相对位置并非不变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各国均可以从穷国变为富国，反之亦然</a:t>
            </a:r>
          </a:p>
        </p:txBody>
      </p:sp>
      <p:graphicFrame>
        <p:nvGraphicFramePr>
          <p:cNvPr id="334856" name="Object 8">
            <a:extLst>
              <a:ext uri="{FF2B5EF4-FFF2-40B4-BE49-F238E27FC236}">
                <a16:creationId xmlns:a16="http://schemas.microsoft.com/office/drawing/2014/main" id="{CA9587BD-D898-6A6B-A976-67FEF328B417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493713" y="2141538"/>
          <a:ext cx="8353425" cy="467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0925556" imgH="6115507" progId="MSGraph.Chart.8">
                  <p:embed followColorScheme="full"/>
                </p:oleObj>
              </mc:Choice>
              <mc:Fallback>
                <p:oleObj name="Chart" r:id="rId2" imgW="10925556" imgH="6115507" progId="MSGraph.Chart.8">
                  <p:embed followColorScheme="full"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2141538"/>
                        <a:ext cx="8353425" cy="467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334856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334856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334856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34856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334856">
                                            <p:oleChartEl type="series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5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334856">
                                            <p:oleChartEl type="series" lvl="5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334856">
                                            <p:oleChartEl type="series" lvl="6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7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334856">
                                            <p:oleChartEl type="series" lvl="7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8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500"/>
                                        <p:tgtEl>
                                          <p:spTgt spid="334856">
                                            <p:oleChartEl type="series" lvl="8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9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500"/>
                                        <p:tgtEl>
                                          <p:spTgt spid="334856">
                                            <p:oleChartEl type="series" lvl="9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>
                                            <p:oleChartEl type="series" lvl="10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334856">
                                            <p:oleChartEl type="series" lvl="10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 build="p" autoUpdateAnimBg="0"/>
      <p:bldOleChart spid="334856" grpId="0" bld="series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>
            <a:extLst>
              <a:ext uri="{FF2B5EF4-FFF2-40B4-BE49-F238E27FC236}">
                <a16:creationId xmlns:a16="http://schemas.microsoft.com/office/drawing/2014/main" id="{8B61FA9A-DFF5-9AFF-2835-B3B0729DF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3.1 </a:t>
            </a:r>
            <a:r>
              <a:rPr lang="zh-CN" altLang="en-US">
                <a:ea typeface="宋体" panose="02010600030101010101" pitchFamily="2" charset="-122"/>
              </a:rPr>
              <a:t>经济增长典型事实</a:t>
            </a:r>
            <a:r>
              <a:rPr lang="en-US" altLang="zh-CN">
                <a:ea typeface="宋体" panose="02010600030101010101" pitchFamily="2" charset="-122"/>
              </a:rPr>
              <a:t>—</a:t>
            </a:r>
            <a:r>
              <a:rPr lang="zh-CN" altLang="en-US">
                <a:ea typeface="宋体" panose="02010600030101010101" pitchFamily="2" charset="-122"/>
              </a:rPr>
              <a:t>中国</a:t>
            </a:r>
          </a:p>
        </p:txBody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1F3553A5-102E-8FBB-31CF-474297602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57350"/>
            <a:ext cx="8458200" cy="674688"/>
          </a:xfrm>
        </p:spPr>
        <p:txBody>
          <a:bodyPr/>
          <a:lstStyle/>
          <a:p>
            <a:r>
              <a:rPr lang="zh-CN" altLang="en-US">
                <a:solidFill>
                  <a:srgbClr val="FFFF00"/>
                </a:solidFill>
                <a:effectLst/>
                <a:ea typeface="宋体" panose="02010600030101010101" pitchFamily="2" charset="-122"/>
              </a:rPr>
              <a:t>事实一、各省区都快速增长，但存在差异</a:t>
            </a:r>
          </a:p>
          <a:p>
            <a:endParaRPr lang="zh-CN" altLang="en-US">
              <a:solidFill>
                <a:srgbClr val="FFFF00"/>
              </a:solidFill>
              <a:effectLst/>
              <a:ea typeface="宋体" panose="02010600030101010101" pitchFamily="2" charset="-122"/>
            </a:endParaRPr>
          </a:p>
        </p:txBody>
      </p:sp>
      <p:graphicFrame>
        <p:nvGraphicFramePr>
          <p:cNvPr id="361477" name="Object 5">
            <a:extLst>
              <a:ext uri="{FF2B5EF4-FFF2-40B4-BE49-F238E27FC236}">
                <a16:creationId xmlns:a16="http://schemas.microsoft.com/office/drawing/2014/main" id="{918A4562-ECF1-7472-EF7D-B356DD59FD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8" y="2828925"/>
          <a:ext cx="4152900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2391156" imgH="2762707" progId="MSGraph.Chart.8">
                  <p:embed/>
                </p:oleObj>
              </mc:Choice>
              <mc:Fallback>
                <p:oleObj name="Chart" r:id="rId2" imgW="2391156" imgH="2762707" progId="MSGraph.Char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2828925"/>
                        <a:ext cx="4152900" cy="402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79" name="Object 7">
            <a:extLst>
              <a:ext uri="{FF2B5EF4-FFF2-40B4-BE49-F238E27FC236}">
                <a16:creationId xmlns:a16="http://schemas.microsoft.com/office/drawing/2014/main" id="{55F29F44-31DA-C3A7-4D07-E0B766BB6B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1825" y="2801938"/>
          <a:ext cx="4152900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2391156" imgH="2762707" progId="MSGraph.Chart.8">
                  <p:embed/>
                </p:oleObj>
              </mc:Choice>
              <mc:Fallback>
                <p:oleObj name="Chart" r:id="rId4" imgW="2391156" imgH="2762707" progId="MSGraph.Char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825" y="2801938"/>
                        <a:ext cx="4152900" cy="402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77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77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77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79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79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79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61477" grpId="0" bld="series"/>
      <p:bldOleChart spid="361479" grpId="0" bld="series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A6DE3CB7-C128-708E-6A8D-F9BE6C45A1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3.1 </a:t>
            </a:r>
            <a:r>
              <a:rPr lang="zh-CN" altLang="en-US">
                <a:ea typeface="宋体" panose="02010600030101010101" pitchFamily="2" charset="-122"/>
              </a:rPr>
              <a:t>经济增长典型事实</a:t>
            </a:r>
            <a:r>
              <a:rPr lang="en-US" altLang="zh-CN">
                <a:ea typeface="宋体" panose="02010600030101010101" pitchFamily="2" charset="-122"/>
              </a:rPr>
              <a:t>—</a:t>
            </a:r>
            <a:r>
              <a:rPr lang="zh-CN" altLang="en-US">
                <a:ea typeface="宋体" panose="02010600030101010101" pitchFamily="2" charset="-122"/>
              </a:rPr>
              <a:t>中国</a:t>
            </a:r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C551DF6A-233D-25A9-E856-DA0FAFA36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3044" name="Rectangle 4">
            <a:extLst>
              <a:ext uri="{FF2B5EF4-FFF2-40B4-BE49-F238E27FC236}">
                <a16:creationId xmlns:a16="http://schemas.microsoft.com/office/drawing/2014/main" id="{9FD40E54-0D5D-D049-0DB8-448EB389A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3045" name="AutoShape 5">
            <a:extLst>
              <a:ext uri="{FF2B5EF4-FFF2-40B4-BE49-F238E27FC236}">
                <a16:creationId xmlns:a16="http://schemas.microsoft.com/office/drawing/2014/main" id="{9F17BBFC-85C6-F608-960B-F331FB55B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4950"/>
            <a:ext cx="9144000" cy="731838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schemeClr val="bg2"/>
                </a:solidFill>
                <a:ea typeface="宋体" panose="02010600030101010101" pitchFamily="2" charset="-122"/>
              </a:rPr>
              <a:t>事实</a:t>
            </a:r>
            <a:r>
              <a:rPr lang="en-US" altLang="zh-CN" b="1">
                <a:solidFill>
                  <a:schemeClr val="bg2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chemeClr val="bg2"/>
                </a:solidFill>
                <a:ea typeface="宋体" panose="02010600030101010101" pitchFamily="2" charset="-122"/>
              </a:rPr>
              <a:t>、从全球范围看，我国各省区的快速增长及其差距令人瞩目 </a:t>
            </a:r>
          </a:p>
        </p:txBody>
      </p:sp>
      <p:sp>
        <p:nvSpPr>
          <p:cNvPr id="343047" name="Rectangle 7">
            <a:extLst>
              <a:ext uri="{FF2B5EF4-FFF2-40B4-BE49-F238E27FC236}">
                <a16:creationId xmlns:a16="http://schemas.microsoft.com/office/drawing/2014/main" id="{946A56EA-A450-F708-C430-DDF8C655C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28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3049" name="Rectangle 9">
            <a:extLst>
              <a:ext uri="{FF2B5EF4-FFF2-40B4-BE49-F238E27FC236}">
                <a16:creationId xmlns:a16="http://schemas.microsoft.com/office/drawing/2014/main" id="{44256AE0-7E12-E750-EEF2-0654FA566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2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43051" name="Group 11">
            <a:extLst>
              <a:ext uri="{FF2B5EF4-FFF2-40B4-BE49-F238E27FC236}">
                <a16:creationId xmlns:a16="http://schemas.microsoft.com/office/drawing/2014/main" id="{E7423A88-3334-885B-C899-81893C0F9D10}"/>
              </a:ext>
            </a:extLst>
          </p:cNvPr>
          <p:cNvGrpSpPr>
            <a:grpSpLocks/>
          </p:cNvGrpSpPr>
          <p:nvPr/>
        </p:nvGrpSpPr>
        <p:grpSpPr bwMode="auto">
          <a:xfrm>
            <a:off x="909638" y="2390775"/>
            <a:ext cx="3444875" cy="4467225"/>
            <a:chOff x="357" y="797"/>
            <a:chExt cx="2170" cy="2814"/>
          </a:xfrm>
        </p:grpSpPr>
        <p:graphicFrame>
          <p:nvGraphicFramePr>
            <p:cNvPr id="343052" name="Object 12">
              <a:extLst>
                <a:ext uri="{FF2B5EF4-FFF2-40B4-BE49-F238E27FC236}">
                  <a16:creationId xmlns:a16="http://schemas.microsoft.com/office/drawing/2014/main" id="{21DC4E15-6926-9DB6-DE76-EA25554E11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7" y="797"/>
            <a:ext cx="2170" cy="28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图表" r:id="rId2" imgW="3467100" imgH="4495800" progId="MSGraph.Chart.8">
                    <p:embed followColorScheme="full"/>
                  </p:oleObj>
                </mc:Choice>
                <mc:Fallback>
                  <p:oleObj name="图表" r:id="rId2" imgW="3467100" imgH="4495800" progId="MSGraph.Chart.8">
                    <p:embed followColorScheme="full"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" y="797"/>
                          <a:ext cx="2170" cy="28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3053" name="Line 13">
              <a:extLst>
                <a:ext uri="{FF2B5EF4-FFF2-40B4-BE49-F238E27FC236}">
                  <a16:creationId xmlns:a16="http://schemas.microsoft.com/office/drawing/2014/main" id="{93687175-CD57-C400-6DAD-65918DB17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9" y="888"/>
              <a:ext cx="11" cy="2422"/>
            </a:xfrm>
            <a:prstGeom prst="line">
              <a:avLst/>
            </a:prstGeom>
            <a:noFill/>
            <a:ln w="57150" cap="rnd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4" name="AutoShape 14">
              <a:extLst>
                <a:ext uri="{FF2B5EF4-FFF2-40B4-BE49-F238E27FC236}">
                  <a16:creationId xmlns:a16="http://schemas.microsoft.com/office/drawing/2014/main" id="{04493F95-4FD8-2A18-FD91-708852B29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" y="942"/>
              <a:ext cx="284" cy="612"/>
            </a:xfrm>
            <a:prstGeom prst="leftBrace">
              <a:avLst>
                <a:gd name="adj1" fmla="val 17958"/>
                <a:gd name="adj2" fmla="val 50000"/>
              </a:avLst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055" name="Text Box 15">
              <a:extLst>
                <a:ext uri="{FF2B5EF4-FFF2-40B4-BE49-F238E27FC236}">
                  <a16:creationId xmlns:a16="http://schemas.microsoft.com/office/drawing/2014/main" id="{28A24609-664C-8E6F-B932-3F992192F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1311"/>
              <a:ext cx="511" cy="1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世界上经济总量增长最快的</a:t>
              </a:r>
              <a:r>
                <a:rPr lang="en-US" altLang="zh-CN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36</a:t>
              </a:r>
              <a:r>
                <a:rPr lang="zh-CN" altLang="en-US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个经济体是中国的</a:t>
              </a:r>
              <a:r>
                <a:rPr lang="en-US" altLang="zh-CN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30</a:t>
              </a:r>
              <a:r>
                <a:rPr lang="zh-CN" altLang="en-US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个省区和其他</a:t>
              </a:r>
              <a:r>
                <a:rPr lang="en-US" altLang="zh-CN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6</a:t>
              </a:r>
              <a:r>
                <a:rPr lang="zh-CN" altLang="en-US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个经济体</a:t>
              </a:r>
            </a:p>
          </p:txBody>
        </p:sp>
      </p:grpSp>
      <p:grpSp>
        <p:nvGrpSpPr>
          <p:cNvPr id="343056" name="Group 16">
            <a:extLst>
              <a:ext uri="{FF2B5EF4-FFF2-40B4-BE49-F238E27FC236}">
                <a16:creationId xmlns:a16="http://schemas.microsoft.com/office/drawing/2014/main" id="{2C1D7215-096F-D6DE-010E-62E383A2CC21}"/>
              </a:ext>
            </a:extLst>
          </p:cNvPr>
          <p:cNvGrpSpPr>
            <a:grpSpLocks/>
          </p:cNvGrpSpPr>
          <p:nvPr/>
        </p:nvGrpSpPr>
        <p:grpSpPr bwMode="auto">
          <a:xfrm>
            <a:off x="4954588" y="2352675"/>
            <a:ext cx="3444875" cy="4467225"/>
            <a:chOff x="2989" y="1038"/>
            <a:chExt cx="2170" cy="2814"/>
          </a:xfrm>
        </p:grpSpPr>
        <p:graphicFrame>
          <p:nvGraphicFramePr>
            <p:cNvPr id="343057" name="Object 17">
              <a:extLst>
                <a:ext uri="{FF2B5EF4-FFF2-40B4-BE49-F238E27FC236}">
                  <a16:creationId xmlns:a16="http://schemas.microsoft.com/office/drawing/2014/main" id="{6F0EA87F-FE31-BBDD-7073-D4536B2B82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9" y="1038"/>
            <a:ext cx="2170" cy="28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图表" r:id="rId4" imgW="3467100" imgH="4476750" progId="MSGraph.Chart.8">
                    <p:embed followColorScheme="full"/>
                  </p:oleObj>
                </mc:Choice>
                <mc:Fallback>
                  <p:oleObj name="图表" r:id="rId4" imgW="3467100" imgH="4476750" progId="MSGraph.Chart.8">
                    <p:embed followColorScheme="full"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9" y="1038"/>
                          <a:ext cx="2170" cy="28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3058" name="Line 18">
              <a:extLst>
                <a:ext uri="{FF2B5EF4-FFF2-40B4-BE49-F238E27FC236}">
                  <a16:creationId xmlns:a16="http://schemas.microsoft.com/office/drawing/2014/main" id="{2AEDE520-35AE-1DE7-6985-C4A9EE98A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9" y="1141"/>
              <a:ext cx="11" cy="2422"/>
            </a:xfrm>
            <a:prstGeom prst="line">
              <a:avLst/>
            </a:prstGeom>
            <a:noFill/>
            <a:ln w="57150" cap="rnd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9" name="AutoShape 19">
              <a:extLst>
                <a:ext uri="{FF2B5EF4-FFF2-40B4-BE49-F238E27FC236}">
                  <a16:creationId xmlns:a16="http://schemas.microsoft.com/office/drawing/2014/main" id="{51503DF3-C2C4-677B-2A95-7E28F2448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1147"/>
              <a:ext cx="272" cy="753"/>
            </a:xfrm>
            <a:prstGeom prst="leftBrace">
              <a:avLst>
                <a:gd name="adj1" fmla="val 23070"/>
                <a:gd name="adj2" fmla="val 50000"/>
              </a:avLst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060" name="Text Box 20">
              <a:extLst>
                <a:ext uri="{FF2B5EF4-FFF2-40B4-BE49-F238E27FC236}">
                  <a16:creationId xmlns:a16="http://schemas.microsoft.com/office/drawing/2014/main" id="{D6D6270A-F0CD-F7F7-9B56-411218F53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1552"/>
              <a:ext cx="511" cy="1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世界上收入增长最快的</a:t>
              </a:r>
              <a:r>
                <a:rPr lang="en-US" altLang="zh-CN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38</a:t>
              </a:r>
              <a:r>
                <a:rPr lang="zh-CN" altLang="en-US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个经济体是中国的</a:t>
              </a:r>
              <a:r>
                <a:rPr lang="en-US" altLang="zh-CN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30</a:t>
              </a:r>
              <a:r>
                <a:rPr lang="zh-CN" altLang="en-US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个省区和其他</a:t>
              </a:r>
              <a:r>
                <a:rPr lang="en-US" altLang="zh-CN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8</a:t>
              </a:r>
              <a:r>
                <a:rPr lang="zh-CN" altLang="en-US" sz="1800" b="1">
                  <a:solidFill>
                    <a:schemeClr val="bg2"/>
                  </a:solidFill>
                  <a:ea typeface="宋体" panose="02010600030101010101" pitchFamily="2" charset="-122"/>
                </a:rPr>
                <a:t>个经济体</a:t>
              </a:r>
            </a:p>
          </p:txBody>
        </p:sp>
      </p:grpSp>
    </p:spTree>
  </p:cSld>
  <p:clrMapOvr>
    <a:masterClrMapping/>
  </p:clrMapOvr>
  <p:transition spd="slow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6296552B-7F53-1975-DDEF-F1F3AC17F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3.1 </a:t>
            </a:r>
            <a:r>
              <a:rPr lang="zh-CN" altLang="en-US">
                <a:ea typeface="宋体" panose="02010600030101010101" pitchFamily="2" charset="-122"/>
              </a:rPr>
              <a:t>经济增长典型事实</a:t>
            </a:r>
            <a:r>
              <a:rPr lang="en-US" altLang="zh-CN">
                <a:ea typeface="宋体" panose="02010600030101010101" pitchFamily="2" charset="-122"/>
              </a:rPr>
              <a:t>—</a:t>
            </a:r>
            <a:r>
              <a:rPr lang="zh-CN" altLang="en-US">
                <a:ea typeface="宋体" panose="02010600030101010101" pitchFamily="2" charset="-122"/>
              </a:rPr>
              <a:t>中国</a:t>
            </a:r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093537B2-2DD8-82B9-6D45-E16A80CC9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64622FB6-3C72-7FD1-0350-9C9006467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2023" name="AutoShape 7">
            <a:extLst>
              <a:ext uri="{FF2B5EF4-FFF2-40B4-BE49-F238E27FC236}">
                <a16:creationId xmlns:a16="http://schemas.microsoft.com/office/drawing/2014/main" id="{1EC178E5-0876-46B8-D2E9-8BFA51CA1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1562100"/>
            <a:ext cx="6400800" cy="571500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schemeClr val="bg2"/>
                </a:solidFill>
                <a:ea typeface="宋体" panose="02010600030101010101" pitchFamily="2" charset="-122"/>
              </a:rPr>
              <a:t>事实</a:t>
            </a:r>
            <a:r>
              <a:rPr lang="en-US" altLang="zh-CN" b="1">
                <a:solidFill>
                  <a:schemeClr val="bg2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>
                <a:solidFill>
                  <a:schemeClr val="bg2"/>
                </a:solidFill>
                <a:ea typeface="宋体" panose="02010600030101010101" pitchFamily="2" charset="-122"/>
              </a:rPr>
              <a:t>、省区间不存在趋同</a:t>
            </a:r>
          </a:p>
        </p:txBody>
      </p:sp>
      <p:sp>
        <p:nvSpPr>
          <p:cNvPr id="342024" name="AutoShape 8">
            <a:extLst>
              <a:ext uri="{FF2B5EF4-FFF2-40B4-BE49-F238E27FC236}">
                <a16:creationId xmlns:a16="http://schemas.microsoft.com/office/drawing/2014/main" id="{6830D25B-780F-DAE8-C578-CE4414D82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6019800"/>
            <a:ext cx="7639050" cy="838200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schemeClr val="bg2"/>
                </a:solidFill>
                <a:ea typeface="宋体" panose="02010600030101010101" pitchFamily="2" charset="-122"/>
              </a:rPr>
              <a:t>数据来源：</a:t>
            </a:r>
            <a:r>
              <a:rPr lang="en-US" altLang="zh-CN" b="1">
                <a:solidFill>
                  <a:schemeClr val="bg2"/>
                </a:solidFill>
                <a:ea typeface="宋体" panose="02010600030101010101" pitchFamily="2" charset="-122"/>
              </a:rPr>
              <a:t>《</a:t>
            </a:r>
            <a:r>
              <a:rPr lang="zh-CN" altLang="en-US" b="1">
                <a:solidFill>
                  <a:schemeClr val="bg2"/>
                </a:solidFill>
                <a:ea typeface="宋体" panose="02010600030101010101" pitchFamily="2" charset="-122"/>
              </a:rPr>
              <a:t>新中国</a:t>
            </a:r>
            <a:r>
              <a:rPr lang="en-US" altLang="zh-CN" b="1">
                <a:solidFill>
                  <a:schemeClr val="bg2"/>
                </a:solidFill>
                <a:ea typeface="宋体" panose="02010600030101010101" pitchFamily="2" charset="-122"/>
              </a:rPr>
              <a:t>50</a:t>
            </a:r>
            <a:r>
              <a:rPr lang="zh-CN" altLang="en-US" b="1">
                <a:solidFill>
                  <a:schemeClr val="bg2"/>
                </a:solidFill>
                <a:ea typeface="宋体" panose="02010600030101010101" pitchFamily="2" charset="-122"/>
              </a:rPr>
              <a:t>年统计资料汇编</a:t>
            </a:r>
            <a:r>
              <a:rPr lang="en-US" altLang="zh-CN" b="1">
                <a:solidFill>
                  <a:schemeClr val="bg2"/>
                </a:solidFill>
                <a:ea typeface="宋体" panose="02010600030101010101" pitchFamily="2" charset="-122"/>
              </a:rPr>
              <a:t>》</a:t>
            </a:r>
            <a:r>
              <a:rPr lang="zh-CN" altLang="en-US" b="1">
                <a:solidFill>
                  <a:schemeClr val="bg2"/>
                </a:solidFill>
                <a:ea typeface="宋体" panose="02010600030101010101" pitchFamily="2" charset="-122"/>
              </a:rPr>
              <a:t>和作者的计算</a:t>
            </a:r>
          </a:p>
        </p:txBody>
      </p:sp>
      <p:sp>
        <p:nvSpPr>
          <p:cNvPr id="342026" name="Rectangle 10">
            <a:extLst>
              <a:ext uri="{FF2B5EF4-FFF2-40B4-BE49-F238E27FC236}">
                <a16:creationId xmlns:a16="http://schemas.microsoft.com/office/drawing/2014/main" id="{DB3BB838-1F2F-20A1-5517-37DA92685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28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42025" name="Object 9">
            <a:extLst>
              <a:ext uri="{FF2B5EF4-FFF2-40B4-BE49-F238E27FC236}">
                <a16:creationId xmlns:a16="http://schemas.microsoft.com/office/drawing/2014/main" id="{D620B12E-8B47-993A-3A4B-04D79601FD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2350" y="2333625"/>
          <a:ext cx="33178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2581275" imgH="2800350" progId="MSGraph.Chart.8">
                  <p:embed/>
                </p:oleObj>
              </mc:Choice>
              <mc:Fallback>
                <p:oleObj name="图表" r:id="rId2" imgW="2581275" imgH="2800350" progId="MSGraph.Char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2333625"/>
                        <a:ext cx="3317875" cy="36004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28" name="Rectangle 12">
            <a:extLst>
              <a:ext uri="{FF2B5EF4-FFF2-40B4-BE49-F238E27FC236}">
                <a16:creationId xmlns:a16="http://schemas.microsoft.com/office/drawing/2014/main" id="{FB07D50F-00DF-16CA-30AA-18760BE15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2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42027" name="Object 11">
            <a:extLst>
              <a:ext uri="{FF2B5EF4-FFF2-40B4-BE49-F238E27FC236}">
                <a16:creationId xmlns:a16="http://schemas.microsoft.com/office/drawing/2014/main" id="{4BB6F6BC-3DF4-472F-5852-8CE614BC7B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3950" y="2314575"/>
          <a:ext cx="3181350" cy="367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4" imgW="2381250" imgH="2752725" progId="MSGraph.Chart.8">
                  <p:embed/>
                </p:oleObj>
              </mc:Choice>
              <mc:Fallback>
                <p:oleObj name="图表" r:id="rId4" imgW="2381250" imgH="2752725" progId="MSGraph.Char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950" y="2314575"/>
                        <a:ext cx="3181350" cy="36766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274BE7AD-0163-DA8E-10CE-041498B794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ea typeface="宋体" panose="02010600030101010101" pitchFamily="2" charset="-122"/>
              </a:rPr>
              <a:t>4.0 </a:t>
            </a:r>
            <a:r>
              <a:rPr lang="zh-CN" altLang="en-US" sz="4000">
                <a:ea typeface="宋体" panose="02010600030101010101" pitchFamily="2" charset="-122"/>
              </a:rPr>
              <a:t>经济增长所要解决的核心问题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8E1A0767-CB20-3591-75E9-276F4DA6C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57350"/>
            <a:ext cx="7772400" cy="78422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 经济增长的引擎是什么？</a:t>
            </a:r>
          </a:p>
        </p:txBody>
      </p:sp>
      <p:sp>
        <p:nvSpPr>
          <p:cNvPr id="297988" name="Rectangle 4">
            <a:extLst>
              <a:ext uri="{FF2B5EF4-FFF2-40B4-BE49-F238E27FC236}">
                <a16:creationId xmlns:a16="http://schemas.microsoft.com/office/drawing/2014/main" id="{2A0CE0B4-EF04-97F7-6587-F32E92928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2816225"/>
            <a:ext cx="7772400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 为什么经济体间存在收入差距？</a:t>
            </a:r>
          </a:p>
        </p:txBody>
      </p:sp>
      <p:sp>
        <p:nvSpPr>
          <p:cNvPr id="297989" name="Rectangle 5">
            <a:extLst>
              <a:ext uri="{FF2B5EF4-FFF2-40B4-BE49-F238E27FC236}">
                <a16:creationId xmlns:a16="http://schemas.microsoft.com/office/drawing/2014/main" id="{1336F242-E5B3-6919-9110-2F771C3FD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4079875"/>
            <a:ext cx="7848600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 贫穷经济体能否以及如何赶超富裕的经济体？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build="p"/>
      <p:bldP spid="297988" grpId="0"/>
      <p:bldP spid="29798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FA1C64EE-0151-DC47-BA73-EE30A6152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4.1 </a:t>
            </a:r>
            <a:r>
              <a:rPr lang="zh-CN" altLang="en-US">
                <a:ea typeface="宋体" panose="02010600030101010101" pitchFamily="2" charset="-122"/>
              </a:rPr>
              <a:t>基本概念： 经济增长</a:t>
            </a:r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E192D0EC-5137-D60E-40C1-5CACEA93A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1873250"/>
            <a:ext cx="7772400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什么是增长？</a:t>
            </a:r>
          </a:p>
        </p:txBody>
      </p:sp>
      <p:sp>
        <p:nvSpPr>
          <p:cNvPr id="338950" name="Rectangle 6">
            <a:extLst>
              <a:ext uri="{FF2B5EF4-FFF2-40B4-BE49-F238E27FC236}">
                <a16:creationId xmlns:a16="http://schemas.microsoft.com/office/drawing/2014/main" id="{08FF113D-7E67-A1C9-5599-22FA1F43C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38" y="3041650"/>
            <a:ext cx="7772400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 lvl="1"/>
            <a:r>
              <a:rPr lang="zh-CN" altLang="en-US">
                <a:ea typeface="宋体" panose="02010600030101010101" pitchFamily="2" charset="-122"/>
              </a:rPr>
              <a:t>三种定义</a:t>
            </a:r>
          </a:p>
        </p:txBody>
      </p:sp>
      <p:sp>
        <p:nvSpPr>
          <p:cNvPr id="338951" name="Rectangle 7">
            <a:extLst>
              <a:ext uri="{FF2B5EF4-FFF2-40B4-BE49-F238E27FC236}">
                <a16:creationId xmlns:a16="http://schemas.microsoft.com/office/drawing/2014/main" id="{59821EC8-7FF1-B28D-2BC8-2419E5C05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4300538"/>
            <a:ext cx="7772400" cy="65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 lvl="1"/>
            <a:r>
              <a:rPr lang="zh-CN" altLang="en-US">
                <a:ea typeface="宋体" panose="02010600030101010101" pitchFamily="2" charset="-122"/>
              </a:rPr>
              <a:t>经济增长的度量（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个度量方式）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8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8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9" grpId="0" build="p" autoUpdateAnimBg="0"/>
      <p:bldP spid="338950" grpId="0" build="p" autoUpdateAnimBg="0"/>
      <p:bldP spid="33895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D74E3A73-BE9B-A8F5-CE56-2B565A11A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z="6000">
              <a:ea typeface="宋体" panose="02010600030101010101" pitchFamily="2" charset="-122"/>
            </a:endParaRP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C116923C-16EB-7365-89D5-83660F27B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3550" y="2835275"/>
            <a:ext cx="7772400" cy="1263650"/>
          </a:xfrm>
        </p:spPr>
        <p:txBody>
          <a:bodyPr/>
          <a:lstStyle/>
          <a:p>
            <a:pPr algn="ctr"/>
            <a:r>
              <a:rPr lang="zh-CN" altLang="en-US" sz="6000">
                <a:solidFill>
                  <a:srgbClr val="FFFF00"/>
                </a:solidFill>
                <a:ea typeface="宋体" panose="02010600030101010101" pitchFamily="2" charset="-122"/>
              </a:rPr>
              <a:t>谢谢</a:t>
            </a:r>
          </a:p>
        </p:txBody>
      </p:sp>
    </p:spTree>
  </p:cSld>
  <p:clrMapOvr>
    <a:masterClrMapping/>
  </p:clrMapOvr>
  <p:transition spd="slow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5C0714B0-1541-A6D5-C815-136F6468C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第二讲  物质资本与发展</a:t>
            </a:r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2C8EF6F4-EB72-4C10-EBC2-C21C295A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57350"/>
            <a:ext cx="7772400" cy="71755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本讲要点</a:t>
            </a:r>
          </a:p>
        </p:txBody>
      </p:sp>
      <p:sp>
        <p:nvSpPr>
          <p:cNvPr id="302084" name="Rectangle 4">
            <a:extLst>
              <a:ext uri="{FF2B5EF4-FFF2-40B4-BE49-F238E27FC236}">
                <a16:creationId xmlns:a16="http://schemas.microsoft.com/office/drawing/2014/main" id="{C096CDEB-3A83-84C7-F536-62FD53362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2428875"/>
            <a:ext cx="8420100" cy="299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 lvl="1"/>
            <a:r>
              <a:rPr lang="zh-CN" altLang="en-US">
                <a:ea typeface="宋体" panose="02010600030101010101" pitchFamily="2" charset="-122"/>
              </a:rPr>
              <a:t>学习现代经济增长理论的基准模型：索洛模型</a:t>
            </a:r>
          </a:p>
          <a:p>
            <a:pPr lvl="1"/>
            <a:endParaRPr lang="zh-CN" altLang="en-US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区分两种效应：增长效应和水平效应</a:t>
            </a:r>
          </a:p>
          <a:p>
            <a:pPr lvl="1"/>
            <a:endParaRPr lang="zh-CN" altLang="en-US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考虑如何运用假设和模型阐明现实世界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2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02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2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build="p"/>
      <p:bldP spid="30208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>
            <a:extLst>
              <a:ext uri="{FF2B5EF4-FFF2-40B4-BE49-F238E27FC236}">
                <a16:creationId xmlns:a16="http://schemas.microsoft.com/office/drawing/2014/main" id="{8EEAE4B4-963F-DF5A-3196-216ED06A3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1 什么是模型</a:t>
            </a:r>
            <a:r>
              <a:rPr lang="en-US" altLang="zh-CN"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E7C99033-841F-7B06-B2C6-9A845212D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400300"/>
            <a:ext cx="7772400" cy="29718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模型是用方程、图形、文字等描述简化的经济特征</a:t>
            </a: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模型的构成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zh-CN" altLang="en-US">
                <a:ea typeface="宋体" panose="02010600030101010101" pitchFamily="2" charset="-122"/>
              </a:rPr>
              <a:t>一系列的假设和从假设中得到的结论</a:t>
            </a:r>
          </a:p>
        </p:txBody>
      </p:sp>
    </p:spTree>
  </p:cSld>
  <p:clrMapOvr>
    <a:masterClrMapping/>
  </p:clrMapOvr>
  <p:transition spd="slow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7687762A-F611-1AB1-8E83-800716DED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2.1 </a:t>
            </a:r>
            <a:r>
              <a:rPr lang="zh-CN" altLang="en-US">
                <a:ea typeface="宋体" panose="02010600030101010101" pitchFamily="2" charset="-122"/>
              </a:rPr>
              <a:t>索罗模型：基本假定</a:t>
            </a:r>
            <a:r>
              <a:rPr lang="en-US" altLang="zh-CN">
                <a:ea typeface="宋体" panose="02010600030101010101" pitchFamily="2" charset="-122"/>
              </a:rPr>
              <a:t>2_</a:t>
            </a:r>
            <a:r>
              <a:rPr lang="zh-CN" altLang="en-US">
                <a:ea typeface="宋体" panose="02010600030101010101" pitchFamily="2" charset="-122"/>
              </a:rPr>
              <a:t>需求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C37E4EBB-8C93-3A4A-5542-2A783ACCC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033588"/>
            <a:ext cx="7375525" cy="84772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两部门经济：没有政府和外贸部门</a:t>
            </a:r>
          </a:p>
        </p:txBody>
      </p:sp>
      <p:sp>
        <p:nvSpPr>
          <p:cNvPr id="304132" name="Rectangle 4">
            <a:extLst>
              <a:ext uri="{FF2B5EF4-FFF2-40B4-BE49-F238E27FC236}">
                <a16:creationId xmlns:a16="http://schemas.microsoft.com/office/drawing/2014/main" id="{5C3578C1-FEB6-3DD9-9AA0-454BC3303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3584575"/>
            <a:ext cx="730885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假定消费所占比重是一个常数（1-</a:t>
            </a:r>
            <a:r>
              <a:rPr lang="en-US" altLang="zh-CN">
                <a:ea typeface="宋体" panose="02010600030101010101" pitchFamily="2" charset="-122"/>
              </a:rPr>
              <a:t>s）</a:t>
            </a:r>
            <a:endParaRPr lang="en-US" altLang="zh-CN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4133" name="Rectangle 5">
            <a:extLst>
              <a:ext uri="{FF2B5EF4-FFF2-40B4-BE49-F238E27FC236}">
                <a16:creationId xmlns:a16="http://schemas.microsoft.com/office/drawing/2014/main" id="{BD2BC7BA-6A48-7269-47B8-A6B90607B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5029200"/>
            <a:ext cx="4633913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两部门经济的均衡条件</a:t>
            </a:r>
            <a:endParaRPr lang="zh-CN" altLang="en-US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4135" name="Object 7">
            <a:extLst>
              <a:ext uri="{FF2B5EF4-FFF2-40B4-BE49-F238E27FC236}">
                <a16:creationId xmlns:a16="http://schemas.microsoft.com/office/drawing/2014/main" id="{B71C8589-DE7A-C1C6-2678-B357E0EFC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500" y="2770188"/>
          <a:ext cx="19653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760" imgH="152280" progId="Equation.DSMT4">
                  <p:embed/>
                </p:oleObj>
              </mc:Choice>
              <mc:Fallback>
                <p:oleObj name="Equation" r:id="rId2" imgW="545760" imgH="1522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2770188"/>
                        <a:ext cx="1965325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6" name="Object 8">
            <a:extLst>
              <a:ext uri="{FF2B5EF4-FFF2-40B4-BE49-F238E27FC236}">
                <a16:creationId xmlns:a16="http://schemas.microsoft.com/office/drawing/2014/main" id="{F721EF5A-4DA8-FD1C-1726-1A5A6CC755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9525" y="4325938"/>
          <a:ext cx="41132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190440" progId="Equation.DSMT4">
                  <p:embed/>
                </p:oleObj>
              </mc:Choice>
              <mc:Fallback>
                <p:oleObj name="Equation" r:id="rId4" imgW="1143000" imgH="1904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4325938"/>
                        <a:ext cx="4113213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7" name="Object 9">
            <a:extLst>
              <a:ext uri="{FF2B5EF4-FFF2-40B4-BE49-F238E27FC236}">
                <a16:creationId xmlns:a16="http://schemas.microsoft.com/office/drawing/2014/main" id="{BED9D959-7822-4D60-2EAC-3A1DC077B1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6065838"/>
          <a:ext cx="11430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160" imgH="152280" progId="Equation.DSMT4">
                  <p:embed/>
                </p:oleObj>
              </mc:Choice>
              <mc:Fallback>
                <p:oleObj name="Equation" r:id="rId6" imgW="317160" imgH="1522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6065838"/>
                        <a:ext cx="1143000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8" name="Object 10">
            <a:extLst>
              <a:ext uri="{FF2B5EF4-FFF2-40B4-BE49-F238E27FC236}">
                <a16:creationId xmlns:a16="http://schemas.microsoft.com/office/drawing/2014/main" id="{5CE58C8A-8C66-4CA6-1EFA-0A6DE6E25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6175" y="5561013"/>
          <a:ext cx="3014663" cy="151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419040" progId="Equation.DSMT4">
                  <p:embed/>
                </p:oleObj>
              </mc:Choice>
              <mc:Fallback>
                <p:oleObj name="Equation" r:id="rId8" imgW="838080" imgH="419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5561013"/>
                        <a:ext cx="3014663" cy="1516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9" name="Object 11">
            <a:extLst>
              <a:ext uri="{FF2B5EF4-FFF2-40B4-BE49-F238E27FC236}">
                <a16:creationId xmlns:a16="http://schemas.microsoft.com/office/drawing/2014/main" id="{412E3662-DE3F-CDC2-C12D-228C95BF7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3300" y="5846763"/>
          <a:ext cx="30607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680" imgH="177480" progId="Equation.DSMT4">
                  <p:embed/>
                </p:oleObj>
              </mc:Choice>
              <mc:Fallback>
                <p:oleObj name="Equation" r:id="rId10" imgW="850680" imgH="177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5846763"/>
                        <a:ext cx="3060700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4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04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1" grpId="0" build="p" autoUpdateAnimBg="0"/>
      <p:bldP spid="304132" grpId="0" build="p" autoUpdateAnimBg="0"/>
      <p:bldP spid="304133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>
            <a:extLst>
              <a:ext uri="{FF2B5EF4-FFF2-40B4-BE49-F238E27FC236}">
                <a16:creationId xmlns:a16="http://schemas.microsoft.com/office/drawing/2014/main" id="{366E243E-935D-AC1F-1ACD-AF31A647A3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2.1 </a:t>
            </a:r>
            <a:r>
              <a:rPr lang="zh-CN" altLang="en-US">
                <a:ea typeface="宋体" panose="02010600030101010101" pitchFamily="2" charset="-122"/>
              </a:rPr>
              <a:t>索罗模型：基本假定</a:t>
            </a:r>
            <a:r>
              <a:rPr lang="en-US" altLang="zh-CN">
                <a:ea typeface="宋体" panose="02010600030101010101" pitchFamily="2" charset="-122"/>
              </a:rPr>
              <a:t>2_</a:t>
            </a:r>
            <a:r>
              <a:rPr lang="zh-CN" altLang="en-US">
                <a:ea typeface="宋体" panose="02010600030101010101" pitchFamily="2" charset="-122"/>
              </a:rPr>
              <a:t>生产</a:t>
            </a:r>
          </a:p>
        </p:txBody>
      </p:sp>
      <p:sp>
        <p:nvSpPr>
          <p:cNvPr id="420867" name="Rectangle 3">
            <a:extLst>
              <a:ext uri="{FF2B5EF4-FFF2-40B4-BE49-F238E27FC236}">
                <a16:creationId xmlns:a16="http://schemas.microsoft.com/office/drawing/2014/main" id="{A3F23CB0-879F-2AFE-8EFB-2BF69FFC472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57350"/>
            <a:ext cx="8051800" cy="588963"/>
          </a:xfrm>
        </p:spPr>
        <p:txBody>
          <a:bodyPr/>
          <a:lstStyle/>
          <a:p>
            <a:r>
              <a:rPr lang="zh-CN" altLang="en-US" sz="2800">
                <a:ea typeface="宋体" panose="02010600030101010101" pitchFamily="2" charset="-122"/>
              </a:rPr>
              <a:t>只生产一种产品，两种生产要素，生产函数为</a:t>
            </a:r>
          </a:p>
        </p:txBody>
      </p:sp>
      <p:graphicFrame>
        <p:nvGraphicFramePr>
          <p:cNvPr id="420870" name="Object 6">
            <a:extLst>
              <a:ext uri="{FF2B5EF4-FFF2-40B4-BE49-F238E27FC236}">
                <a16:creationId xmlns:a16="http://schemas.microsoft.com/office/drawing/2014/main" id="{387D685C-33F3-C988-0778-7B2C66C35EBF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787400" y="2470150"/>
          <a:ext cx="24828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241200" progId="Equation.DSMT4">
                  <p:embed/>
                </p:oleObj>
              </mc:Choice>
              <mc:Fallback>
                <p:oleObj name="Equation" r:id="rId2" imgW="83808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2470150"/>
                        <a:ext cx="24828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2" name="Object 8">
            <a:extLst>
              <a:ext uri="{FF2B5EF4-FFF2-40B4-BE49-F238E27FC236}">
                <a16:creationId xmlns:a16="http://schemas.microsoft.com/office/drawing/2014/main" id="{5CC3513F-28AC-7D90-BAAA-C1F7F7F0E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7075" y="2563813"/>
          <a:ext cx="255428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177480" progId="Equation.DSMT4">
                  <p:embed/>
                </p:oleObj>
              </mc:Choice>
              <mc:Fallback>
                <p:oleObj name="Equation" r:id="rId4" imgW="761760" imgH="177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5" y="2563813"/>
                        <a:ext cx="255428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3" name="Object 9">
            <a:extLst>
              <a:ext uri="{FF2B5EF4-FFF2-40B4-BE49-F238E27FC236}">
                <a16:creationId xmlns:a16="http://schemas.microsoft.com/office/drawing/2014/main" id="{362618C8-47A4-A330-56D6-47F03ABA8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0163" y="2533650"/>
          <a:ext cx="17875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0" imgH="203040" progId="Equation.DSMT4">
                  <p:embed/>
                </p:oleObj>
              </mc:Choice>
              <mc:Fallback>
                <p:oleObj name="Equation" r:id="rId6" imgW="53316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163" y="2533650"/>
                        <a:ext cx="178752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0874" name="Picture 10">
            <a:extLst>
              <a:ext uri="{FF2B5EF4-FFF2-40B4-BE49-F238E27FC236}">
                <a16:creationId xmlns:a16="http://schemas.microsoft.com/office/drawing/2014/main" id="{C7E1C42C-C6CA-0A3B-8556-E77504C67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3124200"/>
            <a:ext cx="682942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2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2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27801A54-0F7B-0AA0-A8F2-0E36CEACE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2.2 </a:t>
            </a:r>
            <a:r>
              <a:rPr lang="zh-CN" altLang="en-US">
                <a:ea typeface="宋体" panose="02010600030101010101" pitchFamily="2" charset="-122"/>
              </a:rPr>
              <a:t>索罗模型图解</a:t>
            </a:r>
          </a:p>
        </p:txBody>
      </p:sp>
      <p:graphicFrame>
        <p:nvGraphicFramePr>
          <p:cNvPr id="306181" name="Object 5">
            <a:extLst>
              <a:ext uri="{FF2B5EF4-FFF2-40B4-BE49-F238E27FC236}">
                <a16:creationId xmlns:a16="http://schemas.microsoft.com/office/drawing/2014/main" id="{A4E0A9A1-4539-A694-E15C-EE4CD25185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7288" y="2055813"/>
          <a:ext cx="25146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177480" progId="Equation.DSMT4">
                  <p:embed/>
                </p:oleObj>
              </mc:Choice>
              <mc:Fallback>
                <p:oleObj name="Equation" r:id="rId2" imgW="698400" imgH="177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2055813"/>
                        <a:ext cx="2514600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182" name="Rectangle 6">
            <a:extLst>
              <a:ext uri="{FF2B5EF4-FFF2-40B4-BE49-F238E27FC236}">
                <a16:creationId xmlns:a16="http://schemas.microsoft.com/office/drawing/2014/main" id="{5C41BD0B-BEBA-4A14-A60C-17F37B3CE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41425"/>
            <a:ext cx="4576763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索罗模型的核心方程</a:t>
            </a:r>
            <a:endParaRPr lang="zh-CN" altLang="en-US" sz="28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pic>
        <p:nvPicPr>
          <p:cNvPr id="306186" name="Picture 10">
            <a:extLst>
              <a:ext uri="{FF2B5EF4-FFF2-40B4-BE49-F238E27FC236}">
                <a16:creationId xmlns:a16="http://schemas.microsoft.com/office/drawing/2014/main" id="{7684A886-BD96-36B6-7EB2-991C2CA22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2760663"/>
            <a:ext cx="4822825" cy="403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06187" name="Object 11">
            <a:extLst>
              <a:ext uri="{FF2B5EF4-FFF2-40B4-BE49-F238E27FC236}">
                <a16:creationId xmlns:a16="http://schemas.microsoft.com/office/drawing/2014/main" id="{6CAA6CA2-9DA6-3557-B3CF-7E3DB677C7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3" y="1952625"/>
          <a:ext cx="4024312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215640" progId="Equation.DSMT4">
                  <p:embed/>
                </p:oleObj>
              </mc:Choice>
              <mc:Fallback>
                <p:oleObj name="Equation" r:id="rId5" imgW="1117440" imgH="215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1952625"/>
                        <a:ext cx="4024312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6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0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2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8788D819-030B-66CD-937B-C58EFA0C2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2.3 </a:t>
            </a:r>
            <a:r>
              <a:rPr lang="zh-CN" altLang="en-US">
                <a:ea typeface="宋体" panose="02010600030101010101" pitchFamily="2" charset="-122"/>
              </a:rPr>
              <a:t>索罗模型中的经济增长</a:t>
            </a:r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8F91EFF1-2650-B7B1-A490-BE258546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5586413"/>
            <a:ext cx="8631238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在经济体向稳定状态收敛的过程中有增长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短期有增长</a:t>
            </a:r>
          </a:p>
        </p:txBody>
      </p:sp>
      <p:graphicFrame>
        <p:nvGraphicFramePr>
          <p:cNvPr id="427012" name="Object 4">
            <a:extLst>
              <a:ext uri="{FF2B5EF4-FFF2-40B4-BE49-F238E27FC236}">
                <a16:creationId xmlns:a16="http://schemas.microsoft.com/office/drawing/2014/main" id="{66AC7DBF-8EA5-B2CF-44CE-F08FB1A9DD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2513" y="1376363"/>
          <a:ext cx="4160837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736560" progId="Equation.DSMT4">
                  <p:embed/>
                </p:oleObj>
              </mc:Choice>
              <mc:Fallback>
                <p:oleObj name="Equation" r:id="rId2" imgW="1155600" imgH="7365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1376363"/>
                        <a:ext cx="4160837" cy="266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3" name="Rectangle 5">
            <a:extLst>
              <a:ext uri="{FF2B5EF4-FFF2-40B4-BE49-F238E27FC236}">
                <a16:creationId xmlns:a16="http://schemas.microsoft.com/office/drawing/2014/main" id="{AE612145-410F-3018-3A7A-F73F4AA7E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1665288"/>
            <a:ext cx="2782888" cy="115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索罗模型稳定状态的解</a:t>
            </a:r>
            <a:endParaRPr lang="zh-CN" altLang="en-US" sz="28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27014" name="Rectangle 6">
            <a:extLst>
              <a:ext uri="{FF2B5EF4-FFF2-40B4-BE49-F238E27FC236}">
                <a16:creationId xmlns:a16="http://schemas.microsoft.com/office/drawing/2014/main" id="{B91FFC92-7FCE-0661-66F5-B3E7D4EF4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" y="4287838"/>
            <a:ext cx="8297863" cy="115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在稳定状态没有增长</a:t>
            </a:r>
          </a:p>
          <a:p>
            <a:pPr lvl="1" algn="just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长期没有增长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7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27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build="p" autoUpdateAnimBg="0"/>
      <p:bldP spid="427013" grpId="0" build="p" autoUpdateAnimBg="0"/>
      <p:bldP spid="427014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>
            <a:extLst>
              <a:ext uri="{FF2B5EF4-FFF2-40B4-BE49-F238E27FC236}">
                <a16:creationId xmlns:a16="http://schemas.microsoft.com/office/drawing/2014/main" id="{73F0DACC-0D91-833B-42DD-230417041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2.4 </a:t>
            </a:r>
            <a:r>
              <a:rPr lang="zh-CN" altLang="en-US">
                <a:ea typeface="宋体" panose="02010600030101010101" pitchFamily="2" charset="-122"/>
              </a:rPr>
              <a:t>比较静态分析</a:t>
            </a:r>
            <a:r>
              <a:rPr lang="en-US" altLang="zh-CN">
                <a:ea typeface="宋体" panose="02010600030101010101" pitchFamily="2" charset="-122"/>
              </a:rPr>
              <a:t>—s</a:t>
            </a:r>
            <a:r>
              <a:rPr lang="zh-CN" altLang="en-US">
                <a:ea typeface="宋体" panose="02010600030101010101" pitchFamily="2" charset="-122"/>
              </a:rPr>
              <a:t>的变动</a:t>
            </a:r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B3B1FAA7-2BEF-4110-C0EE-907C556AA4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875" y="1487488"/>
            <a:ext cx="7772400" cy="55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比如储蓄率增加</a:t>
            </a:r>
          </a:p>
        </p:txBody>
      </p:sp>
      <p:pic>
        <p:nvPicPr>
          <p:cNvPr id="421892" name="Picture 4">
            <a:extLst>
              <a:ext uri="{FF2B5EF4-FFF2-40B4-BE49-F238E27FC236}">
                <a16:creationId xmlns:a16="http://schemas.microsoft.com/office/drawing/2014/main" id="{D6313070-CF3F-C1B4-702E-15F1CD3C4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962150"/>
            <a:ext cx="7781925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2E854839-F2AC-C628-6D0B-6A8348E2C2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6361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2.4</a:t>
            </a:r>
            <a:r>
              <a:rPr lang="zh-CN" altLang="en-US">
                <a:ea typeface="宋体" panose="02010600030101010101" pitchFamily="2" charset="-122"/>
              </a:rPr>
              <a:t>比较静态分析</a:t>
            </a:r>
            <a:r>
              <a:rPr lang="en-US" altLang="zh-CN">
                <a:ea typeface="宋体" panose="02010600030101010101" pitchFamily="2" charset="-122"/>
              </a:rPr>
              <a:t>_2</a:t>
            </a:r>
          </a:p>
        </p:txBody>
      </p:sp>
      <p:pic>
        <p:nvPicPr>
          <p:cNvPr id="308260" name="Picture 36">
            <a:extLst>
              <a:ext uri="{FF2B5EF4-FFF2-40B4-BE49-F238E27FC236}">
                <a16:creationId xmlns:a16="http://schemas.microsoft.com/office/drawing/2014/main" id="{41FA2C4B-D462-5D59-FD2C-014277CD1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3" y="1057275"/>
            <a:ext cx="7226300" cy="576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4532B122-C42A-ABA2-4ABC-5EDE00044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2.4 </a:t>
            </a:r>
            <a:r>
              <a:rPr lang="zh-CN" altLang="en-US">
                <a:ea typeface="宋体" panose="02010600030101010101" pitchFamily="2" charset="-122"/>
              </a:rPr>
              <a:t>比较静态分析</a:t>
            </a:r>
            <a:r>
              <a:rPr lang="en-US" altLang="zh-CN">
                <a:ea typeface="宋体" panose="02010600030101010101" pitchFamily="2" charset="-122"/>
              </a:rPr>
              <a:t>—n</a:t>
            </a:r>
            <a:r>
              <a:rPr lang="zh-CN" altLang="en-US">
                <a:ea typeface="宋体" panose="02010600030101010101" pitchFamily="2" charset="-122"/>
              </a:rPr>
              <a:t>的变动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DE883C46-F0B2-F50E-032C-9599B6311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875" y="1487488"/>
            <a:ext cx="7772400" cy="55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比如人口增长速度下降</a:t>
            </a:r>
          </a:p>
        </p:txBody>
      </p:sp>
      <p:pic>
        <p:nvPicPr>
          <p:cNvPr id="428037" name="Picture 5">
            <a:extLst>
              <a:ext uri="{FF2B5EF4-FFF2-40B4-BE49-F238E27FC236}">
                <a16:creationId xmlns:a16="http://schemas.microsoft.com/office/drawing/2014/main" id="{128521D5-6C75-D5D0-3246-34B6B564D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2047875"/>
            <a:ext cx="7781925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C5C3477B-2D69-76AE-9DE0-89717D51B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2.5 </a:t>
            </a:r>
            <a:r>
              <a:rPr lang="zh-CN" altLang="en-US">
                <a:ea typeface="宋体" panose="02010600030101010101" pitchFamily="2" charset="-122"/>
              </a:rPr>
              <a:t>索洛模型的基本结论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60F9149F-2109-4292-1B89-C519ADF74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111375"/>
            <a:ext cx="8056563" cy="30813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稳定状态的增长速度不受</a:t>
            </a:r>
            <a:r>
              <a:rPr lang="en-US" altLang="zh-CN">
                <a:ea typeface="宋体" panose="02010600030101010101" pitchFamily="2" charset="-122"/>
              </a:rPr>
              <a:t>s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n</a:t>
            </a:r>
            <a:r>
              <a:rPr lang="zh-CN" altLang="en-US">
                <a:ea typeface="宋体" panose="02010600030101010101" pitchFamily="2" charset="-122"/>
              </a:rPr>
              <a:t>的影响；</a:t>
            </a:r>
          </a:p>
          <a:p>
            <a:r>
              <a:rPr lang="zh-CN" altLang="en-US">
                <a:ea typeface="宋体" panose="02010600030101010101" pitchFamily="2" charset="-122"/>
              </a:rPr>
              <a:t>在其他条件相同的情况下，储蓄率或者投资率较高的国家，比较富裕</a:t>
            </a:r>
          </a:p>
          <a:p>
            <a:r>
              <a:rPr lang="zh-CN" altLang="en-US">
                <a:ea typeface="宋体" panose="02010600030101010101" pitchFamily="2" charset="-122"/>
              </a:rPr>
              <a:t>在其他条件相同的情况下，人口增长率较高的国家，比较贫穷。 </a:t>
            </a:r>
          </a:p>
        </p:txBody>
      </p:sp>
    </p:spTree>
  </p:cSld>
  <p:clrMapOvr>
    <a:masterClrMapping/>
  </p:clrMapOvr>
  <p:transition spd="slow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617B77D-4271-1EBF-537F-32B17E4FD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2.6 </a:t>
            </a:r>
            <a:r>
              <a:rPr lang="zh-CN" altLang="en-US">
                <a:ea typeface="宋体" panose="02010600030101010101" pitchFamily="2" charset="-122"/>
              </a:rPr>
              <a:t>实证分析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4845B0DE-237F-8F22-B293-B8474E409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66850"/>
            <a:ext cx="8115300" cy="9271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索洛模型的结论与现实情况是否吻合吗？</a:t>
            </a:r>
            <a:r>
              <a:rPr lang="zh-CN" altLang="en-US" sz="28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11301" name="Rectangle 5">
            <a:extLst>
              <a:ext uri="{FF2B5EF4-FFF2-40B4-BE49-F238E27FC236}">
                <a16:creationId xmlns:a16="http://schemas.microsoft.com/office/drawing/2014/main" id="{FFF50DCD-7047-D659-CF6B-0A0B7394F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1300" name="Object 4">
            <a:extLst>
              <a:ext uri="{FF2B5EF4-FFF2-40B4-BE49-F238E27FC236}">
                <a16:creationId xmlns:a16="http://schemas.microsoft.com/office/drawing/2014/main" id="{287C5FE1-3965-9121-83B7-EA20A9599C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" y="2514600"/>
          <a:ext cx="4049713" cy="354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2743505" imgH="1829105" progId="MSGraph.Chart.8">
                  <p:embed/>
                </p:oleObj>
              </mc:Choice>
              <mc:Fallback>
                <p:oleObj name="Chart" r:id="rId2" imgW="2743505" imgH="1829105" progId="MSGraph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2514600"/>
                        <a:ext cx="4049713" cy="354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3" name="Rectangle 7">
            <a:extLst>
              <a:ext uri="{FF2B5EF4-FFF2-40B4-BE49-F238E27FC236}">
                <a16:creationId xmlns:a16="http://schemas.microsoft.com/office/drawing/2014/main" id="{CA2EE923-836C-D819-B9EA-FED4FAFDA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1302" name="Object 6">
            <a:extLst>
              <a:ext uri="{FF2B5EF4-FFF2-40B4-BE49-F238E27FC236}">
                <a16:creationId xmlns:a16="http://schemas.microsoft.com/office/drawing/2014/main" id="{41DAE620-417F-8A5D-5DFA-E5FF11BD91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4075" y="2676525"/>
          <a:ext cx="4244975" cy="328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2981554" imgH="1829105" progId="MSGraph.Chart.8">
                  <p:embed/>
                </p:oleObj>
              </mc:Choice>
              <mc:Fallback>
                <p:oleObj name="Chart" r:id="rId4" imgW="2981554" imgH="1829105" progId="MSGraph.Char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676525"/>
                        <a:ext cx="4244975" cy="328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1300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1300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1302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1302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build="p" autoUpdateAnimBg="0"/>
      <p:bldOleChart spid="311300" grpId="0" bld="series"/>
      <p:bldOleChart spid="311302" grpId="0" bld="series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62" name="Picture 2">
            <a:extLst>
              <a:ext uri="{FF2B5EF4-FFF2-40B4-BE49-F238E27FC236}">
                <a16:creationId xmlns:a16="http://schemas.microsoft.com/office/drawing/2014/main" id="{E58B96DD-F7D2-79B4-736B-FEEA6B165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84"/>
          <a:stretch>
            <a:fillRect/>
          </a:stretch>
        </p:blipFill>
        <p:spPr bwMode="auto">
          <a:xfrm>
            <a:off x="0" y="0"/>
            <a:ext cx="91773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>
            <a:extLst>
              <a:ext uri="{FF2B5EF4-FFF2-40B4-BE49-F238E27FC236}">
                <a16:creationId xmlns:a16="http://schemas.microsoft.com/office/drawing/2014/main" id="{F94ECA0B-06CC-AEAD-0234-67A7CBFACE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2.6 </a:t>
            </a:r>
            <a:r>
              <a:rPr lang="zh-CN" altLang="en-US">
                <a:ea typeface="宋体" panose="02010600030101010101" pitchFamily="2" charset="-122"/>
              </a:rPr>
              <a:t>实证分析</a:t>
            </a:r>
            <a:r>
              <a:rPr lang="en-US" altLang="zh-CN">
                <a:ea typeface="宋体" panose="02010600030101010101" pitchFamily="2" charset="-122"/>
              </a:rPr>
              <a:t>_</a:t>
            </a:r>
            <a:r>
              <a:rPr lang="zh-CN" altLang="en-US">
                <a:ea typeface="宋体" panose="02010600030101010101" pitchFamily="2" charset="-122"/>
              </a:rPr>
              <a:t>中国数据</a:t>
            </a:r>
          </a:p>
        </p:txBody>
      </p:sp>
      <p:graphicFrame>
        <p:nvGraphicFramePr>
          <p:cNvPr id="314372" name="Object 4">
            <a:extLst>
              <a:ext uri="{FF2B5EF4-FFF2-40B4-BE49-F238E27FC236}">
                <a16:creationId xmlns:a16="http://schemas.microsoft.com/office/drawing/2014/main" id="{ECFB7BF8-1A01-2269-5AA4-6E817A82F9D9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524000" y="1836738"/>
          <a:ext cx="6362700" cy="356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3467100" imgH="1943100" progId="Excel.Chart.8">
                  <p:embed/>
                </p:oleObj>
              </mc:Choice>
              <mc:Fallback>
                <p:oleObj name="图表" r:id="rId2" imgW="3467100" imgH="1943100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36738"/>
                        <a:ext cx="6362700" cy="356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1437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>
            <a:extLst>
              <a:ext uri="{FF2B5EF4-FFF2-40B4-BE49-F238E27FC236}">
                <a16:creationId xmlns:a16="http://schemas.microsoft.com/office/drawing/2014/main" id="{C0CA276E-B2CD-B32B-2897-BE9ED3AE2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285750"/>
            <a:ext cx="3579812" cy="11430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2.7、趋同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0A418DA8-C865-C1AC-BFF8-525B7C563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0700" y="1657350"/>
            <a:ext cx="3867150" cy="2625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>
                <a:ea typeface="宋体" panose="02010600030101010101" pitchFamily="2" charset="-122"/>
              </a:rPr>
              <a:t>趋同是新古典增长理论的一个重要判断，即如果经济体的</a:t>
            </a:r>
            <a:r>
              <a:rPr lang="en-US" altLang="zh-CN" sz="2800">
                <a:ea typeface="宋体" panose="02010600030101010101" pitchFamily="2" charset="-122"/>
              </a:rPr>
              <a:t>s、n</a:t>
            </a:r>
            <a:r>
              <a:rPr lang="zh-CN" altLang="en-US" sz="2800">
                <a:ea typeface="宋体" panose="02010600030101010101" pitchFamily="2" charset="-122"/>
              </a:rPr>
              <a:t>和技术水平等相同，那么将会达到相同的收入水平。</a:t>
            </a:r>
          </a:p>
        </p:txBody>
      </p:sp>
      <p:pic>
        <p:nvPicPr>
          <p:cNvPr id="405513" name="Picture 9">
            <a:extLst>
              <a:ext uri="{FF2B5EF4-FFF2-40B4-BE49-F238E27FC236}">
                <a16:creationId xmlns:a16="http://schemas.microsoft.com/office/drawing/2014/main" id="{484CD9B1-A13E-C6D3-A0A9-57F694D72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44463"/>
            <a:ext cx="4021138" cy="666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>
            <a:extLst>
              <a:ext uri="{FF2B5EF4-FFF2-40B4-BE49-F238E27FC236}">
                <a16:creationId xmlns:a16="http://schemas.microsoft.com/office/drawing/2014/main" id="{83A9A44F-7B4C-99AE-436A-CA3A6BA80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285750"/>
            <a:ext cx="3579812" cy="11430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2.7、趋同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430085" name="Picture 5">
            <a:extLst>
              <a:ext uri="{FF2B5EF4-FFF2-40B4-BE49-F238E27FC236}">
                <a16:creationId xmlns:a16="http://schemas.microsoft.com/office/drawing/2014/main" id="{A0EC1B19-33D5-8DD0-4859-A4598C251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75" y="0"/>
            <a:ext cx="426243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087" name="Rectangle 7">
            <a:extLst>
              <a:ext uri="{FF2B5EF4-FFF2-40B4-BE49-F238E27FC236}">
                <a16:creationId xmlns:a16="http://schemas.microsoft.com/office/drawing/2014/main" id="{C40C27EB-F65A-24E1-859F-4D1C2EDB8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657350"/>
            <a:ext cx="4210050" cy="2625725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如果经济体的</a:t>
            </a:r>
            <a:r>
              <a:rPr lang="en-US" altLang="zh-CN">
                <a:ea typeface="宋体" panose="02010600030101010101" pitchFamily="2" charset="-122"/>
              </a:rPr>
              <a:t>s、n</a:t>
            </a:r>
            <a:r>
              <a:rPr lang="zh-CN" altLang="en-US">
                <a:ea typeface="宋体" panose="02010600030101010101" pitchFamily="2" charset="-122"/>
              </a:rPr>
              <a:t>和技术水平等不相同时，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经济体将收敛到各自的稳定状态，存在收入差异。</a:t>
            </a:r>
          </a:p>
        </p:txBody>
      </p:sp>
      <p:sp>
        <p:nvSpPr>
          <p:cNvPr id="430088" name="Rectangle 8">
            <a:extLst>
              <a:ext uri="{FF2B5EF4-FFF2-40B4-BE49-F238E27FC236}">
                <a16:creationId xmlns:a16="http://schemas.microsoft.com/office/drawing/2014/main" id="{A966AEBA-78F5-512B-42D8-2B8C4DB24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5218113"/>
            <a:ext cx="42100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趋同是有条件的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0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43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7" grpId="0" build="p" autoUpdateAnimBg="0"/>
      <p:bldP spid="430088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83" name="Rectangle 7">
            <a:extLst>
              <a:ext uri="{FF2B5EF4-FFF2-40B4-BE49-F238E27FC236}">
                <a16:creationId xmlns:a16="http://schemas.microsoft.com/office/drawing/2014/main" id="{74023A44-D055-965E-CE99-AE2AE6DC3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8059738" cy="1143000"/>
          </a:xfrm>
          <a:noFill/>
          <a:ln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2.7、条件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趋同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408584" name="Picture 8">
            <a:extLst>
              <a:ext uri="{FF2B5EF4-FFF2-40B4-BE49-F238E27FC236}">
                <a16:creationId xmlns:a16="http://schemas.microsoft.com/office/drawing/2014/main" id="{8E2260A0-7FEC-1992-BC8A-C9DD08ECF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6525"/>
            <a:ext cx="9144000" cy="531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>
            <a:extLst>
              <a:ext uri="{FF2B5EF4-FFF2-40B4-BE49-F238E27FC236}">
                <a16:creationId xmlns:a16="http://schemas.microsoft.com/office/drawing/2014/main" id="{DEB075DD-AFA6-B92C-DDDD-2CC3FCC09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8059738" cy="11430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2.7、条件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趋同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409604" name="Object 4">
            <a:extLst>
              <a:ext uri="{FF2B5EF4-FFF2-40B4-BE49-F238E27FC236}">
                <a16:creationId xmlns:a16="http://schemas.microsoft.com/office/drawing/2014/main" id="{C207693C-00D1-B8F7-0354-DC79A4ECCD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288" y="1376363"/>
          <a:ext cx="60960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1376363"/>
                        <a:ext cx="60960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5" name="Rectangle 5">
            <a:extLst>
              <a:ext uri="{FF2B5EF4-FFF2-40B4-BE49-F238E27FC236}">
                <a16:creationId xmlns:a16="http://schemas.microsoft.com/office/drawing/2014/main" id="{F29033F2-9040-3A76-16D8-91E0ECCA2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2335213"/>
            <a:ext cx="3057525" cy="236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数据来源</a:t>
            </a:r>
            <a:r>
              <a:rPr lang="en-US" altLang="zh-CN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Barro</a:t>
            </a:r>
            <a:r>
              <a:rPr lang="zh-CN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等（1995）表10.1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样本是118个经济体，1960-1985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全球范围内不存在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PS" pitchFamily="18" charset="2"/>
              </a:rPr>
              <a:t>趋同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4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4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3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409604" grpId="0" bld="series"/>
      <p:bldP spid="409605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9" name="Rectangle 3">
            <a:extLst>
              <a:ext uri="{FF2B5EF4-FFF2-40B4-BE49-F238E27FC236}">
                <a16:creationId xmlns:a16="http://schemas.microsoft.com/office/drawing/2014/main" id="{ED64B6DD-D924-1712-DEAE-1D0FC68E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1568450"/>
            <a:ext cx="7902575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6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全球范围内存在条件趋同</a:t>
            </a:r>
            <a:endParaRPr lang="en-US" altLang="zh-CN" sz="36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13700" name="Object 4">
            <a:extLst>
              <a:ext uri="{FF2B5EF4-FFF2-40B4-BE49-F238E27FC236}">
                <a16:creationId xmlns:a16="http://schemas.microsoft.com/office/drawing/2014/main" id="{CC3290DD-E84C-3F9D-BCF3-D4E2FA1BA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225" y="2584450"/>
          <a:ext cx="60960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2584450"/>
                        <a:ext cx="60960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01" name="Rectangle 5">
            <a:extLst>
              <a:ext uri="{FF2B5EF4-FFF2-40B4-BE49-F238E27FC236}">
                <a16:creationId xmlns:a16="http://schemas.microsoft.com/office/drawing/2014/main" id="{C242B4A5-6AD8-C1B3-469D-FD76BCA1E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3079750"/>
            <a:ext cx="2049463" cy="273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数据来源于</a:t>
            </a:r>
            <a:r>
              <a:rPr lang="en-US" altLang="zh-CN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Jones(1998)</a:t>
            </a:r>
            <a:r>
              <a:rPr lang="zh-CN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表</a:t>
            </a:r>
            <a:r>
              <a:rPr lang="en-US" altLang="zh-CN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B2；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数据104个经济体；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样本区间1960-1990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控制了</a:t>
            </a:r>
            <a:r>
              <a:rPr lang="en-US" altLang="zh-CN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</p:txBody>
      </p:sp>
      <p:sp>
        <p:nvSpPr>
          <p:cNvPr id="413704" name="Rectangle 8">
            <a:extLst>
              <a:ext uri="{FF2B5EF4-FFF2-40B4-BE49-F238E27FC236}">
                <a16:creationId xmlns:a16="http://schemas.microsoft.com/office/drawing/2014/main" id="{C727B399-0D65-8CEC-FC6E-CCE88DF58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8059738" cy="1143000"/>
          </a:xfrm>
          <a:noFill/>
          <a:ln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2.7、条件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趋同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3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00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00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 autoUpdateAnimBg="0"/>
      <p:bldOleChart spid="413700" grpId="0" bld="series"/>
      <p:bldP spid="41370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91CDE260-B8F7-E5BF-2AAB-5F6E0AC46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3.1  </a:t>
            </a:r>
            <a:r>
              <a:rPr lang="zh-CN" altLang="en-US">
                <a:ea typeface="宋体" panose="02010600030101010101" pitchFamily="2" charset="-122"/>
              </a:rPr>
              <a:t>基本模型中的经济增长</a:t>
            </a:r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70B324C5-7829-B06D-F9AD-3530CF3DF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57350"/>
            <a:ext cx="8266113" cy="10112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基本模型并没有回答经济为什么能够增长，也没有很好的解释增长速度差异</a:t>
            </a:r>
          </a:p>
        </p:txBody>
      </p:sp>
      <p:sp>
        <p:nvSpPr>
          <p:cNvPr id="312324" name="Rectangle 4">
            <a:extLst>
              <a:ext uri="{FF2B5EF4-FFF2-40B4-BE49-F238E27FC236}">
                <a16:creationId xmlns:a16="http://schemas.microsoft.com/office/drawing/2014/main" id="{FD6FF93B-44B9-B7A7-E38D-51130249F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2954338"/>
            <a:ext cx="7837487" cy="110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在基本索罗模型中引入技术进步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把技术进步引入生产函数，其他不变</a:t>
            </a:r>
          </a:p>
        </p:txBody>
      </p:sp>
      <p:graphicFrame>
        <p:nvGraphicFramePr>
          <p:cNvPr id="312325" name="Object 5">
            <a:extLst>
              <a:ext uri="{FF2B5EF4-FFF2-40B4-BE49-F238E27FC236}">
                <a16:creationId xmlns:a16="http://schemas.microsoft.com/office/drawing/2014/main" id="{49B7F140-B874-2041-DDA2-18E67C1DDB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1375" y="4132263"/>
          <a:ext cx="2924175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419040" progId="Equation.DSMT4">
                  <p:embed/>
                </p:oleObj>
              </mc:Choice>
              <mc:Fallback>
                <p:oleObj name="Equation" r:id="rId2" imgW="81252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4132263"/>
                        <a:ext cx="2924175" cy="151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6" name="Rectangle 6">
            <a:extLst>
              <a:ext uri="{FF2B5EF4-FFF2-40B4-BE49-F238E27FC236}">
                <a16:creationId xmlns:a16="http://schemas.microsoft.com/office/drawing/2014/main" id="{EFA413AA-131F-EAAF-ACF8-4BD3846FD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5716588"/>
            <a:ext cx="7837488" cy="72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求具有技术进步的索罗模型的解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2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12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12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build="p" autoUpdateAnimBg="0"/>
      <p:bldP spid="312324" grpId="0" build="p" autoUpdateAnimBg="0"/>
      <p:bldP spid="312326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04DFE78C-3C35-C0AA-DCD0-3948F89A1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4. 1、增长核算</a:t>
            </a:r>
          </a:p>
        </p:txBody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2F58977B-CE80-1B4A-5DEE-3C3CBE826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57350"/>
            <a:ext cx="7772400" cy="67468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增长核算的定义</a:t>
            </a:r>
          </a:p>
        </p:txBody>
      </p:sp>
      <p:sp>
        <p:nvSpPr>
          <p:cNvPr id="400388" name="Rectangle 4">
            <a:extLst>
              <a:ext uri="{FF2B5EF4-FFF2-40B4-BE49-F238E27FC236}">
                <a16:creationId xmlns:a16="http://schemas.microsoft.com/office/drawing/2014/main" id="{34D66143-57D6-4428-55AF-E21E9C560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2295525"/>
            <a:ext cx="7091363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 lvl="1"/>
            <a:r>
              <a:rPr lang="zh-CN" altLang="en-US" sz="2000">
                <a:ea typeface="宋体" panose="02010600030101010101" pitchFamily="2" charset="-122"/>
              </a:rPr>
              <a:t>定量分析劳动、资本和技术进步等对经济增长贡献</a:t>
            </a:r>
          </a:p>
        </p:txBody>
      </p:sp>
      <p:sp>
        <p:nvSpPr>
          <p:cNvPr id="400389" name="Rectangle 5">
            <a:extLst>
              <a:ext uri="{FF2B5EF4-FFF2-40B4-BE49-F238E27FC236}">
                <a16:creationId xmlns:a16="http://schemas.microsoft.com/office/drawing/2014/main" id="{2F8947D3-3BFA-D7D2-A691-8AD48B47C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3051175"/>
            <a:ext cx="7772400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增长核算的公式</a:t>
            </a:r>
          </a:p>
        </p:txBody>
      </p:sp>
      <p:sp>
        <p:nvSpPr>
          <p:cNvPr id="400390" name="Rectangle 6">
            <a:extLst>
              <a:ext uri="{FF2B5EF4-FFF2-40B4-BE49-F238E27FC236}">
                <a16:creationId xmlns:a16="http://schemas.microsoft.com/office/drawing/2014/main" id="{1E2D0297-FEF3-82E4-B80F-975E2A07F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3822700"/>
            <a:ext cx="7091363" cy="202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 lvl="1"/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Y</a:t>
            </a:r>
            <a:r>
              <a:rPr lang="en-US" altLang="zh-CN" sz="2000">
                <a:ea typeface="宋体" panose="02010600030101010101" pitchFamily="2" charset="-122"/>
              </a:rPr>
              <a:t>=</a:t>
            </a:r>
            <a:r>
              <a:rPr lang="el-GR" altLang="zh-CN" sz="2000">
                <a:cs typeface="Times New Roman" panose="02020603050405020304" pitchFamily="18" charset="0"/>
              </a:rPr>
              <a:t>α</a:t>
            </a:r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L</a:t>
            </a:r>
            <a:r>
              <a:rPr lang="en-US" altLang="zh-CN" sz="2000">
                <a:ea typeface="宋体" panose="02010600030101010101" pitchFamily="2" charset="-122"/>
              </a:rPr>
              <a:t>+</a:t>
            </a:r>
            <a:r>
              <a:rPr lang="el-GR" altLang="zh-CN" sz="2000">
                <a:cs typeface="Times New Roman" panose="02020603050405020304" pitchFamily="18" charset="0"/>
              </a:rPr>
              <a:t>β</a:t>
            </a:r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K</a:t>
            </a:r>
            <a:r>
              <a:rPr lang="en-US" altLang="zh-CN" sz="2000">
                <a:ea typeface="宋体" panose="02010600030101010101" pitchFamily="2" charset="-122"/>
              </a:rPr>
              <a:t>+G</a:t>
            </a:r>
            <a:r>
              <a:rPr lang="en-US" altLang="zh-CN" sz="2000" baseline="-25000">
                <a:ea typeface="宋体" panose="02010600030101010101" pitchFamily="2" charset="-122"/>
              </a:rPr>
              <a:t>A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Y</a:t>
            </a:r>
            <a:r>
              <a:rPr lang="zh-CN" altLang="en-US" sz="2000">
                <a:ea typeface="宋体" panose="02010600030101010101" pitchFamily="2" charset="-122"/>
              </a:rPr>
              <a:t>、</a:t>
            </a:r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L</a:t>
            </a:r>
            <a:r>
              <a:rPr lang="zh-CN" altLang="en-US" sz="2000">
                <a:ea typeface="宋体" panose="02010600030101010101" pitchFamily="2" charset="-122"/>
              </a:rPr>
              <a:t>、</a:t>
            </a:r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K</a:t>
            </a:r>
            <a:r>
              <a:rPr lang="zh-CN" altLang="en-US" sz="2000">
                <a:ea typeface="宋体" panose="02010600030101010101" pitchFamily="2" charset="-122"/>
              </a:rPr>
              <a:t>和</a:t>
            </a:r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A</a:t>
            </a:r>
            <a:r>
              <a:rPr lang="zh-CN" altLang="en-US" sz="2000">
                <a:ea typeface="宋体" panose="02010600030101010101" pitchFamily="2" charset="-122"/>
              </a:rPr>
              <a:t>是经济增长速度、劳动、资本和技术进步的增长速度增长速度；</a:t>
            </a:r>
            <a:r>
              <a:rPr lang="el-GR" altLang="zh-CN" sz="2000">
                <a:cs typeface="Times New Roman" panose="02020603050405020304" pitchFamily="18" charset="0"/>
              </a:rPr>
              <a:t>α</a:t>
            </a:r>
            <a:r>
              <a:rPr lang="zh-CN" altLang="en-US" sz="2000">
                <a:ea typeface="宋体" panose="02010600030101010101" pitchFamily="2" charset="-122"/>
              </a:rPr>
              <a:t>和</a:t>
            </a:r>
            <a:r>
              <a:rPr lang="el-GR" altLang="zh-CN" sz="2000">
                <a:cs typeface="Times New Roman" panose="02020603050405020304" pitchFamily="18" charset="0"/>
              </a:rPr>
              <a:t>β</a:t>
            </a:r>
            <a:r>
              <a:rPr lang="zh-CN" altLang="en-US" sz="2000">
                <a:ea typeface="宋体" panose="02010600030101010101" pitchFamily="2" charset="-122"/>
              </a:rPr>
              <a:t>是劳动和资本的产出弹性或者是在国民收入分配中所占的份额。</a:t>
            </a:r>
            <a:endParaRPr lang="zh-CN" altLang="en-US" sz="2000" baseline="-25000">
              <a:ea typeface="宋体" panose="02010600030101010101" pitchFamily="2" charset="-122"/>
            </a:endParaRPr>
          </a:p>
          <a:p>
            <a:pPr lvl="1"/>
            <a:endParaRPr lang="zh-CN" altLang="en-US" sz="2000" baseline="-25000">
              <a:ea typeface="宋体" panose="02010600030101010101" pitchFamily="2" charset="-122"/>
            </a:endParaRP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A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zh-CN" altLang="en-US" sz="2000">
                <a:ea typeface="宋体" panose="02010600030101010101" pitchFamily="2" charset="-122"/>
              </a:rPr>
              <a:t>＝</a:t>
            </a:r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Y</a:t>
            </a:r>
            <a:r>
              <a:rPr lang="zh-CN" altLang="en-US" sz="2000">
                <a:ea typeface="宋体" panose="02010600030101010101" pitchFamily="2" charset="-122"/>
              </a:rPr>
              <a:t>－（</a:t>
            </a:r>
            <a:r>
              <a:rPr lang="el-GR" altLang="zh-CN" sz="2000">
                <a:cs typeface="Times New Roman" panose="02020603050405020304" pitchFamily="18" charset="0"/>
              </a:rPr>
              <a:t>α</a:t>
            </a:r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L</a:t>
            </a:r>
            <a:r>
              <a:rPr lang="en-US" altLang="zh-CN" sz="2000">
                <a:ea typeface="宋体" panose="02010600030101010101" pitchFamily="2" charset="-122"/>
              </a:rPr>
              <a:t>+</a:t>
            </a:r>
            <a:r>
              <a:rPr lang="el-GR" altLang="zh-CN" sz="2000">
                <a:cs typeface="Times New Roman" panose="02020603050405020304" pitchFamily="18" charset="0"/>
              </a:rPr>
              <a:t>β</a:t>
            </a:r>
            <a:r>
              <a:rPr lang="en-US" altLang="zh-CN" sz="2000"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ea typeface="宋体" panose="02010600030101010101" pitchFamily="2" charset="-122"/>
              </a:rPr>
              <a:t>K</a:t>
            </a:r>
            <a:r>
              <a:rPr lang="zh-CN" altLang="en-US" sz="2000">
                <a:ea typeface="宋体" panose="02010600030101010101" pitchFamily="2" charset="-122"/>
              </a:rPr>
              <a:t>）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400391" name="Rectangle 7">
            <a:extLst>
              <a:ext uri="{FF2B5EF4-FFF2-40B4-BE49-F238E27FC236}">
                <a16:creationId xmlns:a16="http://schemas.microsoft.com/office/drawing/2014/main" id="{013E3C5F-519D-2598-C31C-74D6AD0C3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5911850"/>
            <a:ext cx="7772400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  <a:defRPr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tx1"/>
              </a:buClr>
              <a:buChar char="–"/>
              <a:defRPr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tx1"/>
              </a:buClr>
              <a:buChar char="–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 增长核算始于</a:t>
            </a:r>
            <a:r>
              <a:rPr lang="en-US" altLang="zh-CN">
                <a:ea typeface="宋体" panose="02010600030101010101" pitchFamily="2" charset="-122"/>
              </a:rPr>
              <a:t>Solow（1957）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0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0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0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00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00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0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build="p" autoUpdateAnimBg="0"/>
      <p:bldP spid="400388" grpId="0" build="p" autoUpdateAnimBg="0"/>
      <p:bldP spid="400389" grpId="0" build="p" autoUpdateAnimBg="0"/>
      <p:bldP spid="400390" grpId="0" build="p" autoUpdateAnimBg="0"/>
      <p:bldP spid="400391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EB8B137C-3C32-99C3-8066-CF378C931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4.2</a:t>
            </a:r>
            <a:r>
              <a:rPr lang="zh-CN" altLang="en-US">
                <a:ea typeface="宋体" panose="02010600030101010101" pitchFamily="2" charset="-122"/>
              </a:rPr>
              <a:t>、增长核算</a:t>
            </a:r>
            <a:r>
              <a:rPr lang="en-US" altLang="zh-CN">
                <a:ea typeface="宋体" panose="02010600030101010101" pitchFamily="2" charset="-122"/>
              </a:rPr>
              <a:t>—</a:t>
            </a:r>
            <a:r>
              <a:rPr lang="zh-CN" altLang="en-US">
                <a:ea typeface="宋体" panose="02010600030101010101" pitchFamily="2" charset="-122"/>
              </a:rPr>
              <a:t>实例</a:t>
            </a:r>
            <a:r>
              <a:rPr lang="en-US" altLang="zh-CN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D740359A-3145-2FA2-D61A-A9447361E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1333500"/>
            <a:ext cx="5141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中国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1952-1990</a:t>
            </a: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年经济增长因素分析</a:t>
            </a:r>
          </a:p>
        </p:txBody>
      </p:sp>
      <p:graphicFrame>
        <p:nvGraphicFramePr>
          <p:cNvPr id="401412" name="Group 4">
            <a:extLst>
              <a:ext uri="{FF2B5EF4-FFF2-40B4-BE49-F238E27FC236}">
                <a16:creationId xmlns:a16="http://schemas.microsoft.com/office/drawing/2014/main" id="{9A68B4BD-76F8-E03D-AD50-64F0B82EC16C}"/>
              </a:ext>
            </a:extLst>
          </p:cNvPr>
          <p:cNvGraphicFramePr>
            <a:graphicFrameLocks noGrp="1"/>
          </p:cNvGraphicFramePr>
          <p:nvPr/>
        </p:nvGraphicFramePr>
        <p:xfrm>
          <a:off x="314325" y="1795463"/>
          <a:ext cx="8410575" cy="4381500"/>
        </p:xfrm>
        <a:graphic>
          <a:graphicData uri="http://schemas.openxmlformats.org/drawingml/2006/table">
            <a:tbl>
              <a:tblPr/>
              <a:tblGrid>
                <a:gridCol w="1508125">
                  <a:extLst>
                    <a:ext uri="{9D8B030D-6E8A-4147-A177-3AD203B41FA5}">
                      <a16:colId xmlns:a16="http://schemas.microsoft.com/office/drawing/2014/main" val="2497057602"/>
                    </a:ext>
                  </a:extLst>
                </a:gridCol>
                <a:gridCol w="1370013">
                  <a:extLst>
                    <a:ext uri="{9D8B030D-6E8A-4147-A177-3AD203B41FA5}">
                      <a16:colId xmlns:a16="http://schemas.microsoft.com/office/drawing/2014/main" val="2587976355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243703835"/>
                    </a:ext>
                  </a:extLst>
                </a:gridCol>
                <a:gridCol w="2112962">
                  <a:extLst>
                    <a:ext uri="{9D8B030D-6E8A-4147-A177-3AD203B41FA5}">
                      <a16:colId xmlns:a16="http://schemas.microsoft.com/office/drawing/2014/main" val="589382635"/>
                    </a:ext>
                  </a:extLst>
                </a:gridCol>
                <a:gridCol w="1844675">
                  <a:extLst>
                    <a:ext uri="{9D8B030D-6E8A-4147-A177-3AD203B41FA5}">
                      <a16:colId xmlns:a16="http://schemas.microsoft.com/office/drawing/2014/main" val="2832630246"/>
                    </a:ext>
                  </a:extLst>
                </a:gridCol>
              </a:tblGrid>
              <a:tr h="3413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工业净产值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农业净产值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国民收入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238622"/>
                  </a:ext>
                </a:extLst>
              </a:tr>
              <a:tr h="3079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净产值的平均年增长率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161483"/>
                  </a:ext>
                </a:extLst>
              </a:tr>
              <a:tr h="307975"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资本投入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年增长率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862039"/>
                  </a:ext>
                </a:extLst>
              </a:tr>
              <a:tr h="307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产出弹性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010903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贡献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707695"/>
                  </a:ext>
                </a:extLst>
              </a:tr>
              <a:tr h="307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贡献份额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65.86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441854"/>
                  </a:ext>
                </a:extLst>
              </a:tr>
              <a:tr h="307975"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劳动投入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年增长率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100828"/>
                  </a:ext>
                </a:extLst>
              </a:tr>
              <a:tr h="307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产出弹性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737216"/>
                  </a:ext>
                </a:extLst>
              </a:tr>
              <a:tr h="307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贡献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766482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贡献份额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27.67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41.72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62234"/>
                  </a:ext>
                </a:extLst>
              </a:tr>
              <a:tr h="30797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TFP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年增长率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073249"/>
                  </a:ext>
                </a:extLst>
              </a:tr>
              <a:tr h="307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贡献份额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20.19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-7.58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856075"/>
                  </a:ext>
                </a:extLst>
              </a:tr>
            </a:tbl>
          </a:graphicData>
        </a:graphic>
      </p:graphicFrame>
      <p:sp>
        <p:nvSpPr>
          <p:cNvPr id="401483" name="Rectangle 75">
            <a:extLst>
              <a:ext uri="{FF2B5EF4-FFF2-40B4-BE49-F238E27FC236}">
                <a16:creationId xmlns:a16="http://schemas.microsoft.com/office/drawing/2014/main" id="{C24BA0C8-8688-BF6C-2B8C-FB126F588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6475413"/>
            <a:ext cx="8550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5334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800" b="1">
                <a:ea typeface="宋体" panose="02010600030101010101" pitchFamily="2" charset="-122"/>
              </a:rPr>
              <a:t>注：该表来自舒元（</a:t>
            </a:r>
            <a:r>
              <a:rPr lang="en-US" altLang="zh-CN" sz="1800" b="1">
                <a:ea typeface="宋体" panose="02010600030101010101" pitchFamily="2" charset="-122"/>
              </a:rPr>
              <a:t>1993</a:t>
            </a:r>
            <a:r>
              <a:rPr lang="zh-CN" altLang="en-US" sz="1800" b="1">
                <a:ea typeface="宋体" panose="02010600030101010101" pitchFamily="2" charset="-122"/>
              </a:rPr>
              <a:t>）第</a:t>
            </a:r>
            <a:r>
              <a:rPr lang="en-US" altLang="zh-CN" sz="1800" b="1">
                <a:ea typeface="宋体" panose="02010600030101010101" pitchFamily="2" charset="-122"/>
              </a:rPr>
              <a:t>86</a:t>
            </a:r>
            <a:r>
              <a:rPr lang="zh-CN" altLang="en-US" sz="1800" b="1">
                <a:ea typeface="宋体" panose="02010600030101010101" pitchFamily="2" charset="-122"/>
              </a:rPr>
              <a:t>页。除产出弹性外，单位都是百分数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1" grpId="0" autoUpdateAnimBg="0"/>
      <p:bldP spid="401483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>
            <a:extLst>
              <a:ext uri="{FF2B5EF4-FFF2-40B4-BE49-F238E27FC236}">
                <a16:creationId xmlns:a16="http://schemas.microsoft.com/office/drawing/2014/main" id="{E583751A-C590-EC42-B52A-8E9EEB224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4.2</a:t>
            </a:r>
            <a:r>
              <a:rPr lang="zh-CN" altLang="en-US">
                <a:ea typeface="宋体" panose="02010600030101010101" pitchFamily="2" charset="-122"/>
              </a:rPr>
              <a:t>、增长核算</a:t>
            </a:r>
            <a:r>
              <a:rPr lang="en-US" altLang="zh-CN">
                <a:ea typeface="宋体" panose="02010600030101010101" pitchFamily="2" charset="-122"/>
              </a:rPr>
              <a:t>—</a:t>
            </a:r>
            <a:r>
              <a:rPr lang="zh-CN" altLang="en-US">
                <a:ea typeface="宋体" panose="02010600030101010101" pitchFamily="2" charset="-122"/>
              </a:rPr>
              <a:t>实例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9FEFCACE-1D7D-D729-D719-4C555A656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87513"/>
            <a:ext cx="4381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 b="1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中国经济增长核算的分阶段考察     单位</a:t>
            </a:r>
            <a:r>
              <a:rPr lang="en-US" altLang="zh-CN" sz="1800" b="1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%</a:t>
            </a:r>
          </a:p>
        </p:txBody>
      </p:sp>
      <p:graphicFrame>
        <p:nvGraphicFramePr>
          <p:cNvPr id="402436" name="Group 4">
            <a:extLst>
              <a:ext uri="{FF2B5EF4-FFF2-40B4-BE49-F238E27FC236}">
                <a16:creationId xmlns:a16="http://schemas.microsoft.com/office/drawing/2014/main" id="{B1F99F9E-7A8E-8D10-DC11-766FE6D69AE5}"/>
              </a:ext>
            </a:extLst>
          </p:cNvPr>
          <p:cNvGraphicFramePr>
            <a:graphicFrameLocks noGrp="1"/>
          </p:cNvGraphicFramePr>
          <p:nvPr/>
        </p:nvGraphicFramePr>
        <p:xfrm>
          <a:off x="0" y="2314575"/>
          <a:ext cx="9145588" cy="3013075"/>
        </p:xfrm>
        <a:graphic>
          <a:graphicData uri="http://schemas.openxmlformats.org/drawingml/2006/table">
            <a:tbl>
              <a:tblPr/>
              <a:tblGrid>
                <a:gridCol w="1862138">
                  <a:extLst>
                    <a:ext uri="{9D8B030D-6E8A-4147-A177-3AD203B41FA5}">
                      <a16:colId xmlns:a16="http://schemas.microsoft.com/office/drawing/2014/main" val="3601549845"/>
                    </a:ext>
                  </a:extLst>
                </a:gridCol>
                <a:gridCol w="1331912">
                  <a:extLst>
                    <a:ext uri="{9D8B030D-6E8A-4147-A177-3AD203B41FA5}">
                      <a16:colId xmlns:a16="http://schemas.microsoft.com/office/drawing/2014/main" val="545171898"/>
                    </a:ext>
                  </a:extLst>
                </a:gridCol>
                <a:gridCol w="1331913">
                  <a:extLst>
                    <a:ext uri="{9D8B030D-6E8A-4147-A177-3AD203B41FA5}">
                      <a16:colId xmlns:a16="http://schemas.microsoft.com/office/drawing/2014/main" val="138289870"/>
                    </a:ext>
                  </a:extLst>
                </a:gridCol>
                <a:gridCol w="1331912">
                  <a:extLst>
                    <a:ext uri="{9D8B030D-6E8A-4147-A177-3AD203B41FA5}">
                      <a16:colId xmlns:a16="http://schemas.microsoft.com/office/drawing/2014/main" val="354839826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3520569180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320728423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1846010335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1953-1993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1953-1977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1978-1995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“六五”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“七五”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“八五”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099932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687138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资本投入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843001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劳动投入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178385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生产率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-1.19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3.623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4.617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953608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资本贡献份额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68.52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49.65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39.45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58.04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51.52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970041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劳动贡献份额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18.21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21.32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16.64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19.78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420796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生产率贡献份额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-20.32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36.23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43.91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22.17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271871"/>
                  </a:ext>
                </a:extLst>
              </a:tr>
            </a:tbl>
          </a:graphicData>
        </a:graphic>
      </p:graphicFrame>
      <p:sp>
        <p:nvSpPr>
          <p:cNvPr id="402510" name="Rectangle 78">
            <a:extLst>
              <a:ext uri="{FF2B5EF4-FFF2-40B4-BE49-F238E27FC236}">
                <a16:creationId xmlns:a16="http://schemas.microsoft.com/office/drawing/2014/main" id="{667D9442-0889-3830-7C60-DC7F07B5B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3" y="5746750"/>
            <a:ext cx="3938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 b="1">
                <a:ea typeface="宋体" panose="02010600030101010101" pitchFamily="2" charset="-122"/>
              </a:rPr>
              <a:t>数据来源于：李京文等（</a:t>
            </a:r>
            <a:r>
              <a:rPr lang="en-US" altLang="zh-CN" sz="1800" b="1">
                <a:ea typeface="宋体" panose="02010600030101010101" pitchFamily="2" charset="-122"/>
              </a:rPr>
              <a:t>1998</a:t>
            </a:r>
            <a:r>
              <a:rPr lang="zh-CN" altLang="en-US" sz="1800" b="1">
                <a:ea typeface="宋体" panose="02010600030101010101" pitchFamily="2" charset="-122"/>
              </a:rPr>
              <a:t>）表</a:t>
            </a:r>
            <a:r>
              <a:rPr lang="en-US" altLang="zh-CN" sz="1800" b="1">
                <a:ea typeface="宋体" panose="02010600030101010101" pitchFamily="2" charset="-122"/>
              </a:rPr>
              <a:t>4-3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autoUpdateAnimBg="0"/>
      <p:bldP spid="402510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ECB800BD-12EE-E6B0-DF69-7896F0B36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4.2</a:t>
            </a:r>
            <a:r>
              <a:rPr lang="zh-CN" altLang="en-US">
                <a:ea typeface="宋体" panose="02010600030101010101" pitchFamily="2" charset="-122"/>
              </a:rPr>
              <a:t>、增长核算</a:t>
            </a:r>
            <a:r>
              <a:rPr lang="en-US" altLang="zh-CN">
                <a:ea typeface="宋体" panose="02010600030101010101" pitchFamily="2" charset="-122"/>
              </a:rPr>
              <a:t>—</a:t>
            </a:r>
            <a:r>
              <a:rPr lang="zh-CN" altLang="en-US">
                <a:ea typeface="宋体" panose="02010600030101010101" pitchFamily="2" charset="-122"/>
              </a:rPr>
              <a:t>实例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19538459-720D-2EEC-BD70-15B0FDC57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1935163"/>
            <a:ext cx="3967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b="1">
                <a:ea typeface="宋体" panose="02010600030101010101" pitchFamily="2" charset="-122"/>
              </a:rPr>
              <a:t>美国的经济增长核算</a:t>
            </a:r>
          </a:p>
        </p:txBody>
      </p:sp>
      <p:graphicFrame>
        <p:nvGraphicFramePr>
          <p:cNvPr id="403460" name="Group 4">
            <a:extLst>
              <a:ext uri="{FF2B5EF4-FFF2-40B4-BE49-F238E27FC236}">
                <a16:creationId xmlns:a16="http://schemas.microsoft.com/office/drawing/2014/main" id="{4BFA3015-6E41-D707-E614-3432A4620981}"/>
              </a:ext>
            </a:extLst>
          </p:cNvPr>
          <p:cNvGraphicFramePr>
            <a:graphicFrameLocks noGrp="1"/>
          </p:cNvGraphicFramePr>
          <p:nvPr/>
        </p:nvGraphicFramePr>
        <p:xfrm>
          <a:off x="155575" y="2438400"/>
          <a:ext cx="8851900" cy="2951163"/>
        </p:xfrm>
        <a:graphic>
          <a:graphicData uri="http://schemas.openxmlformats.org/drawingml/2006/table">
            <a:tbl>
              <a:tblPr/>
              <a:tblGrid>
                <a:gridCol w="1789113">
                  <a:extLst>
                    <a:ext uri="{9D8B030D-6E8A-4147-A177-3AD203B41FA5}">
                      <a16:colId xmlns:a16="http://schemas.microsoft.com/office/drawing/2014/main" val="351639961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933947154"/>
                    </a:ext>
                  </a:extLst>
                </a:gridCol>
                <a:gridCol w="1452562">
                  <a:extLst>
                    <a:ext uri="{9D8B030D-6E8A-4147-A177-3AD203B41FA5}">
                      <a16:colId xmlns:a16="http://schemas.microsoft.com/office/drawing/2014/main" val="403930702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3838740538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3065782090"/>
                    </a:ext>
                  </a:extLst>
                </a:gridCol>
                <a:gridCol w="1652587">
                  <a:extLst>
                    <a:ext uri="{9D8B030D-6E8A-4147-A177-3AD203B41FA5}">
                      <a16:colId xmlns:a16="http://schemas.microsoft.com/office/drawing/2014/main" val="3758783039"/>
                    </a:ext>
                  </a:extLst>
                </a:gridCol>
              </a:tblGrid>
              <a:tr h="582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GDP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增长率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资本的贡献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劳动的贡献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TFP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的贡献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劳均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GDP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增长率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288128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1960-1970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586042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1970-1980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431991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1980-1990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209676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1960-1990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SzPct val="75000"/>
                        <a:buFont typeface="Monotype Sorts" pitchFamily="2" charset="2"/>
                        <a:defRPr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Monotype Sorts" pitchFamily="2" charset="2"/>
                        <a:defRPr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5pPr>
                      <a:lvl6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6pPr>
                      <a:lvl7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7pPr>
                      <a:lvl8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8pPr>
                      <a:lvl9pPr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638959"/>
                  </a:ext>
                </a:extLst>
              </a:tr>
            </a:tbl>
          </a:graphicData>
        </a:graphic>
      </p:graphicFrame>
      <p:sp>
        <p:nvSpPr>
          <p:cNvPr id="403504" name="Rectangle 48">
            <a:extLst>
              <a:ext uri="{FF2B5EF4-FFF2-40B4-BE49-F238E27FC236}">
                <a16:creationId xmlns:a16="http://schemas.microsoft.com/office/drawing/2014/main" id="{D6F7057B-45C1-0C17-815C-493DBF89F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6134100"/>
            <a:ext cx="752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 b="1">
                <a:ea typeface="宋体" panose="02010600030101010101" pitchFamily="2" charset="-122"/>
              </a:rPr>
              <a:t>注数据来自</a:t>
            </a:r>
            <a:r>
              <a:rPr lang="en-US" altLang="zh-CN" sz="1800" b="1">
                <a:ea typeface="宋体" panose="02010600030101010101" pitchFamily="2" charset="-122"/>
              </a:rPr>
              <a:t>Jones</a:t>
            </a:r>
            <a:r>
              <a:rPr lang="zh-CN" altLang="en-US" sz="1800" b="1"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ea typeface="宋体" panose="02010600030101010101" pitchFamily="2" charset="-122"/>
              </a:rPr>
              <a:t>1998</a:t>
            </a:r>
            <a:r>
              <a:rPr lang="zh-CN" altLang="en-US" sz="1800" b="1">
                <a:ea typeface="宋体" panose="02010600030101010101" pitchFamily="2" charset="-122"/>
              </a:rPr>
              <a:t>），第</a:t>
            </a:r>
            <a:r>
              <a:rPr lang="en-US" altLang="zh-CN" sz="1800" b="1">
                <a:ea typeface="宋体" panose="02010600030101010101" pitchFamily="2" charset="-122"/>
              </a:rPr>
              <a:t>42</a:t>
            </a:r>
            <a:r>
              <a:rPr lang="zh-CN" altLang="en-US" sz="1800" b="1">
                <a:ea typeface="宋体" panose="02010600030101010101" pitchFamily="2" charset="-122"/>
              </a:rPr>
              <a:t>页；资本、劳动的收入份额是</a:t>
            </a:r>
            <a:r>
              <a:rPr lang="en-US" altLang="zh-CN" sz="1800" b="1">
                <a:ea typeface="宋体" panose="02010600030101010101" pitchFamily="2" charset="-122"/>
              </a:rPr>
              <a:t>1/3</a:t>
            </a:r>
            <a:r>
              <a:rPr lang="zh-CN" altLang="en-US" sz="1800" b="1">
                <a:ea typeface="宋体" panose="02010600030101010101" pitchFamily="2" charset="-122"/>
              </a:rPr>
              <a:t>：</a:t>
            </a:r>
            <a:r>
              <a:rPr lang="en-US" altLang="zh-CN" sz="1800" b="1">
                <a:ea typeface="宋体" panose="02010600030101010101" pitchFamily="2" charset="-122"/>
              </a:rPr>
              <a:t>2/3</a:t>
            </a:r>
            <a:r>
              <a:rPr lang="zh-CN" altLang="en-US" sz="1800" b="1">
                <a:ea typeface="宋体" panose="02010600030101010101" pitchFamily="2" charset="-122"/>
              </a:rPr>
              <a:t>。</a:t>
            </a:r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autoUpdateAnimBg="0"/>
      <p:bldP spid="403504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B3DA5D2F-BAD7-DC52-54B4-74BF09F68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课后作业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36716620-7201-D4A7-C5D4-57E5C8295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2811463"/>
            <a:ext cx="7772400" cy="21748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第62-63页</a:t>
            </a:r>
          </a:p>
          <a:p>
            <a:r>
              <a:rPr lang="zh-CN" altLang="en-US">
                <a:ea typeface="宋体" panose="02010600030101010101" pitchFamily="2" charset="-122"/>
              </a:rPr>
              <a:t>概念题中的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en-US">
                <a:ea typeface="宋体" panose="02010600030101010101" pitchFamily="2" charset="-122"/>
              </a:rPr>
              <a:t>题</a:t>
            </a:r>
          </a:p>
          <a:p>
            <a:r>
              <a:rPr lang="zh-CN" altLang="en-US">
                <a:ea typeface="宋体" panose="02010600030101010101" pitchFamily="2" charset="-122"/>
              </a:rPr>
              <a:t>技术题中的2、5、7、9题</a:t>
            </a:r>
          </a:p>
        </p:txBody>
      </p:sp>
    </p:spTree>
  </p:cSld>
  <p:clrMapOvr>
    <a:masterClrMapping/>
  </p:clrMapOvr>
  <p:transition spd="slow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8BCCC2C7-DF6C-107F-3BE4-D1B0BC94E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>
                <a:ea typeface="宋体" panose="02010600030101010101" pitchFamily="2" charset="-122"/>
              </a:rPr>
              <a:t>第二讲结束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90DF328F-E67C-9555-1671-3A2C8B11E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924175"/>
            <a:ext cx="7772400" cy="1436688"/>
          </a:xfrm>
        </p:spPr>
        <p:txBody>
          <a:bodyPr/>
          <a:lstStyle/>
          <a:p>
            <a:pPr algn="ctr">
              <a:buFont typeface="Monotype Sorts" pitchFamily="2" charset="2"/>
              <a:buNone/>
            </a:pPr>
            <a:r>
              <a:rPr lang="zh-CN" altLang="en-US" sz="5400">
                <a:solidFill>
                  <a:srgbClr val="FFFF00"/>
                </a:solidFill>
                <a:ea typeface="宋体" panose="02010600030101010101" pitchFamily="2" charset="-122"/>
              </a:rPr>
              <a:t>谢谢</a:t>
            </a:r>
          </a:p>
        </p:txBody>
      </p:sp>
    </p:spTree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international">
  <a:themeElements>
    <a:clrScheme name="international 1">
      <a:dk1>
        <a:srgbClr val="000000"/>
      </a:dk1>
      <a:lt1>
        <a:srgbClr val="FFFFFF"/>
      </a:lt1>
      <a:dk2>
        <a:srgbClr val="0000FF"/>
      </a:dk2>
      <a:lt2>
        <a:srgbClr val="FFFF99"/>
      </a:lt2>
      <a:accent1>
        <a:srgbClr val="009966"/>
      </a:accent1>
      <a:accent2>
        <a:srgbClr val="00CCCC"/>
      </a:accent2>
      <a:accent3>
        <a:srgbClr val="AAAAFF"/>
      </a:accent3>
      <a:accent4>
        <a:srgbClr val="DADADA"/>
      </a:accent4>
      <a:accent5>
        <a:srgbClr val="AACAB8"/>
      </a:accent5>
      <a:accent6>
        <a:srgbClr val="00B9B9"/>
      </a:accent6>
      <a:hlink>
        <a:srgbClr val="000080"/>
      </a:hlink>
      <a:folHlink>
        <a:srgbClr val="9999FF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Designs\international.pot</Template>
  <TotalTime>3759</TotalTime>
  <Words>1493</Words>
  <Application>Microsoft Office PowerPoint</Application>
  <PresentationFormat>全屏显示(4:3)</PresentationFormat>
  <Paragraphs>309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Times New Roman</vt:lpstr>
      <vt:lpstr>Monotype Sorts</vt:lpstr>
      <vt:lpstr>宋体</vt:lpstr>
      <vt:lpstr>Arial</vt:lpstr>
      <vt:lpstr>Wingdings</vt:lpstr>
      <vt:lpstr>Symbol</vt:lpstr>
      <vt:lpstr>SymbolPS</vt:lpstr>
      <vt:lpstr>international</vt:lpstr>
      <vt:lpstr>MathType 5.0 Equation</vt:lpstr>
      <vt:lpstr>Microsoft Graph 图表</vt:lpstr>
      <vt:lpstr>Microsoft Graph 2000 图表</vt:lpstr>
      <vt:lpstr>Microsoft Excel 图表</vt:lpstr>
      <vt:lpstr>第三章：增长与积累 </vt:lpstr>
      <vt:lpstr>课程简介</vt:lpstr>
      <vt:lpstr>第一讲 经济增长的典型事实</vt:lpstr>
      <vt:lpstr>1 预备知识</vt:lpstr>
      <vt:lpstr>1.1  预备知识_增长分析中的常用技巧</vt:lpstr>
      <vt:lpstr>1.1  预备知识_增长分析中的常用技巧</vt:lpstr>
      <vt:lpstr>“两边取自然对数并对时间求导”</vt:lpstr>
      <vt:lpstr>练习</vt:lpstr>
      <vt:lpstr>1.2  预备知识_增长分析中的常用技巧</vt:lpstr>
      <vt:lpstr>1.3  预备知识_增长分析中的常用技巧</vt:lpstr>
      <vt:lpstr>1.4  预备知识_如何进行增长绩效的国际比较</vt:lpstr>
      <vt:lpstr>人类有经济增长的历史并不长</vt:lpstr>
      <vt:lpstr>PowerPoint 演示文稿</vt:lpstr>
      <vt:lpstr>PowerPoint 演示文稿</vt:lpstr>
      <vt:lpstr>PowerPoint 演示文稿</vt:lpstr>
      <vt:lpstr>2.3   经济增长的典型事实之二 各国经济增长速度存在巨大差异</vt:lpstr>
      <vt:lpstr>2.3   经济增长的典型事实之二 各国经济增长速度存在巨大差异</vt:lpstr>
      <vt:lpstr>2.3 经济增长的典型事实之三</vt:lpstr>
      <vt:lpstr>3.1 经济增长典型事实—中国</vt:lpstr>
      <vt:lpstr>3.1 经济增长典型事实—中国</vt:lpstr>
      <vt:lpstr>3.1 经济增长典型事实—中国</vt:lpstr>
      <vt:lpstr>4.0 经济增长所要解决的核心问题</vt:lpstr>
      <vt:lpstr>4.1 基本概念： 经济增长</vt:lpstr>
      <vt:lpstr>PowerPoint 演示文稿</vt:lpstr>
      <vt:lpstr>第二讲  物质资本与发展</vt:lpstr>
      <vt:lpstr>1 什么是模型?</vt:lpstr>
      <vt:lpstr>2.1 索罗模型：基本假定2_需求</vt:lpstr>
      <vt:lpstr>2.1 索罗模型：基本假定2_生产</vt:lpstr>
      <vt:lpstr>2.2 索罗模型图解</vt:lpstr>
      <vt:lpstr>2.3 索罗模型中的经济增长</vt:lpstr>
      <vt:lpstr>2.4 比较静态分析—s的变动</vt:lpstr>
      <vt:lpstr>2.4比较静态分析_2</vt:lpstr>
      <vt:lpstr>2.4 比较静态分析—n的变动</vt:lpstr>
      <vt:lpstr>2.5 索洛模型的基本结论</vt:lpstr>
      <vt:lpstr>2.6 实证分析</vt:lpstr>
      <vt:lpstr>PowerPoint 演示文稿</vt:lpstr>
      <vt:lpstr>2.6 实证分析_中国数据</vt:lpstr>
      <vt:lpstr>2.7、趋同</vt:lpstr>
      <vt:lpstr>2.7、趋同</vt:lpstr>
      <vt:lpstr>2.7、条件趋同</vt:lpstr>
      <vt:lpstr>2.7、条件趋同</vt:lpstr>
      <vt:lpstr>2.7、条件趋同</vt:lpstr>
      <vt:lpstr>3.1  基本模型中的经济增长</vt:lpstr>
      <vt:lpstr>4. 1、增长核算</vt:lpstr>
      <vt:lpstr>4.2、增长核算—实例1</vt:lpstr>
      <vt:lpstr>4.2、增长核算—实例2</vt:lpstr>
      <vt:lpstr>4.2、增长核算—实例3</vt:lpstr>
      <vt:lpstr>课后作业</vt:lpstr>
      <vt:lpstr>第二讲结束</vt:lpstr>
    </vt:vector>
  </TitlesOfParts>
  <Company>UC Irvine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Microeconomics</dc:title>
  <dc:creator>Ron Kahr</dc:creator>
  <cp:lastModifiedBy>超然网络服务店 超然网络服务店</cp:lastModifiedBy>
  <cp:revision>208</cp:revision>
  <cp:lastPrinted>1996-01-03T06:15:32Z</cp:lastPrinted>
  <dcterms:created xsi:type="dcterms:W3CDTF">1998-05-05T18:18:36Z</dcterms:created>
  <dcterms:modified xsi:type="dcterms:W3CDTF">2023-10-24T11:36:56Z</dcterms:modified>
</cp:coreProperties>
</file>