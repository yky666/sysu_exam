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18"/>
  </p:notesMasterIdLst>
  <p:sldIdLst>
    <p:sldId id="256" r:id="rId2"/>
    <p:sldId id="263" r:id="rId3"/>
    <p:sldId id="258" r:id="rId4"/>
    <p:sldId id="274" r:id="rId5"/>
    <p:sldId id="273" r:id="rId6"/>
    <p:sldId id="265" r:id="rId7"/>
    <p:sldId id="272" r:id="rId8"/>
    <p:sldId id="268" r:id="rId9"/>
    <p:sldId id="269" r:id="rId10"/>
    <p:sldId id="266" r:id="rId11"/>
    <p:sldId id="259" r:id="rId12"/>
    <p:sldId id="260" r:id="rId13"/>
    <p:sldId id="271" r:id="rId14"/>
    <p:sldId id="270" r:id="rId15"/>
    <p:sldId id="261" r:id="rId16"/>
    <p:sldId id="262" r:id="rId17"/>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784">
          <p15:clr>
            <a:srgbClr val="A4A3A4"/>
          </p15:clr>
        </p15:guide>
        <p15:guide id="2" pos="307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4581" autoAdjust="0"/>
  </p:normalViewPr>
  <p:slideViewPr>
    <p:cSldViewPr>
      <p:cViewPr varScale="1">
        <p:scale>
          <a:sx n="68" d="100"/>
          <a:sy n="68" d="100"/>
        </p:scale>
        <p:origin x="1240" y="60"/>
      </p:cViewPr>
      <p:guideLst>
        <p:guide orient="horz" pos="2784"/>
        <p:guide pos="3072"/>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9AD61DDB-AF47-30EA-6D17-E4969C68D3F0}"/>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kumimoji="1" sz="1200">
                <a:latin typeface="Tahoma" panose="020B0604030504040204" pitchFamily="34" charset="0"/>
              </a:defRPr>
            </a:lvl1pPr>
          </a:lstStyle>
          <a:p>
            <a:endParaRPr lang="en-US" altLang="zh-CN"/>
          </a:p>
        </p:txBody>
      </p:sp>
      <p:sp>
        <p:nvSpPr>
          <p:cNvPr id="30723" name="Rectangle 3">
            <a:extLst>
              <a:ext uri="{FF2B5EF4-FFF2-40B4-BE49-F238E27FC236}">
                <a16:creationId xmlns:a16="http://schemas.microsoft.com/office/drawing/2014/main" id="{7669EBF8-C717-4635-8181-C5B07CBD2DAD}"/>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1" sz="1200">
                <a:latin typeface="Tahoma" panose="020B0604030504040204" pitchFamily="34" charset="0"/>
              </a:defRPr>
            </a:lvl1pPr>
          </a:lstStyle>
          <a:p>
            <a:endParaRPr lang="en-US" altLang="zh-CN"/>
          </a:p>
        </p:txBody>
      </p:sp>
      <p:sp>
        <p:nvSpPr>
          <p:cNvPr id="30724" name="Rectangle 4">
            <a:extLst>
              <a:ext uri="{FF2B5EF4-FFF2-40B4-BE49-F238E27FC236}">
                <a16:creationId xmlns:a16="http://schemas.microsoft.com/office/drawing/2014/main" id="{F7F918B9-B59D-4ECC-721F-C211DAABA245}"/>
              </a:ext>
            </a:extLst>
          </p:cNvPr>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25" name="Rectangle 5">
            <a:extLst>
              <a:ext uri="{FF2B5EF4-FFF2-40B4-BE49-F238E27FC236}">
                <a16:creationId xmlns:a16="http://schemas.microsoft.com/office/drawing/2014/main" id="{21BEF170-573B-30A4-B40E-7B8D0E71E206}"/>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26" name="Rectangle 6">
            <a:extLst>
              <a:ext uri="{FF2B5EF4-FFF2-40B4-BE49-F238E27FC236}">
                <a16:creationId xmlns:a16="http://schemas.microsoft.com/office/drawing/2014/main" id="{4CC41DDD-8D89-3426-BF35-428AF32727EC}"/>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kumimoji="1" sz="1200">
                <a:latin typeface="Tahoma" panose="020B0604030504040204" pitchFamily="34" charset="0"/>
              </a:defRPr>
            </a:lvl1pPr>
          </a:lstStyle>
          <a:p>
            <a:endParaRPr lang="en-US" altLang="zh-CN"/>
          </a:p>
        </p:txBody>
      </p:sp>
      <p:sp>
        <p:nvSpPr>
          <p:cNvPr id="30727" name="Rectangle 7">
            <a:extLst>
              <a:ext uri="{FF2B5EF4-FFF2-40B4-BE49-F238E27FC236}">
                <a16:creationId xmlns:a16="http://schemas.microsoft.com/office/drawing/2014/main" id="{9C19660D-0638-174B-5923-3DA4B1B738F6}"/>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1" sz="1200">
                <a:latin typeface="Tahoma" panose="020B0604030504040204" pitchFamily="34" charset="0"/>
              </a:defRPr>
            </a:lvl1pPr>
          </a:lstStyle>
          <a:p>
            <a:fld id="{C66D4C05-A158-4BC6-8147-52650B02E862}"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1E019EF-8DEA-69B6-380C-B39A44D1CFAA}"/>
              </a:ext>
            </a:extLst>
          </p:cNvPr>
          <p:cNvSpPr>
            <a:spLocks noGrp="1" noChangeArrowheads="1"/>
          </p:cNvSpPr>
          <p:nvPr>
            <p:ph type="sldNum" sz="quarter" idx="5"/>
          </p:nvPr>
        </p:nvSpPr>
        <p:spPr>
          <a:ln/>
        </p:spPr>
        <p:txBody>
          <a:bodyPr/>
          <a:lstStyle/>
          <a:p>
            <a:fld id="{F30CF08A-3415-4052-908A-F91DA67E6E82}" type="slidenum">
              <a:rPr lang="en-US" altLang="zh-CN"/>
              <a:pPr/>
              <a:t>2</a:t>
            </a:fld>
            <a:endParaRPr lang="en-US" altLang="zh-CN"/>
          </a:p>
        </p:txBody>
      </p:sp>
      <p:sp>
        <p:nvSpPr>
          <p:cNvPr id="31746" name="Rectangle 2">
            <a:extLst>
              <a:ext uri="{FF2B5EF4-FFF2-40B4-BE49-F238E27FC236}">
                <a16:creationId xmlns:a16="http://schemas.microsoft.com/office/drawing/2014/main" id="{92459887-B24D-0D69-3A6F-DB5A4D9B372D}"/>
              </a:ext>
            </a:extLst>
          </p:cNvPr>
          <p:cNvSpPr>
            <a:spLocks noChangeArrowheads="1" noTextEdit="1"/>
          </p:cNvSpPr>
          <p:nvPr>
            <p:ph type="sldImg"/>
          </p:nvPr>
        </p:nvSpPr>
        <p:spPr>
          <a:ln/>
        </p:spPr>
      </p:sp>
      <p:sp>
        <p:nvSpPr>
          <p:cNvPr id="31747" name="Rectangle 3">
            <a:extLst>
              <a:ext uri="{FF2B5EF4-FFF2-40B4-BE49-F238E27FC236}">
                <a16:creationId xmlns:a16="http://schemas.microsoft.com/office/drawing/2014/main" id="{2992C19B-7DEA-DB66-9082-A2B8FBD5F898}"/>
              </a:ext>
            </a:extLst>
          </p:cNvPr>
          <p:cNvSpPr>
            <a:spLocks noGrp="1" noChangeArrowheads="1"/>
          </p:cNvSpPr>
          <p:nvPr>
            <p:ph type="body" idx="1"/>
          </p:nvPr>
        </p:nvSpPr>
        <p:spPr/>
        <p:txBody>
          <a:bodyPr/>
          <a:lstStyle/>
          <a:p>
            <a:endParaRPr lang="en-US" altLang="zh-CN"/>
          </a:p>
          <a:p>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1EDF13A6-4D86-54BD-5805-4B04A4519ED5}"/>
              </a:ext>
            </a:extLst>
          </p:cNvPr>
          <p:cNvSpPr>
            <a:spLocks noGrp="1" noRot="1" noChangeArrowheads="1"/>
          </p:cNvSpPr>
          <p:nvPr>
            <p:ph type="ctrTitle"/>
          </p:nvPr>
        </p:nvSpPr>
        <p:spPr>
          <a:xfrm>
            <a:off x="685800" y="2286000"/>
            <a:ext cx="7772400" cy="1143000"/>
          </a:xfrm>
        </p:spPr>
        <p:txBody>
          <a:bodyPr/>
          <a:lstStyle>
            <a:lvl1pPr>
              <a:defRPr/>
            </a:lvl1pPr>
          </a:lstStyle>
          <a:p>
            <a:pPr lvl="0"/>
            <a:r>
              <a:rPr lang="zh-CN" altLang="en-US" noProof="0"/>
              <a:t>单击此处编辑母版标题样式</a:t>
            </a:r>
          </a:p>
        </p:txBody>
      </p:sp>
      <p:sp>
        <p:nvSpPr>
          <p:cNvPr id="53251" name="Rectangle 3">
            <a:extLst>
              <a:ext uri="{FF2B5EF4-FFF2-40B4-BE49-F238E27FC236}">
                <a16:creationId xmlns:a16="http://schemas.microsoft.com/office/drawing/2014/main" id="{2DDC9297-56B9-95F5-A89F-BEE5AAF17C91}"/>
              </a:ext>
            </a:extLst>
          </p:cNvPr>
          <p:cNvSpPr>
            <a:spLocks noGrp="1" noRot="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53252" name="Rectangle 4">
            <a:extLst>
              <a:ext uri="{FF2B5EF4-FFF2-40B4-BE49-F238E27FC236}">
                <a16:creationId xmlns:a16="http://schemas.microsoft.com/office/drawing/2014/main" id="{F71CA71D-DA22-1EAA-4E1A-6166C6AADF14}"/>
              </a:ext>
            </a:extLst>
          </p:cNvPr>
          <p:cNvSpPr>
            <a:spLocks noGrp="1" noChangeArrowheads="1"/>
          </p:cNvSpPr>
          <p:nvPr>
            <p:ph type="dt" sz="half" idx="2"/>
          </p:nvPr>
        </p:nvSpPr>
        <p:spPr/>
        <p:txBody>
          <a:bodyPr/>
          <a:lstStyle>
            <a:lvl1pPr>
              <a:defRPr/>
            </a:lvl1pPr>
          </a:lstStyle>
          <a:p>
            <a:endParaRPr lang="en-US" altLang="zh-CN"/>
          </a:p>
        </p:txBody>
      </p:sp>
      <p:sp>
        <p:nvSpPr>
          <p:cNvPr id="53253" name="Rectangle 5">
            <a:extLst>
              <a:ext uri="{FF2B5EF4-FFF2-40B4-BE49-F238E27FC236}">
                <a16:creationId xmlns:a16="http://schemas.microsoft.com/office/drawing/2014/main" id="{38EB6A49-2E67-B641-A8F6-23BE2C342723}"/>
              </a:ext>
            </a:extLst>
          </p:cNvPr>
          <p:cNvSpPr>
            <a:spLocks noGrp="1" noChangeArrowheads="1"/>
          </p:cNvSpPr>
          <p:nvPr>
            <p:ph type="ftr" sz="quarter" idx="3"/>
          </p:nvPr>
        </p:nvSpPr>
        <p:spPr/>
        <p:txBody>
          <a:bodyPr/>
          <a:lstStyle>
            <a:lvl1pPr>
              <a:defRPr/>
            </a:lvl1pPr>
          </a:lstStyle>
          <a:p>
            <a:endParaRPr lang="en-US" altLang="zh-CN"/>
          </a:p>
        </p:txBody>
      </p:sp>
      <p:sp>
        <p:nvSpPr>
          <p:cNvPr id="53254" name="Rectangle 6">
            <a:extLst>
              <a:ext uri="{FF2B5EF4-FFF2-40B4-BE49-F238E27FC236}">
                <a16:creationId xmlns:a16="http://schemas.microsoft.com/office/drawing/2014/main" id="{E1AB291C-17C1-8067-F9CE-A102C5993799}"/>
              </a:ext>
            </a:extLst>
          </p:cNvPr>
          <p:cNvSpPr>
            <a:spLocks noGrp="1" noChangeArrowheads="1"/>
          </p:cNvSpPr>
          <p:nvPr>
            <p:ph type="sldNum" sz="quarter" idx="4"/>
          </p:nvPr>
        </p:nvSpPr>
        <p:spPr/>
        <p:txBody>
          <a:bodyPr/>
          <a:lstStyle>
            <a:lvl1pPr>
              <a:defRPr/>
            </a:lvl1pPr>
          </a:lstStyle>
          <a:p>
            <a:fld id="{A29FDDE5-4AE4-48D5-9774-DD2A8009843B}" type="slidenum">
              <a:rPr lang="en-US" altLang="zh-CN"/>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932C80-5DD5-B29E-0DA0-B8911D9C666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6B21615-05F1-569D-1EED-68FED6AAE9F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730763D-50A2-B48A-321E-AAC75F647543}"/>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950A0BBA-6939-E591-41E2-CD93875C6531}"/>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A5DCE5F6-4DD2-AD2E-4CF7-2BC77F50D4ED}"/>
              </a:ext>
            </a:extLst>
          </p:cNvPr>
          <p:cNvSpPr>
            <a:spLocks noGrp="1"/>
          </p:cNvSpPr>
          <p:nvPr>
            <p:ph type="sldNum" sz="quarter" idx="12"/>
          </p:nvPr>
        </p:nvSpPr>
        <p:spPr/>
        <p:txBody>
          <a:bodyPr/>
          <a:lstStyle>
            <a:lvl1pPr>
              <a:defRPr/>
            </a:lvl1pPr>
          </a:lstStyle>
          <a:p>
            <a:fld id="{BB7DEF3C-5E73-4DED-A2D7-91F590E92CA1}" type="slidenum">
              <a:rPr lang="en-US" altLang="zh-CN"/>
              <a:pPr/>
              <a:t>‹#›</a:t>
            </a:fld>
            <a:endParaRPr lang="en-US" altLang="zh-CN"/>
          </a:p>
        </p:txBody>
      </p:sp>
    </p:spTree>
    <p:extLst>
      <p:ext uri="{BB962C8B-B14F-4D97-AF65-F5344CB8AC3E}">
        <p14:creationId xmlns:p14="http://schemas.microsoft.com/office/powerpoint/2010/main" val="2835518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CC1967-AA9D-F39B-458C-C7385ABE3C27}"/>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6F90D1F-A458-21EB-62EB-DCBB934D7428}"/>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9E84A67-1778-320D-7997-112F96C424C4}"/>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AFA53654-058D-D756-C35C-6501219D4DDF}"/>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14EE8463-C7A9-54C8-2070-9FC1B52EA4B7}"/>
              </a:ext>
            </a:extLst>
          </p:cNvPr>
          <p:cNvSpPr>
            <a:spLocks noGrp="1"/>
          </p:cNvSpPr>
          <p:nvPr>
            <p:ph type="sldNum" sz="quarter" idx="12"/>
          </p:nvPr>
        </p:nvSpPr>
        <p:spPr/>
        <p:txBody>
          <a:bodyPr/>
          <a:lstStyle>
            <a:lvl1pPr>
              <a:defRPr/>
            </a:lvl1pPr>
          </a:lstStyle>
          <a:p>
            <a:fld id="{69F1EDA1-7BB8-43F8-9F6B-A0033AF271C3}" type="slidenum">
              <a:rPr lang="en-US" altLang="zh-CN"/>
              <a:pPr/>
              <a:t>‹#›</a:t>
            </a:fld>
            <a:endParaRPr lang="en-US" altLang="zh-CN"/>
          </a:p>
        </p:txBody>
      </p:sp>
    </p:spTree>
    <p:extLst>
      <p:ext uri="{BB962C8B-B14F-4D97-AF65-F5344CB8AC3E}">
        <p14:creationId xmlns:p14="http://schemas.microsoft.com/office/powerpoint/2010/main" val="4158337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CDEEA6-12D5-DDCB-57D8-17158EB62C7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DD65D2C-D94C-CE19-4AE7-802E8E99F8AC}"/>
              </a:ext>
            </a:extLst>
          </p:cNvPr>
          <p:cNvSpPr>
            <a:spLocks noGrp="1"/>
          </p:cNvSpPr>
          <p:nvPr>
            <p:ph sz="half" idx="1"/>
          </p:nvPr>
        </p:nvSpPr>
        <p:spPr>
          <a:xfrm>
            <a:off x="301625" y="1905000"/>
            <a:ext cx="4194175" cy="41941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0019C81-8EA8-A1B2-21F8-9DDB970115D2}"/>
              </a:ext>
            </a:extLst>
          </p:cNvPr>
          <p:cNvSpPr>
            <a:spLocks noGrp="1"/>
          </p:cNvSpPr>
          <p:nvPr>
            <p:ph sz="half" idx="2"/>
          </p:nvPr>
        </p:nvSpPr>
        <p:spPr>
          <a:xfrm>
            <a:off x="4648200" y="1905000"/>
            <a:ext cx="4194175" cy="41941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5BD2B4A-54E8-788C-73CD-6D8829447D5D}"/>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1EC06D63-F4F6-9321-EEEF-F5C35A0C83B1}"/>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05EA5B9E-95C7-5C33-A10D-008DF6DC36C0}"/>
              </a:ext>
            </a:extLst>
          </p:cNvPr>
          <p:cNvSpPr>
            <a:spLocks noGrp="1"/>
          </p:cNvSpPr>
          <p:nvPr>
            <p:ph type="sldNum" sz="quarter" idx="12"/>
          </p:nvPr>
        </p:nvSpPr>
        <p:spPr/>
        <p:txBody>
          <a:bodyPr/>
          <a:lstStyle>
            <a:lvl1pPr>
              <a:defRPr/>
            </a:lvl1pPr>
          </a:lstStyle>
          <a:p>
            <a:fld id="{3EBDF72F-E42F-4C0F-944C-FD26B2905A76}" type="slidenum">
              <a:rPr lang="en-US" altLang="zh-CN"/>
              <a:pPr/>
              <a:t>‹#›</a:t>
            </a:fld>
            <a:endParaRPr lang="en-US" altLang="zh-CN"/>
          </a:p>
        </p:txBody>
      </p:sp>
    </p:spTree>
    <p:extLst>
      <p:ext uri="{BB962C8B-B14F-4D97-AF65-F5344CB8AC3E}">
        <p14:creationId xmlns:p14="http://schemas.microsoft.com/office/powerpoint/2010/main" val="3648173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CC7433-BD7A-187B-F239-008D9E4E385E}"/>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B34FD9A-436C-C43D-A01D-5D9007C385E1}"/>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EFC7E36-C969-4F1E-82A7-DF2AE27C3A89}"/>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46A3607-EA32-49AF-4755-ED67DEE6B1A3}"/>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FD85C06-4886-484A-CE24-9AC3D9F9C319}"/>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C569819-BF00-7A84-A4D6-2B537D6A970A}"/>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23B85FED-93C6-B727-5670-30EA0CFA0965}"/>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CDE9025B-FAAC-E93D-94EB-96094CA27780}"/>
              </a:ext>
            </a:extLst>
          </p:cNvPr>
          <p:cNvSpPr>
            <a:spLocks noGrp="1"/>
          </p:cNvSpPr>
          <p:nvPr>
            <p:ph type="sldNum" sz="quarter" idx="12"/>
          </p:nvPr>
        </p:nvSpPr>
        <p:spPr/>
        <p:txBody>
          <a:bodyPr/>
          <a:lstStyle>
            <a:lvl1pPr>
              <a:defRPr/>
            </a:lvl1pPr>
          </a:lstStyle>
          <a:p>
            <a:fld id="{0BD7DF2D-361B-4AC4-9343-D4CA5E8F9FDD}" type="slidenum">
              <a:rPr lang="en-US" altLang="zh-CN"/>
              <a:pPr/>
              <a:t>‹#›</a:t>
            </a:fld>
            <a:endParaRPr lang="en-US" altLang="zh-CN"/>
          </a:p>
        </p:txBody>
      </p:sp>
    </p:spTree>
    <p:extLst>
      <p:ext uri="{BB962C8B-B14F-4D97-AF65-F5344CB8AC3E}">
        <p14:creationId xmlns:p14="http://schemas.microsoft.com/office/powerpoint/2010/main" val="3011459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E61FB1-D9A7-57CA-FA37-E2E13781846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B714A28-1E94-85C7-8F75-6611D524495E}"/>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9EC0E903-0D06-CEF0-A322-CC0B1593B834}"/>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56EC4173-8E77-0F18-F333-0A6227B60D10}"/>
              </a:ext>
            </a:extLst>
          </p:cNvPr>
          <p:cNvSpPr>
            <a:spLocks noGrp="1"/>
          </p:cNvSpPr>
          <p:nvPr>
            <p:ph type="sldNum" sz="quarter" idx="12"/>
          </p:nvPr>
        </p:nvSpPr>
        <p:spPr/>
        <p:txBody>
          <a:bodyPr/>
          <a:lstStyle>
            <a:lvl1pPr>
              <a:defRPr/>
            </a:lvl1pPr>
          </a:lstStyle>
          <a:p>
            <a:fld id="{2E199582-E509-443B-A573-CF2D5DA78061}" type="slidenum">
              <a:rPr lang="en-US" altLang="zh-CN"/>
              <a:pPr/>
              <a:t>‹#›</a:t>
            </a:fld>
            <a:endParaRPr lang="en-US" altLang="zh-CN"/>
          </a:p>
        </p:txBody>
      </p:sp>
    </p:spTree>
    <p:extLst>
      <p:ext uri="{BB962C8B-B14F-4D97-AF65-F5344CB8AC3E}">
        <p14:creationId xmlns:p14="http://schemas.microsoft.com/office/powerpoint/2010/main" val="24786658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CA84271-4E70-4E8A-A0A7-764BD4FC358F}"/>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F1E9FEB5-7CD4-310C-80DA-9C635236DED2}"/>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12A0FBF0-093A-CFF9-1899-85A9181EFDC7}"/>
              </a:ext>
            </a:extLst>
          </p:cNvPr>
          <p:cNvSpPr>
            <a:spLocks noGrp="1"/>
          </p:cNvSpPr>
          <p:nvPr>
            <p:ph type="sldNum" sz="quarter" idx="12"/>
          </p:nvPr>
        </p:nvSpPr>
        <p:spPr/>
        <p:txBody>
          <a:bodyPr/>
          <a:lstStyle>
            <a:lvl1pPr>
              <a:defRPr/>
            </a:lvl1pPr>
          </a:lstStyle>
          <a:p>
            <a:fld id="{1780B08F-5166-44D6-9613-8EC429D24317}" type="slidenum">
              <a:rPr lang="en-US" altLang="zh-CN"/>
              <a:pPr/>
              <a:t>‹#›</a:t>
            </a:fld>
            <a:endParaRPr lang="en-US" altLang="zh-CN"/>
          </a:p>
        </p:txBody>
      </p:sp>
    </p:spTree>
    <p:extLst>
      <p:ext uri="{BB962C8B-B14F-4D97-AF65-F5344CB8AC3E}">
        <p14:creationId xmlns:p14="http://schemas.microsoft.com/office/powerpoint/2010/main" val="1626085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DF1530-BAFC-A2BD-FE93-7A3F1C110B7A}"/>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E012B3B-B394-92DB-7A52-B635AED3A428}"/>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CC862C0-E823-4E09-BF18-D3E2C5FE172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36AC63D-4C9D-713D-0071-482E9AF14649}"/>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E08C1847-27A0-6F48-C0A7-E5C5B8876803}"/>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F15AAAC6-1B08-8B0C-154A-FEB8B0D53ED4}"/>
              </a:ext>
            </a:extLst>
          </p:cNvPr>
          <p:cNvSpPr>
            <a:spLocks noGrp="1"/>
          </p:cNvSpPr>
          <p:nvPr>
            <p:ph type="sldNum" sz="quarter" idx="12"/>
          </p:nvPr>
        </p:nvSpPr>
        <p:spPr/>
        <p:txBody>
          <a:bodyPr/>
          <a:lstStyle>
            <a:lvl1pPr>
              <a:defRPr/>
            </a:lvl1pPr>
          </a:lstStyle>
          <a:p>
            <a:fld id="{58E0C8A0-4875-4D5B-87D5-F5C1FD2B666B}" type="slidenum">
              <a:rPr lang="en-US" altLang="zh-CN"/>
              <a:pPr/>
              <a:t>‹#›</a:t>
            </a:fld>
            <a:endParaRPr lang="en-US" altLang="zh-CN"/>
          </a:p>
        </p:txBody>
      </p:sp>
    </p:spTree>
    <p:extLst>
      <p:ext uri="{BB962C8B-B14F-4D97-AF65-F5344CB8AC3E}">
        <p14:creationId xmlns:p14="http://schemas.microsoft.com/office/powerpoint/2010/main" val="860139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6FCBC4-3699-CD47-334C-7B702EF7B076}"/>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BE00051-8E31-31FE-E209-0A5F7143FD07}"/>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96CD39E-6D7E-1C9A-2823-D70AC9FACBD6}"/>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72CA67F-3F41-14A7-BA87-223F2C24E942}"/>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2EA567B8-EBF1-06BD-63EA-CCF760E24BFB}"/>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AC89BAFD-794A-D315-3747-2BC00E1541DA}"/>
              </a:ext>
            </a:extLst>
          </p:cNvPr>
          <p:cNvSpPr>
            <a:spLocks noGrp="1"/>
          </p:cNvSpPr>
          <p:nvPr>
            <p:ph type="sldNum" sz="quarter" idx="12"/>
          </p:nvPr>
        </p:nvSpPr>
        <p:spPr/>
        <p:txBody>
          <a:bodyPr/>
          <a:lstStyle>
            <a:lvl1pPr>
              <a:defRPr/>
            </a:lvl1pPr>
          </a:lstStyle>
          <a:p>
            <a:fld id="{2E2FE232-89D5-406B-B3E1-96C9344E9A2E}" type="slidenum">
              <a:rPr lang="en-US" altLang="zh-CN"/>
              <a:pPr/>
              <a:t>‹#›</a:t>
            </a:fld>
            <a:endParaRPr lang="en-US" altLang="zh-CN"/>
          </a:p>
        </p:txBody>
      </p:sp>
    </p:spTree>
    <p:extLst>
      <p:ext uri="{BB962C8B-B14F-4D97-AF65-F5344CB8AC3E}">
        <p14:creationId xmlns:p14="http://schemas.microsoft.com/office/powerpoint/2010/main" val="3990182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6C0A83-5969-B1AB-C7BF-9AB6D1D7317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B5F0031-3B22-DF5F-A3F1-C13C1168CE1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E392A70-8B6E-6A15-93B0-D48448514D58}"/>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EC608A77-A502-E04C-38A5-D228C49C6BA2}"/>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62B3EC1F-65DB-0F46-1B9B-E8AD3F40D9F8}"/>
              </a:ext>
            </a:extLst>
          </p:cNvPr>
          <p:cNvSpPr>
            <a:spLocks noGrp="1"/>
          </p:cNvSpPr>
          <p:nvPr>
            <p:ph type="sldNum" sz="quarter" idx="12"/>
          </p:nvPr>
        </p:nvSpPr>
        <p:spPr/>
        <p:txBody>
          <a:bodyPr/>
          <a:lstStyle>
            <a:lvl1pPr>
              <a:defRPr/>
            </a:lvl1pPr>
          </a:lstStyle>
          <a:p>
            <a:fld id="{E0F8B1CA-444A-4552-9F61-CA4A581137E5}" type="slidenum">
              <a:rPr lang="en-US" altLang="zh-CN"/>
              <a:pPr/>
              <a:t>‹#›</a:t>
            </a:fld>
            <a:endParaRPr lang="en-US" altLang="zh-CN"/>
          </a:p>
        </p:txBody>
      </p:sp>
    </p:spTree>
    <p:extLst>
      <p:ext uri="{BB962C8B-B14F-4D97-AF65-F5344CB8AC3E}">
        <p14:creationId xmlns:p14="http://schemas.microsoft.com/office/powerpoint/2010/main" val="22373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6816291-D0B9-9635-D7F2-65B4E43872B7}"/>
              </a:ext>
            </a:extLst>
          </p:cNvPr>
          <p:cNvSpPr>
            <a:spLocks noGrp="1"/>
          </p:cNvSpPr>
          <p:nvPr>
            <p:ph type="title" orient="vert"/>
          </p:nvPr>
        </p:nvSpPr>
        <p:spPr>
          <a:xfrm>
            <a:off x="6707188" y="609600"/>
            <a:ext cx="2135187" cy="5489575"/>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18953AA-3B48-08F1-D119-43C77E6EDAB1}"/>
              </a:ext>
            </a:extLst>
          </p:cNvPr>
          <p:cNvSpPr>
            <a:spLocks noGrp="1"/>
          </p:cNvSpPr>
          <p:nvPr>
            <p:ph type="body" orient="vert" idx="1"/>
          </p:nvPr>
        </p:nvSpPr>
        <p:spPr>
          <a:xfrm>
            <a:off x="301625" y="609600"/>
            <a:ext cx="6253163" cy="548957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B825808-1B88-7BB2-CD69-DE6E49DCBDF1}"/>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D221FC4C-41BB-E0DC-F991-7E8DD9E83E84}"/>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5AEB2A9D-6238-CACA-99F0-500D8B7E43ED}"/>
              </a:ext>
            </a:extLst>
          </p:cNvPr>
          <p:cNvSpPr>
            <a:spLocks noGrp="1"/>
          </p:cNvSpPr>
          <p:nvPr>
            <p:ph type="sldNum" sz="quarter" idx="12"/>
          </p:nvPr>
        </p:nvSpPr>
        <p:spPr/>
        <p:txBody>
          <a:bodyPr/>
          <a:lstStyle>
            <a:lvl1pPr>
              <a:defRPr/>
            </a:lvl1pPr>
          </a:lstStyle>
          <a:p>
            <a:fld id="{2C1015F3-2961-42CC-A249-2C3AC7AE0A38}" type="slidenum">
              <a:rPr lang="en-US" altLang="zh-CN"/>
              <a:pPr/>
              <a:t>‹#›</a:t>
            </a:fld>
            <a:endParaRPr lang="en-US" altLang="zh-CN"/>
          </a:p>
        </p:txBody>
      </p:sp>
    </p:spTree>
    <p:extLst>
      <p:ext uri="{BB962C8B-B14F-4D97-AF65-F5344CB8AC3E}">
        <p14:creationId xmlns:p14="http://schemas.microsoft.com/office/powerpoint/2010/main" val="830123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19C31AC5-1E38-15A8-0A6A-2731FBADCB2D}"/>
              </a:ext>
            </a:extLst>
          </p:cNvPr>
          <p:cNvSpPr>
            <a:spLocks noGrp="1" noRot="1" noChangeArrowheads="1"/>
          </p:cNvSpPr>
          <p:nvPr>
            <p:ph type="title"/>
          </p:nvPr>
        </p:nvSpPr>
        <p:spPr bwMode="auto">
          <a:xfrm>
            <a:off x="301625" y="609600"/>
            <a:ext cx="85407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52227" name="Rectangle 3">
            <a:extLst>
              <a:ext uri="{FF2B5EF4-FFF2-40B4-BE49-F238E27FC236}">
                <a16:creationId xmlns:a16="http://schemas.microsoft.com/office/drawing/2014/main" id="{2C67E941-7823-21BD-5ACE-713DD72A6D69}"/>
              </a:ext>
            </a:extLst>
          </p:cNvPr>
          <p:cNvSpPr>
            <a:spLocks noGrp="1" noRot="1" noChangeArrowheads="1"/>
          </p:cNvSpPr>
          <p:nvPr>
            <p:ph type="body" idx="1"/>
          </p:nvPr>
        </p:nvSpPr>
        <p:spPr bwMode="auto">
          <a:xfrm>
            <a:off x="301625" y="1905000"/>
            <a:ext cx="8540750"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2228" name="Rectangle 4">
            <a:extLst>
              <a:ext uri="{FF2B5EF4-FFF2-40B4-BE49-F238E27FC236}">
                <a16:creationId xmlns:a16="http://schemas.microsoft.com/office/drawing/2014/main" id="{BB9D0B04-C525-284B-D7BD-C05D4EE1892C}"/>
              </a:ext>
            </a:extLst>
          </p:cNvPr>
          <p:cNvSpPr>
            <a:spLocks noGrp="1" noChangeArrowheads="1"/>
          </p:cNvSpPr>
          <p:nvPr>
            <p:ph type="dt" sz="half" idx="2"/>
          </p:nvPr>
        </p:nvSpPr>
        <p:spPr bwMode="auto">
          <a:xfrm>
            <a:off x="301625" y="6245225"/>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52229" name="Rectangle 5">
            <a:extLst>
              <a:ext uri="{FF2B5EF4-FFF2-40B4-BE49-F238E27FC236}">
                <a16:creationId xmlns:a16="http://schemas.microsoft.com/office/drawing/2014/main" id="{BB46E360-8324-773E-3BC4-37EAD365D94D}"/>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52230" name="Rectangle 6">
            <a:extLst>
              <a:ext uri="{FF2B5EF4-FFF2-40B4-BE49-F238E27FC236}">
                <a16:creationId xmlns:a16="http://schemas.microsoft.com/office/drawing/2014/main" id="{E5CBCFEC-C691-917E-0E36-681BD7056EF7}"/>
              </a:ext>
            </a:extLst>
          </p:cNvPr>
          <p:cNvSpPr>
            <a:spLocks noGrp="1" noChangeArrowheads="1"/>
          </p:cNvSpPr>
          <p:nvPr>
            <p:ph type="sldNum" sz="quarter" idx="4"/>
          </p:nvPr>
        </p:nvSpPr>
        <p:spPr bwMode="auto">
          <a:xfrm>
            <a:off x="6553200" y="6245225"/>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57136097-522E-4ECA-8561-1685B7850FB9}"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hlink"/>
        </a:buClr>
        <a:buSzPct val="75000"/>
        <a:buFont typeface="Wingdings" panose="05000000000000000000" pitchFamily="2" charset="2"/>
        <a:buChar char="v"/>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hlink"/>
        </a:buClr>
        <a:buSzPct val="85000"/>
        <a:buFont typeface="Wingdings" panose="05000000000000000000" pitchFamily="2" charset="2"/>
        <a:buChar char="v"/>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E4215CA-62AB-BFF4-5034-9FB54723FB8B}"/>
              </a:ext>
            </a:extLst>
          </p:cNvPr>
          <p:cNvSpPr>
            <a:spLocks noGrp="1" noRot="1" noChangeArrowheads="1"/>
          </p:cNvSpPr>
          <p:nvPr>
            <p:ph type="ctrTitle"/>
          </p:nvPr>
        </p:nvSpPr>
        <p:spPr/>
        <p:txBody>
          <a:bodyPr/>
          <a:lstStyle/>
          <a:p>
            <a:r>
              <a:rPr lang="zh-CN" altLang="en-US"/>
              <a:t>第七章　短期成本分析</a:t>
            </a:r>
          </a:p>
        </p:txBody>
      </p:sp>
      <p:sp>
        <p:nvSpPr>
          <p:cNvPr id="2051" name="Rectangle 3">
            <a:extLst>
              <a:ext uri="{FF2B5EF4-FFF2-40B4-BE49-F238E27FC236}">
                <a16:creationId xmlns:a16="http://schemas.microsoft.com/office/drawing/2014/main" id="{A0F0F5D5-BCED-4A04-F914-D414D9C753E7}"/>
              </a:ext>
            </a:extLst>
          </p:cNvPr>
          <p:cNvSpPr>
            <a:spLocks noGrp="1" noRot="1" noChangeArrowheads="1"/>
          </p:cNvSpPr>
          <p:nvPr>
            <p:ph type="subTitle" idx="1"/>
          </p:nvPr>
        </p:nvSpPr>
        <p:spPr/>
        <p:txBody>
          <a:bodyPr/>
          <a:lstStyle/>
          <a:p>
            <a:r>
              <a:rPr lang="zh-CN" altLang="en-US" b="1"/>
              <a:t>第一节　成本的概念</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FD4E149D-B550-C1CA-1592-C75113CFC3EA}"/>
              </a:ext>
            </a:extLst>
          </p:cNvPr>
          <p:cNvSpPr>
            <a:spLocks noGrp="1" noRot="1" noChangeArrowheads="1"/>
          </p:cNvSpPr>
          <p:nvPr>
            <p:ph type="title"/>
          </p:nvPr>
        </p:nvSpPr>
        <p:spPr/>
        <p:txBody>
          <a:bodyPr/>
          <a:lstStyle/>
          <a:p>
            <a:endParaRPr lang="zh-CN" altLang="zh-CN"/>
          </a:p>
        </p:txBody>
      </p:sp>
      <p:sp>
        <p:nvSpPr>
          <p:cNvPr id="29699" name="Rectangle 3">
            <a:extLst>
              <a:ext uri="{FF2B5EF4-FFF2-40B4-BE49-F238E27FC236}">
                <a16:creationId xmlns:a16="http://schemas.microsoft.com/office/drawing/2014/main" id="{C270A669-DDFF-16F7-43C6-E0A2787F60ED}"/>
              </a:ext>
            </a:extLst>
          </p:cNvPr>
          <p:cNvSpPr>
            <a:spLocks noGrp="1" noRot="1" noChangeArrowheads="1"/>
          </p:cNvSpPr>
          <p:nvPr>
            <p:ph type="body" idx="1"/>
          </p:nvPr>
        </p:nvSpPr>
        <p:spPr>
          <a:solidFill>
            <a:schemeClr val="bg1"/>
          </a:solidFill>
        </p:spPr>
        <p:txBody>
          <a:bodyPr/>
          <a:lstStyle/>
          <a:p>
            <a:r>
              <a:rPr lang="zh-CN" altLang="en-US" sz="2000"/>
              <a:t>西方成本管理思想的发展：</a:t>
            </a:r>
          </a:p>
          <a:p>
            <a:pPr>
              <a:buFont typeface="Wingdings" panose="05000000000000000000" pitchFamily="2" charset="2"/>
              <a:buNone/>
            </a:pPr>
            <a:r>
              <a:rPr lang="zh-CN" altLang="en-US" sz="2000"/>
              <a:t>　产业革命中斯密的劳动分工、绝对成本理论　　 　古典管理阶段泰罗的标准成本思想　　     　资产阶级古典政治经济学的成本观　　   　　资产阶级庸俗政治经济学的成本观</a:t>
            </a:r>
          </a:p>
          <a:p>
            <a:pPr>
              <a:buFont typeface="Wingdings" panose="05000000000000000000" pitchFamily="2" charset="2"/>
              <a:buNone/>
            </a:pPr>
            <a:r>
              <a:rPr lang="zh-CN" altLang="en-US"/>
              <a:t>▪　</a:t>
            </a:r>
            <a:r>
              <a:rPr lang="zh-CN" altLang="en-US" sz="2000"/>
              <a:t>保罗</a:t>
            </a:r>
            <a:r>
              <a:rPr lang="ar-SA" altLang="en-US" sz="2000"/>
              <a:t>٠</a:t>
            </a:r>
            <a:r>
              <a:rPr lang="en-US" altLang="zh-CN" sz="2000"/>
              <a:t>A </a:t>
            </a:r>
            <a:r>
              <a:rPr lang="ar-SA" altLang="en-US" sz="2000"/>
              <a:t>٠</a:t>
            </a:r>
            <a:r>
              <a:rPr lang="zh-CN" altLang="zh-CN" sz="2000"/>
              <a:t>萨谬尔森</a:t>
            </a:r>
            <a:r>
              <a:rPr lang="zh-CN" altLang="ar-SA" sz="2000"/>
              <a:t>其人及其成本理论：</a:t>
            </a:r>
            <a:endParaRPr lang="zh-CN" altLang="en-US" sz="2000"/>
          </a:p>
          <a:p>
            <a:pPr>
              <a:buFont typeface="Wingdings" panose="05000000000000000000" pitchFamily="2" charset="2"/>
              <a:buNone/>
            </a:pPr>
            <a:r>
              <a:rPr lang="zh-CN" altLang="ar-SA" sz="2000"/>
              <a:t>　•　萨谬尔森是美国当代著名的经济学家，后凯恩斯主流学派的主要代表。</a:t>
            </a:r>
            <a:endParaRPr lang="zh-CN" altLang="en-US" sz="2000"/>
          </a:p>
          <a:p>
            <a:pPr>
              <a:buFont typeface="Wingdings" panose="05000000000000000000" pitchFamily="2" charset="2"/>
              <a:buNone/>
            </a:pPr>
            <a:r>
              <a:rPr lang="zh-CN" altLang="ar-SA" sz="2000"/>
              <a:t>　•　萨谬尔森在成本分析方面进行的尝试：</a:t>
            </a:r>
            <a:endParaRPr lang="zh-CN" altLang="en-US" sz="2000"/>
          </a:p>
          <a:p>
            <a:pPr>
              <a:buFont typeface="Wingdings" panose="05000000000000000000" pitchFamily="2" charset="2"/>
              <a:buNone/>
            </a:pPr>
            <a:r>
              <a:rPr lang="zh-CN" altLang="ar-SA" sz="2000"/>
              <a:t>　　１、总成本与停业条件的关系</a:t>
            </a:r>
            <a:endParaRPr lang="zh-CN" altLang="en-US" sz="2000"/>
          </a:p>
          <a:p>
            <a:pPr>
              <a:buFont typeface="Wingdings" panose="05000000000000000000" pitchFamily="2" charset="2"/>
              <a:buNone/>
            </a:pPr>
            <a:r>
              <a:rPr lang="zh-CN" altLang="ar-SA" sz="2000"/>
              <a:t>　　２、市场结构取决于相对成本与需求</a:t>
            </a:r>
            <a:endParaRPr lang="zh-CN" altLang="en-US" sz="2000"/>
          </a:p>
          <a:p>
            <a:pPr>
              <a:buFont typeface="Wingdings" panose="05000000000000000000" pitchFamily="2" charset="2"/>
              <a:buNone/>
            </a:pPr>
            <a:r>
              <a:rPr lang="zh-CN" altLang="ar-SA" sz="2000"/>
              <a:t>　　３、成本是不完全竞争根源存在的主要因素　</a:t>
            </a:r>
            <a:endParaRPr lang="zh-CN" altLang="en-US" sz="2000"/>
          </a:p>
          <a:p>
            <a:endParaRPr lang="en-US" altLang="zh-CN"/>
          </a:p>
        </p:txBody>
      </p:sp>
      <p:sp>
        <p:nvSpPr>
          <p:cNvPr id="29700" name="Line 4">
            <a:extLst>
              <a:ext uri="{FF2B5EF4-FFF2-40B4-BE49-F238E27FC236}">
                <a16:creationId xmlns:a16="http://schemas.microsoft.com/office/drawing/2014/main" id="{DA65B08A-A786-13AD-2254-8477331CEAE9}"/>
              </a:ext>
            </a:extLst>
          </p:cNvPr>
          <p:cNvSpPr>
            <a:spLocks noChangeShapeType="1"/>
          </p:cNvSpPr>
          <p:nvPr/>
        </p:nvSpPr>
        <p:spPr bwMode="auto">
          <a:xfrm>
            <a:off x="5508625" y="2420938"/>
            <a:ext cx="6858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704" name="Line 8">
            <a:extLst>
              <a:ext uri="{FF2B5EF4-FFF2-40B4-BE49-F238E27FC236}">
                <a16:creationId xmlns:a16="http://schemas.microsoft.com/office/drawing/2014/main" id="{D2B78CB3-6815-FF2E-0F7F-3E39439734BA}"/>
              </a:ext>
            </a:extLst>
          </p:cNvPr>
          <p:cNvSpPr>
            <a:spLocks noChangeShapeType="1"/>
          </p:cNvSpPr>
          <p:nvPr/>
        </p:nvSpPr>
        <p:spPr bwMode="auto">
          <a:xfrm>
            <a:off x="2484438" y="2781300"/>
            <a:ext cx="6858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705" name="Line 9">
            <a:extLst>
              <a:ext uri="{FF2B5EF4-FFF2-40B4-BE49-F238E27FC236}">
                <a16:creationId xmlns:a16="http://schemas.microsoft.com/office/drawing/2014/main" id="{D0E0379C-A18B-7439-D28D-4C1863012878}"/>
              </a:ext>
            </a:extLst>
          </p:cNvPr>
          <p:cNvSpPr>
            <a:spLocks noChangeShapeType="1"/>
          </p:cNvSpPr>
          <p:nvPr/>
        </p:nvSpPr>
        <p:spPr bwMode="auto">
          <a:xfrm>
            <a:off x="7164388" y="2781300"/>
            <a:ext cx="7620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Effect transition="in" filter="blinds(horizontal)">
                                      <p:cBhvr>
                                        <p:cTn id="7" dur="500"/>
                                        <p:tgtEl>
                                          <p:spTgt spid="2969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9699">
                                            <p:txEl>
                                              <p:pRg st="1" end="1"/>
                                            </p:txEl>
                                          </p:spTgt>
                                        </p:tgtEl>
                                        <p:attrNameLst>
                                          <p:attrName>style.visibility</p:attrName>
                                        </p:attrNameLst>
                                      </p:cBhvr>
                                      <p:to>
                                        <p:strVal val="visible"/>
                                      </p:to>
                                    </p:set>
                                    <p:animEffect transition="in" filter="blinds(horizontal)">
                                      <p:cBhvr>
                                        <p:cTn id="12" dur="500"/>
                                        <p:tgtEl>
                                          <p:spTgt spid="29699">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9699">
                                            <p:txEl>
                                              <p:pRg st="2" end="2"/>
                                            </p:txEl>
                                          </p:spTgt>
                                        </p:tgtEl>
                                        <p:attrNameLst>
                                          <p:attrName>style.visibility</p:attrName>
                                        </p:attrNameLst>
                                      </p:cBhvr>
                                      <p:to>
                                        <p:strVal val="visible"/>
                                      </p:to>
                                    </p:set>
                                    <p:animEffect transition="in" filter="blinds(horizontal)">
                                      <p:cBhvr>
                                        <p:cTn id="17" dur="500"/>
                                        <p:tgtEl>
                                          <p:spTgt spid="29699">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chimes.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9699">
                                            <p:txEl>
                                              <p:pRg st="3" end="3"/>
                                            </p:txEl>
                                          </p:spTgt>
                                        </p:tgtEl>
                                        <p:attrNameLst>
                                          <p:attrName>style.visibility</p:attrName>
                                        </p:attrNameLst>
                                      </p:cBhvr>
                                      <p:to>
                                        <p:strVal val="visible"/>
                                      </p:to>
                                    </p:set>
                                    <p:animEffect transition="in" filter="blinds(horizontal)">
                                      <p:cBhvr>
                                        <p:cTn id="22" dur="500"/>
                                        <p:tgtEl>
                                          <p:spTgt spid="29699">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3" name="chimes.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9699">
                                            <p:txEl>
                                              <p:pRg st="4" end="4"/>
                                            </p:txEl>
                                          </p:spTgt>
                                        </p:tgtEl>
                                        <p:attrNameLst>
                                          <p:attrName>style.visibility</p:attrName>
                                        </p:attrNameLst>
                                      </p:cBhvr>
                                      <p:to>
                                        <p:strVal val="visible"/>
                                      </p:to>
                                    </p:set>
                                    <p:animEffect transition="in" filter="blinds(horizontal)">
                                      <p:cBhvr>
                                        <p:cTn id="27" dur="500"/>
                                        <p:tgtEl>
                                          <p:spTgt spid="29699">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3" name="chimes.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9699">
                                            <p:txEl>
                                              <p:pRg st="5" end="5"/>
                                            </p:txEl>
                                          </p:spTgt>
                                        </p:tgtEl>
                                        <p:attrNameLst>
                                          <p:attrName>style.visibility</p:attrName>
                                        </p:attrNameLst>
                                      </p:cBhvr>
                                      <p:to>
                                        <p:strVal val="visible"/>
                                      </p:to>
                                    </p:set>
                                    <p:animEffect transition="in" filter="blinds(horizontal)">
                                      <p:cBhvr>
                                        <p:cTn id="32" dur="500"/>
                                        <p:tgtEl>
                                          <p:spTgt spid="29699">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3" name="chimes.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9699">
                                            <p:txEl>
                                              <p:pRg st="6" end="6"/>
                                            </p:txEl>
                                          </p:spTgt>
                                        </p:tgtEl>
                                        <p:attrNameLst>
                                          <p:attrName>style.visibility</p:attrName>
                                        </p:attrNameLst>
                                      </p:cBhvr>
                                      <p:to>
                                        <p:strVal val="visible"/>
                                      </p:to>
                                    </p:set>
                                    <p:animEffect transition="in" filter="blinds(horizontal)">
                                      <p:cBhvr>
                                        <p:cTn id="37" dur="500"/>
                                        <p:tgtEl>
                                          <p:spTgt spid="29699">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3" name="chimes.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9699">
                                            <p:txEl>
                                              <p:pRg st="7" end="7"/>
                                            </p:txEl>
                                          </p:spTgt>
                                        </p:tgtEl>
                                        <p:attrNameLst>
                                          <p:attrName>style.visibility</p:attrName>
                                        </p:attrNameLst>
                                      </p:cBhvr>
                                      <p:to>
                                        <p:strVal val="visible"/>
                                      </p:to>
                                    </p:set>
                                    <p:animEffect transition="in" filter="blinds(horizontal)">
                                      <p:cBhvr>
                                        <p:cTn id="42" dur="500"/>
                                        <p:tgtEl>
                                          <p:spTgt spid="29699">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C0763517-04B5-7D74-DAE3-145C5CFADB62}"/>
              </a:ext>
            </a:extLst>
          </p:cNvPr>
          <p:cNvSpPr>
            <a:spLocks noGrp="1" noRot="1" noChangeArrowheads="1"/>
          </p:cNvSpPr>
          <p:nvPr>
            <p:ph type="title"/>
          </p:nvPr>
        </p:nvSpPr>
        <p:spPr>
          <a:xfrm>
            <a:off x="301625" y="609600"/>
            <a:ext cx="8540750" cy="838200"/>
          </a:xfrm>
        </p:spPr>
        <p:txBody>
          <a:bodyPr/>
          <a:lstStyle/>
          <a:p>
            <a:r>
              <a:rPr lang="zh-CN" altLang="en-US" sz="1800"/>
              <a:t>　</a:t>
            </a:r>
          </a:p>
        </p:txBody>
      </p:sp>
      <p:sp>
        <p:nvSpPr>
          <p:cNvPr id="4102" name="Line 6">
            <a:extLst>
              <a:ext uri="{FF2B5EF4-FFF2-40B4-BE49-F238E27FC236}">
                <a16:creationId xmlns:a16="http://schemas.microsoft.com/office/drawing/2014/main" id="{142F77C7-C4E1-4541-0ECD-E8123A7642DB}"/>
              </a:ext>
            </a:extLst>
          </p:cNvPr>
          <p:cNvSpPr>
            <a:spLocks noChangeShapeType="1"/>
          </p:cNvSpPr>
          <p:nvPr/>
        </p:nvSpPr>
        <p:spPr bwMode="auto">
          <a:xfrm>
            <a:off x="1676400" y="3276600"/>
            <a:ext cx="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pic>
        <p:nvPicPr>
          <p:cNvPr id="4108" name="Picture 12">
            <a:extLst>
              <a:ext uri="{FF2B5EF4-FFF2-40B4-BE49-F238E27FC236}">
                <a16:creationId xmlns:a16="http://schemas.microsoft.com/office/drawing/2014/main" id="{FEBFE053-9A13-048B-F269-6509B57F4A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1150938"/>
            <a:ext cx="7848600" cy="4868862"/>
          </a:xfrm>
          <a:prstGeom prst="rect">
            <a:avLst/>
          </a:prstGeom>
          <a:noFill/>
          <a:extLst>
            <a:ext uri="{909E8E84-426E-40DD-AFC4-6F175D3DCCD1}">
              <a14:hiddenFill xmlns:a14="http://schemas.microsoft.com/office/drawing/2010/main">
                <a:solidFill>
                  <a:srgbClr val="FFFFFF"/>
                </a:solidFill>
              </a14:hiddenFill>
            </a:ext>
          </a:extLst>
        </p:spPr>
      </p:pic>
      <p:sp>
        <p:nvSpPr>
          <p:cNvPr id="4109" name="Text Box 13">
            <a:extLst>
              <a:ext uri="{FF2B5EF4-FFF2-40B4-BE49-F238E27FC236}">
                <a16:creationId xmlns:a16="http://schemas.microsoft.com/office/drawing/2014/main" id="{BCEACAB1-2441-58ED-90B1-08BB22A515CC}"/>
              </a:ext>
            </a:extLst>
          </p:cNvPr>
          <p:cNvSpPr txBox="1">
            <a:spLocks noChangeArrowheads="1"/>
          </p:cNvSpPr>
          <p:nvPr/>
        </p:nvSpPr>
        <p:spPr bwMode="auto">
          <a:xfrm>
            <a:off x="2751138" y="765175"/>
            <a:ext cx="27574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kumimoji="1" lang="zh-CN" altLang="zh-CN" sz="2400">
              <a:latin typeface="Tahoma" panose="020B0604030504040204" pitchFamily="34" charset="0"/>
            </a:endParaRPr>
          </a:p>
        </p:txBody>
      </p:sp>
      <p:sp>
        <p:nvSpPr>
          <p:cNvPr id="4110" name="Rectangle 14">
            <a:extLst>
              <a:ext uri="{FF2B5EF4-FFF2-40B4-BE49-F238E27FC236}">
                <a16:creationId xmlns:a16="http://schemas.microsoft.com/office/drawing/2014/main" id="{529AD5F0-0F0E-0B9B-7220-A01D180480F2}"/>
              </a:ext>
            </a:extLst>
          </p:cNvPr>
          <p:cNvSpPr>
            <a:spLocks noChangeArrowheads="1"/>
          </p:cNvSpPr>
          <p:nvPr/>
        </p:nvSpPr>
        <p:spPr bwMode="auto">
          <a:xfrm>
            <a:off x="2051050" y="1052513"/>
            <a:ext cx="4568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zh-CN" altLang="en-US" sz="2400" b="1">
                <a:latin typeface="Tahoma" panose="020B0604030504040204" pitchFamily="34" charset="0"/>
              </a:rPr>
              <a:t>中美航空运输市场竞争程度对比</a:t>
            </a:r>
            <a:r>
              <a:rPr kumimoji="1" lang="zh-CN" altLang="en-US" sz="2400">
                <a:latin typeface="Tahoma" panose="020B0604030504040204" pitchFamily="34" charset="0"/>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B2EE8A80-7756-BA67-FD65-568DC1D775DC}"/>
              </a:ext>
            </a:extLst>
          </p:cNvPr>
          <p:cNvSpPr>
            <a:spLocks noGrp="1" noRot="1" noChangeArrowheads="1"/>
          </p:cNvSpPr>
          <p:nvPr>
            <p:ph type="title"/>
          </p:nvPr>
        </p:nvSpPr>
        <p:spPr/>
        <p:txBody>
          <a:bodyPr/>
          <a:lstStyle/>
          <a:p>
            <a:endParaRPr lang="zh-CN" altLang="zh-CN"/>
          </a:p>
        </p:txBody>
      </p:sp>
      <p:sp>
        <p:nvSpPr>
          <p:cNvPr id="50179" name="Rectangle 3">
            <a:extLst>
              <a:ext uri="{FF2B5EF4-FFF2-40B4-BE49-F238E27FC236}">
                <a16:creationId xmlns:a16="http://schemas.microsoft.com/office/drawing/2014/main" id="{EDFBDB5A-86F3-7D8F-3A89-79AA99F9AEF6}"/>
              </a:ext>
            </a:extLst>
          </p:cNvPr>
          <p:cNvSpPr>
            <a:spLocks noGrp="1" noRot="1" noChangeArrowheads="1"/>
          </p:cNvSpPr>
          <p:nvPr>
            <p:ph type="body" idx="1"/>
          </p:nvPr>
        </p:nvSpPr>
        <p:spPr/>
        <p:txBody>
          <a:bodyPr/>
          <a:lstStyle/>
          <a:p>
            <a:pPr algn="ctr">
              <a:buFont typeface="Wingdings" panose="05000000000000000000" pitchFamily="2" charset="2"/>
              <a:buNone/>
            </a:pPr>
            <a:r>
              <a:rPr lang="zh-CN" altLang="en-US" sz="1400" b="1"/>
              <a:t>中外航空公司成本结构对照表</a:t>
            </a:r>
            <a:br>
              <a:rPr lang="zh-CN" altLang="en-US" sz="1400"/>
            </a:br>
            <a:br>
              <a:rPr lang="zh-CN" altLang="en-US"/>
            </a:br>
            <a:endParaRPr lang="zh-CN" altLang="en-US"/>
          </a:p>
          <a:p>
            <a:pPr>
              <a:buFont typeface="Wingdings" panose="05000000000000000000" pitchFamily="2" charset="2"/>
              <a:buNone/>
            </a:pPr>
            <a:br>
              <a:rPr lang="zh-CN" altLang="en-US"/>
            </a:br>
            <a:br>
              <a:rPr lang="zh-CN" altLang="en-US"/>
            </a:br>
            <a:endParaRPr lang="zh-CN" altLang="en-US" sz="1400"/>
          </a:p>
        </p:txBody>
      </p:sp>
      <p:pic>
        <p:nvPicPr>
          <p:cNvPr id="50180" name="Picture 4">
            <a:extLst>
              <a:ext uri="{FF2B5EF4-FFF2-40B4-BE49-F238E27FC236}">
                <a16:creationId xmlns:a16="http://schemas.microsoft.com/office/drawing/2014/main" id="{40DC4A10-6A82-674E-E041-B8785FF676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2260600"/>
            <a:ext cx="6119813" cy="322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1" name="Rectangle 5">
            <a:extLst>
              <a:ext uri="{FF2B5EF4-FFF2-40B4-BE49-F238E27FC236}">
                <a16:creationId xmlns:a16="http://schemas.microsoft.com/office/drawing/2014/main" id="{5134F842-DCE6-3D2D-3E25-7813EA11397F}"/>
              </a:ext>
            </a:extLst>
          </p:cNvPr>
          <p:cNvSpPr>
            <a:spLocks noChangeArrowheads="1"/>
          </p:cNvSpPr>
          <p:nvPr/>
        </p:nvSpPr>
        <p:spPr bwMode="auto">
          <a:xfrm>
            <a:off x="1258888" y="5661025"/>
            <a:ext cx="72882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400">
                <a:latin typeface="Tahoma" panose="020B0604030504040204" pitchFamily="34" charset="0"/>
              </a:rPr>
              <a:t>注：外航数据来源于国际民航组织公布的１９９９年国外航空公司正班统计资料</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4F2DDDF1-4371-4D92-97E2-DA5DAD948E14}"/>
              </a:ext>
            </a:extLst>
          </p:cNvPr>
          <p:cNvSpPr>
            <a:spLocks noGrp="1" noRot="1" noChangeArrowheads="1"/>
          </p:cNvSpPr>
          <p:nvPr>
            <p:ph type="title"/>
          </p:nvPr>
        </p:nvSpPr>
        <p:spPr/>
        <p:txBody>
          <a:bodyPr/>
          <a:lstStyle/>
          <a:p>
            <a:r>
              <a:rPr lang="zh-CN" altLang="en-US" sz="3600" b="1"/>
              <a:t>第一节   </a:t>
            </a:r>
            <a:r>
              <a:rPr lang="zh-CN" altLang="en-US" sz="3600"/>
              <a:t>成本的概念</a:t>
            </a:r>
            <a:r>
              <a:rPr lang="zh-CN" altLang="en-US" sz="1800"/>
              <a:t>　</a:t>
            </a:r>
            <a:r>
              <a:rPr lang="zh-CN" altLang="en-US" sz="2400"/>
              <a:t>　</a:t>
            </a:r>
          </a:p>
        </p:txBody>
      </p:sp>
      <p:sp>
        <p:nvSpPr>
          <p:cNvPr id="48131" name="Rectangle 3">
            <a:extLst>
              <a:ext uri="{FF2B5EF4-FFF2-40B4-BE49-F238E27FC236}">
                <a16:creationId xmlns:a16="http://schemas.microsoft.com/office/drawing/2014/main" id="{610BCE20-4274-27AD-2DBB-6F65147DA086}"/>
              </a:ext>
            </a:extLst>
          </p:cNvPr>
          <p:cNvSpPr>
            <a:spLocks noGrp="1" noRot="1" noChangeArrowheads="1"/>
          </p:cNvSpPr>
          <p:nvPr>
            <p:ph type="body" idx="1"/>
          </p:nvPr>
        </p:nvSpPr>
        <p:spPr/>
        <p:txBody>
          <a:bodyPr/>
          <a:lstStyle/>
          <a:p>
            <a:pPr>
              <a:lnSpc>
                <a:spcPct val="130000"/>
              </a:lnSpc>
            </a:pPr>
            <a:r>
              <a:rPr lang="zh-CN" altLang="en-US" sz="2000"/>
              <a:t>一、成本的多种含义与分类　　</a:t>
            </a:r>
            <a:br>
              <a:rPr lang="zh-CN" altLang="en-US" sz="2000"/>
            </a:br>
            <a:r>
              <a:rPr lang="zh-CN" altLang="en-US" sz="2000"/>
              <a:t>　（一）生产成本</a:t>
            </a:r>
          </a:p>
          <a:p>
            <a:pPr>
              <a:lnSpc>
                <a:spcPct val="130000"/>
              </a:lnSpc>
              <a:buFont typeface="Wingdings" panose="05000000000000000000" pitchFamily="2" charset="2"/>
              <a:buNone/>
            </a:pPr>
            <a:r>
              <a:rPr lang="zh-CN" altLang="en-US" sz="2000">
                <a:latin typeface="Times New Roman" panose="02020603050405020304" pitchFamily="18" charset="0"/>
              </a:rPr>
              <a:t>              指该商品生产过程中所有生产要素投入的价值总和。这些生产要素既可能是有形的，也可能是无形的</a:t>
            </a:r>
            <a:r>
              <a:rPr lang="en-US" altLang="zh-CN" sz="2000">
                <a:latin typeface="Times New Roman" panose="02020603050405020304" pitchFamily="18" charset="0"/>
              </a:rPr>
              <a:t>. </a:t>
            </a:r>
            <a:r>
              <a:rPr lang="zh-CN" altLang="en-US" sz="2000">
                <a:latin typeface="Times New Roman" panose="02020603050405020304" pitchFamily="18" charset="0"/>
              </a:rPr>
              <a:t>通常，以机器、设备、厂房为生产条件，以原材料、燃料等生产要素投入的价值以及企业管理者水平及员工素质等形成的生产效率构成影响成本高低的三个主要方面。 </a:t>
            </a:r>
            <a:r>
              <a:rPr lang="zh-CN" altLang="en-US" sz="2000"/>
              <a:t> </a:t>
            </a:r>
          </a:p>
          <a:p>
            <a:pPr>
              <a:lnSpc>
                <a:spcPct val="130000"/>
              </a:lnSpc>
              <a:buFont typeface="Wingdings" panose="05000000000000000000" pitchFamily="2" charset="2"/>
              <a:buNone/>
            </a:pPr>
            <a:r>
              <a:rPr lang="zh-CN" altLang="en-US" sz="2000"/>
              <a:t>　　思考：成本控制的目标？</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0BB8DDC9-4F13-2815-B9B9-A04D146520EA}"/>
              </a:ext>
            </a:extLst>
          </p:cNvPr>
          <p:cNvSpPr>
            <a:spLocks noGrp="1" noRot="1" noChangeArrowheads="1"/>
          </p:cNvSpPr>
          <p:nvPr>
            <p:ph type="title"/>
          </p:nvPr>
        </p:nvSpPr>
        <p:spPr>
          <a:xfrm>
            <a:off x="301625" y="609600"/>
            <a:ext cx="8540750" cy="838200"/>
          </a:xfrm>
        </p:spPr>
        <p:txBody>
          <a:bodyPr/>
          <a:lstStyle/>
          <a:p>
            <a:r>
              <a:rPr lang="zh-CN" altLang="en-US" sz="1600"/>
              <a:t>　</a:t>
            </a:r>
            <a:r>
              <a:rPr lang="zh-CN" altLang="en-US" sz="3200" b="1"/>
              <a:t>第一节   </a:t>
            </a:r>
            <a:r>
              <a:rPr lang="zh-CN" altLang="en-US" sz="3200"/>
              <a:t>成本的概念</a:t>
            </a:r>
            <a:r>
              <a:rPr lang="zh-CN" altLang="en-US" sz="1600"/>
              <a:t>　</a:t>
            </a:r>
            <a:r>
              <a:rPr lang="zh-CN" altLang="en-US" sz="2000"/>
              <a:t>　</a:t>
            </a:r>
          </a:p>
        </p:txBody>
      </p:sp>
      <p:sp>
        <p:nvSpPr>
          <p:cNvPr id="34819" name="Rectangle 3">
            <a:extLst>
              <a:ext uri="{FF2B5EF4-FFF2-40B4-BE49-F238E27FC236}">
                <a16:creationId xmlns:a16="http://schemas.microsoft.com/office/drawing/2014/main" id="{406C1FE7-70EF-5C5D-AD5C-61A39656420E}"/>
              </a:ext>
            </a:extLst>
          </p:cNvPr>
          <p:cNvSpPr>
            <a:spLocks noGrp="1" noRot="1" noChangeArrowheads="1"/>
          </p:cNvSpPr>
          <p:nvPr>
            <p:ph type="body" idx="1"/>
          </p:nvPr>
        </p:nvSpPr>
        <p:spPr>
          <a:xfrm>
            <a:off x="684213" y="1412875"/>
            <a:ext cx="7772400" cy="4648200"/>
          </a:xfrm>
        </p:spPr>
        <p:txBody>
          <a:bodyPr/>
          <a:lstStyle/>
          <a:p>
            <a:pPr>
              <a:buFont typeface="Wingdings" panose="05000000000000000000" pitchFamily="2" charset="2"/>
              <a:buNone/>
            </a:pPr>
            <a:r>
              <a:rPr lang="en-US" altLang="zh-CN" sz="1800"/>
              <a:t>         </a:t>
            </a:r>
            <a:r>
              <a:rPr lang="zh-CN" altLang="en-US" sz="2000"/>
              <a:t>（二）机会成本</a:t>
            </a:r>
            <a:r>
              <a:rPr lang="zh-CN" altLang="en-US" sz="2000">
                <a:latin typeface="Times New Roman" panose="02020603050405020304" pitchFamily="18" charset="0"/>
              </a:rPr>
              <a:t>（选择成本）</a:t>
            </a:r>
            <a:r>
              <a:rPr lang="zh-CN" altLang="en-US" sz="2000"/>
              <a:t> </a:t>
            </a:r>
          </a:p>
          <a:p>
            <a:pPr>
              <a:buFont typeface="Wingdings" panose="05000000000000000000" pitchFamily="2" charset="2"/>
              <a:buNone/>
            </a:pPr>
            <a:r>
              <a:rPr lang="zh-CN" altLang="en-US" sz="2000">
                <a:latin typeface="Times New Roman" panose="02020603050405020304" pitchFamily="18" charset="0"/>
              </a:rPr>
              <a:t>　　</a:t>
            </a:r>
            <a:r>
              <a:rPr lang="zh-CN" altLang="en-US" sz="2000">
                <a:latin typeface="Times New Roman" panose="02020603050405020304" pitchFamily="18" charset="0"/>
                <a:cs typeface="Times New Roman" panose="02020603050405020304" pitchFamily="18" charset="0"/>
              </a:rPr>
              <a:t>●</a:t>
            </a:r>
            <a:r>
              <a:rPr lang="zh-CN" altLang="en-US" sz="2000">
                <a:latin typeface="Times New Roman" panose="02020603050405020304" pitchFamily="18" charset="0"/>
              </a:rPr>
              <a:t>　在稀缺性的世界中选择一种东西意味着要放弃其他东西，一项选择　　的机会成本也就是放弃的物品或劳务的价值。</a:t>
            </a:r>
          </a:p>
          <a:p>
            <a:pPr>
              <a:buFont typeface="Wingdings" panose="05000000000000000000" pitchFamily="2" charset="2"/>
              <a:buNone/>
            </a:pPr>
            <a:r>
              <a:rPr lang="zh-CN" altLang="en-US" sz="2000">
                <a:latin typeface="Times New Roman" panose="02020603050405020304" pitchFamily="18" charset="0"/>
              </a:rPr>
              <a:t>　　</a:t>
            </a:r>
            <a:r>
              <a:rPr lang="zh-CN" altLang="en-US" sz="2000">
                <a:latin typeface="Times New Roman" panose="02020603050405020304" pitchFamily="18" charset="0"/>
                <a:cs typeface="Times New Roman" panose="02020603050405020304" pitchFamily="18" charset="0"/>
              </a:rPr>
              <a:t>●</a:t>
            </a:r>
            <a:r>
              <a:rPr lang="zh-CN" altLang="en-US" sz="2000">
                <a:latin typeface="Times New Roman" panose="02020603050405020304" pitchFamily="18" charset="0"/>
              </a:rPr>
              <a:t>　资源的稀缺性是指：</a:t>
            </a:r>
          </a:p>
          <a:p>
            <a:pPr>
              <a:buFont typeface="Wingdings" panose="05000000000000000000" pitchFamily="2" charset="2"/>
              <a:buNone/>
            </a:pPr>
            <a:r>
              <a:rPr lang="zh-CN" altLang="en-US" sz="2000">
                <a:latin typeface="Times New Roman" panose="02020603050405020304" pitchFamily="18" charset="0"/>
              </a:rPr>
              <a:t>　　　（１）人类欲望的无限发展与多样性。</a:t>
            </a:r>
          </a:p>
          <a:p>
            <a:pPr>
              <a:buFont typeface="Wingdings" panose="05000000000000000000" pitchFamily="2" charset="2"/>
              <a:buNone/>
            </a:pPr>
            <a:r>
              <a:rPr lang="zh-CN" altLang="en-US" sz="2000">
                <a:latin typeface="Times New Roman" panose="02020603050405020304" pitchFamily="18" charset="0"/>
              </a:rPr>
              <a:t>　　　（２）用以满足人类欲望的资源的数量与其可能用途的有限性。</a:t>
            </a:r>
          </a:p>
          <a:p>
            <a:pPr>
              <a:buFont typeface="Wingdings" panose="05000000000000000000" pitchFamily="2" charset="2"/>
              <a:buNone/>
            </a:pPr>
            <a:r>
              <a:rPr lang="zh-CN" altLang="en-US" sz="2000">
                <a:latin typeface="Times New Roman" panose="02020603050405020304" pitchFamily="18" charset="0"/>
              </a:rPr>
              <a:t>　　　（３）由以上两点所导致的人类欲望的部分满足及非充分性。</a:t>
            </a:r>
          </a:p>
          <a:p>
            <a:pPr>
              <a:buFont typeface="Wingdings" panose="05000000000000000000" pitchFamily="2" charset="2"/>
              <a:buNone/>
            </a:pPr>
            <a:r>
              <a:rPr lang="zh-CN" altLang="en-US" sz="2000">
                <a:latin typeface="Times New Roman" panose="02020603050405020304" pitchFamily="18" charset="0"/>
              </a:rPr>
              <a:t>　　 </a:t>
            </a:r>
            <a:r>
              <a:rPr lang="zh-CN" altLang="en-US" sz="2000">
                <a:latin typeface="Times New Roman" panose="02020603050405020304" pitchFamily="18" charset="0"/>
                <a:cs typeface="Times New Roman" panose="02020603050405020304" pitchFamily="18" charset="0"/>
              </a:rPr>
              <a:t>●</a:t>
            </a:r>
            <a:r>
              <a:rPr lang="zh-CN" altLang="en-US" sz="2000">
                <a:latin typeface="Times New Roman" panose="02020603050405020304" pitchFamily="18" charset="0"/>
              </a:rPr>
              <a:t>　为选择目前的生产方式所放弃的进行其它生产活动所取得的收益中的最大值，被称为机会成本。简单的定义则为：因选择他途而放弃的利益价值。</a:t>
            </a:r>
          </a:p>
          <a:p>
            <a:pPr>
              <a:buFont typeface="Wingdings" panose="05000000000000000000" pitchFamily="2" charset="2"/>
              <a:buNone/>
            </a:pPr>
            <a:r>
              <a:rPr lang="zh-CN" altLang="en-US" sz="1800">
                <a:latin typeface="Times New Roman" panose="02020603050405020304" pitchFamily="18" charset="0"/>
              </a:rPr>
              <a:t>　</a:t>
            </a:r>
            <a:r>
              <a:rPr lang="zh-CN" altLang="en-US" sz="1800"/>
              <a:t>          </a:t>
            </a:r>
          </a:p>
        </p:txBody>
      </p:sp>
      <p:sp>
        <p:nvSpPr>
          <p:cNvPr id="34820" name="Line 4">
            <a:extLst>
              <a:ext uri="{FF2B5EF4-FFF2-40B4-BE49-F238E27FC236}">
                <a16:creationId xmlns:a16="http://schemas.microsoft.com/office/drawing/2014/main" id="{FFDF3F79-48EE-F0E5-CB89-0146CB2E7842}"/>
              </a:ext>
            </a:extLst>
          </p:cNvPr>
          <p:cNvSpPr>
            <a:spLocks noChangeShapeType="1"/>
          </p:cNvSpPr>
          <p:nvPr/>
        </p:nvSpPr>
        <p:spPr bwMode="auto">
          <a:xfrm>
            <a:off x="1676400" y="3276600"/>
            <a:ext cx="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blinds(horizontal)">
                                      <p:cBhvr>
                                        <p:cTn id="7" dur="500"/>
                                        <p:tgtEl>
                                          <p:spTgt spid="3481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4819">
                                            <p:txEl>
                                              <p:pRg st="1" end="1"/>
                                            </p:txEl>
                                          </p:spTgt>
                                        </p:tgtEl>
                                        <p:attrNameLst>
                                          <p:attrName>style.visibility</p:attrName>
                                        </p:attrNameLst>
                                      </p:cBhvr>
                                      <p:to>
                                        <p:strVal val="visible"/>
                                      </p:to>
                                    </p:set>
                                    <p:animEffect transition="in" filter="blinds(horizontal)">
                                      <p:cBhvr>
                                        <p:cTn id="12" dur="500"/>
                                        <p:tgtEl>
                                          <p:spTgt spid="34819">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himes.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4819">
                                            <p:txEl>
                                              <p:pRg st="2" end="2"/>
                                            </p:txEl>
                                          </p:spTgt>
                                        </p:tgtEl>
                                        <p:attrNameLst>
                                          <p:attrName>style.visibility</p:attrName>
                                        </p:attrNameLst>
                                      </p:cBhvr>
                                      <p:to>
                                        <p:strVal val="visible"/>
                                      </p:to>
                                    </p:set>
                                    <p:animEffect transition="in" filter="blinds(horizontal)">
                                      <p:cBhvr>
                                        <p:cTn id="17" dur="500"/>
                                        <p:tgtEl>
                                          <p:spTgt spid="34819">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himes.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4819">
                                            <p:txEl>
                                              <p:pRg st="3" end="3"/>
                                            </p:txEl>
                                          </p:spTgt>
                                        </p:tgtEl>
                                        <p:attrNameLst>
                                          <p:attrName>style.visibility</p:attrName>
                                        </p:attrNameLst>
                                      </p:cBhvr>
                                      <p:to>
                                        <p:strVal val="visible"/>
                                      </p:to>
                                    </p:set>
                                    <p:animEffect transition="in" filter="blinds(horizontal)">
                                      <p:cBhvr>
                                        <p:cTn id="22" dur="500"/>
                                        <p:tgtEl>
                                          <p:spTgt spid="34819">
                                            <p:txEl>
                                              <p:pRg st="3" end="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himes.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4819">
                                            <p:txEl>
                                              <p:pRg st="4" end="4"/>
                                            </p:txEl>
                                          </p:spTgt>
                                        </p:tgtEl>
                                        <p:attrNameLst>
                                          <p:attrName>style.visibility</p:attrName>
                                        </p:attrNameLst>
                                      </p:cBhvr>
                                      <p:to>
                                        <p:strVal val="visible"/>
                                      </p:to>
                                    </p:set>
                                    <p:animEffect transition="in" filter="blinds(horizontal)">
                                      <p:cBhvr>
                                        <p:cTn id="27" dur="500"/>
                                        <p:tgtEl>
                                          <p:spTgt spid="34819">
                                            <p:txEl>
                                              <p:pRg st="4" end="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himes.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4819">
                                            <p:txEl>
                                              <p:pRg st="5" end="5"/>
                                            </p:txEl>
                                          </p:spTgt>
                                        </p:tgtEl>
                                        <p:attrNameLst>
                                          <p:attrName>style.visibility</p:attrName>
                                        </p:attrNameLst>
                                      </p:cBhvr>
                                      <p:to>
                                        <p:strVal val="visible"/>
                                      </p:to>
                                    </p:set>
                                    <p:animEffect transition="in" filter="blinds(horizontal)">
                                      <p:cBhvr>
                                        <p:cTn id="32" dur="500"/>
                                        <p:tgtEl>
                                          <p:spTgt spid="34819">
                                            <p:txEl>
                                              <p:pRg st="5" end="5"/>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himes.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4819">
                                            <p:txEl>
                                              <p:pRg st="6" end="6"/>
                                            </p:txEl>
                                          </p:spTgt>
                                        </p:tgtEl>
                                        <p:attrNameLst>
                                          <p:attrName>style.visibility</p:attrName>
                                        </p:attrNameLst>
                                      </p:cBhvr>
                                      <p:to>
                                        <p:strVal val="visible"/>
                                      </p:to>
                                    </p:set>
                                    <p:animEffect transition="in" filter="blinds(horizontal)">
                                      <p:cBhvr>
                                        <p:cTn id="37" dur="500"/>
                                        <p:tgtEl>
                                          <p:spTgt spid="34819">
                                            <p:txEl>
                                              <p:pRg st="6" end="6"/>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himes.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4819">
                                            <p:txEl>
                                              <p:pRg st="7" end="7"/>
                                            </p:txEl>
                                          </p:spTgt>
                                        </p:tgtEl>
                                        <p:attrNameLst>
                                          <p:attrName>style.visibility</p:attrName>
                                        </p:attrNameLst>
                                      </p:cBhvr>
                                      <p:to>
                                        <p:strVal val="visible"/>
                                      </p:to>
                                    </p:set>
                                    <p:animEffect transition="in" filter="blinds(horizontal)">
                                      <p:cBhvr>
                                        <p:cTn id="42" dur="500"/>
                                        <p:tgtEl>
                                          <p:spTgt spid="34819">
                                            <p:txEl>
                                              <p:pRg st="7" end="7"/>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C02DFCA4-C496-A6E8-3D1A-97D9310A1A79}"/>
              </a:ext>
            </a:extLst>
          </p:cNvPr>
          <p:cNvSpPr>
            <a:spLocks noGrp="1" noRot="1" noChangeArrowheads="1"/>
          </p:cNvSpPr>
          <p:nvPr>
            <p:ph type="title"/>
          </p:nvPr>
        </p:nvSpPr>
        <p:spPr/>
        <p:txBody>
          <a:bodyPr/>
          <a:lstStyle/>
          <a:p>
            <a:endParaRPr lang="zh-CN" altLang="zh-CN"/>
          </a:p>
        </p:txBody>
      </p:sp>
      <p:sp>
        <p:nvSpPr>
          <p:cNvPr id="43011" name="Rectangle 3">
            <a:extLst>
              <a:ext uri="{FF2B5EF4-FFF2-40B4-BE49-F238E27FC236}">
                <a16:creationId xmlns:a16="http://schemas.microsoft.com/office/drawing/2014/main" id="{BB82CCCB-FFBB-C1CA-C8E7-1F992AE115B4}"/>
              </a:ext>
            </a:extLst>
          </p:cNvPr>
          <p:cNvSpPr>
            <a:spLocks noGrp="1" noRot="1" noChangeArrowheads="1"/>
          </p:cNvSpPr>
          <p:nvPr>
            <p:ph type="body" idx="1"/>
          </p:nvPr>
        </p:nvSpPr>
        <p:spPr/>
        <p:txBody>
          <a:bodyPr/>
          <a:lstStyle/>
          <a:p>
            <a:r>
              <a:rPr lang="zh-CN" altLang="en-US" sz="1800">
                <a:latin typeface="Times New Roman" panose="02020603050405020304" pitchFamily="18" charset="0"/>
              </a:rPr>
              <a:t>机会成本可用来解释英国古典经济学家大卫</a:t>
            </a:r>
            <a:r>
              <a:rPr lang="en-US" altLang="zh-CN" sz="1800">
                <a:cs typeface="Times New Roman" panose="02020603050405020304" pitchFamily="18" charset="0"/>
              </a:rPr>
              <a:t>•</a:t>
            </a:r>
            <a:r>
              <a:rPr lang="zh-CN" altLang="en-US" sz="1800">
                <a:latin typeface="Times New Roman" panose="02020603050405020304" pitchFamily="18" charset="0"/>
              </a:rPr>
              <a:t>李嘉图的比较成本理论</a:t>
            </a:r>
          </a:p>
          <a:p>
            <a:r>
              <a:rPr lang="zh-CN" altLang="en-US" sz="1800">
                <a:latin typeface="Times New Roman" panose="02020603050405020304" pitchFamily="18" charset="0"/>
              </a:rPr>
              <a:t>表</a:t>
            </a:r>
            <a:r>
              <a:rPr lang="en-US" altLang="zh-CN" sz="1800">
                <a:latin typeface="Times New Roman" panose="02020603050405020304" pitchFamily="18" charset="0"/>
              </a:rPr>
              <a:t>1</a:t>
            </a:r>
          </a:p>
        </p:txBody>
      </p:sp>
      <p:graphicFrame>
        <p:nvGraphicFramePr>
          <p:cNvPr id="43043" name="Group 35">
            <a:extLst>
              <a:ext uri="{FF2B5EF4-FFF2-40B4-BE49-F238E27FC236}">
                <a16:creationId xmlns:a16="http://schemas.microsoft.com/office/drawing/2014/main" id="{16B4E586-7CC0-A255-DE52-4C944FE691CF}"/>
              </a:ext>
            </a:extLst>
          </p:cNvPr>
          <p:cNvGraphicFramePr>
            <a:graphicFrameLocks noGrp="1"/>
          </p:cNvGraphicFramePr>
          <p:nvPr/>
        </p:nvGraphicFramePr>
        <p:xfrm>
          <a:off x="685800" y="3505200"/>
          <a:ext cx="8001000" cy="1905000"/>
        </p:xfrm>
        <a:graphic>
          <a:graphicData uri="http://schemas.openxmlformats.org/drawingml/2006/table">
            <a:tbl>
              <a:tblPr/>
              <a:tblGrid>
                <a:gridCol w="1352550">
                  <a:extLst>
                    <a:ext uri="{9D8B030D-6E8A-4147-A177-3AD203B41FA5}">
                      <a16:colId xmlns:a16="http://schemas.microsoft.com/office/drawing/2014/main" val="467394547"/>
                    </a:ext>
                  </a:extLst>
                </a:gridCol>
                <a:gridCol w="1482725">
                  <a:extLst>
                    <a:ext uri="{9D8B030D-6E8A-4147-A177-3AD203B41FA5}">
                      <a16:colId xmlns:a16="http://schemas.microsoft.com/office/drawing/2014/main" val="4121858920"/>
                    </a:ext>
                  </a:extLst>
                </a:gridCol>
                <a:gridCol w="2125663">
                  <a:extLst>
                    <a:ext uri="{9D8B030D-6E8A-4147-A177-3AD203B41FA5}">
                      <a16:colId xmlns:a16="http://schemas.microsoft.com/office/drawing/2014/main" val="3732295298"/>
                    </a:ext>
                  </a:extLst>
                </a:gridCol>
                <a:gridCol w="3040062">
                  <a:extLst>
                    <a:ext uri="{9D8B030D-6E8A-4147-A177-3AD203B41FA5}">
                      <a16:colId xmlns:a16="http://schemas.microsoft.com/office/drawing/2014/main" val="2928962469"/>
                    </a:ext>
                  </a:extLst>
                </a:gridCol>
              </a:tblGrid>
              <a:tr h="635000">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呢绒</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酒</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两产品国内成本比率</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837746200"/>
                  </a:ext>
                </a:extLst>
              </a:tr>
              <a:tr h="635000">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英国</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100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120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5:6</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199907311"/>
                  </a:ext>
                </a:extLst>
              </a:tr>
              <a:tr h="635000">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葡萄牙</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90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80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9:8</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78202067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E879B1A5-5D36-816C-7AFA-30CEB91D96BF}"/>
              </a:ext>
            </a:extLst>
          </p:cNvPr>
          <p:cNvSpPr>
            <a:spLocks noGrp="1" noRot="1" noChangeArrowheads="1"/>
          </p:cNvSpPr>
          <p:nvPr>
            <p:ph type="title"/>
          </p:nvPr>
        </p:nvSpPr>
        <p:spPr/>
        <p:txBody>
          <a:bodyPr/>
          <a:lstStyle/>
          <a:p>
            <a:endParaRPr lang="zh-CN" altLang="zh-CN"/>
          </a:p>
        </p:txBody>
      </p:sp>
      <p:sp>
        <p:nvSpPr>
          <p:cNvPr id="38915" name="Rectangle 3">
            <a:extLst>
              <a:ext uri="{FF2B5EF4-FFF2-40B4-BE49-F238E27FC236}">
                <a16:creationId xmlns:a16="http://schemas.microsoft.com/office/drawing/2014/main" id="{7AD9715D-4D62-238F-554C-F2E143BEBBB3}"/>
              </a:ext>
            </a:extLst>
          </p:cNvPr>
          <p:cNvSpPr>
            <a:spLocks noGrp="1" noRot="1" noChangeArrowheads="1"/>
          </p:cNvSpPr>
          <p:nvPr>
            <p:ph type="body" idx="1"/>
          </p:nvPr>
        </p:nvSpPr>
        <p:spPr/>
        <p:txBody>
          <a:bodyPr/>
          <a:lstStyle/>
          <a:p>
            <a:r>
              <a:rPr lang="zh-CN" altLang="en-US"/>
              <a:t>表</a:t>
            </a:r>
            <a:r>
              <a:rPr lang="en-US" altLang="zh-CN"/>
              <a:t>2</a:t>
            </a:r>
            <a:r>
              <a:rPr lang="zh-CN" altLang="en-US"/>
              <a:t>：</a:t>
            </a:r>
          </a:p>
        </p:txBody>
      </p:sp>
      <p:graphicFrame>
        <p:nvGraphicFramePr>
          <p:cNvPr id="38967" name="Group 55">
            <a:extLst>
              <a:ext uri="{FF2B5EF4-FFF2-40B4-BE49-F238E27FC236}">
                <a16:creationId xmlns:a16="http://schemas.microsoft.com/office/drawing/2014/main" id="{55947781-BA42-2A38-8B33-E0B1D9574DFF}"/>
              </a:ext>
            </a:extLst>
          </p:cNvPr>
          <p:cNvGraphicFramePr>
            <a:graphicFrameLocks noGrp="1"/>
          </p:cNvGraphicFramePr>
          <p:nvPr/>
        </p:nvGraphicFramePr>
        <p:xfrm>
          <a:off x="1295400" y="3505200"/>
          <a:ext cx="7620000" cy="1828800"/>
        </p:xfrm>
        <a:graphic>
          <a:graphicData uri="http://schemas.openxmlformats.org/drawingml/2006/table">
            <a:tbl>
              <a:tblPr/>
              <a:tblGrid>
                <a:gridCol w="2565400">
                  <a:extLst>
                    <a:ext uri="{9D8B030D-6E8A-4147-A177-3AD203B41FA5}">
                      <a16:colId xmlns:a16="http://schemas.microsoft.com/office/drawing/2014/main" val="1140519450"/>
                    </a:ext>
                  </a:extLst>
                </a:gridCol>
                <a:gridCol w="2616200">
                  <a:extLst>
                    <a:ext uri="{9D8B030D-6E8A-4147-A177-3AD203B41FA5}">
                      <a16:colId xmlns:a16="http://schemas.microsoft.com/office/drawing/2014/main" val="366630524"/>
                    </a:ext>
                  </a:extLst>
                </a:gridCol>
                <a:gridCol w="2438400">
                  <a:extLst>
                    <a:ext uri="{9D8B030D-6E8A-4147-A177-3AD203B41FA5}">
                      <a16:colId xmlns:a16="http://schemas.microsoft.com/office/drawing/2014/main" val="2198022636"/>
                    </a:ext>
                  </a:extLst>
                </a:gridCol>
              </a:tblGrid>
              <a:tr h="609600">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单位呢绒</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单位酒</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638285522"/>
                  </a:ext>
                </a:extLst>
              </a:tr>
              <a:tr h="609600">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英国</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0.8</a:t>
                      </a: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单位酒</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1.2</a:t>
                      </a: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单位呢绒</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849351112"/>
                  </a:ext>
                </a:extLst>
              </a:tr>
              <a:tr h="609600">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葡萄牙</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1.125</a:t>
                      </a: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单位酒</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hlink"/>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tabLst/>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0.89</a:t>
                      </a: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单位呢绒</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38236985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2AEE5BA-5E65-8CA3-C32C-30C17DD0AD35}"/>
              </a:ext>
            </a:extLst>
          </p:cNvPr>
          <p:cNvSpPr>
            <a:spLocks noGrp="1" noRot="1" noChangeArrowheads="1"/>
          </p:cNvSpPr>
          <p:nvPr>
            <p:ph type="title"/>
          </p:nvPr>
        </p:nvSpPr>
        <p:spPr/>
        <p:txBody>
          <a:bodyPr/>
          <a:lstStyle/>
          <a:p>
            <a:endParaRPr lang="zh-CN" altLang="zh-CN"/>
          </a:p>
        </p:txBody>
      </p:sp>
      <p:sp>
        <p:nvSpPr>
          <p:cNvPr id="39939" name="Rectangle 3">
            <a:extLst>
              <a:ext uri="{FF2B5EF4-FFF2-40B4-BE49-F238E27FC236}">
                <a16:creationId xmlns:a16="http://schemas.microsoft.com/office/drawing/2014/main" id="{E037FBAC-CA8C-D803-DF58-1FDFD7711CDA}"/>
              </a:ext>
            </a:extLst>
          </p:cNvPr>
          <p:cNvSpPr>
            <a:spLocks noGrp="1" noRot="1" noChangeArrowheads="1"/>
          </p:cNvSpPr>
          <p:nvPr>
            <p:ph type="body" idx="1"/>
          </p:nvPr>
        </p:nvSpPr>
        <p:spPr/>
        <p:txBody>
          <a:bodyPr/>
          <a:lstStyle/>
          <a:p>
            <a:r>
              <a:rPr lang="zh-CN" altLang="en-US" sz="2400"/>
              <a:t>萨谬尔森认为：“机会成本最重要的应用在于非市场物品</a:t>
            </a:r>
            <a:r>
              <a:rPr lang="en-US" altLang="zh-CN" sz="2400"/>
              <a:t>——</a:t>
            </a:r>
            <a:r>
              <a:rPr lang="zh-CN" altLang="en-US" sz="2400"/>
              <a:t>如清洁的空气、保键或娱乐领域</a:t>
            </a:r>
            <a:r>
              <a:rPr lang="en-US" altLang="zh-CN" sz="2400"/>
              <a:t>——</a:t>
            </a:r>
            <a:r>
              <a:rPr lang="zh-CN" altLang="en-US" sz="2400"/>
              <a:t>虽然这些东西并不在市场上买卖，但它们的作用却可能有很高的价值。</a:t>
            </a:r>
          </a:p>
          <a:p>
            <a:r>
              <a:rPr lang="zh-CN" altLang="en-US" sz="2400"/>
              <a:t>思考：举例说明忽视机会成本造成决策失误或影响发展的例子。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 calcmode="lin" valueType="num">
                                      <p:cBhvr additive="base">
                                        <p:cTn id="7" dur="500" fill="hold"/>
                                        <p:tgtEl>
                                          <p:spTgt spid="399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939">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laser.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9939">
                                            <p:txEl>
                                              <p:pRg st="1" end="1"/>
                                            </p:txEl>
                                          </p:spTgt>
                                        </p:tgtEl>
                                        <p:attrNameLst>
                                          <p:attrName>style.visibility</p:attrName>
                                        </p:attrNameLst>
                                      </p:cBhvr>
                                      <p:to>
                                        <p:strVal val="visible"/>
                                      </p:to>
                                    </p:set>
                                    <p:anim calcmode="lin" valueType="num">
                                      <p:cBhvr additive="base">
                                        <p:cTn id="13" dur="500" fill="hold"/>
                                        <p:tgtEl>
                                          <p:spTgt spid="3993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9939">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561BC40F-AEE2-AD9A-30BB-66B0D8C9FB90}"/>
              </a:ext>
            </a:extLst>
          </p:cNvPr>
          <p:cNvSpPr>
            <a:spLocks noGrp="1" noRot="1" noChangeArrowheads="1"/>
          </p:cNvSpPr>
          <p:nvPr>
            <p:ph type="title"/>
          </p:nvPr>
        </p:nvSpPr>
        <p:spPr/>
        <p:txBody>
          <a:bodyPr/>
          <a:lstStyle/>
          <a:p>
            <a:endParaRPr lang="zh-CN" altLang="zh-CN"/>
          </a:p>
        </p:txBody>
      </p:sp>
      <p:sp>
        <p:nvSpPr>
          <p:cNvPr id="35843" name="Rectangle 3">
            <a:extLst>
              <a:ext uri="{FF2B5EF4-FFF2-40B4-BE49-F238E27FC236}">
                <a16:creationId xmlns:a16="http://schemas.microsoft.com/office/drawing/2014/main" id="{D41F3E13-A1ED-E237-878F-D2701F09E1CB}"/>
              </a:ext>
            </a:extLst>
          </p:cNvPr>
          <p:cNvSpPr>
            <a:spLocks noGrp="1" noRot="1" noChangeArrowheads="1"/>
          </p:cNvSpPr>
          <p:nvPr>
            <p:ph type="body" idx="1"/>
          </p:nvPr>
        </p:nvSpPr>
        <p:spPr/>
        <p:txBody>
          <a:bodyPr/>
          <a:lstStyle/>
          <a:p>
            <a:pPr>
              <a:buFont typeface="Wingdings" panose="05000000000000000000" pitchFamily="2" charset="2"/>
              <a:buNone/>
            </a:pPr>
            <a:r>
              <a:rPr lang="zh-CN" altLang="en-US" sz="1800"/>
              <a:t>（三）相关成本</a:t>
            </a:r>
            <a:br>
              <a:rPr lang="zh-CN" altLang="en-US" sz="1800"/>
            </a:br>
            <a:r>
              <a:rPr lang="en-US" altLang="zh-CN" sz="2400"/>
              <a:t>•</a:t>
            </a:r>
            <a:r>
              <a:rPr lang="en-US" altLang="zh-CN" sz="2400">
                <a:latin typeface="Times New Roman" panose="02020603050405020304" pitchFamily="18" charset="0"/>
              </a:rPr>
              <a:t> </a:t>
            </a:r>
            <a:r>
              <a:rPr lang="en-US" altLang="zh-CN" sz="1800">
                <a:latin typeface="Times New Roman" panose="02020603050405020304" pitchFamily="18" charset="0"/>
              </a:rPr>
              <a:t> </a:t>
            </a:r>
            <a:r>
              <a:rPr lang="zh-CN" altLang="en-US" sz="1800">
                <a:latin typeface="Times New Roman" panose="02020603050405020304" pitchFamily="18" charset="0"/>
              </a:rPr>
              <a:t>指在具体场合下应该使用的成本数量。例如，编制税务申报书时的相　关成本表现为企业用于购买生产用的机器设备、原材料及劳动力等的　　实际支出。</a:t>
            </a:r>
          </a:p>
          <a:p>
            <a:pPr>
              <a:buFont typeface="Wingdings" panose="05000000000000000000" pitchFamily="2" charset="2"/>
              <a:buNone/>
            </a:pPr>
            <a:r>
              <a:rPr lang="zh-CN" altLang="en-US" sz="1800">
                <a:latin typeface="Times New Roman" panose="02020603050405020304" pitchFamily="18" charset="0"/>
              </a:rPr>
              <a:t>　　</a:t>
            </a:r>
            <a:r>
              <a:rPr lang="en-US" altLang="zh-CN" sz="2400"/>
              <a:t>•</a:t>
            </a:r>
            <a:r>
              <a:rPr lang="en-US" altLang="zh-CN" sz="2400">
                <a:latin typeface="Times New Roman" panose="02020603050405020304" pitchFamily="18" charset="0"/>
              </a:rPr>
              <a:t> </a:t>
            </a:r>
            <a:r>
              <a:rPr lang="zh-CN" altLang="en-US" sz="1800">
                <a:latin typeface="Times New Roman" panose="02020603050405020304" pitchFamily="18" charset="0"/>
              </a:rPr>
              <a:t>包括差别成本、机会成本、边际成本等。　　</a:t>
            </a:r>
          </a:p>
          <a:p>
            <a:pPr>
              <a:buFont typeface="Wingdings" panose="05000000000000000000" pitchFamily="2" charset="2"/>
              <a:buNone/>
            </a:pPr>
            <a:r>
              <a:rPr lang="zh-CN" altLang="en-US" sz="1800">
                <a:latin typeface="Times New Roman" panose="02020603050405020304" pitchFamily="18" charset="0"/>
              </a:rPr>
              <a:t>（四）增量成本与沉没成本</a:t>
            </a:r>
            <a:r>
              <a:rPr lang="zh-CN" altLang="en-US" sz="1800"/>
              <a:t> </a:t>
            </a:r>
            <a:br>
              <a:rPr lang="zh-CN" altLang="en-US" sz="1800"/>
            </a:br>
            <a:r>
              <a:rPr lang="zh-CN" altLang="en-US" sz="1800">
                <a:latin typeface="Times New Roman" panose="02020603050405020304" pitchFamily="18" charset="0"/>
              </a:rPr>
              <a:t>      增量成本是因某项决策而变动（增加或减少）的成本。这与边际分析中的边际成本有所类似。</a:t>
            </a:r>
            <a:r>
              <a:rPr lang="zh-CN" altLang="en-US" sz="1800"/>
              <a:t> </a:t>
            </a:r>
            <a:br>
              <a:rPr lang="zh-CN" altLang="en-US" sz="1800"/>
            </a:br>
            <a:endParaRPr lang="zh-CN" altLang="en-US"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5843">
                                            <p:txEl>
                                              <p:pRg st="0" end="0"/>
                                            </p:txEl>
                                          </p:spTgt>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5843">
                                            <p:txEl>
                                              <p:pRg st="1" end="1"/>
                                            </p:txEl>
                                          </p:spTgt>
                                        </p:tgtEl>
                                        <p:attrNameLst>
                                          <p:attrName>style.visibility</p:attrName>
                                        </p:attrNameLst>
                                      </p:cBhvr>
                                      <p:to>
                                        <p:strVal val="visible"/>
                                      </p:to>
                                    </p:set>
                                  </p:childTnLst>
                                  <p:subTnLst>
                                    <p:audio>
                                      <p:cMediaNode>
                                        <p:cTn display="0" masterRel="sameClick">
                                          <p:stCondLst>
                                            <p:cond evt="begin" delay="0">
                                              <p:tn val="9"/>
                                            </p:cond>
                                          </p:stCondLst>
                                          <p:endCondLst>
                                            <p:cond evt="onStopAudio" delay="0">
                                              <p:tgtEl>
                                                <p:sldTgt/>
                                              </p:tgtEl>
                                            </p:cond>
                                          </p:endCondLst>
                                        </p:cTn>
                                        <p:tgtEl>
                                          <p:sndTgt r:embed="rId2" name="whoosh.wav"/>
                                        </p:tgtEl>
                                      </p:cMediaNode>
                                    </p:audio>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5843">
                                            <p:txEl>
                                              <p:pRg st="2" end="2"/>
                                            </p:txEl>
                                          </p:spTgt>
                                        </p:tgtEl>
                                        <p:attrNameLst>
                                          <p:attrName>style.visibility</p:attrName>
                                        </p:attrNameLst>
                                      </p:cBhvr>
                                      <p:to>
                                        <p:strVal val="visible"/>
                                      </p:to>
                                    </p:set>
                                  </p:childTnLst>
                                  <p:subTnLst>
                                    <p:audio>
                                      <p:cMediaNode>
                                        <p:cTn display="0" masterRel="sameClick">
                                          <p:stCondLst>
                                            <p:cond evt="begin" delay="0">
                                              <p:tn val="13"/>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8206161B-1912-D041-208D-08A10D934681}"/>
              </a:ext>
            </a:extLst>
          </p:cNvPr>
          <p:cNvSpPr>
            <a:spLocks noGrp="1" noRot="1" noChangeArrowheads="1"/>
          </p:cNvSpPr>
          <p:nvPr>
            <p:ph type="title"/>
          </p:nvPr>
        </p:nvSpPr>
        <p:spPr>
          <a:xfrm>
            <a:off x="301625" y="609600"/>
            <a:ext cx="8540750" cy="677863"/>
          </a:xfrm>
        </p:spPr>
        <p:txBody>
          <a:bodyPr/>
          <a:lstStyle/>
          <a:p>
            <a:r>
              <a:rPr lang="zh-CN" altLang="en-US" sz="2400"/>
              <a:t>第二节 短期成本曲线</a:t>
            </a:r>
          </a:p>
        </p:txBody>
      </p:sp>
      <p:sp>
        <p:nvSpPr>
          <p:cNvPr id="8195" name="Rectangle 3">
            <a:extLst>
              <a:ext uri="{FF2B5EF4-FFF2-40B4-BE49-F238E27FC236}">
                <a16:creationId xmlns:a16="http://schemas.microsoft.com/office/drawing/2014/main" id="{06CA083F-FA2B-9468-A8EE-5422E15B18DC}"/>
              </a:ext>
            </a:extLst>
          </p:cNvPr>
          <p:cNvSpPr>
            <a:spLocks noGrp="1" noRot="1" noChangeArrowheads="1"/>
          </p:cNvSpPr>
          <p:nvPr>
            <p:ph type="body" idx="1"/>
          </p:nvPr>
        </p:nvSpPr>
        <p:spPr>
          <a:xfrm>
            <a:off x="1182688" y="1371600"/>
            <a:ext cx="7772400" cy="4760913"/>
          </a:xfrm>
        </p:spPr>
        <p:txBody>
          <a:bodyPr/>
          <a:lstStyle/>
          <a:p>
            <a:pPr>
              <a:buFont typeface="Wingdings" panose="05000000000000000000" pitchFamily="2" charset="2"/>
              <a:buNone/>
            </a:pPr>
            <a:r>
              <a:rPr lang="en-US" altLang="zh-CN" sz="2400"/>
              <a:t>   </a:t>
            </a:r>
            <a:r>
              <a:rPr lang="zh-CN" altLang="en-US" sz="2400"/>
              <a:t>一、短期成本的分类</a:t>
            </a:r>
          </a:p>
          <a:p>
            <a:pPr>
              <a:buFont typeface="Wingdings" panose="05000000000000000000" pitchFamily="2" charset="2"/>
              <a:buNone/>
            </a:pPr>
            <a:r>
              <a:rPr lang="zh-CN" altLang="en-US" sz="2000"/>
              <a:t>    </a:t>
            </a:r>
            <a:r>
              <a:rPr lang="en-US" altLang="zh-CN" sz="2000"/>
              <a:t>1.</a:t>
            </a:r>
            <a:r>
              <a:rPr lang="zh-CN" altLang="en-US" sz="2000"/>
              <a:t>固定成本：代表即使产量水平为零也必须支付的开支总额。</a:t>
            </a:r>
          </a:p>
          <a:p>
            <a:pPr>
              <a:buFont typeface="Wingdings" panose="05000000000000000000" pitchFamily="2" charset="2"/>
              <a:buNone/>
            </a:pPr>
            <a:r>
              <a:rPr lang="zh-CN" altLang="en-US" sz="2000"/>
              <a:t>    </a:t>
            </a:r>
            <a:r>
              <a:rPr lang="en-US" altLang="zh-CN" sz="2000"/>
              <a:t>2.</a:t>
            </a:r>
            <a:r>
              <a:rPr lang="zh-CN" altLang="en-US" sz="2000"/>
              <a:t>可变成本 ：代表随着产出水平的变化而变化的开支。</a:t>
            </a:r>
          </a:p>
          <a:p>
            <a:pPr>
              <a:buFont typeface="Wingdings" panose="05000000000000000000" pitchFamily="2" charset="2"/>
              <a:buNone/>
            </a:pPr>
            <a:r>
              <a:rPr lang="zh-CN" altLang="en-US" sz="2000"/>
              <a:t>　    </a:t>
            </a:r>
            <a:r>
              <a:rPr lang="en-US" altLang="zh-CN" sz="2000"/>
              <a:t>•</a:t>
            </a:r>
            <a:r>
              <a:rPr lang="zh-CN" altLang="en-US" sz="2000"/>
              <a:t>短期内，不变投入保持稳定，为了提高或减少产量，只能增加或减少劳动力、原材料等可变投入，与此同时，伴随着提高固定生产要素的利用率。</a:t>
            </a:r>
          </a:p>
          <a:p>
            <a:pPr>
              <a:buFont typeface="Wingdings" panose="05000000000000000000" pitchFamily="2" charset="2"/>
              <a:buNone/>
            </a:pPr>
            <a:r>
              <a:rPr lang="zh-CN" altLang="en-US" sz="2000"/>
              <a:t>        </a:t>
            </a:r>
            <a:r>
              <a:rPr lang="en-US" altLang="zh-CN" sz="2000"/>
              <a:t>•</a:t>
            </a:r>
            <a:r>
              <a:rPr lang="zh-CN" altLang="en-US" sz="2000"/>
              <a:t>可变成本与产量的关系：产量为</a:t>
            </a:r>
            <a:r>
              <a:rPr lang="en-US" altLang="zh-CN" sz="2000"/>
              <a:t>0</a:t>
            </a:r>
            <a:r>
              <a:rPr lang="zh-CN" altLang="en-US" sz="2000"/>
              <a:t>时，可变成本为</a:t>
            </a:r>
            <a:r>
              <a:rPr lang="en-US" altLang="zh-CN" sz="2000"/>
              <a:t>0</a:t>
            </a:r>
            <a:r>
              <a:rPr lang="zh-CN" altLang="en-US" sz="2000"/>
              <a:t>；产量低于某一水平时，可变成本按递减的速度上升；超过这一水平，则按递增的速度上升。</a:t>
            </a:r>
          </a:p>
          <a:p>
            <a:pPr>
              <a:buFont typeface="Wingdings" panose="05000000000000000000" pitchFamily="2" charset="2"/>
              <a:buNone/>
            </a:pPr>
            <a:r>
              <a:rPr lang="zh-CN" altLang="en-US" sz="2000"/>
              <a:t>    </a:t>
            </a:r>
            <a:r>
              <a:rPr lang="en-US" altLang="zh-CN" sz="2000"/>
              <a:t>3.</a:t>
            </a:r>
            <a:r>
              <a:rPr lang="zh-CN" altLang="en-US" sz="2000"/>
              <a:t>总成本：固定成本</a:t>
            </a:r>
            <a:r>
              <a:rPr lang="en-US" altLang="zh-CN" sz="2000"/>
              <a:t>+</a:t>
            </a:r>
            <a:r>
              <a:rPr lang="zh-CN" altLang="en-US" sz="2000"/>
              <a:t>可变成本。随产量变动的特点与可变成本相一致。</a:t>
            </a:r>
          </a:p>
          <a:p>
            <a:pPr>
              <a:buFont typeface="Wingdings" panose="05000000000000000000" pitchFamily="2" charset="2"/>
              <a:buNone/>
            </a:pPr>
            <a:r>
              <a:rPr lang="zh-CN" altLang="en-US" sz="2000"/>
              <a:t>    </a:t>
            </a:r>
            <a:r>
              <a:rPr lang="en-US" altLang="zh-CN" sz="2000"/>
              <a:t>4.</a:t>
            </a:r>
            <a:r>
              <a:rPr lang="zh-CN" altLang="en-US" sz="2000"/>
              <a:t>平均固定成本</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 calcmode="lin" valueType="num">
                                      <p:cBhvr additive="base">
                                        <p:cTn id="7" dur="500" fill="hold"/>
                                        <p:tgtEl>
                                          <p:spTgt spid="81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5">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195">
                                            <p:txEl>
                                              <p:pRg st="1" end="1"/>
                                            </p:txEl>
                                          </p:spTgt>
                                        </p:tgtEl>
                                        <p:attrNameLst>
                                          <p:attrName>style.visibility</p:attrName>
                                        </p:attrNameLst>
                                      </p:cBhvr>
                                      <p:to>
                                        <p:strVal val="visible"/>
                                      </p:to>
                                    </p:set>
                                    <p:anim calcmode="lin" valueType="num">
                                      <p:cBhvr additive="base">
                                        <p:cTn id="13" dur="500" fill="hold"/>
                                        <p:tgtEl>
                                          <p:spTgt spid="819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5">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chimes.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8195">
                                            <p:txEl>
                                              <p:pRg st="2" end="2"/>
                                            </p:txEl>
                                          </p:spTgt>
                                        </p:tgtEl>
                                        <p:attrNameLst>
                                          <p:attrName>style.visibility</p:attrName>
                                        </p:attrNameLst>
                                      </p:cBhvr>
                                      <p:to>
                                        <p:strVal val="visible"/>
                                      </p:to>
                                    </p:set>
                                    <p:anim calcmode="lin" valueType="num">
                                      <p:cBhvr additive="base">
                                        <p:cTn id="19" dur="500" fill="hold"/>
                                        <p:tgtEl>
                                          <p:spTgt spid="819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5">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chimes.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8195">
                                            <p:txEl>
                                              <p:pRg st="3" end="3"/>
                                            </p:txEl>
                                          </p:spTgt>
                                        </p:tgtEl>
                                        <p:attrNameLst>
                                          <p:attrName>style.visibility</p:attrName>
                                        </p:attrNameLst>
                                      </p:cBhvr>
                                      <p:to>
                                        <p:strVal val="visible"/>
                                      </p:to>
                                    </p:set>
                                    <p:anim calcmode="lin" valueType="num">
                                      <p:cBhvr additive="base">
                                        <p:cTn id="25" dur="500" fill="hold"/>
                                        <p:tgtEl>
                                          <p:spTgt spid="819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195">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chimes.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8195">
                                            <p:txEl>
                                              <p:pRg st="4" end="4"/>
                                            </p:txEl>
                                          </p:spTgt>
                                        </p:tgtEl>
                                        <p:attrNameLst>
                                          <p:attrName>style.visibility</p:attrName>
                                        </p:attrNameLst>
                                      </p:cBhvr>
                                      <p:to>
                                        <p:strVal val="visible"/>
                                      </p:to>
                                    </p:set>
                                    <p:anim calcmode="lin" valueType="num">
                                      <p:cBhvr additive="base">
                                        <p:cTn id="31" dur="500" fill="hold"/>
                                        <p:tgtEl>
                                          <p:spTgt spid="819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195">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chimes.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8195">
                                            <p:txEl>
                                              <p:pRg st="5" end="5"/>
                                            </p:txEl>
                                          </p:spTgt>
                                        </p:tgtEl>
                                        <p:attrNameLst>
                                          <p:attrName>style.visibility</p:attrName>
                                        </p:attrNameLst>
                                      </p:cBhvr>
                                      <p:to>
                                        <p:strVal val="visible"/>
                                      </p:to>
                                    </p:set>
                                    <p:anim calcmode="lin" valueType="num">
                                      <p:cBhvr additive="base">
                                        <p:cTn id="37" dur="500" fill="hold"/>
                                        <p:tgtEl>
                                          <p:spTgt spid="819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195">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chimes.wav"/>
                                        </p:tgtEl>
                                      </p:cMediaNode>
                                    </p:audio>
                                  </p:sub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8195">
                                            <p:txEl>
                                              <p:pRg st="6" end="6"/>
                                            </p:txEl>
                                          </p:spTgt>
                                        </p:tgtEl>
                                        <p:attrNameLst>
                                          <p:attrName>style.visibility</p:attrName>
                                        </p:attrNameLst>
                                      </p:cBhvr>
                                      <p:to>
                                        <p:strVal val="visible"/>
                                      </p:to>
                                    </p:set>
                                    <p:anim calcmode="lin" valueType="num">
                                      <p:cBhvr additive="base">
                                        <p:cTn id="43" dur="500" fill="hold"/>
                                        <p:tgtEl>
                                          <p:spTgt spid="819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195">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5C0D9CBC-F02F-1B15-9916-BFAC9184A608}"/>
              </a:ext>
            </a:extLst>
          </p:cNvPr>
          <p:cNvSpPr>
            <a:spLocks noGrp="1" noRot="1" noChangeArrowheads="1"/>
          </p:cNvSpPr>
          <p:nvPr>
            <p:ph type="title"/>
          </p:nvPr>
        </p:nvSpPr>
        <p:spPr/>
        <p:txBody>
          <a:bodyPr/>
          <a:lstStyle/>
          <a:p>
            <a:br>
              <a:rPr lang="en-US" altLang="zh-CN" sz="1800">
                <a:solidFill>
                  <a:schemeClr val="tx1"/>
                </a:solidFill>
              </a:rPr>
            </a:br>
            <a:endParaRPr lang="en-US" altLang="zh-CN" sz="1800">
              <a:solidFill>
                <a:schemeClr val="tx1"/>
              </a:solidFill>
            </a:endParaRPr>
          </a:p>
        </p:txBody>
      </p:sp>
      <p:sp>
        <p:nvSpPr>
          <p:cNvPr id="10243" name="Rectangle 3">
            <a:extLst>
              <a:ext uri="{FF2B5EF4-FFF2-40B4-BE49-F238E27FC236}">
                <a16:creationId xmlns:a16="http://schemas.microsoft.com/office/drawing/2014/main" id="{FC615D95-0EB1-E718-DA07-064A26868803}"/>
              </a:ext>
            </a:extLst>
          </p:cNvPr>
          <p:cNvSpPr>
            <a:spLocks noGrp="1" noRot="1" noChangeArrowheads="1"/>
          </p:cNvSpPr>
          <p:nvPr>
            <p:ph type="body" idx="1"/>
          </p:nvPr>
        </p:nvSpPr>
        <p:spPr/>
        <p:txBody>
          <a:bodyPr/>
          <a:lstStyle/>
          <a:p>
            <a:pPr>
              <a:lnSpc>
                <a:spcPct val="90000"/>
              </a:lnSpc>
              <a:buFont typeface="Wingdings" panose="05000000000000000000" pitchFamily="2" charset="2"/>
              <a:buNone/>
            </a:pPr>
            <a:r>
              <a:rPr lang="en-US" altLang="zh-CN" sz="1800"/>
              <a:t>     </a:t>
            </a:r>
            <a:r>
              <a:rPr lang="zh-CN" altLang="en-US" sz="1800"/>
              <a:t>５、平均可变成本</a:t>
            </a:r>
          </a:p>
          <a:p>
            <a:pPr>
              <a:lnSpc>
                <a:spcPct val="90000"/>
              </a:lnSpc>
              <a:buFont typeface="Wingdings" panose="05000000000000000000" pitchFamily="2" charset="2"/>
              <a:buNone/>
            </a:pPr>
            <a:r>
              <a:rPr lang="zh-CN" altLang="en-US" sz="1800"/>
              <a:t>     ６、平均总成本</a:t>
            </a:r>
          </a:p>
          <a:p>
            <a:pPr>
              <a:lnSpc>
                <a:spcPct val="90000"/>
              </a:lnSpc>
              <a:buFont typeface="Wingdings" panose="05000000000000000000" pitchFamily="2" charset="2"/>
              <a:buNone/>
            </a:pPr>
            <a:r>
              <a:rPr lang="zh-CN" altLang="en-US" sz="1800"/>
              <a:t>     ７、边际成本</a:t>
            </a:r>
          </a:p>
          <a:p>
            <a:pPr>
              <a:lnSpc>
                <a:spcPct val="90000"/>
              </a:lnSpc>
              <a:buFont typeface="Wingdings" panose="05000000000000000000" pitchFamily="2" charset="2"/>
              <a:buNone/>
            </a:pPr>
            <a:r>
              <a:rPr lang="zh-CN" altLang="en-US" sz="1800"/>
              <a:t>　　　</a:t>
            </a:r>
            <a:r>
              <a:rPr lang="en-US" altLang="zh-CN" sz="1800"/>
              <a:t>•</a:t>
            </a:r>
            <a:r>
              <a:rPr lang="zh-CN" altLang="en-US" sz="1800"/>
              <a:t>　可定义为增加一单位产出所增加的成本。</a:t>
            </a:r>
          </a:p>
          <a:p>
            <a:pPr>
              <a:lnSpc>
                <a:spcPct val="90000"/>
              </a:lnSpc>
              <a:buFont typeface="Wingdings" panose="05000000000000000000" pitchFamily="2" charset="2"/>
              <a:buNone/>
            </a:pPr>
            <a:r>
              <a:rPr lang="zh-CN" altLang="en-US" sz="1800"/>
              <a:t>　　　</a:t>
            </a:r>
            <a:r>
              <a:rPr lang="en-US" altLang="zh-CN" sz="1800"/>
              <a:t>•</a:t>
            </a:r>
            <a:r>
              <a:rPr lang="zh-CN" altLang="en-US" sz="1800"/>
              <a:t>　边际成本与产量的关系：随着产量的上升，边际成本从下降转为　　　上升。</a:t>
            </a:r>
          </a:p>
          <a:p>
            <a:pPr>
              <a:lnSpc>
                <a:spcPct val="90000"/>
              </a:lnSpc>
              <a:buFont typeface="Wingdings" panose="05000000000000000000" pitchFamily="2" charset="2"/>
              <a:buNone/>
            </a:pPr>
            <a:r>
              <a:rPr lang="zh-CN" altLang="en-US" sz="1800"/>
              <a:t>　　　</a:t>
            </a:r>
            <a:r>
              <a:rPr lang="en-US" altLang="zh-CN" sz="1800"/>
              <a:t>•</a:t>
            </a:r>
            <a:r>
              <a:rPr lang="zh-CN" altLang="en-US" sz="1800"/>
              <a:t>　边际成本与平均成本的关系：</a:t>
            </a:r>
          </a:p>
          <a:p>
            <a:pPr>
              <a:lnSpc>
                <a:spcPct val="90000"/>
              </a:lnSpc>
              <a:buFont typeface="Wingdings" panose="05000000000000000000" pitchFamily="2" charset="2"/>
              <a:buNone/>
            </a:pPr>
            <a:r>
              <a:rPr lang="zh-CN" altLang="en-US" sz="1800"/>
              <a:t>　　　　（１）边际成本小于平均成本时，平均成本下降，边际成本大于平　　　　　均成本时，平均成本上升；边际成本等于平均成本时，平均　　　　　成本处于最低点。</a:t>
            </a:r>
          </a:p>
          <a:p>
            <a:pPr>
              <a:lnSpc>
                <a:spcPct val="90000"/>
              </a:lnSpc>
              <a:buFont typeface="Wingdings" panose="05000000000000000000" pitchFamily="2" charset="2"/>
              <a:buNone/>
            </a:pPr>
            <a:r>
              <a:rPr lang="zh-CN" altLang="en-US" sz="1800"/>
              <a:t>　　　　（２）从图形上来看，边际成本曲线首先迅速下降，其下降速度快　　　　　于平均可变成本（</a:t>
            </a:r>
            <a:r>
              <a:rPr lang="en-US" altLang="zh-CN" sz="1800"/>
              <a:t>AVC</a:t>
            </a:r>
            <a:r>
              <a:rPr lang="zh-CN" altLang="en-US" sz="1800"/>
              <a:t>）曲线和平均总成本（</a:t>
            </a:r>
            <a:r>
              <a:rPr lang="en-US" altLang="zh-CN" sz="1800"/>
              <a:t>ATC</a:t>
            </a:r>
            <a:r>
              <a:rPr lang="zh-CN" altLang="en-US" sz="1800"/>
              <a:t>）曲线，然　　　　　后上升，分别与ＡＶＣ和ＡＴＣ曲线相交于它们的最低点。　　　　　这一点所对应的产量及为现有生产规模下的最佳产量。</a:t>
            </a:r>
          </a:p>
          <a:p>
            <a:pPr>
              <a:lnSpc>
                <a:spcPct val="90000"/>
              </a:lnSpc>
            </a:pPr>
            <a:endParaRPr lang="zh-CN" altLang="en-US" sz="1800"/>
          </a:p>
          <a:p>
            <a:pPr>
              <a:lnSpc>
                <a:spcPct val="90000"/>
              </a:lnSpc>
            </a:pPr>
            <a:endParaRPr lang="en-US" altLang="zh-CN"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additive="base">
                                        <p:cTn id="19" dur="500" fill="hold"/>
                                        <p:tgtEl>
                                          <p:spTgt spid="1024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243">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0243">
                                            <p:txEl>
                                              <p:pRg st="3" end="3"/>
                                            </p:txEl>
                                          </p:spTgt>
                                        </p:tgtEl>
                                        <p:attrNameLst>
                                          <p:attrName>style.visibility</p:attrName>
                                        </p:attrNameLst>
                                      </p:cBhvr>
                                      <p:to>
                                        <p:strVal val="visible"/>
                                      </p:to>
                                    </p:set>
                                    <p:anim calcmode="lin" valueType="num">
                                      <p:cBhvr additive="base">
                                        <p:cTn id="25" dur="500" fill="hold"/>
                                        <p:tgtEl>
                                          <p:spTgt spid="1024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243">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0243">
                                            <p:txEl>
                                              <p:pRg st="4" end="4"/>
                                            </p:txEl>
                                          </p:spTgt>
                                        </p:tgtEl>
                                        <p:attrNameLst>
                                          <p:attrName>style.visibility</p:attrName>
                                        </p:attrNameLst>
                                      </p:cBhvr>
                                      <p:to>
                                        <p:strVal val="visible"/>
                                      </p:to>
                                    </p:set>
                                    <p:anim calcmode="lin" valueType="num">
                                      <p:cBhvr additive="base">
                                        <p:cTn id="31" dur="500" fill="hold"/>
                                        <p:tgtEl>
                                          <p:spTgt spid="1024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243">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10243">
                                            <p:txEl>
                                              <p:pRg st="5" end="5"/>
                                            </p:txEl>
                                          </p:spTgt>
                                        </p:tgtEl>
                                        <p:attrNameLst>
                                          <p:attrName>style.visibility</p:attrName>
                                        </p:attrNameLst>
                                      </p:cBhvr>
                                      <p:to>
                                        <p:strVal val="visible"/>
                                      </p:to>
                                    </p:set>
                                    <p:anim calcmode="lin" valueType="num">
                                      <p:cBhvr additive="base">
                                        <p:cTn id="37" dur="500" fill="hold"/>
                                        <p:tgtEl>
                                          <p:spTgt spid="1024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243">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whoosh.wav"/>
                                        </p:tgtEl>
                                      </p:cMediaNode>
                                    </p:audio>
                                  </p:sub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10243">
                                            <p:txEl>
                                              <p:pRg st="6" end="6"/>
                                            </p:txEl>
                                          </p:spTgt>
                                        </p:tgtEl>
                                        <p:attrNameLst>
                                          <p:attrName>style.visibility</p:attrName>
                                        </p:attrNameLst>
                                      </p:cBhvr>
                                      <p:to>
                                        <p:strVal val="visible"/>
                                      </p:to>
                                    </p:set>
                                    <p:anim calcmode="lin" valueType="num">
                                      <p:cBhvr additive="base">
                                        <p:cTn id="43" dur="500" fill="hold"/>
                                        <p:tgtEl>
                                          <p:spTgt spid="1024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243">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whoosh.wav"/>
                                        </p:tgtEl>
                                      </p:cMediaNode>
                                    </p:audio>
                                  </p:sub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10243">
                                            <p:txEl>
                                              <p:pRg st="7" end="7"/>
                                            </p:txEl>
                                          </p:spTgt>
                                        </p:tgtEl>
                                        <p:attrNameLst>
                                          <p:attrName>style.visibility</p:attrName>
                                        </p:attrNameLst>
                                      </p:cBhvr>
                                      <p:to>
                                        <p:strVal val="visible"/>
                                      </p:to>
                                    </p:set>
                                    <p:anim calcmode="lin" valueType="num">
                                      <p:cBhvr additive="base">
                                        <p:cTn id="49" dur="500" fill="hold"/>
                                        <p:tgtEl>
                                          <p:spTgt spid="1024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0243">
                                            <p:txEl>
                                              <p:pRg st="7" end="7"/>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1F170A2E-AA5B-75DC-4DB5-57B25C949C22}"/>
              </a:ext>
            </a:extLst>
          </p:cNvPr>
          <p:cNvSpPr>
            <a:spLocks noGrp="1" noRot="1" noChangeArrowheads="1"/>
          </p:cNvSpPr>
          <p:nvPr>
            <p:ph type="title"/>
          </p:nvPr>
        </p:nvSpPr>
        <p:spPr/>
        <p:txBody>
          <a:bodyPr/>
          <a:lstStyle/>
          <a:p>
            <a:endParaRPr lang="zh-CN" altLang="zh-CN" sz="1800">
              <a:solidFill>
                <a:schemeClr val="tx1"/>
              </a:solidFill>
            </a:endParaRPr>
          </a:p>
        </p:txBody>
      </p:sp>
      <p:sp>
        <p:nvSpPr>
          <p:cNvPr id="41987" name="Rectangle 3">
            <a:extLst>
              <a:ext uri="{FF2B5EF4-FFF2-40B4-BE49-F238E27FC236}">
                <a16:creationId xmlns:a16="http://schemas.microsoft.com/office/drawing/2014/main" id="{17CD502C-86D8-563B-C734-D9224506CBAA}"/>
              </a:ext>
            </a:extLst>
          </p:cNvPr>
          <p:cNvSpPr>
            <a:spLocks noGrp="1" noRot="1" noChangeArrowheads="1"/>
          </p:cNvSpPr>
          <p:nvPr>
            <p:ph type="body" idx="1"/>
          </p:nvPr>
        </p:nvSpPr>
        <p:spPr/>
        <p:txBody>
          <a:bodyPr/>
          <a:lstStyle/>
          <a:p>
            <a:r>
              <a:rPr lang="zh-CN" altLang="en-US" sz="2400"/>
              <a:t>萨谬尔森提出的总成本与停业条件的关系</a:t>
            </a:r>
          </a:p>
          <a:p>
            <a:pPr>
              <a:buFont typeface="Wingdings" panose="05000000000000000000" pitchFamily="2" charset="2"/>
              <a:buNone/>
            </a:pPr>
            <a:r>
              <a:rPr lang="zh-CN" altLang="en-US" sz="2400"/>
              <a:t>　企业在收入刚好抵补它的可变成本或者损失刚好等于固定成本时，停业点就会出现。当价格低于该水平，致使收入无法抵补它的可变成本时，企业就会停业以使其损失最小化。</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1987">
                                            <p:txEl>
                                              <p:pRg st="0" end="0"/>
                                            </p:txEl>
                                          </p:spTgt>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1987">
                                            <p:txEl>
                                              <p:pRg st="1" end="1"/>
                                            </p:txEl>
                                          </p:spTgt>
                                        </p:tgtEl>
                                        <p:attrNameLst>
                                          <p:attrName>style.visibility</p:attrName>
                                        </p:attrNameLst>
                                      </p:cBhvr>
                                      <p:to>
                                        <p:strVal val="visible"/>
                                      </p:to>
                                    </p:set>
                                  </p:childTnLst>
                                  <p:subTnLst>
                                    <p:audio>
                                      <p:cMediaNode>
                                        <p:cTn display="0" masterRel="sameClick">
                                          <p:stCondLst>
                                            <p:cond evt="begin" delay="0">
                                              <p:tn val="9"/>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CCF38A05-6286-D788-C2CF-FB02416C7ABA}"/>
              </a:ext>
            </a:extLst>
          </p:cNvPr>
          <p:cNvSpPr>
            <a:spLocks noGrp="1" noRot="1" noChangeArrowheads="1"/>
          </p:cNvSpPr>
          <p:nvPr>
            <p:ph type="title"/>
          </p:nvPr>
        </p:nvSpPr>
        <p:spPr/>
        <p:txBody>
          <a:bodyPr/>
          <a:lstStyle/>
          <a:p>
            <a:r>
              <a:rPr lang="zh-CN" altLang="en-US" sz="2400"/>
              <a:t>二、短期成本曲线的相互关系</a:t>
            </a:r>
          </a:p>
        </p:txBody>
      </p:sp>
      <p:sp>
        <p:nvSpPr>
          <p:cNvPr id="40963" name="Rectangle 3">
            <a:extLst>
              <a:ext uri="{FF2B5EF4-FFF2-40B4-BE49-F238E27FC236}">
                <a16:creationId xmlns:a16="http://schemas.microsoft.com/office/drawing/2014/main" id="{49A9FA3E-1664-354E-2F24-35476843E6B1}"/>
              </a:ext>
            </a:extLst>
          </p:cNvPr>
          <p:cNvSpPr>
            <a:spLocks noGrp="1" noRot="1" noChangeArrowheads="1"/>
          </p:cNvSpPr>
          <p:nvPr>
            <p:ph type="body" idx="1"/>
          </p:nvPr>
        </p:nvSpPr>
        <p:spPr/>
        <p:txBody>
          <a:bodyPr/>
          <a:lstStyle/>
          <a:p>
            <a:pPr>
              <a:buFont typeface="Wingdings" panose="05000000000000000000" pitchFamily="2" charset="2"/>
              <a:buNone/>
            </a:pPr>
            <a:r>
              <a:rPr lang="en-US" altLang="zh-CN" sz="2400"/>
              <a:t>    1</a:t>
            </a:r>
            <a:r>
              <a:rPr lang="zh-CN" altLang="en-US" sz="2400"/>
              <a:t>、平均</a:t>
            </a:r>
            <a:r>
              <a:rPr lang="zh-CN" altLang="en-US" sz="2400">
                <a:latin typeface="Times New Roman" panose="02020603050405020304" pitchFamily="18" charset="0"/>
              </a:rPr>
              <a:t>固定成本</a:t>
            </a:r>
            <a:r>
              <a:rPr lang="en-US" altLang="zh-CN" sz="2400"/>
              <a:t>AFC </a:t>
            </a:r>
            <a:r>
              <a:rPr lang="zh-CN" altLang="en-US" sz="2400">
                <a:latin typeface="Times New Roman" panose="02020603050405020304" pitchFamily="18" charset="0"/>
              </a:rPr>
              <a:t>随产量的增加而减少；</a:t>
            </a:r>
          </a:p>
          <a:p>
            <a:pPr>
              <a:buFont typeface="Wingdings" panose="05000000000000000000" pitchFamily="2" charset="2"/>
              <a:buNone/>
            </a:pPr>
            <a:r>
              <a:rPr lang="zh-CN" altLang="en-US" sz="2400">
                <a:latin typeface="Times New Roman" panose="02020603050405020304" pitchFamily="18" charset="0"/>
              </a:rPr>
              <a:t>     </a:t>
            </a:r>
            <a:r>
              <a:rPr lang="en-US" altLang="zh-CN" sz="2400">
                <a:latin typeface="Times New Roman" panose="02020603050405020304" pitchFamily="18" charset="0"/>
              </a:rPr>
              <a:t>2</a:t>
            </a:r>
            <a:r>
              <a:rPr lang="zh-CN" altLang="en-US" sz="2400">
                <a:latin typeface="Times New Roman" panose="02020603050405020304" pitchFamily="18" charset="0"/>
              </a:rPr>
              <a:t>、随着产量的增加，平均变动成本</a:t>
            </a:r>
            <a:r>
              <a:rPr lang="en-US" altLang="zh-CN" sz="2400">
                <a:latin typeface="Times New Roman" panose="02020603050405020304" pitchFamily="18" charset="0"/>
              </a:rPr>
              <a:t>AVC </a:t>
            </a:r>
            <a:r>
              <a:rPr lang="zh-CN" altLang="en-US" sz="2400">
                <a:latin typeface="Times New Roman" panose="02020603050405020304" pitchFamily="18" charset="0"/>
              </a:rPr>
              <a:t>曲线下降到最低点，之后，由于收益递减规律的作用，曲线上升，呈Ｕ型；</a:t>
            </a:r>
            <a:endParaRPr lang="zh-CN" altLang="en-US" sz="2400"/>
          </a:p>
          <a:p>
            <a:pPr>
              <a:buFont typeface="Wingdings" panose="05000000000000000000" pitchFamily="2" charset="2"/>
              <a:buNone/>
            </a:pPr>
            <a:r>
              <a:rPr lang="zh-CN" altLang="en-US" sz="2400"/>
              <a:t>    </a:t>
            </a:r>
            <a:r>
              <a:rPr lang="en-US" altLang="zh-CN" sz="2400"/>
              <a:t>3</a:t>
            </a:r>
            <a:r>
              <a:rPr lang="zh-CN" altLang="en-US" sz="2400"/>
              <a:t>、</a:t>
            </a:r>
            <a:r>
              <a:rPr lang="zh-CN" altLang="en-US" sz="2400">
                <a:latin typeface="Times New Roman" panose="02020603050405020304" pitchFamily="18" charset="0"/>
              </a:rPr>
              <a:t>当产量增加时，</a:t>
            </a:r>
            <a:r>
              <a:rPr lang="en-US" altLang="zh-CN" sz="2400"/>
              <a:t>ATC </a:t>
            </a:r>
            <a:r>
              <a:rPr lang="zh-CN" altLang="en-US" sz="2400">
                <a:latin typeface="Times New Roman" panose="02020603050405020304" pitchFamily="18" charset="0"/>
              </a:rPr>
              <a:t>曲线与</a:t>
            </a:r>
            <a:r>
              <a:rPr lang="en-US" altLang="zh-CN" sz="2400"/>
              <a:t>AVC </a:t>
            </a:r>
            <a:r>
              <a:rPr lang="zh-CN" altLang="en-US" sz="2400">
                <a:latin typeface="Times New Roman" panose="02020603050405020304" pitchFamily="18" charset="0"/>
              </a:rPr>
              <a:t>曲线愈来愈接近；</a:t>
            </a:r>
          </a:p>
          <a:p>
            <a:pPr>
              <a:buFont typeface="Wingdings" panose="05000000000000000000" pitchFamily="2" charset="2"/>
              <a:buNone/>
            </a:pPr>
            <a:r>
              <a:rPr lang="zh-CN" altLang="en-US" sz="2400">
                <a:latin typeface="Times New Roman" panose="02020603050405020304" pitchFamily="18" charset="0"/>
              </a:rPr>
              <a:t>     </a:t>
            </a:r>
            <a:r>
              <a:rPr lang="en-US" altLang="zh-CN" sz="2400">
                <a:latin typeface="Times New Roman" panose="02020603050405020304" pitchFamily="18" charset="0"/>
              </a:rPr>
              <a:t>4</a:t>
            </a:r>
            <a:r>
              <a:rPr lang="zh-CN" altLang="en-US" sz="2400">
                <a:latin typeface="Times New Roman" panose="02020603050405020304" pitchFamily="18" charset="0"/>
              </a:rPr>
              <a:t>、只要生产的边际成本小于在此之前的平均总成本，新计算的平均总成本</a:t>
            </a:r>
            <a:r>
              <a:rPr lang="en-US" altLang="zh-CN" sz="2400">
                <a:latin typeface="Times New Roman" panose="02020603050405020304" pitchFamily="18" charset="0"/>
              </a:rPr>
              <a:t>ATC</a:t>
            </a:r>
            <a:r>
              <a:rPr lang="zh-CN" altLang="en-US" sz="2400">
                <a:latin typeface="Times New Roman" panose="02020603050405020304" pitchFamily="18" charset="0"/>
              </a:rPr>
              <a:t>就会下降；</a:t>
            </a:r>
          </a:p>
          <a:p>
            <a:pPr>
              <a:buFont typeface="Wingdings" panose="05000000000000000000" pitchFamily="2" charset="2"/>
              <a:buNone/>
            </a:pPr>
            <a:r>
              <a:rPr lang="zh-CN" altLang="en-US" sz="2400">
                <a:latin typeface="Times New Roman" panose="02020603050405020304" pitchFamily="18" charset="0"/>
              </a:rPr>
              <a:t>     </a:t>
            </a:r>
            <a:r>
              <a:rPr lang="en-US" altLang="zh-CN" sz="2400">
                <a:latin typeface="Times New Roman" panose="02020603050405020304" pitchFamily="18" charset="0"/>
              </a:rPr>
              <a:t>5</a:t>
            </a:r>
            <a:r>
              <a:rPr lang="zh-CN" altLang="en-US" sz="2400">
                <a:latin typeface="Times New Roman" panose="02020603050405020304" pitchFamily="18" charset="0"/>
              </a:rPr>
              <a:t>、边际成本</a:t>
            </a:r>
            <a:r>
              <a:rPr lang="en-US" altLang="zh-CN" sz="2400">
                <a:latin typeface="Times New Roman" panose="02020603050405020304" pitchFamily="18" charset="0"/>
              </a:rPr>
              <a:t>MC</a:t>
            </a:r>
            <a:r>
              <a:rPr lang="zh-CN" altLang="en-US" sz="2400">
                <a:latin typeface="Times New Roman" panose="02020603050405020304" pitchFamily="18" charset="0"/>
              </a:rPr>
              <a:t>也呈Ｕ型，但其最低点由</a:t>
            </a:r>
            <a:r>
              <a:rPr lang="en-US" altLang="zh-CN" sz="2400">
                <a:latin typeface="Times New Roman" panose="02020603050405020304" pitchFamily="18" charset="0"/>
              </a:rPr>
              <a:t>TVC</a:t>
            </a:r>
            <a:r>
              <a:rPr lang="zh-CN" altLang="en-US" sz="2400">
                <a:latin typeface="Times New Roman" panose="02020603050405020304" pitchFamily="18" charset="0"/>
              </a:rPr>
              <a:t>曲线的拐点Ａ和相应的产出水平</a:t>
            </a:r>
            <a:r>
              <a:rPr lang="en-US" altLang="zh-CN" sz="2400">
                <a:latin typeface="Times New Roman" panose="02020603050405020304" pitchFamily="18" charset="0"/>
              </a:rPr>
              <a:t>Qa</a:t>
            </a:r>
            <a:r>
              <a:rPr lang="zh-CN" altLang="en-US" sz="2400">
                <a:latin typeface="Times New Roman" panose="02020603050405020304" pitchFamily="18" charset="0"/>
              </a:rPr>
              <a:t>所决定。  </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 calcmode="lin" valueType="num">
                                      <p:cBhvr additive="base">
                                        <p:cTn id="7" dur="500" fill="hold"/>
                                        <p:tgtEl>
                                          <p:spTgt spid="409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09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0963">
                                            <p:txEl>
                                              <p:pRg st="1" end="1"/>
                                            </p:txEl>
                                          </p:spTgt>
                                        </p:tgtEl>
                                        <p:attrNameLst>
                                          <p:attrName>style.visibility</p:attrName>
                                        </p:attrNameLst>
                                      </p:cBhvr>
                                      <p:to>
                                        <p:strVal val="visible"/>
                                      </p:to>
                                    </p:set>
                                    <p:anim calcmode="lin" valueType="num">
                                      <p:cBhvr additive="base">
                                        <p:cTn id="13" dur="500" fill="hold"/>
                                        <p:tgtEl>
                                          <p:spTgt spid="4096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096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40963">
                                            <p:txEl>
                                              <p:pRg st="2" end="2"/>
                                            </p:txEl>
                                          </p:spTgt>
                                        </p:tgtEl>
                                        <p:attrNameLst>
                                          <p:attrName>style.visibility</p:attrName>
                                        </p:attrNameLst>
                                      </p:cBhvr>
                                      <p:to>
                                        <p:strVal val="visible"/>
                                      </p:to>
                                    </p:set>
                                    <p:anim calcmode="lin" valueType="num">
                                      <p:cBhvr additive="base">
                                        <p:cTn id="19" dur="500" fill="hold"/>
                                        <p:tgtEl>
                                          <p:spTgt spid="4096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096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40963">
                                            <p:txEl>
                                              <p:pRg st="3" end="3"/>
                                            </p:txEl>
                                          </p:spTgt>
                                        </p:tgtEl>
                                        <p:attrNameLst>
                                          <p:attrName>style.visibility</p:attrName>
                                        </p:attrNameLst>
                                      </p:cBhvr>
                                      <p:to>
                                        <p:strVal val="visible"/>
                                      </p:to>
                                    </p:set>
                                    <p:anim calcmode="lin" valueType="num">
                                      <p:cBhvr additive="base">
                                        <p:cTn id="25" dur="500" fill="hold"/>
                                        <p:tgtEl>
                                          <p:spTgt spid="4096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096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40963">
                                            <p:txEl>
                                              <p:pRg st="4" end="4"/>
                                            </p:txEl>
                                          </p:spTgt>
                                        </p:tgtEl>
                                        <p:attrNameLst>
                                          <p:attrName>style.visibility</p:attrName>
                                        </p:attrNameLst>
                                      </p:cBhvr>
                                      <p:to>
                                        <p:strVal val="visible"/>
                                      </p:to>
                                    </p:set>
                                    <p:anim calcmode="lin" valueType="num">
                                      <p:cBhvr additive="base">
                                        <p:cTn id="31" dur="500" fill="hold"/>
                                        <p:tgtEl>
                                          <p:spTgt spid="4096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096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82D48AAE-36C4-96BA-F5AA-A1CC2BF9C24E}"/>
              </a:ext>
            </a:extLst>
          </p:cNvPr>
          <p:cNvSpPr>
            <a:spLocks noGrp="1" noRot="1" noChangeArrowheads="1"/>
          </p:cNvSpPr>
          <p:nvPr>
            <p:ph type="title"/>
          </p:nvPr>
        </p:nvSpPr>
        <p:spPr/>
        <p:txBody>
          <a:bodyPr/>
          <a:lstStyle/>
          <a:p>
            <a:r>
              <a:rPr lang="zh-CN" altLang="en-US"/>
              <a:t>三、生产</a:t>
            </a:r>
            <a:r>
              <a:rPr lang="en-US" altLang="zh-CN"/>
              <a:t>-</a:t>
            </a:r>
            <a:r>
              <a:rPr lang="zh-CN" altLang="en-US"/>
              <a:t>成本的对偶性</a:t>
            </a:r>
          </a:p>
        </p:txBody>
      </p:sp>
      <p:sp>
        <p:nvSpPr>
          <p:cNvPr id="11267" name="Rectangle 3">
            <a:extLst>
              <a:ext uri="{FF2B5EF4-FFF2-40B4-BE49-F238E27FC236}">
                <a16:creationId xmlns:a16="http://schemas.microsoft.com/office/drawing/2014/main" id="{4983504F-940C-DB52-1FB4-C230CA4B67A4}"/>
              </a:ext>
            </a:extLst>
          </p:cNvPr>
          <p:cNvSpPr>
            <a:spLocks noGrp="1" noRot="1" noChangeArrowheads="1"/>
          </p:cNvSpPr>
          <p:nvPr>
            <p:ph type="body" idx="1"/>
          </p:nvPr>
        </p:nvSpPr>
        <p:spPr>
          <a:xfrm>
            <a:off x="457200" y="2017713"/>
            <a:ext cx="8497888" cy="4114800"/>
          </a:xfrm>
        </p:spPr>
        <p:txBody>
          <a:bodyPr/>
          <a:lstStyle/>
          <a:p>
            <a:pPr>
              <a:buFont typeface="Wingdings" panose="05000000000000000000" pitchFamily="2" charset="2"/>
              <a:buNone/>
            </a:pPr>
            <a:r>
              <a:rPr lang="en-US" altLang="zh-CN" sz="2800">
                <a:latin typeface="Times New Roman" panose="02020603050405020304" pitchFamily="18" charset="0"/>
              </a:rPr>
              <a:t>        </a:t>
            </a:r>
            <a:r>
              <a:rPr lang="zh-CN" altLang="en-US" sz="2800">
                <a:latin typeface="Times New Roman" panose="02020603050405020304" pitchFamily="18" charset="0"/>
              </a:rPr>
              <a:t>对偶性是指二者之间存在着相关相反的关系 </a:t>
            </a:r>
          </a:p>
          <a:p>
            <a:pPr lvl="2"/>
            <a:r>
              <a:rPr lang="zh-CN" altLang="en-US" sz="2000">
                <a:latin typeface="Times New Roman" panose="02020603050405020304" pitchFamily="18" charset="0"/>
              </a:rPr>
              <a:t>首先，所有成本曲线的形状（固定成本除外），都是由生产曲线的形状（特性）所决定。 </a:t>
            </a:r>
          </a:p>
          <a:p>
            <a:pPr lvl="2"/>
            <a:r>
              <a:rPr lang="zh-CN" altLang="en-US" sz="2000">
                <a:latin typeface="Times New Roman" panose="02020603050405020304" pitchFamily="18" charset="0"/>
              </a:rPr>
              <a:t>其次，生产活动的有效性，必然带来成本行为的有效性；相反，生产活动的无效性，也会导致成本活动将反向变化。 </a:t>
            </a:r>
          </a:p>
          <a:p>
            <a:pPr lvl="2"/>
            <a:r>
              <a:rPr lang="en-US" altLang="zh-CN" sz="2000">
                <a:latin typeface="Times New Roman" panose="02020603050405020304" pitchFamily="18" charset="0"/>
              </a:rPr>
              <a:t>MC=PL/MPL                      AVC=PL/APL</a:t>
            </a:r>
          </a:p>
          <a:p>
            <a:pPr lvl="2"/>
            <a:r>
              <a:rPr lang="zh-CN" altLang="en-US" sz="2000">
                <a:latin typeface="Times New Roman" panose="02020603050405020304" pitchFamily="18" charset="0"/>
              </a:rPr>
              <a:t>最后，在一定预算</a:t>
            </a:r>
            <a:r>
              <a:rPr lang="en-US" altLang="zh-CN" sz="2000">
                <a:latin typeface="Times New Roman" panose="02020603050405020304" pitchFamily="18" charset="0"/>
              </a:rPr>
              <a:t>(</a:t>
            </a:r>
            <a:r>
              <a:rPr lang="zh-CN" altLang="en-US" sz="2000">
                <a:latin typeface="Times New Roman" panose="02020603050405020304" pitchFamily="18" charset="0"/>
              </a:rPr>
              <a:t>成本</a:t>
            </a:r>
            <a:r>
              <a:rPr lang="en-US" altLang="zh-CN" sz="2000">
                <a:latin typeface="Times New Roman" panose="02020603050405020304" pitchFamily="18" charset="0"/>
              </a:rPr>
              <a:t>)</a:t>
            </a:r>
            <a:r>
              <a:rPr lang="zh-CN" altLang="en-US" sz="2000">
                <a:latin typeface="Times New Roman" panose="02020603050405020304" pitchFamily="18" charset="0"/>
              </a:rPr>
              <a:t>约束下的产量最大优问题，等同于在一定产出水平下的成本最小化问题。二者之间为对偶关系，其数学表示如下：</a:t>
            </a:r>
          </a:p>
          <a:p>
            <a:pPr lvl="2"/>
            <a:r>
              <a:rPr lang="en-US" altLang="zh-CN" sz="2000">
                <a:latin typeface="Times New Roman" panose="02020603050405020304" pitchFamily="18" charset="0"/>
              </a:rPr>
              <a:t>MAX Q=f </a:t>
            </a:r>
            <a:r>
              <a:rPr lang="zh-CN" altLang="en-US" sz="2000">
                <a:latin typeface="Times New Roman" panose="02020603050405020304" pitchFamily="18" charset="0"/>
              </a:rPr>
              <a:t>（</a:t>
            </a:r>
            <a:r>
              <a:rPr lang="en-US" altLang="zh-CN" sz="2000">
                <a:latin typeface="Times New Roman" panose="02020603050405020304" pitchFamily="18" charset="0"/>
              </a:rPr>
              <a:t>L</a:t>
            </a:r>
            <a:r>
              <a:rPr lang="zh-CN" altLang="en-US" sz="2000">
                <a:latin typeface="Times New Roman" panose="02020603050405020304" pitchFamily="18" charset="0"/>
              </a:rPr>
              <a:t>， </a:t>
            </a:r>
            <a:r>
              <a:rPr lang="en-US" altLang="zh-CN" sz="2000">
                <a:latin typeface="Times New Roman" panose="02020603050405020304" pitchFamily="18" charset="0"/>
              </a:rPr>
              <a:t>K</a:t>
            </a:r>
            <a:r>
              <a:rPr lang="zh-CN" altLang="en-US" sz="2000">
                <a:latin typeface="Times New Roman" panose="02020603050405020304" pitchFamily="18" charset="0"/>
              </a:rPr>
              <a:t>）                         </a:t>
            </a:r>
            <a:r>
              <a:rPr lang="en-US" altLang="zh-CN" sz="2000">
                <a:latin typeface="Times New Roman" panose="02020603050405020304" pitchFamily="18" charset="0"/>
              </a:rPr>
              <a:t>MIN  TC=PLL + PkK</a:t>
            </a:r>
          </a:p>
          <a:p>
            <a:pPr lvl="2"/>
            <a:r>
              <a:rPr lang="en-US" altLang="zh-CN" sz="2000">
                <a:latin typeface="Times New Roman" panose="02020603050405020304" pitchFamily="18" charset="0"/>
              </a:rPr>
              <a:t>s.  t  TC=PLL + PkK                        s.  t     Q0= f </a:t>
            </a:r>
            <a:r>
              <a:rPr lang="zh-CN" altLang="en-US" sz="2000">
                <a:latin typeface="Times New Roman" panose="02020603050405020304" pitchFamily="18" charset="0"/>
              </a:rPr>
              <a:t>（</a:t>
            </a:r>
            <a:r>
              <a:rPr lang="en-US" altLang="zh-CN" sz="2000">
                <a:latin typeface="Times New Roman" panose="02020603050405020304" pitchFamily="18" charset="0"/>
              </a:rPr>
              <a:t>L</a:t>
            </a:r>
            <a:r>
              <a:rPr lang="zh-CN" altLang="en-US" sz="2000">
                <a:latin typeface="Times New Roman" panose="02020603050405020304" pitchFamily="18" charset="0"/>
              </a:rPr>
              <a:t>， </a:t>
            </a:r>
            <a:r>
              <a:rPr lang="en-US" altLang="zh-CN" sz="2000">
                <a:latin typeface="Times New Roman" panose="02020603050405020304" pitchFamily="18" charset="0"/>
              </a:rPr>
              <a:t>K</a:t>
            </a:r>
            <a:r>
              <a:rPr lang="zh-CN" altLang="en-US" sz="2000">
                <a:latin typeface="Times New Roman" panose="02020603050405020304" pitchFamily="18" charset="0"/>
              </a:rPr>
              <a:t>） </a:t>
            </a:r>
          </a:p>
          <a:p>
            <a:pPr lvl="2"/>
            <a:endParaRPr lang="en-US" altLang="zh-CN" sz="20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 calcmode="lin" valueType="num">
                                      <p:cBhvr additive="base">
                                        <p:cTn id="7" dur="500" fill="hold"/>
                                        <p:tgtEl>
                                          <p:spTgt spid="112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7">
                                            <p:txEl>
                                              <p:pRg st="0" end="0"/>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par>
                                <p:cTn id="9" presetID="2" presetClass="entr" presetSubtype="4" fill="hold" nodeType="withEffect">
                                  <p:stCondLst>
                                    <p:cond delay="0"/>
                                  </p:stCondLst>
                                  <p:childTnLst>
                                    <p:set>
                                      <p:cBhvr>
                                        <p:cTn id="10" dur="1" fill="hold">
                                          <p:stCondLst>
                                            <p:cond delay="0"/>
                                          </p:stCondLst>
                                        </p:cTn>
                                        <p:tgtEl>
                                          <p:spTgt spid="11267">
                                            <p:txEl>
                                              <p:pRg st="1" end="1"/>
                                            </p:txEl>
                                          </p:spTgt>
                                        </p:tgtEl>
                                        <p:attrNameLst>
                                          <p:attrName>style.visibility</p:attrName>
                                        </p:attrNameLst>
                                      </p:cBhvr>
                                      <p:to>
                                        <p:strVal val="visible"/>
                                      </p:to>
                                    </p:set>
                                    <p:anim calcmode="lin" valueType="num">
                                      <p:cBhvr additive="base">
                                        <p:cTn id="11" dur="500" fill="hold"/>
                                        <p:tgtEl>
                                          <p:spTgt spid="1126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267">
                                            <p:txEl>
                                              <p:pRg st="1" end="1"/>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9"/>
                                            </p:cond>
                                          </p:stCondLst>
                                          <p:endCondLst>
                                            <p:cond evt="onStopAudio" delay="0">
                                              <p:tgtEl>
                                                <p:sldTgt/>
                                              </p:tgtEl>
                                            </p:cond>
                                          </p:endCondLst>
                                        </p:cTn>
                                        <p:tgtEl>
                                          <p:sndTgt r:embed="rId2" name="whoosh.wav"/>
                                        </p:tgtEl>
                                      </p:cMediaNode>
                                    </p:audio>
                                  </p:subTnLst>
                                </p:cTn>
                              </p:par>
                              <p:par>
                                <p:cTn id="13" presetID="2" presetClass="entr" presetSubtype="4" fill="hold" nodeType="withEffect">
                                  <p:stCondLst>
                                    <p:cond delay="0"/>
                                  </p:stCondLst>
                                  <p:childTnLst>
                                    <p:set>
                                      <p:cBhvr>
                                        <p:cTn id="14" dur="1" fill="hold">
                                          <p:stCondLst>
                                            <p:cond delay="0"/>
                                          </p:stCondLst>
                                        </p:cTn>
                                        <p:tgtEl>
                                          <p:spTgt spid="11267">
                                            <p:txEl>
                                              <p:pRg st="2" end="2"/>
                                            </p:txEl>
                                          </p:spTgt>
                                        </p:tgtEl>
                                        <p:attrNameLst>
                                          <p:attrName>style.visibility</p:attrName>
                                        </p:attrNameLst>
                                      </p:cBhvr>
                                      <p:to>
                                        <p:strVal val="visible"/>
                                      </p:to>
                                    </p:set>
                                    <p:anim calcmode="lin" valueType="num">
                                      <p:cBhvr additive="base">
                                        <p:cTn id="15" dur="500" fill="hold"/>
                                        <p:tgtEl>
                                          <p:spTgt spid="1126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267">
                                            <p:txEl>
                                              <p:pRg st="2" end="2"/>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3"/>
                                            </p:cond>
                                          </p:stCondLst>
                                          <p:endCondLst>
                                            <p:cond evt="onStopAudio" delay="0">
                                              <p:tgtEl>
                                                <p:sldTgt/>
                                              </p:tgtEl>
                                            </p:cond>
                                          </p:endCondLst>
                                        </p:cTn>
                                        <p:tgtEl>
                                          <p:sndTgt r:embed="rId2" name="whoosh.wav"/>
                                        </p:tgtEl>
                                      </p:cMediaNode>
                                    </p:audio>
                                  </p:subTnLst>
                                </p:cTn>
                              </p:par>
                              <p:par>
                                <p:cTn id="17" presetID="2" presetClass="entr" presetSubtype="4" fill="hold" nodeType="withEffect">
                                  <p:stCondLst>
                                    <p:cond delay="0"/>
                                  </p:stCondLst>
                                  <p:childTnLst>
                                    <p:set>
                                      <p:cBhvr>
                                        <p:cTn id="18" dur="1" fill="hold">
                                          <p:stCondLst>
                                            <p:cond delay="0"/>
                                          </p:stCondLst>
                                        </p:cTn>
                                        <p:tgtEl>
                                          <p:spTgt spid="11267">
                                            <p:txEl>
                                              <p:pRg st="3" end="3"/>
                                            </p:txEl>
                                          </p:spTgt>
                                        </p:tgtEl>
                                        <p:attrNameLst>
                                          <p:attrName>style.visibility</p:attrName>
                                        </p:attrNameLst>
                                      </p:cBhvr>
                                      <p:to>
                                        <p:strVal val="visible"/>
                                      </p:to>
                                    </p:set>
                                    <p:anim calcmode="lin" valueType="num">
                                      <p:cBhvr additive="base">
                                        <p:cTn id="19" dur="500" fill="hold"/>
                                        <p:tgtEl>
                                          <p:spTgt spid="1126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267">
                                            <p:txEl>
                                              <p:pRg st="3" end="3"/>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par>
                                <p:cTn id="21" presetID="2" presetClass="entr" presetSubtype="4" fill="hold" nodeType="withEffect">
                                  <p:stCondLst>
                                    <p:cond delay="0"/>
                                  </p:stCondLst>
                                  <p:childTnLst>
                                    <p:set>
                                      <p:cBhvr>
                                        <p:cTn id="22" dur="1" fill="hold">
                                          <p:stCondLst>
                                            <p:cond delay="0"/>
                                          </p:stCondLst>
                                        </p:cTn>
                                        <p:tgtEl>
                                          <p:spTgt spid="11267">
                                            <p:txEl>
                                              <p:pRg st="4" end="4"/>
                                            </p:txEl>
                                          </p:spTgt>
                                        </p:tgtEl>
                                        <p:attrNameLst>
                                          <p:attrName>style.visibility</p:attrName>
                                        </p:attrNameLst>
                                      </p:cBhvr>
                                      <p:to>
                                        <p:strVal val="visible"/>
                                      </p:to>
                                    </p:set>
                                    <p:anim calcmode="lin" valueType="num">
                                      <p:cBhvr additive="base">
                                        <p:cTn id="23" dur="500" fill="hold"/>
                                        <p:tgtEl>
                                          <p:spTgt spid="1126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1267">
                                            <p:txEl>
                                              <p:pRg st="4" end="4"/>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1"/>
                                            </p:cond>
                                          </p:stCondLst>
                                          <p:endCondLst>
                                            <p:cond evt="onStopAudio" delay="0">
                                              <p:tgtEl>
                                                <p:sldTgt/>
                                              </p:tgtEl>
                                            </p:cond>
                                          </p:endCondLst>
                                        </p:cTn>
                                        <p:tgtEl>
                                          <p:sndTgt r:embed="rId2" name="whoosh.wav"/>
                                        </p:tgtEl>
                                      </p:cMediaNode>
                                    </p:audio>
                                  </p:subTnLst>
                                </p:cTn>
                              </p:par>
                              <p:par>
                                <p:cTn id="25" presetID="2" presetClass="entr" presetSubtype="4" fill="hold" nodeType="withEffect">
                                  <p:stCondLst>
                                    <p:cond delay="0"/>
                                  </p:stCondLst>
                                  <p:childTnLst>
                                    <p:set>
                                      <p:cBhvr>
                                        <p:cTn id="26" dur="1" fill="hold">
                                          <p:stCondLst>
                                            <p:cond delay="0"/>
                                          </p:stCondLst>
                                        </p:cTn>
                                        <p:tgtEl>
                                          <p:spTgt spid="11267">
                                            <p:txEl>
                                              <p:pRg st="5" end="5"/>
                                            </p:txEl>
                                          </p:spTgt>
                                        </p:tgtEl>
                                        <p:attrNameLst>
                                          <p:attrName>style.visibility</p:attrName>
                                        </p:attrNameLst>
                                      </p:cBhvr>
                                      <p:to>
                                        <p:strVal val="visible"/>
                                      </p:to>
                                    </p:set>
                                    <p:anim calcmode="lin" valueType="num">
                                      <p:cBhvr additive="base">
                                        <p:cTn id="27" dur="500" fill="hold"/>
                                        <p:tgtEl>
                                          <p:spTgt spid="11267">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1267">
                                            <p:txEl>
                                              <p:pRg st="5" end="5"/>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2" name="whoosh.wav"/>
                                        </p:tgtEl>
                                      </p:cMediaNode>
                                    </p:audio>
                                  </p:subTnLst>
                                </p:cTn>
                              </p:par>
                              <p:par>
                                <p:cTn id="29" presetID="2" presetClass="entr" presetSubtype="4" fill="hold" nodeType="withEffect">
                                  <p:stCondLst>
                                    <p:cond delay="0"/>
                                  </p:stCondLst>
                                  <p:childTnLst>
                                    <p:set>
                                      <p:cBhvr>
                                        <p:cTn id="30" dur="1" fill="hold">
                                          <p:stCondLst>
                                            <p:cond delay="0"/>
                                          </p:stCondLst>
                                        </p:cTn>
                                        <p:tgtEl>
                                          <p:spTgt spid="11267">
                                            <p:txEl>
                                              <p:pRg st="6" end="6"/>
                                            </p:txEl>
                                          </p:spTgt>
                                        </p:tgtEl>
                                        <p:attrNameLst>
                                          <p:attrName>style.visibility</p:attrName>
                                        </p:attrNameLst>
                                      </p:cBhvr>
                                      <p:to>
                                        <p:strVal val="visible"/>
                                      </p:to>
                                    </p:set>
                                    <p:anim calcmode="lin" valueType="num">
                                      <p:cBhvr additive="base">
                                        <p:cTn id="31" dur="500" fill="hold"/>
                                        <p:tgtEl>
                                          <p:spTgt spid="11267">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267">
                                            <p:txEl>
                                              <p:pRg st="6" end="6"/>
                                            </p:txEl>
                                          </p:spTgt>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3CD0CEC1-8F94-AF42-457A-957D798938B1}"/>
              </a:ext>
            </a:extLst>
          </p:cNvPr>
          <p:cNvSpPr>
            <a:spLocks noGrp="1" noRot="1" noChangeArrowheads="1"/>
          </p:cNvSpPr>
          <p:nvPr>
            <p:ph type="title"/>
          </p:nvPr>
        </p:nvSpPr>
        <p:spPr/>
        <p:txBody>
          <a:bodyPr/>
          <a:lstStyle/>
          <a:p>
            <a:r>
              <a:rPr lang="zh-CN" altLang="en-US"/>
              <a:t>　</a:t>
            </a:r>
            <a:r>
              <a:rPr lang="zh-CN" altLang="en-US" sz="3600"/>
              <a:t>第三节 短期成本的确定</a:t>
            </a:r>
          </a:p>
        </p:txBody>
      </p:sp>
      <p:sp>
        <p:nvSpPr>
          <p:cNvPr id="14339" name="Rectangle 3">
            <a:extLst>
              <a:ext uri="{FF2B5EF4-FFF2-40B4-BE49-F238E27FC236}">
                <a16:creationId xmlns:a16="http://schemas.microsoft.com/office/drawing/2014/main" id="{14B64486-8F95-E62A-F74B-7861E065AE6D}"/>
              </a:ext>
            </a:extLst>
          </p:cNvPr>
          <p:cNvSpPr>
            <a:spLocks noGrp="1" noRot="1" noChangeArrowheads="1"/>
          </p:cNvSpPr>
          <p:nvPr>
            <p:ph type="body" idx="1"/>
          </p:nvPr>
        </p:nvSpPr>
        <p:spPr/>
        <p:txBody>
          <a:bodyPr/>
          <a:lstStyle/>
          <a:p>
            <a:pPr>
              <a:lnSpc>
                <a:spcPct val="90000"/>
              </a:lnSpc>
            </a:pPr>
            <a:r>
              <a:rPr lang="zh-CN" altLang="en-US" sz="1800">
                <a:latin typeface="Times New Roman" panose="02020603050405020304" pitchFamily="18" charset="0"/>
              </a:rPr>
              <a:t>短期成本函数的估计有两种方式。一是由生产函数导出成本函数，另一方式是用统计方法进行估计。</a:t>
            </a:r>
            <a:r>
              <a:rPr lang="zh-CN" altLang="en-US" sz="1800"/>
              <a:t> </a:t>
            </a:r>
          </a:p>
          <a:p>
            <a:pPr>
              <a:lnSpc>
                <a:spcPct val="90000"/>
              </a:lnSpc>
            </a:pPr>
            <a:r>
              <a:rPr lang="zh-CN" altLang="en-US" sz="1800"/>
              <a:t>一、</a:t>
            </a:r>
            <a:r>
              <a:rPr lang="zh-CN" altLang="en-US" sz="1800">
                <a:latin typeface="Times New Roman" panose="02020603050405020304" pitchFamily="18" charset="0"/>
              </a:rPr>
              <a:t>从生产函数导出成本函数</a:t>
            </a:r>
            <a:endParaRPr lang="zh-CN" altLang="en-US" sz="1800"/>
          </a:p>
          <a:p>
            <a:pPr>
              <a:lnSpc>
                <a:spcPct val="90000"/>
              </a:lnSpc>
            </a:pPr>
            <a:r>
              <a:rPr lang="zh-CN" altLang="en-US" sz="1800"/>
              <a:t>二、</a:t>
            </a:r>
            <a:r>
              <a:rPr lang="zh-CN" altLang="en-US" sz="1800">
                <a:latin typeface="Times New Roman" panose="02020603050405020304" pitchFamily="18" charset="0"/>
              </a:rPr>
              <a:t>短期成本函数的统计估计</a:t>
            </a:r>
            <a:r>
              <a:rPr lang="zh-CN" altLang="en-US" sz="1800"/>
              <a:t> </a:t>
            </a:r>
          </a:p>
          <a:p>
            <a:pPr>
              <a:lnSpc>
                <a:spcPct val="90000"/>
              </a:lnSpc>
            </a:pPr>
            <a:r>
              <a:rPr lang="zh-CN" altLang="en-US" sz="1800"/>
              <a:t>（一）</a:t>
            </a:r>
            <a:r>
              <a:rPr lang="zh-CN" altLang="en-US" sz="1800">
                <a:latin typeface="Times New Roman" panose="02020603050405020304" pitchFamily="18" charset="0"/>
              </a:rPr>
              <a:t>数据的收集与整理</a:t>
            </a:r>
          </a:p>
          <a:p>
            <a:pPr lvl="1">
              <a:lnSpc>
                <a:spcPct val="90000"/>
              </a:lnSpc>
            </a:pPr>
            <a:r>
              <a:rPr lang="en-US" altLang="zh-CN" sz="1600"/>
              <a:t>1</a:t>
            </a:r>
            <a:r>
              <a:rPr lang="zh-CN" altLang="en-US" sz="1600"/>
              <a:t>、成本数据的修正                               </a:t>
            </a:r>
          </a:p>
          <a:p>
            <a:pPr lvl="1">
              <a:lnSpc>
                <a:spcPct val="90000"/>
              </a:lnSpc>
            </a:pPr>
            <a:r>
              <a:rPr lang="en-US" altLang="zh-CN" sz="1600"/>
              <a:t>2</a:t>
            </a:r>
            <a:r>
              <a:rPr lang="zh-CN" altLang="en-US" sz="1600"/>
              <a:t>、成本和产量在时间上的一致</a:t>
            </a:r>
          </a:p>
          <a:p>
            <a:pPr lvl="1">
              <a:lnSpc>
                <a:spcPct val="90000"/>
              </a:lnSpc>
            </a:pPr>
            <a:r>
              <a:rPr lang="en-US" altLang="zh-CN" sz="1600"/>
              <a:t>3</a:t>
            </a:r>
            <a:r>
              <a:rPr lang="zh-CN" altLang="en-US" sz="1600"/>
              <a:t>、产量与成本之间的</a:t>
            </a:r>
            <a:r>
              <a:rPr lang="zh-CN" altLang="en-US" sz="1600">
                <a:latin typeface="Times New Roman" panose="02020603050405020304" pitchFamily="18" charset="0"/>
              </a:rPr>
              <a:t>配适</a:t>
            </a:r>
            <a:r>
              <a:rPr lang="zh-CN" altLang="en-US" sz="1600"/>
              <a:t>      </a:t>
            </a:r>
          </a:p>
          <a:p>
            <a:pPr lvl="1">
              <a:lnSpc>
                <a:spcPct val="90000"/>
              </a:lnSpc>
            </a:pPr>
            <a:r>
              <a:rPr lang="en-US" altLang="zh-CN" sz="1600"/>
              <a:t>4</a:t>
            </a:r>
            <a:r>
              <a:rPr lang="zh-CN" altLang="en-US" sz="1600"/>
              <a:t>、</a:t>
            </a:r>
            <a:r>
              <a:rPr lang="zh-CN" altLang="en-US" sz="1600">
                <a:latin typeface="Times New Roman" panose="02020603050405020304" pitchFamily="18" charset="0"/>
              </a:rPr>
              <a:t>通货膨胀的处理</a:t>
            </a:r>
            <a:r>
              <a:rPr lang="zh-CN" altLang="en-US" sz="1600"/>
              <a:t> </a:t>
            </a:r>
          </a:p>
          <a:p>
            <a:pPr lvl="1">
              <a:lnSpc>
                <a:spcPct val="90000"/>
              </a:lnSpc>
            </a:pPr>
            <a:r>
              <a:rPr lang="en-US" altLang="zh-CN" sz="1600"/>
              <a:t>5</a:t>
            </a:r>
            <a:r>
              <a:rPr lang="zh-CN" altLang="en-US" sz="1600"/>
              <a:t>、考察期的确定</a:t>
            </a:r>
          </a:p>
          <a:p>
            <a:pPr>
              <a:lnSpc>
                <a:spcPct val="90000"/>
              </a:lnSpc>
            </a:pPr>
            <a:r>
              <a:rPr lang="zh-CN" altLang="en-US" sz="1800"/>
              <a:t>（二）用统计方法估计短期成本函数</a:t>
            </a:r>
          </a:p>
          <a:p>
            <a:pPr lvl="1">
              <a:lnSpc>
                <a:spcPct val="90000"/>
              </a:lnSpc>
            </a:pPr>
            <a:r>
              <a:rPr lang="en-US" altLang="zh-CN" sz="1600"/>
              <a:t>1</a:t>
            </a:r>
            <a:r>
              <a:rPr lang="zh-CN" altLang="en-US" sz="1600"/>
              <a:t>、</a:t>
            </a:r>
            <a:r>
              <a:rPr lang="zh-CN" altLang="en-US" sz="1600">
                <a:latin typeface="Times New Roman" panose="02020603050405020304" pitchFamily="18" charset="0"/>
              </a:rPr>
              <a:t>短期线性成本函数</a:t>
            </a:r>
            <a:r>
              <a:rPr lang="zh-CN" altLang="en-US" sz="1600"/>
              <a:t>                       </a:t>
            </a:r>
            <a:r>
              <a:rPr lang="en-US" altLang="zh-CN" sz="1600"/>
              <a:t>Y=a+bQ+ΣCiXi</a:t>
            </a:r>
          </a:p>
          <a:p>
            <a:pPr lvl="1">
              <a:lnSpc>
                <a:spcPct val="90000"/>
              </a:lnSpc>
            </a:pPr>
            <a:r>
              <a:rPr lang="en-US" altLang="zh-CN" sz="1600"/>
              <a:t>2</a:t>
            </a:r>
            <a:r>
              <a:rPr lang="zh-CN" altLang="en-US" sz="1600"/>
              <a:t>、</a:t>
            </a:r>
            <a:r>
              <a:rPr lang="zh-CN" altLang="en-US" sz="1600">
                <a:latin typeface="Times New Roman" panose="02020603050405020304" pitchFamily="18" charset="0"/>
              </a:rPr>
              <a:t>二次成本函数和三次成本函数</a:t>
            </a:r>
            <a:r>
              <a:rPr lang="zh-CN" altLang="en-US" sz="1600"/>
              <a:t>       </a:t>
            </a:r>
            <a:r>
              <a:rPr lang="en-US" altLang="zh-CN" sz="1600"/>
              <a:t>Y=a+bQ+cQ2</a:t>
            </a:r>
          </a:p>
          <a:p>
            <a:pPr lvl="1">
              <a:lnSpc>
                <a:spcPct val="90000"/>
              </a:lnSpc>
              <a:buFont typeface="Wingdings" panose="05000000000000000000" pitchFamily="2" charset="2"/>
              <a:buNone/>
            </a:pPr>
            <a:r>
              <a:rPr lang="zh-CN" altLang="en-US" sz="1600"/>
              <a:t>　　                                                    </a:t>
            </a:r>
            <a:r>
              <a:rPr lang="en-US" altLang="zh-CN" sz="1600"/>
              <a:t>Y=a+bQ-cQ2+dQ3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4339">
                                            <p:txEl>
                                              <p:pRg st="0" end="0"/>
                                            </p:txEl>
                                          </p:spTgt>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4339">
                                            <p:txEl>
                                              <p:pRg st="1" end="1"/>
                                            </p:txEl>
                                          </p:spTgt>
                                        </p:tgtEl>
                                        <p:attrNameLst>
                                          <p:attrName>style.visibility</p:attrName>
                                        </p:attrNameLst>
                                      </p:cBhvr>
                                      <p:to>
                                        <p:strVal val="visible"/>
                                      </p:to>
                                    </p:set>
                                  </p:childTnLst>
                                  <p:subTnLst>
                                    <p:audio>
                                      <p:cMediaNode>
                                        <p:cTn display="0" masterRel="sameClick">
                                          <p:stCondLst>
                                            <p:cond evt="begin" delay="0">
                                              <p:tn val="9"/>
                                            </p:cond>
                                          </p:stCondLst>
                                          <p:endCondLst>
                                            <p:cond evt="onStopAudio" delay="0">
                                              <p:tgtEl>
                                                <p:sldTgt/>
                                              </p:tgtEl>
                                            </p:cond>
                                          </p:endCondLst>
                                        </p:cTn>
                                        <p:tgtEl>
                                          <p:sndTgt r:embed="rId2" name="whoosh.wav"/>
                                        </p:tgtEl>
                                      </p:cMediaNode>
                                    </p:audio>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4339">
                                            <p:txEl>
                                              <p:pRg st="2" end="2"/>
                                            </p:txEl>
                                          </p:spTgt>
                                        </p:tgtEl>
                                        <p:attrNameLst>
                                          <p:attrName>style.visibility</p:attrName>
                                        </p:attrNameLst>
                                      </p:cBhvr>
                                      <p:to>
                                        <p:strVal val="visible"/>
                                      </p:to>
                                    </p:set>
                                  </p:childTnLst>
                                  <p:subTnLst>
                                    <p:audio>
                                      <p:cMediaNode>
                                        <p:cTn display="0" masterRel="sameClick">
                                          <p:stCondLst>
                                            <p:cond evt="begin" delay="0">
                                              <p:tn val="13"/>
                                            </p:cond>
                                          </p:stCondLst>
                                          <p:endCondLst>
                                            <p:cond evt="onStopAudio" delay="0">
                                              <p:tgtEl>
                                                <p:sldTgt/>
                                              </p:tgtEl>
                                            </p:cond>
                                          </p:endCondLst>
                                        </p:cTn>
                                        <p:tgtEl>
                                          <p:sndTgt r:embed="rId2"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4339">
                                            <p:txEl>
                                              <p:pRg st="3" end="3"/>
                                            </p:txEl>
                                          </p:spTgt>
                                        </p:tgtEl>
                                        <p:attrNameLst>
                                          <p:attrName>style.visibility</p:attrName>
                                        </p:attrNameLst>
                                      </p:cBhvr>
                                      <p:to>
                                        <p:strVal val="visible"/>
                                      </p:to>
                                    </p:set>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par>
                                <p:cTn id="19" presetID="1" presetClass="entr" presetSubtype="0" fill="hold" nodeType="withEffect">
                                  <p:stCondLst>
                                    <p:cond delay="0"/>
                                  </p:stCondLst>
                                  <p:childTnLst>
                                    <p:set>
                                      <p:cBhvr>
                                        <p:cTn id="20" dur="1" fill="hold">
                                          <p:stCondLst>
                                            <p:cond delay="499"/>
                                          </p:stCondLst>
                                        </p:cTn>
                                        <p:tgtEl>
                                          <p:spTgt spid="14339">
                                            <p:txEl>
                                              <p:pRg st="4" end="4"/>
                                            </p:txEl>
                                          </p:spTgt>
                                        </p:tgtEl>
                                        <p:attrNameLst>
                                          <p:attrName>style.visibility</p:attrName>
                                        </p:attrNameLst>
                                      </p:cBhvr>
                                      <p:to>
                                        <p:strVal val="visible"/>
                                      </p:to>
                                    </p:set>
                                  </p:childTnLst>
                                  <p:subTnLst>
                                    <p:audio>
                                      <p:cMediaNode>
                                        <p:cTn display="0" masterRel="sameClick">
                                          <p:stCondLst>
                                            <p:cond evt="begin" delay="0">
                                              <p:tn val="19"/>
                                            </p:cond>
                                          </p:stCondLst>
                                          <p:endCondLst>
                                            <p:cond evt="onStopAudio" delay="0">
                                              <p:tgtEl>
                                                <p:sldTgt/>
                                              </p:tgtEl>
                                            </p:cond>
                                          </p:endCondLst>
                                        </p:cTn>
                                        <p:tgtEl>
                                          <p:sndTgt r:embed="rId2" name="whoosh.wav"/>
                                        </p:tgtEl>
                                      </p:cMediaNode>
                                    </p:audio>
                                  </p:subTnLst>
                                </p:cTn>
                              </p:par>
                              <p:par>
                                <p:cTn id="21" presetID="1" presetClass="entr" presetSubtype="0" fill="hold" nodeType="withEffect">
                                  <p:stCondLst>
                                    <p:cond delay="0"/>
                                  </p:stCondLst>
                                  <p:childTnLst>
                                    <p:set>
                                      <p:cBhvr>
                                        <p:cTn id="22" dur="1" fill="hold">
                                          <p:stCondLst>
                                            <p:cond delay="499"/>
                                          </p:stCondLst>
                                        </p:cTn>
                                        <p:tgtEl>
                                          <p:spTgt spid="14339">
                                            <p:txEl>
                                              <p:pRg st="5" end="5"/>
                                            </p:txEl>
                                          </p:spTgt>
                                        </p:tgtEl>
                                        <p:attrNameLst>
                                          <p:attrName>style.visibility</p:attrName>
                                        </p:attrNameLst>
                                      </p:cBhvr>
                                      <p:to>
                                        <p:strVal val="visible"/>
                                      </p:to>
                                    </p:set>
                                  </p:childTnLst>
                                  <p:subTnLst>
                                    <p:audio>
                                      <p:cMediaNode>
                                        <p:cTn display="0" masterRel="sameClick">
                                          <p:stCondLst>
                                            <p:cond evt="begin" delay="0">
                                              <p:tn val="21"/>
                                            </p:cond>
                                          </p:stCondLst>
                                          <p:endCondLst>
                                            <p:cond evt="onStopAudio" delay="0">
                                              <p:tgtEl>
                                                <p:sldTgt/>
                                              </p:tgtEl>
                                            </p:cond>
                                          </p:endCondLst>
                                        </p:cTn>
                                        <p:tgtEl>
                                          <p:sndTgt r:embed="rId2" name="whoosh.wav"/>
                                        </p:tgtEl>
                                      </p:cMediaNode>
                                    </p:audio>
                                  </p:subTnLst>
                                </p:cTn>
                              </p:par>
                              <p:par>
                                <p:cTn id="23" presetID="1" presetClass="entr" presetSubtype="0" fill="hold" nodeType="withEffect">
                                  <p:stCondLst>
                                    <p:cond delay="0"/>
                                  </p:stCondLst>
                                  <p:childTnLst>
                                    <p:set>
                                      <p:cBhvr>
                                        <p:cTn id="24" dur="1" fill="hold">
                                          <p:stCondLst>
                                            <p:cond delay="499"/>
                                          </p:stCondLst>
                                        </p:cTn>
                                        <p:tgtEl>
                                          <p:spTgt spid="14339">
                                            <p:txEl>
                                              <p:pRg st="6" end="6"/>
                                            </p:txEl>
                                          </p:spTgt>
                                        </p:tgtEl>
                                        <p:attrNameLst>
                                          <p:attrName>style.visibility</p:attrName>
                                        </p:attrNameLst>
                                      </p:cBhvr>
                                      <p:to>
                                        <p:strVal val="visible"/>
                                      </p:to>
                                    </p:set>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par>
                                <p:cTn id="25" presetID="1" presetClass="entr" presetSubtype="0" fill="hold" nodeType="withEffect">
                                  <p:stCondLst>
                                    <p:cond delay="0"/>
                                  </p:stCondLst>
                                  <p:childTnLst>
                                    <p:set>
                                      <p:cBhvr>
                                        <p:cTn id="26" dur="1" fill="hold">
                                          <p:stCondLst>
                                            <p:cond delay="499"/>
                                          </p:stCondLst>
                                        </p:cTn>
                                        <p:tgtEl>
                                          <p:spTgt spid="14339">
                                            <p:txEl>
                                              <p:pRg st="7" end="7"/>
                                            </p:txEl>
                                          </p:spTgt>
                                        </p:tgtEl>
                                        <p:attrNameLst>
                                          <p:attrName>style.visibility</p:attrName>
                                        </p:attrNameLst>
                                      </p:cBhvr>
                                      <p:to>
                                        <p:strVal val="visible"/>
                                      </p:to>
                                    </p:set>
                                  </p:childTnLst>
                                  <p:subTnLst>
                                    <p:audio>
                                      <p:cMediaNode>
                                        <p:cTn display="0" masterRel="sameClick">
                                          <p:stCondLst>
                                            <p:cond evt="begin" delay="0">
                                              <p:tn val="25"/>
                                            </p:cond>
                                          </p:stCondLst>
                                          <p:endCondLst>
                                            <p:cond evt="onStopAudio" delay="0">
                                              <p:tgtEl>
                                                <p:sldTgt/>
                                              </p:tgtEl>
                                            </p:cond>
                                          </p:endCondLst>
                                        </p:cTn>
                                        <p:tgtEl>
                                          <p:sndTgt r:embed="rId2" name="whoosh.wav"/>
                                        </p:tgtEl>
                                      </p:cMediaNode>
                                    </p:audio>
                                  </p:subTnLst>
                                </p:cTn>
                              </p:par>
                              <p:par>
                                <p:cTn id="27" presetID="1" presetClass="entr" presetSubtype="0" fill="hold" nodeType="withEffect">
                                  <p:stCondLst>
                                    <p:cond delay="0"/>
                                  </p:stCondLst>
                                  <p:childTnLst>
                                    <p:set>
                                      <p:cBhvr>
                                        <p:cTn id="28" dur="1" fill="hold">
                                          <p:stCondLst>
                                            <p:cond delay="499"/>
                                          </p:stCondLst>
                                        </p:cTn>
                                        <p:tgtEl>
                                          <p:spTgt spid="14339">
                                            <p:txEl>
                                              <p:pRg st="8" end="8"/>
                                            </p:txEl>
                                          </p:spTgt>
                                        </p:tgtEl>
                                        <p:attrNameLst>
                                          <p:attrName>style.visibility</p:attrName>
                                        </p:attrNameLst>
                                      </p:cBhvr>
                                      <p:to>
                                        <p:strVal val="visible"/>
                                      </p:to>
                                    </p:set>
                                  </p:childTnLst>
                                  <p:subTnLst>
                                    <p:audio>
                                      <p:cMediaNode>
                                        <p:cTn display="0" masterRel="sameClick">
                                          <p:stCondLst>
                                            <p:cond evt="begin" delay="0">
                                              <p:tn val="27"/>
                                            </p:cond>
                                          </p:stCondLst>
                                          <p:endCondLst>
                                            <p:cond evt="onStopAudio" delay="0">
                                              <p:tgtEl>
                                                <p:sldTgt/>
                                              </p:tgtEl>
                                            </p:cond>
                                          </p:endCondLst>
                                        </p:cTn>
                                        <p:tgtEl>
                                          <p:sndTgt r:embed="rId2" name="whoosh.wav"/>
                                        </p:tgtEl>
                                      </p:cMediaNode>
                                    </p:audio>
                                  </p:sub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499"/>
                                          </p:stCondLst>
                                        </p:cTn>
                                        <p:tgtEl>
                                          <p:spTgt spid="14339">
                                            <p:txEl>
                                              <p:pRg st="9" end="9"/>
                                            </p:txEl>
                                          </p:spTgt>
                                        </p:tgtEl>
                                        <p:attrNameLst>
                                          <p:attrName>style.visibility</p:attrName>
                                        </p:attrNameLst>
                                      </p:cBhvr>
                                      <p:to>
                                        <p:strVal val="visible"/>
                                      </p:to>
                                    </p:set>
                                  </p:childTnLst>
                                  <p:subTnLst>
                                    <p:audio>
                                      <p:cMediaNode>
                                        <p:cTn display="0" masterRel="sameClick">
                                          <p:stCondLst>
                                            <p:cond evt="begin" delay="0">
                                              <p:tn val="31"/>
                                            </p:cond>
                                          </p:stCondLst>
                                          <p:endCondLst>
                                            <p:cond evt="onStopAudio" delay="0">
                                              <p:tgtEl>
                                                <p:sldTgt/>
                                              </p:tgtEl>
                                            </p:cond>
                                          </p:endCondLst>
                                        </p:cTn>
                                        <p:tgtEl>
                                          <p:sndTgt r:embed="rId2" name="whoosh.wav"/>
                                        </p:tgtEl>
                                      </p:cMediaNode>
                                    </p:audio>
                                  </p:subTnLst>
                                </p:cTn>
                              </p:par>
                              <p:par>
                                <p:cTn id="33" presetID="1" presetClass="entr" presetSubtype="0" fill="hold" nodeType="withEffect">
                                  <p:stCondLst>
                                    <p:cond delay="0"/>
                                  </p:stCondLst>
                                  <p:childTnLst>
                                    <p:set>
                                      <p:cBhvr>
                                        <p:cTn id="34" dur="1" fill="hold">
                                          <p:stCondLst>
                                            <p:cond delay="499"/>
                                          </p:stCondLst>
                                        </p:cTn>
                                        <p:tgtEl>
                                          <p:spTgt spid="14339">
                                            <p:txEl>
                                              <p:pRg st="10" end="10"/>
                                            </p:txEl>
                                          </p:spTgt>
                                        </p:tgtEl>
                                        <p:attrNameLst>
                                          <p:attrName>style.visibility</p:attrName>
                                        </p:attrNameLst>
                                      </p:cBhvr>
                                      <p:to>
                                        <p:strVal val="visible"/>
                                      </p:to>
                                    </p:set>
                                  </p:childTnLst>
                                  <p:subTnLst>
                                    <p:audio>
                                      <p:cMediaNode>
                                        <p:cTn display="0" masterRel="sameClick">
                                          <p:stCondLst>
                                            <p:cond evt="begin" delay="0">
                                              <p:tn val="33"/>
                                            </p:cond>
                                          </p:stCondLst>
                                          <p:endCondLst>
                                            <p:cond evt="onStopAudio" delay="0">
                                              <p:tgtEl>
                                                <p:sldTgt/>
                                              </p:tgtEl>
                                            </p:cond>
                                          </p:endCondLst>
                                        </p:cTn>
                                        <p:tgtEl>
                                          <p:sndTgt r:embed="rId2" name="whoosh.wav"/>
                                        </p:tgtEl>
                                      </p:cMediaNode>
                                    </p:audio>
                                  </p:subTnLst>
                                </p:cTn>
                              </p:par>
                              <p:par>
                                <p:cTn id="35" presetID="1" presetClass="entr" presetSubtype="0" fill="hold" nodeType="withEffect">
                                  <p:stCondLst>
                                    <p:cond delay="0"/>
                                  </p:stCondLst>
                                  <p:childTnLst>
                                    <p:set>
                                      <p:cBhvr>
                                        <p:cTn id="36" dur="1" fill="hold">
                                          <p:stCondLst>
                                            <p:cond delay="499"/>
                                          </p:stCondLst>
                                        </p:cTn>
                                        <p:tgtEl>
                                          <p:spTgt spid="14339">
                                            <p:txEl>
                                              <p:pRg st="11" end="11"/>
                                            </p:txEl>
                                          </p:spTgt>
                                        </p:tgtEl>
                                        <p:attrNameLst>
                                          <p:attrName>style.visibility</p:attrName>
                                        </p:attrNameLst>
                                      </p:cBhvr>
                                      <p:to>
                                        <p:strVal val="visible"/>
                                      </p:to>
                                    </p:set>
                                  </p:childTnLst>
                                  <p:subTnLst>
                                    <p:audio>
                                      <p:cMediaNode>
                                        <p:cTn display="0" masterRel="sameClick">
                                          <p:stCondLst>
                                            <p:cond evt="begin" delay="0">
                                              <p:tn val="35"/>
                                            </p:cond>
                                          </p:stCondLst>
                                          <p:endCondLst>
                                            <p:cond evt="onStopAudio" delay="0">
                                              <p:tgtEl>
                                                <p:sldTgt/>
                                              </p:tgtEl>
                                            </p:cond>
                                          </p:endCondLst>
                                        </p:cTn>
                                        <p:tgtEl>
                                          <p:sndTgt r:embed="rId2" name="whoosh.wav"/>
                                        </p:tgtEl>
                                      </p:cMediaNode>
                                    </p:audio>
                                  </p:subTnLst>
                                </p:cTn>
                              </p:par>
                              <p:par>
                                <p:cTn id="37" presetID="1" presetClass="entr" presetSubtype="0" fill="hold" nodeType="withEffect">
                                  <p:stCondLst>
                                    <p:cond delay="0"/>
                                  </p:stCondLst>
                                  <p:childTnLst>
                                    <p:set>
                                      <p:cBhvr>
                                        <p:cTn id="38" dur="1" fill="hold">
                                          <p:stCondLst>
                                            <p:cond delay="499"/>
                                          </p:stCondLst>
                                        </p:cTn>
                                        <p:tgtEl>
                                          <p:spTgt spid="14339">
                                            <p:txEl>
                                              <p:pRg st="12" end="12"/>
                                            </p:txEl>
                                          </p:spTgt>
                                        </p:tgtEl>
                                        <p:attrNameLst>
                                          <p:attrName>style.visibility</p:attrName>
                                        </p:attrNameLst>
                                      </p:cBhvr>
                                      <p:to>
                                        <p:strVal val="visible"/>
                                      </p:to>
                                    </p:set>
                                  </p:childTnLst>
                                  <p:subTnLst>
                                    <p:audio>
                                      <p:cMediaNode>
                                        <p:cTn display="0" masterRel="sameClick">
                                          <p:stCondLst>
                                            <p:cond evt="begin" delay="0">
                                              <p:tn val="37"/>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autoUpdateAnimBg="0"/>
    </p:bldLst>
  </p:timing>
</p:sld>
</file>

<file path=ppt/theme/theme1.xml><?xml version="1.0" encoding="utf-8"?>
<a:theme xmlns:a="http://schemas.openxmlformats.org/drawingml/2006/main" name="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CDESIGNL</Template>
  <TotalTime>488</TotalTime>
  <Words>1454</Words>
  <Application>Microsoft Office PowerPoint</Application>
  <PresentationFormat>全屏显示(4:3)</PresentationFormat>
  <Paragraphs>103</Paragraphs>
  <Slides>16</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16</vt:i4>
      </vt:variant>
    </vt:vector>
  </HeadingPairs>
  <TitlesOfParts>
    <vt:vector size="23" baseType="lpstr">
      <vt:lpstr>Times New Roman</vt:lpstr>
      <vt:lpstr>宋体</vt:lpstr>
      <vt:lpstr>Arial</vt:lpstr>
      <vt:lpstr>Wingdings</vt:lpstr>
      <vt:lpstr>Tahoma</vt:lpstr>
      <vt:lpstr>Courier New</vt:lpstr>
      <vt:lpstr>诗情画意</vt:lpstr>
      <vt:lpstr>第七章　短期成本分析</vt:lpstr>
      <vt:lpstr>PowerPoint 演示文稿</vt:lpstr>
      <vt:lpstr>　</vt:lpstr>
      <vt:lpstr>PowerPoint 演示文稿</vt:lpstr>
      <vt:lpstr>第一节   成本的概念　　</vt:lpstr>
      <vt:lpstr>　第一节   成本的概念　　</vt:lpstr>
      <vt:lpstr>PowerPoint 演示文稿</vt:lpstr>
      <vt:lpstr>PowerPoint 演示文稿</vt:lpstr>
      <vt:lpstr>PowerPoint 演示文稿</vt:lpstr>
      <vt:lpstr>PowerPoint 演示文稿</vt:lpstr>
      <vt:lpstr>第二节 短期成本曲线</vt:lpstr>
      <vt:lpstr> </vt:lpstr>
      <vt:lpstr>PowerPoint 演示文稿</vt:lpstr>
      <vt:lpstr>二、短期成本曲线的相互关系</vt:lpstr>
      <vt:lpstr>三、生产-成本的对偶性</vt:lpstr>
      <vt:lpstr>　第三节 短期成本的确定</vt:lpstr>
    </vt:vector>
  </TitlesOfParts>
  <Company>scut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第五章　生产理论与生产函数</dc:title>
  <dc:creator>zhuangyj8</dc:creator>
  <cp:lastModifiedBy>先生 刘</cp:lastModifiedBy>
  <cp:revision>40</cp:revision>
  <dcterms:created xsi:type="dcterms:W3CDTF">2000-12-20T08:03:33Z</dcterms:created>
  <dcterms:modified xsi:type="dcterms:W3CDTF">2023-10-22T14:22:37Z</dcterms:modified>
</cp:coreProperties>
</file>