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47"/>
  </p:notesMasterIdLst>
  <p:sldIdLst>
    <p:sldId id="256" r:id="rId2"/>
    <p:sldId id="426" r:id="rId3"/>
    <p:sldId id="278" r:id="rId4"/>
    <p:sldId id="319" r:id="rId5"/>
    <p:sldId id="386" r:id="rId6"/>
    <p:sldId id="387" r:id="rId7"/>
    <p:sldId id="399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400" r:id="rId17"/>
    <p:sldId id="396" r:id="rId18"/>
    <p:sldId id="398" r:id="rId19"/>
    <p:sldId id="401" r:id="rId20"/>
    <p:sldId id="385" r:id="rId21"/>
    <p:sldId id="338" r:id="rId22"/>
    <p:sldId id="402" r:id="rId23"/>
    <p:sldId id="403" r:id="rId24"/>
    <p:sldId id="404" r:id="rId25"/>
    <p:sldId id="405" r:id="rId26"/>
    <p:sldId id="406" r:id="rId27"/>
    <p:sldId id="407" r:id="rId28"/>
    <p:sldId id="408" r:id="rId29"/>
    <p:sldId id="409" r:id="rId30"/>
    <p:sldId id="410" r:id="rId31"/>
    <p:sldId id="411" r:id="rId32"/>
    <p:sldId id="412" r:id="rId33"/>
    <p:sldId id="413" r:id="rId34"/>
    <p:sldId id="414" r:id="rId35"/>
    <p:sldId id="415" r:id="rId36"/>
    <p:sldId id="416" r:id="rId37"/>
    <p:sldId id="417" r:id="rId38"/>
    <p:sldId id="418" r:id="rId39"/>
    <p:sldId id="419" r:id="rId40"/>
    <p:sldId id="425" r:id="rId41"/>
    <p:sldId id="424" r:id="rId42"/>
    <p:sldId id="420" r:id="rId43"/>
    <p:sldId id="421" r:id="rId44"/>
    <p:sldId id="422" r:id="rId45"/>
    <p:sldId id="423" r:id="rId46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66"/>
    <a:srgbClr val="D35211"/>
    <a:srgbClr val="DD3F07"/>
    <a:srgbClr val="DA0AB7"/>
    <a:srgbClr val="33CC33"/>
    <a:srgbClr val="00FF00"/>
    <a:srgbClr val="E5D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11" autoAdjust="0"/>
    <p:restoredTop sz="94709" autoAdjust="0"/>
  </p:normalViewPr>
  <p:slideViewPr>
    <p:cSldViewPr>
      <p:cViewPr varScale="1">
        <p:scale>
          <a:sx n="107" d="100"/>
          <a:sy n="107" d="100"/>
        </p:scale>
        <p:origin x="142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4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60DD8D22-EEFC-F87B-2EA3-61CD5837B9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887CBD64-5817-D518-98A5-7FA112C8FC4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6B29A975-D123-386B-D9DB-066BD431A85C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C65CB4F1-8E61-8F0B-26A8-3C8A99635E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5094" name="Rectangle 6">
            <a:extLst>
              <a:ext uri="{FF2B5EF4-FFF2-40B4-BE49-F238E27FC236}">
                <a16:creationId xmlns:a16="http://schemas.microsoft.com/office/drawing/2014/main" id="{5555BD5E-C19D-736A-7979-85535702BBC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345095" name="Rectangle 7">
            <a:extLst>
              <a:ext uri="{FF2B5EF4-FFF2-40B4-BE49-F238E27FC236}">
                <a16:creationId xmlns:a16="http://schemas.microsoft.com/office/drawing/2014/main" id="{BE6FAEA6-D360-9E8E-4E0B-495B12788B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527755F-2D8D-456D-90F7-3F66727713D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Freeform 2">
            <a:extLst>
              <a:ext uri="{FF2B5EF4-FFF2-40B4-BE49-F238E27FC236}">
                <a16:creationId xmlns:a16="http://schemas.microsoft.com/office/drawing/2014/main" id="{AD935F85-D55B-103B-8AE8-5C591BD999A4}"/>
              </a:ext>
            </a:extLst>
          </p:cNvPr>
          <p:cNvSpPr>
            <a:spLocks/>
          </p:cNvSpPr>
          <p:nvPr/>
        </p:nvSpPr>
        <p:spPr bwMode="auto">
          <a:xfrm>
            <a:off x="4760913" y="20638"/>
            <a:ext cx="4438650" cy="4038600"/>
          </a:xfrm>
          <a:custGeom>
            <a:avLst/>
            <a:gdLst>
              <a:gd name="T0" fmla="*/ 23 w 546"/>
              <a:gd name="T1" fmla="*/ 4 h 497"/>
              <a:gd name="T2" fmla="*/ 11 w 546"/>
              <a:gd name="T3" fmla="*/ 71 h 497"/>
              <a:gd name="T4" fmla="*/ 25 w 546"/>
              <a:gd name="T5" fmla="*/ 393 h 497"/>
              <a:gd name="T6" fmla="*/ 54 w 546"/>
              <a:gd name="T7" fmla="*/ 457 h 497"/>
              <a:gd name="T8" fmla="*/ 158 w 546"/>
              <a:gd name="T9" fmla="*/ 482 h 497"/>
              <a:gd name="T10" fmla="*/ 204 w 546"/>
              <a:gd name="T11" fmla="*/ 495 h 497"/>
              <a:gd name="T12" fmla="*/ 520 w 546"/>
              <a:gd name="T13" fmla="*/ 475 h 497"/>
              <a:gd name="T14" fmla="*/ 533 w 546"/>
              <a:gd name="T15" fmla="*/ 167 h 497"/>
              <a:gd name="T16" fmla="*/ 369 w 546"/>
              <a:gd name="T17" fmla="*/ 16 h 497"/>
              <a:gd name="T18" fmla="*/ 249 w 546"/>
              <a:gd name="T19" fmla="*/ 29 h 497"/>
              <a:gd name="T20" fmla="*/ 198 w 546"/>
              <a:gd name="T21" fmla="*/ 11 h 497"/>
              <a:gd name="T22" fmla="*/ 151 w 546"/>
              <a:gd name="T23" fmla="*/ 2 h 497"/>
              <a:gd name="T24" fmla="*/ 23 w 546"/>
              <a:gd name="T25" fmla="*/ 4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6131" name="Group 3">
            <a:extLst>
              <a:ext uri="{FF2B5EF4-FFF2-40B4-BE49-F238E27FC236}">
                <a16:creationId xmlns:a16="http://schemas.microsoft.com/office/drawing/2014/main" id="{96FB0195-87C9-C287-9B03-8DBCE5956741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8575"/>
            <a:ext cx="4756150" cy="4338638"/>
            <a:chOff x="2918" y="18"/>
            <a:chExt cx="2958" cy="2699"/>
          </a:xfrm>
        </p:grpSpPr>
        <p:sp>
          <p:nvSpPr>
            <p:cNvPr id="176132" name="Freeform 4">
              <a:extLst>
                <a:ext uri="{FF2B5EF4-FFF2-40B4-BE49-F238E27FC236}">
                  <a16:creationId xmlns:a16="http://schemas.microsoft.com/office/drawing/2014/main" id="{E98004F0-6DE6-6487-36C5-90B5D9AEA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71 w 97"/>
                <a:gd name="T1" fmla="*/ 25 h 37"/>
                <a:gd name="T2" fmla="*/ 91 w 97"/>
                <a:gd name="T3" fmla="*/ 20 h 37"/>
                <a:gd name="T4" fmla="*/ 92 w 97"/>
                <a:gd name="T5" fmla="*/ 17 h 37"/>
                <a:gd name="T6" fmla="*/ 88 w 97"/>
                <a:gd name="T7" fmla="*/ 0 h 37"/>
                <a:gd name="T8" fmla="*/ 25 w 97"/>
                <a:gd name="T9" fmla="*/ 0 h 37"/>
                <a:gd name="T10" fmla="*/ 10 w 97"/>
                <a:gd name="T11" fmla="*/ 22 h 37"/>
                <a:gd name="T12" fmla="*/ 71 w 97"/>
                <a:gd name="T1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3" name="Freeform 5">
              <a:extLst>
                <a:ext uri="{FF2B5EF4-FFF2-40B4-BE49-F238E27FC236}">
                  <a16:creationId xmlns:a16="http://schemas.microsoft.com/office/drawing/2014/main" id="{B3C8F4A0-6062-0124-8C0C-E52DF5FB1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504 w 585"/>
                <a:gd name="T1" fmla="*/ 1 h 534"/>
                <a:gd name="T2" fmla="*/ 157 w 585"/>
                <a:gd name="T3" fmla="*/ 0 h 534"/>
                <a:gd name="T4" fmla="*/ 225 w 585"/>
                <a:gd name="T5" fmla="*/ 21 h 534"/>
                <a:gd name="T6" fmla="*/ 174 w 585"/>
                <a:gd name="T7" fmla="*/ 39 h 534"/>
                <a:gd name="T8" fmla="*/ 207 w 585"/>
                <a:gd name="T9" fmla="*/ 71 h 534"/>
                <a:gd name="T10" fmla="*/ 74 w 585"/>
                <a:gd name="T11" fmla="*/ 60 h 534"/>
                <a:gd name="T12" fmla="*/ 26 w 585"/>
                <a:gd name="T13" fmla="*/ 63 h 534"/>
                <a:gd name="T14" fmla="*/ 199 w 585"/>
                <a:gd name="T15" fmla="*/ 487 h 534"/>
                <a:gd name="T16" fmla="*/ 144 w 585"/>
                <a:gd name="T17" fmla="*/ 341 h 534"/>
                <a:gd name="T18" fmla="*/ 105 w 585"/>
                <a:gd name="T19" fmla="*/ 376 h 534"/>
                <a:gd name="T20" fmla="*/ 94 w 585"/>
                <a:gd name="T21" fmla="*/ 435 h 534"/>
                <a:gd name="T22" fmla="*/ 124 w 585"/>
                <a:gd name="T23" fmla="*/ 265 h 534"/>
                <a:gd name="T24" fmla="*/ 153 w 585"/>
                <a:gd name="T25" fmla="*/ 228 h 534"/>
                <a:gd name="T26" fmla="*/ 209 w 585"/>
                <a:gd name="T27" fmla="*/ 237 h 534"/>
                <a:gd name="T28" fmla="*/ 188 w 585"/>
                <a:gd name="T29" fmla="*/ 306 h 534"/>
                <a:gd name="T30" fmla="*/ 192 w 585"/>
                <a:gd name="T31" fmla="*/ 395 h 534"/>
                <a:gd name="T32" fmla="*/ 515 w 585"/>
                <a:gd name="T33" fmla="*/ 483 h 534"/>
                <a:gd name="T34" fmla="*/ 454 w 585"/>
                <a:gd name="T35" fmla="*/ 427 h 534"/>
                <a:gd name="T36" fmla="*/ 425 w 585"/>
                <a:gd name="T37" fmla="*/ 345 h 534"/>
                <a:gd name="T38" fmla="*/ 396 w 585"/>
                <a:gd name="T39" fmla="*/ 270 h 534"/>
                <a:gd name="T40" fmla="*/ 460 w 585"/>
                <a:gd name="T41" fmla="*/ 256 h 534"/>
                <a:gd name="T42" fmla="*/ 407 w 585"/>
                <a:gd name="T43" fmla="*/ 223 h 534"/>
                <a:gd name="T44" fmla="*/ 439 w 585"/>
                <a:gd name="T45" fmla="*/ 226 h 534"/>
                <a:gd name="T46" fmla="*/ 438 w 585"/>
                <a:gd name="T47" fmla="*/ 209 h 534"/>
                <a:gd name="T48" fmla="*/ 376 w 585"/>
                <a:gd name="T49" fmla="*/ 211 h 534"/>
                <a:gd name="T50" fmla="*/ 357 w 585"/>
                <a:gd name="T51" fmla="*/ 343 h 534"/>
                <a:gd name="T52" fmla="*/ 347 w 585"/>
                <a:gd name="T53" fmla="*/ 230 h 534"/>
                <a:gd name="T54" fmla="*/ 331 w 585"/>
                <a:gd name="T55" fmla="*/ 182 h 534"/>
                <a:gd name="T56" fmla="*/ 347 w 585"/>
                <a:gd name="T57" fmla="*/ 136 h 534"/>
                <a:gd name="T58" fmla="*/ 339 w 585"/>
                <a:gd name="T59" fmla="*/ 99 h 534"/>
                <a:gd name="T60" fmla="*/ 331 w 585"/>
                <a:gd name="T61" fmla="*/ 62 h 534"/>
                <a:gd name="T62" fmla="*/ 369 w 585"/>
                <a:gd name="T63" fmla="*/ 103 h 534"/>
                <a:gd name="T64" fmla="*/ 415 w 585"/>
                <a:gd name="T65" fmla="*/ 47 h 534"/>
                <a:gd name="T66" fmla="*/ 409 w 585"/>
                <a:gd name="T67" fmla="*/ 95 h 534"/>
                <a:gd name="T68" fmla="*/ 401 w 585"/>
                <a:gd name="T69" fmla="*/ 130 h 534"/>
                <a:gd name="T70" fmla="*/ 401 w 585"/>
                <a:gd name="T71" fmla="*/ 181 h 534"/>
                <a:gd name="T72" fmla="*/ 558 w 585"/>
                <a:gd name="T73" fmla="*/ 181 h 534"/>
                <a:gd name="T74" fmla="*/ 554 w 585"/>
                <a:gd name="T75" fmla="*/ 76 h 534"/>
                <a:gd name="T76" fmla="*/ 249 w 585"/>
                <a:gd name="T77" fmla="*/ 69 h 534"/>
                <a:gd name="T78" fmla="*/ 293 w 585"/>
                <a:gd name="T79" fmla="*/ 93 h 534"/>
                <a:gd name="T80" fmla="*/ 171 w 585"/>
                <a:gd name="T81" fmla="*/ 195 h 534"/>
                <a:gd name="T82" fmla="*/ 69 w 585"/>
                <a:gd name="T83" fmla="*/ 98 h 534"/>
                <a:gd name="T84" fmla="*/ 191 w 585"/>
                <a:gd name="T85" fmla="*/ 106 h 534"/>
                <a:gd name="T86" fmla="*/ 220 w 585"/>
                <a:gd name="T87" fmla="*/ 105 h 534"/>
                <a:gd name="T88" fmla="*/ 302 w 585"/>
                <a:gd name="T89" fmla="*/ 121 h 534"/>
                <a:gd name="T90" fmla="*/ 276 w 585"/>
                <a:gd name="T91" fmla="*/ 256 h 534"/>
                <a:gd name="T92" fmla="*/ 260 w 585"/>
                <a:gd name="T93" fmla="*/ 137 h 534"/>
                <a:gd name="T94" fmla="*/ 171 w 585"/>
                <a:gd name="T95" fmla="*/ 195 h 534"/>
                <a:gd name="T96" fmla="*/ 223 w 585"/>
                <a:gd name="T97" fmla="*/ 225 h 534"/>
                <a:gd name="T98" fmla="*/ 247 w 585"/>
                <a:gd name="T99" fmla="*/ 158 h 534"/>
                <a:gd name="T100" fmla="*/ 326 w 585"/>
                <a:gd name="T101" fmla="*/ 292 h 534"/>
                <a:gd name="T102" fmla="*/ 215 w 585"/>
                <a:gd name="T103" fmla="*/ 321 h 534"/>
                <a:gd name="T104" fmla="*/ 309 w 585"/>
                <a:gd name="T105" fmla="*/ 277 h 534"/>
                <a:gd name="T106" fmla="*/ 318 w 585"/>
                <a:gd name="T107" fmla="*/ 133 h 534"/>
                <a:gd name="T108" fmla="*/ 313 w 585"/>
                <a:gd name="T109" fmla="*/ 213 h 534"/>
                <a:gd name="T110" fmla="*/ 299 w 585"/>
                <a:gd name="T111" fmla="*/ 144 h 534"/>
                <a:gd name="T112" fmla="*/ 507 w 585"/>
                <a:gd name="T113" fmla="*/ 179 h 534"/>
                <a:gd name="T114" fmla="*/ 461 w 585"/>
                <a:gd name="T115" fmla="*/ 162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4" name="Freeform 6">
              <a:extLst>
                <a:ext uri="{FF2B5EF4-FFF2-40B4-BE49-F238E27FC236}">
                  <a16:creationId xmlns:a16="http://schemas.microsoft.com/office/drawing/2014/main" id="{EE0A4C63-A246-E6F6-D87F-8FB0D0C19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40 w 47"/>
                <a:gd name="T1" fmla="*/ 15 h 56"/>
                <a:gd name="T2" fmla="*/ 27 w 47"/>
                <a:gd name="T3" fmla="*/ 56 h 56"/>
                <a:gd name="T4" fmla="*/ 40 w 47"/>
                <a:gd name="T5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5" name="Freeform 7">
              <a:extLst>
                <a:ext uri="{FF2B5EF4-FFF2-40B4-BE49-F238E27FC236}">
                  <a16:creationId xmlns:a16="http://schemas.microsoft.com/office/drawing/2014/main" id="{19EFE264-18A0-7D18-E006-188B3B4D4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19 w 41"/>
                <a:gd name="T1" fmla="*/ 27 h 75"/>
                <a:gd name="T2" fmla="*/ 12 w 41"/>
                <a:gd name="T3" fmla="*/ 69 h 75"/>
                <a:gd name="T4" fmla="*/ 40 w 41"/>
                <a:gd name="T5" fmla="*/ 45 h 75"/>
                <a:gd name="T6" fmla="*/ 37 w 41"/>
                <a:gd name="T7" fmla="*/ 24 h 75"/>
                <a:gd name="T8" fmla="*/ 19 w 41"/>
                <a:gd name="T9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6" name="Freeform 8">
              <a:extLst>
                <a:ext uri="{FF2B5EF4-FFF2-40B4-BE49-F238E27FC236}">
                  <a16:creationId xmlns:a16="http://schemas.microsoft.com/office/drawing/2014/main" id="{856CEDD0-FEDE-3517-8643-4B915D98C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112 w 135"/>
                <a:gd name="T1" fmla="*/ 4 h 63"/>
                <a:gd name="T2" fmla="*/ 24 w 135"/>
                <a:gd name="T3" fmla="*/ 4 h 63"/>
                <a:gd name="T4" fmla="*/ 2 w 135"/>
                <a:gd name="T5" fmla="*/ 25 h 63"/>
                <a:gd name="T6" fmla="*/ 60 w 135"/>
                <a:gd name="T7" fmla="*/ 58 h 63"/>
                <a:gd name="T8" fmla="*/ 96 w 135"/>
                <a:gd name="T9" fmla="*/ 54 h 63"/>
                <a:gd name="T10" fmla="*/ 113 w 135"/>
                <a:gd name="T11" fmla="*/ 53 h 63"/>
                <a:gd name="T12" fmla="*/ 112 w 135"/>
                <a:gd name="T13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7" name="Freeform 9">
              <a:extLst>
                <a:ext uri="{FF2B5EF4-FFF2-40B4-BE49-F238E27FC236}">
                  <a16:creationId xmlns:a16="http://schemas.microsoft.com/office/drawing/2014/main" id="{0C16A731-DF08-EBC4-CE14-898ADEC1F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67 w 97"/>
                <a:gd name="T1" fmla="*/ 5 h 102"/>
                <a:gd name="T2" fmla="*/ 31 w 97"/>
                <a:gd name="T3" fmla="*/ 5 h 102"/>
                <a:gd name="T4" fmla="*/ 12 w 97"/>
                <a:gd name="T5" fmla="*/ 57 h 102"/>
                <a:gd name="T6" fmla="*/ 79 w 97"/>
                <a:gd name="T7" fmla="*/ 62 h 102"/>
                <a:gd name="T8" fmla="*/ 67 w 97"/>
                <a:gd name="T9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8" name="Freeform 10">
              <a:extLst>
                <a:ext uri="{FF2B5EF4-FFF2-40B4-BE49-F238E27FC236}">
                  <a16:creationId xmlns:a16="http://schemas.microsoft.com/office/drawing/2014/main" id="{80AE9969-8B1E-A857-D0E0-4AC15D122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15 w 99"/>
                <a:gd name="T1" fmla="*/ 0 h 19"/>
                <a:gd name="T2" fmla="*/ 40 w 99"/>
                <a:gd name="T3" fmla="*/ 15 h 19"/>
                <a:gd name="T4" fmla="*/ 15 w 99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9" name="Freeform 11">
              <a:extLst>
                <a:ext uri="{FF2B5EF4-FFF2-40B4-BE49-F238E27FC236}">
                  <a16:creationId xmlns:a16="http://schemas.microsoft.com/office/drawing/2014/main" id="{76A3AAF5-3C6D-48AD-8D4C-440B93ABF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21 w 76"/>
                <a:gd name="T1" fmla="*/ 37 h 47"/>
                <a:gd name="T2" fmla="*/ 70 w 76"/>
                <a:gd name="T3" fmla="*/ 17 h 47"/>
                <a:gd name="T4" fmla="*/ 48 w 76"/>
                <a:gd name="T5" fmla="*/ 3 h 47"/>
                <a:gd name="T6" fmla="*/ 19 w 76"/>
                <a:gd name="T7" fmla="*/ 32 h 47"/>
                <a:gd name="T8" fmla="*/ 21 w 76"/>
                <a:gd name="T9" fmla="*/ 3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0" name="Freeform 12">
              <a:extLst>
                <a:ext uri="{FF2B5EF4-FFF2-40B4-BE49-F238E27FC236}">
                  <a16:creationId xmlns:a16="http://schemas.microsoft.com/office/drawing/2014/main" id="{45F5282C-2E3C-7D28-DA6F-E8E21AF47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72 w 82"/>
                <a:gd name="T1" fmla="*/ 6 h 37"/>
                <a:gd name="T2" fmla="*/ 24 w 82"/>
                <a:gd name="T3" fmla="*/ 17 h 37"/>
                <a:gd name="T4" fmla="*/ 17 w 82"/>
                <a:gd name="T5" fmla="*/ 26 h 37"/>
                <a:gd name="T6" fmla="*/ 76 w 82"/>
                <a:gd name="T7" fmla="*/ 23 h 37"/>
                <a:gd name="T8" fmla="*/ 82 w 82"/>
                <a:gd name="T9" fmla="*/ 20 h 37"/>
                <a:gd name="T10" fmla="*/ 82 w 82"/>
                <a:gd name="T11" fmla="*/ 0 h 37"/>
                <a:gd name="T12" fmla="*/ 72 w 82"/>
                <a:gd name="T13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1" name="Freeform 13">
              <a:extLst>
                <a:ext uri="{FF2B5EF4-FFF2-40B4-BE49-F238E27FC236}">
                  <a16:creationId xmlns:a16="http://schemas.microsoft.com/office/drawing/2014/main" id="{BAB18987-D61F-DF22-437A-9674D9357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21 w 138"/>
                <a:gd name="T1" fmla="*/ 1 h 33"/>
                <a:gd name="T2" fmla="*/ 8 w 138"/>
                <a:gd name="T3" fmla="*/ 14 h 33"/>
                <a:gd name="T4" fmla="*/ 57 w 138"/>
                <a:gd name="T5" fmla="*/ 22 h 33"/>
                <a:gd name="T6" fmla="*/ 117 w 138"/>
                <a:gd name="T7" fmla="*/ 23 h 33"/>
                <a:gd name="T8" fmla="*/ 114 w 138"/>
                <a:gd name="T9" fmla="*/ 8 h 33"/>
                <a:gd name="T10" fmla="*/ 82 w 138"/>
                <a:gd name="T11" fmla="*/ 3 h 33"/>
                <a:gd name="T12" fmla="*/ 21 w 138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2" name="Freeform 14">
              <a:extLst>
                <a:ext uri="{FF2B5EF4-FFF2-40B4-BE49-F238E27FC236}">
                  <a16:creationId xmlns:a16="http://schemas.microsoft.com/office/drawing/2014/main" id="{61C3CAB3-A3C9-D45D-B224-63D917E10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98 w 112"/>
                <a:gd name="T1" fmla="*/ 19 h 29"/>
                <a:gd name="T2" fmla="*/ 103 w 112"/>
                <a:gd name="T3" fmla="*/ 4 h 29"/>
                <a:gd name="T4" fmla="*/ 74 w 112"/>
                <a:gd name="T5" fmla="*/ 10 h 29"/>
                <a:gd name="T6" fmla="*/ 36 w 112"/>
                <a:gd name="T7" fmla="*/ 6 h 29"/>
                <a:gd name="T8" fmla="*/ 2 w 112"/>
                <a:gd name="T9" fmla="*/ 4 h 29"/>
                <a:gd name="T10" fmla="*/ 98 w 112"/>
                <a:gd name="T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3" name="Freeform 15">
              <a:extLst>
                <a:ext uri="{FF2B5EF4-FFF2-40B4-BE49-F238E27FC236}">
                  <a16:creationId xmlns:a16="http://schemas.microsoft.com/office/drawing/2014/main" id="{CCC12B90-2805-5EF6-EC4D-EC623C8BA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3 w 115"/>
                <a:gd name="T1" fmla="*/ 53 h 95"/>
                <a:gd name="T2" fmla="*/ 26 w 115"/>
                <a:gd name="T3" fmla="*/ 54 h 95"/>
                <a:gd name="T4" fmla="*/ 50 w 115"/>
                <a:gd name="T5" fmla="*/ 77 h 95"/>
                <a:gd name="T6" fmla="*/ 59 w 115"/>
                <a:gd name="T7" fmla="*/ 84 h 95"/>
                <a:gd name="T8" fmla="*/ 81 w 115"/>
                <a:gd name="T9" fmla="*/ 52 h 95"/>
                <a:gd name="T10" fmla="*/ 111 w 115"/>
                <a:gd name="T11" fmla="*/ 52 h 95"/>
                <a:gd name="T12" fmla="*/ 79 w 115"/>
                <a:gd name="T13" fmla="*/ 27 h 95"/>
                <a:gd name="T14" fmla="*/ 37 w 115"/>
                <a:gd name="T15" fmla="*/ 16 h 95"/>
                <a:gd name="T16" fmla="*/ 12 w 115"/>
                <a:gd name="T17" fmla="*/ 41 h 95"/>
                <a:gd name="T18" fmla="*/ 3 w 115"/>
                <a:gd name="T19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4" name="Freeform 16">
              <a:extLst>
                <a:ext uri="{FF2B5EF4-FFF2-40B4-BE49-F238E27FC236}">
                  <a16:creationId xmlns:a16="http://schemas.microsoft.com/office/drawing/2014/main" id="{DE748E29-03BA-BCEF-67EE-FC214FAE0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51 w 65"/>
                <a:gd name="T1" fmla="*/ 40 h 169"/>
                <a:gd name="T2" fmla="*/ 22 w 65"/>
                <a:gd name="T3" fmla="*/ 49 h 169"/>
                <a:gd name="T4" fmla="*/ 22 w 65"/>
                <a:gd name="T5" fmla="*/ 59 h 169"/>
                <a:gd name="T6" fmla="*/ 50 w 65"/>
                <a:gd name="T7" fmla="*/ 90 h 169"/>
                <a:gd name="T8" fmla="*/ 34 w 65"/>
                <a:gd name="T9" fmla="*/ 118 h 169"/>
                <a:gd name="T10" fmla="*/ 0 w 65"/>
                <a:gd name="T11" fmla="*/ 148 h 169"/>
                <a:gd name="T12" fmla="*/ 17 w 65"/>
                <a:gd name="T13" fmla="*/ 155 h 169"/>
                <a:gd name="T14" fmla="*/ 47 w 65"/>
                <a:gd name="T15" fmla="*/ 166 h 169"/>
                <a:gd name="T16" fmla="*/ 63 w 65"/>
                <a:gd name="T17" fmla="*/ 162 h 169"/>
                <a:gd name="T18" fmla="*/ 65 w 65"/>
                <a:gd name="T19" fmla="*/ 0 h 169"/>
                <a:gd name="T20" fmla="*/ 51 w 65"/>
                <a:gd name="T21" fmla="*/ 4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6145" name="Group 17">
            <a:extLst>
              <a:ext uri="{FF2B5EF4-FFF2-40B4-BE49-F238E27FC236}">
                <a16:creationId xmlns:a16="http://schemas.microsoft.com/office/drawing/2014/main" id="{CD3886D3-20CE-09E8-7268-339BAB546969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36513"/>
            <a:ext cx="7891462" cy="6821487"/>
            <a:chOff x="349" y="23"/>
            <a:chExt cx="4971" cy="4297"/>
          </a:xfrm>
        </p:grpSpPr>
        <p:sp>
          <p:nvSpPr>
            <p:cNvPr id="176146" name="Rectangle 18">
              <a:extLst>
                <a:ext uri="{FF2B5EF4-FFF2-40B4-BE49-F238E27FC236}">
                  <a16:creationId xmlns:a16="http://schemas.microsoft.com/office/drawing/2014/main" id="{C27B840E-B4B7-7716-0BF6-6022C4A0C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7" name="Freeform 19">
              <a:extLst>
                <a:ext uri="{FF2B5EF4-FFF2-40B4-BE49-F238E27FC236}">
                  <a16:creationId xmlns:a16="http://schemas.microsoft.com/office/drawing/2014/main" id="{F0C22719-A3B4-F24E-240A-B99EF3C4F6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8" name="Freeform 20">
              <a:extLst>
                <a:ext uri="{FF2B5EF4-FFF2-40B4-BE49-F238E27FC236}">
                  <a16:creationId xmlns:a16="http://schemas.microsoft.com/office/drawing/2014/main" id="{44665088-3D1B-0690-5AEE-EB5D96BA0B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9" name="Freeform 21">
              <a:extLst>
                <a:ext uri="{FF2B5EF4-FFF2-40B4-BE49-F238E27FC236}">
                  <a16:creationId xmlns:a16="http://schemas.microsoft.com/office/drawing/2014/main" id="{960D82DF-C5BB-6CEE-1FEF-D2CE603F3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0" name="Freeform 22">
              <a:extLst>
                <a:ext uri="{FF2B5EF4-FFF2-40B4-BE49-F238E27FC236}">
                  <a16:creationId xmlns:a16="http://schemas.microsoft.com/office/drawing/2014/main" id="{908C909B-039B-73CC-E507-08C858CDEF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1" name="Freeform 23">
              <a:extLst>
                <a:ext uri="{FF2B5EF4-FFF2-40B4-BE49-F238E27FC236}">
                  <a16:creationId xmlns:a16="http://schemas.microsoft.com/office/drawing/2014/main" id="{C72F7841-F0FD-0DCF-03AE-21D9076D68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2" name="Freeform 24">
              <a:extLst>
                <a:ext uri="{FF2B5EF4-FFF2-40B4-BE49-F238E27FC236}">
                  <a16:creationId xmlns:a16="http://schemas.microsoft.com/office/drawing/2014/main" id="{3449A11D-B1C0-2F3A-6C7A-969FE6C128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3" name="Freeform 25">
              <a:extLst>
                <a:ext uri="{FF2B5EF4-FFF2-40B4-BE49-F238E27FC236}">
                  <a16:creationId xmlns:a16="http://schemas.microsoft.com/office/drawing/2014/main" id="{16FDA13D-B29E-42F5-602F-15EA0E4430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4" name="Freeform 26">
              <a:extLst>
                <a:ext uri="{FF2B5EF4-FFF2-40B4-BE49-F238E27FC236}">
                  <a16:creationId xmlns:a16="http://schemas.microsoft.com/office/drawing/2014/main" id="{E5B9BE95-8C51-64D1-0230-F30C0A3E6D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5" name="Freeform 27">
              <a:extLst>
                <a:ext uri="{FF2B5EF4-FFF2-40B4-BE49-F238E27FC236}">
                  <a16:creationId xmlns:a16="http://schemas.microsoft.com/office/drawing/2014/main" id="{1C4A4DA4-DE90-051D-0D29-8520B40419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6" name="Freeform 28">
              <a:extLst>
                <a:ext uri="{FF2B5EF4-FFF2-40B4-BE49-F238E27FC236}">
                  <a16:creationId xmlns:a16="http://schemas.microsoft.com/office/drawing/2014/main" id="{CE2518A9-999E-D59F-9838-410A196BF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7" name="Rectangle 29">
              <a:extLst>
                <a:ext uri="{FF2B5EF4-FFF2-40B4-BE49-F238E27FC236}">
                  <a16:creationId xmlns:a16="http://schemas.microsoft.com/office/drawing/2014/main" id="{435E0169-CDC6-B09F-A38B-59395670F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8" name="Rectangle 30">
              <a:extLst>
                <a:ext uri="{FF2B5EF4-FFF2-40B4-BE49-F238E27FC236}">
                  <a16:creationId xmlns:a16="http://schemas.microsoft.com/office/drawing/2014/main" id="{8F45E79B-1A3C-B0DD-3DBF-AA67ED8F6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9" name="Freeform 31">
              <a:extLst>
                <a:ext uri="{FF2B5EF4-FFF2-40B4-BE49-F238E27FC236}">
                  <a16:creationId xmlns:a16="http://schemas.microsoft.com/office/drawing/2014/main" id="{BF34929B-B5CA-8871-6273-AD30ADBE3A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0" name="Freeform 32">
              <a:extLst>
                <a:ext uri="{FF2B5EF4-FFF2-40B4-BE49-F238E27FC236}">
                  <a16:creationId xmlns:a16="http://schemas.microsoft.com/office/drawing/2014/main" id="{8F2E3EAB-E7AE-33FB-7B55-13320C6791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1" name="Freeform 33">
              <a:extLst>
                <a:ext uri="{FF2B5EF4-FFF2-40B4-BE49-F238E27FC236}">
                  <a16:creationId xmlns:a16="http://schemas.microsoft.com/office/drawing/2014/main" id="{0F23E92A-978A-AA6C-C55E-36C3450CB7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2" name="Freeform 34">
              <a:extLst>
                <a:ext uri="{FF2B5EF4-FFF2-40B4-BE49-F238E27FC236}">
                  <a16:creationId xmlns:a16="http://schemas.microsoft.com/office/drawing/2014/main" id="{041DFC37-D343-4460-6C29-82A146ADFA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3" name="Freeform 35">
              <a:extLst>
                <a:ext uri="{FF2B5EF4-FFF2-40B4-BE49-F238E27FC236}">
                  <a16:creationId xmlns:a16="http://schemas.microsoft.com/office/drawing/2014/main" id="{0B748849-D5C4-0017-16CB-E3974859F7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4" name="Freeform 36">
              <a:extLst>
                <a:ext uri="{FF2B5EF4-FFF2-40B4-BE49-F238E27FC236}">
                  <a16:creationId xmlns:a16="http://schemas.microsoft.com/office/drawing/2014/main" id="{B3197B91-3B4B-94D8-C7CE-B30621D63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5" name="Freeform 37">
              <a:extLst>
                <a:ext uri="{FF2B5EF4-FFF2-40B4-BE49-F238E27FC236}">
                  <a16:creationId xmlns:a16="http://schemas.microsoft.com/office/drawing/2014/main" id="{6EFD06CE-FB99-4B12-945A-60B1D94C83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6" name="Freeform 38">
              <a:extLst>
                <a:ext uri="{FF2B5EF4-FFF2-40B4-BE49-F238E27FC236}">
                  <a16:creationId xmlns:a16="http://schemas.microsoft.com/office/drawing/2014/main" id="{437FFF93-18CB-5790-927F-8CCDEA024F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7" name="Freeform 39">
              <a:extLst>
                <a:ext uri="{FF2B5EF4-FFF2-40B4-BE49-F238E27FC236}">
                  <a16:creationId xmlns:a16="http://schemas.microsoft.com/office/drawing/2014/main" id="{9BC16137-03A9-E4E1-06EC-B4762F0B9D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8" name="Freeform 40">
              <a:extLst>
                <a:ext uri="{FF2B5EF4-FFF2-40B4-BE49-F238E27FC236}">
                  <a16:creationId xmlns:a16="http://schemas.microsoft.com/office/drawing/2014/main" id="{E78C0B87-C8CF-33C5-6E0B-E7C2B72DA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9" name="Rectangle 41">
              <a:extLst>
                <a:ext uri="{FF2B5EF4-FFF2-40B4-BE49-F238E27FC236}">
                  <a16:creationId xmlns:a16="http://schemas.microsoft.com/office/drawing/2014/main" id="{8064C7E3-8032-9178-605F-2C1CFC010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0" name="Rectangle 42">
              <a:extLst>
                <a:ext uri="{FF2B5EF4-FFF2-40B4-BE49-F238E27FC236}">
                  <a16:creationId xmlns:a16="http://schemas.microsoft.com/office/drawing/2014/main" id="{EF4E9D9D-9A22-DD88-928C-FF4FB515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1" name="Freeform 43">
              <a:extLst>
                <a:ext uri="{FF2B5EF4-FFF2-40B4-BE49-F238E27FC236}">
                  <a16:creationId xmlns:a16="http://schemas.microsoft.com/office/drawing/2014/main" id="{9892497F-2A31-11B1-5517-B41F5B1014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2" name="Freeform 44">
              <a:extLst>
                <a:ext uri="{FF2B5EF4-FFF2-40B4-BE49-F238E27FC236}">
                  <a16:creationId xmlns:a16="http://schemas.microsoft.com/office/drawing/2014/main" id="{8E831B00-52EF-5280-3F0F-7D9C978EB4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3" name="Freeform 45">
              <a:extLst>
                <a:ext uri="{FF2B5EF4-FFF2-40B4-BE49-F238E27FC236}">
                  <a16:creationId xmlns:a16="http://schemas.microsoft.com/office/drawing/2014/main" id="{A8DF817B-721D-0ABF-6F26-57E15B80C3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4" name="Freeform 46">
              <a:extLst>
                <a:ext uri="{FF2B5EF4-FFF2-40B4-BE49-F238E27FC236}">
                  <a16:creationId xmlns:a16="http://schemas.microsoft.com/office/drawing/2014/main" id="{3D4489E4-D3E7-3241-F193-BC747B43E7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5" name="Freeform 47">
              <a:extLst>
                <a:ext uri="{FF2B5EF4-FFF2-40B4-BE49-F238E27FC236}">
                  <a16:creationId xmlns:a16="http://schemas.microsoft.com/office/drawing/2014/main" id="{106265F0-4107-82A4-EA45-0EADAE5C54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6" name="Freeform 48">
              <a:extLst>
                <a:ext uri="{FF2B5EF4-FFF2-40B4-BE49-F238E27FC236}">
                  <a16:creationId xmlns:a16="http://schemas.microsoft.com/office/drawing/2014/main" id="{389A28F7-9690-3A25-9A65-EDE2080E4F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7" name="Freeform 49">
              <a:extLst>
                <a:ext uri="{FF2B5EF4-FFF2-40B4-BE49-F238E27FC236}">
                  <a16:creationId xmlns:a16="http://schemas.microsoft.com/office/drawing/2014/main" id="{7B8713AA-E30D-60C6-6BE6-2BECC356BF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8" name="Freeform 50">
              <a:extLst>
                <a:ext uri="{FF2B5EF4-FFF2-40B4-BE49-F238E27FC236}">
                  <a16:creationId xmlns:a16="http://schemas.microsoft.com/office/drawing/2014/main" id="{15576D8B-F4AE-BC95-777A-42B950DFEF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9" name="Freeform 51">
              <a:extLst>
                <a:ext uri="{FF2B5EF4-FFF2-40B4-BE49-F238E27FC236}">
                  <a16:creationId xmlns:a16="http://schemas.microsoft.com/office/drawing/2014/main" id="{10CC1DDF-686B-7548-CECB-18F59F5294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0" name="Freeform 52">
              <a:extLst>
                <a:ext uri="{FF2B5EF4-FFF2-40B4-BE49-F238E27FC236}">
                  <a16:creationId xmlns:a16="http://schemas.microsoft.com/office/drawing/2014/main" id="{688AD650-0287-66B5-6394-8C0593F199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1" name="Rectangle 53">
              <a:extLst>
                <a:ext uri="{FF2B5EF4-FFF2-40B4-BE49-F238E27FC236}">
                  <a16:creationId xmlns:a16="http://schemas.microsoft.com/office/drawing/2014/main" id="{FDAC59E6-0917-FBF1-D25D-5A2E9C266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2" name="Rectangle 54">
              <a:extLst>
                <a:ext uri="{FF2B5EF4-FFF2-40B4-BE49-F238E27FC236}">
                  <a16:creationId xmlns:a16="http://schemas.microsoft.com/office/drawing/2014/main" id="{CDD2171F-CC53-A92B-FDFD-B65C28BBB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3" name="Freeform 55">
              <a:extLst>
                <a:ext uri="{FF2B5EF4-FFF2-40B4-BE49-F238E27FC236}">
                  <a16:creationId xmlns:a16="http://schemas.microsoft.com/office/drawing/2014/main" id="{B6045723-2889-0998-7A79-FCDA4EDBD6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4" name="Freeform 56">
              <a:extLst>
                <a:ext uri="{FF2B5EF4-FFF2-40B4-BE49-F238E27FC236}">
                  <a16:creationId xmlns:a16="http://schemas.microsoft.com/office/drawing/2014/main" id="{CBD40B4F-5186-F7D2-4A79-427E1F28B3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5" name="Freeform 57">
              <a:extLst>
                <a:ext uri="{FF2B5EF4-FFF2-40B4-BE49-F238E27FC236}">
                  <a16:creationId xmlns:a16="http://schemas.microsoft.com/office/drawing/2014/main" id="{3FCD9BC3-2B11-BAC7-C67A-71C3F9C685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6" name="Freeform 58">
              <a:extLst>
                <a:ext uri="{FF2B5EF4-FFF2-40B4-BE49-F238E27FC236}">
                  <a16:creationId xmlns:a16="http://schemas.microsoft.com/office/drawing/2014/main" id="{CE3FADB6-B5E3-5E4D-A812-EFD931B999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7" name="Freeform 59">
              <a:extLst>
                <a:ext uri="{FF2B5EF4-FFF2-40B4-BE49-F238E27FC236}">
                  <a16:creationId xmlns:a16="http://schemas.microsoft.com/office/drawing/2014/main" id="{4BBCAF92-717B-193F-9F1A-BDA215258C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8" name="Freeform 60">
              <a:extLst>
                <a:ext uri="{FF2B5EF4-FFF2-40B4-BE49-F238E27FC236}">
                  <a16:creationId xmlns:a16="http://schemas.microsoft.com/office/drawing/2014/main" id="{3250389C-F430-B562-D110-B54AB4BEFD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9" name="Freeform 61">
              <a:extLst>
                <a:ext uri="{FF2B5EF4-FFF2-40B4-BE49-F238E27FC236}">
                  <a16:creationId xmlns:a16="http://schemas.microsoft.com/office/drawing/2014/main" id="{3BB95937-2D30-70A6-3CF4-6C2ABC9ED6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0" name="Freeform 62">
              <a:extLst>
                <a:ext uri="{FF2B5EF4-FFF2-40B4-BE49-F238E27FC236}">
                  <a16:creationId xmlns:a16="http://schemas.microsoft.com/office/drawing/2014/main" id="{31324E95-6C7B-3E6B-6744-40A0F6E7CA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1" name="Freeform 63">
              <a:extLst>
                <a:ext uri="{FF2B5EF4-FFF2-40B4-BE49-F238E27FC236}">
                  <a16:creationId xmlns:a16="http://schemas.microsoft.com/office/drawing/2014/main" id="{9B98BCC5-982A-9069-9DEF-73A438730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2" name="Freeform 64">
              <a:extLst>
                <a:ext uri="{FF2B5EF4-FFF2-40B4-BE49-F238E27FC236}">
                  <a16:creationId xmlns:a16="http://schemas.microsoft.com/office/drawing/2014/main" id="{0762B250-61F2-1136-25CF-F9352CF5EA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3" name="Rectangle 65">
              <a:extLst>
                <a:ext uri="{FF2B5EF4-FFF2-40B4-BE49-F238E27FC236}">
                  <a16:creationId xmlns:a16="http://schemas.microsoft.com/office/drawing/2014/main" id="{C09C22F3-B9CC-10C9-3ED5-A00D1953B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4" name="Rectangle 66">
              <a:extLst>
                <a:ext uri="{FF2B5EF4-FFF2-40B4-BE49-F238E27FC236}">
                  <a16:creationId xmlns:a16="http://schemas.microsoft.com/office/drawing/2014/main" id="{F3D79ABE-EFA6-7962-2644-D2105B334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5" name="Freeform 67">
              <a:extLst>
                <a:ext uri="{FF2B5EF4-FFF2-40B4-BE49-F238E27FC236}">
                  <a16:creationId xmlns:a16="http://schemas.microsoft.com/office/drawing/2014/main" id="{395CFE43-3EBA-6D5A-3EC6-950813BFF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6" name="Freeform 68">
              <a:extLst>
                <a:ext uri="{FF2B5EF4-FFF2-40B4-BE49-F238E27FC236}">
                  <a16:creationId xmlns:a16="http://schemas.microsoft.com/office/drawing/2014/main" id="{951D3861-9A79-CC5E-5331-E9DDFA47B4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7" name="Freeform 69">
              <a:extLst>
                <a:ext uri="{FF2B5EF4-FFF2-40B4-BE49-F238E27FC236}">
                  <a16:creationId xmlns:a16="http://schemas.microsoft.com/office/drawing/2014/main" id="{07D0E9A3-A533-FCDA-9640-1FBCF41EB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8" name="Freeform 70">
              <a:extLst>
                <a:ext uri="{FF2B5EF4-FFF2-40B4-BE49-F238E27FC236}">
                  <a16:creationId xmlns:a16="http://schemas.microsoft.com/office/drawing/2014/main" id="{95C2998E-F912-D6E1-DC5E-5AA1DC31D2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9" name="Freeform 71">
              <a:extLst>
                <a:ext uri="{FF2B5EF4-FFF2-40B4-BE49-F238E27FC236}">
                  <a16:creationId xmlns:a16="http://schemas.microsoft.com/office/drawing/2014/main" id="{6A2601D9-EB20-C146-47C1-A450DC6A35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0" name="Freeform 72">
              <a:extLst>
                <a:ext uri="{FF2B5EF4-FFF2-40B4-BE49-F238E27FC236}">
                  <a16:creationId xmlns:a16="http://schemas.microsoft.com/office/drawing/2014/main" id="{CCD144D7-6EA9-344D-CD8A-A89E927905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1" name="Freeform 73">
              <a:extLst>
                <a:ext uri="{FF2B5EF4-FFF2-40B4-BE49-F238E27FC236}">
                  <a16:creationId xmlns:a16="http://schemas.microsoft.com/office/drawing/2014/main" id="{89C888DA-0819-9165-5C4A-86E22FD829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2" name="Freeform 74">
              <a:extLst>
                <a:ext uri="{FF2B5EF4-FFF2-40B4-BE49-F238E27FC236}">
                  <a16:creationId xmlns:a16="http://schemas.microsoft.com/office/drawing/2014/main" id="{08A35929-3B55-853C-B1E3-56FDF0D551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3" name="Freeform 75">
              <a:extLst>
                <a:ext uri="{FF2B5EF4-FFF2-40B4-BE49-F238E27FC236}">
                  <a16:creationId xmlns:a16="http://schemas.microsoft.com/office/drawing/2014/main" id="{7B4816DA-3482-F76A-6F83-7728032D8E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4" name="Freeform 76">
              <a:extLst>
                <a:ext uri="{FF2B5EF4-FFF2-40B4-BE49-F238E27FC236}">
                  <a16:creationId xmlns:a16="http://schemas.microsoft.com/office/drawing/2014/main" id="{3FF8E6A4-4E08-5E5C-1EE4-A2B936C770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5" name="Rectangle 77">
              <a:extLst>
                <a:ext uri="{FF2B5EF4-FFF2-40B4-BE49-F238E27FC236}">
                  <a16:creationId xmlns:a16="http://schemas.microsoft.com/office/drawing/2014/main" id="{99E71ECD-A665-D31F-D061-DCEEB2C4D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6" name="Rectangle 78">
              <a:extLst>
                <a:ext uri="{FF2B5EF4-FFF2-40B4-BE49-F238E27FC236}">
                  <a16:creationId xmlns:a16="http://schemas.microsoft.com/office/drawing/2014/main" id="{11C168C5-8C00-E82B-8712-E12DB5476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7" name="Freeform 79">
              <a:extLst>
                <a:ext uri="{FF2B5EF4-FFF2-40B4-BE49-F238E27FC236}">
                  <a16:creationId xmlns:a16="http://schemas.microsoft.com/office/drawing/2014/main" id="{EE91CBAE-FF81-4889-94E8-CB46F57212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8" name="Freeform 80">
              <a:extLst>
                <a:ext uri="{FF2B5EF4-FFF2-40B4-BE49-F238E27FC236}">
                  <a16:creationId xmlns:a16="http://schemas.microsoft.com/office/drawing/2014/main" id="{8DF26895-6DC6-FB6F-BB2D-0FFD621037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9" name="Freeform 81">
              <a:extLst>
                <a:ext uri="{FF2B5EF4-FFF2-40B4-BE49-F238E27FC236}">
                  <a16:creationId xmlns:a16="http://schemas.microsoft.com/office/drawing/2014/main" id="{8EAE6A43-4829-F599-6636-5706D4C11F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0" name="Freeform 82">
              <a:extLst>
                <a:ext uri="{FF2B5EF4-FFF2-40B4-BE49-F238E27FC236}">
                  <a16:creationId xmlns:a16="http://schemas.microsoft.com/office/drawing/2014/main" id="{1083DE6E-727F-2F08-0120-CD13BD48AA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1" name="Freeform 83">
              <a:extLst>
                <a:ext uri="{FF2B5EF4-FFF2-40B4-BE49-F238E27FC236}">
                  <a16:creationId xmlns:a16="http://schemas.microsoft.com/office/drawing/2014/main" id="{9D999B8C-3289-532E-5C4E-8B4BA62324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2" name="Freeform 84">
              <a:extLst>
                <a:ext uri="{FF2B5EF4-FFF2-40B4-BE49-F238E27FC236}">
                  <a16:creationId xmlns:a16="http://schemas.microsoft.com/office/drawing/2014/main" id="{482C387D-B5F0-6F2B-FFFE-4E198DA939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3" name="Freeform 85">
              <a:extLst>
                <a:ext uri="{FF2B5EF4-FFF2-40B4-BE49-F238E27FC236}">
                  <a16:creationId xmlns:a16="http://schemas.microsoft.com/office/drawing/2014/main" id="{67BC64FB-4E1B-8023-013F-13AE2B3C5E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4" name="Freeform 86">
              <a:extLst>
                <a:ext uri="{FF2B5EF4-FFF2-40B4-BE49-F238E27FC236}">
                  <a16:creationId xmlns:a16="http://schemas.microsoft.com/office/drawing/2014/main" id="{790EB15E-B197-40F7-9F3D-D48757CAA2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5" name="Freeform 87">
              <a:extLst>
                <a:ext uri="{FF2B5EF4-FFF2-40B4-BE49-F238E27FC236}">
                  <a16:creationId xmlns:a16="http://schemas.microsoft.com/office/drawing/2014/main" id="{2739C933-C9D8-0100-C6B6-9C10633BD1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6" name="Freeform 88">
              <a:extLst>
                <a:ext uri="{FF2B5EF4-FFF2-40B4-BE49-F238E27FC236}">
                  <a16:creationId xmlns:a16="http://schemas.microsoft.com/office/drawing/2014/main" id="{C940BCA8-DE9D-66E9-BD11-A5E4F37F23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7" name="Rectangle 89">
              <a:extLst>
                <a:ext uri="{FF2B5EF4-FFF2-40B4-BE49-F238E27FC236}">
                  <a16:creationId xmlns:a16="http://schemas.microsoft.com/office/drawing/2014/main" id="{0C615BC5-EBE3-BC76-2846-C69049C3F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8" name="Rectangle 90">
              <a:extLst>
                <a:ext uri="{FF2B5EF4-FFF2-40B4-BE49-F238E27FC236}">
                  <a16:creationId xmlns:a16="http://schemas.microsoft.com/office/drawing/2014/main" id="{1D95E090-21C0-C5B3-4B55-B8193E0D0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9" name="Freeform 91">
              <a:extLst>
                <a:ext uri="{FF2B5EF4-FFF2-40B4-BE49-F238E27FC236}">
                  <a16:creationId xmlns:a16="http://schemas.microsoft.com/office/drawing/2014/main" id="{BD55E045-E816-34FF-7232-553AB20857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0" name="Freeform 92">
              <a:extLst>
                <a:ext uri="{FF2B5EF4-FFF2-40B4-BE49-F238E27FC236}">
                  <a16:creationId xmlns:a16="http://schemas.microsoft.com/office/drawing/2014/main" id="{544DEA1E-1367-13CE-F97B-ABE034BEEF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1" name="Freeform 93">
              <a:extLst>
                <a:ext uri="{FF2B5EF4-FFF2-40B4-BE49-F238E27FC236}">
                  <a16:creationId xmlns:a16="http://schemas.microsoft.com/office/drawing/2014/main" id="{139F02A1-85CF-6EAC-C331-C62CCC0A68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2" name="Freeform 94">
              <a:extLst>
                <a:ext uri="{FF2B5EF4-FFF2-40B4-BE49-F238E27FC236}">
                  <a16:creationId xmlns:a16="http://schemas.microsoft.com/office/drawing/2014/main" id="{234449F8-85AB-7BE6-E6B4-E686685F07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3" name="Freeform 95">
              <a:extLst>
                <a:ext uri="{FF2B5EF4-FFF2-40B4-BE49-F238E27FC236}">
                  <a16:creationId xmlns:a16="http://schemas.microsoft.com/office/drawing/2014/main" id="{92AF27A0-D55A-CE56-6D65-2C7E0C5A80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4" name="Freeform 96">
              <a:extLst>
                <a:ext uri="{FF2B5EF4-FFF2-40B4-BE49-F238E27FC236}">
                  <a16:creationId xmlns:a16="http://schemas.microsoft.com/office/drawing/2014/main" id="{497C5211-4E19-C62C-4F5D-8613D557AB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5" name="Freeform 97">
              <a:extLst>
                <a:ext uri="{FF2B5EF4-FFF2-40B4-BE49-F238E27FC236}">
                  <a16:creationId xmlns:a16="http://schemas.microsoft.com/office/drawing/2014/main" id="{E73550EB-2ED9-B641-A29B-5E6037A081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6" name="Freeform 98">
              <a:extLst>
                <a:ext uri="{FF2B5EF4-FFF2-40B4-BE49-F238E27FC236}">
                  <a16:creationId xmlns:a16="http://schemas.microsoft.com/office/drawing/2014/main" id="{8A0F5FFC-DAB7-2B18-550E-B8F005F861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7" name="Freeform 99">
              <a:extLst>
                <a:ext uri="{FF2B5EF4-FFF2-40B4-BE49-F238E27FC236}">
                  <a16:creationId xmlns:a16="http://schemas.microsoft.com/office/drawing/2014/main" id="{E52B9E90-F4DC-566E-7B25-F4407A03D1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8" name="Freeform 100">
              <a:extLst>
                <a:ext uri="{FF2B5EF4-FFF2-40B4-BE49-F238E27FC236}">
                  <a16:creationId xmlns:a16="http://schemas.microsoft.com/office/drawing/2014/main" id="{4542E6B2-06EA-DE9B-2391-5C5138B6D4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9" name="Rectangle 101">
              <a:extLst>
                <a:ext uri="{FF2B5EF4-FFF2-40B4-BE49-F238E27FC236}">
                  <a16:creationId xmlns:a16="http://schemas.microsoft.com/office/drawing/2014/main" id="{7594C492-D3CA-A669-BB09-87150714C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0" name="Rectangle 102">
              <a:extLst>
                <a:ext uri="{FF2B5EF4-FFF2-40B4-BE49-F238E27FC236}">
                  <a16:creationId xmlns:a16="http://schemas.microsoft.com/office/drawing/2014/main" id="{4A1FC8A0-793B-EB1E-156F-903E3EC6C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1" name="Freeform 103">
              <a:extLst>
                <a:ext uri="{FF2B5EF4-FFF2-40B4-BE49-F238E27FC236}">
                  <a16:creationId xmlns:a16="http://schemas.microsoft.com/office/drawing/2014/main" id="{8BA480F2-3E8E-1040-ADB4-EB58011FE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2" name="Freeform 104">
              <a:extLst>
                <a:ext uri="{FF2B5EF4-FFF2-40B4-BE49-F238E27FC236}">
                  <a16:creationId xmlns:a16="http://schemas.microsoft.com/office/drawing/2014/main" id="{3E023414-7E5B-1BBC-4158-1EF21E86C2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3" name="Freeform 105">
              <a:extLst>
                <a:ext uri="{FF2B5EF4-FFF2-40B4-BE49-F238E27FC236}">
                  <a16:creationId xmlns:a16="http://schemas.microsoft.com/office/drawing/2014/main" id="{216736DF-E630-3AB4-2FCC-DDEFB1D6F1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4" name="Freeform 106">
              <a:extLst>
                <a:ext uri="{FF2B5EF4-FFF2-40B4-BE49-F238E27FC236}">
                  <a16:creationId xmlns:a16="http://schemas.microsoft.com/office/drawing/2014/main" id="{FB1C459B-E459-07C3-5D44-C6ED1BE0E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5" name="Freeform 107">
              <a:extLst>
                <a:ext uri="{FF2B5EF4-FFF2-40B4-BE49-F238E27FC236}">
                  <a16:creationId xmlns:a16="http://schemas.microsoft.com/office/drawing/2014/main" id="{D3B97E65-0677-E0F7-8EA9-A4554AF7BE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6" name="Freeform 108">
              <a:extLst>
                <a:ext uri="{FF2B5EF4-FFF2-40B4-BE49-F238E27FC236}">
                  <a16:creationId xmlns:a16="http://schemas.microsoft.com/office/drawing/2014/main" id="{2830CE5A-F539-E7E5-9455-F437F7BE4C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7" name="Freeform 109">
              <a:extLst>
                <a:ext uri="{FF2B5EF4-FFF2-40B4-BE49-F238E27FC236}">
                  <a16:creationId xmlns:a16="http://schemas.microsoft.com/office/drawing/2014/main" id="{7F231581-CFC0-6BD7-8861-47D860D3F7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8" name="Freeform 110">
              <a:extLst>
                <a:ext uri="{FF2B5EF4-FFF2-40B4-BE49-F238E27FC236}">
                  <a16:creationId xmlns:a16="http://schemas.microsoft.com/office/drawing/2014/main" id="{A6226329-D078-68B3-E06E-64923CC245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9" name="Freeform 111">
              <a:extLst>
                <a:ext uri="{FF2B5EF4-FFF2-40B4-BE49-F238E27FC236}">
                  <a16:creationId xmlns:a16="http://schemas.microsoft.com/office/drawing/2014/main" id="{615207BA-90F6-4C42-4757-5B675543C9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0" name="Freeform 112">
              <a:extLst>
                <a:ext uri="{FF2B5EF4-FFF2-40B4-BE49-F238E27FC236}">
                  <a16:creationId xmlns:a16="http://schemas.microsoft.com/office/drawing/2014/main" id="{2FA10731-8C76-65D6-83A4-D7182C82A0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1" name="Rectangle 113">
              <a:extLst>
                <a:ext uri="{FF2B5EF4-FFF2-40B4-BE49-F238E27FC236}">
                  <a16:creationId xmlns:a16="http://schemas.microsoft.com/office/drawing/2014/main" id="{F6F54090-A671-4879-B13A-585A35BB5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2" name="Rectangle 114">
              <a:extLst>
                <a:ext uri="{FF2B5EF4-FFF2-40B4-BE49-F238E27FC236}">
                  <a16:creationId xmlns:a16="http://schemas.microsoft.com/office/drawing/2014/main" id="{7D0647F3-F380-B2B4-4FB2-759511B71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3" name="Freeform 115">
              <a:extLst>
                <a:ext uri="{FF2B5EF4-FFF2-40B4-BE49-F238E27FC236}">
                  <a16:creationId xmlns:a16="http://schemas.microsoft.com/office/drawing/2014/main" id="{DFF7E29C-47BF-5CE9-2098-560E410C63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4" name="Freeform 116">
              <a:extLst>
                <a:ext uri="{FF2B5EF4-FFF2-40B4-BE49-F238E27FC236}">
                  <a16:creationId xmlns:a16="http://schemas.microsoft.com/office/drawing/2014/main" id="{CD6EF608-7A7B-5557-ACD3-5C3210ECC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5" name="Freeform 117">
              <a:extLst>
                <a:ext uri="{FF2B5EF4-FFF2-40B4-BE49-F238E27FC236}">
                  <a16:creationId xmlns:a16="http://schemas.microsoft.com/office/drawing/2014/main" id="{002283B7-8D05-0ACB-70D6-45028C3A2A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6" name="Freeform 118">
              <a:extLst>
                <a:ext uri="{FF2B5EF4-FFF2-40B4-BE49-F238E27FC236}">
                  <a16:creationId xmlns:a16="http://schemas.microsoft.com/office/drawing/2014/main" id="{F6AB2AEA-5615-A27D-1EE4-C8A3A5DCB9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7" name="Freeform 119">
              <a:extLst>
                <a:ext uri="{FF2B5EF4-FFF2-40B4-BE49-F238E27FC236}">
                  <a16:creationId xmlns:a16="http://schemas.microsoft.com/office/drawing/2014/main" id="{52FF68E0-D503-29AC-3353-71E5A64A73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8" name="Freeform 120">
              <a:extLst>
                <a:ext uri="{FF2B5EF4-FFF2-40B4-BE49-F238E27FC236}">
                  <a16:creationId xmlns:a16="http://schemas.microsoft.com/office/drawing/2014/main" id="{17EF89CF-6D94-85C8-61E8-8F8C4FAE82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9" name="Freeform 121">
              <a:extLst>
                <a:ext uri="{FF2B5EF4-FFF2-40B4-BE49-F238E27FC236}">
                  <a16:creationId xmlns:a16="http://schemas.microsoft.com/office/drawing/2014/main" id="{710D8995-9B90-F384-F362-84A110F512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0" name="Freeform 122">
              <a:extLst>
                <a:ext uri="{FF2B5EF4-FFF2-40B4-BE49-F238E27FC236}">
                  <a16:creationId xmlns:a16="http://schemas.microsoft.com/office/drawing/2014/main" id="{7B02ED7E-6C22-4AC4-DB1B-257AE367A6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1" name="Freeform 123">
              <a:extLst>
                <a:ext uri="{FF2B5EF4-FFF2-40B4-BE49-F238E27FC236}">
                  <a16:creationId xmlns:a16="http://schemas.microsoft.com/office/drawing/2014/main" id="{E812F925-D75F-9F07-E17E-2D9F394BC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2" name="Freeform 124">
              <a:extLst>
                <a:ext uri="{FF2B5EF4-FFF2-40B4-BE49-F238E27FC236}">
                  <a16:creationId xmlns:a16="http://schemas.microsoft.com/office/drawing/2014/main" id="{798E7D8E-8DD8-3990-42AE-58331ACE5E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3" name="Rectangle 125">
              <a:extLst>
                <a:ext uri="{FF2B5EF4-FFF2-40B4-BE49-F238E27FC236}">
                  <a16:creationId xmlns:a16="http://schemas.microsoft.com/office/drawing/2014/main" id="{1C2FF441-2E1F-B5B7-B439-56850A7A7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4" name="Rectangle 126">
              <a:extLst>
                <a:ext uri="{FF2B5EF4-FFF2-40B4-BE49-F238E27FC236}">
                  <a16:creationId xmlns:a16="http://schemas.microsoft.com/office/drawing/2014/main" id="{8705E331-BEA7-70E0-D0B7-7DEC000B9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5" name="Freeform 127">
              <a:extLst>
                <a:ext uri="{FF2B5EF4-FFF2-40B4-BE49-F238E27FC236}">
                  <a16:creationId xmlns:a16="http://schemas.microsoft.com/office/drawing/2014/main" id="{F64DD725-2BDC-F9C4-F740-0EE13DDB32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6" name="Freeform 128">
              <a:extLst>
                <a:ext uri="{FF2B5EF4-FFF2-40B4-BE49-F238E27FC236}">
                  <a16:creationId xmlns:a16="http://schemas.microsoft.com/office/drawing/2014/main" id="{1A3847EA-978A-0AF1-5F29-BCD6CE1447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7" name="Freeform 129">
              <a:extLst>
                <a:ext uri="{FF2B5EF4-FFF2-40B4-BE49-F238E27FC236}">
                  <a16:creationId xmlns:a16="http://schemas.microsoft.com/office/drawing/2014/main" id="{3C14875E-DE2F-7B7B-A35A-A3584E52A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8" name="Freeform 130">
              <a:extLst>
                <a:ext uri="{FF2B5EF4-FFF2-40B4-BE49-F238E27FC236}">
                  <a16:creationId xmlns:a16="http://schemas.microsoft.com/office/drawing/2014/main" id="{1550BA20-72CA-8C26-64F2-8A680F6B38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9" name="Freeform 131">
              <a:extLst>
                <a:ext uri="{FF2B5EF4-FFF2-40B4-BE49-F238E27FC236}">
                  <a16:creationId xmlns:a16="http://schemas.microsoft.com/office/drawing/2014/main" id="{C8FF7C24-4FD8-87B1-5F49-A6075ECC39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0" name="Freeform 132">
              <a:extLst>
                <a:ext uri="{FF2B5EF4-FFF2-40B4-BE49-F238E27FC236}">
                  <a16:creationId xmlns:a16="http://schemas.microsoft.com/office/drawing/2014/main" id="{36AE9A6B-273D-5AD5-037A-F22BCC6EF1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1" name="Freeform 133">
              <a:extLst>
                <a:ext uri="{FF2B5EF4-FFF2-40B4-BE49-F238E27FC236}">
                  <a16:creationId xmlns:a16="http://schemas.microsoft.com/office/drawing/2014/main" id="{E7B57E80-6276-95B3-8D07-7AABF2293A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2" name="Freeform 134">
              <a:extLst>
                <a:ext uri="{FF2B5EF4-FFF2-40B4-BE49-F238E27FC236}">
                  <a16:creationId xmlns:a16="http://schemas.microsoft.com/office/drawing/2014/main" id="{584A362A-B029-0F34-71D1-90A28C236F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3" name="Freeform 135">
              <a:extLst>
                <a:ext uri="{FF2B5EF4-FFF2-40B4-BE49-F238E27FC236}">
                  <a16:creationId xmlns:a16="http://schemas.microsoft.com/office/drawing/2014/main" id="{C71612D6-75BB-AC89-7F7B-0619391D22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4" name="Freeform 136">
              <a:extLst>
                <a:ext uri="{FF2B5EF4-FFF2-40B4-BE49-F238E27FC236}">
                  <a16:creationId xmlns:a16="http://schemas.microsoft.com/office/drawing/2014/main" id="{D1537718-4D3D-C10A-89BB-384C2DD425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5" name="Rectangle 137">
              <a:extLst>
                <a:ext uri="{FF2B5EF4-FFF2-40B4-BE49-F238E27FC236}">
                  <a16:creationId xmlns:a16="http://schemas.microsoft.com/office/drawing/2014/main" id="{046526F1-8390-9D90-D9F4-64468A4DD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6" name="Rectangle 138">
              <a:extLst>
                <a:ext uri="{FF2B5EF4-FFF2-40B4-BE49-F238E27FC236}">
                  <a16:creationId xmlns:a16="http://schemas.microsoft.com/office/drawing/2014/main" id="{BFEB4179-E0BB-81E9-F256-1DB429365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7" name="Freeform 139">
              <a:extLst>
                <a:ext uri="{FF2B5EF4-FFF2-40B4-BE49-F238E27FC236}">
                  <a16:creationId xmlns:a16="http://schemas.microsoft.com/office/drawing/2014/main" id="{7D914527-0AE5-732C-2241-172335AF92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8" name="Freeform 140">
              <a:extLst>
                <a:ext uri="{FF2B5EF4-FFF2-40B4-BE49-F238E27FC236}">
                  <a16:creationId xmlns:a16="http://schemas.microsoft.com/office/drawing/2014/main" id="{21AC9D0B-3074-2550-56C1-F2D0662C4E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9" name="Freeform 141">
              <a:extLst>
                <a:ext uri="{FF2B5EF4-FFF2-40B4-BE49-F238E27FC236}">
                  <a16:creationId xmlns:a16="http://schemas.microsoft.com/office/drawing/2014/main" id="{9928019D-1E5B-5DB8-1719-9487AF23F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0" name="Freeform 142">
              <a:extLst>
                <a:ext uri="{FF2B5EF4-FFF2-40B4-BE49-F238E27FC236}">
                  <a16:creationId xmlns:a16="http://schemas.microsoft.com/office/drawing/2014/main" id="{958F650B-5E32-A7AC-91B7-4CE965DD81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1" name="Freeform 143">
              <a:extLst>
                <a:ext uri="{FF2B5EF4-FFF2-40B4-BE49-F238E27FC236}">
                  <a16:creationId xmlns:a16="http://schemas.microsoft.com/office/drawing/2014/main" id="{9CD80EAB-A7C4-7141-C51B-55493188EE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2" name="Freeform 144">
              <a:extLst>
                <a:ext uri="{FF2B5EF4-FFF2-40B4-BE49-F238E27FC236}">
                  <a16:creationId xmlns:a16="http://schemas.microsoft.com/office/drawing/2014/main" id="{E115D4B4-D2E1-B312-0901-E7E0B9AB3B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3" name="Freeform 145">
              <a:extLst>
                <a:ext uri="{FF2B5EF4-FFF2-40B4-BE49-F238E27FC236}">
                  <a16:creationId xmlns:a16="http://schemas.microsoft.com/office/drawing/2014/main" id="{C3E38A90-33FD-1FD7-81C9-269739B244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4" name="Freeform 146">
              <a:extLst>
                <a:ext uri="{FF2B5EF4-FFF2-40B4-BE49-F238E27FC236}">
                  <a16:creationId xmlns:a16="http://schemas.microsoft.com/office/drawing/2014/main" id="{849844B9-F5B7-91EB-12CB-AF529C41CE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5" name="Freeform 147">
              <a:extLst>
                <a:ext uri="{FF2B5EF4-FFF2-40B4-BE49-F238E27FC236}">
                  <a16:creationId xmlns:a16="http://schemas.microsoft.com/office/drawing/2014/main" id="{5BB13F50-160B-C062-42F9-AB05174BC0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6" name="Freeform 148">
              <a:extLst>
                <a:ext uri="{FF2B5EF4-FFF2-40B4-BE49-F238E27FC236}">
                  <a16:creationId xmlns:a16="http://schemas.microsoft.com/office/drawing/2014/main" id="{B382F1A7-B7DC-B861-A69F-3A1C65A9B9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7" name="Rectangle 149">
              <a:extLst>
                <a:ext uri="{FF2B5EF4-FFF2-40B4-BE49-F238E27FC236}">
                  <a16:creationId xmlns:a16="http://schemas.microsoft.com/office/drawing/2014/main" id="{2A88501C-8258-403D-94AF-8C2A8032E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8" name="Rectangle 150">
              <a:extLst>
                <a:ext uri="{FF2B5EF4-FFF2-40B4-BE49-F238E27FC236}">
                  <a16:creationId xmlns:a16="http://schemas.microsoft.com/office/drawing/2014/main" id="{1169C12B-97F5-81B7-EF74-C6E0CEC15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9" name="Freeform 151">
              <a:extLst>
                <a:ext uri="{FF2B5EF4-FFF2-40B4-BE49-F238E27FC236}">
                  <a16:creationId xmlns:a16="http://schemas.microsoft.com/office/drawing/2014/main" id="{0A0D37BF-2418-A59E-1CAB-F784CCA18A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0" name="Freeform 152">
              <a:extLst>
                <a:ext uri="{FF2B5EF4-FFF2-40B4-BE49-F238E27FC236}">
                  <a16:creationId xmlns:a16="http://schemas.microsoft.com/office/drawing/2014/main" id="{0497F160-20CF-9434-B3CF-1575D2EC6F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1" name="Freeform 153">
              <a:extLst>
                <a:ext uri="{FF2B5EF4-FFF2-40B4-BE49-F238E27FC236}">
                  <a16:creationId xmlns:a16="http://schemas.microsoft.com/office/drawing/2014/main" id="{EBAEAD34-A1DA-7748-C0D0-2684E193E7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2" name="Freeform 154">
              <a:extLst>
                <a:ext uri="{FF2B5EF4-FFF2-40B4-BE49-F238E27FC236}">
                  <a16:creationId xmlns:a16="http://schemas.microsoft.com/office/drawing/2014/main" id="{38C44AF4-DDC6-A6BF-F942-0A3D0A5DC5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3" name="Freeform 155">
              <a:extLst>
                <a:ext uri="{FF2B5EF4-FFF2-40B4-BE49-F238E27FC236}">
                  <a16:creationId xmlns:a16="http://schemas.microsoft.com/office/drawing/2014/main" id="{F2AA3C0A-09A4-8767-E00D-A6CA7DD14F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4" name="Freeform 156">
              <a:extLst>
                <a:ext uri="{FF2B5EF4-FFF2-40B4-BE49-F238E27FC236}">
                  <a16:creationId xmlns:a16="http://schemas.microsoft.com/office/drawing/2014/main" id="{7D674A9E-DBEA-7880-E99A-BC28F893A0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5" name="Freeform 157">
              <a:extLst>
                <a:ext uri="{FF2B5EF4-FFF2-40B4-BE49-F238E27FC236}">
                  <a16:creationId xmlns:a16="http://schemas.microsoft.com/office/drawing/2014/main" id="{648D8FFB-C3F2-A9D3-4B86-C63C77FCD0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6" name="Freeform 158">
              <a:extLst>
                <a:ext uri="{FF2B5EF4-FFF2-40B4-BE49-F238E27FC236}">
                  <a16:creationId xmlns:a16="http://schemas.microsoft.com/office/drawing/2014/main" id="{8AD9EC5C-E3E7-039E-DC63-2694DE5B12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7" name="Freeform 159">
              <a:extLst>
                <a:ext uri="{FF2B5EF4-FFF2-40B4-BE49-F238E27FC236}">
                  <a16:creationId xmlns:a16="http://schemas.microsoft.com/office/drawing/2014/main" id="{012157CA-4B37-4CCD-B89A-567AD8F49F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8" name="Freeform 160">
              <a:extLst>
                <a:ext uri="{FF2B5EF4-FFF2-40B4-BE49-F238E27FC236}">
                  <a16:creationId xmlns:a16="http://schemas.microsoft.com/office/drawing/2014/main" id="{12CAE05D-39F5-B749-E3DF-CA5C6AE56F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9" name="Rectangle 161">
              <a:extLst>
                <a:ext uri="{FF2B5EF4-FFF2-40B4-BE49-F238E27FC236}">
                  <a16:creationId xmlns:a16="http://schemas.microsoft.com/office/drawing/2014/main" id="{4756AD81-FF0F-0D78-00E3-C39248B6C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0" name="Freeform 162">
              <a:extLst>
                <a:ext uri="{FF2B5EF4-FFF2-40B4-BE49-F238E27FC236}">
                  <a16:creationId xmlns:a16="http://schemas.microsoft.com/office/drawing/2014/main" id="{63DF338A-1F3A-D88F-CBB8-110AAFBE7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6291" name="Rectangle 163">
            <a:extLst>
              <a:ext uri="{FF2B5EF4-FFF2-40B4-BE49-F238E27FC236}">
                <a16:creationId xmlns:a16="http://schemas.microsoft.com/office/drawing/2014/main" id="{5FC07C52-0B30-D0E8-28EC-AE384ED9FDD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6292" name="Rectangle 164">
            <a:extLst>
              <a:ext uri="{FF2B5EF4-FFF2-40B4-BE49-F238E27FC236}">
                <a16:creationId xmlns:a16="http://schemas.microsoft.com/office/drawing/2014/main" id="{1FD38703-D3A4-8392-2F28-FB04DB6FB5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1625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3" name="Rectangle 165">
            <a:extLst>
              <a:ext uri="{FF2B5EF4-FFF2-40B4-BE49-F238E27FC236}">
                <a16:creationId xmlns:a16="http://schemas.microsoft.com/office/drawing/2014/main" id="{AC59D5CE-557B-31C5-E028-3C3B39C1A8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4" name="Rectangle 166">
            <a:extLst>
              <a:ext uri="{FF2B5EF4-FFF2-40B4-BE49-F238E27FC236}">
                <a16:creationId xmlns:a16="http://schemas.microsoft.com/office/drawing/2014/main" id="{22A34ACE-8178-9BF5-96F9-3F101BF638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2998C4FE-7526-416B-B449-D9F11E7B487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76295" name="Rectangle 167">
            <a:extLst>
              <a:ext uri="{FF2B5EF4-FFF2-40B4-BE49-F238E27FC236}">
                <a16:creationId xmlns:a16="http://schemas.microsoft.com/office/drawing/2014/main" id="{6EA5373C-427E-BAD1-FB7F-0CD36681B52F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grpSp>
        <p:nvGrpSpPr>
          <p:cNvPr id="176296" name="Group 168">
            <a:extLst>
              <a:ext uri="{FF2B5EF4-FFF2-40B4-BE49-F238E27FC236}">
                <a16:creationId xmlns:a16="http://schemas.microsoft.com/office/drawing/2014/main" id="{7BE95C39-DCB0-2760-5691-A02727672C6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724400"/>
            <a:ext cx="1685925" cy="1557338"/>
            <a:chOff x="96" y="2784"/>
            <a:chExt cx="1062" cy="981"/>
          </a:xfrm>
        </p:grpSpPr>
        <p:sp>
          <p:nvSpPr>
            <p:cNvPr id="176297" name="Freeform 169">
              <a:extLst>
                <a:ext uri="{FF2B5EF4-FFF2-40B4-BE49-F238E27FC236}">
                  <a16:creationId xmlns:a16="http://schemas.microsoft.com/office/drawing/2014/main" id="{8329AFA4-667A-7731-E6E7-0B2C9B2975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8" name="Freeform 170">
              <a:extLst>
                <a:ext uri="{FF2B5EF4-FFF2-40B4-BE49-F238E27FC236}">
                  <a16:creationId xmlns:a16="http://schemas.microsoft.com/office/drawing/2014/main" id="{307F77DC-D803-6576-00F4-3FBC9C0E3F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9" name="Freeform 171">
              <a:extLst>
                <a:ext uri="{FF2B5EF4-FFF2-40B4-BE49-F238E27FC236}">
                  <a16:creationId xmlns:a16="http://schemas.microsoft.com/office/drawing/2014/main" id="{26AC3908-55DA-648E-DB25-F76016C4E1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0" name="Freeform 172">
              <a:extLst>
                <a:ext uri="{FF2B5EF4-FFF2-40B4-BE49-F238E27FC236}">
                  <a16:creationId xmlns:a16="http://schemas.microsoft.com/office/drawing/2014/main" id="{A06C7193-AC6A-9AF5-C7F8-8D6C5168D3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1" name="Freeform 173">
              <a:extLst>
                <a:ext uri="{FF2B5EF4-FFF2-40B4-BE49-F238E27FC236}">
                  <a16:creationId xmlns:a16="http://schemas.microsoft.com/office/drawing/2014/main" id="{37E5AB3B-CF4F-650B-D439-2891778FAD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2" name="Freeform 174">
              <a:extLst>
                <a:ext uri="{FF2B5EF4-FFF2-40B4-BE49-F238E27FC236}">
                  <a16:creationId xmlns:a16="http://schemas.microsoft.com/office/drawing/2014/main" id="{C7BC10E2-B811-091F-701E-874B10770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3" name="Freeform 175">
              <a:extLst>
                <a:ext uri="{FF2B5EF4-FFF2-40B4-BE49-F238E27FC236}">
                  <a16:creationId xmlns:a16="http://schemas.microsoft.com/office/drawing/2014/main" id="{CDFF41AD-1969-BC2F-2926-087429B8A1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4" name="Freeform 176">
              <a:extLst>
                <a:ext uri="{FF2B5EF4-FFF2-40B4-BE49-F238E27FC236}">
                  <a16:creationId xmlns:a16="http://schemas.microsoft.com/office/drawing/2014/main" id="{CEE685DC-8955-12D3-5A2E-D2DAC31598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5" name="Freeform 177">
              <a:extLst>
                <a:ext uri="{FF2B5EF4-FFF2-40B4-BE49-F238E27FC236}">
                  <a16:creationId xmlns:a16="http://schemas.microsoft.com/office/drawing/2014/main" id="{ABA64AA6-5669-39FC-C1E1-742716D1DA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6" name="Freeform 178">
              <a:extLst>
                <a:ext uri="{FF2B5EF4-FFF2-40B4-BE49-F238E27FC236}">
                  <a16:creationId xmlns:a16="http://schemas.microsoft.com/office/drawing/2014/main" id="{23106E13-A8D6-9C11-80D2-A797C8C0F1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7" name="Freeform 179">
              <a:extLst>
                <a:ext uri="{FF2B5EF4-FFF2-40B4-BE49-F238E27FC236}">
                  <a16:creationId xmlns:a16="http://schemas.microsoft.com/office/drawing/2014/main" id="{08B46CB9-26B8-A964-7F32-8F82F55EB3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8" name="Freeform 180">
              <a:extLst>
                <a:ext uri="{FF2B5EF4-FFF2-40B4-BE49-F238E27FC236}">
                  <a16:creationId xmlns:a16="http://schemas.microsoft.com/office/drawing/2014/main" id="{8B455136-0353-A72A-9976-FA45B9016B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9" name="Freeform 181">
              <a:extLst>
                <a:ext uri="{FF2B5EF4-FFF2-40B4-BE49-F238E27FC236}">
                  <a16:creationId xmlns:a16="http://schemas.microsoft.com/office/drawing/2014/main" id="{04C0A60D-BA4C-BE9D-1459-3E53B7AE6D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D83BE-F68F-E5F0-B248-C6F9A5C0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E1514C-0DBA-EEF4-E57D-D6D7E9050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53D65C-EF03-DBC3-C72D-C5F3DFAE1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42323A-FCAC-0A04-8B33-749B1CF58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3A1E2-2983-24B9-86FC-4AC849C38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EE11DD-E1FE-4604-921C-D43394FACC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727717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2D763-875D-A5BD-6EFE-EC4032EC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DE340A-C550-B9C2-7BEB-F827FAEAC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C24D7D-B11D-F750-2D70-4246C775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2A22B-2CC8-9800-E7E6-209B8E09D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54199B-9DE4-4783-09F9-8C681AC8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315999-5816-4A5A-8BBA-8334DBD8873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9616456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B1EBE-1276-ECA2-C85A-EC6A31675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D2787D-EDD6-5D33-619A-FFA0BD997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29649A-EF11-B02C-CF00-5441A737E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47751F-10EC-9A0F-AB98-AE886672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937EDF-973A-B482-12DD-5C504F17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56722F-4304-81BC-4376-F76D90AA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DC6E44-7A1B-492C-AB97-54D933B51F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8692188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1370C-651C-621A-3A6D-94FF0FFE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4814CD-7F3B-E501-4ECE-731FFE959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8FEDF8-550D-FCB1-A7FD-46D8969ED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659F6F-3962-DCDC-ECDB-03E4C910A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FEB4C7-C81D-3E2F-2C25-D34DC631B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B6B372-05E8-F4FA-BDD3-EF8E7D08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D977B7-A04F-5EDB-DC23-899CF3792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7FA2ECB-A748-540C-7DCF-8C55D8A3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61DDDA-AEB1-40DE-A4AA-BDFE6B412C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5252754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1EB98-09F2-7786-8B9C-469A67C8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9ECCC8-7AFC-5C53-95D2-24A2BFF4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4776DF-840A-CE23-81E1-68CBE31F5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285B3E-3C7F-7143-1323-3CD2D2BA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05CF7E-F658-41C0-AEAC-925F5B148C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3754039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56BD5F-4AF0-508A-A87C-4224E047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EFD82E-A13D-A9FE-2A6C-994F3FC9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AFB1E5-CA62-CA51-BEF0-667E6DCA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4F6866-0A36-4736-99F3-0693DBB4BE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4187054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ED16B-5D95-11FB-D127-F01FC80F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EF61D7-E19A-6F30-46E5-1F211F890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23BCE0-DB1E-D5E8-9DAD-AF9D985CA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7216AE-0F2C-C97E-D17A-898CD606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222FF6-47D3-234A-FD33-49679F4D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10711-4BC5-A886-7EF1-FCD3018F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AFB34E-26FB-48A4-A130-3950B3F03A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4208277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17EE1-2DA0-FE56-9E3C-459AF3021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CB29C8-2A2F-CA65-A907-60DFC56BE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B5AC29-62A1-CC44-E359-4258A1FDF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8B788C-61DE-24EC-9752-A37454E5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8532B9-6EB7-8C7A-F901-C8B17CA1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81A5C5-1922-EE87-A210-F3A8D9EE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D90E02-7144-431D-B8A9-13395416CC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8129262"/>
      </p:ext>
    </p:extLst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868CB-BA06-A908-B9D0-EC34A532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00A39A-F87E-41CC-7081-BDE38A73E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8BDFD0-F615-1600-FA5C-8224B33E5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BB7FAB-A66E-3661-7BD9-8859EA29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181B25-E141-0A3A-8579-EA2F1A8D5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B42DA-BD0A-423C-B39C-282F6C2CD6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4459040"/>
      </p:ext>
    </p:extLst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213197-3736-BFB4-D4B4-02BDF62FD0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4013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820338-C871-6518-6713-DA9DC36D1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8450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076886-D79E-234D-EA55-AD3DE9D6F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71077E-0CB2-68E4-BD87-F0CEE49F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D5BD13-2AA7-A20A-4501-3C24B0F7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D2F72E-F7E4-4FC1-BFD5-A2E0FCCC9A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7403381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06" name="Group 2">
            <a:extLst>
              <a:ext uri="{FF2B5EF4-FFF2-40B4-BE49-F238E27FC236}">
                <a16:creationId xmlns:a16="http://schemas.microsoft.com/office/drawing/2014/main" id="{51A9367E-3C0D-80B5-916F-654151AC3F49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0"/>
            <a:ext cx="7891462" cy="6821488"/>
            <a:chOff x="349" y="23"/>
            <a:chExt cx="4971" cy="4297"/>
          </a:xfrm>
        </p:grpSpPr>
        <p:sp>
          <p:nvSpPr>
            <p:cNvPr id="175107" name="Rectangle 3">
              <a:extLst>
                <a:ext uri="{FF2B5EF4-FFF2-40B4-BE49-F238E27FC236}">
                  <a16:creationId xmlns:a16="http://schemas.microsoft.com/office/drawing/2014/main" id="{922CD87B-EEF8-496C-B0DA-7AB0ABA2E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8" name="Freeform 4">
              <a:extLst>
                <a:ext uri="{FF2B5EF4-FFF2-40B4-BE49-F238E27FC236}">
                  <a16:creationId xmlns:a16="http://schemas.microsoft.com/office/drawing/2014/main" id="{FEC24557-9754-E254-B579-85C92A18CF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9" name="Freeform 5">
              <a:extLst>
                <a:ext uri="{FF2B5EF4-FFF2-40B4-BE49-F238E27FC236}">
                  <a16:creationId xmlns:a16="http://schemas.microsoft.com/office/drawing/2014/main" id="{00BAAF47-B673-1555-64F5-AA29C672EA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0" name="Freeform 6">
              <a:extLst>
                <a:ext uri="{FF2B5EF4-FFF2-40B4-BE49-F238E27FC236}">
                  <a16:creationId xmlns:a16="http://schemas.microsoft.com/office/drawing/2014/main" id="{2E7EBE9E-DC31-2F8D-A37A-8F9BA24D66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1" name="Freeform 7">
              <a:extLst>
                <a:ext uri="{FF2B5EF4-FFF2-40B4-BE49-F238E27FC236}">
                  <a16:creationId xmlns:a16="http://schemas.microsoft.com/office/drawing/2014/main" id="{5397D351-30B0-2F01-CFB9-B6FBFBCC78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2" name="Freeform 8">
              <a:extLst>
                <a:ext uri="{FF2B5EF4-FFF2-40B4-BE49-F238E27FC236}">
                  <a16:creationId xmlns:a16="http://schemas.microsoft.com/office/drawing/2014/main" id="{FF802B57-0BB5-EC89-5614-CB59661BC8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3" name="Freeform 9">
              <a:extLst>
                <a:ext uri="{FF2B5EF4-FFF2-40B4-BE49-F238E27FC236}">
                  <a16:creationId xmlns:a16="http://schemas.microsoft.com/office/drawing/2014/main" id="{5D062429-18E8-2419-AD1D-3B3D744AEB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4" name="Freeform 10">
              <a:extLst>
                <a:ext uri="{FF2B5EF4-FFF2-40B4-BE49-F238E27FC236}">
                  <a16:creationId xmlns:a16="http://schemas.microsoft.com/office/drawing/2014/main" id="{EF735E9F-E9ED-C8FD-DC35-CDC50B7DE0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5" name="Freeform 11">
              <a:extLst>
                <a:ext uri="{FF2B5EF4-FFF2-40B4-BE49-F238E27FC236}">
                  <a16:creationId xmlns:a16="http://schemas.microsoft.com/office/drawing/2014/main" id="{58289A74-16C5-C861-9A51-C7CE4622BC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6" name="Freeform 12">
              <a:extLst>
                <a:ext uri="{FF2B5EF4-FFF2-40B4-BE49-F238E27FC236}">
                  <a16:creationId xmlns:a16="http://schemas.microsoft.com/office/drawing/2014/main" id="{6456BDA8-3026-F4CF-5035-83D5658530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7" name="Freeform 13">
              <a:extLst>
                <a:ext uri="{FF2B5EF4-FFF2-40B4-BE49-F238E27FC236}">
                  <a16:creationId xmlns:a16="http://schemas.microsoft.com/office/drawing/2014/main" id="{3D47C84F-D3EB-3949-B6CB-501C000402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8" name="Rectangle 14">
              <a:extLst>
                <a:ext uri="{FF2B5EF4-FFF2-40B4-BE49-F238E27FC236}">
                  <a16:creationId xmlns:a16="http://schemas.microsoft.com/office/drawing/2014/main" id="{BBAE9304-534D-83E8-147F-5655965C5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9" name="Rectangle 15">
              <a:extLst>
                <a:ext uri="{FF2B5EF4-FFF2-40B4-BE49-F238E27FC236}">
                  <a16:creationId xmlns:a16="http://schemas.microsoft.com/office/drawing/2014/main" id="{9C86D002-591A-AE07-19A7-41EDCEB09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0" name="Freeform 16">
              <a:extLst>
                <a:ext uri="{FF2B5EF4-FFF2-40B4-BE49-F238E27FC236}">
                  <a16:creationId xmlns:a16="http://schemas.microsoft.com/office/drawing/2014/main" id="{345DBF8B-E39B-9B20-BBA3-A713DB6977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1" name="Freeform 17">
              <a:extLst>
                <a:ext uri="{FF2B5EF4-FFF2-40B4-BE49-F238E27FC236}">
                  <a16:creationId xmlns:a16="http://schemas.microsoft.com/office/drawing/2014/main" id="{C69D07EF-8A2D-9670-536F-519D29D5B0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2" name="Freeform 18">
              <a:extLst>
                <a:ext uri="{FF2B5EF4-FFF2-40B4-BE49-F238E27FC236}">
                  <a16:creationId xmlns:a16="http://schemas.microsoft.com/office/drawing/2014/main" id="{83DE31D6-A1F2-2B91-D7F7-A0C2393A74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3" name="Freeform 19">
              <a:extLst>
                <a:ext uri="{FF2B5EF4-FFF2-40B4-BE49-F238E27FC236}">
                  <a16:creationId xmlns:a16="http://schemas.microsoft.com/office/drawing/2014/main" id="{14EC5BB2-4220-5F74-B435-1A437AF94C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4" name="Freeform 20">
              <a:extLst>
                <a:ext uri="{FF2B5EF4-FFF2-40B4-BE49-F238E27FC236}">
                  <a16:creationId xmlns:a16="http://schemas.microsoft.com/office/drawing/2014/main" id="{7623103B-0C2E-0284-CD6D-EABCDD9F46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5" name="Freeform 21">
              <a:extLst>
                <a:ext uri="{FF2B5EF4-FFF2-40B4-BE49-F238E27FC236}">
                  <a16:creationId xmlns:a16="http://schemas.microsoft.com/office/drawing/2014/main" id="{9C8D3C2E-CF94-39E3-E3CB-9CD2A3DD40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6" name="Freeform 22">
              <a:extLst>
                <a:ext uri="{FF2B5EF4-FFF2-40B4-BE49-F238E27FC236}">
                  <a16:creationId xmlns:a16="http://schemas.microsoft.com/office/drawing/2014/main" id="{571E57BA-AD29-2BD8-C2C7-5E58D90BD5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7" name="Freeform 23">
              <a:extLst>
                <a:ext uri="{FF2B5EF4-FFF2-40B4-BE49-F238E27FC236}">
                  <a16:creationId xmlns:a16="http://schemas.microsoft.com/office/drawing/2014/main" id="{DFD800C4-97F7-6991-1765-0AD8EBB13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8" name="Freeform 24">
              <a:extLst>
                <a:ext uri="{FF2B5EF4-FFF2-40B4-BE49-F238E27FC236}">
                  <a16:creationId xmlns:a16="http://schemas.microsoft.com/office/drawing/2014/main" id="{7DA816C8-E525-0357-DF0B-F0C7F8E347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9" name="Freeform 25">
              <a:extLst>
                <a:ext uri="{FF2B5EF4-FFF2-40B4-BE49-F238E27FC236}">
                  <a16:creationId xmlns:a16="http://schemas.microsoft.com/office/drawing/2014/main" id="{645A61CE-6654-264A-53BB-48BEA8BA3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0" name="Rectangle 26">
              <a:extLst>
                <a:ext uri="{FF2B5EF4-FFF2-40B4-BE49-F238E27FC236}">
                  <a16:creationId xmlns:a16="http://schemas.microsoft.com/office/drawing/2014/main" id="{6534A1C2-0229-C866-3801-425CE1BB4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1" name="Rectangle 27">
              <a:extLst>
                <a:ext uri="{FF2B5EF4-FFF2-40B4-BE49-F238E27FC236}">
                  <a16:creationId xmlns:a16="http://schemas.microsoft.com/office/drawing/2014/main" id="{3C63A923-DF90-5A5C-725A-AEE62677E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2" name="Freeform 28">
              <a:extLst>
                <a:ext uri="{FF2B5EF4-FFF2-40B4-BE49-F238E27FC236}">
                  <a16:creationId xmlns:a16="http://schemas.microsoft.com/office/drawing/2014/main" id="{3A20CC97-1016-2512-A64D-FBBCB9698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3" name="Freeform 29">
              <a:extLst>
                <a:ext uri="{FF2B5EF4-FFF2-40B4-BE49-F238E27FC236}">
                  <a16:creationId xmlns:a16="http://schemas.microsoft.com/office/drawing/2014/main" id="{636F6169-F085-3E06-2899-29E955F905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4" name="Freeform 30">
              <a:extLst>
                <a:ext uri="{FF2B5EF4-FFF2-40B4-BE49-F238E27FC236}">
                  <a16:creationId xmlns:a16="http://schemas.microsoft.com/office/drawing/2014/main" id="{D437216C-3D84-BC5F-FC14-BC4E0186DE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5" name="Freeform 31">
              <a:extLst>
                <a:ext uri="{FF2B5EF4-FFF2-40B4-BE49-F238E27FC236}">
                  <a16:creationId xmlns:a16="http://schemas.microsoft.com/office/drawing/2014/main" id="{949A1243-C95B-203B-0CD3-5345F92A0A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6" name="Freeform 32">
              <a:extLst>
                <a:ext uri="{FF2B5EF4-FFF2-40B4-BE49-F238E27FC236}">
                  <a16:creationId xmlns:a16="http://schemas.microsoft.com/office/drawing/2014/main" id="{3BC77466-5587-75EB-E997-F73DCB73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7" name="Freeform 33">
              <a:extLst>
                <a:ext uri="{FF2B5EF4-FFF2-40B4-BE49-F238E27FC236}">
                  <a16:creationId xmlns:a16="http://schemas.microsoft.com/office/drawing/2014/main" id="{26D33A37-6DD6-5E3E-2707-97A435972D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8" name="Freeform 34">
              <a:extLst>
                <a:ext uri="{FF2B5EF4-FFF2-40B4-BE49-F238E27FC236}">
                  <a16:creationId xmlns:a16="http://schemas.microsoft.com/office/drawing/2014/main" id="{97B6C7F8-2666-3917-693C-4C935D3934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9" name="Freeform 35">
              <a:extLst>
                <a:ext uri="{FF2B5EF4-FFF2-40B4-BE49-F238E27FC236}">
                  <a16:creationId xmlns:a16="http://schemas.microsoft.com/office/drawing/2014/main" id="{089B7FE8-FB53-AED7-AD5E-5C27B0D227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0" name="Freeform 36">
              <a:extLst>
                <a:ext uri="{FF2B5EF4-FFF2-40B4-BE49-F238E27FC236}">
                  <a16:creationId xmlns:a16="http://schemas.microsoft.com/office/drawing/2014/main" id="{30CC8839-141F-322A-0418-8654CFE259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1" name="Freeform 37">
              <a:extLst>
                <a:ext uri="{FF2B5EF4-FFF2-40B4-BE49-F238E27FC236}">
                  <a16:creationId xmlns:a16="http://schemas.microsoft.com/office/drawing/2014/main" id="{4A0F1CCA-66A8-9157-A3BE-21A91E3D8A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2" name="Rectangle 38">
              <a:extLst>
                <a:ext uri="{FF2B5EF4-FFF2-40B4-BE49-F238E27FC236}">
                  <a16:creationId xmlns:a16="http://schemas.microsoft.com/office/drawing/2014/main" id="{4B8446D8-C967-533A-AA78-85FBCCC98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3" name="Rectangle 39">
              <a:extLst>
                <a:ext uri="{FF2B5EF4-FFF2-40B4-BE49-F238E27FC236}">
                  <a16:creationId xmlns:a16="http://schemas.microsoft.com/office/drawing/2014/main" id="{117B81D4-7146-2C4E-4B49-0E296BC41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4" name="Freeform 40">
              <a:extLst>
                <a:ext uri="{FF2B5EF4-FFF2-40B4-BE49-F238E27FC236}">
                  <a16:creationId xmlns:a16="http://schemas.microsoft.com/office/drawing/2014/main" id="{EBBA4763-B8B7-A29F-C635-68D520640E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5" name="Freeform 41">
              <a:extLst>
                <a:ext uri="{FF2B5EF4-FFF2-40B4-BE49-F238E27FC236}">
                  <a16:creationId xmlns:a16="http://schemas.microsoft.com/office/drawing/2014/main" id="{CBCBF8A7-8632-FF08-B64C-A412AE2A84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6" name="Freeform 42">
              <a:extLst>
                <a:ext uri="{FF2B5EF4-FFF2-40B4-BE49-F238E27FC236}">
                  <a16:creationId xmlns:a16="http://schemas.microsoft.com/office/drawing/2014/main" id="{3D5C4B17-81F7-46AB-300E-E70580EFF1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7" name="Freeform 43">
              <a:extLst>
                <a:ext uri="{FF2B5EF4-FFF2-40B4-BE49-F238E27FC236}">
                  <a16:creationId xmlns:a16="http://schemas.microsoft.com/office/drawing/2014/main" id="{6460D8C9-65BD-0E26-7C62-E48250483C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8" name="Freeform 44">
              <a:extLst>
                <a:ext uri="{FF2B5EF4-FFF2-40B4-BE49-F238E27FC236}">
                  <a16:creationId xmlns:a16="http://schemas.microsoft.com/office/drawing/2014/main" id="{C1772587-B796-CCAB-F805-6F8FBB8D53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9" name="Freeform 45">
              <a:extLst>
                <a:ext uri="{FF2B5EF4-FFF2-40B4-BE49-F238E27FC236}">
                  <a16:creationId xmlns:a16="http://schemas.microsoft.com/office/drawing/2014/main" id="{2410BCF8-63F2-D0FE-6813-DD9FE78738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0" name="Freeform 46">
              <a:extLst>
                <a:ext uri="{FF2B5EF4-FFF2-40B4-BE49-F238E27FC236}">
                  <a16:creationId xmlns:a16="http://schemas.microsoft.com/office/drawing/2014/main" id="{EDAC19FC-8684-38C0-F747-AE3284E69F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1" name="Freeform 47">
              <a:extLst>
                <a:ext uri="{FF2B5EF4-FFF2-40B4-BE49-F238E27FC236}">
                  <a16:creationId xmlns:a16="http://schemas.microsoft.com/office/drawing/2014/main" id="{9CB0D676-CBA4-6005-AFB5-9AFA692BD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2" name="Freeform 48">
              <a:extLst>
                <a:ext uri="{FF2B5EF4-FFF2-40B4-BE49-F238E27FC236}">
                  <a16:creationId xmlns:a16="http://schemas.microsoft.com/office/drawing/2014/main" id="{A543D1A7-03BA-DD80-797E-72C31F14A0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3" name="Freeform 49">
              <a:extLst>
                <a:ext uri="{FF2B5EF4-FFF2-40B4-BE49-F238E27FC236}">
                  <a16:creationId xmlns:a16="http://schemas.microsoft.com/office/drawing/2014/main" id="{C4CF9334-8D40-5270-62E3-145F7AC565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4" name="Rectangle 50">
              <a:extLst>
                <a:ext uri="{FF2B5EF4-FFF2-40B4-BE49-F238E27FC236}">
                  <a16:creationId xmlns:a16="http://schemas.microsoft.com/office/drawing/2014/main" id="{B7B82569-0F16-86BC-667B-E36BB87CF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5" name="Rectangle 51">
              <a:extLst>
                <a:ext uri="{FF2B5EF4-FFF2-40B4-BE49-F238E27FC236}">
                  <a16:creationId xmlns:a16="http://schemas.microsoft.com/office/drawing/2014/main" id="{51166454-2486-7418-64B2-07860AEF3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6" name="Freeform 52">
              <a:extLst>
                <a:ext uri="{FF2B5EF4-FFF2-40B4-BE49-F238E27FC236}">
                  <a16:creationId xmlns:a16="http://schemas.microsoft.com/office/drawing/2014/main" id="{F660D222-95B5-B5D7-BB32-D0EAEA3B4E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7" name="Freeform 53">
              <a:extLst>
                <a:ext uri="{FF2B5EF4-FFF2-40B4-BE49-F238E27FC236}">
                  <a16:creationId xmlns:a16="http://schemas.microsoft.com/office/drawing/2014/main" id="{3F6E5999-BAED-1957-DE3E-FEEF95E50A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8" name="Freeform 54">
              <a:extLst>
                <a:ext uri="{FF2B5EF4-FFF2-40B4-BE49-F238E27FC236}">
                  <a16:creationId xmlns:a16="http://schemas.microsoft.com/office/drawing/2014/main" id="{856C309A-80EB-92C9-865E-AAAEBA6C02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9" name="Freeform 55">
              <a:extLst>
                <a:ext uri="{FF2B5EF4-FFF2-40B4-BE49-F238E27FC236}">
                  <a16:creationId xmlns:a16="http://schemas.microsoft.com/office/drawing/2014/main" id="{7BB64E92-D9AD-CBEB-A763-BED4E5B6A2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0" name="Freeform 56">
              <a:extLst>
                <a:ext uri="{FF2B5EF4-FFF2-40B4-BE49-F238E27FC236}">
                  <a16:creationId xmlns:a16="http://schemas.microsoft.com/office/drawing/2014/main" id="{13318A66-A249-2FCB-FC8E-D82BF05AF7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1" name="Freeform 57">
              <a:extLst>
                <a:ext uri="{FF2B5EF4-FFF2-40B4-BE49-F238E27FC236}">
                  <a16:creationId xmlns:a16="http://schemas.microsoft.com/office/drawing/2014/main" id="{70D8AD3E-B229-44A6-7A9F-425D6C2465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2" name="Freeform 58">
              <a:extLst>
                <a:ext uri="{FF2B5EF4-FFF2-40B4-BE49-F238E27FC236}">
                  <a16:creationId xmlns:a16="http://schemas.microsoft.com/office/drawing/2014/main" id="{5FEFA8C2-7CDB-53EE-0F99-DB51286D10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3" name="Freeform 59">
              <a:extLst>
                <a:ext uri="{FF2B5EF4-FFF2-40B4-BE49-F238E27FC236}">
                  <a16:creationId xmlns:a16="http://schemas.microsoft.com/office/drawing/2014/main" id="{E974461C-3C7A-578F-8968-90499F85F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4" name="Freeform 60">
              <a:extLst>
                <a:ext uri="{FF2B5EF4-FFF2-40B4-BE49-F238E27FC236}">
                  <a16:creationId xmlns:a16="http://schemas.microsoft.com/office/drawing/2014/main" id="{5E56D0B5-4E34-9A33-E695-03A4BC8D6F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5" name="Freeform 61">
              <a:extLst>
                <a:ext uri="{FF2B5EF4-FFF2-40B4-BE49-F238E27FC236}">
                  <a16:creationId xmlns:a16="http://schemas.microsoft.com/office/drawing/2014/main" id="{863036BF-3306-0D08-5CE4-9DA8A0AE41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6" name="Rectangle 62">
              <a:extLst>
                <a:ext uri="{FF2B5EF4-FFF2-40B4-BE49-F238E27FC236}">
                  <a16:creationId xmlns:a16="http://schemas.microsoft.com/office/drawing/2014/main" id="{3CBE9572-6CBB-612A-53F7-2EA311A81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7" name="Rectangle 63">
              <a:extLst>
                <a:ext uri="{FF2B5EF4-FFF2-40B4-BE49-F238E27FC236}">
                  <a16:creationId xmlns:a16="http://schemas.microsoft.com/office/drawing/2014/main" id="{3217D2D2-60E1-661C-D59F-29A60FA60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8" name="Freeform 64">
              <a:extLst>
                <a:ext uri="{FF2B5EF4-FFF2-40B4-BE49-F238E27FC236}">
                  <a16:creationId xmlns:a16="http://schemas.microsoft.com/office/drawing/2014/main" id="{FCB47C4A-BEC1-2672-C0A2-554FF6F820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9" name="Freeform 65">
              <a:extLst>
                <a:ext uri="{FF2B5EF4-FFF2-40B4-BE49-F238E27FC236}">
                  <a16:creationId xmlns:a16="http://schemas.microsoft.com/office/drawing/2014/main" id="{7E47C146-984E-A89F-6F4A-1421CC65F9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0" name="Freeform 66">
              <a:extLst>
                <a:ext uri="{FF2B5EF4-FFF2-40B4-BE49-F238E27FC236}">
                  <a16:creationId xmlns:a16="http://schemas.microsoft.com/office/drawing/2014/main" id="{A1E82F70-EE65-63B9-46DA-D28FC75601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1" name="Freeform 67">
              <a:extLst>
                <a:ext uri="{FF2B5EF4-FFF2-40B4-BE49-F238E27FC236}">
                  <a16:creationId xmlns:a16="http://schemas.microsoft.com/office/drawing/2014/main" id="{B584D8F6-AEED-E483-18A6-79B3635689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2" name="Freeform 68">
              <a:extLst>
                <a:ext uri="{FF2B5EF4-FFF2-40B4-BE49-F238E27FC236}">
                  <a16:creationId xmlns:a16="http://schemas.microsoft.com/office/drawing/2014/main" id="{23429CC0-4958-182D-CBBF-20545A515D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3" name="Freeform 69">
              <a:extLst>
                <a:ext uri="{FF2B5EF4-FFF2-40B4-BE49-F238E27FC236}">
                  <a16:creationId xmlns:a16="http://schemas.microsoft.com/office/drawing/2014/main" id="{125FD999-E1D9-75C3-EBDC-E323FEEB6B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4" name="Freeform 70">
              <a:extLst>
                <a:ext uri="{FF2B5EF4-FFF2-40B4-BE49-F238E27FC236}">
                  <a16:creationId xmlns:a16="http://schemas.microsoft.com/office/drawing/2014/main" id="{9B2E43C3-71E2-CF98-3AD3-B24B8EB644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5" name="Freeform 71">
              <a:extLst>
                <a:ext uri="{FF2B5EF4-FFF2-40B4-BE49-F238E27FC236}">
                  <a16:creationId xmlns:a16="http://schemas.microsoft.com/office/drawing/2014/main" id="{DF4FE1F2-3FEA-B831-49CB-EC99F6F10A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6" name="Freeform 72">
              <a:extLst>
                <a:ext uri="{FF2B5EF4-FFF2-40B4-BE49-F238E27FC236}">
                  <a16:creationId xmlns:a16="http://schemas.microsoft.com/office/drawing/2014/main" id="{2667ABDF-EE35-36F2-B9AC-F3AC6ECC79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7" name="Freeform 73">
              <a:extLst>
                <a:ext uri="{FF2B5EF4-FFF2-40B4-BE49-F238E27FC236}">
                  <a16:creationId xmlns:a16="http://schemas.microsoft.com/office/drawing/2014/main" id="{6DC50C8E-6719-A670-CBA1-70C60E0D92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8" name="Rectangle 74">
              <a:extLst>
                <a:ext uri="{FF2B5EF4-FFF2-40B4-BE49-F238E27FC236}">
                  <a16:creationId xmlns:a16="http://schemas.microsoft.com/office/drawing/2014/main" id="{29B2FE5D-A997-FA3C-EB35-F16C6818A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9" name="Rectangle 75">
              <a:extLst>
                <a:ext uri="{FF2B5EF4-FFF2-40B4-BE49-F238E27FC236}">
                  <a16:creationId xmlns:a16="http://schemas.microsoft.com/office/drawing/2014/main" id="{8926242F-8093-1E6B-C0D3-3E0ADE740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0" name="Freeform 76">
              <a:extLst>
                <a:ext uri="{FF2B5EF4-FFF2-40B4-BE49-F238E27FC236}">
                  <a16:creationId xmlns:a16="http://schemas.microsoft.com/office/drawing/2014/main" id="{B4C03FA6-2BFF-B372-8B54-7BF71A42DC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1" name="Freeform 77">
              <a:extLst>
                <a:ext uri="{FF2B5EF4-FFF2-40B4-BE49-F238E27FC236}">
                  <a16:creationId xmlns:a16="http://schemas.microsoft.com/office/drawing/2014/main" id="{5BC21725-4FA2-1906-431B-445BB33E93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2" name="Freeform 78">
              <a:extLst>
                <a:ext uri="{FF2B5EF4-FFF2-40B4-BE49-F238E27FC236}">
                  <a16:creationId xmlns:a16="http://schemas.microsoft.com/office/drawing/2014/main" id="{4CA52393-884F-A1D6-4E6D-0C2D8C3A12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3" name="Freeform 79">
              <a:extLst>
                <a:ext uri="{FF2B5EF4-FFF2-40B4-BE49-F238E27FC236}">
                  <a16:creationId xmlns:a16="http://schemas.microsoft.com/office/drawing/2014/main" id="{1CCCF7A4-8C94-6317-7DAB-0149B0723C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4" name="Freeform 80">
              <a:extLst>
                <a:ext uri="{FF2B5EF4-FFF2-40B4-BE49-F238E27FC236}">
                  <a16:creationId xmlns:a16="http://schemas.microsoft.com/office/drawing/2014/main" id="{CC6C5D3B-E93F-F692-6E7C-290E582C84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5" name="Freeform 81">
              <a:extLst>
                <a:ext uri="{FF2B5EF4-FFF2-40B4-BE49-F238E27FC236}">
                  <a16:creationId xmlns:a16="http://schemas.microsoft.com/office/drawing/2014/main" id="{5A685C00-2399-7F9D-198D-3DD282A591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6" name="Freeform 82">
              <a:extLst>
                <a:ext uri="{FF2B5EF4-FFF2-40B4-BE49-F238E27FC236}">
                  <a16:creationId xmlns:a16="http://schemas.microsoft.com/office/drawing/2014/main" id="{18D821D8-D9C9-F271-52FA-2992BEB6D1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7" name="Freeform 83">
              <a:extLst>
                <a:ext uri="{FF2B5EF4-FFF2-40B4-BE49-F238E27FC236}">
                  <a16:creationId xmlns:a16="http://schemas.microsoft.com/office/drawing/2014/main" id="{8AFD8B76-820A-472F-AEFB-3AF341C9A5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8" name="Freeform 84">
              <a:extLst>
                <a:ext uri="{FF2B5EF4-FFF2-40B4-BE49-F238E27FC236}">
                  <a16:creationId xmlns:a16="http://schemas.microsoft.com/office/drawing/2014/main" id="{9AC3F2B8-D289-2997-2BA6-42E4120C27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9" name="Freeform 85">
              <a:extLst>
                <a:ext uri="{FF2B5EF4-FFF2-40B4-BE49-F238E27FC236}">
                  <a16:creationId xmlns:a16="http://schemas.microsoft.com/office/drawing/2014/main" id="{A4C524B5-3C79-7774-7529-4F18A44B6C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0" name="Rectangle 86">
              <a:extLst>
                <a:ext uri="{FF2B5EF4-FFF2-40B4-BE49-F238E27FC236}">
                  <a16:creationId xmlns:a16="http://schemas.microsoft.com/office/drawing/2014/main" id="{FF96E810-FD66-C71F-F313-E872F89E7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1" name="Rectangle 87">
              <a:extLst>
                <a:ext uri="{FF2B5EF4-FFF2-40B4-BE49-F238E27FC236}">
                  <a16:creationId xmlns:a16="http://schemas.microsoft.com/office/drawing/2014/main" id="{FD52B12E-0668-F09E-4946-BC3E2BED6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2" name="Freeform 88">
              <a:extLst>
                <a:ext uri="{FF2B5EF4-FFF2-40B4-BE49-F238E27FC236}">
                  <a16:creationId xmlns:a16="http://schemas.microsoft.com/office/drawing/2014/main" id="{5EB83D6F-A23B-D31A-0B45-87F9B3C449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3" name="Freeform 89">
              <a:extLst>
                <a:ext uri="{FF2B5EF4-FFF2-40B4-BE49-F238E27FC236}">
                  <a16:creationId xmlns:a16="http://schemas.microsoft.com/office/drawing/2014/main" id="{6CF8C15A-1F9E-C335-0757-0FFFAA8EEF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4" name="Freeform 90">
              <a:extLst>
                <a:ext uri="{FF2B5EF4-FFF2-40B4-BE49-F238E27FC236}">
                  <a16:creationId xmlns:a16="http://schemas.microsoft.com/office/drawing/2014/main" id="{3A721A12-9232-E886-9896-58E47F6EC7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5" name="Freeform 91">
              <a:extLst>
                <a:ext uri="{FF2B5EF4-FFF2-40B4-BE49-F238E27FC236}">
                  <a16:creationId xmlns:a16="http://schemas.microsoft.com/office/drawing/2014/main" id="{5756C2F1-4742-D0AC-85BE-93A743364B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6" name="Freeform 92">
              <a:extLst>
                <a:ext uri="{FF2B5EF4-FFF2-40B4-BE49-F238E27FC236}">
                  <a16:creationId xmlns:a16="http://schemas.microsoft.com/office/drawing/2014/main" id="{1F9672DA-34FE-2AE7-F2ED-831861EBD4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7" name="Freeform 93">
              <a:extLst>
                <a:ext uri="{FF2B5EF4-FFF2-40B4-BE49-F238E27FC236}">
                  <a16:creationId xmlns:a16="http://schemas.microsoft.com/office/drawing/2014/main" id="{C604EEE7-E59E-F871-CBCF-BF338EEBEA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8" name="Freeform 94">
              <a:extLst>
                <a:ext uri="{FF2B5EF4-FFF2-40B4-BE49-F238E27FC236}">
                  <a16:creationId xmlns:a16="http://schemas.microsoft.com/office/drawing/2014/main" id="{F3724562-96FF-CF75-CA41-1CA95ABDB2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9" name="Freeform 95">
              <a:extLst>
                <a:ext uri="{FF2B5EF4-FFF2-40B4-BE49-F238E27FC236}">
                  <a16:creationId xmlns:a16="http://schemas.microsoft.com/office/drawing/2014/main" id="{A16155E5-1F74-71EB-3A54-21496989D0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0" name="Freeform 96">
              <a:extLst>
                <a:ext uri="{FF2B5EF4-FFF2-40B4-BE49-F238E27FC236}">
                  <a16:creationId xmlns:a16="http://schemas.microsoft.com/office/drawing/2014/main" id="{DB1C5FD7-F812-B3E0-2A85-06CC6CB847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1" name="Freeform 97">
              <a:extLst>
                <a:ext uri="{FF2B5EF4-FFF2-40B4-BE49-F238E27FC236}">
                  <a16:creationId xmlns:a16="http://schemas.microsoft.com/office/drawing/2014/main" id="{AB997796-10FF-DD36-B896-BDE3E8472D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2" name="Rectangle 98">
              <a:extLst>
                <a:ext uri="{FF2B5EF4-FFF2-40B4-BE49-F238E27FC236}">
                  <a16:creationId xmlns:a16="http://schemas.microsoft.com/office/drawing/2014/main" id="{BF3A31E8-C899-5FBF-8EA7-2ADE041FD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3" name="Rectangle 99">
              <a:extLst>
                <a:ext uri="{FF2B5EF4-FFF2-40B4-BE49-F238E27FC236}">
                  <a16:creationId xmlns:a16="http://schemas.microsoft.com/office/drawing/2014/main" id="{70C72389-7AE3-328C-4B56-441903BCC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4" name="Freeform 100">
              <a:extLst>
                <a:ext uri="{FF2B5EF4-FFF2-40B4-BE49-F238E27FC236}">
                  <a16:creationId xmlns:a16="http://schemas.microsoft.com/office/drawing/2014/main" id="{07CC1E02-DE5D-A655-C5B7-418181A0AA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5" name="Freeform 101">
              <a:extLst>
                <a:ext uri="{FF2B5EF4-FFF2-40B4-BE49-F238E27FC236}">
                  <a16:creationId xmlns:a16="http://schemas.microsoft.com/office/drawing/2014/main" id="{1BBF40F6-53CF-6883-D729-BB71F3E13E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6" name="Freeform 102">
              <a:extLst>
                <a:ext uri="{FF2B5EF4-FFF2-40B4-BE49-F238E27FC236}">
                  <a16:creationId xmlns:a16="http://schemas.microsoft.com/office/drawing/2014/main" id="{39DECFC4-3892-0EF2-E17D-705843DE97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7" name="Freeform 103">
              <a:extLst>
                <a:ext uri="{FF2B5EF4-FFF2-40B4-BE49-F238E27FC236}">
                  <a16:creationId xmlns:a16="http://schemas.microsoft.com/office/drawing/2014/main" id="{E6074A47-ADFD-A989-C182-DFA5B3A3D4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8" name="Freeform 104">
              <a:extLst>
                <a:ext uri="{FF2B5EF4-FFF2-40B4-BE49-F238E27FC236}">
                  <a16:creationId xmlns:a16="http://schemas.microsoft.com/office/drawing/2014/main" id="{341BDE66-B5AA-CDF6-B7C3-AE0AE7C3DC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9" name="Freeform 105">
              <a:extLst>
                <a:ext uri="{FF2B5EF4-FFF2-40B4-BE49-F238E27FC236}">
                  <a16:creationId xmlns:a16="http://schemas.microsoft.com/office/drawing/2014/main" id="{52CF402C-3109-EADA-ACF7-C0FACC6848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0" name="Freeform 106">
              <a:extLst>
                <a:ext uri="{FF2B5EF4-FFF2-40B4-BE49-F238E27FC236}">
                  <a16:creationId xmlns:a16="http://schemas.microsoft.com/office/drawing/2014/main" id="{BEE4FDC4-0894-6FB0-A2CC-3B5B86011C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1" name="Freeform 107">
              <a:extLst>
                <a:ext uri="{FF2B5EF4-FFF2-40B4-BE49-F238E27FC236}">
                  <a16:creationId xmlns:a16="http://schemas.microsoft.com/office/drawing/2014/main" id="{7E506800-C2C8-B365-6AC3-D8944431C9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2" name="Freeform 108">
              <a:extLst>
                <a:ext uri="{FF2B5EF4-FFF2-40B4-BE49-F238E27FC236}">
                  <a16:creationId xmlns:a16="http://schemas.microsoft.com/office/drawing/2014/main" id="{47086CA0-DFD3-C4E1-B2D5-BE845BB9FB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3" name="Freeform 109">
              <a:extLst>
                <a:ext uri="{FF2B5EF4-FFF2-40B4-BE49-F238E27FC236}">
                  <a16:creationId xmlns:a16="http://schemas.microsoft.com/office/drawing/2014/main" id="{E65348B8-9A2D-2B79-1A1F-78C7E7C859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4" name="Rectangle 110">
              <a:extLst>
                <a:ext uri="{FF2B5EF4-FFF2-40B4-BE49-F238E27FC236}">
                  <a16:creationId xmlns:a16="http://schemas.microsoft.com/office/drawing/2014/main" id="{0A8944C3-95C5-81F5-D7D7-2F4838666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5" name="Rectangle 111">
              <a:extLst>
                <a:ext uri="{FF2B5EF4-FFF2-40B4-BE49-F238E27FC236}">
                  <a16:creationId xmlns:a16="http://schemas.microsoft.com/office/drawing/2014/main" id="{A9CADBCB-C89B-EA81-7300-9FAF618EF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6" name="Freeform 112">
              <a:extLst>
                <a:ext uri="{FF2B5EF4-FFF2-40B4-BE49-F238E27FC236}">
                  <a16:creationId xmlns:a16="http://schemas.microsoft.com/office/drawing/2014/main" id="{2B8A139D-76F6-0235-7042-54E72EA6D9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7" name="Freeform 113">
              <a:extLst>
                <a:ext uri="{FF2B5EF4-FFF2-40B4-BE49-F238E27FC236}">
                  <a16:creationId xmlns:a16="http://schemas.microsoft.com/office/drawing/2014/main" id="{0E75C8EA-A4EE-4CC6-6337-3F6AD98A0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8" name="Freeform 114">
              <a:extLst>
                <a:ext uri="{FF2B5EF4-FFF2-40B4-BE49-F238E27FC236}">
                  <a16:creationId xmlns:a16="http://schemas.microsoft.com/office/drawing/2014/main" id="{933ADBB3-EE2D-8F59-4A3F-D96FFB69BD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9" name="Freeform 115">
              <a:extLst>
                <a:ext uri="{FF2B5EF4-FFF2-40B4-BE49-F238E27FC236}">
                  <a16:creationId xmlns:a16="http://schemas.microsoft.com/office/drawing/2014/main" id="{05D2B550-3FE7-926E-3C95-F5D5B7B7D4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0" name="Freeform 116">
              <a:extLst>
                <a:ext uri="{FF2B5EF4-FFF2-40B4-BE49-F238E27FC236}">
                  <a16:creationId xmlns:a16="http://schemas.microsoft.com/office/drawing/2014/main" id="{8D4A8541-671D-14C1-1420-0D9811D1C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1" name="Freeform 117">
              <a:extLst>
                <a:ext uri="{FF2B5EF4-FFF2-40B4-BE49-F238E27FC236}">
                  <a16:creationId xmlns:a16="http://schemas.microsoft.com/office/drawing/2014/main" id="{9FA05835-42BF-7733-3015-53D00447B8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2" name="Freeform 118">
              <a:extLst>
                <a:ext uri="{FF2B5EF4-FFF2-40B4-BE49-F238E27FC236}">
                  <a16:creationId xmlns:a16="http://schemas.microsoft.com/office/drawing/2014/main" id="{18D899E3-2308-0A50-973E-2224045882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3" name="Freeform 119">
              <a:extLst>
                <a:ext uri="{FF2B5EF4-FFF2-40B4-BE49-F238E27FC236}">
                  <a16:creationId xmlns:a16="http://schemas.microsoft.com/office/drawing/2014/main" id="{ED3D5D3D-363C-ACD2-9CA5-609780F42E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4" name="Freeform 120">
              <a:extLst>
                <a:ext uri="{FF2B5EF4-FFF2-40B4-BE49-F238E27FC236}">
                  <a16:creationId xmlns:a16="http://schemas.microsoft.com/office/drawing/2014/main" id="{F077FEFA-2E1D-9A79-EBDA-5C69BC7DC2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5" name="Freeform 121">
              <a:extLst>
                <a:ext uri="{FF2B5EF4-FFF2-40B4-BE49-F238E27FC236}">
                  <a16:creationId xmlns:a16="http://schemas.microsoft.com/office/drawing/2014/main" id="{C23377C2-2010-0153-7AF3-B147ADF137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6" name="Rectangle 122">
              <a:extLst>
                <a:ext uri="{FF2B5EF4-FFF2-40B4-BE49-F238E27FC236}">
                  <a16:creationId xmlns:a16="http://schemas.microsoft.com/office/drawing/2014/main" id="{8FFECB53-FFC9-D34C-E0DC-71D5C1B20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7" name="Rectangle 123">
              <a:extLst>
                <a:ext uri="{FF2B5EF4-FFF2-40B4-BE49-F238E27FC236}">
                  <a16:creationId xmlns:a16="http://schemas.microsoft.com/office/drawing/2014/main" id="{25B23C5A-E97E-FE3D-1289-C105335BD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8" name="Freeform 124">
              <a:extLst>
                <a:ext uri="{FF2B5EF4-FFF2-40B4-BE49-F238E27FC236}">
                  <a16:creationId xmlns:a16="http://schemas.microsoft.com/office/drawing/2014/main" id="{0E52B742-86C8-DB1E-05D8-B072CCA0E9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9" name="Freeform 125">
              <a:extLst>
                <a:ext uri="{FF2B5EF4-FFF2-40B4-BE49-F238E27FC236}">
                  <a16:creationId xmlns:a16="http://schemas.microsoft.com/office/drawing/2014/main" id="{B55576B6-4F0D-A7F8-B331-067A188C5B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0" name="Freeform 126">
              <a:extLst>
                <a:ext uri="{FF2B5EF4-FFF2-40B4-BE49-F238E27FC236}">
                  <a16:creationId xmlns:a16="http://schemas.microsoft.com/office/drawing/2014/main" id="{6F87A7F8-9E34-ADB3-F857-174CA5EC09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1" name="Freeform 127">
              <a:extLst>
                <a:ext uri="{FF2B5EF4-FFF2-40B4-BE49-F238E27FC236}">
                  <a16:creationId xmlns:a16="http://schemas.microsoft.com/office/drawing/2014/main" id="{1CCF5E86-4BFF-C964-A014-F7163620DD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2" name="Freeform 128">
              <a:extLst>
                <a:ext uri="{FF2B5EF4-FFF2-40B4-BE49-F238E27FC236}">
                  <a16:creationId xmlns:a16="http://schemas.microsoft.com/office/drawing/2014/main" id="{20801473-62FA-BB28-C768-0B76A91940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3" name="Freeform 129">
              <a:extLst>
                <a:ext uri="{FF2B5EF4-FFF2-40B4-BE49-F238E27FC236}">
                  <a16:creationId xmlns:a16="http://schemas.microsoft.com/office/drawing/2014/main" id="{3CE5E846-BFE0-8A7D-8BFB-1C09A20C0F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4" name="Freeform 130">
              <a:extLst>
                <a:ext uri="{FF2B5EF4-FFF2-40B4-BE49-F238E27FC236}">
                  <a16:creationId xmlns:a16="http://schemas.microsoft.com/office/drawing/2014/main" id="{88709A7E-32FC-F7BA-7BB2-AC16006461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5" name="Freeform 131">
              <a:extLst>
                <a:ext uri="{FF2B5EF4-FFF2-40B4-BE49-F238E27FC236}">
                  <a16:creationId xmlns:a16="http://schemas.microsoft.com/office/drawing/2014/main" id="{0FB512EC-FAF0-598F-F80F-3FF10A2CE0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6" name="Freeform 132">
              <a:extLst>
                <a:ext uri="{FF2B5EF4-FFF2-40B4-BE49-F238E27FC236}">
                  <a16:creationId xmlns:a16="http://schemas.microsoft.com/office/drawing/2014/main" id="{D4F24552-030E-D5BE-CED0-67CC7AEEEC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7" name="Freeform 133">
              <a:extLst>
                <a:ext uri="{FF2B5EF4-FFF2-40B4-BE49-F238E27FC236}">
                  <a16:creationId xmlns:a16="http://schemas.microsoft.com/office/drawing/2014/main" id="{05E1446F-52C6-5896-9EC8-9BFB7B914F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8" name="Rectangle 134">
              <a:extLst>
                <a:ext uri="{FF2B5EF4-FFF2-40B4-BE49-F238E27FC236}">
                  <a16:creationId xmlns:a16="http://schemas.microsoft.com/office/drawing/2014/main" id="{A8239FFE-91AD-A7FF-4317-B3FB9375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9" name="Rectangle 135">
              <a:extLst>
                <a:ext uri="{FF2B5EF4-FFF2-40B4-BE49-F238E27FC236}">
                  <a16:creationId xmlns:a16="http://schemas.microsoft.com/office/drawing/2014/main" id="{7FEFCA69-F39B-229D-B5AE-8DFE8BFCF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0" name="Freeform 136">
              <a:extLst>
                <a:ext uri="{FF2B5EF4-FFF2-40B4-BE49-F238E27FC236}">
                  <a16:creationId xmlns:a16="http://schemas.microsoft.com/office/drawing/2014/main" id="{68884520-8824-078F-28E0-A9BB3B7628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1" name="Freeform 137">
              <a:extLst>
                <a:ext uri="{FF2B5EF4-FFF2-40B4-BE49-F238E27FC236}">
                  <a16:creationId xmlns:a16="http://schemas.microsoft.com/office/drawing/2014/main" id="{65CA5881-29B3-A5A7-8B33-E24BC6414B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2" name="Freeform 138">
              <a:extLst>
                <a:ext uri="{FF2B5EF4-FFF2-40B4-BE49-F238E27FC236}">
                  <a16:creationId xmlns:a16="http://schemas.microsoft.com/office/drawing/2014/main" id="{7AAE1F71-E833-6FD5-4AED-330286D515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3" name="Freeform 139">
              <a:extLst>
                <a:ext uri="{FF2B5EF4-FFF2-40B4-BE49-F238E27FC236}">
                  <a16:creationId xmlns:a16="http://schemas.microsoft.com/office/drawing/2014/main" id="{4F89F8E4-C9B9-7C52-65D9-EBF4FF95F5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4" name="Freeform 140">
              <a:extLst>
                <a:ext uri="{FF2B5EF4-FFF2-40B4-BE49-F238E27FC236}">
                  <a16:creationId xmlns:a16="http://schemas.microsoft.com/office/drawing/2014/main" id="{0E904047-817A-3901-88F8-1445711100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5" name="Freeform 141">
              <a:extLst>
                <a:ext uri="{FF2B5EF4-FFF2-40B4-BE49-F238E27FC236}">
                  <a16:creationId xmlns:a16="http://schemas.microsoft.com/office/drawing/2014/main" id="{139EBB1F-5E6E-790A-EDE5-959309DE39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6" name="Freeform 142">
              <a:extLst>
                <a:ext uri="{FF2B5EF4-FFF2-40B4-BE49-F238E27FC236}">
                  <a16:creationId xmlns:a16="http://schemas.microsoft.com/office/drawing/2014/main" id="{5559A6A7-8128-FD99-335E-3F28636BC3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7" name="Freeform 143">
              <a:extLst>
                <a:ext uri="{FF2B5EF4-FFF2-40B4-BE49-F238E27FC236}">
                  <a16:creationId xmlns:a16="http://schemas.microsoft.com/office/drawing/2014/main" id="{0339D34B-3BF6-75B6-8CA1-33184A8759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8" name="Freeform 144">
              <a:extLst>
                <a:ext uri="{FF2B5EF4-FFF2-40B4-BE49-F238E27FC236}">
                  <a16:creationId xmlns:a16="http://schemas.microsoft.com/office/drawing/2014/main" id="{F6505AAA-978B-E610-8AFF-DB2F267945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9" name="Freeform 145">
              <a:extLst>
                <a:ext uri="{FF2B5EF4-FFF2-40B4-BE49-F238E27FC236}">
                  <a16:creationId xmlns:a16="http://schemas.microsoft.com/office/drawing/2014/main" id="{A81D2045-141A-841A-4931-03B5F81A1A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0" name="Rectangle 146">
              <a:extLst>
                <a:ext uri="{FF2B5EF4-FFF2-40B4-BE49-F238E27FC236}">
                  <a16:creationId xmlns:a16="http://schemas.microsoft.com/office/drawing/2014/main" id="{2BC6F0E3-8B24-6B2A-4896-C93901149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1" name="Freeform 147">
              <a:extLst>
                <a:ext uri="{FF2B5EF4-FFF2-40B4-BE49-F238E27FC236}">
                  <a16:creationId xmlns:a16="http://schemas.microsoft.com/office/drawing/2014/main" id="{5A47199E-018A-1791-748A-E0A70D6C0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52" name="Group 148">
            <a:extLst>
              <a:ext uri="{FF2B5EF4-FFF2-40B4-BE49-F238E27FC236}">
                <a16:creationId xmlns:a16="http://schemas.microsoft.com/office/drawing/2014/main" id="{94EDE4D5-8EEF-1682-1976-BD9BABF0DFD7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444875"/>
            <a:ext cx="533400" cy="492125"/>
            <a:chOff x="96" y="2784"/>
            <a:chExt cx="1062" cy="981"/>
          </a:xfrm>
        </p:grpSpPr>
        <p:sp>
          <p:nvSpPr>
            <p:cNvPr id="175253" name="Freeform 149">
              <a:extLst>
                <a:ext uri="{FF2B5EF4-FFF2-40B4-BE49-F238E27FC236}">
                  <a16:creationId xmlns:a16="http://schemas.microsoft.com/office/drawing/2014/main" id="{ADE17342-AB80-CEF5-D30B-4129465132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4" name="Freeform 150">
              <a:extLst>
                <a:ext uri="{FF2B5EF4-FFF2-40B4-BE49-F238E27FC236}">
                  <a16:creationId xmlns:a16="http://schemas.microsoft.com/office/drawing/2014/main" id="{6BE16049-AFDE-A6B5-E248-D403537B5B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5" name="Freeform 151">
              <a:extLst>
                <a:ext uri="{FF2B5EF4-FFF2-40B4-BE49-F238E27FC236}">
                  <a16:creationId xmlns:a16="http://schemas.microsoft.com/office/drawing/2014/main" id="{DF5B9AB9-D6FC-BCDD-AADD-8C0F44D58E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6" name="Freeform 152">
              <a:extLst>
                <a:ext uri="{FF2B5EF4-FFF2-40B4-BE49-F238E27FC236}">
                  <a16:creationId xmlns:a16="http://schemas.microsoft.com/office/drawing/2014/main" id="{688EE5B7-C543-680A-4316-0C88719487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7" name="Freeform 153">
              <a:extLst>
                <a:ext uri="{FF2B5EF4-FFF2-40B4-BE49-F238E27FC236}">
                  <a16:creationId xmlns:a16="http://schemas.microsoft.com/office/drawing/2014/main" id="{3C1C584B-7428-6D66-3512-A4D1DA9EED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8" name="Freeform 154">
              <a:extLst>
                <a:ext uri="{FF2B5EF4-FFF2-40B4-BE49-F238E27FC236}">
                  <a16:creationId xmlns:a16="http://schemas.microsoft.com/office/drawing/2014/main" id="{37C2A61F-8133-42A8-FD53-EE71EF7EDB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9" name="Freeform 155">
              <a:extLst>
                <a:ext uri="{FF2B5EF4-FFF2-40B4-BE49-F238E27FC236}">
                  <a16:creationId xmlns:a16="http://schemas.microsoft.com/office/drawing/2014/main" id="{636C967B-9391-CB49-C5BD-EE4E563F68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0" name="Freeform 156">
              <a:extLst>
                <a:ext uri="{FF2B5EF4-FFF2-40B4-BE49-F238E27FC236}">
                  <a16:creationId xmlns:a16="http://schemas.microsoft.com/office/drawing/2014/main" id="{0C0D48D1-9FA8-2E3D-2C3C-4BD9319749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1" name="Freeform 157">
              <a:extLst>
                <a:ext uri="{FF2B5EF4-FFF2-40B4-BE49-F238E27FC236}">
                  <a16:creationId xmlns:a16="http://schemas.microsoft.com/office/drawing/2014/main" id="{AC22828C-94AF-74CF-5AFC-720D12E2EA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2" name="Freeform 158">
              <a:extLst>
                <a:ext uri="{FF2B5EF4-FFF2-40B4-BE49-F238E27FC236}">
                  <a16:creationId xmlns:a16="http://schemas.microsoft.com/office/drawing/2014/main" id="{CC49D2DD-EA9E-A682-55E2-FA15F2D857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3" name="Freeform 159">
              <a:extLst>
                <a:ext uri="{FF2B5EF4-FFF2-40B4-BE49-F238E27FC236}">
                  <a16:creationId xmlns:a16="http://schemas.microsoft.com/office/drawing/2014/main" id="{287F2658-3655-20EB-3B64-DE126CFD03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4" name="Freeform 160">
              <a:extLst>
                <a:ext uri="{FF2B5EF4-FFF2-40B4-BE49-F238E27FC236}">
                  <a16:creationId xmlns:a16="http://schemas.microsoft.com/office/drawing/2014/main" id="{1A725BFF-A0C5-161C-CB5E-A63007482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5" name="Freeform 161">
              <a:extLst>
                <a:ext uri="{FF2B5EF4-FFF2-40B4-BE49-F238E27FC236}">
                  <a16:creationId xmlns:a16="http://schemas.microsoft.com/office/drawing/2014/main" id="{61A187E4-1FF5-7A94-C4E6-DF9101FEED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66" name="Group 162">
            <a:extLst>
              <a:ext uri="{FF2B5EF4-FFF2-40B4-BE49-F238E27FC236}">
                <a16:creationId xmlns:a16="http://schemas.microsoft.com/office/drawing/2014/main" id="{4D459E1B-F6FD-1580-DBFC-821D9FC1F2B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552950"/>
            <a:ext cx="533400" cy="492125"/>
            <a:chOff x="96" y="2784"/>
            <a:chExt cx="1062" cy="981"/>
          </a:xfrm>
        </p:grpSpPr>
        <p:sp>
          <p:nvSpPr>
            <p:cNvPr id="175267" name="Freeform 163">
              <a:extLst>
                <a:ext uri="{FF2B5EF4-FFF2-40B4-BE49-F238E27FC236}">
                  <a16:creationId xmlns:a16="http://schemas.microsoft.com/office/drawing/2014/main" id="{0AE1530A-E00E-9C46-9C19-E99600070C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8" name="Freeform 164">
              <a:extLst>
                <a:ext uri="{FF2B5EF4-FFF2-40B4-BE49-F238E27FC236}">
                  <a16:creationId xmlns:a16="http://schemas.microsoft.com/office/drawing/2014/main" id="{5D83D719-FF82-AE56-2442-84E11A1F10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9" name="Freeform 165">
              <a:extLst>
                <a:ext uri="{FF2B5EF4-FFF2-40B4-BE49-F238E27FC236}">
                  <a16:creationId xmlns:a16="http://schemas.microsoft.com/office/drawing/2014/main" id="{367C2092-9755-1FF7-F94A-A1AD2095F9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0" name="Freeform 166">
              <a:extLst>
                <a:ext uri="{FF2B5EF4-FFF2-40B4-BE49-F238E27FC236}">
                  <a16:creationId xmlns:a16="http://schemas.microsoft.com/office/drawing/2014/main" id="{88FC22F0-6C56-ABC5-389F-89EE71977F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1" name="Freeform 167">
              <a:extLst>
                <a:ext uri="{FF2B5EF4-FFF2-40B4-BE49-F238E27FC236}">
                  <a16:creationId xmlns:a16="http://schemas.microsoft.com/office/drawing/2014/main" id="{42E8BE2F-6694-226E-104D-D708329860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2" name="Freeform 168">
              <a:extLst>
                <a:ext uri="{FF2B5EF4-FFF2-40B4-BE49-F238E27FC236}">
                  <a16:creationId xmlns:a16="http://schemas.microsoft.com/office/drawing/2014/main" id="{7F37AD81-F300-288E-3E8B-E45F190C23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3" name="Freeform 169">
              <a:extLst>
                <a:ext uri="{FF2B5EF4-FFF2-40B4-BE49-F238E27FC236}">
                  <a16:creationId xmlns:a16="http://schemas.microsoft.com/office/drawing/2014/main" id="{75ADB941-2B43-3669-F5C5-7E8A3B13C3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4" name="Freeform 170">
              <a:extLst>
                <a:ext uri="{FF2B5EF4-FFF2-40B4-BE49-F238E27FC236}">
                  <a16:creationId xmlns:a16="http://schemas.microsoft.com/office/drawing/2014/main" id="{754C6CB9-30B2-56F7-40C0-110A0677B3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5" name="Freeform 171">
              <a:extLst>
                <a:ext uri="{FF2B5EF4-FFF2-40B4-BE49-F238E27FC236}">
                  <a16:creationId xmlns:a16="http://schemas.microsoft.com/office/drawing/2014/main" id="{D6488D10-6FE7-9031-C78D-58264BF1F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6" name="Freeform 172">
              <a:extLst>
                <a:ext uri="{FF2B5EF4-FFF2-40B4-BE49-F238E27FC236}">
                  <a16:creationId xmlns:a16="http://schemas.microsoft.com/office/drawing/2014/main" id="{CBE7813F-BEAA-FD75-20AB-1D6B97B1DD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7" name="Freeform 173">
              <a:extLst>
                <a:ext uri="{FF2B5EF4-FFF2-40B4-BE49-F238E27FC236}">
                  <a16:creationId xmlns:a16="http://schemas.microsoft.com/office/drawing/2014/main" id="{58EB21CD-F3B5-A08D-38F1-8FF00167E7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8" name="Freeform 174">
              <a:extLst>
                <a:ext uri="{FF2B5EF4-FFF2-40B4-BE49-F238E27FC236}">
                  <a16:creationId xmlns:a16="http://schemas.microsoft.com/office/drawing/2014/main" id="{197BE524-6E26-84A9-5B4D-5FD382296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9" name="Freeform 175">
              <a:extLst>
                <a:ext uri="{FF2B5EF4-FFF2-40B4-BE49-F238E27FC236}">
                  <a16:creationId xmlns:a16="http://schemas.microsoft.com/office/drawing/2014/main" id="{AFBF6D2F-CD45-D511-DB62-B49C9F4C66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80" name="Group 176">
            <a:extLst>
              <a:ext uri="{FF2B5EF4-FFF2-40B4-BE49-F238E27FC236}">
                <a16:creationId xmlns:a16="http://schemas.microsoft.com/office/drawing/2014/main" id="{BB1256C4-734C-E6D4-B2F8-C1AAD006AD0D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562600"/>
            <a:ext cx="533400" cy="492125"/>
            <a:chOff x="96" y="2784"/>
            <a:chExt cx="1062" cy="981"/>
          </a:xfrm>
        </p:grpSpPr>
        <p:sp>
          <p:nvSpPr>
            <p:cNvPr id="175281" name="Freeform 177">
              <a:extLst>
                <a:ext uri="{FF2B5EF4-FFF2-40B4-BE49-F238E27FC236}">
                  <a16:creationId xmlns:a16="http://schemas.microsoft.com/office/drawing/2014/main" id="{2F7E9F85-0A17-050B-9723-8F7E86B9E3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2" name="Freeform 178">
              <a:extLst>
                <a:ext uri="{FF2B5EF4-FFF2-40B4-BE49-F238E27FC236}">
                  <a16:creationId xmlns:a16="http://schemas.microsoft.com/office/drawing/2014/main" id="{7A518E09-7257-4367-148C-21A35C4AD0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3" name="Freeform 179">
              <a:extLst>
                <a:ext uri="{FF2B5EF4-FFF2-40B4-BE49-F238E27FC236}">
                  <a16:creationId xmlns:a16="http://schemas.microsoft.com/office/drawing/2014/main" id="{1F2D98A5-C78C-104D-5AC4-6602DDFFC2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4" name="Freeform 180">
              <a:extLst>
                <a:ext uri="{FF2B5EF4-FFF2-40B4-BE49-F238E27FC236}">
                  <a16:creationId xmlns:a16="http://schemas.microsoft.com/office/drawing/2014/main" id="{9638BFE0-AE4D-ECCA-136C-F5CC6CEBB9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5" name="Freeform 181">
              <a:extLst>
                <a:ext uri="{FF2B5EF4-FFF2-40B4-BE49-F238E27FC236}">
                  <a16:creationId xmlns:a16="http://schemas.microsoft.com/office/drawing/2014/main" id="{FFDBD20E-75E9-6AD2-28E4-ABF8B7F95F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6" name="Freeform 182">
              <a:extLst>
                <a:ext uri="{FF2B5EF4-FFF2-40B4-BE49-F238E27FC236}">
                  <a16:creationId xmlns:a16="http://schemas.microsoft.com/office/drawing/2014/main" id="{84EED16B-B299-EF2A-C3FF-CC4DCEF8B0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7" name="Freeform 183">
              <a:extLst>
                <a:ext uri="{FF2B5EF4-FFF2-40B4-BE49-F238E27FC236}">
                  <a16:creationId xmlns:a16="http://schemas.microsoft.com/office/drawing/2014/main" id="{B64E0DB9-3177-E569-857E-8F4AEDF85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8" name="Freeform 184">
              <a:extLst>
                <a:ext uri="{FF2B5EF4-FFF2-40B4-BE49-F238E27FC236}">
                  <a16:creationId xmlns:a16="http://schemas.microsoft.com/office/drawing/2014/main" id="{5CC8A6A7-57A2-2793-9E07-9EB8F81A32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9" name="Freeform 185">
              <a:extLst>
                <a:ext uri="{FF2B5EF4-FFF2-40B4-BE49-F238E27FC236}">
                  <a16:creationId xmlns:a16="http://schemas.microsoft.com/office/drawing/2014/main" id="{264AACB1-7C3D-BE87-72D9-8CD6BB8808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0" name="Freeform 186">
              <a:extLst>
                <a:ext uri="{FF2B5EF4-FFF2-40B4-BE49-F238E27FC236}">
                  <a16:creationId xmlns:a16="http://schemas.microsoft.com/office/drawing/2014/main" id="{E3D59C2A-9835-5B81-AB62-A765F93FF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1" name="Freeform 187">
              <a:extLst>
                <a:ext uri="{FF2B5EF4-FFF2-40B4-BE49-F238E27FC236}">
                  <a16:creationId xmlns:a16="http://schemas.microsoft.com/office/drawing/2014/main" id="{67665B8F-92E0-0CA5-49E9-8FF289A69A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2" name="Freeform 188">
              <a:extLst>
                <a:ext uri="{FF2B5EF4-FFF2-40B4-BE49-F238E27FC236}">
                  <a16:creationId xmlns:a16="http://schemas.microsoft.com/office/drawing/2014/main" id="{EF4D8A57-B091-A579-A5D9-4C226DD439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3" name="Freeform 189">
              <a:extLst>
                <a:ext uri="{FF2B5EF4-FFF2-40B4-BE49-F238E27FC236}">
                  <a16:creationId xmlns:a16="http://schemas.microsoft.com/office/drawing/2014/main" id="{42911A89-FAAF-2AA6-3347-5049196F10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94" name="Group 190">
            <a:extLst>
              <a:ext uri="{FF2B5EF4-FFF2-40B4-BE49-F238E27FC236}">
                <a16:creationId xmlns:a16="http://schemas.microsoft.com/office/drawing/2014/main" id="{97193EA3-C5D4-0A7F-8FF7-754FA2B5662A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962400"/>
            <a:ext cx="533400" cy="492125"/>
            <a:chOff x="96" y="2784"/>
            <a:chExt cx="1062" cy="981"/>
          </a:xfrm>
        </p:grpSpPr>
        <p:sp>
          <p:nvSpPr>
            <p:cNvPr id="175295" name="Freeform 191">
              <a:extLst>
                <a:ext uri="{FF2B5EF4-FFF2-40B4-BE49-F238E27FC236}">
                  <a16:creationId xmlns:a16="http://schemas.microsoft.com/office/drawing/2014/main" id="{A1D8E205-CEF3-6902-EE3C-85DC23AFB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6" name="Freeform 192">
              <a:extLst>
                <a:ext uri="{FF2B5EF4-FFF2-40B4-BE49-F238E27FC236}">
                  <a16:creationId xmlns:a16="http://schemas.microsoft.com/office/drawing/2014/main" id="{9761AC17-7D40-E484-9D8E-7B3B012546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7" name="Freeform 193">
              <a:extLst>
                <a:ext uri="{FF2B5EF4-FFF2-40B4-BE49-F238E27FC236}">
                  <a16:creationId xmlns:a16="http://schemas.microsoft.com/office/drawing/2014/main" id="{16DA499F-3A11-47BC-C653-D9C943C15A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8" name="Freeform 194">
              <a:extLst>
                <a:ext uri="{FF2B5EF4-FFF2-40B4-BE49-F238E27FC236}">
                  <a16:creationId xmlns:a16="http://schemas.microsoft.com/office/drawing/2014/main" id="{880B19E0-6B8D-526F-04E5-7A1CABDC2C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9" name="Freeform 195">
              <a:extLst>
                <a:ext uri="{FF2B5EF4-FFF2-40B4-BE49-F238E27FC236}">
                  <a16:creationId xmlns:a16="http://schemas.microsoft.com/office/drawing/2014/main" id="{D5F35A8D-B083-ED5A-C911-5A49789503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0" name="Freeform 196">
              <a:extLst>
                <a:ext uri="{FF2B5EF4-FFF2-40B4-BE49-F238E27FC236}">
                  <a16:creationId xmlns:a16="http://schemas.microsoft.com/office/drawing/2014/main" id="{CADC0BB3-141F-4469-CAE5-98C61A6F4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1" name="Freeform 197">
              <a:extLst>
                <a:ext uri="{FF2B5EF4-FFF2-40B4-BE49-F238E27FC236}">
                  <a16:creationId xmlns:a16="http://schemas.microsoft.com/office/drawing/2014/main" id="{90540C28-7CA0-8F1F-3F9F-EAE0E76163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2" name="Freeform 198">
              <a:extLst>
                <a:ext uri="{FF2B5EF4-FFF2-40B4-BE49-F238E27FC236}">
                  <a16:creationId xmlns:a16="http://schemas.microsoft.com/office/drawing/2014/main" id="{C78E0110-2A7C-C623-E9C3-66715856D8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3" name="Freeform 199">
              <a:extLst>
                <a:ext uri="{FF2B5EF4-FFF2-40B4-BE49-F238E27FC236}">
                  <a16:creationId xmlns:a16="http://schemas.microsoft.com/office/drawing/2014/main" id="{50EDA4C8-8920-2F9C-1438-A49813EDFF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4" name="Freeform 200">
              <a:extLst>
                <a:ext uri="{FF2B5EF4-FFF2-40B4-BE49-F238E27FC236}">
                  <a16:creationId xmlns:a16="http://schemas.microsoft.com/office/drawing/2014/main" id="{1B8F065E-A179-71D9-D2C8-DD64E95A7B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5" name="Freeform 201">
              <a:extLst>
                <a:ext uri="{FF2B5EF4-FFF2-40B4-BE49-F238E27FC236}">
                  <a16:creationId xmlns:a16="http://schemas.microsoft.com/office/drawing/2014/main" id="{E1B1C285-3BC4-FDEA-731F-36D94F19F4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6" name="Freeform 202">
              <a:extLst>
                <a:ext uri="{FF2B5EF4-FFF2-40B4-BE49-F238E27FC236}">
                  <a16:creationId xmlns:a16="http://schemas.microsoft.com/office/drawing/2014/main" id="{C558948E-712F-339E-16CE-F65F19DB95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7" name="Freeform 203">
              <a:extLst>
                <a:ext uri="{FF2B5EF4-FFF2-40B4-BE49-F238E27FC236}">
                  <a16:creationId xmlns:a16="http://schemas.microsoft.com/office/drawing/2014/main" id="{F3E54C84-7DC1-DD95-00B9-CDBCAB9971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08" name="Group 204">
            <a:extLst>
              <a:ext uri="{FF2B5EF4-FFF2-40B4-BE49-F238E27FC236}">
                <a16:creationId xmlns:a16="http://schemas.microsoft.com/office/drawing/2014/main" id="{174B4AF9-1DFE-2545-A421-AED13C0AAA4A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070475"/>
            <a:ext cx="533400" cy="492125"/>
            <a:chOff x="96" y="2784"/>
            <a:chExt cx="1062" cy="981"/>
          </a:xfrm>
        </p:grpSpPr>
        <p:sp>
          <p:nvSpPr>
            <p:cNvPr id="175309" name="Freeform 205">
              <a:extLst>
                <a:ext uri="{FF2B5EF4-FFF2-40B4-BE49-F238E27FC236}">
                  <a16:creationId xmlns:a16="http://schemas.microsoft.com/office/drawing/2014/main" id="{966D217B-EC78-6867-D0FC-D4F0B5F6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0" name="Freeform 206">
              <a:extLst>
                <a:ext uri="{FF2B5EF4-FFF2-40B4-BE49-F238E27FC236}">
                  <a16:creationId xmlns:a16="http://schemas.microsoft.com/office/drawing/2014/main" id="{515EB79B-0EA9-F587-8950-3FBCEBDBB3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1" name="Freeform 207">
              <a:extLst>
                <a:ext uri="{FF2B5EF4-FFF2-40B4-BE49-F238E27FC236}">
                  <a16:creationId xmlns:a16="http://schemas.microsoft.com/office/drawing/2014/main" id="{BAE5E694-F464-2E51-501C-11A3C2E95A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2" name="Freeform 208">
              <a:extLst>
                <a:ext uri="{FF2B5EF4-FFF2-40B4-BE49-F238E27FC236}">
                  <a16:creationId xmlns:a16="http://schemas.microsoft.com/office/drawing/2014/main" id="{57D150D1-2886-7E65-451A-9077CF0DA9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3" name="Freeform 209">
              <a:extLst>
                <a:ext uri="{FF2B5EF4-FFF2-40B4-BE49-F238E27FC236}">
                  <a16:creationId xmlns:a16="http://schemas.microsoft.com/office/drawing/2014/main" id="{AEABE8F5-06D5-D82D-01B9-2BE708BF1F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4" name="Freeform 210">
              <a:extLst>
                <a:ext uri="{FF2B5EF4-FFF2-40B4-BE49-F238E27FC236}">
                  <a16:creationId xmlns:a16="http://schemas.microsoft.com/office/drawing/2014/main" id="{84D9713E-7F84-FD6B-F3DB-AA866C925D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5" name="Freeform 211">
              <a:extLst>
                <a:ext uri="{FF2B5EF4-FFF2-40B4-BE49-F238E27FC236}">
                  <a16:creationId xmlns:a16="http://schemas.microsoft.com/office/drawing/2014/main" id="{ECC64571-5B41-977C-D35C-703F74D182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6" name="Freeform 212">
              <a:extLst>
                <a:ext uri="{FF2B5EF4-FFF2-40B4-BE49-F238E27FC236}">
                  <a16:creationId xmlns:a16="http://schemas.microsoft.com/office/drawing/2014/main" id="{1467D961-7536-38FE-7D52-281BF4F8B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7" name="Freeform 213">
              <a:extLst>
                <a:ext uri="{FF2B5EF4-FFF2-40B4-BE49-F238E27FC236}">
                  <a16:creationId xmlns:a16="http://schemas.microsoft.com/office/drawing/2014/main" id="{0E928B51-277A-F767-7813-9AD8BC1885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8" name="Freeform 214">
              <a:extLst>
                <a:ext uri="{FF2B5EF4-FFF2-40B4-BE49-F238E27FC236}">
                  <a16:creationId xmlns:a16="http://schemas.microsoft.com/office/drawing/2014/main" id="{59FF8D65-1362-A773-D32D-A10EAABA32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9" name="Freeform 215">
              <a:extLst>
                <a:ext uri="{FF2B5EF4-FFF2-40B4-BE49-F238E27FC236}">
                  <a16:creationId xmlns:a16="http://schemas.microsoft.com/office/drawing/2014/main" id="{2C6FC0FE-B4BA-E4E2-C7C3-AFEA326105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0" name="Freeform 216">
              <a:extLst>
                <a:ext uri="{FF2B5EF4-FFF2-40B4-BE49-F238E27FC236}">
                  <a16:creationId xmlns:a16="http://schemas.microsoft.com/office/drawing/2014/main" id="{9E8A5FE7-F7AF-1B42-A1F9-0D0FD5E602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1" name="Freeform 217">
              <a:extLst>
                <a:ext uri="{FF2B5EF4-FFF2-40B4-BE49-F238E27FC236}">
                  <a16:creationId xmlns:a16="http://schemas.microsoft.com/office/drawing/2014/main" id="{6C8D766E-A8B9-4562-73FA-01704D75C9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22" name="Group 218">
            <a:extLst>
              <a:ext uri="{FF2B5EF4-FFF2-40B4-BE49-F238E27FC236}">
                <a16:creationId xmlns:a16="http://schemas.microsoft.com/office/drawing/2014/main" id="{66FAE8F4-EE96-68C3-BC15-87295C054C75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6121400"/>
            <a:ext cx="533400" cy="492125"/>
            <a:chOff x="96" y="2784"/>
            <a:chExt cx="1062" cy="981"/>
          </a:xfrm>
        </p:grpSpPr>
        <p:sp>
          <p:nvSpPr>
            <p:cNvPr id="175323" name="Freeform 219">
              <a:extLst>
                <a:ext uri="{FF2B5EF4-FFF2-40B4-BE49-F238E27FC236}">
                  <a16:creationId xmlns:a16="http://schemas.microsoft.com/office/drawing/2014/main" id="{A92C2FA7-65D5-98BF-3574-500256BEE2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4" name="Freeform 220">
              <a:extLst>
                <a:ext uri="{FF2B5EF4-FFF2-40B4-BE49-F238E27FC236}">
                  <a16:creationId xmlns:a16="http://schemas.microsoft.com/office/drawing/2014/main" id="{BBE3705E-755D-39FE-1949-DFAA7AE2B3F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5" name="Freeform 221">
              <a:extLst>
                <a:ext uri="{FF2B5EF4-FFF2-40B4-BE49-F238E27FC236}">
                  <a16:creationId xmlns:a16="http://schemas.microsoft.com/office/drawing/2014/main" id="{DF17E2CC-A0FD-B183-DA9E-C61A224CD8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6" name="Freeform 222">
              <a:extLst>
                <a:ext uri="{FF2B5EF4-FFF2-40B4-BE49-F238E27FC236}">
                  <a16:creationId xmlns:a16="http://schemas.microsoft.com/office/drawing/2014/main" id="{81F066D7-0C87-3288-E43B-FF974BBF9C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7" name="Freeform 223">
              <a:extLst>
                <a:ext uri="{FF2B5EF4-FFF2-40B4-BE49-F238E27FC236}">
                  <a16:creationId xmlns:a16="http://schemas.microsoft.com/office/drawing/2014/main" id="{87546892-A864-4544-06EA-33C0949E4E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8" name="Freeform 224">
              <a:extLst>
                <a:ext uri="{FF2B5EF4-FFF2-40B4-BE49-F238E27FC236}">
                  <a16:creationId xmlns:a16="http://schemas.microsoft.com/office/drawing/2014/main" id="{0EB3649E-27D4-3F09-0B3C-FB6494E122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9" name="Freeform 225">
              <a:extLst>
                <a:ext uri="{FF2B5EF4-FFF2-40B4-BE49-F238E27FC236}">
                  <a16:creationId xmlns:a16="http://schemas.microsoft.com/office/drawing/2014/main" id="{DC072BA0-B04B-7700-46F9-884B290742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0" name="Freeform 226">
              <a:extLst>
                <a:ext uri="{FF2B5EF4-FFF2-40B4-BE49-F238E27FC236}">
                  <a16:creationId xmlns:a16="http://schemas.microsoft.com/office/drawing/2014/main" id="{F1AF77B8-6CED-BC7D-073F-99CFBA853E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1" name="Freeform 227">
              <a:extLst>
                <a:ext uri="{FF2B5EF4-FFF2-40B4-BE49-F238E27FC236}">
                  <a16:creationId xmlns:a16="http://schemas.microsoft.com/office/drawing/2014/main" id="{33DB7D6E-9E8A-6E90-D0AC-2690BF3541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2" name="Freeform 228">
              <a:extLst>
                <a:ext uri="{FF2B5EF4-FFF2-40B4-BE49-F238E27FC236}">
                  <a16:creationId xmlns:a16="http://schemas.microsoft.com/office/drawing/2014/main" id="{588C7943-0C1B-6FF9-6011-9211B74E91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3" name="Freeform 229">
              <a:extLst>
                <a:ext uri="{FF2B5EF4-FFF2-40B4-BE49-F238E27FC236}">
                  <a16:creationId xmlns:a16="http://schemas.microsoft.com/office/drawing/2014/main" id="{B0C47832-B5AF-3823-2DA3-3DF95F738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4" name="Freeform 230">
              <a:extLst>
                <a:ext uri="{FF2B5EF4-FFF2-40B4-BE49-F238E27FC236}">
                  <a16:creationId xmlns:a16="http://schemas.microsoft.com/office/drawing/2014/main" id="{D3752F9A-9413-9AA0-6ADD-180BAE1A4D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5" name="Freeform 231">
              <a:extLst>
                <a:ext uri="{FF2B5EF4-FFF2-40B4-BE49-F238E27FC236}">
                  <a16:creationId xmlns:a16="http://schemas.microsoft.com/office/drawing/2014/main" id="{6BD40525-ECE0-800B-9828-823E404F6A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36" name="Group 232">
            <a:extLst>
              <a:ext uri="{FF2B5EF4-FFF2-40B4-BE49-F238E27FC236}">
                <a16:creationId xmlns:a16="http://schemas.microsoft.com/office/drawing/2014/main" id="{392B8551-6CDF-1BAA-3D29-95ABD7A20967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-7938"/>
            <a:ext cx="2317750" cy="2063751"/>
            <a:chOff x="4080" y="-5"/>
            <a:chExt cx="1748" cy="1556"/>
          </a:xfrm>
        </p:grpSpPr>
        <p:sp>
          <p:nvSpPr>
            <p:cNvPr id="175337" name="Freeform 233">
              <a:extLst>
                <a:ext uri="{FF2B5EF4-FFF2-40B4-BE49-F238E27FC236}">
                  <a16:creationId xmlns:a16="http://schemas.microsoft.com/office/drawing/2014/main" id="{A09A1A2C-F997-08A8-C5C3-778407652A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23 w 546"/>
                <a:gd name="T1" fmla="*/ 4 h 497"/>
                <a:gd name="T2" fmla="*/ 11 w 546"/>
                <a:gd name="T3" fmla="*/ 71 h 497"/>
                <a:gd name="T4" fmla="*/ 25 w 546"/>
                <a:gd name="T5" fmla="*/ 393 h 497"/>
                <a:gd name="T6" fmla="*/ 54 w 546"/>
                <a:gd name="T7" fmla="*/ 457 h 497"/>
                <a:gd name="T8" fmla="*/ 158 w 546"/>
                <a:gd name="T9" fmla="*/ 482 h 497"/>
                <a:gd name="T10" fmla="*/ 204 w 546"/>
                <a:gd name="T11" fmla="*/ 495 h 497"/>
                <a:gd name="T12" fmla="*/ 520 w 546"/>
                <a:gd name="T13" fmla="*/ 475 h 497"/>
                <a:gd name="T14" fmla="*/ 533 w 546"/>
                <a:gd name="T15" fmla="*/ 167 h 497"/>
                <a:gd name="T16" fmla="*/ 369 w 546"/>
                <a:gd name="T17" fmla="*/ 16 h 497"/>
                <a:gd name="T18" fmla="*/ 249 w 546"/>
                <a:gd name="T19" fmla="*/ 29 h 497"/>
                <a:gd name="T20" fmla="*/ 198 w 546"/>
                <a:gd name="T21" fmla="*/ 11 h 497"/>
                <a:gd name="T22" fmla="*/ 151 w 546"/>
                <a:gd name="T23" fmla="*/ 2 h 497"/>
                <a:gd name="T24" fmla="*/ 23 w 546"/>
                <a:gd name="T25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338" name="Group 234">
              <a:extLst>
                <a:ext uri="{FF2B5EF4-FFF2-40B4-BE49-F238E27FC236}">
                  <a16:creationId xmlns:a16="http://schemas.microsoft.com/office/drawing/2014/main" id="{19391228-CA9B-F7A3-C3E7-311405AE735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175339" name="Freeform 235">
                <a:extLst>
                  <a:ext uri="{FF2B5EF4-FFF2-40B4-BE49-F238E27FC236}">
                    <a16:creationId xmlns:a16="http://schemas.microsoft.com/office/drawing/2014/main" id="{F7F07C14-955C-8C2C-5238-9A64E3174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71 w 97"/>
                  <a:gd name="T1" fmla="*/ 25 h 37"/>
                  <a:gd name="T2" fmla="*/ 91 w 97"/>
                  <a:gd name="T3" fmla="*/ 20 h 37"/>
                  <a:gd name="T4" fmla="*/ 92 w 97"/>
                  <a:gd name="T5" fmla="*/ 17 h 37"/>
                  <a:gd name="T6" fmla="*/ 88 w 97"/>
                  <a:gd name="T7" fmla="*/ 0 h 37"/>
                  <a:gd name="T8" fmla="*/ 25 w 97"/>
                  <a:gd name="T9" fmla="*/ 0 h 37"/>
                  <a:gd name="T10" fmla="*/ 10 w 97"/>
                  <a:gd name="T11" fmla="*/ 22 h 37"/>
                  <a:gd name="T12" fmla="*/ 71 w 97"/>
                  <a:gd name="T13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0" name="Freeform 236">
                <a:extLst>
                  <a:ext uri="{FF2B5EF4-FFF2-40B4-BE49-F238E27FC236}">
                    <a16:creationId xmlns:a16="http://schemas.microsoft.com/office/drawing/2014/main" id="{BF9CFF87-7795-F1DB-98F9-4CBF9DED6D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504 w 585"/>
                  <a:gd name="T1" fmla="*/ 1 h 534"/>
                  <a:gd name="T2" fmla="*/ 157 w 585"/>
                  <a:gd name="T3" fmla="*/ 0 h 534"/>
                  <a:gd name="T4" fmla="*/ 225 w 585"/>
                  <a:gd name="T5" fmla="*/ 21 h 534"/>
                  <a:gd name="T6" fmla="*/ 174 w 585"/>
                  <a:gd name="T7" fmla="*/ 39 h 534"/>
                  <a:gd name="T8" fmla="*/ 207 w 585"/>
                  <a:gd name="T9" fmla="*/ 71 h 534"/>
                  <a:gd name="T10" fmla="*/ 74 w 585"/>
                  <a:gd name="T11" fmla="*/ 60 h 534"/>
                  <a:gd name="T12" fmla="*/ 26 w 585"/>
                  <a:gd name="T13" fmla="*/ 63 h 534"/>
                  <a:gd name="T14" fmla="*/ 199 w 585"/>
                  <a:gd name="T15" fmla="*/ 487 h 534"/>
                  <a:gd name="T16" fmla="*/ 144 w 585"/>
                  <a:gd name="T17" fmla="*/ 341 h 534"/>
                  <a:gd name="T18" fmla="*/ 105 w 585"/>
                  <a:gd name="T19" fmla="*/ 376 h 534"/>
                  <a:gd name="T20" fmla="*/ 94 w 585"/>
                  <a:gd name="T21" fmla="*/ 435 h 534"/>
                  <a:gd name="T22" fmla="*/ 124 w 585"/>
                  <a:gd name="T23" fmla="*/ 265 h 534"/>
                  <a:gd name="T24" fmla="*/ 153 w 585"/>
                  <a:gd name="T25" fmla="*/ 228 h 534"/>
                  <a:gd name="T26" fmla="*/ 209 w 585"/>
                  <a:gd name="T27" fmla="*/ 237 h 534"/>
                  <a:gd name="T28" fmla="*/ 188 w 585"/>
                  <a:gd name="T29" fmla="*/ 306 h 534"/>
                  <a:gd name="T30" fmla="*/ 192 w 585"/>
                  <a:gd name="T31" fmla="*/ 395 h 534"/>
                  <a:gd name="T32" fmla="*/ 515 w 585"/>
                  <a:gd name="T33" fmla="*/ 483 h 534"/>
                  <a:gd name="T34" fmla="*/ 454 w 585"/>
                  <a:gd name="T35" fmla="*/ 427 h 534"/>
                  <a:gd name="T36" fmla="*/ 425 w 585"/>
                  <a:gd name="T37" fmla="*/ 345 h 534"/>
                  <a:gd name="T38" fmla="*/ 396 w 585"/>
                  <a:gd name="T39" fmla="*/ 270 h 534"/>
                  <a:gd name="T40" fmla="*/ 460 w 585"/>
                  <a:gd name="T41" fmla="*/ 256 h 534"/>
                  <a:gd name="T42" fmla="*/ 407 w 585"/>
                  <a:gd name="T43" fmla="*/ 223 h 534"/>
                  <a:gd name="T44" fmla="*/ 439 w 585"/>
                  <a:gd name="T45" fmla="*/ 226 h 534"/>
                  <a:gd name="T46" fmla="*/ 438 w 585"/>
                  <a:gd name="T47" fmla="*/ 209 h 534"/>
                  <a:gd name="T48" fmla="*/ 376 w 585"/>
                  <a:gd name="T49" fmla="*/ 211 h 534"/>
                  <a:gd name="T50" fmla="*/ 357 w 585"/>
                  <a:gd name="T51" fmla="*/ 343 h 534"/>
                  <a:gd name="T52" fmla="*/ 347 w 585"/>
                  <a:gd name="T53" fmla="*/ 230 h 534"/>
                  <a:gd name="T54" fmla="*/ 331 w 585"/>
                  <a:gd name="T55" fmla="*/ 182 h 534"/>
                  <a:gd name="T56" fmla="*/ 347 w 585"/>
                  <a:gd name="T57" fmla="*/ 136 h 534"/>
                  <a:gd name="T58" fmla="*/ 339 w 585"/>
                  <a:gd name="T59" fmla="*/ 99 h 534"/>
                  <a:gd name="T60" fmla="*/ 331 w 585"/>
                  <a:gd name="T61" fmla="*/ 62 h 534"/>
                  <a:gd name="T62" fmla="*/ 369 w 585"/>
                  <a:gd name="T63" fmla="*/ 103 h 534"/>
                  <a:gd name="T64" fmla="*/ 415 w 585"/>
                  <a:gd name="T65" fmla="*/ 47 h 534"/>
                  <a:gd name="T66" fmla="*/ 409 w 585"/>
                  <a:gd name="T67" fmla="*/ 95 h 534"/>
                  <a:gd name="T68" fmla="*/ 401 w 585"/>
                  <a:gd name="T69" fmla="*/ 130 h 534"/>
                  <a:gd name="T70" fmla="*/ 401 w 585"/>
                  <a:gd name="T71" fmla="*/ 181 h 534"/>
                  <a:gd name="T72" fmla="*/ 558 w 585"/>
                  <a:gd name="T73" fmla="*/ 181 h 534"/>
                  <a:gd name="T74" fmla="*/ 554 w 585"/>
                  <a:gd name="T75" fmla="*/ 76 h 534"/>
                  <a:gd name="T76" fmla="*/ 249 w 585"/>
                  <a:gd name="T77" fmla="*/ 69 h 534"/>
                  <a:gd name="T78" fmla="*/ 293 w 585"/>
                  <a:gd name="T79" fmla="*/ 93 h 534"/>
                  <a:gd name="T80" fmla="*/ 171 w 585"/>
                  <a:gd name="T81" fmla="*/ 195 h 534"/>
                  <a:gd name="T82" fmla="*/ 69 w 585"/>
                  <a:gd name="T83" fmla="*/ 98 h 534"/>
                  <a:gd name="T84" fmla="*/ 191 w 585"/>
                  <a:gd name="T85" fmla="*/ 106 h 534"/>
                  <a:gd name="T86" fmla="*/ 220 w 585"/>
                  <a:gd name="T87" fmla="*/ 105 h 534"/>
                  <a:gd name="T88" fmla="*/ 302 w 585"/>
                  <a:gd name="T89" fmla="*/ 121 h 534"/>
                  <a:gd name="T90" fmla="*/ 276 w 585"/>
                  <a:gd name="T91" fmla="*/ 256 h 534"/>
                  <a:gd name="T92" fmla="*/ 260 w 585"/>
                  <a:gd name="T93" fmla="*/ 137 h 534"/>
                  <a:gd name="T94" fmla="*/ 171 w 585"/>
                  <a:gd name="T95" fmla="*/ 195 h 534"/>
                  <a:gd name="T96" fmla="*/ 223 w 585"/>
                  <a:gd name="T97" fmla="*/ 225 h 534"/>
                  <a:gd name="T98" fmla="*/ 247 w 585"/>
                  <a:gd name="T99" fmla="*/ 158 h 534"/>
                  <a:gd name="T100" fmla="*/ 326 w 585"/>
                  <a:gd name="T101" fmla="*/ 292 h 534"/>
                  <a:gd name="T102" fmla="*/ 215 w 585"/>
                  <a:gd name="T103" fmla="*/ 321 h 534"/>
                  <a:gd name="T104" fmla="*/ 309 w 585"/>
                  <a:gd name="T105" fmla="*/ 277 h 534"/>
                  <a:gd name="T106" fmla="*/ 318 w 585"/>
                  <a:gd name="T107" fmla="*/ 133 h 534"/>
                  <a:gd name="T108" fmla="*/ 313 w 585"/>
                  <a:gd name="T109" fmla="*/ 213 h 534"/>
                  <a:gd name="T110" fmla="*/ 299 w 585"/>
                  <a:gd name="T111" fmla="*/ 144 h 534"/>
                  <a:gd name="T112" fmla="*/ 507 w 585"/>
                  <a:gd name="T113" fmla="*/ 179 h 534"/>
                  <a:gd name="T114" fmla="*/ 461 w 585"/>
                  <a:gd name="T115" fmla="*/ 16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1" name="Freeform 237">
                <a:extLst>
                  <a:ext uri="{FF2B5EF4-FFF2-40B4-BE49-F238E27FC236}">
                    <a16:creationId xmlns:a16="http://schemas.microsoft.com/office/drawing/2014/main" id="{AAC9CC48-904F-9729-84A4-08A0E5C4C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40 w 47"/>
                  <a:gd name="T1" fmla="*/ 15 h 56"/>
                  <a:gd name="T2" fmla="*/ 27 w 47"/>
                  <a:gd name="T3" fmla="*/ 56 h 56"/>
                  <a:gd name="T4" fmla="*/ 40 w 47"/>
                  <a:gd name="T5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2" name="Freeform 238">
                <a:extLst>
                  <a:ext uri="{FF2B5EF4-FFF2-40B4-BE49-F238E27FC236}">
                    <a16:creationId xmlns:a16="http://schemas.microsoft.com/office/drawing/2014/main" id="{04E50DCF-8DB1-E0F2-A5C3-FD0AAEFDEA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19 w 41"/>
                  <a:gd name="T1" fmla="*/ 27 h 75"/>
                  <a:gd name="T2" fmla="*/ 12 w 41"/>
                  <a:gd name="T3" fmla="*/ 69 h 75"/>
                  <a:gd name="T4" fmla="*/ 40 w 41"/>
                  <a:gd name="T5" fmla="*/ 45 h 75"/>
                  <a:gd name="T6" fmla="*/ 37 w 41"/>
                  <a:gd name="T7" fmla="*/ 24 h 75"/>
                  <a:gd name="T8" fmla="*/ 19 w 41"/>
                  <a:gd name="T9" fmla="*/ 2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3" name="Freeform 239">
                <a:extLst>
                  <a:ext uri="{FF2B5EF4-FFF2-40B4-BE49-F238E27FC236}">
                    <a16:creationId xmlns:a16="http://schemas.microsoft.com/office/drawing/2014/main" id="{D4D85DDC-0036-42E6-DC4B-C5C95D912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112 w 135"/>
                  <a:gd name="T1" fmla="*/ 4 h 63"/>
                  <a:gd name="T2" fmla="*/ 24 w 135"/>
                  <a:gd name="T3" fmla="*/ 4 h 63"/>
                  <a:gd name="T4" fmla="*/ 2 w 135"/>
                  <a:gd name="T5" fmla="*/ 25 h 63"/>
                  <a:gd name="T6" fmla="*/ 60 w 135"/>
                  <a:gd name="T7" fmla="*/ 58 h 63"/>
                  <a:gd name="T8" fmla="*/ 96 w 135"/>
                  <a:gd name="T9" fmla="*/ 54 h 63"/>
                  <a:gd name="T10" fmla="*/ 113 w 135"/>
                  <a:gd name="T11" fmla="*/ 53 h 63"/>
                  <a:gd name="T12" fmla="*/ 112 w 135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4" name="Freeform 240">
                <a:extLst>
                  <a:ext uri="{FF2B5EF4-FFF2-40B4-BE49-F238E27FC236}">
                    <a16:creationId xmlns:a16="http://schemas.microsoft.com/office/drawing/2014/main" id="{81BB465B-237A-8E41-0CA0-0A71E33AC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67 w 97"/>
                  <a:gd name="T1" fmla="*/ 5 h 102"/>
                  <a:gd name="T2" fmla="*/ 31 w 97"/>
                  <a:gd name="T3" fmla="*/ 5 h 102"/>
                  <a:gd name="T4" fmla="*/ 12 w 97"/>
                  <a:gd name="T5" fmla="*/ 57 h 102"/>
                  <a:gd name="T6" fmla="*/ 79 w 97"/>
                  <a:gd name="T7" fmla="*/ 62 h 102"/>
                  <a:gd name="T8" fmla="*/ 67 w 97"/>
                  <a:gd name="T9" fmla="*/ 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5" name="Freeform 241">
                <a:extLst>
                  <a:ext uri="{FF2B5EF4-FFF2-40B4-BE49-F238E27FC236}">
                    <a16:creationId xmlns:a16="http://schemas.microsoft.com/office/drawing/2014/main" id="{390958F0-E0AC-A954-04C3-175C4F999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15 w 99"/>
                  <a:gd name="T1" fmla="*/ 0 h 19"/>
                  <a:gd name="T2" fmla="*/ 40 w 99"/>
                  <a:gd name="T3" fmla="*/ 15 h 19"/>
                  <a:gd name="T4" fmla="*/ 15 w 99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6" name="Freeform 242">
                <a:extLst>
                  <a:ext uri="{FF2B5EF4-FFF2-40B4-BE49-F238E27FC236}">
                    <a16:creationId xmlns:a16="http://schemas.microsoft.com/office/drawing/2014/main" id="{454538CD-FE5A-2DB0-07A4-A2127D31D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21 w 76"/>
                  <a:gd name="T1" fmla="*/ 37 h 47"/>
                  <a:gd name="T2" fmla="*/ 70 w 76"/>
                  <a:gd name="T3" fmla="*/ 17 h 47"/>
                  <a:gd name="T4" fmla="*/ 48 w 76"/>
                  <a:gd name="T5" fmla="*/ 3 h 47"/>
                  <a:gd name="T6" fmla="*/ 19 w 76"/>
                  <a:gd name="T7" fmla="*/ 32 h 47"/>
                  <a:gd name="T8" fmla="*/ 21 w 76"/>
                  <a:gd name="T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7" name="Freeform 243">
                <a:extLst>
                  <a:ext uri="{FF2B5EF4-FFF2-40B4-BE49-F238E27FC236}">
                    <a16:creationId xmlns:a16="http://schemas.microsoft.com/office/drawing/2014/main" id="{20A7360C-197B-34D7-4B47-52678FC56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72 w 82"/>
                  <a:gd name="T1" fmla="*/ 6 h 37"/>
                  <a:gd name="T2" fmla="*/ 24 w 82"/>
                  <a:gd name="T3" fmla="*/ 17 h 37"/>
                  <a:gd name="T4" fmla="*/ 17 w 82"/>
                  <a:gd name="T5" fmla="*/ 26 h 37"/>
                  <a:gd name="T6" fmla="*/ 76 w 82"/>
                  <a:gd name="T7" fmla="*/ 23 h 37"/>
                  <a:gd name="T8" fmla="*/ 82 w 82"/>
                  <a:gd name="T9" fmla="*/ 20 h 37"/>
                  <a:gd name="T10" fmla="*/ 82 w 82"/>
                  <a:gd name="T11" fmla="*/ 0 h 37"/>
                  <a:gd name="T12" fmla="*/ 72 w 82"/>
                  <a:gd name="T13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8" name="Freeform 244">
                <a:extLst>
                  <a:ext uri="{FF2B5EF4-FFF2-40B4-BE49-F238E27FC236}">
                    <a16:creationId xmlns:a16="http://schemas.microsoft.com/office/drawing/2014/main" id="{C3E0E26F-4CFD-46AF-E22E-423784F5C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21 w 138"/>
                  <a:gd name="T1" fmla="*/ 1 h 33"/>
                  <a:gd name="T2" fmla="*/ 8 w 138"/>
                  <a:gd name="T3" fmla="*/ 14 h 33"/>
                  <a:gd name="T4" fmla="*/ 57 w 138"/>
                  <a:gd name="T5" fmla="*/ 22 h 33"/>
                  <a:gd name="T6" fmla="*/ 117 w 138"/>
                  <a:gd name="T7" fmla="*/ 23 h 33"/>
                  <a:gd name="T8" fmla="*/ 114 w 138"/>
                  <a:gd name="T9" fmla="*/ 8 h 33"/>
                  <a:gd name="T10" fmla="*/ 82 w 138"/>
                  <a:gd name="T11" fmla="*/ 3 h 33"/>
                  <a:gd name="T12" fmla="*/ 21 w 138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9" name="Freeform 245">
                <a:extLst>
                  <a:ext uri="{FF2B5EF4-FFF2-40B4-BE49-F238E27FC236}">
                    <a16:creationId xmlns:a16="http://schemas.microsoft.com/office/drawing/2014/main" id="{D5629864-F17D-F477-2B75-C2000BE83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98 w 112"/>
                  <a:gd name="T1" fmla="*/ 19 h 29"/>
                  <a:gd name="T2" fmla="*/ 103 w 112"/>
                  <a:gd name="T3" fmla="*/ 4 h 29"/>
                  <a:gd name="T4" fmla="*/ 74 w 112"/>
                  <a:gd name="T5" fmla="*/ 10 h 29"/>
                  <a:gd name="T6" fmla="*/ 36 w 112"/>
                  <a:gd name="T7" fmla="*/ 6 h 29"/>
                  <a:gd name="T8" fmla="*/ 2 w 112"/>
                  <a:gd name="T9" fmla="*/ 4 h 29"/>
                  <a:gd name="T10" fmla="*/ 98 w 112"/>
                  <a:gd name="T11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0" name="Freeform 246">
                <a:extLst>
                  <a:ext uri="{FF2B5EF4-FFF2-40B4-BE49-F238E27FC236}">
                    <a16:creationId xmlns:a16="http://schemas.microsoft.com/office/drawing/2014/main" id="{2BF363F8-2FFE-160E-487A-04D45FEB85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3 w 115"/>
                  <a:gd name="T1" fmla="*/ 53 h 95"/>
                  <a:gd name="T2" fmla="*/ 26 w 115"/>
                  <a:gd name="T3" fmla="*/ 54 h 95"/>
                  <a:gd name="T4" fmla="*/ 50 w 115"/>
                  <a:gd name="T5" fmla="*/ 77 h 95"/>
                  <a:gd name="T6" fmla="*/ 59 w 115"/>
                  <a:gd name="T7" fmla="*/ 84 h 95"/>
                  <a:gd name="T8" fmla="*/ 81 w 115"/>
                  <a:gd name="T9" fmla="*/ 52 h 95"/>
                  <a:gd name="T10" fmla="*/ 111 w 115"/>
                  <a:gd name="T11" fmla="*/ 52 h 95"/>
                  <a:gd name="T12" fmla="*/ 79 w 115"/>
                  <a:gd name="T13" fmla="*/ 27 h 95"/>
                  <a:gd name="T14" fmla="*/ 37 w 115"/>
                  <a:gd name="T15" fmla="*/ 16 h 95"/>
                  <a:gd name="T16" fmla="*/ 12 w 115"/>
                  <a:gd name="T17" fmla="*/ 41 h 95"/>
                  <a:gd name="T18" fmla="*/ 3 w 115"/>
                  <a:gd name="T19" fmla="*/ 5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1" name="Freeform 247">
                <a:extLst>
                  <a:ext uri="{FF2B5EF4-FFF2-40B4-BE49-F238E27FC236}">
                    <a16:creationId xmlns:a16="http://schemas.microsoft.com/office/drawing/2014/main" id="{145620F9-15DE-664D-81D5-982581BB8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51 w 65"/>
                  <a:gd name="T1" fmla="*/ 40 h 169"/>
                  <a:gd name="T2" fmla="*/ 22 w 65"/>
                  <a:gd name="T3" fmla="*/ 49 h 169"/>
                  <a:gd name="T4" fmla="*/ 22 w 65"/>
                  <a:gd name="T5" fmla="*/ 59 h 169"/>
                  <a:gd name="T6" fmla="*/ 50 w 65"/>
                  <a:gd name="T7" fmla="*/ 90 h 169"/>
                  <a:gd name="T8" fmla="*/ 34 w 65"/>
                  <a:gd name="T9" fmla="*/ 118 h 169"/>
                  <a:gd name="T10" fmla="*/ 0 w 65"/>
                  <a:gd name="T11" fmla="*/ 148 h 169"/>
                  <a:gd name="T12" fmla="*/ 17 w 65"/>
                  <a:gd name="T13" fmla="*/ 155 h 169"/>
                  <a:gd name="T14" fmla="*/ 47 w 65"/>
                  <a:gd name="T15" fmla="*/ 166 h 169"/>
                  <a:gd name="T16" fmla="*/ 63 w 65"/>
                  <a:gd name="T17" fmla="*/ 162 h 169"/>
                  <a:gd name="T18" fmla="*/ 65 w 65"/>
                  <a:gd name="T19" fmla="*/ 0 h 169"/>
                  <a:gd name="T20" fmla="*/ 51 w 65"/>
                  <a:gd name="T21" fmla="*/ 4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352" name="Rectangle 248">
            <a:extLst>
              <a:ext uri="{FF2B5EF4-FFF2-40B4-BE49-F238E27FC236}">
                <a16:creationId xmlns:a16="http://schemas.microsoft.com/office/drawing/2014/main" id="{F037FFDC-C9E7-0C6D-54C0-D7C3994D1BB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98450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5353" name="Rectangle 249">
            <a:extLst>
              <a:ext uri="{FF2B5EF4-FFF2-40B4-BE49-F238E27FC236}">
                <a16:creationId xmlns:a16="http://schemas.microsoft.com/office/drawing/2014/main" id="{EF5AFB60-A59D-5E97-FC33-3299BB539236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5354" name="Rectangle 250">
            <a:extLst>
              <a:ext uri="{FF2B5EF4-FFF2-40B4-BE49-F238E27FC236}">
                <a16:creationId xmlns:a16="http://schemas.microsoft.com/office/drawing/2014/main" id="{1FCEBBA3-B22D-B3C8-37A4-0EAAD5D0E74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845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zh-CN"/>
          </a:p>
        </p:txBody>
      </p:sp>
      <p:sp>
        <p:nvSpPr>
          <p:cNvPr id="175355" name="Rectangle 251">
            <a:extLst>
              <a:ext uri="{FF2B5EF4-FFF2-40B4-BE49-F238E27FC236}">
                <a16:creationId xmlns:a16="http://schemas.microsoft.com/office/drawing/2014/main" id="{C4028CE8-EA70-68F7-0968-B4F7F68CACB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1025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75356" name="Rectangle 252">
            <a:extLst>
              <a:ext uri="{FF2B5EF4-FFF2-40B4-BE49-F238E27FC236}">
                <a16:creationId xmlns:a16="http://schemas.microsoft.com/office/drawing/2014/main" id="{5A20460D-5F36-6019-F444-3ADD692062E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00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A05CBCD-13D0-4DCE-B184-E2E5612BB63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ransition>
    <p:blinds dir="vert"/>
  </p:transition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nsxuxx@zsu.edu.c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7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5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6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7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9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4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image" Target="../media/image41.wmf"/><Relationship Id="rId7" Type="http://schemas.openxmlformats.org/officeDocument/2006/relationships/image" Target="../media/image37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3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41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45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image" Target="../media/image46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48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47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52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54.wmf"/><Relationship Id="rId3" Type="http://schemas.openxmlformats.org/officeDocument/2006/relationships/image" Target="../media/image46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66.bin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48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47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56.wmf"/><Relationship Id="rId18" Type="http://schemas.openxmlformats.org/officeDocument/2006/relationships/image" Target="../media/image58.wmf"/><Relationship Id="rId3" Type="http://schemas.openxmlformats.org/officeDocument/2006/relationships/image" Target="../media/image37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72.bin"/><Relationship Id="rId17" Type="http://schemas.openxmlformats.org/officeDocument/2006/relationships/oleObject" Target="../embeddings/oleObject75.bin"/><Relationship Id="rId2" Type="http://schemas.openxmlformats.org/officeDocument/2006/relationships/oleObject" Target="../embeddings/oleObject67.bin"/><Relationship Id="rId16" Type="http://schemas.openxmlformats.org/officeDocument/2006/relationships/image" Target="../media/image5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55.wmf"/><Relationship Id="rId5" Type="http://schemas.openxmlformats.org/officeDocument/2006/relationships/image" Target="../media/image43.wmf"/><Relationship Id="rId15" Type="http://schemas.openxmlformats.org/officeDocument/2006/relationships/oleObject" Target="../embeddings/oleObject74.bin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73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image" Target="../media/image37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81.bin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5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48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83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7EEAFE8-81CA-875D-BAD3-60F5D45AD07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533400"/>
            <a:ext cx="8540750" cy="1816100"/>
          </a:xfrm>
        </p:spPr>
        <p:txBody>
          <a:bodyPr/>
          <a:lstStyle/>
          <a:p>
            <a:r>
              <a:rPr lang="zh-CN" altLang="en-US" sz="4800" b="1">
                <a:solidFill>
                  <a:srgbClr val="CC0000"/>
                </a:solidFill>
              </a:rPr>
              <a:t>中级宏观经济学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E12A793-23DD-395F-7689-43E10AE94EA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438400" y="3979863"/>
            <a:ext cx="4648200" cy="17351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徐现祥</a:t>
            </a: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  <a:hlinkClick r:id="rId2"/>
              </a:rPr>
              <a:t>Lnsxuxx@zsu.edu.cn</a:t>
            </a: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84112173(O)</a:t>
            </a:r>
          </a:p>
          <a:p>
            <a:pPr>
              <a:lnSpc>
                <a:spcPct val="80000"/>
              </a:lnSpc>
            </a:pP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>
            <a:extLst>
              <a:ext uri="{FF2B5EF4-FFF2-40B4-BE49-F238E27FC236}">
                <a16:creationId xmlns:a16="http://schemas.microsoft.com/office/drawing/2014/main" id="{D224050C-34BA-61B8-7A8B-A0739699B80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课程简介</a:t>
            </a:r>
          </a:p>
        </p:txBody>
      </p:sp>
      <p:sp>
        <p:nvSpPr>
          <p:cNvPr id="405507" name="Rectangle 3">
            <a:extLst>
              <a:ext uri="{FF2B5EF4-FFF2-40B4-BE49-F238E27FC236}">
                <a16:creationId xmlns:a16="http://schemas.microsoft.com/office/drawing/2014/main" id="{4EA1086A-7980-2379-9AED-6279358B2BD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52450" y="1657350"/>
            <a:ext cx="7905750" cy="4732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3600" b="1"/>
              <a:t>序论：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宏观经济现象、国民经济核算和总供给总需求模型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总供给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经济增长、经济波动和总供给曲线的推导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总需求 </a:t>
            </a:r>
          </a:p>
          <a:p>
            <a:pPr lvl="1">
              <a:lnSpc>
                <a:spcPct val="90000"/>
              </a:lnSpc>
            </a:pPr>
            <a:r>
              <a:rPr lang="en-US" altLang="zh-CN" b="1"/>
              <a:t>IS-LM</a:t>
            </a:r>
            <a:r>
              <a:rPr lang="zh-CN" altLang="en-US" b="1"/>
              <a:t>模型、微观基础和总需求曲线的推导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宏观经济管理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目标、政策和绩效</a:t>
            </a:r>
          </a:p>
        </p:txBody>
      </p:sp>
      <p:sp>
        <p:nvSpPr>
          <p:cNvPr id="405508" name="Oval 4">
            <a:extLst>
              <a:ext uri="{FF2B5EF4-FFF2-40B4-BE49-F238E27FC236}">
                <a16:creationId xmlns:a16="http://schemas.microsoft.com/office/drawing/2014/main" id="{4F9E2770-0BE1-0211-1A55-2C4CAF0D3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724400"/>
            <a:ext cx="2232025" cy="576263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zh-CN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05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05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0" fill="hold"/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7" grpId="0" build="p" autoUpdateAnimBg="0"/>
      <p:bldP spid="405508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74B5AAC8-B806-3A7F-BD0A-9BCE7A04AC0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主要内容</a:t>
            </a:r>
          </a:p>
        </p:txBody>
      </p:sp>
      <p:sp>
        <p:nvSpPr>
          <p:cNvPr id="221189" name="Rectangle 5">
            <a:extLst>
              <a:ext uri="{FF2B5EF4-FFF2-40B4-BE49-F238E27FC236}">
                <a16:creationId xmlns:a16="http://schemas.microsoft.com/office/drawing/2014/main" id="{0B1829DE-757B-6B76-BC76-584638062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1190" name="Rectangle 6">
            <a:extLst>
              <a:ext uri="{FF2B5EF4-FFF2-40B4-BE49-F238E27FC236}">
                <a16:creationId xmlns:a16="http://schemas.microsoft.com/office/drawing/2014/main" id="{2CC0D21E-AF03-58B2-CE86-259B19F1502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0" y="1676400"/>
            <a:ext cx="54864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凯恩斯的收入决定模型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IS</a:t>
            </a:r>
            <a:r>
              <a:rPr lang="zh-CN" altLang="en-US" sz="3200" b="1"/>
              <a:t>曲线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LM</a:t>
            </a:r>
            <a:r>
              <a:rPr lang="zh-CN" altLang="en-US" sz="3200" b="1"/>
              <a:t>曲线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IS</a:t>
            </a:r>
            <a:r>
              <a:rPr lang="zh-CN" altLang="en-US" sz="3200" b="1"/>
              <a:t>－</a:t>
            </a:r>
            <a:r>
              <a:rPr lang="en-US" altLang="zh-CN" sz="3200" b="1"/>
              <a:t>LM</a:t>
            </a:r>
            <a:r>
              <a:rPr lang="zh-CN" altLang="en-US" sz="3200" b="1"/>
              <a:t>模型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总需求曲线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对应章节：第九、十章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autoUpdateAnimBg="0"/>
      <p:bldP spid="22119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877F06D2-520C-439C-FAE3-653EF9688BF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0.1 </a:t>
            </a:r>
            <a:r>
              <a:rPr lang="zh-CN" altLang="en-US" b="1">
                <a:solidFill>
                  <a:srgbClr val="CC0000"/>
                </a:solidFill>
              </a:rPr>
              <a:t>凯恩斯革命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ECD19DB5-2FBB-4233-D48E-706F1AED8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5702" name="Rectangle 6">
            <a:extLst>
              <a:ext uri="{FF2B5EF4-FFF2-40B4-BE49-F238E27FC236}">
                <a16:creationId xmlns:a16="http://schemas.microsoft.com/office/drawing/2014/main" id="{08587DB9-BF7B-A54D-A48F-06EDB191BF7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" y="1524000"/>
            <a:ext cx="4876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John Maynard Keynes, 1883-1946</a:t>
            </a:r>
            <a:endParaRPr lang="en-US" altLang="zh-CN" sz="2000" b="1"/>
          </a:p>
        </p:txBody>
      </p:sp>
      <p:graphicFrame>
        <p:nvGraphicFramePr>
          <p:cNvPr id="285730" name="Object 34">
            <a:extLst>
              <a:ext uri="{FF2B5EF4-FFF2-40B4-BE49-F238E27FC236}">
                <a16:creationId xmlns:a16="http://schemas.microsoft.com/office/drawing/2014/main" id="{9747A056-0021-B748-C091-EE4E15EC13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1150" y="1676400"/>
          <a:ext cx="3752850" cy="500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3753374" imgH="5001323" progId="Paint.Picture">
                  <p:embed/>
                </p:oleObj>
              </mc:Choice>
              <mc:Fallback>
                <p:oleObj name="位图图像" r:id="rId2" imgW="3753374" imgH="5001323" progId="Paint.Picture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1676400"/>
                        <a:ext cx="3752850" cy="500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31" name="Rectangle 35">
            <a:extLst>
              <a:ext uri="{FF2B5EF4-FFF2-40B4-BE49-F238E27FC236}">
                <a16:creationId xmlns:a16="http://schemas.microsoft.com/office/drawing/2014/main" id="{45CEDA63-5AF9-7DA4-8A58-002B5885D9A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" y="2819400"/>
            <a:ext cx="4953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凯恩斯革命：</a:t>
            </a:r>
            <a:r>
              <a:rPr lang="en-US" altLang="zh-CN" sz="3200" b="1"/>
              <a:t>The General Theory of Employment, Interest and Money (1936). 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宏观经济学的产生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政府的作用发生质的变化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经济学界分化：年轻的追之；年老的谴之！</a:t>
            </a:r>
            <a:endParaRPr lang="zh-CN" altLang="en-US" sz="2000" b="1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8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8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8" grpId="0" autoUpdateAnimBg="0"/>
      <p:bldP spid="285702" grpId="0" autoUpdateAnimBg="0"/>
      <p:bldP spid="28573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DF5C5A3A-05FB-5A4B-D8AF-EF73118B602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0.2 </a:t>
            </a:r>
            <a:r>
              <a:rPr lang="zh-CN" altLang="en-US" b="1">
                <a:solidFill>
                  <a:srgbClr val="CC0000"/>
                </a:solidFill>
              </a:rPr>
              <a:t>凯恩斯革命－通论的模型化</a:t>
            </a: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AAE15CC3-E830-21B4-A553-B23C1319E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2500" name="Rectangle 4">
            <a:extLst>
              <a:ext uri="{FF2B5EF4-FFF2-40B4-BE49-F238E27FC236}">
                <a16:creationId xmlns:a16="http://schemas.microsoft.com/office/drawing/2014/main" id="{0B6AE7BC-B494-57F9-49E8-66DC8BF78FF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" y="1524000"/>
            <a:ext cx="6934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《</a:t>
            </a:r>
            <a:r>
              <a:rPr lang="zh-CN" altLang="en-US" sz="3200" b="1"/>
              <a:t>通论</a:t>
            </a:r>
            <a:r>
              <a:rPr lang="en-US" altLang="zh-CN" sz="3200" b="1"/>
              <a:t>》</a:t>
            </a:r>
            <a:r>
              <a:rPr lang="zh-CN" altLang="en-US" sz="3200" b="1"/>
              <a:t>的模型化：</a:t>
            </a:r>
            <a:r>
              <a:rPr lang="en-US" altLang="zh-CN" sz="3200" b="1"/>
              <a:t>IS</a:t>
            </a:r>
            <a:r>
              <a:rPr lang="zh-CN" altLang="en-US" sz="3200" b="1"/>
              <a:t>－</a:t>
            </a:r>
            <a:r>
              <a:rPr lang="en-US" altLang="zh-CN" sz="3200" b="1"/>
              <a:t>LM</a:t>
            </a:r>
            <a:r>
              <a:rPr lang="zh-CN" altLang="en-US" sz="3200" b="1"/>
              <a:t>模型</a:t>
            </a:r>
            <a:endParaRPr lang="zh-CN" altLang="en-US" sz="2000" b="1"/>
          </a:p>
        </p:txBody>
      </p:sp>
      <p:sp>
        <p:nvSpPr>
          <p:cNvPr id="362502" name="Rectangle 6">
            <a:extLst>
              <a:ext uri="{FF2B5EF4-FFF2-40B4-BE49-F238E27FC236}">
                <a16:creationId xmlns:a16="http://schemas.microsoft.com/office/drawing/2014/main" id="{4CB4561D-436F-CB6E-0F2B-8FA6FF9482A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" y="2971800"/>
            <a:ext cx="53340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John R. Hicks, 1904-89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endParaRPr lang="en-US" altLang="zh-CN" sz="3200" b="1"/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在其</a:t>
            </a:r>
            <a:r>
              <a:rPr lang="en-US" altLang="zh-CN" sz="2800" b="1"/>
              <a:t>1937</a:t>
            </a:r>
            <a:r>
              <a:rPr lang="zh-CN" altLang="en-US" sz="2800" b="1"/>
              <a:t>年的一篇论文</a:t>
            </a:r>
            <a:r>
              <a:rPr lang="en-US" altLang="zh-CN" sz="2800" b="1"/>
              <a:t>《Mr. Keynes and the Classics</a:t>
            </a:r>
            <a:r>
              <a:rPr lang="zh-CN" altLang="en-US" sz="2800" b="1"/>
              <a:t>：</a:t>
            </a:r>
            <a:r>
              <a:rPr lang="en-US" altLang="zh-CN" sz="2800" b="1"/>
              <a:t>: A suggested interpretation》</a:t>
            </a:r>
            <a:r>
              <a:rPr lang="zh-CN" altLang="en-US" sz="2800" b="1"/>
              <a:t>中提出了</a:t>
            </a:r>
            <a:r>
              <a:rPr lang="en-US" altLang="zh-CN" sz="2800" b="1"/>
              <a:t>ISLM</a:t>
            </a:r>
            <a:r>
              <a:rPr lang="zh-CN" altLang="en-US" sz="2800" b="1"/>
              <a:t>分析框架</a:t>
            </a:r>
          </a:p>
        </p:txBody>
      </p:sp>
      <p:pic>
        <p:nvPicPr>
          <p:cNvPr id="362510" name="Picture 14">
            <a:extLst>
              <a:ext uri="{FF2B5EF4-FFF2-40B4-BE49-F238E27FC236}">
                <a16:creationId xmlns:a16="http://schemas.microsoft.com/office/drawing/2014/main" id="{27C141C1-6670-8E93-E032-8177E43B7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644775"/>
            <a:ext cx="2816225" cy="398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6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8" grpId="0" autoUpdateAnimBg="0"/>
      <p:bldP spid="362500" grpId="0" autoUpdateAnimBg="0"/>
      <p:bldP spid="36250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>
            <a:extLst>
              <a:ext uri="{FF2B5EF4-FFF2-40B4-BE49-F238E27FC236}">
                <a16:creationId xmlns:a16="http://schemas.microsoft.com/office/drawing/2014/main" id="{C01AC15C-B369-D990-EE95-4D38ED68212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0.2 </a:t>
            </a:r>
            <a:r>
              <a:rPr lang="zh-CN" altLang="en-US" b="1">
                <a:solidFill>
                  <a:srgbClr val="CC0000"/>
                </a:solidFill>
              </a:rPr>
              <a:t>凯恩斯革命－通论的模型化</a:t>
            </a:r>
          </a:p>
        </p:txBody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13C969A9-5C22-AA65-966E-B1A61520B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3524" name="Rectangle 4">
            <a:extLst>
              <a:ext uri="{FF2B5EF4-FFF2-40B4-BE49-F238E27FC236}">
                <a16:creationId xmlns:a16="http://schemas.microsoft.com/office/drawing/2014/main" id="{05DFAE4B-B632-3D9A-7EC0-28706A9C958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1524000"/>
            <a:ext cx="6934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《</a:t>
            </a:r>
            <a:r>
              <a:rPr lang="zh-CN" altLang="en-US" sz="3200" b="1"/>
              <a:t>通论</a:t>
            </a:r>
            <a:r>
              <a:rPr lang="en-US" altLang="zh-CN" sz="3200" b="1"/>
              <a:t>》</a:t>
            </a:r>
            <a:r>
              <a:rPr lang="zh-CN" altLang="en-US" sz="3200" b="1"/>
              <a:t>的模型化：</a:t>
            </a:r>
            <a:r>
              <a:rPr lang="en-US" altLang="zh-CN" sz="3200" b="1"/>
              <a:t>IS</a:t>
            </a:r>
            <a:r>
              <a:rPr lang="zh-CN" altLang="en-US" sz="3200" b="1"/>
              <a:t>－</a:t>
            </a:r>
            <a:r>
              <a:rPr lang="en-US" altLang="zh-CN" sz="3200" b="1"/>
              <a:t>LM</a:t>
            </a:r>
            <a:r>
              <a:rPr lang="zh-CN" altLang="en-US" sz="3200" b="1"/>
              <a:t>模型</a:t>
            </a:r>
            <a:endParaRPr lang="zh-CN" altLang="en-US" sz="2000" b="1"/>
          </a:p>
        </p:txBody>
      </p:sp>
      <p:sp>
        <p:nvSpPr>
          <p:cNvPr id="363525" name="Rectangle 5">
            <a:extLst>
              <a:ext uri="{FF2B5EF4-FFF2-40B4-BE49-F238E27FC236}">
                <a16:creationId xmlns:a16="http://schemas.microsoft.com/office/drawing/2014/main" id="{D9294A02-C71C-E590-5082-F83A2E99DB7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2819400"/>
            <a:ext cx="55626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Alvin H. Hansen, </a:t>
            </a:r>
            <a:r>
              <a:rPr lang="en-US" altLang="zh-CN" sz="2000" b="1"/>
              <a:t>1887-1975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美国的凯恩斯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 i="1"/>
              <a:t>在</a:t>
            </a:r>
            <a:r>
              <a:rPr lang="en-US" altLang="zh-CN" sz="2800" b="1" i="1"/>
              <a:t>《Monetary Theory and Fiscal Policy</a:t>
            </a:r>
            <a:r>
              <a:rPr lang="en-US" altLang="zh-CN" sz="2800" b="1"/>
              <a:t>》</a:t>
            </a:r>
            <a:r>
              <a:rPr lang="zh-CN" altLang="en-US" sz="2800" b="1"/>
              <a:t>（</a:t>
            </a:r>
            <a:r>
              <a:rPr lang="en-US" altLang="zh-CN" sz="2800" b="1"/>
              <a:t>1949</a:t>
            </a:r>
            <a:r>
              <a:rPr lang="zh-CN" altLang="en-US" sz="2800" b="1"/>
              <a:t>）和 </a:t>
            </a:r>
            <a:r>
              <a:rPr lang="en-US" altLang="zh-CN" sz="2800" b="1"/>
              <a:t>《</a:t>
            </a:r>
            <a:r>
              <a:rPr lang="en-US" altLang="zh-CN" sz="2800" b="1" i="1"/>
              <a:t>A Guide to Keynes</a:t>
            </a:r>
            <a:r>
              <a:rPr lang="en-US" altLang="zh-CN" sz="2800" b="1"/>
              <a:t>》</a:t>
            </a:r>
            <a:r>
              <a:rPr lang="zh-CN" altLang="en-US" sz="2800" b="1"/>
              <a:t>（</a:t>
            </a:r>
            <a:r>
              <a:rPr lang="en-US" altLang="zh-CN" sz="2800" b="1"/>
              <a:t>1953</a:t>
            </a:r>
            <a:r>
              <a:rPr lang="zh-CN" altLang="en-US" sz="2800" b="1"/>
              <a:t>）给出了现在的</a:t>
            </a:r>
            <a:r>
              <a:rPr lang="en-US" altLang="zh-CN" sz="2800" b="1"/>
              <a:t>ISLM</a:t>
            </a:r>
            <a:r>
              <a:rPr lang="zh-CN" altLang="en-US" sz="2800" b="1"/>
              <a:t>模型</a:t>
            </a:r>
          </a:p>
        </p:txBody>
      </p:sp>
      <p:pic>
        <p:nvPicPr>
          <p:cNvPr id="363527" name="Picture 7">
            <a:extLst>
              <a:ext uri="{FF2B5EF4-FFF2-40B4-BE49-F238E27FC236}">
                <a16:creationId xmlns:a16="http://schemas.microsoft.com/office/drawing/2014/main" id="{2349C165-9495-6427-B411-50CCE43D0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784475"/>
            <a:ext cx="2466975" cy="331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3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6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2" grpId="0" autoUpdateAnimBg="0"/>
      <p:bldP spid="363524" grpId="0" autoUpdateAnimBg="0"/>
      <p:bldP spid="36352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>
            <a:extLst>
              <a:ext uri="{FF2B5EF4-FFF2-40B4-BE49-F238E27FC236}">
                <a16:creationId xmlns:a16="http://schemas.microsoft.com/office/drawing/2014/main" id="{D8FD5250-CD85-BDA5-4377-A162FAED4ED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0.3 </a:t>
            </a:r>
            <a:r>
              <a:rPr lang="zh-CN" altLang="en-US" b="1">
                <a:solidFill>
                  <a:srgbClr val="CC0000"/>
                </a:solidFill>
              </a:rPr>
              <a:t>凯恩斯革命－模型化的损失</a:t>
            </a:r>
          </a:p>
        </p:txBody>
      </p:sp>
      <p:sp>
        <p:nvSpPr>
          <p:cNvPr id="375811" name="Rectangle 3">
            <a:extLst>
              <a:ext uri="{FF2B5EF4-FFF2-40B4-BE49-F238E27FC236}">
                <a16:creationId xmlns:a16="http://schemas.microsoft.com/office/drawing/2014/main" id="{3A4403C9-3DC6-0A52-7B4B-1A8CF8909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5812" name="Rectangle 4">
            <a:extLst>
              <a:ext uri="{FF2B5EF4-FFF2-40B4-BE49-F238E27FC236}">
                <a16:creationId xmlns:a16="http://schemas.microsoft.com/office/drawing/2014/main" id="{C380DBFF-7703-C818-5CF1-FB44FE650BE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1524000"/>
            <a:ext cx="6934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IS</a:t>
            </a:r>
            <a:r>
              <a:rPr lang="zh-CN" altLang="en-US" sz="3200" b="1"/>
              <a:t>－</a:t>
            </a:r>
            <a:r>
              <a:rPr lang="en-US" altLang="zh-CN" sz="3200" b="1"/>
              <a:t>LM</a:t>
            </a:r>
            <a:r>
              <a:rPr lang="zh-CN" altLang="en-US" sz="3200" b="1"/>
              <a:t>模型抽象掉了时间因素</a:t>
            </a:r>
            <a:endParaRPr lang="zh-CN" altLang="en-US" sz="2000" b="1"/>
          </a:p>
        </p:txBody>
      </p:sp>
      <p:sp>
        <p:nvSpPr>
          <p:cNvPr id="375813" name="Rectangle 5">
            <a:extLst>
              <a:ext uri="{FF2B5EF4-FFF2-40B4-BE49-F238E27FC236}">
                <a16:creationId xmlns:a16="http://schemas.microsoft.com/office/drawing/2014/main" id="{8E1919C8-EBFC-B0FF-78DF-0708478024A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2819400"/>
            <a:ext cx="80010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《</a:t>
            </a:r>
            <a:r>
              <a:rPr lang="zh-CN" altLang="en-US" sz="3200" b="1"/>
              <a:t>通论</a:t>
            </a:r>
            <a:r>
              <a:rPr lang="en-US" altLang="zh-CN" sz="3200" b="1"/>
              <a:t>》</a:t>
            </a:r>
            <a:r>
              <a:rPr lang="zh-CN" altLang="en-US" sz="3200" b="1"/>
              <a:t>中的基本概念也随之被忽视了</a:t>
            </a:r>
          </a:p>
          <a:p>
            <a:pPr lvl="2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uncertainty, </a:t>
            </a:r>
          </a:p>
          <a:p>
            <a:pPr lvl="2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expectations, </a:t>
            </a:r>
          </a:p>
          <a:p>
            <a:pPr lvl="2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speculation </a:t>
            </a:r>
          </a:p>
          <a:p>
            <a:pPr lvl="2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3200" b="1"/>
              <a:t> animal spirits</a:t>
            </a:r>
            <a:endParaRPr lang="en-US" altLang="zh-CN" sz="2800" b="1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7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0" grpId="0" autoUpdateAnimBg="0"/>
      <p:bldP spid="375812" grpId="0" autoUpdateAnimBg="0"/>
      <p:bldP spid="37581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>
            <a:extLst>
              <a:ext uri="{FF2B5EF4-FFF2-40B4-BE49-F238E27FC236}">
                <a16:creationId xmlns:a16="http://schemas.microsoft.com/office/drawing/2014/main" id="{AD1D8877-9F37-8B49-DDD3-7173B34EB89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1.1</a:t>
            </a:r>
            <a:r>
              <a:rPr lang="zh-CN" altLang="en-US" b="1"/>
              <a:t>、收入支出分析</a:t>
            </a:r>
            <a:r>
              <a:rPr lang="en-US" altLang="zh-CN" b="1"/>
              <a:t>_</a:t>
            </a:r>
            <a:r>
              <a:rPr lang="zh-CN" altLang="en-US" b="1"/>
              <a:t>基本假定</a:t>
            </a:r>
          </a:p>
        </p:txBody>
      </p:sp>
      <p:sp>
        <p:nvSpPr>
          <p:cNvPr id="364547" name="Rectangle 3">
            <a:extLst>
              <a:ext uri="{FF2B5EF4-FFF2-40B4-BE49-F238E27FC236}">
                <a16:creationId xmlns:a16="http://schemas.microsoft.com/office/drawing/2014/main" id="{8392AA25-F668-7AFF-FCE5-485347009441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1657350"/>
            <a:ext cx="7772400" cy="647700"/>
          </a:xfrm>
        </p:spPr>
        <p:txBody>
          <a:bodyPr/>
          <a:lstStyle/>
          <a:p>
            <a:r>
              <a:rPr lang="zh-CN" altLang="en-US" b="1"/>
              <a:t>一种最简的情形</a:t>
            </a:r>
          </a:p>
        </p:txBody>
      </p:sp>
      <p:sp>
        <p:nvSpPr>
          <p:cNvPr id="364548" name="Rectangle 4">
            <a:extLst>
              <a:ext uri="{FF2B5EF4-FFF2-40B4-BE49-F238E27FC236}">
                <a16:creationId xmlns:a16="http://schemas.microsoft.com/office/drawing/2014/main" id="{0018BA27-3FF2-4888-286E-3079682CB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2476500"/>
            <a:ext cx="77724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b="1"/>
              <a:t>生产能够过剩，产出完全由总需求决定</a:t>
            </a:r>
          </a:p>
        </p:txBody>
      </p:sp>
      <p:sp>
        <p:nvSpPr>
          <p:cNvPr id="364549" name="Rectangle 5">
            <a:extLst>
              <a:ext uri="{FF2B5EF4-FFF2-40B4-BE49-F238E27FC236}">
                <a16:creationId xmlns:a16="http://schemas.microsoft.com/office/drawing/2014/main" id="{9594EEF8-B72B-68F8-5325-446E90621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3295650"/>
            <a:ext cx="824865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b="1"/>
              <a:t>总需求＝居民消费</a:t>
            </a:r>
            <a:r>
              <a:rPr lang="en-US" altLang="zh-CN" b="1"/>
              <a:t>+</a:t>
            </a:r>
            <a:r>
              <a:rPr lang="zh-CN" altLang="en-US" b="1"/>
              <a:t>投资</a:t>
            </a:r>
            <a:r>
              <a:rPr lang="en-US" altLang="zh-CN" b="1"/>
              <a:t>+</a:t>
            </a:r>
            <a:r>
              <a:rPr lang="zh-CN" altLang="en-US" b="1"/>
              <a:t>政府支出</a:t>
            </a:r>
            <a:r>
              <a:rPr lang="en-US" altLang="zh-CN" b="1"/>
              <a:t>+</a:t>
            </a:r>
            <a:r>
              <a:rPr lang="zh-CN" altLang="en-US" b="1"/>
              <a:t>净出口</a:t>
            </a:r>
          </a:p>
        </p:txBody>
      </p:sp>
      <p:sp>
        <p:nvSpPr>
          <p:cNvPr id="364550" name="Rectangle 6">
            <a:extLst>
              <a:ext uri="{FF2B5EF4-FFF2-40B4-BE49-F238E27FC236}">
                <a16:creationId xmlns:a16="http://schemas.microsoft.com/office/drawing/2014/main" id="{3D129C7D-B648-7EEA-B61D-52D85637A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133850"/>
            <a:ext cx="77724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b="1"/>
              <a:t>投资、政府支出和净出口是常数</a:t>
            </a:r>
          </a:p>
        </p:txBody>
      </p:sp>
      <p:sp>
        <p:nvSpPr>
          <p:cNvPr id="364551" name="Rectangle 7">
            <a:extLst>
              <a:ext uri="{FF2B5EF4-FFF2-40B4-BE49-F238E27FC236}">
                <a16:creationId xmlns:a16="http://schemas.microsoft.com/office/drawing/2014/main" id="{425688D4-DDBC-78CF-EC54-365C0AED0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933950"/>
            <a:ext cx="77724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b="1"/>
              <a:t>消费的决定也是最简单的形式</a:t>
            </a:r>
            <a:r>
              <a:rPr lang="zh-CN" altLang="en-US"/>
              <a:t> 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4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4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64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64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8" grpId="0" build="p" autoUpdateAnimBg="0"/>
      <p:bldP spid="364549" grpId="0" build="p" autoUpdateAnimBg="0"/>
      <p:bldP spid="364550" grpId="0" build="p" autoUpdateAnimBg="0"/>
      <p:bldP spid="36455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>
            <a:extLst>
              <a:ext uri="{FF2B5EF4-FFF2-40B4-BE49-F238E27FC236}">
                <a16:creationId xmlns:a16="http://schemas.microsoft.com/office/drawing/2014/main" id="{E28915B2-7BE4-9E51-5C74-E4F171966FE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1.2</a:t>
            </a:r>
            <a:r>
              <a:rPr lang="zh-CN" altLang="en-US" b="1"/>
              <a:t>、收入支出分析</a:t>
            </a:r>
            <a:r>
              <a:rPr lang="en-US" altLang="zh-CN" b="1"/>
              <a:t>_</a:t>
            </a:r>
            <a:r>
              <a:rPr lang="zh-CN" altLang="en-US" b="1"/>
              <a:t>基本</a:t>
            </a:r>
            <a:r>
              <a:rPr lang="zh-CN" altLang="en-US"/>
              <a:t>框架</a:t>
            </a:r>
          </a:p>
        </p:txBody>
      </p:sp>
      <p:sp>
        <p:nvSpPr>
          <p:cNvPr id="365571" name="Rectangle 3">
            <a:extLst>
              <a:ext uri="{FF2B5EF4-FFF2-40B4-BE49-F238E27FC236}">
                <a16:creationId xmlns:a16="http://schemas.microsoft.com/office/drawing/2014/main" id="{CBA7A814-A841-2257-280A-C383ED572A0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1657350"/>
            <a:ext cx="7772400" cy="647700"/>
          </a:xfrm>
        </p:spPr>
        <p:txBody>
          <a:bodyPr/>
          <a:lstStyle/>
          <a:p>
            <a:r>
              <a:rPr lang="zh-CN" altLang="en-US" b="1"/>
              <a:t>一个新名词：总支出曲线</a:t>
            </a:r>
          </a:p>
        </p:txBody>
      </p:sp>
      <p:sp>
        <p:nvSpPr>
          <p:cNvPr id="365572" name="Rectangle 4">
            <a:extLst>
              <a:ext uri="{FF2B5EF4-FFF2-40B4-BE49-F238E27FC236}">
                <a16:creationId xmlns:a16="http://schemas.microsoft.com/office/drawing/2014/main" id="{12496F9D-DF52-BA83-C620-171564E3E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2343150"/>
            <a:ext cx="77724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b="1"/>
              <a:t>当价格一定时，总支出与国民收入的关系</a:t>
            </a:r>
          </a:p>
        </p:txBody>
      </p:sp>
      <p:sp>
        <p:nvSpPr>
          <p:cNvPr id="365573" name="Rectangle 5">
            <a:extLst>
              <a:ext uri="{FF2B5EF4-FFF2-40B4-BE49-F238E27FC236}">
                <a16:creationId xmlns:a16="http://schemas.microsoft.com/office/drawing/2014/main" id="{5B3C91B8-FD56-F6D8-BEEB-EE9FD3E1D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38450"/>
            <a:ext cx="868680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200" b="1"/>
              <a:t>总支出是指居民、政府等用于消费、投资和净出口支出的总和</a:t>
            </a:r>
          </a:p>
        </p:txBody>
      </p:sp>
      <p:sp>
        <p:nvSpPr>
          <p:cNvPr id="365574" name="Freeform 6">
            <a:extLst>
              <a:ext uri="{FF2B5EF4-FFF2-40B4-BE49-F238E27FC236}">
                <a16:creationId xmlns:a16="http://schemas.microsoft.com/office/drawing/2014/main" id="{74EA93D6-5252-9E79-CA2E-09022582E572}"/>
              </a:ext>
            </a:extLst>
          </p:cNvPr>
          <p:cNvSpPr>
            <a:spLocks/>
          </p:cNvSpPr>
          <p:nvPr/>
        </p:nvSpPr>
        <p:spPr bwMode="auto">
          <a:xfrm>
            <a:off x="3713163" y="3727450"/>
            <a:ext cx="115887" cy="2533650"/>
          </a:xfrm>
          <a:custGeom>
            <a:avLst/>
            <a:gdLst>
              <a:gd name="T0" fmla="*/ 0 w 1"/>
              <a:gd name="T1" fmla="*/ 0 h 2175"/>
              <a:gd name="T2" fmla="*/ 0 w 1"/>
              <a:gd name="T3" fmla="*/ 2175 h 217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175">
                <a:moveTo>
                  <a:pt x="0" y="0"/>
                </a:moveTo>
                <a:lnTo>
                  <a:pt x="0" y="2175"/>
                </a:lnTo>
              </a:path>
            </a:pathLst>
          </a:custGeom>
          <a:noFill/>
          <a:ln w="57150" cmpd="sng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5575" name="Freeform 7">
            <a:extLst>
              <a:ext uri="{FF2B5EF4-FFF2-40B4-BE49-F238E27FC236}">
                <a16:creationId xmlns:a16="http://schemas.microsoft.com/office/drawing/2014/main" id="{D76FEB7C-6D21-2066-10BD-AE7EDAE43976}"/>
              </a:ext>
            </a:extLst>
          </p:cNvPr>
          <p:cNvSpPr>
            <a:spLocks/>
          </p:cNvSpPr>
          <p:nvPr/>
        </p:nvSpPr>
        <p:spPr bwMode="auto">
          <a:xfrm>
            <a:off x="3749675" y="6288088"/>
            <a:ext cx="3271838" cy="0"/>
          </a:xfrm>
          <a:custGeom>
            <a:avLst/>
            <a:gdLst>
              <a:gd name="T0" fmla="*/ 0 w 2670"/>
              <a:gd name="T1" fmla="*/ 0 h 1"/>
              <a:gd name="T2" fmla="*/ 2670 w 2670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670" h="1">
                <a:moveTo>
                  <a:pt x="0" y="0"/>
                </a:moveTo>
                <a:lnTo>
                  <a:pt x="2670" y="0"/>
                </a:lnTo>
              </a:path>
            </a:pathLst>
          </a:custGeom>
          <a:noFill/>
          <a:ln w="57150" cmpd="sng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5576" name="Text Box 8">
            <a:extLst>
              <a:ext uri="{FF2B5EF4-FFF2-40B4-BE49-F238E27FC236}">
                <a16:creationId xmlns:a16="http://schemas.microsoft.com/office/drawing/2014/main" id="{9125C423-D1B0-60E8-6BDF-EAEB58FF6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850" y="3848100"/>
            <a:ext cx="4953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总支出</a:t>
            </a:r>
          </a:p>
        </p:txBody>
      </p:sp>
      <p:sp>
        <p:nvSpPr>
          <p:cNvPr id="365577" name="Text Box 9">
            <a:extLst>
              <a:ext uri="{FF2B5EF4-FFF2-40B4-BE49-F238E27FC236}">
                <a16:creationId xmlns:a16="http://schemas.microsoft.com/office/drawing/2014/main" id="{A09DE4D8-01F6-9DC4-9BD6-2F7CA749E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100" y="6007100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产出＝收入</a:t>
            </a:r>
          </a:p>
        </p:txBody>
      </p:sp>
      <p:sp>
        <p:nvSpPr>
          <p:cNvPr id="365578" name="Line 10">
            <a:extLst>
              <a:ext uri="{FF2B5EF4-FFF2-40B4-BE49-F238E27FC236}">
                <a16:creationId xmlns:a16="http://schemas.microsoft.com/office/drawing/2014/main" id="{9A0B81CB-6C7C-F154-8E95-EFF4EEBA40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4750" y="3886200"/>
            <a:ext cx="2762250" cy="1752600"/>
          </a:xfrm>
          <a:prstGeom prst="line">
            <a:avLst/>
          </a:prstGeom>
          <a:noFill/>
          <a:ln w="57150">
            <a:solidFill>
              <a:srgbClr val="66FF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5579" name="Text Box 11">
            <a:extLst>
              <a:ext uri="{FF2B5EF4-FFF2-40B4-BE49-F238E27FC236}">
                <a16:creationId xmlns:a16="http://schemas.microsoft.com/office/drawing/2014/main" id="{EBAF0B0B-A1D0-0FD5-C212-AE9DA9FA4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0" y="3435350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总支出曲线</a:t>
            </a:r>
            <a:r>
              <a:rPr lang="en-US" altLang="zh-CN" sz="2400" b="1">
                <a:latin typeface="Times New Roman" panose="02020603050405020304" pitchFamily="18" charset="0"/>
              </a:rPr>
              <a:t>:AE</a:t>
            </a:r>
          </a:p>
        </p:txBody>
      </p:sp>
      <p:sp>
        <p:nvSpPr>
          <p:cNvPr id="365580" name="AutoShape 12">
            <a:extLst>
              <a:ext uri="{FF2B5EF4-FFF2-40B4-BE49-F238E27FC236}">
                <a16:creationId xmlns:a16="http://schemas.microsoft.com/office/drawing/2014/main" id="{3EBCB042-3F27-C358-6FE4-4B2EA4D27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4667250"/>
            <a:ext cx="1847850" cy="1447800"/>
          </a:xfrm>
          <a:prstGeom prst="wedgeRectCallout">
            <a:avLst>
              <a:gd name="adj1" fmla="val 153866"/>
              <a:gd name="adj2" fmla="val -9977"/>
            </a:avLst>
          </a:prstGeom>
          <a:noFill/>
          <a:ln w="1270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/>
          <a:lstStyle/>
          <a:p>
            <a:pPr algn="l" eaLnBrk="0" hangingPunct="0"/>
            <a:r>
              <a:rPr lang="zh-CN" altLang="en-US" sz="2400" b="1">
                <a:latin typeface="Times New Roman" panose="02020603050405020304" pitchFamily="18" charset="0"/>
              </a:rPr>
              <a:t>三个特征：</a:t>
            </a:r>
          </a:p>
          <a:p>
            <a:pPr algn="l" eaLnBrk="0" hangingPunct="0"/>
            <a:r>
              <a:rPr lang="en-US" altLang="zh-CN" sz="2000" b="1">
                <a:latin typeface="Times New Roman" panose="02020603050405020304" pitchFamily="18" charset="0"/>
              </a:rPr>
              <a:t>1 </a:t>
            </a:r>
            <a:r>
              <a:rPr lang="zh-CN" altLang="en-US" sz="2000" b="1">
                <a:latin typeface="Times New Roman" panose="02020603050405020304" pitchFamily="18" charset="0"/>
              </a:rPr>
              <a:t>向右上方倾斜</a:t>
            </a:r>
          </a:p>
          <a:p>
            <a:pPr algn="l" eaLnBrk="0" hangingPunct="0"/>
            <a:r>
              <a:rPr lang="en-US" altLang="zh-CN" sz="2000" b="1">
                <a:latin typeface="Times New Roman" panose="02020603050405020304" pitchFamily="18" charset="0"/>
              </a:rPr>
              <a:t>2 </a:t>
            </a:r>
            <a:r>
              <a:rPr lang="zh-CN" altLang="en-US" sz="2000" b="1">
                <a:latin typeface="Times New Roman" panose="02020603050405020304" pitchFamily="18" charset="0"/>
              </a:rPr>
              <a:t>斜率小于</a:t>
            </a:r>
            <a:r>
              <a:rPr lang="en-US" altLang="zh-CN" sz="2000" b="1">
                <a:latin typeface="Times New Roman" panose="02020603050405020304" pitchFamily="18" charset="0"/>
              </a:rPr>
              <a:t>1</a:t>
            </a:r>
          </a:p>
          <a:p>
            <a:pPr algn="l" eaLnBrk="0" hangingPunct="0"/>
            <a:r>
              <a:rPr lang="en-US" altLang="zh-CN" sz="2000" b="1">
                <a:latin typeface="Times New Roman" panose="02020603050405020304" pitchFamily="18" charset="0"/>
              </a:rPr>
              <a:t>3 </a:t>
            </a:r>
            <a:r>
              <a:rPr lang="zh-CN" altLang="en-US" sz="2000" b="1">
                <a:latin typeface="Times New Roman" panose="02020603050405020304" pitchFamily="18" charset="0"/>
              </a:rPr>
              <a:t>截距不为零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5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5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6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6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6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65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36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2" grpId="0" build="p" autoUpdateAnimBg="0"/>
      <p:bldP spid="365573" grpId="0" build="p" autoUpdateAnimBg="0"/>
      <p:bldP spid="365576" grpId="0" autoUpdateAnimBg="0"/>
      <p:bldP spid="365577" grpId="0" autoUpdateAnimBg="0"/>
      <p:bldP spid="365579" grpId="0" autoUpdateAnimBg="0"/>
      <p:bldP spid="365580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>
            <a:extLst>
              <a:ext uri="{FF2B5EF4-FFF2-40B4-BE49-F238E27FC236}">
                <a16:creationId xmlns:a16="http://schemas.microsoft.com/office/drawing/2014/main" id="{12221401-A628-732B-F3A0-CFA8E9C73E0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1.2</a:t>
            </a:r>
            <a:r>
              <a:rPr lang="zh-CN" altLang="en-US" b="1"/>
              <a:t>、收入支出分析</a:t>
            </a:r>
            <a:r>
              <a:rPr lang="en-US" altLang="zh-CN" b="1"/>
              <a:t>_</a:t>
            </a:r>
            <a:r>
              <a:rPr lang="zh-CN" altLang="en-US" b="1"/>
              <a:t>基本框架</a:t>
            </a:r>
          </a:p>
        </p:txBody>
      </p:sp>
      <p:sp>
        <p:nvSpPr>
          <p:cNvPr id="366595" name="Rectangle 3">
            <a:extLst>
              <a:ext uri="{FF2B5EF4-FFF2-40B4-BE49-F238E27FC236}">
                <a16:creationId xmlns:a16="http://schemas.microsoft.com/office/drawing/2014/main" id="{98F221D6-29B8-BD03-9439-E8727C17A30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1409700"/>
            <a:ext cx="7772400" cy="647700"/>
          </a:xfrm>
        </p:spPr>
        <p:txBody>
          <a:bodyPr/>
          <a:lstStyle/>
          <a:p>
            <a:r>
              <a:rPr lang="zh-CN" altLang="en-US" b="1"/>
              <a:t>总支出＝总产出</a:t>
            </a:r>
            <a:r>
              <a:rPr lang="en-US" altLang="zh-CN" b="1"/>
              <a:t>:  AE=Y</a:t>
            </a:r>
          </a:p>
        </p:txBody>
      </p:sp>
      <p:grpSp>
        <p:nvGrpSpPr>
          <p:cNvPr id="366596" name="Group 4">
            <a:extLst>
              <a:ext uri="{FF2B5EF4-FFF2-40B4-BE49-F238E27FC236}">
                <a16:creationId xmlns:a16="http://schemas.microsoft.com/office/drawing/2014/main" id="{C87701FA-93A3-6F58-D660-EF3C8F651B9D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2292350"/>
            <a:ext cx="6026150" cy="3028950"/>
            <a:chOff x="864" y="1636"/>
            <a:chExt cx="3796" cy="1908"/>
          </a:xfrm>
        </p:grpSpPr>
        <p:sp>
          <p:nvSpPr>
            <p:cNvPr id="366597" name="Freeform 5">
              <a:extLst>
                <a:ext uri="{FF2B5EF4-FFF2-40B4-BE49-F238E27FC236}">
                  <a16:creationId xmlns:a16="http://schemas.microsoft.com/office/drawing/2014/main" id="{4E9C4BF8-07D7-6443-993D-5FD5482A3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1820"/>
              <a:ext cx="73" cy="1596"/>
            </a:xfrm>
            <a:custGeom>
              <a:avLst/>
              <a:gdLst>
                <a:gd name="T0" fmla="*/ 0 w 1"/>
                <a:gd name="T1" fmla="*/ 0 h 2175"/>
                <a:gd name="T2" fmla="*/ 0 w 1"/>
                <a:gd name="T3" fmla="*/ 2175 h 2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75">
                  <a:moveTo>
                    <a:pt x="0" y="0"/>
                  </a:moveTo>
                  <a:lnTo>
                    <a:pt x="0" y="2175"/>
                  </a:ln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598" name="Freeform 6">
              <a:extLst>
                <a:ext uri="{FF2B5EF4-FFF2-40B4-BE49-F238E27FC236}">
                  <a16:creationId xmlns:a16="http://schemas.microsoft.com/office/drawing/2014/main" id="{47637BEF-8576-FE4F-67EF-107DFD681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3433"/>
              <a:ext cx="2061" cy="0"/>
            </a:xfrm>
            <a:custGeom>
              <a:avLst/>
              <a:gdLst>
                <a:gd name="T0" fmla="*/ 0 w 2670"/>
                <a:gd name="T1" fmla="*/ 0 h 1"/>
                <a:gd name="T2" fmla="*/ 2670 w 267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70" h="1">
                  <a:moveTo>
                    <a:pt x="0" y="0"/>
                  </a:moveTo>
                  <a:lnTo>
                    <a:pt x="2670" y="0"/>
                  </a:ln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599" name="Text Box 7">
              <a:extLst>
                <a:ext uri="{FF2B5EF4-FFF2-40B4-BE49-F238E27FC236}">
                  <a16:creationId xmlns:a16="http://schemas.microsoft.com/office/drawing/2014/main" id="{D14DD231-0EEE-0AB7-ED16-5A7EE5AC0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96"/>
              <a:ext cx="312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总支出</a:t>
              </a:r>
            </a:p>
          </p:txBody>
        </p:sp>
        <p:sp>
          <p:nvSpPr>
            <p:cNvPr id="366600" name="Text Box 8">
              <a:extLst>
                <a:ext uri="{FF2B5EF4-FFF2-40B4-BE49-F238E27FC236}">
                  <a16:creationId xmlns:a16="http://schemas.microsoft.com/office/drawing/2014/main" id="{09020936-3A47-1C01-ACB9-700271B034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4" y="3256"/>
              <a:ext cx="11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产出＝收入</a:t>
              </a:r>
            </a:p>
          </p:txBody>
        </p:sp>
        <p:sp>
          <p:nvSpPr>
            <p:cNvPr id="366601" name="Line 9">
              <a:extLst>
                <a:ext uri="{FF2B5EF4-FFF2-40B4-BE49-F238E27FC236}">
                  <a16:creationId xmlns:a16="http://schemas.microsoft.com/office/drawing/2014/main" id="{1CEC24CB-5602-7480-7F6E-A4B0BDA30C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0" y="1920"/>
              <a:ext cx="1740" cy="1104"/>
            </a:xfrm>
            <a:prstGeom prst="line">
              <a:avLst/>
            </a:prstGeom>
            <a:noFill/>
            <a:ln w="57150">
              <a:solidFill>
                <a:srgbClr val="66FF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602" name="Text Box 10">
              <a:extLst>
                <a:ext uri="{FF2B5EF4-FFF2-40B4-BE49-F238E27FC236}">
                  <a16:creationId xmlns:a16="http://schemas.microsoft.com/office/drawing/2014/main" id="{2CD301BC-6918-7350-C922-63A8FCC0B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0" y="1636"/>
              <a:ext cx="11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总支出曲线</a:t>
              </a:r>
            </a:p>
          </p:txBody>
        </p:sp>
      </p:grpSp>
      <p:sp>
        <p:nvSpPr>
          <p:cNvPr id="366603" name="Line 11">
            <a:extLst>
              <a:ext uri="{FF2B5EF4-FFF2-40B4-BE49-F238E27FC236}">
                <a16:creationId xmlns:a16="http://schemas.microsoft.com/office/drawing/2014/main" id="{AE115F00-DAE4-8723-D0F2-152820E9A8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5500" y="2381250"/>
            <a:ext cx="2571750" cy="27241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6604" name="Freeform 12">
            <a:extLst>
              <a:ext uri="{FF2B5EF4-FFF2-40B4-BE49-F238E27FC236}">
                <a16:creationId xmlns:a16="http://schemas.microsoft.com/office/drawing/2014/main" id="{7284E7AC-BD22-927D-C82B-A7AC74BF03AB}"/>
              </a:ext>
            </a:extLst>
          </p:cNvPr>
          <p:cNvSpPr>
            <a:spLocks/>
          </p:cNvSpPr>
          <p:nvPr/>
        </p:nvSpPr>
        <p:spPr bwMode="auto">
          <a:xfrm>
            <a:off x="2533650" y="4724400"/>
            <a:ext cx="231775" cy="381000"/>
          </a:xfrm>
          <a:custGeom>
            <a:avLst/>
            <a:gdLst>
              <a:gd name="T0" fmla="*/ 0 w 146"/>
              <a:gd name="T1" fmla="*/ 0 h 240"/>
              <a:gd name="T2" fmla="*/ 132 w 146"/>
              <a:gd name="T3" fmla="*/ 72 h 240"/>
              <a:gd name="T4" fmla="*/ 84 w 146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6" h="240">
                <a:moveTo>
                  <a:pt x="0" y="0"/>
                </a:moveTo>
                <a:cubicBezTo>
                  <a:pt x="22" y="12"/>
                  <a:pt x="118" y="32"/>
                  <a:pt x="132" y="72"/>
                </a:cubicBezTo>
                <a:cubicBezTo>
                  <a:pt x="146" y="112"/>
                  <a:pt x="94" y="205"/>
                  <a:pt x="84" y="240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6605" name="Text Box 13">
            <a:extLst>
              <a:ext uri="{FF2B5EF4-FFF2-40B4-BE49-F238E27FC236}">
                <a16:creationId xmlns:a16="http://schemas.microsoft.com/office/drawing/2014/main" id="{EAAE3822-46FB-B579-E125-A43C242BA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300" y="4589463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45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˚</a:t>
            </a:r>
          </a:p>
        </p:txBody>
      </p:sp>
      <p:sp>
        <p:nvSpPr>
          <p:cNvPr id="366606" name="Line 14">
            <a:extLst>
              <a:ext uri="{FF2B5EF4-FFF2-40B4-BE49-F238E27FC236}">
                <a16:creationId xmlns:a16="http://schemas.microsoft.com/office/drawing/2014/main" id="{509429AA-33D9-0B4A-F507-1EA304EA9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4250" y="3619500"/>
            <a:ext cx="0" cy="15621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6607" name="Text Box 15">
            <a:extLst>
              <a:ext uri="{FF2B5EF4-FFF2-40B4-BE49-F238E27FC236}">
                <a16:creationId xmlns:a16="http://schemas.microsoft.com/office/drawing/2014/main" id="{6BBD79CF-91FE-61CE-9979-0B9508AB4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9450" y="5372100"/>
            <a:ext cx="819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Y*</a:t>
            </a:r>
          </a:p>
        </p:txBody>
      </p:sp>
      <p:sp>
        <p:nvSpPr>
          <p:cNvPr id="366609" name="Rectangle 17">
            <a:extLst>
              <a:ext uri="{FF2B5EF4-FFF2-40B4-BE49-F238E27FC236}">
                <a16:creationId xmlns:a16="http://schemas.microsoft.com/office/drawing/2014/main" id="{417C51BA-D3D0-2FFD-590F-2768DFD99F4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" y="5981700"/>
            <a:ext cx="8915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2000" b="1">
                <a:latin typeface="Times New Roman" panose="02020603050405020304" pitchFamily="18" charset="0"/>
              </a:rPr>
              <a:t>收入支出分析：通过把收入</a:t>
            </a:r>
            <a:r>
              <a:rPr lang="en-US" altLang="zh-CN" sz="2000" b="1">
                <a:latin typeface="Times New Roman" panose="02020603050405020304" pitchFamily="18" charset="0"/>
              </a:rPr>
              <a:t>(</a:t>
            </a:r>
            <a:r>
              <a:rPr lang="zh-CN" altLang="en-US" sz="2000" b="1">
                <a:latin typeface="Times New Roman" panose="02020603050405020304" pitchFamily="18" charset="0"/>
              </a:rPr>
              <a:t>产出</a:t>
            </a:r>
            <a:r>
              <a:rPr lang="en-US" altLang="zh-CN" sz="2000" b="1">
                <a:latin typeface="Times New Roman" panose="02020603050405020304" pitchFamily="18" charset="0"/>
              </a:rPr>
              <a:t>)</a:t>
            </a:r>
            <a:r>
              <a:rPr lang="zh-CN" altLang="en-US" sz="2000" b="1">
                <a:latin typeface="Times New Roman" panose="02020603050405020304" pitchFamily="18" charset="0"/>
              </a:rPr>
              <a:t>与总支出关联起来决定均衡产出的分析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6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6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66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66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605" grpId="0" autoUpdateAnimBg="0"/>
      <p:bldP spid="366607" grpId="0" autoUpdateAnimBg="0"/>
      <p:bldP spid="36660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>
            <a:extLst>
              <a:ext uri="{FF2B5EF4-FFF2-40B4-BE49-F238E27FC236}">
                <a16:creationId xmlns:a16="http://schemas.microsoft.com/office/drawing/2014/main" id="{96E8FA93-C40C-9882-5611-813729C434C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1.2</a:t>
            </a:r>
            <a:r>
              <a:rPr lang="zh-CN" altLang="en-US" b="1"/>
              <a:t>、收入支出分析</a:t>
            </a:r>
            <a:r>
              <a:rPr lang="en-US" altLang="zh-CN" b="1"/>
              <a:t>_</a:t>
            </a:r>
            <a:r>
              <a:rPr lang="zh-CN" altLang="en-US" b="1"/>
              <a:t>基本框架</a:t>
            </a:r>
            <a:endParaRPr lang="zh-CN" altLang="en-US"/>
          </a:p>
        </p:txBody>
      </p:sp>
      <p:grpSp>
        <p:nvGrpSpPr>
          <p:cNvPr id="367619" name="Group 3">
            <a:extLst>
              <a:ext uri="{FF2B5EF4-FFF2-40B4-BE49-F238E27FC236}">
                <a16:creationId xmlns:a16="http://schemas.microsoft.com/office/drawing/2014/main" id="{743F2FC1-25C1-1B67-1659-B63CECF407D0}"/>
              </a:ext>
            </a:extLst>
          </p:cNvPr>
          <p:cNvGrpSpPr>
            <a:grpSpLocks/>
          </p:cNvGrpSpPr>
          <p:nvPr/>
        </p:nvGrpSpPr>
        <p:grpSpPr bwMode="auto">
          <a:xfrm>
            <a:off x="1593850" y="2711450"/>
            <a:ext cx="6026150" cy="3536950"/>
            <a:chOff x="864" y="1444"/>
            <a:chExt cx="3796" cy="2228"/>
          </a:xfrm>
        </p:grpSpPr>
        <p:grpSp>
          <p:nvGrpSpPr>
            <p:cNvPr id="367620" name="Group 4">
              <a:extLst>
                <a:ext uri="{FF2B5EF4-FFF2-40B4-BE49-F238E27FC236}">
                  <a16:creationId xmlns:a16="http://schemas.microsoft.com/office/drawing/2014/main" id="{2DFC8474-5472-4DB2-CE6E-64122D7B6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444"/>
              <a:ext cx="3796" cy="1908"/>
              <a:chOff x="864" y="1636"/>
              <a:chExt cx="3796" cy="1908"/>
            </a:xfrm>
          </p:grpSpPr>
          <p:sp>
            <p:nvSpPr>
              <p:cNvPr id="367621" name="Freeform 5">
                <a:extLst>
                  <a:ext uri="{FF2B5EF4-FFF2-40B4-BE49-F238E27FC236}">
                    <a16:creationId xmlns:a16="http://schemas.microsoft.com/office/drawing/2014/main" id="{78EC943E-E70D-FD1E-2681-D7ADC1AD7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9" y="1820"/>
                <a:ext cx="73" cy="1596"/>
              </a:xfrm>
              <a:custGeom>
                <a:avLst/>
                <a:gdLst>
                  <a:gd name="T0" fmla="*/ 0 w 1"/>
                  <a:gd name="T1" fmla="*/ 0 h 2175"/>
                  <a:gd name="T2" fmla="*/ 0 w 1"/>
                  <a:gd name="T3" fmla="*/ 2175 h 2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175">
                    <a:moveTo>
                      <a:pt x="0" y="0"/>
                    </a:moveTo>
                    <a:lnTo>
                      <a:pt x="0" y="2175"/>
                    </a:lnTo>
                  </a:path>
                </a:pathLst>
              </a:custGeom>
              <a:noFill/>
              <a:ln w="5715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7622" name="Freeform 6">
                <a:extLst>
                  <a:ext uri="{FF2B5EF4-FFF2-40B4-BE49-F238E27FC236}">
                    <a16:creationId xmlns:a16="http://schemas.microsoft.com/office/drawing/2014/main" id="{6A76585F-D54E-9ED3-3A92-C5FD59A12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2" y="3433"/>
                <a:ext cx="2061" cy="0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7623" name="Text Box 7">
                <a:extLst>
                  <a:ext uri="{FF2B5EF4-FFF2-40B4-BE49-F238E27FC236}">
                    <a16:creationId xmlns:a16="http://schemas.microsoft.com/office/drawing/2014/main" id="{3D7FD1B3-5DC9-8BA7-CF6A-F071CC8E84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896"/>
                <a:ext cx="312" cy="7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zh-CN" altLang="en-US" sz="2400" b="1">
                    <a:latin typeface="Times New Roman" panose="02020603050405020304" pitchFamily="18" charset="0"/>
                  </a:rPr>
                  <a:t>总支出</a:t>
                </a:r>
              </a:p>
            </p:txBody>
          </p:sp>
          <p:sp>
            <p:nvSpPr>
              <p:cNvPr id="367624" name="Text Box 8">
                <a:extLst>
                  <a:ext uri="{FF2B5EF4-FFF2-40B4-BE49-F238E27FC236}">
                    <a16:creationId xmlns:a16="http://schemas.microsoft.com/office/drawing/2014/main" id="{78D5049B-16B7-8457-0EDC-4CBF9345FF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4" y="3256"/>
                <a:ext cx="11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zh-CN" altLang="en-US" sz="2400" b="1">
                    <a:latin typeface="Times New Roman" panose="02020603050405020304" pitchFamily="18" charset="0"/>
                  </a:rPr>
                  <a:t>产出＝收入</a:t>
                </a:r>
              </a:p>
            </p:txBody>
          </p:sp>
          <p:sp>
            <p:nvSpPr>
              <p:cNvPr id="367625" name="Line 9">
                <a:extLst>
                  <a:ext uri="{FF2B5EF4-FFF2-40B4-BE49-F238E27FC236}">
                    <a16:creationId xmlns:a16="http://schemas.microsoft.com/office/drawing/2014/main" id="{7CB5D9D7-78E7-7C8D-054C-FFA21E09D9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0" y="1920"/>
                <a:ext cx="1740" cy="1104"/>
              </a:xfrm>
              <a:prstGeom prst="line">
                <a:avLst/>
              </a:prstGeom>
              <a:noFill/>
              <a:ln w="57150">
                <a:solidFill>
                  <a:srgbClr val="66FF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7626" name="Text Box 10">
                <a:extLst>
                  <a:ext uri="{FF2B5EF4-FFF2-40B4-BE49-F238E27FC236}">
                    <a16:creationId xmlns:a16="http://schemas.microsoft.com/office/drawing/2014/main" id="{B0A73EEC-B27F-0885-4263-C39A67C90F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0" y="1636"/>
                <a:ext cx="11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zh-CN" altLang="en-US" sz="2400" b="1">
                    <a:latin typeface="Times New Roman" panose="02020603050405020304" pitchFamily="18" charset="0"/>
                  </a:rPr>
                  <a:t>总支出曲线</a:t>
                </a:r>
              </a:p>
            </p:txBody>
          </p:sp>
        </p:grpSp>
        <p:sp>
          <p:nvSpPr>
            <p:cNvPr id="367627" name="Line 11">
              <a:extLst>
                <a:ext uri="{FF2B5EF4-FFF2-40B4-BE49-F238E27FC236}">
                  <a16:creationId xmlns:a16="http://schemas.microsoft.com/office/drawing/2014/main" id="{4E350B5F-806B-D568-791D-BD91A14A22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0" y="1500"/>
              <a:ext cx="1620" cy="171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628" name="Freeform 12">
              <a:extLst>
                <a:ext uri="{FF2B5EF4-FFF2-40B4-BE49-F238E27FC236}">
                  <a16:creationId xmlns:a16="http://schemas.microsoft.com/office/drawing/2014/main" id="{8B61EC4C-A611-F587-AE6B-31D24A8F7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" y="2976"/>
              <a:ext cx="146" cy="240"/>
            </a:xfrm>
            <a:custGeom>
              <a:avLst/>
              <a:gdLst>
                <a:gd name="T0" fmla="*/ 0 w 146"/>
                <a:gd name="T1" fmla="*/ 0 h 240"/>
                <a:gd name="T2" fmla="*/ 132 w 146"/>
                <a:gd name="T3" fmla="*/ 72 h 240"/>
                <a:gd name="T4" fmla="*/ 84 w 146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6" h="240">
                  <a:moveTo>
                    <a:pt x="0" y="0"/>
                  </a:moveTo>
                  <a:cubicBezTo>
                    <a:pt x="22" y="12"/>
                    <a:pt x="118" y="32"/>
                    <a:pt x="132" y="72"/>
                  </a:cubicBezTo>
                  <a:cubicBezTo>
                    <a:pt x="146" y="112"/>
                    <a:pt x="94" y="205"/>
                    <a:pt x="84" y="240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629" name="Text Box 13">
              <a:extLst>
                <a:ext uri="{FF2B5EF4-FFF2-40B4-BE49-F238E27FC236}">
                  <a16:creationId xmlns:a16="http://schemas.microsoft.com/office/drawing/2014/main" id="{06C77264-8160-9333-0809-33F41FEE5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" y="2891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45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˚</a:t>
              </a:r>
            </a:p>
          </p:txBody>
        </p:sp>
        <p:sp>
          <p:nvSpPr>
            <p:cNvPr id="367630" name="Line 14">
              <a:extLst>
                <a:ext uri="{FF2B5EF4-FFF2-40B4-BE49-F238E27FC236}">
                  <a16:creationId xmlns:a16="http://schemas.microsoft.com/office/drawing/2014/main" id="{D1BAE55A-D3F9-44CF-B250-CC62B85EE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2280"/>
              <a:ext cx="0" cy="984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631" name="Text Box 15">
              <a:extLst>
                <a:ext uri="{FF2B5EF4-FFF2-40B4-BE49-F238E27FC236}">
                  <a16:creationId xmlns:a16="http://schemas.microsoft.com/office/drawing/2014/main" id="{A08146CF-F7A5-27F6-0602-E0A20AF4F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8" y="3384"/>
              <a:ext cx="5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Y*</a:t>
              </a:r>
            </a:p>
          </p:txBody>
        </p:sp>
      </p:grpSp>
      <p:sp>
        <p:nvSpPr>
          <p:cNvPr id="367632" name="Line 16">
            <a:extLst>
              <a:ext uri="{FF2B5EF4-FFF2-40B4-BE49-F238E27FC236}">
                <a16:creationId xmlns:a16="http://schemas.microsoft.com/office/drawing/2014/main" id="{3CB86B73-15E1-9287-4A16-8F0954EC03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79650" y="2895600"/>
            <a:ext cx="2762250" cy="1752600"/>
          </a:xfrm>
          <a:prstGeom prst="line">
            <a:avLst/>
          </a:prstGeom>
          <a:noFill/>
          <a:ln w="57150">
            <a:solidFill>
              <a:srgbClr val="66FF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7633" name="Line 17">
            <a:extLst>
              <a:ext uri="{FF2B5EF4-FFF2-40B4-BE49-F238E27FC236}">
                <a16:creationId xmlns:a16="http://schemas.microsoft.com/office/drawing/2014/main" id="{CFD93552-C9FE-21BC-8A7C-0510832CBB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32300" y="3314700"/>
            <a:ext cx="0" cy="22479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7634" name="Line 18">
            <a:extLst>
              <a:ext uri="{FF2B5EF4-FFF2-40B4-BE49-F238E27FC236}">
                <a16:creationId xmlns:a16="http://schemas.microsoft.com/office/drawing/2014/main" id="{F9CBF9E7-96A3-CE50-E7F5-23E6850FA2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2700" y="5257800"/>
            <a:ext cx="495300" cy="190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7637" name="Rectangle 21">
            <a:extLst>
              <a:ext uri="{FF2B5EF4-FFF2-40B4-BE49-F238E27FC236}">
                <a16:creationId xmlns:a16="http://schemas.microsoft.com/office/drawing/2014/main" id="{3A338BA5-48E8-EFFA-378B-659373EEEFD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28600" y="1409700"/>
            <a:ext cx="8458200" cy="647700"/>
          </a:xfrm>
          <a:noFill/>
          <a:ln/>
        </p:spPr>
        <p:txBody>
          <a:bodyPr/>
          <a:lstStyle/>
          <a:p>
            <a:r>
              <a:rPr lang="zh-CN" altLang="en-US" sz="2800" b="1"/>
              <a:t>如果总支出发生变化，比如增加将会带来什么变化？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6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>
            <a:extLst>
              <a:ext uri="{FF2B5EF4-FFF2-40B4-BE49-F238E27FC236}">
                <a16:creationId xmlns:a16="http://schemas.microsoft.com/office/drawing/2014/main" id="{0D623271-25B5-F720-774A-DA1768F579A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1.3</a:t>
            </a:r>
            <a:r>
              <a:rPr lang="zh-CN" altLang="en-US" b="1"/>
              <a:t>、总支出的构成：消费</a:t>
            </a:r>
          </a:p>
        </p:txBody>
      </p:sp>
      <p:sp>
        <p:nvSpPr>
          <p:cNvPr id="368643" name="Rectangle 3">
            <a:extLst>
              <a:ext uri="{FF2B5EF4-FFF2-40B4-BE49-F238E27FC236}">
                <a16:creationId xmlns:a16="http://schemas.microsoft.com/office/drawing/2014/main" id="{F32DA2F0-32DF-4A5D-6987-9E607804835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1657350"/>
            <a:ext cx="7772400" cy="647700"/>
          </a:xfrm>
        </p:spPr>
        <p:txBody>
          <a:bodyPr/>
          <a:lstStyle/>
          <a:p>
            <a:r>
              <a:rPr lang="zh-CN" altLang="en-US" b="1"/>
              <a:t>一个新名词：消费函数</a:t>
            </a:r>
          </a:p>
        </p:txBody>
      </p:sp>
      <p:sp>
        <p:nvSpPr>
          <p:cNvPr id="368644" name="Rectangle 4">
            <a:extLst>
              <a:ext uri="{FF2B5EF4-FFF2-40B4-BE49-F238E27FC236}">
                <a16:creationId xmlns:a16="http://schemas.microsoft.com/office/drawing/2014/main" id="{7358F189-4A40-57F6-7530-48B9C88CC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2343150"/>
            <a:ext cx="77724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b="1"/>
              <a:t>居民的消费与其可支配收入之间的关系</a:t>
            </a:r>
          </a:p>
          <a:p>
            <a:pPr lvl="1"/>
            <a:r>
              <a:rPr lang="zh-CN" altLang="en-US" b="1"/>
              <a:t>注意：这是总消费函数</a:t>
            </a:r>
          </a:p>
        </p:txBody>
      </p:sp>
      <p:sp>
        <p:nvSpPr>
          <p:cNvPr id="368645" name="Freeform 5">
            <a:extLst>
              <a:ext uri="{FF2B5EF4-FFF2-40B4-BE49-F238E27FC236}">
                <a16:creationId xmlns:a16="http://schemas.microsoft.com/office/drawing/2014/main" id="{46302D19-B9FF-71D5-8332-BFA0B8012A3F}"/>
              </a:ext>
            </a:extLst>
          </p:cNvPr>
          <p:cNvSpPr>
            <a:spLocks/>
          </p:cNvSpPr>
          <p:nvPr/>
        </p:nvSpPr>
        <p:spPr bwMode="auto">
          <a:xfrm>
            <a:off x="3351213" y="3727450"/>
            <a:ext cx="115887" cy="2533650"/>
          </a:xfrm>
          <a:custGeom>
            <a:avLst/>
            <a:gdLst>
              <a:gd name="T0" fmla="*/ 0 w 1"/>
              <a:gd name="T1" fmla="*/ 0 h 2175"/>
              <a:gd name="T2" fmla="*/ 0 w 1"/>
              <a:gd name="T3" fmla="*/ 2175 h 217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175">
                <a:moveTo>
                  <a:pt x="0" y="0"/>
                </a:moveTo>
                <a:lnTo>
                  <a:pt x="0" y="2175"/>
                </a:lnTo>
              </a:path>
            </a:pathLst>
          </a:custGeom>
          <a:noFill/>
          <a:ln w="57150" cmpd="sng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46" name="Freeform 6">
            <a:extLst>
              <a:ext uri="{FF2B5EF4-FFF2-40B4-BE49-F238E27FC236}">
                <a16:creationId xmlns:a16="http://schemas.microsoft.com/office/drawing/2014/main" id="{FD099273-D057-871A-A9F9-8B66A9D2AC93}"/>
              </a:ext>
            </a:extLst>
          </p:cNvPr>
          <p:cNvSpPr>
            <a:spLocks/>
          </p:cNvSpPr>
          <p:nvPr/>
        </p:nvSpPr>
        <p:spPr bwMode="auto">
          <a:xfrm>
            <a:off x="3387725" y="6288088"/>
            <a:ext cx="3271838" cy="0"/>
          </a:xfrm>
          <a:custGeom>
            <a:avLst/>
            <a:gdLst>
              <a:gd name="T0" fmla="*/ 0 w 2670"/>
              <a:gd name="T1" fmla="*/ 0 h 1"/>
              <a:gd name="T2" fmla="*/ 2670 w 2670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670" h="1">
                <a:moveTo>
                  <a:pt x="0" y="0"/>
                </a:moveTo>
                <a:lnTo>
                  <a:pt x="2670" y="0"/>
                </a:lnTo>
              </a:path>
            </a:pathLst>
          </a:custGeom>
          <a:noFill/>
          <a:ln w="57150" cmpd="sng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47" name="Text Box 7">
            <a:extLst>
              <a:ext uri="{FF2B5EF4-FFF2-40B4-BE49-F238E27FC236}">
                <a16:creationId xmlns:a16="http://schemas.microsoft.com/office/drawing/2014/main" id="{2E0EF49C-B69E-BB57-0097-55C6E9FF8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848100"/>
            <a:ext cx="4953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消费</a:t>
            </a:r>
          </a:p>
        </p:txBody>
      </p:sp>
      <p:sp>
        <p:nvSpPr>
          <p:cNvPr id="368648" name="Text Box 8">
            <a:extLst>
              <a:ext uri="{FF2B5EF4-FFF2-40B4-BE49-F238E27FC236}">
                <a16:creationId xmlns:a16="http://schemas.microsoft.com/office/drawing/2014/main" id="{31FD098F-C85C-B555-CBBD-510CC9B92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8150" y="6007100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收入</a:t>
            </a:r>
          </a:p>
        </p:txBody>
      </p:sp>
      <p:sp>
        <p:nvSpPr>
          <p:cNvPr id="368649" name="Line 9">
            <a:extLst>
              <a:ext uri="{FF2B5EF4-FFF2-40B4-BE49-F238E27FC236}">
                <a16:creationId xmlns:a16="http://schemas.microsoft.com/office/drawing/2014/main" id="{30A35E66-49FB-A129-0327-4B842FAADA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3886200"/>
            <a:ext cx="2762250" cy="1752600"/>
          </a:xfrm>
          <a:prstGeom prst="line">
            <a:avLst/>
          </a:prstGeom>
          <a:noFill/>
          <a:ln w="57150">
            <a:solidFill>
              <a:srgbClr val="66FF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50" name="Text Box 10">
            <a:extLst>
              <a:ext uri="{FF2B5EF4-FFF2-40B4-BE49-F238E27FC236}">
                <a16:creationId xmlns:a16="http://schemas.microsoft.com/office/drawing/2014/main" id="{29249BE3-48E1-EC56-B066-9A6F93AB9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550" y="3435350"/>
            <a:ext cx="3651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消费函数：</a:t>
            </a:r>
            <a:r>
              <a:rPr lang="en-US" altLang="zh-CN" sz="2400" b="1">
                <a:latin typeface="Times New Roman" panose="02020603050405020304" pitchFamily="18" charset="0"/>
              </a:rPr>
              <a:t>C=a + cY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d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8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68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6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6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6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6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4" grpId="0" build="p" autoUpdateAnimBg="0"/>
      <p:bldP spid="368647" grpId="0" autoUpdateAnimBg="0"/>
      <p:bldP spid="368648" grpId="0" autoUpdateAnimBg="0"/>
      <p:bldP spid="36865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>
            <a:extLst>
              <a:ext uri="{FF2B5EF4-FFF2-40B4-BE49-F238E27FC236}">
                <a16:creationId xmlns:a16="http://schemas.microsoft.com/office/drawing/2014/main" id="{6FBD7CA2-304B-B145-4D06-323ABF0A70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消费函数的进一步解析</a:t>
            </a:r>
          </a:p>
        </p:txBody>
      </p:sp>
      <p:grpSp>
        <p:nvGrpSpPr>
          <p:cNvPr id="369667" name="Group 3">
            <a:extLst>
              <a:ext uri="{FF2B5EF4-FFF2-40B4-BE49-F238E27FC236}">
                <a16:creationId xmlns:a16="http://schemas.microsoft.com/office/drawing/2014/main" id="{8DFFA66E-EE94-7A94-DB47-64A5AD00420B}"/>
              </a:ext>
            </a:extLst>
          </p:cNvPr>
          <p:cNvGrpSpPr>
            <a:grpSpLocks/>
          </p:cNvGrpSpPr>
          <p:nvPr/>
        </p:nvGrpSpPr>
        <p:grpSpPr bwMode="auto">
          <a:xfrm>
            <a:off x="1466850" y="3435350"/>
            <a:ext cx="6026150" cy="3028950"/>
            <a:chOff x="1656" y="2164"/>
            <a:chExt cx="3796" cy="1908"/>
          </a:xfrm>
        </p:grpSpPr>
        <p:sp>
          <p:nvSpPr>
            <p:cNvPr id="369668" name="Freeform 4">
              <a:extLst>
                <a:ext uri="{FF2B5EF4-FFF2-40B4-BE49-F238E27FC236}">
                  <a16:creationId xmlns:a16="http://schemas.microsoft.com/office/drawing/2014/main" id="{4CB2A18F-4944-B24A-6B03-EEED1E50F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1" y="2348"/>
              <a:ext cx="73" cy="1596"/>
            </a:xfrm>
            <a:custGeom>
              <a:avLst/>
              <a:gdLst>
                <a:gd name="T0" fmla="*/ 0 w 1"/>
                <a:gd name="T1" fmla="*/ 0 h 2175"/>
                <a:gd name="T2" fmla="*/ 0 w 1"/>
                <a:gd name="T3" fmla="*/ 2175 h 2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75">
                  <a:moveTo>
                    <a:pt x="0" y="0"/>
                  </a:moveTo>
                  <a:lnTo>
                    <a:pt x="0" y="2175"/>
                  </a:ln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69" name="Freeform 5">
              <a:extLst>
                <a:ext uri="{FF2B5EF4-FFF2-40B4-BE49-F238E27FC236}">
                  <a16:creationId xmlns:a16="http://schemas.microsoft.com/office/drawing/2014/main" id="{6FFBD95F-2B3F-1436-A7FF-27D4A01D4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3961"/>
              <a:ext cx="2061" cy="0"/>
            </a:xfrm>
            <a:custGeom>
              <a:avLst/>
              <a:gdLst>
                <a:gd name="T0" fmla="*/ 0 w 2670"/>
                <a:gd name="T1" fmla="*/ 0 h 1"/>
                <a:gd name="T2" fmla="*/ 2670 w 267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70" h="1">
                  <a:moveTo>
                    <a:pt x="0" y="0"/>
                  </a:moveTo>
                  <a:lnTo>
                    <a:pt x="2670" y="0"/>
                  </a:ln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70" name="Text Box 6">
              <a:extLst>
                <a:ext uri="{FF2B5EF4-FFF2-40B4-BE49-F238E27FC236}">
                  <a16:creationId xmlns:a16="http://schemas.microsoft.com/office/drawing/2014/main" id="{E06A6746-0ABD-457F-344A-506E08401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" y="2424"/>
              <a:ext cx="31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消费</a:t>
              </a:r>
            </a:p>
          </p:txBody>
        </p:sp>
        <p:sp>
          <p:nvSpPr>
            <p:cNvPr id="369671" name="Text Box 7">
              <a:extLst>
                <a:ext uri="{FF2B5EF4-FFF2-40B4-BE49-F238E27FC236}">
                  <a16:creationId xmlns:a16="http://schemas.microsoft.com/office/drawing/2014/main" id="{55E7A91C-C10A-C4C5-5D0D-F47687C91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6" y="3784"/>
              <a:ext cx="11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收入</a:t>
              </a:r>
            </a:p>
          </p:txBody>
        </p:sp>
        <p:sp>
          <p:nvSpPr>
            <p:cNvPr id="369672" name="Line 8">
              <a:extLst>
                <a:ext uri="{FF2B5EF4-FFF2-40B4-BE49-F238E27FC236}">
                  <a16:creationId xmlns:a16="http://schemas.microsoft.com/office/drawing/2014/main" id="{50634128-C612-5507-A552-D06A2040A3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2448"/>
              <a:ext cx="1740" cy="1104"/>
            </a:xfrm>
            <a:prstGeom prst="line">
              <a:avLst/>
            </a:prstGeom>
            <a:noFill/>
            <a:ln w="57150">
              <a:solidFill>
                <a:srgbClr val="66FF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673" name="Text Box 9">
              <a:extLst>
                <a:ext uri="{FF2B5EF4-FFF2-40B4-BE49-F238E27FC236}">
                  <a16:creationId xmlns:a16="http://schemas.microsoft.com/office/drawing/2014/main" id="{89C02F88-5B40-1EB4-EB11-3731C8098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" y="2164"/>
              <a:ext cx="2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消费函数：</a:t>
              </a:r>
              <a:r>
                <a:rPr lang="en-US" altLang="zh-CN" sz="2400" b="1">
                  <a:latin typeface="Times New Roman" panose="02020603050405020304" pitchFamily="18" charset="0"/>
                </a:rPr>
                <a:t>C=a + cY</a:t>
              </a:r>
            </a:p>
          </p:txBody>
        </p:sp>
      </p:grpSp>
      <p:sp>
        <p:nvSpPr>
          <p:cNvPr id="369674" name="AutoShape 10">
            <a:extLst>
              <a:ext uri="{FF2B5EF4-FFF2-40B4-BE49-F238E27FC236}">
                <a16:creationId xmlns:a16="http://schemas.microsoft.com/office/drawing/2014/main" id="{0152593A-9A65-EA74-0560-507D3C306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4400550"/>
            <a:ext cx="3371850" cy="1466850"/>
          </a:xfrm>
          <a:prstGeom prst="wedgeEllipseCallout">
            <a:avLst>
              <a:gd name="adj1" fmla="val -35403"/>
              <a:gd name="adj2" fmla="val -9263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eaLnBrk="0" hangingPunct="0"/>
            <a:r>
              <a:rPr lang="zh-CN" altLang="en-US" sz="2400" b="1">
                <a:latin typeface="Times New Roman" panose="02020603050405020304" pitchFamily="18" charset="0"/>
              </a:rPr>
              <a:t>边际消费倾向</a:t>
            </a:r>
          </a:p>
          <a:p>
            <a:pPr eaLnBrk="0" hangingPunct="0"/>
            <a:r>
              <a:rPr lang="zh-CN" altLang="en-US" sz="2000" b="1">
                <a:latin typeface="Times New Roman" panose="02020603050405020304" pitchFamily="18" charset="0"/>
              </a:rPr>
              <a:t>可支配收入每增加一单位所增加的消费量</a:t>
            </a:r>
          </a:p>
        </p:txBody>
      </p:sp>
      <p:sp>
        <p:nvSpPr>
          <p:cNvPr id="369675" name="AutoShape 11">
            <a:extLst>
              <a:ext uri="{FF2B5EF4-FFF2-40B4-BE49-F238E27FC236}">
                <a16:creationId xmlns:a16="http://schemas.microsoft.com/office/drawing/2014/main" id="{F1C5DE69-228C-63AF-E232-575178E38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200" y="1739900"/>
            <a:ext cx="4241800" cy="914400"/>
          </a:xfrm>
          <a:prstGeom prst="wedgeEllipseCallout">
            <a:avLst>
              <a:gd name="adj1" fmla="val -33458"/>
              <a:gd name="adj2" fmla="val 16076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eaLnBrk="0" hangingPunct="0"/>
            <a:r>
              <a:rPr lang="zh-CN" altLang="en-US" sz="2400" b="1">
                <a:latin typeface="Times New Roman" panose="02020603050405020304" pitchFamily="18" charset="0"/>
              </a:rPr>
              <a:t>自主消费</a:t>
            </a:r>
          </a:p>
          <a:p>
            <a:pPr eaLnBrk="0" hangingPunct="0"/>
            <a:r>
              <a:rPr lang="zh-CN" altLang="en-US" sz="2000" b="1">
                <a:latin typeface="Times New Roman" panose="02020603050405020304" pitchFamily="18" charset="0"/>
              </a:rPr>
              <a:t>这部分消费与收入无关</a:t>
            </a:r>
          </a:p>
        </p:txBody>
      </p:sp>
      <p:sp>
        <p:nvSpPr>
          <p:cNvPr id="369676" name="AutoShape 12">
            <a:extLst>
              <a:ext uri="{FF2B5EF4-FFF2-40B4-BE49-F238E27FC236}">
                <a16:creationId xmlns:a16="http://schemas.microsoft.com/office/drawing/2014/main" id="{E92B1B31-4CFF-CD26-4944-18EA5B689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6350"/>
            <a:ext cx="4514850" cy="2152650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0800" rIns="0" bIns="10800" anchor="ctr"/>
          <a:lstStyle/>
          <a:p>
            <a:pPr algn="l" eaLnBrk="0" hangingPunct="0"/>
            <a:r>
              <a:rPr lang="en-US" altLang="zh-CN" sz="2400" b="1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三点补充：</a:t>
            </a:r>
          </a:p>
          <a:p>
            <a:pPr algn="l" eaLnBrk="0" hangingPunct="0"/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0&lt;b&lt;1</a:t>
            </a:r>
          </a:p>
          <a:p>
            <a:pPr algn="l" eaLnBrk="0" hangingPunct="0"/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边际储蓄倾向</a:t>
            </a:r>
          </a:p>
          <a:p>
            <a:pPr algn="l" eaLnBrk="0" hangingPunct="0"/>
            <a:endParaRPr lang="zh-CN" altLang="en-US" sz="1000" b="1">
              <a:latin typeface="Times New Roman" panose="02020603050405020304" pitchFamily="18" charset="0"/>
            </a:endParaRPr>
          </a:p>
          <a:p>
            <a:pPr algn="l" eaLnBrk="0" hangingPunct="0"/>
            <a:r>
              <a:rPr lang="zh-CN" altLang="en-US" sz="2200" b="1">
                <a:latin typeface="Times New Roman" panose="02020603050405020304" pitchFamily="18" charset="0"/>
              </a:rPr>
              <a:t>边际消费倾向</a:t>
            </a:r>
            <a:r>
              <a:rPr lang="en-US" altLang="zh-CN" sz="2200" b="1">
                <a:latin typeface="Times New Roman" panose="02020603050405020304" pitchFamily="18" charset="0"/>
              </a:rPr>
              <a:t>+</a:t>
            </a:r>
            <a:r>
              <a:rPr lang="zh-CN" altLang="en-US" sz="2200" b="1">
                <a:latin typeface="Times New Roman" panose="02020603050405020304" pitchFamily="18" charset="0"/>
              </a:rPr>
              <a:t>边际储蓄倾向＝</a:t>
            </a:r>
            <a:r>
              <a:rPr lang="en-US" altLang="zh-CN" sz="2200" b="1"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6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4" grpId="0" animBg="1" autoUpdateAnimBg="0"/>
      <p:bldP spid="369675" grpId="0" animBg="1" autoUpdateAnimBg="0"/>
      <p:bldP spid="369676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>
            <a:extLst>
              <a:ext uri="{FF2B5EF4-FFF2-40B4-BE49-F238E27FC236}">
                <a16:creationId xmlns:a16="http://schemas.microsoft.com/office/drawing/2014/main" id="{4521A021-1204-CF0B-3720-63A2D8F94E6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1.4</a:t>
            </a:r>
            <a:r>
              <a:rPr lang="zh-CN" altLang="en-US" b="1"/>
              <a:t>、收入支出分析</a:t>
            </a:r>
            <a:r>
              <a:rPr lang="en-US" altLang="zh-CN" b="1"/>
              <a:t>_</a:t>
            </a:r>
            <a:r>
              <a:rPr lang="zh-CN" altLang="en-US" b="1"/>
              <a:t>两部门经济</a:t>
            </a:r>
          </a:p>
        </p:txBody>
      </p:sp>
      <p:sp>
        <p:nvSpPr>
          <p:cNvPr id="370691" name="Rectangle 3">
            <a:extLst>
              <a:ext uri="{FF2B5EF4-FFF2-40B4-BE49-F238E27FC236}">
                <a16:creationId xmlns:a16="http://schemas.microsoft.com/office/drawing/2014/main" id="{F684951A-35C8-3322-F241-71F7B9241C2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1657350"/>
            <a:ext cx="7772400" cy="647700"/>
          </a:xfrm>
        </p:spPr>
        <p:txBody>
          <a:bodyPr/>
          <a:lstStyle/>
          <a:p>
            <a:r>
              <a:rPr lang="zh-CN" altLang="en-US" b="1"/>
              <a:t>两部门：居民和企业</a:t>
            </a:r>
          </a:p>
        </p:txBody>
      </p:sp>
      <p:sp>
        <p:nvSpPr>
          <p:cNvPr id="370692" name="Rectangle 4">
            <a:extLst>
              <a:ext uri="{FF2B5EF4-FFF2-40B4-BE49-F238E27FC236}">
                <a16:creationId xmlns:a16="http://schemas.microsoft.com/office/drawing/2014/main" id="{E436B191-3943-0D13-3D95-8EE8744E8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2343150"/>
            <a:ext cx="77724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b="1"/>
              <a:t>投资与当年收入水平无关</a:t>
            </a:r>
          </a:p>
        </p:txBody>
      </p:sp>
      <p:grpSp>
        <p:nvGrpSpPr>
          <p:cNvPr id="370693" name="Group 5">
            <a:extLst>
              <a:ext uri="{FF2B5EF4-FFF2-40B4-BE49-F238E27FC236}">
                <a16:creationId xmlns:a16="http://schemas.microsoft.com/office/drawing/2014/main" id="{D2BD9E3C-1EAD-3657-D7DB-8C029EDE66DF}"/>
              </a:ext>
            </a:extLst>
          </p:cNvPr>
          <p:cNvGrpSpPr>
            <a:grpSpLocks/>
          </p:cNvGrpSpPr>
          <p:nvPr/>
        </p:nvGrpSpPr>
        <p:grpSpPr bwMode="auto">
          <a:xfrm>
            <a:off x="2628900" y="3435350"/>
            <a:ext cx="6026150" cy="3028950"/>
            <a:chOff x="1656" y="2164"/>
            <a:chExt cx="3796" cy="1908"/>
          </a:xfrm>
        </p:grpSpPr>
        <p:sp>
          <p:nvSpPr>
            <p:cNvPr id="370694" name="Freeform 6">
              <a:extLst>
                <a:ext uri="{FF2B5EF4-FFF2-40B4-BE49-F238E27FC236}">
                  <a16:creationId xmlns:a16="http://schemas.microsoft.com/office/drawing/2014/main" id="{105F3DC9-94C5-7CAA-AAB1-531312799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1" y="2348"/>
              <a:ext cx="73" cy="1596"/>
            </a:xfrm>
            <a:custGeom>
              <a:avLst/>
              <a:gdLst>
                <a:gd name="T0" fmla="*/ 0 w 1"/>
                <a:gd name="T1" fmla="*/ 0 h 2175"/>
                <a:gd name="T2" fmla="*/ 0 w 1"/>
                <a:gd name="T3" fmla="*/ 2175 h 2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75">
                  <a:moveTo>
                    <a:pt x="0" y="0"/>
                  </a:moveTo>
                  <a:lnTo>
                    <a:pt x="0" y="2175"/>
                  </a:ln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695" name="Freeform 7">
              <a:extLst>
                <a:ext uri="{FF2B5EF4-FFF2-40B4-BE49-F238E27FC236}">
                  <a16:creationId xmlns:a16="http://schemas.microsoft.com/office/drawing/2014/main" id="{77222771-489E-89F1-769C-FB1138ADE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3961"/>
              <a:ext cx="2061" cy="0"/>
            </a:xfrm>
            <a:custGeom>
              <a:avLst/>
              <a:gdLst>
                <a:gd name="T0" fmla="*/ 0 w 2670"/>
                <a:gd name="T1" fmla="*/ 0 h 1"/>
                <a:gd name="T2" fmla="*/ 2670 w 267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70" h="1">
                  <a:moveTo>
                    <a:pt x="0" y="0"/>
                  </a:moveTo>
                  <a:lnTo>
                    <a:pt x="2670" y="0"/>
                  </a:lnTo>
                </a:path>
              </a:pathLst>
            </a:custGeom>
            <a:noFill/>
            <a:ln w="5715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696" name="Text Box 8">
              <a:extLst>
                <a:ext uri="{FF2B5EF4-FFF2-40B4-BE49-F238E27FC236}">
                  <a16:creationId xmlns:a16="http://schemas.microsoft.com/office/drawing/2014/main" id="{64B9B8EC-FB79-D942-324C-7769987BF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" y="2424"/>
              <a:ext cx="31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消费</a:t>
              </a:r>
            </a:p>
          </p:txBody>
        </p:sp>
        <p:sp>
          <p:nvSpPr>
            <p:cNvPr id="370697" name="Text Box 9">
              <a:extLst>
                <a:ext uri="{FF2B5EF4-FFF2-40B4-BE49-F238E27FC236}">
                  <a16:creationId xmlns:a16="http://schemas.microsoft.com/office/drawing/2014/main" id="{91A9A546-FA51-7348-2B65-AE3FF0999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6" y="3784"/>
              <a:ext cx="11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收入</a:t>
              </a:r>
            </a:p>
          </p:txBody>
        </p:sp>
        <p:sp>
          <p:nvSpPr>
            <p:cNvPr id="370698" name="Line 10">
              <a:extLst>
                <a:ext uri="{FF2B5EF4-FFF2-40B4-BE49-F238E27FC236}">
                  <a16:creationId xmlns:a16="http://schemas.microsoft.com/office/drawing/2014/main" id="{BD794D98-A23D-E37D-6C07-50BFA3E10B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2448"/>
              <a:ext cx="1740" cy="1104"/>
            </a:xfrm>
            <a:prstGeom prst="line">
              <a:avLst/>
            </a:prstGeom>
            <a:noFill/>
            <a:ln w="57150">
              <a:solidFill>
                <a:srgbClr val="66FF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699" name="Text Box 11">
              <a:extLst>
                <a:ext uri="{FF2B5EF4-FFF2-40B4-BE49-F238E27FC236}">
                  <a16:creationId xmlns:a16="http://schemas.microsoft.com/office/drawing/2014/main" id="{B4E5437B-D1C5-1669-F218-3A5902BB5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" y="2164"/>
              <a:ext cx="2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消费函数：</a:t>
              </a:r>
              <a:r>
                <a:rPr lang="en-US" altLang="zh-CN" sz="2400" b="1">
                  <a:latin typeface="Times New Roman" panose="02020603050405020304" pitchFamily="18" charset="0"/>
                </a:rPr>
                <a:t>C=a + cY</a:t>
              </a:r>
            </a:p>
          </p:txBody>
        </p:sp>
      </p:grpSp>
      <p:sp>
        <p:nvSpPr>
          <p:cNvPr id="370701" name="Line 13">
            <a:extLst>
              <a:ext uri="{FF2B5EF4-FFF2-40B4-BE49-F238E27FC236}">
                <a16:creationId xmlns:a16="http://schemas.microsoft.com/office/drawing/2014/main" id="{6E5880AA-DA5A-ECFB-966F-0619D7E172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1850" y="5924550"/>
            <a:ext cx="3276600" cy="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0702" name="Text Box 14">
            <a:extLst>
              <a:ext uri="{FF2B5EF4-FFF2-40B4-BE49-F238E27FC236}">
                <a16:creationId xmlns:a16="http://schemas.microsoft.com/office/drawing/2014/main" id="{AFA7A9B8-DBFA-D149-7CCA-FB99F17E1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6700" y="563880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总投资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2" grpId="0" build="p" autoUpdateAnimBg="0"/>
      <p:bldP spid="37070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>
            <a:extLst>
              <a:ext uri="{FF2B5EF4-FFF2-40B4-BE49-F238E27FC236}">
                <a16:creationId xmlns:a16="http://schemas.microsoft.com/office/drawing/2014/main" id="{83F14802-133A-9851-94A4-BE4757FD5E6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1.4</a:t>
            </a:r>
            <a:r>
              <a:rPr lang="zh-CN" altLang="en-US" b="1"/>
              <a:t>、收入支出分析</a:t>
            </a:r>
            <a:r>
              <a:rPr lang="en-US" altLang="zh-CN" b="1"/>
              <a:t>_</a:t>
            </a:r>
            <a:r>
              <a:rPr lang="zh-CN" altLang="en-US" b="1"/>
              <a:t>两部门经济的均衡产出</a:t>
            </a:r>
          </a:p>
        </p:txBody>
      </p:sp>
      <p:sp>
        <p:nvSpPr>
          <p:cNvPr id="371715" name="Rectangle 3">
            <a:extLst>
              <a:ext uri="{FF2B5EF4-FFF2-40B4-BE49-F238E27FC236}">
                <a16:creationId xmlns:a16="http://schemas.microsoft.com/office/drawing/2014/main" id="{F3AFD815-2A2B-54D0-DD82-83EE9F3F3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1714500"/>
            <a:ext cx="77724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是前面分析的具体运用</a:t>
            </a:r>
          </a:p>
        </p:txBody>
      </p:sp>
      <p:grpSp>
        <p:nvGrpSpPr>
          <p:cNvPr id="371716" name="Group 4">
            <a:extLst>
              <a:ext uri="{FF2B5EF4-FFF2-40B4-BE49-F238E27FC236}">
                <a16:creationId xmlns:a16="http://schemas.microsoft.com/office/drawing/2014/main" id="{3EB946C6-B9CB-7CC2-2473-872B52344F93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435350"/>
            <a:ext cx="6026150" cy="3028950"/>
            <a:chOff x="1656" y="2164"/>
            <a:chExt cx="3796" cy="1908"/>
          </a:xfrm>
        </p:grpSpPr>
        <p:grpSp>
          <p:nvGrpSpPr>
            <p:cNvPr id="371717" name="Group 5">
              <a:extLst>
                <a:ext uri="{FF2B5EF4-FFF2-40B4-BE49-F238E27FC236}">
                  <a16:creationId xmlns:a16="http://schemas.microsoft.com/office/drawing/2014/main" id="{43ABF74A-40DF-B763-FC48-BEDF1FD1BF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6" y="2164"/>
              <a:ext cx="3796" cy="1908"/>
              <a:chOff x="1656" y="2164"/>
              <a:chExt cx="3796" cy="1908"/>
            </a:xfrm>
          </p:grpSpPr>
          <p:sp>
            <p:nvSpPr>
              <p:cNvPr id="371718" name="Freeform 6">
                <a:extLst>
                  <a:ext uri="{FF2B5EF4-FFF2-40B4-BE49-F238E27FC236}">
                    <a16:creationId xmlns:a16="http://schemas.microsoft.com/office/drawing/2014/main" id="{6EEC35F5-7B80-6EBD-57C6-9C88755AE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2348"/>
                <a:ext cx="73" cy="1596"/>
              </a:xfrm>
              <a:custGeom>
                <a:avLst/>
                <a:gdLst>
                  <a:gd name="T0" fmla="*/ 0 w 1"/>
                  <a:gd name="T1" fmla="*/ 0 h 2175"/>
                  <a:gd name="T2" fmla="*/ 0 w 1"/>
                  <a:gd name="T3" fmla="*/ 2175 h 2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175">
                    <a:moveTo>
                      <a:pt x="0" y="0"/>
                    </a:moveTo>
                    <a:lnTo>
                      <a:pt x="0" y="2175"/>
                    </a:lnTo>
                  </a:path>
                </a:pathLst>
              </a:custGeom>
              <a:noFill/>
              <a:ln w="5715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1719" name="Freeform 7">
                <a:extLst>
                  <a:ext uri="{FF2B5EF4-FFF2-40B4-BE49-F238E27FC236}">
                    <a16:creationId xmlns:a16="http://schemas.microsoft.com/office/drawing/2014/main" id="{C69E771D-AB62-B096-AC62-49BB6255F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4" y="3961"/>
                <a:ext cx="2061" cy="0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1720" name="Text Box 8">
                <a:extLst>
                  <a:ext uri="{FF2B5EF4-FFF2-40B4-BE49-F238E27FC236}">
                    <a16:creationId xmlns:a16="http://schemas.microsoft.com/office/drawing/2014/main" id="{CEC57A4E-7990-F6AC-89C4-F62C0C1AE1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6" y="2424"/>
                <a:ext cx="312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zh-CN" altLang="en-US" sz="2400" b="1">
                    <a:latin typeface="Times New Roman" panose="02020603050405020304" pitchFamily="18" charset="0"/>
                  </a:rPr>
                  <a:t>消费</a:t>
                </a:r>
              </a:p>
            </p:txBody>
          </p:sp>
          <p:sp>
            <p:nvSpPr>
              <p:cNvPr id="371721" name="Text Box 9">
                <a:extLst>
                  <a:ext uri="{FF2B5EF4-FFF2-40B4-BE49-F238E27FC236}">
                    <a16:creationId xmlns:a16="http://schemas.microsoft.com/office/drawing/2014/main" id="{B887B1F6-B190-964A-0CF0-5EA44C6B11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6" y="3784"/>
                <a:ext cx="11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zh-CN" altLang="en-US" sz="2400" b="1">
                    <a:latin typeface="Times New Roman" panose="02020603050405020304" pitchFamily="18" charset="0"/>
                  </a:rPr>
                  <a:t>收入</a:t>
                </a:r>
              </a:p>
            </p:txBody>
          </p:sp>
          <p:sp>
            <p:nvSpPr>
              <p:cNvPr id="371722" name="Line 10">
                <a:extLst>
                  <a:ext uri="{FF2B5EF4-FFF2-40B4-BE49-F238E27FC236}">
                    <a16:creationId xmlns:a16="http://schemas.microsoft.com/office/drawing/2014/main" id="{FBE76CB6-556D-D37C-328B-42D48E564A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2" y="2448"/>
                <a:ext cx="1740" cy="1104"/>
              </a:xfrm>
              <a:prstGeom prst="line">
                <a:avLst/>
              </a:prstGeom>
              <a:noFill/>
              <a:ln w="57150">
                <a:solidFill>
                  <a:srgbClr val="66FF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1723" name="Text Box 11">
                <a:extLst>
                  <a:ext uri="{FF2B5EF4-FFF2-40B4-BE49-F238E27FC236}">
                    <a16:creationId xmlns:a16="http://schemas.microsoft.com/office/drawing/2014/main" id="{E97ACFCF-6767-875C-B639-74BD437C43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2" y="2164"/>
                <a:ext cx="23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zh-CN" sz="24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1724" name="Line 12">
              <a:extLst>
                <a:ext uri="{FF2B5EF4-FFF2-40B4-BE49-F238E27FC236}">
                  <a16:creationId xmlns:a16="http://schemas.microsoft.com/office/drawing/2014/main" id="{49E85BC6-CF5F-8963-878B-9662508F4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744"/>
              <a:ext cx="2064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725" name="Text Box 13">
              <a:extLst>
                <a:ext uri="{FF2B5EF4-FFF2-40B4-BE49-F238E27FC236}">
                  <a16:creationId xmlns:a16="http://schemas.microsoft.com/office/drawing/2014/main" id="{3889A57C-1359-A4AE-3970-A8FE049F0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" y="3628"/>
              <a:ext cx="7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endParaRPr lang="zh-CN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371726" name="Line 14">
            <a:extLst>
              <a:ext uri="{FF2B5EF4-FFF2-40B4-BE49-F238E27FC236}">
                <a16:creationId xmlns:a16="http://schemas.microsoft.com/office/drawing/2014/main" id="{2DEBA04C-6B10-578E-A563-872C7E9C2B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71700" y="3048000"/>
            <a:ext cx="3352800" cy="2057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1727" name="Text Box 15">
            <a:extLst>
              <a:ext uri="{FF2B5EF4-FFF2-40B4-BE49-F238E27FC236}">
                <a16:creationId xmlns:a16="http://schemas.microsoft.com/office/drawing/2014/main" id="{B9A76570-5CC5-2A03-C414-11A7D9A57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743200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总支出曲线</a:t>
            </a:r>
            <a:r>
              <a:rPr lang="en-US" altLang="zh-CN" sz="2400" b="1">
                <a:latin typeface="Times New Roman" panose="02020603050405020304" pitchFamily="18" charset="0"/>
              </a:rPr>
              <a:t>:AE</a:t>
            </a:r>
          </a:p>
        </p:txBody>
      </p:sp>
      <p:sp>
        <p:nvSpPr>
          <p:cNvPr id="371728" name="Line 16">
            <a:extLst>
              <a:ext uri="{FF2B5EF4-FFF2-40B4-BE49-F238E27FC236}">
                <a16:creationId xmlns:a16="http://schemas.microsoft.com/office/drawing/2014/main" id="{2332BF30-04D4-CD9D-C067-21397C0A2B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47900" y="2667000"/>
            <a:ext cx="3276600" cy="3543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1729" name="Freeform 17">
            <a:extLst>
              <a:ext uri="{FF2B5EF4-FFF2-40B4-BE49-F238E27FC236}">
                <a16:creationId xmlns:a16="http://schemas.microsoft.com/office/drawing/2014/main" id="{E3003514-1CA4-B84D-2D6D-BEAF213B02DE}"/>
              </a:ext>
            </a:extLst>
          </p:cNvPr>
          <p:cNvSpPr>
            <a:spLocks/>
          </p:cNvSpPr>
          <p:nvPr/>
        </p:nvSpPr>
        <p:spPr bwMode="auto">
          <a:xfrm>
            <a:off x="2686050" y="5829300"/>
            <a:ext cx="231775" cy="381000"/>
          </a:xfrm>
          <a:custGeom>
            <a:avLst/>
            <a:gdLst>
              <a:gd name="T0" fmla="*/ 0 w 146"/>
              <a:gd name="T1" fmla="*/ 0 h 240"/>
              <a:gd name="T2" fmla="*/ 132 w 146"/>
              <a:gd name="T3" fmla="*/ 72 h 240"/>
              <a:gd name="T4" fmla="*/ 84 w 146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6" h="240">
                <a:moveTo>
                  <a:pt x="0" y="0"/>
                </a:moveTo>
                <a:cubicBezTo>
                  <a:pt x="22" y="12"/>
                  <a:pt x="118" y="32"/>
                  <a:pt x="132" y="72"/>
                </a:cubicBezTo>
                <a:cubicBezTo>
                  <a:pt x="146" y="112"/>
                  <a:pt x="94" y="205"/>
                  <a:pt x="84" y="240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1730" name="Text Box 18">
            <a:extLst>
              <a:ext uri="{FF2B5EF4-FFF2-40B4-BE49-F238E27FC236}">
                <a16:creationId xmlns:a16="http://schemas.microsoft.com/office/drawing/2014/main" id="{8FDA0781-8E66-2B9F-983E-3759EBB21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3700" y="5694363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45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˚</a:t>
            </a:r>
          </a:p>
        </p:txBody>
      </p:sp>
      <p:sp>
        <p:nvSpPr>
          <p:cNvPr id="371731" name="Line 19">
            <a:extLst>
              <a:ext uri="{FF2B5EF4-FFF2-40B4-BE49-F238E27FC236}">
                <a16:creationId xmlns:a16="http://schemas.microsoft.com/office/drawing/2014/main" id="{036C7ACD-75A8-519C-1293-B489FDBCD9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3581400"/>
            <a:ext cx="0" cy="26670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7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7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7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5" grpId="0" autoUpdateAnimBg="0"/>
      <p:bldP spid="371727" grpId="0" autoUpdateAnimBg="0"/>
      <p:bldP spid="37173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>
            <a:extLst>
              <a:ext uri="{FF2B5EF4-FFF2-40B4-BE49-F238E27FC236}">
                <a16:creationId xmlns:a16="http://schemas.microsoft.com/office/drawing/2014/main" id="{FC82B289-F553-A478-4A38-ECD6896911D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81000" y="152400"/>
            <a:ext cx="8540750" cy="1371600"/>
          </a:xfrm>
        </p:spPr>
        <p:txBody>
          <a:bodyPr/>
          <a:lstStyle/>
          <a:p>
            <a:r>
              <a:rPr lang="en-US" altLang="zh-CN" b="1"/>
              <a:t>1.4</a:t>
            </a:r>
            <a:r>
              <a:rPr lang="zh-CN" altLang="en-US" b="1"/>
              <a:t>、收入支出分析</a:t>
            </a:r>
            <a:r>
              <a:rPr lang="en-US" altLang="zh-CN" b="1"/>
              <a:t>_</a:t>
            </a:r>
            <a:r>
              <a:rPr lang="zh-CN" altLang="en-US" b="1"/>
              <a:t>两部门经济的均衡产出（数学推导）</a:t>
            </a:r>
          </a:p>
        </p:txBody>
      </p:sp>
      <p:sp>
        <p:nvSpPr>
          <p:cNvPr id="376835" name="Rectangle 3">
            <a:extLst>
              <a:ext uri="{FF2B5EF4-FFF2-40B4-BE49-F238E27FC236}">
                <a16:creationId xmlns:a16="http://schemas.microsoft.com/office/drawing/2014/main" id="{29B575EA-270B-B1D6-68DA-8ECA0B546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1714500"/>
            <a:ext cx="20383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总需求</a:t>
            </a:r>
          </a:p>
        </p:txBody>
      </p:sp>
      <p:graphicFrame>
        <p:nvGraphicFramePr>
          <p:cNvPr id="376852" name="Object 20">
            <a:extLst>
              <a:ext uri="{FF2B5EF4-FFF2-40B4-BE49-F238E27FC236}">
                <a16:creationId xmlns:a16="http://schemas.microsoft.com/office/drawing/2014/main" id="{60231902-7372-3F9D-54FA-C8761F531F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1857375"/>
          <a:ext cx="11430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177480" progId="Equation.DSMT4">
                  <p:embed/>
                </p:oleObj>
              </mc:Choice>
              <mc:Fallback>
                <p:oleObj name="Equation" r:id="rId2" imgW="736560" imgH="1774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857375"/>
                        <a:ext cx="11430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53" name="Object 21">
            <a:extLst>
              <a:ext uri="{FF2B5EF4-FFF2-40B4-BE49-F238E27FC236}">
                <a16:creationId xmlns:a16="http://schemas.microsoft.com/office/drawing/2014/main" id="{347E152D-8DEA-2DBA-F0FE-364DC06076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4888" y="2514600"/>
          <a:ext cx="1636712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228600" progId="Equation.DSMT4">
                  <p:embed/>
                </p:oleObj>
              </mc:Choice>
              <mc:Fallback>
                <p:oleObj name="Equation" r:id="rId4" imgW="1054080" imgH="228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4888" y="2514600"/>
                        <a:ext cx="1636712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54" name="Object 22">
            <a:extLst>
              <a:ext uri="{FF2B5EF4-FFF2-40B4-BE49-F238E27FC236}">
                <a16:creationId xmlns:a16="http://schemas.microsoft.com/office/drawing/2014/main" id="{A4814BF9-CEC8-703C-53E2-C69D47618B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6813" y="3643313"/>
          <a:ext cx="7889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164880" progId="Equation.DSMT4">
                  <p:embed/>
                </p:oleObj>
              </mc:Choice>
              <mc:Fallback>
                <p:oleObj name="Equation" r:id="rId6" imgW="507960" imgH="16488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813" y="3643313"/>
                        <a:ext cx="78898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55" name="Object 23">
            <a:extLst>
              <a:ext uri="{FF2B5EF4-FFF2-40B4-BE49-F238E27FC236}">
                <a16:creationId xmlns:a16="http://schemas.microsoft.com/office/drawing/2014/main" id="{2E68EBD9-229E-041B-4EC8-C8BE09AFCE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5800" y="2563813"/>
          <a:ext cx="18542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93760" imgH="177480" progId="Equation.DSMT4">
                  <p:embed/>
                </p:oleObj>
              </mc:Choice>
              <mc:Fallback>
                <p:oleObj name="Equation" r:id="rId8" imgW="1193760" imgH="1774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2563813"/>
                        <a:ext cx="18542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57" name="Object 25">
            <a:extLst>
              <a:ext uri="{FF2B5EF4-FFF2-40B4-BE49-F238E27FC236}">
                <a16:creationId xmlns:a16="http://schemas.microsoft.com/office/drawing/2014/main" id="{1B39DE64-42D5-6E23-BFE4-18446F60B9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448175"/>
          <a:ext cx="137953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8840" imgH="177480" progId="Equation.DSMT4">
                  <p:embed/>
                </p:oleObj>
              </mc:Choice>
              <mc:Fallback>
                <p:oleObj name="Equation" r:id="rId10" imgW="888840" imgH="17748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448175"/>
                        <a:ext cx="137953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58" name="Object 26">
            <a:extLst>
              <a:ext uri="{FF2B5EF4-FFF2-40B4-BE49-F238E27FC236}">
                <a16:creationId xmlns:a16="http://schemas.microsoft.com/office/drawing/2014/main" id="{F7628652-DEC4-3253-9459-6B0A0EC0A1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2000" y="4283075"/>
          <a:ext cx="13208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0680" imgH="393480" progId="Equation.DSMT4">
                  <p:embed/>
                </p:oleObj>
              </mc:Choice>
              <mc:Fallback>
                <p:oleObj name="Equation" r:id="rId12" imgW="850680" imgH="3934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4283075"/>
                        <a:ext cx="13208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59" name="Rectangle 27">
            <a:extLst>
              <a:ext uri="{FF2B5EF4-FFF2-40B4-BE49-F238E27FC236}">
                <a16:creationId xmlns:a16="http://schemas.microsoft.com/office/drawing/2014/main" id="{04524084-9932-EE77-ECE6-21E79170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438400"/>
            <a:ext cx="3124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带入消费函数</a:t>
            </a:r>
          </a:p>
        </p:txBody>
      </p:sp>
      <p:sp>
        <p:nvSpPr>
          <p:cNvPr id="376860" name="Rectangle 28">
            <a:extLst>
              <a:ext uri="{FF2B5EF4-FFF2-40B4-BE49-F238E27FC236}">
                <a16:creationId xmlns:a16="http://schemas.microsoft.com/office/drawing/2014/main" id="{A292D86D-365C-A1CE-72A4-6D96F2F67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429000"/>
            <a:ext cx="24384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均衡条件</a:t>
            </a:r>
          </a:p>
        </p:txBody>
      </p:sp>
      <p:sp>
        <p:nvSpPr>
          <p:cNvPr id="376861" name="Rectangle 29">
            <a:extLst>
              <a:ext uri="{FF2B5EF4-FFF2-40B4-BE49-F238E27FC236}">
                <a16:creationId xmlns:a16="http://schemas.microsoft.com/office/drawing/2014/main" id="{3DEBD876-BE75-FEF7-040D-951637E5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343400"/>
            <a:ext cx="23622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均衡产出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6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7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76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7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76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37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7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376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37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5" grpId="0" autoUpdateAnimBg="0"/>
      <p:bldP spid="376859" grpId="0" autoUpdateAnimBg="0"/>
      <p:bldP spid="376860" grpId="0" autoUpdateAnimBg="0"/>
      <p:bldP spid="37686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>
            <a:extLst>
              <a:ext uri="{FF2B5EF4-FFF2-40B4-BE49-F238E27FC236}">
                <a16:creationId xmlns:a16="http://schemas.microsoft.com/office/drawing/2014/main" id="{9872304F-6409-3976-F9FF-F838CF5B64A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228600"/>
            <a:ext cx="8616950" cy="1219200"/>
          </a:xfrm>
        </p:spPr>
        <p:txBody>
          <a:bodyPr/>
          <a:lstStyle/>
          <a:p>
            <a:r>
              <a:rPr lang="en-US" altLang="zh-CN" b="1"/>
              <a:t>1.4</a:t>
            </a:r>
            <a:r>
              <a:rPr lang="zh-CN" altLang="en-US" b="1"/>
              <a:t>、收入支出分析</a:t>
            </a:r>
            <a:r>
              <a:rPr lang="en-US" altLang="zh-CN" b="1"/>
              <a:t>_</a:t>
            </a:r>
            <a:r>
              <a:rPr lang="zh-CN" altLang="en-US" b="1"/>
              <a:t>两部门经济中的乘数</a:t>
            </a:r>
          </a:p>
        </p:txBody>
      </p:sp>
      <p:sp>
        <p:nvSpPr>
          <p:cNvPr id="372739" name="Rectangle 3">
            <a:extLst>
              <a:ext uri="{FF2B5EF4-FFF2-40B4-BE49-F238E27FC236}">
                <a16:creationId xmlns:a16="http://schemas.microsoft.com/office/drawing/2014/main" id="{266D212F-C849-10C9-7C54-5CA3E5B02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1714500"/>
            <a:ext cx="77724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投资对均衡产出的影响过程</a:t>
            </a:r>
            <a:r>
              <a:rPr lang="en-US" altLang="zh-CN" b="1"/>
              <a:t>.</a:t>
            </a:r>
          </a:p>
        </p:txBody>
      </p:sp>
      <p:sp>
        <p:nvSpPr>
          <p:cNvPr id="372740" name="Rectangle 4">
            <a:extLst>
              <a:ext uri="{FF2B5EF4-FFF2-40B4-BE49-F238E27FC236}">
                <a16:creationId xmlns:a16="http://schemas.microsoft.com/office/drawing/2014/main" id="{F332322D-9455-97E6-B95B-25ED0957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2457450"/>
            <a:ext cx="840105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投资的任何变动和其所引起的</a:t>
            </a:r>
            <a:r>
              <a:rPr lang="en-US" altLang="zh-CN" sz="2800" b="1"/>
              <a:t>GDP</a:t>
            </a:r>
            <a:r>
              <a:rPr lang="zh-CN" altLang="en-US" sz="2800" b="1"/>
              <a:t>最终变动之间的关系，叫（投资）乘数</a:t>
            </a:r>
          </a:p>
        </p:txBody>
      </p:sp>
      <p:sp>
        <p:nvSpPr>
          <p:cNvPr id="372741" name="Rectangle 5">
            <a:extLst>
              <a:ext uri="{FF2B5EF4-FFF2-40B4-BE49-F238E27FC236}">
                <a16:creationId xmlns:a16="http://schemas.microsoft.com/office/drawing/2014/main" id="{CC90E1EC-A33C-6E8C-44FC-0863F9236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3524250"/>
            <a:ext cx="37909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b="1"/>
              <a:t>乘数的计算公式</a:t>
            </a:r>
          </a:p>
        </p:txBody>
      </p:sp>
      <p:sp>
        <p:nvSpPr>
          <p:cNvPr id="372742" name="Rectangle 6">
            <a:extLst>
              <a:ext uri="{FF2B5EF4-FFF2-40B4-BE49-F238E27FC236}">
                <a16:creationId xmlns:a16="http://schemas.microsoft.com/office/drawing/2014/main" id="{193612F5-18EA-BA4D-A8B7-C9878F3E2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4229100"/>
            <a:ext cx="77724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b="1"/>
              <a:t>乘数的经济含义</a:t>
            </a:r>
          </a:p>
        </p:txBody>
      </p:sp>
      <p:sp>
        <p:nvSpPr>
          <p:cNvPr id="372743" name="Rectangle 7">
            <a:extLst>
              <a:ext uri="{FF2B5EF4-FFF2-40B4-BE49-F238E27FC236}">
                <a16:creationId xmlns:a16="http://schemas.microsoft.com/office/drawing/2014/main" id="{8F6A32A9-7A3A-D5D2-A123-E064A1E9E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895850"/>
            <a:ext cx="53340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自主消费的乘数是多少？</a:t>
            </a:r>
          </a:p>
        </p:txBody>
      </p:sp>
      <p:graphicFrame>
        <p:nvGraphicFramePr>
          <p:cNvPr id="372744" name="Object 8">
            <a:extLst>
              <a:ext uri="{FF2B5EF4-FFF2-40B4-BE49-F238E27FC236}">
                <a16:creationId xmlns:a16="http://schemas.microsoft.com/office/drawing/2014/main" id="{7C474B74-84F0-634A-28D8-291C64BCC6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9138" y="3429000"/>
          <a:ext cx="493712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393480" progId="Equation.DSMT4">
                  <p:embed/>
                </p:oleObj>
              </mc:Choice>
              <mc:Fallback>
                <p:oleObj name="Equation" r:id="rId2" imgW="31716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3429000"/>
                        <a:ext cx="493712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2745" name="Object 9">
            <a:extLst>
              <a:ext uri="{FF2B5EF4-FFF2-40B4-BE49-F238E27FC236}">
                <a16:creationId xmlns:a16="http://schemas.microsoft.com/office/drawing/2014/main" id="{762E1C11-9742-7F97-8FE1-F2F09D6517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3411538"/>
          <a:ext cx="84772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431640" progId="Equation.DSMT4">
                  <p:embed/>
                </p:oleObj>
              </mc:Choice>
              <mc:Fallback>
                <p:oleObj name="Equation" r:id="rId4" imgW="545760" imgH="4316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411538"/>
                        <a:ext cx="847725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2746" name="Rectangle 10">
            <a:extLst>
              <a:ext uri="{FF2B5EF4-FFF2-40B4-BE49-F238E27FC236}">
                <a16:creationId xmlns:a16="http://schemas.microsoft.com/office/drawing/2014/main" id="{29810123-A979-B732-134D-2AA5B8AAA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791200"/>
            <a:ext cx="8686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/>
              <a:t>乘数主要用来刻画外生变量变动一单位对内生变量的影响的大小。</a:t>
            </a:r>
          </a:p>
          <a:p>
            <a:r>
              <a:rPr lang="en-US" altLang="zh-CN" sz="2000" b="1"/>
              <a:t>Richard</a:t>
            </a:r>
            <a:r>
              <a:rPr lang="en-US" altLang="zh-CN" sz="2000" b="1">
                <a:latin typeface="Times New Roman" panose="02020603050405020304" pitchFamily="18" charset="0"/>
              </a:rPr>
              <a:t> </a:t>
            </a:r>
            <a:r>
              <a:rPr lang="en-US" altLang="zh-CN" sz="2000" b="1"/>
              <a:t>Kahn  (1931) </a:t>
            </a:r>
            <a:r>
              <a:rPr lang="zh-CN" altLang="en-US" sz="2000" b="1"/>
              <a:t>： </a:t>
            </a:r>
            <a:r>
              <a:rPr lang="en-US" altLang="zh-CN" sz="1800" b="1"/>
              <a:t>the theory of the income-expenditure multiplier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7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37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7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7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autoUpdateAnimBg="0"/>
      <p:bldP spid="372740" grpId="0" autoUpdateAnimBg="0"/>
      <p:bldP spid="372741" grpId="0" autoUpdateAnimBg="0"/>
      <p:bldP spid="372742" grpId="0" autoUpdateAnimBg="0"/>
      <p:bldP spid="372743" grpId="0" autoUpdateAnimBg="0"/>
      <p:bldP spid="37274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>
            <a:extLst>
              <a:ext uri="{FF2B5EF4-FFF2-40B4-BE49-F238E27FC236}">
                <a16:creationId xmlns:a16="http://schemas.microsoft.com/office/drawing/2014/main" id="{2D4ABAE9-29C6-1B7E-8793-A923C29AE2A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1.5</a:t>
            </a:r>
            <a:r>
              <a:rPr lang="zh-CN" altLang="en-US" b="1"/>
              <a:t>、收入支出分析</a:t>
            </a:r>
            <a:r>
              <a:rPr lang="en-US" altLang="zh-CN" b="1"/>
              <a:t>_</a:t>
            </a:r>
            <a:r>
              <a:rPr lang="zh-CN" altLang="en-US" b="1"/>
              <a:t>三部门经济</a:t>
            </a:r>
          </a:p>
        </p:txBody>
      </p:sp>
      <p:sp>
        <p:nvSpPr>
          <p:cNvPr id="374787" name="Rectangle 3">
            <a:extLst>
              <a:ext uri="{FF2B5EF4-FFF2-40B4-BE49-F238E27FC236}">
                <a16:creationId xmlns:a16="http://schemas.microsoft.com/office/drawing/2014/main" id="{FDB93D2B-7C15-E259-2E57-F478FFBA2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447800"/>
            <a:ext cx="48577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引入政府：政府做什么？</a:t>
            </a:r>
          </a:p>
        </p:txBody>
      </p:sp>
      <p:sp>
        <p:nvSpPr>
          <p:cNvPr id="374796" name="Text Box 12">
            <a:extLst>
              <a:ext uri="{FF2B5EF4-FFF2-40B4-BE49-F238E27FC236}">
                <a16:creationId xmlns:a16="http://schemas.microsoft.com/office/drawing/2014/main" id="{064EF905-21B8-2EBE-A073-4C59EE786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68325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zh-CN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374814" name="Group 30">
            <a:extLst>
              <a:ext uri="{FF2B5EF4-FFF2-40B4-BE49-F238E27FC236}">
                <a16:creationId xmlns:a16="http://schemas.microsoft.com/office/drawing/2014/main" id="{CF9F843F-CFBF-DC45-5BB8-BDDDFDDCC5D0}"/>
              </a:ext>
            </a:extLst>
          </p:cNvPr>
          <p:cNvGrpSpPr>
            <a:grpSpLocks/>
          </p:cNvGrpSpPr>
          <p:nvPr/>
        </p:nvGrpSpPr>
        <p:grpSpPr bwMode="auto">
          <a:xfrm>
            <a:off x="2889250" y="2940050"/>
            <a:ext cx="6026150" cy="3384550"/>
            <a:chOff x="1820" y="1852"/>
            <a:chExt cx="3796" cy="2132"/>
          </a:xfrm>
        </p:grpSpPr>
        <p:grpSp>
          <p:nvGrpSpPr>
            <p:cNvPr id="374789" name="Group 5">
              <a:extLst>
                <a:ext uri="{FF2B5EF4-FFF2-40B4-BE49-F238E27FC236}">
                  <a16:creationId xmlns:a16="http://schemas.microsoft.com/office/drawing/2014/main" id="{7B90EDEB-E8B5-4337-396A-B824614C52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0" y="1852"/>
              <a:ext cx="3796" cy="2132"/>
              <a:chOff x="1656" y="2164"/>
              <a:chExt cx="3796" cy="1873"/>
            </a:xfrm>
          </p:grpSpPr>
          <p:sp>
            <p:nvSpPr>
              <p:cNvPr id="374790" name="Freeform 6">
                <a:extLst>
                  <a:ext uri="{FF2B5EF4-FFF2-40B4-BE49-F238E27FC236}">
                    <a16:creationId xmlns:a16="http://schemas.microsoft.com/office/drawing/2014/main" id="{8FCAB9D5-9B4E-6DBC-DA3E-01EBA70C7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2348"/>
                <a:ext cx="73" cy="1596"/>
              </a:xfrm>
              <a:custGeom>
                <a:avLst/>
                <a:gdLst>
                  <a:gd name="T0" fmla="*/ 0 w 1"/>
                  <a:gd name="T1" fmla="*/ 0 h 2175"/>
                  <a:gd name="T2" fmla="*/ 0 w 1"/>
                  <a:gd name="T3" fmla="*/ 2175 h 2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175">
                    <a:moveTo>
                      <a:pt x="0" y="0"/>
                    </a:moveTo>
                    <a:lnTo>
                      <a:pt x="0" y="2175"/>
                    </a:lnTo>
                  </a:path>
                </a:pathLst>
              </a:custGeom>
              <a:noFill/>
              <a:ln w="5715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4791" name="Freeform 7">
                <a:extLst>
                  <a:ext uri="{FF2B5EF4-FFF2-40B4-BE49-F238E27FC236}">
                    <a16:creationId xmlns:a16="http://schemas.microsoft.com/office/drawing/2014/main" id="{2ABE69E1-C85E-0786-2DD2-D5E12B0582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4" y="3961"/>
                <a:ext cx="2061" cy="0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4792" name="Text Box 8">
                <a:extLst>
                  <a:ext uri="{FF2B5EF4-FFF2-40B4-BE49-F238E27FC236}">
                    <a16:creationId xmlns:a16="http://schemas.microsoft.com/office/drawing/2014/main" id="{D3522F80-CDFC-D105-0B1F-E541F9A4FC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6" y="2424"/>
                <a:ext cx="312" cy="4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zh-CN" altLang="en-US" sz="2400" b="1">
                    <a:latin typeface="Times New Roman" panose="02020603050405020304" pitchFamily="18" charset="0"/>
                  </a:rPr>
                  <a:t>支出</a:t>
                </a:r>
              </a:p>
            </p:txBody>
          </p:sp>
          <p:sp>
            <p:nvSpPr>
              <p:cNvPr id="374793" name="Text Box 9">
                <a:extLst>
                  <a:ext uri="{FF2B5EF4-FFF2-40B4-BE49-F238E27FC236}">
                    <a16:creationId xmlns:a16="http://schemas.microsoft.com/office/drawing/2014/main" id="{35DDA4BB-20ED-66FF-42B7-F7FEEBCA0F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6" y="3784"/>
                <a:ext cx="1176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zh-CN" altLang="en-US" sz="2400" b="1">
                    <a:latin typeface="Times New Roman" panose="02020603050405020304" pitchFamily="18" charset="0"/>
                  </a:rPr>
                  <a:t>产出＝收入</a:t>
                </a:r>
              </a:p>
            </p:txBody>
          </p:sp>
          <p:sp>
            <p:nvSpPr>
              <p:cNvPr id="374794" name="Line 10">
                <a:extLst>
                  <a:ext uri="{FF2B5EF4-FFF2-40B4-BE49-F238E27FC236}">
                    <a16:creationId xmlns:a16="http://schemas.microsoft.com/office/drawing/2014/main" id="{03F25990-1F9B-5D30-3F9F-55AC7906D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2" y="2448"/>
                <a:ext cx="1740" cy="1104"/>
              </a:xfrm>
              <a:prstGeom prst="line">
                <a:avLst/>
              </a:prstGeom>
              <a:noFill/>
              <a:ln w="57150">
                <a:solidFill>
                  <a:srgbClr val="66FF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4795" name="Text Box 11">
                <a:extLst>
                  <a:ext uri="{FF2B5EF4-FFF2-40B4-BE49-F238E27FC236}">
                    <a16:creationId xmlns:a16="http://schemas.microsoft.com/office/drawing/2014/main" id="{61B062F0-A12E-FF14-8FE5-F50220ADF1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2" y="2164"/>
                <a:ext cx="2300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endParaRPr lang="zh-CN" altLang="zh-CN" sz="24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4797" name="Text Box 13">
              <a:extLst>
                <a:ext uri="{FF2B5EF4-FFF2-40B4-BE49-F238E27FC236}">
                  <a16:creationId xmlns:a16="http://schemas.microsoft.com/office/drawing/2014/main" id="{88E815B4-95BB-C6CF-34D8-9F6F37DF8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" y="2056"/>
              <a:ext cx="14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18" charset="0"/>
                </a:rPr>
                <a:t>两部门时的消费函数</a:t>
              </a:r>
            </a:p>
          </p:txBody>
        </p:sp>
      </p:grpSp>
      <p:grpSp>
        <p:nvGrpSpPr>
          <p:cNvPr id="374815" name="Group 31">
            <a:extLst>
              <a:ext uri="{FF2B5EF4-FFF2-40B4-BE49-F238E27FC236}">
                <a16:creationId xmlns:a16="http://schemas.microsoft.com/office/drawing/2014/main" id="{E7C11620-EF25-CA2E-64C6-7981A14448E9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3714750"/>
            <a:ext cx="5257800" cy="1390650"/>
            <a:chOff x="2280" y="2340"/>
            <a:chExt cx="3312" cy="876"/>
          </a:xfrm>
        </p:grpSpPr>
        <p:sp>
          <p:nvSpPr>
            <p:cNvPr id="374801" name="Line 17">
              <a:extLst>
                <a:ext uri="{FF2B5EF4-FFF2-40B4-BE49-F238E27FC236}">
                  <a16:creationId xmlns:a16="http://schemas.microsoft.com/office/drawing/2014/main" id="{9BB13272-F4AA-ABB0-1137-087C2ADCB5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0" y="2484"/>
              <a:ext cx="2076" cy="732"/>
            </a:xfrm>
            <a:prstGeom prst="line">
              <a:avLst/>
            </a:prstGeom>
            <a:noFill/>
            <a:ln w="76200" cap="rnd">
              <a:solidFill>
                <a:srgbClr val="66FF33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802" name="Text Box 18">
              <a:extLst>
                <a:ext uri="{FF2B5EF4-FFF2-40B4-BE49-F238E27FC236}">
                  <a16:creationId xmlns:a16="http://schemas.microsoft.com/office/drawing/2014/main" id="{24BD65A5-8FA0-7AF9-7137-BFBD89243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" y="2340"/>
              <a:ext cx="1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b="1">
                  <a:latin typeface="Times New Roman" panose="02020603050405020304" pitchFamily="18" charset="0"/>
                </a:rPr>
                <a:t>三部门的消费函数</a:t>
              </a:r>
            </a:p>
          </p:txBody>
        </p:sp>
      </p:grpSp>
      <p:grpSp>
        <p:nvGrpSpPr>
          <p:cNvPr id="374816" name="Group 32">
            <a:extLst>
              <a:ext uri="{FF2B5EF4-FFF2-40B4-BE49-F238E27FC236}">
                <a16:creationId xmlns:a16="http://schemas.microsoft.com/office/drawing/2014/main" id="{AECC5C8C-D447-9502-A30E-014099A11C24}"/>
              </a:ext>
            </a:extLst>
          </p:cNvPr>
          <p:cNvGrpSpPr>
            <a:grpSpLocks/>
          </p:cNvGrpSpPr>
          <p:nvPr/>
        </p:nvGrpSpPr>
        <p:grpSpPr bwMode="auto">
          <a:xfrm>
            <a:off x="3625850" y="2330450"/>
            <a:ext cx="5257800" cy="1390650"/>
            <a:chOff x="2284" y="1468"/>
            <a:chExt cx="3312" cy="876"/>
          </a:xfrm>
        </p:grpSpPr>
        <p:sp>
          <p:nvSpPr>
            <p:cNvPr id="374803" name="Line 19">
              <a:extLst>
                <a:ext uri="{FF2B5EF4-FFF2-40B4-BE49-F238E27FC236}">
                  <a16:creationId xmlns:a16="http://schemas.microsoft.com/office/drawing/2014/main" id="{BD8F8130-AADC-F83B-975F-A367737DA8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4" y="1612"/>
              <a:ext cx="2076" cy="732"/>
            </a:xfrm>
            <a:prstGeom prst="line">
              <a:avLst/>
            </a:prstGeom>
            <a:noFill/>
            <a:ln w="76200" cap="rnd">
              <a:solidFill>
                <a:srgbClr val="66FF33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804" name="Text Box 20">
              <a:extLst>
                <a:ext uri="{FF2B5EF4-FFF2-40B4-BE49-F238E27FC236}">
                  <a16:creationId xmlns:a16="http://schemas.microsoft.com/office/drawing/2014/main" id="{AB32B358-C03C-A63B-E8F5-EEAD3E9D1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6" y="1468"/>
              <a:ext cx="1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总支出</a:t>
              </a:r>
              <a:r>
                <a:rPr lang="en-US" altLang="zh-CN" sz="2400" b="1">
                  <a:latin typeface="Times New Roman" panose="02020603050405020304" pitchFamily="18" charset="0"/>
                </a:rPr>
                <a:t>:C+I+G</a:t>
              </a:r>
            </a:p>
          </p:txBody>
        </p:sp>
      </p:grpSp>
      <p:sp>
        <p:nvSpPr>
          <p:cNvPr id="374806" name="Rectangle 22">
            <a:extLst>
              <a:ext uri="{FF2B5EF4-FFF2-40B4-BE49-F238E27FC236}">
                <a16:creationId xmlns:a16="http://schemas.microsoft.com/office/drawing/2014/main" id="{FF6F25E2-FBDA-398A-D81A-B7BBF9134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81200"/>
            <a:ext cx="22860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财政政策：</a:t>
            </a:r>
          </a:p>
          <a:p>
            <a:pPr lvl="1"/>
            <a:r>
              <a:rPr lang="zh-CN" altLang="en-US" sz="2000" b="1"/>
              <a:t>政府采购</a:t>
            </a:r>
          </a:p>
          <a:p>
            <a:pPr lvl="1"/>
            <a:r>
              <a:rPr lang="zh-CN" altLang="en-US" sz="2000" b="1"/>
              <a:t>转移支付</a:t>
            </a:r>
          </a:p>
          <a:p>
            <a:pPr lvl="1"/>
            <a:r>
              <a:rPr lang="zh-CN" altLang="en-US" sz="2000" b="1"/>
              <a:t>税收</a:t>
            </a:r>
          </a:p>
        </p:txBody>
      </p:sp>
      <p:sp>
        <p:nvSpPr>
          <p:cNvPr id="374807" name="Rectangle 23">
            <a:extLst>
              <a:ext uri="{FF2B5EF4-FFF2-40B4-BE49-F238E27FC236}">
                <a16:creationId xmlns:a16="http://schemas.microsoft.com/office/drawing/2014/main" id="{322EAE6E-7544-8DCA-3347-6E0B6434F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657600"/>
            <a:ext cx="2971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/>
              <a:t>对可支配收入的影响</a:t>
            </a:r>
          </a:p>
        </p:txBody>
      </p:sp>
      <p:graphicFrame>
        <p:nvGraphicFramePr>
          <p:cNvPr id="374808" name="Object 24">
            <a:extLst>
              <a:ext uri="{FF2B5EF4-FFF2-40B4-BE49-F238E27FC236}">
                <a16:creationId xmlns:a16="http://schemas.microsoft.com/office/drawing/2014/main" id="{A083A149-7344-2EE4-C665-229C58DBD5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" y="4038600"/>
          <a:ext cx="161925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228600" progId="Equation.DSMT4">
                  <p:embed/>
                </p:oleObj>
              </mc:Choice>
              <mc:Fallback>
                <p:oleObj name="Equation" r:id="rId2" imgW="104112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" y="4038600"/>
                        <a:ext cx="161925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09" name="Rectangle 25">
            <a:extLst>
              <a:ext uri="{FF2B5EF4-FFF2-40B4-BE49-F238E27FC236}">
                <a16:creationId xmlns:a16="http://schemas.microsoft.com/office/drawing/2014/main" id="{02D2B135-879B-D392-67C4-DA8C6DA9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495800"/>
            <a:ext cx="2971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/>
              <a:t>对消费函数的影响</a:t>
            </a:r>
          </a:p>
        </p:txBody>
      </p:sp>
      <p:graphicFrame>
        <p:nvGraphicFramePr>
          <p:cNvPr id="374810" name="Object 26">
            <a:extLst>
              <a:ext uri="{FF2B5EF4-FFF2-40B4-BE49-F238E27FC236}">
                <a16:creationId xmlns:a16="http://schemas.microsoft.com/office/drawing/2014/main" id="{3B4B8548-F794-0166-3DC0-3277D4424A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450" y="4953000"/>
          <a:ext cx="21907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400" imgH="203040" progId="Equation.DSMT4">
                  <p:embed/>
                </p:oleObj>
              </mc:Choice>
              <mc:Fallback>
                <p:oleObj name="Equation" r:id="rId4" imgW="1409400" imgH="2030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4953000"/>
                        <a:ext cx="21907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11" name="Object 27">
            <a:extLst>
              <a:ext uri="{FF2B5EF4-FFF2-40B4-BE49-F238E27FC236}">
                <a16:creationId xmlns:a16="http://schemas.microsoft.com/office/drawing/2014/main" id="{C31326DF-3E2C-5365-EBA1-E38BE8F21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250" y="5334000"/>
          <a:ext cx="21907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203040" progId="Equation.DSMT4">
                  <p:embed/>
                </p:oleObj>
              </mc:Choice>
              <mc:Fallback>
                <p:oleObj name="Equation" r:id="rId6" imgW="1409400" imgH="2030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5334000"/>
                        <a:ext cx="21907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12" name="Rectangle 28">
            <a:extLst>
              <a:ext uri="{FF2B5EF4-FFF2-40B4-BE49-F238E27FC236}">
                <a16:creationId xmlns:a16="http://schemas.microsoft.com/office/drawing/2014/main" id="{FBCC9A20-FAA5-5936-9B3E-8297C3422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715000"/>
            <a:ext cx="2971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/>
              <a:t>对总支出的影响</a:t>
            </a:r>
          </a:p>
        </p:txBody>
      </p:sp>
      <p:graphicFrame>
        <p:nvGraphicFramePr>
          <p:cNvPr id="374813" name="Object 29">
            <a:extLst>
              <a:ext uri="{FF2B5EF4-FFF2-40B4-BE49-F238E27FC236}">
                <a16:creationId xmlns:a16="http://schemas.microsoft.com/office/drawing/2014/main" id="{42F8AD1D-B413-A091-75B0-D39AA39F8C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363" y="6248400"/>
          <a:ext cx="15192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77760" imgH="177480" progId="Equation.DSMT4">
                  <p:embed/>
                </p:oleObj>
              </mc:Choice>
              <mc:Fallback>
                <p:oleObj name="Equation" r:id="rId8" imgW="977760" imgH="17748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6248400"/>
                        <a:ext cx="1519237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7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7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37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37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7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74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7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37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37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806" grpId="0" autoUpdateAnimBg="0"/>
      <p:bldP spid="374807" grpId="0" autoUpdateAnimBg="0"/>
      <p:bldP spid="374809" grpId="0" autoUpdateAnimBg="0"/>
      <p:bldP spid="37481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>
            <a:extLst>
              <a:ext uri="{FF2B5EF4-FFF2-40B4-BE49-F238E27FC236}">
                <a16:creationId xmlns:a16="http://schemas.microsoft.com/office/drawing/2014/main" id="{7C7DD695-0137-C244-9E66-C1CFE0FB9DA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1.5</a:t>
            </a:r>
            <a:r>
              <a:rPr lang="zh-CN" altLang="en-US" b="1"/>
              <a:t>、收入支出分析</a:t>
            </a:r>
            <a:r>
              <a:rPr lang="en-US" altLang="zh-CN" b="1"/>
              <a:t>_</a:t>
            </a:r>
            <a:r>
              <a:rPr lang="zh-CN" altLang="en-US" b="1"/>
              <a:t>三部门经济</a:t>
            </a:r>
          </a:p>
        </p:txBody>
      </p:sp>
      <p:sp>
        <p:nvSpPr>
          <p:cNvPr id="377859" name="Rectangle 3">
            <a:extLst>
              <a:ext uri="{FF2B5EF4-FFF2-40B4-BE49-F238E27FC236}">
                <a16:creationId xmlns:a16="http://schemas.microsoft.com/office/drawing/2014/main" id="{4C90D3CE-9416-5635-57A3-3C743BA7E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1714500"/>
            <a:ext cx="22669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均衡分析</a:t>
            </a:r>
          </a:p>
        </p:txBody>
      </p:sp>
      <p:sp>
        <p:nvSpPr>
          <p:cNvPr id="377868" name="Text Box 12">
            <a:extLst>
              <a:ext uri="{FF2B5EF4-FFF2-40B4-BE49-F238E27FC236}">
                <a16:creationId xmlns:a16="http://schemas.microsoft.com/office/drawing/2014/main" id="{9F5EB66A-9393-39E0-1472-F8AD7332A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550" y="431165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zh-CN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377881" name="Group 25">
            <a:extLst>
              <a:ext uri="{FF2B5EF4-FFF2-40B4-BE49-F238E27FC236}">
                <a16:creationId xmlns:a16="http://schemas.microsoft.com/office/drawing/2014/main" id="{49A7FD7C-5554-4C54-23AF-35A7D9C7D2D1}"/>
              </a:ext>
            </a:extLst>
          </p:cNvPr>
          <p:cNvGrpSpPr>
            <a:grpSpLocks/>
          </p:cNvGrpSpPr>
          <p:nvPr/>
        </p:nvGrpSpPr>
        <p:grpSpPr bwMode="auto">
          <a:xfrm>
            <a:off x="3644900" y="1219200"/>
            <a:ext cx="3276600" cy="3543300"/>
            <a:chOff x="2296" y="768"/>
            <a:chExt cx="2064" cy="2232"/>
          </a:xfrm>
        </p:grpSpPr>
        <p:grpSp>
          <p:nvGrpSpPr>
            <p:cNvPr id="377880" name="Group 24">
              <a:extLst>
                <a:ext uri="{FF2B5EF4-FFF2-40B4-BE49-F238E27FC236}">
                  <a16:creationId xmlns:a16="http://schemas.microsoft.com/office/drawing/2014/main" id="{58FB391C-1686-2449-50CD-A1A0B81F41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6" y="768"/>
              <a:ext cx="2064" cy="2232"/>
              <a:chOff x="2296" y="768"/>
              <a:chExt cx="2064" cy="2232"/>
            </a:xfrm>
          </p:grpSpPr>
          <p:sp>
            <p:nvSpPr>
              <p:cNvPr id="377870" name="Line 14">
                <a:extLst>
                  <a:ext uri="{FF2B5EF4-FFF2-40B4-BE49-F238E27FC236}">
                    <a16:creationId xmlns:a16="http://schemas.microsoft.com/office/drawing/2014/main" id="{970BDAA4-661B-CB3E-7299-4D075A2C4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96" y="768"/>
                <a:ext cx="2064" cy="223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7871" name="Freeform 15">
                <a:extLst>
                  <a:ext uri="{FF2B5EF4-FFF2-40B4-BE49-F238E27FC236}">
                    <a16:creationId xmlns:a16="http://schemas.microsoft.com/office/drawing/2014/main" id="{5C9D9435-380E-E7A6-B730-40FB46CA1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2" y="2760"/>
                <a:ext cx="146" cy="240"/>
              </a:xfrm>
              <a:custGeom>
                <a:avLst/>
                <a:gdLst>
                  <a:gd name="T0" fmla="*/ 0 w 146"/>
                  <a:gd name="T1" fmla="*/ 0 h 240"/>
                  <a:gd name="T2" fmla="*/ 132 w 146"/>
                  <a:gd name="T3" fmla="*/ 72 h 240"/>
                  <a:gd name="T4" fmla="*/ 84 w 146"/>
                  <a:gd name="T5" fmla="*/ 24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6" h="240">
                    <a:moveTo>
                      <a:pt x="0" y="0"/>
                    </a:moveTo>
                    <a:cubicBezTo>
                      <a:pt x="22" y="12"/>
                      <a:pt x="118" y="32"/>
                      <a:pt x="132" y="72"/>
                    </a:cubicBezTo>
                    <a:cubicBezTo>
                      <a:pt x="146" y="112"/>
                      <a:pt x="94" y="205"/>
                      <a:pt x="84" y="240"/>
                    </a:cubicBez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7872" name="Text Box 16">
              <a:extLst>
                <a:ext uri="{FF2B5EF4-FFF2-40B4-BE49-F238E27FC236}">
                  <a16:creationId xmlns:a16="http://schemas.microsoft.com/office/drawing/2014/main" id="{3C111ADD-98BF-FF02-0FC5-E89FAF2E3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8" y="2675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45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˚</a:t>
              </a:r>
            </a:p>
          </p:txBody>
        </p:sp>
      </p:grpSp>
      <p:grpSp>
        <p:nvGrpSpPr>
          <p:cNvPr id="377882" name="Group 26">
            <a:extLst>
              <a:ext uri="{FF2B5EF4-FFF2-40B4-BE49-F238E27FC236}">
                <a16:creationId xmlns:a16="http://schemas.microsoft.com/office/drawing/2014/main" id="{B6AA9CB5-AD86-6375-A9D2-71BDD7136746}"/>
              </a:ext>
            </a:extLst>
          </p:cNvPr>
          <p:cNvGrpSpPr>
            <a:grpSpLocks/>
          </p:cNvGrpSpPr>
          <p:nvPr/>
        </p:nvGrpSpPr>
        <p:grpSpPr bwMode="auto">
          <a:xfrm>
            <a:off x="2844800" y="1333500"/>
            <a:ext cx="6038850" cy="3619500"/>
            <a:chOff x="1792" y="840"/>
            <a:chExt cx="3804" cy="2280"/>
          </a:xfrm>
        </p:grpSpPr>
        <p:sp>
          <p:nvSpPr>
            <p:cNvPr id="377869" name="Text Box 13">
              <a:extLst>
                <a:ext uri="{FF2B5EF4-FFF2-40B4-BE49-F238E27FC236}">
                  <a16:creationId xmlns:a16="http://schemas.microsoft.com/office/drawing/2014/main" id="{95651942-5F88-C99E-4678-23A4435EE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1192"/>
              <a:ext cx="14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总支出曲线</a:t>
              </a:r>
              <a:r>
                <a:rPr lang="en-US" altLang="zh-CN" sz="2400" b="1">
                  <a:latin typeface="Times New Roman" panose="02020603050405020304" pitchFamily="18" charset="0"/>
                </a:rPr>
                <a:t>:C+I</a:t>
              </a:r>
            </a:p>
          </p:txBody>
        </p:sp>
        <p:grpSp>
          <p:nvGrpSpPr>
            <p:cNvPr id="377879" name="Group 23">
              <a:extLst>
                <a:ext uri="{FF2B5EF4-FFF2-40B4-BE49-F238E27FC236}">
                  <a16:creationId xmlns:a16="http://schemas.microsoft.com/office/drawing/2014/main" id="{2C65FB18-DFB8-AE76-DF5E-8340A02693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2" y="840"/>
              <a:ext cx="3804" cy="2280"/>
              <a:chOff x="1792" y="840"/>
              <a:chExt cx="3804" cy="2280"/>
            </a:xfrm>
          </p:grpSpPr>
          <p:grpSp>
            <p:nvGrpSpPr>
              <p:cNvPr id="377861" name="Group 5">
                <a:extLst>
                  <a:ext uri="{FF2B5EF4-FFF2-40B4-BE49-F238E27FC236}">
                    <a16:creationId xmlns:a16="http://schemas.microsoft.com/office/drawing/2014/main" id="{10952DEF-F5EB-C322-0161-7878C99C05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2" y="988"/>
                <a:ext cx="3796" cy="2132"/>
                <a:chOff x="1656" y="2164"/>
                <a:chExt cx="3796" cy="1873"/>
              </a:xfrm>
            </p:grpSpPr>
            <p:sp>
              <p:nvSpPr>
                <p:cNvPr id="377862" name="Freeform 6">
                  <a:extLst>
                    <a:ext uri="{FF2B5EF4-FFF2-40B4-BE49-F238E27FC236}">
                      <a16:creationId xmlns:a16="http://schemas.microsoft.com/office/drawing/2014/main" id="{60F03D21-3DF5-8C08-ADB9-C3B29F16C0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1" y="2348"/>
                  <a:ext cx="73" cy="1596"/>
                </a:xfrm>
                <a:custGeom>
                  <a:avLst/>
                  <a:gdLst>
                    <a:gd name="T0" fmla="*/ 0 w 1"/>
                    <a:gd name="T1" fmla="*/ 0 h 2175"/>
                    <a:gd name="T2" fmla="*/ 0 w 1"/>
                    <a:gd name="T3" fmla="*/ 2175 h 2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175">
                      <a:moveTo>
                        <a:pt x="0" y="0"/>
                      </a:moveTo>
                      <a:lnTo>
                        <a:pt x="0" y="2175"/>
                      </a:lnTo>
                    </a:path>
                  </a:pathLst>
                </a:custGeom>
                <a:noFill/>
                <a:ln w="57150" cmpd="sng">
                  <a:solidFill>
                    <a:srgbClr val="FF0000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7863" name="Freeform 7">
                  <a:extLst>
                    <a:ext uri="{FF2B5EF4-FFF2-40B4-BE49-F238E27FC236}">
                      <a16:creationId xmlns:a16="http://schemas.microsoft.com/office/drawing/2014/main" id="{287C232B-5E2D-3B46-A9B1-817F5050AE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4" y="3961"/>
                  <a:ext cx="2061" cy="0"/>
                </a:xfrm>
                <a:custGeom>
                  <a:avLst/>
                  <a:gdLst>
                    <a:gd name="T0" fmla="*/ 0 w 2670"/>
                    <a:gd name="T1" fmla="*/ 0 h 1"/>
                    <a:gd name="T2" fmla="*/ 2670 w 2670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670" h="1">
                      <a:moveTo>
                        <a:pt x="0" y="0"/>
                      </a:moveTo>
                      <a:lnTo>
                        <a:pt x="2670" y="0"/>
                      </a:lnTo>
                    </a:path>
                  </a:pathLst>
                </a:custGeom>
                <a:noFill/>
                <a:ln w="57150" cmpd="sng">
                  <a:solidFill>
                    <a:srgbClr val="FF0000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7864" name="Text Box 8">
                  <a:extLst>
                    <a:ext uri="{FF2B5EF4-FFF2-40B4-BE49-F238E27FC236}">
                      <a16:creationId xmlns:a16="http://schemas.microsoft.com/office/drawing/2014/main" id="{F1869EFE-ED96-97DA-5908-E0D3686F8D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6" y="2424"/>
                  <a:ext cx="312" cy="4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 eaLnBrk="0" hangingPunct="0">
                    <a:spcBef>
                      <a:spcPct val="50000"/>
                    </a:spcBef>
                  </a:pPr>
                  <a:r>
                    <a:rPr lang="zh-CN" altLang="en-US" sz="2400" b="1">
                      <a:latin typeface="Times New Roman" panose="02020603050405020304" pitchFamily="18" charset="0"/>
                    </a:rPr>
                    <a:t>支出</a:t>
                  </a:r>
                </a:p>
              </p:txBody>
            </p:sp>
            <p:sp>
              <p:nvSpPr>
                <p:cNvPr id="377865" name="Text Box 9">
                  <a:extLst>
                    <a:ext uri="{FF2B5EF4-FFF2-40B4-BE49-F238E27FC236}">
                      <a16:creationId xmlns:a16="http://schemas.microsoft.com/office/drawing/2014/main" id="{E532C84C-AEBD-FDD7-29C7-0195F8CA46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6" y="3784"/>
                  <a:ext cx="1176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 eaLnBrk="0" hangingPunct="0">
                    <a:spcBef>
                      <a:spcPct val="50000"/>
                    </a:spcBef>
                  </a:pPr>
                  <a:r>
                    <a:rPr lang="zh-CN" altLang="en-US" sz="2400" b="1">
                      <a:latin typeface="Times New Roman" panose="02020603050405020304" pitchFamily="18" charset="0"/>
                    </a:rPr>
                    <a:t>产出＝收入</a:t>
                  </a:r>
                </a:p>
              </p:txBody>
            </p:sp>
            <p:sp>
              <p:nvSpPr>
                <p:cNvPr id="377866" name="Line 10">
                  <a:extLst>
                    <a:ext uri="{FF2B5EF4-FFF2-40B4-BE49-F238E27FC236}">
                      <a16:creationId xmlns:a16="http://schemas.microsoft.com/office/drawing/2014/main" id="{55FE7964-8276-10AD-1B7F-431176A944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112" y="2448"/>
                  <a:ext cx="1740" cy="1104"/>
                </a:xfrm>
                <a:prstGeom prst="line">
                  <a:avLst/>
                </a:prstGeom>
                <a:noFill/>
                <a:ln w="57150">
                  <a:solidFill>
                    <a:srgbClr val="66FF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7867" name="Text Box 11">
                  <a:extLst>
                    <a:ext uri="{FF2B5EF4-FFF2-40B4-BE49-F238E27FC236}">
                      <a16:creationId xmlns:a16="http://schemas.microsoft.com/office/drawing/2014/main" id="{EECB7C17-C7D3-2639-E3DC-F93EFE79E1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2" y="2164"/>
                  <a:ext cx="2300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endParaRPr lang="zh-CN" altLang="zh-CN" sz="2400" b="1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77875" name="Line 19">
                <a:extLst>
                  <a:ext uri="{FF2B5EF4-FFF2-40B4-BE49-F238E27FC236}">
                    <a16:creationId xmlns:a16="http://schemas.microsoft.com/office/drawing/2014/main" id="{24E5F7BA-991F-DAA6-0B67-03BB09E2F6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84" y="984"/>
                <a:ext cx="2076" cy="732"/>
              </a:xfrm>
              <a:prstGeom prst="line">
                <a:avLst/>
              </a:prstGeom>
              <a:noFill/>
              <a:ln w="76200" cap="rnd">
                <a:solidFill>
                  <a:srgbClr val="66FF33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7876" name="Text Box 20">
                <a:extLst>
                  <a:ext uri="{FF2B5EF4-FFF2-40B4-BE49-F238E27FC236}">
                    <a16:creationId xmlns:a16="http://schemas.microsoft.com/office/drawing/2014/main" id="{43FD2983-A1EA-2215-7EF8-4EC85452AF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6" y="840"/>
                <a:ext cx="12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zh-CN" altLang="en-US" sz="2400" b="1">
                    <a:latin typeface="Times New Roman" panose="02020603050405020304" pitchFamily="18" charset="0"/>
                  </a:rPr>
                  <a:t>总支出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:C+I+G</a:t>
                </a:r>
              </a:p>
            </p:txBody>
          </p:sp>
        </p:grpSp>
      </p:grpSp>
      <p:sp>
        <p:nvSpPr>
          <p:cNvPr id="377878" name="Line 22">
            <a:extLst>
              <a:ext uri="{FF2B5EF4-FFF2-40B4-BE49-F238E27FC236}">
                <a16:creationId xmlns:a16="http://schemas.microsoft.com/office/drawing/2014/main" id="{799B2E8F-214C-AC90-8F0D-C46C89D58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752600"/>
            <a:ext cx="0" cy="30480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7883" name="Rectangle 27">
            <a:extLst>
              <a:ext uri="{FF2B5EF4-FFF2-40B4-BE49-F238E27FC236}">
                <a16:creationId xmlns:a16="http://schemas.microsoft.com/office/drawing/2014/main" id="{4625398B-1299-71B0-A4D5-7D790FD64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14600"/>
            <a:ext cx="22669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数学求解</a:t>
            </a:r>
          </a:p>
        </p:txBody>
      </p:sp>
      <p:graphicFrame>
        <p:nvGraphicFramePr>
          <p:cNvPr id="377884" name="Object 28">
            <a:extLst>
              <a:ext uri="{FF2B5EF4-FFF2-40B4-BE49-F238E27FC236}">
                <a16:creationId xmlns:a16="http://schemas.microsoft.com/office/drawing/2014/main" id="{DAAC4286-AAB8-3D94-A873-CF9E5C1030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3733800"/>
          <a:ext cx="7889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7960" imgH="164880" progId="Equation.DSMT4">
                  <p:embed/>
                </p:oleObj>
              </mc:Choice>
              <mc:Fallback>
                <p:oleObj name="Equation" r:id="rId2" imgW="507960" imgH="16488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733800"/>
                        <a:ext cx="78898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85" name="Object 29">
            <a:extLst>
              <a:ext uri="{FF2B5EF4-FFF2-40B4-BE49-F238E27FC236}">
                <a16:creationId xmlns:a16="http://schemas.microsoft.com/office/drawing/2014/main" id="{2B5BDBDB-471C-A461-AF85-54A0F5FDA0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450" y="5465763"/>
          <a:ext cx="287655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4000" imgH="203040" progId="Equation.DSMT4">
                  <p:embed/>
                </p:oleObj>
              </mc:Choice>
              <mc:Fallback>
                <p:oleObj name="Equation" r:id="rId4" imgW="1854000" imgH="20304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5465763"/>
                        <a:ext cx="2876550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86" name="Object 30">
            <a:extLst>
              <a:ext uri="{FF2B5EF4-FFF2-40B4-BE49-F238E27FC236}">
                <a16:creationId xmlns:a16="http://schemas.microsoft.com/office/drawing/2014/main" id="{0256CBDC-3E10-D127-EF7C-5CEBD1AC91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5563" y="5265738"/>
          <a:ext cx="2306637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720" imgH="419040" progId="Equation.DSMT4">
                  <p:embed/>
                </p:oleObj>
              </mc:Choice>
              <mc:Fallback>
                <p:oleObj name="Equation" r:id="rId6" imgW="1485720" imgH="41904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5563" y="5265738"/>
                        <a:ext cx="2306637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7887" name="Rectangle 31">
            <a:extLst>
              <a:ext uri="{FF2B5EF4-FFF2-40B4-BE49-F238E27FC236}">
                <a16:creationId xmlns:a16="http://schemas.microsoft.com/office/drawing/2014/main" id="{3ADC8898-79BB-E5EC-B084-B6A1322B3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124200"/>
            <a:ext cx="24384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b="1"/>
              <a:t>均衡条件</a:t>
            </a:r>
          </a:p>
        </p:txBody>
      </p:sp>
      <p:sp>
        <p:nvSpPr>
          <p:cNvPr id="377888" name="Rectangle 32">
            <a:extLst>
              <a:ext uri="{FF2B5EF4-FFF2-40B4-BE49-F238E27FC236}">
                <a16:creationId xmlns:a16="http://schemas.microsoft.com/office/drawing/2014/main" id="{96225706-3909-0245-7FB8-556ABA0F9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91000"/>
            <a:ext cx="23622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b="1"/>
              <a:t>均衡产出</a:t>
            </a:r>
          </a:p>
        </p:txBody>
      </p:sp>
      <p:sp>
        <p:nvSpPr>
          <p:cNvPr id="377890" name="Rectangle 34">
            <a:extLst>
              <a:ext uri="{FF2B5EF4-FFF2-40B4-BE49-F238E27FC236}">
                <a16:creationId xmlns:a16="http://schemas.microsoft.com/office/drawing/2014/main" id="{50EDB1D2-47B3-F1AC-6F7B-214017292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6153150"/>
            <a:ext cx="35052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投资乘数是多少？</a:t>
            </a:r>
          </a:p>
        </p:txBody>
      </p:sp>
      <p:sp>
        <p:nvSpPr>
          <p:cNvPr id="377891" name="Rectangle 35">
            <a:extLst>
              <a:ext uri="{FF2B5EF4-FFF2-40B4-BE49-F238E27FC236}">
                <a16:creationId xmlns:a16="http://schemas.microsoft.com/office/drawing/2014/main" id="{5C18669C-3E00-97FA-B8A4-EDFCCE5C4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6153150"/>
            <a:ext cx="28194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财政政策的效应</a:t>
            </a:r>
          </a:p>
        </p:txBody>
      </p:sp>
      <p:sp>
        <p:nvSpPr>
          <p:cNvPr id="377892" name="Rectangle 36">
            <a:extLst>
              <a:ext uri="{FF2B5EF4-FFF2-40B4-BE49-F238E27FC236}">
                <a16:creationId xmlns:a16="http://schemas.microsoft.com/office/drawing/2014/main" id="{F08519D1-3476-C9FC-3696-42D3B527B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867400"/>
            <a:ext cx="281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比例所得税是自动稳定器。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7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7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7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77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77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7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77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37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7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7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7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83" grpId="0" autoUpdateAnimBg="0"/>
      <p:bldP spid="377887" grpId="0" autoUpdateAnimBg="0"/>
      <p:bldP spid="377888" grpId="0" autoUpdateAnimBg="0"/>
      <p:bldP spid="377890" grpId="0" autoUpdateAnimBg="0"/>
      <p:bldP spid="377891" grpId="0" autoUpdateAnimBg="0"/>
      <p:bldP spid="37789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5" name="Rectangle 3">
            <a:extLst>
              <a:ext uri="{FF2B5EF4-FFF2-40B4-BE49-F238E27FC236}">
                <a16:creationId xmlns:a16="http://schemas.microsoft.com/office/drawing/2014/main" id="{B16B7E45-74BB-943E-4EB2-55F4E44F367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课后作业</a:t>
            </a:r>
          </a:p>
        </p:txBody>
      </p:sp>
      <p:sp>
        <p:nvSpPr>
          <p:cNvPr id="361476" name="Rectangle 4">
            <a:extLst>
              <a:ext uri="{FF2B5EF4-FFF2-40B4-BE49-F238E27FC236}">
                <a16:creationId xmlns:a16="http://schemas.microsoft.com/office/drawing/2014/main" id="{A757B8AF-0994-1D32-C731-74068E224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1477" name="Rectangle 5">
            <a:extLst>
              <a:ext uri="{FF2B5EF4-FFF2-40B4-BE49-F238E27FC236}">
                <a16:creationId xmlns:a16="http://schemas.microsoft.com/office/drawing/2014/main" id="{A1D155A7-7D77-723F-6E8E-DBFFB32CF48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" y="2667000"/>
            <a:ext cx="8001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第</a:t>
            </a:r>
            <a:r>
              <a:rPr lang="en-US" altLang="zh-CN" sz="2800" b="1"/>
              <a:t>210</a:t>
            </a:r>
            <a:r>
              <a:rPr lang="zh-CN" altLang="en-US" sz="2800" b="1"/>
              <a:t>页技术题中的</a:t>
            </a:r>
            <a:r>
              <a:rPr lang="en-US" altLang="zh-CN" sz="2800" b="1"/>
              <a:t>1</a:t>
            </a:r>
            <a:r>
              <a:rPr lang="zh-CN" altLang="en-US" sz="2800" b="1"/>
              <a:t>、</a:t>
            </a:r>
            <a:r>
              <a:rPr lang="en-US" altLang="zh-CN" sz="2800" b="1"/>
              <a:t>3</a:t>
            </a:r>
            <a:r>
              <a:rPr lang="zh-CN" altLang="en-US" sz="2800" b="1"/>
              <a:t>和</a:t>
            </a:r>
            <a:r>
              <a:rPr lang="en-US" altLang="zh-CN" sz="2800" b="1"/>
              <a:t>5</a:t>
            </a:r>
            <a:endParaRPr lang="en-US" altLang="zh-CN" sz="2000" b="1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1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5" grpId="0" autoUpdateAnimBg="0"/>
      <p:bldP spid="36147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WordArt 2">
            <a:extLst>
              <a:ext uri="{FF2B5EF4-FFF2-40B4-BE49-F238E27FC236}">
                <a16:creationId xmlns:a16="http://schemas.microsoft.com/office/drawing/2014/main" id="{1E54AC2D-9A0A-326F-EA77-465A74C3649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16013" y="1844675"/>
            <a:ext cx="6911975" cy="27368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Triangle">
              <a:avLst>
                <a:gd name="adj" fmla="val 40333"/>
              </a:avLst>
            </a:prstTxWarp>
            <a:scene3d>
              <a:camera prst="legacyObliqueTopLeft"/>
              <a:lightRig rig="legacyNormal3" dir="r"/>
            </a:scene3d>
            <a:sp3d extrusionH="201600" prstMaterial="legacyMatte">
              <a:extrusionClr>
                <a:srgbClr val="0066CC"/>
              </a:extrusionClr>
              <a:contourClr>
                <a:srgbClr val="FFFFCC"/>
              </a:contourClr>
            </a:sp3d>
          </a:bodyPr>
          <a:lstStyle/>
          <a:p>
            <a:r>
              <a:rPr lang="en-US" altLang="zh-CN" sz="4800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FFFCC"/>
                    </a:gs>
                    <a:gs pos="100000">
                      <a:srgbClr val="FF9999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Thank You</a:t>
            </a:r>
            <a:endParaRPr lang="zh-CN" altLang="en-US" sz="4800" kern="10">
              <a:ln w="9525">
                <a:round/>
                <a:headEnd/>
                <a:tailEnd/>
              </a:ln>
              <a:gradFill rotWithShape="0">
                <a:gsLst>
                  <a:gs pos="0">
                    <a:srgbClr val="FFFFCC"/>
                  </a:gs>
                  <a:gs pos="100000">
                    <a:srgbClr val="FF9999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>
            <a:extLst>
              <a:ext uri="{FF2B5EF4-FFF2-40B4-BE49-F238E27FC236}">
                <a16:creationId xmlns:a16="http://schemas.microsoft.com/office/drawing/2014/main" id="{3984C7CD-D5AC-CB47-6F24-F21B929790C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2.0</a:t>
            </a:r>
            <a:r>
              <a:rPr lang="zh-CN" altLang="en-US" b="1"/>
              <a:t>、回忆上堂课的内容</a:t>
            </a:r>
          </a:p>
        </p:txBody>
      </p:sp>
      <p:sp>
        <p:nvSpPr>
          <p:cNvPr id="378883" name="Rectangle 3">
            <a:extLst>
              <a:ext uri="{FF2B5EF4-FFF2-40B4-BE49-F238E27FC236}">
                <a16:creationId xmlns:a16="http://schemas.microsoft.com/office/drawing/2014/main" id="{B20A157B-B60D-18F6-2360-57324F072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3162300"/>
            <a:ext cx="843915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当政府执行平衡预算时，政府支出的乘数是多少？</a:t>
            </a:r>
          </a:p>
        </p:txBody>
      </p:sp>
    </p:spTree>
  </p:cSld>
  <p:clrMapOvr>
    <a:masterClrMapping/>
  </p:clrMapOvr>
  <p:transition spd="slow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>
            <a:extLst>
              <a:ext uri="{FF2B5EF4-FFF2-40B4-BE49-F238E27FC236}">
                <a16:creationId xmlns:a16="http://schemas.microsoft.com/office/drawing/2014/main" id="{42B99E07-6FF5-6A20-6916-042F19C4FC7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0"/>
            <a:ext cx="8540750" cy="1143000"/>
          </a:xfrm>
        </p:spPr>
        <p:txBody>
          <a:bodyPr/>
          <a:lstStyle/>
          <a:p>
            <a:r>
              <a:rPr lang="en-US" altLang="zh-CN" b="1"/>
              <a:t>2.1</a:t>
            </a:r>
            <a:r>
              <a:rPr lang="zh-CN" altLang="en-US" b="1"/>
              <a:t>、收入支出分析的进一步拓展</a:t>
            </a:r>
          </a:p>
        </p:txBody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EAB57499-C2E4-90CC-D4FA-3483B714F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19200"/>
            <a:ext cx="8458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上节课的拓展是，引入政府</a:t>
            </a:r>
          </a:p>
          <a:p>
            <a:pPr lvl="1"/>
            <a:r>
              <a:rPr lang="zh-CN" altLang="en-US" b="1"/>
              <a:t>我们的分析策略是从两部门到三部门</a:t>
            </a:r>
          </a:p>
        </p:txBody>
      </p:sp>
      <p:sp>
        <p:nvSpPr>
          <p:cNvPr id="379908" name="Text Box 4">
            <a:extLst>
              <a:ext uri="{FF2B5EF4-FFF2-40B4-BE49-F238E27FC236}">
                <a16:creationId xmlns:a16="http://schemas.microsoft.com/office/drawing/2014/main" id="{389EEECB-BC5D-42B2-2D03-317CA0E08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68325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79924" name="Rectangle 20">
            <a:extLst>
              <a:ext uri="{FF2B5EF4-FFF2-40B4-BE49-F238E27FC236}">
                <a16:creationId xmlns:a16="http://schemas.microsoft.com/office/drawing/2014/main" id="{8C561356-4418-674E-D5BF-0F8DBF463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362200"/>
            <a:ext cx="8763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在上节分析中，一直假定投资是给定的。这么假定是否恰当？</a:t>
            </a:r>
            <a:endParaRPr lang="zh-CN" altLang="en-US" sz="2400" b="1"/>
          </a:p>
        </p:txBody>
      </p:sp>
      <p:graphicFrame>
        <p:nvGraphicFramePr>
          <p:cNvPr id="379932" name="Object 28">
            <a:extLst>
              <a:ext uri="{FF2B5EF4-FFF2-40B4-BE49-F238E27FC236}">
                <a16:creationId xmlns:a16="http://schemas.microsoft.com/office/drawing/2014/main" id="{E62E26B8-948E-1CDB-C6FE-4566203137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867025"/>
          <a:ext cx="60960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67025"/>
                        <a:ext cx="60960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33" name="Rectangle 29">
            <a:extLst>
              <a:ext uri="{FF2B5EF4-FFF2-40B4-BE49-F238E27FC236}">
                <a16:creationId xmlns:a16="http://schemas.microsoft.com/office/drawing/2014/main" id="{BC990C1F-555C-9570-22CF-C54A68850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038600"/>
            <a:ext cx="29718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 b="1"/>
              <a:t>投资在在总支出中具有重要地位，忽视了对投资的分析，显然是有偏的。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932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932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932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79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24" grpId="0" autoUpdateAnimBg="0"/>
      <p:bldOleChart spid="379932" grpId="0" bld="series"/>
      <p:bldP spid="37993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>
            <a:extLst>
              <a:ext uri="{FF2B5EF4-FFF2-40B4-BE49-F238E27FC236}">
                <a16:creationId xmlns:a16="http://schemas.microsoft.com/office/drawing/2014/main" id="{BF10B077-0007-E927-637E-6D0D9A17D51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0"/>
            <a:ext cx="8540750" cy="1143000"/>
          </a:xfrm>
        </p:spPr>
        <p:txBody>
          <a:bodyPr/>
          <a:lstStyle/>
          <a:p>
            <a:r>
              <a:rPr lang="en-US" altLang="zh-CN" b="1"/>
              <a:t>2.1</a:t>
            </a:r>
            <a:r>
              <a:rPr lang="zh-CN" altLang="en-US" b="1"/>
              <a:t>、收入支出分析的进一步拓展</a:t>
            </a:r>
          </a:p>
        </p:txBody>
      </p:sp>
      <p:sp>
        <p:nvSpPr>
          <p:cNvPr id="382979" name="Rectangle 3">
            <a:extLst>
              <a:ext uri="{FF2B5EF4-FFF2-40B4-BE49-F238E27FC236}">
                <a16:creationId xmlns:a16="http://schemas.microsoft.com/office/drawing/2014/main" id="{3C6BA77D-303E-3B63-983A-A39476B75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19200"/>
            <a:ext cx="8458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如何分析投资行为？</a:t>
            </a:r>
          </a:p>
          <a:p>
            <a:pPr lvl="1"/>
            <a:r>
              <a:rPr lang="zh-CN" altLang="en-US" b="1"/>
              <a:t>我们的分析策略是，参照对消费的分析</a:t>
            </a:r>
          </a:p>
        </p:txBody>
      </p:sp>
      <p:sp>
        <p:nvSpPr>
          <p:cNvPr id="382980" name="Text Box 4">
            <a:extLst>
              <a:ext uri="{FF2B5EF4-FFF2-40B4-BE49-F238E27FC236}">
                <a16:creationId xmlns:a16="http://schemas.microsoft.com/office/drawing/2014/main" id="{52495788-09D7-5699-C508-4239FE84F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68325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82981" name="Rectangle 5">
            <a:extLst>
              <a:ext uri="{FF2B5EF4-FFF2-40B4-BE49-F238E27FC236}">
                <a16:creationId xmlns:a16="http://schemas.microsoft.com/office/drawing/2014/main" id="{3A62F777-5562-3E1B-9388-58B9DC9E6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514600"/>
            <a:ext cx="87630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行为方程（</a:t>
            </a:r>
            <a:r>
              <a:rPr lang="en-US" altLang="zh-CN" sz="2800" b="1">
                <a:latin typeface="Dcr10" charset="0"/>
              </a:rPr>
              <a:t>behavioral equation</a:t>
            </a:r>
            <a:r>
              <a:rPr lang="zh-CN" altLang="en-US" b="1"/>
              <a:t>）</a:t>
            </a:r>
          </a:p>
          <a:p>
            <a:pPr lvl="1"/>
            <a:r>
              <a:rPr lang="zh-CN" altLang="en-US" b="1"/>
              <a:t>刻画家庭、厂商行为的方程。</a:t>
            </a:r>
          </a:p>
          <a:p>
            <a:pPr lvl="1"/>
            <a:r>
              <a:rPr lang="zh-CN" altLang="en-US" b="1"/>
              <a:t>举例：消费函数</a:t>
            </a:r>
          </a:p>
        </p:txBody>
      </p:sp>
      <p:sp>
        <p:nvSpPr>
          <p:cNvPr id="382983" name="Rectangle 7">
            <a:extLst>
              <a:ext uri="{FF2B5EF4-FFF2-40B4-BE49-F238E27FC236}">
                <a16:creationId xmlns:a16="http://schemas.microsoft.com/office/drawing/2014/main" id="{F57E688C-68A5-0C78-FBA8-0F660D083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267200"/>
            <a:ext cx="838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投资函数：</a:t>
            </a:r>
          </a:p>
          <a:p>
            <a:pPr lvl="1"/>
            <a:r>
              <a:rPr lang="zh-CN" altLang="en-US" sz="2400" b="1"/>
              <a:t>影响投资需求的最要紧因素是什么？</a:t>
            </a:r>
          </a:p>
        </p:txBody>
      </p:sp>
      <p:graphicFrame>
        <p:nvGraphicFramePr>
          <p:cNvPr id="382984" name="Object 8">
            <a:extLst>
              <a:ext uri="{FF2B5EF4-FFF2-40B4-BE49-F238E27FC236}">
                <a16:creationId xmlns:a16="http://schemas.microsoft.com/office/drawing/2014/main" id="{10F13907-AD23-CD78-EDD6-62D11D6E8C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9700" y="5592763"/>
          <a:ext cx="17748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228600" progId="Equation.DSMT4">
                  <p:embed/>
                </p:oleObj>
              </mc:Choice>
              <mc:Fallback>
                <p:oleObj name="Equation" r:id="rId2" imgW="11430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5592763"/>
                        <a:ext cx="17748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82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1" grpId="0" autoUpdateAnimBg="0"/>
      <p:bldP spid="38298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>
            <a:extLst>
              <a:ext uri="{FF2B5EF4-FFF2-40B4-BE49-F238E27FC236}">
                <a16:creationId xmlns:a16="http://schemas.microsoft.com/office/drawing/2014/main" id="{54974E1D-BA08-0711-4FDA-3879147C6C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0"/>
            <a:ext cx="8540750" cy="1143000"/>
          </a:xfrm>
        </p:spPr>
        <p:txBody>
          <a:bodyPr/>
          <a:lstStyle/>
          <a:p>
            <a:r>
              <a:rPr lang="en-US" altLang="zh-CN" b="1"/>
              <a:t>2.2</a:t>
            </a:r>
            <a:r>
              <a:rPr lang="zh-CN" altLang="en-US" b="1"/>
              <a:t>、利率</a:t>
            </a:r>
          </a:p>
        </p:txBody>
      </p:sp>
      <p:sp>
        <p:nvSpPr>
          <p:cNvPr id="384003" name="Rectangle 3">
            <a:extLst>
              <a:ext uri="{FF2B5EF4-FFF2-40B4-BE49-F238E27FC236}">
                <a16:creationId xmlns:a16="http://schemas.microsoft.com/office/drawing/2014/main" id="{9A77F747-A021-CF24-E8BC-3303F312F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19200"/>
            <a:ext cx="8763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利率在需求分析中具有重要的地位</a:t>
            </a:r>
          </a:p>
          <a:p>
            <a:pPr lvl="1"/>
            <a:r>
              <a:rPr lang="zh-CN" altLang="en-US" sz="2400" b="1"/>
              <a:t>连接着商品市场和货币市场，是货币政策影响产出的渠道。</a:t>
            </a:r>
          </a:p>
        </p:txBody>
      </p:sp>
      <p:sp>
        <p:nvSpPr>
          <p:cNvPr id="384004" name="Text Box 4">
            <a:extLst>
              <a:ext uri="{FF2B5EF4-FFF2-40B4-BE49-F238E27FC236}">
                <a16:creationId xmlns:a16="http://schemas.microsoft.com/office/drawing/2014/main" id="{F255C4E4-9F5D-B38D-653E-3ECDDEC02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68325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zh-CN" altLang="zh-CN" sz="2400" b="1">
              <a:latin typeface="Times New Roman" panose="02020603050405020304" pitchFamily="18" charset="0"/>
            </a:endParaRPr>
          </a:p>
        </p:txBody>
      </p:sp>
      <p:pic>
        <p:nvPicPr>
          <p:cNvPr id="384008" name="Picture 8">
            <a:extLst>
              <a:ext uri="{FF2B5EF4-FFF2-40B4-BE49-F238E27FC236}">
                <a16:creationId xmlns:a16="http://schemas.microsoft.com/office/drawing/2014/main" id="{F00F4D0D-6B01-5332-5A87-0BBBAF126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403475"/>
            <a:ext cx="6848475" cy="437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8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>
            <a:extLst>
              <a:ext uri="{FF2B5EF4-FFF2-40B4-BE49-F238E27FC236}">
                <a16:creationId xmlns:a16="http://schemas.microsoft.com/office/drawing/2014/main" id="{526889A5-B6F6-B33F-0A9E-19989ED74A5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0"/>
            <a:ext cx="8540750" cy="1143000"/>
          </a:xfrm>
        </p:spPr>
        <p:txBody>
          <a:bodyPr/>
          <a:lstStyle/>
          <a:p>
            <a:r>
              <a:rPr lang="en-US" altLang="zh-CN" b="1"/>
              <a:t>2.3</a:t>
            </a:r>
            <a:r>
              <a:rPr lang="zh-CN" altLang="en-US" b="1"/>
              <a:t>、投资函数与收入支出分析法</a:t>
            </a:r>
          </a:p>
        </p:txBody>
      </p:sp>
      <p:sp>
        <p:nvSpPr>
          <p:cNvPr id="385028" name="Text Box 4">
            <a:extLst>
              <a:ext uri="{FF2B5EF4-FFF2-40B4-BE49-F238E27FC236}">
                <a16:creationId xmlns:a16="http://schemas.microsoft.com/office/drawing/2014/main" id="{E543B7DB-E1C2-C19D-7D9F-D6B54F75A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68325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zh-CN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385037" name="Group 13">
            <a:extLst>
              <a:ext uri="{FF2B5EF4-FFF2-40B4-BE49-F238E27FC236}">
                <a16:creationId xmlns:a16="http://schemas.microsoft.com/office/drawing/2014/main" id="{B54FBA24-05F5-BF5B-B3A9-F78EA67F0C42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219200"/>
            <a:ext cx="4419600" cy="838200"/>
            <a:chOff x="48" y="768"/>
            <a:chExt cx="2784" cy="528"/>
          </a:xfrm>
        </p:grpSpPr>
        <p:sp>
          <p:nvSpPr>
            <p:cNvPr id="385030" name="Rectangle 6">
              <a:extLst>
                <a:ext uri="{FF2B5EF4-FFF2-40B4-BE49-F238E27FC236}">
                  <a16:creationId xmlns:a16="http://schemas.microsoft.com/office/drawing/2014/main" id="{1AAC4680-8D1B-EEC0-2092-15C626035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768"/>
              <a:ext cx="278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/>
                <a:t>投资函数</a:t>
              </a:r>
            </a:p>
            <a:p>
              <a:pPr lvl="1"/>
              <a:r>
                <a:rPr lang="zh-CN" altLang="en-US" sz="2000" b="1"/>
                <a:t>几何含义、经济含义</a:t>
              </a:r>
            </a:p>
          </p:txBody>
        </p:sp>
        <p:graphicFrame>
          <p:nvGraphicFramePr>
            <p:cNvPr id="385031" name="Object 7">
              <a:extLst>
                <a:ext uri="{FF2B5EF4-FFF2-40B4-BE49-F238E27FC236}">
                  <a16:creationId xmlns:a16="http://schemas.microsoft.com/office/drawing/2014/main" id="{1157A4D6-F8B7-8798-761B-8883A968E4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816"/>
            <a:ext cx="1118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3000" imgH="228600" progId="Equation.DSMT4">
                    <p:embed/>
                  </p:oleObj>
                </mc:Choice>
                <mc:Fallback>
                  <p:oleObj name="Equation" r:id="rId2" imgW="1143000" imgH="228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816"/>
                          <a:ext cx="1118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5038" name="Group 14">
            <a:extLst>
              <a:ext uri="{FF2B5EF4-FFF2-40B4-BE49-F238E27FC236}">
                <a16:creationId xmlns:a16="http://schemas.microsoft.com/office/drawing/2014/main" id="{3B737F06-53BD-242E-50C1-45B4F3CF181B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295400"/>
            <a:ext cx="3048000" cy="2073275"/>
            <a:chOff x="3456" y="816"/>
            <a:chExt cx="1920" cy="1306"/>
          </a:xfrm>
        </p:grpSpPr>
        <p:sp>
          <p:nvSpPr>
            <p:cNvPr id="385032" name="Line 8">
              <a:extLst>
                <a:ext uri="{FF2B5EF4-FFF2-40B4-BE49-F238E27FC236}">
                  <a16:creationId xmlns:a16="http://schemas.microsoft.com/office/drawing/2014/main" id="{6BD244AC-2D7D-A00B-1A96-C1118B623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816"/>
              <a:ext cx="0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5033" name="Line 9">
              <a:extLst>
                <a:ext uri="{FF2B5EF4-FFF2-40B4-BE49-F238E27FC236}">
                  <a16:creationId xmlns:a16="http://schemas.microsoft.com/office/drawing/2014/main" id="{B5B51244-68D9-FF25-AD57-D689A101F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5034" name="Text Box 10">
              <a:extLst>
                <a:ext uri="{FF2B5EF4-FFF2-40B4-BE49-F238E27FC236}">
                  <a16:creationId xmlns:a16="http://schemas.microsoft.com/office/drawing/2014/main" id="{F14400E5-D9E9-3F7E-DC36-0D6B7A9EB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68"/>
              <a:ext cx="72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计划投资</a:t>
              </a:r>
            </a:p>
          </p:txBody>
        </p:sp>
        <p:sp>
          <p:nvSpPr>
            <p:cNvPr id="385035" name="Text Box 11">
              <a:extLst>
                <a:ext uri="{FF2B5EF4-FFF2-40B4-BE49-F238E27FC236}">
                  <a16:creationId xmlns:a16="http://schemas.microsoft.com/office/drawing/2014/main" id="{1C0B73D3-E0C9-0A69-9E8E-2B0054EE5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864"/>
              <a:ext cx="19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利率</a:t>
              </a:r>
            </a:p>
          </p:txBody>
        </p:sp>
      </p:grpSp>
      <p:sp>
        <p:nvSpPr>
          <p:cNvPr id="385036" name="Line 12">
            <a:extLst>
              <a:ext uri="{FF2B5EF4-FFF2-40B4-BE49-F238E27FC236}">
                <a16:creationId xmlns:a16="http://schemas.microsoft.com/office/drawing/2014/main" id="{8F4B775F-3211-7182-3542-D36556722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600200"/>
            <a:ext cx="21336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5040" name="Rectangle 16">
            <a:extLst>
              <a:ext uri="{FF2B5EF4-FFF2-40B4-BE49-F238E27FC236}">
                <a16:creationId xmlns:a16="http://schemas.microsoft.com/office/drawing/2014/main" id="{087F306F-D7BB-8D23-21F4-B396F034A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209800"/>
            <a:ext cx="4724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引入投资函数带来的影响</a:t>
            </a:r>
            <a:endParaRPr lang="zh-CN" altLang="en-US" sz="2400" b="1"/>
          </a:p>
        </p:txBody>
      </p:sp>
      <p:graphicFrame>
        <p:nvGraphicFramePr>
          <p:cNvPr id="385041" name="Object 17">
            <a:extLst>
              <a:ext uri="{FF2B5EF4-FFF2-40B4-BE49-F238E27FC236}">
                <a16:creationId xmlns:a16="http://schemas.microsoft.com/office/drawing/2014/main" id="{D4E41AA0-CB20-1D46-161F-F4648083D2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975" y="2895600"/>
          <a:ext cx="159702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203040" progId="Equation.DSMT4">
                  <p:embed/>
                </p:oleObj>
              </mc:Choice>
              <mc:Fallback>
                <p:oleObj name="Equation" r:id="rId4" imgW="1028520" imgH="2030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2895600"/>
                        <a:ext cx="1597025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42" name="Object 18">
            <a:extLst>
              <a:ext uri="{FF2B5EF4-FFF2-40B4-BE49-F238E27FC236}">
                <a16:creationId xmlns:a16="http://schemas.microsoft.com/office/drawing/2014/main" id="{9F72C631-3F61-5122-40AF-2663656DE1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819400"/>
          <a:ext cx="358933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11200" imgH="279360" progId="Equation.DSMT4">
                  <p:embed/>
                </p:oleObj>
              </mc:Choice>
              <mc:Fallback>
                <p:oleObj name="Equation" r:id="rId6" imgW="2311200" imgH="2793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819400"/>
                        <a:ext cx="3589338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43" name="Rectangle 19">
            <a:extLst>
              <a:ext uri="{FF2B5EF4-FFF2-40B4-BE49-F238E27FC236}">
                <a16:creationId xmlns:a16="http://schemas.microsoft.com/office/drawing/2014/main" id="{956B8631-AE82-101F-D1EC-BF12A33FC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4290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000" b="1"/>
              <a:t>每一利率都对应着一个总支出水平。</a:t>
            </a:r>
          </a:p>
        </p:txBody>
      </p:sp>
      <p:grpSp>
        <p:nvGrpSpPr>
          <p:cNvPr id="385064" name="Group 40">
            <a:extLst>
              <a:ext uri="{FF2B5EF4-FFF2-40B4-BE49-F238E27FC236}">
                <a16:creationId xmlns:a16="http://schemas.microsoft.com/office/drawing/2014/main" id="{79A8887A-EB69-95D3-C30E-EFEBEF755C7B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175125"/>
            <a:ext cx="3048000" cy="2073275"/>
            <a:chOff x="3456" y="2630"/>
            <a:chExt cx="1920" cy="1306"/>
          </a:xfrm>
        </p:grpSpPr>
        <p:grpSp>
          <p:nvGrpSpPr>
            <p:cNvPr id="385056" name="Group 32">
              <a:extLst>
                <a:ext uri="{FF2B5EF4-FFF2-40B4-BE49-F238E27FC236}">
                  <a16:creationId xmlns:a16="http://schemas.microsoft.com/office/drawing/2014/main" id="{EC2F0748-21FF-B0CF-1D19-4EDFDC4D83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630"/>
              <a:ext cx="1920" cy="1306"/>
              <a:chOff x="3456" y="816"/>
              <a:chExt cx="1920" cy="1306"/>
            </a:xfrm>
          </p:grpSpPr>
          <p:sp>
            <p:nvSpPr>
              <p:cNvPr id="385057" name="Line 33">
                <a:extLst>
                  <a:ext uri="{FF2B5EF4-FFF2-40B4-BE49-F238E27FC236}">
                    <a16:creationId xmlns:a16="http://schemas.microsoft.com/office/drawing/2014/main" id="{EDBFEA60-D2DB-80AF-0819-D6AE7FE894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5058" name="Line 34">
                <a:extLst>
                  <a:ext uri="{FF2B5EF4-FFF2-40B4-BE49-F238E27FC236}">
                    <a16:creationId xmlns:a16="http://schemas.microsoft.com/office/drawing/2014/main" id="{95BF8F58-2A49-A7B1-89BC-8F5CC11D39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5059" name="Text Box 35">
                <a:extLst>
                  <a:ext uri="{FF2B5EF4-FFF2-40B4-BE49-F238E27FC236}">
                    <a16:creationId xmlns:a16="http://schemas.microsoft.com/office/drawing/2014/main" id="{597FA96C-9863-5BF2-AEDE-C655A8651E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收入产出</a:t>
                </a:r>
              </a:p>
            </p:txBody>
          </p:sp>
          <p:sp>
            <p:nvSpPr>
              <p:cNvPr id="385060" name="Text Box 36">
                <a:extLst>
                  <a:ext uri="{FF2B5EF4-FFF2-40B4-BE49-F238E27FC236}">
                    <a16:creationId xmlns:a16="http://schemas.microsoft.com/office/drawing/2014/main" id="{29A0AA15-7B2A-99F2-B01C-805D1FE881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 b="1"/>
                  <a:t>AD</a:t>
                </a:r>
              </a:p>
            </p:txBody>
          </p:sp>
        </p:grpSp>
        <p:sp>
          <p:nvSpPr>
            <p:cNvPr id="385061" name="Line 37">
              <a:extLst>
                <a:ext uri="{FF2B5EF4-FFF2-40B4-BE49-F238E27FC236}">
                  <a16:creationId xmlns:a16="http://schemas.microsoft.com/office/drawing/2014/main" id="{C900E93F-758A-A95B-23D8-3B60316C5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640"/>
              <a:ext cx="1344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5062" name="Freeform 38">
              <a:extLst>
                <a:ext uri="{FF2B5EF4-FFF2-40B4-BE49-F238E27FC236}">
                  <a16:creationId xmlns:a16="http://schemas.microsoft.com/office/drawing/2014/main" id="{9E05EDF7-E43A-0D9B-F8FD-2D973B6F4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" y="3504"/>
              <a:ext cx="146" cy="240"/>
            </a:xfrm>
            <a:custGeom>
              <a:avLst/>
              <a:gdLst>
                <a:gd name="T0" fmla="*/ 0 w 146"/>
                <a:gd name="T1" fmla="*/ 0 h 240"/>
                <a:gd name="T2" fmla="*/ 132 w 146"/>
                <a:gd name="T3" fmla="*/ 72 h 240"/>
                <a:gd name="T4" fmla="*/ 84 w 146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6" h="240">
                  <a:moveTo>
                    <a:pt x="0" y="0"/>
                  </a:moveTo>
                  <a:cubicBezTo>
                    <a:pt x="22" y="12"/>
                    <a:pt x="118" y="32"/>
                    <a:pt x="132" y="72"/>
                  </a:cubicBezTo>
                  <a:cubicBezTo>
                    <a:pt x="146" y="112"/>
                    <a:pt x="94" y="205"/>
                    <a:pt x="84" y="240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63" name="Text Box 39">
              <a:extLst>
                <a:ext uri="{FF2B5EF4-FFF2-40B4-BE49-F238E27FC236}">
                  <a16:creationId xmlns:a16="http://schemas.microsoft.com/office/drawing/2014/main" id="{1321EA52-9B28-B87E-3B95-3226BD8D4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419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45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˚</a:t>
              </a:r>
            </a:p>
          </p:txBody>
        </p:sp>
      </p:grpSp>
      <p:grpSp>
        <p:nvGrpSpPr>
          <p:cNvPr id="385071" name="Group 47">
            <a:extLst>
              <a:ext uri="{FF2B5EF4-FFF2-40B4-BE49-F238E27FC236}">
                <a16:creationId xmlns:a16="http://schemas.microsoft.com/office/drawing/2014/main" id="{D07612FE-6232-C2BC-AD1D-38BC85FC7D2C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981200"/>
            <a:ext cx="609600" cy="1066800"/>
            <a:chOff x="3648" y="1248"/>
            <a:chExt cx="384" cy="720"/>
          </a:xfrm>
        </p:grpSpPr>
        <p:sp>
          <p:nvSpPr>
            <p:cNvPr id="385068" name="Line 44">
              <a:extLst>
                <a:ext uri="{FF2B5EF4-FFF2-40B4-BE49-F238E27FC236}">
                  <a16:creationId xmlns:a16="http://schemas.microsoft.com/office/drawing/2014/main" id="{7A19EEF0-1062-BFCF-AF11-526FA291F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248"/>
              <a:ext cx="38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5069" name="Line 45">
              <a:extLst>
                <a:ext uri="{FF2B5EF4-FFF2-40B4-BE49-F238E27FC236}">
                  <a16:creationId xmlns:a16="http://schemas.microsoft.com/office/drawing/2014/main" id="{4708F9C5-6422-E5C6-20BB-B088BDACE0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248"/>
              <a:ext cx="0" cy="72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85073" name="Group 49">
            <a:extLst>
              <a:ext uri="{FF2B5EF4-FFF2-40B4-BE49-F238E27FC236}">
                <a16:creationId xmlns:a16="http://schemas.microsoft.com/office/drawing/2014/main" id="{E7DC3E21-D5A8-FE24-9750-480BC6C14364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3048000"/>
            <a:ext cx="3200400" cy="2057400"/>
            <a:chOff x="3696" y="1920"/>
            <a:chExt cx="2016" cy="1296"/>
          </a:xfrm>
        </p:grpSpPr>
        <p:grpSp>
          <p:nvGrpSpPr>
            <p:cNvPr id="385067" name="Group 43">
              <a:extLst>
                <a:ext uri="{FF2B5EF4-FFF2-40B4-BE49-F238E27FC236}">
                  <a16:creationId xmlns:a16="http://schemas.microsoft.com/office/drawing/2014/main" id="{2F9EDB71-8695-3A1A-5DDC-E2612738DE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688"/>
              <a:ext cx="2016" cy="528"/>
              <a:chOff x="3696" y="2688"/>
              <a:chExt cx="2016" cy="528"/>
            </a:xfrm>
          </p:grpSpPr>
          <p:sp>
            <p:nvSpPr>
              <p:cNvPr id="385065" name="Line 41">
                <a:extLst>
                  <a:ext uri="{FF2B5EF4-FFF2-40B4-BE49-F238E27FC236}">
                    <a16:creationId xmlns:a16="http://schemas.microsoft.com/office/drawing/2014/main" id="{CC00CE44-E31D-A54E-8FF9-9F2B6AC9AB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2784"/>
                <a:ext cx="1536" cy="43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5066" name="Text Box 42">
                <a:extLst>
                  <a:ext uri="{FF2B5EF4-FFF2-40B4-BE49-F238E27FC236}">
                    <a16:creationId xmlns:a16="http://schemas.microsoft.com/office/drawing/2014/main" id="{6453ACA0-D90F-8ECD-F458-AC15D8115E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2" y="2688"/>
                <a:ext cx="480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</a:rPr>
                  <a:t>AD(I</a:t>
                </a:r>
                <a:r>
                  <a:rPr lang="en-US" altLang="zh-CN" b="1" baseline="-25000">
                    <a:solidFill>
                      <a:schemeClr val="tx2"/>
                    </a:solidFill>
                  </a:rPr>
                  <a:t>1</a:t>
                </a:r>
                <a:r>
                  <a:rPr lang="en-US" altLang="zh-CN" b="1">
                    <a:solidFill>
                      <a:schemeClr val="tx2"/>
                    </a:solidFill>
                  </a:rPr>
                  <a:t>)</a:t>
                </a:r>
              </a:p>
            </p:txBody>
          </p:sp>
        </p:grpSp>
        <p:sp>
          <p:nvSpPr>
            <p:cNvPr id="385070" name="Rectangle 46">
              <a:extLst>
                <a:ext uri="{FF2B5EF4-FFF2-40B4-BE49-F238E27FC236}">
                  <a16:creationId xmlns:a16="http://schemas.microsoft.com/office/drawing/2014/main" id="{9F32148A-3EEB-AF52-A1D9-EAB473C90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" y="1920"/>
              <a:ext cx="2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I</a:t>
              </a:r>
              <a:r>
                <a:rPr lang="en-US" altLang="zh-CN" b="1" baseline="-25000">
                  <a:solidFill>
                    <a:schemeClr val="tx2"/>
                  </a:solidFill>
                </a:rPr>
                <a:t>1</a:t>
              </a:r>
              <a:endParaRPr lang="en-US" altLang="zh-CN" b="1">
                <a:solidFill>
                  <a:schemeClr val="tx2"/>
                </a:solidFill>
              </a:endParaRPr>
            </a:p>
          </p:txBody>
        </p:sp>
        <p:sp>
          <p:nvSpPr>
            <p:cNvPr id="385072" name="Line 48">
              <a:extLst>
                <a:ext uri="{FF2B5EF4-FFF2-40B4-BE49-F238E27FC236}">
                  <a16:creationId xmlns:a16="http://schemas.microsoft.com/office/drawing/2014/main" id="{A0E3A741-9F65-4593-ADB9-C743912D5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112"/>
              <a:ext cx="0" cy="100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85074" name="Group 50">
            <a:extLst>
              <a:ext uri="{FF2B5EF4-FFF2-40B4-BE49-F238E27FC236}">
                <a16:creationId xmlns:a16="http://schemas.microsoft.com/office/drawing/2014/main" id="{F8BD6F29-0B75-C84B-68D0-596FC8964FE1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209800"/>
            <a:ext cx="990600" cy="838200"/>
            <a:chOff x="3648" y="1248"/>
            <a:chExt cx="384" cy="720"/>
          </a:xfrm>
        </p:grpSpPr>
        <p:sp>
          <p:nvSpPr>
            <p:cNvPr id="385075" name="Line 51">
              <a:extLst>
                <a:ext uri="{FF2B5EF4-FFF2-40B4-BE49-F238E27FC236}">
                  <a16:creationId xmlns:a16="http://schemas.microsoft.com/office/drawing/2014/main" id="{C5061642-CD6E-CD2B-B390-A4056DC1E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248"/>
              <a:ext cx="38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5076" name="Line 52">
              <a:extLst>
                <a:ext uri="{FF2B5EF4-FFF2-40B4-BE49-F238E27FC236}">
                  <a16:creationId xmlns:a16="http://schemas.microsoft.com/office/drawing/2014/main" id="{D8662226-D11F-8D47-4885-A17393EDC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248"/>
              <a:ext cx="0" cy="72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85077" name="Group 53">
            <a:extLst>
              <a:ext uri="{FF2B5EF4-FFF2-40B4-BE49-F238E27FC236}">
                <a16:creationId xmlns:a16="http://schemas.microsoft.com/office/drawing/2014/main" id="{ABF63AD5-D257-E2B6-D2C9-D5EF83218E8F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3048000"/>
            <a:ext cx="2590800" cy="1600200"/>
            <a:chOff x="3696" y="1920"/>
            <a:chExt cx="2016" cy="1296"/>
          </a:xfrm>
        </p:grpSpPr>
        <p:grpSp>
          <p:nvGrpSpPr>
            <p:cNvPr id="385078" name="Group 54">
              <a:extLst>
                <a:ext uri="{FF2B5EF4-FFF2-40B4-BE49-F238E27FC236}">
                  <a16:creationId xmlns:a16="http://schemas.microsoft.com/office/drawing/2014/main" id="{7512A6B5-75AA-DCA3-4E69-618E73F997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688"/>
              <a:ext cx="2016" cy="528"/>
              <a:chOff x="3696" y="2688"/>
              <a:chExt cx="2016" cy="528"/>
            </a:xfrm>
          </p:grpSpPr>
          <p:sp>
            <p:nvSpPr>
              <p:cNvPr id="385079" name="Line 55">
                <a:extLst>
                  <a:ext uri="{FF2B5EF4-FFF2-40B4-BE49-F238E27FC236}">
                    <a16:creationId xmlns:a16="http://schemas.microsoft.com/office/drawing/2014/main" id="{2A1C2BF5-F03E-AE56-EAAD-F2CBEAD59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2784"/>
                <a:ext cx="1536" cy="43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5080" name="Text Box 56">
                <a:extLst>
                  <a:ext uri="{FF2B5EF4-FFF2-40B4-BE49-F238E27FC236}">
                    <a16:creationId xmlns:a16="http://schemas.microsoft.com/office/drawing/2014/main" id="{3D514782-1010-7A1E-57AB-E8BA0C00FD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1" y="2688"/>
                <a:ext cx="481" cy="2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</a:rPr>
                  <a:t>AD(I</a:t>
                </a:r>
                <a:r>
                  <a:rPr lang="en-US" altLang="zh-CN" b="1" baseline="-25000">
                    <a:solidFill>
                      <a:schemeClr val="tx2"/>
                    </a:solidFill>
                  </a:rPr>
                  <a:t>2</a:t>
                </a:r>
                <a:r>
                  <a:rPr lang="en-US" altLang="zh-CN" b="1">
                    <a:solidFill>
                      <a:schemeClr val="tx2"/>
                    </a:solidFill>
                  </a:rPr>
                  <a:t>)</a:t>
                </a:r>
              </a:p>
            </p:txBody>
          </p:sp>
        </p:grpSp>
        <p:sp>
          <p:nvSpPr>
            <p:cNvPr id="385081" name="Rectangle 57">
              <a:extLst>
                <a:ext uri="{FF2B5EF4-FFF2-40B4-BE49-F238E27FC236}">
                  <a16:creationId xmlns:a16="http://schemas.microsoft.com/office/drawing/2014/main" id="{54EBED4E-02BF-C2BF-E091-964E68E69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5" y="1920"/>
              <a:ext cx="258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I</a:t>
              </a:r>
              <a:r>
                <a:rPr lang="en-US" altLang="zh-CN" b="1" baseline="-250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385082" name="Line 58">
              <a:extLst>
                <a:ext uri="{FF2B5EF4-FFF2-40B4-BE49-F238E27FC236}">
                  <a16:creationId xmlns:a16="http://schemas.microsoft.com/office/drawing/2014/main" id="{BF2BDCCC-8AD3-F111-BF42-281604340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112"/>
              <a:ext cx="0" cy="100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85089" name="Group 65">
            <a:extLst>
              <a:ext uri="{FF2B5EF4-FFF2-40B4-BE49-F238E27FC236}">
                <a16:creationId xmlns:a16="http://schemas.microsoft.com/office/drawing/2014/main" id="{FEAFED1B-0E64-E64F-BE0F-FF7F4621BD77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1752600"/>
            <a:ext cx="1981200" cy="4343400"/>
            <a:chOff x="3504" y="1104"/>
            <a:chExt cx="1248" cy="2736"/>
          </a:xfrm>
        </p:grpSpPr>
        <p:sp>
          <p:nvSpPr>
            <p:cNvPr id="385083" name="Line 59">
              <a:extLst>
                <a:ext uri="{FF2B5EF4-FFF2-40B4-BE49-F238E27FC236}">
                  <a16:creationId xmlns:a16="http://schemas.microsoft.com/office/drawing/2014/main" id="{D68D75D4-70A9-D0D3-BCB0-3562A9B50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976"/>
              <a:ext cx="0" cy="768"/>
            </a:xfrm>
            <a:prstGeom prst="line">
              <a:avLst/>
            </a:prstGeom>
            <a:noFill/>
            <a:ln w="28575" cap="rnd">
              <a:solidFill>
                <a:srgbClr val="33CC3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5085" name="Oval 61">
              <a:extLst>
                <a:ext uri="{FF2B5EF4-FFF2-40B4-BE49-F238E27FC236}">
                  <a16:creationId xmlns:a16="http://schemas.microsoft.com/office/drawing/2014/main" id="{54EBBE31-B633-82B0-8A02-4436B893C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104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i1</a:t>
              </a:r>
            </a:p>
          </p:txBody>
        </p:sp>
        <p:sp>
          <p:nvSpPr>
            <p:cNvPr id="385086" name="Oval 62">
              <a:extLst>
                <a:ext uri="{FF2B5EF4-FFF2-40B4-BE49-F238E27FC236}">
                  <a16:creationId xmlns:a16="http://schemas.microsoft.com/office/drawing/2014/main" id="{18AA0C48-AD07-68DB-B56B-307B1FAC5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648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Y1</a:t>
              </a:r>
            </a:p>
          </p:txBody>
        </p:sp>
      </p:grpSp>
      <p:grpSp>
        <p:nvGrpSpPr>
          <p:cNvPr id="385090" name="Group 66">
            <a:extLst>
              <a:ext uri="{FF2B5EF4-FFF2-40B4-BE49-F238E27FC236}">
                <a16:creationId xmlns:a16="http://schemas.microsoft.com/office/drawing/2014/main" id="{D2010EAC-1910-6C1A-6764-EACCC2E602FA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057400"/>
            <a:ext cx="2438400" cy="4038600"/>
            <a:chOff x="3504" y="1296"/>
            <a:chExt cx="1536" cy="2544"/>
          </a:xfrm>
        </p:grpSpPr>
        <p:sp>
          <p:nvSpPr>
            <p:cNvPr id="385084" name="Line 60">
              <a:extLst>
                <a:ext uri="{FF2B5EF4-FFF2-40B4-BE49-F238E27FC236}">
                  <a16:creationId xmlns:a16="http://schemas.microsoft.com/office/drawing/2014/main" id="{B0A0B633-C113-3EE2-433A-F12BB9A33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736"/>
              <a:ext cx="0" cy="1008"/>
            </a:xfrm>
            <a:prstGeom prst="line">
              <a:avLst/>
            </a:prstGeom>
            <a:noFill/>
            <a:ln w="28575" cap="rnd">
              <a:solidFill>
                <a:srgbClr val="33CC3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5087" name="Oval 63">
              <a:extLst>
                <a:ext uri="{FF2B5EF4-FFF2-40B4-BE49-F238E27FC236}">
                  <a16:creationId xmlns:a16="http://schemas.microsoft.com/office/drawing/2014/main" id="{3613FC1F-9E1A-9EAD-D4A3-DDE88EFE9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296"/>
              <a:ext cx="240" cy="192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i2</a:t>
              </a:r>
            </a:p>
          </p:txBody>
        </p:sp>
        <p:sp>
          <p:nvSpPr>
            <p:cNvPr id="385088" name="Oval 64">
              <a:extLst>
                <a:ext uri="{FF2B5EF4-FFF2-40B4-BE49-F238E27FC236}">
                  <a16:creationId xmlns:a16="http://schemas.microsoft.com/office/drawing/2014/main" id="{DCAB9A4B-5D00-813B-3C58-61F46AC7C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648"/>
              <a:ext cx="240" cy="192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Y2</a:t>
              </a:r>
            </a:p>
          </p:txBody>
        </p:sp>
      </p:grpSp>
      <p:sp>
        <p:nvSpPr>
          <p:cNvPr id="385091" name="Rectangle 67">
            <a:extLst>
              <a:ext uri="{FF2B5EF4-FFF2-40B4-BE49-F238E27FC236}">
                <a16:creationId xmlns:a16="http://schemas.microsoft.com/office/drawing/2014/main" id="{BD5D1AD9-BD3E-1DD0-54B6-9DB67AC77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886200"/>
            <a:ext cx="5334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000" b="1"/>
              <a:t>当产品市场均衡时，每一利率都对应着一个</a:t>
            </a:r>
            <a:r>
              <a:rPr lang="zh-CN" altLang="en-US" sz="2000" b="1">
                <a:solidFill>
                  <a:schemeClr val="tx2"/>
                </a:solidFill>
              </a:rPr>
              <a:t>收入</a:t>
            </a:r>
            <a:r>
              <a:rPr lang="zh-CN" altLang="en-US" sz="2000" b="1"/>
              <a:t>水平：</a:t>
            </a:r>
            <a:r>
              <a:rPr lang="en-US" altLang="zh-CN" sz="2000" b="1"/>
              <a:t>IS</a:t>
            </a:r>
            <a:r>
              <a:rPr lang="zh-CN" altLang="en-US" sz="2000" b="1"/>
              <a:t>曲线</a:t>
            </a:r>
          </a:p>
        </p:txBody>
      </p:sp>
      <p:grpSp>
        <p:nvGrpSpPr>
          <p:cNvPr id="385104" name="Group 80">
            <a:extLst>
              <a:ext uri="{FF2B5EF4-FFF2-40B4-BE49-F238E27FC236}">
                <a16:creationId xmlns:a16="http://schemas.microsoft.com/office/drawing/2014/main" id="{0135C167-77BD-F6CD-7F92-C8A63781AF50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708525"/>
            <a:ext cx="3048000" cy="2073275"/>
            <a:chOff x="3456" y="816"/>
            <a:chExt cx="1920" cy="1306"/>
          </a:xfrm>
        </p:grpSpPr>
        <p:sp>
          <p:nvSpPr>
            <p:cNvPr id="385105" name="Line 81">
              <a:extLst>
                <a:ext uri="{FF2B5EF4-FFF2-40B4-BE49-F238E27FC236}">
                  <a16:creationId xmlns:a16="http://schemas.microsoft.com/office/drawing/2014/main" id="{7CE5EAD5-B7E6-9AC8-62CE-29C8D8B14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816"/>
              <a:ext cx="0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5106" name="Line 82">
              <a:extLst>
                <a:ext uri="{FF2B5EF4-FFF2-40B4-BE49-F238E27FC236}">
                  <a16:creationId xmlns:a16="http://schemas.microsoft.com/office/drawing/2014/main" id="{0A7D9189-187A-1A3F-5FDF-C1DA9EEB8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5107" name="Text Box 83">
              <a:extLst>
                <a:ext uri="{FF2B5EF4-FFF2-40B4-BE49-F238E27FC236}">
                  <a16:creationId xmlns:a16="http://schemas.microsoft.com/office/drawing/2014/main" id="{BFF03643-BFFF-A4F6-D17B-0D3C1E9C3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68"/>
              <a:ext cx="72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收入水平</a:t>
              </a:r>
            </a:p>
          </p:txBody>
        </p:sp>
        <p:sp>
          <p:nvSpPr>
            <p:cNvPr id="385108" name="Text Box 84">
              <a:extLst>
                <a:ext uri="{FF2B5EF4-FFF2-40B4-BE49-F238E27FC236}">
                  <a16:creationId xmlns:a16="http://schemas.microsoft.com/office/drawing/2014/main" id="{10DAAED5-5038-FD98-8A39-E78195253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864"/>
              <a:ext cx="19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利率</a:t>
              </a:r>
            </a:p>
          </p:txBody>
        </p:sp>
      </p:grpSp>
      <p:grpSp>
        <p:nvGrpSpPr>
          <p:cNvPr id="385122" name="Group 98">
            <a:extLst>
              <a:ext uri="{FF2B5EF4-FFF2-40B4-BE49-F238E27FC236}">
                <a16:creationId xmlns:a16="http://schemas.microsoft.com/office/drawing/2014/main" id="{C6B32027-A3E5-CD29-BFEE-FA814DF0AAA8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5638800"/>
            <a:ext cx="1981200" cy="990600"/>
            <a:chOff x="720" y="3552"/>
            <a:chExt cx="1248" cy="624"/>
          </a:xfrm>
        </p:grpSpPr>
        <p:grpSp>
          <p:nvGrpSpPr>
            <p:cNvPr id="385113" name="Group 89">
              <a:extLst>
                <a:ext uri="{FF2B5EF4-FFF2-40B4-BE49-F238E27FC236}">
                  <a16:creationId xmlns:a16="http://schemas.microsoft.com/office/drawing/2014/main" id="{E882600F-53ED-F346-7BAC-A69B26CF32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3600"/>
              <a:ext cx="1248" cy="576"/>
              <a:chOff x="3504" y="1296"/>
              <a:chExt cx="1536" cy="2544"/>
            </a:xfrm>
          </p:grpSpPr>
          <p:sp>
            <p:nvSpPr>
              <p:cNvPr id="385114" name="Line 90">
                <a:extLst>
                  <a:ext uri="{FF2B5EF4-FFF2-40B4-BE49-F238E27FC236}">
                    <a16:creationId xmlns:a16="http://schemas.microsoft.com/office/drawing/2014/main" id="{3509942F-1200-754D-98A5-E92BF31237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736"/>
                <a:ext cx="0" cy="1008"/>
              </a:xfrm>
              <a:prstGeom prst="line">
                <a:avLst/>
              </a:prstGeom>
              <a:noFill/>
              <a:ln w="28575" cap="rnd">
                <a:solidFill>
                  <a:srgbClr val="33CC33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5115" name="Oval 91">
                <a:extLst>
                  <a:ext uri="{FF2B5EF4-FFF2-40B4-BE49-F238E27FC236}">
                    <a16:creationId xmlns:a16="http://schemas.microsoft.com/office/drawing/2014/main" id="{355D202E-FCE8-181C-B774-36FD74F34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296"/>
                <a:ext cx="240" cy="192"/>
              </a:xfrm>
              <a:prstGeom prst="ellipse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b="1"/>
                  <a:t>i2</a:t>
                </a:r>
              </a:p>
            </p:txBody>
          </p:sp>
          <p:sp>
            <p:nvSpPr>
              <p:cNvPr id="385116" name="Oval 92">
                <a:extLst>
                  <a:ext uri="{FF2B5EF4-FFF2-40B4-BE49-F238E27FC236}">
                    <a16:creationId xmlns:a16="http://schemas.microsoft.com/office/drawing/2014/main" id="{BAF48F3E-DA0E-2505-417C-5C4080691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3648"/>
                <a:ext cx="240" cy="192"/>
              </a:xfrm>
              <a:prstGeom prst="ellipse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hlink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b="1"/>
                  <a:t>Y2</a:t>
                </a:r>
              </a:p>
            </p:txBody>
          </p:sp>
        </p:grpSp>
        <p:sp>
          <p:nvSpPr>
            <p:cNvPr id="385119" name="Oval 95">
              <a:extLst>
                <a:ext uri="{FF2B5EF4-FFF2-40B4-BE49-F238E27FC236}">
                  <a16:creationId xmlns:a16="http://schemas.microsoft.com/office/drawing/2014/main" id="{4D4C7DCF-F66A-EC83-013D-E44FB2058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552"/>
              <a:ext cx="96" cy="96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5121" name="Group 97">
            <a:extLst>
              <a:ext uri="{FF2B5EF4-FFF2-40B4-BE49-F238E27FC236}">
                <a16:creationId xmlns:a16="http://schemas.microsoft.com/office/drawing/2014/main" id="{595D2C6F-E873-FADC-78F4-CA2736969ED5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5257800"/>
            <a:ext cx="1219200" cy="1371600"/>
            <a:chOff x="768" y="3312"/>
            <a:chExt cx="768" cy="864"/>
          </a:xfrm>
        </p:grpSpPr>
        <p:grpSp>
          <p:nvGrpSpPr>
            <p:cNvPr id="385109" name="Group 85">
              <a:extLst>
                <a:ext uri="{FF2B5EF4-FFF2-40B4-BE49-F238E27FC236}">
                  <a16:creationId xmlns:a16="http://schemas.microsoft.com/office/drawing/2014/main" id="{40D0AEA0-8C95-C59D-9A27-43FE2500E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3360"/>
              <a:ext cx="768" cy="816"/>
              <a:chOff x="3504" y="1104"/>
              <a:chExt cx="1248" cy="2736"/>
            </a:xfrm>
          </p:grpSpPr>
          <p:sp>
            <p:nvSpPr>
              <p:cNvPr id="385110" name="Line 86">
                <a:extLst>
                  <a:ext uri="{FF2B5EF4-FFF2-40B4-BE49-F238E27FC236}">
                    <a16:creationId xmlns:a16="http://schemas.microsoft.com/office/drawing/2014/main" id="{EE537631-12CF-DA72-6504-6F6E4832D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2976"/>
                <a:ext cx="0" cy="768"/>
              </a:xfrm>
              <a:prstGeom prst="line">
                <a:avLst/>
              </a:prstGeom>
              <a:noFill/>
              <a:ln w="28575" cap="rnd">
                <a:solidFill>
                  <a:srgbClr val="33CC33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5111" name="Oval 87">
                <a:extLst>
                  <a:ext uri="{FF2B5EF4-FFF2-40B4-BE49-F238E27FC236}">
                    <a16:creationId xmlns:a16="http://schemas.microsoft.com/office/drawing/2014/main" id="{0C19D88F-D108-C7AF-6857-65A1346CBE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104"/>
                <a:ext cx="240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b="1"/>
                  <a:t>i1</a:t>
                </a:r>
              </a:p>
            </p:txBody>
          </p:sp>
          <p:sp>
            <p:nvSpPr>
              <p:cNvPr id="385112" name="Oval 88">
                <a:extLst>
                  <a:ext uri="{FF2B5EF4-FFF2-40B4-BE49-F238E27FC236}">
                    <a16:creationId xmlns:a16="http://schemas.microsoft.com/office/drawing/2014/main" id="{BB2050EB-179D-2215-7446-17EAA670C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3648"/>
                <a:ext cx="240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b="1"/>
                  <a:t>Y1</a:t>
                </a:r>
              </a:p>
            </p:txBody>
          </p:sp>
        </p:grpSp>
        <p:sp>
          <p:nvSpPr>
            <p:cNvPr id="385120" name="Oval 96">
              <a:extLst>
                <a:ext uri="{FF2B5EF4-FFF2-40B4-BE49-F238E27FC236}">
                  <a16:creationId xmlns:a16="http://schemas.microsoft.com/office/drawing/2014/main" id="{44C86BE0-C9BC-398C-CD4F-1C7360BFB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312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5125" name="Group 101">
            <a:extLst>
              <a:ext uri="{FF2B5EF4-FFF2-40B4-BE49-F238E27FC236}">
                <a16:creationId xmlns:a16="http://schemas.microsoft.com/office/drawing/2014/main" id="{627D507D-2DFC-2BDE-E3FE-879AA6EFDB31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4953000"/>
            <a:ext cx="2305050" cy="1447800"/>
            <a:chOff x="1104" y="3120"/>
            <a:chExt cx="1452" cy="912"/>
          </a:xfrm>
        </p:grpSpPr>
        <p:sp>
          <p:nvSpPr>
            <p:cNvPr id="385123" name="Line 99">
              <a:extLst>
                <a:ext uri="{FF2B5EF4-FFF2-40B4-BE49-F238E27FC236}">
                  <a16:creationId xmlns:a16="http://schemas.microsoft.com/office/drawing/2014/main" id="{61EF180A-F201-4B20-8D56-0DF75385C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120"/>
              <a:ext cx="1248" cy="76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5124" name="Rectangle 100">
              <a:extLst>
                <a:ext uri="{FF2B5EF4-FFF2-40B4-BE49-F238E27FC236}">
                  <a16:creationId xmlns:a16="http://schemas.microsoft.com/office/drawing/2014/main" id="{EBE7EC84-02CF-E262-B6CA-94C06CC90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801"/>
              <a:ext cx="2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IS</a:t>
              </a: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8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5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5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5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5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85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38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38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8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38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5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5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85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85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5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5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85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85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85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85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85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85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5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5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5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5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38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38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85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85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8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8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2" dur="500"/>
                                        <p:tgtEl>
                                          <p:spTgt spid="38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40" grpId="0" autoUpdateAnimBg="0"/>
      <p:bldP spid="385043" grpId="0" autoUpdateAnimBg="0"/>
      <p:bldP spid="38509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>
            <a:extLst>
              <a:ext uri="{FF2B5EF4-FFF2-40B4-BE49-F238E27FC236}">
                <a16:creationId xmlns:a16="http://schemas.microsoft.com/office/drawing/2014/main" id="{00F09B2C-84FA-CBD0-7EC6-638CCF41A32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0"/>
            <a:ext cx="8540750" cy="1143000"/>
          </a:xfrm>
        </p:spPr>
        <p:txBody>
          <a:bodyPr/>
          <a:lstStyle/>
          <a:p>
            <a:r>
              <a:rPr lang="en-US" altLang="zh-CN" b="1"/>
              <a:t>2.3</a:t>
            </a:r>
            <a:r>
              <a:rPr lang="zh-CN" altLang="en-US" b="1"/>
              <a:t>、</a:t>
            </a:r>
            <a:r>
              <a:rPr lang="en-US" altLang="zh-CN" b="1"/>
              <a:t>IS</a:t>
            </a:r>
            <a:r>
              <a:rPr lang="zh-CN" altLang="en-US" b="1"/>
              <a:t>曲线的数学推导</a:t>
            </a:r>
          </a:p>
        </p:txBody>
      </p:sp>
      <p:sp>
        <p:nvSpPr>
          <p:cNvPr id="386061" name="Rectangle 13">
            <a:extLst>
              <a:ext uri="{FF2B5EF4-FFF2-40B4-BE49-F238E27FC236}">
                <a16:creationId xmlns:a16="http://schemas.microsoft.com/office/drawing/2014/main" id="{15B81500-66E2-2C0C-B534-A15DF0322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0"/>
            <a:ext cx="4724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引入投资函数后的总支出</a:t>
            </a:r>
            <a:endParaRPr lang="zh-CN" altLang="en-US" sz="2400" b="1"/>
          </a:p>
        </p:txBody>
      </p:sp>
      <p:graphicFrame>
        <p:nvGraphicFramePr>
          <p:cNvPr id="386063" name="Object 15">
            <a:extLst>
              <a:ext uri="{FF2B5EF4-FFF2-40B4-BE49-F238E27FC236}">
                <a16:creationId xmlns:a16="http://schemas.microsoft.com/office/drawing/2014/main" id="{C64A3164-B617-F587-052D-C82202F266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2513" y="2209800"/>
          <a:ext cx="39243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27200" imgH="279360" progId="Equation.DSMT4">
                  <p:embed/>
                </p:oleObj>
              </mc:Choice>
              <mc:Fallback>
                <p:oleObj name="Equation" r:id="rId2" imgW="2527200" imgH="27936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2209800"/>
                        <a:ext cx="39243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6064" name="Rectangle 16">
            <a:extLst>
              <a:ext uri="{FF2B5EF4-FFF2-40B4-BE49-F238E27FC236}">
                <a16:creationId xmlns:a16="http://schemas.microsoft.com/office/drawing/2014/main" id="{CF034529-FB0D-8699-1831-CBE82C52F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895600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均衡条件</a:t>
            </a:r>
          </a:p>
        </p:txBody>
      </p:sp>
      <p:sp>
        <p:nvSpPr>
          <p:cNvPr id="386100" name="Rectangle 52">
            <a:extLst>
              <a:ext uri="{FF2B5EF4-FFF2-40B4-BE49-F238E27FC236}">
                <a16:creationId xmlns:a16="http://schemas.microsoft.com/office/drawing/2014/main" id="{F421EA85-7AB4-E0E2-B64E-186AAB59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6576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均衡的</a:t>
            </a:r>
            <a:r>
              <a:rPr lang="zh-CN" altLang="en-US" sz="2400" b="1">
                <a:solidFill>
                  <a:schemeClr val="tx2"/>
                </a:solidFill>
              </a:rPr>
              <a:t>收入</a:t>
            </a:r>
            <a:r>
              <a:rPr lang="zh-CN" altLang="en-US" sz="2400" b="1"/>
              <a:t>水平（</a:t>
            </a:r>
            <a:r>
              <a:rPr lang="en-US" altLang="zh-CN" sz="2400" b="1"/>
              <a:t>IS</a:t>
            </a:r>
            <a:r>
              <a:rPr lang="zh-CN" altLang="en-US" sz="2400" b="1"/>
              <a:t>曲线）</a:t>
            </a:r>
          </a:p>
        </p:txBody>
      </p:sp>
      <p:graphicFrame>
        <p:nvGraphicFramePr>
          <p:cNvPr id="386121" name="Object 73">
            <a:extLst>
              <a:ext uri="{FF2B5EF4-FFF2-40B4-BE49-F238E27FC236}">
                <a16:creationId xmlns:a16="http://schemas.microsoft.com/office/drawing/2014/main" id="{E36B89EF-B93A-A78C-32F1-72D1BCC72D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971800"/>
          <a:ext cx="80803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0560" imgH="203040" progId="Equation.DSMT4">
                  <p:embed/>
                </p:oleObj>
              </mc:Choice>
              <mc:Fallback>
                <p:oleObj name="Equation" r:id="rId4" imgW="520560" imgH="20304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971800"/>
                        <a:ext cx="80803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122" name="Object 74">
            <a:extLst>
              <a:ext uri="{FF2B5EF4-FFF2-40B4-BE49-F238E27FC236}">
                <a16:creationId xmlns:a16="http://schemas.microsoft.com/office/drawing/2014/main" id="{121E0F04-3B6A-E18D-0CD0-FC0CCC735C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1113" y="4191000"/>
          <a:ext cx="3824287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480" imgH="279360" progId="Equation.DSMT4">
                  <p:embed/>
                </p:oleObj>
              </mc:Choice>
              <mc:Fallback>
                <p:oleObj name="Equation" r:id="rId6" imgW="2463480" imgH="27936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4191000"/>
                        <a:ext cx="3824287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124" name="Object 76">
            <a:extLst>
              <a:ext uri="{FF2B5EF4-FFF2-40B4-BE49-F238E27FC236}">
                <a16:creationId xmlns:a16="http://schemas.microsoft.com/office/drawing/2014/main" id="{4644921E-4B66-94E9-41CA-7FF9A0626F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6975" y="5334000"/>
          <a:ext cx="406082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16120" imgH="444240" progId="Equation.DSMT4">
                  <p:embed/>
                </p:oleObj>
              </mc:Choice>
              <mc:Fallback>
                <p:oleObj name="Equation" r:id="rId8" imgW="2616120" imgH="444240" progId="Equation.DSMT4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5334000"/>
                        <a:ext cx="4060825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8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8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8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8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8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38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61" grpId="0" autoUpdateAnimBg="0"/>
      <p:bldP spid="386064" grpId="0" autoUpdateAnimBg="0"/>
      <p:bldP spid="386100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>
            <a:extLst>
              <a:ext uri="{FF2B5EF4-FFF2-40B4-BE49-F238E27FC236}">
                <a16:creationId xmlns:a16="http://schemas.microsoft.com/office/drawing/2014/main" id="{158DAA8A-D982-88F5-8EF4-A680D564D3D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28600" y="0"/>
            <a:ext cx="8540750" cy="1143000"/>
          </a:xfrm>
        </p:spPr>
        <p:txBody>
          <a:bodyPr/>
          <a:lstStyle/>
          <a:p>
            <a:r>
              <a:rPr lang="en-US" altLang="zh-CN" b="1"/>
              <a:t>2.4</a:t>
            </a:r>
            <a:r>
              <a:rPr lang="zh-CN" altLang="en-US" b="1"/>
              <a:t>、</a:t>
            </a:r>
            <a:r>
              <a:rPr lang="en-US" altLang="zh-CN" b="1"/>
              <a:t>IS</a:t>
            </a:r>
            <a:r>
              <a:rPr lang="zh-CN" altLang="en-US" b="1"/>
              <a:t>曲线的性质</a:t>
            </a:r>
          </a:p>
        </p:txBody>
      </p:sp>
      <p:sp>
        <p:nvSpPr>
          <p:cNvPr id="387085" name="Rectangle 13">
            <a:extLst>
              <a:ext uri="{FF2B5EF4-FFF2-40B4-BE49-F238E27FC236}">
                <a16:creationId xmlns:a16="http://schemas.microsoft.com/office/drawing/2014/main" id="{FC762469-7528-0F5E-AC6F-375C17AE5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667000"/>
            <a:ext cx="4724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IS</a:t>
            </a:r>
            <a:r>
              <a:rPr lang="zh-CN" altLang="en-US" sz="2800" b="1"/>
              <a:t>曲线的斜率</a:t>
            </a:r>
            <a:endParaRPr lang="zh-CN" altLang="en-US" sz="2400" b="1"/>
          </a:p>
        </p:txBody>
      </p:sp>
      <p:graphicFrame>
        <p:nvGraphicFramePr>
          <p:cNvPr id="387086" name="Object 14">
            <a:extLst>
              <a:ext uri="{FF2B5EF4-FFF2-40B4-BE49-F238E27FC236}">
                <a16:creationId xmlns:a16="http://schemas.microsoft.com/office/drawing/2014/main" id="{86AED30E-BAAE-BF37-A72F-D77AFE926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389313"/>
          <a:ext cx="3078162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444240" progId="Equation.DSMT4">
                  <p:embed/>
                </p:oleObj>
              </mc:Choice>
              <mc:Fallback>
                <p:oleObj name="Equation" r:id="rId2" imgW="1981080" imgH="4442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389313"/>
                        <a:ext cx="3078162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124" name="Rectangle 52">
            <a:extLst>
              <a:ext uri="{FF2B5EF4-FFF2-40B4-BE49-F238E27FC236}">
                <a16:creationId xmlns:a16="http://schemas.microsoft.com/office/drawing/2014/main" id="{D74981F6-ADA5-2C50-050A-5E65D48BA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572000"/>
            <a:ext cx="5334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000" b="1"/>
              <a:t>投资乘数越大、投资对利率越敏感，</a:t>
            </a:r>
            <a:r>
              <a:rPr lang="en-US" altLang="zh-CN" sz="2000" b="1"/>
              <a:t>IS</a:t>
            </a:r>
            <a:r>
              <a:rPr lang="zh-CN" altLang="en-US" sz="2000" b="1"/>
              <a:t>曲线越平坦；反之，越陡峭。</a:t>
            </a:r>
          </a:p>
        </p:txBody>
      </p:sp>
      <p:grpSp>
        <p:nvGrpSpPr>
          <p:cNvPr id="387146" name="Group 74">
            <a:extLst>
              <a:ext uri="{FF2B5EF4-FFF2-40B4-BE49-F238E27FC236}">
                <a16:creationId xmlns:a16="http://schemas.microsoft.com/office/drawing/2014/main" id="{00D1F744-296A-4757-A990-A6ED35454CCF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270125"/>
            <a:ext cx="3124200" cy="2073275"/>
            <a:chOff x="3648" y="1430"/>
            <a:chExt cx="1968" cy="1306"/>
          </a:xfrm>
        </p:grpSpPr>
        <p:grpSp>
          <p:nvGrpSpPr>
            <p:cNvPr id="387125" name="Group 53">
              <a:extLst>
                <a:ext uri="{FF2B5EF4-FFF2-40B4-BE49-F238E27FC236}">
                  <a16:creationId xmlns:a16="http://schemas.microsoft.com/office/drawing/2014/main" id="{12ACEE89-5D1E-CE8F-F9C4-AD1452EE44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430"/>
              <a:ext cx="1920" cy="1306"/>
              <a:chOff x="3456" y="816"/>
              <a:chExt cx="1920" cy="1306"/>
            </a:xfrm>
          </p:grpSpPr>
          <p:sp>
            <p:nvSpPr>
              <p:cNvPr id="387126" name="Line 54">
                <a:extLst>
                  <a:ext uri="{FF2B5EF4-FFF2-40B4-BE49-F238E27FC236}">
                    <a16:creationId xmlns:a16="http://schemas.microsoft.com/office/drawing/2014/main" id="{6465C994-DAEA-E5D9-FCAF-6F93A287E5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7127" name="Line 55">
                <a:extLst>
                  <a:ext uri="{FF2B5EF4-FFF2-40B4-BE49-F238E27FC236}">
                    <a16:creationId xmlns:a16="http://schemas.microsoft.com/office/drawing/2014/main" id="{F9A36FD3-7A58-0170-7901-2227660AB6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7128" name="Text Box 56">
                <a:extLst>
                  <a:ext uri="{FF2B5EF4-FFF2-40B4-BE49-F238E27FC236}">
                    <a16:creationId xmlns:a16="http://schemas.microsoft.com/office/drawing/2014/main" id="{13FCF45F-2D2C-BBCC-DEA5-7A8EFCA968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收入水平</a:t>
                </a:r>
              </a:p>
            </p:txBody>
          </p:sp>
          <p:sp>
            <p:nvSpPr>
              <p:cNvPr id="387129" name="Text Box 57">
                <a:extLst>
                  <a:ext uri="{FF2B5EF4-FFF2-40B4-BE49-F238E27FC236}">
                    <a16:creationId xmlns:a16="http://schemas.microsoft.com/office/drawing/2014/main" id="{C2EA6AB5-1995-EA1C-5F7D-3BBB602047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利率</a:t>
                </a:r>
              </a:p>
            </p:txBody>
          </p:sp>
        </p:grpSp>
        <p:grpSp>
          <p:nvGrpSpPr>
            <p:cNvPr id="387130" name="Group 58">
              <a:extLst>
                <a:ext uri="{FF2B5EF4-FFF2-40B4-BE49-F238E27FC236}">
                  <a16:creationId xmlns:a16="http://schemas.microsoft.com/office/drawing/2014/main" id="{2A8B8913-D9DB-F754-B5C0-4F6A222248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2016"/>
              <a:ext cx="1248" cy="624"/>
              <a:chOff x="720" y="3552"/>
              <a:chExt cx="1248" cy="624"/>
            </a:xfrm>
          </p:grpSpPr>
          <p:grpSp>
            <p:nvGrpSpPr>
              <p:cNvPr id="387131" name="Group 59">
                <a:extLst>
                  <a:ext uri="{FF2B5EF4-FFF2-40B4-BE49-F238E27FC236}">
                    <a16:creationId xmlns:a16="http://schemas.microsoft.com/office/drawing/2014/main" id="{F1011409-FD62-1555-0F3C-BE354048F2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0" y="3600"/>
                <a:ext cx="1248" cy="576"/>
                <a:chOff x="3504" y="1296"/>
                <a:chExt cx="1536" cy="2544"/>
              </a:xfrm>
            </p:grpSpPr>
            <p:sp>
              <p:nvSpPr>
                <p:cNvPr id="387132" name="Line 60">
                  <a:extLst>
                    <a:ext uri="{FF2B5EF4-FFF2-40B4-BE49-F238E27FC236}">
                      <a16:creationId xmlns:a16="http://schemas.microsoft.com/office/drawing/2014/main" id="{2F7E094C-4C06-E07E-A7C5-72C27E4FC4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96" y="2736"/>
                  <a:ext cx="0" cy="1008"/>
                </a:xfrm>
                <a:prstGeom prst="line">
                  <a:avLst/>
                </a:prstGeom>
                <a:noFill/>
                <a:ln w="28575" cap="rnd">
                  <a:solidFill>
                    <a:srgbClr val="33CC33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87133" name="Oval 61">
                  <a:extLst>
                    <a:ext uri="{FF2B5EF4-FFF2-40B4-BE49-F238E27FC236}">
                      <a16:creationId xmlns:a16="http://schemas.microsoft.com/office/drawing/2014/main" id="{3363F563-6CF5-34EF-DA28-7FEF35928A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1296"/>
                  <a:ext cx="240" cy="192"/>
                </a:xfrm>
                <a:prstGeom prst="ellipse">
                  <a:avLst/>
                </a:pr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zh-CN" b="1"/>
                    <a:t>i2</a:t>
                  </a:r>
                </a:p>
              </p:txBody>
            </p:sp>
            <p:sp>
              <p:nvSpPr>
                <p:cNvPr id="387134" name="Oval 62">
                  <a:extLst>
                    <a:ext uri="{FF2B5EF4-FFF2-40B4-BE49-F238E27FC236}">
                      <a16:creationId xmlns:a16="http://schemas.microsoft.com/office/drawing/2014/main" id="{21BEADB8-0724-3557-47E7-3C9D40E0CF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00" y="3648"/>
                  <a:ext cx="240" cy="192"/>
                </a:xfrm>
                <a:prstGeom prst="ellipse">
                  <a:avLst/>
                </a:pr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zh-CN" b="1"/>
                    <a:t>Y2</a:t>
                  </a:r>
                </a:p>
              </p:txBody>
            </p:sp>
          </p:grpSp>
          <p:sp>
            <p:nvSpPr>
              <p:cNvPr id="387135" name="Oval 63">
                <a:extLst>
                  <a:ext uri="{FF2B5EF4-FFF2-40B4-BE49-F238E27FC236}">
                    <a16:creationId xmlns:a16="http://schemas.microsoft.com/office/drawing/2014/main" id="{9C79F73B-4416-65CD-895B-15B2D083E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3552"/>
                <a:ext cx="96" cy="96"/>
              </a:xfrm>
              <a:prstGeom prst="ellipse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7136" name="Group 64">
              <a:extLst>
                <a:ext uri="{FF2B5EF4-FFF2-40B4-BE49-F238E27FC236}">
                  <a16:creationId xmlns:a16="http://schemas.microsoft.com/office/drawing/2014/main" id="{BAD3FA94-B449-FB64-0DCF-59B4824312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776"/>
              <a:ext cx="768" cy="864"/>
              <a:chOff x="768" y="3312"/>
              <a:chExt cx="768" cy="864"/>
            </a:xfrm>
          </p:grpSpPr>
          <p:grpSp>
            <p:nvGrpSpPr>
              <p:cNvPr id="387137" name="Group 65">
                <a:extLst>
                  <a:ext uri="{FF2B5EF4-FFF2-40B4-BE49-F238E27FC236}">
                    <a16:creationId xmlns:a16="http://schemas.microsoft.com/office/drawing/2014/main" id="{E01BF967-ACA7-4823-782A-38702E0407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3360"/>
                <a:ext cx="768" cy="816"/>
                <a:chOff x="3504" y="1104"/>
                <a:chExt cx="1248" cy="2736"/>
              </a:xfrm>
            </p:grpSpPr>
            <p:sp>
              <p:nvSpPr>
                <p:cNvPr id="387138" name="Line 66">
                  <a:extLst>
                    <a:ext uri="{FF2B5EF4-FFF2-40B4-BE49-F238E27FC236}">
                      <a16:creationId xmlns:a16="http://schemas.microsoft.com/office/drawing/2014/main" id="{A8082619-920D-0B93-05EC-838C2DC899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8" y="2976"/>
                  <a:ext cx="0" cy="768"/>
                </a:xfrm>
                <a:prstGeom prst="line">
                  <a:avLst/>
                </a:prstGeom>
                <a:noFill/>
                <a:ln w="28575" cap="rnd">
                  <a:solidFill>
                    <a:srgbClr val="33CC33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87139" name="Oval 67">
                  <a:extLst>
                    <a:ext uri="{FF2B5EF4-FFF2-40B4-BE49-F238E27FC236}">
                      <a16:creationId xmlns:a16="http://schemas.microsoft.com/office/drawing/2014/main" id="{9DACE568-EA19-0D89-500E-A1EE501AD6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1104"/>
                  <a:ext cx="240" cy="192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zh-CN" b="1"/>
                    <a:t>i1</a:t>
                  </a:r>
                </a:p>
              </p:txBody>
            </p:sp>
            <p:sp>
              <p:nvSpPr>
                <p:cNvPr id="387140" name="Oval 68">
                  <a:extLst>
                    <a:ext uri="{FF2B5EF4-FFF2-40B4-BE49-F238E27FC236}">
                      <a16:creationId xmlns:a16="http://schemas.microsoft.com/office/drawing/2014/main" id="{6C85F2D5-68B6-C8F8-CF7C-3CF971D6C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3648"/>
                  <a:ext cx="240" cy="192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zh-CN" b="1"/>
                    <a:t>Y1</a:t>
                  </a:r>
                </a:p>
              </p:txBody>
            </p:sp>
          </p:grpSp>
          <p:sp>
            <p:nvSpPr>
              <p:cNvPr id="387141" name="Oval 69">
                <a:extLst>
                  <a:ext uri="{FF2B5EF4-FFF2-40B4-BE49-F238E27FC236}">
                    <a16:creationId xmlns:a16="http://schemas.microsoft.com/office/drawing/2014/main" id="{1D5155B7-702D-A489-2132-B8CB316F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3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7142" name="Group 70">
              <a:extLst>
                <a:ext uri="{FF2B5EF4-FFF2-40B4-BE49-F238E27FC236}">
                  <a16:creationId xmlns:a16="http://schemas.microsoft.com/office/drawing/2014/main" id="{B7281607-591E-943E-AD07-9218400514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1632"/>
              <a:ext cx="1407" cy="874"/>
              <a:chOff x="1104" y="3120"/>
              <a:chExt cx="1457" cy="926"/>
            </a:xfrm>
          </p:grpSpPr>
          <p:sp>
            <p:nvSpPr>
              <p:cNvPr id="387143" name="Line 71">
                <a:extLst>
                  <a:ext uri="{FF2B5EF4-FFF2-40B4-BE49-F238E27FC236}">
                    <a16:creationId xmlns:a16="http://schemas.microsoft.com/office/drawing/2014/main" id="{86EF11C9-D8A6-7681-9D87-F0B7BB60A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120"/>
                <a:ext cx="1248" cy="76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7144" name="Rectangle 72">
                <a:extLst>
                  <a:ext uri="{FF2B5EF4-FFF2-40B4-BE49-F238E27FC236}">
                    <a16:creationId xmlns:a16="http://schemas.microsoft.com/office/drawing/2014/main" id="{FFDE998D-5B8E-A765-0CAA-962D43D41D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0" y="3801"/>
                <a:ext cx="261" cy="2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IS</a:t>
                </a:r>
              </a:p>
            </p:txBody>
          </p:sp>
        </p:grpSp>
      </p:grpSp>
      <p:grpSp>
        <p:nvGrpSpPr>
          <p:cNvPr id="387147" name="Group 75">
            <a:extLst>
              <a:ext uri="{FF2B5EF4-FFF2-40B4-BE49-F238E27FC236}">
                <a16:creationId xmlns:a16="http://schemas.microsoft.com/office/drawing/2014/main" id="{5423C0D8-BB9F-66F0-7A19-F2F6404DD9ED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143000"/>
            <a:ext cx="7275513" cy="914400"/>
            <a:chOff x="48" y="720"/>
            <a:chExt cx="4583" cy="576"/>
          </a:xfrm>
        </p:grpSpPr>
        <p:sp>
          <p:nvSpPr>
            <p:cNvPr id="387077" name="Rectangle 5">
              <a:extLst>
                <a:ext uri="{FF2B5EF4-FFF2-40B4-BE49-F238E27FC236}">
                  <a16:creationId xmlns:a16="http://schemas.microsoft.com/office/drawing/2014/main" id="{1575EC6D-5C28-0395-CBDE-4FEED3B9C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768"/>
              <a:ext cx="278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/>
                <a:t>IS</a:t>
              </a:r>
              <a:r>
                <a:rPr lang="zh-CN" altLang="en-US" sz="2800" b="1"/>
                <a:t>曲线</a:t>
              </a:r>
            </a:p>
            <a:p>
              <a:pPr lvl="1"/>
              <a:r>
                <a:rPr lang="zh-CN" altLang="en-US" sz="2000" b="1"/>
                <a:t>经济含义</a:t>
              </a:r>
            </a:p>
          </p:txBody>
        </p:sp>
        <p:graphicFrame>
          <p:nvGraphicFramePr>
            <p:cNvPr id="387145" name="Object 73">
              <a:extLst>
                <a:ext uri="{FF2B5EF4-FFF2-40B4-BE49-F238E27FC236}">
                  <a16:creationId xmlns:a16="http://schemas.microsoft.com/office/drawing/2014/main" id="{EA7F95D3-1F20-E5A6-9852-E9A38BCB94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47" y="720"/>
            <a:ext cx="2384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438280" imgH="444240" progId="Equation.DSMT4">
                    <p:embed/>
                  </p:oleObj>
                </mc:Choice>
                <mc:Fallback>
                  <p:oleObj name="Equation" r:id="rId4" imgW="2438280" imgH="444240" progId="Equation.DSMT4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7" y="720"/>
                          <a:ext cx="2384" cy="5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7151" name="Group 79">
            <a:extLst>
              <a:ext uri="{FF2B5EF4-FFF2-40B4-BE49-F238E27FC236}">
                <a16:creationId xmlns:a16="http://schemas.microsoft.com/office/drawing/2014/main" id="{2031F140-2B61-3515-C451-8949C69CC416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953000"/>
            <a:ext cx="5334000" cy="1066800"/>
            <a:chOff x="48" y="2640"/>
            <a:chExt cx="3360" cy="672"/>
          </a:xfrm>
        </p:grpSpPr>
        <p:sp>
          <p:nvSpPr>
            <p:cNvPr id="387148" name="Rectangle 76">
              <a:extLst>
                <a:ext uri="{FF2B5EF4-FFF2-40B4-BE49-F238E27FC236}">
                  <a16:creationId xmlns:a16="http://schemas.microsoft.com/office/drawing/2014/main" id="{D5BCB6AC-2613-22ED-3413-886000F67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3024"/>
              <a:ext cx="3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/>
              <a:r>
                <a:rPr lang="zh-CN" altLang="en-US" sz="2000" b="1"/>
                <a:t>经济含义是什么？</a:t>
              </a:r>
            </a:p>
          </p:txBody>
        </p:sp>
        <p:sp>
          <p:nvSpPr>
            <p:cNvPr id="387149" name="Line 77">
              <a:extLst>
                <a:ext uri="{FF2B5EF4-FFF2-40B4-BE49-F238E27FC236}">
                  <a16:creationId xmlns:a16="http://schemas.microsoft.com/office/drawing/2014/main" id="{F60B6C10-2718-F982-A84C-394E9C1CA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640"/>
              <a:ext cx="273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7150" name="Line 78">
              <a:extLst>
                <a:ext uri="{FF2B5EF4-FFF2-40B4-BE49-F238E27FC236}">
                  <a16:creationId xmlns:a16="http://schemas.microsoft.com/office/drawing/2014/main" id="{4D3164EB-0B77-D941-B043-AE041380A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832"/>
              <a:ext cx="201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8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8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87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87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8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8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85" grpId="0" autoUpdateAnimBg="0"/>
      <p:bldP spid="38712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>
            <a:extLst>
              <a:ext uri="{FF2B5EF4-FFF2-40B4-BE49-F238E27FC236}">
                <a16:creationId xmlns:a16="http://schemas.microsoft.com/office/drawing/2014/main" id="{36DA212A-0DAF-18F2-0D65-F3B9FCFCA3A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0"/>
            <a:ext cx="8540750" cy="1143000"/>
          </a:xfrm>
        </p:spPr>
        <p:txBody>
          <a:bodyPr/>
          <a:lstStyle/>
          <a:p>
            <a:r>
              <a:rPr lang="en-US" altLang="zh-CN" b="1"/>
              <a:t>2.4</a:t>
            </a:r>
            <a:r>
              <a:rPr lang="zh-CN" altLang="en-US" b="1"/>
              <a:t>、 </a:t>
            </a:r>
            <a:r>
              <a:rPr lang="en-US" altLang="zh-CN" b="1"/>
              <a:t>IS</a:t>
            </a:r>
            <a:r>
              <a:rPr lang="zh-CN" altLang="en-US" b="1"/>
              <a:t>曲线的性质</a:t>
            </a:r>
          </a:p>
        </p:txBody>
      </p:sp>
      <p:sp>
        <p:nvSpPr>
          <p:cNvPr id="388101" name="Rectangle 5">
            <a:extLst>
              <a:ext uri="{FF2B5EF4-FFF2-40B4-BE49-F238E27FC236}">
                <a16:creationId xmlns:a16="http://schemas.microsoft.com/office/drawing/2014/main" id="{FFF19BBC-E94C-8E22-9CCF-1D548B6CD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371600"/>
            <a:ext cx="4572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政府支出增加，将会对</a:t>
            </a:r>
            <a:r>
              <a:rPr lang="en-US" altLang="zh-CN" sz="2800" b="1"/>
              <a:t>IS</a:t>
            </a:r>
            <a:r>
              <a:rPr lang="zh-CN" altLang="en-US" sz="2800" b="1"/>
              <a:t>曲线（</a:t>
            </a:r>
            <a:r>
              <a:rPr lang="zh-CN" altLang="en-US" sz="2800" b="1">
                <a:solidFill>
                  <a:schemeClr val="tx2"/>
                </a:solidFill>
              </a:rPr>
              <a:t>均衡收入水平</a:t>
            </a:r>
            <a:r>
              <a:rPr lang="zh-CN" altLang="en-US" sz="2800" b="1"/>
              <a:t>）产生什么影响？</a:t>
            </a:r>
            <a:endParaRPr lang="zh-CN" altLang="en-US" sz="2400" b="1"/>
          </a:p>
        </p:txBody>
      </p:sp>
      <p:sp>
        <p:nvSpPr>
          <p:cNvPr id="388170" name="Rectangle 74">
            <a:extLst>
              <a:ext uri="{FF2B5EF4-FFF2-40B4-BE49-F238E27FC236}">
                <a16:creationId xmlns:a16="http://schemas.microsoft.com/office/drawing/2014/main" id="{3D29D7C2-E7A7-F3E9-882D-D9F9B5910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53000"/>
            <a:ext cx="4419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000" b="1"/>
              <a:t>政府支出、转移支付、自主消费和自主投资增加，</a:t>
            </a:r>
            <a:r>
              <a:rPr lang="en-US" altLang="zh-CN" sz="2000" b="1"/>
              <a:t>IS</a:t>
            </a:r>
            <a:r>
              <a:rPr lang="zh-CN" altLang="en-US" sz="2000" b="1"/>
              <a:t>曲线向右平移；反之，相左平移。</a:t>
            </a:r>
          </a:p>
        </p:txBody>
      </p:sp>
      <p:graphicFrame>
        <p:nvGraphicFramePr>
          <p:cNvPr id="388176" name="Object 80">
            <a:extLst>
              <a:ext uri="{FF2B5EF4-FFF2-40B4-BE49-F238E27FC236}">
                <a16:creationId xmlns:a16="http://schemas.microsoft.com/office/drawing/2014/main" id="{57FB0FC1-0854-CD29-CD1A-95A1B75DC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819400"/>
          <a:ext cx="37846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444240" progId="Equation.DSMT4">
                  <p:embed/>
                </p:oleObj>
              </mc:Choice>
              <mc:Fallback>
                <p:oleObj name="Equation" r:id="rId2" imgW="2438280" imgH="444240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19400"/>
                        <a:ext cx="37846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77" name="Object 81">
            <a:extLst>
              <a:ext uri="{FF2B5EF4-FFF2-40B4-BE49-F238E27FC236}">
                <a16:creationId xmlns:a16="http://schemas.microsoft.com/office/drawing/2014/main" id="{C5775175-A27F-D15D-EA4E-45FF3D9376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911600"/>
          <a:ext cx="2265363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419040" progId="Equation.DSMT4">
                  <p:embed/>
                </p:oleObj>
              </mc:Choice>
              <mc:Fallback>
                <p:oleObj name="Equation" r:id="rId4" imgW="1460160" imgH="419040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911600"/>
                        <a:ext cx="2265363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78" name="Text Box 82">
            <a:extLst>
              <a:ext uri="{FF2B5EF4-FFF2-40B4-BE49-F238E27FC236}">
                <a16:creationId xmlns:a16="http://schemas.microsoft.com/office/drawing/2014/main" id="{8A4B1CBA-D7BE-0265-F99F-9A89B7DD6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032125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zh-CN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388179" name="Group 83">
            <a:extLst>
              <a:ext uri="{FF2B5EF4-FFF2-40B4-BE49-F238E27FC236}">
                <a16:creationId xmlns:a16="http://schemas.microsoft.com/office/drawing/2014/main" id="{A4CA3E7C-309D-56B3-68F9-6D86FFA4DDDD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524000"/>
            <a:ext cx="3048000" cy="2073275"/>
            <a:chOff x="3456" y="2630"/>
            <a:chExt cx="1920" cy="1306"/>
          </a:xfrm>
        </p:grpSpPr>
        <p:grpSp>
          <p:nvGrpSpPr>
            <p:cNvPr id="388180" name="Group 84">
              <a:extLst>
                <a:ext uri="{FF2B5EF4-FFF2-40B4-BE49-F238E27FC236}">
                  <a16:creationId xmlns:a16="http://schemas.microsoft.com/office/drawing/2014/main" id="{4FD43A59-EBDE-EC7B-CD07-E1A957B655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630"/>
              <a:ext cx="1920" cy="1306"/>
              <a:chOff x="3456" y="816"/>
              <a:chExt cx="1920" cy="1306"/>
            </a:xfrm>
          </p:grpSpPr>
          <p:sp>
            <p:nvSpPr>
              <p:cNvPr id="388181" name="Line 85">
                <a:extLst>
                  <a:ext uri="{FF2B5EF4-FFF2-40B4-BE49-F238E27FC236}">
                    <a16:creationId xmlns:a16="http://schemas.microsoft.com/office/drawing/2014/main" id="{25C8E17A-06D0-866F-C8DF-B709739ED2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8182" name="Line 86">
                <a:extLst>
                  <a:ext uri="{FF2B5EF4-FFF2-40B4-BE49-F238E27FC236}">
                    <a16:creationId xmlns:a16="http://schemas.microsoft.com/office/drawing/2014/main" id="{EF5425BC-40FC-EB5F-BD04-D99FA6880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8183" name="Text Box 87">
                <a:extLst>
                  <a:ext uri="{FF2B5EF4-FFF2-40B4-BE49-F238E27FC236}">
                    <a16:creationId xmlns:a16="http://schemas.microsoft.com/office/drawing/2014/main" id="{6EFBF0E5-4294-1D75-B511-0C5C7AC985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收入产出</a:t>
                </a:r>
              </a:p>
            </p:txBody>
          </p:sp>
          <p:sp>
            <p:nvSpPr>
              <p:cNvPr id="388184" name="Text Box 88">
                <a:extLst>
                  <a:ext uri="{FF2B5EF4-FFF2-40B4-BE49-F238E27FC236}">
                    <a16:creationId xmlns:a16="http://schemas.microsoft.com/office/drawing/2014/main" id="{7AD2A519-BB08-5F02-F661-311275C4FE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600" b="1"/>
                  <a:t>AD</a:t>
                </a:r>
              </a:p>
            </p:txBody>
          </p:sp>
        </p:grpSp>
        <p:sp>
          <p:nvSpPr>
            <p:cNvPr id="388185" name="Line 89">
              <a:extLst>
                <a:ext uri="{FF2B5EF4-FFF2-40B4-BE49-F238E27FC236}">
                  <a16:creationId xmlns:a16="http://schemas.microsoft.com/office/drawing/2014/main" id="{43E9BDC2-6C48-C8A4-CDA5-4F22E8CCB9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640"/>
              <a:ext cx="1344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8186" name="Freeform 90">
              <a:extLst>
                <a:ext uri="{FF2B5EF4-FFF2-40B4-BE49-F238E27FC236}">
                  <a16:creationId xmlns:a16="http://schemas.microsoft.com/office/drawing/2014/main" id="{45E95720-5869-665B-C45C-4571C2696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" y="3504"/>
              <a:ext cx="146" cy="240"/>
            </a:xfrm>
            <a:custGeom>
              <a:avLst/>
              <a:gdLst>
                <a:gd name="T0" fmla="*/ 0 w 146"/>
                <a:gd name="T1" fmla="*/ 0 h 240"/>
                <a:gd name="T2" fmla="*/ 132 w 146"/>
                <a:gd name="T3" fmla="*/ 72 h 240"/>
                <a:gd name="T4" fmla="*/ 84 w 146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6" h="240">
                  <a:moveTo>
                    <a:pt x="0" y="0"/>
                  </a:moveTo>
                  <a:cubicBezTo>
                    <a:pt x="22" y="12"/>
                    <a:pt x="118" y="32"/>
                    <a:pt x="132" y="72"/>
                  </a:cubicBezTo>
                  <a:cubicBezTo>
                    <a:pt x="146" y="112"/>
                    <a:pt x="94" y="205"/>
                    <a:pt x="84" y="240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187" name="Text Box 91">
              <a:extLst>
                <a:ext uri="{FF2B5EF4-FFF2-40B4-BE49-F238E27FC236}">
                  <a16:creationId xmlns:a16="http://schemas.microsoft.com/office/drawing/2014/main" id="{3A4C2CB1-9AEE-E991-3227-84B425943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419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45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˚</a:t>
              </a:r>
            </a:p>
          </p:txBody>
        </p:sp>
      </p:grpSp>
      <p:grpSp>
        <p:nvGrpSpPr>
          <p:cNvPr id="388197" name="Group 101">
            <a:extLst>
              <a:ext uri="{FF2B5EF4-FFF2-40B4-BE49-F238E27FC236}">
                <a16:creationId xmlns:a16="http://schemas.microsoft.com/office/drawing/2014/main" id="{CCC14640-BC3A-572E-1FD0-10035AFE6ECD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447800"/>
            <a:ext cx="3200400" cy="838200"/>
            <a:chOff x="3840" y="912"/>
            <a:chExt cx="2016" cy="528"/>
          </a:xfrm>
        </p:grpSpPr>
        <p:sp>
          <p:nvSpPr>
            <p:cNvPr id="388195" name="Line 99">
              <a:extLst>
                <a:ext uri="{FF2B5EF4-FFF2-40B4-BE49-F238E27FC236}">
                  <a16:creationId xmlns:a16="http://schemas.microsoft.com/office/drawing/2014/main" id="{317F26CD-56C4-121B-27EC-AB4EDED2B7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1008"/>
              <a:ext cx="1536" cy="43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8196" name="Text Box 100">
              <a:extLst>
                <a:ext uri="{FF2B5EF4-FFF2-40B4-BE49-F238E27FC236}">
                  <a16:creationId xmlns:a16="http://schemas.microsoft.com/office/drawing/2014/main" id="{6D1723A6-3771-371E-295F-F5F687563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6" y="912"/>
              <a:ext cx="48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FF00"/>
                  </a:solidFill>
                </a:rPr>
                <a:t>AD(i)</a:t>
              </a:r>
            </a:p>
          </p:txBody>
        </p:sp>
      </p:grpSp>
      <p:grpSp>
        <p:nvGrpSpPr>
          <p:cNvPr id="388226" name="Group 130">
            <a:extLst>
              <a:ext uri="{FF2B5EF4-FFF2-40B4-BE49-F238E27FC236}">
                <a16:creationId xmlns:a16="http://schemas.microsoft.com/office/drawing/2014/main" id="{AC719AA9-A895-9745-E892-A206F0FE768F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4708525"/>
            <a:ext cx="3048000" cy="2073275"/>
            <a:chOff x="3648" y="2966"/>
            <a:chExt cx="1920" cy="1306"/>
          </a:xfrm>
        </p:grpSpPr>
        <p:grpSp>
          <p:nvGrpSpPr>
            <p:cNvPr id="388201" name="Group 105">
              <a:extLst>
                <a:ext uri="{FF2B5EF4-FFF2-40B4-BE49-F238E27FC236}">
                  <a16:creationId xmlns:a16="http://schemas.microsoft.com/office/drawing/2014/main" id="{C83484DC-EA70-A0A7-344C-35076E661B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2966"/>
              <a:ext cx="1920" cy="1306"/>
              <a:chOff x="3456" y="816"/>
              <a:chExt cx="1920" cy="1306"/>
            </a:xfrm>
          </p:grpSpPr>
          <p:sp>
            <p:nvSpPr>
              <p:cNvPr id="388202" name="Line 106">
                <a:extLst>
                  <a:ext uri="{FF2B5EF4-FFF2-40B4-BE49-F238E27FC236}">
                    <a16:creationId xmlns:a16="http://schemas.microsoft.com/office/drawing/2014/main" id="{EE30D5ED-31B6-FECD-2FFE-31D96540B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8203" name="Line 107">
                <a:extLst>
                  <a:ext uri="{FF2B5EF4-FFF2-40B4-BE49-F238E27FC236}">
                    <a16:creationId xmlns:a16="http://schemas.microsoft.com/office/drawing/2014/main" id="{48799DBF-E2F9-C8C6-4EB7-FD229CE2C6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8204" name="Text Box 108">
                <a:extLst>
                  <a:ext uri="{FF2B5EF4-FFF2-40B4-BE49-F238E27FC236}">
                    <a16:creationId xmlns:a16="http://schemas.microsoft.com/office/drawing/2014/main" id="{06F4C395-4EDE-A45A-0F2F-944691EAEC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收入水平</a:t>
                </a:r>
              </a:p>
            </p:txBody>
          </p:sp>
          <p:sp>
            <p:nvSpPr>
              <p:cNvPr id="388205" name="Text Box 109">
                <a:extLst>
                  <a:ext uri="{FF2B5EF4-FFF2-40B4-BE49-F238E27FC236}">
                    <a16:creationId xmlns:a16="http://schemas.microsoft.com/office/drawing/2014/main" id="{2667BA8F-7B88-DEB5-4B73-11E9284B67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利率</a:t>
                </a:r>
              </a:p>
            </p:txBody>
          </p:sp>
        </p:grpSp>
        <p:grpSp>
          <p:nvGrpSpPr>
            <p:cNvPr id="388218" name="Group 122">
              <a:extLst>
                <a:ext uri="{FF2B5EF4-FFF2-40B4-BE49-F238E27FC236}">
                  <a16:creationId xmlns:a16="http://schemas.microsoft.com/office/drawing/2014/main" id="{4A3C322C-8DC4-0AD7-96A0-8B2B9F99CC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3120"/>
              <a:ext cx="1452" cy="912"/>
              <a:chOff x="1104" y="3120"/>
              <a:chExt cx="1452" cy="912"/>
            </a:xfrm>
          </p:grpSpPr>
          <p:sp>
            <p:nvSpPr>
              <p:cNvPr id="388219" name="Line 123">
                <a:extLst>
                  <a:ext uri="{FF2B5EF4-FFF2-40B4-BE49-F238E27FC236}">
                    <a16:creationId xmlns:a16="http://schemas.microsoft.com/office/drawing/2014/main" id="{BE25714D-37BD-4C2E-C598-6E4E83E18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120"/>
                <a:ext cx="1248" cy="76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8220" name="Rectangle 124">
                <a:extLst>
                  <a:ext uri="{FF2B5EF4-FFF2-40B4-BE49-F238E27FC236}">
                    <a16:creationId xmlns:a16="http://schemas.microsoft.com/office/drawing/2014/main" id="{DC69DFD4-853E-C3B2-98C5-D8155E9E1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3801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IS</a:t>
                </a:r>
              </a:p>
            </p:txBody>
          </p:sp>
        </p:grpSp>
      </p:grpSp>
      <p:grpSp>
        <p:nvGrpSpPr>
          <p:cNvPr id="388223" name="Group 127">
            <a:extLst>
              <a:ext uri="{FF2B5EF4-FFF2-40B4-BE49-F238E27FC236}">
                <a16:creationId xmlns:a16="http://schemas.microsoft.com/office/drawing/2014/main" id="{544F3468-AB8C-2413-DCEA-4E348AA7AA98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5334000"/>
            <a:ext cx="2457450" cy="366713"/>
            <a:chOff x="3840" y="3360"/>
            <a:chExt cx="1548" cy="231"/>
          </a:xfrm>
        </p:grpSpPr>
        <p:sp>
          <p:nvSpPr>
            <p:cNvPr id="388221" name="Line 125">
              <a:extLst>
                <a:ext uri="{FF2B5EF4-FFF2-40B4-BE49-F238E27FC236}">
                  <a16:creationId xmlns:a16="http://schemas.microsoft.com/office/drawing/2014/main" id="{C5DBBB60-CAD6-04A1-1AE4-150D427A8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56"/>
              <a:ext cx="1440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8222" name="Rectangle 126">
              <a:extLst>
                <a:ext uri="{FF2B5EF4-FFF2-40B4-BE49-F238E27FC236}">
                  <a16:creationId xmlns:a16="http://schemas.microsoft.com/office/drawing/2014/main" id="{418E580A-F40F-F087-22A2-33D9A4507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3360"/>
              <a:ext cx="1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i</a:t>
              </a:r>
            </a:p>
          </p:txBody>
        </p:sp>
      </p:grpSp>
      <p:grpSp>
        <p:nvGrpSpPr>
          <p:cNvPr id="388227" name="Group 131">
            <a:extLst>
              <a:ext uri="{FF2B5EF4-FFF2-40B4-BE49-F238E27FC236}">
                <a16:creationId xmlns:a16="http://schemas.microsoft.com/office/drawing/2014/main" id="{7547B43F-C52A-BC8F-ED12-346E4F48D51E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905000"/>
            <a:ext cx="3200400" cy="4633913"/>
            <a:chOff x="3840" y="1200"/>
            <a:chExt cx="2016" cy="2919"/>
          </a:xfrm>
        </p:grpSpPr>
        <p:grpSp>
          <p:nvGrpSpPr>
            <p:cNvPr id="388189" name="Group 93">
              <a:extLst>
                <a:ext uri="{FF2B5EF4-FFF2-40B4-BE49-F238E27FC236}">
                  <a16:creationId xmlns:a16="http://schemas.microsoft.com/office/drawing/2014/main" id="{1956D24E-6A76-7DFC-89A8-DECB3AF12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1200"/>
              <a:ext cx="2016" cy="528"/>
              <a:chOff x="3696" y="2688"/>
              <a:chExt cx="2016" cy="528"/>
            </a:xfrm>
          </p:grpSpPr>
          <p:sp>
            <p:nvSpPr>
              <p:cNvPr id="388190" name="Line 94">
                <a:extLst>
                  <a:ext uri="{FF2B5EF4-FFF2-40B4-BE49-F238E27FC236}">
                    <a16:creationId xmlns:a16="http://schemas.microsoft.com/office/drawing/2014/main" id="{2018AD2F-06BF-C69E-84AF-9E204DCF06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2784"/>
                <a:ext cx="1536" cy="43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8191" name="Text Box 95">
                <a:extLst>
                  <a:ext uri="{FF2B5EF4-FFF2-40B4-BE49-F238E27FC236}">
                    <a16:creationId xmlns:a16="http://schemas.microsoft.com/office/drawing/2014/main" id="{3D880CAB-053E-02AC-E4F7-5784819CFE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2" y="2688"/>
                <a:ext cx="480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</a:rPr>
                  <a:t>AD(i)</a:t>
                </a:r>
              </a:p>
            </p:txBody>
          </p:sp>
        </p:grpSp>
        <p:sp>
          <p:nvSpPr>
            <p:cNvPr id="388198" name="Line 102">
              <a:extLst>
                <a:ext uri="{FF2B5EF4-FFF2-40B4-BE49-F238E27FC236}">
                  <a16:creationId xmlns:a16="http://schemas.microsoft.com/office/drawing/2014/main" id="{9CEC1E1A-5E04-1F22-C162-358BAB990A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584"/>
              <a:ext cx="0" cy="244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8224" name="Rectangle 128">
              <a:extLst>
                <a:ext uri="{FF2B5EF4-FFF2-40B4-BE49-F238E27FC236}">
                  <a16:creationId xmlns:a16="http://schemas.microsoft.com/office/drawing/2014/main" id="{8E7C615F-9E98-D4F2-3299-423BA6B76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888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Y1</a:t>
              </a:r>
            </a:p>
          </p:txBody>
        </p:sp>
      </p:grpSp>
      <p:grpSp>
        <p:nvGrpSpPr>
          <p:cNvPr id="388228" name="Group 132">
            <a:extLst>
              <a:ext uri="{FF2B5EF4-FFF2-40B4-BE49-F238E27FC236}">
                <a16:creationId xmlns:a16="http://schemas.microsoft.com/office/drawing/2014/main" id="{4E914F06-A409-BDDD-B535-348FAA68347D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1752600"/>
            <a:ext cx="762000" cy="4786313"/>
            <a:chOff x="4704" y="1104"/>
            <a:chExt cx="480" cy="3015"/>
          </a:xfrm>
        </p:grpSpPr>
        <p:sp>
          <p:nvSpPr>
            <p:cNvPr id="388199" name="Line 103">
              <a:extLst>
                <a:ext uri="{FF2B5EF4-FFF2-40B4-BE49-F238E27FC236}">
                  <a16:creationId xmlns:a16="http://schemas.microsoft.com/office/drawing/2014/main" id="{72F7069F-EE6B-8730-4F8A-26CE6CF71E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40" y="1104"/>
              <a:ext cx="0" cy="2928"/>
            </a:xfrm>
            <a:prstGeom prst="line">
              <a:avLst/>
            </a:prstGeom>
            <a:noFill/>
            <a:ln w="9525" cap="rnd">
              <a:solidFill>
                <a:srgbClr val="00FF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8200" name="AutoShape 104">
              <a:extLst>
                <a:ext uri="{FF2B5EF4-FFF2-40B4-BE49-F238E27FC236}">
                  <a16:creationId xmlns:a16="http://schemas.microsoft.com/office/drawing/2014/main" id="{1A84C525-ED00-B61E-615F-02F7DDAD7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968"/>
              <a:ext cx="288" cy="48"/>
            </a:xfrm>
            <a:prstGeom prst="rightArrow">
              <a:avLst>
                <a:gd name="adj1" fmla="val 50000"/>
                <a:gd name="adj2" fmla="val 150000"/>
              </a:avLst>
            </a:prstGeom>
            <a:solidFill>
              <a:srgbClr val="00FF00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8225" name="Rectangle 129">
              <a:extLst>
                <a:ext uri="{FF2B5EF4-FFF2-40B4-BE49-F238E27FC236}">
                  <a16:creationId xmlns:a16="http://schemas.microsoft.com/office/drawing/2014/main" id="{E9F23EBF-0551-874D-0B5F-221F10E87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2" y="3888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FF00"/>
                  </a:solidFill>
                </a:rPr>
                <a:t>Y2</a:t>
              </a:r>
            </a:p>
          </p:txBody>
        </p:sp>
      </p:grpSp>
      <p:sp>
        <p:nvSpPr>
          <p:cNvPr id="388229" name="Oval 133">
            <a:extLst>
              <a:ext uri="{FF2B5EF4-FFF2-40B4-BE49-F238E27FC236}">
                <a16:creationId xmlns:a16="http://schemas.microsoft.com/office/drawing/2014/main" id="{13FBC772-660D-459A-B583-95C0FCCF1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410200"/>
            <a:ext cx="152400" cy="152400"/>
          </a:xfrm>
          <a:prstGeom prst="ellipse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8230" name="Line 134">
            <a:extLst>
              <a:ext uri="{FF2B5EF4-FFF2-40B4-BE49-F238E27FC236}">
                <a16:creationId xmlns:a16="http://schemas.microsoft.com/office/drawing/2014/main" id="{483A6A65-94F1-FFD9-A5BF-5B4DFF6EE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724400"/>
            <a:ext cx="1905000" cy="1219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8231" name="AutoShape 135">
            <a:extLst>
              <a:ext uri="{FF2B5EF4-FFF2-40B4-BE49-F238E27FC236}">
                <a16:creationId xmlns:a16="http://schemas.microsoft.com/office/drawing/2014/main" id="{9B932778-D306-09C4-0A77-A176AFBD8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334000"/>
            <a:ext cx="685800" cy="76200"/>
          </a:xfrm>
          <a:prstGeom prst="rightArrow">
            <a:avLst>
              <a:gd name="adj1" fmla="val 50000"/>
              <a:gd name="adj2" fmla="val 225000"/>
            </a:avLst>
          </a:prstGeom>
          <a:solidFill>
            <a:srgbClr val="00FF00"/>
          </a:solidFill>
          <a:ln w="9525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8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8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8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8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8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8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8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8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38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38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388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38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38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1" grpId="0" autoUpdateAnimBg="0"/>
      <p:bldP spid="38817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>
            <a:extLst>
              <a:ext uri="{FF2B5EF4-FFF2-40B4-BE49-F238E27FC236}">
                <a16:creationId xmlns:a16="http://schemas.microsoft.com/office/drawing/2014/main" id="{168E23FB-7692-63C4-8D38-576C8293687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0"/>
            <a:ext cx="8540750" cy="1143000"/>
          </a:xfrm>
        </p:spPr>
        <p:txBody>
          <a:bodyPr/>
          <a:lstStyle/>
          <a:p>
            <a:r>
              <a:rPr lang="en-US" altLang="zh-CN" b="1"/>
              <a:t>2.5</a:t>
            </a:r>
            <a:r>
              <a:rPr lang="zh-CN" altLang="en-US" b="1"/>
              <a:t>、 小结</a:t>
            </a:r>
          </a:p>
        </p:txBody>
      </p:sp>
      <p:sp>
        <p:nvSpPr>
          <p:cNvPr id="389123" name="Rectangle 3">
            <a:extLst>
              <a:ext uri="{FF2B5EF4-FFF2-40B4-BE49-F238E27FC236}">
                <a16:creationId xmlns:a16="http://schemas.microsoft.com/office/drawing/2014/main" id="{DBC532DD-493B-A765-87AD-10E3451C2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371600"/>
            <a:ext cx="7315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到目前为止，我们知道什么？</a:t>
            </a:r>
          </a:p>
          <a:p>
            <a:pPr lvl="1"/>
            <a:r>
              <a:rPr lang="zh-CN" altLang="en-US" sz="2000" b="1"/>
              <a:t>产品市场均衡的条件：</a:t>
            </a:r>
            <a:r>
              <a:rPr lang="en-US" altLang="zh-CN" sz="2000" b="1"/>
              <a:t>IS</a:t>
            </a:r>
            <a:r>
              <a:rPr lang="zh-CN" altLang="en-US" sz="2000" b="1"/>
              <a:t>曲线</a:t>
            </a:r>
          </a:p>
        </p:txBody>
      </p:sp>
      <p:sp>
        <p:nvSpPr>
          <p:cNvPr id="389124" name="Rectangle 4">
            <a:extLst>
              <a:ext uri="{FF2B5EF4-FFF2-40B4-BE49-F238E27FC236}">
                <a16:creationId xmlns:a16="http://schemas.microsoft.com/office/drawing/2014/main" id="{40E0F8E0-EE2A-EE1C-FF39-ADE42709B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581400"/>
            <a:ext cx="83058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我们还需要知道什么？</a:t>
            </a:r>
          </a:p>
          <a:p>
            <a:pPr lvl="1"/>
            <a:r>
              <a:rPr lang="zh-CN" altLang="en-US" b="1"/>
              <a:t>从数学的角度看，一个方程，两个未知量，无法求解，</a:t>
            </a:r>
            <a:r>
              <a:rPr lang="zh-CN" altLang="en-US" b="1">
                <a:solidFill>
                  <a:schemeClr val="tx2"/>
                </a:solidFill>
              </a:rPr>
              <a:t>我们还需要一个方程。</a:t>
            </a:r>
          </a:p>
          <a:p>
            <a:pPr lvl="1"/>
            <a:r>
              <a:rPr lang="zh-CN" altLang="en-US" b="1"/>
              <a:t>从经济含义的角度看，我们通过收入支付法来决定</a:t>
            </a:r>
            <a:r>
              <a:rPr lang="en-US" altLang="zh-CN" b="1"/>
              <a:t>Y</a:t>
            </a:r>
            <a:r>
              <a:rPr lang="zh-CN" altLang="en-US" b="1"/>
              <a:t>，</a:t>
            </a:r>
            <a:r>
              <a:rPr lang="zh-CN" altLang="en-US" b="1">
                <a:solidFill>
                  <a:schemeClr val="tx2"/>
                </a:solidFill>
              </a:rPr>
              <a:t>但是利率由什么决定哪？</a:t>
            </a:r>
          </a:p>
        </p:txBody>
      </p:sp>
      <p:graphicFrame>
        <p:nvGraphicFramePr>
          <p:cNvPr id="389125" name="Object 5">
            <a:extLst>
              <a:ext uri="{FF2B5EF4-FFF2-40B4-BE49-F238E27FC236}">
                <a16:creationId xmlns:a16="http://schemas.microsoft.com/office/drawing/2014/main" id="{A1A77C78-DCC6-1C33-FEDC-7DEC45A1BE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514600"/>
          <a:ext cx="37846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444240" progId="Equation.DSMT4">
                  <p:embed/>
                </p:oleObj>
              </mc:Choice>
              <mc:Fallback>
                <p:oleObj name="Equation" r:id="rId2" imgW="243828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514600"/>
                        <a:ext cx="37846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8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3" grpId="0" autoUpdateAnimBg="0"/>
      <p:bldP spid="38912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38983160-F69A-85C3-8E35-6A87EDABFC1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3.0</a:t>
            </a:r>
            <a:r>
              <a:rPr lang="zh-CN" altLang="en-US" sz="3600" b="1"/>
              <a:t>、收入支出法的进一步拓展：引入货币</a:t>
            </a:r>
          </a:p>
        </p:txBody>
      </p:sp>
      <p:sp>
        <p:nvSpPr>
          <p:cNvPr id="390147" name="Rectangle 3">
            <a:extLst>
              <a:ext uri="{FF2B5EF4-FFF2-40B4-BE49-F238E27FC236}">
                <a16:creationId xmlns:a16="http://schemas.microsoft.com/office/drawing/2014/main" id="{4154EA06-242A-B935-67A1-9DE9ED672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19200"/>
            <a:ext cx="8458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到目前为止，我们所做的拓展是</a:t>
            </a:r>
          </a:p>
          <a:p>
            <a:pPr lvl="1"/>
            <a:r>
              <a:rPr lang="zh-CN" altLang="en-US" b="1"/>
              <a:t>引入政府</a:t>
            </a:r>
            <a:r>
              <a:rPr lang="zh-CN" altLang="en-US" b="1">
                <a:sym typeface="Symbol" panose="05050102010706020507" pitchFamily="18" charset="2"/>
              </a:rPr>
              <a:t>引入利率</a:t>
            </a:r>
          </a:p>
        </p:txBody>
      </p:sp>
      <p:sp>
        <p:nvSpPr>
          <p:cNvPr id="390148" name="Text Box 4">
            <a:extLst>
              <a:ext uri="{FF2B5EF4-FFF2-40B4-BE49-F238E27FC236}">
                <a16:creationId xmlns:a16="http://schemas.microsoft.com/office/drawing/2014/main" id="{2A4E3005-BAF2-F69E-F634-9F69D10ED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68325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90149" name="Rectangle 5">
            <a:extLst>
              <a:ext uri="{FF2B5EF4-FFF2-40B4-BE49-F238E27FC236}">
                <a16:creationId xmlns:a16="http://schemas.microsoft.com/office/drawing/2014/main" id="{23178050-4888-7791-899D-AD153ECB2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362200"/>
            <a:ext cx="9067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现在，尝试引入货币，确切说是纸币</a:t>
            </a:r>
            <a:r>
              <a:rPr lang="en-US" altLang="zh-CN" b="1"/>
              <a:t>.</a:t>
            </a:r>
            <a:endParaRPr lang="en-US" altLang="zh-CN" sz="2000" b="1"/>
          </a:p>
        </p:txBody>
      </p:sp>
      <p:sp>
        <p:nvSpPr>
          <p:cNvPr id="390151" name="Rectangle 7">
            <a:extLst>
              <a:ext uri="{FF2B5EF4-FFF2-40B4-BE49-F238E27FC236}">
                <a16:creationId xmlns:a16="http://schemas.microsoft.com/office/drawing/2014/main" id="{0E948E60-7816-7BF5-003E-797CE97A2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733800"/>
            <a:ext cx="3429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 b="1"/>
              <a:t>货币在收入和就业的决定中具有举足轻重的作用。</a:t>
            </a:r>
          </a:p>
        </p:txBody>
      </p:sp>
      <p:pic>
        <p:nvPicPr>
          <p:cNvPr id="390152" name="Picture 8">
            <a:extLst>
              <a:ext uri="{FF2B5EF4-FFF2-40B4-BE49-F238E27FC236}">
                <a16:creationId xmlns:a16="http://schemas.microsoft.com/office/drawing/2014/main" id="{3AF5EFF9-3E39-264C-CE9C-5957A018B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959100"/>
            <a:ext cx="5334000" cy="389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0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0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0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0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9" grpId="0" autoUpdateAnimBg="0"/>
      <p:bldP spid="39015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>
            <a:extLst>
              <a:ext uri="{FF2B5EF4-FFF2-40B4-BE49-F238E27FC236}">
                <a16:creationId xmlns:a16="http://schemas.microsoft.com/office/drawing/2014/main" id="{237F34A0-3907-DD6A-F1A4-1FEB2C8CB3C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3.1</a:t>
            </a:r>
            <a:r>
              <a:rPr lang="zh-CN" altLang="en-US" sz="3600" b="1"/>
              <a:t>、</a:t>
            </a:r>
            <a:r>
              <a:rPr lang="zh-CN" altLang="en-US" b="1"/>
              <a:t>货币需求</a:t>
            </a:r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9B49D6F0-9453-1E25-56A2-AB6781ED5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91440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分析视角</a:t>
            </a:r>
          </a:p>
          <a:p>
            <a:pPr lvl="1"/>
            <a:r>
              <a:rPr lang="zh-CN" altLang="en-US" b="1"/>
              <a:t>不是人们需求多少货币，而是人们如何在不同的财富载体间做选择</a:t>
            </a:r>
            <a:r>
              <a:rPr lang="zh-CN" altLang="en-US" sz="2000" b="1"/>
              <a:t>（持有多少货币，持有多少生息的有价证券？）</a:t>
            </a:r>
            <a:endParaRPr lang="zh-CN" altLang="en-US" sz="2000" b="1">
              <a:sym typeface="Symbol" panose="05050102010706020507" pitchFamily="18" charset="2"/>
            </a:endParaRPr>
          </a:p>
        </p:txBody>
      </p:sp>
      <p:sp>
        <p:nvSpPr>
          <p:cNvPr id="391173" name="Rectangle 5">
            <a:extLst>
              <a:ext uri="{FF2B5EF4-FFF2-40B4-BE49-F238E27FC236}">
                <a16:creationId xmlns:a16="http://schemas.microsoft.com/office/drawing/2014/main" id="{249AFA87-468B-507F-BF60-768EACF4F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6858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货币需求分析的基本假定</a:t>
            </a:r>
            <a:endParaRPr lang="zh-CN" altLang="en-US" sz="2000" b="1"/>
          </a:p>
        </p:txBody>
      </p:sp>
      <p:sp>
        <p:nvSpPr>
          <p:cNvPr id="391176" name="Rectangle 8">
            <a:extLst>
              <a:ext uri="{FF2B5EF4-FFF2-40B4-BE49-F238E27FC236}">
                <a16:creationId xmlns:a16="http://schemas.microsoft.com/office/drawing/2014/main" id="{6302DCC6-4E4D-DF42-9816-6F886E905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419600"/>
            <a:ext cx="7315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 b="1"/>
              <a:t>交易量越大，货币需求越大；</a:t>
            </a:r>
          </a:p>
          <a:p>
            <a:pPr lvl="1"/>
            <a:r>
              <a:rPr lang="zh-CN" altLang="en-US" sz="2400" b="1"/>
              <a:t>持有货币的机会成本越大，货币需求越小。</a:t>
            </a:r>
          </a:p>
        </p:txBody>
      </p:sp>
      <p:grpSp>
        <p:nvGrpSpPr>
          <p:cNvPr id="391178" name="Group 10">
            <a:extLst>
              <a:ext uri="{FF2B5EF4-FFF2-40B4-BE49-F238E27FC236}">
                <a16:creationId xmlns:a16="http://schemas.microsoft.com/office/drawing/2014/main" id="{4591E04C-F4D3-79D2-4E07-DC1CEF2457C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3581400"/>
            <a:ext cx="5713413" cy="830263"/>
            <a:chOff x="48" y="2256"/>
            <a:chExt cx="3599" cy="523"/>
          </a:xfrm>
        </p:grpSpPr>
        <p:sp>
          <p:nvSpPr>
            <p:cNvPr id="391174" name="Rectangle 6">
              <a:extLst>
                <a:ext uri="{FF2B5EF4-FFF2-40B4-BE49-F238E27FC236}">
                  <a16:creationId xmlns:a16="http://schemas.microsoft.com/office/drawing/2014/main" id="{5C3356A4-8BF3-5DE1-FF89-4A3AEE9EF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2352"/>
              <a:ext cx="3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/>
              <a:r>
                <a:rPr lang="zh-CN" altLang="en-US" sz="2400" b="1"/>
                <a:t>货币持有量与价格水平成正比。</a:t>
              </a:r>
            </a:p>
          </p:txBody>
        </p:sp>
        <p:graphicFrame>
          <p:nvGraphicFramePr>
            <p:cNvPr id="391177" name="Object 9">
              <a:extLst>
                <a:ext uri="{FF2B5EF4-FFF2-40B4-BE49-F238E27FC236}">
                  <a16:creationId xmlns:a16="http://schemas.microsoft.com/office/drawing/2014/main" id="{58CECB13-CDD6-59FE-2241-117E511EBB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2256"/>
            <a:ext cx="335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42720" imgH="419040" progId="Equation.DSMT4">
                    <p:embed/>
                  </p:oleObj>
                </mc:Choice>
                <mc:Fallback>
                  <p:oleObj name="Equation" r:id="rId2" imgW="342720" imgH="4190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256"/>
                          <a:ext cx="335" cy="5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1179" name="Object 11">
            <a:extLst>
              <a:ext uri="{FF2B5EF4-FFF2-40B4-BE49-F238E27FC236}">
                <a16:creationId xmlns:a16="http://schemas.microsoft.com/office/drawing/2014/main" id="{B401CEC3-1495-275A-FE63-517F25AC9C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5638800"/>
          <a:ext cx="15160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60" imgH="419040" progId="Equation.DSMT4">
                  <p:embed/>
                </p:oleObj>
              </mc:Choice>
              <mc:Fallback>
                <p:oleObj name="Equation" r:id="rId4" imgW="977760" imgH="419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638800"/>
                        <a:ext cx="15160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80" name="Object 12">
            <a:extLst>
              <a:ext uri="{FF2B5EF4-FFF2-40B4-BE49-F238E27FC236}">
                <a16:creationId xmlns:a16="http://schemas.microsoft.com/office/drawing/2014/main" id="{E7B6EDFF-C5FF-3524-C500-10695F76E8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5638800"/>
          <a:ext cx="30321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55520" imgH="419040" progId="Equation.DSMT4">
                  <p:embed/>
                </p:oleObj>
              </mc:Choice>
              <mc:Fallback>
                <p:oleObj name="Equation" r:id="rId6" imgW="1955520" imgH="419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638800"/>
                        <a:ext cx="30321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9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9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9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3" grpId="0" autoUpdateAnimBg="0"/>
      <p:bldP spid="391176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>
            <a:extLst>
              <a:ext uri="{FF2B5EF4-FFF2-40B4-BE49-F238E27FC236}">
                <a16:creationId xmlns:a16="http://schemas.microsoft.com/office/drawing/2014/main" id="{93927703-CBFC-B3B4-7783-B3CE4A54FA8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3.1</a:t>
            </a:r>
            <a:r>
              <a:rPr lang="zh-CN" altLang="en-US" sz="3600" b="1"/>
              <a:t>、</a:t>
            </a:r>
            <a:r>
              <a:rPr lang="zh-CN" altLang="en-US" b="1"/>
              <a:t>货币需求的性质</a:t>
            </a:r>
          </a:p>
        </p:txBody>
      </p:sp>
      <p:sp>
        <p:nvSpPr>
          <p:cNvPr id="392196" name="Rectangle 4">
            <a:extLst>
              <a:ext uri="{FF2B5EF4-FFF2-40B4-BE49-F238E27FC236}">
                <a16:creationId xmlns:a16="http://schemas.microsoft.com/office/drawing/2014/main" id="{5E0CA000-E224-0733-C7BB-BB392B4D3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3657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货币需求函数</a:t>
            </a:r>
            <a:endParaRPr lang="zh-CN" altLang="en-US" sz="2000" b="1"/>
          </a:p>
        </p:txBody>
      </p:sp>
      <p:graphicFrame>
        <p:nvGraphicFramePr>
          <p:cNvPr id="392202" name="Object 10">
            <a:extLst>
              <a:ext uri="{FF2B5EF4-FFF2-40B4-BE49-F238E27FC236}">
                <a16:creationId xmlns:a16="http://schemas.microsoft.com/office/drawing/2014/main" id="{4BEAA0F5-F58F-9D5D-4B99-7621AAC828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2133600"/>
          <a:ext cx="27574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680" imgH="419040" progId="Equation.DSMT4">
                  <p:embed/>
                </p:oleObj>
              </mc:Choice>
              <mc:Fallback>
                <p:oleObj name="Equation" r:id="rId2" imgW="1777680" imgH="419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2133600"/>
                        <a:ext cx="275748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2204" name="Group 12">
            <a:extLst>
              <a:ext uri="{FF2B5EF4-FFF2-40B4-BE49-F238E27FC236}">
                <a16:creationId xmlns:a16="http://schemas.microsoft.com/office/drawing/2014/main" id="{9B2F7F1E-10D3-F16D-FACD-EB7C9CB7F5DA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447800"/>
            <a:ext cx="3048000" cy="2073275"/>
            <a:chOff x="3456" y="816"/>
            <a:chExt cx="1920" cy="1306"/>
          </a:xfrm>
        </p:grpSpPr>
        <p:sp>
          <p:nvSpPr>
            <p:cNvPr id="392205" name="Line 13">
              <a:extLst>
                <a:ext uri="{FF2B5EF4-FFF2-40B4-BE49-F238E27FC236}">
                  <a16:creationId xmlns:a16="http://schemas.microsoft.com/office/drawing/2014/main" id="{57974119-E503-B81C-5B54-2E5EB209C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816"/>
              <a:ext cx="0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2206" name="Line 14">
              <a:extLst>
                <a:ext uri="{FF2B5EF4-FFF2-40B4-BE49-F238E27FC236}">
                  <a16:creationId xmlns:a16="http://schemas.microsoft.com/office/drawing/2014/main" id="{FD94A85B-51D2-EE76-D265-8D291DCAF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2207" name="Text Box 15">
              <a:extLst>
                <a:ext uri="{FF2B5EF4-FFF2-40B4-BE49-F238E27FC236}">
                  <a16:creationId xmlns:a16="http://schemas.microsoft.com/office/drawing/2014/main" id="{749693C3-7F1E-F777-1BD5-FA919B884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68"/>
              <a:ext cx="72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货币需求</a:t>
              </a:r>
            </a:p>
          </p:txBody>
        </p:sp>
        <p:sp>
          <p:nvSpPr>
            <p:cNvPr id="392208" name="Text Box 16">
              <a:extLst>
                <a:ext uri="{FF2B5EF4-FFF2-40B4-BE49-F238E27FC236}">
                  <a16:creationId xmlns:a16="http://schemas.microsoft.com/office/drawing/2014/main" id="{201A4E6A-D5CD-B899-87E5-E8CAB36DE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864"/>
              <a:ext cx="19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利率</a:t>
              </a:r>
            </a:p>
          </p:txBody>
        </p:sp>
      </p:grpSp>
      <p:sp>
        <p:nvSpPr>
          <p:cNvPr id="392210" name="Line 18">
            <a:extLst>
              <a:ext uri="{FF2B5EF4-FFF2-40B4-BE49-F238E27FC236}">
                <a16:creationId xmlns:a16="http://schemas.microsoft.com/office/drawing/2014/main" id="{0A718A97-2340-4CFE-9CCA-658DAD4E8A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1905000"/>
            <a:ext cx="1981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2212" name="Rectangle 20">
            <a:extLst>
              <a:ext uri="{FF2B5EF4-FFF2-40B4-BE49-F238E27FC236}">
                <a16:creationId xmlns:a16="http://schemas.microsoft.com/office/drawing/2014/main" id="{57EFBA1B-FBEA-9D48-0B1E-76CCD754E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581400"/>
            <a:ext cx="4114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h </a:t>
            </a:r>
            <a:r>
              <a:rPr lang="zh-CN" altLang="en-US" sz="2800" b="1"/>
              <a:t>变动的影响</a:t>
            </a:r>
          </a:p>
          <a:p>
            <a:pPr lvl="1"/>
            <a:r>
              <a:rPr lang="en-US" altLang="zh-CN" sz="2000" b="1"/>
              <a:t>h </a:t>
            </a:r>
            <a:r>
              <a:rPr lang="zh-CN" altLang="en-US" sz="2000" b="1"/>
              <a:t>越大，货币需求函数越平</a:t>
            </a:r>
          </a:p>
        </p:txBody>
      </p:sp>
      <p:grpSp>
        <p:nvGrpSpPr>
          <p:cNvPr id="392219" name="Group 27">
            <a:extLst>
              <a:ext uri="{FF2B5EF4-FFF2-40B4-BE49-F238E27FC236}">
                <a16:creationId xmlns:a16="http://schemas.microsoft.com/office/drawing/2014/main" id="{1E4BFDDE-F467-A3B4-DFF4-BD9646131E8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4724400"/>
            <a:ext cx="3048000" cy="2073275"/>
            <a:chOff x="480" y="2976"/>
            <a:chExt cx="1920" cy="1306"/>
          </a:xfrm>
        </p:grpSpPr>
        <p:grpSp>
          <p:nvGrpSpPr>
            <p:cNvPr id="392213" name="Group 21">
              <a:extLst>
                <a:ext uri="{FF2B5EF4-FFF2-40B4-BE49-F238E27FC236}">
                  <a16:creationId xmlns:a16="http://schemas.microsoft.com/office/drawing/2014/main" id="{050E198A-9105-5CF2-8158-4CD9055483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976"/>
              <a:ext cx="1920" cy="1306"/>
              <a:chOff x="3456" y="816"/>
              <a:chExt cx="1920" cy="1306"/>
            </a:xfrm>
          </p:grpSpPr>
          <p:sp>
            <p:nvSpPr>
              <p:cNvPr id="392214" name="Line 22">
                <a:extLst>
                  <a:ext uri="{FF2B5EF4-FFF2-40B4-BE49-F238E27FC236}">
                    <a16:creationId xmlns:a16="http://schemas.microsoft.com/office/drawing/2014/main" id="{C715360D-3FC3-5052-0F84-EDC09AE66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2215" name="Line 23">
                <a:extLst>
                  <a:ext uri="{FF2B5EF4-FFF2-40B4-BE49-F238E27FC236}">
                    <a16:creationId xmlns:a16="http://schemas.microsoft.com/office/drawing/2014/main" id="{3D1B529D-02F4-D742-EF1A-7B9E400902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2216" name="Text Box 24">
                <a:extLst>
                  <a:ext uri="{FF2B5EF4-FFF2-40B4-BE49-F238E27FC236}">
                    <a16:creationId xmlns:a16="http://schemas.microsoft.com/office/drawing/2014/main" id="{2F43B666-DDC9-E280-9D14-27654BC689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货币需求</a:t>
                </a:r>
              </a:p>
            </p:txBody>
          </p:sp>
          <p:sp>
            <p:nvSpPr>
              <p:cNvPr id="392217" name="Text Box 25">
                <a:extLst>
                  <a:ext uri="{FF2B5EF4-FFF2-40B4-BE49-F238E27FC236}">
                    <a16:creationId xmlns:a16="http://schemas.microsoft.com/office/drawing/2014/main" id="{35EAD090-3927-1FED-CEDA-2FF36E8D1B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利率</a:t>
                </a:r>
              </a:p>
            </p:txBody>
          </p:sp>
        </p:grpSp>
        <p:sp>
          <p:nvSpPr>
            <p:cNvPr id="392218" name="Line 26">
              <a:extLst>
                <a:ext uri="{FF2B5EF4-FFF2-40B4-BE49-F238E27FC236}">
                  <a16:creationId xmlns:a16="http://schemas.microsoft.com/office/drawing/2014/main" id="{908ABD94-66FD-CCCF-55EA-09930F44A8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264"/>
              <a:ext cx="1248" cy="76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92220" name="Line 28">
            <a:extLst>
              <a:ext uri="{FF2B5EF4-FFF2-40B4-BE49-F238E27FC236}">
                <a16:creationId xmlns:a16="http://schemas.microsoft.com/office/drawing/2014/main" id="{FEC1A733-CE13-2A60-165B-53FC94328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105400"/>
            <a:ext cx="2286000" cy="838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92225" name="Group 33">
            <a:extLst>
              <a:ext uri="{FF2B5EF4-FFF2-40B4-BE49-F238E27FC236}">
                <a16:creationId xmlns:a16="http://schemas.microsoft.com/office/drawing/2014/main" id="{EB665BEB-D65D-BEE8-D573-583357B2CAB9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486400"/>
            <a:ext cx="1828800" cy="304800"/>
            <a:chOff x="672" y="3456"/>
            <a:chExt cx="1152" cy="192"/>
          </a:xfrm>
        </p:grpSpPr>
        <p:grpSp>
          <p:nvGrpSpPr>
            <p:cNvPr id="392223" name="Group 31">
              <a:extLst>
                <a:ext uri="{FF2B5EF4-FFF2-40B4-BE49-F238E27FC236}">
                  <a16:creationId xmlns:a16="http://schemas.microsoft.com/office/drawing/2014/main" id="{3A5D1978-4357-4798-AF06-B2C5C9BF80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3456"/>
              <a:ext cx="1152" cy="192"/>
              <a:chOff x="672" y="3456"/>
              <a:chExt cx="1152" cy="192"/>
            </a:xfrm>
          </p:grpSpPr>
          <p:sp>
            <p:nvSpPr>
              <p:cNvPr id="392221" name="Line 29">
                <a:extLst>
                  <a:ext uri="{FF2B5EF4-FFF2-40B4-BE49-F238E27FC236}">
                    <a16:creationId xmlns:a16="http://schemas.microsoft.com/office/drawing/2014/main" id="{3106F0C6-B173-FEDA-175B-EF09FD2CCE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3456"/>
                <a:ext cx="624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2222" name="Line 30">
                <a:extLst>
                  <a:ext uri="{FF2B5EF4-FFF2-40B4-BE49-F238E27FC236}">
                    <a16:creationId xmlns:a16="http://schemas.microsoft.com/office/drawing/2014/main" id="{2DA17911-D9C7-8BB9-4A22-6CDA820115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3648"/>
                <a:ext cx="1152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92224" name="AutoShape 32">
              <a:extLst>
                <a:ext uri="{FF2B5EF4-FFF2-40B4-BE49-F238E27FC236}">
                  <a16:creationId xmlns:a16="http://schemas.microsoft.com/office/drawing/2014/main" id="{EC8622BE-C134-2D67-DFF7-C6ADA700E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456"/>
              <a:ext cx="48" cy="144"/>
            </a:xfrm>
            <a:prstGeom prst="downArrow">
              <a:avLst>
                <a:gd name="adj1" fmla="val 50000"/>
                <a:gd name="adj2" fmla="val 7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2230" name="Group 38">
            <a:extLst>
              <a:ext uri="{FF2B5EF4-FFF2-40B4-BE49-F238E27FC236}">
                <a16:creationId xmlns:a16="http://schemas.microsoft.com/office/drawing/2014/main" id="{9BD67FD2-C0CF-B0E0-03A6-E9A5E7F2FFDA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5486400"/>
            <a:ext cx="533400" cy="990600"/>
            <a:chOff x="1008" y="3456"/>
            <a:chExt cx="336" cy="624"/>
          </a:xfrm>
        </p:grpSpPr>
        <p:grpSp>
          <p:nvGrpSpPr>
            <p:cNvPr id="392228" name="Group 36">
              <a:extLst>
                <a:ext uri="{FF2B5EF4-FFF2-40B4-BE49-F238E27FC236}">
                  <a16:creationId xmlns:a16="http://schemas.microsoft.com/office/drawing/2014/main" id="{6B2CFE86-5AA4-E58B-E7FD-872FE4880A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3456"/>
              <a:ext cx="336" cy="624"/>
              <a:chOff x="1008" y="3456"/>
              <a:chExt cx="336" cy="624"/>
            </a:xfrm>
          </p:grpSpPr>
          <p:sp>
            <p:nvSpPr>
              <p:cNvPr id="392226" name="Line 34">
                <a:extLst>
                  <a:ext uri="{FF2B5EF4-FFF2-40B4-BE49-F238E27FC236}">
                    <a16:creationId xmlns:a16="http://schemas.microsoft.com/office/drawing/2014/main" id="{977C88A2-6750-DCC2-FF66-62559C72E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3456"/>
                <a:ext cx="0" cy="624"/>
              </a:xfrm>
              <a:prstGeom prst="line">
                <a:avLst/>
              </a:prstGeom>
              <a:noFill/>
              <a:ln w="9525" cap="rnd">
                <a:solidFill>
                  <a:schemeClr val="tx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2227" name="Line 35">
                <a:extLst>
                  <a:ext uri="{FF2B5EF4-FFF2-40B4-BE49-F238E27FC236}">
                    <a16:creationId xmlns:a16="http://schemas.microsoft.com/office/drawing/2014/main" id="{B2EA31FF-4E29-AD5B-8CED-25C8642621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3648"/>
                <a:ext cx="0" cy="432"/>
              </a:xfrm>
              <a:prstGeom prst="line">
                <a:avLst/>
              </a:prstGeom>
              <a:noFill/>
              <a:ln w="9525" cap="rnd">
                <a:solidFill>
                  <a:schemeClr val="tx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92229" name="Line 37">
              <a:extLst>
                <a:ext uri="{FF2B5EF4-FFF2-40B4-BE49-F238E27FC236}">
                  <a16:creationId xmlns:a16="http://schemas.microsoft.com/office/drawing/2014/main" id="{ACA312BB-4BB1-9D60-CD4B-FE9739A03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984"/>
              <a:ext cx="336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92235" name="Group 43">
            <a:extLst>
              <a:ext uri="{FF2B5EF4-FFF2-40B4-BE49-F238E27FC236}">
                <a16:creationId xmlns:a16="http://schemas.microsoft.com/office/drawing/2014/main" id="{31F76EE3-8541-6821-B9C5-F157FE2C3C6D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5486400"/>
            <a:ext cx="914400" cy="990600"/>
            <a:chOff x="1296" y="3456"/>
            <a:chExt cx="576" cy="624"/>
          </a:xfrm>
        </p:grpSpPr>
        <p:grpSp>
          <p:nvGrpSpPr>
            <p:cNvPr id="392233" name="Group 41">
              <a:extLst>
                <a:ext uri="{FF2B5EF4-FFF2-40B4-BE49-F238E27FC236}">
                  <a16:creationId xmlns:a16="http://schemas.microsoft.com/office/drawing/2014/main" id="{6FFC6878-BAF3-E240-E6C2-4722DEF245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3456"/>
              <a:ext cx="576" cy="624"/>
              <a:chOff x="1296" y="3456"/>
              <a:chExt cx="576" cy="624"/>
            </a:xfrm>
          </p:grpSpPr>
          <p:sp>
            <p:nvSpPr>
              <p:cNvPr id="392231" name="Line 39">
                <a:extLst>
                  <a:ext uri="{FF2B5EF4-FFF2-40B4-BE49-F238E27FC236}">
                    <a16:creationId xmlns:a16="http://schemas.microsoft.com/office/drawing/2014/main" id="{88BF2060-649D-ADD8-8701-6ED30E5C8D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3456"/>
                <a:ext cx="0" cy="624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2232" name="Line 40">
                <a:extLst>
                  <a:ext uri="{FF2B5EF4-FFF2-40B4-BE49-F238E27FC236}">
                    <a16:creationId xmlns:a16="http://schemas.microsoft.com/office/drawing/2014/main" id="{3338D3A6-2289-8DDF-F84E-C9FF1C7AB9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648"/>
                <a:ext cx="0" cy="432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92234" name="Line 42">
              <a:extLst>
                <a:ext uri="{FF2B5EF4-FFF2-40B4-BE49-F238E27FC236}">
                  <a16:creationId xmlns:a16="http://schemas.microsoft.com/office/drawing/2014/main" id="{A56102EC-1A92-93D0-E8AE-6CACAEE46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4032"/>
              <a:ext cx="576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92236" name="Rectangle 44">
            <a:extLst>
              <a:ext uri="{FF2B5EF4-FFF2-40B4-BE49-F238E27FC236}">
                <a16:creationId xmlns:a16="http://schemas.microsoft.com/office/drawing/2014/main" id="{47835AAA-DDAA-A248-C4D8-A29520CDC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4495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Y </a:t>
            </a:r>
            <a:r>
              <a:rPr lang="zh-CN" altLang="en-US" sz="2800" b="1"/>
              <a:t>变动的影响，</a:t>
            </a:r>
            <a:r>
              <a:rPr lang="zh-CN" altLang="en-US" sz="2000" b="1"/>
              <a:t>比如增加</a:t>
            </a:r>
          </a:p>
          <a:p>
            <a:pPr lvl="1"/>
            <a:r>
              <a:rPr lang="zh-CN" altLang="en-US" sz="2000" b="1"/>
              <a:t>货币需求曲线平移</a:t>
            </a:r>
          </a:p>
        </p:txBody>
      </p:sp>
      <p:grpSp>
        <p:nvGrpSpPr>
          <p:cNvPr id="392243" name="Group 51">
            <a:extLst>
              <a:ext uri="{FF2B5EF4-FFF2-40B4-BE49-F238E27FC236}">
                <a16:creationId xmlns:a16="http://schemas.microsoft.com/office/drawing/2014/main" id="{93D19AB6-C3EF-AD66-76BA-478C78B98D99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708525"/>
            <a:ext cx="3048000" cy="2073275"/>
            <a:chOff x="3120" y="2966"/>
            <a:chExt cx="1920" cy="1306"/>
          </a:xfrm>
        </p:grpSpPr>
        <p:grpSp>
          <p:nvGrpSpPr>
            <p:cNvPr id="392237" name="Group 45">
              <a:extLst>
                <a:ext uri="{FF2B5EF4-FFF2-40B4-BE49-F238E27FC236}">
                  <a16:creationId xmlns:a16="http://schemas.microsoft.com/office/drawing/2014/main" id="{4B238DC2-9FDA-BD03-5C9C-769864EEAE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2966"/>
              <a:ext cx="1920" cy="1306"/>
              <a:chOff x="3456" y="816"/>
              <a:chExt cx="1920" cy="1306"/>
            </a:xfrm>
          </p:grpSpPr>
          <p:sp>
            <p:nvSpPr>
              <p:cNvPr id="392238" name="Line 46">
                <a:extLst>
                  <a:ext uri="{FF2B5EF4-FFF2-40B4-BE49-F238E27FC236}">
                    <a16:creationId xmlns:a16="http://schemas.microsoft.com/office/drawing/2014/main" id="{6A9AA90A-C67A-C476-D1EB-454EF5F39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2239" name="Line 47">
                <a:extLst>
                  <a:ext uri="{FF2B5EF4-FFF2-40B4-BE49-F238E27FC236}">
                    <a16:creationId xmlns:a16="http://schemas.microsoft.com/office/drawing/2014/main" id="{A1475DC1-1A60-B415-CD1A-E36B53248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2240" name="Text Box 48">
                <a:extLst>
                  <a:ext uri="{FF2B5EF4-FFF2-40B4-BE49-F238E27FC236}">
                    <a16:creationId xmlns:a16="http://schemas.microsoft.com/office/drawing/2014/main" id="{51FA0227-3B96-D126-E3C9-42A4364711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货币需求</a:t>
                </a:r>
              </a:p>
            </p:txBody>
          </p:sp>
          <p:sp>
            <p:nvSpPr>
              <p:cNvPr id="392241" name="Text Box 49">
                <a:extLst>
                  <a:ext uri="{FF2B5EF4-FFF2-40B4-BE49-F238E27FC236}">
                    <a16:creationId xmlns:a16="http://schemas.microsoft.com/office/drawing/2014/main" id="{EDBC94A1-ACD8-A652-5EDA-6113631051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利率</a:t>
                </a:r>
              </a:p>
            </p:txBody>
          </p:sp>
        </p:grpSp>
        <p:sp>
          <p:nvSpPr>
            <p:cNvPr id="392242" name="Line 50">
              <a:extLst>
                <a:ext uri="{FF2B5EF4-FFF2-40B4-BE49-F238E27FC236}">
                  <a16:creationId xmlns:a16="http://schemas.microsoft.com/office/drawing/2014/main" id="{95185026-C4A5-79FC-82B8-9B62E4D51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254"/>
              <a:ext cx="1248" cy="76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92246" name="Group 54">
            <a:extLst>
              <a:ext uri="{FF2B5EF4-FFF2-40B4-BE49-F238E27FC236}">
                <a16:creationId xmlns:a16="http://schemas.microsoft.com/office/drawing/2014/main" id="{5932284B-1A37-CCFA-97DD-9042C5CB95CA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4800600"/>
            <a:ext cx="1981200" cy="1219200"/>
            <a:chOff x="3648" y="3024"/>
            <a:chExt cx="1248" cy="768"/>
          </a:xfrm>
        </p:grpSpPr>
        <p:sp>
          <p:nvSpPr>
            <p:cNvPr id="392244" name="Line 52">
              <a:extLst>
                <a:ext uri="{FF2B5EF4-FFF2-40B4-BE49-F238E27FC236}">
                  <a16:creationId xmlns:a16="http://schemas.microsoft.com/office/drawing/2014/main" id="{24375F78-456D-3E2E-ABA0-10DDF452C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024"/>
              <a:ext cx="1248" cy="76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2245" name="AutoShape 53">
              <a:extLst>
                <a:ext uri="{FF2B5EF4-FFF2-40B4-BE49-F238E27FC236}">
                  <a16:creationId xmlns:a16="http://schemas.microsoft.com/office/drawing/2014/main" id="{01E4A441-2248-1F3B-0793-02AED12C2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00FF00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9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9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9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2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2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2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2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92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2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9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92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92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2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2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2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92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39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39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0" dur="500"/>
                                        <p:tgtEl>
                                          <p:spTgt spid="39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6" grpId="0" autoUpdateAnimBg="0"/>
      <p:bldP spid="392212" grpId="0" autoUpdateAnimBg="0"/>
      <p:bldP spid="39223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id="{01186600-AB30-FDF1-4097-1C59DD0421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3.2</a:t>
            </a:r>
            <a:r>
              <a:rPr lang="zh-CN" altLang="en-US" sz="3600" b="1"/>
              <a:t>、</a:t>
            </a:r>
            <a:r>
              <a:rPr lang="zh-CN" altLang="en-US" b="1"/>
              <a:t>货币供给</a:t>
            </a:r>
          </a:p>
        </p:txBody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99E6148E-014B-12BF-E665-1DCC3F2AE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5410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央行控制货币的发行</a:t>
            </a:r>
          </a:p>
          <a:p>
            <a:r>
              <a:rPr lang="zh-CN" altLang="en-US" b="1"/>
              <a:t>假定货币供给量是给定的</a:t>
            </a:r>
            <a:endParaRPr lang="zh-CN" altLang="en-US" sz="2000" b="1"/>
          </a:p>
        </p:txBody>
      </p:sp>
      <p:graphicFrame>
        <p:nvGraphicFramePr>
          <p:cNvPr id="393220" name="Object 4">
            <a:extLst>
              <a:ext uri="{FF2B5EF4-FFF2-40B4-BE49-F238E27FC236}">
                <a16:creationId xmlns:a16="http://schemas.microsoft.com/office/drawing/2014/main" id="{0B101100-011A-D068-AF69-CDA9642F0A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895600"/>
          <a:ext cx="8667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228600" progId="Equation.DSMT4">
                  <p:embed/>
                </p:oleObj>
              </mc:Choice>
              <mc:Fallback>
                <p:oleObj name="Equation" r:id="rId2" imgW="55872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895600"/>
                        <a:ext cx="8667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3221" name="Group 5">
            <a:extLst>
              <a:ext uri="{FF2B5EF4-FFF2-40B4-BE49-F238E27FC236}">
                <a16:creationId xmlns:a16="http://schemas.microsoft.com/office/drawing/2014/main" id="{354EC04B-AD63-4590-60D9-4729770687A7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191000"/>
            <a:ext cx="3048000" cy="2073275"/>
            <a:chOff x="3456" y="816"/>
            <a:chExt cx="1920" cy="1306"/>
          </a:xfrm>
        </p:grpSpPr>
        <p:sp>
          <p:nvSpPr>
            <p:cNvPr id="393222" name="Line 6">
              <a:extLst>
                <a:ext uri="{FF2B5EF4-FFF2-40B4-BE49-F238E27FC236}">
                  <a16:creationId xmlns:a16="http://schemas.microsoft.com/office/drawing/2014/main" id="{EB8BD2BA-012E-45BB-B584-D885EAF4A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816"/>
              <a:ext cx="0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3223" name="Line 7">
              <a:extLst>
                <a:ext uri="{FF2B5EF4-FFF2-40B4-BE49-F238E27FC236}">
                  <a16:creationId xmlns:a16="http://schemas.microsoft.com/office/drawing/2014/main" id="{16887CE2-40A4-A721-75D7-99EB252AC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3224" name="Text Box 8">
              <a:extLst>
                <a:ext uri="{FF2B5EF4-FFF2-40B4-BE49-F238E27FC236}">
                  <a16:creationId xmlns:a16="http://schemas.microsoft.com/office/drawing/2014/main" id="{BCCDFADB-093B-8784-DA81-894F6B3A6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68"/>
              <a:ext cx="72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货币供给</a:t>
              </a:r>
            </a:p>
          </p:txBody>
        </p:sp>
        <p:sp>
          <p:nvSpPr>
            <p:cNvPr id="393225" name="Text Box 9">
              <a:extLst>
                <a:ext uri="{FF2B5EF4-FFF2-40B4-BE49-F238E27FC236}">
                  <a16:creationId xmlns:a16="http://schemas.microsoft.com/office/drawing/2014/main" id="{5B664540-EADF-7000-FB1E-ABDD11DA3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864"/>
              <a:ext cx="19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利率</a:t>
              </a:r>
            </a:p>
          </p:txBody>
        </p:sp>
      </p:grpSp>
      <p:sp>
        <p:nvSpPr>
          <p:cNvPr id="393226" name="Line 10">
            <a:extLst>
              <a:ext uri="{FF2B5EF4-FFF2-40B4-BE49-F238E27FC236}">
                <a16:creationId xmlns:a16="http://schemas.microsoft.com/office/drawing/2014/main" id="{3A9E6987-3EE8-1240-3275-346528FDE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4267200"/>
            <a:ext cx="0" cy="1676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3262" name="Rectangle 46">
            <a:extLst>
              <a:ext uri="{FF2B5EF4-FFF2-40B4-BE49-F238E27FC236}">
                <a16:creationId xmlns:a16="http://schemas.microsoft.com/office/drawing/2014/main" id="{B92DBD10-FC6E-1FAB-9E1A-0172EF003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895600"/>
            <a:ext cx="5410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如何货币供给量增加，供给曲线将会向右平移。</a:t>
            </a:r>
            <a:endParaRPr lang="zh-CN" altLang="en-US" sz="2000" b="1"/>
          </a:p>
        </p:txBody>
      </p:sp>
      <p:grpSp>
        <p:nvGrpSpPr>
          <p:cNvPr id="393269" name="Group 53">
            <a:extLst>
              <a:ext uri="{FF2B5EF4-FFF2-40B4-BE49-F238E27FC236}">
                <a16:creationId xmlns:a16="http://schemas.microsoft.com/office/drawing/2014/main" id="{E3F6D53D-F35E-40D0-3F94-8AFD5F2980A6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175125"/>
            <a:ext cx="3048000" cy="2073275"/>
            <a:chOff x="2928" y="2630"/>
            <a:chExt cx="1920" cy="1306"/>
          </a:xfrm>
        </p:grpSpPr>
        <p:grpSp>
          <p:nvGrpSpPr>
            <p:cNvPr id="393263" name="Group 47">
              <a:extLst>
                <a:ext uri="{FF2B5EF4-FFF2-40B4-BE49-F238E27FC236}">
                  <a16:creationId xmlns:a16="http://schemas.microsoft.com/office/drawing/2014/main" id="{3C77CBFF-C564-6E2A-4042-D2C34A0729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2630"/>
              <a:ext cx="1920" cy="1306"/>
              <a:chOff x="3456" y="816"/>
              <a:chExt cx="1920" cy="1306"/>
            </a:xfrm>
          </p:grpSpPr>
          <p:sp>
            <p:nvSpPr>
              <p:cNvPr id="393264" name="Line 48">
                <a:extLst>
                  <a:ext uri="{FF2B5EF4-FFF2-40B4-BE49-F238E27FC236}">
                    <a16:creationId xmlns:a16="http://schemas.microsoft.com/office/drawing/2014/main" id="{9671027C-04D0-E05E-AAC0-8055025A0D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3265" name="Line 49">
                <a:extLst>
                  <a:ext uri="{FF2B5EF4-FFF2-40B4-BE49-F238E27FC236}">
                    <a16:creationId xmlns:a16="http://schemas.microsoft.com/office/drawing/2014/main" id="{A3E51684-5FF3-7FF8-382A-AB8600616B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3266" name="Text Box 50">
                <a:extLst>
                  <a:ext uri="{FF2B5EF4-FFF2-40B4-BE49-F238E27FC236}">
                    <a16:creationId xmlns:a16="http://schemas.microsoft.com/office/drawing/2014/main" id="{CC37AB96-4D7C-310D-3012-D190371B18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货币供给</a:t>
                </a:r>
              </a:p>
            </p:txBody>
          </p:sp>
          <p:sp>
            <p:nvSpPr>
              <p:cNvPr id="393267" name="Text Box 51">
                <a:extLst>
                  <a:ext uri="{FF2B5EF4-FFF2-40B4-BE49-F238E27FC236}">
                    <a16:creationId xmlns:a16="http://schemas.microsoft.com/office/drawing/2014/main" id="{BA8E46F6-F0AF-7667-6B1C-D811ED2C3E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利率</a:t>
                </a:r>
              </a:p>
            </p:txBody>
          </p:sp>
        </p:grpSp>
        <p:sp>
          <p:nvSpPr>
            <p:cNvPr id="393268" name="Line 52">
              <a:extLst>
                <a:ext uri="{FF2B5EF4-FFF2-40B4-BE49-F238E27FC236}">
                  <a16:creationId xmlns:a16="http://schemas.microsoft.com/office/drawing/2014/main" id="{4EDF47D1-E76F-AD1D-94F7-0BAD49108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678"/>
              <a:ext cx="0" cy="105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93272" name="Group 56">
            <a:extLst>
              <a:ext uri="{FF2B5EF4-FFF2-40B4-BE49-F238E27FC236}">
                <a16:creationId xmlns:a16="http://schemas.microsoft.com/office/drawing/2014/main" id="{D04A814D-A3A3-0CF6-37D7-1632C12E6EF6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267200"/>
            <a:ext cx="838200" cy="1676400"/>
            <a:chOff x="3888" y="2688"/>
            <a:chExt cx="528" cy="1056"/>
          </a:xfrm>
        </p:grpSpPr>
        <p:sp>
          <p:nvSpPr>
            <p:cNvPr id="393270" name="Line 54">
              <a:extLst>
                <a:ext uri="{FF2B5EF4-FFF2-40B4-BE49-F238E27FC236}">
                  <a16:creationId xmlns:a16="http://schemas.microsoft.com/office/drawing/2014/main" id="{0EF8A492-FC89-9465-E122-EA0183675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1056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3271" name="AutoShape 55">
              <a:extLst>
                <a:ext uri="{FF2B5EF4-FFF2-40B4-BE49-F238E27FC236}">
                  <a16:creationId xmlns:a16="http://schemas.microsoft.com/office/drawing/2014/main" id="{F4A6647E-7BA8-6479-3AA6-61E01D79F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08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00FF00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9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39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3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3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3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3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9" grpId="0" autoUpdateAnimBg="0"/>
      <p:bldP spid="393262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279" name="Group 39">
            <a:extLst>
              <a:ext uri="{FF2B5EF4-FFF2-40B4-BE49-F238E27FC236}">
                <a16:creationId xmlns:a16="http://schemas.microsoft.com/office/drawing/2014/main" id="{FF7E52F0-D88F-F69E-C5D1-C7ABF56C9B50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048000"/>
            <a:ext cx="2590800" cy="1066800"/>
            <a:chOff x="768" y="1920"/>
            <a:chExt cx="1632" cy="672"/>
          </a:xfrm>
        </p:grpSpPr>
        <p:sp>
          <p:nvSpPr>
            <p:cNvPr id="394278" name="Oval 38">
              <a:extLst>
                <a:ext uri="{FF2B5EF4-FFF2-40B4-BE49-F238E27FC236}">
                  <a16:creationId xmlns:a16="http://schemas.microsoft.com/office/drawing/2014/main" id="{5AEE300A-801D-1C18-31E0-0CDE67916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920"/>
              <a:ext cx="240" cy="1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b="1"/>
            </a:p>
          </p:txBody>
        </p:sp>
        <p:sp>
          <p:nvSpPr>
            <p:cNvPr id="394277" name="Oval 37">
              <a:extLst>
                <a:ext uri="{FF2B5EF4-FFF2-40B4-BE49-F238E27FC236}">
                  <a16:creationId xmlns:a16="http://schemas.microsoft.com/office/drawing/2014/main" id="{7E2762E8-A0B3-AC2B-7D2B-E10502A9C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400"/>
              <a:ext cx="240" cy="1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Y1</a:t>
              </a:r>
            </a:p>
          </p:txBody>
        </p:sp>
      </p:grpSp>
      <p:grpSp>
        <p:nvGrpSpPr>
          <p:cNvPr id="394280" name="Group 40">
            <a:extLst>
              <a:ext uri="{FF2B5EF4-FFF2-40B4-BE49-F238E27FC236}">
                <a16:creationId xmlns:a16="http://schemas.microsoft.com/office/drawing/2014/main" id="{40C3FB56-EA82-AC7E-1924-1ECD9149BE12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438400"/>
            <a:ext cx="2971800" cy="1219200"/>
            <a:chOff x="768" y="1920"/>
            <a:chExt cx="1632" cy="672"/>
          </a:xfrm>
        </p:grpSpPr>
        <p:sp>
          <p:nvSpPr>
            <p:cNvPr id="394281" name="Oval 41">
              <a:extLst>
                <a:ext uri="{FF2B5EF4-FFF2-40B4-BE49-F238E27FC236}">
                  <a16:creationId xmlns:a16="http://schemas.microsoft.com/office/drawing/2014/main" id="{8953759B-A00E-BC8E-EF33-627EACE8E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920"/>
              <a:ext cx="240" cy="192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b="1"/>
            </a:p>
          </p:txBody>
        </p:sp>
        <p:sp>
          <p:nvSpPr>
            <p:cNvPr id="394282" name="Oval 42">
              <a:extLst>
                <a:ext uri="{FF2B5EF4-FFF2-40B4-BE49-F238E27FC236}">
                  <a16:creationId xmlns:a16="http://schemas.microsoft.com/office/drawing/2014/main" id="{F8542ADC-8A6B-B614-C397-D5B1FECD9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400"/>
              <a:ext cx="240" cy="192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Y2</a:t>
              </a:r>
            </a:p>
          </p:txBody>
        </p:sp>
      </p:grpSp>
      <p:grpSp>
        <p:nvGrpSpPr>
          <p:cNvPr id="394271" name="Group 31">
            <a:extLst>
              <a:ext uri="{FF2B5EF4-FFF2-40B4-BE49-F238E27FC236}">
                <a16:creationId xmlns:a16="http://schemas.microsoft.com/office/drawing/2014/main" id="{0D4EA1B2-EEC3-7D76-B7E5-966A723218E4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286000"/>
            <a:ext cx="1981200" cy="1219200"/>
            <a:chOff x="3648" y="3024"/>
            <a:chExt cx="1248" cy="768"/>
          </a:xfrm>
        </p:grpSpPr>
        <p:sp>
          <p:nvSpPr>
            <p:cNvPr id="394272" name="Line 32">
              <a:extLst>
                <a:ext uri="{FF2B5EF4-FFF2-40B4-BE49-F238E27FC236}">
                  <a16:creationId xmlns:a16="http://schemas.microsoft.com/office/drawing/2014/main" id="{E67E4D61-B55C-BEAD-F46B-065D038E8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024"/>
              <a:ext cx="1248" cy="76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4273" name="AutoShape 33">
              <a:extLst>
                <a:ext uri="{FF2B5EF4-FFF2-40B4-BE49-F238E27FC236}">
                  <a16:creationId xmlns:a16="http://schemas.microsoft.com/office/drawing/2014/main" id="{E1223288-1A30-AD90-F121-494AB250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00FF00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4242" name="Rectangle 2">
            <a:extLst>
              <a:ext uri="{FF2B5EF4-FFF2-40B4-BE49-F238E27FC236}">
                <a16:creationId xmlns:a16="http://schemas.microsoft.com/office/drawing/2014/main" id="{0E518FEE-6336-EE6C-7742-F8FA4480EC2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3.3</a:t>
            </a:r>
            <a:r>
              <a:rPr lang="zh-CN" altLang="en-US" sz="3600" b="1"/>
              <a:t>、</a:t>
            </a:r>
            <a:r>
              <a:rPr lang="zh-CN" altLang="en-US" b="1"/>
              <a:t>货币市场的均衡</a:t>
            </a:r>
          </a:p>
        </p:txBody>
      </p:sp>
      <p:grpSp>
        <p:nvGrpSpPr>
          <p:cNvPr id="394262" name="Group 22">
            <a:extLst>
              <a:ext uri="{FF2B5EF4-FFF2-40B4-BE49-F238E27FC236}">
                <a16:creationId xmlns:a16="http://schemas.microsoft.com/office/drawing/2014/main" id="{4C276F43-1462-139C-B509-20EB1FB4395A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295400"/>
            <a:ext cx="5500688" cy="609600"/>
            <a:chOff x="96" y="816"/>
            <a:chExt cx="3465" cy="384"/>
          </a:xfrm>
        </p:grpSpPr>
        <p:sp>
          <p:nvSpPr>
            <p:cNvPr id="394243" name="Rectangle 3">
              <a:extLst>
                <a:ext uri="{FF2B5EF4-FFF2-40B4-BE49-F238E27FC236}">
                  <a16:creationId xmlns:a16="http://schemas.microsoft.com/office/drawing/2014/main" id="{D3C53F8A-4CD2-325A-F55C-E6FBAC4AE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816"/>
              <a:ext cx="27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/>
                <a:t>均衡条件：供求相等</a:t>
              </a:r>
              <a:endParaRPr lang="zh-CN" altLang="en-US" sz="2000" b="1"/>
            </a:p>
          </p:txBody>
        </p:sp>
        <p:graphicFrame>
          <p:nvGraphicFramePr>
            <p:cNvPr id="394244" name="Object 4">
              <a:extLst>
                <a:ext uri="{FF2B5EF4-FFF2-40B4-BE49-F238E27FC236}">
                  <a16:creationId xmlns:a16="http://schemas.microsoft.com/office/drawing/2014/main" id="{47C145B3-7B07-62F2-43E1-934EE9CC98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8" y="912"/>
            <a:ext cx="63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47640" imgH="228600" progId="Equation.DSMT4">
                    <p:embed/>
                  </p:oleObj>
                </mc:Choice>
                <mc:Fallback>
                  <p:oleObj name="Equation" r:id="rId2" imgW="647640" imgH="2286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912"/>
                          <a:ext cx="63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4245" name="Group 5">
            <a:extLst>
              <a:ext uri="{FF2B5EF4-FFF2-40B4-BE49-F238E27FC236}">
                <a16:creationId xmlns:a16="http://schemas.microsoft.com/office/drawing/2014/main" id="{6435B18B-0201-B78E-E77B-2D5C0356651F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362200"/>
            <a:ext cx="3048000" cy="2073275"/>
            <a:chOff x="3456" y="816"/>
            <a:chExt cx="1920" cy="1306"/>
          </a:xfrm>
        </p:grpSpPr>
        <p:sp>
          <p:nvSpPr>
            <p:cNvPr id="394246" name="Line 6">
              <a:extLst>
                <a:ext uri="{FF2B5EF4-FFF2-40B4-BE49-F238E27FC236}">
                  <a16:creationId xmlns:a16="http://schemas.microsoft.com/office/drawing/2014/main" id="{0FCADD31-9AF9-AC51-745A-7B4DCDCCA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816"/>
              <a:ext cx="0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4247" name="Line 7">
              <a:extLst>
                <a:ext uri="{FF2B5EF4-FFF2-40B4-BE49-F238E27FC236}">
                  <a16:creationId xmlns:a16="http://schemas.microsoft.com/office/drawing/2014/main" id="{0715C1E3-EDC1-0FAF-7A46-7C0C4DD2E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4248" name="Text Box 8">
              <a:extLst>
                <a:ext uri="{FF2B5EF4-FFF2-40B4-BE49-F238E27FC236}">
                  <a16:creationId xmlns:a16="http://schemas.microsoft.com/office/drawing/2014/main" id="{FF34DBE4-1420-CA92-F5AF-B165FD6B6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68"/>
              <a:ext cx="72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货币 </a:t>
              </a:r>
            </a:p>
          </p:txBody>
        </p:sp>
        <p:sp>
          <p:nvSpPr>
            <p:cNvPr id="394249" name="Text Box 9">
              <a:extLst>
                <a:ext uri="{FF2B5EF4-FFF2-40B4-BE49-F238E27FC236}">
                  <a16:creationId xmlns:a16="http://schemas.microsoft.com/office/drawing/2014/main" id="{F2FBADB2-9BE0-3EDB-D6EE-06CCDD1AA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864"/>
              <a:ext cx="19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利率</a:t>
              </a:r>
            </a:p>
          </p:txBody>
        </p:sp>
      </p:grpSp>
      <p:sp>
        <p:nvSpPr>
          <p:cNvPr id="394250" name="Line 10">
            <a:extLst>
              <a:ext uri="{FF2B5EF4-FFF2-40B4-BE49-F238E27FC236}">
                <a16:creationId xmlns:a16="http://schemas.microsoft.com/office/drawing/2014/main" id="{D9770B55-D0B0-6F47-34CA-4D9D8D3C4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438400"/>
            <a:ext cx="0" cy="1676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4251" name="Rectangle 11">
            <a:extLst>
              <a:ext uri="{FF2B5EF4-FFF2-40B4-BE49-F238E27FC236}">
                <a16:creationId xmlns:a16="http://schemas.microsoft.com/office/drawing/2014/main" id="{A9092E70-7F70-61C1-440B-412FA892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953000"/>
            <a:ext cx="2286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数学推导</a:t>
            </a:r>
            <a:endParaRPr lang="zh-CN" altLang="en-US" sz="2000" b="1"/>
          </a:p>
        </p:txBody>
      </p:sp>
      <p:sp>
        <p:nvSpPr>
          <p:cNvPr id="394263" name="Line 23">
            <a:extLst>
              <a:ext uri="{FF2B5EF4-FFF2-40B4-BE49-F238E27FC236}">
                <a16:creationId xmlns:a16="http://schemas.microsoft.com/office/drawing/2014/main" id="{73F1BBA6-70A7-300F-00B3-13C14783C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2667000"/>
            <a:ext cx="1981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94266" name="Group 26">
            <a:extLst>
              <a:ext uri="{FF2B5EF4-FFF2-40B4-BE49-F238E27FC236}">
                <a16:creationId xmlns:a16="http://schemas.microsoft.com/office/drawing/2014/main" id="{CD465ECD-AD69-476D-F9BA-DB436C467946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124200"/>
            <a:ext cx="1300163" cy="177800"/>
            <a:chOff x="720" y="1968"/>
            <a:chExt cx="819" cy="112"/>
          </a:xfrm>
        </p:grpSpPr>
        <p:sp>
          <p:nvSpPr>
            <p:cNvPr id="394264" name="Freeform 24">
              <a:extLst>
                <a:ext uri="{FF2B5EF4-FFF2-40B4-BE49-F238E27FC236}">
                  <a16:creationId xmlns:a16="http://schemas.microsoft.com/office/drawing/2014/main" id="{793531BF-FB7E-8BB8-6BD8-F21CF2DDF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" y="2037"/>
              <a:ext cx="671" cy="1"/>
            </a:xfrm>
            <a:custGeom>
              <a:avLst/>
              <a:gdLst>
                <a:gd name="T0" fmla="*/ 671 w 671"/>
                <a:gd name="T1" fmla="*/ 0 h 1"/>
                <a:gd name="T2" fmla="*/ 0 w 67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1" h="1">
                  <a:moveTo>
                    <a:pt x="671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394265" name="Object 25">
              <a:extLst>
                <a:ext uri="{FF2B5EF4-FFF2-40B4-BE49-F238E27FC236}">
                  <a16:creationId xmlns:a16="http://schemas.microsoft.com/office/drawing/2014/main" id="{70D85FDA-2940-EE42-3B8F-AF6AE6B981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1968"/>
            <a:ext cx="112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480" imgH="177480" progId="Equation.DSMT4">
                    <p:embed/>
                  </p:oleObj>
                </mc:Choice>
                <mc:Fallback>
                  <p:oleObj name="Equation" r:id="rId4" imgW="177480" imgH="17748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968"/>
                          <a:ext cx="112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4267" name="Object 27">
            <a:extLst>
              <a:ext uri="{FF2B5EF4-FFF2-40B4-BE49-F238E27FC236}">
                <a16:creationId xmlns:a16="http://schemas.microsoft.com/office/drawing/2014/main" id="{AACF2075-F616-D0C1-48F0-F2FA70CE5C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9900" y="5029200"/>
          <a:ext cx="120173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228600" progId="Equation.DSMT4">
                  <p:embed/>
                </p:oleObj>
              </mc:Choice>
              <mc:Fallback>
                <p:oleObj name="Equation" r:id="rId6" imgW="77436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5029200"/>
                        <a:ext cx="1201738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68" name="Object 28">
            <a:extLst>
              <a:ext uri="{FF2B5EF4-FFF2-40B4-BE49-F238E27FC236}">
                <a16:creationId xmlns:a16="http://schemas.microsoft.com/office/drawing/2014/main" id="{F15FC3DC-4424-B574-B700-85BD1B49AA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5867400"/>
          <a:ext cx="16541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680" imgH="406080" progId="Equation.DSMT4">
                  <p:embed/>
                </p:oleObj>
              </mc:Choice>
              <mc:Fallback>
                <p:oleObj name="Equation" r:id="rId8" imgW="1066680" imgH="40608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867400"/>
                        <a:ext cx="165417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69" name="Object 29">
            <a:extLst>
              <a:ext uri="{FF2B5EF4-FFF2-40B4-BE49-F238E27FC236}">
                <a16:creationId xmlns:a16="http://schemas.microsoft.com/office/drawing/2014/main" id="{0558CB1E-4F0B-D803-54E6-60B580E856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5791200"/>
          <a:ext cx="2049463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20480" imgH="457200" progId="Equation.DSMT4">
                  <p:embed/>
                </p:oleObj>
              </mc:Choice>
              <mc:Fallback>
                <p:oleObj name="Equation" r:id="rId10" imgW="1320480" imgH="4572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791200"/>
                        <a:ext cx="2049463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4270" name="Rectangle 30">
            <a:extLst>
              <a:ext uri="{FF2B5EF4-FFF2-40B4-BE49-F238E27FC236}">
                <a16:creationId xmlns:a16="http://schemas.microsoft.com/office/drawing/2014/main" id="{EED38992-B69F-49EB-D1F0-C480DE2BF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953000"/>
            <a:ext cx="4114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Y </a:t>
            </a:r>
            <a:r>
              <a:rPr lang="zh-CN" altLang="en-US" sz="2800" b="1"/>
              <a:t>变动对均衡的影响</a:t>
            </a:r>
          </a:p>
          <a:p>
            <a:pPr lvl="1"/>
            <a:r>
              <a:rPr lang="en-US" altLang="zh-CN" sz="2000" b="1"/>
              <a:t>LM</a:t>
            </a:r>
            <a:r>
              <a:rPr lang="zh-CN" altLang="en-US" sz="2000" b="1"/>
              <a:t>曲线</a:t>
            </a:r>
          </a:p>
        </p:txBody>
      </p:sp>
      <p:sp>
        <p:nvSpPr>
          <p:cNvPr id="394275" name="Freeform 35">
            <a:extLst>
              <a:ext uri="{FF2B5EF4-FFF2-40B4-BE49-F238E27FC236}">
                <a16:creationId xmlns:a16="http://schemas.microsoft.com/office/drawing/2014/main" id="{CBC8DAF7-0178-44E2-0BF1-016D3D94297D}"/>
              </a:ext>
            </a:extLst>
          </p:cNvPr>
          <p:cNvSpPr>
            <a:spLocks/>
          </p:cNvSpPr>
          <p:nvPr/>
        </p:nvSpPr>
        <p:spPr bwMode="auto">
          <a:xfrm>
            <a:off x="1373188" y="2624138"/>
            <a:ext cx="1065212" cy="1587"/>
          </a:xfrm>
          <a:custGeom>
            <a:avLst/>
            <a:gdLst>
              <a:gd name="T0" fmla="*/ 671 w 671"/>
              <a:gd name="T1" fmla="*/ 0 h 1"/>
              <a:gd name="T2" fmla="*/ 0 w 67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71" h="1">
                <a:moveTo>
                  <a:pt x="671" y="0"/>
                </a:moveTo>
                <a:lnTo>
                  <a:pt x="0" y="0"/>
                </a:lnTo>
              </a:path>
            </a:pathLst>
          </a:custGeom>
          <a:noFill/>
          <a:ln w="9525" cap="rnd" cmpd="sng">
            <a:solidFill>
              <a:srgbClr val="00FF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94283" name="Group 43">
            <a:extLst>
              <a:ext uri="{FF2B5EF4-FFF2-40B4-BE49-F238E27FC236}">
                <a16:creationId xmlns:a16="http://schemas.microsoft.com/office/drawing/2014/main" id="{FB22F27C-F164-EE0C-28EE-6F18361FAE09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048000"/>
            <a:ext cx="1219200" cy="1066800"/>
            <a:chOff x="768" y="1920"/>
            <a:chExt cx="1632" cy="672"/>
          </a:xfrm>
        </p:grpSpPr>
        <p:sp>
          <p:nvSpPr>
            <p:cNvPr id="394284" name="Oval 44">
              <a:extLst>
                <a:ext uri="{FF2B5EF4-FFF2-40B4-BE49-F238E27FC236}">
                  <a16:creationId xmlns:a16="http://schemas.microsoft.com/office/drawing/2014/main" id="{6193A23A-F689-D605-3B2D-830D4E9A8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920"/>
              <a:ext cx="240" cy="1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b="1"/>
            </a:p>
          </p:txBody>
        </p:sp>
        <p:sp>
          <p:nvSpPr>
            <p:cNvPr id="394285" name="Oval 45">
              <a:extLst>
                <a:ext uri="{FF2B5EF4-FFF2-40B4-BE49-F238E27FC236}">
                  <a16:creationId xmlns:a16="http://schemas.microsoft.com/office/drawing/2014/main" id="{928DCCE0-36F7-B95E-B517-711F8986A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400"/>
              <a:ext cx="240" cy="1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Y1</a:t>
              </a:r>
            </a:p>
          </p:txBody>
        </p:sp>
      </p:grpSp>
      <p:grpSp>
        <p:nvGrpSpPr>
          <p:cNvPr id="394286" name="Group 46">
            <a:extLst>
              <a:ext uri="{FF2B5EF4-FFF2-40B4-BE49-F238E27FC236}">
                <a16:creationId xmlns:a16="http://schemas.microsoft.com/office/drawing/2014/main" id="{A657A99D-F056-3575-6774-01DFE82A0D55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2514600"/>
            <a:ext cx="2133600" cy="1676400"/>
            <a:chOff x="768" y="1920"/>
            <a:chExt cx="1632" cy="672"/>
          </a:xfrm>
        </p:grpSpPr>
        <p:sp>
          <p:nvSpPr>
            <p:cNvPr id="394287" name="Oval 47">
              <a:extLst>
                <a:ext uri="{FF2B5EF4-FFF2-40B4-BE49-F238E27FC236}">
                  <a16:creationId xmlns:a16="http://schemas.microsoft.com/office/drawing/2014/main" id="{BA04EEFE-2BA4-CEBA-825A-7A3EAFDF0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920"/>
              <a:ext cx="240" cy="192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b="1"/>
            </a:p>
          </p:txBody>
        </p:sp>
        <p:sp>
          <p:nvSpPr>
            <p:cNvPr id="394288" name="Oval 48">
              <a:extLst>
                <a:ext uri="{FF2B5EF4-FFF2-40B4-BE49-F238E27FC236}">
                  <a16:creationId xmlns:a16="http://schemas.microsoft.com/office/drawing/2014/main" id="{4DF496B9-23F0-03C7-9531-A1851746A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400"/>
              <a:ext cx="240" cy="192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Y2</a:t>
              </a:r>
            </a:p>
          </p:txBody>
        </p:sp>
      </p:grpSp>
      <p:grpSp>
        <p:nvGrpSpPr>
          <p:cNvPr id="394292" name="Group 52">
            <a:extLst>
              <a:ext uri="{FF2B5EF4-FFF2-40B4-BE49-F238E27FC236}">
                <a16:creationId xmlns:a16="http://schemas.microsoft.com/office/drawing/2014/main" id="{78655081-2579-0EC0-2A2F-E03C1FB2C580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2209800"/>
            <a:ext cx="3048000" cy="2073275"/>
            <a:chOff x="3456" y="816"/>
            <a:chExt cx="1920" cy="1306"/>
          </a:xfrm>
        </p:grpSpPr>
        <p:sp>
          <p:nvSpPr>
            <p:cNvPr id="394293" name="Line 53">
              <a:extLst>
                <a:ext uri="{FF2B5EF4-FFF2-40B4-BE49-F238E27FC236}">
                  <a16:creationId xmlns:a16="http://schemas.microsoft.com/office/drawing/2014/main" id="{5C093ADC-61E6-19FD-C318-E28BC9EB15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816"/>
              <a:ext cx="0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4294" name="Line 54">
              <a:extLst>
                <a:ext uri="{FF2B5EF4-FFF2-40B4-BE49-F238E27FC236}">
                  <a16:creationId xmlns:a16="http://schemas.microsoft.com/office/drawing/2014/main" id="{569CB1DC-44BA-736C-E5CE-B78DA33444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4295" name="Text Box 55">
              <a:extLst>
                <a:ext uri="{FF2B5EF4-FFF2-40B4-BE49-F238E27FC236}">
                  <a16:creationId xmlns:a16="http://schemas.microsoft.com/office/drawing/2014/main" id="{B191C557-70AD-217C-97E7-024288A171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68"/>
              <a:ext cx="72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收入 </a:t>
              </a:r>
            </a:p>
          </p:txBody>
        </p:sp>
        <p:sp>
          <p:nvSpPr>
            <p:cNvPr id="394296" name="Text Box 56">
              <a:extLst>
                <a:ext uri="{FF2B5EF4-FFF2-40B4-BE49-F238E27FC236}">
                  <a16:creationId xmlns:a16="http://schemas.microsoft.com/office/drawing/2014/main" id="{894BCFD5-DB1C-C8C1-3A61-42E259F93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864"/>
              <a:ext cx="19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利率</a:t>
              </a:r>
            </a:p>
          </p:txBody>
        </p:sp>
      </p:grpSp>
      <p:grpSp>
        <p:nvGrpSpPr>
          <p:cNvPr id="394307" name="Group 67">
            <a:extLst>
              <a:ext uri="{FF2B5EF4-FFF2-40B4-BE49-F238E27FC236}">
                <a16:creationId xmlns:a16="http://schemas.microsoft.com/office/drawing/2014/main" id="{026DCA87-F406-FAA7-61C9-9512C59F220B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124200"/>
            <a:ext cx="1143000" cy="762000"/>
            <a:chOff x="3360" y="1968"/>
            <a:chExt cx="720" cy="480"/>
          </a:xfrm>
        </p:grpSpPr>
        <p:sp>
          <p:nvSpPr>
            <p:cNvPr id="394303" name="Oval 63">
              <a:extLst>
                <a:ext uri="{FF2B5EF4-FFF2-40B4-BE49-F238E27FC236}">
                  <a16:creationId xmlns:a16="http://schemas.microsoft.com/office/drawing/2014/main" id="{C09FA1FB-8ED9-4BE8-B8D6-6C4448887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968"/>
              <a:ext cx="96" cy="9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4305" name="Line 65">
              <a:extLst>
                <a:ext uri="{FF2B5EF4-FFF2-40B4-BE49-F238E27FC236}">
                  <a16:creationId xmlns:a16="http://schemas.microsoft.com/office/drawing/2014/main" id="{357F5A55-B817-2F47-D628-FB5D8362A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016"/>
              <a:ext cx="672" cy="0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4306" name="Line 66">
              <a:extLst>
                <a:ext uri="{FF2B5EF4-FFF2-40B4-BE49-F238E27FC236}">
                  <a16:creationId xmlns:a16="http://schemas.microsoft.com/office/drawing/2014/main" id="{8686D21E-E9BF-B140-55A6-F72D2C090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016"/>
              <a:ext cx="0" cy="432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94310" name="Group 70">
            <a:extLst>
              <a:ext uri="{FF2B5EF4-FFF2-40B4-BE49-F238E27FC236}">
                <a16:creationId xmlns:a16="http://schemas.microsoft.com/office/drawing/2014/main" id="{95CA3970-03BA-A96B-54A3-567510D1B062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667000"/>
            <a:ext cx="1905000" cy="1295400"/>
            <a:chOff x="3360" y="1680"/>
            <a:chExt cx="1200" cy="816"/>
          </a:xfrm>
        </p:grpSpPr>
        <p:sp>
          <p:nvSpPr>
            <p:cNvPr id="394304" name="Oval 64">
              <a:extLst>
                <a:ext uri="{FF2B5EF4-FFF2-40B4-BE49-F238E27FC236}">
                  <a16:creationId xmlns:a16="http://schemas.microsoft.com/office/drawing/2014/main" id="{7D0AFE13-73E9-48CF-5CC7-924A2665F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680"/>
              <a:ext cx="96" cy="96"/>
            </a:xfrm>
            <a:prstGeom prst="ellipse">
              <a:avLst/>
            </a:prstGeom>
            <a:solidFill>
              <a:srgbClr val="00FF00"/>
            </a:solidFill>
            <a:ln w="9525" cap="rnd">
              <a:solidFill>
                <a:srgbClr val="00FF00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4308" name="Line 68">
              <a:extLst>
                <a:ext uri="{FF2B5EF4-FFF2-40B4-BE49-F238E27FC236}">
                  <a16:creationId xmlns:a16="http://schemas.microsoft.com/office/drawing/2014/main" id="{99B8213C-2DA4-11EA-1737-5073965A6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728"/>
              <a:ext cx="1152" cy="0"/>
            </a:xfrm>
            <a:prstGeom prst="line">
              <a:avLst/>
            </a:prstGeom>
            <a:noFill/>
            <a:ln w="9525" cap="rnd">
              <a:solidFill>
                <a:srgbClr val="00FF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4309" name="Line 69">
              <a:extLst>
                <a:ext uri="{FF2B5EF4-FFF2-40B4-BE49-F238E27FC236}">
                  <a16:creationId xmlns:a16="http://schemas.microsoft.com/office/drawing/2014/main" id="{5D014C74-A038-117E-433D-42169BDB7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728"/>
              <a:ext cx="0" cy="768"/>
            </a:xfrm>
            <a:prstGeom prst="line">
              <a:avLst/>
            </a:prstGeom>
            <a:noFill/>
            <a:ln w="9525" cap="rnd">
              <a:solidFill>
                <a:srgbClr val="00FF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94313" name="Group 73">
            <a:extLst>
              <a:ext uri="{FF2B5EF4-FFF2-40B4-BE49-F238E27FC236}">
                <a16:creationId xmlns:a16="http://schemas.microsoft.com/office/drawing/2014/main" id="{39E48823-72C2-469E-2DF0-01FD5CDC9317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286000"/>
            <a:ext cx="1860550" cy="1143000"/>
            <a:chOff x="3840" y="1440"/>
            <a:chExt cx="1172" cy="720"/>
          </a:xfrm>
        </p:grpSpPr>
        <p:sp>
          <p:nvSpPr>
            <p:cNvPr id="394311" name="Line 71">
              <a:extLst>
                <a:ext uri="{FF2B5EF4-FFF2-40B4-BE49-F238E27FC236}">
                  <a16:creationId xmlns:a16="http://schemas.microsoft.com/office/drawing/2014/main" id="{F78C3DB4-0985-09CA-4FC4-CD5FD74C2E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1584"/>
              <a:ext cx="864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4312" name="Rectangle 72">
              <a:extLst>
                <a:ext uri="{FF2B5EF4-FFF2-40B4-BE49-F238E27FC236}">
                  <a16:creationId xmlns:a16="http://schemas.microsoft.com/office/drawing/2014/main" id="{893320A2-CA0B-F00B-D767-B1F813B2E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1440"/>
              <a:ext cx="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/>
                <a:t>LM</a:t>
              </a:r>
            </a:p>
          </p:txBody>
        </p:sp>
      </p:grpSp>
      <p:sp>
        <p:nvSpPr>
          <p:cNvPr id="394314" name="Rectangle 74">
            <a:extLst>
              <a:ext uri="{FF2B5EF4-FFF2-40B4-BE49-F238E27FC236}">
                <a16:creationId xmlns:a16="http://schemas.microsoft.com/office/drawing/2014/main" id="{F0BAE4B5-525C-2796-B49F-2D2905BE5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867400"/>
            <a:ext cx="4114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chemeClr val="tx2"/>
                </a:solidFill>
              </a:rPr>
              <a:t>为什么</a:t>
            </a:r>
            <a:r>
              <a:rPr lang="en-US" altLang="zh-CN" sz="2800" b="1">
                <a:solidFill>
                  <a:schemeClr val="tx2"/>
                </a:solidFill>
              </a:rPr>
              <a:t>LM</a:t>
            </a:r>
            <a:r>
              <a:rPr lang="zh-CN" altLang="en-US" sz="2800" b="1">
                <a:solidFill>
                  <a:schemeClr val="tx2"/>
                </a:solidFill>
              </a:rPr>
              <a:t>曲线向右上方倾斜？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9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39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39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9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39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39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39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9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500"/>
                                        <p:tgtEl>
                                          <p:spTgt spid="394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39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4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94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94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4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39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4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4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94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94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94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94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94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94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4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94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4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94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39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0" dur="500"/>
                                        <p:tgtEl>
                                          <p:spTgt spid="39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51" grpId="0" autoUpdateAnimBg="0"/>
      <p:bldP spid="394270" grpId="0" autoUpdateAnimBg="0"/>
      <p:bldP spid="39431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75" name="Rectangle 11">
            <a:extLst>
              <a:ext uri="{FF2B5EF4-FFF2-40B4-BE49-F238E27FC236}">
                <a16:creationId xmlns:a16="http://schemas.microsoft.com/office/drawing/2014/main" id="{0251E934-A39B-2518-B64D-359EDDE2BDE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3.4</a:t>
            </a:r>
            <a:r>
              <a:rPr lang="zh-CN" altLang="en-US" sz="3600" b="1"/>
              <a:t>、</a:t>
            </a:r>
            <a:r>
              <a:rPr lang="en-US" altLang="zh-CN" b="1"/>
              <a:t>LM</a:t>
            </a:r>
            <a:r>
              <a:rPr lang="zh-CN" altLang="en-US" b="1"/>
              <a:t>曲线的性质</a:t>
            </a:r>
          </a:p>
        </p:txBody>
      </p:sp>
      <p:sp>
        <p:nvSpPr>
          <p:cNvPr id="395285" name="Rectangle 21">
            <a:extLst>
              <a:ext uri="{FF2B5EF4-FFF2-40B4-BE49-F238E27FC236}">
                <a16:creationId xmlns:a16="http://schemas.microsoft.com/office/drawing/2014/main" id="{A5521920-8047-EF7A-6FE3-BF3025AB4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286000"/>
            <a:ext cx="3886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/>
              <a:t>LM</a:t>
            </a:r>
            <a:r>
              <a:rPr lang="zh-CN" altLang="en-US" b="1"/>
              <a:t>曲线的斜率</a:t>
            </a:r>
          </a:p>
          <a:p>
            <a:pPr lvl="1"/>
            <a:r>
              <a:rPr lang="en-US" altLang="zh-CN" sz="1800" b="1"/>
              <a:t>k </a:t>
            </a:r>
            <a:r>
              <a:rPr lang="zh-CN" altLang="en-US" sz="1800" b="1"/>
              <a:t>越小、</a:t>
            </a:r>
            <a:r>
              <a:rPr lang="en-US" altLang="zh-CN" sz="1800" b="1"/>
              <a:t>h </a:t>
            </a:r>
            <a:r>
              <a:rPr lang="zh-CN" altLang="en-US" sz="1800" b="1"/>
              <a:t>越大，</a:t>
            </a:r>
            <a:r>
              <a:rPr lang="en-US" altLang="zh-CN" sz="1800" b="1"/>
              <a:t>LM</a:t>
            </a:r>
            <a:r>
              <a:rPr lang="zh-CN" altLang="en-US" sz="1800" b="1"/>
              <a:t>越平坦</a:t>
            </a:r>
          </a:p>
        </p:txBody>
      </p:sp>
      <p:grpSp>
        <p:nvGrpSpPr>
          <p:cNvPr id="395318" name="Group 54">
            <a:extLst>
              <a:ext uri="{FF2B5EF4-FFF2-40B4-BE49-F238E27FC236}">
                <a16:creationId xmlns:a16="http://schemas.microsoft.com/office/drawing/2014/main" id="{E44E8809-EFB2-FB8C-F933-8B7A3489EEAD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143000"/>
            <a:ext cx="4343400" cy="903288"/>
            <a:chOff x="96" y="720"/>
            <a:chExt cx="2736" cy="569"/>
          </a:xfrm>
        </p:grpSpPr>
        <p:sp>
          <p:nvSpPr>
            <p:cNvPr id="395277" name="Rectangle 13">
              <a:extLst>
                <a:ext uri="{FF2B5EF4-FFF2-40B4-BE49-F238E27FC236}">
                  <a16:creationId xmlns:a16="http://schemas.microsoft.com/office/drawing/2014/main" id="{5CE98E2B-8C8A-A9AC-AD6D-03BA2B067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816"/>
              <a:ext cx="27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/>
                <a:t>LM</a:t>
              </a:r>
              <a:r>
                <a:rPr lang="zh-CN" altLang="en-US" b="1"/>
                <a:t>曲线</a:t>
              </a:r>
              <a:endParaRPr lang="zh-CN" altLang="en-US" sz="2000" b="1"/>
            </a:p>
          </p:txBody>
        </p:sp>
        <p:graphicFrame>
          <p:nvGraphicFramePr>
            <p:cNvPr id="395292" name="Object 28">
              <a:extLst>
                <a:ext uri="{FF2B5EF4-FFF2-40B4-BE49-F238E27FC236}">
                  <a16:creationId xmlns:a16="http://schemas.microsoft.com/office/drawing/2014/main" id="{9FC5BC14-9B61-158D-7110-6FED8CB2BF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720"/>
            <a:ext cx="1104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30040" imgH="457200" progId="Equation.DSMT4">
                    <p:embed/>
                  </p:oleObj>
                </mc:Choice>
                <mc:Fallback>
                  <p:oleObj name="Equation" r:id="rId2" imgW="1130040" imgH="4572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720"/>
                          <a:ext cx="1104" cy="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5321" name="Group 57">
            <a:extLst>
              <a:ext uri="{FF2B5EF4-FFF2-40B4-BE49-F238E27FC236}">
                <a16:creationId xmlns:a16="http://schemas.microsoft.com/office/drawing/2014/main" id="{088C8D26-BB6C-F766-0C30-BFB028A8E36A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276600"/>
            <a:ext cx="2667000" cy="381000"/>
            <a:chOff x="96" y="2064"/>
            <a:chExt cx="1680" cy="240"/>
          </a:xfrm>
        </p:grpSpPr>
        <p:graphicFrame>
          <p:nvGraphicFramePr>
            <p:cNvPr id="395319" name="Object 55">
              <a:extLst>
                <a:ext uri="{FF2B5EF4-FFF2-40B4-BE49-F238E27FC236}">
                  <a16:creationId xmlns:a16="http://schemas.microsoft.com/office/drawing/2014/main" id="{4FC06262-6CE1-DA50-5A7A-DC78FD45ED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7" y="2083"/>
            <a:ext cx="40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19040" imgH="177480" progId="Equation.DSMT4">
                    <p:embed/>
                  </p:oleObj>
                </mc:Choice>
                <mc:Fallback>
                  <p:oleObj name="Equation" r:id="rId4" imgW="419040" imgH="177480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7" y="2083"/>
                          <a:ext cx="409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5320" name="Rectangle 56">
              <a:extLst>
                <a:ext uri="{FF2B5EF4-FFF2-40B4-BE49-F238E27FC236}">
                  <a16:creationId xmlns:a16="http://schemas.microsoft.com/office/drawing/2014/main" id="{2442C9BC-1866-FA73-A920-EFD480DF6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2064"/>
              <a:ext cx="129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/>
              <a:r>
                <a:rPr lang="zh-CN" altLang="en-US" sz="1800" b="1"/>
                <a:t>一个特例</a:t>
              </a:r>
              <a:endParaRPr lang="zh-CN" altLang="en-US" b="1"/>
            </a:p>
          </p:txBody>
        </p:sp>
      </p:grpSp>
      <p:grpSp>
        <p:nvGrpSpPr>
          <p:cNvPr id="395328" name="Group 64">
            <a:extLst>
              <a:ext uri="{FF2B5EF4-FFF2-40B4-BE49-F238E27FC236}">
                <a16:creationId xmlns:a16="http://schemas.microsoft.com/office/drawing/2014/main" id="{F4786C74-C9DE-FB03-3E34-328285C03B62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812925"/>
            <a:ext cx="3048000" cy="2073275"/>
            <a:chOff x="3456" y="816"/>
            <a:chExt cx="1920" cy="1306"/>
          </a:xfrm>
        </p:grpSpPr>
        <p:sp>
          <p:nvSpPr>
            <p:cNvPr id="395329" name="Line 65">
              <a:extLst>
                <a:ext uri="{FF2B5EF4-FFF2-40B4-BE49-F238E27FC236}">
                  <a16:creationId xmlns:a16="http://schemas.microsoft.com/office/drawing/2014/main" id="{739C9F94-9EED-4A46-C0A3-88D20817F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816"/>
              <a:ext cx="0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5330" name="Line 66">
              <a:extLst>
                <a:ext uri="{FF2B5EF4-FFF2-40B4-BE49-F238E27FC236}">
                  <a16:creationId xmlns:a16="http://schemas.microsoft.com/office/drawing/2014/main" id="{09E58152-861E-9CEC-9EE6-9A14F2804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5331" name="Text Box 67">
              <a:extLst>
                <a:ext uri="{FF2B5EF4-FFF2-40B4-BE49-F238E27FC236}">
                  <a16:creationId xmlns:a16="http://schemas.microsoft.com/office/drawing/2014/main" id="{32BBDB29-7D9B-BF47-0F10-085E2A81E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68"/>
              <a:ext cx="72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收入 </a:t>
              </a:r>
            </a:p>
          </p:txBody>
        </p:sp>
        <p:sp>
          <p:nvSpPr>
            <p:cNvPr id="395332" name="Text Box 68">
              <a:extLst>
                <a:ext uri="{FF2B5EF4-FFF2-40B4-BE49-F238E27FC236}">
                  <a16:creationId xmlns:a16="http://schemas.microsoft.com/office/drawing/2014/main" id="{1A56A73F-950D-AE8A-FD06-9AFCBE66D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864"/>
              <a:ext cx="19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利率</a:t>
              </a:r>
            </a:p>
          </p:txBody>
        </p:sp>
      </p:grpSp>
      <p:grpSp>
        <p:nvGrpSpPr>
          <p:cNvPr id="395345" name="Group 81">
            <a:extLst>
              <a:ext uri="{FF2B5EF4-FFF2-40B4-BE49-F238E27FC236}">
                <a16:creationId xmlns:a16="http://schemas.microsoft.com/office/drawing/2014/main" id="{97435401-43B8-0FF8-5DA4-9FAAEB3A18F9}"/>
              </a:ext>
            </a:extLst>
          </p:cNvPr>
          <p:cNvGrpSpPr>
            <a:grpSpLocks/>
          </p:cNvGrpSpPr>
          <p:nvPr/>
        </p:nvGrpSpPr>
        <p:grpSpPr bwMode="auto">
          <a:xfrm>
            <a:off x="6327775" y="1660525"/>
            <a:ext cx="514350" cy="1905000"/>
            <a:chOff x="3986" y="960"/>
            <a:chExt cx="324" cy="1200"/>
          </a:xfrm>
        </p:grpSpPr>
        <p:sp>
          <p:nvSpPr>
            <p:cNvPr id="395343" name="Rectangle 79">
              <a:extLst>
                <a:ext uri="{FF2B5EF4-FFF2-40B4-BE49-F238E27FC236}">
                  <a16:creationId xmlns:a16="http://schemas.microsoft.com/office/drawing/2014/main" id="{9385F616-ED40-1B7B-09F4-B8B28B5E871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986" y="960"/>
              <a:ext cx="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/>
                <a:t>LM</a:t>
              </a:r>
            </a:p>
          </p:txBody>
        </p:sp>
        <p:sp>
          <p:nvSpPr>
            <p:cNvPr id="395344" name="Line 80">
              <a:extLst>
                <a:ext uri="{FF2B5EF4-FFF2-40B4-BE49-F238E27FC236}">
                  <a16:creationId xmlns:a16="http://schemas.microsoft.com/office/drawing/2014/main" id="{B1AE1759-62AD-7FD9-8D2A-88D5E440B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152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95346" name="Rectangle 82">
            <a:extLst>
              <a:ext uri="{FF2B5EF4-FFF2-40B4-BE49-F238E27FC236}">
                <a16:creationId xmlns:a16="http://schemas.microsoft.com/office/drawing/2014/main" id="{790DB336-0EBF-2C39-96A4-6BDA96E9D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886200"/>
            <a:ext cx="4267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/>
              <a:t>LM</a:t>
            </a:r>
            <a:r>
              <a:rPr lang="zh-CN" altLang="en-US" b="1"/>
              <a:t>曲线的移动</a:t>
            </a:r>
          </a:p>
          <a:p>
            <a:pPr lvl="1"/>
            <a:r>
              <a:rPr lang="zh-CN" altLang="en-US" sz="1800" b="1"/>
              <a:t>货币供应量增加，对</a:t>
            </a:r>
            <a:r>
              <a:rPr lang="en-US" altLang="zh-CN" sz="1800" b="1"/>
              <a:t>LM</a:t>
            </a:r>
            <a:r>
              <a:rPr lang="zh-CN" altLang="en-US" sz="1800" b="1"/>
              <a:t>有何影响</a:t>
            </a:r>
          </a:p>
        </p:txBody>
      </p:sp>
      <p:grpSp>
        <p:nvGrpSpPr>
          <p:cNvPr id="395354" name="Group 90">
            <a:extLst>
              <a:ext uri="{FF2B5EF4-FFF2-40B4-BE49-F238E27FC236}">
                <a16:creationId xmlns:a16="http://schemas.microsoft.com/office/drawing/2014/main" id="{B10B884F-1113-260B-8477-5F197C6C5F53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4892675"/>
            <a:ext cx="838200" cy="1676400"/>
            <a:chOff x="3888" y="2688"/>
            <a:chExt cx="528" cy="1056"/>
          </a:xfrm>
        </p:grpSpPr>
        <p:sp>
          <p:nvSpPr>
            <p:cNvPr id="395355" name="Line 91">
              <a:extLst>
                <a:ext uri="{FF2B5EF4-FFF2-40B4-BE49-F238E27FC236}">
                  <a16:creationId xmlns:a16="http://schemas.microsoft.com/office/drawing/2014/main" id="{50329055-F7F1-E0EA-2914-575DA758A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1056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5356" name="AutoShape 92">
              <a:extLst>
                <a:ext uri="{FF2B5EF4-FFF2-40B4-BE49-F238E27FC236}">
                  <a16:creationId xmlns:a16="http://schemas.microsoft.com/office/drawing/2014/main" id="{5528A72D-49DB-B227-3A3D-E98F8FD22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08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00FF00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5358" name="Group 94">
            <a:extLst>
              <a:ext uri="{FF2B5EF4-FFF2-40B4-BE49-F238E27FC236}">
                <a16:creationId xmlns:a16="http://schemas.microsoft.com/office/drawing/2014/main" id="{3DB2F6B4-60E6-4DBF-1E17-66AC7FD12B1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800600"/>
            <a:ext cx="3048000" cy="2073275"/>
            <a:chOff x="288" y="3024"/>
            <a:chExt cx="1920" cy="1306"/>
          </a:xfrm>
        </p:grpSpPr>
        <p:grpSp>
          <p:nvGrpSpPr>
            <p:cNvPr id="395347" name="Group 83">
              <a:extLst>
                <a:ext uri="{FF2B5EF4-FFF2-40B4-BE49-F238E27FC236}">
                  <a16:creationId xmlns:a16="http://schemas.microsoft.com/office/drawing/2014/main" id="{4294BAE5-D3A0-3478-825A-F92D70A77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3024"/>
              <a:ext cx="1920" cy="1306"/>
              <a:chOff x="2928" y="2630"/>
              <a:chExt cx="1920" cy="1306"/>
            </a:xfrm>
          </p:grpSpPr>
          <p:grpSp>
            <p:nvGrpSpPr>
              <p:cNvPr id="395348" name="Group 84">
                <a:extLst>
                  <a:ext uri="{FF2B5EF4-FFF2-40B4-BE49-F238E27FC236}">
                    <a16:creationId xmlns:a16="http://schemas.microsoft.com/office/drawing/2014/main" id="{A4CD0D03-4EF9-4C62-4B56-AED5DDDEEA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" y="2630"/>
                <a:ext cx="1920" cy="1306"/>
                <a:chOff x="3456" y="816"/>
                <a:chExt cx="1920" cy="1306"/>
              </a:xfrm>
            </p:grpSpPr>
            <p:sp>
              <p:nvSpPr>
                <p:cNvPr id="395349" name="Line 85">
                  <a:extLst>
                    <a:ext uri="{FF2B5EF4-FFF2-40B4-BE49-F238E27FC236}">
                      <a16:creationId xmlns:a16="http://schemas.microsoft.com/office/drawing/2014/main" id="{A2F4F8C9-AC75-37FE-9FC1-9296823AC2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816"/>
                  <a:ext cx="0" cy="110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5350" name="Line 86">
                  <a:extLst>
                    <a:ext uri="{FF2B5EF4-FFF2-40B4-BE49-F238E27FC236}">
                      <a16:creationId xmlns:a16="http://schemas.microsoft.com/office/drawing/2014/main" id="{911808C7-6F79-2C35-6AFC-0F66C99EBD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920"/>
                  <a:ext cx="158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5351" name="Text Box 87">
                  <a:extLst>
                    <a:ext uri="{FF2B5EF4-FFF2-40B4-BE49-F238E27FC236}">
                      <a16:creationId xmlns:a16="http://schemas.microsoft.com/office/drawing/2014/main" id="{2F122FF6-149B-83A6-BCF1-8C9F625714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56" y="1968"/>
                  <a:ext cx="72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1600" b="1"/>
                    <a:t>货币供给</a:t>
                  </a:r>
                </a:p>
              </p:txBody>
            </p:sp>
            <p:sp>
              <p:nvSpPr>
                <p:cNvPr id="395352" name="Text Box 88">
                  <a:extLst>
                    <a:ext uri="{FF2B5EF4-FFF2-40B4-BE49-F238E27FC236}">
                      <a16:creationId xmlns:a16="http://schemas.microsoft.com/office/drawing/2014/main" id="{8DAE5CB2-5490-2835-55A3-D9099C02BE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56" y="864"/>
                  <a:ext cx="192" cy="3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1600" b="1"/>
                    <a:t>利率</a:t>
                  </a:r>
                </a:p>
              </p:txBody>
            </p:sp>
          </p:grpSp>
          <p:sp>
            <p:nvSpPr>
              <p:cNvPr id="395353" name="Line 89">
                <a:extLst>
                  <a:ext uri="{FF2B5EF4-FFF2-40B4-BE49-F238E27FC236}">
                    <a16:creationId xmlns:a16="http://schemas.microsoft.com/office/drawing/2014/main" id="{8B2B6F99-AC64-4E04-67C4-367FF6C03C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678"/>
                <a:ext cx="0" cy="1056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95357" name="Line 93">
              <a:extLst>
                <a:ext uri="{FF2B5EF4-FFF2-40B4-BE49-F238E27FC236}">
                  <a16:creationId xmlns:a16="http://schemas.microsoft.com/office/drawing/2014/main" id="{9CC21505-74FC-395A-97F9-6B61ACCF0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168"/>
              <a:ext cx="1392" cy="67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95362" name="Group 98">
            <a:extLst>
              <a:ext uri="{FF2B5EF4-FFF2-40B4-BE49-F238E27FC236}">
                <a16:creationId xmlns:a16="http://schemas.microsoft.com/office/drawing/2014/main" id="{BF2B16D5-2978-20D7-E314-A34883790F84}"/>
              </a:ext>
            </a:extLst>
          </p:cNvPr>
          <p:cNvGrpSpPr>
            <a:grpSpLocks/>
          </p:cNvGrpSpPr>
          <p:nvPr/>
        </p:nvGrpSpPr>
        <p:grpSpPr bwMode="auto">
          <a:xfrm>
            <a:off x="792163" y="5432425"/>
            <a:ext cx="2027237" cy="511175"/>
            <a:chOff x="499" y="3422"/>
            <a:chExt cx="1277" cy="322"/>
          </a:xfrm>
        </p:grpSpPr>
        <p:sp>
          <p:nvSpPr>
            <p:cNvPr id="395359" name="Freeform 95">
              <a:extLst>
                <a:ext uri="{FF2B5EF4-FFF2-40B4-BE49-F238E27FC236}">
                  <a16:creationId xmlns:a16="http://schemas.microsoft.com/office/drawing/2014/main" id="{BD21822C-BB77-12FE-FC51-BEC86FDE2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" y="3422"/>
              <a:ext cx="636" cy="1"/>
            </a:xfrm>
            <a:custGeom>
              <a:avLst/>
              <a:gdLst>
                <a:gd name="T0" fmla="*/ 636 w 636"/>
                <a:gd name="T1" fmla="*/ 0 h 1"/>
                <a:gd name="T2" fmla="*/ 0 w 63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36" h="1">
                  <a:moveTo>
                    <a:pt x="636" y="0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tx2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5360" name="Line 96">
              <a:extLst>
                <a:ext uri="{FF2B5EF4-FFF2-40B4-BE49-F238E27FC236}">
                  <a16:creationId xmlns:a16="http://schemas.microsoft.com/office/drawing/2014/main" id="{3FF3E2E7-4F5E-5521-B2CF-F7725CB6A2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3744"/>
              <a:ext cx="1248" cy="0"/>
            </a:xfrm>
            <a:prstGeom prst="line">
              <a:avLst/>
            </a:prstGeom>
            <a:noFill/>
            <a:ln w="9525" cap="rnd">
              <a:solidFill>
                <a:srgbClr val="00FF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5361" name="AutoShape 97">
              <a:extLst>
                <a:ext uri="{FF2B5EF4-FFF2-40B4-BE49-F238E27FC236}">
                  <a16:creationId xmlns:a16="http://schemas.microsoft.com/office/drawing/2014/main" id="{CE840CA3-9AB9-0E74-88B3-ADF9C8B8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456"/>
              <a:ext cx="96" cy="288"/>
            </a:xfrm>
            <a:prstGeom prst="downArrow">
              <a:avLst>
                <a:gd name="adj1" fmla="val 50000"/>
                <a:gd name="adj2" fmla="val 75000"/>
              </a:avLst>
            </a:prstGeom>
            <a:solidFill>
              <a:srgbClr val="00FF00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5390" name="Group 126">
            <a:extLst>
              <a:ext uri="{FF2B5EF4-FFF2-40B4-BE49-F238E27FC236}">
                <a16:creationId xmlns:a16="http://schemas.microsoft.com/office/drawing/2014/main" id="{8E9C18B4-9036-8B45-23C1-1DEC48F79FF7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4784725"/>
            <a:ext cx="3048000" cy="2073275"/>
            <a:chOff x="3072" y="3014"/>
            <a:chExt cx="1920" cy="1306"/>
          </a:xfrm>
        </p:grpSpPr>
        <p:grpSp>
          <p:nvGrpSpPr>
            <p:cNvPr id="395369" name="Group 105">
              <a:extLst>
                <a:ext uri="{FF2B5EF4-FFF2-40B4-BE49-F238E27FC236}">
                  <a16:creationId xmlns:a16="http://schemas.microsoft.com/office/drawing/2014/main" id="{7ED42372-244F-26DF-637E-6F809F52F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3014"/>
              <a:ext cx="1920" cy="1306"/>
              <a:chOff x="3456" y="816"/>
              <a:chExt cx="1920" cy="1306"/>
            </a:xfrm>
          </p:grpSpPr>
          <p:sp>
            <p:nvSpPr>
              <p:cNvPr id="395370" name="Line 106">
                <a:extLst>
                  <a:ext uri="{FF2B5EF4-FFF2-40B4-BE49-F238E27FC236}">
                    <a16:creationId xmlns:a16="http://schemas.microsoft.com/office/drawing/2014/main" id="{5E39405D-8922-8832-EE1F-6416209C9F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5371" name="Line 107">
                <a:extLst>
                  <a:ext uri="{FF2B5EF4-FFF2-40B4-BE49-F238E27FC236}">
                    <a16:creationId xmlns:a16="http://schemas.microsoft.com/office/drawing/2014/main" id="{D3F92BD7-ED70-6650-B145-7FFAB97CB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5372" name="Text Box 108">
                <a:extLst>
                  <a:ext uri="{FF2B5EF4-FFF2-40B4-BE49-F238E27FC236}">
                    <a16:creationId xmlns:a16="http://schemas.microsoft.com/office/drawing/2014/main" id="{D2318B60-2708-2A5F-06A5-EB6132B380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收入 </a:t>
                </a:r>
              </a:p>
            </p:txBody>
          </p:sp>
          <p:sp>
            <p:nvSpPr>
              <p:cNvPr id="395373" name="Text Box 109">
                <a:extLst>
                  <a:ext uri="{FF2B5EF4-FFF2-40B4-BE49-F238E27FC236}">
                    <a16:creationId xmlns:a16="http://schemas.microsoft.com/office/drawing/2014/main" id="{E0388A9C-16A6-868B-9C45-8FFB6455B5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利率</a:t>
                </a:r>
              </a:p>
            </p:txBody>
          </p:sp>
        </p:grpSp>
        <p:grpSp>
          <p:nvGrpSpPr>
            <p:cNvPr id="395385" name="Group 121">
              <a:extLst>
                <a:ext uri="{FF2B5EF4-FFF2-40B4-BE49-F238E27FC236}">
                  <a16:creationId xmlns:a16="http://schemas.microsoft.com/office/drawing/2014/main" id="{8EC3F90A-53D2-D801-CA0F-76E6544DE6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3062"/>
              <a:ext cx="1172" cy="874"/>
              <a:chOff x="3600" y="3062"/>
              <a:chExt cx="1172" cy="874"/>
            </a:xfrm>
          </p:grpSpPr>
          <p:sp>
            <p:nvSpPr>
              <p:cNvPr id="395383" name="Line 119">
                <a:extLst>
                  <a:ext uri="{FF2B5EF4-FFF2-40B4-BE49-F238E27FC236}">
                    <a16:creationId xmlns:a16="http://schemas.microsoft.com/office/drawing/2014/main" id="{ABC0901F-A750-2AE4-CF04-4562FDC27F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3237"/>
                <a:ext cx="864" cy="699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5384" name="Rectangle 120">
                <a:extLst>
                  <a:ext uri="{FF2B5EF4-FFF2-40B4-BE49-F238E27FC236}">
                    <a16:creationId xmlns:a16="http://schemas.microsoft.com/office/drawing/2014/main" id="{5D50ABED-20DC-AD04-48AF-B932D3C89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" y="3062"/>
                <a:ext cx="32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LM</a:t>
                </a:r>
              </a:p>
            </p:txBody>
          </p:sp>
        </p:grpSp>
      </p:grpSp>
      <p:grpSp>
        <p:nvGrpSpPr>
          <p:cNvPr id="395393" name="Group 129">
            <a:extLst>
              <a:ext uri="{FF2B5EF4-FFF2-40B4-BE49-F238E27FC236}">
                <a16:creationId xmlns:a16="http://schemas.microsoft.com/office/drawing/2014/main" id="{AC99704B-484E-C420-9357-E8CAA16B09B0}"/>
              </a:ext>
            </a:extLst>
          </p:cNvPr>
          <p:cNvGrpSpPr>
            <a:grpSpLocks/>
          </p:cNvGrpSpPr>
          <p:nvPr/>
        </p:nvGrpSpPr>
        <p:grpSpPr bwMode="auto">
          <a:xfrm>
            <a:off x="6292850" y="5013325"/>
            <a:ext cx="1860550" cy="1387475"/>
            <a:chOff x="3964" y="3158"/>
            <a:chExt cx="1172" cy="874"/>
          </a:xfrm>
        </p:grpSpPr>
        <p:grpSp>
          <p:nvGrpSpPr>
            <p:cNvPr id="395391" name="Group 127">
              <a:extLst>
                <a:ext uri="{FF2B5EF4-FFF2-40B4-BE49-F238E27FC236}">
                  <a16:creationId xmlns:a16="http://schemas.microsoft.com/office/drawing/2014/main" id="{F644AD8B-8144-1BA3-50EA-D15E2CE679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4" y="3158"/>
              <a:ext cx="1172" cy="874"/>
              <a:chOff x="3868" y="3158"/>
              <a:chExt cx="1172" cy="874"/>
            </a:xfrm>
          </p:grpSpPr>
          <p:sp>
            <p:nvSpPr>
              <p:cNvPr id="395388" name="Line 124">
                <a:extLst>
                  <a:ext uri="{FF2B5EF4-FFF2-40B4-BE49-F238E27FC236}">
                    <a16:creationId xmlns:a16="http://schemas.microsoft.com/office/drawing/2014/main" id="{A58A256F-974F-C54B-8AE6-CDD79937E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68" y="3333"/>
                <a:ext cx="864" cy="699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5389" name="Rectangle 125">
                <a:extLst>
                  <a:ext uri="{FF2B5EF4-FFF2-40B4-BE49-F238E27FC236}">
                    <a16:creationId xmlns:a16="http://schemas.microsoft.com/office/drawing/2014/main" id="{A15CBF0D-ECAA-DED2-AA9F-9D7B0C62D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6" y="3158"/>
                <a:ext cx="32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00FF00"/>
                    </a:solidFill>
                  </a:rPr>
                  <a:t>LM</a:t>
                </a:r>
              </a:p>
            </p:txBody>
          </p:sp>
        </p:grpSp>
        <p:sp>
          <p:nvSpPr>
            <p:cNvPr id="395392" name="AutoShape 128">
              <a:extLst>
                <a:ext uri="{FF2B5EF4-FFF2-40B4-BE49-F238E27FC236}">
                  <a16:creationId xmlns:a16="http://schemas.microsoft.com/office/drawing/2014/main" id="{F6E988C0-749F-77E6-6CEA-302CE2BAE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648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5396" name="Rectangle 132">
            <a:extLst>
              <a:ext uri="{FF2B5EF4-FFF2-40B4-BE49-F238E27FC236}">
                <a16:creationId xmlns:a16="http://schemas.microsoft.com/office/drawing/2014/main" id="{A3BEBC03-0250-998A-1442-0269C19CD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276600"/>
            <a:ext cx="2057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1800" b="1"/>
              <a:t>这是什么？</a:t>
            </a:r>
            <a:endParaRPr lang="zh-CN" altLang="en-US" b="1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9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95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5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5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5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9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9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395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5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95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95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95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9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9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39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5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5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95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95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85" grpId="0" autoUpdateAnimBg="0"/>
      <p:bldP spid="395346" grpId="0" autoUpdateAnimBg="0"/>
      <p:bldP spid="39539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>
            <a:extLst>
              <a:ext uri="{FF2B5EF4-FFF2-40B4-BE49-F238E27FC236}">
                <a16:creationId xmlns:a16="http://schemas.microsoft.com/office/drawing/2014/main" id="{1B9005F6-D3A2-E653-073E-0061EC5A248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3.5</a:t>
            </a:r>
            <a:r>
              <a:rPr lang="zh-CN" altLang="en-US" sz="3600" b="1"/>
              <a:t>、</a:t>
            </a:r>
            <a:r>
              <a:rPr lang="zh-CN" altLang="en-US" b="1"/>
              <a:t>产品市场与货币市场的均衡</a:t>
            </a:r>
          </a:p>
        </p:txBody>
      </p:sp>
      <p:grpSp>
        <p:nvGrpSpPr>
          <p:cNvPr id="396337" name="Group 49">
            <a:extLst>
              <a:ext uri="{FF2B5EF4-FFF2-40B4-BE49-F238E27FC236}">
                <a16:creationId xmlns:a16="http://schemas.microsoft.com/office/drawing/2014/main" id="{5623B0D9-712C-CEB7-EB4D-87D304DB2C0A}"/>
              </a:ext>
            </a:extLst>
          </p:cNvPr>
          <p:cNvGrpSpPr>
            <a:grpSpLocks/>
          </p:cNvGrpSpPr>
          <p:nvPr/>
        </p:nvGrpSpPr>
        <p:grpSpPr bwMode="auto">
          <a:xfrm>
            <a:off x="0" y="2373313"/>
            <a:ext cx="8305800" cy="903287"/>
            <a:chOff x="96" y="727"/>
            <a:chExt cx="5232" cy="569"/>
          </a:xfrm>
        </p:grpSpPr>
        <p:sp>
          <p:nvSpPr>
            <p:cNvPr id="396293" name="Rectangle 5">
              <a:extLst>
                <a:ext uri="{FF2B5EF4-FFF2-40B4-BE49-F238E27FC236}">
                  <a16:creationId xmlns:a16="http://schemas.microsoft.com/office/drawing/2014/main" id="{67A38A89-28A8-2758-B22A-1FDE5E9A0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816"/>
              <a:ext cx="417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/>
                <a:t>货币市场均衡的条件：</a:t>
              </a:r>
              <a:r>
                <a:rPr lang="en-US" altLang="zh-CN" sz="2800" b="1"/>
                <a:t>LM</a:t>
              </a:r>
              <a:r>
                <a:rPr lang="zh-CN" altLang="en-US" sz="2800" b="1"/>
                <a:t>曲线</a:t>
              </a:r>
            </a:p>
          </p:txBody>
        </p:sp>
        <p:graphicFrame>
          <p:nvGraphicFramePr>
            <p:cNvPr id="396294" name="Object 6">
              <a:extLst>
                <a:ext uri="{FF2B5EF4-FFF2-40B4-BE49-F238E27FC236}">
                  <a16:creationId xmlns:a16="http://schemas.microsoft.com/office/drawing/2014/main" id="{14C22C77-B9B1-3659-DCD0-22F59FD845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727"/>
            <a:ext cx="1104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30040" imgH="457200" progId="Equation.DSMT4">
                    <p:embed/>
                  </p:oleObj>
                </mc:Choice>
                <mc:Fallback>
                  <p:oleObj name="Equation" r:id="rId2" imgW="1130040" imgH="457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727"/>
                          <a:ext cx="1104" cy="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6306" name="Rectangle 18">
            <a:extLst>
              <a:ext uri="{FF2B5EF4-FFF2-40B4-BE49-F238E27FC236}">
                <a16:creationId xmlns:a16="http://schemas.microsoft.com/office/drawing/2014/main" id="{7144FD74-E38E-2978-D62F-47C09698F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6600"/>
            <a:ext cx="5867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产品市场与货币市场的均衡</a:t>
            </a:r>
            <a:endParaRPr lang="zh-CN" altLang="en-US" sz="2000" b="1"/>
          </a:p>
        </p:txBody>
      </p:sp>
      <p:grpSp>
        <p:nvGrpSpPr>
          <p:cNvPr id="396324" name="Group 36">
            <a:extLst>
              <a:ext uri="{FF2B5EF4-FFF2-40B4-BE49-F238E27FC236}">
                <a16:creationId xmlns:a16="http://schemas.microsoft.com/office/drawing/2014/main" id="{04FFE035-26DE-F708-F280-C9149681959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479925"/>
            <a:ext cx="3048000" cy="2073275"/>
            <a:chOff x="3456" y="816"/>
            <a:chExt cx="1920" cy="1306"/>
          </a:xfrm>
        </p:grpSpPr>
        <p:sp>
          <p:nvSpPr>
            <p:cNvPr id="396325" name="Line 37">
              <a:extLst>
                <a:ext uri="{FF2B5EF4-FFF2-40B4-BE49-F238E27FC236}">
                  <a16:creationId xmlns:a16="http://schemas.microsoft.com/office/drawing/2014/main" id="{61F46CC4-8468-4861-AE28-27368B339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816"/>
              <a:ext cx="0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6326" name="Line 38">
              <a:extLst>
                <a:ext uri="{FF2B5EF4-FFF2-40B4-BE49-F238E27FC236}">
                  <a16:creationId xmlns:a16="http://schemas.microsoft.com/office/drawing/2014/main" id="{D7502C9A-0F99-AC81-420C-A06E6963A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6327" name="Text Box 39">
              <a:extLst>
                <a:ext uri="{FF2B5EF4-FFF2-40B4-BE49-F238E27FC236}">
                  <a16:creationId xmlns:a16="http://schemas.microsoft.com/office/drawing/2014/main" id="{488140C3-675D-E255-C95F-BA5491BF5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68"/>
              <a:ext cx="72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收入 </a:t>
              </a:r>
            </a:p>
          </p:txBody>
        </p:sp>
        <p:sp>
          <p:nvSpPr>
            <p:cNvPr id="396328" name="Text Box 40">
              <a:extLst>
                <a:ext uri="{FF2B5EF4-FFF2-40B4-BE49-F238E27FC236}">
                  <a16:creationId xmlns:a16="http://schemas.microsoft.com/office/drawing/2014/main" id="{62807CA9-F388-F334-D3D2-ABE18C7DB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864"/>
              <a:ext cx="19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利率</a:t>
              </a:r>
            </a:p>
          </p:txBody>
        </p:sp>
      </p:grpSp>
      <p:grpSp>
        <p:nvGrpSpPr>
          <p:cNvPr id="396329" name="Group 41">
            <a:extLst>
              <a:ext uri="{FF2B5EF4-FFF2-40B4-BE49-F238E27FC236}">
                <a16:creationId xmlns:a16="http://schemas.microsoft.com/office/drawing/2014/main" id="{01DA2D8C-F87A-F323-5797-BCA6AF725468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4556125"/>
            <a:ext cx="1860550" cy="1387475"/>
            <a:chOff x="3600" y="3062"/>
            <a:chExt cx="1172" cy="874"/>
          </a:xfrm>
        </p:grpSpPr>
        <p:sp>
          <p:nvSpPr>
            <p:cNvPr id="396330" name="Line 42">
              <a:extLst>
                <a:ext uri="{FF2B5EF4-FFF2-40B4-BE49-F238E27FC236}">
                  <a16:creationId xmlns:a16="http://schemas.microsoft.com/office/drawing/2014/main" id="{38779D59-E5D0-03F2-1DA0-EEE4D1332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3237"/>
              <a:ext cx="864" cy="69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6331" name="Rectangle 43">
              <a:extLst>
                <a:ext uri="{FF2B5EF4-FFF2-40B4-BE49-F238E27FC236}">
                  <a16:creationId xmlns:a16="http://schemas.microsoft.com/office/drawing/2014/main" id="{B71D1134-D48C-A948-CD2B-C0015A2CD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3062"/>
              <a:ext cx="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LM</a:t>
              </a:r>
            </a:p>
          </p:txBody>
        </p:sp>
      </p:grpSp>
      <p:grpSp>
        <p:nvGrpSpPr>
          <p:cNvPr id="396340" name="Group 52">
            <a:extLst>
              <a:ext uri="{FF2B5EF4-FFF2-40B4-BE49-F238E27FC236}">
                <a16:creationId xmlns:a16="http://schemas.microsoft.com/office/drawing/2014/main" id="{00ECE713-9DE9-6855-8DCC-2881FB512340}"/>
              </a:ext>
            </a:extLst>
          </p:cNvPr>
          <p:cNvGrpSpPr>
            <a:grpSpLocks/>
          </p:cNvGrpSpPr>
          <p:nvPr/>
        </p:nvGrpSpPr>
        <p:grpSpPr bwMode="auto">
          <a:xfrm>
            <a:off x="0" y="1219200"/>
            <a:ext cx="8966200" cy="881063"/>
            <a:chOff x="48" y="768"/>
            <a:chExt cx="5648" cy="555"/>
          </a:xfrm>
        </p:grpSpPr>
        <p:sp>
          <p:nvSpPr>
            <p:cNvPr id="396338" name="Rectangle 50">
              <a:extLst>
                <a:ext uri="{FF2B5EF4-FFF2-40B4-BE49-F238E27FC236}">
                  <a16:creationId xmlns:a16="http://schemas.microsoft.com/office/drawing/2014/main" id="{0F4D3708-D58B-00B0-C506-79AD59D72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864"/>
              <a:ext cx="3312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/>
                <a:t>产品市场均衡的条件：</a:t>
              </a:r>
              <a:r>
                <a:rPr lang="en-US" altLang="zh-CN" sz="2800" b="1"/>
                <a:t>IS</a:t>
              </a:r>
              <a:r>
                <a:rPr lang="zh-CN" altLang="en-US" sz="2800" b="1"/>
                <a:t>曲线</a:t>
              </a:r>
            </a:p>
          </p:txBody>
        </p:sp>
        <p:graphicFrame>
          <p:nvGraphicFramePr>
            <p:cNvPr id="396339" name="Object 51">
              <a:extLst>
                <a:ext uri="{FF2B5EF4-FFF2-40B4-BE49-F238E27FC236}">
                  <a16:creationId xmlns:a16="http://schemas.microsoft.com/office/drawing/2014/main" id="{16C7BBB8-5A6F-641F-9962-46D430CE21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768"/>
            <a:ext cx="2384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438280" imgH="444240" progId="Equation.DSMT4">
                    <p:embed/>
                  </p:oleObj>
                </mc:Choice>
                <mc:Fallback>
                  <p:oleObj name="Equation" r:id="rId4" imgW="2438280" imgH="44424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768"/>
                          <a:ext cx="2384" cy="5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6344" name="Group 56">
            <a:extLst>
              <a:ext uri="{FF2B5EF4-FFF2-40B4-BE49-F238E27FC236}">
                <a16:creationId xmlns:a16="http://schemas.microsoft.com/office/drawing/2014/main" id="{B5FBB483-025E-F586-8275-535D30D13163}"/>
              </a:ext>
            </a:extLst>
          </p:cNvPr>
          <p:cNvGrpSpPr>
            <a:grpSpLocks/>
          </p:cNvGrpSpPr>
          <p:nvPr/>
        </p:nvGrpSpPr>
        <p:grpSpPr bwMode="auto">
          <a:xfrm>
            <a:off x="2876550" y="4479925"/>
            <a:ext cx="1543050" cy="1463675"/>
            <a:chOff x="1812" y="2822"/>
            <a:chExt cx="972" cy="922"/>
          </a:xfrm>
        </p:grpSpPr>
        <p:sp>
          <p:nvSpPr>
            <p:cNvPr id="396342" name="Line 54">
              <a:extLst>
                <a:ext uri="{FF2B5EF4-FFF2-40B4-BE49-F238E27FC236}">
                  <a16:creationId xmlns:a16="http://schemas.microsoft.com/office/drawing/2014/main" id="{75BC39AD-896F-2C9F-09C7-919F06F593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03" y="3007"/>
              <a:ext cx="781" cy="73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6343" name="Rectangle 55">
              <a:extLst>
                <a:ext uri="{FF2B5EF4-FFF2-40B4-BE49-F238E27FC236}">
                  <a16:creationId xmlns:a16="http://schemas.microsoft.com/office/drawing/2014/main" id="{A4FC43CB-8645-05D6-9621-7F7FF83DD61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812" y="2822"/>
              <a:ext cx="2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IS</a:t>
              </a:r>
            </a:p>
          </p:txBody>
        </p:sp>
      </p:grpSp>
      <p:grpSp>
        <p:nvGrpSpPr>
          <p:cNvPr id="396350" name="Group 62">
            <a:extLst>
              <a:ext uri="{FF2B5EF4-FFF2-40B4-BE49-F238E27FC236}">
                <a16:creationId xmlns:a16="http://schemas.microsoft.com/office/drawing/2014/main" id="{5C01E49F-4801-E806-2FDC-DE951498974F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257800"/>
            <a:ext cx="1651000" cy="1219200"/>
            <a:chOff x="1392" y="3312"/>
            <a:chExt cx="1040" cy="768"/>
          </a:xfrm>
        </p:grpSpPr>
        <p:grpSp>
          <p:nvGrpSpPr>
            <p:cNvPr id="396347" name="Group 59">
              <a:extLst>
                <a:ext uri="{FF2B5EF4-FFF2-40B4-BE49-F238E27FC236}">
                  <a16:creationId xmlns:a16="http://schemas.microsoft.com/office/drawing/2014/main" id="{1B40472D-24F0-0EAF-409F-05163609F1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3360"/>
              <a:ext cx="816" cy="576"/>
              <a:chOff x="1536" y="3360"/>
              <a:chExt cx="816" cy="576"/>
            </a:xfrm>
          </p:grpSpPr>
          <p:sp>
            <p:nvSpPr>
              <p:cNvPr id="396345" name="Line 57">
                <a:extLst>
                  <a:ext uri="{FF2B5EF4-FFF2-40B4-BE49-F238E27FC236}">
                    <a16:creationId xmlns:a16="http://schemas.microsoft.com/office/drawing/2014/main" id="{CBD8AB6D-1301-958B-EBFF-1B31E34E27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360"/>
                <a:ext cx="0" cy="576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6346" name="Line 58">
                <a:extLst>
                  <a:ext uri="{FF2B5EF4-FFF2-40B4-BE49-F238E27FC236}">
                    <a16:creationId xmlns:a16="http://schemas.microsoft.com/office/drawing/2014/main" id="{906A16A8-EE13-9181-C253-5183146C3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3360"/>
                <a:ext cx="816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396348" name="Object 60">
              <a:extLst>
                <a:ext uri="{FF2B5EF4-FFF2-40B4-BE49-F238E27FC236}">
                  <a16:creationId xmlns:a16="http://schemas.microsoft.com/office/drawing/2014/main" id="{A8A1D2EC-85F9-3B05-78AD-929AC24157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3312"/>
            <a:ext cx="112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77480" imgH="177480" progId="Equation.DSMT4">
                    <p:embed/>
                  </p:oleObj>
                </mc:Choice>
                <mc:Fallback>
                  <p:oleObj name="Equation" r:id="rId6" imgW="177480" imgH="17748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312"/>
                          <a:ext cx="112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6349" name="Object 61">
              <a:extLst>
                <a:ext uri="{FF2B5EF4-FFF2-40B4-BE49-F238E27FC236}">
                  <a16:creationId xmlns:a16="http://schemas.microsoft.com/office/drawing/2014/main" id="{8DA8A95B-3C56-DF6D-2518-2550F0CA1D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8" y="3976"/>
            <a:ext cx="144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8600" imgH="164880" progId="Equation.DSMT4">
                    <p:embed/>
                  </p:oleObj>
                </mc:Choice>
                <mc:Fallback>
                  <p:oleObj name="Equation" r:id="rId8" imgW="228600" imgH="164880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8" y="3976"/>
                          <a:ext cx="144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6351" name="Rectangle 63">
            <a:extLst>
              <a:ext uri="{FF2B5EF4-FFF2-40B4-BE49-F238E27FC236}">
                <a16:creationId xmlns:a16="http://schemas.microsoft.com/office/drawing/2014/main" id="{2E9A46C4-BC7C-26AA-7C4F-8237BEAF1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419600"/>
            <a:ext cx="32004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产品市场与货币市场的</a:t>
            </a:r>
            <a:r>
              <a:rPr lang="zh-CN" altLang="en-US" b="1">
                <a:latin typeface="Times New Roman" panose="02020603050405020304" pitchFamily="18" charset="0"/>
              </a:rPr>
              <a:t>“</a:t>
            </a:r>
            <a:r>
              <a:rPr lang="zh-CN" altLang="en-US" b="1"/>
              <a:t>不均衡</a:t>
            </a:r>
            <a:r>
              <a:rPr lang="zh-CN" altLang="en-US" b="1">
                <a:latin typeface="Times New Roman" panose="02020603050405020304" pitchFamily="18" charset="0"/>
              </a:rPr>
              <a:t>”</a:t>
            </a:r>
            <a:r>
              <a:rPr lang="zh-CN" altLang="en-US" b="1"/>
              <a:t>四种情况。</a:t>
            </a:r>
            <a:endParaRPr lang="zh-CN" altLang="en-US" sz="2000" b="1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9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9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39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6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6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6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6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396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306" grpId="0" autoUpdateAnimBg="0"/>
      <p:bldP spid="39635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>
            <a:extLst>
              <a:ext uri="{FF2B5EF4-FFF2-40B4-BE49-F238E27FC236}">
                <a16:creationId xmlns:a16="http://schemas.microsoft.com/office/drawing/2014/main" id="{049DD911-D85A-7D26-0B9B-00489B2CA9D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3.5</a:t>
            </a:r>
            <a:r>
              <a:rPr lang="zh-CN" altLang="en-US" sz="3600" b="1"/>
              <a:t>、</a:t>
            </a:r>
            <a:r>
              <a:rPr lang="zh-CN" altLang="en-US" b="1"/>
              <a:t>产品市场与货币市场的均衡</a:t>
            </a:r>
          </a:p>
        </p:txBody>
      </p:sp>
      <p:sp>
        <p:nvSpPr>
          <p:cNvPr id="397318" name="Rectangle 6">
            <a:extLst>
              <a:ext uri="{FF2B5EF4-FFF2-40B4-BE49-F238E27FC236}">
                <a16:creationId xmlns:a16="http://schemas.microsoft.com/office/drawing/2014/main" id="{721A5AD4-D23A-270A-60AA-D32A36959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6600"/>
            <a:ext cx="868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数学推导（</a:t>
            </a:r>
            <a:r>
              <a:rPr lang="zh-CN" altLang="en-US" b="1">
                <a:solidFill>
                  <a:schemeClr val="tx2"/>
                </a:solidFill>
              </a:rPr>
              <a:t>要求一定掌握，请大家推导</a:t>
            </a:r>
            <a:r>
              <a:rPr lang="zh-CN" altLang="en-US" b="1"/>
              <a:t>）</a:t>
            </a:r>
            <a:endParaRPr lang="zh-CN" altLang="en-US" sz="2000" b="1"/>
          </a:p>
        </p:txBody>
      </p:sp>
      <p:grpSp>
        <p:nvGrpSpPr>
          <p:cNvPr id="397339" name="Group 27">
            <a:extLst>
              <a:ext uri="{FF2B5EF4-FFF2-40B4-BE49-F238E27FC236}">
                <a16:creationId xmlns:a16="http://schemas.microsoft.com/office/drawing/2014/main" id="{3B89113A-AA22-1C0E-C4B4-6FCE5424A10B}"/>
              </a:ext>
            </a:extLst>
          </p:cNvPr>
          <p:cNvGrpSpPr>
            <a:grpSpLocks/>
          </p:cNvGrpSpPr>
          <p:nvPr/>
        </p:nvGrpSpPr>
        <p:grpSpPr bwMode="auto">
          <a:xfrm>
            <a:off x="0" y="1219200"/>
            <a:ext cx="8966200" cy="2057400"/>
            <a:chOff x="0" y="768"/>
            <a:chExt cx="5648" cy="1296"/>
          </a:xfrm>
        </p:grpSpPr>
        <p:grpSp>
          <p:nvGrpSpPr>
            <p:cNvPr id="397315" name="Group 3">
              <a:extLst>
                <a:ext uri="{FF2B5EF4-FFF2-40B4-BE49-F238E27FC236}">
                  <a16:creationId xmlns:a16="http://schemas.microsoft.com/office/drawing/2014/main" id="{A254B4B6-17E4-604C-9255-7F779AED37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495"/>
              <a:ext cx="5232" cy="569"/>
              <a:chOff x="96" y="727"/>
              <a:chExt cx="5232" cy="569"/>
            </a:xfrm>
          </p:grpSpPr>
          <p:sp>
            <p:nvSpPr>
              <p:cNvPr id="397316" name="Rectangle 4">
                <a:extLst>
                  <a:ext uri="{FF2B5EF4-FFF2-40B4-BE49-F238E27FC236}">
                    <a16:creationId xmlns:a16="http://schemas.microsoft.com/office/drawing/2014/main" id="{C1F15D95-DD20-82E1-42D4-2B2076A43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816"/>
                <a:ext cx="4176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>
                <a:lvl1pPr marL="342900" indent="-342900" algn="l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2800" b="1"/>
                  <a:t>货币市场均衡的条件：</a:t>
                </a:r>
                <a:r>
                  <a:rPr lang="en-US" altLang="zh-CN" sz="2800" b="1"/>
                  <a:t>LM</a:t>
                </a:r>
                <a:r>
                  <a:rPr lang="zh-CN" altLang="en-US" sz="2800" b="1"/>
                  <a:t>曲线</a:t>
                </a:r>
              </a:p>
            </p:txBody>
          </p:sp>
          <p:graphicFrame>
            <p:nvGraphicFramePr>
              <p:cNvPr id="397317" name="Object 5">
                <a:extLst>
                  <a:ext uri="{FF2B5EF4-FFF2-40B4-BE49-F238E27FC236}">
                    <a16:creationId xmlns:a16="http://schemas.microsoft.com/office/drawing/2014/main" id="{B39013BF-5F64-7FAE-FA6E-32769DF1AD2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24" y="727"/>
              <a:ext cx="1104" cy="5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130040" imgH="457200" progId="Equation.DSMT4">
                      <p:embed/>
                    </p:oleObj>
                  </mc:Choice>
                  <mc:Fallback>
                    <p:oleObj name="Equation" r:id="rId2" imgW="1130040" imgH="457200" progId="Equation.DSMT4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727"/>
                            <a:ext cx="1104" cy="5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97327" name="Group 15">
              <a:extLst>
                <a:ext uri="{FF2B5EF4-FFF2-40B4-BE49-F238E27FC236}">
                  <a16:creationId xmlns:a16="http://schemas.microsoft.com/office/drawing/2014/main" id="{3A541AD8-B529-95A8-6521-10E3728350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68"/>
              <a:ext cx="5648" cy="555"/>
              <a:chOff x="48" y="768"/>
              <a:chExt cx="5648" cy="555"/>
            </a:xfrm>
          </p:grpSpPr>
          <p:sp>
            <p:nvSpPr>
              <p:cNvPr id="397328" name="Rectangle 16">
                <a:extLst>
                  <a:ext uri="{FF2B5EF4-FFF2-40B4-BE49-F238E27FC236}">
                    <a16:creationId xmlns:a16="http://schemas.microsoft.com/office/drawing/2014/main" id="{60D35C5A-F53A-5F7D-BB5D-769C0AB04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864"/>
                <a:ext cx="3312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>
                <a:lvl1pPr marL="342900" indent="-342900" algn="l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2800" b="1"/>
                  <a:t>产品市场均衡的条件：</a:t>
                </a:r>
                <a:r>
                  <a:rPr lang="en-US" altLang="zh-CN" sz="2800" b="1"/>
                  <a:t>IS</a:t>
                </a:r>
                <a:r>
                  <a:rPr lang="zh-CN" altLang="en-US" sz="2800" b="1"/>
                  <a:t>曲线</a:t>
                </a:r>
              </a:p>
            </p:txBody>
          </p:sp>
          <p:graphicFrame>
            <p:nvGraphicFramePr>
              <p:cNvPr id="397329" name="Object 17">
                <a:extLst>
                  <a:ext uri="{FF2B5EF4-FFF2-40B4-BE49-F238E27FC236}">
                    <a16:creationId xmlns:a16="http://schemas.microsoft.com/office/drawing/2014/main" id="{D3D1C77D-EB90-00A1-6250-F652C0DE64E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12" y="768"/>
              <a:ext cx="2384" cy="5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438280" imgH="444240" progId="Equation.DSMT4">
                      <p:embed/>
                    </p:oleObj>
                  </mc:Choice>
                  <mc:Fallback>
                    <p:oleObj name="Equation" r:id="rId4" imgW="2438280" imgH="444240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768"/>
                            <a:ext cx="2384" cy="5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97340" name="Object 28">
            <a:extLst>
              <a:ext uri="{FF2B5EF4-FFF2-40B4-BE49-F238E27FC236}">
                <a16:creationId xmlns:a16="http://schemas.microsoft.com/office/drawing/2014/main" id="{9016491A-8C39-50DA-8148-71EBDBCB6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200" y="4240213"/>
          <a:ext cx="2108200" cy="185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8640" imgH="939600" progId="Equation.DSMT4">
                  <p:embed/>
                </p:oleObj>
              </mc:Choice>
              <mc:Fallback>
                <p:oleObj name="Equation" r:id="rId6" imgW="1358640" imgH="9396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4240213"/>
                        <a:ext cx="2108200" cy="185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41" name="Object 29">
            <a:extLst>
              <a:ext uri="{FF2B5EF4-FFF2-40B4-BE49-F238E27FC236}">
                <a16:creationId xmlns:a16="http://schemas.microsoft.com/office/drawing/2014/main" id="{87114E80-F22D-4BE7-5F87-496F65B43C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2488" y="3930650"/>
          <a:ext cx="315595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3120" imgH="939600" progId="Equation.DSMT4">
                  <p:embed/>
                </p:oleObj>
              </mc:Choice>
              <mc:Fallback>
                <p:oleObj name="Equation" r:id="rId8" imgW="1473120" imgH="939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3930650"/>
                        <a:ext cx="315595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7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9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97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327E8B24-6245-DEA6-E86A-E5415349491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3.6</a:t>
            </a:r>
            <a:r>
              <a:rPr lang="zh-CN" altLang="en-US" sz="3600" b="1"/>
              <a:t>、</a:t>
            </a:r>
            <a:r>
              <a:rPr lang="zh-CN" altLang="en-US" sz="4000" b="1"/>
              <a:t>产品市场与货币市场均衡的性质</a:t>
            </a:r>
          </a:p>
        </p:txBody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F005ACB7-412F-C48F-EB0E-7294FB2B8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76600"/>
            <a:ext cx="3886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政府支出增加将会怎么样？</a:t>
            </a:r>
            <a:endParaRPr lang="zh-CN" altLang="en-US" sz="2000" b="1"/>
          </a:p>
        </p:txBody>
      </p:sp>
      <p:sp>
        <p:nvSpPr>
          <p:cNvPr id="398345" name="Rectangle 9">
            <a:extLst>
              <a:ext uri="{FF2B5EF4-FFF2-40B4-BE49-F238E27FC236}">
                <a16:creationId xmlns:a16="http://schemas.microsoft.com/office/drawing/2014/main" id="{F104F88F-55E2-3A18-9EE3-D6F5D668B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42672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我们主要考察三点：</a:t>
            </a:r>
          </a:p>
          <a:p>
            <a:pPr lvl="1"/>
            <a:r>
              <a:rPr lang="zh-CN" altLang="en-US" sz="2400" b="1"/>
              <a:t>财政政策乘数的变化</a:t>
            </a:r>
          </a:p>
          <a:p>
            <a:pPr lvl="1"/>
            <a:r>
              <a:rPr lang="zh-CN" altLang="en-US" sz="2400" b="1"/>
              <a:t>货币政策乘数</a:t>
            </a:r>
          </a:p>
          <a:p>
            <a:pPr lvl="1"/>
            <a:r>
              <a:rPr lang="zh-CN" altLang="en-US" sz="2400" b="1"/>
              <a:t>总需求曲线</a:t>
            </a:r>
          </a:p>
        </p:txBody>
      </p:sp>
      <p:graphicFrame>
        <p:nvGraphicFramePr>
          <p:cNvPr id="398348" name="Object 12">
            <a:extLst>
              <a:ext uri="{FF2B5EF4-FFF2-40B4-BE49-F238E27FC236}">
                <a16:creationId xmlns:a16="http://schemas.microsoft.com/office/drawing/2014/main" id="{E92CA9DA-8D05-656E-9162-AF2F2E7606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143000"/>
          <a:ext cx="315595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939600" progId="Equation.DSMT4">
                  <p:embed/>
                </p:oleObj>
              </mc:Choice>
              <mc:Fallback>
                <p:oleObj name="Equation" r:id="rId2" imgW="1473120" imgH="939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143000"/>
                        <a:ext cx="315595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8366" name="Group 30">
            <a:extLst>
              <a:ext uri="{FF2B5EF4-FFF2-40B4-BE49-F238E27FC236}">
                <a16:creationId xmlns:a16="http://schemas.microsoft.com/office/drawing/2014/main" id="{FBD79CBD-A5B7-07EB-6BB0-F4E7FAC2B674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632325"/>
            <a:ext cx="3048000" cy="2073275"/>
            <a:chOff x="1344" y="2918"/>
            <a:chExt cx="1920" cy="1306"/>
          </a:xfrm>
        </p:grpSpPr>
        <p:grpSp>
          <p:nvGrpSpPr>
            <p:cNvPr id="398349" name="Group 13">
              <a:extLst>
                <a:ext uri="{FF2B5EF4-FFF2-40B4-BE49-F238E27FC236}">
                  <a16:creationId xmlns:a16="http://schemas.microsoft.com/office/drawing/2014/main" id="{FB090EA5-1CFC-AF1F-DB35-37BD835BD0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18"/>
              <a:ext cx="1920" cy="1306"/>
              <a:chOff x="3456" y="816"/>
              <a:chExt cx="1920" cy="1306"/>
            </a:xfrm>
          </p:grpSpPr>
          <p:sp>
            <p:nvSpPr>
              <p:cNvPr id="398350" name="Line 14">
                <a:extLst>
                  <a:ext uri="{FF2B5EF4-FFF2-40B4-BE49-F238E27FC236}">
                    <a16:creationId xmlns:a16="http://schemas.microsoft.com/office/drawing/2014/main" id="{96DEAB5B-537F-C5C2-FFCC-6F55CEBB1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8351" name="Line 15">
                <a:extLst>
                  <a:ext uri="{FF2B5EF4-FFF2-40B4-BE49-F238E27FC236}">
                    <a16:creationId xmlns:a16="http://schemas.microsoft.com/office/drawing/2014/main" id="{ED3674E1-F10E-F967-9AC8-A043EB4698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8352" name="Text Box 16">
                <a:extLst>
                  <a:ext uri="{FF2B5EF4-FFF2-40B4-BE49-F238E27FC236}">
                    <a16:creationId xmlns:a16="http://schemas.microsoft.com/office/drawing/2014/main" id="{0CB1CA7A-51B4-B18C-9347-D1755DB70E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收入 </a:t>
                </a:r>
              </a:p>
            </p:txBody>
          </p:sp>
          <p:sp>
            <p:nvSpPr>
              <p:cNvPr id="398353" name="Text Box 17">
                <a:extLst>
                  <a:ext uri="{FF2B5EF4-FFF2-40B4-BE49-F238E27FC236}">
                    <a16:creationId xmlns:a16="http://schemas.microsoft.com/office/drawing/2014/main" id="{9171425E-1685-37FC-83AE-3D6BBD7C92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利率</a:t>
                </a:r>
              </a:p>
            </p:txBody>
          </p:sp>
        </p:grpSp>
        <p:grpSp>
          <p:nvGrpSpPr>
            <p:cNvPr id="398354" name="Group 18">
              <a:extLst>
                <a:ext uri="{FF2B5EF4-FFF2-40B4-BE49-F238E27FC236}">
                  <a16:creationId xmlns:a16="http://schemas.microsoft.com/office/drawing/2014/main" id="{A95A07A6-BD54-A4E5-F3DA-4BE6EC2DEE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2966"/>
              <a:ext cx="1172" cy="874"/>
              <a:chOff x="3600" y="3062"/>
              <a:chExt cx="1172" cy="874"/>
            </a:xfrm>
          </p:grpSpPr>
          <p:sp>
            <p:nvSpPr>
              <p:cNvPr id="398355" name="Line 19">
                <a:extLst>
                  <a:ext uri="{FF2B5EF4-FFF2-40B4-BE49-F238E27FC236}">
                    <a16:creationId xmlns:a16="http://schemas.microsoft.com/office/drawing/2014/main" id="{41AFD55A-B308-D050-BB29-87F41DF546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3237"/>
                <a:ext cx="864" cy="699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8356" name="Rectangle 20">
                <a:extLst>
                  <a:ext uri="{FF2B5EF4-FFF2-40B4-BE49-F238E27FC236}">
                    <a16:creationId xmlns:a16="http://schemas.microsoft.com/office/drawing/2014/main" id="{2B5AAC4F-897F-A0E4-0B6D-E6E43230B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" y="3062"/>
                <a:ext cx="32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LM</a:t>
                </a:r>
              </a:p>
            </p:txBody>
          </p:sp>
        </p:grpSp>
        <p:grpSp>
          <p:nvGrpSpPr>
            <p:cNvPr id="398357" name="Group 21">
              <a:extLst>
                <a:ext uri="{FF2B5EF4-FFF2-40B4-BE49-F238E27FC236}">
                  <a16:creationId xmlns:a16="http://schemas.microsoft.com/office/drawing/2014/main" id="{1D5E4B9C-BCFB-583D-90A7-FF966597F2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2" y="2918"/>
              <a:ext cx="972" cy="922"/>
              <a:chOff x="1812" y="2822"/>
              <a:chExt cx="972" cy="922"/>
            </a:xfrm>
          </p:grpSpPr>
          <p:sp>
            <p:nvSpPr>
              <p:cNvPr id="398358" name="Line 22">
                <a:extLst>
                  <a:ext uri="{FF2B5EF4-FFF2-40B4-BE49-F238E27FC236}">
                    <a16:creationId xmlns:a16="http://schemas.microsoft.com/office/drawing/2014/main" id="{EF6181F0-8146-7C6C-4FE3-021C70A19D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03" y="3007"/>
                <a:ext cx="781" cy="73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8359" name="Rectangle 23">
                <a:extLst>
                  <a:ext uri="{FF2B5EF4-FFF2-40B4-BE49-F238E27FC236}">
                    <a16:creationId xmlns:a16="http://schemas.microsoft.com/office/drawing/2014/main" id="{804CC890-9A2A-7D2B-1E6F-F96FE1BA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812" y="2822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IS</a:t>
                </a:r>
              </a:p>
            </p:txBody>
          </p:sp>
        </p:grpSp>
        <p:grpSp>
          <p:nvGrpSpPr>
            <p:cNvPr id="398360" name="Group 24">
              <a:extLst>
                <a:ext uri="{FF2B5EF4-FFF2-40B4-BE49-F238E27FC236}">
                  <a16:creationId xmlns:a16="http://schemas.microsoft.com/office/drawing/2014/main" id="{AAA2BAA3-B778-2A61-F603-554BC2BE85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3408"/>
              <a:ext cx="1040" cy="768"/>
              <a:chOff x="1392" y="3312"/>
              <a:chExt cx="1040" cy="768"/>
            </a:xfrm>
          </p:grpSpPr>
          <p:grpSp>
            <p:nvGrpSpPr>
              <p:cNvPr id="398361" name="Group 25">
                <a:extLst>
                  <a:ext uri="{FF2B5EF4-FFF2-40B4-BE49-F238E27FC236}">
                    <a16:creationId xmlns:a16="http://schemas.microsoft.com/office/drawing/2014/main" id="{AC450DC4-20BF-B66C-9418-2072E2E1E7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3360"/>
                <a:ext cx="816" cy="576"/>
                <a:chOff x="1536" y="3360"/>
                <a:chExt cx="816" cy="576"/>
              </a:xfrm>
            </p:grpSpPr>
            <p:sp>
              <p:nvSpPr>
                <p:cNvPr id="398362" name="Line 26">
                  <a:extLst>
                    <a:ext uri="{FF2B5EF4-FFF2-40B4-BE49-F238E27FC236}">
                      <a16:creationId xmlns:a16="http://schemas.microsoft.com/office/drawing/2014/main" id="{8B180B4F-9018-D8A6-CE8F-A26694F091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2" y="3360"/>
                  <a:ext cx="0" cy="576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8363" name="Line 27">
                  <a:extLst>
                    <a:ext uri="{FF2B5EF4-FFF2-40B4-BE49-F238E27FC236}">
                      <a16:creationId xmlns:a16="http://schemas.microsoft.com/office/drawing/2014/main" id="{1E055FC1-3ABE-603B-609A-EF2B7DC560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36" y="3360"/>
                  <a:ext cx="816" cy="0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398364" name="Object 28">
                <a:extLst>
                  <a:ext uri="{FF2B5EF4-FFF2-40B4-BE49-F238E27FC236}">
                    <a16:creationId xmlns:a16="http://schemas.microsoft.com/office/drawing/2014/main" id="{3A6E05BB-44BB-8D8D-0E08-8323951FC9E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92" y="3312"/>
              <a:ext cx="112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77480" imgH="177480" progId="Equation.DSMT4">
                      <p:embed/>
                    </p:oleObj>
                  </mc:Choice>
                  <mc:Fallback>
                    <p:oleObj name="Equation" r:id="rId4" imgW="177480" imgH="177480" progId="Equation.DSMT4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3312"/>
                            <a:ext cx="112" cy="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8365" name="Object 29">
                <a:extLst>
                  <a:ext uri="{FF2B5EF4-FFF2-40B4-BE49-F238E27FC236}">
                    <a16:creationId xmlns:a16="http://schemas.microsoft.com/office/drawing/2014/main" id="{71096B82-E71C-AF8C-2D4D-27249D484E5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88" y="3976"/>
              <a:ext cx="144" cy="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28600" imgH="164880" progId="Equation.DSMT4">
                      <p:embed/>
                    </p:oleObj>
                  </mc:Choice>
                  <mc:Fallback>
                    <p:oleObj name="Equation" r:id="rId6" imgW="228600" imgH="164880" progId="Equation.DSMT4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8" y="3976"/>
                            <a:ext cx="144" cy="1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98393" name="Group 57">
            <a:extLst>
              <a:ext uri="{FF2B5EF4-FFF2-40B4-BE49-F238E27FC236}">
                <a16:creationId xmlns:a16="http://schemas.microsoft.com/office/drawing/2014/main" id="{BB718AB4-4C42-DEAB-CB59-BBF3C2C24B70}"/>
              </a:ext>
            </a:extLst>
          </p:cNvPr>
          <p:cNvGrpSpPr>
            <a:grpSpLocks/>
          </p:cNvGrpSpPr>
          <p:nvPr/>
        </p:nvGrpSpPr>
        <p:grpSpPr bwMode="auto">
          <a:xfrm>
            <a:off x="2190750" y="4419600"/>
            <a:ext cx="1238250" cy="1371600"/>
            <a:chOff x="1380" y="2784"/>
            <a:chExt cx="780" cy="864"/>
          </a:xfrm>
        </p:grpSpPr>
        <p:sp>
          <p:nvSpPr>
            <p:cNvPr id="398368" name="Line 32">
              <a:extLst>
                <a:ext uri="{FF2B5EF4-FFF2-40B4-BE49-F238E27FC236}">
                  <a16:creationId xmlns:a16="http://schemas.microsoft.com/office/drawing/2014/main" id="{D885D372-0F4E-002D-9CF8-1C7E8E83F5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02" y="2968"/>
              <a:ext cx="658" cy="68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8369" name="Rectangle 33">
              <a:extLst>
                <a:ext uri="{FF2B5EF4-FFF2-40B4-BE49-F238E27FC236}">
                  <a16:creationId xmlns:a16="http://schemas.microsoft.com/office/drawing/2014/main" id="{8F0B1644-7A6D-D152-83B8-C2BC99AB382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80" y="2784"/>
              <a:ext cx="2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FF00"/>
                  </a:solidFill>
                </a:rPr>
                <a:t>IS</a:t>
              </a:r>
            </a:p>
          </p:txBody>
        </p:sp>
      </p:grpSp>
      <p:grpSp>
        <p:nvGrpSpPr>
          <p:cNvPr id="398390" name="Group 54">
            <a:extLst>
              <a:ext uri="{FF2B5EF4-FFF2-40B4-BE49-F238E27FC236}">
                <a16:creationId xmlns:a16="http://schemas.microsoft.com/office/drawing/2014/main" id="{4EA85DBD-7170-B5A2-319F-840D7B101C2B}"/>
              </a:ext>
            </a:extLst>
          </p:cNvPr>
          <p:cNvGrpSpPr>
            <a:grpSpLocks/>
          </p:cNvGrpSpPr>
          <p:nvPr/>
        </p:nvGrpSpPr>
        <p:grpSpPr bwMode="auto">
          <a:xfrm>
            <a:off x="1020763" y="5105400"/>
            <a:ext cx="2027237" cy="1524000"/>
            <a:chOff x="643" y="3600"/>
            <a:chExt cx="1277" cy="576"/>
          </a:xfrm>
        </p:grpSpPr>
        <p:grpSp>
          <p:nvGrpSpPr>
            <p:cNvPr id="398372" name="Group 36">
              <a:extLst>
                <a:ext uri="{FF2B5EF4-FFF2-40B4-BE49-F238E27FC236}">
                  <a16:creationId xmlns:a16="http://schemas.microsoft.com/office/drawing/2014/main" id="{ECDEAFA1-D8AE-A023-54E4-FC1C0AF534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7" y="3636"/>
              <a:ext cx="979" cy="432"/>
              <a:chOff x="1536" y="3360"/>
              <a:chExt cx="816" cy="576"/>
            </a:xfrm>
          </p:grpSpPr>
          <p:sp>
            <p:nvSpPr>
              <p:cNvPr id="398373" name="Line 37">
                <a:extLst>
                  <a:ext uri="{FF2B5EF4-FFF2-40B4-BE49-F238E27FC236}">
                    <a16:creationId xmlns:a16="http://schemas.microsoft.com/office/drawing/2014/main" id="{148AE2BA-38DD-46C5-ED6C-41903F8F50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360"/>
                <a:ext cx="0" cy="576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8374" name="Line 38">
                <a:extLst>
                  <a:ext uri="{FF2B5EF4-FFF2-40B4-BE49-F238E27FC236}">
                    <a16:creationId xmlns:a16="http://schemas.microsoft.com/office/drawing/2014/main" id="{DCFE031C-9DB5-F5F7-1F4F-357A461E4D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3360"/>
                <a:ext cx="816" cy="0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398375" name="Object 39">
              <a:extLst>
                <a:ext uri="{FF2B5EF4-FFF2-40B4-BE49-F238E27FC236}">
                  <a16:creationId xmlns:a16="http://schemas.microsoft.com/office/drawing/2014/main" id="{19B8015A-7831-95AB-2493-E94C96BB68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3" y="3600"/>
            <a:ext cx="95" cy="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77480" progId="Equation.DSMT4">
                    <p:embed/>
                  </p:oleObj>
                </mc:Choice>
                <mc:Fallback>
                  <p:oleObj name="Equation" r:id="rId8" imgW="126720" imgH="17748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3" y="3600"/>
                          <a:ext cx="95" cy="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8376" name="Object 40">
              <a:extLst>
                <a:ext uri="{FF2B5EF4-FFF2-40B4-BE49-F238E27FC236}">
                  <a16:creationId xmlns:a16="http://schemas.microsoft.com/office/drawing/2014/main" id="{8A6B2F25-F751-5517-5487-7BE0FE6B8D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8" y="4060"/>
            <a:ext cx="202" cy="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164880" progId="Equation.DSMT4">
                    <p:embed/>
                  </p:oleObj>
                </mc:Choice>
                <mc:Fallback>
                  <p:oleObj name="Equation" r:id="rId10" imgW="177480" imgH="16488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8" y="4060"/>
                          <a:ext cx="202" cy="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8383" name="Rectangle 47">
            <a:extLst>
              <a:ext uri="{FF2B5EF4-FFF2-40B4-BE49-F238E27FC236}">
                <a16:creationId xmlns:a16="http://schemas.microsoft.com/office/drawing/2014/main" id="{CBEE93E7-096A-1CBB-67F2-E651A971E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657600"/>
            <a:ext cx="4191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财政政策乘数变小了？</a:t>
            </a:r>
          </a:p>
        </p:txBody>
      </p:sp>
      <p:sp>
        <p:nvSpPr>
          <p:cNvPr id="398394" name="AutoShape 58">
            <a:extLst>
              <a:ext uri="{FF2B5EF4-FFF2-40B4-BE49-F238E27FC236}">
                <a16:creationId xmlns:a16="http://schemas.microsoft.com/office/drawing/2014/main" id="{64E78776-8D76-B72F-BAF3-E6FC8B9C3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800600"/>
            <a:ext cx="2667000" cy="1371600"/>
          </a:xfrm>
          <a:prstGeom prst="cloudCallout">
            <a:avLst>
              <a:gd name="adj1" fmla="val -95894"/>
              <a:gd name="adj2" fmla="val 53356"/>
            </a:avLst>
          </a:prstGeom>
          <a:solidFill>
            <a:schemeClr val="accent1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r>
              <a:rPr lang="zh-CN" altLang="en-US" sz="1600" b="1"/>
              <a:t>嗯，均衡产出水平增加这么多。引入货币前，均衡产出是增加多少？</a:t>
            </a:r>
          </a:p>
        </p:txBody>
      </p:sp>
      <p:sp>
        <p:nvSpPr>
          <p:cNvPr id="398395" name="Line 59">
            <a:extLst>
              <a:ext uri="{FF2B5EF4-FFF2-40B4-BE49-F238E27FC236}">
                <a16:creationId xmlns:a16="http://schemas.microsoft.com/office/drawing/2014/main" id="{88E942D6-41CB-E321-2935-CAFDF05513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6248400"/>
            <a:ext cx="304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8397" name="Line 61">
            <a:extLst>
              <a:ext uri="{FF2B5EF4-FFF2-40B4-BE49-F238E27FC236}">
                <a16:creationId xmlns:a16="http://schemas.microsoft.com/office/drawing/2014/main" id="{A90D2D4D-CF59-7FD5-9A5C-863B134330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5486400"/>
            <a:ext cx="685800" cy="0"/>
          </a:xfrm>
          <a:prstGeom prst="line">
            <a:avLst/>
          </a:prstGeom>
          <a:noFill/>
          <a:ln w="57150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98400" name="Group 64">
            <a:extLst>
              <a:ext uri="{FF2B5EF4-FFF2-40B4-BE49-F238E27FC236}">
                <a16:creationId xmlns:a16="http://schemas.microsoft.com/office/drawing/2014/main" id="{8C35BE0F-A943-0016-4164-49CFEB3D30E6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138488"/>
            <a:ext cx="2438400" cy="366712"/>
            <a:chOff x="3792" y="1977"/>
            <a:chExt cx="1536" cy="231"/>
          </a:xfrm>
        </p:grpSpPr>
        <p:sp>
          <p:nvSpPr>
            <p:cNvPr id="398398" name="Line 62">
              <a:extLst>
                <a:ext uri="{FF2B5EF4-FFF2-40B4-BE49-F238E27FC236}">
                  <a16:creationId xmlns:a16="http://schemas.microsoft.com/office/drawing/2014/main" id="{BF8B6889-4601-46A9-3082-D80FA1762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112"/>
              <a:ext cx="96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8399" name="Text Box 63">
              <a:extLst>
                <a:ext uri="{FF2B5EF4-FFF2-40B4-BE49-F238E27FC236}">
                  <a16:creationId xmlns:a16="http://schemas.microsoft.com/office/drawing/2014/main" id="{06C99F5B-7DCA-2473-155A-E10121388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977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</a:rPr>
                <a:t>新乘数</a:t>
              </a:r>
            </a:p>
          </p:txBody>
        </p:sp>
      </p:grpSp>
      <p:sp>
        <p:nvSpPr>
          <p:cNvPr id="398401" name="Rectangle 65">
            <a:extLst>
              <a:ext uri="{FF2B5EF4-FFF2-40B4-BE49-F238E27FC236}">
                <a16:creationId xmlns:a16="http://schemas.microsoft.com/office/drawing/2014/main" id="{439A4A2E-5FBF-75D8-C0A3-C86CDD1F1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191000"/>
            <a:ext cx="4191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 b="1"/>
              <a:t>为什么会变小？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8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8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9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398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398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398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0" fill="hold"/>
                                        <p:tgtEl>
                                          <p:spTgt spid="398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39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3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9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398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9" grpId="0" autoUpdateAnimBg="0"/>
      <p:bldP spid="398383" grpId="0" autoUpdateAnimBg="0"/>
      <p:bldP spid="398394" grpId="0" animBg="1" autoUpdateAnimBg="0"/>
      <p:bldP spid="39840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>
            <a:extLst>
              <a:ext uri="{FF2B5EF4-FFF2-40B4-BE49-F238E27FC236}">
                <a16:creationId xmlns:a16="http://schemas.microsoft.com/office/drawing/2014/main" id="{0469A9DE-354C-404E-2B01-7D465414D64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2.3 </a:t>
            </a:r>
            <a:r>
              <a:rPr lang="zh-CN" altLang="en-US" b="1">
                <a:solidFill>
                  <a:srgbClr val="CC0000"/>
                </a:solidFill>
              </a:rPr>
              <a:t>挤出效应：练习</a:t>
            </a:r>
          </a:p>
        </p:txBody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4C6CF42C-C932-B568-D4C9-9659988C1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4484" name="Rectangle 4">
            <a:extLst>
              <a:ext uri="{FF2B5EF4-FFF2-40B4-BE49-F238E27FC236}">
                <a16:creationId xmlns:a16="http://schemas.microsoft.com/office/drawing/2014/main" id="{D2905D47-6003-36CF-B4AA-218750806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95400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假定一个经济体由以下等式所刻画</a:t>
            </a:r>
            <a:endParaRPr lang="zh-CN" altLang="en-US" sz="2800" b="1">
              <a:sym typeface="Symbol" panose="05050102010706020507" pitchFamily="18" charset="2"/>
            </a:endParaRPr>
          </a:p>
        </p:txBody>
      </p:sp>
      <p:sp>
        <p:nvSpPr>
          <p:cNvPr id="404485" name="Rectangle 5">
            <a:extLst>
              <a:ext uri="{FF2B5EF4-FFF2-40B4-BE49-F238E27FC236}">
                <a16:creationId xmlns:a16="http://schemas.microsoft.com/office/drawing/2014/main" id="{F799F2BB-EEFE-04F2-688C-369C55A54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05200"/>
            <a:ext cx="2819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800" b="1"/>
          </a:p>
        </p:txBody>
      </p:sp>
      <p:sp>
        <p:nvSpPr>
          <p:cNvPr id="404486" name="Rectangle 6">
            <a:extLst>
              <a:ext uri="{FF2B5EF4-FFF2-40B4-BE49-F238E27FC236}">
                <a16:creationId xmlns:a16="http://schemas.microsoft.com/office/drawing/2014/main" id="{685C2063-CA5D-AF67-8A94-1D107ED8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10200"/>
            <a:ext cx="6248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如果政府支出增加到</a:t>
            </a:r>
            <a:r>
              <a:rPr lang="en-US" altLang="zh-CN" sz="2800" b="1"/>
              <a:t>200</a:t>
            </a:r>
            <a:r>
              <a:rPr lang="zh-CN" altLang="en-US" sz="2800" b="1"/>
              <a:t>，</a:t>
            </a:r>
          </a:p>
          <a:p>
            <a:pPr lvl="1"/>
            <a:r>
              <a:rPr lang="zh-CN" altLang="en-US" sz="2400" b="1"/>
              <a:t>挤出效应是多少</a:t>
            </a:r>
            <a:endParaRPr lang="zh-CN" altLang="en-US" sz="2400" b="1">
              <a:sym typeface="Symbol" panose="05050102010706020507" pitchFamily="18" charset="2"/>
            </a:endParaRPr>
          </a:p>
        </p:txBody>
      </p:sp>
      <p:grpSp>
        <p:nvGrpSpPr>
          <p:cNvPr id="404487" name="Group 7">
            <a:extLst>
              <a:ext uri="{FF2B5EF4-FFF2-40B4-BE49-F238E27FC236}">
                <a16:creationId xmlns:a16="http://schemas.microsoft.com/office/drawing/2014/main" id="{6C2F2767-7801-BB50-0963-2279ED0072BE}"/>
              </a:ext>
            </a:extLst>
          </p:cNvPr>
          <p:cNvGrpSpPr>
            <a:grpSpLocks/>
          </p:cNvGrpSpPr>
          <p:nvPr/>
        </p:nvGrpSpPr>
        <p:grpSpPr bwMode="auto">
          <a:xfrm>
            <a:off x="819150" y="2117725"/>
            <a:ext cx="3676650" cy="3140075"/>
            <a:chOff x="805" y="1191"/>
            <a:chExt cx="1739" cy="1305"/>
          </a:xfrm>
        </p:grpSpPr>
        <p:graphicFrame>
          <p:nvGraphicFramePr>
            <p:cNvPr id="404488" name="Object 8">
              <a:extLst>
                <a:ext uri="{FF2B5EF4-FFF2-40B4-BE49-F238E27FC236}">
                  <a16:creationId xmlns:a16="http://schemas.microsoft.com/office/drawing/2014/main" id="{1E7DAA06-904F-8E38-4C6A-946A74CCB8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7" y="1191"/>
            <a:ext cx="1457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79280" imgH="190440" progId="Equation.DSMT4">
                    <p:embed/>
                  </p:oleObj>
                </mc:Choice>
                <mc:Fallback>
                  <p:oleObj name="Equation" r:id="rId2" imgW="1079280" imgH="19044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" y="1191"/>
                          <a:ext cx="1457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4489" name="Object 9">
              <a:extLst>
                <a:ext uri="{FF2B5EF4-FFF2-40B4-BE49-F238E27FC236}">
                  <a16:creationId xmlns:a16="http://schemas.microsoft.com/office/drawing/2014/main" id="{B8228931-4A13-2492-CA65-7DB461E711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1502"/>
            <a:ext cx="88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98400" imgH="152280" progId="Equation.DSMT4">
                    <p:embed/>
                  </p:oleObj>
                </mc:Choice>
                <mc:Fallback>
                  <p:oleObj name="Equation" r:id="rId4" imgW="698400" imgH="15228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502"/>
                          <a:ext cx="88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4490" name="Object 10">
              <a:extLst>
                <a:ext uri="{FF2B5EF4-FFF2-40B4-BE49-F238E27FC236}">
                  <a16:creationId xmlns:a16="http://schemas.microsoft.com/office/drawing/2014/main" id="{8BE3E382-474F-5CBF-7BCF-5319353CED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5" y="2241"/>
            <a:ext cx="173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55600" imgH="203040" progId="Equation.DSMT4">
                    <p:embed/>
                  </p:oleObj>
                </mc:Choice>
                <mc:Fallback>
                  <p:oleObj name="Equation" r:id="rId6" imgW="1155600" imgH="2030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5" y="2241"/>
                          <a:ext cx="1739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4491" name="Object 11">
              <a:extLst>
                <a:ext uri="{FF2B5EF4-FFF2-40B4-BE49-F238E27FC236}">
                  <a16:creationId xmlns:a16="http://schemas.microsoft.com/office/drawing/2014/main" id="{6C503ABB-BE7C-EADB-018A-59281F7571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8" y="1985"/>
            <a:ext cx="1208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01440" imgH="177480" progId="Equation.DSMT4">
                    <p:embed/>
                  </p:oleObj>
                </mc:Choice>
                <mc:Fallback>
                  <p:oleObj name="Equation" r:id="rId8" imgW="901440" imgH="17748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8" y="1985"/>
                          <a:ext cx="1208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4492" name="Object 12">
              <a:extLst>
                <a:ext uri="{FF2B5EF4-FFF2-40B4-BE49-F238E27FC236}">
                  <a16:creationId xmlns:a16="http://schemas.microsoft.com/office/drawing/2014/main" id="{CDD5E6E6-38B4-DBDB-0847-695B35DC7C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25" y="1761"/>
            <a:ext cx="119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88840" imgH="164880" progId="Equation.DSMT4">
                    <p:embed/>
                  </p:oleObj>
                </mc:Choice>
                <mc:Fallback>
                  <p:oleObj name="Equation" r:id="rId10" imgW="888840" imgH="1648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5" y="1761"/>
                          <a:ext cx="1190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2" grpId="0" autoUpdateAnimBg="0"/>
      <p:bldP spid="404484" grpId="0" autoUpdateAnimBg="0"/>
      <p:bldP spid="404485" grpId="0" autoUpdateAnimBg="0"/>
      <p:bldP spid="404486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F8887BBE-252D-68F5-5B48-A5C740C63D5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3.6</a:t>
            </a:r>
            <a:r>
              <a:rPr lang="zh-CN" altLang="en-US" sz="3600" b="1"/>
              <a:t>、</a:t>
            </a:r>
            <a:r>
              <a:rPr lang="zh-CN" altLang="en-US" sz="4000" b="1"/>
              <a:t>产品市场与货币市场均衡的性质</a:t>
            </a:r>
          </a:p>
        </p:txBody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id="{1EE86CEB-BF6E-ED44-37EA-C15173473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76600"/>
            <a:ext cx="3886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增加货币供给，将会怎样？</a:t>
            </a:r>
            <a:endParaRPr lang="zh-CN" altLang="en-US" sz="2000" b="1"/>
          </a:p>
        </p:txBody>
      </p:sp>
      <p:sp>
        <p:nvSpPr>
          <p:cNvPr id="403460" name="Rectangle 4">
            <a:extLst>
              <a:ext uri="{FF2B5EF4-FFF2-40B4-BE49-F238E27FC236}">
                <a16:creationId xmlns:a16="http://schemas.microsoft.com/office/drawing/2014/main" id="{810BB19F-9085-698D-FE10-EC294B13D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42672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我们主要考察三点：</a:t>
            </a:r>
          </a:p>
          <a:p>
            <a:pPr lvl="1"/>
            <a:r>
              <a:rPr lang="zh-CN" altLang="en-US" sz="2400" b="1"/>
              <a:t>财政政策乘数的变化</a:t>
            </a:r>
          </a:p>
          <a:p>
            <a:pPr lvl="1"/>
            <a:r>
              <a:rPr lang="zh-CN" altLang="en-US" sz="2400" b="1"/>
              <a:t>货币政策乘数</a:t>
            </a:r>
          </a:p>
          <a:p>
            <a:pPr lvl="1"/>
            <a:r>
              <a:rPr lang="zh-CN" altLang="en-US" sz="2400" b="1"/>
              <a:t>总需求曲线</a:t>
            </a:r>
          </a:p>
        </p:txBody>
      </p:sp>
      <p:graphicFrame>
        <p:nvGraphicFramePr>
          <p:cNvPr id="403461" name="Object 5">
            <a:extLst>
              <a:ext uri="{FF2B5EF4-FFF2-40B4-BE49-F238E27FC236}">
                <a16:creationId xmlns:a16="http://schemas.microsoft.com/office/drawing/2014/main" id="{6B43D597-88C2-A490-FBF4-BBB3DB6ABF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143000"/>
          <a:ext cx="315595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939600" progId="Equation.DSMT4">
                  <p:embed/>
                </p:oleObj>
              </mc:Choice>
              <mc:Fallback>
                <p:oleObj name="Equation" r:id="rId2" imgW="1473120" imgH="939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143000"/>
                        <a:ext cx="315595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3462" name="Group 6">
            <a:extLst>
              <a:ext uri="{FF2B5EF4-FFF2-40B4-BE49-F238E27FC236}">
                <a16:creationId xmlns:a16="http://schemas.microsoft.com/office/drawing/2014/main" id="{CAAF2F19-CADC-194D-468F-44AAF0BE3858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632325"/>
            <a:ext cx="3048000" cy="2073275"/>
            <a:chOff x="1344" y="2918"/>
            <a:chExt cx="1920" cy="1306"/>
          </a:xfrm>
        </p:grpSpPr>
        <p:grpSp>
          <p:nvGrpSpPr>
            <p:cNvPr id="403463" name="Group 7">
              <a:extLst>
                <a:ext uri="{FF2B5EF4-FFF2-40B4-BE49-F238E27FC236}">
                  <a16:creationId xmlns:a16="http://schemas.microsoft.com/office/drawing/2014/main" id="{B278212E-8644-888C-DC41-8F23463B5F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18"/>
              <a:ext cx="1920" cy="1306"/>
              <a:chOff x="3456" y="816"/>
              <a:chExt cx="1920" cy="1306"/>
            </a:xfrm>
          </p:grpSpPr>
          <p:sp>
            <p:nvSpPr>
              <p:cNvPr id="403464" name="Line 8">
                <a:extLst>
                  <a:ext uri="{FF2B5EF4-FFF2-40B4-BE49-F238E27FC236}">
                    <a16:creationId xmlns:a16="http://schemas.microsoft.com/office/drawing/2014/main" id="{4D8931F9-A235-9A39-E0C8-03F3A0C06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3465" name="Line 9">
                <a:extLst>
                  <a:ext uri="{FF2B5EF4-FFF2-40B4-BE49-F238E27FC236}">
                    <a16:creationId xmlns:a16="http://schemas.microsoft.com/office/drawing/2014/main" id="{841E5654-1BA4-EB9A-B348-9840B4E9E6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3466" name="Text Box 10">
                <a:extLst>
                  <a:ext uri="{FF2B5EF4-FFF2-40B4-BE49-F238E27FC236}">
                    <a16:creationId xmlns:a16="http://schemas.microsoft.com/office/drawing/2014/main" id="{804862F5-0394-ACAD-46E5-45DC5CB645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收入 </a:t>
                </a:r>
              </a:p>
            </p:txBody>
          </p:sp>
          <p:sp>
            <p:nvSpPr>
              <p:cNvPr id="403467" name="Text Box 11">
                <a:extLst>
                  <a:ext uri="{FF2B5EF4-FFF2-40B4-BE49-F238E27FC236}">
                    <a16:creationId xmlns:a16="http://schemas.microsoft.com/office/drawing/2014/main" id="{8D9136CF-9552-D76D-D797-ED5DACBA2E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利率</a:t>
                </a:r>
              </a:p>
            </p:txBody>
          </p:sp>
        </p:grpSp>
        <p:grpSp>
          <p:nvGrpSpPr>
            <p:cNvPr id="403468" name="Group 12">
              <a:extLst>
                <a:ext uri="{FF2B5EF4-FFF2-40B4-BE49-F238E27FC236}">
                  <a16:creationId xmlns:a16="http://schemas.microsoft.com/office/drawing/2014/main" id="{25AD160A-1B52-D0B7-AD7E-C3204BCB1B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2966"/>
              <a:ext cx="1172" cy="874"/>
              <a:chOff x="3600" y="3062"/>
              <a:chExt cx="1172" cy="874"/>
            </a:xfrm>
          </p:grpSpPr>
          <p:sp>
            <p:nvSpPr>
              <p:cNvPr id="403469" name="Line 13">
                <a:extLst>
                  <a:ext uri="{FF2B5EF4-FFF2-40B4-BE49-F238E27FC236}">
                    <a16:creationId xmlns:a16="http://schemas.microsoft.com/office/drawing/2014/main" id="{95BF6A4F-2279-EAB4-B948-020AD7E6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3237"/>
                <a:ext cx="864" cy="699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3470" name="Rectangle 14">
                <a:extLst>
                  <a:ext uri="{FF2B5EF4-FFF2-40B4-BE49-F238E27FC236}">
                    <a16:creationId xmlns:a16="http://schemas.microsoft.com/office/drawing/2014/main" id="{A44A40B2-CC3C-C85A-319F-F22A9607FA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" y="3062"/>
                <a:ext cx="32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LM</a:t>
                </a:r>
              </a:p>
            </p:txBody>
          </p:sp>
        </p:grpSp>
        <p:grpSp>
          <p:nvGrpSpPr>
            <p:cNvPr id="403471" name="Group 15">
              <a:extLst>
                <a:ext uri="{FF2B5EF4-FFF2-40B4-BE49-F238E27FC236}">
                  <a16:creationId xmlns:a16="http://schemas.microsoft.com/office/drawing/2014/main" id="{1CF45650-15AE-01E3-137A-7FEC7B0F8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2" y="2918"/>
              <a:ext cx="972" cy="922"/>
              <a:chOff x="1812" y="2822"/>
              <a:chExt cx="972" cy="922"/>
            </a:xfrm>
          </p:grpSpPr>
          <p:sp>
            <p:nvSpPr>
              <p:cNvPr id="403472" name="Line 16">
                <a:extLst>
                  <a:ext uri="{FF2B5EF4-FFF2-40B4-BE49-F238E27FC236}">
                    <a16:creationId xmlns:a16="http://schemas.microsoft.com/office/drawing/2014/main" id="{1226BBB0-B63C-AF26-6EFC-82170E41EA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03" y="3007"/>
                <a:ext cx="781" cy="73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3473" name="Rectangle 17">
                <a:extLst>
                  <a:ext uri="{FF2B5EF4-FFF2-40B4-BE49-F238E27FC236}">
                    <a16:creationId xmlns:a16="http://schemas.microsoft.com/office/drawing/2014/main" id="{9D20C819-53B2-72F6-7773-27766081E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812" y="2822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IS</a:t>
                </a:r>
              </a:p>
            </p:txBody>
          </p:sp>
        </p:grpSp>
        <p:grpSp>
          <p:nvGrpSpPr>
            <p:cNvPr id="403474" name="Group 18">
              <a:extLst>
                <a:ext uri="{FF2B5EF4-FFF2-40B4-BE49-F238E27FC236}">
                  <a16:creationId xmlns:a16="http://schemas.microsoft.com/office/drawing/2014/main" id="{CA18B2F9-0978-6D18-E272-809586946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3408"/>
              <a:ext cx="1040" cy="768"/>
              <a:chOff x="1392" y="3312"/>
              <a:chExt cx="1040" cy="768"/>
            </a:xfrm>
          </p:grpSpPr>
          <p:grpSp>
            <p:nvGrpSpPr>
              <p:cNvPr id="403475" name="Group 19">
                <a:extLst>
                  <a:ext uri="{FF2B5EF4-FFF2-40B4-BE49-F238E27FC236}">
                    <a16:creationId xmlns:a16="http://schemas.microsoft.com/office/drawing/2014/main" id="{D49DC85B-70C3-127B-9C3A-175F35E1E9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3360"/>
                <a:ext cx="816" cy="576"/>
                <a:chOff x="1536" y="3360"/>
                <a:chExt cx="816" cy="576"/>
              </a:xfrm>
            </p:grpSpPr>
            <p:sp>
              <p:nvSpPr>
                <p:cNvPr id="403476" name="Line 20">
                  <a:extLst>
                    <a:ext uri="{FF2B5EF4-FFF2-40B4-BE49-F238E27FC236}">
                      <a16:creationId xmlns:a16="http://schemas.microsoft.com/office/drawing/2014/main" id="{8B2747FC-A14C-C234-7929-8A26DA76D7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2" y="3360"/>
                  <a:ext cx="0" cy="576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3477" name="Line 21">
                  <a:extLst>
                    <a:ext uri="{FF2B5EF4-FFF2-40B4-BE49-F238E27FC236}">
                      <a16:creationId xmlns:a16="http://schemas.microsoft.com/office/drawing/2014/main" id="{54307E62-1AB3-6A9A-6666-25712893D8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36" y="3360"/>
                  <a:ext cx="816" cy="0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403478" name="Object 22">
                <a:extLst>
                  <a:ext uri="{FF2B5EF4-FFF2-40B4-BE49-F238E27FC236}">
                    <a16:creationId xmlns:a16="http://schemas.microsoft.com/office/drawing/2014/main" id="{E324491A-911C-9D0C-F39A-1DD7045C0C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92" y="3312"/>
              <a:ext cx="112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77480" imgH="177480" progId="Equation.DSMT4">
                      <p:embed/>
                    </p:oleObj>
                  </mc:Choice>
                  <mc:Fallback>
                    <p:oleObj name="Equation" r:id="rId4" imgW="177480" imgH="177480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3312"/>
                            <a:ext cx="112" cy="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3479" name="Object 23">
                <a:extLst>
                  <a:ext uri="{FF2B5EF4-FFF2-40B4-BE49-F238E27FC236}">
                    <a16:creationId xmlns:a16="http://schemas.microsoft.com/office/drawing/2014/main" id="{90B64FD2-D292-5B4F-75AE-178C668DE79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88" y="3976"/>
              <a:ext cx="144" cy="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28600" imgH="164880" progId="Equation.DSMT4">
                      <p:embed/>
                    </p:oleObj>
                  </mc:Choice>
                  <mc:Fallback>
                    <p:oleObj name="Equation" r:id="rId6" imgW="228600" imgH="164880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8" y="3976"/>
                            <a:ext cx="144" cy="1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03480" name="Group 24">
            <a:extLst>
              <a:ext uri="{FF2B5EF4-FFF2-40B4-BE49-F238E27FC236}">
                <a16:creationId xmlns:a16="http://schemas.microsoft.com/office/drawing/2014/main" id="{4D539FD4-0DCD-37C3-F465-95158E5DD098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029200"/>
            <a:ext cx="1746250" cy="1281113"/>
            <a:chOff x="1339" y="3225"/>
            <a:chExt cx="1153" cy="759"/>
          </a:xfrm>
        </p:grpSpPr>
        <p:sp>
          <p:nvSpPr>
            <p:cNvPr id="403481" name="Line 25">
              <a:extLst>
                <a:ext uri="{FF2B5EF4-FFF2-40B4-BE49-F238E27FC236}">
                  <a16:creationId xmlns:a16="http://schemas.microsoft.com/office/drawing/2014/main" id="{31BA170B-8685-6FCA-B179-1D213FC387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9" y="3312"/>
              <a:ext cx="869" cy="67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3482" name="Rectangle 26">
              <a:extLst>
                <a:ext uri="{FF2B5EF4-FFF2-40B4-BE49-F238E27FC236}">
                  <a16:creationId xmlns:a16="http://schemas.microsoft.com/office/drawing/2014/main" id="{F493D6AF-CAA2-B37F-F66B-20BFE519B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3" y="3225"/>
              <a:ext cx="339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FF00"/>
                  </a:solidFill>
                </a:rPr>
                <a:t>LM</a:t>
              </a:r>
            </a:p>
          </p:txBody>
        </p:sp>
      </p:grpSp>
      <p:grpSp>
        <p:nvGrpSpPr>
          <p:cNvPr id="403483" name="Group 27">
            <a:extLst>
              <a:ext uri="{FF2B5EF4-FFF2-40B4-BE49-F238E27FC236}">
                <a16:creationId xmlns:a16="http://schemas.microsoft.com/office/drawing/2014/main" id="{85277E65-6C7F-770F-0200-63EA0761E209}"/>
              </a:ext>
            </a:extLst>
          </p:cNvPr>
          <p:cNvGrpSpPr>
            <a:grpSpLocks/>
          </p:cNvGrpSpPr>
          <p:nvPr/>
        </p:nvGrpSpPr>
        <p:grpSpPr bwMode="auto">
          <a:xfrm>
            <a:off x="1020763" y="5715000"/>
            <a:ext cx="2027237" cy="914400"/>
            <a:chOff x="643" y="3600"/>
            <a:chExt cx="1277" cy="576"/>
          </a:xfrm>
        </p:grpSpPr>
        <p:grpSp>
          <p:nvGrpSpPr>
            <p:cNvPr id="403484" name="Group 28">
              <a:extLst>
                <a:ext uri="{FF2B5EF4-FFF2-40B4-BE49-F238E27FC236}">
                  <a16:creationId xmlns:a16="http://schemas.microsoft.com/office/drawing/2014/main" id="{92AA630F-ABB7-6E83-98E6-BE24322386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7" y="3636"/>
              <a:ext cx="979" cy="432"/>
              <a:chOff x="1536" y="3360"/>
              <a:chExt cx="816" cy="576"/>
            </a:xfrm>
          </p:grpSpPr>
          <p:sp>
            <p:nvSpPr>
              <p:cNvPr id="403485" name="Line 29">
                <a:extLst>
                  <a:ext uri="{FF2B5EF4-FFF2-40B4-BE49-F238E27FC236}">
                    <a16:creationId xmlns:a16="http://schemas.microsoft.com/office/drawing/2014/main" id="{03B64D13-4E7E-746B-B261-CA8216C6A6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360"/>
                <a:ext cx="0" cy="576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3486" name="Line 30">
                <a:extLst>
                  <a:ext uri="{FF2B5EF4-FFF2-40B4-BE49-F238E27FC236}">
                    <a16:creationId xmlns:a16="http://schemas.microsoft.com/office/drawing/2014/main" id="{41E72233-86CC-DA39-3C9B-38C4EF814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3360"/>
                <a:ext cx="816" cy="0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403487" name="Object 31">
              <a:extLst>
                <a:ext uri="{FF2B5EF4-FFF2-40B4-BE49-F238E27FC236}">
                  <a16:creationId xmlns:a16="http://schemas.microsoft.com/office/drawing/2014/main" id="{D8CBF647-2249-6FFF-57FA-4017E6BB34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3" y="3600"/>
            <a:ext cx="95" cy="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77480" progId="Equation.DSMT4">
                    <p:embed/>
                  </p:oleObj>
                </mc:Choice>
                <mc:Fallback>
                  <p:oleObj name="Equation" r:id="rId8" imgW="126720" imgH="17748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3" y="3600"/>
                          <a:ext cx="95" cy="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3488" name="Object 32">
              <a:extLst>
                <a:ext uri="{FF2B5EF4-FFF2-40B4-BE49-F238E27FC236}">
                  <a16:creationId xmlns:a16="http://schemas.microsoft.com/office/drawing/2014/main" id="{BE98EE66-07D3-15F3-3D3A-A62E4A82F6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8" y="4060"/>
            <a:ext cx="202" cy="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164880" progId="Equation.DSMT4">
                    <p:embed/>
                  </p:oleObj>
                </mc:Choice>
                <mc:Fallback>
                  <p:oleObj name="Equation" r:id="rId10" imgW="177480" imgH="16488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8" y="4060"/>
                          <a:ext cx="202" cy="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3489" name="Rectangle 33">
            <a:extLst>
              <a:ext uri="{FF2B5EF4-FFF2-40B4-BE49-F238E27FC236}">
                <a16:creationId xmlns:a16="http://schemas.microsoft.com/office/drawing/2014/main" id="{DE9E06B6-6824-B4DD-AFF7-55AF763A7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657600"/>
            <a:ext cx="2971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货币政策乘数</a:t>
            </a:r>
          </a:p>
        </p:txBody>
      </p:sp>
      <p:graphicFrame>
        <p:nvGraphicFramePr>
          <p:cNvPr id="403490" name="Object 34">
            <a:extLst>
              <a:ext uri="{FF2B5EF4-FFF2-40B4-BE49-F238E27FC236}">
                <a16:creationId xmlns:a16="http://schemas.microsoft.com/office/drawing/2014/main" id="{0CE7215D-5938-D38B-6F6B-C7102BF12A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3888" y="4572000"/>
          <a:ext cx="1622425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560" imgH="431640" progId="Equation.DSMT4">
                  <p:embed/>
                </p:oleObj>
              </mc:Choice>
              <mc:Fallback>
                <p:oleObj name="Equation" r:id="rId12" imgW="736560" imgH="43164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888" y="4572000"/>
                        <a:ext cx="1622425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91" name="Rectangle 35">
            <a:extLst>
              <a:ext uri="{FF2B5EF4-FFF2-40B4-BE49-F238E27FC236}">
                <a16:creationId xmlns:a16="http://schemas.microsoft.com/office/drawing/2014/main" id="{654136FA-83D5-9B0D-5476-06FC48E2E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715000"/>
            <a:ext cx="4038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货币政策乘数的经济机制是什么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3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3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0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40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40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40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9" grpId="0" autoUpdateAnimBg="0"/>
      <p:bldP spid="403489" grpId="0" autoUpdateAnimBg="0"/>
      <p:bldP spid="403491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>
            <a:extLst>
              <a:ext uri="{FF2B5EF4-FFF2-40B4-BE49-F238E27FC236}">
                <a16:creationId xmlns:a16="http://schemas.microsoft.com/office/drawing/2014/main" id="{1E115784-91A2-5CBE-0B5D-C1DAA872304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3.6</a:t>
            </a:r>
            <a:r>
              <a:rPr lang="zh-CN" altLang="en-US" sz="3600" b="1"/>
              <a:t>、</a:t>
            </a:r>
            <a:r>
              <a:rPr lang="zh-CN" altLang="en-US" sz="4000" b="1"/>
              <a:t>产品市场与货币市场均衡的性质</a:t>
            </a:r>
          </a:p>
        </p:txBody>
      </p:sp>
      <p:sp>
        <p:nvSpPr>
          <p:cNvPr id="399363" name="Rectangle 3">
            <a:extLst>
              <a:ext uri="{FF2B5EF4-FFF2-40B4-BE49-F238E27FC236}">
                <a16:creationId xmlns:a16="http://schemas.microsoft.com/office/drawing/2014/main" id="{9D4B8AF0-B5AD-3181-6662-4B3F79D0D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76600"/>
            <a:ext cx="4648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总需求曲线的背后机制</a:t>
            </a:r>
          </a:p>
          <a:p>
            <a:pPr lvl="1"/>
            <a:r>
              <a:rPr lang="zh-CN" altLang="en-US" sz="1800" b="1"/>
              <a:t>比如价格水平下降</a:t>
            </a:r>
          </a:p>
        </p:txBody>
      </p:sp>
      <p:sp>
        <p:nvSpPr>
          <p:cNvPr id="399364" name="Rectangle 4">
            <a:extLst>
              <a:ext uri="{FF2B5EF4-FFF2-40B4-BE49-F238E27FC236}">
                <a16:creationId xmlns:a16="http://schemas.microsoft.com/office/drawing/2014/main" id="{6C9A103F-AC88-9D27-FBB7-12DAED308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42672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总需求曲线：</a:t>
            </a:r>
          </a:p>
          <a:p>
            <a:pPr lvl="1"/>
            <a:r>
              <a:rPr lang="zh-CN" altLang="en-US" sz="2400" b="1"/>
              <a:t>当产品市场和货币市场均衡时，价格水平与均衡产出水平之间的关系。</a:t>
            </a:r>
          </a:p>
        </p:txBody>
      </p:sp>
      <p:grpSp>
        <p:nvGrpSpPr>
          <p:cNvPr id="399366" name="Group 6">
            <a:extLst>
              <a:ext uri="{FF2B5EF4-FFF2-40B4-BE49-F238E27FC236}">
                <a16:creationId xmlns:a16="http://schemas.microsoft.com/office/drawing/2014/main" id="{5B4292D4-58F3-6145-9128-E178919464B2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632325"/>
            <a:ext cx="3063875" cy="2073275"/>
            <a:chOff x="1344" y="2918"/>
            <a:chExt cx="1930" cy="1306"/>
          </a:xfrm>
        </p:grpSpPr>
        <p:grpSp>
          <p:nvGrpSpPr>
            <p:cNvPr id="399367" name="Group 7">
              <a:extLst>
                <a:ext uri="{FF2B5EF4-FFF2-40B4-BE49-F238E27FC236}">
                  <a16:creationId xmlns:a16="http://schemas.microsoft.com/office/drawing/2014/main" id="{CF025584-505E-221A-16EB-B3B782244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18"/>
              <a:ext cx="1920" cy="1306"/>
              <a:chOff x="3456" y="816"/>
              <a:chExt cx="1920" cy="1306"/>
            </a:xfrm>
          </p:grpSpPr>
          <p:sp>
            <p:nvSpPr>
              <p:cNvPr id="399368" name="Line 8">
                <a:extLst>
                  <a:ext uri="{FF2B5EF4-FFF2-40B4-BE49-F238E27FC236}">
                    <a16:creationId xmlns:a16="http://schemas.microsoft.com/office/drawing/2014/main" id="{5817CD6A-B509-A040-BC6B-B89806A247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9369" name="Line 9">
                <a:extLst>
                  <a:ext uri="{FF2B5EF4-FFF2-40B4-BE49-F238E27FC236}">
                    <a16:creationId xmlns:a16="http://schemas.microsoft.com/office/drawing/2014/main" id="{579E56CB-8125-9A5A-46C4-574C3C0A75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9370" name="Text Box 10">
                <a:extLst>
                  <a:ext uri="{FF2B5EF4-FFF2-40B4-BE49-F238E27FC236}">
                    <a16:creationId xmlns:a16="http://schemas.microsoft.com/office/drawing/2014/main" id="{540EAD0A-CCD3-C1B7-97B5-C2BC4648EC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收入 </a:t>
                </a:r>
              </a:p>
            </p:txBody>
          </p:sp>
          <p:sp>
            <p:nvSpPr>
              <p:cNvPr id="399371" name="Text Box 11">
                <a:extLst>
                  <a:ext uri="{FF2B5EF4-FFF2-40B4-BE49-F238E27FC236}">
                    <a16:creationId xmlns:a16="http://schemas.microsoft.com/office/drawing/2014/main" id="{3B9C365D-A169-DCE0-8A69-67E98874EE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利率</a:t>
                </a:r>
              </a:p>
            </p:txBody>
          </p:sp>
        </p:grpSp>
        <p:grpSp>
          <p:nvGrpSpPr>
            <p:cNvPr id="399372" name="Group 12">
              <a:extLst>
                <a:ext uri="{FF2B5EF4-FFF2-40B4-BE49-F238E27FC236}">
                  <a16:creationId xmlns:a16="http://schemas.microsoft.com/office/drawing/2014/main" id="{4AA7754A-7342-B2EC-0A58-DB0EE12BE8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2966"/>
              <a:ext cx="1402" cy="874"/>
              <a:chOff x="3600" y="3062"/>
              <a:chExt cx="1402" cy="874"/>
            </a:xfrm>
          </p:grpSpPr>
          <p:sp>
            <p:nvSpPr>
              <p:cNvPr id="399373" name="Line 13">
                <a:extLst>
                  <a:ext uri="{FF2B5EF4-FFF2-40B4-BE49-F238E27FC236}">
                    <a16:creationId xmlns:a16="http://schemas.microsoft.com/office/drawing/2014/main" id="{1793961A-94A0-854E-5D9E-8A89F01C9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3237"/>
                <a:ext cx="864" cy="699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9374" name="Rectangle 14">
                <a:extLst>
                  <a:ext uri="{FF2B5EF4-FFF2-40B4-BE49-F238E27FC236}">
                    <a16:creationId xmlns:a16="http://schemas.microsoft.com/office/drawing/2014/main" id="{66187F51-6AD2-5D29-2919-01DE1713D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3062"/>
                <a:ext cx="78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LM</a:t>
                </a:r>
                <a:r>
                  <a:rPr lang="zh-CN" altLang="en-US" b="1">
                    <a:solidFill>
                      <a:schemeClr val="tx2"/>
                    </a:solidFill>
                  </a:rPr>
                  <a:t>（</a:t>
                </a:r>
                <a:r>
                  <a:rPr lang="en-US" altLang="zh-CN" b="1">
                    <a:solidFill>
                      <a:schemeClr val="tx2"/>
                    </a:solidFill>
                  </a:rPr>
                  <a:t>p0</a:t>
                </a:r>
                <a:r>
                  <a:rPr lang="zh-CN" altLang="en-US" b="1">
                    <a:solidFill>
                      <a:schemeClr val="tx2"/>
                    </a:solidFill>
                  </a:rPr>
                  <a:t>）</a:t>
                </a:r>
              </a:p>
            </p:txBody>
          </p:sp>
        </p:grpSp>
        <p:grpSp>
          <p:nvGrpSpPr>
            <p:cNvPr id="399375" name="Group 15">
              <a:extLst>
                <a:ext uri="{FF2B5EF4-FFF2-40B4-BE49-F238E27FC236}">
                  <a16:creationId xmlns:a16="http://schemas.microsoft.com/office/drawing/2014/main" id="{C74E3AD5-A3BD-5EF3-A16C-C7FB39A8D9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2" y="2918"/>
              <a:ext cx="972" cy="922"/>
              <a:chOff x="1812" y="2822"/>
              <a:chExt cx="972" cy="922"/>
            </a:xfrm>
          </p:grpSpPr>
          <p:sp>
            <p:nvSpPr>
              <p:cNvPr id="399376" name="Line 16">
                <a:extLst>
                  <a:ext uri="{FF2B5EF4-FFF2-40B4-BE49-F238E27FC236}">
                    <a16:creationId xmlns:a16="http://schemas.microsoft.com/office/drawing/2014/main" id="{AEF1081C-1CCE-E234-0FEF-B804AE5E7B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03" y="3007"/>
                <a:ext cx="781" cy="73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9377" name="Rectangle 17">
                <a:extLst>
                  <a:ext uri="{FF2B5EF4-FFF2-40B4-BE49-F238E27FC236}">
                    <a16:creationId xmlns:a16="http://schemas.microsoft.com/office/drawing/2014/main" id="{E6F4C8B8-4D7D-E6F5-78C1-BE65FA0EA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812" y="2822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IS</a:t>
                </a:r>
              </a:p>
            </p:txBody>
          </p:sp>
        </p:grpSp>
        <p:grpSp>
          <p:nvGrpSpPr>
            <p:cNvPr id="399378" name="Group 18">
              <a:extLst>
                <a:ext uri="{FF2B5EF4-FFF2-40B4-BE49-F238E27FC236}">
                  <a16:creationId xmlns:a16="http://schemas.microsoft.com/office/drawing/2014/main" id="{777BA572-C16D-E536-6B06-D79EF49DA0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3408"/>
              <a:ext cx="1040" cy="768"/>
              <a:chOff x="1392" y="3312"/>
              <a:chExt cx="1040" cy="768"/>
            </a:xfrm>
          </p:grpSpPr>
          <p:grpSp>
            <p:nvGrpSpPr>
              <p:cNvPr id="399379" name="Group 19">
                <a:extLst>
                  <a:ext uri="{FF2B5EF4-FFF2-40B4-BE49-F238E27FC236}">
                    <a16:creationId xmlns:a16="http://schemas.microsoft.com/office/drawing/2014/main" id="{92E8DAC0-EBDC-2813-8FA4-91CE439983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3360"/>
                <a:ext cx="816" cy="576"/>
                <a:chOff x="1536" y="3360"/>
                <a:chExt cx="816" cy="576"/>
              </a:xfrm>
            </p:grpSpPr>
            <p:sp>
              <p:nvSpPr>
                <p:cNvPr id="399380" name="Line 20">
                  <a:extLst>
                    <a:ext uri="{FF2B5EF4-FFF2-40B4-BE49-F238E27FC236}">
                      <a16:creationId xmlns:a16="http://schemas.microsoft.com/office/drawing/2014/main" id="{A6519495-62E8-BA38-E888-A0ED51F34C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2" y="3360"/>
                  <a:ext cx="0" cy="576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99381" name="Line 21">
                  <a:extLst>
                    <a:ext uri="{FF2B5EF4-FFF2-40B4-BE49-F238E27FC236}">
                      <a16:creationId xmlns:a16="http://schemas.microsoft.com/office/drawing/2014/main" id="{0535AFC6-8416-5EAA-D459-813B70DC28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36" y="3360"/>
                  <a:ext cx="816" cy="0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399382" name="Object 22">
                <a:extLst>
                  <a:ext uri="{FF2B5EF4-FFF2-40B4-BE49-F238E27FC236}">
                    <a16:creationId xmlns:a16="http://schemas.microsoft.com/office/drawing/2014/main" id="{DE995615-50D0-F1FA-EC7D-34F4B6F7076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92" y="3312"/>
              <a:ext cx="112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77480" imgH="177480" progId="Equation.DSMT4">
                      <p:embed/>
                    </p:oleObj>
                  </mc:Choice>
                  <mc:Fallback>
                    <p:oleObj name="Equation" r:id="rId2" imgW="177480" imgH="177480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3312"/>
                            <a:ext cx="112" cy="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383" name="Object 23">
                <a:extLst>
                  <a:ext uri="{FF2B5EF4-FFF2-40B4-BE49-F238E27FC236}">
                    <a16:creationId xmlns:a16="http://schemas.microsoft.com/office/drawing/2014/main" id="{660BF4B7-DA26-70B1-749D-E1E3A4C7ED9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88" y="3976"/>
              <a:ext cx="144" cy="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28600" imgH="164880" progId="Equation.DSMT4">
                      <p:embed/>
                    </p:oleObj>
                  </mc:Choice>
                  <mc:Fallback>
                    <p:oleObj name="Equation" r:id="rId4" imgW="228600" imgH="164880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8" y="3976"/>
                            <a:ext cx="144" cy="1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99384" name="Group 24">
            <a:extLst>
              <a:ext uri="{FF2B5EF4-FFF2-40B4-BE49-F238E27FC236}">
                <a16:creationId xmlns:a16="http://schemas.microsoft.com/office/drawing/2014/main" id="{4F2D0E99-8013-45D5-84A3-D7F2EB91BA73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029200"/>
            <a:ext cx="1957388" cy="1281113"/>
            <a:chOff x="1339" y="3225"/>
            <a:chExt cx="1292" cy="759"/>
          </a:xfrm>
        </p:grpSpPr>
        <p:sp>
          <p:nvSpPr>
            <p:cNvPr id="399385" name="Line 25">
              <a:extLst>
                <a:ext uri="{FF2B5EF4-FFF2-40B4-BE49-F238E27FC236}">
                  <a16:creationId xmlns:a16="http://schemas.microsoft.com/office/drawing/2014/main" id="{0C7CE1AE-93AE-E6FD-539C-422E3A12B4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9" y="3312"/>
              <a:ext cx="869" cy="67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386" name="Rectangle 26">
              <a:extLst>
                <a:ext uri="{FF2B5EF4-FFF2-40B4-BE49-F238E27FC236}">
                  <a16:creationId xmlns:a16="http://schemas.microsoft.com/office/drawing/2014/main" id="{C3CE9D9D-9266-8618-A020-EEF06B477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5" y="3225"/>
              <a:ext cx="61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FF00"/>
                  </a:solidFill>
                </a:rPr>
                <a:t>LM(p1)</a:t>
              </a:r>
            </a:p>
          </p:txBody>
        </p:sp>
      </p:grpSp>
      <p:grpSp>
        <p:nvGrpSpPr>
          <p:cNvPr id="399387" name="Group 27">
            <a:extLst>
              <a:ext uri="{FF2B5EF4-FFF2-40B4-BE49-F238E27FC236}">
                <a16:creationId xmlns:a16="http://schemas.microsoft.com/office/drawing/2014/main" id="{E3483AD7-154C-BF71-C06A-5FE774CE2E8C}"/>
              </a:ext>
            </a:extLst>
          </p:cNvPr>
          <p:cNvGrpSpPr>
            <a:grpSpLocks/>
          </p:cNvGrpSpPr>
          <p:nvPr/>
        </p:nvGrpSpPr>
        <p:grpSpPr bwMode="auto">
          <a:xfrm>
            <a:off x="1020763" y="5715000"/>
            <a:ext cx="2027237" cy="914400"/>
            <a:chOff x="643" y="3600"/>
            <a:chExt cx="1277" cy="576"/>
          </a:xfrm>
        </p:grpSpPr>
        <p:grpSp>
          <p:nvGrpSpPr>
            <p:cNvPr id="399388" name="Group 28">
              <a:extLst>
                <a:ext uri="{FF2B5EF4-FFF2-40B4-BE49-F238E27FC236}">
                  <a16:creationId xmlns:a16="http://schemas.microsoft.com/office/drawing/2014/main" id="{558FF4F9-D787-F81E-D767-C6CF0E4F05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7" y="3636"/>
              <a:ext cx="979" cy="432"/>
              <a:chOff x="1536" y="3360"/>
              <a:chExt cx="816" cy="576"/>
            </a:xfrm>
          </p:grpSpPr>
          <p:sp>
            <p:nvSpPr>
              <p:cNvPr id="399389" name="Line 29">
                <a:extLst>
                  <a:ext uri="{FF2B5EF4-FFF2-40B4-BE49-F238E27FC236}">
                    <a16:creationId xmlns:a16="http://schemas.microsoft.com/office/drawing/2014/main" id="{DFCDDB7A-7F5E-B6E0-66F5-161F609138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360"/>
                <a:ext cx="0" cy="576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9390" name="Line 30">
                <a:extLst>
                  <a:ext uri="{FF2B5EF4-FFF2-40B4-BE49-F238E27FC236}">
                    <a16:creationId xmlns:a16="http://schemas.microsoft.com/office/drawing/2014/main" id="{37CCEA2B-1F04-61A5-F68D-8CB0DB47B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3360"/>
                <a:ext cx="816" cy="0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399391" name="Object 31">
              <a:extLst>
                <a:ext uri="{FF2B5EF4-FFF2-40B4-BE49-F238E27FC236}">
                  <a16:creationId xmlns:a16="http://schemas.microsoft.com/office/drawing/2014/main" id="{39032D4E-04C9-8620-3C8E-2033ADDEA9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3" y="3600"/>
            <a:ext cx="95" cy="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77480" progId="Equation.DSMT4">
                    <p:embed/>
                  </p:oleObj>
                </mc:Choice>
                <mc:Fallback>
                  <p:oleObj name="Equation" r:id="rId6" imgW="126720" imgH="17748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3" y="3600"/>
                          <a:ext cx="95" cy="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392" name="Object 32">
              <a:extLst>
                <a:ext uri="{FF2B5EF4-FFF2-40B4-BE49-F238E27FC236}">
                  <a16:creationId xmlns:a16="http://schemas.microsoft.com/office/drawing/2014/main" id="{6DE64FD8-E250-38FD-A2ED-120A38B807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8" y="4060"/>
            <a:ext cx="202" cy="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480" imgH="164880" progId="Equation.DSMT4">
                    <p:embed/>
                  </p:oleObj>
                </mc:Choice>
                <mc:Fallback>
                  <p:oleObj name="Equation" r:id="rId8" imgW="177480" imgH="16488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8" y="4060"/>
                          <a:ext cx="202" cy="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9398" name="Group 38">
            <a:extLst>
              <a:ext uri="{FF2B5EF4-FFF2-40B4-BE49-F238E27FC236}">
                <a16:creationId xmlns:a16="http://schemas.microsoft.com/office/drawing/2014/main" id="{C09E4C8D-655C-0124-7840-2888328C0B19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143000"/>
            <a:ext cx="3651250" cy="2273300"/>
            <a:chOff x="2640" y="720"/>
            <a:chExt cx="2300" cy="1432"/>
          </a:xfrm>
        </p:grpSpPr>
        <p:graphicFrame>
          <p:nvGraphicFramePr>
            <p:cNvPr id="399365" name="Object 5">
              <a:extLst>
                <a:ext uri="{FF2B5EF4-FFF2-40B4-BE49-F238E27FC236}">
                  <a16:creationId xmlns:a16="http://schemas.microsoft.com/office/drawing/2014/main" id="{946E4E67-2746-C93D-6B6F-9F0BEE3B8E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92" y="720"/>
            <a:ext cx="1748" cy="1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95280" imgH="939600" progId="Equation.DSMT4">
                    <p:embed/>
                  </p:oleObj>
                </mc:Choice>
                <mc:Fallback>
                  <p:oleObj name="Equation" r:id="rId10" imgW="1295280" imgH="939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2" y="720"/>
                          <a:ext cx="1748" cy="1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397" name="Line 37">
              <a:extLst>
                <a:ext uri="{FF2B5EF4-FFF2-40B4-BE49-F238E27FC236}">
                  <a16:creationId xmlns:a16="http://schemas.microsoft.com/office/drawing/2014/main" id="{CBECEA71-8EA4-9716-FE23-B6D77AAF03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1104"/>
              <a:ext cx="960" cy="72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99401" name="Group 41">
            <a:extLst>
              <a:ext uri="{FF2B5EF4-FFF2-40B4-BE49-F238E27FC236}">
                <a16:creationId xmlns:a16="http://schemas.microsoft.com/office/drawing/2014/main" id="{6CF78F97-AA3F-A7DE-435F-B02C22BB0176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4572000"/>
            <a:ext cx="3048000" cy="2073275"/>
            <a:chOff x="3456" y="816"/>
            <a:chExt cx="1920" cy="1306"/>
          </a:xfrm>
        </p:grpSpPr>
        <p:sp>
          <p:nvSpPr>
            <p:cNvPr id="399402" name="Line 42">
              <a:extLst>
                <a:ext uri="{FF2B5EF4-FFF2-40B4-BE49-F238E27FC236}">
                  <a16:creationId xmlns:a16="http://schemas.microsoft.com/office/drawing/2014/main" id="{6D4D4CCA-5DE7-1635-317B-1317C3425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816"/>
              <a:ext cx="0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403" name="Line 43">
              <a:extLst>
                <a:ext uri="{FF2B5EF4-FFF2-40B4-BE49-F238E27FC236}">
                  <a16:creationId xmlns:a16="http://schemas.microsoft.com/office/drawing/2014/main" id="{09CE0517-B798-ECC2-9E6F-6BBD0A561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404" name="Text Box 44">
              <a:extLst>
                <a:ext uri="{FF2B5EF4-FFF2-40B4-BE49-F238E27FC236}">
                  <a16:creationId xmlns:a16="http://schemas.microsoft.com/office/drawing/2014/main" id="{0CD71C94-4F11-3330-A187-F1886C8551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68"/>
              <a:ext cx="72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产出 </a:t>
              </a:r>
            </a:p>
          </p:txBody>
        </p:sp>
        <p:sp>
          <p:nvSpPr>
            <p:cNvPr id="399405" name="Text Box 45">
              <a:extLst>
                <a:ext uri="{FF2B5EF4-FFF2-40B4-BE49-F238E27FC236}">
                  <a16:creationId xmlns:a16="http://schemas.microsoft.com/office/drawing/2014/main" id="{A1D25309-BAFB-F957-DC60-1ACC0AD29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864"/>
              <a:ext cx="192" cy="6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价格水平</a:t>
              </a:r>
            </a:p>
          </p:txBody>
        </p:sp>
      </p:grpSp>
      <p:grpSp>
        <p:nvGrpSpPr>
          <p:cNvPr id="399418" name="Group 58">
            <a:extLst>
              <a:ext uri="{FF2B5EF4-FFF2-40B4-BE49-F238E27FC236}">
                <a16:creationId xmlns:a16="http://schemas.microsoft.com/office/drawing/2014/main" id="{E209D472-1239-6350-1584-F1E124673335}"/>
              </a:ext>
            </a:extLst>
          </p:cNvPr>
          <p:cNvGrpSpPr>
            <a:grpSpLocks/>
          </p:cNvGrpSpPr>
          <p:nvPr/>
        </p:nvGrpSpPr>
        <p:grpSpPr bwMode="auto">
          <a:xfrm>
            <a:off x="5567363" y="4997450"/>
            <a:ext cx="1341437" cy="1571625"/>
            <a:chOff x="3507" y="3148"/>
            <a:chExt cx="845" cy="990"/>
          </a:xfrm>
        </p:grpSpPr>
        <p:grpSp>
          <p:nvGrpSpPr>
            <p:cNvPr id="399413" name="Group 53">
              <a:extLst>
                <a:ext uri="{FF2B5EF4-FFF2-40B4-BE49-F238E27FC236}">
                  <a16:creationId xmlns:a16="http://schemas.microsoft.com/office/drawing/2014/main" id="{FB47A18C-6005-F321-7056-C51B5D5C5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1" y="3229"/>
              <a:ext cx="666" cy="727"/>
              <a:chOff x="1536" y="3360"/>
              <a:chExt cx="816" cy="576"/>
            </a:xfrm>
          </p:grpSpPr>
          <p:sp>
            <p:nvSpPr>
              <p:cNvPr id="399414" name="Line 54">
                <a:extLst>
                  <a:ext uri="{FF2B5EF4-FFF2-40B4-BE49-F238E27FC236}">
                    <a16:creationId xmlns:a16="http://schemas.microsoft.com/office/drawing/2014/main" id="{C62BC11E-8758-288D-3E1E-7206B2BFD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360"/>
                <a:ext cx="0" cy="576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9415" name="Line 55">
                <a:extLst>
                  <a:ext uri="{FF2B5EF4-FFF2-40B4-BE49-F238E27FC236}">
                    <a16:creationId xmlns:a16="http://schemas.microsoft.com/office/drawing/2014/main" id="{032F5D73-1D2C-C50A-90F8-0524E3ED8C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3360"/>
                <a:ext cx="816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399416" name="Object 56">
              <a:extLst>
                <a:ext uri="{FF2B5EF4-FFF2-40B4-BE49-F238E27FC236}">
                  <a16:creationId xmlns:a16="http://schemas.microsoft.com/office/drawing/2014/main" id="{8A3ECF28-A370-25BA-D93C-273A21827E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7" y="3148"/>
            <a:ext cx="85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228600" progId="Equation.DSMT4">
                    <p:embed/>
                  </p:oleObj>
                </mc:Choice>
                <mc:Fallback>
                  <p:oleObj name="Equation" r:id="rId12" imgW="164880" imgH="228600" progId="Equation.DSMT4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7" y="3148"/>
                          <a:ext cx="85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17" name="Object 57">
              <a:extLst>
                <a:ext uri="{FF2B5EF4-FFF2-40B4-BE49-F238E27FC236}">
                  <a16:creationId xmlns:a16="http://schemas.microsoft.com/office/drawing/2014/main" id="{28CBC2AD-3C34-A37E-8B0A-4F498D83F7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5" y="4007"/>
            <a:ext cx="117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28600" imgH="164880" progId="Equation.DSMT4">
                    <p:embed/>
                  </p:oleObj>
                </mc:Choice>
                <mc:Fallback>
                  <p:oleObj name="Equation" r:id="rId14" imgW="228600" imgH="164880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5" y="4007"/>
                          <a:ext cx="117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9427" name="Group 67">
            <a:extLst>
              <a:ext uri="{FF2B5EF4-FFF2-40B4-BE49-F238E27FC236}">
                <a16:creationId xmlns:a16="http://schemas.microsoft.com/office/drawing/2014/main" id="{7AFCC477-A11D-6F42-22DA-501559493032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5562600"/>
            <a:ext cx="1841500" cy="1035050"/>
            <a:chOff x="3504" y="3504"/>
            <a:chExt cx="1160" cy="652"/>
          </a:xfrm>
        </p:grpSpPr>
        <p:grpSp>
          <p:nvGrpSpPr>
            <p:cNvPr id="399420" name="Group 60">
              <a:extLst>
                <a:ext uri="{FF2B5EF4-FFF2-40B4-BE49-F238E27FC236}">
                  <a16:creationId xmlns:a16="http://schemas.microsoft.com/office/drawing/2014/main" id="{26FB334A-DD44-FACB-0528-D97434C411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0" y="3588"/>
              <a:ext cx="979" cy="432"/>
              <a:chOff x="1536" y="3360"/>
              <a:chExt cx="816" cy="576"/>
            </a:xfrm>
          </p:grpSpPr>
          <p:sp>
            <p:nvSpPr>
              <p:cNvPr id="399421" name="Line 61">
                <a:extLst>
                  <a:ext uri="{FF2B5EF4-FFF2-40B4-BE49-F238E27FC236}">
                    <a16:creationId xmlns:a16="http://schemas.microsoft.com/office/drawing/2014/main" id="{AF5DBEA7-18AC-5497-F936-6CB16A1B9D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360"/>
                <a:ext cx="0" cy="576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9422" name="Line 62">
                <a:extLst>
                  <a:ext uri="{FF2B5EF4-FFF2-40B4-BE49-F238E27FC236}">
                    <a16:creationId xmlns:a16="http://schemas.microsoft.com/office/drawing/2014/main" id="{0F2F8CA7-7390-D2E9-3D1E-B1F2B938FD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3360"/>
                <a:ext cx="816" cy="0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399425" name="Object 65">
              <a:extLst>
                <a:ext uri="{FF2B5EF4-FFF2-40B4-BE49-F238E27FC236}">
                  <a16:creationId xmlns:a16="http://schemas.microsoft.com/office/drawing/2014/main" id="{CACA7EDB-D2E6-A9D2-E06A-F3C2744C3F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3504"/>
            <a:ext cx="9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52280" imgH="228600" progId="Equation.DSMT4">
                    <p:embed/>
                  </p:oleObj>
                </mc:Choice>
                <mc:Fallback>
                  <p:oleObj name="Equation" r:id="rId15" imgW="152280" imgH="228600" progId="Equation.DSMT4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3504"/>
                          <a:ext cx="9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426" name="Object 66">
              <a:extLst>
                <a:ext uri="{FF2B5EF4-FFF2-40B4-BE49-F238E27FC236}">
                  <a16:creationId xmlns:a16="http://schemas.microsoft.com/office/drawing/2014/main" id="{FC879DB8-0E21-55A9-34E0-A779090D36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2" y="4052"/>
            <a:ext cx="112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77480" imgH="164880" progId="Equation.DSMT4">
                    <p:embed/>
                  </p:oleObj>
                </mc:Choice>
                <mc:Fallback>
                  <p:oleObj name="Equation" r:id="rId17" imgW="177480" imgH="164880" progId="Equation.DSMT4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2" y="4052"/>
                          <a:ext cx="112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9430" name="Group 70">
            <a:extLst>
              <a:ext uri="{FF2B5EF4-FFF2-40B4-BE49-F238E27FC236}">
                <a16:creationId xmlns:a16="http://schemas.microsoft.com/office/drawing/2014/main" id="{B8A8CCD6-7E14-4FDC-E03C-D626B6859993}"/>
              </a:ext>
            </a:extLst>
          </p:cNvPr>
          <p:cNvGrpSpPr>
            <a:grpSpLocks/>
          </p:cNvGrpSpPr>
          <p:nvPr/>
        </p:nvGrpSpPr>
        <p:grpSpPr bwMode="auto">
          <a:xfrm>
            <a:off x="5926138" y="4506913"/>
            <a:ext cx="1770062" cy="1589087"/>
            <a:chOff x="3733" y="2839"/>
            <a:chExt cx="1115" cy="1001"/>
          </a:xfrm>
        </p:grpSpPr>
        <p:sp>
          <p:nvSpPr>
            <p:cNvPr id="399428" name="Line 68">
              <a:extLst>
                <a:ext uri="{FF2B5EF4-FFF2-40B4-BE49-F238E27FC236}">
                  <a16:creationId xmlns:a16="http://schemas.microsoft.com/office/drawing/2014/main" id="{08D4A696-46D7-50B3-2738-B974E2095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976"/>
              <a:ext cx="816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429" name="Rectangle 69">
              <a:extLst>
                <a:ext uri="{FF2B5EF4-FFF2-40B4-BE49-F238E27FC236}">
                  <a16:creationId xmlns:a16="http://schemas.microsoft.com/office/drawing/2014/main" id="{10C94144-4DBF-ACBD-EE3B-A5BDE0954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" y="2839"/>
              <a:ext cx="3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1"/>
                <a:t>AD</a:t>
              </a: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39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9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9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9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9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9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9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99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9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9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9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39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3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id="{3F34CF41-F949-CA79-1D84-22D4F8FB29B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en-US" altLang="zh-CN" sz="3600" b="1"/>
              <a:t>3.7</a:t>
            </a:r>
            <a:r>
              <a:rPr lang="zh-CN" altLang="en-US" sz="3600" b="1"/>
              <a:t>、</a:t>
            </a:r>
            <a:r>
              <a:rPr lang="zh-CN" altLang="en-US" sz="4000" b="1"/>
              <a:t>总需求曲线的移动</a:t>
            </a:r>
          </a:p>
        </p:txBody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4E4D9270-D926-FC1C-5317-F57DC67D1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14600"/>
            <a:ext cx="5410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以增加货币货币供给为例</a:t>
            </a:r>
            <a:endParaRPr lang="zh-CN" altLang="en-US" sz="2000" b="1"/>
          </a:p>
        </p:txBody>
      </p:sp>
      <p:sp>
        <p:nvSpPr>
          <p:cNvPr id="400388" name="Rectangle 4">
            <a:extLst>
              <a:ext uri="{FF2B5EF4-FFF2-40B4-BE49-F238E27FC236}">
                <a16:creationId xmlns:a16="http://schemas.microsoft.com/office/drawing/2014/main" id="{643E64AD-CE20-74C7-4D6C-55F7F29F3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7543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当政府支出增加或增加货币供给时，总需求曲线将向右平移；反之，则向左平移。</a:t>
            </a:r>
          </a:p>
        </p:txBody>
      </p:sp>
      <p:grpSp>
        <p:nvGrpSpPr>
          <p:cNvPr id="400389" name="Group 5">
            <a:extLst>
              <a:ext uri="{FF2B5EF4-FFF2-40B4-BE49-F238E27FC236}">
                <a16:creationId xmlns:a16="http://schemas.microsoft.com/office/drawing/2014/main" id="{24E5361F-A55D-EC04-59F6-4083077BDCC8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886200"/>
            <a:ext cx="3063875" cy="2073275"/>
            <a:chOff x="1344" y="2918"/>
            <a:chExt cx="1930" cy="1306"/>
          </a:xfrm>
        </p:grpSpPr>
        <p:grpSp>
          <p:nvGrpSpPr>
            <p:cNvPr id="400390" name="Group 6">
              <a:extLst>
                <a:ext uri="{FF2B5EF4-FFF2-40B4-BE49-F238E27FC236}">
                  <a16:creationId xmlns:a16="http://schemas.microsoft.com/office/drawing/2014/main" id="{D579E2AE-26BE-BF0A-0792-044C83F959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918"/>
              <a:ext cx="1920" cy="1306"/>
              <a:chOff x="3456" y="816"/>
              <a:chExt cx="1920" cy="1306"/>
            </a:xfrm>
          </p:grpSpPr>
          <p:sp>
            <p:nvSpPr>
              <p:cNvPr id="400391" name="Line 7">
                <a:extLst>
                  <a:ext uri="{FF2B5EF4-FFF2-40B4-BE49-F238E27FC236}">
                    <a16:creationId xmlns:a16="http://schemas.microsoft.com/office/drawing/2014/main" id="{EB24D8F2-526C-3425-0951-5BD08944F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0392" name="Line 8">
                <a:extLst>
                  <a:ext uri="{FF2B5EF4-FFF2-40B4-BE49-F238E27FC236}">
                    <a16:creationId xmlns:a16="http://schemas.microsoft.com/office/drawing/2014/main" id="{9C1145C8-1DD5-961F-D32C-74C241B366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92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0393" name="Text Box 9">
                <a:extLst>
                  <a:ext uri="{FF2B5EF4-FFF2-40B4-BE49-F238E27FC236}">
                    <a16:creationId xmlns:a16="http://schemas.microsoft.com/office/drawing/2014/main" id="{87923CDA-9E25-205B-319D-10898E3DE8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1968"/>
                <a:ext cx="72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收入 </a:t>
                </a:r>
              </a:p>
            </p:txBody>
          </p:sp>
          <p:sp>
            <p:nvSpPr>
              <p:cNvPr id="400394" name="Text Box 10">
                <a:extLst>
                  <a:ext uri="{FF2B5EF4-FFF2-40B4-BE49-F238E27FC236}">
                    <a16:creationId xmlns:a16="http://schemas.microsoft.com/office/drawing/2014/main" id="{9EE80262-F7C9-3E9F-0D4C-B65C23B937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19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/>
                  <a:t>利率</a:t>
                </a:r>
              </a:p>
            </p:txBody>
          </p:sp>
        </p:grpSp>
        <p:grpSp>
          <p:nvGrpSpPr>
            <p:cNvPr id="400395" name="Group 11">
              <a:extLst>
                <a:ext uri="{FF2B5EF4-FFF2-40B4-BE49-F238E27FC236}">
                  <a16:creationId xmlns:a16="http://schemas.microsoft.com/office/drawing/2014/main" id="{00E278CF-48CF-A685-9309-9605550833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2966"/>
              <a:ext cx="1402" cy="874"/>
              <a:chOff x="3600" y="3062"/>
              <a:chExt cx="1402" cy="874"/>
            </a:xfrm>
          </p:grpSpPr>
          <p:sp>
            <p:nvSpPr>
              <p:cNvPr id="400396" name="Line 12">
                <a:extLst>
                  <a:ext uri="{FF2B5EF4-FFF2-40B4-BE49-F238E27FC236}">
                    <a16:creationId xmlns:a16="http://schemas.microsoft.com/office/drawing/2014/main" id="{F066E546-BBA9-437A-4E94-FD5080BADE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3237"/>
                <a:ext cx="864" cy="699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0397" name="Rectangle 13">
                <a:extLst>
                  <a:ext uri="{FF2B5EF4-FFF2-40B4-BE49-F238E27FC236}">
                    <a16:creationId xmlns:a16="http://schemas.microsoft.com/office/drawing/2014/main" id="{F32ECF22-1100-5FF3-458F-FEE705E3B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3062"/>
                <a:ext cx="78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LM</a:t>
                </a:r>
                <a:r>
                  <a:rPr lang="zh-CN" altLang="en-US" b="1">
                    <a:solidFill>
                      <a:schemeClr val="tx2"/>
                    </a:solidFill>
                  </a:rPr>
                  <a:t>（</a:t>
                </a:r>
                <a:r>
                  <a:rPr lang="en-US" altLang="zh-CN" b="1">
                    <a:solidFill>
                      <a:schemeClr val="tx2"/>
                    </a:solidFill>
                  </a:rPr>
                  <a:t>p0</a:t>
                </a:r>
                <a:r>
                  <a:rPr lang="zh-CN" altLang="en-US" b="1">
                    <a:solidFill>
                      <a:schemeClr val="tx2"/>
                    </a:solidFill>
                  </a:rPr>
                  <a:t>）</a:t>
                </a:r>
              </a:p>
            </p:txBody>
          </p:sp>
        </p:grpSp>
        <p:grpSp>
          <p:nvGrpSpPr>
            <p:cNvPr id="400398" name="Group 14">
              <a:extLst>
                <a:ext uri="{FF2B5EF4-FFF2-40B4-BE49-F238E27FC236}">
                  <a16:creationId xmlns:a16="http://schemas.microsoft.com/office/drawing/2014/main" id="{6BEB52B6-95A6-4354-D625-46C00A5881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2" y="2918"/>
              <a:ext cx="972" cy="922"/>
              <a:chOff x="1812" y="2822"/>
              <a:chExt cx="972" cy="922"/>
            </a:xfrm>
          </p:grpSpPr>
          <p:sp>
            <p:nvSpPr>
              <p:cNvPr id="400399" name="Line 15">
                <a:extLst>
                  <a:ext uri="{FF2B5EF4-FFF2-40B4-BE49-F238E27FC236}">
                    <a16:creationId xmlns:a16="http://schemas.microsoft.com/office/drawing/2014/main" id="{A93F494B-3C22-AF23-D6C5-30DD6F39C8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03" y="3007"/>
                <a:ext cx="781" cy="73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0400" name="Rectangle 16">
                <a:extLst>
                  <a:ext uri="{FF2B5EF4-FFF2-40B4-BE49-F238E27FC236}">
                    <a16:creationId xmlns:a16="http://schemas.microsoft.com/office/drawing/2014/main" id="{6884182B-7AC6-67AD-D0DD-BB12A7D4B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812" y="2822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chemeClr val="tx2"/>
                    </a:solidFill>
                  </a:rPr>
                  <a:t>IS</a:t>
                </a:r>
              </a:p>
            </p:txBody>
          </p:sp>
        </p:grpSp>
        <p:grpSp>
          <p:nvGrpSpPr>
            <p:cNvPr id="400401" name="Group 17">
              <a:extLst>
                <a:ext uri="{FF2B5EF4-FFF2-40B4-BE49-F238E27FC236}">
                  <a16:creationId xmlns:a16="http://schemas.microsoft.com/office/drawing/2014/main" id="{F3E0A674-305B-DBF8-CC39-EE78273DB3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3408"/>
              <a:ext cx="1040" cy="768"/>
              <a:chOff x="1392" y="3312"/>
              <a:chExt cx="1040" cy="768"/>
            </a:xfrm>
          </p:grpSpPr>
          <p:grpSp>
            <p:nvGrpSpPr>
              <p:cNvPr id="400402" name="Group 18">
                <a:extLst>
                  <a:ext uri="{FF2B5EF4-FFF2-40B4-BE49-F238E27FC236}">
                    <a16:creationId xmlns:a16="http://schemas.microsoft.com/office/drawing/2014/main" id="{D1469DEF-D5F3-B25A-CC84-4816B35416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3360"/>
                <a:ext cx="816" cy="576"/>
                <a:chOff x="1536" y="3360"/>
                <a:chExt cx="816" cy="576"/>
              </a:xfrm>
            </p:grpSpPr>
            <p:sp>
              <p:nvSpPr>
                <p:cNvPr id="400403" name="Line 19">
                  <a:extLst>
                    <a:ext uri="{FF2B5EF4-FFF2-40B4-BE49-F238E27FC236}">
                      <a16:creationId xmlns:a16="http://schemas.microsoft.com/office/drawing/2014/main" id="{41975EE6-C171-6EDB-A977-9C391F74DA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2" y="3360"/>
                  <a:ext cx="0" cy="576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00404" name="Line 20">
                  <a:extLst>
                    <a:ext uri="{FF2B5EF4-FFF2-40B4-BE49-F238E27FC236}">
                      <a16:creationId xmlns:a16="http://schemas.microsoft.com/office/drawing/2014/main" id="{391A6C2A-4A8F-8841-DE29-9095F8B5CC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36" y="3360"/>
                  <a:ext cx="816" cy="0"/>
                </a:xfrm>
                <a:prstGeom prst="line">
                  <a:avLst/>
                </a:prstGeom>
                <a:noFill/>
                <a:ln w="9525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400405" name="Object 21">
                <a:extLst>
                  <a:ext uri="{FF2B5EF4-FFF2-40B4-BE49-F238E27FC236}">
                    <a16:creationId xmlns:a16="http://schemas.microsoft.com/office/drawing/2014/main" id="{F098D472-09AC-07BE-7506-78A7DEA5DB5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92" y="3312"/>
              <a:ext cx="112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77480" imgH="177480" progId="Equation.DSMT4">
                      <p:embed/>
                    </p:oleObj>
                  </mc:Choice>
                  <mc:Fallback>
                    <p:oleObj name="Equation" r:id="rId2" imgW="177480" imgH="177480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3312"/>
                            <a:ext cx="112" cy="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0406" name="Object 22">
                <a:extLst>
                  <a:ext uri="{FF2B5EF4-FFF2-40B4-BE49-F238E27FC236}">
                    <a16:creationId xmlns:a16="http://schemas.microsoft.com/office/drawing/2014/main" id="{947D5401-0F82-B83C-079C-4274C6F1178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88" y="3976"/>
              <a:ext cx="144" cy="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28600" imgH="164880" progId="Equation.DSMT4">
                      <p:embed/>
                    </p:oleObj>
                  </mc:Choice>
                  <mc:Fallback>
                    <p:oleObj name="Equation" r:id="rId4" imgW="228600" imgH="164880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8" y="3976"/>
                            <a:ext cx="144" cy="1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00407" name="Group 23">
            <a:extLst>
              <a:ext uri="{FF2B5EF4-FFF2-40B4-BE49-F238E27FC236}">
                <a16:creationId xmlns:a16="http://schemas.microsoft.com/office/drawing/2014/main" id="{9450DFB9-C74D-63F2-606D-C8592D17AE74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283075"/>
            <a:ext cx="1957388" cy="1281113"/>
            <a:chOff x="1339" y="3225"/>
            <a:chExt cx="1292" cy="759"/>
          </a:xfrm>
        </p:grpSpPr>
        <p:sp>
          <p:nvSpPr>
            <p:cNvPr id="400408" name="Line 24">
              <a:extLst>
                <a:ext uri="{FF2B5EF4-FFF2-40B4-BE49-F238E27FC236}">
                  <a16:creationId xmlns:a16="http://schemas.microsoft.com/office/drawing/2014/main" id="{BE7A36FF-B08D-3492-4C6B-8238838BD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9" y="3312"/>
              <a:ext cx="869" cy="67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0409" name="Rectangle 25">
              <a:extLst>
                <a:ext uri="{FF2B5EF4-FFF2-40B4-BE49-F238E27FC236}">
                  <a16:creationId xmlns:a16="http://schemas.microsoft.com/office/drawing/2014/main" id="{EE6B495A-F774-A425-4ABD-A4BB9F33E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5" y="3225"/>
              <a:ext cx="61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FF00"/>
                  </a:solidFill>
                </a:rPr>
                <a:t>LM(p0)</a:t>
              </a:r>
            </a:p>
          </p:txBody>
        </p:sp>
      </p:grpSp>
      <p:grpSp>
        <p:nvGrpSpPr>
          <p:cNvPr id="400410" name="Group 26">
            <a:extLst>
              <a:ext uri="{FF2B5EF4-FFF2-40B4-BE49-F238E27FC236}">
                <a16:creationId xmlns:a16="http://schemas.microsoft.com/office/drawing/2014/main" id="{94193913-1797-201A-6277-B94704BD2FAA}"/>
              </a:ext>
            </a:extLst>
          </p:cNvPr>
          <p:cNvGrpSpPr>
            <a:grpSpLocks/>
          </p:cNvGrpSpPr>
          <p:nvPr/>
        </p:nvGrpSpPr>
        <p:grpSpPr bwMode="auto">
          <a:xfrm>
            <a:off x="1020763" y="4968875"/>
            <a:ext cx="2027237" cy="914400"/>
            <a:chOff x="643" y="3600"/>
            <a:chExt cx="1277" cy="576"/>
          </a:xfrm>
        </p:grpSpPr>
        <p:grpSp>
          <p:nvGrpSpPr>
            <p:cNvPr id="400411" name="Group 27">
              <a:extLst>
                <a:ext uri="{FF2B5EF4-FFF2-40B4-BE49-F238E27FC236}">
                  <a16:creationId xmlns:a16="http://schemas.microsoft.com/office/drawing/2014/main" id="{810B3CF1-3301-37F7-3B3C-5CB41D437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7" y="3636"/>
              <a:ext cx="979" cy="432"/>
              <a:chOff x="1536" y="3360"/>
              <a:chExt cx="816" cy="576"/>
            </a:xfrm>
          </p:grpSpPr>
          <p:sp>
            <p:nvSpPr>
              <p:cNvPr id="400412" name="Line 28">
                <a:extLst>
                  <a:ext uri="{FF2B5EF4-FFF2-40B4-BE49-F238E27FC236}">
                    <a16:creationId xmlns:a16="http://schemas.microsoft.com/office/drawing/2014/main" id="{D82AD189-1CFE-3BAB-2454-5A3E0BEC3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360"/>
                <a:ext cx="0" cy="576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0413" name="Line 29">
                <a:extLst>
                  <a:ext uri="{FF2B5EF4-FFF2-40B4-BE49-F238E27FC236}">
                    <a16:creationId xmlns:a16="http://schemas.microsoft.com/office/drawing/2014/main" id="{E0444036-E791-8437-3EC8-C242B8072F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3360"/>
                <a:ext cx="816" cy="0"/>
              </a:xfrm>
              <a:prstGeom prst="line">
                <a:avLst/>
              </a:prstGeom>
              <a:noFill/>
              <a:ln w="9525" cap="rnd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400414" name="Object 30">
              <a:extLst>
                <a:ext uri="{FF2B5EF4-FFF2-40B4-BE49-F238E27FC236}">
                  <a16:creationId xmlns:a16="http://schemas.microsoft.com/office/drawing/2014/main" id="{081F4A66-B913-3C05-BF0A-2F7C8A3213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3" y="3600"/>
            <a:ext cx="95" cy="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77480" progId="Equation.DSMT4">
                    <p:embed/>
                  </p:oleObj>
                </mc:Choice>
                <mc:Fallback>
                  <p:oleObj name="Equation" r:id="rId6" imgW="126720" imgH="17748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3" y="3600"/>
                          <a:ext cx="95" cy="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415" name="Object 31">
              <a:extLst>
                <a:ext uri="{FF2B5EF4-FFF2-40B4-BE49-F238E27FC236}">
                  <a16:creationId xmlns:a16="http://schemas.microsoft.com/office/drawing/2014/main" id="{6F1E9FAE-4D46-6DCA-C650-6707104E88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8" y="4060"/>
            <a:ext cx="202" cy="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480" imgH="164880" progId="Equation.DSMT4">
                    <p:embed/>
                  </p:oleObj>
                </mc:Choice>
                <mc:Fallback>
                  <p:oleObj name="Equation" r:id="rId8" imgW="177480" imgH="16488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8" y="4060"/>
                          <a:ext cx="202" cy="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0419" name="Group 35">
            <a:extLst>
              <a:ext uri="{FF2B5EF4-FFF2-40B4-BE49-F238E27FC236}">
                <a16:creationId xmlns:a16="http://schemas.microsoft.com/office/drawing/2014/main" id="{97ABE907-7124-AEA6-108C-FA9E7F678BE1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946525"/>
            <a:ext cx="3048000" cy="2073275"/>
            <a:chOff x="3456" y="816"/>
            <a:chExt cx="1920" cy="1306"/>
          </a:xfrm>
        </p:grpSpPr>
        <p:sp>
          <p:nvSpPr>
            <p:cNvPr id="400420" name="Line 36">
              <a:extLst>
                <a:ext uri="{FF2B5EF4-FFF2-40B4-BE49-F238E27FC236}">
                  <a16:creationId xmlns:a16="http://schemas.microsoft.com/office/drawing/2014/main" id="{98B792A7-82ED-E904-B031-5EAC8A15A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816"/>
              <a:ext cx="0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0421" name="Line 37">
              <a:extLst>
                <a:ext uri="{FF2B5EF4-FFF2-40B4-BE49-F238E27FC236}">
                  <a16:creationId xmlns:a16="http://schemas.microsoft.com/office/drawing/2014/main" id="{A9611877-E17F-C014-C730-21758F254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0422" name="Text Box 38">
              <a:extLst>
                <a:ext uri="{FF2B5EF4-FFF2-40B4-BE49-F238E27FC236}">
                  <a16:creationId xmlns:a16="http://schemas.microsoft.com/office/drawing/2014/main" id="{3E1CB13A-9315-42F2-904B-F1A53BB20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68"/>
              <a:ext cx="72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产出 </a:t>
              </a:r>
            </a:p>
          </p:txBody>
        </p:sp>
        <p:sp>
          <p:nvSpPr>
            <p:cNvPr id="400423" name="Text Box 39">
              <a:extLst>
                <a:ext uri="{FF2B5EF4-FFF2-40B4-BE49-F238E27FC236}">
                  <a16:creationId xmlns:a16="http://schemas.microsoft.com/office/drawing/2014/main" id="{F8C8E433-FA81-EA25-C7A7-8CA4E8B45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864"/>
              <a:ext cx="192" cy="6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价格水平</a:t>
              </a:r>
            </a:p>
          </p:txBody>
        </p:sp>
      </p:grpSp>
      <p:grpSp>
        <p:nvGrpSpPr>
          <p:cNvPr id="400424" name="Group 40">
            <a:extLst>
              <a:ext uri="{FF2B5EF4-FFF2-40B4-BE49-F238E27FC236}">
                <a16:creationId xmlns:a16="http://schemas.microsoft.com/office/drawing/2014/main" id="{EF40626A-B0AF-3091-0F95-7093E1C7EE60}"/>
              </a:ext>
            </a:extLst>
          </p:cNvPr>
          <p:cNvGrpSpPr>
            <a:grpSpLocks/>
          </p:cNvGrpSpPr>
          <p:nvPr/>
        </p:nvGrpSpPr>
        <p:grpSpPr bwMode="auto">
          <a:xfrm>
            <a:off x="5567363" y="4371975"/>
            <a:ext cx="1341437" cy="1571625"/>
            <a:chOff x="3507" y="3148"/>
            <a:chExt cx="845" cy="990"/>
          </a:xfrm>
        </p:grpSpPr>
        <p:grpSp>
          <p:nvGrpSpPr>
            <p:cNvPr id="400425" name="Group 41">
              <a:extLst>
                <a:ext uri="{FF2B5EF4-FFF2-40B4-BE49-F238E27FC236}">
                  <a16:creationId xmlns:a16="http://schemas.microsoft.com/office/drawing/2014/main" id="{1246D9A0-125F-53FB-5770-3FD86D4B1F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1" y="3229"/>
              <a:ext cx="666" cy="727"/>
              <a:chOff x="1536" y="3360"/>
              <a:chExt cx="816" cy="576"/>
            </a:xfrm>
          </p:grpSpPr>
          <p:sp>
            <p:nvSpPr>
              <p:cNvPr id="400426" name="Line 42">
                <a:extLst>
                  <a:ext uri="{FF2B5EF4-FFF2-40B4-BE49-F238E27FC236}">
                    <a16:creationId xmlns:a16="http://schemas.microsoft.com/office/drawing/2014/main" id="{0AABEC76-855C-8265-F299-8A01A0C69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3360"/>
                <a:ext cx="0" cy="576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0427" name="Line 43">
                <a:extLst>
                  <a:ext uri="{FF2B5EF4-FFF2-40B4-BE49-F238E27FC236}">
                    <a16:creationId xmlns:a16="http://schemas.microsoft.com/office/drawing/2014/main" id="{1EF7E3A8-F097-2DAD-203A-9166FDF6B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3360"/>
                <a:ext cx="816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aphicFrame>
          <p:nvGraphicFramePr>
            <p:cNvPr id="400428" name="Object 44">
              <a:extLst>
                <a:ext uri="{FF2B5EF4-FFF2-40B4-BE49-F238E27FC236}">
                  <a16:creationId xmlns:a16="http://schemas.microsoft.com/office/drawing/2014/main" id="{595275C2-36A5-CA7D-0238-9BA25DF56F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7" y="3148"/>
            <a:ext cx="85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4880" imgH="228600" progId="Equation.DSMT4">
                    <p:embed/>
                  </p:oleObj>
                </mc:Choice>
                <mc:Fallback>
                  <p:oleObj name="Equation" r:id="rId10" imgW="164880" imgH="22860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7" y="3148"/>
                          <a:ext cx="85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429" name="Object 45">
              <a:extLst>
                <a:ext uri="{FF2B5EF4-FFF2-40B4-BE49-F238E27FC236}">
                  <a16:creationId xmlns:a16="http://schemas.microsoft.com/office/drawing/2014/main" id="{92DF56E3-CCD5-E2D4-2B65-12051F72AE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5" y="4007"/>
            <a:ext cx="117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8600" imgH="164880" progId="Equation.DSMT4">
                    <p:embed/>
                  </p:oleObj>
                </mc:Choice>
                <mc:Fallback>
                  <p:oleObj name="Equation" r:id="rId12" imgW="228600" imgH="16488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5" y="4007"/>
                          <a:ext cx="117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0436" name="Group 52">
            <a:extLst>
              <a:ext uri="{FF2B5EF4-FFF2-40B4-BE49-F238E27FC236}">
                <a16:creationId xmlns:a16="http://schemas.microsoft.com/office/drawing/2014/main" id="{66BA0E37-1607-60A5-68D3-571DCC0F6F1C}"/>
              </a:ext>
            </a:extLst>
          </p:cNvPr>
          <p:cNvGrpSpPr>
            <a:grpSpLocks/>
          </p:cNvGrpSpPr>
          <p:nvPr/>
        </p:nvGrpSpPr>
        <p:grpSpPr bwMode="auto">
          <a:xfrm>
            <a:off x="5926138" y="3881438"/>
            <a:ext cx="1770062" cy="1589087"/>
            <a:chOff x="3733" y="2839"/>
            <a:chExt cx="1115" cy="1001"/>
          </a:xfrm>
        </p:grpSpPr>
        <p:sp>
          <p:nvSpPr>
            <p:cNvPr id="400437" name="Line 53">
              <a:extLst>
                <a:ext uri="{FF2B5EF4-FFF2-40B4-BE49-F238E27FC236}">
                  <a16:creationId xmlns:a16="http://schemas.microsoft.com/office/drawing/2014/main" id="{B1648908-D84F-0681-8684-4B9187348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976"/>
              <a:ext cx="816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0438" name="Rectangle 54">
              <a:extLst>
                <a:ext uri="{FF2B5EF4-FFF2-40B4-BE49-F238E27FC236}">
                  <a16:creationId xmlns:a16="http://schemas.microsoft.com/office/drawing/2014/main" id="{D111ABA5-B8BA-3574-3D60-725BF1441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" y="2839"/>
              <a:ext cx="3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1"/>
                <a:t>AD</a:t>
              </a:r>
            </a:p>
          </p:txBody>
        </p:sp>
      </p:grpSp>
      <p:grpSp>
        <p:nvGrpSpPr>
          <p:cNvPr id="400444" name="Group 60">
            <a:extLst>
              <a:ext uri="{FF2B5EF4-FFF2-40B4-BE49-F238E27FC236}">
                <a16:creationId xmlns:a16="http://schemas.microsoft.com/office/drawing/2014/main" id="{B30A3AA3-3CC0-36B4-410C-12E898D3C31E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733800"/>
            <a:ext cx="5427663" cy="1752600"/>
            <a:chOff x="1584" y="2352"/>
            <a:chExt cx="3419" cy="1104"/>
          </a:xfrm>
        </p:grpSpPr>
        <p:sp>
          <p:nvSpPr>
            <p:cNvPr id="400440" name="Line 56">
              <a:extLst>
                <a:ext uri="{FF2B5EF4-FFF2-40B4-BE49-F238E27FC236}">
                  <a16:creationId xmlns:a16="http://schemas.microsoft.com/office/drawing/2014/main" id="{E2F84484-768C-968B-0CE6-38C1BE868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7" y="2489"/>
              <a:ext cx="816" cy="864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0441" name="Rectangle 57">
              <a:extLst>
                <a:ext uri="{FF2B5EF4-FFF2-40B4-BE49-F238E27FC236}">
                  <a16:creationId xmlns:a16="http://schemas.microsoft.com/office/drawing/2014/main" id="{50B22927-2AB8-3851-E5DB-41385D4EC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2" y="2352"/>
              <a:ext cx="3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solidFill>
                    <a:srgbClr val="00FF00"/>
                  </a:solidFill>
                </a:rPr>
                <a:t>AD</a:t>
              </a:r>
            </a:p>
          </p:txBody>
        </p:sp>
        <p:sp>
          <p:nvSpPr>
            <p:cNvPr id="400442" name="Line 58">
              <a:extLst>
                <a:ext uri="{FF2B5EF4-FFF2-40B4-BE49-F238E27FC236}">
                  <a16:creationId xmlns:a16="http://schemas.microsoft.com/office/drawing/2014/main" id="{A9915C1A-623E-D1FF-7A51-C0840E25C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456"/>
              <a:ext cx="192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0443" name="Line 59">
              <a:extLst>
                <a:ext uri="{FF2B5EF4-FFF2-40B4-BE49-F238E27FC236}">
                  <a16:creationId xmlns:a16="http://schemas.microsoft.com/office/drawing/2014/main" id="{42B58248-0564-FF54-F827-480BD1162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832"/>
              <a:ext cx="192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0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0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0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0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0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0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0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40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40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0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0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7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>
            <a:extLst>
              <a:ext uri="{FF2B5EF4-FFF2-40B4-BE49-F238E27FC236}">
                <a16:creationId xmlns:a16="http://schemas.microsoft.com/office/drawing/2014/main" id="{EBE8218C-0B7A-A4C1-DB94-8B35A5F7AE7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zh-CN" altLang="en-US" sz="3600" b="1"/>
              <a:t>总需求分析小结</a:t>
            </a:r>
            <a:endParaRPr lang="zh-CN" altLang="en-US" b="1"/>
          </a:p>
        </p:txBody>
      </p:sp>
      <p:grpSp>
        <p:nvGrpSpPr>
          <p:cNvPr id="401413" name="Group 5">
            <a:extLst>
              <a:ext uri="{FF2B5EF4-FFF2-40B4-BE49-F238E27FC236}">
                <a16:creationId xmlns:a16="http://schemas.microsoft.com/office/drawing/2014/main" id="{823E3C25-E2A2-443F-62EF-50B9F8EAFA1E}"/>
              </a:ext>
            </a:extLst>
          </p:cNvPr>
          <p:cNvGrpSpPr>
            <a:grpSpLocks/>
          </p:cNvGrpSpPr>
          <p:nvPr/>
        </p:nvGrpSpPr>
        <p:grpSpPr bwMode="auto">
          <a:xfrm>
            <a:off x="0" y="3592513"/>
            <a:ext cx="8305800" cy="903287"/>
            <a:chOff x="96" y="727"/>
            <a:chExt cx="5232" cy="569"/>
          </a:xfrm>
        </p:grpSpPr>
        <p:sp>
          <p:nvSpPr>
            <p:cNvPr id="401414" name="Rectangle 6">
              <a:extLst>
                <a:ext uri="{FF2B5EF4-FFF2-40B4-BE49-F238E27FC236}">
                  <a16:creationId xmlns:a16="http://schemas.microsoft.com/office/drawing/2014/main" id="{5A7F5557-8945-5422-79D4-D8D89394D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816"/>
              <a:ext cx="417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/>
                <a:t>货币市场均衡的条件：</a:t>
              </a:r>
              <a:r>
                <a:rPr lang="en-US" altLang="zh-CN" sz="2800" b="1"/>
                <a:t>LM</a:t>
              </a:r>
              <a:r>
                <a:rPr lang="zh-CN" altLang="en-US" sz="2800" b="1"/>
                <a:t>曲线</a:t>
              </a:r>
            </a:p>
          </p:txBody>
        </p:sp>
        <p:graphicFrame>
          <p:nvGraphicFramePr>
            <p:cNvPr id="401415" name="Object 7">
              <a:extLst>
                <a:ext uri="{FF2B5EF4-FFF2-40B4-BE49-F238E27FC236}">
                  <a16:creationId xmlns:a16="http://schemas.microsoft.com/office/drawing/2014/main" id="{C688AB7F-562A-E2FD-D3D8-A5F256DBFA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727"/>
            <a:ext cx="1104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30040" imgH="457200" progId="Equation.DSMT4">
                    <p:embed/>
                  </p:oleObj>
                </mc:Choice>
                <mc:Fallback>
                  <p:oleObj name="Equation" r:id="rId2" imgW="1130040" imgH="457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727"/>
                          <a:ext cx="1104" cy="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1423" name="Group 15">
            <a:extLst>
              <a:ext uri="{FF2B5EF4-FFF2-40B4-BE49-F238E27FC236}">
                <a16:creationId xmlns:a16="http://schemas.microsoft.com/office/drawing/2014/main" id="{598DB943-0967-0274-A7E9-AA984009A98F}"/>
              </a:ext>
            </a:extLst>
          </p:cNvPr>
          <p:cNvGrpSpPr>
            <a:grpSpLocks/>
          </p:cNvGrpSpPr>
          <p:nvPr/>
        </p:nvGrpSpPr>
        <p:grpSpPr bwMode="auto">
          <a:xfrm>
            <a:off x="0" y="1371600"/>
            <a:ext cx="6453188" cy="762000"/>
            <a:chOff x="0" y="864"/>
            <a:chExt cx="4065" cy="480"/>
          </a:xfrm>
        </p:grpSpPr>
        <p:sp>
          <p:nvSpPr>
            <p:cNvPr id="401421" name="Rectangle 13">
              <a:extLst>
                <a:ext uri="{FF2B5EF4-FFF2-40B4-BE49-F238E27FC236}">
                  <a16:creationId xmlns:a16="http://schemas.microsoft.com/office/drawing/2014/main" id="{3C6A2E2C-FA1E-B259-E4B6-25EFB6B68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64"/>
              <a:ext cx="340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/>
                <a:t>凯恩斯的收入支出分析法</a:t>
              </a:r>
              <a:endParaRPr lang="zh-CN" altLang="en-US" sz="2000" b="1"/>
            </a:p>
          </p:txBody>
        </p:sp>
        <p:graphicFrame>
          <p:nvGraphicFramePr>
            <p:cNvPr id="401422" name="Object 14">
              <a:extLst>
                <a:ext uri="{FF2B5EF4-FFF2-40B4-BE49-F238E27FC236}">
                  <a16:creationId xmlns:a16="http://schemas.microsoft.com/office/drawing/2014/main" id="{722CE272-59A2-5558-1D83-B3C7CF242F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962"/>
            <a:ext cx="70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07960" imgH="164880" progId="Equation.DSMT4">
                    <p:embed/>
                  </p:oleObj>
                </mc:Choice>
                <mc:Fallback>
                  <p:oleObj name="Equation" r:id="rId4" imgW="507960" imgH="16488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962"/>
                          <a:ext cx="705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1425" name="Group 17">
            <a:extLst>
              <a:ext uri="{FF2B5EF4-FFF2-40B4-BE49-F238E27FC236}">
                <a16:creationId xmlns:a16="http://schemas.microsoft.com/office/drawing/2014/main" id="{9C69634F-1FD9-B23B-6751-87260521480F}"/>
              </a:ext>
            </a:extLst>
          </p:cNvPr>
          <p:cNvGrpSpPr>
            <a:grpSpLocks/>
          </p:cNvGrpSpPr>
          <p:nvPr/>
        </p:nvGrpSpPr>
        <p:grpSpPr bwMode="auto">
          <a:xfrm>
            <a:off x="0" y="1981200"/>
            <a:ext cx="8966200" cy="1338263"/>
            <a:chOff x="0" y="1248"/>
            <a:chExt cx="5648" cy="843"/>
          </a:xfrm>
        </p:grpSpPr>
        <p:grpSp>
          <p:nvGrpSpPr>
            <p:cNvPr id="401416" name="Group 8">
              <a:extLst>
                <a:ext uri="{FF2B5EF4-FFF2-40B4-BE49-F238E27FC236}">
                  <a16:creationId xmlns:a16="http://schemas.microsoft.com/office/drawing/2014/main" id="{CAAA945F-7153-DCEE-6F88-16AA761F5E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536"/>
              <a:ext cx="5648" cy="555"/>
              <a:chOff x="48" y="768"/>
              <a:chExt cx="5648" cy="555"/>
            </a:xfrm>
          </p:grpSpPr>
          <p:sp>
            <p:nvSpPr>
              <p:cNvPr id="401417" name="Rectangle 9">
                <a:extLst>
                  <a:ext uri="{FF2B5EF4-FFF2-40B4-BE49-F238E27FC236}">
                    <a16:creationId xmlns:a16="http://schemas.microsoft.com/office/drawing/2014/main" id="{D733AE43-9D83-A610-2E08-04054B436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" y="864"/>
                <a:ext cx="3312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>
                <a:lvl1pPr marL="342900" indent="-342900" algn="l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algn="l">
                  <a:spcBef>
                    <a:spcPct val="20000"/>
                  </a:spcBef>
                  <a:buClr>
                    <a:schemeClr val="tx2"/>
                  </a:buClr>
                  <a:buSzPct val="8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algn="l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algn="l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algn="l">
                  <a:spcBef>
                    <a:spcPct val="20000"/>
                  </a:spcBef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2800" b="1"/>
                  <a:t>产品市场均衡的条件：</a:t>
                </a:r>
                <a:r>
                  <a:rPr lang="en-US" altLang="zh-CN" sz="2800" b="1"/>
                  <a:t>IS</a:t>
                </a:r>
                <a:r>
                  <a:rPr lang="zh-CN" altLang="en-US" sz="2800" b="1"/>
                  <a:t>曲线</a:t>
                </a:r>
              </a:p>
            </p:txBody>
          </p:sp>
          <p:graphicFrame>
            <p:nvGraphicFramePr>
              <p:cNvPr id="401418" name="Object 10">
                <a:extLst>
                  <a:ext uri="{FF2B5EF4-FFF2-40B4-BE49-F238E27FC236}">
                    <a16:creationId xmlns:a16="http://schemas.microsoft.com/office/drawing/2014/main" id="{7B05E071-AA1D-AF45-DF4F-9626FE531A2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12" y="768"/>
              <a:ext cx="2384" cy="5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438280" imgH="444240" progId="Equation.DSMT4">
                      <p:embed/>
                    </p:oleObj>
                  </mc:Choice>
                  <mc:Fallback>
                    <p:oleObj name="Equation" r:id="rId6" imgW="2438280" imgH="44424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768"/>
                            <a:ext cx="2384" cy="5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01424" name="AutoShape 16">
              <a:extLst>
                <a:ext uri="{FF2B5EF4-FFF2-40B4-BE49-F238E27FC236}">
                  <a16:creationId xmlns:a16="http://schemas.microsoft.com/office/drawing/2014/main" id="{8C0347A0-85FD-C15B-9D49-2B4309485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248"/>
              <a:ext cx="240" cy="432"/>
            </a:xfrm>
            <a:prstGeom prst="downArrow">
              <a:avLst>
                <a:gd name="adj1" fmla="val 50000"/>
                <a:gd name="adj2" fmla="val 45000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>
                <a:solidFill>
                  <a:schemeClr val="tx2"/>
                </a:solidFill>
              </a:endParaRPr>
            </a:p>
          </p:txBody>
        </p:sp>
      </p:grpSp>
      <p:grpSp>
        <p:nvGrpSpPr>
          <p:cNvPr id="401428" name="Group 20">
            <a:extLst>
              <a:ext uri="{FF2B5EF4-FFF2-40B4-BE49-F238E27FC236}">
                <a16:creationId xmlns:a16="http://schemas.microsoft.com/office/drawing/2014/main" id="{48C9CE16-8C01-C27E-2DA4-39E50F1DF8F9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743200"/>
            <a:ext cx="1828800" cy="1371600"/>
            <a:chOff x="1344" y="1728"/>
            <a:chExt cx="1152" cy="864"/>
          </a:xfrm>
        </p:grpSpPr>
        <p:sp>
          <p:nvSpPr>
            <p:cNvPr id="401426" name="AutoShape 18">
              <a:extLst>
                <a:ext uri="{FF2B5EF4-FFF2-40B4-BE49-F238E27FC236}">
                  <a16:creationId xmlns:a16="http://schemas.microsoft.com/office/drawing/2014/main" id="{2658F6A6-22A0-4806-24F0-16337B2F1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1728"/>
              <a:ext cx="192" cy="864"/>
            </a:xfrm>
            <a:prstGeom prst="leftBrace">
              <a:avLst>
                <a:gd name="adj1" fmla="val 37500"/>
                <a:gd name="adj2" fmla="val 50000"/>
              </a:avLst>
            </a:prstGeom>
            <a:noFill/>
            <a:ln w="571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427" name="Text Box 19">
              <a:extLst>
                <a:ext uri="{FF2B5EF4-FFF2-40B4-BE49-F238E27FC236}">
                  <a16:creationId xmlns:a16="http://schemas.microsoft.com/office/drawing/2014/main" id="{C7F9D882-8A31-5B99-131E-0E436AFF8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064"/>
              <a:ext cx="10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</a:rPr>
                <a:t>IS</a:t>
              </a:r>
              <a:r>
                <a:rPr lang="zh-CN" altLang="en-US" b="1">
                  <a:solidFill>
                    <a:schemeClr val="tx2"/>
                  </a:solidFill>
                </a:rPr>
                <a:t>－</a:t>
              </a:r>
              <a:r>
                <a:rPr lang="en-US" altLang="zh-CN" b="1">
                  <a:solidFill>
                    <a:schemeClr val="tx2"/>
                  </a:solidFill>
                </a:rPr>
                <a:t>LM</a:t>
              </a:r>
              <a:r>
                <a:rPr lang="zh-CN" altLang="en-US" b="1">
                  <a:solidFill>
                    <a:schemeClr val="tx2"/>
                  </a:solidFill>
                </a:rPr>
                <a:t>模型</a:t>
              </a:r>
            </a:p>
          </p:txBody>
        </p:sp>
      </p:grpSp>
      <p:sp>
        <p:nvSpPr>
          <p:cNvPr id="401429" name="Rectangle 21">
            <a:extLst>
              <a:ext uri="{FF2B5EF4-FFF2-40B4-BE49-F238E27FC236}">
                <a16:creationId xmlns:a16="http://schemas.microsoft.com/office/drawing/2014/main" id="{B1EB9181-DD3C-9C45-6720-20235308E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8839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/>
              <a:t>IS-LM</a:t>
            </a:r>
            <a:r>
              <a:rPr lang="zh-CN" altLang="en-US" b="1"/>
              <a:t>模型，</a:t>
            </a:r>
          </a:p>
          <a:p>
            <a:pPr lvl="1"/>
            <a:r>
              <a:rPr lang="zh-CN" altLang="en-US" sz="1800" b="1"/>
              <a:t>从经济含义的角度看，是一个产品市场和货币市场同时均衡的模型。</a:t>
            </a:r>
          </a:p>
          <a:p>
            <a:pPr lvl="1"/>
            <a:r>
              <a:rPr lang="zh-CN" altLang="en-US" sz="1800" b="1"/>
              <a:t>从政策含义的角度看，是分析财政政策和货币政策的基准框架。</a:t>
            </a:r>
          </a:p>
        </p:txBody>
      </p:sp>
      <p:sp>
        <p:nvSpPr>
          <p:cNvPr id="401430" name="Rectangle 22">
            <a:extLst>
              <a:ext uri="{FF2B5EF4-FFF2-40B4-BE49-F238E27FC236}">
                <a16:creationId xmlns:a16="http://schemas.microsoft.com/office/drawing/2014/main" id="{3DE458D4-84D7-9FA4-EE71-3F025374E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43600"/>
            <a:ext cx="899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1800" b="1"/>
              <a:t>从数学的角度看，是三个未知变量，但只有两个方程。（</a:t>
            </a:r>
            <a:r>
              <a:rPr lang="zh-CN" altLang="en-US" sz="1600" b="1">
                <a:solidFill>
                  <a:schemeClr val="tx2"/>
                </a:solidFill>
              </a:rPr>
              <a:t>利率和价格水平是何关系</a:t>
            </a:r>
            <a:r>
              <a:rPr lang="zh-CN" altLang="en-US" sz="1800" b="1"/>
              <a:t>）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0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29" grpId="0" autoUpdateAnimBg="0"/>
      <p:bldP spid="40143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>
            <a:extLst>
              <a:ext uri="{FF2B5EF4-FFF2-40B4-BE49-F238E27FC236}">
                <a16:creationId xmlns:a16="http://schemas.microsoft.com/office/drawing/2014/main" id="{421A1863-11EC-BECF-67EA-2946A7F981C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76200"/>
            <a:ext cx="8540750" cy="1143000"/>
          </a:xfrm>
        </p:spPr>
        <p:txBody>
          <a:bodyPr lIns="0" rIns="0"/>
          <a:lstStyle/>
          <a:p>
            <a:r>
              <a:rPr lang="zh-CN" altLang="en-US" sz="3600" b="1"/>
              <a:t>作业</a:t>
            </a:r>
            <a:endParaRPr lang="zh-CN" altLang="en-US" b="1"/>
          </a:p>
        </p:txBody>
      </p:sp>
      <p:sp>
        <p:nvSpPr>
          <p:cNvPr id="402449" name="Rectangle 17">
            <a:extLst>
              <a:ext uri="{FF2B5EF4-FFF2-40B4-BE49-F238E27FC236}">
                <a16:creationId xmlns:a16="http://schemas.microsoft.com/office/drawing/2014/main" id="{AE7ECED4-986E-D966-7001-0E294D80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28800"/>
            <a:ext cx="73152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课后作业</a:t>
            </a:r>
          </a:p>
          <a:p>
            <a:pPr lvl="1"/>
            <a:r>
              <a:rPr lang="zh-CN" altLang="en-US" b="1"/>
              <a:t>第</a:t>
            </a:r>
            <a:r>
              <a:rPr lang="en-US" altLang="zh-CN" b="1"/>
              <a:t>238</a:t>
            </a:r>
            <a:r>
              <a:rPr lang="zh-CN" altLang="en-US" b="1"/>
              <a:t>页，技术题中的</a:t>
            </a:r>
            <a:r>
              <a:rPr lang="en-US" altLang="zh-CN" b="1"/>
              <a:t>1</a:t>
            </a:r>
            <a:r>
              <a:rPr lang="zh-CN" altLang="en-US" b="1"/>
              <a:t>、</a:t>
            </a:r>
            <a:r>
              <a:rPr lang="en-US" altLang="zh-CN" b="1"/>
              <a:t>3</a:t>
            </a:r>
            <a:r>
              <a:rPr lang="zh-CN" altLang="en-US" b="1"/>
              <a:t>、</a:t>
            </a:r>
            <a:r>
              <a:rPr lang="en-US" altLang="zh-CN" b="1"/>
              <a:t>5</a:t>
            </a:r>
            <a:r>
              <a:rPr lang="zh-CN" altLang="en-US" b="1"/>
              <a:t>、</a:t>
            </a:r>
            <a:r>
              <a:rPr lang="en-US" altLang="zh-CN" b="1"/>
              <a:t>7</a:t>
            </a:r>
            <a:r>
              <a:rPr lang="zh-CN" altLang="en-US" b="1"/>
              <a:t>题。</a:t>
            </a:r>
            <a:endParaRPr lang="zh-CN" altLang="en-US" sz="1800" b="1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49" grpId="0" autoUpdateAnimBg="0"/>
    </p:bld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4395</TotalTime>
  <Words>2057</Words>
  <Application>Microsoft Office PowerPoint</Application>
  <PresentationFormat>全屏显示(4:3)</PresentationFormat>
  <Paragraphs>378</Paragraphs>
  <Slides>45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57" baseType="lpstr">
      <vt:lpstr>Arial</vt:lpstr>
      <vt:lpstr>宋体</vt:lpstr>
      <vt:lpstr>Wingdings</vt:lpstr>
      <vt:lpstr>Wingdings 2</vt:lpstr>
      <vt:lpstr>华文楷体</vt:lpstr>
      <vt:lpstr>Times New Roman</vt:lpstr>
      <vt:lpstr>Dcr10</vt:lpstr>
      <vt:lpstr>Symbol</vt:lpstr>
      <vt:lpstr>吉祥如意</vt:lpstr>
      <vt:lpstr>位图图像</vt:lpstr>
      <vt:lpstr>MathType 5.0 Equation</vt:lpstr>
      <vt:lpstr>Microsoft Graph 2000 图表</vt:lpstr>
      <vt:lpstr>中级宏观经济学</vt:lpstr>
      <vt:lpstr>课程简介</vt:lpstr>
      <vt:lpstr>主要内容</vt:lpstr>
      <vt:lpstr>0.1 凯恩斯革命</vt:lpstr>
      <vt:lpstr>0.2 凯恩斯革命－通论的模型化</vt:lpstr>
      <vt:lpstr>0.2 凯恩斯革命－通论的模型化</vt:lpstr>
      <vt:lpstr>0.3 凯恩斯革命－模型化的损失</vt:lpstr>
      <vt:lpstr>1.1、收入支出分析_基本假定</vt:lpstr>
      <vt:lpstr>1.2、收入支出分析_基本框架</vt:lpstr>
      <vt:lpstr>1.2、收入支出分析_基本框架</vt:lpstr>
      <vt:lpstr>1.2、收入支出分析_基本框架</vt:lpstr>
      <vt:lpstr>1.3、总支出的构成：消费</vt:lpstr>
      <vt:lpstr>消费函数的进一步解析</vt:lpstr>
      <vt:lpstr>1.4、收入支出分析_两部门经济</vt:lpstr>
      <vt:lpstr>1.4、收入支出分析_两部门经济的均衡产出</vt:lpstr>
      <vt:lpstr>1.4、收入支出分析_两部门经济的均衡产出（数学推导）</vt:lpstr>
      <vt:lpstr>1.4、收入支出分析_两部门经济中的乘数</vt:lpstr>
      <vt:lpstr>1.5、收入支出分析_三部门经济</vt:lpstr>
      <vt:lpstr>1.5、收入支出分析_三部门经济</vt:lpstr>
      <vt:lpstr>课后作业</vt:lpstr>
      <vt:lpstr>PowerPoint 演示文稿</vt:lpstr>
      <vt:lpstr>2.0、回忆上堂课的内容</vt:lpstr>
      <vt:lpstr>2.1、收入支出分析的进一步拓展</vt:lpstr>
      <vt:lpstr>2.1、收入支出分析的进一步拓展</vt:lpstr>
      <vt:lpstr>2.2、利率</vt:lpstr>
      <vt:lpstr>2.3、投资函数与收入支出分析法</vt:lpstr>
      <vt:lpstr>2.3、IS曲线的数学推导</vt:lpstr>
      <vt:lpstr>2.4、IS曲线的性质</vt:lpstr>
      <vt:lpstr>2.4、 IS曲线的性质</vt:lpstr>
      <vt:lpstr>2.5、 小结</vt:lpstr>
      <vt:lpstr>3.0、收入支出法的进一步拓展：引入货币</vt:lpstr>
      <vt:lpstr>3.1、货币需求</vt:lpstr>
      <vt:lpstr>3.1、货币需求的性质</vt:lpstr>
      <vt:lpstr>3.2、货币供给</vt:lpstr>
      <vt:lpstr>3.3、货币市场的均衡</vt:lpstr>
      <vt:lpstr>3.4、LM曲线的性质</vt:lpstr>
      <vt:lpstr>3.5、产品市场与货币市场的均衡</vt:lpstr>
      <vt:lpstr>3.5、产品市场与货币市场的均衡</vt:lpstr>
      <vt:lpstr>3.6、产品市场与货币市场均衡的性质</vt:lpstr>
      <vt:lpstr>2.3 挤出效应：练习</vt:lpstr>
      <vt:lpstr>3.6、产品市场与货币市场均衡的性质</vt:lpstr>
      <vt:lpstr>3.6、产品市场与货币市场均衡的性质</vt:lpstr>
      <vt:lpstr>3.7、总需求曲线的移动</vt:lpstr>
      <vt:lpstr>总需求分析小结</vt:lpstr>
      <vt:lpstr>作业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超然网络服务店 超然网络服务店</cp:lastModifiedBy>
  <cp:revision>322</cp:revision>
  <dcterms:created xsi:type="dcterms:W3CDTF">2004-10-12T17:05:21Z</dcterms:created>
  <dcterms:modified xsi:type="dcterms:W3CDTF">2023-10-24T11:37:57Z</dcterms:modified>
</cp:coreProperties>
</file>