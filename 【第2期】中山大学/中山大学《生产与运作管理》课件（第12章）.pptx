
<file path=[Content_Types].xml><?xml version="1.0" encoding="utf-8"?>
<Types xmlns="http://schemas.openxmlformats.org/package/2006/content-types">
  <Default Extension="bin" ContentType="application/vnd.openxmlformats-officedocument.oleObject"/>
  <Default Extension="jpe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3" r:id="rId1"/>
  </p:sldMasterIdLst>
  <p:notesMasterIdLst>
    <p:notesMasterId r:id="rId42"/>
  </p:notesMasterIdLst>
  <p:handoutMasterIdLst>
    <p:handoutMasterId r:id="rId43"/>
  </p:handoutMasterIdLst>
  <p:sldIdLst>
    <p:sldId id="256" r:id="rId2"/>
    <p:sldId id="258" r:id="rId3"/>
    <p:sldId id="389" r:id="rId4"/>
    <p:sldId id="263" r:id="rId5"/>
    <p:sldId id="330" r:id="rId6"/>
    <p:sldId id="331" r:id="rId7"/>
    <p:sldId id="356" r:id="rId8"/>
    <p:sldId id="378" r:id="rId9"/>
    <p:sldId id="333" r:id="rId10"/>
    <p:sldId id="340" r:id="rId11"/>
    <p:sldId id="345" r:id="rId12"/>
    <p:sldId id="346" r:id="rId13"/>
    <p:sldId id="347" r:id="rId14"/>
    <p:sldId id="349" r:id="rId15"/>
    <p:sldId id="350" r:id="rId16"/>
    <p:sldId id="351" r:id="rId17"/>
    <p:sldId id="352" r:id="rId18"/>
    <p:sldId id="379" r:id="rId19"/>
    <p:sldId id="380" r:id="rId20"/>
    <p:sldId id="381" r:id="rId21"/>
    <p:sldId id="366" r:id="rId22"/>
    <p:sldId id="297" r:id="rId23"/>
    <p:sldId id="272" r:id="rId24"/>
    <p:sldId id="273" r:id="rId25"/>
    <p:sldId id="276" r:id="rId26"/>
    <p:sldId id="298" r:id="rId27"/>
    <p:sldId id="313" r:id="rId28"/>
    <p:sldId id="299" r:id="rId29"/>
    <p:sldId id="364" r:id="rId30"/>
    <p:sldId id="373" r:id="rId31"/>
    <p:sldId id="388" r:id="rId32"/>
    <p:sldId id="374" r:id="rId33"/>
    <p:sldId id="375" r:id="rId34"/>
    <p:sldId id="377" r:id="rId35"/>
    <p:sldId id="383" r:id="rId36"/>
    <p:sldId id="384" r:id="rId37"/>
    <p:sldId id="385" r:id="rId38"/>
    <p:sldId id="386" r:id="rId39"/>
    <p:sldId id="387" r:id="rId40"/>
    <p:sldId id="382" r:id="rId4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a:srgbClr val="00CC00"/>
    <a:srgbClr val="003300"/>
    <a:srgbClr val="007A7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05" autoAdjust="0"/>
    <p:restoredTop sz="94561" autoAdjust="0"/>
  </p:normalViewPr>
  <p:slideViewPr>
    <p:cSldViewPr>
      <p:cViewPr varScale="1">
        <p:scale>
          <a:sx n="68" d="100"/>
          <a:sy n="68" d="100"/>
        </p:scale>
        <p:origin x="1240"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7482"/>
    </p:cViewPr>
  </p:sorterViewPr>
  <p:notesViewPr>
    <p:cSldViewPr>
      <p:cViewPr varScale="1">
        <p:scale>
          <a:sx n="45" d="100"/>
          <a:sy n="45" d="100"/>
        </p:scale>
        <p:origin x="-1440" y="-11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02" name="Rectangle 2">
            <a:extLst>
              <a:ext uri="{FF2B5EF4-FFF2-40B4-BE49-F238E27FC236}">
                <a16:creationId xmlns:a16="http://schemas.microsoft.com/office/drawing/2014/main" id="{9B05CAF7-08E1-4DB3-3737-58E8FA6FA534}"/>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3603" name="Rectangle 3">
            <a:extLst>
              <a:ext uri="{FF2B5EF4-FFF2-40B4-BE49-F238E27FC236}">
                <a16:creationId xmlns:a16="http://schemas.microsoft.com/office/drawing/2014/main" id="{F1E73C6C-40C6-C2EC-8541-9121E968D757}"/>
              </a:ext>
            </a:extLst>
          </p:cNvPr>
          <p:cNvSpPr>
            <a:spLocks noGrp="1" noChangeArrowheads="1"/>
          </p:cNvSpPr>
          <p:nvPr>
            <p:ph type="dt" sz="quarter"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3604" name="Rectangle 4">
            <a:extLst>
              <a:ext uri="{FF2B5EF4-FFF2-40B4-BE49-F238E27FC236}">
                <a16:creationId xmlns:a16="http://schemas.microsoft.com/office/drawing/2014/main" id="{E7702518-2248-9BC6-8DE7-95353B95F315}"/>
              </a:ext>
            </a:extLst>
          </p:cNvPr>
          <p:cNvSpPr>
            <a:spLocks noGrp="1" noChangeArrowheads="1"/>
          </p:cNvSpPr>
          <p:nvPr>
            <p:ph type="ftr" sz="quarter" idx="2"/>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3605" name="Rectangle 5">
            <a:extLst>
              <a:ext uri="{FF2B5EF4-FFF2-40B4-BE49-F238E27FC236}">
                <a16:creationId xmlns:a16="http://schemas.microsoft.com/office/drawing/2014/main" id="{DF3379AE-ED0C-EC69-A122-0837ACEF1610}"/>
              </a:ext>
            </a:extLst>
          </p:cNvPr>
          <p:cNvSpPr>
            <a:spLocks noGrp="1" noChangeArrowheads="1"/>
          </p:cNvSpPr>
          <p:nvPr>
            <p:ph type="sldNum" sz="quarter" idx="3"/>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74945BE4-11EF-4BB2-A14A-200BD978747A}" type="slidenum">
              <a:rPr lang="en-US" altLang="zh-CN"/>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0530" name="Rectangle 2">
            <a:extLst>
              <a:ext uri="{FF2B5EF4-FFF2-40B4-BE49-F238E27FC236}">
                <a16:creationId xmlns:a16="http://schemas.microsoft.com/office/drawing/2014/main" id="{55C13BEF-8A18-ABC7-5C96-6B3A78109A31}"/>
              </a:ext>
            </a:extLst>
          </p:cNvPr>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200"/>
            </a:lvl1pPr>
          </a:lstStyle>
          <a:p>
            <a:endParaRPr lang="en-US" altLang="zh-CN"/>
          </a:p>
        </p:txBody>
      </p:sp>
      <p:sp>
        <p:nvSpPr>
          <p:cNvPr id="150531" name="Rectangle 3">
            <a:extLst>
              <a:ext uri="{FF2B5EF4-FFF2-40B4-BE49-F238E27FC236}">
                <a16:creationId xmlns:a16="http://schemas.microsoft.com/office/drawing/2014/main" id="{3340AC58-88AF-2533-7093-4031BA893DBD}"/>
              </a:ext>
            </a:extLst>
          </p:cNvPr>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zh-CN"/>
          </a:p>
        </p:txBody>
      </p:sp>
      <p:sp>
        <p:nvSpPr>
          <p:cNvPr id="150532" name="Rectangle 4">
            <a:extLst>
              <a:ext uri="{FF2B5EF4-FFF2-40B4-BE49-F238E27FC236}">
                <a16:creationId xmlns:a16="http://schemas.microsoft.com/office/drawing/2014/main" id="{EBEE00E7-7C9B-8F3E-C147-799086607A86}"/>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0533" name="Rectangle 5">
            <a:extLst>
              <a:ext uri="{FF2B5EF4-FFF2-40B4-BE49-F238E27FC236}">
                <a16:creationId xmlns:a16="http://schemas.microsoft.com/office/drawing/2014/main" id="{96B78863-6150-997D-1728-036AC90E0823}"/>
              </a:ext>
            </a:extLst>
          </p:cNvPr>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50534" name="Rectangle 6">
            <a:extLst>
              <a:ext uri="{FF2B5EF4-FFF2-40B4-BE49-F238E27FC236}">
                <a16:creationId xmlns:a16="http://schemas.microsoft.com/office/drawing/2014/main" id="{4F2A685B-3283-93B2-017F-B96AD09A10C7}"/>
              </a:ext>
            </a:extLst>
          </p:cNvPr>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lvl1pPr>
          </a:lstStyle>
          <a:p>
            <a:r>
              <a:rPr lang="en-US" altLang="zh-CN"/>
              <a:t>讲义制做：中山大学管理学院陈志祥</a:t>
            </a:r>
          </a:p>
        </p:txBody>
      </p:sp>
      <p:sp>
        <p:nvSpPr>
          <p:cNvPr id="150535" name="Rectangle 7">
            <a:extLst>
              <a:ext uri="{FF2B5EF4-FFF2-40B4-BE49-F238E27FC236}">
                <a16:creationId xmlns:a16="http://schemas.microsoft.com/office/drawing/2014/main" id="{25454DA9-D481-D042-96DB-3D6BF425F2B5}"/>
              </a:ext>
            </a:extLst>
          </p:cNvPr>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6812AC06-4735-44C0-B493-6E3F2CC33BE0}" type="slidenum">
              <a:rPr lang="en-US" altLang="zh-CN"/>
              <a:pPr/>
              <a:t>‹#›</a:t>
            </a:fld>
            <a:endParaRPr lang="en-US" altLang="zh-CN"/>
          </a:p>
        </p:txBody>
      </p:sp>
    </p:spTree>
  </p:cSld>
  <p:clrMap bg1="lt1" tx1="dk1" bg2="lt2" tx2="dk2" accent1="accent1" accent2="accent2" accent3="accent3" accent4="accent4" accent5="accent5" accent6="accent6" hlink="hlink" folHlink="folHlink"/>
  <p:hf hdr="0" dt="0"/>
  <p:notesStyle>
    <a:lvl1pPr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E564C43-5239-DB16-A5DA-5318BFD12021}"/>
              </a:ext>
            </a:extLst>
          </p:cNvPr>
          <p:cNvSpPr>
            <a:spLocks noGrp="1" noChangeArrowheads="1"/>
          </p:cNvSpPr>
          <p:nvPr>
            <p:ph type="ftr" sz="quarter" idx="4"/>
          </p:nvPr>
        </p:nvSpPr>
        <p:spPr>
          <a:ln/>
        </p:spPr>
        <p:txBody>
          <a:bodyPr/>
          <a:lstStyle/>
          <a:p>
            <a:r>
              <a:rPr lang="en-US" altLang="zh-CN"/>
              <a:t>讲义制做：中山大学管理学院陈志祥</a:t>
            </a:r>
          </a:p>
        </p:txBody>
      </p:sp>
      <p:sp>
        <p:nvSpPr>
          <p:cNvPr id="5" name="Rectangle 7">
            <a:extLst>
              <a:ext uri="{FF2B5EF4-FFF2-40B4-BE49-F238E27FC236}">
                <a16:creationId xmlns:a16="http://schemas.microsoft.com/office/drawing/2014/main" id="{17F87084-6518-4EAC-B5EE-0FF1B1967907}"/>
              </a:ext>
            </a:extLst>
          </p:cNvPr>
          <p:cNvSpPr>
            <a:spLocks noGrp="1" noChangeArrowheads="1"/>
          </p:cNvSpPr>
          <p:nvPr>
            <p:ph type="sldNum" sz="quarter" idx="5"/>
          </p:nvPr>
        </p:nvSpPr>
        <p:spPr>
          <a:ln/>
        </p:spPr>
        <p:txBody>
          <a:bodyPr/>
          <a:lstStyle/>
          <a:p>
            <a:fld id="{06DA40FB-4377-4136-831F-ACE47DDE7E6B}" type="slidenum">
              <a:rPr lang="en-US" altLang="zh-CN"/>
              <a:pPr/>
              <a:t>4</a:t>
            </a:fld>
            <a:endParaRPr lang="en-US" altLang="zh-CN"/>
          </a:p>
        </p:txBody>
      </p:sp>
      <p:sp>
        <p:nvSpPr>
          <p:cNvPr id="151554" name="Rectangle 2">
            <a:extLst>
              <a:ext uri="{FF2B5EF4-FFF2-40B4-BE49-F238E27FC236}">
                <a16:creationId xmlns:a16="http://schemas.microsoft.com/office/drawing/2014/main" id="{2CA39121-D5EB-7191-1CAD-1BF096A7E4EE}"/>
              </a:ext>
            </a:extLst>
          </p:cNvPr>
          <p:cNvSpPr>
            <a:spLocks noRot="1" noChangeArrowheads="1" noTextEdit="1"/>
          </p:cNvSpPr>
          <p:nvPr>
            <p:ph type="sldImg"/>
          </p:nvPr>
        </p:nvSpPr>
        <p:spPr>
          <a:ln/>
        </p:spPr>
      </p:sp>
      <p:sp>
        <p:nvSpPr>
          <p:cNvPr id="151555" name="Rectangle 3">
            <a:extLst>
              <a:ext uri="{FF2B5EF4-FFF2-40B4-BE49-F238E27FC236}">
                <a16:creationId xmlns:a16="http://schemas.microsoft.com/office/drawing/2014/main" id="{F694F36E-9F8F-8C94-4420-D6043CB50EB5}"/>
              </a:ext>
            </a:extLst>
          </p:cNvPr>
          <p:cNvSpPr>
            <a:spLocks noGrp="1" noChangeArrowheads="1"/>
          </p:cNvSpPr>
          <p:nvPr>
            <p:ph type="body" idx="1"/>
          </p:nvPr>
        </p:nvSpPr>
        <p:spPr/>
        <p:txBody>
          <a:bodyPr/>
          <a:lstStyle/>
          <a:p>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265218" name="Group 2">
            <a:extLst>
              <a:ext uri="{FF2B5EF4-FFF2-40B4-BE49-F238E27FC236}">
                <a16:creationId xmlns:a16="http://schemas.microsoft.com/office/drawing/2014/main" id="{5B95E32C-12C2-489B-DE86-37C4A0355D1A}"/>
              </a:ext>
            </a:extLst>
          </p:cNvPr>
          <p:cNvGrpSpPr>
            <a:grpSpLocks/>
          </p:cNvGrpSpPr>
          <p:nvPr/>
        </p:nvGrpSpPr>
        <p:grpSpPr bwMode="auto">
          <a:xfrm>
            <a:off x="-6350" y="20638"/>
            <a:ext cx="9144000" cy="6858000"/>
            <a:chOff x="0" y="0"/>
            <a:chExt cx="5760" cy="4320"/>
          </a:xfrm>
        </p:grpSpPr>
        <p:sp>
          <p:nvSpPr>
            <p:cNvPr id="265219" name="Freeform 3">
              <a:extLst>
                <a:ext uri="{FF2B5EF4-FFF2-40B4-BE49-F238E27FC236}">
                  <a16:creationId xmlns:a16="http://schemas.microsoft.com/office/drawing/2014/main" id="{EBA210B8-22D9-F744-A36F-C1D69FBC7BAE}"/>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0" name="Freeform 4">
              <a:extLst>
                <a:ext uri="{FF2B5EF4-FFF2-40B4-BE49-F238E27FC236}">
                  <a16:creationId xmlns:a16="http://schemas.microsoft.com/office/drawing/2014/main" id="{0D22D40C-5603-EE41-7595-DE229D76E1B9}"/>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21" name="Freeform 5">
            <a:extLst>
              <a:ext uri="{FF2B5EF4-FFF2-40B4-BE49-F238E27FC236}">
                <a16:creationId xmlns:a16="http://schemas.microsoft.com/office/drawing/2014/main" id="{71E4F993-7CC4-FBBD-80B3-BDEB4362B126}"/>
              </a:ext>
            </a:extLst>
          </p:cNvPr>
          <p:cNvSpPr>
            <a:spLocks/>
          </p:cNvSpPr>
          <p:nvPr/>
        </p:nvSpPr>
        <p:spPr bwMode="hidden">
          <a:xfrm>
            <a:off x="6242050" y="626903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2" name="Group 6">
            <a:extLst>
              <a:ext uri="{FF2B5EF4-FFF2-40B4-BE49-F238E27FC236}">
                <a16:creationId xmlns:a16="http://schemas.microsoft.com/office/drawing/2014/main" id="{DED9D131-6B6F-35D3-2FEC-DB8086444197}"/>
              </a:ext>
            </a:extLst>
          </p:cNvPr>
          <p:cNvGrpSpPr>
            <a:grpSpLocks/>
          </p:cNvGrpSpPr>
          <p:nvPr/>
        </p:nvGrpSpPr>
        <p:grpSpPr bwMode="auto">
          <a:xfrm>
            <a:off x="-1588" y="6034088"/>
            <a:ext cx="7845426" cy="850900"/>
            <a:chOff x="0" y="3792"/>
            <a:chExt cx="4942" cy="536"/>
          </a:xfrm>
        </p:grpSpPr>
        <p:sp>
          <p:nvSpPr>
            <p:cNvPr id="265223" name="Freeform 7">
              <a:extLst>
                <a:ext uri="{FF2B5EF4-FFF2-40B4-BE49-F238E27FC236}">
                  <a16:creationId xmlns:a16="http://schemas.microsoft.com/office/drawing/2014/main" id="{D7997A96-7022-413C-91EB-056C461AAD03}"/>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5224" name="Group 8">
              <a:extLst>
                <a:ext uri="{FF2B5EF4-FFF2-40B4-BE49-F238E27FC236}">
                  <a16:creationId xmlns:a16="http://schemas.microsoft.com/office/drawing/2014/main" id="{472C60A3-ADE1-3692-3153-C9E06ADCEB5F}"/>
                </a:ext>
              </a:extLst>
            </p:cNvPr>
            <p:cNvGrpSpPr>
              <a:grpSpLocks/>
            </p:cNvGrpSpPr>
            <p:nvPr userDrawn="1"/>
          </p:nvGrpSpPr>
          <p:grpSpPr bwMode="auto">
            <a:xfrm>
              <a:off x="2486" y="3792"/>
              <a:ext cx="2456" cy="536"/>
              <a:chOff x="2486" y="3792"/>
              <a:chExt cx="2456" cy="536"/>
            </a:xfrm>
          </p:grpSpPr>
          <p:sp>
            <p:nvSpPr>
              <p:cNvPr id="265225" name="Freeform 9">
                <a:extLst>
                  <a:ext uri="{FF2B5EF4-FFF2-40B4-BE49-F238E27FC236}">
                    <a16:creationId xmlns:a16="http://schemas.microsoft.com/office/drawing/2014/main" id="{CB5695F0-B919-E092-F8B8-1877C4A8ED78}"/>
                  </a:ext>
                </a:extLst>
              </p:cNvPr>
              <p:cNvSpPr>
                <a:spLocks/>
              </p:cNvSpPr>
              <p:nvPr userDrawn="1"/>
            </p:nvSpPr>
            <p:spPr bwMode="ltGray">
              <a:xfrm>
                <a:off x="3948" y="3799"/>
                <a:ext cx="994" cy="529"/>
              </a:xfrm>
              <a:custGeom>
                <a:avLst/>
                <a:gdLst>
                  <a:gd name="T0" fmla="*/ 636 w 994"/>
                  <a:gd name="T1" fmla="*/ 373 h 529"/>
                  <a:gd name="T2" fmla="*/ 495 w 994"/>
                  <a:gd name="T3" fmla="*/ 370 h 529"/>
                  <a:gd name="T4" fmla="*/ 280 w 994"/>
                  <a:gd name="T5" fmla="*/ 249 h 529"/>
                  <a:gd name="T6" fmla="*/ 127 w 994"/>
                  <a:gd name="T7" fmla="*/ 66 h 529"/>
                  <a:gd name="T8" fmla="*/ 0 w 994"/>
                  <a:gd name="T9" fmla="*/ 0 h 529"/>
                  <a:gd name="T10" fmla="*/ 22 w 994"/>
                  <a:gd name="T11" fmla="*/ 26 h 529"/>
                  <a:gd name="T12" fmla="*/ 0 w 994"/>
                  <a:gd name="T13" fmla="*/ 65 h 529"/>
                  <a:gd name="T14" fmla="*/ 30 w 994"/>
                  <a:gd name="T15" fmla="*/ 119 h 529"/>
                  <a:gd name="T16" fmla="*/ 75 w 994"/>
                  <a:gd name="T17" fmla="*/ 243 h 529"/>
                  <a:gd name="T18" fmla="*/ 45 w 994"/>
                  <a:gd name="T19" fmla="*/ 422 h 529"/>
                  <a:gd name="T20" fmla="*/ 200 w 994"/>
                  <a:gd name="T21" fmla="*/ 329 h 529"/>
                  <a:gd name="T22" fmla="*/ 592 w 994"/>
                  <a:gd name="T23" fmla="*/ 527 h 529"/>
                  <a:gd name="T24" fmla="*/ 994 w 994"/>
                  <a:gd name="T25" fmla="*/ 529 h 529"/>
                  <a:gd name="T26" fmla="*/ 828 w 994"/>
                  <a:gd name="T27" fmla="*/ 473 h 529"/>
                  <a:gd name="T28" fmla="*/ 636 w 994"/>
                  <a:gd name="T29" fmla="*/ 373 h 5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4" h="529">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592" y="527"/>
                    </a:lnTo>
                    <a:lnTo>
                      <a:pt x="994"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6" name="Freeform 10">
                <a:extLst>
                  <a:ext uri="{FF2B5EF4-FFF2-40B4-BE49-F238E27FC236}">
                    <a16:creationId xmlns:a16="http://schemas.microsoft.com/office/drawing/2014/main" id="{9CF89CF0-FF22-A71B-293A-FFD3782E4310}"/>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7" name="Freeform 11">
                <a:extLst>
                  <a:ext uri="{FF2B5EF4-FFF2-40B4-BE49-F238E27FC236}">
                    <a16:creationId xmlns:a16="http://schemas.microsoft.com/office/drawing/2014/main" id="{0DAED5AC-678D-1A31-BBAF-54C482B560F3}"/>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8" name="Freeform 12">
                <a:extLst>
                  <a:ext uri="{FF2B5EF4-FFF2-40B4-BE49-F238E27FC236}">
                    <a16:creationId xmlns:a16="http://schemas.microsoft.com/office/drawing/2014/main" id="{01A0ED1B-BBD2-E82C-5191-BDF63B8D987C}"/>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29" name="Freeform 13">
                <a:extLst>
                  <a:ext uri="{FF2B5EF4-FFF2-40B4-BE49-F238E27FC236}">
                    <a16:creationId xmlns:a16="http://schemas.microsoft.com/office/drawing/2014/main" id="{F50ECFB6-922C-8F7F-BF2A-0DA6B2D055E4}"/>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0" name="Freeform 14">
              <a:extLst>
                <a:ext uri="{FF2B5EF4-FFF2-40B4-BE49-F238E27FC236}">
                  <a16:creationId xmlns:a16="http://schemas.microsoft.com/office/drawing/2014/main" id="{3468331F-C2DF-212E-1B36-A3E9A6B95A9C}"/>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5231" name="Group 15">
            <a:extLst>
              <a:ext uri="{FF2B5EF4-FFF2-40B4-BE49-F238E27FC236}">
                <a16:creationId xmlns:a16="http://schemas.microsoft.com/office/drawing/2014/main" id="{6F378192-489E-46E1-A5DF-9A3670F5F5B1}"/>
              </a:ext>
            </a:extLst>
          </p:cNvPr>
          <p:cNvGrpSpPr>
            <a:grpSpLocks/>
          </p:cNvGrpSpPr>
          <p:nvPr/>
        </p:nvGrpSpPr>
        <p:grpSpPr bwMode="auto">
          <a:xfrm>
            <a:off x="627063" y="6021388"/>
            <a:ext cx="5684837" cy="849312"/>
            <a:chOff x="395" y="3793"/>
            <a:chExt cx="3581" cy="535"/>
          </a:xfrm>
        </p:grpSpPr>
        <p:sp>
          <p:nvSpPr>
            <p:cNvPr id="265232" name="Freeform 16">
              <a:extLst>
                <a:ext uri="{FF2B5EF4-FFF2-40B4-BE49-F238E27FC236}">
                  <a16:creationId xmlns:a16="http://schemas.microsoft.com/office/drawing/2014/main" id="{295400F9-849A-76AC-80ED-4CC2014E31EF}"/>
                </a:ext>
              </a:extLst>
            </p:cNvPr>
            <p:cNvSpPr>
              <a:spLocks/>
            </p:cNvSpPr>
            <p:nvPr userDrawn="1"/>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3" name="Freeform 17">
              <a:extLst>
                <a:ext uri="{FF2B5EF4-FFF2-40B4-BE49-F238E27FC236}">
                  <a16:creationId xmlns:a16="http://schemas.microsoft.com/office/drawing/2014/main" id="{636D7EB3-CD6A-F18C-2A72-59CDD74C534F}"/>
                </a:ext>
              </a:extLst>
            </p:cNvPr>
            <p:cNvSpPr>
              <a:spLocks/>
            </p:cNvSpPr>
            <p:nvPr userDrawn="1"/>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4" name="Freeform 18">
              <a:extLst>
                <a:ext uri="{FF2B5EF4-FFF2-40B4-BE49-F238E27FC236}">
                  <a16:creationId xmlns:a16="http://schemas.microsoft.com/office/drawing/2014/main" id="{88C35512-3FAE-63E2-1F0C-D34D5F366263}"/>
                </a:ext>
              </a:extLst>
            </p:cNvPr>
            <p:cNvSpPr>
              <a:spLocks/>
            </p:cNvSpPr>
            <p:nvPr userDrawn="1"/>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5" name="Freeform 19">
              <a:extLst>
                <a:ext uri="{FF2B5EF4-FFF2-40B4-BE49-F238E27FC236}">
                  <a16:creationId xmlns:a16="http://schemas.microsoft.com/office/drawing/2014/main" id="{C96B1D87-0B01-D095-2475-D3BFF5E44F39}"/>
                </a:ext>
              </a:extLst>
            </p:cNvPr>
            <p:cNvSpPr>
              <a:spLocks/>
            </p:cNvSpPr>
            <p:nvPr userDrawn="1"/>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6" name="Freeform 20">
              <a:extLst>
                <a:ext uri="{FF2B5EF4-FFF2-40B4-BE49-F238E27FC236}">
                  <a16:creationId xmlns:a16="http://schemas.microsoft.com/office/drawing/2014/main" id="{20C08450-B810-CAB4-0B0A-32E5F6876410}"/>
                </a:ext>
              </a:extLst>
            </p:cNvPr>
            <p:cNvSpPr>
              <a:spLocks/>
            </p:cNvSpPr>
            <p:nvPr userDrawn="1"/>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5237" name="Freeform 21">
              <a:extLst>
                <a:ext uri="{FF2B5EF4-FFF2-40B4-BE49-F238E27FC236}">
                  <a16:creationId xmlns:a16="http://schemas.microsoft.com/office/drawing/2014/main" id="{4AADFCC9-9419-2213-CA95-B128B400FE2D}"/>
                </a:ext>
              </a:extLst>
            </p:cNvPr>
            <p:cNvSpPr>
              <a:spLocks/>
            </p:cNvSpPr>
            <p:nvPr userDrawn="1"/>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5238" name="Rectangle 22">
            <a:extLst>
              <a:ext uri="{FF2B5EF4-FFF2-40B4-BE49-F238E27FC236}">
                <a16:creationId xmlns:a16="http://schemas.microsoft.com/office/drawing/2014/main" id="{12B65C8C-5BE3-2D08-ABD1-C02288DFCCC1}"/>
              </a:ext>
            </a:extLst>
          </p:cNvPr>
          <p:cNvSpPr>
            <a:spLocks noGrp="1" noChangeArrowheads="1"/>
          </p:cNvSpPr>
          <p:nvPr>
            <p:ph type="ctrTitle" sz="quarter"/>
          </p:nvPr>
        </p:nvSpPr>
        <p:spPr>
          <a:xfrm>
            <a:off x="457200" y="1447800"/>
            <a:ext cx="8229600" cy="1736725"/>
          </a:xfrm>
        </p:spPr>
        <p:txBody>
          <a:bodyPr/>
          <a:lstStyle>
            <a:lvl1pPr>
              <a:defRPr sz="5400"/>
            </a:lvl1pPr>
          </a:lstStyle>
          <a:p>
            <a:pPr lvl="0"/>
            <a:r>
              <a:rPr lang="zh-CN" altLang="en-US" noProof="0"/>
              <a:t>单击此处编辑母版标题样式</a:t>
            </a:r>
          </a:p>
        </p:txBody>
      </p:sp>
      <p:sp>
        <p:nvSpPr>
          <p:cNvPr id="265239" name="Rectangle 23">
            <a:extLst>
              <a:ext uri="{FF2B5EF4-FFF2-40B4-BE49-F238E27FC236}">
                <a16:creationId xmlns:a16="http://schemas.microsoft.com/office/drawing/2014/main" id="{A0E529B2-CD4D-DFE4-BF36-497E74C968CE}"/>
              </a:ext>
            </a:extLst>
          </p:cNvPr>
          <p:cNvSpPr>
            <a:spLocks noGrp="1" noChangeArrowheads="1"/>
          </p:cNvSpPr>
          <p:nvPr>
            <p:ph type="subTitle" sz="quarter" idx="1"/>
          </p:nvPr>
        </p:nvSpPr>
        <p:spPr>
          <a:xfrm>
            <a:off x="1371600" y="3429000"/>
            <a:ext cx="6400800" cy="1752600"/>
          </a:xfrm>
        </p:spPr>
        <p:txBody>
          <a:bodyPr/>
          <a:lstStyle>
            <a:lvl1pPr marL="0" indent="0" algn="ctr">
              <a:buFontTx/>
              <a:buNone/>
              <a:defRPr>
                <a:effectLst>
                  <a:outerShdw blurRad="38100" dist="38100" dir="2700000" algn="tl">
                    <a:srgbClr val="000000"/>
                  </a:outerShdw>
                </a:effectLst>
              </a:defRPr>
            </a:lvl1pPr>
          </a:lstStyle>
          <a:p>
            <a:pPr lvl="0"/>
            <a:r>
              <a:rPr lang="zh-CN" altLang="en-US" noProof="0"/>
              <a:t>单击此处编辑母版副标题样式</a:t>
            </a:r>
          </a:p>
        </p:txBody>
      </p:sp>
      <p:sp>
        <p:nvSpPr>
          <p:cNvPr id="265240" name="Rectangle 24">
            <a:extLst>
              <a:ext uri="{FF2B5EF4-FFF2-40B4-BE49-F238E27FC236}">
                <a16:creationId xmlns:a16="http://schemas.microsoft.com/office/drawing/2014/main" id="{A7F34B45-3F0E-EB7F-ADD2-FCAEFEBD1944}"/>
              </a:ext>
            </a:extLst>
          </p:cNvPr>
          <p:cNvSpPr>
            <a:spLocks noGrp="1" noChangeArrowheads="1"/>
          </p:cNvSpPr>
          <p:nvPr>
            <p:ph type="dt" sz="quarter" idx="2"/>
          </p:nvPr>
        </p:nvSpPr>
        <p:spPr/>
        <p:txBody>
          <a:bodyPr/>
          <a:lstStyle>
            <a:lvl1pPr>
              <a:defRPr/>
            </a:lvl1pPr>
          </a:lstStyle>
          <a:p>
            <a:r>
              <a:rPr lang="zh-CN" altLang="en-US"/>
              <a:t>讲义制作：李丽，陈志祥审</a:t>
            </a:r>
            <a:endParaRPr lang="en-US" altLang="zh-CN"/>
          </a:p>
        </p:txBody>
      </p:sp>
      <p:sp>
        <p:nvSpPr>
          <p:cNvPr id="265241" name="Rectangle 25">
            <a:extLst>
              <a:ext uri="{FF2B5EF4-FFF2-40B4-BE49-F238E27FC236}">
                <a16:creationId xmlns:a16="http://schemas.microsoft.com/office/drawing/2014/main" id="{CEBE113F-5248-9DF7-DC0A-3C86A94EE66E}"/>
              </a:ext>
            </a:extLst>
          </p:cNvPr>
          <p:cNvSpPr>
            <a:spLocks noGrp="1" noChangeArrowheads="1"/>
          </p:cNvSpPr>
          <p:nvPr>
            <p:ph type="sldNum" sz="quarter" idx="4"/>
          </p:nvPr>
        </p:nvSpPr>
        <p:spPr/>
        <p:txBody>
          <a:bodyPr/>
          <a:lstStyle>
            <a:lvl1pPr>
              <a:defRPr/>
            </a:lvl1pPr>
          </a:lstStyle>
          <a:p>
            <a:fld id="{AEB9922B-4DE5-4FB7-BAFB-51BCFD104ED5}" type="slidenum">
              <a:rPr lang="en-US" altLang="zh-CN"/>
              <a:pPr/>
              <a:t>‹#›</a:t>
            </a:fld>
            <a:endParaRPr lang="en-US" altLang="zh-CN"/>
          </a:p>
        </p:txBody>
      </p:sp>
      <p:sp>
        <p:nvSpPr>
          <p:cNvPr id="265242" name="Rectangle 26">
            <a:extLst>
              <a:ext uri="{FF2B5EF4-FFF2-40B4-BE49-F238E27FC236}">
                <a16:creationId xmlns:a16="http://schemas.microsoft.com/office/drawing/2014/main" id="{0C1D7792-57ED-C1FC-B30A-5CF0044A2CA4}"/>
              </a:ext>
            </a:extLst>
          </p:cNvPr>
          <p:cNvSpPr>
            <a:spLocks noGrp="1" noChangeArrowheads="1"/>
          </p:cNvSpPr>
          <p:nvPr>
            <p:ph type="ftr" sz="quarter" idx="3"/>
          </p:nvPr>
        </p:nvSpPr>
        <p:spPr/>
        <p:txBody>
          <a:bodyPr/>
          <a:lstStyle>
            <a:lvl1pPr>
              <a:defRPr/>
            </a:lvl1pPr>
          </a:lstStyle>
          <a:p>
            <a:endParaRPr lang="en-US" altLang="zh-CN"/>
          </a:p>
        </p:txBody>
      </p:sp>
    </p:spTree>
  </p:cSld>
  <p:clrMapOvr>
    <a:masterClrMapping/>
  </p:clrMapOvr>
  <p:transition spd="slow">
    <p:strips dir="rd"/>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D165D5-CC00-CC02-9CFE-FDD38A127AF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8189D09E-AEE5-379D-853E-D16DC57E3E55}"/>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8563040-7FA1-CE2C-B9EA-2E07155BCB09}"/>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028C6E05-051B-A562-0A9A-B5FBE1123ACF}"/>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CAB9B3D-220E-F5A9-E989-1F8C805D3939}"/>
              </a:ext>
            </a:extLst>
          </p:cNvPr>
          <p:cNvSpPr>
            <a:spLocks noGrp="1"/>
          </p:cNvSpPr>
          <p:nvPr>
            <p:ph type="sldNum" sz="quarter" idx="12"/>
          </p:nvPr>
        </p:nvSpPr>
        <p:spPr/>
        <p:txBody>
          <a:bodyPr/>
          <a:lstStyle>
            <a:lvl1pPr>
              <a:defRPr/>
            </a:lvl1pPr>
          </a:lstStyle>
          <a:p>
            <a:fld id="{A9D41FD7-7EAE-4549-A1A8-F2B8B20E2A2E}" type="slidenum">
              <a:rPr lang="en-US" altLang="zh-CN"/>
              <a:pPr/>
              <a:t>‹#›</a:t>
            </a:fld>
            <a:endParaRPr lang="en-US" altLang="zh-CN"/>
          </a:p>
        </p:txBody>
      </p:sp>
    </p:spTree>
    <p:extLst>
      <p:ext uri="{BB962C8B-B14F-4D97-AF65-F5344CB8AC3E}">
        <p14:creationId xmlns:p14="http://schemas.microsoft.com/office/powerpoint/2010/main" val="2012875811"/>
      </p:ext>
    </p:extLst>
  </p:cSld>
  <p:clrMapOvr>
    <a:masterClrMapping/>
  </p:clrMapOvr>
  <p:transition spd="slow">
    <p:strips dir="rd"/>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0A56648-0641-D2E9-7076-1A2B57ACD8F3}"/>
              </a:ext>
            </a:extLst>
          </p:cNvPr>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6AB75122-9AB3-64F0-A16A-2D8919E4A077}"/>
              </a:ext>
            </a:extLst>
          </p:cNvPr>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68D54C1E-3CFD-6C2D-7D2C-D3272457D107}"/>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B7801346-3827-C529-4FC0-DE0CCC1C196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0389E446-A470-1088-E0BD-37A890CF1326}"/>
              </a:ext>
            </a:extLst>
          </p:cNvPr>
          <p:cNvSpPr>
            <a:spLocks noGrp="1"/>
          </p:cNvSpPr>
          <p:nvPr>
            <p:ph type="sldNum" sz="quarter" idx="12"/>
          </p:nvPr>
        </p:nvSpPr>
        <p:spPr/>
        <p:txBody>
          <a:bodyPr/>
          <a:lstStyle>
            <a:lvl1pPr>
              <a:defRPr/>
            </a:lvl1pPr>
          </a:lstStyle>
          <a:p>
            <a:fld id="{FAB7CB7B-7941-421D-90EF-B8338A5320DB}" type="slidenum">
              <a:rPr lang="en-US" altLang="zh-CN"/>
              <a:pPr/>
              <a:t>‹#›</a:t>
            </a:fld>
            <a:endParaRPr lang="en-US" altLang="zh-CN"/>
          </a:p>
        </p:txBody>
      </p:sp>
    </p:spTree>
    <p:extLst>
      <p:ext uri="{BB962C8B-B14F-4D97-AF65-F5344CB8AC3E}">
        <p14:creationId xmlns:p14="http://schemas.microsoft.com/office/powerpoint/2010/main" val="1296818343"/>
      </p:ext>
    </p:extLst>
  </p:cSld>
  <p:clrMapOvr>
    <a:masterClrMapping/>
  </p:clrMapOvr>
  <p:transition spd="slow">
    <p:strips dir="rd"/>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855D46-B3DE-78B7-9F69-47B6FDFADDC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4E567280-E155-7C17-17B3-37D89A9457F2}"/>
              </a:ext>
            </a:extLst>
          </p:cNvPr>
          <p:cNvSpPr>
            <a:spLocks noGrp="1"/>
          </p:cNvSpPr>
          <p:nvPr>
            <p:ph sz="half" idx="1"/>
          </p:nvPr>
        </p:nvSpPr>
        <p:spPr>
          <a:xfrm>
            <a:off x="457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5AB65EF1-BDDE-A7B3-F4CB-2D81F0626162}"/>
              </a:ext>
            </a:extLst>
          </p:cNvPr>
          <p:cNvSpPr>
            <a:spLocks noGrp="1"/>
          </p:cNvSpPr>
          <p:nvPr>
            <p:ph sz="half" idx="2"/>
          </p:nvPr>
        </p:nvSpPr>
        <p:spPr>
          <a:xfrm>
            <a:off x="4648200" y="1600200"/>
            <a:ext cx="4038600" cy="4495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1443AFD-E075-94DF-0060-213F8380BA17}"/>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3DE814F1-F7BD-1D9A-5562-7A180B9D6F1C}"/>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B1F91182-7BDA-347E-69BC-84AE55593EF8}"/>
              </a:ext>
            </a:extLst>
          </p:cNvPr>
          <p:cNvSpPr>
            <a:spLocks noGrp="1"/>
          </p:cNvSpPr>
          <p:nvPr>
            <p:ph type="sldNum" sz="quarter" idx="12"/>
          </p:nvPr>
        </p:nvSpPr>
        <p:spPr/>
        <p:txBody>
          <a:bodyPr/>
          <a:lstStyle>
            <a:lvl1pPr>
              <a:defRPr/>
            </a:lvl1pPr>
          </a:lstStyle>
          <a:p>
            <a:fld id="{0B105804-8182-429A-B561-2793ED16901F}" type="slidenum">
              <a:rPr lang="en-US" altLang="zh-CN"/>
              <a:pPr/>
              <a:t>‹#›</a:t>
            </a:fld>
            <a:endParaRPr lang="en-US" altLang="zh-CN"/>
          </a:p>
        </p:txBody>
      </p:sp>
    </p:spTree>
    <p:extLst>
      <p:ext uri="{BB962C8B-B14F-4D97-AF65-F5344CB8AC3E}">
        <p14:creationId xmlns:p14="http://schemas.microsoft.com/office/powerpoint/2010/main" val="1732560461"/>
      </p:ext>
    </p:extLst>
  </p:cSld>
  <p:clrMapOvr>
    <a:masterClrMapping/>
  </p:clrMapOvr>
  <p:transition spd="slow">
    <p:strips dir="rd"/>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C89AD9-6C7E-9A36-9B8F-30E758BBE034}"/>
              </a:ext>
            </a:extLst>
          </p:cNvPr>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C680D71-2EAE-AD39-CD06-FAEB4FD2F949}"/>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5F692D45-7B96-3B0D-67A2-1236DED4F2A4}"/>
              </a:ext>
            </a:extLst>
          </p:cNvPr>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5FF59594-DFA4-2686-0F0E-C9A7712D484E}"/>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E719CF9D-87DF-8238-D8EE-D0E070098501}"/>
              </a:ext>
            </a:extLst>
          </p:cNvPr>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B6A87A49-61AD-9581-E404-A826996C4C65}"/>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8" name="页脚占位符 7">
            <a:extLst>
              <a:ext uri="{FF2B5EF4-FFF2-40B4-BE49-F238E27FC236}">
                <a16:creationId xmlns:a16="http://schemas.microsoft.com/office/drawing/2014/main" id="{7F573A3A-0640-031A-37A5-A9D2D49F3E10}"/>
              </a:ext>
            </a:extLst>
          </p:cNvPr>
          <p:cNvSpPr>
            <a:spLocks noGrp="1"/>
          </p:cNvSpPr>
          <p:nvPr>
            <p:ph type="ftr" sz="quarter" idx="11"/>
          </p:nvPr>
        </p:nvSpPr>
        <p:spPr/>
        <p:txBody>
          <a:bodyPr/>
          <a:lstStyle>
            <a:lvl1pPr>
              <a:defRPr/>
            </a:lvl1pPr>
          </a:lstStyle>
          <a:p>
            <a:endParaRPr lang="en-US" altLang="zh-CN"/>
          </a:p>
        </p:txBody>
      </p:sp>
      <p:sp>
        <p:nvSpPr>
          <p:cNvPr id="9" name="灯片编号占位符 8">
            <a:extLst>
              <a:ext uri="{FF2B5EF4-FFF2-40B4-BE49-F238E27FC236}">
                <a16:creationId xmlns:a16="http://schemas.microsoft.com/office/drawing/2014/main" id="{EDF3D299-EA78-0F04-B6C0-E688455DE367}"/>
              </a:ext>
            </a:extLst>
          </p:cNvPr>
          <p:cNvSpPr>
            <a:spLocks noGrp="1"/>
          </p:cNvSpPr>
          <p:nvPr>
            <p:ph type="sldNum" sz="quarter" idx="12"/>
          </p:nvPr>
        </p:nvSpPr>
        <p:spPr/>
        <p:txBody>
          <a:bodyPr/>
          <a:lstStyle>
            <a:lvl1pPr>
              <a:defRPr/>
            </a:lvl1pPr>
          </a:lstStyle>
          <a:p>
            <a:fld id="{BD230B85-81E3-4E0E-ADEE-FBA30A2FF57A}" type="slidenum">
              <a:rPr lang="en-US" altLang="zh-CN"/>
              <a:pPr/>
              <a:t>‹#›</a:t>
            </a:fld>
            <a:endParaRPr lang="en-US" altLang="zh-CN"/>
          </a:p>
        </p:txBody>
      </p:sp>
    </p:spTree>
    <p:extLst>
      <p:ext uri="{BB962C8B-B14F-4D97-AF65-F5344CB8AC3E}">
        <p14:creationId xmlns:p14="http://schemas.microsoft.com/office/powerpoint/2010/main" val="3959520068"/>
      </p:ext>
    </p:extLst>
  </p:cSld>
  <p:clrMapOvr>
    <a:masterClrMapping/>
  </p:clrMapOvr>
  <p:transition spd="slow">
    <p:strips dir="rd"/>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D1FE38-27AD-B906-EB1E-FF98E2B02407}"/>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096D755C-D365-B5FD-363D-598FD2380F55}"/>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4" name="页脚占位符 3">
            <a:extLst>
              <a:ext uri="{FF2B5EF4-FFF2-40B4-BE49-F238E27FC236}">
                <a16:creationId xmlns:a16="http://schemas.microsoft.com/office/drawing/2014/main" id="{15430F5A-A4A5-DEB4-9DA0-B5AFADECE4DF}"/>
              </a:ext>
            </a:extLst>
          </p:cNvPr>
          <p:cNvSpPr>
            <a:spLocks noGrp="1"/>
          </p:cNvSpPr>
          <p:nvPr>
            <p:ph type="ftr" sz="quarter" idx="11"/>
          </p:nvPr>
        </p:nvSpPr>
        <p:spPr/>
        <p:txBody>
          <a:bodyPr/>
          <a:lstStyle>
            <a:lvl1pPr>
              <a:defRPr/>
            </a:lvl1pPr>
          </a:lstStyle>
          <a:p>
            <a:endParaRPr lang="en-US" altLang="zh-CN"/>
          </a:p>
        </p:txBody>
      </p:sp>
      <p:sp>
        <p:nvSpPr>
          <p:cNvPr id="5" name="灯片编号占位符 4">
            <a:extLst>
              <a:ext uri="{FF2B5EF4-FFF2-40B4-BE49-F238E27FC236}">
                <a16:creationId xmlns:a16="http://schemas.microsoft.com/office/drawing/2014/main" id="{0C6E11D0-0BBB-42CE-7E00-B8B0471CA842}"/>
              </a:ext>
            </a:extLst>
          </p:cNvPr>
          <p:cNvSpPr>
            <a:spLocks noGrp="1"/>
          </p:cNvSpPr>
          <p:nvPr>
            <p:ph type="sldNum" sz="quarter" idx="12"/>
          </p:nvPr>
        </p:nvSpPr>
        <p:spPr/>
        <p:txBody>
          <a:bodyPr/>
          <a:lstStyle>
            <a:lvl1pPr>
              <a:defRPr/>
            </a:lvl1pPr>
          </a:lstStyle>
          <a:p>
            <a:fld id="{9E45A918-CACF-4C1F-86AB-B4A563DA37CD}" type="slidenum">
              <a:rPr lang="en-US" altLang="zh-CN"/>
              <a:pPr/>
              <a:t>‹#›</a:t>
            </a:fld>
            <a:endParaRPr lang="en-US" altLang="zh-CN"/>
          </a:p>
        </p:txBody>
      </p:sp>
    </p:spTree>
    <p:extLst>
      <p:ext uri="{BB962C8B-B14F-4D97-AF65-F5344CB8AC3E}">
        <p14:creationId xmlns:p14="http://schemas.microsoft.com/office/powerpoint/2010/main" val="592510238"/>
      </p:ext>
    </p:extLst>
  </p:cSld>
  <p:clrMapOvr>
    <a:masterClrMapping/>
  </p:clrMapOvr>
  <p:transition spd="slow">
    <p:strips dir="rd"/>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E2923F2-DE5F-BA87-8CBE-40DF0E8F5BDA}"/>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3" name="页脚占位符 2">
            <a:extLst>
              <a:ext uri="{FF2B5EF4-FFF2-40B4-BE49-F238E27FC236}">
                <a16:creationId xmlns:a16="http://schemas.microsoft.com/office/drawing/2014/main" id="{06B037C7-6A44-2A56-867E-9D2E96336669}"/>
              </a:ext>
            </a:extLst>
          </p:cNvPr>
          <p:cNvSpPr>
            <a:spLocks noGrp="1"/>
          </p:cNvSpPr>
          <p:nvPr>
            <p:ph type="ftr" sz="quarter" idx="11"/>
          </p:nvPr>
        </p:nvSpPr>
        <p:spPr/>
        <p:txBody>
          <a:bodyPr/>
          <a:lstStyle>
            <a:lvl1pPr>
              <a:defRPr/>
            </a:lvl1pPr>
          </a:lstStyle>
          <a:p>
            <a:endParaRPr lang="en-US" altLang="zh-CN"/>
          </a:p>
        </p:txBody>
      </p:sp>
      <p:sp>
        <p:nvSpPr>
          <p:cNvPr id="4" name="灯片编号占位符 3">
            <a:extLst>
              <a:ext uri="{FF2B5EF4-FFF2-40B4-BE49-F238E27FC236}">
                <a16:creationId xmlns:a16="http://schemas.microsoft.com/office/drawing/2014/main" id="{8FEDA322-1132-9BFC-7200-07E50E1ED02D}"/>
              </a:ext>
            </a:extLst>
          </p:cNvPr>
          <p:cNvSpPr>
            <a:spLocks noGrp="1"/>
          </p:cNvSpPr>
          <p:nvPr>
            <p:ph type="sldNum" sz="quarter" idx="12"/>
          </p:nvPr>
        </p:nvSpPr>
        <p:spPr/>
        <p:txBody>
          <a:bodyPr/>
          <a:lstStyle>
            <a:lvl1pPr>
              <a:defRPr/>
            </a:lvl1pPr>
          </a:lstStyle>
          <a:p>
            <a:fld id="{FB2BC5B1-CE28-4E82-B1A5-04C96BC1780A}" type="slidenum">
              <a:rPr lang="en-US" altLang="zh-CN"/>
              <a:pPr/>
              <a:t>‹#›</a:t>
            </a:fld>
            <a:endParaRPr lang="en-US" altLang="zh-CN"/>
          </a:p>
        </p:txBody>
      </p:sp>
    </p:spTree>
    <p:extLst>
      <p:ext uri="{BB962C8B-B14F-4D97-AF65-F5344CB8AC3E}">
        <p14:creationId xmlns:p14="http://schemas.microsoft.com/office/powerpoint/2010/main" val="97836478"/>
      </p:ext>
    </p:extLst>
  </p:cSld>
  <p:clrMapOvr>
    <a:masterClrMapping/>
  </p:clrMapOvr>
  <p:transition spd="slow">
    <p:strips dir="rd"/>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6FAD40A-F58F-8D18-A24B-796F75E8A706}"/>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42A775F-1E6B-4E57-CE58-C7FC55741D0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7030E334-BB69-96B5-4680-74340377D51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DC9A964-AAA3-4A2E-77A9-9BDFEDF12790}"/>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8D61F566-7654-9620-300B-5E73EFEB7B6F}"/>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256CA2F7-3A6B-ACCC-937F-45C723F9C116}"/>
              </a:ext>
            </a:extLst>
          </p:cNvPr>
          <p:cNvSpPr>
            <a:spLocks noGrp="1"/>
          </p:cNvSpPr>
          <p:nvPr>
            <p:ph type="sldNum" sz="quarter" idx="12"/>
          </p:nvPr>
        </p:nvSpPr>
        <p:spPr/>
        <p:txBody>
          <a:bodyPr/>
          <a:lstStyle>
            <a:lvl1pPr>
              <a:defRPr/>
            </a:lvl1pPr>
          </a:lstStyle>
          <a:p>
            <a:fld id="{91EE7922-8D55-4BCC-8CD6-D2EFB9FC7D9F}" type="slidenum">
              <a:rPr lang="en-US" altLang="zh-CN"/>
              <a:pPr/>
              <a:t>‹#›</a:t>
            </a:fld>
            <a:endParaRPr lang="en-US" altLang="zh-CN"/>
          </a:p>
        </p:txBody>
      </p:sp>
    </p:spTree>
    <p:extLst>
      <p:ext uri="{BB962C8B-B14F-4D97-AF65-F5344CB8AC3E}">
        <p14:creationId xmlns:p14="http://schemas.microsoft.com/office/powerpoint/2010/main" val="2090670564"/>
      </p:ext>
    </p:extLst>
  </p:cSld>
  <p:clrMapOvr>
    <a:masterClrMapping/>
  </p:clrMapOvr>
  <p:transition spd="slow">
    <p:strips dir="rd"/>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C1E422C-7982-A104-9BE4-7ACA96FD4C6E}"/>
              </a:ext>
            </a:extLst>
          </p:cNvPr>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4DDA18F3-2EC9-189B-5F70-D6ABD84ACAD9}"/>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FD6D8242-FA71-3EBC-AE48-B1C8683A7E99}"/>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D945DB1-7113-C06F-D39B-3D3292FF6FF6}"/>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6" name="页脚占位符 5">
            <a:extLst>
              <a:ext uri="{FF2B5EF4-FFF2-40B4-BE49-F238E27FC236}">
                <a16:creationId xmlns:a16="http://schemas.microsoft.com/office/drawing/2014/main" id="{5ABDCBB4-EFDC-D2EB-9AEB-E3840D699540}"/>
              </a:ext>
            </a:extLst>
          </p:cNvPr>
          <p:cNvSpPr>
            <a:spLocks noGrp="1"/>
          </p:cNvSpPr>
          <p:nvPr>
            <p:ph type="ftr" sz="quarter" idx="11"/>
          </p:nvPr>
        </p:nvSpPr>
        <p:spPr/>
        <p:txBody>
          <a:bodyPr/>
          <a:lstStyle>
            <a:lvl1pPr>
              <a:defRPr/>
            </a:lvl1pPr>
          </a:lstStyle>
          <a:p>
            <a:endParaRPr lang="en-US" altLang="zh-CN"/>
          </a:p>
        </p:txBody>
      </p:sp>
      <p:sp>
        <p:nvSpPr>
          <p:cNvPr id="7" name="灯片编号占位符 6">
            <a:extLst>
              <a:ext uri="{FF2B5EF4-FFF2-40B4-BE49-F238E27FC236}">
                <a16:creationId xmlns:a16="http://schemas.microsoft.com/office/drawing/2014/main" id="{1B459B27-A01E-76B5-78E7-CBBDC713EB85}"/>
              </a:ext>
            </a:extLst>
          </p:cNvPr>
          <p:cNvSpPr>
            <a:spLocks noGrp="1"/>
          </p:cNvSpPr>
          <p:nvPr>
            <p:ph type="sldNum" sz="quarter" idx="12"/>
          </p:nvPr>
        </p:nvSpPr>
        <p:spPr/>
        <p:txBody>
          <a:bodyPr/>
          <a:lstStyle>
            <a:lvl1pPr>
              <a:defRPr/>
            </a:lvl1pPr>
          </a:lstStyle>
          <a:p>
            <a:fld id="{C41EDC2C-8381-4CF7-99DE-11A6032E4EB2}" type="slidenum">
              <a:rPr lang="en-US" altLang="zh-CN"/>
              <a:pPr/>
              <a:t>‹#›</a:t>
            </a:fld>
            <a:endParaRPr lang="en-US" altLang="zh-CN"/>
          </a:p>
        </p:txBody>
      </p:sp>
    </p:spTree>
    <p:extLst>
      <p:ext uri="{BB962C8B-B14F-4D97-AF65-F5344CB8AC3E}">
        <p14:creationId xmlns:p14="http://schemas.microsoft.com/office/powerpoint/2010/main" val="3167114994"/>
      </p:ext>
    </p:extLst>
  </p:cSld>
  <p:clrMapOvr>
    <a:masterClrMapping/>
  </p:clrMapOvr>
  <p:transition spd="slow">
    <p:strips dir="rd"/>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4BA196-81B8-CF66-B9AD-954E43494FB9}"/>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2888B89-948F-243A-B4D3-BA253F58C961}"/>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A6DD2806-A747-EB18-FA36-E6225E959586}"/>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AF0B0F14-DDF3-8465-0E15-D7F3C372EB67}"/>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A606153B-83BC-E63C-12A4-EA05D57B7C6B}"/>
              </a:ext>
            </a:extLst>
          </p:cNvPr>
          <p:cNvSpPr>
            <a:spLocks noGrp="1"/>
          </p:cNvSpPr>
          <p:nvPr>
            <p:ph type="sldNum" sz="quarter" idx="12"/>
          </p:nvPr>
        </p:nvSpPr>
        <p:spPr/>
        <p:txBody>
          <a:bodyPr/>
          <a:lstStyle>
            <a:lvl1pPr>
              <a:defRPr/>
            </a:lvl1pPr>
          </a:lstStyle>
          <a:p>
            <a:fld id="{2BF8EFCC-48FD-4C92-8F28-43852C78D1FA}" type="slidenum">
              <a:rPr lang="en-US" altLang="zh-CN"/>
              <a:pPr/>
              <a:t>‹#›</a:t>
            </a:fld>
            <a:endParaRPr lang="en-US" altLang="zh-CN"/>
          </a:p>
        </p:txBody>
      </p:sp>
    </p:spTree>
    <p:extLst>
      <p:ext uri="{BB962C8B-B14F-4D97-AF65-F5344CB8AC3E}">
        <p14:creationId xmlns:p14="http://schemas.microsoft.com/office/powerpoint/2010/main" val="763710782"/>
      </p:ext>
    </p:extLst>
  </p:cSld>
  <p:clrMapOvr>
    <a:masterClrMapping/>
  </p:clrMapOvr>
  <p:transition spd="slow">
    <p:strips dir="rd"/>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A2540B8-5743-47F2-558A-91F6A686B871}"/>
              </a:ext>
            </a:extLst>
          </p:cNvPr>
          <p:cNvSpPr>
            <a:spLocks noGrp="1"/>
          </p:cNvSpPr>
          <p:nvPr>
            <p:ph type="title" orient="vert"/>
          </p:nvPr>
        </p:nvSpPr>
        <p:spPr>
          <a:xfrm>
            <a:off x="6629400" y="228600"/>
            <a:ext cx="2057400" cy="5867400"/>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0F19227F-7D97-CA6C-52F7-7E648D972A37}"/>
              </a:ext>
            </a:extLst>
          </p:cNvPr>
          <p:cNvSpPr>
            <a:spLocks noGrp="1"/>
          </p:cNvSpPr>
          <p:nvPr>
            <p:ph type="body" orient="vert" idx="1"/>
          </p:nvPr>
        </p:nvSpPr>
        <p:spPr>
          <a:xfrm>
            <a:off x="457200" y="228600"/>
            <a:ext cx="6019800" cy="5867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4142874-7707-4739-3A65-80515066E95D}"/>
              </a:ext>
            </a:extLst>
          </p:cNvPr>
          <p:cNvSpPr>
            <a:spLocks noGrp="1"/>
          </p:cNvSpPr>
          <p:nvPr>
            <p:ph type="dt" sz="half" idx="10"/>
          </p:nvPr>
        </p:nvSpPr>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39C36CBB-A559-3310-E8BC-637307621711}"/>
              </a:ext>
            </a:extLst>
          </p:cNvPr>
          <p:cNvSpPr>
            <a:spLocks noGrp="1"/>
          </p:cNvSpPr>
          <p:nvPr>
            <p:ph type="ftr" sz="quarter" idx="11"/>
          </p:nvPr>
        </p:nvSpPr>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4CAC95FA-094D-1391-3F96-E6543F76A8AA}"/>
              </a:ext>
            </a:extLst>
          </p:cNvPr>
          <p:cNvSpPr>
            <a:spLocks noGrp="1"/>
          </p:cNvSpPr>
          <p:nvPr>
            <p:ph type="sldNum" sz="quarter" idx="12"/>
          </p:nvPr>
        </p:nvSpPr>
        <p:spPr/>
        <p:txBody>
          <a:bodyPr/>
          <a:lstStyle>
            <a:lvl1pPr>
              <a:defRPr/>
            </a:lvl1pPr>
          </a:lstStyle>
          <a:p>
            <a:fld id="{4853409B-3BA5-4AA6-A54A-AA909716C1DC}" type="slidenum">
              <a:rPr lang="en-US" altLang="zh-CN"/>
              <a:pPr/>
              <a:t>‹#›</a:t>
            </a:fld>
            <a:endParaRPr lang="en-US" altLang="zh-CN"/>
          </a:p>
        </p:txBody>
      </p:sp>
    </p:spTree>
    <p:extLst>
      <p:ext uri="{BB962C8B-B14F-4D97-AF65-F5344CB8AC3E}">
        <p14:creationId xmlns:p14="http://schemas.microsoft.com/office/powerpoint/2010/main" val="2753152087"/>
      </p:ext>
    </p:extLst>
  </p:cSld>
  <p:clrMapOvr>
    <a:masterClrMapping/>
  </p:clrMapOvr>
  <p:transition spd="slow">
    <p:strips dir="rd"/>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5ED62A-3F75-A981-2CF7-FA04420165E8}"/>
              </a:ext>
            </a:extLst>
          </p:cNvPr>
          <p:cNvSpPr>
            <a:spLocks noGrp="1"/>
          </p:cNvSpPr>
          <p:nvPr>
            <p:ph type="title"/>
          </p:nvPr>
        </p:nvSpPr>
        <p:spPr>
          <a:xfrm>
            <a:off x="457200" y="228600"/>
            <a:ext cx="8229600" cy="1143000"/>
          </a:xfrm>
        </p:spPr>
        <p:txBody>
          <a:bodyPr/>
          <a:lstStyle/>
          <a:p>
            <a:r>
              <a:rPr lang="zh-CN" altLang="en-US"/>
              <a:t>单击此处编辑母版标题样式</a:t>
            </a:r>
          </a:p>
        </p:txBody>
      </p:sp>
      <p:sp>
        <p:nvSpPr>
          <p:cNvPr id="3" name="表格占位符 2">
            <a:extLst>
              <a:ext uri="{FF2B5EF4-FFF2-40B4-BE49-F238E27FC236}">
                <a16:creationId xmlns:a16="http://schemas.microsoft.com/office/drawing/2014/main" id="{A6FB37BC-7C89-8D26-8595-17150EBC27FD}"/>
              </a:ext>
            </a:extLst>
          </p:cNvPr>
          <p:cNvSpPr>
            <a:spLocks noGrp="1"/>
          </p:cNvSpPr>
          <p:nvPr>
            <p:ph type="tbl" idx="1"/>
          </p:nvPr>
        </p:nvSpPr>
        <p:spPr>
          <a:xfrm>
            <a:off x="457200" y="1600200"/>
            <a:ext cx="8229600" cy="4495800"/>
          </a:xfrm>
        </p:spPr>
        <p:txBody>
          <a:bodyPr/>
          <a:lstStyle/>
          <a:p>
            <a:endParaRPr lang="zh-CN" altLang="en-US"/>
          </a:p>
        </p:txBody>
      </p:sp>
      <p:sp>
        <p:nvSpPr>
          <p:cNvPr id="4" name="日期占位符 3">
            <a:extLst>
              <a:ext uri="{FF2B5EF4-FFF2-40B4-BE49-F238E27FC236}">
                <a16:creationId xmlns:a16="http://schemas.microsoft.com/office/drawing/2014/main" id="{1A334B42-8B0E-42E1-90A4-88A74F108E94}"/>
              </a:ext>
            </a:extLst>
          </p:cNvPr>
          <p:cNvSpPr>
            <a:spLocks noGrp="1"/>
          </p:cNvSpPr>
          <p:nvPr>
            <p:ph type="dt" sz="half" idx="10"/>
          </p:nvPr>
        </p:nvSpPr>
        <p:spPr>
          <a:xfrm>
            <a:off x="457200" y="6248400"/>
            <a:ext cx="2133600" cy="457200"/>
          </a:xfrm>
        </p:spPr>
        <p:txBody>
          <a:bodyPr/>
          <a:lstStyle>
            <a:lvl1pPr>
              <a:defRPr/>
            </a:lvl1pPr>
          </a:lstStyle>
          <a:p>
            <a:r>
              <a:rPr lang="zh-CN" altLang="en-US"/>
              <a:t>讲义制作：李丽，陈志祥审</a:t>
            </a:r>
            <a:endParaRPr lang="en-US" altLang="zh-CN"/>
          </a:p>
        </p:txBody>
      </p:sp>
      <p:sp>
        <p:nvSpPr>
          <p:cNvPr id="5" name="页脚占位符 4">
            <a:extLst>
              <a:ext uri="{FF2B5EF4-FFF2-40B4-BE49-F238E27FC236}">
                <a16:creationId xmlns:a16="http://schemas.microsoft.com/office/drawing/2014/main" id="{8F23F009-A8D6-21AE-A292-5E1CDEC736C5}"/>
              </a:ext>
            </a:extLst>
          </p:cNvPr>
          <p:cNvSpPr>
            <a:spLocks noGrp="1"/>
          </p:cNvSpPr>
          <p:nvPr>
            <p:ph type="ftr" sz="quarter" idx="11"/>
          </p:nvPr>
        </p:nvSpPr>
        <p:spPr>
          <a:xfrm>
            <a:off x="3124200" y="6248400"/>
            <a:ext cx="2895600" cy="457200"/>
          </a:xfrm>
        </p:spPr>
        <p:txBody>
          <a:bodyPr/>
          <a:lstStyle>
            <a:lvl1pPr>
              <a:defRPr/>
            </a:lvl1pPr>
          </a:lstStyle>
          <a:p>
            <a:endParaRPr lang="en-US" altLang="zh-CN"/>
          </a:p>
        </p:txBody>
      </p:sp>
      <p:sp>
        <p:nvSpPr>
          <p:cNvPr id="6" name="灯片编号占位符 5">
            <a:extLst>
              <a:ext uri="{FF2B5EF4-FFF2-40B4-BE49-F238E27FC236}">
                <a16:creationId xmlns:a16="http://schemas.microsoft.com/office/drawing/2014/main" id="{6298C1F9-5E2F-4E27-FD7E-8C29E3EFF88C}"/>
              </a:ext>
            </a:extLst>
          </p:cNvPr>
          <p:cNvSpPr>
            <a:spLocks noGrp="1"/>
          </p:cNvSpPr>
          <p:nvPr>
            <p:ph type="sldNum" sz="quarter" idx="12"/>
          </p:nvPr>
        </p:nvSpPr>
        <p:spPr>
          <a:xfrm>
            <a:off x="6553200" y="6248400"/>
            <a:ext cx="2133600" cy="457200"/>
          </a:xfrm>
        </p:spPr>
        <p:txBody>
          <a:bodyPr/>
          <a:lstStyle>
            <a:lvl1pPr>
              <a:defRPr/>
            </a:lvl1pPr>
          </a:lstStyle>
          <a:p>
            <a:fld id="{C5A9D90D-4D52-4EFC-97F9-E872668C8CF8}" type="slidenum">
              <a:rPr lang="en-US" altLang="zh-CN"/>
              <a:pPr/>
              <a:t>‹#›</a:t>
            </a:fld>
            <a:endParaRPr lang="en-US" altLang="zh-CN"/>
          </a:p>
        </p:txBody>
      </p:sp>
    </p:spTree>
    <p:extLst>
      <p:ext uri="{BB962C8B-B14F-4D97-AF65-F5344CB8AC3E}">
        <p14:creationId xmlns:p14="http://schemas.microsoft.com/office/powerpoint/2010/main" val="1696233668"/>
      </p:ext>
    </p:extLst>
  </p:cSld>
  <p:clrMapOvr>
    <a:masterClrMapping/>
  </p:clrMapOvr>
  <p:transition spd="slow">
    <p:strips dir="rd"/>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amma/>
                <a:shade val="46275"/>
                <a:invGamma/>
              </a:schemeClr>
            </a:gs>
            <a:gs pos="100000">
              <a:schemeClr val="bg1"/>
            </a:gs>
          </a:gsLst>
          <a:lin ang="5400000" scaled="1"/>
        </a:gradFill>
        <a:effectLst/>
      </p:bgPr>
    </p:bg>
    <p:spTree>
      <p:nvGrpSpPr>
        <p:cNvPr id="1" name=""/>
        <p:cNvGrpSpPr/>
        <p:nvPr/>
      </p:nvGrpSpPr>
      <p:grpSpPr>
        <a:xfrm>
          <a:off x="0" y="0"/>
          <a:ext cx="0" cy="0"/>
          <a:chOff x="0" y="0"/>
          <a:chExt cx="0" cy="0"/>
        </a:xfrm>
      </p:grpSpPr>
      <p:grpSp>
        <p:nvGrpSpPr>
          <p:cNvPr id="264194" name="Group 2">
            <a:extLst>
              <a:ext uri="{FF2B5EF4-FFF2-40B4-BE49-F238E27FC236}">
                <a16:creationId xmlns:a16="http://schemas.microsoft.com/office/drawing/2014/main" id="{2FABAEE3-9C75-D076-A537-EF3E9FAAE634}"/>
              </a:ext>
            </a:extLst>
          </p:cNvPr>
          <p:cNvGrpSpPr>
            <a:grpSpLocks/>
          </p:cNvGrpSpPr>
          <p:nvPr/>
        </p:nvGrpSpPr>
        <p:grpSpPr bwMode="auto">
          <a:xfrm>
            <a:off x="0" y="0"/>
            <a:ext cx="9144000" cy="6858000"/>
            <a:chOff x="0" y="0"/>
            <a:chExt cx="5760" cy="4320"/>
          </a:xfrm>
        </p:grpSpPr>
        <p:sp>
          <p:nvSpPr>
            <p:cNvPr id="264195" name="Freeform 3">
              <a:extLst>
                <a:ext uri="{FF2B5EF4-FFF2-40B4-BE49-F238E27FC236}">
                  <a16:creationId xmlns:a16="http://schemas.microsoft.com/office/drawing/2014/main" id="{021C8357-ABCB-057C-64CD-5D0CA5B2DE19}"/>
                </a:ext>
              </a:extLst>
            </p:cNvPr>
            <p:cNvSpPr>
              <a:spLocks/>
            </p:cNvSpPr>
            <p:nvPr/>
          </p:nvSpPr>
          <p:spPr bwMode="hidden">
            <a:xfrm>
              <a:off x="0" y="3072"/>
              <a:ext cx="5760" cy="1248"/>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s>
                <a:gs pos="100000">
                  <a:schemeClr val="accent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196" name="Freeform 4">
              <a:extLst>
                <a:ext uri="{FF2B5EF4-FFF2-40B4-BE49-F238E27FC236}">
                  <a16:creationId xmlns:a16="http://schemas.microsoft.com/office/drawing/2014/main" id="{2F4D7F71-165D-8BF1-C3EF-D51E35F0385F}"/>
                </a:ext>
              </a:extLst>
            </p:cNvPr>
            <p:cNvSpPr>
              <a:spLocks/>
            </p:cNvSpPr>
            <p:nvPr/>
          </p:nvSpPr>
          <p:spPr bwMode="hidden">
            <a:xfrm>
              <a:off x="0" y="0"/>
              <a:ext cx="5760" cy="3072"/>
            </a:xfrm>
            <a:custGeom>
              <a:avLst/>
              <a:gdLst>
                <a:gd name="T0" fmla="*/ 6027 w 6027"/>
                <a:gd name="T1" fmla="*/ 2296 h 2296"/>
                <a:gd name="T2" fmla="*/ 0 w 6027"/>
                <a:gd name="T3" fmla="*/ 2296 h 2296"/>
                <a:gd name="T4" fmla="*/ 0 w 6027"/>
                <a:gd name="T5" fmla="*/ 0 h 2296"/>
                <a:gd name="T6" fmla="*/ 6027 w 6027"/>
                <a:gd name="T7" fmla="*/ 0 h 2296"/>
                <a:gd name="T8" fmla="*/ 6027 w 6027"/>
                <a:gd name="T9" fmla="*/ 2296 h 2296"/>
                <a:gd name="T10" fmla="*/ 6027 w 6027"/>
                <a:gd name="T11" fmla="*/ 2296 h 2296"/>
              </a:gdLst>
              <a:ahLst/>
              <a:cxnLst>
                <a:cxn ang="0">
                  <a:pos x="T0" y="T1"/>
                </a:cxn>
                <a:cxn ang="0">
                  <a:pos x="T2" y="T3"/>
                </a:cxn>
                <a:cxn ang="0">
                  <a:pos x="T4" y="T5"/>
                </a:cxn>
                <a:cxn ang="0">
                  <a:pos x="T6" y="T7"/>
                </a:cxn>
                <a:cxn ang="0">
                  <a:pos x="T8" y="T9"/>
                </a:cxn>
                <a:cxn ang="0">
                  <a:pos x="T10" y="T11"/>
                </a:cxn>
              </a:cxnLst>
              <a:rect l="0" t="0" r="r" b="b"/>
              <a:pathLst>
                <a:path w="6027" h="2296">
                  <a:moveTo>
                    <a:pt x="6027" y="2296"/>
                  </a:moveTo>
                  <a:lnTo>
                    <a:pt x="0" y="2296"/>
                  </a:lnTo>
                  <a:lnTo>
                    <a:pt x="0" y="0"/>
                  </a:lnTo>
                  <a:lnTo>
                    <a:pt x="6027" y="0"/>
                  </a:lnTo>
                  <a:lnTo>
                    <a:pt x="6027" y="2296"/>
                  </a:lnTo>
                  <a:lnTo>
                    <a:pt x="6027" y="2296"/>
                  </a:lnTo>
                  <a:close/>
                </a:path>
              </a:pathLst>
            </a:custGeom>
            <a:gradFill rotWithShape="0">
              <a:gsLst>
                <a:gs pos="0">
                  <a:schemeClr val="bg1">
                    <a:gamma/>
                    <a:shade val="46275"/>
                    <a:invGamma/>
                  </a:schemeClr>
                </a:gs>
                <a:gs pos="100000">
                  <a:schemeClr val="bg1"/>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197" name="Freeform 5">
            <a:extLst>
              <a:ext uri="{FF2B5EF4-FFF2-40B4-BE49-F238E27FC236}">
                <a16:creationId xmlns:a16="http://schemas.microsoft.com/office/drawing/2014/main" id="{F48B4A1D-C56D-1BA7-CB25-D10931AAADE4}"/>
              </a:ext>
            </a:extLst>
          </p:cNvPr>
          <p:cNvSpPr>
            <a:spLocks/>
          </p:cNvSpPr>
          <p:nvPr/>
        </p:nvSpPr>
        <p:spPr bwMode="hidden">
          <a:xfrm>
            <a:off x="6248400" y="6262688"/>
            <a:ext cx="2895600" cy="609600"/>
          </a:xfrm>
          <a:custGeom>
            <a:avLst/>
            <a:gdLst>
              <a:gd name="T0" fmla="*/ 5748 w 5748"/>
              <a:gd name="T1" fmla="*/ 246 h 246"/>
              <a:gd name="T2" fmla="*/ 0 w 5748"/>
              <a:gd name="T3" fmla="*/ 246 h 246"/>
              <a:gd name="T4" fmla="*/ 0 w 5748"/>
              <a:gd name="T5" fmla="*/ 0 h 246"/>
              <a:gd name="T6" fmla="*/ 5748 w 5748"/>
              <a:gd name="T7" fmla="*/ 0 h 246"/>
              <a:gd name="T8" fmla="*/ 5748 w 5748"/>
              <a:gd name="T9" fmla="*/ 246 h 246"/>
              <a:gd name="T10" fmla="*/ 5748 w 5748"/>
              <a:gd name="T11" fmla="*/ 246 h 246"/>
            </a:gdLst>
            <a:ahLst/>
            <a:cxnLst>
              <a:cxn ang="0">
                <a:pos x="T0" y="T1"/>
              </a:cxn>
              <a:cxn ang="0">
                <a:pos x="T2" y="T3"/>
              </a:cxn>
              <a:cxn ang="0">
                <a:pos x="T4" y="T5"/>
              </a:cxn>
              <a:cxn ang="0">
                <a:pos x="T6" y="T7"/>
              </a:cxn>
              <a:cxn ang="0">
                <a:pos x="T8" y="T9"/>
              </a:cxn>
              <a:cxn ang="0">
                <a:pos x="T10" y="T11"/>
              </a:cxn>
            </a:cxnLst>
            <a:rect l="0" t="0" r="r" b="b"/>
            <a:pathLst>
              <a:path w="5748" h="246">
                <a:moveTo>
                  <a:pt x="5748" y="246"/>
                </a:moveTo>
                <a:lnTo>
                  <a:pt x="0" y="246"/>
                </a:lnTo>
                <a:lnTo>
                  <a:pt x="0" y="0"/>
                </a:lnTo>
                <a:lnTo>
                  <a:pt x="5748" y="0"/>
                </a:lnTo>
                <a:lnTo>
                  <a:pt x="5748" y="246"/>
                </a:lnTo>
                <a:lnTo>
                  <a:pt x="5748" y="246"/>
                </a:lnTo>
                <a:close/>
              </a:path>
            </a:pathLst>
          </a:custGeom>
          <a:gradFill rotWithShape="0">
            <a:gsLst>
              <a:gs pos="0">
                <a:schemeClr val="bg1"/>
              </a:gs>
              <a:gs pos="100000">
                <a:schemeClr val="hlink"/>
              </a:gs>
            </a:gsLst>
            <a:lin ang="189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198" name="Group 6">
            <a:extLst>
              <a:ext uri="{FF2B5EF4-FFF2-40B4-BE49-F238E27FC236}">
                <a16:creationId xmlns:a16="http://schemas.microsoft.com/office/drawing/2014/main" id="{89836CC7-651C-4A2F-192F-F65C08E89A7A}"/>
              </a:ext>
            </a:extLst>
          </p:cNvPr>
          <p:cNvGrpSpPr>
            <a:grpSpLocks/>
          </p:cNvGrpSpPr>
          <p:nvPr/>
        </p:nvGrpSpPr>
        <p:grpSpPr bwMode="auto">
          <a:xfrm>
            <a:off x="0" y="6019800"/>
            <a:ext cx="7848600" cy="857250"/>
            <a:chOff x="0" y="3792"/>
            <a:chExt cx="4944" cy="540"/>
          </a:xfrm>
        </p:grpSpPr>
        <p:sp>
          <p:nvSpPr>
            <p:cNvPr id="264199" name="Freeform 7">
              <a:extLst>
                <a:ext uri="{FF2B5EF4-FFF2-40B4-BE49-F238E27FC236}">
                  <a16:creationId xmlns:a16="http://schemas.microsoft.com/office/drawing/2014/main" id="{24B156F0-2EC5-B5FE-6103-6D5554A21C75}"/>
                </a:ext>
              </a:extLst>
            </p:cNvPr>
            <p:cNvSpPr>
              <a:spLocks/>
            </p:cNvSpPr>
            <p:nvPr userDrawn="1"/>
          </p:nvSpPr>
          <p:spPr bwMode="ltGray">
            <a:xfrm>
              <a:off x="1488" y="3792"/>
              <a:ext cx="3240" cy="536"/>
            </a:xfrm>
            <a:custGeom>
              <a:avLst/>
              <a:gdLst>
                <a:gd name="T0" fmla="*/ 3132 w 3240"/>
                <a:gd name="T1" fmla="*/ 469 h 536"/>
                <a:gd name="T2" fmla="*/ 2995 w 3240"/>
                <a:gd name="T3" fmla="*/ 395 h 536"/>
                <a:gd name="T4" fmla="*/ 2911 w 3240"/>
                <a:gd name="T5" fmla="*/ 375 h 536"/>
                <a:gd name="T6" fmla="*/ 2678 w 3240"/>
                <a:gd name="T7" fmla="*/ 228 h 536"/>
                <a:gd name="T8" fmla="*/ 2553 w 3240"/>
                <a:gd name="T9" fmla="*/ 74 h 536"/>
                <a:gd name="T10" fmla="*/ 2457 w 3240"/>
                <a:gd name="T11" fmla="*/ 7 h 536"/>
                <a:gd name="T12" fmla="*/ 2403 w 3240"/>
                <a:gd name="T13" fmla="*/ 47 h 536"/>
                <a:gd name="T14" fmla="*/ 2289 w 3240"/>
                <a:gd name="T15" fmla="*/ 74 h 536"/>
                <a:gd name="T16" fmla="*/ 2134 w 3240"/>
                <a:gd name="T17" fmla="*/ 74 h 536"/>
                <a:gd name="T18" fmla="*/ 2044 w 3240"/>
                <a:gd name="T19" fmla="*/ 128 h 536"/>
                <a:gd name="T20" fmla="*/ 1775 w 3240"/>
                <a:gd name="T21" fmla="*/ 222 h 536"/>
                <a:gd name="T22" fmla="*/ 1602 w 3240"/>
                <a:gd name="T23" fmla="*/ 181 h 536"/>
                <a:gd name="T24" fmla="*/ 1560 w 3240"/>
                <a:gd name="T25" fmla="*/ 101 h 536"/>
                <a:gd name="T26" fmla="*/ 1542 w 3240"/>
                <a:gd name="T27" fmla="*/ 87 h 536"/>
                <a:gd name="T28" fmla="*/ 1446 w 3240"/>
                <a:gd name="T29" fmla="*/ 60 h 536"/>
                <a:gd name="T30" fmla="*/ 1375 w 3240"/>
                <a:gd name="T31" fmla="*/ 74 h 536"/>
                <a:gd name="T32" fmla="*/ 1309 w 3240"/>
                <a:gd name="T33" fmla="*/ 87 h 536"/>
                <a:gd name="T34" fmla="*/ 1243 w 3240"/>
                <a:gd name="T35" fmla="*/ 13 h 536"/>
                <a:gd name="T36" fmla="*/ 1225 w 3240"/>
                <a:gd name="T37" fmla="*/ 0 h 536"/>
                <a:gd name="T38" fmla="*/ 1189 w 3240"/>
                <a:gd name="T39" fmla="*/ 0 h 536"/>
                <a:gd name="T40" fmla="*/ 1106 w 3240"/>
                <a:gd name="T41" fmla="*/ 34 h 536"/>
                <a:gd name="T42" fmla="*/ 1106 w 3240"/>
                <a:gd name="T43" fmla="*/ 34 h 536"/>
                <a:gd name="T44" fmla="*/ 1094 w 3240"/>
                <a:gd name="T45" fmla="*/ 40 h 536"/>
                <a:gd name="T46" fmla="*/ 1070 w 3240"/>
                <a:gd name="T47" fmla="*/ 54 h 536"/>
                <a:gd name="T48" fmla="*/ 1034 w 3240"/>
                <a:gd name="T49" fmla="*/ 74 h 536"/>
                <a:gd name="T50" fmla="*/ 1004 w 3240"/>
                <a:gd name="T51" fmla="*/ 74 h 536"/>
                <a:gd name="T52" fmla="*/ 986 w 3240"/>
                <a:gd name="T53" fmla="*/ 74 h 536"/>
                <a:gd name="T54" fmla="*/ 956 w 3240"/>
                <a:gd name="T55" fmla="*/ 81 h 536"/>
                <a:gd name="T56" fmla="*/ 920 w 3240"/>
                <a:gd name="T57" fmla="*/ 94 h 536"/>
                <a:gd name="T58" fmla="*/ 884 w 3240"/>
                <a:gd name="T59" fmla="*/ 107 h 536"/>
                <a:gd name="T60" fmla="*/ 843 w 3240"/>
                <a:gd name="T61" fmla="*/ 128 h 536"/>
                <a:gd name="T62" fmla="*/ 813 w 3240"/>
                <a:gd name="T63" fmla="*/ 141 h 536"/>
                <a:gd name="T64" fmla="*/ 789 w 3240"/>
                <a:gd name="T65" fmla="*/ 148 h 536"/>
                <a:gd name="T66" fmla="*/ 783 w 3240"/>
                <a:gd name="T67" fmla="*/ 154 h 536"/>
                <a:gd name="T68" fmla="*/ 556 w 3240"/>
                <a:gd name="T69" fmla="*/ 228 h 536"/>
                <a:gd name="T70" fmla="*/ 394 w 3240"/>
                <a:gd name="T71" fmla="*/ 294 h 536"/>
                <a:gd name="T72" fmla="*/ 107 w 3240"/>
                <a:gd name="T73" fmla="*/ 462 h 536"/>
                <a:gd name="T74" fmla="*/ 0 w 3240"/>
                <a:gd name="T75" fmla="*/ 536 h 536"/>
                <a:gd name="T76" fmla="*/ 3240 w 3240"/>
                <a:gd name="T77" fmla="*/ 536 h 536"/>
                <a:gd name="T78" fmla="*/ 3132 w 3240"/>
                <a:gd name="T79" fmla="*/ 469 h 536"/>
                <a:gd name="T80" fmla="*/ 3132 w 3240"/>
                <a:gd name="T81" fmla="*/ 469 h 5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240" h="536">
                  <a:moveTo>
                    <a:pt x="3132" y="469"/>
                  </a:moveTo>
                  <a:lnTo>
                    <a:pt x="2995" y="395"/>
                  </a:lnTo>
                  <a:lnTo>
                    <a:pt x="2911" y="375"/>
                  </a:lnTo>
                  <a:lnTo>
                    <a:pt x="2678" y="228"/>
                  </a:lnTo>
                  <a:lnTo>
                    <a:pt x="2553" y="74"/>
                  </a:lnTo>
                  <a:lnTo>
                    <a:pt x="2457" y="7"/>
                  </a:lnTo>
                  <a:lnTo>
                    <a:pt x="2403" y="47"/>
                  </a:lnTo>
                  <a:lnTo>
                    <a:pt x="2289" y="74"/>
                  </a:lnTo>
                  <a:lnTo>
                    <a:pt x="2134" y="74"/>
                  </a:lnTo>
                  <a:lnTo>
                    <a:pt x="2044" y="128"/>
                  </a:lnTo>
                  <a:lnTo>
                    <a:pt x="1775" y="222"/>
                  </a:lnTo>
                  <a:lnTo>
                    <a:pt x="1602" y="181"/>
                  </a:lnTo>
                  <a:lnTo>
                    <a:pt x="1560" y="101"/>
                  </a:lnTo>
                  <a:lnTo>
                    <a:pt x="1542" y="87"/>
                  </a:lnTo>
                  <a:lnTo>
                    <a:pt x="1446" y="60"/>
                  </a:lnTo>
                  <a:lnTo>
                    <a:pt x="1375" y="74"/>
                  </a:lnTo>
                  <a:lnTo>
                    <a:pt x="1309" y="87"/>
                  </a:lnTo>
                  <a:lnTo>
                    <a:pt x="1243" y="13"/>
                  </a:lnTo>
                  <a:lnTo>
                    <a:pt x="1225" y="0"/>
                  </a:lnTo>
                  <a:lnTo>
                    <a:pt x="1189" y="0"/>
                  </a:lnTo>
                  <a:lnTo>
                    <a:pt x="1106" y="34"/>
                  </a:lnTo>
                  <a:lnTo>
                    <a:pt x="1106" y="34"/>
                  </a:lnTo>
                  <a:lnTo>
                    <a:pt x="1094" y="40"/>
                  </a:lnTo>
                  <a:lnTo>
                    <a:pt x="1070" y="54"/>
                  </a:lnTo>
                  <a:lnTo>
                    <a:pt x="1034" y="74"/>
                  </a:lnTo>
                  <a:lnTo>
                    <a:pt x="1004" y="74"/>
                  </a:lnTo>
                  <a:lnTo>
                    <a:pt x="986" y="74"/>
                  </a:lnTo>
                  <a:lnTo>
                    <a:pt x="956" y="81"/>
                  </a:lnTo>
                  <a:lnTo>
                    <a:pt x="920" y="94"/>
                  </a:lnTo>
                  <a:lnTo>
                    <a:pt x="884" y="107"/>
                  </a:lnTo>
                  <a:lnTo>
                    <a:pt x="843" y="128"/>
                  </a:lnTo>
                  <a:lnTo>
                    <a:pt x="813" y="141"/>
                  </a:lnTo>
                  <a:lnTo>
                    <a:pt x="789" y="148"/>
                  </a:lnTo>
                  <a:lnTo>
                    <a:pt x="783" y="154"/>
                  </a:lnTo>
                  <a:lnTo>
                    <a:pt x="556" y="228"/>
                  </a:lnTo>
                  <a:lnTo>
                    <a:pt x="394" y="294"/>
                  </a:lnTo>
                  <a:lnTo>
                    <a:pt x="107" y="462"/>
                  </a:lnTo>
                  <a:lnTo>
                    <a:pt x="0" y="536"/>
                  </a:lnTo>
                  <a:lnTo>
                    <a:pt x="3240" y="536"/>
                  </a:lnTo>
                  <a:lnTo>
                    <a:pt x="3132" y="469"/>
                  </a:lnTo>
                  <a:lnTo>
                    <a:pt x="3132" y="469"/>
                  </a:lnTo>
                  <a:close/>
                </a:path>
              </a:pathLst>
            </a:custGeom>
            <a:gradFill rotWithShape="0">
              <a:gsLst>
                <a:gs pos="0">
                  <a:schemeClr val="bg2">
                    <a:gamma/>
                    <a:tint val="66667"/>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64200" name="Group 8">
              <a:extLst>
                <a:ext uri="{FF2B5EF4-FFF2-40B4-BE49-F238E27FC236}">
                  <a16:creationId xmlns:a16="http://schemas.microsoft.com/office/drawing/2014/main" id="{6CBCB1D4-B481-67AF-E5AD-68C2AEC4BB17}"/>
                </a:ext>
              </a:extLst>
            </p:cNvPr>
            <p:cNvGrpSpPr>
              <a:grpSpLocks/>
            </p:cNvGrpSpPr>
            <p:nvPr userDrawn="1"/>
          </p:nvGrpSpPr>
          <p:grpSpPr bwMode="auto">
            <a:xfrm>
              <a:off x="2486" y="3792"/>
              <a:ext cx="2458" cy="540"/>
              <a:chOff x="2486" y="3792"/>
              <a:chExt cx="2458" cy="540"/>
            </a:xfrm>
          </p:grpSpPr>
          <p:sp>
            <p:nvSpPr>
              <p:cNvPr id="264201" name="Freeform 9">
                <a:extLst>
                  <a:ext uri="{FF2B5EF4-FFF2-40B4-BE49-F238E27FC236}">
                    <a16:creationId xmlns:a16="http://schemas.microsoft.com/office/drawing/2014/main" id="{ABD55228-630E-443B-301C-04AB45A15CCF}"/>
                  </a:ext>
                </a:extLst>
              </p:cNvPr>
              <p:cNvSpPr>
                <a:spLocks/>
              </p:cNvSpPr>
              <p:nvPr userDrawn="1"/>
            </p:nvSpPr>
            <p:spPr bwMode="ltGray">
              <a:xfrm>
                <a:off x="3948" y="3799"/>
                <a:ext cx="996" cy="533"/>
              </a:xfrm>
              <a:custGeom>
                <a:avLst/>
                <a:gdLst>
                  <a:gd name="T0" fmla="*/ 636 w 996"/>
                  <a:gd name="T1" fmla="*/ 373 h 533"/>
                  <a:gd name="T2" fmla="*/ 495 w 996"/>
                  <a:gd name="T3" fmla="*/ 370 h 533"/>
                  <a:gd name="T4" fmla="*/ 280 w 996"/>
                  <a:gd name="T5" fmla="*/ 249 h 533"/>
                  <a:gd name="T6" fmla="*/ 127 w 996"/>
                  <a:gd name="T7" fmla="*/ 66 h 533"/>
                  <a:gd name="T8" fmla="*/ 0 w 996"/>
                  <a:gd name="T9" fmla="*/ 0 h 533"/>
                  <a:gd name="T10" fmla="*/ 22 w 996"/>
                  <a:gd name="T11" fmla="*/ 26 h 533"/>
                  <a:gd name="T12" fmla="*/ 0 w 996"/>
                  <a:gd name="T13" fmla="*/ 65 h 533"/>
                  <a:gd name="T14" fmla="*/ 30 w 996"/>
                  <a:gd name="T15" fmla="*/ 119 h 533"/>
                  <a:gd name="T16" fmla="*/ 75 w 996"/>
                  <a:gd name="T17" fmla="*/ 243 h 533"/>
                  <a:gd name="T18" fmla="*/ 45 w 996"/>
                  <a:gd name="T19" fmla="*/ 422 h 533"/>
                  <a:gd name="T20" fmla="*/ 200 w 996"/>
                  <a:gd name="T21" fmla="*/ 329 h 533"/>
                  <a:gd name="T22" fmla="*/ 612 w 996"/>
                  <a:gd name="T23" fmla="*/ 533 h 533"/>
                  <a:gd name="T24" fmla="*/ 996 w 996"/>
                  <a:gd name="T25" fmla="*/ 529 h 533"/>
                  <a:gd name="T26" fmla="*/ 828 w 996"/>
                  <a:gd name="T27" fmla="*/ 473 h 533"/>
                  <a:gd name="T28" fmla="*/ 636 w 996"/>
                  <a:gd name="T29" fmla="*/ 373 h 5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6" h="533">
                    <a:moveTo>
                      <a:pt x="636" y="373"/>
                    </a:moveTo>
                    <a:lnTo>
                      <a:pt x="495" y="370"/>
                    </a:lnTo>
                    <a:lnTo>
                      <a:pt x="280" y="249"/>
                    </a:lnTo>
                    <a:lnTo>
                      <a:pt x="127" y="66"/>
                    </a:lnTo>
                    <a:lnTo>
                      <a:pt x="0" y="0"/>
                    </a:lnTo>
                    <a:lnTo>
                      <a:pt x="22" y="26"/>
                    </a:lnTo>
                    <a:lnTo>
                      <a:pt x="0" y="65"/>
                    </a:lnTo>
                    <a:lnTo>
                      <a:pt x="30" y="119"/>
                    </a:lnTo>
                    <a:lnTo>
                      <a:pt x="75" y="243"/>
                    </a:lnTo>
                    <a:lnTo>
                      <a:pt x="45" y="422"/>
                    </a:lnTo>
                    <a:lnTo>
                      <a:pt x="200" y="329"/>
                    </a:lnTo>
                    <a:lnTo>
                      <a:pt x="612" y="533"/>
                    </a:lnTo>
                    <a:lnTo>
                      <a:pt x="996" y="529"/>
                    </a:lnTo>
                    <a:lnTo>
                      <a:pt x="828" y="473"/>
                    </a:lnTo>
                    <a:lnTo>
                      <a:pt x="636" y="373"/>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2" name="Freeform 10">
                <a:extLst>
                  <a:ext uri="{FF2B5EF4-FFF2-40B4-BE49-F238E27FC236}">
                    <a16:creationId xmlns:a16="http://schemas.microsoft.com/office/drawing/2014/main" id="{4AF9BA3E-0851-2EDE-CFC7-78D9610333C4}"/>
                  </a:ext>
                </a:extLst>
              </p:cNvPr>
              <p:cNvSpPr>
                <a:spLocks/>
              </p:cNvSpPr>
              <p:nvPr userDrawn="1"/>
            </p:nvSpPr>
            <p:spPr bwMode="ltGray">
              <a:xfrm>
                <a:off x="2677" y="3792"/>
                <a:ext cx="186" cy="395"/>
              </a:xfrm>
              <a:custGeom>
                <a:avLst/>
                <a:gdLst>
                  <a:gd name="T0" fmla="*/ 36 w 186"/>
                  <a:gd name="T1" fmla="*/ 0 h 353"/>
                  <a:gd name="T2" fmla="*/ 54 w 186"/>
                  <a:gd name="T3" fmla="*/ 18 h 353"/>
                  <a:gd name="T4" fmla="*/ 24 w 186"/>
                  <a:gd name="T5" fmla="*/ 30 h 353"/>
                  <a:gd name="T6" fmla="*/ 18 w 186"/>
                  <a:gd name="T7" fmla="*/ 66 h 353"/>
                  <a:gd name="T8" fmla="*/ 42 w 186"/>
                  <a:gd name="T9" fmla="*/ 114 h 353"/>
                  <a:gd name="T10" fmla="*/ 48 w 186"/>
                  <a:gd name="T11" fmla="*/ 162 h 353"/>
                  <a:gd name="T12" fmla="*/ 0 w 186"/>
                  <a:gd name="T13" fmla="*/ 353 h 353"/>
                  <a:gd name="T14" fmla="*/ 54 w 186"/>
                  <a:gd name="T15" fmla="*/ 233 h 353"/>
                  <a:gd name="T16" fmla="*/ 84 w 186"/>
                  <a:gd name="T17" fmla="*/ 216 h 353"/>
                  <a:gd name="T18" fmla="*/ 126 w 186"/>
                  <a:gd name="T19" fmla="*/ 126 h 353"/>
                  <a:gd name="T20" fmla="*/ 144 w 186"/>
                  <a:gd name="T21" fmla="*/ 120 h 353"/>
                  <a:gd name="T22" fmla="*/ 144 w 186"/>
                  <a:gd name="T23" fmla="*/ 90 h 353"/>
                  <a:gd name="T24" fmla="*/ 186 w 186"/>
                  <a:gd name="T25" fmla="*/ 66 h 353"/>
                  <a:gd name="T26" fmla="*/ 162 w 186"/>
                  <a:gd name="T27" fmla="*/ 60 h 353"/>
                  <a:gd name="T28" fmla="*/ 36 w 186"/>
                  <a:gd name="T29" fmla="*/ 0 h 353"/>
                  <a:gd name="T30" fmla="*/ 36 w 186"/>
                  <a:gd name="T31"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86" h="353">
                    <a:moveTo>
                      <a:pt x="36" y="0"/>
                    </a:moveTo>
                    <a:lnTo>
                      <a:pt x="54" y="18"/>
                    </a:lnTo>
                    <a:lnTo>
                      <a:pt x="24" y="30"/>
                    </a:lnTo>
                    <a:lnTo>
                      <a:pt x="18" y="66"/>
                    </a:lnTo>
                    <a:lnTo>
                      <a:pt x="42" y="114"/>
                    </a:lnTo>
                    <a:lnTo>
                      <a:pt x="48" y="162"/>
                    </a:lnTo>
                    <a:lnTo>
                      <a:pt x="0" y="353"/>
                    </a:lnTo>
                    <a:lnTo>
                      <a:pt x="54" y="233"/>
                    </a:lnTo>
                    <a:lnTo>
                      <a:pt x="84" y="216"/>
                    </a:lnTo>
                    <a:lnTo>
                      <a:pt x="126" y="126"/>
                    </a:lnTo>
                    <a:lnTo>
                      <a:pt x="144" y="120"/>
                    </a:lnTo>
                    <a:lnTo>
                      <a:pt x="144" y="90"/>
                    </a:lnTo>
                    <a:lnTo>
                      <a:pt x="186" y="66"/>
                    </a:lnTo>
                    <a:lnTo>
                      <a:pt x="162" y="60"/>
                    </a:lnTo>
                    <a:lnTo>
                      <a:pt x="36" y="0"/>
                    </a:lnTo>
                    <a:lnTo>
                      <a:pt x="36"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3" name="Freeform 11">
                <a:extLst>
                  <a:ext uri="{FF2B5EF4-FFF2-40B4-BE49-F238E27FC236}">
                    <a16:creationId xmlns:a16="http://schemas.microsoft.com/office/drawing/2014/main" id="{EBA82D8A-2504-B74F-66BA-C107D9494C50}"/>
                  </a:ext>
                </a:extLst>
              </p:cNvPr>
              <p:cNvSpPr>
                <a:spLocks/>
              </p:cNvSpPr>
              <p:nvPr userDrawn="1"/>
            </p:nvSpPr>
            <p:spPr bwMode="ltGray">
              <a:xfrm>
                <a:off x="3030" y="3893"/>
                <a:ext cx="378" cy="271"/>
              </a:xfrm>
              <a:custGeom>
                <a:avLst/>
                <a:gdLst>
                  <a:gd name="T0" fmla="*/ 18 w 378"/>
                  <a:gd name="T1" fmla="*/ 0 h 271"/>
                  <a:gd name="T2" fmla="*/ 12 w 378"/>
                  <a:gd name="T3" fmla="*/ 13 h 271"/>
                  <a:gd name="T4" fmla="*/ 0 w 378"/>
                  <a:gd name="T5" fmla="*/ 40 h 271"/>
                  <a:gd name="T6" fmla="*/ 60 w 378"/>
                  <a:gd name="T7" fmla="*/ 121 h 271"/>
                  <a:gd name="T8" fmla="*/ 310 w 378"/>
                  <a:gd name="T9" fmla="*/ 271 h 271"/>
                  <a:gd name="T10" fmla="*/ 290 w 378"/>
                  <a:gd name="T11" fmla="*/ 139 h 271"/>
                  <a:gd name="T12" fmla="*/ 378 w 378"/>
                  <a:gd name="T13" fmla="*/ 76 h 271"/>
                  <a:gd name="T14" fmla="*/ 251 w 378"/>
                  <a:gd name="T15" fmla="*/ 94 h 271"/>
                  <a:gd name="T16" fmla="*/ 90 w 378"/>
                  <a:gd name="T17" fmla="*/ 54 h 271"/>
                  <a:gd name="T18" fmla="*/ 18 w 378"/>
                  <a:gd name="T19" fmla="*/ 0 h 271"/>
                  <a:gd name="T20" fmla="*/ 18 w 378"/>
                  <a:gd name="T21" fmla="*/ 0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78" h="271">
                    <a:moveTo>
                      <a:pt x="18" y="0"/>
                    </a:moveTo>
                    <a:lnTo>
                      <a:pt x="12" y="13"/>
                    </a:lnTo>
                    <a:lnTo>
                      <a:pt x="0" y="40"/>
                    </a:lnTo>
                    <a:lnTo>
                      <a:pt x="60" y="121"/>
                    </a:lnTo>
                    <a:lnTo>
                      <a:pt x="310" y="271"/>
                    </a:lnTo>
                    <a:lnTo>
                      <a:pt x="290" y="139"/>
                    </a:lnTo>
                    <a:lnTo>
                      <a:pt x="378" y="76"/>
                    </a:lnTo>
                    <a:lnTo>
                      <a:pt x="251" y="94"/>
                    </a:lnTo>
                    <a:lnTo>
                      <a:pt x="90" y="54"/>
                    </a:lnTo>
                    <a:lnTo>
                      <a:pt x="18" y="0"/>
                    </a:lnTo>
                    <a:lnTo>
                      <a:pt x="18"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4" name="Freeform 12">
                <a:extLst>
                  <a:ext uri="{FF2B5EF4-FFF2-40B4-BE49-F238E27FC236}">
                    <a16:creationId xmlns:a16="http://schemas.microsoft.com/office/drawing/2014/main" id="{BBE0EDAC-2B0A-1332-75F7-AC88DC8F1C69}"/>
                  </a:ext>
                </a:extLst>
              </p:cNvPr>
              <p:cNvSpPr>
                <a:spLocks/>
              </p:cNvSpPr>
              <p:nvPr userDrawn="1"/>
            </p:nvSpPr>
            <p:spPr bwMode="ltGray">
              <a:xfrm>
                <a:off x="3628" y="3866"/>
                <a:ext cx="155" cy="74"/>
              </a:xfrm>
              <a:custGeom>
                <a:avLst/>
                <a:gdLst>
                  <a:gd name="T0" fmla="*/ 114 w 155"/>
                  <a:gd name="T1" fmla="*/ 0 h 66"/>
                  <a:gd name="T2" fmla="*/ 0 w 155"/>
                  <a:gd name="T3" fmla="*/ 0 h 66"/>
                  <a:gd name="T4" fmla="*/ 0 w 155"/>
                  <a:gd name="T5" fmla="*/ 0 h 66"/>
                  <a:gd name="T6" fmla="*/ 6 w 155"/>
                  <a:gd name="T7" fmla="*/ 6 h 66"/>
                  <a:gd name="T8" fmla="*/ 6 w 155"/>
                  <a:gd name="T9" fmla="*/ 18 h 66"/>
                  <a:gd name="T10" fmla="*/ 0 w 155"/>
                  <a:gd name="T11" fmla="*/ 24 h 66"/>
                  <a:gd name="T12" fmla="*/ 78 w 155"/>
                  <a:gd name="T13" fmla="*/ 60 h 66"/>
                  <a:gd name="T14" fmla="*/ 96 w 155"/>
                  <a:gd name="T15" fmla="*/ 42 h 66"/>
                  <a:gd name="T16" fmla="*/ 155 w 155"/>
                  <a:gd name="T17" fmla="*/ 66 h 66"/>
                  <a:gd name="T18" fmla="*/ 126 w 155"/>
                  <a:gd name="T19" fmla="*/ 24 h 66"/>
                  <a:gd name="T20" fmla="*/ 149 w 155"/>
                  <a:gd name="T21" fmla="*/ 0 h 66"/>
                  <a:gd name="T22" fmla="*/ 114 w 155"/>
                  <a:gd name="T23" fmla="*/ 0 h 66"/>
                  <a:gd name="T24" fmla="*/ 114 w 155"/>
                  <a:gd name="T25" fmla="*/ 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5" h="66">
                    <a:moveTo>
                      <a:pt x="114" y="0"/>
                    </a:moveTo>
                    <a:lnTo>
                      <a:pt x="0" y="0"/>
                    </a:lnTo>
                    <a:lnTo>
                      <a:pt x="0" y="0"/>
                    </a:lnTo>
                    <a:lnTo>
                      <a:pt x="6" y="6"/>
                    </a:lnTo>
                    <a:lnTo>
                      <a:pt x="6" y="18"/>
                    </a:lnTo>
                    <a:lnTo>
                      <a:pt x="0" y="24"/>
                    </a:lnTo>
                    <a:lnTo>
                      <a:pt x="78" y="60"/>
                    </a:lnTo>
                    <a:lnTo>
                      <a:pt x="96" y="42"/>
                    </a:lnTo>
                    <a:lnTo>
                      <a:pt x="155" y="66"/>
                    </a:lnTo>
                    <a:lnTo>
                      <a:pt x="126" y="24"/>
                    </a:lnTo>
                    <a:lnTo>
                      <a:pt x="149" y="0"/>
                    </a:lnTo>
                    <a:lnTo>
                      <a:pt x="114" y="0"/>
                    </a:lnTo>
                    <a:lnTo>
                      <a:pt x="114"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5" name="Freeform 13">
                <a:extLst>
                  <a:ext uri="{FF2B5EF4-FFF2-40B4-BE49-F238E27FC236}">
                    <a16:creationId xmlns:a16="http://schemas.microsoft.com/office/drawing/2014/main" id="{AB2A89AD-0E0C-48BC-D786-86AC6B2F5878}"/>
                  </a:ext>
                </a:extLst>
              </p:cNvPr>
              <p:cNvSpPr>
                <a:spLocks/>
              </p:cNvSpPr>
              <p:nvPr userDrawn="1"/>
            </p:nvSpPr>
            <p:spPr bwMode="ltGray">
              <a:xfrm>
                <a:off x="2486" y="3859"/>
                <a:ext cx="42" cy="81"/>
              </a:xfrm>
              <a:custGeom>
                <a:avLst/>
                <a:gdLst>
                  <a:gd name="T0" fmla="*/ 6 w 42"/>
                  <a:gd name="T1" fmla="*/ 36 h 72"/>
                  <a:gd name="T2" fmla="*/ 0 w 42"/>
                  <a:gd name="T3" fmla="*/ 18 h 72"/>
                  <a:gd name="T4" fmla="*/ 12 w 42"/>
                  <a:gd name="T5" fmla="*/ 6 h 72"/>
                  <a:gd name="T6" fmla="*/ 0 w 42"/>
                  <a:gd name="T7" fmla="*/ 6 h 72"/>
                  <a:gd name="T8" fmla="*/ 12 w 42"/>
                  <a:gd name="T9" fmla="*/ 6 h 72"/>
                  <a:gd name="T10" fmla="*/ 24 w 42"/>
                  <a:gd name="T11" fmla="*/ 6 h 72"/>
                  <a:gd name="T12" fmla="*/ 36 w 42"/>
                  <a:gd name="T13" fmla="*/ 6 h 72"/>
                  <a:gd name="T14" fmla="*/ 42 w 42"/>
                  <a:gd name="T15" fmla="*/ 0 h 72"/>
                  <a:gd name="T16" fmla="*/ 30 w 42"/>
                  <a:gd name="T17" fmla="*/ 18 h 72"/>
                  <a:gd name="T18" fmla="*/ 42 w 42"/>
                  <a:gd name="T19" fmla="*/ 48 h 72"/>
                  <a:gd name="T20" fmla="*/ 12 w 42"/>
                  <a:gd name="T21" fmla="*/ 72 h 72"/>
                  <a:gd name="T22" fmla="*/ 6 w 42"/>
                  <a:gd name="T23" fmla="*/ 36 h 72"/>
                  <a:gd name="T24" fmla="*/ 6 w 42"/>
                  <a:gd name="T25" fmla="*/ 3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2" h="72">
                    <a:moveTo>
                      <a:pt x="6" y="36"/>
                    </a:moveTo>
                    <a:lnTo>
                      <a:pt x="0" y="18"/>
                    </a:lnTo>
                    <a:lnTo>
                      <a:pt x="12" y="6"/>
                    </a:lnTo>
                    <a:lnTo>
                      <a:pt x="0" y="6"/>
                    </a:lnTo>
                    <a:lnTo>
                      <a:pt x="12" y="6"/>
                    </a:lnTo>
                    <a:lnTo>
                      <a:pt x="24" y="6"/>
                    </a:lnTo>
                    <a:lnTo>
                      <a:pt x="36" y="6"/>
                    </a:lnTo>
                    <a:lnTo>
                      <a:pt x="42" y="0"/>
                    </a:lnTo>
                    <a:lnTo>
                      <a:pt x="30" y="18"/>
                    </a:lnTo>
                    <a:lnTo>
                      <a:pt x="42" y="48"/>
                    </a:lnTo>
                    <a:lnTo>
                      <a:pt x="12" y="72"/>
                    </a:lnTo>
                    <a:lnTo>
                      <a:pt x="6" y="36"/>
                    </a:lnTo>
                    <a:lnTo>
                      <a:pt x="6"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06" name="Freeform 14">
              <a:extLst>
                <a:ext uri="{FF2B5EF4-FFF2-40B4-BE49-F238E27FC236}">
                  <a16:creationId xmlns:a16="http://schemas.microsoft.com/office/drawing/2014/main" id="{AF1C07CA-0CAA-A63A-EA2B-790979C93B4F}"/>
                </a:ext>
              </a:extLst>
            </p:cNvPr>
            <p:cNvSpPr>
              <a:spLocks/>
            </p:cNvSpPr>
            <p:nvPr userDrawn="1"/>
          </p:nvSpPr>
          <p:spPr bwMode="ltGray">
            <a:xfrm>
              <a:off x="0" y="3792"/>
              <a:ext cx="3976" cy="535"/>
            </a:xfrm>
            <a:custGeom>
              <a:avLst/>
              <a:gdLst>
                <a:gd name="T0" fmla="*/ 3976 w 3976"/>
                <a:gd name="T1" fmla="*/ 527 h 527"/>
                <a:gd name="T2" fmla="*/ 3970 w 3976"/>
                <a:gd name="T3" fmla="*/ 527 h 527"/>
                <a:gd name="T4" fmla="*/ 3844 w 3976"/>
                <a:gd name="T5" fmla="*/ 509 h 527"/>
                <a:gd name="T6" fmla="*/ 2487 w 3976"/>
                <a:gd name="T7" fmla="*/ 305 h 527"/>
                <a:gd name="T8" fmla="*/ 2039 w 3976"/>
                <a:gd name="T9" fmla="*/ 36 h 527"/>
                <a:gd name="T10" fmla="*/ 1907 w 3976"/>
                <a:gd name="T11" fmla="*/ 24 h 527"/>
                <a:gd name="T12" fmla="*/ 1883 w 3976"/>
                <a:gd name="T13" fmla="*/ 54 h 527"/>
                <a:gd name="T14" fmla="*/ 1859 w 3976"/>
                <a:gd name="T15" fmla="*/ 54 h 527"/>
                <a:gd name="T16" fmla="*/ 1830 w 3976"/>
                <a:gd name="T17" fmla="*/ 30 h 527"/>
                <a:gd name="T18" fmla="*/ 1704 w 3976"/>
                <a:gd name="T19" fmla="*/ 102 h 527"/>
                <a:gd name="T20" fmla="*/ 1608 w 3976"/>
                <a:gd name="T21" fmla="*/ 126 h 527"/>
                <a:gd name="T22" fmla="*/ 1561 w 3976"/>
                <a:gd name="T23" fmla="*/ 132 h 527"/>
                <a:gd name="T24" fmla="*/ 1495 w 3976"/>
                <a:gd name="T25" fmla="*/ 102 h 527"/>
                <a:gd name="T26" fmla="*/ 1357 w 3976"/>
                <a:gd name="T27" fmla="*/ 126 h 527"/>
                <a:gd name="T28" fmla="*/ 1285 w 3976"/>
                <a:gd name="T29" fmla="*/ 24 h 527"/>
                <a:gd name="T30" fmla="*/ 1280 w 3976"/>
                <a:gd name="T31" fmla="*/ 18 h 527"/>
                <a:gd name="T32" fmla="*/ 1262 w 3976"/>
                <a:gd name="T33" fmla="*/ 12 h 527"/>
                <a:gd name="T34" fmla="*/ 1238 w 3976"/>
                <a:gd name="T35" fmla="*/ 6 h 527"/>
                <a:gd name="T36" fmla="*/ 1220 w 3976"/>
                <a:gd name="T37" fmla="*/ 0 h 527"/>
                <a:gd name="T38" fmla="*/ 1196 w 3976"/>
                <a:gd name="T39" fmla="*/ 0 h 527"/>
                <a:gd name="T40" fmla="*/ 1166 w 3976"/>
                <a:gd name="T41" fmla="*/ 0 h 527"/>
                <a:gd name="T42" fmla="*/ 1142 w 3976"/>
                <a:gd name="T43" fmla="*/ 0 h 527"/>
                <a:gd name="T44" fmla="*/ 1136 w 3976"/>
                <a:gd name="T45" fmla="*/ 0 h 527"/>
                <a:gd name="T46" fmla="*/ 1130 w 3976"/>
                <a:gd name="T47" fmla="*/ 0 h 527"/>
                <a:gd name="T48" fmla="*/ 1124 w 3976"/>
                <a:gd name="T49" fmla="*/ 6 h 527"/>
                <a:gd name="T50" fmla="*/ 1118 w 3976"/>
                <a:gd name="T51" fmla="*/ 12 h 527"/>
                <a:gd name="T52" fmla="*/ 1100 w 3976"/>
                <a:gd name="T53" fmla="*/ 18 h 527"/>
                <a:gd name="T54" fmla="*/ 1088 w 3976"/>
                <a:gd name="T55" fmla="*/ 18 h 527"/>
                <a:gd name="T56" fmla="*/ 1070 w 3976"/>
                <a:gd name="T57" fmla="*/ 24 h 527"/>
                <a:gd name="T58" fmla="*/ 1052 w 3976"/>
                <a:gd name="T59" fmla="*/ 30 h 527"/>
                <a:gd name="T60" fmla="*/ 1034 w 3976"/>
                <a:gd name="T61" fmla="*/ 36 h 527"/>
                <a:gd name="T62" fmla="*/ 1028 w 3976"/>
                <a:gd name="T63" fmla="*/ 42 h 527"/>
                <a:gd name="T64" fmla="*/ 969 w 3976"/>
                <a:gd name="T65" fmla="*/ 60 h 527"/>
                <a:gd name="T66" fmla="*/ 921 w 3976"/>
                <a:gd name="T67" fmla="*/ 72 h 527"/>
                <a:gd name="T68" fmla="*/ 855 w 3976"/>
                <a:gd name="T69" fmla="*/ 48 h 527"/>
                <a:gd name="T70" fmla="*/ 825 w 3976"/>
                <a:gd name="T71" fmla="*/ 48 h 527"/>
                <a:gd name="T72" fmla="*/ 759 w 3976"/>
                <a:gd name="T73" fmla="*/ 72 h 527"/>
                <a:gd name="T74" fmla="*/ 735 w 3976"/>
                <a:gd name="T75" fmla="*/ 72 h 527"/>
                <a:gd name="T76" fmla="*/ 706 w 3976"/>
                <a:gd name="T77" fmla="*/ 60 h 527"/>
                <a:gd name="T78" fmla="*/ 640 w 3976"/>
                <a:gd name="T79" fmla="*/ 60 h 527"/>
                <a:gd name="T80" fmla="*/ 544 w 3976"/>
                <a:gd name="T81" fmla="*/ 72 h 527"/>
                <a:gd name="T82" fmla="*/ 389 w 3976"/>
                <a:gd name="T83" fmla="*/ 18 h 527"/>
                <a:gd name="T84" fmla="*/ 323 w 3976"/>
                <a:gd name="T85" fmla="*/ 60 h 527"/>
                <a:gd name="T86" fmla="*/ 317 w 3976"/>
                <a:gd name="T87" fmla="*/ 60 h 527"/>
                <a:gd name="T88" fmla="*/ 305 w 3976"/>
                <a:gd name="T89" fmla="*/ 72 h 527"/>
                <a:gd name="T90" fmla="*/ 287 w 3976"/>
                <a:gd name="T91" fmla="*/ 78 h 527"/>
                <a:gd name="T92" fmla="*/ 263 w 3976"/>
                <a:gd name="T93" fmla="*/ 90 h 527"/>
                <a:gd name="T94" fmla="*/ 203 w 3976"/>
                <a:gd name="T95" fmla="*/ 120 h 527"/>
                <a:gd name="T96" fmla="*/ 149 w 3976"/>
                <a:gd name="T97" fmla="*/ 150 h 527"/>
                <a:gd name="T98" fmla="*/ 78 w 3976"/>
                <a:gd name="T99" fmla="*/ 168 h 527"/>
                <a:gd name="T100" fmla="*/ 0 w 3976"/>
                <a:gd name="T101" fmla="*/ 180 h 527"/>
                <a:gd name="T102" fmla="*/ 0 w 3976"/>
                <a:gd name="T103" fmla="*/ 527 h 527"/>
                <a:gd name="T104" fmla="*/ 1010 w 3976"/>
                <a:gd name="T105" fmla="*/ 527 h 527"/>
                <a:gd name="T106" fmla="*/ 3725 w 3976"/>
                <a:gd name="T107" fmla="*/ 527 h 527"/>
                <a:gd name="T108" fmla="*/ 3976 w 3976"/>
                <a:gd name="T109" fmla="*/ 527 h 527"/>
                <a:gd name="T110" fmla="*/ 3976 w 3976"/>
                <a:gd name="T111" fmla="*/ 527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976" h="527">
                  <a:moveTo>
                    <a:pt x="3976" y="527"/>
                  </a:moveTo>
                  <a:lnTo>
                    <a:pt x="3970" y="527"/>
                  </a:lnTo>
                  <a:lnTo>
                    <a:pt x="3844" y="509"/>
                  </a:lnTo>
                  <a:lnTo>
                    <a:pt x="2487" y="305"/>
                  </a:lnTo>
                  <a:lnTo>
                    <a:pt x="2039" y="36"/>
                  </a:lnTo>
                  <a:lnTo>
                    <a:pt x="1907" y="24"/>
                  </a:lnTo>
                  <a:lnTo>
                    <a:pt x="1883" y="54"/>
                  </a:lnTo>
                  <a:lnTo>
                    <a:pt x="1859" y="54"/>
                  </a:lnTo>
                  <a:lnTo>
                    <a:pt x="1830" y="30"/>
                  </a:lnTo>
                  <a:lnTo>
                    <a:pt x="1704" y="102"/>
                  </a:lnTo>
                  <a:lnTo>
                    <a:pt x="1608" y="126"/>
                  </a:lnTo>
                  <a:lnTo>
                    <a:pt x="1561" y="132"/>
                  </a:lnTo>
                  <a:lnTo>
                    <a:pt x="1495" y="102"/>
                  </a:lnTo>
                  <a:lnTo>
                    <a:pt x="1357" y="126"/>
                  </a:lnTo>
                  <a:lnTo>
                    <a:pt x="1285" y="24"/>
                  </a:lnTo>
                  <a:lnTo>
                    <a:pt x="1280" y="18"/>
                  </a:lnTo>
                  <a:lnTo>
                    <a:pt x="1262" y="12"/>
                  </a:lnTo>
                  <a:lnTo>
                    <a:pt x="1238" y="6"/>
                  </a:lnTo>
                  <a:lnTo>
                    <a:pt x="1220" y="0"/>
                  </a:lnTo>
                  <a:lnTo>
                    <a:pt x="1196" y="0"/>
                  </a:lnTo>
                  <a:lnTo>
                    <a:pt x="1166" y="0"/>
                  </a:lnTo>
                  <a:lnTo>
                    <a:pt x="1142" y="0"/>
                  </a:lnTo>
                  <a:lnTo>
                    <a:pt x="1136" y="0"/>
                  </a:lnTo>
                  <a:lnTo>
                    <a:pt x="1130" y="0"/>
                  </a:lnTo>
                  <a:lnTo>
                    <a:pt x="1124" y="6"/>
                  </a:lnTo>
                  <a:lnTo>
                    <a:pt x="1118" y="12"/>
                  </a:lnTo>
                  <a:lnTo>
                    <a:pt x="1100" y="18"/>
                  </a:lnTo>
                  <a:lnTo>
                    <a:pt x="1088" y="18"/>
                  </a:lnTo>
                  <a:lnTo>
                    <a:pt x="1070" y="24"/>
                  </a:lnTo>
                  <a:lnTo>
                    <a:pt x="1052" y="30"/>
                  </a:lnTo>
                  <a:lnTo>
                    <a:pt x="1034" y="36"/>
                  </a:lnTo>
                  <a:lnTo>
                    <a:pt x="1028" y="42"/>
                  </a:lnTo>
                  <a:lnTo>
                    <a:pt x="969" y="60"/>
                  </a:lnTo>
                  <a:lnTo>
                    <a:pt x="921" y="72"/>
                  </a:lnTo>
                  <a:lnTo>
                    <a:pt x="855" y="48"/>
                  </a:lnTo>
                  <a:lnTo>
                    <a:pt x="825" y="48"/>
                  </a:lnTo>
                  <a:lnTo>
                    <a:pt x="759" y="72"/>
                  </a:lnTo>
                  <a:lnTo>
                    <a:pt x="735" y="72"/>
                  </a:lnTo>
                  <a:lnTo>
                    <a:pt x="706" y="60"/>
                  </a:lnTo>
                  <a:lnTo>
                    <a:pt x="640" y="60"/>
                  </a:lnTo>
                  <a:lnTo>
                    <a:pt x="544" y="72"/>
                  </a:lnTo>
                  <a:lnTo>
                    <a:pt x="389" y="18"/>
                  </a:lnTo>
                  <a:lnTo>
                    <a:pt x="323" y="60"/>
                  </a:lnTo>
                  <a:lnTo>
                    <a:pt x="317" y="60"/>
                  </a:lnTo>
                  <a:lnTo>
                    <a:pt x="305" y="72"/>
                  </a:lnTo>
                  <a:lnTo>
                    <a:pt x="287" y="78"/>
                  </a:lnTo>
                  <a:lnTo>
                    <a:pt x="263" y="90"/>
                  </a:lnTo>
                  <a:lnTo>
                    <a:pt x="203" y="120"/>
                  </a:lnTo>
                  <a:lnTo>
                    <a:pt x="149" y="150"/>
                  </a:lnTo>
                  <a:lnTo>
                    <a:pt x="78" y="168"/>
                  </a:lnTo>
                  <a:lnTo>
                    <a:pt x="0" y="180"/>
                  </a:lnTo>
                  <a:lnTo>
                    <a:pt x="0" y="527"/>
                  </a:lnTo>
                  <a:lnTo>
                    <a:pt x="1010" y="527"/>
                  </a:lnTo>
                  <a:lnTo>
                    <a:pt x="3725" y="527"/>
                  </a:lnTo>
                  <a:lnTo>
                    <a:pt x="3976" y="527"/>
                  </a:lnTo>
                  <a:lnTo>
                    <a:pt x="3976" y="527"/>
                  </a:lnTo>
                  <a:close/>
                </a:path>
              </a:pathLst>
            </a:custGeom>
            <a:gradFill rotWithShape="0">
              <a:gsLst>
                <a:gs pos="0">
                  <a:schemeClr val="bg2">
                    <a:gamma/>
                    <a:tint val="75686"/>
                    <a:invGamma/>
                  </a:schemeClr>
                </a:gs>
                <a:gs pos="100000">
                  <a:schemeClr val="bg2"/>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264207" name="Group 15">
            <a:extLst>
              <a:ext uri="{FF2B5EF4-FFF2-40B4-BE49-F238E27FC236}">
                <a16:creationId xmlns:a16="http://schemas.microsoft.com/office/drawing/2014/main" id="{7F631E62-13C0-7089-1EB8-651600BCB780}"/>
              </a:ext>
            </a:extLst>
          </p:cNvPr>
          <p:cNvGrpSpPr>
            <a:grpSpLocks/>
          </p:cNvGrpSpPr>
          <p:nvPr/>
        </p:nvGrpSpPr>
        <p:grpSpPr bwMode="auto">
          <a:xfrm>
            <a:off x="627063" y="6021388"/>
            <a:ext cx="5684837" cy="849312"/>
            <a:chOff x="395" y="3793"/>
            <a:chExt cx="3581" cy="535"/>
          </a:xfrm>
        </p:grpSpPr>
        <p:sp>
          <p:nvSpPr>
            <p:cNvPr id="264208" name="Freeform 16">
              <a:extLst>
                <a:ext uri="{FF2B5EF4-FFF2-40B4-BE49-F238E27FC236}">
                  <a16:creationId xmlns:a16="http://schemas.microsoft.com/office/drawing/2014/main" id="{37E0EA6E-453C-BDFD-F429-1D91AE50D586}"/>
                </a:ext>
              </a:extLst>
            </p:cNvPr>
            <p:cNvSpPr>
              <a:spLocks/>
            </p:cNvSpPr>
            <p:nvPr/>
          </p:nvSpPr>
          <p:spPr bwMode="auto">
            <a:xfrm>
              <a:off x="1196" y="3793"/>
              <a:ext cx="365" cy="291"/>
            </a:xfrm>
            <a:custGeom>
              <a:avLst/>
              <a:gdLst>
                <a:gd name="T0" fmla="*/ 24 w 365"/>
                <a:gd name="T1" fmla="*/ 24 h 287"/>
                <a:gd name="T2" fmla="*/ 0 w 365"/>
                <a:gd name="T3" fmla="*/ 60 h 287"/>
                <a:gd name="T4" fmla="*/ 66 w 365"/>
                <a:gd name="T5" fmla="*/ 108 h 287"/>
                <a:gd name="T6" fmla="*/ 143 w 365"/>
                <a:gd name="T7" fmla="*/ 180 h 287"/>
                <a:gd name="T8" fmla="*/ 191 w 365"/>
                <a:gd name="T9" fmla="*/ 168 h 287"/>
                <a:gd name="T10" fmla="*/ 341 w 365"/>
                <a:gd name="T11" fmla="*/ 287 h 287"/>
                <a:gd name="T12" fmla="*/ 305 w 365"/>
                <a:gd name="T13" fmla="*/ 174 h 287"/>
                <a:gd name="T14" fmla="*/ 365 w 365"/>
                <a:gd name="T15" fmla="*/ 132 h 287"/>
                <a:gd name="T16" fmla="*/ 359 w 365"/>
                <a:gd name="T17" fmla="*/ 126 h 287"/>
                <a:gd name="T18" fmla="*/ 335 w 365"/>
                <a:gd name="T19" fmla="*/ 114 h 287"/>
                <a:gd name="T20" fmla="*/ 299 w 365"/>
                <a:gd name="T21" fmla="*/ 90 h 287"/>
                <a:gd name="T22" fmla="*/ 257 w 365"/>
                <a:gd name="T23" fmla="*/ 72 h 287"/>
                <a:gd name="T24" fmla="*/ 215 w 365"/>
                <a:gd name="T25" fmla="*/ 54 h 287"/>
                <a:gd name="T26" fmla="*/ 173 w 365"/>
                <a:gd name="T27" fmla="*/ 36 h 287"/>
                <a:gd name="T28" fmla="*/ 143 w 365"/>
                <a:gd name="T29" fmla="*/ 24 h 287"/>
                <a:gd name="T30" fmla="*/ 131 w 365"/>
                <a:gd name="T31" fmla="*/ 18 h 287"/>
                <a:gd name="T32" fmla="*/ 107 w 365"/>
                <a:gd name="T33" fmla="*/ 18 h 287"/>
                <a:gd name="T34" fmla="*/ 95 w 365"/>
                <a:gd name="T35" fmla="*/ 18 h 287"/>
                <a:gd name="T36" fmla="*/ 72 w 365"/>
                <a:gd name="T37" fmla="*/ 12 h 287"/>
                <a:gd name="T38" fmla="*/ 66 w 365"/>
                <a:gd name="T39" fmla="*/ 12 h 287"/>
                <a:gd name="T40" fmla="*/ 54 w 365"/>
                <a:gd name="T41" fmla="*/ 6 h 287"/>
                <a:gd name="T42" fmla="*/ 42 w 365"/>
                <a:gd name="T43" fmla="*/ 0 h 287"/>
                <a:gd name="T44" fmla="*/ 30 w 365"/>
                <a:gd name="T45" fmla="*/ 0 h 287"/>
                <a:gd name="T46" fmla="*/ 24 w 365"/>
                <a:gd name="T47" fmla="*/ 24 h 287"/>
                <a:gd name="T48" fmla="*/ 24 w 365"/>
                <a:gd name="T49" fmla="*/ 24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365" h="287">
                  <a:moveTo>
                    <a:pt x="24" y="24"/>
                  </a:moveTo>
                  <a:lnTo>
                    <a:pt x="0" y="60"/>
                  </a:lnTo>
                  <a:lnTo>
                    <a:pt x="66" y="108"/>
                  </a:lnTo>
                  <a:lnTo>
                    <a:pt x="143" y="180"/>
                  </a:lnTo>
                  <a:lnTo>
                    <a:pt x="191" y="168"/>
                  </a:lnTo>
                  <a:lnTo>
                    <a:pt x="341" y="287"/>
                  </a:lnTo>
                  <a:lnTo>
                    <a:pt x="305" y="174"/>
                  </a:lnTo>
                  <a:lnTo>
                    <a:pt x="365" y="132"/>
                  </a:lnTo>
                  <a:lnTo>
                    <a:pt x="359" y="126"/>
                  </a:lnTo>
                  <a:lnTo>
                    <a:pt x="335" y="114"/>
                  </a:lnTo>
                  <a:lnTo>
                    <a:pt x="299" y="90"/>
                  </a:lnTo>
                  <a:lnTo>
                    <a:pt x="257" y="72"/>
                  </a:lnTo>
                  <a:lnTo>
                    <a:pt x="215" y="54"/>
                  </a:lnTo>
                  <a:lnTo>
                    <a:pt x="173" y="36"/>
                  </a:lnTo>
                  <a:lnTo>
                    <a:pt x="143" y="24"/>
                  </a:lnTo>
                  <a:lnTo>
                    <a:pt x="131" y="18"/>
                  </a:lnTo>
                  <a:lnTo>
                    <a:pt x="107" y="18"/>
                  </a:lnTo>
                  <a:lnTo>
                    <a:pt x="95" y="18"/>
                  </a:lnTo>
                  <a:lnTo>
                    <a:pt x="72" y="12"/>
                  </a:lnTo>
                  <a:lnTo>
                    <a:pt x="66" y="12"/>
                  </a:lnTo>
                  <a:lnTo>
                    <a:pt x="54" y="6"/>
                  </a:lnTo>
                  <a:lnTo>
                    <a:pt x="42" y="0"/>
                  </a:lnTo>
                  <a:lnTo>
                    <a:pt x="30" y="0"/>
                  </a:lnTo>
                  <a:lnTo>
                    <a:pt x="24" y="24"/>
                  </a:lnTo>
                  <a:lnTo>
                    <a:pt x="24" y="24"/>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09" name="Freeform 17">
              <a:extLst>
                <a:ext uri="{FF2B5EF4-FFF2-40B4-BE49-F238E27FC236}">
                  <a16:creationId xmlns:a16="http://schemas.microsoft.com/office/drawing/2014/main" id="{3458FF2F-61F0-23CA-164C-9B3D206C0D6C}"/>
                </a:ext>
              </a:extLst>
            </p:cNvPr>
            <p:cNvSpPr>
              <a:spLocks/>
            </p:cNvSpPr>
            <p:nvPr/>
          </p:nvSpPr>
          <p:spPr bwMode="auto">
            <a:xfrm>
              <a:off x="1943" y="3829"/>
              <a:ext cx="2033" cy="499"/>
            </a:xfrm>
            <a:custGeom>
              <a:avLst/>
              <a:gdLst>
                <a:gd name="T0" fmla="*/ 186 w 2033"/>
                <a:gd name="T1" fmla="*/ 18 h 499"/>
                <a:gd name="T2" fmla="*/ 138 w 2033"/>
                <a:gd name="T3" fmla="*/ 6 h 499"/>
                <a:gd name="T4" fmla="*/ 96 w 2033"/>
                <a:gd name="T5" fmla="*/ 0 h 499"/>
                <a:gd name="T6" fmla="*/ 36 w 2033"/>
                <a:gd name="T7" fmla="*/ 0 h 499"/>
                <a:gd name="T8" fmla="*/ 12 w 2033"/>
                <a:gd name="T9" fmla="*/ 25 h 499"/>
                <a:gd name="T10" fmla="*/ 0 w 2033"/>
                <a:gd name="T11" fmla="*/ 128 h 499"/>
                <a:gd name="T12" fmla="*/ 60 w 2033"/>
                <a:gd name="T13" fmla="*/ 104 h 499"/>
                <a:gd name="T14" fmla="*/ 90 w 2033"/>
                <a:gd name="T15" fmla="*/ 134 h 499"/>
                <a:gd name="T16" fmla="*/ 150 w 2033"/>
                <a:gd name="T17" fmla="*/ 153 h 499"/>
                <a:gd name="T18" fmla="*/ 209 w 2033"/>
                <a:gd name="T19" fmla="*/ 273 h 499"/>
                <a:gd name="T20" fmla="*/ 401 w 2033"/>
                <a:gd name="T21" fmla="*/ 359 h 499"/>
                <a:gd name="T22" fmla="*/ 777 w 2033"/>
                <a:gd name="T23" fmla="*/ 359 h 499"/>
                <a:gd name="T24" fmla="*/ 2033 w 2033"/>
                <a:gd name="T25" fmla="*/ 499 h 499"/>
                <a:gd name="T26" fmla="*/ 2033 w 2033"/>
                <a:gd name="T27" fmla="*/ 499 h 499"/>
                <a:gd name="T28" fmla="*/ 1991 w 2033"/>
                <a:gd name="T29" fmla="*/ 493 h 499"/>
                <a:gd name="T30" fmla="*/ 676 w 2033"/>
                <a:gd name="T31" fmla="*/ 243 h 499"/>
                <a:gd name="T32" fmla="*/ 514 w 2033"/>
                <a:gd name="T33" fmla="*/ 159 h 499"/>
                <a:gd name="T34" fmla="*/ 425 w 2033"/>
                <a:gd name="T35" fmla="*/ 110 h 499"/>
                <a:gd name="T36" fmla="*/ 365 w 2033"/>
                <a:gd name="T37" fmla="*/ 92 h 499"/>
                <a:gd name="T38" fmla="*/ 281 w 2033"/>
                <a:gd name="T39" fmla="*/ 61 h 499"/>
                <a:gd name="T40" fmla="*/ 186 w 2033"/>
                <a:gd name="T41" fmla="*/ 18 h 499"/>
                <a:gd name="T42" fmla="*/ 186 w 2033"/>
                <a:gd name="T43" fmla="*/ 18 h 4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033" h="499">
                  <a:moveTo>
                    <a:pt x="186" y="18"/>
                  </a:moveTo>
                  <a:lnTo>
                    <a:pt x="138" y="6"/>
                  </a:lnTo>
                  <a:lnTo>
                    <a:pt x="96" y="0"/>
                  </a:lnTo>
                  <a:lnTo>
                    <a:pt x="36" y="0"/>
                  </a:lnTo>
                  <a:lnTo>
                    <a:pt x="12" y="25"/>
                  </a:lnTo>
                  <a:lnTo>
                    <a:pt x="0" y="128"/>
                  </a:lnTo>
                  <a:lnTo>
                    <a:pt x="60" y="104"/>
                  </a:lnTo>
                  <a:lnTo>
                    <a:pt x="90" y="134"/>
                  </a:lnTo>
                  <a:lnTo>
                    <a:pt x="150" y="153"/>
                  </a:lnTo>
                  <a:lnTo>
                    <a:pt x="209" y="273"/>
                  </a:lnTo>
                  <a:lnTo>
                    <a:pt x="401" y="359"/>
                  </a:lnTo>
                  <a:lnTo>
                    <a:pt x="777" y="359"/>
                  </a:lnTo>
                  <a:lnTo>
                    <a:pt x="2033" y="499"/>
                  </a:lnTo>
                  <a:lnTo>
                    <a:pt x="2033" y="499"/>
                  </a:lnTo>
                  <a:lnTo>
                    <a:pt x="1991" y="493"/>
                  </a:lnTo>
                  <a:lnTo>
                    <a:pt x="676" y="243"/>
                  </a:lnTo>
                  <a:lnTo>
                    <a:pt x="514" y="159"/>
                  </a:lnTo>
                  <a:lnTo>
                    <a:pt x="425" y="110"/>
                  </a:lnTo>
                  <a:lnTo>
                    <a:pt x="365" y="92"/>
                  </a:lnTo>
                  <a:lnTo>
                    <a:pt x="281" y="61"/>
                  </a:lnTo>
                  <a:lnTo>
                    <a:pt x="186" y="18"/>
                  </a:lnTo>
                  <a:lnTo>
                    <a:pt x="186"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0" name="Freeform 18">
              <a:extLst>
                <a:ext uri="{FF2B5EF4-FFF2-40B4-BE49-F238E27FC236}">
                  <a16:creationId xmlns:a16="http://schemas.microsoft.com/office/drawing/2014/main" id="{7D476DAF-9700-BA8B-6D4B-C8EC771C6411}"/>
                </a:ext>
              </a:extLst>
            </p:cNvPr>
            <p:cNvSpPr>
              <a:spLocks/>
            </p:cNvSpPr>
            <p:nvPr/>
          </p:nvSpPr>
          <p:spPr bwMode="auto">
            <a:xfrm>
              <a:off x="1830" y="3823"/>
              <a:ext cx="71" cy="61"/>
            </a:xfrm>
            <a:custGeom>
              <a:avLst/>
              <a:gdLst>
                <a:gd name="T0" fmla="*/ 0 w 71"/>
                <a:gd name="T1" fmla="*/ 18 h 60"/>
                <a:gd name="T2" fmla="*/ 6 w 71"/>
                <a:gd name="T3" fmla="*/ 18 h 60"/>
                <a:gd name="T4" fmla="*/ 12 w 71"/>
                <a:gd name="T5" fmla="*/ 12 h 60"/>
                <a:gd name="T6" fmla="*/ 6 w 71"/>
                <a:gd name="T7" fmla="*/ 6 h 60"/>
                <a:gd name="T8" fmla="*/ 0 w 71"/>
                <a:gd name="T9" fmla="*/ 0 h 60"/>
                <a:gd name="T10" fmla="*/ 29 w 71"/>
                <a:gd name="T11" fmla="*/ 18 h 60"/>
                <a:gd name="T12" fmla="*/ 53 w 71"/>
                <a:gd name="T13" fmla="*/ 18 h 60"/>
                <a:gd name="T14" fmla="*/ 59 w 71"/>
                <a:gd name="T15" fmla="*/ 30 h 60"/>
                <a:gd name="T16" fmla="*/ 65 w 71"/>
                <a:gd name="T17" fmla="*/ 42 h 60"/>
                <a:gd name="T18" fmla="*/ 71 w 71"/>
                <a:gd name="T19" fmla="*/ 54 h 60"/>
                <a:gd name="T20" fmla="*/ 71 w 71"/>
                <a:gd name="T21" fmla="*/ 60 h 60"/>
                <a:gd name="T22" fmla="*/ 59 w 71"/>
                <a:gd name="T23" fmla="*/ 54 h 60"/>
                <a:gd name="T24" fmla="*/ 47 w 71"/>
                <a:gd name="T25" fmla="*/ 42 h 60"/>
                <a:gd name="T26" fmla="*/ 23 w 71"/>
                <a:gd name="T27" fmla="*/ 30 h 60"/>
                <a:gd name="T28" fmla="*/ 23 w 71"/>
                <a:gd name="T29" fmla="*/ 36 h 60"/>
                <a:gd name="T30" fmla="*/ 18 w 71"/>
                <a:gd name="T31" fmla="*/ 42 h 60"/>
                <a:gd name="T32" fmla="*/ 12 w 71"/>
                <a:gd name="T33" fmla="*/ 48 h 60"/>
                <a:gd name="T34" fmla="*/ 6 w 71"/>
                <a:gd name="T35" fmla="*/ 48 h 60"/>
                <a:gd name="T36" fmla="*/ 6 w 71"/>
                <a:gd name="T37" fmla="*/ 48 h 60"/>
                <a:gd name="T38" fmla="*/ 6 w 71"/>
                <a:gd name="T39" fmla="*/ 36 h 60"/>
                <a:gd name="T40" fmla="*/ 0 w 71"/>
                <a:gd name="T41" fmla="*/ 18 h 60"/>
                <a:gd name="T42" fmla="*/ 0 w 71"/>
                <a:gd name="T43" fmla="*/ 1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71" h="60">
                  <a:moveTo>
                    <a:pt x="0" y="18"/>
                  </a:moveTo>
                  <a:lnTo>
                    <a:pt x="6" y="18"/>
                  </a:lnTo>
                  <a:lnTo>
                    <a:pt x="12" y="12"/>
                  </a:lnTo>
                  <a:lnTo>
                    <a:pt x="6" y="6"/>
                  </a:lnTo>
                  <a:lnTo>
                    <a:pt x="0" y="0"/>
                  </a:lnTo>
                  <a:lnTo>
                    <a:pt x="29" y="18"/>
                  </a:lnTo>
                  <a:lnTo>
                    <a:pt x="53" y="18"/>
                  </a:lnTo>
                  <a:lnTo>
                    <a:pt x="59" y="30"/>
                  </a:lnTo>
                  <a:lnTo>
                    <a:pt x="65" y="42"/>
                  </a:lnTo>
                  <a:lnTo>
                    <a:pt x="71" y="54"/>
                  </a:lnTo>
                  <a:lnTo>
                    <a:pt x="71" y="60"/>
                  </a:lnTo>
                  <a:lnTo>
                    <a:pt x="59" y="54"/>
                  </a:lnTo>
                  <a:lnTo>
                    <a:pt x="47" y="42"/>
                  </a:lnTo>
                  <a:lnTo>
                    <a:pt x="23" y="30"/>
                  </a:lnTo>
                  <a:lnTo>
                    <a:pt x="23" y="36"/>
                  </a:lnTo>
                  <a:lnTo>
                    <a:pt x="18" y="42"/>
                  </a:lnTo>
                  <a:lnTo>
                    <a:pt x="12" y="48"/>
                  </a:lnTo>
                  <a:lnTo>
                    <a:pt x="6" y="48"/>
                  </a:lnTo>
                  <a:lnTo>
                    <a:pt x="6" y="48"/>
                  </a:lnTo>
                  <a:lnTo>
                    <a:pt x="6" y="36"/>
                  </a:lnTo>
                  <a:lnTo>
                    <a:pt x="0" y="18"/>
                  </a:lnTo>
                  <a:lnTo>
                    <a:pt x="0" y="18"/>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1" name="Freeform 19">
              <a:extLst>
                <a:ext uri="{FF2B5EF4-FFF2-40B4-BE49-F238E27FC236}">
                  <a16:creationId xmlns:a16="http://schemas.microsoft.com/office/drawing/2014/main" id="{4EFA4984-7E39-7332-20D6-FF3E9EC7A768}"/>
                </a:ext>
              </a:extLst>
            </p:cNvPr>
            <p:cNvSpPr>
              <a:spLocks/>
            </p:cNvSpPr>
            <p:nvPr/>
          </p:nvSpPr>
          <p:spPr bwMode="auto">
            <a:xfrm>
              <a:off x="855" y="3842"/>
              <a:ext cx="161" cy="164"/>
            </a:xfrm>
            <a:custGeom>
              <a:avLst/>
              <a:gdLst>
                <a:gd name="T0" fmla="*/ 30 w 161"/>
                <a:gd name="T1" fmla="*/ 0 h 162"/>
                <a:gd name="T2" fmla="*/ 48 w 161"/>
                <a:gd name="T3" fmla="*/ 6 h 162"/>
                <a:gd name="T4" fmla="*/ 72 w 161"/>
                <a:gd name="T5" fmla="*/ 6 h 162"/>
                <a:gd name="T6" fmla="*/ 114 w 161"/>
                <a:gd name="T7" fmla="*/ 12 h 162"/>
                <a:gd name="T8" fmla="*/ 96 w 161"/>
                <a:gd name="T9" fmla="*/ 54 h 162"/>
                <a:gd name="T10" fmla="*/ 96 w 161"/>
                <a:gd name="T11" fmla="*/ 60 h 162"/>
                <a:gd name="T12" fmla="*/ 102 w 161"/>
                <a:gd name="T13" fmla="*/ 72 h 162"/>
                <a:gd name="T14" fmla="*/ 108 w 161"/>
                <a:gd name="T15" fmla="*/ 84 h 162"/>
                <a:gd name="T16" fmla="*/ 120 w 161"/>
                <a:gd name="T17" fmla="*/ 96 h 162"/>
                <a:gd name="T18" fmla="*/ 143 w 161"/>
                <a:gd name="T19" fmla="*/ 114 h 162"/>
                <a:gd name="T20" fmla="*/ 155 w 161"/>
                <a:gd name="T21" fmla="*/ 138 h 162"/>
                <a:gd name="T22" fmla="*/ 161 w 161"/>
                <a:gd name="T23" fmla="*/ 156 h 162"/>
                <a:gd name="T24" fmla="*/ 161 w 161"/>
                <a:gd name="T25" fmla="*/ 162 h 162"/>
                <a:gd name="T26" fmla="*/ 96 w 161"/>
                <a:gd name="T27" fmla="*/ 102 h 162"/>
                <a:gd name="T28" fmla="*/ 30 w 161"/>
                <a:gd name="T29" fmla="*/ 54 h 162"/>
                <a:gd name="T30" fmla="*/ 0 w 161"/>
                <a:gd name="T31" fmla="*/ 0 h 162"/>
                <a:gd name="T32" fmla="*/ 30 w 161"/>
                <a:gd name="T33" fmla="*/ 0 h 162"/>
                <a:gd name="T34" fmla="*/ 30 w 161"/>
                <a:gd name="T35" fmla="*/ 0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61" h="162">
                  <a:moveTo>
                    <a:pt x="30" y="0"/>
                  </a:moveTo>
                  <a:lnTo>
                    <a:pt x="48" y="6"/>
                  </a:lnTo>
                  <a:lnTo>
                    <a:pt x="72" y="6"/>
                  </a:lnTo>
                  <a:lnTo>
                    <a:pt x="114" y="12"/>
                  </a:lnTo>
                  <a:lnTo>
                    <a:pt x="96" y="54"/>
                  </a:lnTo>
                  <a:lnTo>
                    <a:pt x="96" y="60"/>
                  </a:lnTo>
                  <a:lnTo>
                    <a:pt x="102" y="72"/>
                  </a:lnTo>
                  <a:lnTo>
                    <a:pt x="108" y="84"/>
                  </a:lnTo>
                  <a:lnTo>
                    <a:pt x="120" y="96"/>
                  </a:lnTo>
                  <a:lnTo>
                    <a:pt x="143" y="114"/>
                  </a:lnTo>
                  <a:lnTo>
                    <a:pt x="155" y="138"/>
                  </a:lnTo>
                  <a:lnTo>
                    <a:pt x="161" y="156"/>
                  </a:lnTo>
                  <a:lnTo>
                    <a:pt x="161" y="162"/>
                  </a:lnTo>
                  <a:lnTo>
                    <a:pt x="96" y="102"/>
                  </a:lnTo>
                  <a:lnTo>
                    <a:pt x="30" y="54"/>
                  </a:lnTo>
                  <a:lnTo>
                    <a:pt x="0" y="0"/>
                  </a:lnTo>
                  <a:lnTo>
                    <a:pt x="30" y="0"/>
                  </a:lnTo>
                  <a:lnTo>
                    <a:pt x="3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2" name="Freeform 20">
              <a:extLst>
                <a:ext uri="{FF2B5EF4-FFF2-40B4-BE49-F238E27FC236}">
                  <a16:creationId xmlns:a16="http://schemas.microsoft.com/office/drawing/2014/main" id="{21653220-7844-5658-75BE-BF7D93DC427F}"/>
                </a:ext>
              </a:extLst>
            </p:cNvPr>
            <p:cNvSpPr>
              <a:spLocks/>
            </p:cNvSpPr>
            <p:nvPr/>
          </p:nvSpPr>
          <p:spPr bwMode="auto">
            <a:xfrm>
              <a:off x="706" y="3854"/>
              <a:ext cx="59" cy="61"/>
            </a:xfrm>
            <a:custGeom>
              <a:avLst/>
              <a:gdLst>
                <a:gd name="T0" fmla="*/ 59 w 59"/>
                <a:gd name="T1" fmla="*/ 6 h 60"/>
                <a:gd name="T2" fmla="*/ 41 w 59"/>
                <a:gd name="T3" fmla="*/ 30 h 60"/>
                <a:gd name="T4" fmla="*/ 41 w 59"/>
                <a:gd name="T5" fmla="*/ 36 h 60"/>
                <a:gd name="T6" fmla="*/ 47 w 59"/>
                <a:gd name="T7" fmla="*/ 42 h 60"/>
                <a:gd name="T8" fmla="*/ 53 w 59"/>
                <a:gd name="T9" fmla="*/ 54 h 60"/>
                <a:gd name="T10" fmla="*/ 53 w 59"/>
                <a:gd name="T11" fmla="*/ 60 h 60"/>
                <a:gd name="T12" fmla="*/ 47 w 59"/>
                <a:gd name="T13" fmla="*/ 54 h 60"/>
                <a:gd name="T14" fmla="*/ 35 w 59"/>
                <a:gd name="T15" fmla="*/ 48 h 60"/>
                <a:gd name="T16" fmla="*/ 23 w 59"/>
                <a:gd name="T17" fmla="*/ 36 h 60"/>
                <a:gd name="T18" fmla="*/ 17 w 59"/>
                <a:gd name="T19" fmla="*/ 30 h 60"/>
                <a:gd name="T20" fmla="*/ 0 w 59"/>
                <a:gd name="T21" fmla="*/ 0 h 60"/>
                <a:gd name="T22" fmla="*/ 59 w 59"/>
                <a:gd name="T23" fmla="*/ 6 h 60"/>
                <a:gd name="T24" fmla="*/ 59 w 59"/>
                <a:gd name="T25" fmla="*/ 6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60">
                  <a:moveTo>
                    <a:pt x="59" y="6"/>
                  </a:moveTo>
                  <a:lnTo>
                    <a:pt x="41" y="30"/>
                  </a:lnTo>
                  <a:lnTo>
                    <a:pt x="41" y="36"/>
                  </a:lnTo>
                  <a:lnTo>
                    <a:pt x="47" y="42"/>
                  </a:lnTo>
                  <a:lnTo>
                    <a:pt x="53" y="54"/>
                  </a:lnTo>
                  <a:lnTo>
                    <a:pt x="53" y="60"/>
                  </a:lnTo>
                  <a:lnTo>
                    <a:pt x="47" y="54"/>
                  </a:lnTo>
                  <a:lnTo>
                    <a:pt x="35" y="48"/>
                  </a:lnTo>
                  <a:lnTo>
                    <a:pt x="23" y="36"/>
                  </a:lnTo>
                  <a:lnTo>
                    <a:pt x="17" y="30"/>
                  </a:lnTo>
                  <a:lnTo>
                    <a:pt x="0" y="0"/>
                  </a:lnTo>
                  <a:lnTo>
                    <a:pt x="59" y="6"/>
                  </a:lnTo>
                  <a:lnTo>
                    <a:pt x="59" y="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4213" name="Freeform 21">
              <a:extLst>
                <a:ext uri="{FF2B5EF4-FFF2-40B4-BE49-F238E27FC236}">
                  <a16:creationId xmlns:a16="http://schemas.microsoft.com/office/drawing/2014/main" id="{976A055B-FC88-D0F1-17DB-9CD6AF95494C}"/>
                </a:ext>
              </a:extLst>
            </p:cNvPr>
            <p:cNvSpPr>
              <a:spLocks/>
            </p:cNvSpPr>
            <p:nvPr/>
          </p:nvSpPr>
          <p:spPr bwMode="auto">
            <a:xfrm>
              <a:off x="395" y="3811"/>
              <a:ext cx="245" cy="207"/>
            </a:xfrm>
            <a:custGeom>
              <a:avLst/>
              <a:gdLst>
                <a:gd name="T0" fmla="*/ 233 w 245"/>
                <a:gd name="T1" fmla="*/ 36 h 204"/>
                <a:gd name="T2" fmla="*/ 245 w 245"/>
                <a:gd name="T3" fmla="*/ 42 h 204"/>
                <a:gd name="T4" fmla="*/ 209 w 245"/>
                <a:gd name="T5" fmla="*/ 84 h 204"/>
                <a:gd name="T6" fmla="*/ 143 w 245"/>
                <a:gd name="T7" fmla="*/ 132 h 204"/>
                <a:gd name="T8" fmla="*/ 167 w 245"/>
                <a:gd name="T9" fmla="*/ 156 h 204"/>
                <a:gd name="T10" fmla="*/ 179 w 245"/>
                <a:gd name="T11" fmla="*/ 204 h 204"/>
                <a:gd name="T12" fmla="*/ 77 w 245"/>
                <a:gd name="T13" fmla="*/ 132 h 204"/>
                <a:gd name="T14" fmla="*/ 47 w 245"/>
                <a:gd name="T15" fmla="*/ 84 h 204"/>
                <a:gd name="T16" fmla="*/ 89 w 245"/>
                <a:gd name="T17" fmla="*/ 66 h 204"/>
                <a:gd name="T18" fmla="*/ 59 w 245"/>
                <a:gd name="T19" fmla="*/ 36 h 204"/>
                <a:gd name="T20" fmla="*/ 0 w 245"/>
                <a:gd name="T21" fmla="*/ 12 h 204"/>
                <a:gd name="T22" fmla="*/ 0 w 245"/>
                <a:gd name="T23" fmla="*/ 0 h 204"/>
                <a:gd name="T24" fmla="*/ 6 w 245"/>
                <a:gd name="T25" fmla="*/ 0 h 204"/>
                <a:gd name="T26" fmla="*/ 12 w 245"/>
                <a:gd name="T27" fmla="*/ 0 h 204"/>
                <a:gd name="T28" fmla="*/ 47 w 245"/>
                <a:gd name="T29" fmla="*/ 6 h 204"/>
                <a:gd name="T30" fmla="*/ 77 w 245"/>
                <a:gd name="T31" fmla="*/ 6 h 204"/>
                <a:gd name="T32" fmla="*/ 83 w 245"/>
                <a:gd name="T33" fmla="*/ 6 h 204"/>
                <a:gd name="T34" fmla="*/ 89 w 245"/>
                <a:gd name="T35" fmla="*/ 6 h 204"/>
                <a:gd name="T36" fmla="*/ 101 w 245"/>
                <a:gd name="T37" fmla="*/ 12 h 204"/>
                <a:gd name="T38" fmla="*/ 125 w 245"/>
                <a:gd name="T39" fmla="*/ 12 h 204"/>
                <a:gd name="T40" fmla="*/ 143 w 245"/>
                <a:gd name="T41" fmla="*/ 18 h 204"/>
                <a:gd name="T42" fmla="*/ 149 w 245"/>
                <a:gd name="T43" fmla="*/ 18 h 204"/>
                <a:gd name="T44" fmla="*/ 149 w 245"/>
                <a:gd name="T45" fmla="*/ 18 h 204"/>
                <a:gd name="T46" fmla="*/ 203 w 245"/>
                <a:gd name="T47" fmla="*/ 24 h 204"/>
                <a:gd name="T48" fmla="*/ 233 w 245"/>
                <a:gd name="T49" fmla="*/ 36 h 204"/>
                <a:gd name="T50" fmla="*/ 233 w 245"/>
                <a:gd name="T51" fmla="*/ 36 h 2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45" h="204">
                  <a:moveTo>
                    <a:pt x="233" y="36"/>
                  </a:moveTo>
                  <a:lnTo>
                    <a:pt x="245" y="42"/>
                  </a:lnTo>
                  <a:lnTo>
                    <a:pt x="209" y="84"/>
                  </a:lnTo>
                  <a:lnTo>
                    <a:pt x="143" y="132"/>
                  </a:lnTo>
                  <a:lnTo>
                    <a:pt x="167" y="156"/>
                  </a:lnTo>
                  <a:lnTo>
                    <a:pt x="179" y="204"/>
                  </a:lnTo>
                  <a:lnTo>
                    <a:pt x="77" y="132"/>
                  </a:lnTo>
                  <a:lnTo>
                    <a:pt x="47" y="84"/>
                  </a:lnTo>
                  <a:lnTo>
                    <a:pt x="89" y="66"/>
                  </a:lnTo>
                  <a:lnTo>
                    <a:pt x="59" y="36"/>
                  </a:lnTo>
                  <a:lnTo>
                    <a:pt x="0" y="12"/>
                  </a:lnTo>
                  <a:lnTo>
                    <a:pt x="0" y="0"/>
                  </a:lnTo>
                  <a:lnTo>
                    <a:pt x="6" y="0"/>
                  </a:lnTo>
                  <a:lnTo>
                    <a:pt x="12" y="0"/>
                  </a:lnTo>
                  <a:lnTo>
                    <a:pt x="47" y="6"/>
                  </a:lnTo>
                  <a:lnTo>
                    <a:pt x="77" y="6"/>
                  </a:lnTo>
                  <a:lnTo>
                    <a:pt x="83" y="6"/>
                  </a:lnTo>
                  <a:lnTo>
                    <a:pt x="89" y="6"/>
                  </a:lnTo>
                  <a:lnTo>
                    <a:pt x="101" y="12"/>
                  </a:lnTo>
                  <a:lnTo>
                    <a:pt x="125" y="12"/>
                  </a:lnTo>
                  <a:lnTo>
                    <a:pt x="143" y="18"/>
                  </a:lnTo>
                  <a:lnTo>
                    <a:pt x="149" y="18"/>
                  </a:lnTo>
                  <a:lnTo>
                    <a:pt x="149" y="18"/>
                  </a:lnTo>
                  <a:lnTo>
                    <a:pt x="203" y="24"/>
                  </a:lnTo>
                  <a:lnTo>
                    <a:pt x="233" y="36"/>
                  </a:lnTo>
                  <a:lnTo>
                    <a:pt x="233" y="36"/>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264214" name="Rectangle 22">
            <a:extLst>
              <a:ext uri="{FF2B5EF4-FFF2-40B4-BE49-F238E27FC236}">
                <a16:creationId xmlns:a16="http://schemas.microsoft.com/office/drawing/2014/main" id="{997F5286-EDE2-E47A-8419-CBACADBC87DE}"/>
              </a:ext>
            </a:extLst>
          </p:cNvPr>
          <p:cNvSpPr>
            <a:spLocks noGrp="1" noChangeArrowheads="1"/>
          </p:cNvSpPr>
          <p:nvPr>
            <p:ph type="title"/>
          </p:nvPr>
        </p:nvSpPr>
        <p:spPr bwMode="auto">
          <a:xfrm>
            <a:off x="457200" y="228600"/>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264215" name="Rectangle 23">
            <a:extLst>
              <a:ext uri="{FF2B5EF4-FFF2-40B4-BE49-F238E27FC236}">
                <a16:creationId xmlns:a16="http://schemas.microsoft.com/office/drawing/2014/main" id="{65BBD64B-7A69-7BA5-86D3-903301B65CB1}"/>
              </a:ext>
            </a:extLst>
          </p:cNvPr>
          <p:cNvSpPr>
            <a:spLocks noGrp="1" noChangeArrowheads="1"/>
          </p:cNvSpPr>
          <p:nvPr>
            <p:ph type="body" idx="1"/>
          </p:nvPr>
        </p:nvSpPr>
        <p:spPr bwMode="auto">
          <a:xfrm>
            <a:off x="457200" y="1600200"/>
            <a:ext cx="8229600" cy="449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264216" name="Rectangle 24">
            <a:extLst>
              <a:ext uri="{FF2B5EF4-FFF2-40B4-BE49-F238E27FC236}">
                <a16:creationId xmlns:a16="http://schemas.microsoft.com/office/drawing/2014/main" id="{0CBC4C97-0E9B-F9AE-4803-8A2B016B6358}"/>
              </a:ext>
            </a:extLst>
          </p:cNvPr>
          <p:cNvSpPr>
            <a:spLocks noGrp="1" noChangeArrowheads="1"/>
          </p:cNvSpPr>
          <p:nvPr>
            <p:ph type="dt" sz="half" idx="2"/>
          </p:nvPr>
        </p:nvSpPr>
        <p:spPr bwMode="auto">
          <a:xfrm>
            <a:off x="457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defRPr sz="1200">
                <a:effectLst>
                  <a:outerShdw blurRad="38100" dist="38100" dir="2700000" algn="tl">
                    <a:srgbClr val="000000"/>
                  </a:outerShdw>
                </a:effectLst>
              </a:defRPr>
            </a:lvl1pPr>
          </a:lstStyle>
          <a:p>
            <a:r>
              <a:rPr lang="zh-CN" altLang="en-US"/>
              <a:t>讲义制作：李丽，陈志祥审</a:t>
            </a:r>
            <a:endParaRPr lang="en-US" altLang="zh-CN"/>
          </a:p>
        </p:txBody>
      </p:sp>
      <p:sp>
        <p:nvSpPr>
          <p:cNvPr id="264217" name="Rectangle 25">
            <a:extLst>
              <a:ext uri="{FF2B5EF4-FFF2-40B4-BE49-F238E27FC236}">
                <a16:creationId xmlns:a16="http://schemas.microsoft.com/office/drawing/2014/main" id="{8EAF225D-2F3B-D437-DCAF-402E47C9E71E}"/>
              </a:ext>
            </a:extLst>
          </p:cNvPr>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ctr">
              <a:defRPr sz="1200">
                <a:effectLst>
                  <a:outerShdw blurRad="38100" dist="38100" dir="2700000" algn="tl">
                    <a:srgbClr val="000000"/>
                  </a:outerShdw>
                </a:effectLst>
              </a:defRPr>
            </a:lvl1pPr>
          </a:lstStyle>
          <a:p>
            <a:endParaRPr lang="en-US" altLang="zh-CN"/>
          </a:p>
        </p:txBody>
      </p:sp>
      <p:sp>
        <p:nvSpPr>
          <p:cNvPr id="264218" name="Rectangle 26">
            <a:extLst>
              <a:ext uri="{FF2B5EF4-FFF2-40B4-BE49-F238E27FC236}">
                <a16:creationId xmlns:a16="http://schemas.microsoft.com/office/drawing/2014/main" id="{B157079B-A042-A1C3-BD22-477CE7C3317A}"/>
              </a:ext>
            </a:extLst>
          </p:cNvPr>
          <p:cNvSpPr>
            <a:spLocks noGrp="1" noChangeArrowheads="1"/>
          </p:cNvSpPr>
          <p:nvPr>
            <p:ph type="sldNum" sz="quarter" idx="4"/>
          </p:nvPr>
        </p:nvSpPr>
        <p:spPr bwMode="auto">
          <a:xfrm>
            <a:off x="6553200" y="6248400"/>
            <a:ext cx="213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effectLst>
                  <a:outerShdw blurRad="38100" dist="38100" dir="2700000" algn="tl">
                    <a:srgbClr val="000000"/>
                  </a:outerShdw>
                </a:effectLst>
              </a:defRPr>
            </a:lvl1pPr>
          </a:lstStyle>
          <a:p>
            <a:fld id="{608AABD7-444F-4B10-B23B-A5A04D6B233D}" type="slidenum">
              <a:rPr lang="en-US" altLang="zh-CN"/>
              <a:pPr/>
              <a:t>‹#›</a:t>
            </a:fld>
            <a:endParaRPr lang="en-US" altLang="zh-CN"/>
          </a:p>
        </p:txBody>
      </p:sp>
    </p:spTree>
  </p:cSld>
  <p:clrMap bg1="dk2" tx1="lt1" bg2="dk1"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transition spd="slow">
    <p:strips dir="rd"/>
  </p:transition>
  <p:hf sldNum="0" hdr="0" ftr="0"/>
  <p:txStyles>
    <p:titleStyle>
      <a:lvl1pPr algn="ctr" rtl="0" fontAlgn="base">
        <a:spcBef>
          <a:spcPct val="0"/>
        </a:spcBef>
        <a:spcAft>
          <a:spcPct val="0"/>
        </a:spcAft>
        <a:defRPr sz="4400" kern="1200">
          <a:solidFill>
            <a:schemeClr val="tx2"/>
          </a:solidFill>
          <a:effectLst>
            <a:outerShdw blurRad="38100" dist="38100" dir="2700000" algn="tl">
              <a:srgbClr val="000000"/>
            </a:outerShdw>
          </a:effectLst>
          <a:latin typeface="+mj-lt"/>
          <a:ea typeface="+mj-ea"/>
          <a:cs typeface="+mj-cs"/>
        </a:defRPr>
      </a:lvl1pPr>
      <a:lvl2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p:titleStyle>
    <p:bodyStyle>
      <a:lvl1pPr marL="342900" indent="-342900" algn="l" rtl="0" fontAlgn="base">
        <a:spcBef>
          <a:spcPct val="20000"/>
        </a:spcBef>
        <a:spcAft>
          <a:spcPct val="0"/>
        </a:spcAft>
        <a:buClr>
          <a:schemeClr val="tx2"/>
        </a:buClr>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lr>
          <a:schemeClr val="tx2"/>
        </a:buClr>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lr>
          <a:schemeClr val="tx2"/>
        </a:buClr>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nsczx@mail.sysu.edu.c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oleObject" Target="../embeddings/oleObject2.bin"/><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6.bin"/><Relationship Id="rId13" Type="http://schemas.openxmlformats.org/officeDocument/2006/relationships/image" Target="../media/image8.wmf"/><Relationship Id="rId3" Type="http://schemas.openxmlformats.org/officeDocument/2006/relationships/image" Target="../media/image3.wmf"/><Relationship Id="rId7" Type="http://schemas.openxmlformats.org/officeDocument/2006/relationships/image" Target="../media/image5.wmf"/><Relationship Id="rId12" Type="http://schemas.openxmlformats.org/officeDocument/2006/relationships/oleObject" Target="../embeddings/oleObject8.bin"/><Relationship Id="rId2" Type="http://schemas.openxmlformats.org/officeDocument/2006/relationships/oleObject" Target="../embeddings/oleObject3.bin"/><Relationship Id="rId1" Type="http://schemas.openxmlformats.org/officeDocument/2006/relationships/slideLayout" Target="../slideLayouts/slideLayout7.xml"/><Relationship Id="rId6" Type="http://schemas.openxmlformats.org/officeDocument/2006/relationships/oleObject" Target="../embeddings/oleObject5.bin"/><Relationship Id="rId11" Type="http://schemas.openxmlformats.org/officeDocument/2006/relationships/image" Target="../media/image7.wmf"/><Relationship Id="rId5" Type="http://schemas.openxmlformats.org/officeDocument/2006/relationships/image" Target="../media/image4.wmf"/><Relationship Id="rId15" Type="http://schemas.openxmlformats.org/officeDocument/2006/relationships/image" Target="../media/image9.wmf"/><Relationship Id="rId10" Type="http://schemas.openxmlformats.org/officeDocument/2006/relationships/oleObject" Target="../embeddings/oleObject7.bin"/><Relationship Id="rId4" Type="http://schemas.openxmlformats.org/officeDocument/2006/relationships/oleObject" Target="../embeddings/oleObject4.bin"/><Relationship Id="rId9" Type="http://schemas.openxmlformats.org/officeDocument/2006/relationships/image" Target="../media/image6.wmf"/><Relationship Id="rId14" Type="http://schemas.openxmlformats.org/officeDocument/2006/relationships/oleObject" Target="../embeddings/oleObject9.bin"/></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oleObject" Target="../embeddings/oleObject13.bin"/><Relationship Id="rId13" Type="http://schemas.openxmlformats.org/officeDocument/2006/relationships/image" Target="../media/image15.wmf"/><Relationship Id="rId3" Type="http://schemas.openxmlformats.org/officeDocument/2006/relationships/image" Target="../media/image10.wmf"/><Relationship Id="rId7" Type="http://schemas.openxmlformats.org/officeDocument/2006/relationships/image" Target="../media/image12.wmf"/><Relationship Id="rId12" Type="http://schemas.openxmlformats.org/officeDocument/2006/relationships/oleObject" Target="../embeddings/oleObject15.bin"/><Relationship Id="rId2" Type="http://schemas.openxmlformats.org/officeDocument/2006/relationships/oleObject" Target="../embeddings/oleObject10.bin"/><Relationship Id="rId1" Type="http://schemas.openxmlformats.org/officeDocument/2006/relationships/slideLayout" Target="../slideLayouts/slideLayout7.xml"/><Relationship Id="rId6" Type="http://schemas.openxmlformats.org/officeDocument/2006/relationships/oleObject" Target="../embeddings/oleObject12.bin"/><Relationship Id="rId11" Type="http://schemas.openxmlformats.org/officeDocument/2006/relationships/image" Target="../media/image14.wmf"/><Relationship Id="rId5" Type="http://schemas.openxmlformats.org/officeDocument/2006/relationships/image" Target="../media/image11.wmf"/><Relationship Id="rId10" Type="http://schemas.openxmlformats.org/officeDocument/2006/relationships/oleObject" Target="../embeddings/oleObject14.bin"/><Relationship Id="rId4" Type="http://schemas.openxmlformats.org/officeDocument/2006/relationships/oleObject" Target="../embeddings/oleObject11.bin"/><Relationship Id="rId9" Type="http://schemas.openxmlformats.org/officeDocument/2006/relationships/image" Target="../media/image13.wmf"/></Relationships>
</file>

<file path=ppt/slides/_rels/slide17.xml.rels><?xml version="1.0" encoding="UTF-8" standalone="yes"?>
<Relationships xmlns="http://schemas.openxmlformats.org/package/2006/relationships"><Relationship Id="rId3" Type="http://schemas.openxmlformats.org/officeDocument/2006/relationships/image" Target="../media/image16.wmf"/><Relationship Id="rId2" Type="http://schemas.openxmlformats.org/officeDocument/2006/relationships/oleObject" Target="../embeddings/oleObject16.bin"/><Relationship Id="rId1" Type="http://schemas.openxmlformats.org/officeDocument/2006/relationships/slideLayout" Target="../slideLayouts/slideLayout7.xml"/><Relationship Id="rId5" Type="http://schemas.openxmlformats.org/officeDocument/2006/relationships/image" Target="../media/image17.wmf"/><Relationship Id="rId4" Type="http://schemas.openxmlformats.org/officeDocument/2006/relationships/oleObject" Target="../embeddings/oleObject17.bin"/></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21.bin"/><Relationship Id="rId3" Type="http://schemas.openxmlformats.org/officeDocument/2006/relationships/image" Target="../media/image18.wmf"/><Relationship Id="rId7" Type="http://schemas.openxmlformats.org/officeDocument/2006/relationships/image" Target="../media/image20.wmf"/><Relationship Id="rId2" Type="http://schemas.openxmlformats.org/officeDocument/2006/relationships/oleObject" Target="../embeddings/oleObject18.bin"/><Relationship Id="rId1" Type="http://schemas.openxmlformats.org/officeDocument/2006/relationships/slideLayout" Target="../slideLayouts/slideLayout7.xml"/><Relationship Id="rId6" Type="http://schemas.openxmlformats.org/officeDocument/2006/relationships/oleObject" Target="../embeddings/oleObject20.bin"/><Relationship Id="rId11" Type="http://schemas.openxmlformats.org/officeDocument/2006/relationships/image" Target="../media/image22.wmf"/><Relationship Id="rId5" Type="http://schemas.openxmlformats.org/officeDocument/2006/relationships/image" Target="../media/image19.wmf"/><Relationship Id="rId10" Type="http://schemas.openxmlformats.org/officeDocument/2006/relationships/oleObject" Target="../embeddings/oleObject22.bin"/><Relationship Id="rId4" Type="http://schemas.openxmlformats.org/officeDocument/2006/relationships/oleObject" Target="../embeddings/oleObject19.bin"/><Relationship Id="rId9" Type="http://schemas.openxmlformats.org/officeDocument/2006/relationships/image" Target="../media/image21.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oleObject" Target="../embeddings/oleObject23.bin"/><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24.bin"/><Relationship Id="rId1" Type="http://schemas.openxmlformats.org/officeDocument/2006/relationships/slideLayout" Target="../slideLayouts/slideLayout7.xml"/><Relationship Id="rId5" Type="http://schemas.openxmlformats.org/officeDocument/2006/relationships/image" Target="../media/image25.wmf"/><Relationship Id="rId4" Type="http://schemas.openxmlformats.org/officeDocument/2006/relationships/oleObject" Target="../embeddings/oleObject25.bin"/></Relationships>
</file>

<file path=ppt/slides/_rels/slide24.xml.rels><?xml version="1.0" encoding="UTF-8" standalone="yes"?>
<Relationships xmlns="http://schemas.openxmlformats.org/package/2006/relationships"><Relationship Id="rId3" Type="http://schemas.openxmlformats.org/officeDocument/2006/relationships/image" Target="../media/image26.wmf"/><Relationship Id="rId2" Type="http://schemas.openxmlformats.org/officeDocument/2006/relationships/oleObject" Target="../embeddings/oleObject26.bin"/><Relationship Id="rId1" Type="http://schemas.openxmlformats.org/officeDocument/2006/relationships/slideLayout" Target="../slideLayouts/slideLayout7.xml"/><Relationship Id="rId5" Type="http://schemas.openxmlformats.org/officeDocument/2006/relationships/image" Target="../media/image27.wmf"/><Relationship Id="rId4" Type="http://schemas.openxmlformats.org/officeDocument/2006/relationships/oleObject" Target="../embeddings/oleObject27.bin"/></Relationships>
</file>

<file path=ppt/slides/_rels/slide25.x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oleObject" Target="../embeddings/oleObject28.bin"/><Relationship Id="rId1" Type="http://schemas.openxmlformats.org/officeDocument/2006/relationships/slideLayout" Target="../slideLayouts/slideLayout7.xml"/><Relationship Id="rId5" Type="http://schemas.openxmlformats.org/officeDocument/2006/relationships/image" Target="../media/image29.wmf"/><Relationship Id="rId4" Type="http://schemas.openxmlformats.org/officeDocument/2006/relationships/oleObject" Target="../embeddings/oleObject29.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image" Target="../media/image30.wmf"/><Relationship Id="rId7" Type="http://schemas.openxmlformats.org/officeDocument/2006/relationships/image" Target="../media/image32.wmf"/><Relationship Id="rId2" Type="http://schemas.openxmlformats.org/officeDocument/2006/relationships/oleObject" Target="../embeddings/oleObject30.bin"/><Relationship Id="rId1" Type="http://schemas.openxmlformats.org/officeDocument/2006/relationships/slideLayout" Target="../slideLayouts/slideLayout2.xml"/><Relationship Id="rId6" Type="http://schemas.openxmlformats.org/officeDocument/2006/relationships/oleObject" Target="../embeddings/oleObject32.bin"/><Relationship Id="rId5" Type="http://schemas.openxmlformats.org/officeDocument/2006/relationships/image" Target="../media/image31.wmf"/><Relationship Id="rId4" Type="http://schemas.openxmlformats.org/officeDocument/2006/relationships/oleObject" Target="../embeddings/oleObject31.bin"/><Relationship Id="rId9" Type="http://schemas.openxmlformats.org/officeDocument/2006/relationships/image" Target="../media/image33.wmf"/></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37.bin"/><Relationship Id="rId13" Type="http://schemas.openxmlformats.org/officeDocument/2006/relationships/image" Target="../media/image38.wmf"/><Relationship Id="rId3" Type="http://schemas.openxmlformats.org/officeDocument/2006/relationships/image" Target="../media/image34.wmf"/><Relationship Id="rId7" Type="http://schemas.openxmlformats.org/officeDocument/2006/relationships/image" Target="../media/image36.wmf"/><Relationship Id="rId12" Type="http://schemas.openxmlformats.org/officeDocument/2006/relationships/oleObject" Target="../embeddings/oleObject39.bin"/><Relationship Id="rId2" Type="http://schemas.openxmlformats.org/officeDocument/2006/relationships/oleObject" Target="../embeddings/oleObject34.bin"/><Relationship Id="rId1" Type="http://schemas.openxmlformats.org/officeDocument/2006/relationships/slideLayout" Target="../slideLayouts/slideLayout7.xml"/><Relationship Id="rId6" Type="http://schemas.openxmlformats.org/officeDocument/2006/relationships/oleObject" Target="../embeddings/oleObject36.bin"/><Relationship Id="rId11" Type="http://schemas.openxmlformats.org/officeDocument/2006/relationships/image" Target="../media/image32.wmf"/><Relationship Id="rId5" Type="http://schemas.openxmlformats.org/officeDocument/2006/relationships/image" Target="../media/image35.wmf"/><Relationship Id="rId15" Type="http://schemas.openxmlformats.org/officeDocument/2006/relationships/image" Target="../media/image39.wmf"/><Relationship Id="rId10" Type="http://schemas.openxmlformats.org/officeDocument/2006/relationships/oleObject" Target="../embeddings/oleObject38.bin"/><Relationship Id="rId4" Type="http://schemas.openxmlformats.org/officeDocument/2006/relationships/oleObject" Target="../embeddings/oleObject35.bin"/><Relationship Id="rId9" Type="http://schemas.openxmlformats.org/officeDocument/2006/relationships/image" Target="../media/image37.wmf"/><Relationship Id="rId14" Type="http://schemas.openxmlformats.org/officeDocument/2006/relationships/oleObject" Target="../embeddings/oleObject40.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44.bin"/><Relationship Id="rId13" Type="http://schemas.openxmlformats.org/officeDocument/2006/relationships/image" Target="../media/image45.wmf"/><Relationship Id="rId18" Type="http://schemas.openxmlformats.org/officeDocument/2006/relationships/oleObject" Target="../embeddings/oleObject49.bin"/><Relationship Id="rId3" Type="http://schemas.openxmlformats.org/officeDocument/2006/relationships/image" Target="../media/image40.wmf"/><Relationship Id="rId21" Type="http://schemas.openxmlformats.org/officeDocument/2006/relationships/image" Target="../media/image49.wmf"/><Relationship Id="rId7" Type="http://schemas.openxmlformats.org/officeDocument/2006/relationships/image" Target="../media/image42.wmf"/><Relationship Id="rId12" Type="http://schemas.openxmlformats.org/officeDocument/2006/relationships/oleObject" Target="../embeddings/oleObject46.bin"/><Relationship Id="rId17" Type="http://schemas.openxmlformats.org/officeDocument/2006/relationships/image" Target="../media/image47.wmf"/><Relationship Id="rId2" Type="http://schemas.openxmlformats.org/officeDocument/2006/relationships/oleObject" Target="../embeddings/oleObject41.bin"/><Relationship Id="rId16" Type="http://schemas.openxmlformats.org/officeDocument/2006/relationships/oleObject" Target="../embeddings/oleObject48.bin"/><Relationship Id="rId20" Type="http://schemas.openxmlformats.org/officeDocument/2006/relationships/oleObject" Target="../embeddings/oleObject50.bin"/><Relationship Id="rId1" Type="http://schemas.openxmlformats.org/officeDocument/2006/relationships/slideLayout" Target="../slideLayouts/slideLayout2.xml"/><Relationship Id="rId6" Type="http://schemas.openxmlformats.org/officeDocument/2006/relationships/oleObject" Target="../embeddings/oleObject43.bin"/><Relationship Id="rId11" Type="http://schemas.openxmlformats.org/officeDocument/2006/relationships/image" Target="../media/image44.wmf"/><Relationship Id="rId5" Type="http://schemas.openxmlformats.org/officeDocument/2006/relationships/image" Target="../media/image41.wmf"/><Relationship Id="rId15" Type="http://schemas.openxmlformats.org/officeDocument/2006/relationships/image" Target="../media/image46.wmf"/><Relationship Id="rId10" Type="http://schemas.openxmlformats.org/officeDocument/2006/relationships/oleObject" Target="../embeddings/oleObject45.bin"/><Relationship Id="rId19" Type="http://schemas.openxmlformats.org/officeDocument/2006/relationships/image" Target="../media/image48.wmf"/><Relationship Id="rId4" Type="http://schemas.openxmlformats.org/officeDocument/2006/relationships/oleObject" Target="../embeddings/oleObject42.bin"/><Relationship Id="rId9" Type="http://schemas.openxmlformats.org/officeDocument/2006/relationships/image" Target="../media/image43.wmf"/><Relationship Id="rId14" Type="http://schemas.openxmlformats.org/officeDocument/2006/relationships/oleObject" Target="../embeddings/oleObject47.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32A1253-08CE-07F6-18AA-785C9A17AEBF}"/>
              </a:ext>
            </a:extLst>
          </p:cNvPr>
          <p:cNvSpPr>
            <a:spLocks noGrp="1" noChangeArrowheads="1"/>
          </p:cNvSpPr>
          <p:nvPr>
            <p:ph type="ctrTitle"/>
          </p:nvPr>
        </p:nvSpPr>
        <p:spPr>
          <a:xfrm>
            <a:off x="971550" y="476250"/>
            <a:ext cx="7631113" cy="2376488"/>
          </a:xfrm>
          <a:noFill/>
          <a:ln/>
          <a:effectLst>
            <a:outerShdw dist="107763" dir="2700000" algn="ctr" rotWithShape="0">
              <a:schemeClr val="bg2">
                <a:alpha val="50000"/>
              </a:schemeClr>
            </a:outerShdw>
          </a:effectLst>
          <a:extLst>
            <a:ext uri="{91240B29-F687-4F45-9708-019B960494DF}">
              <a14:hiddenLine xmlns:a14="http://schemas.microsoft.com/office/drawing/2010/main" w="9525">
                <a:solidFill>
                  <a:schemeClr val="tx2"/>
                </a:solidFill>
                <a:miter lim="800000"/>
                <a:headEnd/>
                <a:tailEnd/>
              </a14:hiddenLine>
            </a:ext>
          </a:extLst>
        </p:spPr>
        <p:txBody>
          <a:bodyPr/>
          <a:lstStyle/>
          <a:p>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生产与运作管理</a:t>
            </a:r>
            <a:r>
              <a:rPr kumimoji="1" lang="en-US" altLang="zh-CN" sz="4400" b="1">
                <a:latin typeface="黑体" panose="02010609060101010101" pitchFamily="49" charset="-122"/>
                <a:ea typeface="黑体" panose="02010609060101010101" pitchFamily="49" charset="-122"/>
              </a:rPr>
              <a:t>》</a:t>
            </a:r>
            <a:r>
              <a:rPr kumimoji="1" lang="zh-CN" altLang="en-US" sz="4400" b="1">
                <a:latin typeface="黑体" panose="02010609060101010101" pitchFamily="49" charset="-122"/>
                <a:ea typeface="黑体" panose="02010609060101010101" pitchFamily="49" charset="-122"/>
              </a:rPr>
              <a:t>教辅材料参考讲义</a:t>
            </a:r>
          </a:p>
        </p:txBody>
      </p:sp>
      <p:sp>
        <p:nvSpPr>
          <p:cNvPr id="2052" name="Text Box 4">
            <a:extLst>
              <a:ext uri="{FF2B5EF4-FFF2-40B4-BE49-F238E27FC236}">
                <a16:creationId xmlns:a16="http://schemas.microsoft.com/office/drawing/2014/main" id="{91CAFC44-E789-2B8D-8256-6C805C0CB111}"/>
              </a:ext>
            </a:extLst>
          </p:cNvPr>
          <p:cNvSpPr txBox="1">
            <a:spLocks noChangeArrowheads="1"/>
          </p:cNvSpPr>
          <p:nvPr/>
        </p:nvSpPr>
        <p:spPr bwMode="auto">
          <a:xfrm>
            <a:off x="1403350" y="2636838"/>
            <a:ext cx="6840538" cy="1604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b="1"/>
              <a:t>出版社：北京：机械工业出版社，</a:t>
            </a:r>
            <a:r>
              <a:rPr lang="en-US" altLang="zh-CN" b="1"/>
              <a:t>2009</a:t>
            </a:r>
            <a:r>
              <a:rPr lang="zh-CN" altLang="en-US" b="1"/>
              <a:t>年</a:t>
            </a:r>
            <a:r>
              <a:rPr lang="en-US" altLang="zh-CN" b="1"/>
              <a:t>7</a:t>
            </a:r>
            <a:r>
              <a:rPr lang="zh-CN" altLang="en-US" b="1"/>
              <a:t>月</a:t>
            </a:r>
          </a:p>
          <a:p>
            <a:pPr algn="ctr">
              <a:spcBef>
                <a:spcPct val="50000"/>
              </a:spcBef>
            </a:pPr>
            <a:r>
              <a:rPr lang="zh-CN" altLang="en-US" b="1"/>
              <a:t>编著者：陈志祥，李丽</a:t>
            </a:r>
          </a:p>
          <a:p>
            <a:pPr algn="ctr">
              <a:spcBef>
                <a:spcPct val="50000"/>
              </a:spcBef>
            </a:pPr>
            <a:r>
              <a:rPr lang="zh-CN" altLang="en-US" b="1"/>
              <a:t>本讲义由李丽老师制作，陈志祥教授审校</a:t>
            </a:r>
          </a:p>
          <a:p>
            <a:pPr algn="ctr">
              <a:spcBef>
                <a:spcPct val="50000"/>
              </a:spcBef>
            </a:pPr>
            <a:r>
              <a:rPr lang="en-US" altLang="zh-CN" b="1">
                <a:hlinkClick r:id="rId2"/>
              </a:rPr>
              <a:t>mnsczx@mail.sysu.edu.cn</a:t>
            </a:r>
            <a:r>
              <a:rPr lang="en-US" altLang="zh-CN" b="1"/>
              <a:t> </a:t>
            </a:r>
          </a:p>
        </p:txBody>
      </p:sp>
      <p:sp>
        <p:nvSpPr>
          <p:cNvPr id="2053" name="Rectangle 5">
            <a:extLst>
              <a:ext uri="{FF2B5EF4-FFF2-40B4-BE49-F238E27FC236}">
                <a16:creationId xmlns:a16="http://schemas.microsoft.com/office/drawing/2014/main" id="{7FE0F2CA-9ABC-1408-4295-F1D93204758F}"/>
              </a:ext>
            </a:extLst>
          </p:cNvPr>
          <p:cNvSpPr>
            <a:spLocks noGrp="1" noChangeArrowheads="1"/>
          </p:cNvSpPr>
          <p:nvPr>
            <p:ph type="subTitle" idx="1"/>
          </p:nvPr>
        </p:nvSpPr>
        <p:spPr>
          <a:xfrm>
            <a:off x="1476375" y="4508500"/>
            <a:ext cx="6400800" cy="1536700"/>
          </a:xfrm>
          <a:ln>
            <a:solidFill>
              <a:schemeClr val="tx1"/>
            </a:solidFill>
            <a:miter lim="800000"/>
            <a:headEnd/>
            <a:tailEnd/>
          </a:ln>
        </p:spPr>
        <p:txBody>
          <a:bodyPr/>
          <a:lstStyle/>
          <a:p>
            <a:r>
              <a:rPr lang="zh-CN" altLang="en-US" sz="2800"/>
              <a:t>版权声明：本讲义只提供给购买与使用本教材的教师作为教学使用，未经允许不得转发给其他任何人</a:t>
            </a:r>
          </a:p>
        </p:txBody>
      </p:sp>
    </p:spTree>
  </p:cSld>
  <p:clrMapOvr>
    <a:masterClrMapping/>
  </p:clrMapOvr>
  <p:transition spd="slow">
    <p:strips dir="rd"/>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A54C6BE9-5453-7768-1707-AA7A98FF77E4}"/>
              </a:ext>
            </a:extLst>
          </p:cNvPr>
          <p:cNvSpPr>
            <a:spLocks noGrp="1"/>
          </p:cNvSpPr>
          <p:nvPr>
            <p:ph type="dt" sz="half" idx="10"/>
          </p:nvPr>
        </p:nvSpPr>
        <p:spPr/>
        <p:txBody>
          <a:bodyPr/>
          <a:lstStyle/>
          <a:p>
            <a:r>
              <a:rPr lang="zh-CN" altLang="en-US"/>
              <a:t>讲义制作：李丽，陈志祥审</a:t>
            </a:r>
            <a:endParaRPr lang="en-US" altLang="zh-CN"/>
          </a:p>
        </p:txBody>
      </p:sp>
      <p:sp>
        <p:nvSpPr>
          <p:cNvPr id="7170" name="Rectangle 2">
            <a:extLst>
              <a:ext uri="{FF2B5EF4-FFF2-40B4-BE49-F238E27FC236}">
                <a16:creationId xmlns:a16="http://schemas.microsoft.com/office/drawing/2014/main" id="{C4E7734F-71FC-95D5-0C1B-A3683C7A1C09}"/>
              </a:ext>
            </a:extLst>
          </p:cNvPr>
          <p:cNvSpPr>
            <a:spLocks noGrp="1" noChangeArrowheads="1"/>
          </p:cNvSpPr>
          <p:nvPr>
            <p:ph type="title"/>
          </p:nvPr>
        </p:nvSpPr>
        <p:spPr/>
        <p:txBody>
          <a:bodyPr/>
          <a:lstStyle/>
          <a:p>
            <a:r>
              <a:rPr lang="zh-CN" altLang="en-US" b="1"/>
              <a:t>第</a:t>
            </a:r>
            <a:r>
              <a:rPr lang="en-US" altLang="zh-CN" b="1"/>
              <a:t>12</a:t>
            </a:r>
            <a:r>
              <a:rPr lang="zh-CN" altLang="en-US" b="1"/>
              <a:t>章：质量管理</a:t>
            </a:r>
          </a:p>
        </p:txBody>
      </p:sp>
      <p:sp>
        <p:nvSpPr>
          <p:cNvPr id="7171" name="Rectangle 3">
            <a:extLst>
              <a:ext uri="{FF2B5EF4-FFF2-40B4-BE49-F238E27FC236}">
                <a16:creationId xmlns:a16="http://schemas.microsoft.com/office/drawing/2014/main" id="{6DD9418A-7525-F421-B229-3DE89556E6C5}"/>
              </a:ext>
            </a:extLst>
          </p:cNvPr>
          <p:cNvSpPr>
            <a:spLocks noGrp="1" noChangeArrowheads="1"/>
          </p:cNvSpPr>
          <p:nvPr>
            <p:ph type="body" idx="1"/>
          </p:nvPr>
        </p:nvSpPr>
        <p:spPr/>
        <p:txBody>
          <a:bodyPr/>
          <a:lstStyle/>
          <a:p>
            <a:pPr>
              <a:lnSpc>
                <a:spcPct val="90000"/>
              </a:lnSpc>
              <a:buFontTx/>
              <a:buNone/>
            </a:pPr>
            <a:r>
              <a:rPr lang="zh-CN" altLang="en-US" sz="2400" b="1">
                <a:effectLst>
                  <a:outerShdw blurRad="38100" dist="38100" dir="2700000" algn="tl">
                    <a:srgbClr val="000000"/>
                  </a:outerShdw>
                </a:effectLst>
              </a:rPr>
              <a:t>一、学习目标</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、了解质量管理的概念</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2</a:t>
            </a:r>
            <a:r>
              <a:rPr lang="zh-CN" altLang="en-US" sz="2400" b="1">
                <a:effectLst>
                  <a:outerShdw blurRad="38100" dist="38100" dir="2700000" algn="tl">
                    <a:srgbClr val="000000"/>
                  </a:outerShdw>
                </a:effectLst>
              </a:rPr>
              <a:t>、熟悉全面质量管理的基本内涵与工作方法</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3</a:t>
            </a:r>
            <a:r>
              <a:rPr lang="zh-CN" altLang="en-US" sz="2400" b="1">
                <a:effectLst>
                  <a:outerShdw blurRad="38100" dist="38100" dir="2700000" algn="tl">
                    <a:srgbClr val="000000"/>
                  </a:outerShdw>
                </a:effectLst>
              </a:rPr>
              <a:t>、掌握质量管理的基本工具</a:t>
            </a:r>
          </a:p>
          <a:p>
            <a:pPr>
              <a:lnSpc>
                <a:spcPct val="90000"/>
              </a:lnSpc>
              <a:buFontTx/>
              <a:buNone/>
            </a:pPr>
            <a:r>
              <a:rPr lang="zh-CN" altLang="en-US" sz="2400" b="1">
                <a:effectLst>
                  <a:outerShdw blurRad="38100" dist="38100" dir="2700000" algn="tl">
                    <a:srgbClr val="000000"/>
                  </a:outerShdw>
                </a:effectLst>
              </a:rPr>
              <a:t>二、内容提要</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、质量管理概述</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2</a:t>
            </a:r>
            <a:r>
              <a:rPr lang="zh-CN" altLang="en-US" sz="2400" b="1">
                <a:effectLst>
                  <a:outerShdw blurRad="38100" dist="38100" dir="2700000" algn="tl">
                    <a:srgbClr val="000000"/>
                  </a:outerShdw>
                </a:effectLst>
              </a:rPr>
              <a:t>、质量管理工具</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3</a:t>
            </a:r>
            <a:r>
              <a:rPr lang="zh-CN" altLang="en-US" sz="2400" b="1">
                <a:effectLst>
                  <a:outerShdw blurRad="38100" dist="38100" dir="2700000" algn="tl">
                    <a:srgbClr val="000000"/>
                  </a:outerShdw>
                </a:effectLst>
              </a:rPr>
              <a:t>、工序能力分析</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4</a:t>
            </a:r>
            <a:r>
              <a:rPr lang="zh-CN" altLang="en-US" sz="2400" b="1">
                <a:effectLst>
                  <a:outerShdw blurRad="38100" dist="38100" dir="2700000" algn="tl">
                    <a:srgbClr val="000000"/>
                  </a:outerShdw>
                </a:effectLst>
              </a:rPr>
              <a:t>、产品抽样检验</a:t>
            </a:r>
          </a:p>
          <a:p>
            <a:pPr>
              <a:lnSpc>
                <a:spcPct val="90000"/>
              </a:lnSpc>
              <a:buFontTx/>
              <a:buNone/>
            </a:pPr>
            <a:r>
              <a:rPr lang="zh-CN" altLang="en-US" sz="2400" b="1">
                <a:effectLst>
                  <a:outerShdw blurRad="38100" dist="38100" dir="2700000" algn="tl">
                    <a:srgbClr val="000000"/>
                  </a:outerShdw>
                </a:effectLst>
              </a:rPr>
              <a:t>   </a:t>
            </a:r>
            <a:r>
              <a:rPr lang="en-US" altLang="zh-CN" sz="2400" b="1">
                <a:effectLst>
                  <a:outerShdw blurRad="38100" dist="38100" dir="2700000" algn="tl">
                    <a:srgbClr val="000000"/>
                  </a:outerShdw>
                </a:effectLst>
              </a:rPr>
              <a:t>5</a:t>
            </a:r>
            <a:r>
              <a:rPr lang="zh-CN" altLang="en-US" sz="2400" b="1">
                <a:effectLst>
                  <a:outerShdw blurRad="38100" dist="38100" dir="2700000" algn="tl">
                    <a:srgbClr val="000000"/>
                  </a:outerShdw>
                </a:effectLst>
              </a:rPr>
              <a:t>、六西格玛质量改善 </a:t>
            </a:r>
          </a:p>
          <a:p>
            <a:pPr>
              <a:lnSpc>
                <a:spcPct val="90000"/>
              </a:lnSpc>
              <a:buFontTx/>
              <a:buNone/>
            </a:pPr>
            <a:r>
              <a:rPr lang="en-US" altLang="zh-CN" sz="2400" b="1">
                <a:effectLst>
                  <a:outerShdw blurRad="38100" dist="38100" dir="2700000" algn="tl">
                    <a:srgbClr val="000000"/>
                  </a:outerShdw>
                </a:effectLst>
              </a:rPr>
              <a:t>(</a:t>
            </a:r>
            <a:r>
              <a:rPr lang="zh-CN" altLang="en-US" sz="2400" b="1">
                <a:effectLst>
                  <a:outerShdw blurRad="38100" dist="38100" dir="2700000" algn="tl">
                    <a:srgbClr val="000000"/>
                  </a:outerShdw>
                </a:effectLst>
              </a:rPr>
              <a:t>本章需要两次课</a:t>
            </a:r>
            <a:r>
              <a:rPr lang="en-US" altLang="zh-CN" sz="2400" b="1">
                <a:effectLst>
                  <a:outerShdw blurRad="38100" dist="38100" dir="2700000" algn="tl">
                    <a:srgbClr val="000000"/>
                  </a:outerShdw>
                </a:effectLst>
              </a:rPr>
              <a:t>) </a:t>
            </a:r>
          </a:p>
        </p:txBody>
      </p:sp>
    </p:spTree>
  </p:cSld>
  <p:clrMapOvr>
    <a:masterClrMapping/>
  </p:clrMapOvr>
  <p:transition spd="slow">
    <p:strips dir="rd"/>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48767EE-7740-18A3-95D4-7DFCAECEEB62}"/>
              </a:ext>
            </a:extLst>
          </p:cNvPr>
          <p:cNvSpPr>
            <a:spLocks noGrp="1"/>
          </p:cNvSpPr>
          <p:nvPr>
            <p:ph type="dt" sz="half" idx="10"/>
          </p:nvPr>
        </p:nvSpPr>
        <p:spPr/>
        <p:txBody>
          <a:bodyPr/>
          <a:lstStyle/>
          <a:p>
            <a:r>
              <a:rPr lang="zh-CN" altLang="en-US"/>
              <a:t>讲义制作：李丽，陈志祥审</a:t>
            </a:r>
            <a:endParaRPr lang="en-US" altLang="zh-CN"/>
          </a:p>
        </p:txBody>
      </p:sp>
      <p:sp>
        <p:nvSpPr>
          <p:cNvPr id="279554" name="Rectangle 2">
            <a:extLst>
              <a:ext uri="{FF2B5EF4-FFF2-40B4-BE49-F238E27FC236}">
                <a16:creationId xmlns:a16="http://schemas.microsoft.com/office/drawing/2014/main" id="{25BFDD90-ADFC-3762-341D-499E8520458D}"/>
              </a:ext>
            </a:extLst>
          </p:cNvPr>
          <p:cNvSpPr>
            <a:spLocks noGrp="1" noChangeArrowheads="1"/>
          </p:cNvSpPr>
          <p:nvPr>
            <p:ph type="title"/>
          </p:nvPr>
        </p:nvSpPr>
        <p:spPr/>
        <p:txBody>
          <a:bodyPr/>
          <a:lstStyle/>
          <a:p>
            <a:r>
              <a:rPr lang="zh-CN" altLang="en-US" sz="4000"/>
              <a:t>引导案例：阳光保鲜食品有限公司</a:t>
            </a:r>
          </a:p>
        </p:txBody>
      </p:sp>
      <p:sp>
        <p:nvSpPr>
          <p:cNvPr id="279555" name="Rectangle 3">
            <a:extLst>
              <a:ext uri="{FF2B5EF4-FFF2-40B4-BE49-F238E27FC236}">
                <a16:creationId xmlns:a16="http://schemas.microsoft.com/office/drawing/2014/main" id="{A7105C9F-863E-FEFF-3B2B-D73AD067FDFC}"/>
              </a:ext>
            </a:extLst>
          </p:cNvPr>
          <p:cNvSpPr>
            <a:spLocks noGrp="1" noChangeArrowheads="1"/>
          </p:cNvSpPr>
          <p:nvPr>
            <p:ph type="body" idx="1"/>
          </p:nvPr>
        </p:nvSpPr>
        <p:spPr>
          <a:xfrm>
            <a:off x="457200" y="1600200"/>
            <a:ext cx="8229600" cy="3700463"/>
          </a:xfrm>
        </p:spPr>
        <p:txBody>
          <a:bodyPr/>
          <a:lstStyle/>
          <a:p>
            <a:pPr>
              <a:lnSpc>
                <a:spcPct val="80000"/>
              </a:lnSpc>
              <a:buFontTx/>
              <a:buNone/>
            </a:pPr>
            <a:r>
              <a:rPr lang="en-US" altLang="zh-CN" sz="2400">
                <a:latin typeface="楷体_GB2312" pitchFamily="49" charset="-122"/>
                <a:ea typeface="楷体_GB2312" pitchFamily="49" charset="-122"/>
              </a:rPr>
              <a:t>        </a:t>
            </a:r>
            <a:r>
              <a:rPr lang="zh-CN" altLang="en-US" sz="2400">
                <a:latin typeface="楷体_GB2312" pitchFamily="49" charset="-122"/>
                <a:ea typeface="楷体_GB2312" pitchFamily="49" charset="-122"/>
              </a:rPr>
              <a:t>阳光保鲜食品公司（</a:t>
            </a:r>
            <a:r>
              <a:rPr lang="en-US" altLang="zh-CN" sz="2400">
                <a:latin typeface="楷体_GB2312" pitchFamily="49" charset="-122"/>
                <a:ea typeface="楷体_GB2312" pitchFamily="49" charset="-122"/>
              </a:rPr>
              <a:t>Sunny Fresh Foods,SFF</a:t>
            </a:r>
            <a:r>
              <a:rPr lang="zh-CN" altLang="en-US" sz="2400">
                <a:latin typeface="楷体_GB2312" pitchFamily="49" charset="-122"/>
                <a:ea typeface="楷体_GB2312" pitchFamily="49" charset="-122"/>
              </a:rPr>
              <a:t>）</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总部位于美国明尼苏达州的蒙塞洛市，主要生产</a:t>
            </a:r>
            <a:r>
              <a:rPr lang="en-US" altLang="zh-CN" sz="2400">
                <a:latin typeface="楷体_GB2312" pitchFamily="49" charset="-122"/>
                <a:ea typeface="楷体_GB2312" pitchFamily="49" charset="-122"/>
              </a:rPr>
              <a:t>160</a:t>
            </a:r>
            <a:r>
              <a:rPr lang="zh-CN" altLang="en-US" sz="2400">
                <a:latin typeface="楷体_GB2312" pitchFamily="49" charset="-122"/>
                <a:ea typeface="楷体_GB2312" pitchFamily="49" charset="-122"/>
              </a:rPr>
              <a:t>多种不同的蛋类食品，客户超过</a:t>
            </a:r>
            <a:r>
              <a:rPr lang="en-US" altLang="zh-CN" sz="2400">
                <a:latin typeface="楷体_GB2312" pitchFamily="49" charset="-122"/>
                <a:ea typeface="楷体_GB2312" pitchFamily="49" charset="-122"/>
              </a:rPr>
              <a:t>2000</a:t>
            </a:r>
            <a:r>
              <a:rPr lang="zh-CN" altLang="en-US" sz="2400">
                <a:latin typeface="楷体_GB2312" pitchFamily="49" charset="-122"/>
                <a:ea typeface="楷体_GB2312" pitchFamily="49" charset="-122"/>
              </a:rPr>
              <a:t>多个，包括快餐厅、学校、医院及医疗机构和军队。自</a:t>
            </a:r>
            <a:r>
              <a:rPr lang="en-US" altLang="zh-CN" sz="2400">
                <a:latin typeface="楷体_GB2312" pitchFamily="49" charset="-122"/>
                <a:ea typeface="楷体_GB2312" pitchFamily="49" charset="-122"/>
              </a:rPr>
              <a:t>1985</a:t>
            </a:r>
            <a:r>
              <a:rPr lang="zh-CN" altLang="en-US" sz="2400">
                <a:latin typeface="楷体_GB2312" pitchFamily="49" charset="-122"/>
                <a:ea typeface="楷体_GB2312" pitchFamily="49" charset="-122"/>
              </a:rPr>
              <a:t>年被卡吉尔公司收购以来，阳光保鲜食品公司从未发生过因食品卫生安全而引起的产品召回事件。</a:t>
            </a:r>
            <a:r>
              <a:rPr lang="en-US" altLang="zh-CN" sz="2400">
                <a:latin typeface="楷体_GB2312" pitchFamily="49" charset="-122"/>
                <a:ea typeface="楷体_GB2312" pitchFamily="49" charset="-122"/>
              </a:rPr>
              <a:t>SFF</a:t>
            </a:r>
            <a:r>
              <a:rPr lang="zh-CN" altLang="en-US" sz="2400">
                <a:latin typeface="楷体_GB2312" pitchFamily="49" charset="-122"/>
                <a:ea typeface="楷体_GB2312" pitchFamily="49" charset="-122"/>
              </a:rPr>
              <a:t>是克劳士比的</a:t>
            </a:r>
            <a:r>
              <a:rPr lang="zh-CN" altLang="en-US" sz="2400">
                <a:ea typeface="楷体_GB2312" pitchFamily="49" charset="-122"/>
              </a:rPr>
              <a:t>“</a:t>
            </a:r>
            <a:r>
              <a:rPr lang="zh-CN" altLang="en-US" sz="2400">
                <a:latin typeface="楷体_GB2312" pitchFamily="49" charset="-122"/>
                <a:ea typeface="楷体_GB2312" pitchFamily="49" charset="-122"/>
              </a:rPr>
              <a:t>质量的四项基本原则</a:t>
            </a:r>
            <a:r>
              <a:rPr lang="zh-CN" altLang="en-US" sz="2400">
                <a:ea typeface="楷体_GB2312" pitchFamily="49" charset="-122"/>
              </a:rPr>
              <a:t>”</a:t>
            </a:r>
            <a:r>
              <a:rPr lang="zh-CN" altLang="en-US" sz="2400">
                <a:latin typeface="楷体_GB2312" pitchFamily="49" charset="-122"/>
                <a:ea typeface="楷体_GB2312" pitchFamily="49" charset="-122"/>
              </a:rPr>
              <a:t>理论的忠实执行者。这个理论认为</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质量就是必须绝对满足客户要求</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提高质量的系统方法是预防</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质量的绩效标准是零缺陷率</a:t>
            </a:r>
            <a:r>
              <a:rPr lang="en-US" altLang="zh-CN" sz="2400">
                <a:latin typeface="楷体_GB2312" pitchFamily="49" charset="-122"/>
                <a:ea typeface="楷体_GB2312" pitchFamily="49" charset="-122"/>
              </a:rPr>
              <a:t>;</a:t>
            </a:r>
            <a:r>
              <a:rPr lang="zh-CN" altLang="en-US" sz="2400">
                <a:latin typeface="楷体_GB2312" pitchFamily="49" charset="-122"/>
                <a:ea typeface="楷体_GB2312" pitchFamily="49" charset="-122"/>
              </a:rPr>
              <a:t>测量质量的方法是</a:t>
            </a:r>
            <a:r>
              <a:rPr lang="en-US" altLang="zh-CN" sz="2400">
                <a:latin typeface="楷体_GB2312" pitchFamily="49" charset="-122"/>
                <a:ea typeface="楷体_GB2312" pitchFamily="49" charset="-122"/>
              </a:rPr>
              <a:t>PONC,</a:t>
            </a:r>
            <a:r>
              <a:rPr lang="zh-CN" altLang="en-US" sz="2400">
                <a:latin typeface="楷体_GB2312" pitchFamily="49" charset="-122"/>
                <a:ea typeface="楷体_GB2312" pitchFamily="49" charset="-122"/>
              </a:rPr>
              <a:t>即不符合要求的代价</a:t>
            </a:r>
            <a:r>
              <a:rPr lang="en-US" altLang="zh-CN" sz="2400">
                <a:latin typeface="楷体_GB2312" pitchFamily="49" charset="-122"/>
                <a:ea typeface="楷体_GB2312" pitchFamily="49" charset="-122"/>
              </a:rPr>
              <a:t>(Price ofNon-conformance)</a:t>
            </a:r>
            <a:r>
              <a:rPr lang="zh-CN" altLang="en-US" sz="2400">
                <a:latin typeface="楷体_GB2312" pitchFamily="49" charset="-122"/>
                <a:ea typeface="楷体_GB2312" pitchFamily="49" charset="-122"/>
              </a:rPr>
              <a:t>。 经过质量改进后，</a:t>
            </a:r>
            <a:r>
              <a:rPr lang="en-US" altLang="zh-CN" sz="2400">
                <a:latin typeface="楷体_GB2312" pitchFamily="49" charset="-122"/>
                <a:ea typeface="楷体_GB2312" pitchFamily="49" charset="-122"/>
              </a:rPr>
              <a:t>SFF</a:t>
            </a:r>
            <a:r>
              <a:rPr lang="zh-CN" altLang="en-US" sz="2400">
                <a:latin typeface="楷体_GB2312" pitchFamily="49" charset="-122"/>
                <a:ea typeface="楷体_GB2312" pitchFamily="49" charset="-122"/>
              </a:rPr>
              <a:t>的按时发货率，从</a:t>
            </a:r>
            <a:r>
              <a:rPr lang="en-US" altLang="zh-CN" sz="2400">
                <a:latin typeface="楷体_GB2312" pitchFamily="49" charset="-122"/>
                <a:ea typeface="楷体_GB2312" pitchFamily="49" charset="-122"/>
              </a:rPr>
              <a:t>2001</a:t>
            </a:r>
            <a:r>
              <a:rPr lang="zh-CN" altLang="en-US" sz="2400">
                <a:latin typeface="楷体_GB2312" pitchFamily="49" charset="-122"/>
                <a:ea typeface="楷体_GB2312" pitchFamily="49" charset="-122"/>
              </a:rPr>
              <a:t>年的</a:t>
            </a:r>
            <a:r>
              <a:rPr lang="en-US" altLang="zh-CN" sz="2400">
                <a:latin typeface="楷体_GB2312" pitchFamily="49" charset="-122"/>
                <a:ea typeface="楷体_GB2312" pitchFamily="49" charset="-122"/>
              </a:rPr>
              <a:t>98.1%</a:t>
            </a:r>
            <a:r>
              <a:rPr lang="zh-CN" altLang="en-US" sz="2400">
                <a:latin typeface="楷体_GB2312" pitchFamily="49" charset="-122"/>
                <a:ea typeface="楷体_GB2312" pitchFamily="49" charset="-122"/>
              </a:rPr>
              <a:t>提高到</a:t>
            </a:r>
            <a:r>
              <a:rPr lang="en-US" altLang="zh-CN" sz="2400">
                <a:latin typeface="楷体_GB2312" pitchFamily="49" charset="-122"/>
                <a:ea typeface="楷体_GB2312" pitchFamily="49" charset="-122"/>
              </a:rPr>
              <a:t>2005</a:t>
            </a:r>
            <a:r>
              <a:rPr lang="zh-CN" altLang="en-US" sz="2400">
                <a:latin typeface="楷体_GB2312" pitchFamily="49" charset="-122"/>
                <a:ea typeface="楷体_GB2312" pitchFamily="49" charset="-122"/>
              </a:rPr>
              <a:t>年的</a:t>
            </a:r>
            <a:r>
              <a:rPr lang="en-US" altLang="zh-CN" sz="2400">
                <a:latin typeface="楷体_GB2312" pitchFamily="49" charset="-122"/>
                <a:ea typeface="楷体_GB2312" pitchFamily="49" charset="-122"/>
              </a:rPr>
              <a:t>99.8%</a:t>
            </a:r>
            <a:r>
              <a:rPr lang="zh-CN" altLang="en-US" sz="2400">
                <a:latin typeface="楷体_GB2312" pitchFamily="49" charset="-122"/>
                <a:ea typeface="楷体_GB2312" pitchFamily="49" charset="-122"/>
              </a:rPr>
              <a:t>。该公司的</a:t>
            </a:r>
            <a:r>
              <a:rPr lang="zh-CN" altLang="en-US" sz="2400">
                <a:ea typeface="楷体_GB2312" pitchFamily="49" charset="-122"/>
              </a:rPr>
              <a:t>“</a:t>
            </a:r>
            <a:r>
              <a:rPr lang="zh-CN" altLang="en-US" sz="2400">
                <a:latin typeface="楷体_GB2312" pitchFamily="49" charset="-122"/>
                <a:ea typeface="楷体_GB2312" pitchFamily="49" charset="-122"/>
              </a:rPr>
              <a:t>按时发货率</a:t>
            </a:r>
            <a:r>
              <a:rPr lang="zh-CN" altLang="en-US" sz="2400">
                <a:ea typeface="楷体_GB2312" pitchFamily="49" charset="-122"/>
              </a:rPr>
              <a:t>”</a:t>
            </a:r>
            <a:r>
              <a:rPr lang="zh-CN" altLang="en-US" sz="2400">
                <a:latin typeface="楷体_GB2312" pitchFamily="49" charset="-122"/>
                <a:ea typeface="楷体_GB2312" pitchFamily="49" charset="-122"/>
              </a:rPr>
              <a:t>水平要高于</a:t>
            </a:r>
            <a:r>
              <a:rPr lang="en-US" altLang="zh-CN" sz="2400">
                <a:latin typeface="楷体_GB2312" pitchFamily="49" charset="-122"/>
                <a:ea typeface="楷体_GB2312" pitchFamily="49" charset="-122"/>
              </a:rPr>
              <a:t>2001</a:t>
            </a:r>
            <a:r>
              <a:rPr lang="zh-CN" altLang="en-US" sz="2400">
                <a:latin typeface="楷体_GB2312" pitchFamily="49" charset="-122"/>
                <a:ea typeface="楷体_GB2312" pitchFamily="49" charset="-122"/>
              </a:rPr>
              <a:t>年到</a:t>
            </a:r>
            <a:r>
              <a:rPr lang="en-US" altLang="zh-CN" sz="2400">
                <a:latin typeface="楷体_GB2312" pitchFamily="49" charset="-122"/>
                <a:ea typeface="楷体_GB2312" pitchFamily="49" charset="-122"/>
              </a:rPr>
              <a:t>2004</a:t>
            </a:r>
            <a:r>
              <a:rPr lang="zh-CN" altLang="en-US" sz="2400">
                <a:latin typeface="楷体_GB2312" pitchFamily="49" charset="-122"/>
                <a:ea typeface="楷体_GB2312" pitchFamily="49" charset="-122"/>
              </a:rPr>
              <a:t>年波多里奇国家质量奖获奖企业的标杆学习比较值。</a:t>
            </a:r>
          </a:p>
        </p:txBody>
      </p:sp>
    </p:spTree>
  </p:cSld>
  <p:clrMapOvr>
    <a:masterClrMapping/>
  </p:clrMapOvr>
  <p:transition spd="slow">
    <p:strips dir="rd"/>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4431203-D46B-4729-ED1C-228D88753B78}"/>
              </a:ext>
            </a:extLst>
          </p:cNvPr>
          <p:cNvSpPr>
            <a:spLocks noGrp="1"/>
          </p:cNvSpPr>
          <p:nvPr>
            <p:ph type="dt" sz="half" idx="10"/>
          </p:nvPr>
        </p:nvSpPr>
        <p:spPr/>
        <p:txBody>
          <a:bodyPr/>
          <a:lstStyle/>
          <a:p>
            <a:r>
              <a:rPr lang="zh-CN" altLang="en-US"/>
              <a:t>讲义制作：李丽，陈志祥审</a:t>
            </a:r>
            <a:endParaRPr lang="en-US" altLang="zh-CN"/>
          </a:p>
        </p:txBody>
      </p:sp>
      <p:sp>
        <p:nvSpPr>
          <p:cNvPr id="119810" name="Rectangle 2">
            <a:extLst>
              <a:ext uri="{FF2B5EF4-FFF2-40B4-BE49-F238E27FC236}">
                <a16:creationId xmlns:a16="http://schemas.microsoft.com/office/drawing/2014/main" id="{8BA11EFC-B7B3-8BAD-B5CE-67B21C93E179}"/>
              </a:ext>
            </a:extLst>
          </p:cNvPr>
          <p:cNvSpPr>
            <a:spLocks noGrp="1" noChangeArrowheads="1"/>
          </p:cNvSpPr>
          <p:nvPr>
            <p:ph type="title"/>
          </p:nvPr>
        </p:nvSpPr>
        <p:spPr/>
        <p:txBody>
          <a:bodyPr/>
          <a:lstStyle/>
          <a:p>
            <a:r>
              <a:rPr lang="zh-CN" altLang="en-US"/>
              <a:t>一、质量管理概述</a:t>
            </a:r>
          </a:p>
        </p:txBody>
      </p:sp>
      <p:sp>
        <p:nvSpPr>
          <p:cNvPr id="119811" name="Rectangle 3">
            <a:extLst>
              <a:ext uri="{FF2B5EF4-FFF2-40B4-BE49-F238E27FC236}">
                <a16:creationId xmlns:a16="http://schemas.microsoft.com/office/drawing/2014/main" id="{0731E8F8-DCC8-2176-20E4-7C1D8528BB82}"/>
              </a:ext>
            </a:extLst>
          </p:cNvPr>
          <p:cNvSpPr>
            <a:spLocks noGrp="1" noChangeArrowheads="1"/>
          </p:cNvSpPr>
          <p:nvPr>
            <p:ph type="body" idx="1"/>
          </p:nvPr>
        </p:nvSpPr>
        <p:spPr/>
        <p:txBody>
          <a:bodyPr/>
          <a:lstStyle/>
          <a:p>
            <a:pPr>
              <a:buFontTx/>
              <a:buNone/>
            </a:pPr>
            <a:r>
              <a:rPr lang="zh-CN" altLang="en-US"/>
              <a:t>（一）质量与质量管理的概念</a:t>
            </a:r>
          </a:p>
          <a:p>
            <a:pPr>
              <a:buFontTx/>
              <a:buNone/>
            </a:pPr>
            <a:r>
              <a:rPr lang="zh-CN" altLang="en-US"/>
              <a:t>（二）全面质量管理</a:t>
            </a:r>
          </a:p>
        </p:txBody>
      </p:sp>
    </p:spTree>
  </p:cSld>
  <p:clrMapOvr>
    <a:masterClrMapping/>
  </p:clrMapOvr>
  <p:transition spd="slow">
    <p:strips dir="rd"/>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25C5FE65-4E57-93AB-559D-2B4726348F87}"/>
              </a:ext>
            </a:extLst>
          </p:cNvPr>
          <p:cNvSpPr>
            <a:spLocks noGrp="1"/>
          </p:cNvSpPr>
          <p:nvPr>
            <p:ph type="dt" sz="half" idx="10"/>
          </p:nvPr>
        </p:nvSpPr>
        <p:spPr/>
        <p:txBody>
          <a:bodyPr/>
          <a:lstStyle/>
          <a:p>
            <a:r>
              <a:rPr lang="zh-CN" altLang="en-US"/>
              <a:t>讲义制作：李丽，陈志祥审</a:t>
            </a:r>
            <a:endParaRPr lang="en-US" altLang="zh-CN"/>
          </a:p>
        </p:txBody>
      </p:sp>
      <p:sp>
        <p:nvSpPr>
          <p:cNvPr id="206850" name="Rectangle 2">
            <a:extLst>
              <a:ext uri="{FF2B5EF4-FFF2-40B4-BE49-F238E27FC236}">
                <a16:creationId xmlns:a16="http://schemas.microsoft.com/office/drawing/2014/main" id="{D4C7C04F-3463-29D1-D820-313E8E097E74}"/>
              </a:ext>
            </a:extLst>
          </p:cNvPr>
          <p:cNvSpPr>
            <a:spLocks noGrp="1" noChangeArrowheads="1"/>
          </p:cNvSpPr>
          <p:nvPr>
            <p:ph type="title"/>
          </p:nvPr>
        </p:nvSpPr>
        <p:spPr/>
        <p:txBody>
          <a:bodyPr/>
          <a:lstStyle/>
          <a:p>
            <a:r>
              <a:rPr lang="zh-CN" altLang="en-US"/>
              <a:t>（一）质量概念</a:t>
            </a:r>
          </a:p>
        </p:txBody>
      </p:sp>
      <p:sp>
        <p:nvSpPr>
          <p:cNvPr id="206851" name="Rectangle 3">
            <a:extLst>
              <a:ext uri="{FF2B5EF4-FFF2-40B4-BE49-F238E27FC236}">
                <a16:creationId xmlns:a16="http://schemas.microsoft.com/office/drawing/2014/main" id="{7489C7C1-5CDF-EDA9-16A7-1ECBA5210E97}"/>
              </a:ext>
            </a:extLst>
          </p:cNvPr>
          <p:cNvSpPr>
            <a:spLocks noGrp="1" noChangeArrowheads="1"/>
          </p:cNvSpPr>
          <p:nvPr>
            <p:ph type="body" idx="1"/>
          </p:nvPr>
        </p:nvSpPr>
        <p:spPr/>
        <p:txBody>
          <a:bodyPr/>
          <a:lstStyle/>
          <a:p>
            <a:r>
              <a:rPr lang="zh-CN" altLang="en-US" sz="2800"/>
              <a:t>质量的概念</a:t>
            </a:r>
          </a:p>
          <a:p>
            <a:pPr>
              <a:buFontTx/>
              <a:buNone/>
            </a:pPr>
            <a:r>
              <a:rPr lang="zh-CN" altLang="en-US" sz="2800"/>
              <a:t>          </a:t>
            </a:r>
            <a:r>
              <a:rPr lang="en-US" altLang="zh-CN" sz="2800"/>
              <a:t>ISO9000:2000</a:t>
            </a:r>
            <a:r>
              <a:rPr lang="zh-CN" altLang="en-US" sz="2800"/>
              <a:t>定义：产品、体系或过程的一组固有特性满足顾客和其他相关要求的能力。</a:t>
            </a:r>
          </a:p>
          <a:p>
            <a:pPr>
              <a:buFontTx/>
              <a:buNone/>
            </a:pPr>
            <a:r>
              <a:rPr lang="zh-CN" altLang="en-US" sz="2800"/>
              <a:t>         质量管理大师朱兰说：“质量就是适用性”</a:t>
            </a:r>
          </a:p>
          <a:p>
            <a:pPr>
              <a:buFontTx/>
              <a:buNone/>
            </a:pPr>
            <a:r>
              <a:rPr lang="zh-CN" altLang="en-US" sz="2800"/>
              <a:t>         质量专家戴明说：“质量是</a:t>
            </a:r>
            <a:r>
              <a:rPr lang="en-US" altLang="zh-CN" sz="2800"/>
              <a:t>—</a:t>
            </a:r>
            <a:r>
              <a:rPr lang="zh-CN" altLang="en-US" sz="2800"/>
              <a:t>满足顾客现在与未来的需求的能力”</a:t>
            </a:r>
          </a:p>
          <a:p>
            <a:pPr>
              <a:buFontTx/>
              <a:buNone/>
            </a:pPr>
            <a:r>
              <a:rPr lang="zh-CN" altLang="en-US" sz="2800"/>
              <a:t>         美国质量专家对质量的内涵定义了</a:t>
            </a:r>
            <a:r>
              <a:rPr lang="en-US" altLang="zh-CN" sz="2800"/>
              <a:t>8</a:t>
            </a:r>
            <a:r>
              <a:rPr lang="zh-CN" altLang="en-US" sz="2800"/>
              <a:t>维属性：</a:t>
            </a:r>
          </a:p>
        </p:txBody>
      </p:sp>
    </p:spTree>
  </p:cSld>
  <p:clrMapOvr>
    <a:masterClrMapping/>
  </p:clrMapOvr>
  <p:transition spd="slow">
    <p:strips dir="rd"/>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CF336E05-557A-B1E4-7505-8F08D914E172}"/>
              </a:ext>
            </a:extLst>
          </p:cNvPr>
          <p:cNvSpPr>
            <a:spLocks noGrp="1"/>
          </p:cNvSpPr>
          <p:nvPr>
            <p:ph type="dt" sz="half" idx="10"/>
          </p:nvPr>
        </p:nvSpPr>
        <p:spPr/>
        <p:txBody>
          <a:bodyPr/>
          <a:lstStyle/>
          <a:p>
            <a:r>
              <a:rPr lang="zh-CN" altLang="en-US"/>
              <a:t>讲义制作：李丽，陈志祥审</a:t>
            </a:r>
            <a:endParaRPr lang="en-US" altLang="zh-CN"/>
          </a:p>
        </p:txBody>
      </p:sp>
      <p:sp>
        <p:nvSpPr>
          <p:cNvPr id="207876" name="Text Box 4">
            <a:extLst>
              <a:ext uri="{FF2B5EF4-FFF2-40B4-BE49-F238E27FC236}">
                <a16:creationId xmlns:a16="http://schemas.microsoft.com/office/drawing/2014/main" id="{AADC253B-83F0-F355-A21B-F649B12D60D6}"/>
              </a:ext>
            </a:extLst>
          </p:cNvPr>
          <p:cNvSpPr txBox="1">
            <a:spLocks noChangeArrowheads="1"/>
          </p:cNvSpPr>
          <p:nvPr/>
        </p:nvSpPr>
        <p:spPr bwMode="auto">
          <a:xfrm>
            <a:off x="611188" y="981075"/>
            <a:ext cx="7056437" cy="4838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a:t>质量的八大属性：</a:t>
            </a:r>
          </a:p>
          <a:p>
            <a:pPr>
              <a:spcBef>
                <a:spcPct val="50000"/>
              </a:spcBef>
            </a:pPr>
            <a:r>
              <a:rPr lang="zh-CN" altLang="en-US" sz="2400"/>
              <a:t>（</a:t>
            </a:r>
            <a:r>
              <a:rPr lang="en-US" altLang="zh-CN" sz="2400"/>
              <a:t>1</a:t>
            </a:r>
            <a:r>
              <a:rPr lang="zh-CN" altLang="en-US" sz="2400"/>
              <a:t>）性能</a:t>
            </a:r>
          </a:p>
          <a:p>
            <a:pPr>
              <a:spcBef>
                <a:spcPct val="50000"/>
              </a:spcBef>
            </a:pPr>
            <a:r>
              <a:rPr lang="zh-CN" altLang="en-US" sz="2400"/>
              <a:t>（</a:t>
            </a:r>
            <a:r>
              <a:rPr lang="en-US" altLang="zh-CN" sz="2400"/>
              <a:t>2</a:t>
            </a:r>
            <a:r>
              <a:rPr lang="zh-CN" altLang="en-US" sz="2400"/>
              <a:t>）附加功能</a:t>
            </a:r>
          </a:p>
          <a:p>
            <a:pPr>
              <a:spcBef>
                <a:spcPct val="50000"/>
              </a:spcBef>
            </a:pPr>
            <a:r>
              <a:rPr lang="zh-CN" altLang="en-US" sz="2400"/>
              <a:t>（</a:t>
            </a:r>
            <a:r>
              <a:rPr lang="en-US" altLang="zh-CN" sz="2400"/>
              <a:t>3</a:t>
            </a:r>
            <a:r>
              <a:rPr lang="zh-CN" altLang="en-US" sz="2400"/>
              <a:t>）可靠性</a:t>
            </a:r>
          </a:p>
          <a:p>
            <a:pPr>
              <a:spcBef>
                <a:spcPct val="50000"/>
              </a:spcBef>
            </a:pPr>
            <a:r>
              <a:rPr lang="zh-CN" altLang="en-US" sz="2400"/>
              <a:t>（</a:t>
            </a:r>
            <a:r>
              <a:rPr lang="en-US" altLang="zh-CN" sz="2400"/>
              <a:t>4</a:t>
            </a:r>
            <a:r>
              <a:rPr lang="zh-CN" altLang="en-US" sz="2400"/>
              <a:t>）一致性</a:t>
            </a:r>
          </a:p>
          <a:p>
            <a:pPr>
              <a:spcBef>
                <a:spcPct val="50000"/>
              </a:spcBef>
            </a:pPr>
            <a:r>
              <a:rPr lang="zh-CN" altLang="en-US" sz="2400"/>
              <a:t>（</a:t>
            </a:r>
            <a:r>
              <a:rPr lang="en-US" altLang="zh-CN" sz="2400"/>
              <a:t>5</a:t>
            </a:r>
            <a:r>
              <a:rPr lang="zh-CN" altLang="en-US" sz="2400"/>
              <a:t>）耐久性</a:t>
            </a:r>
          </a:p>
          <a:p>
            <a:pPr>
              <a:spcBef>
                <a:spcPct val="50000"/>
              </a:spcBef>
            </a:pPr>
            <a:r>
              <a:rPr lang="zh-CN" altLang="en-US" sz="2400"/>
              <a:t>（</a:t>
            </a:r>
            <a:r>
              <a:rPr lang="en-US" altLang="zh-CN" sz="2400"/>
              <a:t>6</a:t>
            </a:r>
            <a:r>
              <a:rPr lang="zh-CN" altLang="en-US" sz="2400"/>
              <a:t>）维护性</a:t>
            </a:r>
          </a:p>
          <a:p>
            <a:pPr>
              <a:spcBef>
                <a:spcPct val="50000"/>
              </a:spcBef>
            </a:pPr>
            <a:r>
              <a:rPr lang="zh-CN" altLang="en-US" sz="2400"/>
              <a:t>（</a:t>
            </a:r>
            <a:r>
              <a:rPr lang="en-US" altLang="zh-CN" sz="2400"/>
              <a:t>7</a:t>
            </a:r>
            <a:r>
              <a:rPr lang="zh-CN" altLang="en-US" sz="2400"/>
              <a:t>）美学性</a:t>
            </a:r>
          </a:p>
          <a:p>
            <a:pPr>
              <a:spcBef>
                <a:spcPct val="50000"/>
              </a:spcBef>
            </a:pPr>
            <a:r>
              <a:rPr lang="zh-CN" altLang="en-US" sz="2400"/>
              <a:t>（</a:t>
            </a:r>
            <a:r>
              <a:rPr lang="en-US" altLang="zh-CN" sz="2400"/>
              <a:t>8</a:t>
            </a:r>
            <a:r>
              <a:rPr lang="zh-CN" altLang="en-US" sz="2400"/>
              <a:t>）感觉性 </a:t>
            </a:r>
          </a:p>
        </p:txBody>
      </p:sp>
    </p:spTree>
  </p:cSld>
  <p:clrMapOvr>
    <a:masterClrMapping/>
  </p:clrMapOvr>
  <p:transition spd="slow">
    <p:strips dir="rd"/>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18F773D2-05AA-6FE3-0EEE-83764077A3AB}"/>
              </a:ext>
            </a:extLst>
          </p:cNvPr>
          <p:cNvSpPr>
            <a:spLocks noGrp="1"/>
          </p:cNvSpPr>
          <p:nvPr>
            <p:ph type="dt" sz="half" idx="10"/>
          </p:nvPr>
        </p:nvSpPr>
        <p:spPr/>
        <p:txBody>
          <a:bodyPr/>
          <a:lstStyle/>
          <a:p>
            <a:r>
              <a:rPr lang="zh-CN" altLang="en-US"/>
              <a:t>讲义制作：李丽，陈志祥审</a:t>
            </a:r>
            <a:endParaRPr lang="en-US" altLang="zh-CN"/>
          </a:p>
        </p:txBody>
      </p:sp>
      <p:sp>
        <p:nvSpPr>
          <p:cNvPr id="233474" name="Rectangle 2">
            <a:extLst>
              <a:ext uri="{FF2B5EF4-FFF2-40B4-BE49-F238E27FC236}">
                <a16:creationId xmlns:a16="http://schemas.microsoft.com/office/drawing/2014/main" id="{6E4AD1F0-CE33-AE18-D4B5-ACC726D6BC21}"/>
              </a:ext>
            </a:extLst>
          </p:cNvPr>
          <p:cNvSpPr>
            <a:spLocks noGrp="1" noChangeArrowheads="1"/>
          </p:cNvSpPr>
          <p:nvPr>
            <p:ph type="title"/>
          </p:nvPr>
        </p:nvSpPr>
        <p:spPr/>
        <p:txBody>
          <a:bodyPr/>
          <a:lstStyle/>
          <a:p>
            <a:r>
              <a:rPr lang="zh-CN" altLang="en-US"/>
              <a:t>（二）全面质量管理</a:t>
            </a:r>
          </a:p>
        </p:txBody>
      </p:sp>
      <p:sp>
        <p:nvSpPr>
          <p:cNvPr id="233475" name="Rectangle 3">
            <a:extLst>
              <a:ext uri="{FF2B5EF4-FFF2-40B4-BE49-F238E27FC236}">
                <a16:creationId xmlns:a16="http://schemas.microsoft.com/office/drawing/2014/main" id="{554C62C4-DBE4-3AB3-910A-2B8AA3C45367}"/>
              </a:ext>
            </a:extLst>
          </p:cNvPr>
          <p:cNvSpPr>
            <a:spLocks noGrp="1" noChangeArrowheads="1"/>
          </p:cNvSpPr>
          <p:nvPr>
            <p:ph type="body" idx="1"/>
          </p:nvPr>
        </p:nvSpPr>
        <p:spPr/>
        <p:txBody>
          <a:bodyPr/>
          <a:lstStyle/>
          <a:p>
            <a:pPr>
              <a:buFontTx/>
              <a:buNone/>
            </a:pPr>
            <a:r>
              <a:rPr lang="en-US" altLang="zh-CN"/>
              <a:t>1</a:t>
            </a:r>
            <a:r>
              <a:rPr lang="zh-CN" altLang="en-US"/>
              <a:t>、全面质量管理的内涵</a:t>
            </a:r>
          </a:p>
          <a:p>
            <a:pPr>
              <a:buFontTx/>
              <a:buNone/>
            </a:pPr>
            <a:r>
              <a:rPr lang="en-US" altLang="zh-CN"/>
              <a:t>2</a:t>
            </a:r>
            <a:r>
              <a:rPr lang="zh-CN" altLang="en-US"/>
              <a:t>、全面质量管理的方法</a:t>
            </a:r>
            <a:r>
              <a:rPr lang="en-US" altLang="zh-CN"/>
              <a:t>---PDCA</a:t>
            </a:r>
          </a:p>
          <a:p>
            <a:pPr>
              <a:buFontTx/>
              <a:buNone/>
            </a:pPr>
            <a:endParaRPr lang="en-US" altLang="zh-CN"/>
          </a:p>
        </p:txBody>
      </p:sp>
    </p:spTree>
  </p:cSld>
  <p:clrMapOvr>
    <a:masterClrMapping/>
  </p:clrMapOvr>
  <p:transition spd="slow">
    <p:strips dir="rd"/>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6AAB764-4FD2-0DE0-C8AE-8323B03E0528}"/>
              </a:ext>
            </a:extLst>
          </p:cNvPr>
          <p:cNvSpPr>
            <a:spLocks noGrp="1"/>
          </p:cNvSpPr>
          <p:nvPr>
            <p:ph type="dt" sz="half" idx="10"/>
          </p:nvPr>
        </p:nvSpPr>
        <p:spPr/>
        <p:txBody>
          <a:bodyPr/>
          <a:lstStyle/>
          <a:p>
            <a:r>
              <a:rPr lang="zh-CN" altLang="en-US"/>
              <a:t>讲义制作：李丽，陈志祥审</a:t>
            </a:r>
            <a:endParaRPr lang="en-US" altLang="zh-CN"/>
          </a:p>
        </p:txBody>
      </p:sp>
      <p:sp>
        <p:nvSpPr>
          <p:cNvPr id="262146" name="Rectangle 2">
            <a:extLst>
              <a:ext uri="{FF2B5EF4-FFF2-40B4-BE49-F238E27FC236}">
                <a16:creationId xmlns:a16="http://schemas.microsoft.com/office/drawing/2014/main" id="{3811EC84-F9F2-6EEF-22F0-E02C48131A49}"/>
              </a:ext>
            </a:extLst>
          </p:cNvPr>
          <p:cNvSpPr>
            <a:spLocks noGrp="1" noChangeArrowheads="1"/>
          </p:cNvSpPr>
          <p:nvPr>
            <p:ph type="title"/>
          </p:nvPr>
        </p:nvSpPr>
        <p:spPr/>
        <p:txBody>
          <a:bodyPr/>
          <a:lstStyle/>
          <a:p>
            <a:r>
              <a:rPr lang="zh-CN" altLang="en-US"/>
              <a:t>全面质量管理的内涵</a:t>
            </a:r>
          </a:p>
        </p:txBody>
      </p:sp>
      <p:sp>
        <p:nvSpPr>
          <p:cNvPr id="262147" name="Rectangle 3">
            <a:extLst>
              <a:ext uri="{FF2B5EF4-FFF2-40B4-BE49-F238E27FC236}">
                <a16:creationId xmlns:a16="http://schemas.microsoft.com/office/drawing/2014/main" id="{32407012-0294-6E97-7DAB-493578913694}"/>
              </a:ext>
            </a:extLst>
          </p:cNvPr>
          <p:cNvSpPr>
            <a:spLocks noGrp="1" noChangeArrowheads="1"/>
          </p:cNvSpPr>
          <p:nvPr>
            <p:ph type="body" idx="1"/>
          </p:nvPr>
        </p:nvSpPr>
        <p:spPr/>
        <p:txBody>
          <a:bodyPr/>
          <a:lstStyle/>
          <a:p>
            <a:pPr marL="609600" indent="-609600">
              <a:buFontTx/>
              <a:buAutoNum type="arabicPeriod"/>
            </a:pPr>
            <a:r>
              <a:rPr lang="zh-CN" altLang="en-US"/>
              <a:t>定义：”一个组织以质量为中心，以全员参与为基础，目的是通过让顾客满意使本组织所有成员及社会收益达到长期成功的管理途径“</a:t>
            </a:r>
          </a:p>
          <a:p>
            <a:pPr marL="609600" indent="-609600">
              <a:buFontTx/>
              <a:buAutoNum type="arabicPeriod"/>
            </a:pPr>
            <a:r>
              <a:rPr lang="zh-CN" altLang="en-US"/>
              <a:t>全面质量的管理内涵</a:t>
            </a:r>
          </a:p>
          <a:p>
            <a:pPr marL="609600" indent="-609600">
              <a:buFontTx/>
              <a:buNone/>
            </a:pPr>
            <a:r>
              <a:rPr lang="zh-CN" altLang="en-US"/>
              <a:t>（</a:t>
            </a:r>
            <a:r>
              <a:rPr lang="en-US" altLang="zh-CN"/>
              <a:t>1</a:t>
            </a:r>
            <a:r>
              <a:rPr lang="zh-CN" altLang="en-US"/>
              <a:t>）全参加的质量管理</a:t>
            </a:r>
          </a:p>
          <a:p>
            <a:pPr marL="609600" indent="-609600">
              <a:buFontTx/>
              <a:buNone/>
            </a:pPr>
            <a:r>
              <a:rPr lang="zh-CN" altLang="en-US"/>
              <a:t>（</a:t>
            </a:r>
            <a:r>
              <a:rPr lang="en-US" altLang="zh-CN"/>
              <a:t>2</a:t>
            </a:r>
            <a:r>
              <a:rPr lang="zh-CN" altLang="en-US"/>
              <a:t>）全过程的质量管理</a:t>
            </a:r>
          </a:p>
          <a:p>
            <a:pPr marL="609600" indent="-609600">
              <a:buFontTx/>
              <a:buNone/>
            </a:pPr>
            <a:r>
              <a:rPr lang="zh-CN" altLang="en-US"/>
              <a:t>（</a:t>
            </a:r>
            <a:r>
              <a:rPr lang="en-US" altLang="zh-CN"/>
              <a:t>3</a:t>
            </a:r>
            <a:r>
              <a:rPr lang="zh-CN" altLang="en-US"/>
              <a:t>）全面的质量概念</a:t>
            </a:r>
          </a:p>
        </p:txBody>
      </p:sp>
    </p:spTree>
  </p:cSld>
  <p:clrMapOvr>
    <a:masterClrMapping/>
  </p:clrMapOvr>
  <p:transition spd="slow">
    <p:strips dir="rd"/>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8AC175A0-A2CD-B5D8-469B-4C83E16841B1}"/>
              </a:ext>
            </a:extLst>
          </p:cNvPr>
          <p:cNvSpPr>
            <a:spLocks noGrp="1"/>
          </p:cNvSpPr>
          <p:nvPr>
            <p:ph type="dt" sz="half" idx="10"/>
          </p:nvPr>
        </p:nvSpPr>
        <p:spPr/>
        <p:txBody>
          <a:bodyPr/>
          <a:lstStyle/>
          <a:p>
            <a:r>
              <a:rPr lang="zh-CN" altLang="en-US"/>
              <a:t>讲义制作：李丽，陈志祥审</a:t>
            </a:r>
            <a:endParaRPr lang="en-US" altLang="zh-CN"/>
          </a:p>
        </p:txBody>
      </p:sp>
      <p:sp>
        <p:nvSpPr>
          <p:cNvPr id="209924" name="Rectangle 4">
            <a:extLst>
              <a:ext uri="{FF2B5EF4-FFF2-40B4-BE49-F238E27FC236}">
                <a16:creationId xmlns:a16="http://schemas.microsoft.com/office/drawing/2014/main" id="{3ED55CFD-7507-8D07-FF3B-81BF778F8851}"/>
              </a:ext>
            </a:extLst>
          </p:cNvPr>
          <p:cNvSpPr>
            <a:spLocks noChangeArrowheads="1"/>
          </p:cNvSpPr>
          <p:nvPr/>
        </p:nvSpPr>
        <p:spPr bwMode="auto">
          <a:xfrm>
            <a:off x="212725" y="404813"/>
            <a:ext cx="842327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3200" b="1">
                <a:latin typeface="Times New Roman" panose="02020603050405020304" pitchFamily="18" charset="0"/>
                <a:ea typeface="黑体" panose="02010609060101010101" pitchFamily="49" charset="-122"/>
                <a:cs typeface="Times New Roman" panose="02020603050405020304" pitchFamily="18" charset="0"/>
              </a:rPr>
              <a:t>（二） 全面质量管理的工作方法</a:t>
            </a:r>
            <a:r>
              <a:rPr lang="en-US" altLang="zh-CN" sz="3200" b="1">
                <a:latin typeface="Times New Roman" panose="02020603050405020304" pitchFamily="18" charset="0"/>
                <a:ea typeface="黑体" panose="02010609060101010101" pitchFamily="49" charset="-122"/>
                <a:cs typeface="Times New Roman" panose="02020603050405020304" pitchFamily="18" charset="0"/>
              </a:rPr>
              <a:t>--- PDCA</a:t>
            </a:r>
            <a:r>
              <a:rPr lang="zh-CN" altLang="en-US" sz="3200" b="1">
                <a:latin typeface="Times New Roman" panose="02020603050405020304" pitchFamily="18" charset="0"/>
                <a:ea typeface="黑体" panose="02010609060101010101" pitchFamily="49" charset="-122"/>
                <a:cs typeface="Times New Roman" panose="02020603050405020304" pitchFamily="18" charset="0"/>
              </a:rPr>
              <a:t>循环</a:t>
            </a:r>
            <a:endParaRPr lang="zh-CN" altLang="en-US" sz="3200">
              <a:ea typeface="黑体" panose="02010609060101010101" pitchFamily="49" charset="-122"/>
              <a:cs typeface="Times New Roman" panose="02020603050405020304" pitchFamily="18" charset="0"/>
            </a:endParaRPr>
          </a:p>
        </p:txBody>
      </p:sp>
      <p:graphicFrame>
        <p:nvGraphicFramePr>
          <p:cNvPr id="209956" name="Group 36">
            <a:extLst>
              <a:ext uri="{FF2B5EF4-FFF2-40B4-BE49-F238E27FC236}">
                <a16:creationId xmlns:a16="http://schemas.microsoft.com/office/drawing/2014/main" id="{1A3ED090-D04D-2C66-744D-F5A6083D9B80}"/>
              </a:ext>
            </a:extLst>
          </p:cNvPr>
          <p:cNvGraphicFramePr>
            <a:graphicFrameLocks noGrp="1"/>
          </p:cNvGraphicFramePr>
          <p:nvPr/>
        </p:nvGraphicFramePr>
        <p:xfrm>
          <a:off x="539750" y="1125538"/>
          <a:ext cx="8208963" cy="5299075"/>
        </p:xfrm>
        <a:graphic>
          <a:graphicData uri="http://schemas.openxmlformats.org/drawingml/2006/table">
            <a:tbl>
              <a:tblPr/>
              <a:tblGrid>
                <a:gridCol w="1208088">
                  <a:extLst>
                    <a:ext uri="{9D8B030D-6E8A-4147-A177-3AD203B41FA5}">
                      <a16:colId xmlns:a16="http://schemas.microsoft.com/office/drawing/2014/main" val="455384"/>
                    </a:ext>
                  </a:extLst>
                </a:gridCol>
                <a:gridCol w="4049712">
                  <a:extLst>
                    <a:ext uri="{9D8B030D-6E8A-4147-A177-3AD203B41FA5}">
                      <a16:colId xmlns:a16="http://schemas.microsoft.com/office/drawing/2014/main" val="2310244644"/>
                    </a:ext>
                  </a:extLst>
                </a:gridCol>
                <a:gridCol w="2951163">
                  <a:extLst>
                    <a:ext uri="{9D8B030D-6E8A-4147-A177-3AD203B41FA5}">
                      <a16:colId xmlns:a16="http://schemas.microsoft.com/office/drawing/2014/main" val="3619857094"/>
                    </a:ext>
                  </a:extLst>
                </a:gridCol>
              </a:tblGrid>
              <a:tr h="588963">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阶段</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步    骤</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sz="18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主要方法</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2065235211"/>
                  </a:ext>
                </a:extLst>
              </a:tr>
              <a:tr h="247332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计</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划</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阶</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段</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．分析现状，找出问题</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．分析各种影响因素或原因</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．找出主要影响因素</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．针对主要原因，制定措施计划</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排列图、直方图、控制图</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因果图</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排列图、相关图</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回答“</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5W1H”</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为什么制定该措施（</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Why</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要达到什么目标</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(What)</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何时执行该计划（</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When</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由谁来执行计划</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(Who)</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在哪里实施计划</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(Where)</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怎么样实施计划</a:t>
                      </a: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(How)</a:t>
                      </a:r>
                      <a:endParaRPr kumimoji="0" lang="en-US"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3388927547"/>
                  </a:ext>
                </a:extLst>
              </a:tr>
              <a:tr h="728663">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实施阶段</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．执行实施计划</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81690242"/>
                  </a:ext>
                </a:extLst>
              </a:tr>
              <a:tr h="346075">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检查计划</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．检查计划实施的结果</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排列图、直方图、控制图</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496644763"/>
                  </a:ext>
                </a:extLst>
              </a:tr>
              <a:tr h="728663">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处置阶段</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．总结成功经验，制定标准</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．把未解决的问题转入下一个循环</a:t>
                      </a:r>
                      <a:endParaRPr kumimoji="0" lang="zh-CN" altLang="en-US"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tx2"/>
                        </a:buClr>
                        <a:buSzTx/>
                        <a:buFontTx/>
                        <a:buNone/>
                        <a:tabLst/>
                      </a:pPr>
                      <a:endParaRPr kumimoji="0" lang="zh-CN" altLang="zh-CN" sz="1800" b="1"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2581162084"/>
                  </a:ext>
                </a:extLst>
              </a:tr>
            </a:tbl>
          </a:graphicData>
        </a:graphic>
      </p:graphicFrame>
      <p:sp>
        <p:nvSpPr>
          <p:cNvPr id="209952" name="Rectangle 32">
            <a:extLst>
              <a:ext uri="{FF2B5EF4-FFF2-40B4-BE49-F238E27FC236}">
                <a16:creationId xmlns:a16="http://schemas.microsoft.com/office/drawing/2014/main" id="{D91681DF-FFF3-517D-1F9B-2458D470A17F}"/>
              </a:ext>
            </a:extLst>
          </p:cNvPr>
          <p:cNvSpPr>
            <a:spLocks noChangeArrowheads="1"/>
          </p:cNvSpPr>
          <p:nvPr/>
        </p:nvSpPr>
        <p:spPr bwMode="auto">
          <a:xfrm>
            <a:off x="0" y="5197475"/>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zh-CN"/>
          </a:p>
        </p:txBody>
      </p:sp>
    </p:spTree>
  </p:cSld>
  <p:clrMapOvr>
    <a:masterClrMapping/>
  </p:clrMapOvr>
  <p:transition spd="slow">
    <p:strips dir="rd"/>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BFE243AA-2E81-755F-7EAA-B851A12D2711}"/>
              </a:ext>
            </a:extLst>
          </p:cNvPr>
          <p:cNvSpPr>
            <a:spLocks noGrp="1"/>
          </p:cNvSpPr>
          <p:nvPr>
            <p:ph type="dt" sz="half" idx="10"/>
          </p:nvPr>
        </p:nvSpPr>
        <p:spPr/>
        <p:txBody>
          <a:bodyPr/>
          <a:lstStyle/>
          <a:p>
            <a:r>
              <a:rPr lang="zh-CN" altLang="en-US"/>
              <a:t>讲义制作：李丽，陈志祥审</a:t>
            </a:r>
            <a:endParaRPr lang="en-US" altLang="zh-CN"/>
          </a:p>
        </p:txBody>
      </p:sp>
      <p:sp>
        <p:nvSpPr>
          <p:cNvPr id="217090" name="Rectangle 2">
            <a:extLst>
              <a:ext uri="{FF2B5EF4-FFF2-40B4-BE49-F238E27FC236}">
                <a16:creationId xmlns:a16="http://schemas.microsoft.com/office/drawing/2014/main" id="{A27B5CAF-FF3E-D8F7-2F17-B65D29E1F013}"/>
              </a:ext>
            </a:extLst>
          </p:cNvPr>
          <p:cNvSpPr>
            <a:spLocks noGrp="1" noChangeArrowheads="1"/>
          </p:cNvSpPr>
          <p:nvPr>
            <p:ph type="title"/>
          </p:nvPr>
        </p:nvSpPr>
        <p:spPr/>
        <p:txBody>
          <a:bodyPr/>
          <a:lstStyle/>
          <a:p>
            <a:r>
              <a:rPr lang="zh-CN" altLang="en-US"/>
              <a:t>二、质量管理工具</a:t>
            </a:r>
          </a:p>
        </p:txBody>
      </p:sp>
      <p:sp>
        <p:nvSpPr>
          <p:cNvPr id="217093" name="Rectangle 5">
            <a:extLst>
              <a:ext uri="{FF2B5EF4-FFF2-40B4-BE49-F238E27FC236}">
                <a16:creationId xmlns:a16="http://schemas.microsoft.com/office/drawing/2014/main" id="{54D5F3D9-BE94-51A2-2CC9-D3E32B82CD6D}"/>
              </a:ext>
            </a:extLst>
          </p:cNvPr>
          <p:cNvSpPr>
            <a:spLocks noGrp="1" noChangeArrowheads="1"/>
          </p:cNvSpPr>
          <p:nvPr>
            <p:ph type="body" idx="1"/>
          </p:nvPr>
        </p:nvSpPr>
        <p:spPr>
          <a:noFill/>
          <a:ln/>
        </p:spPr>
        <p:txBody>
          <a:bodyPr/>
          <a:lstStyle/>
          <a:p>
            <a:r>
              <a:rPr lang="zh-CN" altLang="en-US"/>
              <a:t>排列图</a:t>
            </a:r>
          </a:p>
          <a:p>
            <a:r>
              <a:rPr lang="zh-CN" altLang="en-US"/>
              <a:t>因果图</a:t>
            </a:r>
          </a:p>
          <a:p>
            <a:r>
              <a:rPr lang="zh-CN" altLang="en-US"/>
              <a:t>直方图</a:t>
            </a:r>
          </a:p>
          <a:p>
            <a:r>
              <a:rPr lang="zh-CN" altLang="en-US"/>
              <a:t>控制图</a:t>
            </a:r>
          </a:p>
          <a:p>
            <a:r>
              <a:rPr lang="zh-CN" altLang="en-US"/>
              <a:t>相关图</a:t>
            </a:r>
          </a:p>
          <a:p>
            <a:r>
              <a:rPr lang="zh-CN" altLang="en-US"/>
              <a:t>分类表</a:t>
            </a:r>
          </a:p>
          <a:p>
            <a:r>
              <a:rPr lang="zh-CN" altLang="en-US"/>
              <a:t>调查表</a:t>
            </a:r>
          </a:p>
        </p:txBody>
      </p:sp>
    </p:spTree>
  </p:cSld>
  <p:clrMapOvr>
    <a:masterClrMapping/>
  </p:clrMapOvr>
  <p:transition spd="slow">
    <p:strips dir="rd"/>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EC94F46-468B-7838-EB99-4547D56D7958}"/>
              </a:ext>
            </a:extLst>
          </p:cNvPr>
          <p:cNvSpPr>
            <a:spLocks noGrp="1"/>
          </p:cNvSpPr>
          <p:nvPr>
            <p:ph type="dt" sz="half" idx="10"/>
          </p:nvPr>
        </p:nvSpPr>
        <p:spPr/>
        <p:txBody>
          <a:bodyPr/>
          <a:lstStyle/>
          <a:p>
            <a:r>
              <a:rPr lang="zh-CN" altLang="en-US"/>
              <a:t>讲义制作：李丽，陈志祥审</a:t>
            </a:r>
            <a:endParaRPr lang="en-US" altLang="zh-CN"/>
          </a:p>
        </p:txBody>
      </p:sp>
      <p:sp>
        <p:nvSpPr>
          <p:cNvPr id="222212" name="Line 4">
            <a:extLst>
              <a:ext uri="{FF2B5EF4-FFF2-40B4-BE49-F238E27FC236}">
                <a16:creationId xmlns:a16="http://schemas.microsoft.com/office/drawing/2014/main" id="{F6A83ADF-D00A-2489-6269-3A1EA0997F87}"/>
              </a:ext>
            </a:extLst>
          </p:cNvPr>
          <p:cNvSpPr>
            <a:spLocks noChangeShapeType="1"/>
          </p:cNvSpPr>
          <p:nvPr/>
        </p:nvSpPr>
        <p:spPr bwMode="auto">
          <a:xfrm>
            <a:off x="1971675" y="5080000"/>
            <a:ext cx="4719638"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3" name="Line 5">
            <a:extLst>
              <a:ext uri="{FF2B5EF4-FFF2-40B4-BE49-F238E27FC236}">
                <a16:creationId xmlns:a16="http://schemas.microsoft.com/office/drawing/2014/main" id="{4BCFCA6C-54BC-D120-505A-31520B0E2375}"/>
              </a:ext>
            </a:extLst>
          </p:cNvPr>
          <p:cNvSpPr>
            <a:spLocks noChangeShapeType="1"/>
          </p:cNvSpPr>
          <p:nvPr/>
        </p:nvSpPr>
        <p:spPr bwMode="auto">
          <a:xfrm flipV="1">
            <a:off x="1971675" y="2335213"/>
            <a:ext cx="0" cy="27447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2214" name="Line 6">
            <a:extLst>
              <a:ext uri="{FF2B5EF4-FFF2-40B4-BE49-F238E27FC236}">
                <a16:creationId xmlns:a16="http://schemas.microsoft.com/office/drawing/2014/main" id="{075EE4C5-31E8-C9BA-EBEF-9518EEC42ED6}"/>
              </a:ext>
            </a:extLst>
          </p:cNvPr>
          <p:cNvSpPr>
            <a:spLocks noChangeShapeType="1"/>
          </p:cNvSpPr>
          <p:nvPr/>
        </p:nvSpPr>
        <p:spPr bwMode="auto">
          <a:xfrm flipV="1">
            <a:off x="6691313" y="2479675"/>
            <a:ext cx="0" cy="260032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2215" name="Line 7">
            <a:extLst>
              <a:ext uri="{FF2B5EF4-FFF2-40B4-BE49-F238E27FC236}">
                <a16:creationId xmlns:a16="http://schemas.microsoft.com/office/drawing/2014/main" id="{CFECA239-62DC-9D47-66A3-25949E68BFB4}"/>
              </a:ext>
            </a:extLst>
          </p:cNvPr>
          <p:cNvSpPr>
            <a:spLocks noChangeShapeType="1"/>
          </p:cNvSpPr>
          <p:nvPr/>
        </p:nvSpPr>
        <p:spPr bwMode="auto">
          <a:xfrm flipV="1">
            <a:off x="1971675" y="3490913"/>
            <a:ext cx="471488" cy="1589087"/>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22216" name="Line 8">
            <a:extLst>
              <a:ext uri="{FF2B5EF4-FFF2-40B4-BE49-F238E27FC236}">
                <a16:creationId xmlns:a16="http://schemas.microsoft.com/office/drawing/2014/main" id="{17434EAF-5468-7C33-C03C-E8389F924588}"/>
              </a:ext>
            </a:extLst>
          </p:cNvPr>
          <p:cNvSpPr>
            <a:spLocks noChangeShapeType="1"/>
          </p:cNvSpPr>
          <p:nvPr/>
        </p:nvSpPr>
        <p:spPr bwMode="auto">
          <a:xfrm flipV="1">
            <a:off x="2443163" y="3057525"/>
            <a:ext cx="785812" cy="43338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17" name="Line 9">
            <a:extLst>
              <a:ext uri="{FF2B5EF4-FFF2-40B4-BE49-F238E27FC236}">
                <a16:creationId xmlns:a16="http://schemas.microsoft.com/office/drawing/2014/main" id="{A2C48B9C-D4B4-6D3C-5BDC-AE146479686A}"/>
              </a:ext>
            </a:extLst>
          </p:cNvPr>
          <p:cNvSpPr>
            <a:spLocks noChangeShapeType="1"/>
          </p:cNvSpPr>
          <p:nvPr/>
        </p:nvSpPr>
        <p:spPr bwMode="auto">
          <a:xfrm flipV="1">
            <a:off x="3228975" y="2913063"/>
            <a:ext cx="788988" cy="144462"/>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22218" name="Line 10">
            <a:extLst>
              <a:ext uri="{FF2B5EF4-FFF2-40B4-BE49-F238E27FC236}">
                <a16:creationId xmlns:a16="http://schemas.microsoft.com/office/drawing/2014/main" id="{0C3EB91C-14D0-82CC-19D4-7D749ED30C60}"/>
              </a:ext>
            </a:extLst>
          </p:cNvPr>
          <p:cNvSpPr>
            <a:spLocks noChangeShapeType="1"/>
          </p:cNvSpPr>
          <p:nvPr/>
        </p:nvSpPr>
        <p:spPr bwMode="auto">
          <a:xfrm flipV="1">
            <a:off x="4017963" y="2768600"/>
            <a:ext cx="784225" cy="144463"/>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22219" name="Text Box 11">
            <a:extLst>
              <a:ext uri="{FF2B5EF4-FFF2-40B4-BE49-F238E27FC236}">
                <a16:creationId xmlns:a16="http://schemas.microsoft.com/office/drawing/2014/main" id="{EF02A3D1-C2D3-9632-90A1-7D9E31F4D088}"/>
              </a:ext>
            </a:extLst>
          </p:cNvPr>
          <p:cNvSpPr txBox="1">
            <a:spLocks noChangeArrowheads="1"/>
          </p:cNvSpPr>
          <p:nvPr/>
        </p:nvSpPr>
        <p:spPr bwMode="auto">
          <a:xfrm>
            <a:off x="1185863" y="1625600"/>
            <a:ext cx="2020887" cy="3322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a:latin typeface="Times New Roman" panose="02020603050405020304" pitchFamily="18" charset="0"/>
              </a:rPr>
              <a:t>频数（件）</a:t>
            </a:r>
          </a:p>
          <a:p>
            <a:pPr algn="just"/>
            <a:r>
              <a:rPr lang="en-US" altLang="zh-CN" sz="2400">
                <a:latin typeface="Times New Roman" panose="02020603050405020304" pitchFamily="18" charset="0"/>
              </a:rPr>
              <a:t>100</a:t>
            </a:r>
          </a:p>
          <a:p>
            <a:pPr algn="just"/>
            <a:endParaRPr lang="en-US" altLang="zh-CN" sz="2400">
              <a:latin typeface="Times New Roman" panose="02020603050405020304" pitchFamily="18" charset="0"/>
            </a:endParaRPr>
          </a:p>
          <a:p>
            <a:pPr algn="just"/>
            <a:r>
              <a:rPr lang="en-US" altLang="zh-CN" sz="2400">
                <a:latin typeface="Times New Roman" panose="02020603050405020304" pitchFamily="18" charset="0"/>
              </a:rPr>
              <a:t>80</a:t>
            </a:r>
          </a:p>
          <a:p>
            <a:pPr algn="just"/>
            <a:endParaRPr lang="en-US" altLang="zh-CN" sz="2400">
              <a:latin typeface="Times New Roman" panose="02020603050405020304" pitchFamily="18" charset="0"/>
            </a:endParaRPr>
          </a:p>
          <a:p>
            <a:pPr algn="just"/>
            <a:r>
              <a:rPr lang="en-US" altLang="zh-CN" sz="2400">
                <a:latin typeface="Times New Roman" panose="02020603050405020304" pitchFamily="18" charset="0"/>
              </a:rPr>
              <a:t>40</a:t>
            </a:r>
          </a:p>
          <a:p>
            <a:pPr algn="just"/>
            <a:endParaRPr lang="en-US" altLang="zh-CN" sz="2400">
              <a:latin typeface="Times New Roman" panose="02020603050405020304" pitchFamily="18" charset="0"/>
            </a:endParaRPr>
          </a:p>
          <a:p>
            <a:pPr algn="just"/>
            <a:r>
              <a:rPr lang="en-US" altLang="zh-CN" sz="2400">
                <a:latin typeface="Times New Roman" panose="02020603050405020304" pitchFamily="18" charset="0"/>
              </a:rPr>
              <a:t>20</a:t>
            </a:r>
          </a:p>
          <a:p>
            <a:pPr algn="just"/>
            <a:endParaRPr lang="en-US" altLang="zh-CN" sz="2400">
              <a:latin typeface="Times New Roman" panose="02020603050405020304" pitchFamily="18" charset="0"/>
            </a:endParaRPr>
          </a:p>
          <a:p>
            <a:pPr algn="just"/>
            <a:r>
              <a:rPr lang="en-US" altLang="zh-CN" sz="2400">
                <a:latin typeface="Times New Roman" panose="02020603050405020304" pitchFamily="18" charset="0"/>
              </a:rPr>
              <a:t>0</a:t>
            </a:r>
            <a:endParaRPr lang="en-US" altLang="zh-CN" sz="2400"/>
          </a:p>
        </p:txBody>
      </p:sp>
      <p:sp>
        <p:nvSpPr>
          <p:cNvPr id="222220" name="Text Box 12">
            <a:extLst>
              <a:ext uri="{FF2B5EF4-FFF2-40B4-BE49-F238E27FC236}">
                <a16:creationId xmlns:a16="http://schemas.microsoft.com/office/drawing/2014/main" id="{461C283C-AA2C-19DD-2779-FACBF2E83C28}"/>
              </a:ext>
            </a:extLst>
          </p:cNvPr>
          <p:cNvSpPr txBox="1">
            <a:spLocks noChangeArrowheads="1"/>
          </p:cNvSpPr>
          <p:nvPr/>
        </p:nvSpPr>
        <p:spPr bwMode="auto">
          <a:xfrm>
            <a:off x="6742113" y="1731963"/>
            <a:ext cx="990600" cy="3338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000">
                <a:latin typeface="Times New Roman" panose="02020603050405020304" pitchFamily="18" charset="0"/>
              </a:rPr>
              <a:t>累积频率（</a:t>
            </a:r>
            <a:r>
              <a:rPr lang="en-US" altLang="zh-CN" sz="2000">
                <a:latin typeface="Times New Roman" panose="02020603050405020304" pitchFamily="18" charset="0"/>
              </a:rPr>
              <a:t>%</a:t>
            </a:r>
            <a:r>
              <a:rPr lang="zh-CN" altLang="en-US" sz="2000">
                <a:latin typeface="Times New Roman" panose="02020603050405020304" pitchFamily="18" charset="0"/>
              </a:rPr>
              <a:t>）</a:t>
            </a:r>
          </a:p>
          <a:p>
            <a:pPr algn="just"/>
            <a:r>
              <a:rPr lang="en-US" altLang="zh-CN" sz="2000">
                <a:latin typeface="Times New Roman" panose="02020603050405020304" pitchFamily="18" charset="0"/>
              </a:rPr>
              <a:t>100</a:t>
            </a:r>
          </a:p>
          <a:p>
            <a:pPr algn="just"/>
            <a:endParaRPr lang="en-US" altLang="zh-CN" sz="2000">
              <a:latin typeface="Times New Roman" panose="02020603050405020304" pitchFamily="18" charset="0"/>
            </a:endParaRPr>
          </a:p>
          <a:p>
            <a:pPr algn="just"/>
            <a:r>
              <a:rPr lang="en-US" altLang="zh-CN" sz="2000">
                <a:latin typeface="Times New Roman" panose="02020603050405020304" pitchFamily="18" charset="0"/>
              </a:rPr>
              <a:t>80</a:t>
            </a:r>
          </a:p>
          <a:p>
            <a:pPr algn="just"/>
            <a:endParaRPr lang="en-US" altLang="zh-CN" sz="2000">
              <a:latin typeface="Times New Roman" panose="02020603050405020304" pitchFamily="18" charset="0"/>
            </a:endParaRPr>
          </a:p>
          <a:p>
            <a:pPr algn="just"/>
            <a:r>
              <a:rPr lang="en-US" altLang="zh-CN" sz="2000">
                <a:latin typeface="Times New Roman" panose="02020603050405020304" pitchFamily="18" charset="0"/>
              </a:rPr>
              <a:t>60</a:t>
            </a:r>
          </a:p>
          <a:p>
            <a:pPr algn="just"/>
            <a:endParaRPr lang="en-US" altLang="zh-CN" sz="2000">
              <a:latin typeface="Times New Roman" panose="02020603050405020304" pitchFamily="18" charset="0"/>
            </a:endParaRPr>
          </a:p>
          <a:p>
            <a:pPr algn="just"/>
            <a:r>
              <a:rPr lang="en-US" altLang="zh-CN" sz="2000">
                <a:latin typeface="Times New Roman" panose="02020603050405020304" pitchFamily="18" charset="0"/>
              </a:rPr>
              <a:t>40</a:t>
            </a:r>
          </a:p>
          <a:p>
            <a:pPr algn="just"/>
            <a:endParaRPr lang="en-US" altLang="zh-CN" sz="2000">
              <a:latin typeface="Times New Roman" panose="02020603050405020304" pitchFamily="18" charset="0"/>
            </a:endParaRPr>
          </a:p>
          <a:p>
            <a:pPr algn="just"/>
            <a:r>
              <a:rPr lang="en-US" altLang="zh-CN" sz="2000">
                <a:latin typeface="Times New Roman" panose="02020603050405020304" pitchFamily="18" charset="0"/>
              </a:rPr>
              <a:t>0</a:t>
            </a:r>
            <a:endParaRPr lang="en-US" altLang="zh-CN" sz="2000"/>
          </a:p>
        </p:txBody>
      </p:sp>
      <p:sp>
        <p:nvSpPr>
          <p:cNvPr id="222221" name="Rectangle 13">
            <a:extLst>
              <a:ext uri="{FF2B5EF4-FFF2-40B4-BE49-F238E27FC236}">
                <a16:creationId xmlns:a16="http://schemas.microsoft.com/office/drawing/2014/main" id="{1A4BA89A-C0B8-24F2-A9E9-FF5C1F94CEAA}"/>
              </a:ext>
            </a:extLst>
          </p:cNvPr>
          <p:cNvSpPr>
            <a:spLocks noChangeArrowheads="1"/>
          </p:cNvSpPr>
          <p:nvPr/>
        </p:nvSpPr>
        <p:spPr bwMode="auto">
          <a:xfrm>
            <a:off x="1971675" y="3490913"/>
            <a:ext cx="787400" cy="158908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alpha val="50000"/>
                  </a:srgbClr>
                </a:solidFill>
              </a14:hiddenFill>
            </a:ext>
          </a:extLst>
        </p:spPr>
        <p:txBody>
          <a:bodyPr/>
          <a:lstStyle/>
          <a:p>
            <a:endParaRPr lang="zh-CN" altLang="en-US"/>
          </a:p>
        </p:txBody>
      </p:sp>
      <p:sp>
        <p:nvSpPr>
          <p:cNvPr id="222222" name="Rectangle 14">
            <a:extLst>
              <a:ext uri="{FF2B5EF4-FFF2-40B4-BE49-F238E27FC236}">
                <a16:creationId xmlns:a16="http://schemas.microsoft.com/office/drawing/2014/main" id="{FD6E5E65-97BC-3F9F-1DAB-54C94E7D3A54}"/>
              </a:ext>
            </a:extLst>
          </p:cNvPr>
          <p:cNvSpPr>
            <a:spLocks noChangeArrowheads="1"/>
          </p:cNvSpPr>
          <p:nvPr/>
        </p:nvSpPr>
        <p:spPr bwMode="auto">
          <a:xfrm>
            <a:off x="2759075" y="4503738"/>
            <a:ext cx="785813" cy="576262"/>
          </a:xfrm>
          <a:prstGeom prst="rect">
            <a:avLst/>
          </a:prstGeom>
          <a:solidFill>
            <a:srgbClr val="FFFFFF"/>
          </a:solidFill>
          <a:ln w="9525">
            <a:solidFill>
              <a:srgbClr val="000000"/>
            </a:solidFill>
            <a:miter lim="800000"/>
            <a:headEnd/>
            <a:tailEnd/>
          </a:ln>
        </p:spPr>
        <p:txBody>
          <a:bodyPr/>
          <a:lstStyle/>
          <a:p>
            <a:endParaRPr lang="zh-CN" altLang="en-US"/>
          </a:p>
        </p:txBody>
      </p:sp>
      <p:sp>
        <p:nvSpPr>
          <p:cNvPr id="222223" name="Rectangle 15">
            <a:extLst>
              <a:ext uri="{FF2B5EF4-FFF2-40B4-BE49-F238E27FC236}">
                <a16:creationId xmlns:a16="http://schemas.microsoft.com/office/drawing/2014/main" id="{63ABF00A-89F1-9660-B1E4-8D5A8D4AD32D}"/>
              </a:ext>
            </a:extLst>
          </p:cNvPr>
          <p:cNvSpPr>
            <a:spLocks noChangeArrowheads="1"/>
          </p:cNvSpPr>
          <p:nvPr/>
        </p:nvSpPr>
        <p:spPr bwMode="auto">
          <a:xfrm>
            <a:off x="3544888" y="4646613"/>
            <a:ext cx="787400" cy="433387"/>
          </a:xfrm>
          <a:prstGeom prst="rect">
            <a:avLst/>
          </a:prstGeom>
          <a:solidFill>
            <a:srgbClr val="FFFFFF"/>
          </a:solidFill>
          <a:ln w="9525">
            <a:solidFill>
              <a:srgbClr val="000000"/>
            </a:solidFill>
            <a:miter lim="800000"/>
            <a:headEnd/>
            <a:tailEnd/>
          </a:ln>
        </p:spPr>
        <p:txBody>
          <a:bodyPr/>
          <a:lstStyle/>
          <a:p>
            <a:endParaRPr lang="zh-CN" altLang="en-US"/>
          </a:p>
        </p:txBody>
      </p:sp>
      <p:sp>
        <p:nvSpPr>
          <p:cNvPr id="222224" name="Rectangle 16">
            <a:extLst>
              <a:ext uri="{FF2B5EF4-FFF2-40B4-BE49-F238E27FC236}">
                <a16:creationId xmlns:a16="http://schemas.microsoft.com/office/drawing/2014/main" id="{DDEE27FE-1F0C-F479-1B43-E5CA51E9CD80}"/>
              </a:ext>
            </a:extLst>
          </p:cNvPr>
          <p:cNvSpPr>
            <a:spLocks noChangeArrowheads="1"/>
          </p:cNvSpPr>
          <p:nvPr/>
        </p:nvSpPr>
        <p:spPr bwMode="auto">
          <a:xfrm>
            <a:off x="4332288" y="4791075"/>
            <a:ext cx="785812" cy="288925"/>
          </a:xfrm>
          <a:prstGeom prst="rect">
            <a:avLst/>
          </a:prstGeom>
          <a:solidFill>
            <a:srgbClr val="FFFFFF"/>
          </a:solidFill>
          <a:ln w="9525">
            <a:solidFill>
              <a:srgbClr val="000000"/>
            </a:solidFill>
            <a:miter lim="800000"/>
            <a:headEnd/>
            <a:tailEnd/>
          </a:ln>
        </p:spPr>
        <p:txBody>
          <a:bodyPr/>
          <a:lstStyle/>
          <a:p>
            <a:endParaRPr lang="zh-CN" altLang="en-US"/>
          </a:p>
        </p:txBody>
      </p:sp>
      <p:sp>
        <p:nvSpPr>
          <p:cNvPr id="222225" name="Rectangle 17">
            <a:extLst>
              <a:ext uri="{FF2B5EF4-FFF2-40B4-BE49-F238E27FC236}">
                <a16:creationId xmlns:a16="http://schemas.microsoft.com/office/drawing/2014/main" id="{63ACB735-DA08-373B-4530-E0F4F5571896}"/>
              </a:ext>
            </a:extLst>
          </p:cNvPr>
          <p:cNvSpPr>
            <a:spLocks noChangeArrowheads="1"/>
          </p:cNvSpPr>
          <p:nvPr/>
        </p:nvSpPr>
        <p:spPr bwMode="auto">
          <a:xfrm>
            <a:off x="5118100" y="4937125"/>
            <a:ext cx="785813" cy="142875"/>
          </a:xfrm>
          <a:prstGeom prst="rect">
            <a:avLst/>
          </a:prstGeom>
          <a:solidFill>
            <a:srgbClr val="FFFFFF"/>
          </a:solidFill>
          <a:ln w="9525">
            <a:solidFill>
              <a:srgbClr val="000000"/>
            </a:solidFill>
            <a:miter lim="800000"/>
            <a:headEnd/>
            <a:tailEnd/>
          </a:ln>
        </p:spPr>
        <p:txBody>
          <a:bodyPr/>
          <a:lstStyle/>
          <a:p>
            <a:endParaRPr lang="zh-CN" altLang="en-US"/>
          </a:p>
        </p:txBody>
      </p:sp>
      <p:sp>
        <p:nvSpPr>
          <p:cNvPr id="222226" name="Text Box 18">
            <a:extLst>
              <a:ext uri="{FF2B5EF4-FFF2-40B4-BE49-F238E27FC236}">
                <a16:creationId xmlns:a16="http://schemas.microsoft.com/office/drawing/2014/main" id="{60B405CA-E04D-5D86-1425-C0A63A25B545}"/>
              </a:ext>
            </a:extLst>
          </p:cNvPr>
          <p:cNvSpPr txBox="1">
            <a:spLocks noChangeArrowheads="1"/>
          </p:cNvSpPr>
          <p:nvPr/>
        </p:nvSpPr>
        <p:spPr bwMode="auto">
          <a:xfrm>
            <a:off x="1763713" y="5081588"/>
            <a:ext cx="5816600"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a:latin typeface="Times New Roman" panose="02020603050405020304" pitchFamily="18" charset="0"/>
              </a:rPr>
              <a:t>甲       乙      丙      丁       戊　　　因素</a:t>
            </a:r>
          </a:p>
          <a:p>
            <a:pPr algn="just"/>
            <a:r>
              <a:rPr lang="zh-CN" altLang="en-US" sz="2400">
                <a:latin typeface="Times New Roman" panose="02020603050405020304" pitchFamily="18" charset="0"/>
              </a:rPr>
              <a:t>                     图    排列图模式</a:t>
            </a:r>
            <a:endParaRPr lang="zh-CN" altLang="en-US" sz="2400"/>
          </a:p>
        </p:txBody>
      </p:sp>
      <p:sp>
        <p:nvSpPr>
          <p:cNvPr id="222227" name="Line 19">
            <a:extLst>
              <a:ext uri="{FF2B5EF4-FFF2-40B4-BE49-F238E27FC236}">
                <a16:creationId xmlns:a16="http://schemas.microsoft.com/office/drawing/2014/main" id="{71878272-CC9C-151D-85AA-B959E6AD5E28}"/>
              </a:ext>
            </a:extLst>
          </p:cNvPr>
          <p:cNvSpPr>
            <a:spLocks noChangeShapeType="1"/>
          </p:cNvSpPr>
          <p:nvPr/>
        </p:nvSpPr>
        <p:spPr bwMode="auto">
          <a:xfrm>
            <a:off x="1971675" y="3201988"/>
            <a:ext cx="471963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8" name="Line 20">
            <a:extLst>
              <a:ext uri="{FF2B5EF4-FFF2-40B4-BE49-F238E27FC236}">
                <a16:creationId xmlns:a16="http://schemas.microsoft.com/office/drawing/2014/main" id="{79417695-4E14-470F-146D-1F96F9BA22BA}"/>
              </a:ext>
            </a:extLst>
          </p:cNvPr>
          <p:cNvSpPr>
            <a:spLocks noChangeShapeType="1"/>
          </p:cNvSpPr>
          <p:nvPr/>
        </p:nvSpPr>
        <p:spPr bwMode="auto">
          <a:xfrm>
            <a:off x="1971675" y="2913063"/>
            <a:ext cx="471963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29" name="Line 21">
            <a:extLst>
              <a:ext uri="{FF2B5EF4-FFF2-40B4-BE49-F238E27FC236}">
                <a16:creationId xmlns:a16="http://schemas.microsoft.com/office/drawing/2014/main" id="{FADA458E-A180-2C04-8657-18892A087CC4}"/>
              </a:ext>
            </a:extLst>
          </p:cNvPr>
          <p:cNvSpPr>
            <a:spLocks noChangeShapeType="1"/>
          </p:cNvSpPr>
          <p:nvPr/>
        </p:nvSpPr>
        <p:spPr bwMode="auto">
          <a:xfrm>
            <a:off x="1971675" y="2624138"/>
            <a:ext cx="4719638" cy="0"/>
          </a:xfrm>
          <a:prstGeom prst="line">
            <a:avLst/>
          </a:prstGeom>
          <a:noFill/>
          <a:ln w="9525" cap="rnd">
            <a:solidFill>
              <a:srgbClr val="000000"/>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2230" name="Line 22">
            <a:extLst>
              <a:ext uri="{FF2B5EF4-FFF2-40B4-BE49-F238E27FC236}">
                <a16:creationId xmlns:a16="http://schemas.microsoft.com/office/drawing/2014/main" id="{E6965187-1D78-5F70-C525-6464F0E9AB78}"/>
              </a:ext>
            </a:extLst>
          </p:cNvPr>
          <p:cNvSpPr>
            <a:spLocks noChangeShapeType="1"/>
          </p:cNvSpPr>
          <p:nvPr/>
        </p:nvSpPr>
        <p:spPr bwMode="auto">
          <a:xfrm flipV="1">
            <a:off x="4802188" y="2624138"/>
            <a:ext cx="788987" cy="144462"/>
          </a:xfrm>
          <a:prstGeom prst="line">
            <a:avLst/>
          </a:prstGeom>
          <a:noFill/>
          <a:ln w="9525">
            <a:solidFill>
              <a:srgbClr val="000000"/>
            </a:solidFill>
            <a:round/>
            <a:headEnd type="oval" w="med" len="me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22231" name="Text Box 23">
            <a:extLst>
              <a:ext uri="{FF2B5EF4-FFF2-40B4-BE49-F238E27FC236}">
                <a16:creationId xmlns:a16="http://schemas.microsoft.com/office/drawing/2014/main" id="{7B9102EA-06BF-5006-3462-159FEA3C60A5}"/>
              </a:ext>
            </a:extLst>
          </p:cNvPr>
          <p:cNvSpPr txBox="1">
            <a:spLocks noChangeArrowheads="1"/>
          </p:cNvSpPr>
          <p:nvPr/>
        </p:nvSpPr>
        <p:spPr bwMode="auto">
          <a:xfrm>
            <a:off x="1971675" y="3201988"/>
            <a:ext cx="63023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60</a:t>
            </a:r>
            <a:endParaRPr lang="en-US" altLang="zh-CN" sz="2400"/>
          </a:p>
        </p:txBody>
      </p:sp>
      <p:sp>
        <p:nvSpPr>
          <p:cNvPr id="222232" name="Text Box 24">
            <a:extLst>
              <a:ext uri="{FF2B5EF4-FFF2-40B4-BE49-F238E27FC236}">
                <a16:creationId xmlns:a16="http://schemas.microsoft.com/office/drawing/2014/main" id="{A71593C6-4815-7A88-A4B1-27D01AAF724D}"/>
              </a:ext>
            </a:extLst>
          </p:cNvPr>
          <p:cNvSpPr txBox="1">
            <a:spLocks noChangeArrowheads="1"/>
          </p:cNvSpPr>
          <p:nvPr/>
        </p:nvSpPr>
        <p:spPr bwMode="auto">
          <a:xfrm>
            <a:off x="2916238" y="4067175"/>
            <a:ext cx="1296987" cy="436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15</a:t>
            </a:r>
            <a:endParaRPr lang="en-US" altLang="zh-CN" sz="2400"/>
          </a:p>
        </p:txBody>
      </p:sp>
      <p:sp>
        <p:nvSpPr>
          <p:cNvPr id="222233" name="Text Box 25">
            <a:extLst>
              <a:ext uri="{FF2B5EF4-FFF2-40B4-BE49-F238E27FC236}">
                <a16:creationId xmlns:a16="http://schemas.microsoft.com/office/drawing/2014/main" id="{41E88FB7-8A39-654D-AAB0-43E0FFF9F8D6}"/>
              </a:ext>
            </a:extLst>
          </p:cNvPr>
          <p:cNvSpPr txBox="1">
            <a:spLocks noChangeArrowheads="1"/>
          </p:cNvSpPr>
          <p:nvPr/>
        </p:nvSpPr>
        <p:spPr bwMode="auto">
          <a:xfrm>
            <a:off x="3702050" y="4213225"/>
            <a:ext cx="6302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10</a:t>
            </a:r>
            <a:endParaRPr lang="en-US" altLang="zh-CN" sz="2400"/>
          </a:p>
        </p:txBody>
      </p:sp>
      <p:sp>
        <p:nvSpPr>
          <p:cNvPr id="222234" name="Text Box 26">
            <a:extLst>
              <a:ext uri="{FF2B5EF4-FFF2-40B4-BE49-F238E27FC236}">
                <a16:creationId xmlns:a16="http://schemas.microsoft.com/office/drawing/2014/main" id="{2745F3EB-95AC-0907-9370-87CE88411944}"/>
              </a:ext>
            </a:extLst>
          </p:cNvPr>
          <p:cNvSpPr txBox="1">
            <a:spLocks noChangeArrowheads="1"/>
          </p:cNvSpPr>
          <p:nvPr/>
        </p:nvSpPr>
        <p:spPr bwMode="auto">
          <a:xfrm>
            <a:off x="4489450" y="4357688"/>
            <a:ext cx="6286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6</a:t>
            </a:r>
            <a:endParaRPr lang="en-US" altLang="zh-CN" sz="2400"/>
          </a:p>
        </p:txBody>
      </p:sp>
      <p:sp>
        <p:nvSpPr>
          <p:cNvPr id="222235" name="Text Box 27">
            <a:extLst>
              <a:ext uri="{FF2B5EF4-FFF2-40B4-BE49-F238E27FC236}">
                <a16:creationId xmlns:a16="http://schemas.microsoft.com/office/drawing/2014/main" id="{CD1B0494-3C8D-C3EA-9D86-2CAA8CC39564}"/>
              </a:ext>
            </a:extLst>
          </p:cNvPr>
          <p:cNvSpPr txBox="1">
            <a:spLocks noChangeArrowheads="1"/>
          </p:cNvSpPr>
          <p:nvPr/>
        </p:nvSpPr>
        <p:spPr bwMode="auto">
          <a:xfrm>
            <a:off x="5275263" y="4503738"/>
            <a:ext cx="7842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4</a:t>
            </a:r>
            <a:endParaRPr lang="en-US" altLang="zh-CN" sz="2400"/>
          </a:p>
        </p:txBody>
      </p:sp>
      <p:sp>
        <p:nvSpPr>
          <p:cNvPr id="222236" name="Text Box 28">
            <a:extLst>
              <a:ext uri="{FF2B5EF4-FFF2-40B4-BE49-F238E27FC236}">
                <a16:creationId xmlns:a16="http://schemas.microsoft.com/office/drawing/2014/main" id="{70539A44-44B1-0BDF-0ECA-CD60F96CC36F}"/>
              </a:ext>
            </a:extLst>
          </p:cNvPr>
          <p:cNvSpPr txBox="1">
            <a:spLocks noChangeArrowheads="1"/>
          </p:cNvSpPr>
          <p:nvPr/>
        </p:nvSpPr>
        <p:spPr bwMode="auto">
          <a:xfrm>
            <a:off x="5724525" y="2490788"/>
            <a:ext cx="7874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C</a:t>
            </a:r>
            <a:r>
              <a:rPr lang="zh-CN" altLang="en-US" sz="2400">
                <a:latin typeface="Times New Roman" panose="02020603050405020304" pitchFamily="18" charset="0"/>
              </a:rPr>
              <a:t>类</a:t>
            </a:r>
          </a:p>
          <a:p>
            <a:pPr algn="just"/>
            <a:r>
              <a:rPr lang="en-US" altLang="zh-CN" sz="2400">
                <a:latin typeface="Times New Roman" panose="02020603050405020304" pitchFamily="18" charset="0"/>
              </a:rPr>
              <a:t>B</a:t>
            </a:r>
            <a:r>
              <a:rPr lang="zh-CN" altLang="en-US" sz="2400">
                <a:latin typeface="Times New Roman" panose="02020603050405020304" pitchFamily="18" charset="0"/>
              </a:rPr>
              <a:t>类</a:t>
            </a:r>
          </a:p>
          <a:p>
            <a:pPr algn="just"/>
            <a:r>
              <a:rPr lang="en-US" altLang="zh-CN" sz="2400">
                <a:latin typeface="Times New Roman" panose="02020603050405020304" pitchFamily="18" charset="0"/>
              </a:rPr>
              <a:t>A</a:t>
            </a:r>
            <a:r>
              <a:rPr lang="zh-CN" altLang="en-US" sz="2400">
                <a:latin typeface="Times New Roman" panose="02020603050405020304" pitchFamily="18" charset="0"/>
              </a:rPr>
              <a:t>类</a:t>
            </a:r>
            <a:endParaRPr lang="zh-CN" altLang="en-US" sz="2400"/>
          </a:p>
        </p:txBody>
      </p:sp>
      <p:sp>
        <p:nvSpPr>
          <p:cNvPr id="222237" name="Text Box 29">
            <a:extLst>
              <a:ext uri="{FF2B5EF4-FFF2-40B4-BE49-F238E27FC236}">
                <a16:creationId xmlns:a16="http://schemas.microsoft.com/office/drawing/2014/main" id="{734945BD-DD46-1340-029C-E048C69F1B37}"/>
              </a:ext>
            </a:extLst>
          </p:cNvPr>
          <p:cNvSpPr txBox="1">
            <a:spLocks noChangeArrowheads="1"/>
          </p:cNvSpPr>
          <p:nvPr/>
        </p:nvSpPr>
        <p:spPr bwMode="auto">
          <a:xfrm>
            <a:off x="2916238" y="3282950"/>
            <a:ext cx="1592262" cy="57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63</a:t>
            </a:r>
            <a:r>
              <a:rPr lang="zh-CN" altLang="en-US" sz="2400">
                <a:latin typeface="Times New Roman" panose="02020603050405020304" pitchFamily="18" charset="0"/>
              </a:rPr>
              <a:t>．</a:t>
            </a:r>
            <a:r>
              <a:rPr lang="en-US" altLang="zh-CN" sz="2400">
                <a:latin typeface="Times New Roman" panose="02020603050405020304" pitchFamily="18" charset="0"/>
              </a:rPr>
              <a:t>1</a:t>
            </a:r>
            <a:r>
              <a:rPr lang="zh-CN" altLang="en-US" sz="2400">
                <a:latin typeface="Times New Roman" panose="02020603050405020304" pitchFamily="18" charset="0"/>
              </a:rPr>
              <a:t>％</a:t>
            </a:r>
            <a:endParaRPr lang="zh-CN" altLang="en-US" sz="2400"/>
          </a:p>
        </p:txBody>
      </p:sp>
      <p:sp>
        <p:nvSpPr>
          <p:cNvPr id="222238" name="Text Box 30">
            <a:extLst>
              <a:ext uri="{FF2B5EF4-FFF2-40B4-BE49-F238E27FC236}">
                <a16:creationId xmlns:a16="http://schemas.microsoft.com/office/drawing/2014/main" id="{0F5B8688-BBE0-5907-3C1C-5178984F63A3}"/>
              </a:ext>
            </a:extLst>
          </p:cNvPr>
          <p:cNvSpPr txBox="1">
            <a:spLocks noChangeArrowheads="1"/>
          </p:cNvSpPr>
          <p:nvPr/>
        </p:nvSpPr>
        <p:spPr bwMode="auto">
          <a:xfrm>
            <a:off x="2124075" y="2778125"/>
            <a:ext cx="1571625"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78</a:t>
            </a:r>
            <a:r>
              <a:rPr lang="zh-CN" altLang="en-US" sz="2400">
                <a:latin typeface="Times New Roman" panose="02020603050405020304" pitchFamily="18" charset="0"/>
              </a:rPr>
              <a:t>．</a:t>
            </a:r>
            <a:r>
              <a:rPr lang="en-US" altLang="zh-CN" sz="2400">
                <a:latin typeface="Times New Roman" panose="02020603050405020304" pitchFamily="18" charset="0"/>
              </a:rPr>
              <a:t>8</a:t>
            </a:r>
            <a:r>
              <a:rPr lang="zh-CN" altLang="en-US" sz="2400">
                <a:latin typeface="Times New Roman" panose="02020603050405020304" pitchFamily="18" charset="0"/>
              </a:rPr>
              <a:t>％</a:t>
            </a:r>
            <a:endParaRPr lang="zh-CN" altLang="en-US" sz="2400"/>
          </a:p>
        </p:txBody>
      </p:sp>
      <p:sp>
        <p:nvSpPr>
          <p:cNvPr id="222239" name="Text Box 31">
            <a:extLst>
              <a:ext uri="{FF2B5EF4-FFF2-40B4-BE49-F238E27FC236}">
                <a16:creationId xmlns:a16="http://schemas.microsoft.com/office/drawing/2014/main" id="{4758CFE2-5681-A0E1-98AC-6C804205BA8D}"/>
              </a:ext>
            </a:extLst>
          </p:cNvPr>
          <p:cNvSpPr txBox="1">
            <a:spLocks noChangeArrowheads="1"/>
          </p:cNvSpPr>
          <p:nvPr/>
        </p:nvSpPr>
        <p:spPr bwMode="auto">
          <a:xfrm>
            <a:off x="3205163" y="2490788"/>
            <a:ext cx="1258887"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89</a:t>
            </a:r>
            <a:r>
              <a:rPr lang="zh-CN" altLang="en-US" sz="2400">
                <a:latin typeface="Times New Roman" panose="02020603050405020304" pitchFamily="18" charset="0"/>
              </a:rPr>
              <a:t>．</a:t>
            </a:r>
            <a:r>
              <a:rPr lang="en-US" altLang="zh-CN" sz="2400">
                <a:latin typeface="Times New Roman" panose="02020603050405020304" pitchFamily="18" charset="0"/>
              </a:rPr>
              <a:t>3</a:t>
            </a:r>
            <a:r>
              <a:rPr lang="zh-CN" altLang="en-US" sz="2400">
                <a:latin typeface="Times New Roman" panose="02020603050405020304" pitchFamily="18" charset="0"/>
              </a:rPr>
              <a:t>％</a:t>
            </a:r>
            <a:endParaRPr lang="zh-CN" altLang="en-US" sz="2400"/>
          </a:p>
        </p:txBody>
      </p:sp>
      <p:sp>
        <p:nvSpPr>
          <p:cNvPr id="222240" name="Text Box 32">
            <a:extLst>
              <a:ext uri="{FF2B5EF4-FFF2-40B4-BE49-F238E27FC236}">
                <a16:creationId xmlns:a16="http://schemas.microsoft.com/office/drawing/2014/main" id="{3EBC6097-7B3D-C34C-D88D-84A6627A1E4B}"/>
              </a:ext>
            </a:extLst>
          </p:cNvPr>
          <p:cNvSpPr txBox="1">
            <a:spLocks noChangeArrowheads="1"/>
          </p:cNvSpPr>
          <p:nvPr/>
        </p:nvSpPr>
        <p:spPr bwMode="auto">
          <a:xfrm>
            <a:off x="4427538" y="2778125"/>
            <a:ext cx="1260475"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en-US" altLang="zh-CN" sz="2400">
                <a:latin typeface="Times New Roman" panose="02020603050405020304" pitchFamily="18" charset="0"/>
              </a:rPr>
              <a:t>95</a:t>
            </a:r>
            <a:r>
              <a:rPr lang="zh-CN" altLang="en-US" sz="2400">
                <a:latin typeface="Times New Roman" panose="02020603050405020304" pitchFamily="18" charset="0"/>
              </a:rPr>
              <a:t>．</a:t>
            </a:r>
            <a:r>
              <a:rPr lang="en-US" altLang="zh-CN" sz="2400">
                <a:latin typeface="Times New Roman" panose="02020603050405020304" pitchFamily="18" charset="0"/>
              </a:rPr>
              <a:t>6</a:t>
            </a:r>
            <a:r>
              <a:rPr lang="zh-CN" altLang="en-US" sz="2400">
                <a:latin typeface="Times New Roman" panose="02020603050405020304" pitchFamily="18" charset="0"/>
              </a:rPr>
              <a:t>％</a:t>
            </a:r>
            <a:endParaRPr lang="zh-CN" altLang="en-US" sz="2400"/>
          </a:p>
        </p:txBody>
      </p:sp>
      <p:sp>
        <p:nvSpPr>
          <p:cNvPr id="222241" name="Text Box 33">
            <a:extLst>
              <a:ext uri="{FF2B5EF4-FFF2-40B4-BE49-F238E27FC236}">
                <a16:creationId xmlns:a16="http://schemas.microsoft.com/office/drawing/2014/main" id="{0D06C329-0212-344C-9045-8E857D8C89BC}"/>
              </a:ext>
            </a:extLst>
          </p:cNvPr>
          <p:cNvSpPr txBox="1">
            <a:spLocks noChangeArrowheads="1"/>
          </p:cNvSpPr>
          <p:nvPr/>
        </p:nvSpPr>
        <p:spPr bwMode="auto">
          <a:xfrm>
            <a:off x="4860925" y="2130425"/>
            <a:ext cx="1857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2" tIns="45715" rIns="91432" bIns="45715"/>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a:r>
              <a:rPr lang="zh-CN" altLang="en-US" sz="2400">
                <a:latin typeface="Times New Roman" panose="02020603050405020304" pitchFamily="18" charset="0"/>
              </a:rPr>
              <a:t>１００％</a:t>
            </a:r>
            <a:endParaRPr lang="zh-CN" altLang="en-US" sz="2400"/>
          </a:p>
        </p:txBody>
      </p:sp>
      <p:sp>
        <p:nvSpPr>
          <p:cNvPr id="222242" name="Text Box 34">
            <a:extLst>
              <a:ext uri="{FF2B5EF4-FFF2-40B4-BE49-F238E27FC236}">
                <a16:creationId xmlns:a16="http://schemas.microsoft.com/office/drawing/2014/main" id="{EAF365D6-4536-79E5-DFE2-59CAEA1828FA}"/>
              </a:ext>
            </a:extLst>
          </p:cNvPr>
          <p:cNvSpPr txBox="1">
            <a:spLocks noChangeArrowheads="1"/>
          </p:cNvSpPr>
          <p:nvPr/>
        </p:nvSpPr>
        <p:spPr bwMode="auto">
          <a:xfrm>
            <a:off x="1406525" y="666750"/>
            <a:ext cx="6981825"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en-US" altLang="zh-CN" sz="3200" b="1">
                <a:effectLst>
                  <a:outerShdw blurRad="38100" dist="38100" dir="2700000" algn="tl">
                    <a:srgbClr val="000000"/>
                  </a:outerShdw>
                </a:effectLst>
              </a:rPr>
              <a:t>1</a:t>
            </a:r>
            <a:r>
              <a:rPr lang="zh-CN" altLang="en-US" sz="3200" b="1">
                <a:effectLst>
                  <a:outerShdw blurRad="38100" dist="38100" dir="2700000" algn="tl">
                    <a:srgbClr val="000000"/>
                  </a:outerShdw>
                </a:effectLst>
              </a:rPr>
              <a:t>、排列图</a:t>
            </a:r>
            <a:r>
              <a:rPr lang="en-US" altLang="zh-CN" sz="3200" b="1">
                <a:effectLst>
                  <a:outerShdw blurRad="38100" dist="38100" dir="2700000" algn="tl">
                    <a:srgbClr val="000000"/>
                  </a:outerShdw>
                </a:effectLst>
              </a:rPr>
              <a:t>---</a:t>
            </a:r>
            <a:r>
              <a:rPr lang="zh-CN" altLang="en-US" sz="3200" b="1">
                <a:effectLst>
                  <a:outerShdw blurRad="38100" dist="38100" dir="2700000" algn="tl">
                    <a:srgbClr val="000000"/>
                  </a:outerShdw>
                </a:effectLst>
              </a:rPr>
              <a:t>主次因素分析图</a:t>
            </a:r>
          </a:p>
        </p:txBody>
      </p:sp>
    </p:spTree>
  </p:cSld>
  <p:clrMapOvr>
    <a:masterClrMapping/>
  </p:clrMapOvr>
  <p:transition spd="slow">
    <p:strips dir="rd"/>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8F00D9F-3357-3519-0BF8-A3F6E40EE162}"/>
              </a:ext>
            </a:extLst>
          </p:cNvPr>
          <p:cNvSpPr>
            <a:spLocks noGrp="1"/>
          </p:cNvSpPr>
          <p:nvPr>
            <p:ph type="dt" sz="half" idx="10"/>
          </p:nvPr>
        </p:nvSpPr>
        <p:spPr/>
        <p:txBody>
          <a:bodyPr/>
          <a:lstStyle/>
          <a:p>
            <a:r>
              <a:rPr lang="zh-CN" altLang="en-US"/>
              <a:t>讲义制作：李丽，陈志祥审</a:t>
            </a:r>
            <a:endParaRPr lang="en-US" altLang="zh-CN"/>
          </a:p>
        </p:txBody>
      </p:sp>
      <p:sp>
        <p:nvSpPr>
          <p:cNvPr id="223236" name="Text Box 4">
            <a:extLst>
              <a:ext uri="{FF2B5EF4-FFF2-40B4-BE49-F238E27FC236}">
                <a16:creationId xmlns:a16="http://schemas.microsoft.com/office/drawing/2014/main" id="{342E0F7F-6770-A340-4CE6-DCBC8720026E}"/>
              </a:ext>
            </a:extLst>
          </p:cNvPr>
          <p:cNvSpPr txBox="1">
            <a:spLocks noChangeArrowheads="1"/>
          </p:cNvSpPr>
          <p:nvPr/>
        </p:nvSpPr>
        <p:spPr bwMode="auto">
          <a:xfrm>
            <a:off x="395288" y="404813"/>
            <a:ext cx="7705725" cy="579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3200" b="1">
                <a:effectLst>
                  <a:outerShdw blurRad="38100" dist="38100" dir="2700000" algn="tl">
                    <a:srgbClr val="000000"/>
                  </a:outerShdw>
                </a:effectLst>
                <a:latin typeface="Times New Roman" panose="02020603050405020304" pitchFamily="18" charset="0"/>
              </a:rPr>
              <a:t>2</a:t>
            </a:r>
            <a:r>
              <a:rPr kumimoji="1" lang="zh-CN" altLang="en-US" sz="3200" b="1">
                <a:effectLst>
                  <a:outerShdw blurRad="38100" dist="38100" dir="2700000" algn="tl">
                    <a:srgbClr val="000000"/>
                  </a:outerShdw>
                </a:effectLst>
                <a:latin typeface="Times New Roman" panose="02020603050405020304" pitchFamily="18" charset="0"/>
              </a:rPr>
              <a:t>、因果分析图</a:t>
            </a:r>
            <a:r>
              <a:rPr kumimoji="1" lang="en-US" altLang="zh-CN" sz="3200" b="1">
                <a:effectLst>
                  <a:outerShdw blurRad="38100" dist="38100" dir="2700000" algn="tl">
                    <a:srgbClr val="000000"/>
                  </a:outerShdw>
                </a:effectLst>
                <a:latin typeface="Times New Roman" panose="02020603050405020304" pitchFamily="18" charset="0"/>
              </a:rPr>
              <a:t>--</a:t>
            </a:r>
            <a:r>
              <a:rPr kumimoji="1" lang="zh-CN" altLang="en-US" sz="3200" b="1">
                <a:effectLst>
                  <a:outerShdw blurRad="38100" dist="38100" dir="2700000" algn="tl">
                    <a:srgbClr val="000000"/>
                  </a:outerShdw>
                </a:effectLst>
                <a:latin typeface="Times New Roman" panose="02020603050405020304" pitchFamily="18" charset="0"/>
              </a:rPr>
              <a:t>系统分析问题的因果关系</a:t>
            </a:r>
          </a:p>
        </p:txBody>
      </p:sp>
      <p:graphicFrame>
        <p:nvGraphicFramePr>
          <p:cNvPr id="223237" name="Object 5">
            <a:extLst>
              <a:ext uri="{FF2B5EF4-FFF2-40B4-BE49-F238E27FC236}">
                <a16:creationId xmlns:a16="http://schemas.microsoft.com/office/drawing/2014/main" id="{D7AF44A4-A662-219C-3DA5-44688E96C342}"/>
              </a:ext>
            </a:extLst>
          </p:cNvPr>
          <p:cNvGraphicFramePr>
            <a:graphicFrameLocks noChangeAspect="1"/>
          </p:cNvGraphicFramePr>
          <p:nvPr/>
        </p:nvGraphicFramePr>
        <p:xfrm>
          <a:off x="706438" y="1300163"/>
          <a:ext cx="7156450" cy="4289425"/>
        </p:xfrm>
        <a:graphic>
          <a:graphicData uri="http://schemas.openxmlformats.org/presentationml/2006/ole">
            <mc:AlternateContent xmlns:mc="http://schemas.openxmlformats.org/markup-compatibility/2006">
              <mc:Choice xmlns:v="urn:schemas-microsoft-com:vml" Requires="v">
                <p:oleObj name="文档" r:id="rId2" imgW="5486400" imgH="2533320" progId="Word.Document.8">
                  <p:embed/>
                </p:oleObj>
              </mc:Choice>
              <mc:Fallback>
                <p:oleObj name="文档" r:id="rId2" imgW="5486400" imgH="2533320"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8" y="1300163"/>
                        <a:ext cx="7156450" cy="4289425"/>
                      </a:xfrm>
                      <a:prstGeom prst="rect">
                        <a:avLst/>
                      </a:prstGeom>
                      <a:solidFill>
                        <a:srgbClr val="FF99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3238" name="Text Box 6">
            <a:extLst>
              <a:ext uri="{FF2B5EF4-FFF2-40B4-BE49-F238E27FC236}">
                <a16:creationId xmlns:a16="http://schemas.microsoft.com/office/drawing/2014/main" id="{B69F6ED8-9382-1E8A-87C5-58B5FCFF5D04}"/>
              </a:ext>
            </a:extLst>
          </p:cNvPr>
          <p:cNvSpPr txBox="1">
            <a:spLocks noChangeArrowheads="1"/>
          </p:cNvSpPr>
          <p:nvPr/>
        </p:nvSpPr>
        <p:spPr bwMode="auto">
          <a:xfrm>
            <a:off x="477838" y="5702300"/>
            <a:ext cx="81978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zh-CN" altLang="en-US" sz="2000" b="1">
                <a:effectLst>
                  <a:outerShdw blurRad="38100" dist="38100" dir="2700000" algn="tl">
                    <a:srgbClr val="000000"/>
                  </a:outerShdw>
                </a:effectLst>
                <a:latin typeface="Times New Roman" panose="02020603050405020304" pitchFamily="18" charset="0"/>
              </a:rPr>
              <a:t>质量因素：“</a:t>
            </a:r>
            <a:r>
              <a:rPr kumimoji="1" lang="en-US" altLang="zh-CN" sz="2000" b="1">
                <a:effectLst>
                  <a:outerShdw blurRad="38100" dist="38100" dir="2700000" algn="tl">
                    <a:srgbClr val="000000"/>
                  </a:outerShdw>
                </a:effectLst>
                <a:latin typeface="Times New Roman" panose="02020603050405020304" pitchFamily="18" charset="0"/>
              </a:rPr>
              <a:t>4M1E”</a:t>
            </a:r>
            <a:r>
              <a:rPr kumimoji="1" lang="zh-CN" altLang="en-US" sz="2000" b="1">
                <a:effectLst>
                  <a:outerShdw blurRad="38100" dist="38100" dir="2700000" algn="tl">
                    <a:srgbClr val="000000"/>
                  </a:outerShdw>
                </a:effectLst>
                <a:latin typeface="Times New Roman" panose="02020603050405020304" pitchFamily="18" charset="0"/>
              </a:rPr>
              <a:t>：操作者、设备、物料、工艺（方法）、环境</a:t>
            </a:r>
          </a:p>
        </p:txBody>
      </p:sp>
    </p:spTree>
  </p:cSld>
  <p:clrMapOvr>
    <a:masterClrMapping/>
  </p:clrMapOvr>
  <p:transition spd="slow">
    <p:strips dir="rd"/>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8AB0217-19F8-8D52-9ED4-64FE47DAAF37}"/>
              </a:ext>
            </a:extLst>
          </p:cNvPr>
          <p:cNvSpPr>
            <a:spLocks noGrp="1"/>
          </p:cNvSpPr>
          <p:nvPr>
            <p:ph type="dt" sz="half" idx="10"/>
          </p:nvPr>
        </p:nvSpPr>
        <p:spPr/>
        <p:txBody>
          <a:bodyPr/>
          <a:lstStyle/>
          <a:p>
            <a:r>
              <a:rPr lang="zh-CN" altLang="en-US"/>
              <a:t>讲义制作：李丽，陈志祥审</a:t>
            </a:r>
            <a:endParaRPr lang="en-US" altLang="zh-CN"/>
          </a:p>
        </p:txBody>
      </p:sp>
      <p:sp>
        <p:nvSpPr>
          <p:cNvPr id="224260" name="Rectangle 4">
            <a:extLst>
              <a:ext uri="{FF2B5EF4-FFF2-40B4-BE49-F238E27FC236}">
                <a16:creationId xmlns:a16="http://schemas.microsoft.com/office/drawing/2014/main" id="{45416BD4-F982-204D-7D8A-0ADF47980C99}"/>
              </a:ext>
            </a:extLst>
          </p:cNvPr>
          <p:cNvSpPr>
            <a:spLocks noRot="1" noChangeArrowheads="1"/>
          </p:cNvSpPr>
          <p:nvPr/>
        </p:nvSpPr>
        <p:spPr bwMode="auto">
          <a:xfrm>
            <a:off x="279400" y="549275"/>
            <a:ext cx="8540750" cy="1144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nchor="ctr"/>
          <a:lstStyle>
            <a:lvl1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1pPr>
            <a:lvl2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2pPr>
            <a:lvl3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3pPr>
            <a:lvl4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4pPr>
            <a:lvl5pPr algn="ctr">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5pPr>
            <a:lvl6pPr marL="4572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6pPr>
            <a:lvl7pPr marL="9144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7pPr>
            <a:lvl8pPr marL="13716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8pPr>
            <a:lvl9pPr marL="1828800" algn="ctr" fontAlgn="base">
              <a:spcBef>
                <a:spcPct val="0"/>
              </a:spcBef>
              <a:spcAft>
                <a:spcPct val="0"/>
              </a:spcAft>
              <a:defRPr sz="4400">
                <a:solidFill>
                  <a:schemeClr val="tx2"/>
                </a:solidFill>
                <a:effectLst>
                  <a:outerShdw blurRad="38100" dist="38100" dir="2700000" algn="tl">
                    <a:srgbClr val="000000"/>
                  </a:outerShdw>
                </a:effectLst>
                <a:latin typeface="Arial" panose="020B0604020202020204" pitchFamily="34" charset="0"/>
                <a:ea typeface="宋体" panose="02010600030101010101" pitchFamily="2" charset="-122"/>
              </a:defRPr>
            </a:lvl9pPr>
          </a:lstStyle>
          <a:p>
            <a:pPr algn="l"/>
            <a:r>
              <a:rPr lang="en-US" altLang="zh-CN" sz="3200"/>
              <a:t> 3</a:t>
            </a:r>
            <a:r>
              <a:rPr lang="zh-CN" altLang="en-US" sz="3200"/>
              <a:t>、控制图</a:t>
            </a:r>
            <a:r>
              <a:rPr lang="en-US" altLang="zh-CN" sz="3200"/>
              <a:t>---</a:t>
            </a:r>
            <a:r>
              <a:rPr lang="zh-CN" altLang="en-US" sz="3200"/>
              <a:t>分析质量动态特征</a:t>
            </a:r>
          </a:p>
        </p:txBody>
      </p:sp>
      <p:graphicFrame>
        <p:nvGraphicFramePr>
          <p:cNvPr id="224261" name="Object 5">
            <a:extLst>
              <a:ext uri="{FF2B5EF4-FFF2-40B4-BE49-F238E27FC236}">
                <a16:creationId xmlns:a16="http://schemas.microsoft.com/office/drawing/2014/main" id="{FA340BB4-F216-B60B-4F9D-2E8B278A9CFD}"/>
              </a:ext>
            </a:extLst>
          </p:cNvPr>
          <p:cNvGraphicFramePr>
            <a:graphicFrameLocks noChangeAspect="1"/>
          </p:cNvGraphicFramePr>
          <p:nvPr/>
        </p:nvGraphicFramePr>
        <p:xfrm>
          <a:off x="825500" y="1989138"/>
          <a:ext cx="6272213" cy="2133600"/>
        </p:xfrm>
        <a:graphic>
          <a:graphicData uri="http://schemas.openxmlformats.org/presentationml/2006/ole">
            <mc:AlternateContent xmlns:mc="http://schemas.openxmlformats.org/markup-compatibility/2006">
              <mc:Choice xmlns:v="urn:schemas-microsoft-com:vml" Requires="v">
                <p:oleObj name="文档" r:id="rId2" imgW="5486400" imgH="1243440" progId="Word.Document.8">
                  <p:embed/>
                </p:oleObj>
              </mc:Choice>
              <mc:Fallback>
                <p:oleObj name="文档" r:id="rId2" imgW="5486400" imgH="1243440" progId="Word.Document.8">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r="13124"/>
                      <a:stretch>
                        <a:fillRect/>
                      </a:stretch>
                    </p:blipFill>
                    <p:spPr bwMode="auto">
                      <a:xfrm>
                        <a:off x="825500" y="1989138"/>
                        <a:ext cx="6272213" cy="2133600"/>
                      </a:xfrm>
                      <a:prstGeom prst="rect">
                        <a:avLst/>
                      </a:prstGeom>
                      <a:solidFill>
                        <a:srgbClr val="FF9900"/>
                      </a:solidFill>
                      <a:ln>
                        <a:noFill/>
                      </a:ln>
                      <a:effectLst/>
                      <a:extLs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24262" name="Text Box 6">
            <a:extLst>
              <a:ext uri="{FF2B5EF4-FFF2-40B4-BE49-F238E27FC236}">
                <a16:creationId xmlns:a16="http://schemas.microsoft.com/office/drawing/2014/main" id="{8A34DCBF-D8D3-6331-B1A8-61DA8597F854}"/>
              </a:ext>
            </a:extLst>
          </p:cNvPr>
          <p:cNvSpPr txBox="1">
            <a:spLocks noChangeArrowheads="1"/>
          </p:cNvSpPr>
          <p:nvPr/>
        </p:nvSpPr>
        <p:spPr bwMode="auto">
          <a:xfrm>
            <a:off x="541338" y="4221163"/>
            <a:ext cx="777557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kumimoji="1" lang="en-US" altLang="zh-CN" sz="2400">
                <a:latin typeface="Times New Roman" panose="02020603050405020304" pitchFamily="18" charset="0"/>
              </a:rPr>
              <a:t>     </a:t>
            </a:r>
            <a:r>
              <a:rPr kumimoji="1" lang="zh-CN" altLang="en-US" sz="2400" b="1">
                <a:effectLst>
                  <a:outerShdw blurRad="38100" dist="38100" dir="2700000" algn="tl">
                    <a:srgbClr val="000000"/>
                  </a:outerShdw>
                </a:effectLst>
                <a:latin typeface="Times New Roman" panose="02020603050405020304" pitchFamily="18" charset="0"/>
              </a:rPr>
              <a:t>在控制图中，中间一条线为控制量的均值，上下两条为管理的上 限与下限，一般取均值加减</a:t>
            </a:r>
            <a:r>
              <a:rPr kumimoji="1" lang="en-US" altLang="zh-CN" sz="2400" b="1">
                <a:effectLst>
                  <a:outerShdw blurRad="38100" dist="38100" dir="2700000" algn="tl">
                    <a:srgbClr val="000000"/>
                  </a:outerShdw>
                </a:effectLst>
                <a:latin typeface="Times New Roman" panose="02020603050405020304" pitchFamily="18" charset="0"/>
              </a:rPr>
              <a:t>3</a:t>
            </a:r>
            <a:r>
              <a:rPr kumimoji="1" lang="zh-CN" altLang="en-US" sz="2400" b="1">
                <a:effectLst>
                  <a:outerShdw blurRad="38100" dist="38100" dir="2700000" algn="tl">
                    <a:srgbClr val="000000"/>
                  </a:outerShdw>
                </a:effectLst>
                <a:latin typeface="Times New Roman" panose="02020603050405020304" pitchFamily="18" charset="0"/>
              </a:rPr>
              <a:t>倍方差的方法。控制图分均值控制图与极差控制图两种。</a:t>
            </a:r>
            <a:endParaRPr kumimoji="1" lang="zh-CN" altLang="en-US" sz="2400">
              <a:latin typeface="Times New Roman" panose="02020603050405020304" pitchFamily="18" charset="0"/>
            </a:endParaRPr>
          </a:p>
        </p:txBody>
      </p:sp>
    </p:spTree>
  </p:cSld>
  <p:clrMapOvr>
    <a:masterClrMapping/>
  </p:clrMapOvr>
  <p:transition spd="slow">
    <p:strips dir="rd"/>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957445F2-5084-FB91-3FF5-E6F067ED678A}"/>
              </a:ext>
            </a:extLst>
          </p:cNvPr>
          <p:cNvSpPr>
            <a:spLocks noGrp="1"/>
          </p:cNvSpPr>
          <p:nvPr>
            <p:ph type="dt" sz="half" idx="10"/>
          </p:nvPr>
        </p:nvSpPr>
        <p:spPr/>
        <p:txBody>
          <a:bodyPr/>
          <a:lstStyle/>
          <a:p>
            <a:r>
              <a:rPr lang="zh-CN" altLang="en-US"/>
              <a:t>讲义制作：李丽，陈志祥审</a:t>
            </a:r>
            <a:endParaRPr lang="en-US" altLang="zh-CN"/>
          </a:p>
        </p:txBody>
      </p:sp>
      <p:graphicFrame>
        <p:nvGraphicFramePr>
          <p:cNvPr id="226311" name="Object 7">
            <a:extLst>
              <a:ext uri="{FF2B5EF4-FFF2-40B4-BE49-F238E27FC236}">
                <a16:creationId xmlns:a16="http://schemas.microsoft.com/office/drawing/2014/main" id="{5BECBC6A-489F-694E-9B9A-CBD1E67E7D87}"/>
              </a:ext>
            </a:extLst>
          </p:cNvPr>
          <p:cNvGraphicFramePr>
            <a:graphicFrameLocks noChangeAspect="1"/>
          </p:cNvGraphicFramePr>
          <p:nvPr/>
        </p:nvGraphicFramePr>
        <p:xfrm>
          <a:off x="1979613" y="4797425"/>
          <a:ext cx="1663700" cy="755650"/>
        </p:xfrm>
        <a:graphic>
          <a:graphicData uri="http://schemas.openxmlformats.org/presentationml/2006/ole">
            <mc:AlternateContent xmlns:mc="http://schemas.openxmlformats.org/markup-compatibility/2006">
              <mc:Choice xmlns:v="urn:schemas-microsoft-com:vml" Requires="v">
                <p:oleObj name="公式" r:id="rId2" imgW="419040" imgH="266400" progId="Equation.3">
                  <p:embed/>
                </p:oleObj>
              </mc:Choice>
              <mc:Fallback>
                <p:oleObj name="公式" r:id="rId2" imgW="419040" imgH="266400"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4797425"/>
                        <a:ext cx="1663700" cy="755650"/>
                      </a:xfrm>
                      <a:prstGeom prst="rect">
                        <a:avLst/>
                      </a:prstGeom>
                      <a:solidFill>
                        <a:srgbClr val="FF9900"/>
                      </a:solidFill>
                    </p:spPr>
                  </p:pic>
                </p:oleObj>
              </mc:Fallback>
            </mc:AlternateContent>
          </a:graphicData>
        </a:graphic>
      </p:graphicFrame>
      <p:graphicFrame>
        <p:nvGraphicFramePr>
          <p:cNvPr id="226313" name="Object 9">
            <a:extLst>
              <a:ext uri="{FF2B5EF4-FFF2-40B4-BE49-F238E27FC236}">
                <a16:creationId xmlns:a16="http://schemas.microsoft.com/office/drawing/2014/main" id="{E558AEDD-892A-DA6E-1355-2E2B382D1A9C}"/>
              </a:ext>
            </a:extLst>
          </p:cNvPr>
          <p:cNvGraphicFramePr>
            <a:graphicFrameLocks noChangeAspect="1"/>
          </p:cNvGraphicFramePr>
          <p:nvPr/>
        </p:nvGraphicFramePr>
        <p:xfrm>
          <a:off x="4500563" y="4221163"/>
          <a:ext cx="2790825" cy="863600"/>
        </p:xfrm>
        <a:graphic>
          <a:graphicData uri="http://schemas.openxmlformats.org/presentationml/2006/ole">
            <mc:AlternateContent xmlns:mc="http://schemas.openxmlformats.org/markup-compatibility/2006">
              <mc:Choice xmlns:v="urn:schemas-microsoft-com:vml" Requires="v">
                <p:oleObj name="公式" r:id="rId4" imgW="672840" imgH="291960" progId="Equation.3">
                  <p:embed/>
                </p:oleObj>
              </mc:Choice>
              <mc:Fallback>
                <p:oleObj name="公式" r:id="rId4" imgW="672840" imgH="291960" progId="Equation.3">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00563" y="4221163"/>
                        <a:ext cx="2790825" cy="863600"/>
                      </a:xfrm>
                      <a:prstGeom prst="rect">
                        <a:avLst/>
                      </a:prstGeom>
                      <a:solidFill>
                        <a:srgbClr val="FF9900"/>
                      </a:solidFill>
                    </p:spPr>
                  </p:pic>
                </p:oleObj>
              </mc:Fallback>
            </mc:AlternateContent>
          </a:graphicData>
        </a:graphic>
      </p:graphicFrame>
      <p:graphicFrame>
        <p:nvGraphicFramePr>
          <p:cNvPr id="226314" name="Object 10">
            <a:extLst>
              <a:ext uri="{FF2B5EF4-FFF2-40B4-BE49-F238E27FC236}">
                <a16:creationId xmlns:a16="http://schemas.microsoft.com/office/drawing/2014/main" id="{A2732F51-ABCF-0119-E6E7-3794869D2F8B}"/>
              </a:ext>
            </a:extLst>
          </p:cNvPr>
          <p:cNvGraphicFramePr>
            <a:graphicFrameLocks noChangeAspect="1"/>
          </p:cNvGraphicFramePr>
          <p:nvPr/>
        </p:nvGraphicFramePr>
        <p:xfrm>
          <a:off x="4500563" y="5084763"/>
          <a:ext cx="2693987" cy="865187"/>
        </p:xfrm>
        <a:graphic>
          <a:graphicData uri="http://schemas.openxmlformats.org/presentationml/2006/ole">
            <mc:AlternateContent xmlns:mc="http://schemas.openxmlformats.org/markup-compatibility/2006">
              <mc:Choice xmlns:v="urn:schemas-microsoft-com:vml" Requires="v">
                <p:oleObj name="公式" r:id="rId6" imgW="660240" imgH="291960" progId="Equation.3">
                  <p:embed/>
                </p:oleObj>
              </mc:Choice>
              <mc:Fallback>
                <p:oleObj name="公式" r:id="rId6" imgW="660240" imgH="291960" progId="Equation.3">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0563" y="5084763"/>
                        <a:ext cx="2693987" cy="865187"/>
                      </a:xfrm>
                      <a:prstGeom prst="rect">
                        <a:avLst/>
                      </a:prstGeom>
                      <a:solidFill>
                        <a:srgbClr val="FF9900"/>
                      </a:solidFill>
                    </p:spPr>
                  </p:pic>
                </p:oleObj>
              </mc:Fallback>
            </mc:AlternateContent>
          </a:graphicData>
        </a:graphic>
      </p:graphicFrame>
      <p:sp>
        <p:nvSpPr>
          <p:cNvPr id="226315" name="Line 11">
            <a:extLst>
              <a:ext uri="{FF2B5EF4-FFF2-40B4-BE49-F238E27FC236}">
                <a16:creationId xmlns:a16="http://schemas.microsoft.com/office/drawing/2014/main" id="{D0F2D698-75E3-AE65-36D5-9F8A65E50270}"/>
              </a:ext>
            </a:extLst>
          </p:cNvPr>
          <p:cNvSpPr>
            <a:spLocks noChangeShapeType="1"/>
          </p:cNvSpPr>
          <p:nvPr/>
        </p:nvSpPr>
        <p:spPr bwMode="auto">
          <a:xfrm>
            <a:off x="323850" y="1557338"/>
            <a:ext cx="0" cy="453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16" name="Line 12">
            <a:extLst>
              <a:ext uri="{FF2B5EF4-FFF2-40B4-BE49-F238E27FC236}">
                <a16:creationId xmlns:a16="http://schemas.microsoft.com/office/drawing/2014/main" id="{88E9C99D-63B2-C46E-8477-44FD12EE9D7F}"/>
              </a:ext>
            </a:extLst>
          </p:cNvPr>
          <p:cNvSpPr>
            <a:spLocks noChangeShapeType="1"/>
          </p:cNvSpPr>
          <p:nvPr/>
        </p:nvSpPr>
        <p:spPr bwMode="auto">
          <a:xfrm>
            <a:off x="250825" y="1557338"/>
            <a:ext cx="8424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17" name="Line 13">
            <a:extLst>
              <a:ext uri="{FF2B5EF4-FFF2-40B4-BE49-F238E27FC236}">
                <a16:creationId xmlns:a16="http://schemas.microsoft.com/office/drawing/2014/main" id="{5A0E9B01-7023-E19D-9917-7E880FE3D289}"/>
              </a:ext>
            </a:extLst>
          </p:cNvPr>
          <p:cNvSpPr>
            <a:spLocks noChangeShapeType="1"/>
          </p:cNvSpPr>
          <p:nvPr/>
        </p:nvSpPr>
        <p:spPr bwMode="auto">
          <a:xfrm>
            <a:off x="250825" y="6165850"/>
            <a:ext cx="849788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18" name="Line 14">
            <a:extLst>
              <a:ext uri="{FF2B5EF4-FFF2-40B4-BE49-F238E27FC236}">
                <a16:creationId xmlns:a16="http://schemas.microsoft.com/office/drawing/2014/main" id="{AB243983-ECE4-EE8B-A468-964A557B6CF3}"/>
              </a:ext>
            </a:extLst>
          </p:cNvPr>
          <p:cNvSpPr>
            <a:spLocks noChangeShapeType="1"/>
          </p:cNvSpPr>
          <p:nvPr/>
        </p:nvSpPr>
        <p:spPr bwMode="auto">
          <a:xfrm>
            <a:off x="8532813" y="1557338"/>
            <a:ext cx="0" cy="45354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19" name="Line 15">
            <a:extLst>
              <a:ext uri="{FF2B5EF4-FFF2-40B4-BE49-F238E27FC236}">
                <a16:creationId xmlns:a16="http://schemas.microsoft.com/office/drawing/2014/main" id="{36F53D3A-18F4-1D08-0B75-CD5409CC9F07}"/>
              </a:ext>
            </a:extLst>
          </p:cNvPr>
          <p:cNvSpPr>
            <a:spLocks noChangeShapeType="1"/>
          </p:cNvSpPr>
          <p:nvPr/>
        </p:nvSpPr>
        <p:spPr bwMode="auto">
          <a:xfrm>
            <a:off x="3779838" y="1627188"/>
            <a:ext cx="0" cy="45386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20" name="Line 16">
            <a:extLst>
              <a:ext uri="{FF2B5EF4-FFF2-40B4-BE49-F238E27FC236}">
                <a16:creationId xmlns:a16="http://schemas.microsoft.com/office/drawing/2014/main" id="{ACCCA9B4-C18B-7BE5-BC0E-8AFBFE9D27D6}"/>
              </a:ext>
            </a:extLst>
          </p:cNvPr>
          <p:cNvSpPr>
            <a:spLocks noChangeShapeType="1"/>
          </p:cNvSpPr>
          <p:nvPr/>
        </p:nvSpPr>
        <p:spPr bwMode="auto">
          <a:xfrm>
            <a:off x="1476375" y="1557338"/>
            <a:ext cx="0" cy="4678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21" name="Line 17">
            <a:extLst>
              <a:ext uri="{FF2B5EF4-FFF2-40B4-BE49-F238E27FC236}">
                <a16:creationId xmlns:a16="http://schemas.microsoft.com/office/drawing/2014/main" id="{2E0BDE22-207C-21CC-8D77-FF4D41968738}"/>
              </a:ext>
            </a:extLst>
          </p:cNvPr>
          <p:cNvSpPr>
            <a:spLocks noChangeShapeType="1"/>
          </p:cNvSpPr>
          <p:nvPr/>
        </p:nvSpPr>
        <p:spPr bwMode="auto">
          <a:xfrm>
            <a:off x="323850" y="2420938"/>
            <a:ext cx="8278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22" name="Text Box 18">
            <a:extLst>
              <a:ext uri="{FF2B5EF4-FFF2-40B4-BE49-F238E27FC236}">
                <a16:creationId xmlns:a16="http://schemas.microsoft.com/office/drawing/2014/main" id="{1279DAFD-760D-5C57-FFB8-4CC9869BCD6E}"/>
              </a:ext>
            </a:extLst>
          </p:cNvPr>
          <p:cNvSpPr txBox="1">
            <a:spLocks noChangeArrowheads="1"/>
          </p:cNvSpPr>
          <p:nvPr/>
        </p:nvSpPr>
        <p:spPr bwMode="auto">
          <a:xfrm>
            <a:off x="1835150" y="1844675"/>
            <a:ext cx="1657350"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中心</a:t>
            </a:r>
          </a:p>
        </p:txBody>
      </p:sp>
      <p:sp>
        <p:nvSpPr>
          <p:cNvPr id="226323" name="Text Box 19">
            <a:extLst>
              <a:ext uri="{FF2B5EF4-FFF2-40B4-BE49-F238E27FC236}">
                <a16:creationId xmlns:a16="http://schemas.microsoft.com/office/drawing/2014/main" id="{96939FDD-E0DD-463A-3338-3C16FC704EC6}"/>
              </a:ext>
            </a:extLst>
          </p:cNvPr>
          <p:cNvSpPr txBox="1">
            <a:spLocks noChangeArrowheads="1"/>
          </p:cNvSpPr>
          <p:nvPr/>
        </p:nvSpPr>
        <p:spPr bwMode="auto">
          <a:xfrm>
            <a:off x="4356100" y="1844675"/>
            <a:ext cx="4176713"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上下限</a:t>
            </a:r>
          </a:p>
        </p:txBody>
      </p:sp>
      <p:sp>
        <p:nvSpPr>
          <p:cNvPr id="226324" name="Text Box 20">
            <a:extLst>
              <a:ext uri="{FF2B5EF4-FFF2-40B4-BE49-F238E27FC236}">
                <a16:creationId xmlns:a16="http://schemas.microsoft.com/office/drawing/2014/main" id="{437C39BB-220D-5DE7-1C4E-ECAF403E3445}"/>
              </a:ext>
            </a:extLst>
          </p:cNvPr>
          <p:cNvSpPr txBox="1">
            <a:spLocks noChangeArrowheads="1"/>
          </p:cNvSpPr>
          <p:nvPr/>
        </p:nvSpPr>
        <p:spPr bwMode="auto">
          <a:xfrm>
            <a:off x="323850" y="1773238"/>
            <a:ext cx="1152525"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t>图别</a:t>
            </a:r>
          </a:p>
        </p:txBody>
      </p:sp>
      <p:graphicFrame>
        <p:nvGraphicFramePr>
          <p:cNvPr id="226326" name="Object 22">
            <a:extLst>
              <a:ext uri="{FF2B5EF4-FFF2-40B4-BE49-F238E27FC236}">
                <a16:creationId xmlns:a16="http://schemas.microsoft.com/office/drawing/2014/main" id="{55616F06-2BE8-AF01-8D73-3F7CE6BE6567}"/>
              </a:ext>
            </a:extLst>
          </p:cNvPr>
          <p:cNvGraphicFramePr>
            <a:graphicFrameLocks noChangeAspect="1"/>
          </p:cNvGraphicFramePr>
          <p:nvPr/>
        </p:nvGraphicFramePr>
        <p:xfrm>
          <a:off x="395288" y="2997200"/>
          <a:ext cx="1079500" cy="736600"/>
        </p:xfrm>
        <a:graphic>
          <a:graphicData uri="http://schemas.openxmlformats.org/presentationml/2006/ole">
            <mc:AlternateContent xmlns:mc="http://schemas.openxmlformats.org/markup-compatibility/2006">
              <mc:Choice xmlns:v="urn:schemas-microsoft-com:vml" Requires="v">
                <p:oleObj name="公式" r:id="rId8" imgW="393359" imgH="266469" progId="Equation.3">
                  <p:embed/>
                </p:oleObj>
              </mc:Choice>
              <mc:Fallback>
                <p:oleObj name="公式" r:id="rId8" imgW="393359" imgH="266469" progId="Equation.3">
                  <p:embed/>
                  <p:pic>
                    <p:nvPicPr>
                      <p:cNvPr id="0" name="Object 2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5288" y="2997200"/>
                        <a:ext cx="1079500" cy="736600"/>
                      </a:xfrm>
                      <a:prstGeom prst="rect">
                        <a:avLst/>
                      </a:prstGeom>
                      <a:solidFill>
                        <a:srgbClr val="FF9900"/>
                      </a:solidFill>
                    </p:spPr>
                  </p:pic>
                </p:oleObj>
              </mc:Fallback>
            </mc:AlternateContent>
          </a:graphicData>
        </a:graphic>
      </p:graphicFrame>
      <p:sp>
        <p:nvSpPr>
          <p:cNvPr id="226327" name="Line 23">
            <a:extLst>
              <a:ext uri="{FF2B5EF4-FFF2-40B4-BE49-F238E27FC236}">
                <a16:creationId xmlns:a16="http://schemas.microsoft.com/office/drawing/2014/main" id="{426CEB7B-9432-66FD-EBBE-95C3D4AC99A0}"/>
              </a:ext>
            </a:extLst>
          </p:cNvPr>
          <p:cNvSpPr>
            <a:spLocks noChangeShapeType="1"/>
          </p:cNvSpPr>
          <p:nvPr/>
        </p:nvSpPr>
        <p:spPr bwMode="auto">
          <a:xfrm>
            <a:off x="1546225" y="4221163"/>
            <a:ext cx="70564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6328" name="Text Box 24">
            <a:extLst>
              <a:ext uri="{FF2B5EF4-FFF2-40B4-BE49-F238E27FC236}">
                <a16:creationId xmlns:a16="http://schemas.microsoft.com/office/drawing/2014/main" id="{2DDC2733-C5AE-0928-4B5C-F3E77578562E}"/>
              </a:ext>
            </a:extLst>
          </p:cNvPr>
          <p:cNvSpPr txBox="1">
            <a:spLocks noChangeArrowheads="1"/>
          </p:cNvSpPr>
          <p:nvPr/>
        </p:nvSpPr>
        <p:spPr bwMode="auto">
          <a:xfrm>
            <a:off x="2339975" y="1125538"/>
            <a:ext cx="42481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控制图的界限计算公式</a:t>
            </a:r>
          </a:p>
        </p:txBody>
      </p:sp>
      <p:sp>
        <p:nvSpPr>
          <p:cNvPr id="226330" name="Rectangle 26">
            <a:extLst>
              <a:ext uri="{FF2B5EF4-FFF2-40B4-BE49-F238E27FC236}">
                <a16:creationId xmlns:a16="http://schemas.microsoft.com/office/drawing/2014/main" id="{47ECBFC2-1A99-4093-71D4-CABA2D4FEA56}"/>
              </a:ext>
            </a:extLst>
          </p:cNvPr>
          <p:cNvSpPr>
            <a:spLocks noChangeArrowheads="1"/>
          </p:cNvSpPr>
          <p:nvPr/>
        </p:nvSpPr>
        <p:spPr bwMode="auto">
          <a:xfrm>
            <a:off x="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6329" name="Object 25">
            <a:extLst>
              <a:ext uri="{FF2B5EF4-FFF2-40B4-BE49-F238E27FC236}">
                <a16:creationId xmlns:a16="http://schemas.microsoft.com/office/drawing/2014/main" id="{DFAB795B-0A34-B266-D948-7E88477C552C}"/>
              </a:ext>
            </a:extLst>
          </p:cNvPr>
          <p:cNvGraphicFramePr>
            <a:graphicFrameLocks noChangeAspect="1"/>
          </p:cNvGraphicFramePr>
          <p:nvPr/>
        </p:nvGraphicFramePr>
        <p:xfrm>
          <a:off x="4500563" y="2565400"/>
          <a:ext cx="2808287" cy="873125"/>
        </p:xfrm>
        <a:graphic>
          <a:graphicData uri="http://schemas.openxmlformats.org/presentationml/2006/ole">
            <mc:AlternateContent xmlns:mc="http://schemas.openxmlformats.org/markup-compatibility/2006">
              <mc:Choice xmlns:v="urn:schemas-microsoft-com:vml" Requires="v">
                <p:oleObj name="公式" r:id="rId10" imgW="977476" imgH="304668" progId="Equation.3">
                  <p:embed/>
                </p:oleObj>
              </mc:Choice>
              <mc:Fallback>
                <p:oleObj name="公式" r:id="rId10" imgW="977476" imgH="304668" progId="Equation.3">
                  <p:embed/>
                  <p:pic>
                    <p:nvPicPr>
                      <p:cNvPr id="0" name="Object 2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500563" y="2565400"/>
                        <a:ext cx="2808287" cy="873125"/>
                      </a:xfrm>
                      <a:prstGeom prst="rect">
                        <a:avLst/>
                      </a:prstGeom>
                      <a:solidFill>
                        <a:srgbClr val="FF9900"/>
                      </a:solidFill>
                    </p:spPr>
                  </p:pic>
                </p:oleObj>
              </mc:Fallback>
            </mc:AlternateContent>
          </a:graphicData>
        </a:graphic>
      </p:graphicFrame>
      <p:sp>
        <p:nvSpPr>
          <p:cNvPr id="226332" name="Rectangle 28">
            <a:extLst>
              <a:ext uri="{FF2B5EF4-FFF2-40B4-BE49-F238E27FC236}">
                <a16:creationId xmlns:a16="http://schemas.microsoft.com/office/drawing/2014/main" id="{FBA399AD-A3E8-FE8E-E0C8-978BFD86FF4F}"/>
              </a:ext>
            </a:extLst>
          </p:cNvPr>
          <p:cNvSpPr>
            <a:spLocks noChangeArrowheads="1"/>
          </p:cNvSpPr>
          <p:nvPr/>
        </p:nvSpPr>
        <p:spPr bwMode="auto">
          <a:xfrm>
            <a:off x="0" y="32766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6331" name="Object 27">
            <a:extLst>
              <a:ext uri="{FF2B5EF4-FFF2-40B4-BE49-F238E27FC236}">
                <a16:creationId xmlns:a16="http://schemas.microsoft.com/office/drawing/2014/main" id="{F2E84000-6278-E1A1-F707-078DF75557F8}"/>
              </a:ext>
            </a:extLst>
          </p:cNvPr>
          <p:cNvGraphicFramePr>
            <a:graphicFrameLocks noChangeAspect="1"/>
          </p:cNvGraphicFramePr>
          <p:nvPr/>
        </p:nvGraphicFramePr>
        <p:xfrm>
          <a:off x="4500563" y="3429000"/>
          <a:ext cx="2808287" cy="812800"/>
        </p:xfrm>
        <a:graphic>
          <a:graphicData uri="http://schemas.openxmlformats.org/presentationml/2006/ole">
            <mc:AlternateContent xmlns:mc="http://schemas.openxmlformats.org/markup-compatibility/2006">
              <mc:Choice xmlns:v="urn:schemas-microsoft-com:vml" Requires="v">
                <p:oleObj name="公式" r:id="rId12" imgW="977476" imgH="304668" progId="Equation.3">
                  <p:embed/>
                </p:oleObj>
              </mc:Choice>
              <mc:Fallback>
                <p:oleObj name="公式" r:id="rId12" imgW="977476" imgH="304668"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00563" y="3429000"/>
                        <a:ext cx="2808287" cy="812800"/>
                      </a:xfrm>
                      <a:prstGeom prst="rect">
                        <a:avLst/>
                      </a:prstGeom>
                      <a:solidFill>
                        <a:srgbClr val="FF9900"/>
                      </a:solidFill>
                    </p:spPr>
                  </p:pic>
                </p:oleObj>
              </mc:Fallback>
            </mc:AlternateContent>
          </a:graphicData>
        </a:graphic>
      </p:graphicFrame>
      <p:sp>
        <p:nvSpPr>
          <p:cNvPr id="226334" name="Rectangle 30">
            <a:extLst>
              <a:ext uri="{FF2B5EF4-FFF2-40B4-BE49-F238E27FC236}">
                <a16:creationId xmlns:a16="http://schemas.microsoft.com/office/drawing/2014/main" id="{5C62A233-9849-7649-4AD3-C3478FE5002E}"/>
              </a:ext>
            </a:extLst>
          </p:cNvPr>
          <p:cNvSpPr>
            <a:spLocks noChangeArrowheads="1"/>
          </p:cNvSpPr>
          <p:nvPr/>
        </p:nvSpPr>
        <p:spPr bwMode="auto">
          <a:xfrm>
            <a:off x="0" y="32908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6333" name="Object 29">
            <a:extLst>
              <a:ext uri="{FF2B5EF4-FFF2-40B4-BE49-F238E27FC236}">
                <a16:creationId xmlns:a16="http://schemas.microsoft.com/office/drawing/2014/main" id="{B36EC37A-DA60-222B-D0E2-EB73C1369C17}"/>
              </a:ext>
            </a:extLst>
          </p:cNvPr>
          <p:cNvGraphicFramePr>
            <a:graphicFrameLocks noChangeAspect="1"/>
          </p:cNvGraphicFramePr>
          <p:nvPr/>
        </p:nvGraphicFramePr>
        <p:xfrm>
          <a:off x="2051050" y="2997200"/>
          <a:ext cx="1152525" cy="682625"/>
        </p:xfrm>
        <a:graphic>
          <a:graphicData uri="http://schemas.openxmlformats.org/presentationml/2006/ole">
            <mc:AlternateContent xmlns:mc="http://schemas.openxmlformats.org/markup-compatibility/2006">
              <mc:Choice xmlns:v="urn:schemas-microsoft-com:vml" Requires="v">
                <p:oleObj name="公式" r:id="rId14" imgW="469800" imgH="279360" progId="Equation.3">
                  <p:embed/>
                </p:oleObj>
              </mc:Choice>
              <mc:Fallback>
                <p:oleObj name="公式" r:id="rId14" imgW="469800" imgH="279360" progId="Equation.3">
                  <p:embed/>
                  <p:pic>
                    <p:nvPicPr>
                      <p:cNvPr id="0"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051050" y="2997200"/>
                        <a:ext cx="1152525" cy="682625"/>
                      </a:xfrm>
                      <a:prstGeom prst="rect">
                        <a:avLst/>
                      </a:prstGeom>
                      <a:solidFill>
                        <a:srgbClr val="FF9900"/>
                      </a:solidFill>
                    </p:spPr>
                  </p:pic>
                </p:oleObj>
              </mc:Fallback>
            </mc:AlternateContent>
          </a:graphicData>
        </a:graphic>
      </p:graphicFrame>
    </p:spTree>
  </p:cSld>
  <p:clrMapOvr>
    <a:masterClrMapping/>
  </p:clrMapOvr>
  <p:transition spd="slow">
    <p:strips dir="r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4A63A96-8E6B-E7F5-A106-52FD1A7C79E3}"/>
              </a:ext>
            </a:extLst>
          </p:cNvPr>
          <p:cNvSpPr>
            <a:spLocks noGrp="1"/>
          </p:cNvSpPr>
          <p:nvPr>
            <p:ph type="dt" sz="half" idx="10"/>
          </p:nvPr>
        </p:nvSpPr>
        <p:spPr/>
        <p:txBody>
          <a:bodyPr/>
          <a:lstStyle/>
          <a:p>
            <a:r>
              <a:rPr lang="zh-CN" altLang="en-US"/>
              <a:t>讲义制作：李丽，陈志祥审</a:t>
            </a:r>
            <a:endParaRPr lang="en-US" altLang="zh-CN"/>
          </a:p>
        </p:txBody>
      </p:sp>
      <p:sp>
        <p:nvSpPr>
          <p:cNvPr id="227332" name="Rectangle 4">
            <a:extLst>
              <a:ext uri="{FF2B5EF4-FFF2-40B4-BE49-F238E27FC236}">
                <a16:creationId xmlns:a16="http://schemas.microsoft.com/office/drawing/2014/main" id="{4ADE6CD7-D9FC-A172-715C-71CA6EA7DD2C}"/>
              </a:ext>
            </a:extLst>
          </p:cNvPr>
          <p:cNvSpPr>
            <a:spLocks noChangeArrowheads="1"/>
          </p:cNvSpPr>
          <p:nvPr/>
        </p:nvSpPr>
        <p:spPr bwMode="auto">
          <a:xfrm>
            <a:off x="2066925" y="658813"/>
            <a:ext cx="3740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lang="zh-CN" altLang="en-US" sz="2400" b="1">
                <a:latin typeface="Times New Roman" panose="02020603050405020304" pitchFamily="18" charset="0"/>
                <a:ea typeface="黑体" panose="02010609060101010101" pitchFamily="49" charset="-122"/>
                <a:cs typeface="Times New Roman" panose="02020603050405020304" pitchFamily="18" charset="0"/>
              </a:rPr>
              <a:t>平均值</a:t>
            </a:r>
            <a:r>
              <a:rPr lang="en-US" altLang="zh-CN" sz="2400" b="1">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a:latin typeface="Times New Roman" panose="02020603050405020304" pitchFamily="18" charset="0"/>
                <a:ea typeface="黑体" panose="02010609060101010101" pitchFamily="49" charset="-122"/>
                <a:cs typeface="Times New Roman" panose="02020603050405020304" pitchFamily="18" charset="0"/>
              </a:rPr>
              <a:t>极差控制图系数表</a:t>
            </a:r>
            <a:endParaRPr lang="zh-CN" altLang="en-US" sz="2400">
              <a:ea typeface="黑体" panose="02010609060101010101" pitchFamily="49" charset="-122"/>
              <a:cs typeface="Times New Roman" panose="02020603050405020304" pitchFamily="18" charset="0"/>
            </a:endParaRPr>
          </a:p>
        </p:txBody>
      </p:sp>
      <p:graphicFrame>
        <p:nvGraphicFramePr>
          <p:cNvPr id="227360" name="Group 32">
            <a:extLst>
              <a:ext uri="{FF2B5EF4-FFF2-40B4-BE49-F238E27FC236}">
                <a16:creationId xmlns:a16="http://schemas.microsoft.com/office/drawing/2014/main" id="{22C22E6F-88BD-E506-A370-1E1DA675EAE2}"/>
              </a:ext>
            </a:extLst>
          </p:cNvPr>
          <p:cNvGraphicFramePr>
            <a:graphicFrameLocks noGrp="1"/>
          </p:cNvGraphicFramePr>
          <p:nvPr/>
        </p:nvGraphicFramePr>
        <p:xfrm>
          <a:off x="827088" y="1125538"/>
          <a:ext cx="7777162" cy="4600575"/>
        </p:xfrm>
        <a:graphic>
          <a:graphicData uri="http://schemas.openxmlformats.org/drawingml/2006/table">
            <a:tbl>
              <a:tblPr/>
              <a:tblGrid>
                <a:gridCol w="1498600">
                  <a:extLst>
                    <a:ext uri="{9D8B030D-6E8A-4147-A177-3AD203B41FA5}">
                      <a16:colId xmlns:a16="http://schemas.microsoft.com/office/drawing/2014/main" val="3653360051"/>
                    </a:ext>
                  </a:extLst>
                </a:gridCol>
                <a:gridCol w="1598612">
                  <a:extLst>
                    <a:ext uri="{9D8B030D-6E8A-4147-A177-3AD203B41FA5}">
                      <a16:colId xmlns:a16="http://schemas.microsoft.com/office/drawing/2014/main" val="2605269021"/>
                    </a:ext>
                  </a:extLst>
                </a:gridCol>
                <a:gridCol w="1539875">
                  <a:extLst>
                    <a:ext uri="{9D8B030D-6E8A-4147-A177-3AD203B41FA5}">
                      <a16:colId xmlns:a16="http://schemas.microsoft.com/office/drawing/2014/main" val="1014942520"/>
                    </a:ext>
                  </a:extLst>
                </a:gridCol>
                <a:gridCol w="1570038">
                  <a:extLst>
                    <a:ext uri="{9D8B030D-6E8A-4147-A177-3AD203B41FA5}">
                      <a16:colId xmlns:a16="http://schemas.microsoft.com/office/drawing/2014/main" val="727782225"/>
                    </a:ext>
                  </a:extLst>
                </a:gridCol>
                <a:gridCol w="1570037">
                  <a:extLst>
                    <a:ext uri="{9D8B030D-6E8A-4147-A177-3AD203B41FA5}">
                      <a16:colId xmlns:a16="http://schemas.microsoft.com/office/drawing/2014/main" val="827380753"/>
                    </a:ext>
                  </a:extLst>
                </a:gridCol>
              </a:tblGrid>
              <a:tr h="1223963">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a:t>
                      </a:r>
                      <a:r>
                        <a:rPr kumimoji="0" lang="zh-CN" altLang="en-US"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系数</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a:t>
                      </a:r>
                      <a:r>
                        <a:rPr kumimoji="0"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2400" b="0"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9900"/>
                    </a:solidFill>
                  </a:tcPr>
                </a:tc>
                <a:extLst>
                  <a:ext uri="{0D108BD9-81ED-4DB2-BD59-A6C34878D82A}">
                    <a16:rowId xmlns:a16="http://schemas.microsoft.com/office/drawing/2014/main" val="1683966295"/>
                  </a:ext>
                </a:extLst>
              </a:tr>
              <a:tr h="3246438">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1.880</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1.023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0.729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0.577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0.483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0.419</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0.377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0.308</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0.076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0.136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0.136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0.223</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3.267</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2.575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2.282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2.115</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1.924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1.864</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1.816</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24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1.777</a:t>
                      </a:r>
                      <a:endParaRPr kumimoji="0" lang="en-US"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indent="-1588">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24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1462211"/>
                  </a:ext>
                </a:extLst>
              </a:tr>
            </a:tbl>
          </a:graphicData>
        </a:graphic>
      </p:graphicFrame>
      <p:sp>
        <p:nvSpPr>
          <p:cNvPr id="227353" name="Rectangle 25">
            <a:extLst>
              <a:ext uri="{FF2B5EF4-FFF2-40B4-BE49-F238E27FC236}">
                <a16:creationId xmlns:a16="http://schemas.microsoft.com/office/drawing/2014/main" id="{575136CB-CD8C-7255-DF16-3AB68B957306}"/>
              </a:ext>
            </a:extLst>
          </p:cNvPr>
          <p:cNvSpPr>
            <a:spLocks noChangeArrowheads="1"/>
          </p:cNvSpPr>
          <p:nvPr/>
        </p:nvSpPr>
        <p:spPr bwMode="auto">
          <a:xfrm>
            <a:off x="755650" y="5805488"/>
            <a:ext cx="3486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a:latin typeface="Times New Roman" panose="02020603050405020304" pitchFamily="18" charset="0"/>
                <a:cs typeface="Times New Roman" panose="02020603050405020304" pitchFamily="18" charset="0"/>
              </a:rPr>
              <a:t>注：</a:t>
            </a:r>
            <a:r>
              <a:rPr lang="en-US" altLang="zh-CN" sz="2400">
                <a:latin typeface="Times New Roman" panose="02020603050405020304" pitchFamily="18" charset="0"/>
                <a:cs typeface="Times New Roman" panose="02020603050405020304" pitchFamily="18" charset="0"/>
              </a:rPr>
              <a:t>d</a:t>
            </a:r>
            <a:r>
              <a:rPr lang="en-US" altLang="zh-CN" sz="2400" baseline="-30000">
                <a:latin typeface="Times New Roman" panose="02020603050405020304" pitchFamily="18" charset="0"/>
                <a:cs typeface="Times New Roman" panose="02020603050405020304" pitchFamily="18" charset="0"/>
              </a:rPr>
              <a:t>n</a:t>
            </a:r>
            <a:r>
              <a:rPr lang="zh-CN" altLang="en-US" sz="2400">
                <a:latin typeface="Times New Roman" panose="02020603050405020304" pitchFamily="18" charset="0"/>
                <a:cs typeface="Times New Roman" panose="02020603050405020304" pitchFamily="18" charset="0"/>
              </a:rPr>
              <a:t>为极差修正系数。</a:t>
            </a:r>
            <a:endParaRPr lang="zh-CN" altLang="en-US" sz="2400"/>
          </a:p>
        </p:txBody>
      </p:sp>
    </p:spTree>
  </p:cSld>
  <p:clrMapOvr>
    <a:masterClrMapping/>
  </p:clrMapOvr>
  <p:transition spd="slow">
    <p:strips dir="r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930144B-26FB-1A71-BBD7-B4F1AD2C76F2}"/>
              </a:ext>
            </a:extLst>
          </p:cNvPr>
          <p:cNvSpPr>
            <a:spLocks noGrp="1"/>
          </p:cNvSpPr>
          <p:nvPr>
            <p:ph type="dt" sz="half" idx="10"/>
          </p:nvPr>
        </p:nvSpPr>
        <p:spPr/>
        <p:txBody>
          <a:bodyPr/>
          <a:lstStyle/>
          <a:p>
            <a:r>
              <a:rPr lang="zh-CN" altLang="en-US"/>
              <a:t>讲义制作：李丽，陈志祥审</a:t>
            </a:r>
            <a:endParaRPr lang="en-US" altLang="zh-CN"/>
          </a:p>
        </p:txBody>
      </p:sp>
      <p:sp>
        <p:nvSpPr>
          <p:cNvPr id="228356" name="Rectangle 4">
            <a:extLst>
              <a:ext uri="{FF2B5EF4-FFF2-40B4-BE49-F238E27FC236}">
                <a16:creationId xmlns:a16="http://schemas.microsoft.com/office/drawing/2014/main" id="{955FCC6E-2097-E866-138F-AA2193C3FDC4}"/>
              </a:ext>
            </a:extLst>
          </p:cNvPr>
          <p:cNvSpPr>
            <a:spLocks noChangeArrowheads="1"/>
          </p:cNvSpPr>
          <p:nvPr/>
        </p:nvSpPr>
        <p:spPr bwMode="auto">
          <a:xfrm flipV="1">
            <a:off x="1403350" y="2994025"/>
            <a:ext cx="7740650" cy="6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8357" name="Line 5">
            <a:extLst>
              <a:ext uri="{FF2B5EF4-FFF2-40B4-BE49-F238E27FC236}">
                <a16:creationId xmlns:a16="http://schemas.microsoft.com/office/drawing/2014/main" id="{B518B01A-14B5-9383-0CE5-B8908DEDC912}"/>
              </a:ext>
            </a:extLst>
          </p:cNvPr>
          <p:cNvSpPr>
            <a:spLocks noChangeShapeType="1"/>
          </p:cNvSpPr>
          <p:nvPr/>
        </p:nvSpPr>
        <p:spPr bwMode="auto">
          <a:xfrm>
            <a:off x="323850" y="1339850"/>
            <a:ext cx="0" cy="5113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58" name="Line 6">
            <a:extLst>
              <a:ext uri="{FF2B5EF4-FFF2-40B4-BE49-F238E27FC236}">
                <a16:creationId xmlns:a16="http://schemas.microsoft.com/office/drawing/2014/main" id="{4714503A-7DF5-E8E6-81A4-79D676E0A2E5}"/>
              </a:ext>
            </a:extLst>
          </p:cNvPr>
          <p:cNvSpPr>
            <a:spLocks noChangeShapeType="1"/>
          </p:cNvSpPr>
          <p:nvPr/>
        </p:nvSpPr>
        <p:spPr bwMode="auto">
          <a:xfrm>
            <a:off x="250825" y="1339850"/>
            <a:ext cx="8424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59" name="Line 7">
            <a:extLst>
              <a:ext uri="{FF2B5EF4-FFF2-40B4-BE49-F238E27FC236}">
                <a16:creationId xmlns:a16="http://schemas.microsoft.com/office/drawing/2014/main" id="{97A8D02A-E8F5-E866-C882-D0CE216DB92D}"/>
              </a:ext>
            </a:extLst>
          </p:cNvPr>
          <p:cNvSpPr>
            <a:spLocks noChangeShapeType="1"/>
          </p:cNvSpPr>
          <p:nvPr/>
        </p:nvSpPr>
        <p:spPr bwMode="auto">
          <a:xfrm>
            <a:off x="395288" y="6524625"/>
            <a:ext cx="849788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0" name="Line 8">
            <a:extLst>
              <a:ext uri="{FF2B5EF4-FFF2-40B4-BE49-F238E27FC236}">
                <a16:creationId xmlns:a16="http://schemas.microsoft.com/office/drawing/2014/main" id="{2431B0B3-406F-321F-76AC-91CCA5F548C2}"/>
              </a:ext>
            </a:extLst>
          </p:cNvPr>
          <p:cNvSpPr>
            <a:spLocks noChangeShapeType="1"/>
          </p:cNvSpPr>
          <p:nvPr/>
        </p:nvSpPr>
        <p:spPr bwMode="auto">
          <a:xfrm>
            <a:off x="8532813" y="1339850"/>
            <a:ext cx="0" cy="5184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1" name="Line 9">
            <a:extLst>
              <a:ext uri="{FF2B5EF4-FFF2-40B4-BE49-F238E27FC236}">
                <a16:creationId xmlns:a16="http://schemas.microsoft.com/office/drawing/2014/main" id="{A421909B-B4CF-6A9B-6140-6A71F089E957}"/>
              </a:ext>
            </a:extLst>
          </p:cNvPr>
          <p:cNvSpPr>
            <a:spLocks noChangeShapeType="1"/>
          </p:cNvSpPr>
          <p:nvPr/>
        </p:nvSpPr>
        <p:spPr bwMode="auto">
          <a:xfrm>
            <a:off x="3779838" y="1411288"/>
            <a:ext cx="0" cy="5113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2" name="Line 10">
            <a:extLst>
              <a:ext uri="{FF2B5EF4-FFF2-40B4-BE49-F238E27FC236}">
                <a16:creationId xmlns:a16="http://schemas.microsoft.com/office/drawing/2014/main" id="{9C71F6B5-F7D3-77C7-8A10-BB88A050B08B}"/>
              </a:ext>
            </a:extLst>
          </p:cNvPr>
          <p:cNvSpPr>
            <a:spLocks noChangeShapeType="1"/>
          </p:cNvSpPr>
          <p:nvPr/>
        </p:nvSpPr>
        <p:spPr bwMode="auto">
          <a:xfrm>
            <a:off x="1476375" y="1339850"/>
            <a:ext cx="0" cy="5113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3" name="Line 11">
            <a:extLst>
              <a:ext uri="{FF2B5EF4-FFF2-40B4-BE49-F238E27FC236}">
                <a16:creationId xmlns:a16="http://schemas.microsoft.com/office/drawing/2014/main" id="{5877AB8E-7FBA-7431-5CC8-C220444B84D3}"/>
              </a:ext>
            </a:extLst>
          </p:cNvPr>
          <p:cNvSpPr>
            <a:spLocks noChangeShapeType="1"/>
          </p:cNvSpPr>
          <p:nvPr/>
        </p:nvSpPr>
        <p:spPr bwMode="auto">
          <a:xfrm>
            <a:off x="323850" y="2203450"/>
            <a:ext cx="8278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4" name="Text Box 12">
            <a:extLst>
              <a:ext uri="{FF2B5EF4-FFF2-40B4-BE49-F238E27FC236}">
                <a16:creationId xmlns:a16="http://schemas.microsoft.com/office/drawing/2014/main" id="{A95F6F18-09DE-AEA4-BC15-B971C58044FB}"/>
              </a:ext>
            </a:extLst>
          </p:cNvPr>
          <p:cNvSpPr txBox="1">
            <a:spLocks noChangeArrowheads="1"/>
          </p:cNvSpPr>
          <p:nvPr/>
        </p:nvSpPr>
        <p:spPr bwMode="auto">
          <a:xfrm>
            <a:off x="1835150" y="1627188"/>
            <a:ext cx="1657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中心</a:t>
            </a:r>
          </a:p>
        </p:txBody>
      </p:sp>
      <p:sp>
        <p:nvSpPr>
          <p:cNvPr id="228365" name="Text Box 13">
            <a:extLst>
              <a:ext uri="{FF2B5EF4-FFF2-40B4-BE49-F238E27FC236}">
                <a16:creationId xmlns:a16="http://schemas.microsoft.com/office/drawing/2014/main" id="{D99D5EB4-D9C4-466D-1D06-FD99D57EF07B}"/>
              </a:ext>
            </a:extLst>
          </p:cNvPr>
          <p:cNvSpPr txBox="1">
            <a:spLocks noChangeArrowheads="1"/>
          </p:cNvSpPr>
          <p:nvPr/>
        </p:nvSpPr>
        <p:spPr bwMode="auto">
          <a:xfrm>
            <a:off x="4356100" y="1627188"/>
            <a:ext cx="417671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上下限</a:t>
            </a:r>
          </a:p>
        </p:txBody>
      </p:sp>
      <p:sp>
        <p:nvSpPr>
          <p:cNvPr id="228366" name="Text Box 14">
            <a:extLst>
              <a:ext uri="{FF2B5EF4-FFF2-40B4-BE49-F238E27FC236}">
                <a16:creationId xmlns:a16="http://schemas.microsoft.com/office/drawing/2014/main" id="{A2088EB5-2168-34A6-07FF-49352A6A4301}"/>
              </a:ext>
            </a:extLst>
          </p:cNvPr>
          <p:cNvSpPr txBox="1">
            <a:spLocks noChangeArrowheads="1"/>
          </p:cNvSpPr>
          <p:nvPr/>
        </p:nvSpPr>
        <p:spPr bwMode="auto">
          <a:xfrm>
            <a:off x="323850" y="1555750"/>
            <a:ext cx="1152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t>图别</a:t>
            </a:r>
          </a:p>
        </p:txBody>
      </p:sp>
      <p:sp>
        <p:nvSpPr>
          <p:cNvPr id="228367" name="Rectangle 15">
            <a:extLst>
              <a:ext uri="{FF2B5EF4-FFF2-40B4-BE49-F238E27FC236}">
                <a16:creationId xmlns:a16="http://schemas.microsoft.com/office/drawing/2014/main" id="{5315D147-27F7-05E8-5517-695E1D024EBF}"/>
              </a:ext>
            </a:extLst>
          </p:cNvPr>
          <p:cNvSpPr>
            <a:spLocks noChangeArrowheads="1"/>
          </p:cNvSpPr>
          <p:nvPr/>
        </p:nvSpPr>
        <p:spPr bwMode="auto">
          <a:xfrm flipV="1">
            <a:off x="1476375" y="2994025"/>
            <a:ext cx="7667625" cy="8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8368" name="Line 16">
            <a:extLst>
              <a:ext uri="{FF2B5EF4-FFF2-40B4-BE49-F238E27FC236}">
                <a16:creationId xmlns:a16="http://schemas.microsoft.com/office/drawing/2014/main" id="{98089FF8-CA38-2F17-A5F0-BFC49A700E9C}"/>
              </a:ext>
            </a:extLst>
          </p:cNvPr>
          <p:cNvSpPr>
            <a:spLocks noChangeShapeType="1"/>
          </p:cNvSpPr>
          <p:nvPr/>
        </p:nvSpPr>
        <p:spPr bwMode="auto">
          <a:xfrm>
            <a:off x="323850" y="4437063"/>
            <a:ext cx="82089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8369" name="Text Box 17">
            <a:extLst>
              <a:ext uri="{FF2B5EF4-FFF2-40B4-BE49-F238E27FC236}">
                <a16:creationId xmlns:a16="http://schemas.microsoft.com/office/drawing/2014/main" id="{5153FD1A-5AE9-5E4D-DCEE-AB339AC3BD82}"/>
              </a:ext>
            </a:extLst>
          </p:cNvPr>
          <p:cNvSpPr txBox="1">
            <a:spLocks noChangeArrowheads="1"/>
          </p:cNvSpPr>
          <p:nvPr/>
        </p:nvSpPr>
        <p:spPr bwMode="auto">
          <a:xfrm>
            <a:off x="2411413" y="260350"/>
            <a:ext cx="424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控制图的界限计算公式</a:t>
            </a:r>
          </a:p>
        </p:txBody>
      </p:sp>
      <p:graphicFrame>
        <p:nvGraphicFramePr>
          <p:cNvPr id="228370" name="Object 18">
            <a:extLst>
              <a:ext uri="{FF2B5EF4-FFF2-40B4-BE49-F238E27FC236}">
                <a16:creationId xmlns:a16="http://schemas.microsoft.com/office/drawing/2014/main" id="{37CF58CB-C162-85D3-2998-6EE719309163}"/>
              </a:ext>
            </a:extLst>
          </p:cNvPr>
          <p:cNvGraphicFramePr>
            <a:graphicFrameLocks noChangeAspect="1"/>
          </p:cNvGraphicFramePr>
          <p:nvPr/>
        </p:nvGraphicFramePr>
        <p:xfrm>
          <a:off x="5940425" y="2420938"/>
          <a:ext cx="1655763" cy="857250"/>
        </p:xfrm>
        <a:graphic>
          <a:graphicData uri="http://schemas.openxmlformats.org/presentationml/2006/ole">
            <mc:AlternateContent xmlns:mc="http://schemas.openxmlformats.org/markup-compatibility/2006">
              <mc:Choice xmlns:v="urn:schemas-microsoft-com:vml" Requires="v">
                <p:oleObj name="公式" r:id="rId2" imgW="875920" imgH="495085" progId="Equation.3">
                  <p:embed/>
                </p:oleObj>
              </mc:Choice>
              <mc:Fallback>
                <p:oleObj name="公式" r:id="rId2" imgW="875920" imgH="495085" progId="Equation.3">
                  <p:embed/>
                  <p:pic>
                    <p:nvPicPr>
                      <p:cNvPr id="0" name="Object 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0425" y="2420938"/>
                        <a:ext cx="1655763" cy="857250"/>
                      </a:xfrm>
                      <a:prstGeom prst="rect">
                        <a:avLst/>
                      </a:prstGeom>
                      <a:solidFill>
                        <a:srgbClr val="FF9900"/>
                      </a:solidFill>
                    </p:spPr>
                  </p:pic>
                </p:oleObj>
              </mc:Fallback>
            </mc:AlternateContent>
          </a:graphicData>
        </a:graphic>
      </p:graphicFrame>
      <p:sp>
        <p:nvSpPr>
          <p:cNvPr id="228371" name="Rectangle 19">
            <a:extLst>
              <a:ext uri="{FF2B5EF4-FFF2-40B4-BE49-F238E27FC236}">
                <a16:creationId xmlns:a16="http://schemas.microsoft.com/office/drawing/2014/main" id="{6FCD38E5-1D6B-5FB2-08C7-252C35DE7312}"/>
              </a:ext>
            </a:extLst>
          </p:cNvPr>
          <p:cNvSpPr>
            <a:spLocks noChangeArrowheads="1"/>
          </p:cNvSpPr>
          <p:nvPr/>
        </p:nvSpPr>
        <p:spPr bwMode="auto">
          <a:xfrm>
            <a:off x="4933950" y="2636838"/>
            <a:ext cx="830263"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UCL= </a:t>
            </a:r>
          </a:p>
        </p:txBody>
      </p:sp>
      <p:graphicFrame>
        <p:nvGraphicFramePr>
          <p:cNvPr id="228372" name="Object 20">
            <a:extLst>
              <a:ext uri="{FF2B5EF4-FFF2-40B4-BE49-F238E27FC236}">
                <a16:creationId xmlns:a16="http://schemas.microsoft.com/office/drawing/2014/main" id="{72CC0247-4006-B81E-A666-76A2E8DD36CA}"/>
              </a:ext>
            </a:extLst>
          </p:cNvPr>
          <p:cNvGraphicFramePr>
            <a:graphicFrameLocks noChangeAspect="1"/>
          </p:cNvGraphicFramePr>
          <p:nvPr/>
        </p:nvGraphicFramePr>
        <p:xfrm>
          <a:off x="5940425" y="3429000"/>
          <a:ext cx="1585913" cy="895350"/>
        </p:xfrm>
        <a:graphic>
          <a:graphicData uri="http://schemas.openxmlformats.org/presentationml/2006/ole">
            <mc:AlternateContent xmlns:mc="http://schemas.openxmlformats.org/markup-compatibility/2006">
              <mc:Choice xmlns:v="urn:schemas-microsoft-com:vml" Requires="v">
                <p:oleObj name="公式" r:id="rId4" imgW="875920" imgH="495085" progId="Equation.3">
                  <p:embed/>
                </p:oleObj>
              </mc:Choice>
              <mc:Fallback>
                <p:oleObj name="公式" r:id="rId4" imgW="875920" imgH="495085" progId="Equation.3">
                  <p:embed/>
                  <p:pic>
                    <p:nvPicPr>
                      <p:cNvPr id="0" name="Object 2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0425" y="3429000"/>
                        <a:ext cx="1585913" cy="895350"/>
                      </a:xfrm>
                      <a:prstGeom prst="rect">
                        <a:avLst/>
                      </a:prstGeom>
                      <a:solidFill>
                        <a:srgbClr val="FF9900"/>
                      </a:solidFill>
                    </p:spPr>
                  </p:pic>
                </p:oleObj>
              </mc:Fallback>
            </mc:AlternateContent>
          </a:graphicData>
        </a:graphic>
      </p:graphicFrame>
      <p:sp>
        <p:nvSpPr>
          <p:cNvPr id="228373" name="Rectangle 21">
            <a:extLst>
              <a:ext uri="{FF2B5EF4-FFF2-40B4-BE49-F238E27FC236}">
                <a16:creationId xmlns:a16="http://schemas.microsoft.com/office/drawing/2014/main" id="{1F17DD5C-0387-4DA0-AA50-247A73467ECF}"/>
              </a:ext>
            </a:extLst>
          </p:cNvPr>
          <p:cNvSpPr>
            <a:spLocks noChangeArrowheads="1"/>
          </p:cNvSpPr>
          <p:nvPr/>
        </p:nvSpPr>
        <p:spPr bwMode="auto">
          <a:xfrm>
            <a:off x="4786313" y="3846513"/>
            <a:ext cx="854075"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 LCL= </a:t>
            </a:r>
          </a:p>
        </p:txBody>
      </p:sp>
      <p:graphicFrame>
        <p:nvGraphicFramePr>
          <p:cNvPr id="228374" name="Object 22">
            <a:extLst>
              <a:ext uri="{FF2B5EF4-FFF2-40B4-BE49-F238E27FC236}">
                <a16:creationId xmlns:a16="http://schemas.microsoft.com/office/drawing/2014/main" id="{3DA7493F-BFDD-4E23-FC33-CDEFBCFE1EEC}"/>
              </a:ext>
            </a:extLst>
          </p:cNvPr>
          <p:cNvGraphicFramePr>
            <a:graphicFrameLocks noChangeAspect="1"/>
          </p:cNvGraphicFramePr>
          <p:nvPr/>
        </p:nvGraphicFramePr>
        <p:xfrm>
          <a:off x="5580063" y="4797425"/>
          <a:ext cx="2303462" cy="749300"/>
        </p:xfrm>
        <a:graphic>
          <a:graphicData uri="http://schemas.openxmlformats.org/presentationml/2006/ole">
            <mc:AlternateContent xmlns:mc="http://schemas.openxmlformats.org/markup-compatibility/2006">
              <mc:Choice xmlns:v="urn:schemas-microsoft-com:vml" Requires="v">
                <p:oleObj name="公式" r:id="rId6" imgW="1054100" imgH="342900" progId="Equation.3">
                  <p:embed/>
                </p:oleObj>
              </mc:Choice>
              <mc:Fallback>
                <p:oleObj name="公式" r:id="rId6" imgW="1054100" imgH="342900" progId="Equation.3">
                  <p:embed/>
                  <p:pic>
                    <p:nvPicPr>
                      <p:cNvPr id="0" name="Object 2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0063" y="4797425"/>
                        <a:ext cx="2303462" cy="749300"/>
                      </a:xfrm>
                      <a:prstGeom prst="rect">
                        <a:avLst/>
                      </a:prstGeom>
                      <a:solidFill>
                        <a:srgbClr val="FF9900"/>
                      </a:solidFill>
                    </p:spPr>
                  </p:pic>
                </p:oleObj>
              </mc:Fallback>
            </mc:AlternateContent>
          </a:graphicData>
        </a:graphic>
      </p:graphicFrame>
      <p:graphicFrame>
        <p:nvGraphicFramePr>
          <p:cNvPr id="228375" name="Object 23">
            <a:extLst>
              <a:ext uri="{FF2B5EF4-FFF2-40B4-BE49-F238E27FC236}">
                <a16:creationId xmlns:a16="http://schemas.microsoft.com/office/drawing/2014/main" id="{15711511-DC4E-7CF6-033D-D2028E4F07A3}"/>
              </a:ext>
            </a:extLst>
          </p:cNvPr>
          <p:cNvGraphicFramePr>
            <a:graphicFrameLocks noChangeAspect="1"/>
          </p:cNvGraphicFramePr>
          <p:nvPr/>
        </p:nvGraphicFramePr>
        <p:xfrm>
          <a:off x="5580063" y="5608638"/>
          <a:ext cx="2590800" cy="847725"/>
        </p:xfrm>
        <a:graphic>
          <a:graphicData uri="http://schemas.openxmlformats.org/presentationml/2006/ole">
            <mc:AlternateContent xmlns:mc="http://schemas.openxmlformats.org/markup-compatibility/2006">
              <mc:Choice xmlns:v="urn:schemas-microsoft-com:vml" Requires="v">
                <p:oleObj name="公式" r:id="rId8" imgW="1016000" imgH="330200" progId="Equation.3">
                  <p:embed/>
                </p:oleObj>
              </mc:Choice>
              <mc:Fallback>
                <p:oleObj name="公式" r:id="rId8" imgW="1016000" imgH="330200" progId="Equation.3">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80063" y="5608638"/>
                        <a:ext cx="2590800" cy="847725"/>
                      </a:xfrm>
                      <a:prstGeom prst="rect">
                        <a:avLst/>
                      </a:prstGeom>
                      <a:solidFill>
                        <a:srgbClr val="FF9900"/>
                      </a:solidFill>
                    </p:spPr>
                  </p:pic>
                </p:oleObj>
              </mc:Fallback>
            </mc:AlternateContent>
          </a:graphicData>
        </a:graphic>
      </p:graphicFrame>
      <p:sp>
        <p:nvSpPr>
          <p:cNvPr id="228376" name="Rectangle 24">
            <a:extLst>
              <a:ext uri="{FF2B5EF4-FFF2-40B4-BE49-F238E27FC236}">
                <a16:creationId xmlns:a16="http://schemas.microsoft.com/office/drawing/2014/main" id="{2E6D48C9-2BBB-071D-A0DF-3CD78CBEB3F8}"/>
              </a:ext>
            </a:extLst>
          </p:cNvPr>
          <p:cNvSpPr>
            <a:spLocks noChangeArrowheads="1"/>
          </p:cNvSpPr>
          <p:nvPr/>
        </p:nvSpPr>
        <p:spPr bwMode="auto">
          <a:xfrm>
            <a:off x="3994150" y="4746625"/>
            <a:ext cx="830263"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UCL= </a:t>
            </a:r>
          </a:p>
        </p:txBody>
      </p:sp>
      <p:sp>
        <p:nvSpPr>
          <p:cNvPr id="228377" name="Rectangle 25">
            <a:extLst>
              <a:ext uri="{FF2B5EF4-FFF2-40B4-BE49-F238E27FC236}">
                <a16:creationId xmlns:a16="http://schemas.microsoft.com/office/drawing/2014/main" id="{B745912B-72AC-F9FC-FF08-A2DB21C8FDBF}"/>
              </a:ext>
            </a:extLst>
          </p:cNvPr>
          <p:cNvSpPr>
            <a:spLocks noChangeArrowheads="1"/>
          </p:cNvSpPr>
          <p:nvPr/>
        </p:nvSpPr>
        <p:spPr bwMode="auto">
          <a:xfrm>
            <a:off x="4065588" y="6113463"/>
            <a:ext cx="854075" cy="363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 LCL= </a:t>
            </a:r>
          </a:p>
        </p:txBody>
      </p:sp>
      <p:sp>
        <p:nvSpPr>
          <p:cNvPr id="228378" name="Rectangle 26">
            <a:extLst>
              <a:ext uri="{FF2B5EF4-FFF2-40B4-BE49-F238E27FC236}">
                <a16:creationId xmlns:a16="http://schemas.microsoft.com/office/drawing/2014/main" id="{21761107-1E31-3E68-F952-58828B3B50A8}"/>
              </a:ext>
            </a:extLst>
          </p:cNvPr>
          <p:cNvSpPr>
            <a:spLocks noChangeArrowheads="1"/>
          </p:cNvSpPr>
          <p:nvPr/>
        </p:nvSpPr>
        <p:spPr bwMode="auto">
          <a:xfrm>
            <a:off x="541338" y="2924175"/>
            <a:ext cx="369887" cy="363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p </a:t>
            </a:r>
          </a:p>
        </p:txBody>
      </p:sp>
      <p:sp>
        <p:nvSpPr>
          <p:cNvPr id="228379" name="Rectangle 27">
            <a:extLst>
              <a:ext uri="{FF2B5EF4-FFF2-40B4-BE49-F238E27FC236}">
                <a16:creationId xmlns:a16="http://schemas.microsoft.com/office/drawing/2014/main" id="{1E029F55-9011-A506-9627-E701B90D8820}"/>
              </a:ext>
            </a:extLst>
          </p:cNvPr>
          <p:cNvSpPr>
            <a:spLocks noChangeArrowheads="1"/>
          </p:cNvSpPr>
          <p:nvPr/>
        </p:nvSpPr>
        <p:spPr bwMode="auto">
          <a:xfrm>
            <a:off x="541338" y="5373688"/>
            <a:ext cx="495300" cy="365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pn </a:t>
            </a:r>
          </a:p>
        </p:txBody>
      </p:sp>
      <p:sp>
        <p:nvSpPr>
          <p:cNvPr id="228380" name="Rectangle 28">
            <a:extLst>
              <a:ext uri="{FF2B5EF4-FFF2-40B4-BE49-F238E27FC236}">
                <a16:creationId xmlns:a16="http://schemas.microsoft.com/office/drawing/2014/main" id="{0E47AF74-7727-66E8-05C7-9337A8AC5B1B}"/>
              </a:ext>
            </a:extLst>
          </p:cNvPr>
          <p:cNvSpPr>
            <a:spLocks noChangeArrowheads="1"/>
          </p:cNvSpPr>
          <p:nvPr/>
        </p:nvSpPr>
        <p:spPr bwMode="auto">
          <a:xfrm>
            <a:off x="0" y="328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8381" name="Object 29">
            <a:extLst>
              <a:ext uri="{FF2B5EF4-FFF2-40B4-BE49-F238E27FC236}">
                <a16:creationId xmlns:a16="http://schemas.microsoft.com/office/drawing/2014/main" id="{519188EA-5DB2-975B-6B57-FA4A2B076027}"/>
              </a:ext>
            </a:extLst>
          </p:cNvPr>
          <p:cNvGraphicFramePr>
            <a:graphicFrameLocks noChangeAspect="1"/>
          </p:cNvGraphicFramePr>
          <p:nvPr/>
        </p:nvGraphicFramePr>
        <p:xfrm>
          <a:off x="2049463" y="4724400"/>
          <a:ext cx="900112" cy="1150938"/>
        </p:xfrm>
        <a:graphic>
          <a:graphicData uri="http://schemas.openxmlformats.org/presentationml/2006/ole">
            <mc:AlternateContent xmlns:mc="http://schemas.openxmlformats.org/markup-compatibility/2006">
              <mc:Choice xmlns:v="urn:schemas-microsoft-com:vml" Requires="v">
                <p:oleObj name="公式" r:id="rId10" imgW="228501" imgH="291973" progId="Equation.3">
                  <p:embed/>
                </p:oleObj>
              </mc:Choice>
              <mc:Fallback>
                <p:oleObj name="公式" r:id="rId10" imgW="228501" imgH="291973" progId="Equation.3">
                  <p:embed/>
                  <p:pic>
                    <p:nvPicPr>
                      <p:cNvPr id="0" name="Object 29"/>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49463" y="4724400"/>
                        <a:ext cx="900112" cy="1150938"/>
                      </a:xfrm>
                      <a:prstGeom prst="rect">
                        <a:avLst/>
                      </a:prstGeom>
                      <a:solidFill>
                        <a:srgbClr val="FF9900"/>
                      </a:solidFill>
                    </p:spPr>
                  </p:pic>
                </p:oleObj>
              </mc:Fallback>
            </mc:AlternateContent>
          </a:graphicData>
        </a:graphic>
      </p:graphicFrame>
      <p:sp>
        <p:nvSpPr>
          <p:cNvPr id="228382" name="Rectangle 30">
            <a:extLst>
              <a:ext uri="{FF2B5EF4-FFF2-40B4-BE49-F238E27FC236}">
                <a16:creationId xmlns:a16="http://schemas.microsoft.com/office/drawing/2014/main" id="{F79A3AB7-55DC-1AD5-4085-12AE80F3A5D2}"/>
              </a:ext>
            </a:extLst>
          </p:cNvPr>
          <p:cNvSpPr>
            <a:spLocks noChangeArrowheads="1"/>
          </p:cNvSpPr>
          <p:nvPr/>
        </p:nvSpPr>
        <p:spPr bwMode="auto">
          <a:xfrm>
            <a:off x="0" y="328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8383" name="Object 31">
            <a:extLst>
              <a:ext uri="{FF2B5EF4-FFF2-40B4-BE49-F238E27FC236}">
                <a16:creationId xmlns:a16="http://schemas.microsoft.com/office/drawing/2014/main" id="{C96DAC72-32B3-B419-9000-6DEF28552263}"/>
              </a:ext>
            </a:extLst>
          </p:cNvPr>
          <p:cNvGraphicFramePr>
            <a:graphicFrameLocks noChangeAspect="1"/>
          </p:cNvGraphicFramePr>
          <p:nvPr/>
        </p:nvGraphicFramePr>
        <p:xfrm>
          <a:off x="1906588" y="2492375"/>
          <a:ext cx="1501775" cy="1295400"/>
        </p:xfrm>
        <a:graphic>
          <a:graphicData uri="http://schemas.openxmlformats.org/presentationml/2006/ole">
            <mc:AlternateContent xmlns:mc="http://schemas.openxmlformats.org/markup-compatibility/2006">
              <mc:Choice xmlns:v="urn:schemas-microsoft-com:vml" Requires="v">
                <p:oleObj name="公式" r:id="rId12" imgW="139639" imgH="291973" progId="Equation.3">
                  <p:embed/>
                </p:oleObj>
              </mc:Choice>
              <mc:Fallback>
                <p:oleObj name="公式" r:id="rId12" imgW="139639" imgH="291973" progId="Equation.3">
                  <p:embed/>
                  <p:pic>
                    <p:nvPicPr>
                      <p:cNvPr id="0" name="Object 3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906588" y="2492375"/>
                        <a:ext cx="1501775" cy="1295400"/>
                      </a:xfrm>
                      <a:prstGeom prst="rect">
                        <a:avLst/>
                      </a:prstGeom>
                      <a:solidFill>
                        <a:srgbClr val="FF9900"/>
                      </a:solidFill>
                    </p:spPr>
                  </p:pic>
                </p:oleObj>
              </mc:Fallback>
            </mc:AlternateContent>
          </a:graphicData>
        </a:graphic>
      </p:graphicFrame>
    </p:spTree>
  </p:cSld>
  <p:clrMapOvr>
    <a:masterClrMapping/>
  </p:clrMapOvr>
  <p:transition spd="slow">
    <p:strips dir="rd"/>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23567B8-91F6-7098-0AF7-5A187D5ADA7C}"/>
              </a:ext>
            </a:extLst>
          </p:cNvPr>
          <p:cNvSpPr>
            <a:spLocks noGrp="1"/>
          </p:cNvSpPr>
          <p:nvPr>
            <p:ph type="dt" sz="half" idx="10"/>
          </p:nvPr>
        </p:nvSpPr>
        <p:spPr/>
        <p:txBody>
          <a:bodyPr/>
          <a:lstStyle/>
          <a:p>
            <a:r>
              <a:rPr lang="zh-CN" altLang="en-US"/>
              <a:t>讲义制作：李丽，陈志祥审</a:t>
            </a:r>
            <a:endParaRPr lang="en-US" altLang="zh-CN"/>
          </a:p>
        </p:txBody>
      </p:sp>
      <p:sp>
        <p:nvSpPr>
          <p:cNvPr id="229380" name="Rectangle 4">
            <a:extLst>
              <a:ext uri="{FF2B5EF4-FFF2-40B4-BE49-F238E27FC236}">
                <a16:creationId xmlns:a16="http://schemas.microsoft.com/office/drawing/2014/main" id="{F5D29B72-5E3E-7DE3-EA1F-A61F193531B6}"/>
              </a:ext>
            </a:extLst>
          </p:cNvPr>
          <p:cNvSpPr>
            <a:spLocks noChangeArrowheads="1"/>
          </p:cNvSpPr>
          <p:nvPr/>
        </p:nvSpPr>
        <p:spPr bwMode="auto">
          <a:xfrm flipV="1">
            <a:off x="1403350" y="2994025"/>
            <a:ext cx="7740650" cy="69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9381" name="Line 5">
            <a:extLst>
              <a:ext uri="{FF2B5EF4-FFF2-40B4-BE49-F238E27FC236}">
                <a16:creationId xmlns:a16="http://schemas.microsoft.com/office/drawing/2014/main" id="{2D7C7CED-D824-DDF7-DF93-5AC8846B15A9}"/>
              </a:ext>
            </a:extLst>
          </p:cNvPr>
          <p:cNvSpPr>
            <a:spLocks noChangeShapeType="1"/>
          </p:cNvSpPr>
          <p:nvPr/>
        </p:nvSpPr>
        <p:spPr bwMode="auto">
          <a:xfrm>
            <a:off x="323850" y="1339850"/>
            <a:ext cx="0" cy="32416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2" name="Line 6">
            <a:extLst>
              <a:ext uri="{FF2B5EF4-FFF2-40B4-BE49-F238E27FC236}">
                <a16:creationId xmlns:a16="http://schemas.microsoft.com/office/drawing/2014/main" id="{B194999F-B1F0-64DE-68B8-C68A9D91DC2D}"/>
              </a:ext>
            </a:extLst>
          </p:cNvPr>
          <p:cNvSpPr>
            <a:spLocks noChangeShapeType="1"/>
          </p:cNvSpPr>
          <p:nvPr/>
        </p:nvSpPr>
        <p:spPr bwMode="auto">
          <a:xfrm>
            <a:off x="250825" y="1339850"/>
            <a:ext cx="84248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4" name="Line 8">
            <a:extLst>
              <a:ext uri="{FF2B5EF4-FFF2-40B4-BE49-F238E27FC236}">
                <a16:creationId xmlns:a16="http://schemas.microsoft.com/office/drawing/2014/main" id="{F00B6FAC-42BE-3148-6E1F-3A2B8A3B1165}"/>
              </a:ext>
            </a:extLst>
          </p:cNvPr>
          <p:cNvSpPr>
            <a:spLocks noChangeShapeType="1"/>
          </p:cNvSpPr>
          <p:nvPr/>
        </p:nvSpPr>
        <p:spPr bwMode="auto">
          <a:xfrm>
            <a:off x="8532813" y="1339850"/>
            <a:ext cx="0" cy="3168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5" name="Line 9">
            <a:extLst>
              <a:ext uri="{FF2B5EF4-FFF2-40B4-BE49-F238E27FC236}">
                <a16:creationId xmlns:a16="http://schemas.microsoft.com/office/drawing/2014/main" id="{C046D5EF-9413-3B8F-7A80-D02761212D19}"/>
              </a:ext>
            </a:extLst>
          </p:cNvPr>
          <p:cNvSpPr>
            <a:spLocks noChangeShapeType="1"/>
          </p:cNvSpPr>
          <p:nvPr/>
        </p:nvSpPr>
        <p:spPr bwMode="auto">
          <a:xfrm>
            <a:off x="3851275" y="1341438"/>
            <a:ext cx="73025" cy="324008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6" name="Line 10">
            <a:extLst>
              <a:ext uri="{FF2B5EF4-FFF2-40B4-BE49-F238E27FC236}">
                <a16:creationId xmlns:a16="http://schemas.microsoft.com/office/drawing/2014/main" id="{90DA548C-CF9C-6848-A930-42FB014F0F98}"/>
              </a:ext>
            </a:extLst>
          </p:cNvPr>
          <p:cNvSpPr>
            <a:spLocks noChangeShapeType="1"/>
          </p:cNvSpPr>
          <p:nvPr/>
        </p:nvSpPr>
        <p:spPr bwMode="auto">
          <a:xfrm>
            <a:off x="1476375" y="1339850"/>
            <a:ext cx="0" cy="31686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7" name="Line 11">
            <a:extLst>
              <a:ext uri="{FF2B5EF4-FFF2-40B4-BE49-F238E27FC236}">
                <a16:creationId xmlns:a16="http://schemas.microsoft.com/office/drawing/2014/main" id="{EFAABDE9-4979-B7F1-61BA-AA222AB873B3}"/>
              </a:ext>
            </a:extLst>
          </p:cNvPr>
          <p:cNvSpPr>
            <a:spLocks noChangeShapeType="1"/>
          </p:cNvSpPr>
          <p:nvPr/>
        </p:nvSpPr>
        <p:spPr bwMode="auto">
          <a:xfrm>
            <a:off x="323850" y="2203450"/>
            <a:ext cx="827881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88" name="Text Box 12">
            <a:extLst>
              <a:ext uri="{FF2B5EF4-FFF2-40B4-BE49-F238E27FC236}">
                <a16:creationId xmlns:a16="http://schemas.microsoft.com/office/drawing/2014/main" id="{1E5B89D5-26A6-D943-0669-C0669A9E44C0}"/>
              </a:ext>
            </a:extLst>
          </p:cNvPr>
          <p:cNvSpPr txBox="1">
            <a:spLocks noChangeArrowheads="1"/>
          </p:cNvSpPr>
          <p:nvPr/>
        </p:nvSpPr>
        <p:spPr bwMode="auto">
          <a:xfrm>
            <a:off x="1835150" y="1627188"/>
            <a:ext cx="16573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中心</a:t>
            </a:r>
          </a:p>
        </p:txBody>
      </p:sp>
      <p:sp>
        <p:nvSpPr>
          <p:cNvPr id="229389" name="Text Box 13">
            <a:extLst>
              <a:ext uri="{FF2B5EF4-FFF2-40B4-BE49-F238E27FC236}">
                <a16:creationId xmlns:a16="http://schemas.microsoft.com/office/drawing/2014/main" id="{BD79489E-E24D-2CD3-E1AE-C86DE426BF7E}"/>
              </a:ext>
            </a:extLst>
          </p:cNvPr>
          <p:cNvSpPr txBox="1">
            <a:spLocks noChangeArrowheads="1"/>
          </p:cNvSpPr>
          <p:nvPr/>
        </p:nvSpPr>
        <p:spPr bwMode="auto">
          <a:xfrm>
            <a:off x="4356100" y="1627188"/>
            <a:ext cx="4176713"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上下限</a:t>
            </a:r>
          </a:p>
        </p:txBody>
      </p:sp>
      <p:sp>
        <p:nvSpPr>
          <p:cNvPr id="229390" name="Text Box 14">
            <a:extLst>
              <a:ext uri="{FF2B5EF4-FFF2-40B4-BE49-F238E27FC236}">
                <a16:creationId xmlns:a16="http://schemas.microsoft.com/office/drawing/2014/main" id="{1EE3F9C4-BE72-4218-0624-852BE0DAB18B}"/>
              </a:ext>
            </a:extLst>
          </p:cNvPr>
          <p:cNvSpPr txBox="1">
            <a:spLocks noChangeArrowheads="1"/>
          </p:cNvSpPr>
          <p:nvPr/>
        </p:nvSpPr>
        <p:spPr bwMode="auto">
          <a:xfrm>
            <a:off x="323850" y="1555750"/>
            <a:ext cx="11525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a:t>图别</a:t>
            </a:r>
          </a:p>
        </p:txBody>
      </p:sp>
      <p:sp>
        <p:nvSpPr>
          <p:cNvPr id="229391" name="Rectangle 15">
            <a:extLst>
              <a:ext uri="{FF2B5EF4-FFF2-40B4-BE49-F238E27FC236}">
                <a16:creationId xmlns:a16="http://schemas.microsoft.com/office/drawing/2014/main" id="{4F9DD91D-2AE6-0D00-5243-29FD1AD326AD}"/>
              </a:ext>
            </a:extLst>
          </p:cNvPr>
          <p:cNvSpPr>
            <a:spLocks noChangeArrowheads="1"/>
          </p:cNvSpPr>
          <p:nvPr/>
        </p:nvSpPr>
        <p:spPr bwMode="auto">
          <a:xfrm flipV="1">
            <a:off x="1476375" y="2994025"/>
            <a:ext cx="7667625" cy="84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p>
        </p:txBody>
      </p:sp>
      <p:sp>
        <p:nvSpPr>
          <p:cNvPr id="229392" name="Line 16">
            <a:extLst>
              <a:ext uri="{FF2B5EF4-FFF2-40B4-BE49-F238E27FC236}">
                <a16:creationId xmlns:a16="http://schemas.microsoft.com/office/drawing/2014/main" id="{F2412FFF-69EF-91F7-523E-8F85C1614DE6}"/>
              </a:ext>
            </a:extLst>
          </p:cNvPr>
          <p:cNvSpPr>
            <a:spLocks noChangeShapeType="1"/>
          </p:cNvSpPr>
          <p:nvPr/>
        </p:nvSpPr>
        <p:spPr bwMode="auto">
          <a:xfrm>
            <a:off x="323850" y="4437063"/>
            <a:ext cx="8208963"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9393" name="Text Box 17">
            <a:extLst>
              <a:ext uri="{FF2B5EF4-FFF2-40B4-BE49-F238E27FC236}">
                <a16:creationId xmlns:a16="http://schemas.microsoft.com/office/drawing/2014/main" id="{EEE849B6-1997-1F50-A9D1-7FF3C96FBD11}"/>
              </a:ext>
            </a:extLst>
          </p:cNvPr>
          <p:cNvSpPr txBox="1">
            <a:spLocks noChangeArrowheads="1"/>
          </p:cNvSpPr>
          <p:nvPr/>
        </p:nvSpPr>
        <p:spPr bwMode="auto">
          <a:xfrm>
            <a:off x="2339975" y="906463"/>
            <a:ext cx="4248150" cy="4619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1432" tIns="45715" rIns="91432" bIns="45715">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spcBef>
                <a:spcPct val="50000"/>
              </a:spcBef>
            </a:pPr>
            <a:r>
              <a:rPr lang="zh-CN" altLang="en-US" sz="2400" b="1"/>
              <a:t>控制图的界限计算公式</a:t>
            </a:r>
          </a:p>
        </p:txBody>
      </p:sp>
      <p:sp>
        <p:nvSpPr>
          <p:cNvPr id="229394" name="Rectangle 18">
            <a:extLst>
              <a:ext uri="{FF2B5EF4-FFF2-40B4-BE49-F238E27FC236}">
                <a16:creationId xmlns:a16="http://schemas.microsoft.com/office/drawing/2014/main" id="{2B2685D6-5866-3780-9A90-86875C3905C0}"/>
              </a:ext>
            </a:extLst>
          </p:cNvPr>
          <p:cNvSpPr>
            <a:spLocks noChangeArrowheads="1"/>
          </p:cNvSpPr>
          <p:nvPr/>
        </p:nvSpPr>
        <p:spPr bwMode="auto">
          <a:xfrm>
            <a:off x="541338" y="2924175"/>
            <a:ext cx="409575"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32" tIns="45715" rIns="91432" bIns="45715"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marL="1370013">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t>C </a:t>
            </a:r>
          </a:p>
        </p:txBody>
      </p:sp>
      <p:sp>
        <p:nvSpPr>
          <p:cNvPr id="229396" name="Rectangle 20">
            <a:extLst>
              <a:ext uri="{FF2B5EF4-FFF2-40B4-BE49-F238E27FC236}">
                <a16:creationId xmlns:a16="http://schemas.microsoft.com/office/drawing/2014/main" id="{B3968197-B8D1-A3C4-D5A0-254E769BFB6C}"/>
              </a:ext>
            </a:extLst>
          </p:cNvPr>
          <p:cNvSpPr>
            <a:spLocks noChangeArrowheads="1"/>
          </p:cNvSpPr>
          <p:nvPr/>
        </p:nvSpPr>
        <p:spPr bwMode="auto">
          <a:xfrm>
            <a:off x="0" y="328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229397" name="Rectangle 21">
            <a:extLst>
              <a:ext uri="{FF2B5EF4-FFF2-40B4-BE49-F238E27FC236}">
                <a16:creationId xmlns:a16="http://schemas.microsoft.com/office/drawing/2014/main" id="{2387B213-FE71-7D85-3DF5-D8733BB66145}"/>
              </a:ext>
            </a:extLst>
          </p:cNvPr>
          <p:cNvSpPr>
            <a:spLocks noChangeArrowheads="1"/>
          </p:cNvSpPr>
          <p:nvPr/>
        </p:nvSpPr>
        <p:spPr bwMode="auto">
          <a:xfrm>
            <a:off x="0" y="32829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29398" name="Object 22">
            <a:extLst>
              <a:ext uri="{FF2B5EF4-FFF2-40B4-BE49-F238E27FC236}">
                <a16:creationId xmlns:a16="http://schemas.microsoft.com/office/drawing/2014/main" id="{AB45C778-906F-8727-B190-A584882843AD}"/>
              </a:ext>
            </a:extLst>
          </p:cNvPr>
          <p:cNvGraphicFramePr>
            <a:graphicFrameLocks noChangeAspect="1"/>
          </p:cNvGraphicFramePr>
          <p:nvPr/>
        </p:nvGraphicFramePr>
        <p:xfrm>
          <a:off x="4932363" y="2205038"/>
          <a:ext cx="2220912" cy="1649412"/>
        </p:xfrm>
        <a:graphic>
          <a:graphicData uri="http://schemas.openxmlformats.org/presentationml/2006/ole">
            <mc:AlternateContent xmlns:mc="http://schemas.openxmlformats.org/markup-compatibility/2006">
              <mc:Choice xmlns:v="urn:schemas-microsoft-com:vml" Requires="v">
                <p:oleObj name="公式" r:id="rId2" imgW="888840" imgH="660240" progId="Equation.3">
                  <p:embed/>
                </p:oleObj>
              </mc:Choice>
              <mc:Fallback>
                <p:oleObj name="公式" r:id="rId2" imgW="888840" imgH="660240" progId="Equation.3">
                  <p:embed/>
                  <p:pic>
                    <p:nvPicPr>
                      <p:cNvPr id="0" name="Object 2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2363" y="2205038"/>
                        <a:ext cx="2220912" cy="1649412"/>
                      </a:xfrm>
                      <a:prstGeom prst="rect">
                        <a:avLst/>
                      </a:prstGeom>
                      <a:solidFill>
                        <a:srgbClr val="FF9900"/>
                      </a:solidFill>
                    </p:spPr>
                  </p:pic>
                </p:oleObj>
              </mc:Fallback>
            </mc:AlternateContent>
          </a:graphicData>
        </a:graphic>
      </p:graphicFrame>
      <p:graphicFrame>
        <p:nvGraphicFramePr>
          <p:cNvPr id="229399" name="Object 23">
            <a:extLst>
              <a:ext uri="{FF2B5EF4-FFF2-40B4-BE49-F238E27FC236}">
                <a16:creationId xmlns:a16="http://schemas.microsoft.com/office/drawing/2014/main" id="{41C2917E-0B11-5D2B-F11C-9E8B8252DB9C}"/>
              </a:ext>
            </a:extLst>
          </p:cNvPr>
          <p:cNvGraphicFramePr>
            <a:graphicFrameLocks noChangeAspect="1"/>
          </p:cNvGraphicFramePr>
          <p:nvPr/>
        </p:nvGraphicFramePr>
        <p:xfrm>
          <a:off x="1909763" y="2852738"/>
          <a:ext cx="1079500" cy="984250"/>
        </p:xfrm>
        <a:graphic>
          <a:graphicData uri="http://schemas.openxmlformats.org/presentationml/2006/ole">
            <mc:AlternateContent xmlns:mc="http://schemas.openxmlformats.org/markup-compatibility/2006">
              <mc:Choice xmlns:v="urn:schemas-microsoft-com:vml" Requires="v">
                <p:oleObj name="公式" r:id="rId4" imgW="431640" imgH="393480" progId="Equation.3">
                  <p:embed/>
                </p:oleObj>
              </mc:Choice>
              <mc:Fallback>
                <p:oleObj name="公式" r:id="rId4" imgW="431640" imgH="393480" progId="Equation.3">
                  <p:embed/>
                  <p:pic>
                    <p:nvPicPr>
                      <p:cNvPr id="0" name="Object 2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09763" y="2852738"/>
                        <a:ext cx="1079500" cy="984250"/>
                      </a:xfrm>
                      <a:prstGeom prst="rect">
                        <a:avLst/>
                      </a:prstGeom>
                      <a:solidFill>
                        <a:srgbClr val="FF9900"/>
                      </a:solidFill>
                    </p:spPr>
                  </p:pic>
                </p:oleObj>
              </mc:Fallback>
            </mc:AlternateContent>
          </a:graphicData>
        </a:graphic>
      </p:graphicFrame>
      <p:sp>
        <p:nvSpPr>
          <p:cNvPr id="229400" name="Rectangle 24">
            <a:extLst>
              <a:ext uri="{FF2B5EF4-FFF2-40B4-BE49-F238E27FC236}">
                <a16:creationId xmlns:a16="http://schemas.microsoft.com/office/drawing/2014/main" id="{2216CC5B-7621-A679-534E-D9466BA1EFD0}"/>
              </a:ext>
            </a:extLst>
          </p:cNvPr>
          <p:cNvSpPr>
            <a:spLocks noChangeArrowheads="1"/>
          </p:cNvSpPr>
          <p:nvPr/>
        </p:nvSpPr>
        <p:spPr bwMode="auto">
          <a:xfrm>
            <a:off x="0" y="29194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spd="slow">
    <p:strips dir="rd"/>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94C431E-1AF7-9F52-1C85-AEF7A42C850B}"/>
              </a:ext>
            </a:extLst>
          </p:cNvPr>
          <p:cNvSpPr>
            <a:spLocks noGrp="1"/>
          </p:cNvSpPr>
          <p:nvPr>
            <p:ph type="dt" sz="half" idx="10"/>
          </p:nvPr>
        </p:nvSpPr>
        <p:spPr/>
        <p:txBody>
          <a:bodyPr/>
          <a:lstStyle/>
          <a:p>
            <a:r>
              <a:rPr lang="zh-CN" altLang="en-US"/>
              <a:t>讲义制作：李丽，陈志祥审</a:t>
            </a:r>
            <a:endParaRPr lang="en-US" altLang="zh-CN"/>
          </a:p>
        </p:txBody>
      </p:sp>
      <p:sp>
        <p:nvSpPr>
          <p:cNvPr id="268365" name="Rectangle 77">
            <a:extLst>
              <a:ext uri="{FF2B5EF4-FFF2-40B4-BE49-F238E27FC236}">
                <a16:creationId xmlns:a16="http://schemas.microsoft.com/office/drawing/2014/main" id="{1B0EB46B-3F1F-2E71-B0FC-5EE760A8EEA4}"/>
              </a:ext>
            </a:extLst>
          </p:cNvPr>
          <p:cNvSpPr>
            <a:spLocks noGrp="1" noChangeArrowheads="1"/>
          </p:cNvSpPr>
          <p:nvPr>
            <p:ph type="title"/>
          </p:nvPr>
        </p:nvSpPr>
        <p:spPr/>
        <p:txBody>
          <a:bodyPr/>
          <a:lstStyle/>
          <a:p>
            <a:r>
              <a:rPr lang="zh-CN" altLang="en-US"/>
              <a:t>不合格品数控制图例子</a:t>
            </a:r>
          </a:p>
        </p:txBody>
      </p:sp>
      <p:graphicFrame>
        <p:nvGraphicFramePr>
          <p:cNvPr id="268364" name="Group 76">
            <a:extLst>
              <a:ext uri="{FF2B5EF4-FFF2-40B4-BE49-F238E27FC236}">
                <a16:creationId xmlns:a16="http://schemas.microsoft.com/office/drawing/2014/main" id="{460F3C24-DD01-36C9-D18F-CCA941963A23}"/>
              </a:ext>
            </a:extLst>
          </p:cNvPr>
          <p:cNvGraphicFramePr>
            <a:graphicFrameLocks noGrp="1"/>
          </p:cNvGraphicFramePr>
          <p:nvPr>
            <p:ph idx="1"/>
          </p:nvPr>
        </p:nvGraphicFramePr>
        <p:xfrm>
          <a:off x="457200" y="1600200"/>
          <a:ext cx="8229600" cy="4495800"/>
        </p:xfrm>
        <a:graphic>
          <a:graphicData uri="http://schemas.openxmlformats.org/drawingml/2006/table">
            <a:tbl>
              <a:tblPr/>
              <a:tblGrid>
                <a:gridCol w="1406525">
                  <a:extLst>
                    <a:ext uri="{9D8B030D-6E8A-4147-A177-3AD203B41FA5}">
                      <a16:colId xmlns:a16="http://schemas.microsoft.com/office/drawing/2014/main" val="2785160013"/>
                    </a:ext>
                  </a:extLst>
                </a:gridCol>
                <a:gridCol w="1336675">
                  <a:extLst>
                    <a:ext uri="{9D8B030D-6E8A-4147-A177-3AD203B41FA5}">
                      <a16:colId xmlns:a16="http://schemas.microsoft.com/office/drawing/2014/main" val="1532559373"/>
                    </a:ext>
                  </a:extLst>
                </a:gridCol>
                <a:gridCol w="1266825">
                  <a:extLst>
                    <a:ext uri="{9D8B030D-6E8A-4147-A177-3AD203B41FA5}">
                      <a16:colId xmlns:a16="http://schemas.microsoft.com/office/drawing/2014/main" val="1152091501"/>
                    </a:ext>
                  </a:extLst>
                </a:gridCol>
                <a:gridCol w="1476375">
                  <a:extLst>
                    <a:ext uri="{9D8B030D-6E8A-4147-A177-3AD203B41FA5}">
                      <a16:colId xmlns:a16="http://schemas.microsoft.com/office/drawing/2014/main" val="824040368"/>
                    </a:ext>
                  </a:extLst>
                </a:gridCol>
                <a:gridCol w="1266825">
                  <a:extLst>
                    <a:ext uri="{9D8B030D-6E8A-4147-A177-3AD203B41FA5}">
                      <a16:colId xmlns:a16="http://schemas.microsoft.com/office/drawing/2014/main" val="1578898122"/>
                    </a:ext>
                  </a:extLst>
                </a:gridCol>
                <a:gridCol w="1476375">
                  <a:extLst>
                    <a:ext uri="{9D8B030D-6E8A-4147-A177-3AD203B41FA5}">
                      <a16:colId xmlns:a16="http://schemas.microsoft.com/office/drawing/2014/main" val="2115172256"/>
                    </a:ext>
                  </a:extLst>
                </a:gridCol>
              </a:tblGrid>
              <a:tr h="735013">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样本序号</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样本大小</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不合格品数（</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254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样本序号</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样本大小</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base" latinLnBrk="0" hangingPunct="1">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不合格品数</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l"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pn</a:t>
                      </a: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1395529491"/>
                  </a:ext>
                </a:extLst>
              </a:tr>
              <a:tr h="3760788">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9525" cap="flat" cmpd="sng" algn="ctr">
                      <a:solidFill>
                        <a:srgbClr val="000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16</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17</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zh-CN" altLang="en-US"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总计</a:t>
                      </a:r>
                      <a:endParaRPr kumimoji="0" lang="zh-CN" altLang="en-US"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25400" cap="flat" cmpd="sng" algn="ctr">
                      <a:solidFill>
                        <a:srgbClr val="000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5000</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12700" cap="flat" cmpd="sng" algn="ctr">
                      <a:solidFill>
                        <a:srgbClr val="008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tc>
                  <a:txBody>
                    <a:bodyPr/>
                    <a:lstStyle>
                      <a:lvl1pPr marL="342900" indent="-342900">
                        <a:spcBef>
                          <a:spcPct val="20000"/>
                        </a:spcBef>
                        <a:buClr>
                          <a:schemeClr val="tx2"/>
                        </a:buClr>
                        <a:defRPr sz="2800">
                          <a:solidFill>
                            <a:schemeClr val="tx1"/>
                          </a:solidFill>
                          <a:latin typeface="Arial" panose="020B0604020202020204" pitchFamily="34" charset="0"/>
                          <a:ea typeface="宋体" panose="02010600030101010101" pitchFamily="2" charset="-122"/>
                        </a:defRPr>
                      </a:lvl1pPr>
                      <a:lvl2pPr marL="742950" indent="-285750">
                        <a:spcBef>
                          <a:spcPct val="20000"/>
                        </a:spcBef>
                        <a:defRPr sz="24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tx2"/>
                        </a:buClr>
                        <a:defRPr sz="2000">
                          <a:solidFill>
                            <a:schemeClr val="tx1"/>
                          </a:solidFill>
                          <a:latin typeface="Arial" panose="020B0604020202020204" pitchFamily="34" charset="0"/>
                          <a:ea typeface="宋体" panose="02010600030101010101" pitchFamily="2" charset="-122"/>
                        </a:defRPr>
                      </a:lvl3pPr>
                      <a:lvl4pPr marL="1600200" indent="-228600">
                        <a:spcBef>
                          <a:spcPct val="20000"/>
                        </a:spcBef>
                        <a:defRPr>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tx2"/>
                        </a:buClr>
                        <a:defRPr>
                          <a:solidFill>
                            <a:schemeClr val="tx1"/>
                          </a:solidFill>
                          <a:latin typeface="Arial" panose="020B0604020202020204" pitchFamily="34" charset="0"/>
                          <a:ea typeface="宋体" panose="02010600030101010101" pitchFamily="2" charset="-122"/>
                        </a:defRPr>
                      </a:lvl5pPr>
                      <a:lvl6pPr marL="25146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6pPr>
                      <a:lvl7pPr marL="29718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7pPr>
                      <a:lvl8pPr marL="34290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8pPr>
                      <a:lvl9pPr marL="3886200" indent="-228600" fontAlgn="base">
                        <a:spcBef>
                          <a:spcPct val="20000"/>
                        </a:spcBef>
                        <a:spcAft>
                          <a:spcPct val="0"/>
                        </a:spcAft>
                        <a:buClr>
                          <a:schemeClr val="tx2"/>
                        </a:buClr>
                        <a:defRPr>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4</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cs typeface="Times New Roman" panose="02020603050405020304" pitchFamily="18" charset="0"/>
                      </a:endParaRPr>
                    </a:p>
                    <a:p>
                      <a:pPr marL="342900" marR="0" lvl="0" indent="-342900" algn="ctr" defTabSz="914400" rtl="0" eaLnBrk="0" fontAlgn="base" latinLnBrk="0" hangingPunct="0">
                        <a:lnSpc>
                          <a:spcPct val="100000"/>
                        </a:lnSpc>
                        <a:spcBef>
                          <a:spcPct val="0"/>
                        </a:spcBef>
                        <a:spcAft>
                          <a:spcPct val="0"/>
                        </a:spcAft>
                        <a:buClrTx/>
                        <a:buSzTx/>
                        <a:buFontTx/>
                        <a:buNone/>
                        <a:tabLst/>
                      </a:pPr>
                      <a:r>
                        <a:rPr kumimoji="0" lang="en-US" altLang="zh-CN" sz="16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111</a:t>
                      </a:r>
                      <a:endParaRPr kumimoji="0" lang="en-US" altLang="zh-CN" sz="16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rgbClr val="008000"/>
                      </a:solidFill>
                      <a:prstDash val="solid"/>
                      <a:round/>
                      <a:headEnd type="none" w="med" len="med"/>
                      <a:tailEnd type="none" w="med" len="med"/>
                    </a:lnL>
                    <a:lnR w="9525" cap="flat" cmpd="sng" algn="ctr">
                      <a:solidFill>
                        <a:srgbClr val="000000"/>
                      </a:solidFill>
                      <a:prstDash val="solid"/>
                      <a:round/>
                      <a:headEnd type="none" w="med" len="med"/>
                      <a:tailEnd type="none" w="med" len="med"/>
                    </a:lnR>
                    <a:lnT w="12700" cap="flat" cmpd="sng" algn="ctr">
                      <a:solidFill>
                        <a:srgbClr val="008000"/>
                      </a:solidFill>
                      <a:prstDash val="solid"/>
                      <a:round/>
                      <a:headEnd type="none" w="med" len="med"/>
                      <a:tailEnd type="none" w="med" len="med"/>
                    </a:lnT>
                    <a:lnB w="12700" cap="flat" cmpd="sng" algn="ctr">
                      <a:solidFill>
                        <a:srgbClr val="008000"/>
                      </a:solidFill>
                      <a:prstDash val="solid"/>
                      <a:round/>
                      <a:headEnd type="none" w="med" len="med"/>
                      <a:tailEnd type="none" w="med" len="med"/>
                    </a:lnB>
                    <a:lnTlToBr>
                      <a:noFill/>
                    </a:lnTlToBr>
                    <a:lnBlToTr>
                      <a:noFill/>
                    </a:lnBlToTr>
                    <a:gradFill rotWithShape="1">
                      <a:gsLst>
                        <a:gs pos="0">
                          <a:srgbClr val="FF9900"/>
                        </a:gs>
                        <a:gs pos="100000">
                          <a:srgbClr val="FF9900">
                            <a:gamma/>
                            <a:shade val="46275"/>
                            <a:invGamma/>
                          </a:srgbClr>
                        </a:gs>
                      </a:gsLst>
                      <a:lin ang="5400000" scaled="1"/>
                    </a:gradFill>
                  </a:tcPr>
                </a:tc>
                <a:extLst>
                  <a:ext uri="{0D108BD9-81ED-4DB2-BD59-A6C34878D82A}">
                    <a16:rowId xmlns:a16="http://schemas.microsoft.com/office/drawing/2014/main" val="2355522756"/>
                  </a:ext>
                </a:extLst>
              </a:tr>
            </a:tbl>
          </a:graphicData>
        </a:graphic>
      </p:graphicFrame>
    </p:spTree>
  </p:cSld>
  <p:clrMapOvr>
    <a:masterClrMapping/>
  </p:clrMapOvr>
  <p:transition spd="slow">
    <p:strips dir="rd"/>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20877B8E-B173-8A6A-73BE-ECAFA442C31D}"/>
              </a:ext>
            </a:extLst>
          </p:cNvPr>
          <p:cNvSpPr>
            <a:spLocks noGrp="1"/>
          </p:cNvSpPr>
          <p:nvPr>
            <p:ph type="dt" sz="half" idx="10"/>
          </p:nvPr>
        </p:nvSpPr>
        <p:spPr/>
        <p:txBody>
          <a:bodyPr/>
          <a:lstStyle/>
          <a:p>
            <a:r>
              <a:rPr lang="zh-CN" altLang="en-US"/>
              <a:t>讲义制作：李丽，陈志祥审</a:t>
            </a:r>
            <a:endParaRPr lang="en-US" altLang="zh-CN"/>
          </a:p>
        </p:txBody>
      </p:sp>
      <p:graphicFrame>
        <p:nvGraphicFramePr>
          <p:cNvPr id="270345" name="Object 9">
            <a:extLst>
              <a:ext uri="{FF2B5EF4-FFF2-40B4-BE49-F238E27FC236}">
                <a16:creationId xmlns:a16="http://schemas.microsoft.com/office/drawing/2014/main" id="{46838799-0B5D-FD98-BE8B-77B2815E00C9}"/>
              </a:ext>
            </a:extLst>
          </p:cNvPr>
          <p:cNvGraphicFramePr>
            <a:graphicFrameLocks noChangeAspect="1"/>
          </p:cNvGraphicFramePr>
          <p:nvPr/>
        </p:nvGraphicFramePr>
        <p:xfrm>
          <a:off x="468313" y="1557338"/>
          <a:ext cx="830262" cy="614362"/>
        </p:xfrm>
        <a:graphic>
          <a:graphicData uri="http://schemas.openxmlformats.org/presentationml/2006/ole">
            <mc:AlternateContent xmlns:mc="http://schemas.openxmlformats.org/markup-compatibility/2006">
              <mc:Choice xmlns:v="urn:schemas-microsoft-com:vml" Requires="v">
                <p:oleObj name="公式" r:id="rId2" imgW="215619" imgH="164885" progId="Equation.3">
                  <p:embed/>
                </p:oleObj>
              </mc:Choice>
              <mc:Fallback>
                <p:oleObj name="公式" r:id="rId2" imgW="215619" imgH="164885" progId="Equation.3">
                  <p:embed/>
                  <p:pic>
                    <p:nvPicPr>
                      <p:cNvPr id="0" name="Object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557338"/>
                        <a:ext cx="830262" cy="614362"/>
                      </a:xfrm>
                      <a:prstGeom prst="rect">
                        <a:avLst/>
                      </a:prstGeom>
                      <a:solidFill>
                        <a:srgbClr val="FF9900"/>
                      </a:solidFill>
                    </p:spPr>
                  </p:pic>
                </p:oleObj>
              </mc:Fallback>
            </mc:AlternateContent>
          </a:graphicData>
        </a:graphic>
      </p:graphicFrame>
      <p:graphicFrame>
        <p:nvGraphicFramePr>
          <p:cNvPr id="270344" name="Object 8">
            <a:extLst>
              <a:ext uri="{FF2B5EF4-FFF2-40B4-BE49-F238E27FC236}">
                <a16:creationId xmlns:a16="http://schemas.microsoft.com/office/drawing/2014/main" id="{B1A0FA6C-D819-23B3-BB8D-785FA597DFBF}"/>
              </a:ext>
            </a:extLst>
          </p:cNvPr>
          <p:cNvGraphicFramePr>
            <a:graphicFrameLocks noChangeAspect="1"/>
          </p:cNvGraphicFramePr>
          <p:nvPr/>
        </p:nvGraphicFramePr>
        <p:xfrm>
          <a:off x="2843213" y="2060575"/>
          <a:ext cx="1943100" cy="1144588"/>
        </p:xfrm>
        <a:graphic>
          <a:graphicData uri="http://schemas.openxmlformats.org/presentationml/2006/ole">
            <mc:AlternateContent xmlns:mc="http://schemas.openxmlformats.org/markup-compatibility/2006">
              <mc:Choice xmlns:v="urn:schemas-microsoft-com:vml" Requires="v">
                <p:oleObj name="公式" r:id="rId4" imgW="1016000" imgH="596900" progId="Equation.3">
                  <p:embed/>
                </p:oleObj>
              </mc:Choice>
              <mc:Fallback>
                <p:oleObj name="公式" r:id="rId4" imgW="1016000" imgH="596900" progId="Equation.3">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43213" y="2060575"/>
                        <a:ext cx="1943100" cy="1144588"/>
                      </a:xfrm>
                      <a:prstGeom prst="rect">
                        <a:avLst/>
                      </a:prstGeom>
                      <a:solidFill>
                        <a:srgbClr val="FF9900"/>
                      </a:solidFill>
                    </p:spPr>
                  </p:pic>
                </p:oleObj>
              </mc:Fallback>
            </mc:AlternateContent>
          </a:graphicData>
        </a:graphic>
      </p:graphicFrame>
      <p:graphicFrame>
        <p:nvGraphicFramePr>
          <p:cNvPr id="270343" name="Object 7">
            <a:extLst>
              <a:ext uri="{FF2B5EF4-FFF2-40B4-BE49-F238E27FC236}">
                <a16:creationId xmlns:a16="http://schemas.microsoft.com/office/drawing/2014/main" id="{C9264A9A-3389-274D-B23F-80A92963B7E1}"/>
              </a:ext>
            </a:extLst>
          </p:cNvPr>
          <p:cNvGraphicFramePr>
            <a:graphicFrameLocks noChangeAspect="1"/>
          </p:cNvGraphicFramePr>
          <p:nvPr/>
        </p:nvGraphicFramePr>
        <p:xfrm>
          <a:off x="5219700" y="2492375"/>
          <a:ext cx="482600" cy="706438"/>
        </p:xfrm>
        <a:graphic>
          <a:graphicData uri="http://schemas.openxmlformats.org/presentationml/2006/ole">
            <mc:AlternateContent xmlns:mc="http://schemas.openxmlformats.org/markup-compatibility/2006">
              <mc:Choice xmlns:v="urn:schemas-microsoft-com:vml" Requires="v">
                <p:oleObj name="公式" r:id="rId6" imgW="266469" imgH="393359" progId="Equation.3">
                  <p:embed/>
                </p:oleObj>
              </mc:Choice>
              <mc:Fallback>
                <p:oleObj name="公式" r:id="rId6" imgW="266469" imgH="393359" progId="Equation.3">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219700" y="2492375"/>
                        <a:ext cx="482600" cy="706438"/>
                      </a:xfrm>
                      <a:prstGeom prst="rect">
                        <a:avLst/>
                      </a:prstGeom>
                      <a:solidFill>
                        <a:srgbClr val="FF9900"/>
                      </a:solidFill>
                    </p:spPr>
                  </p:pic>
                </p:oleObj>
              </mc:Fallback>
            </mc:AlternateContent>
          </a:graphicData>
        </a:graphic>
      </p:graphicFrame>
      <p:graphicFrame>
        <p:nvGraphicFramePr>
          <p:cNvPr id="270340" name="Object 4">
            <a:extLst>
              <a:ext uri="{FF2B5EF4-FFF2-40B4-BE49-F238E27FC236}">
                <a16:creationId xmlns:a16="http://schemas.microsoft.com/office/drawing/2014/main" id="{3ACD709B-F97C-C776-5B91-28ECE564B811}"/>
              </a:ext>
            </a:extLst>
          </p:cNvPr>
          <p:cNvGraphicFramePr>
            <a:graphicFrameLocks noChangeAspect="1"/>
          </p:cNvGraphicFramePr>
          <p:nvPr/>
        </p:nvGraphicFramePr>
        <p:xfrm>
          <a:off x="2627313" y="4581525"/>
          <a:ext cx="4214812" cy="781050"/>
        </p:xfrm>
        <a:graphic>
          <a:graphicData uri="http://schemas.openxmlformats.org/presentationml/2006/ole">
            <mc:AlternateContent xmlns:mc="http://schemas.openxmlformats.org/markup-compatibility/2006">
              <mc:Choice xmlns:v="urn:schemas-microsoft-com:vml" Requires="v">
                <p:oleObj name="公式" r:id="rId8" imgW="1282700" imgH="241300" progId="Equation.3">
                  <p:embed/>
                </p:oleObj>
              </mc:Choice>
              <mc:Fallback>
                <p:oleObj name="公式" r:id="rId8" imgW="1282700" imgH="241300" progId="Equation.3">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27313" y="4581525"/>
                        <a:ext cx="4214812" cy="781050"/>
                      </a:xfrm>
                      <a:prstGeom prst="rect">
                        <a:avLst/>
                      </a:prstGeom>
                      <a:solidFill>
                        <a:srgbClr val="FF9900"/>
                      </a:solidFill>
                    </p:spPr>
                  </p:pic>
                </p:oleObj>
              </mc:Fallback>
            </mc:AlternateContent>
          </a:graphicData>
        </a:graphic>
      </p:graphicFrame>
      <p:sp>
        <p:nvSpPr>
          <p:cNvPr id="270346" name="Rectangle 10">
            <a:extLst>
              <a:ext uri="{FF2B5EF4-FFF2-40B4-BE49-F238E27FC236}">
                <a16:creationId xmlns:a16="http://schemas.microsoft.com/office/drawing/2014/main" id="{FB3AAF61-35D2-427A-49BC-B7DDDA7EA4FE}"/>
              </a:ext>
            </a:extLst>
          </p:cNvPr>
          <p:cNvSpPr>
            <a:spLocks noChangeArrowheads="1"/>
          </p:cNvSpPr>
          <p:nvPr/>
        </p:nvSpPr>
        <p:spPr bwMode="auto">
          <a:xfrm>
            <a:off x="250825" y="549275"/>
            <a:ext cx="32607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zh-CN" altLang="en-US" sz="2400">
                <a:latin typeface="Times New Roman" panose="02020603050405020304" pitchFamily="18" charset="0"/>
                <a:cs typeface="Times New Roman" panose="02020603050405020304" pitchFamily="18" charset="0"/>
              </a:rPr>
              <a:t>计算有关控制参数：</a:t>
            </a:r>
            <a:endParaRPr lang="zh-CN" altLang="en-US" sz="2400"/>
          </a:p>
        </p:txBody>
      </p:sp>
      <p:sp>
        <p:nvSpPr>
          <p:cNvPr id="270347" name="Rectangle 11">
            <a:extLst>
              <a:ext uri="{FF2B5EF4-FFF2-40B4-BE49-F238E27FC236}">
                <a16:creationId xmlns:a16="http://schemas.microsoft.com/office/drawing/2014/main" id="{DA610453-65D2-291A-DF52-B74AB6CADC5B}"/>
              </a:ext>
            </a:extLst>
          </p:cNvPr>
          <p:cNvSpPr>
            <a:spLocks noChangeArrowheads="1"/>
          </p:cNvSpPr>
          <p:nvPr/>
        </p:nvSpPr>
        <p:spPr bwMode="auto">
          <a:xfrm>
            <a:off x="1258888" y="1662113"/>
            <a:ext cx="3960812"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lang="zh-CN" altLang="en-US" sz="2400">
                <a:latin typeface="Times New Roman" panose="02020603050405020304" pitchFamily="18" charset="0"/>
                <a:cs typeface="Times New Roman" panose="02020603050405020304" pitchFamily="18" charset="0"/>
              </a:rPr>
              <a:t>控制图：</a:t>
            </a:r>
            <a:endParaRPr lang="zh-CN" altLang="en-US" sz="2400"/>
          </a:p>
          <a:p>
            <a:pPr eaLnBrk="0" hangingPunct="0"/>
            <a:r>
              <a:rPr lang="zh-CN" altLang="en-US" sz="2400">
                <a:latin typeface="Times New Roman" panose="02020603050405020304" pitchFamily="18" charset="0"/>
                <a:cs typeface="Times New Roman" panose="02020603050405020304" pitchFamily="18" charset="0"/>
              </a:rPr>
              <a:t>     </a:t>
            </a:r>
          </a:p>
          <a:p>
            <a:pPr eaLnBrk="0" hangingPunct="0"/>
            <a:r>
              <a:rPr lang="zh-CN" altLang="en-US" sz="2400">
                <a:latin typeface="Times New Roman" panose="02020603050405020304" pitchFamily="18" charset="0"/>
                <a:cs typeface="Times New Roman" panose="02020603050405020304" pitchFamily="18" charset="0"/>
              </a:rPr>
              <a:t>中心线： </a:t>
            </a:r>
            <a:endParaRPr lang="zh-CN" altLang="en-US" sz="2400"/>
          </a:p>
        </p:txBody>
      </p:sp>
      <p:sp>
        <p:nvSpPr>
          <p:cNvPr id="270348" name="Rectangle 12">
            <a:extLst>
              <a:ext uri="{FF2B5EF4-FFF2-40B4-BE49-F238E27FC236}">
                <a16:creationId xmlns:a16="http://schemas.microsoft.com/office/drawing/2014/main" id="{BD9EA09B-034B-3ED1-6B13-77AD67549AAE}"/>
              </a:ext>
            </a:extLst>
          </p:cNvPr>
          <p:cNvSpPr>
            <a:spLocks noChangeArrowheads="1"/>
          </p:cNvSpPr>
          <p:nvPr/>
        </p:nvSpPr>
        <p:spPr bwMode="auto">
          <a:xfrm>
            <a:off x="3741738" y="2406650"/>
            <a:ext cx="255587" cy="244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1000">
                <a:latin typeface="Times New Roman" panose="02020603050405020304" pitchFamily="18" charset="0"/>
                <a:cs typeface="Times New Roman" panose="02020603050405020304" pitchFamily="18" charset="0"/>
              </a:rPr>
              <a:t>=</a:t>
            </a:r>
            <a:endParaRPr lang="en-US" altLang="zh-CN"/>
          </a:p>
        </p:txBody>
      </p:sp>
      <p:sp>
        <p:nvSpPr>
          <p:cNvPr id="270349" name="Rectangle 13">
            <a:extLst>
              <a:ext uri="{FF2B5EF4-FFF2-40B4-BE49-F238E27FC236}">
                <a16:creationId xmlns:a16="http://schemas.microsoft.com/office/drawing/2014/main" id="{7832459B-BC8E-CE3C-1DE8-2D07C1C3DEDE}"/>
              </a:ext>
            </a:extLst>
          </p:cNvPr>
          <p:cNvSpPr>
            <a:spLocks noChangeArrowheads="1"/>
          </p:cNvSpPr>
          <p:nvPr/>
        </p:nvSpPr>
        <p:spPr bwMode="auto">
          <a:xfrm>
            <a:off x="1042988" y="3573463"/>
            <a:ext cx="170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048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a:latin typeface="Times New Roman" panose="02020603050405020304" pitchFamily="18" charset="0"/>
                <a:cs typeface="Times New Roman" panose="02020603050405020304" pitchFamily="18" charset="0"/>
              </a:rPr>
              <a:t>上限值：</a:t>
            </a:r>
            <a:endParaRPr lang="zh-CN" altLang="en-US" sz="2400"/>
          </a:p>
        </p:txBody>
      </p:sp>
      <p:sp>
        <p:nvSpPr>
          <p:cNvPr id="270350" name="Rectangle 14">
            <a:extLst>
              <a:ext uri="{FF2B5EF4-FFF2-40B4-BE49-F238E27FC236}">
                <a16:creationId xmlns:a16="http://schemas.microsoft.com/office/drawing/2014/main" id="{2D0B1398-E001-3654-B996-C10A3B9D55B4}"/>
              </a:ext>
            </a:extLst>
          </p:cNvPr>
          <p:cNvSpPr>
            <a:spLocks noChangeArrowheads="1"/>
          </p:cNvSpPr>
          <p:nvPr/>
        </p:nvSpPr>
        <p:spPr bwMode="auto">
          <a:xfrm>
            <a:off x="5940425" y="3573463"/>
            <a:ext cx="13462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indent="3048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2400">
                <a:latin typeface="Times New Roman" panose="02020603050405020304" pitchFamily="18" charset="0"/>
                <a:cs typeface="Times New Roman" panose="02020603050405020304" pitchFamily="18" charset="0"/>
              </a:rPr>
              <a:t>=10.66</a:t>
            </a:r>
            <a:endParaRPr lang="en-US" altLang="zh-CN" sz="2400"/>
          </a:p>
          <a:p>
            <a:pPr eaLnBrk="0" hangingPunct="0"/>
            <a:endParaRPr lang="en-US" altLang="zh-CN" sz="2400"/>
          </a:p>
        </p:txBody>
      </p:sp>
      <p:sp>
        <p:nvSpPr>
          <p:cNvPr id="270351" name="Rectangle 15">
            <a:extLst>
              <a:ext uri="{FF2B5EF4-FFF2-40B4-BE49-F238E27FC236}">
                <a16:creationId xmlns:a16="http://schemas.microsoft.com/office/drawing/2014/main" id="{5A408294-8D69-9090-2BE0-2990C5B30B3F}"/>
              </a:ext>
            </a:extLst>
          </p:cNvPr>
          <p:cNvSpPr>
            <a:spLocks noChangeArrowheads="1"/>
          </p:cNvSpPr>
          <p:nvPr/>
        </p:nvSpPr>
        <p:spPr bwMode="auto">
          <a:xfrm>
            <a:off x="1331913" y="4365625"/>
            <a:ext cx="1487487"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ltLang="zh-CN" sz="2400">
              <a:latin typeface="Times New Roman" panose="02020603050405020304" pitchFamily="18" charset="0"/>
            </a:endParaRPr>
          </a:p>
          <a:p>
            <a:pPr eaLnBrk="0" hangingPunct="0"/>
            <a:r>
              <a:rPr lang="zh-CN" altLang="en-US" sz="2400">
                <a:latin typeface="Times New Roman" panose="02020603050405020304" pitchFamily="18" charset="0"/>
              </a:rPr>
              <a:t>下限值：</a:t>
            </a:r>
            <a:r>
              <a:rPr lang="zh-CN" altLang="en-US" sz="2400"/>
              <a:t> </a:t>
            </a:r>
          </a:p>
        </p:txBody>
      </p:sp>
      <p:sp>
        <p:nvSpPr>
          <p:cNvPr id="270352" name="Rectangle 16">
            <a:extLst>
              <a:ext uri="{FF2B5EF4-FFF2-40B4-BE49-F238E27FC236}">
                <a16:creationId xmlns:a16="http://schemas.microsoft.com/office/drawing/2014/main" id="{C8DD9736-BA08-C51F-5AD6-629F75A8CE10}"/>
              </a:ext>
            </a:extLst>
          </p:cNvPr>
          <p:cNvSpPr>
            <a:spLocks noChangeArrowheads="1"/>
          </p:cNvSpPr>
          <p:nvPr/>
        </p:nvSpPr>
        <p:spPr bwMode="auto">
          <a:xfrm>
            <a:off x="6948488" y="4767263"/>
            <a:ext cx="103981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lang="en-US" altLang="zh-CN" sz="2400"/>
              <a:t>=1.15 </a:t>
            </a:r>
          </a:p>
          <a:p>
            <a:pPr eaLnBrk="0" hangingPunct="0"/>
            <a:endParaRPr lang="en-US" altLang="zh-CN" sz="2400"/>
          </a:p>
        </p:txBody>
      </p:sp>
      <p:sp>
        <p:nvSpPr>
          <p:cNvPr id="270354" name="Rectangle 18">
            <a:extLst>
              <a:ext uri="{FF2B5EF4-FFF2-40B4-BE49-F238E27FC236}">
                <a16:creationId xmlns:a16="http://schemas.microsoft.com/office/drawing/2014/main" id="{E77922BC-52D3-00AB-0ED8-439538835D5D}"/>
              </a:ext>
            </a:extLst>
          </p:cNvPr>
          <p:cNvSpPr>
            <a:spLocks noChangeArrowheads="1"/>
          </p:cNvSpPr>
          <p:nvPr/>
        </p:nvSpPr>
        <p:spPr bwMode="auto">
          <a:xfrm>
            <a:off x="0" y="33099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270353" name="Object 17">
            <a:extLst>
              <a:ext uri="{FF2B5EF4-FFF2-40B4-BE49-F238E27FC236}">
                <a16:creationId xmlns:a16="http://schemas.microsoft.com/office/drawing/2014/main" id="{13AEBE2E-B1EF-9523-4F54-199FE7DFA590}"/>
              </a:ext>
            </a:extLst>
          </p:cNvPr>
          <p:cNvGraphicFramePr>
            <a:graphicFrameLocks noChangeAspect="1"/>
          </p:cNvGraphicFramePr>
          <p:nvPr/>
        </p:nvGraphicFramePr>
        <p:xfrm>
          <a:off x="2771775" y="3500438"/>
          <a:ext cx="3167063" cy="582612"/>
        </p:xfrm>
        <a:graphic>
          <a:graphicData uri="http://schemas.openxmlformats.org/presentationml/2006/ole">
            <mc:AlternateContent xmlns:mc="http://schemas.openxmlformats.org/markup-compatibility/2006">
              <mc:Choice xmlns:v="urn:schemas-microsoft-com:vml" Requires="v">
                <p:oleObj name="公式" r:id="rId10" imgW="1295400" imgH="241300" progId="Equation.3">
                  <p:embed/>
                </p:oleObj>
              </mc:Choice>
              <mc:Fallback>
                <p:oleObj name="公式" r:id="rId10" imgW="1295400" imgH="241300" progId="Equation.3">
                  <p:embed/>
                  <p:pic>
                    <p:nvPicPr>
                      <p:cNvPr id="0" name="Object 17"/>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771775" y="3500438"/>
                        <a:ext cx="3167063" cy="582612"/>
                      </a:xfrm>
                      <a:prstGeom prst="rect">
                        <a:avLst/>
                      </a:prstGeom>
                      <a:solidFill>
                        <a:srgbClr val="FF9900"/>
                      </a:solidFill>
                    </p:spPr>
                  </p:pic>
                </p:oleObj>
              </mc:Fallback>
            </mc:AlternateContent>
          </a:graphicData>
        </a:graphic>
      </p:graphicFrame>
      <p:sp>
        <p:nvSpPr>
          <p:cNvPr id="270355" name="Text Box 19">
            <a:extLst>
              <a:ext uri="{FF2B5EF4-FFF2-40B4-BE49-F238E27FC236}">
                <a16:creationId xmlns:a16="http://schemas.microsoft.com/office/drawing/2014/main" id="{D208B8BE-F7DD-CC2E-5E67-AEFCEC88BAB6}"/>
              </a:ext>
            </a:extLst>
          </p:cNvPr>
          <p:cNvSpPr txBox="1">
            <a:spLocks noChangeArrowheads="1"/>
          </p:cNvSpPr>
          <p:nvPr/>
        </p:nvSpPr>
        <p:spPr bwMode="auto">
          <a:xfrm>
            <a:off x="4716463" y="2565400"/>
            <a:ext cx="863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a:t>
            </a:r>
          </a:p>
        </p:txBody>
      </p:sp>
    </p:spTree>
  </p:cSld>
  <p:clrMapOvr>
    <a:masterClrMapping/>
  </p:clrMapOvr>
  <p:transition spd="slow">
    <p:strips dir="rd"/>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81E3B39-2DBA-1BC0-D7BE-014D5D743CE8}"/>
              </a:ext>
            </a:extLst>
          </p:cNvPr>
          <p:cNvSpPr>
            <a:spLocks noGrp="1"/>
          </p:cNvSpPr>
          <p:nvPr>
            <p:ph type="dt" sz="half" idx="10"/>
          </p:nvPr>
        </p:nvSpPr>
        <p:spPr/>
        <p:txBody>
          <a:bodyPr/>
          <a:lstStyle/>
          <a:p>
            <a:r>
              <a:rPr lang="zh-CN" altLang="en-US"/>
              <a:t>讲义制作：李丽，陈志祥审</a:t>
            </a:r>
            <a:endParaRPr lang="en-US" altLang="zh-CN"/>
          </a:p>
        </p:txBody>
      </p:sp>
      <p:sp>
        <p:nvSpPr>
          <p:cNvPr id="271362" name="Rectangle 2">
            <a:extLst>
              <a:ext uri="{FF2B5EF4-FFF2-40B4-BE49-F238E27FC236}">
                <a16:creationId xmlns:a16="http://schemas.microsoft.com/office/drawing/2014/main" id="{0AAC973D-BA68-B1EC-DB54-03641A43A8B5}"/>
              </a:ext>
            </a:extLst>
          </p:cNvPr>
          <p:cNvSpPr>
            <a:spLocks noGrp="1" noChangeArrowheads="1"/>
          </p:cNvSpPr>
          <p:nvPr>
            <p:ph type="title" idx="4294967295"/>
          </p:nvPr>
        </p:nvSpPr>
        <p:spPr>
          <a:xfrm>
            <a:off x="0" y="228600"/>
            <a:ext cx="8229600" cy="1143000"/>
          </a:xfrm>
        </p:spPr>
        <p:txBody>
          <a:bodyPr/>
          <a:lstStyle/>
          <a:p>
            <a:r>
              <a:rPr lang="zh-CN" altLang="en-US"/>
              <a:t>不合格品数控制图例子</a:t>
            </a:r>
          </a:p>
        </p:txBody>
      </p:sp>
      <p:sp>
        <p:nvSpPr>
          <p:cNvPr id="271364" name="Line 4">
            <a:extLst>
              <a:ext uri="{FF2B5EF4-FFF2-40B4-BE49-F238E27FC236}">
                <a16:creationId xmlns:a16="http://schemas.microsoft.com/office/drawing/2014/main" id="{0BF5CE6C-FEFD-CE12-F69B-905E96F15F1A}"/>
              </a:ext>
            </a:extLst>
          </p:cNvPr>
          <p:cNvSpPr>
            <a:spLocks noChangeShapeType="1"/>
          </p:cNvSpPr>
          <p:nvPr/>
        </p:nvSpPr>
        <p:spPr bwMode="auto">
          <a:xfrm>
            <a:off x="1403350" y="4149725"/>
            <a:ext cx="640873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65" name="Line 5">
            <a:extLst>
              <a:ext uri="{FF2B5EF4-FFF2-40B4-BE49-F238E27FC236}">
                <a16:creationId xmlns:a16="http://schemas.microsoft.com/office/drawing/2014/main" id="{6DAB064F-3D7D-2594-3BC7-C631EB9EF08F}"/>
              </a:ext>
            </a:extLst>
          </p:cNvPr>
          <p:cNvSpPr>
            <a:spLocks noChangeShapeType="1"/>
          </p:cNvSpPr>
          <p:nvPr/>
        </p:nvSpPr>
        <p:spPr bwMode="auto">
          <a:xfrm flipV="1">
            <a:off x="1403350" y="1196975"/>
            <a:ext cx="0" cy="360045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66" name="Line 6">
            <a:extLst>
              <a:ext uri="{FF2B5EF4-FFF2-40B4-BE49-F238E27FC236}">
                <a16:creationId xmlns:a16="http://schemas.microsoft.com/office/drawing/2014/main" id="{871972DD-D5DD-FC50-20E4-53ADCB11E51A}"/>
              </a:ext>
            </a:extLst>
          </p:cNvPr>
          <p:cNvSpPr>
            <a:spLocks noChangeShapeType="1"/>
          </p:cNvSpPr>
          <p:nvPr/>
        </p:nvSpPr>
        <p:spPr bwMode="auto">
          <a:xfrm>
            <a:off x="1476375" y="2133600"/>
            <a:ext cx="583247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67" name="Line 7">
            <a:extLst>
              <a:ext uri="{FF2B5EF4-FFF2-40B4-BE49-F238E27FC236}">
                <a16:creationId xmlns:a16="http://schemas.microsoft.com/office/drawing/2014/main" id="{617ED5BA-8CD8-4D27-E9BD-E913ACFA8A00}"/>
              </a:ext>
            </a:extLst>
          </p:cNvPr>
          <p:cNvSpPr>
            <a:spLocks noChangeShapeType="1"/>
          </p:cNvSpPr>
          <p:nvPr/>
        </p:nvSpPr>
        <p:spPr bwMode="auto">
          <a:xfrm>
            <a:off x="1403350" y="4005263"/>
            <a:ext cx="6048375" cy="0"/>
          </a:xfrm>
          <a:prstGeom prst="line">
            <a:avLst/>
          </a:prstGeom>
          <a:noFill/>
          <a:ln w="952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68" name="Line 8">
            <a:extLst>
              <a:ext uri="{FF2B5EF4-FFF2-40B4-BE49-F238E27FC236}">
                <a16:creationId xmlns:a16="http://schemas.microsoft.com/office/drawing/2014/main" id="{77F7529E-41D6-9849-40C6-C5EA2E022844}"/>
              </a:ext>
            </a:extLst>
          </p:cNvPr>
          <p:cNvSpPr>
            <a:spLocks noChangeShapeType="1"/>
          </p:cNvSpPr>
          <p:nvPr/>
        </p:nvSpPr>
        <p:spPr bwMode="auto">
          <a:xfrm>
            <a:off x="1476375" y="3068638"/>
            <a:ext cx="583247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69" name="Line 9">
            <a:extLst>
              <a:ext uri="{FF2B5EF4-FFF2-40B4-BE49-F238E27FC236}">
                <a16:creationId xmlns:a16="http://schemas.microsoft.com/office/drawing/2014/main" id="{CD73FF79-1A3D-EBCC-4B2B-6BDE8D06F149}"/>
              </a:ext>
            </a:extLst>
          </p:cNvPr>
          <p:cNvSpPr>
            <a:spLocks noChangeShapeType="1"/>
          </p:cNvSpPr>
          <p:nvPr/>
        </p:nvSpPr>
        <p:spPr bwMode="auto">
          <a:xfrm flipV="1">
            <a:off x="1908175" y="2636838"/>
            <a:ext cx="215900" cy="2873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0" name="Line 10">
            <a:extLst>
              <a:ext uri="{FF2B5EF4-FFF2-40B4-BE49-F238E27FC236}">
                <a16:creationId xmlns:a16="http://schemas.microsoft.com/office/drawing/2014/main" id="{7C353504-FC48-DA69-7BEA-6AC108DEE5D5}"/>
              </a:ext>
            </a:extLst>
          </p:cNvPr>
          <p:cNvSpPr>
            <a:spLocks noChangeShapeType="1"/>
          </p:cNvSpPr>
          <p:nvPr/>
        </p:nvSpPr>
        <p:spPr bwMode="auto">
          <a:xfrm>
            <a:off x="2124075" y="2636838"/>
            <a:ext cx="360363"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1" name="Line 11">
            <a:extLst>
              <a:ext uri="{FF2B5EF4-FFF2-40B4-BE49-F238E27FC236}">
                <a16:creationId xmlns:a16="http://schemas.microsoft.com/office/drawing/2014/main" id="{8370FDD9-E673-438A-0A2C-8D3E04101E43}"/>
              </a:ext>
            </a:extLst>
          </p:cNvPr>
          <p:cNvSpPr>
            <a:spLocks noChangeShapeType="1"/>
          </p:cNvSpPr>
          <p:nvPr/>
        </p:nvSpPr>
        <p:spPr bwMode="auto">
          <a:xfrm flipV="1">
            <a:off x="2484438" y="2636838"/>
            <a:ext cx="215900" cy="7921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2" name="Line 12">
            <a:extLst>
              <a:ext uri="{FF2B5EF4-FFF2-40B4-BE49-F238E27FC236}">
                <a16:creationId xmlns:a16="http://schemas.microsoft.com/office/drawing/2014/main" id="{07DCBD48-DAA5-A4DB-D7EE-563AE279CA2B}"/>
              </a:ext>
            </a:extLst>
          </p:cNvPr>
          <p:cNvSpPr>
            <a:spLocks noChangeShapeType="1"/>
          </p:cNvSpPr>
          <p:nvPr/>
        </p:nvSpPr>
        <p:spPr bwMode="auto">
          <a:xfrm>
            <a:off x="2700338" y="2636838"/>
            <a:ext cx="21590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3" name="Line 13">
            <a:extLst>
              <a:ext uri="{FF2B5EF4-FFF2-40B4-BE49-F238E27FC236}">
                <a16:creationId xmlns:a16="http://schemas.microsoft.com/office/drawing/2014/main" id="{2A32A4D4-D236-240A-3753-3F0A35000CA6}"/>
              </a:ext>
            </a:extLst>
          </p:cNvPr>
          <p:cNvSpPr>
            <a:spLocks noChangeShapeType="1"/>
          </p:cNvSpPr>
          <p:nvPr/>
        </p:nvSpPr>
        <p:spPr bwMode="auto">
          <a:xfrm>
            <a:off x="2916238" y="27813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4" name="Line 14">
            <a:extLst>
              <a:ext uri="{FF2B5EF4-FFF2-40B4-BE49-F238E27FC236}">
                <a16:creationId xmlns:a16="http://schemas.microsoft.com/office/drawing/2014/main" id="{038DE64F-B615-0A02-75E9-7807A9443DBF}"/>
              </a:ext>
            </a:extLst>
          </p:cNvPr>
          <p:cNvSpPr>
            <a:spLocks noChangeShapeType="1"/>
          </p:cNvSpPr>
          <p:nvPr/>
        </p:nvSpPr>
        <p:spPr bwMode="auto">
          <a:xfrm>
            <a:off x="3203575" y="2852738"/>
            <a:ext cx="144463"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5" name="Line 15">
            <a:extLst>
              <a:ext uri="{FF2B5EF4-FFF2-40B4-BE49-F238E27FC236}">
                <a16:creationId xmlns:a16="http://schemas.microsoft.com/office/drawing/2014/main" id="{1D3CE3E1-28F0-D520-893C-D4B6604CA794}"/>
              </a:ext>
            </a:extLst>
          </p:cNvPr>
          <p:cNvSpPr>
            <a:spLocks noChangeShapeType="1"/>
          </p:cNvSpPr>
          <p:nvPr/>
        </p:nvSpPr>
        <p:spPr bwMode="auto">
          <a:xfrm>
            <a:off x="3348038" y="3284538"/>
            <a:ext cx="28733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6" name="Line 16">
            <a:extLst>
              <a:ext uri="{FF2B5EF4-FFF2-40B4-BE49-F238E27FC236}">
                <a16:creationId xmlns:a16="http://schemas.microsoft.com/office/drawing/2014/main" id="{DE50695F-5B19-67E7-9E57-523C8723EF97}"/>
              </a:ext>
            </a:extLst>
          </p:cNvPr>
          <p:cNvSpPr>
            <a:spLocks noChangeShapeType="1"/>
          </p:cNvSpPr>
          <p:nvPr/>
        </p:nvSpPr>
        <p:spPr bwMode="auto">
          <a:xfrm flipV="1">
            <a:off x="3635375" y="3068638"/>
            <a:ext cx="28892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7" name="Line 17">
            <a:extLst>
              <a:ext uri="{FF2B5EF4-FFF2-40B4-BE49-F238E27FC236}">
                <a16:creationId xmlns:a16="http://schemas.microsoft.com/office/drawing/2014/main" id="{71ED8EBC-2BC8-5787-6751-2A1D6240B5FD}"/>
              </a:ext>
            </a:extLst>
          </p:cNvPr>
          <p:cNvSpPr>
            <a:spLocks noChangeShapeType="1"/>
          </p:cNvSpPr>
          <p:nvPr/>
        </p:nvSpPr>
        <p:spPr bwMode="auto">
          <a:xfrm flipV="1">
            <a:off x="3924300" y="2636838"/>
            <a:ext cx="142875" cy="5048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8" name="Line 18">
            <a:extLst>
              <a:ext uri="{FF2B5EF4-FFF2-40B4-BE49-F238E27FC236}">
                <a16:creationId xmlns:a16="http://schemas.microsoft.com/office/drawing/2014/main" id="{A3549DA8-4048-8723-BC3B-EE43439D3084}"/>
              </a:ext>
            </a:extLst>
          </p:cNvPr>
          <p:cNvSpPr>
            <a:spLocks noChangeShapeType="1"/>
          </p:cNvSpPr>
          <p:nvPr/>
        </p:nvSpPr>
        <p:spPr bwMode="auto">
          <a:xfrm>
            <a:off x="4140200" y="2636838"/>
            <a:ext cx="215900" cy="1444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79" name="Line 19">
            <a:extLst>
              <a:ext uri="{FF2B5EF4-FFF2-40B4-BE49-F238E27FC236}">
                <a16:creationId xmlns:a16="http://schemas.microsoft.com/office/drawing/2014/main" id="{4F4C8A47-BFC0-6AE4-B7B9-9B5E7B5892E4}"/>
              </a:ext>
            </a:extLst>
          </p:cNvPr>
          <p:cNvSpPr>
            <a:spLocks noChangeShapeType="1"/>
          </p:cNvSpPr>
          <p:nvPr/>
        </p:nvSpPr>
        <p:spPr bwMode="auto">
          <a:xfrm>
            <a:off x="4356100" y="2781300"/>
            <a:ext cx="215900" cy="5762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0" name="Line 20">
            <a:extLst>
              <a:ext uri="{FF2B5EF4-FFF2-40B4-BE49-F238E27FC236}">
                <a16:creationId xmlns:a16="http://schemas.microsoft.com/office/drawing/2014/main" id="{6D846C84-4BF2-446E-36AB-6A453031F0D2}"/>
              </a:ext>
            </a:extLst>
          </p:cNvPr>
          <p:cNvSpPr>
            <a:spLocks noChangeShapeType="1"/>
          </p:cNvSpPr>
          <p:nvPr/>
        </p:nvSpPr>
        <p:spPr bwMode="auto">
          <a:xfrm>
            <a:off x="4572000" y="3429000"/>
            <a:ext cx="21590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1" name="Line 21">
            <a:extLst>
              <a:ext uri="{FF2B5EF4-FFF2-40B4-BE49-F238E27FC236}">
                <a16:creationId xmlns:a16="http://schemas.microsoft.com/office/drawing/2014/main" id="{353E87E5-E26A-3F50-EA24-7558B61587C4}"/>
              </a:ext>
            </a:extLst>
          </p:cNvPr>
          <p:cNvSpPr>
            <a:spLocks noChangeShapeType="1"/>
          </p:cNvSpPr>
          <p:nvPr/>
        </p:nvSpPr>
        <p:spPr bwMode="auto">
          <a:xfrm flipV="1">
            <a:off x="4859338" y="3068638"/>
            <a:ext cx="144462" cy="36036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2" name="Line 22">
            <a:extLst>
              <a:ext uri="{FF2B5EF4-FFF2-40B4-BE49-F238E27FC236}">
                <a16:creationId xmlns:a16="http://schemas.microsoft.com/office/drawing/2014/main" id="{6727EBB1-354B-8007-F421-8B873F6136D0}"/>
              </a:ext>
            </a:extLst>
          </p:cNvPr>
          <p:cNvSpPr>
            <a:spLocks noChangeShapeType="1"/>
          </p:cNvSpPr>
          <p:nvPr/>
        </p:nvSpPr>
        <p:spPr bwMode="auto">
          <a:xfrm>
            <a:off x="5003800" y="2997200"/>
            <a:ext cx="287338" cy="360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3" name="Line 23">
            <a:extLst>
              <a:ext uri="{FF2B5EF4-FFF2-40B4-BE49-F238E27FC236}">
                <a16:creationId xmlns:a16="http://schemas.microsoft.com/office/drawing/2014/main" id="{B71923D2-206F-BD72-4639-2DA7F94938A1}"/>
              </a:ext>
            </a:extLst>
          </p:cNvPr>
          <p:cNvSpPr>
            <a:spLocks noChangeShapeType="1"/>
          </p:cNvSpPr>
          <p:nvPr/>
        </p:nvSpPr>
        <p:spPr bwMode="auto">
          <a:xfrm flipV="1">
            <a:off x="5364163" y="2565400"/>
            <a:ext cx="144462" cy="7921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4" name="Line 24">
            <a:extLst>
              <a:ext uri="{FF2B5EF4-FFF2-40B4-BE49-F238E27FC236}">
                <a16:creationId xmlns:a16="http://schemas.microsoft.com/office/drawing/2014/main" id="{D8984274-9B54-A022-3841-3B33B27CBD23}"/>
              </a:ext>
            </a:extLst>
          </p:cNvPr>
          <p:cNvSpPr>
            <a:spLocks noChangeShapeType="1"/>
          </p:cNvSpPr>
          <p:nvPr/>
        </p:nvSpPr>
        <p:spPr bwMode="auto">
          <a:xfrm>
            <a:off x="5580063" y="2565400"/>
            <a:ext cx="21590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5" name="Line 25">
            <a:extLst>
              <a:ext uri="{FF2B5EF4-FFF2-40B4-BE49-F238E27FC236}">
                <a16:creationId xmlns:a16="http://schemas.microsoft.com/office/drawing/2014/main" id="{3650991E-F79B-637F-86C2-C893438BCA62}"/>
              </a:ext>
            </a:extLst>
          </p:cNvPr>
          <p:cNvSpPr>
            <a:spLocks noChangeShapeType="1"/>
          </p:cNvSpPr>
          <p:nvPr/>
        </p:nvSpPr>
        <p:spPr bwMode="auto">
          <a:xfrm flipV="1">
            <a:off x="5867400" y="2852738"/>
            <a:ext cx="217488" cy="431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6" name="Line 26">
            <a:extLst>
              <a:ext uri="{FF2B5EF4-FFF2-40B4-BE49-F238E27FC236}">
                <a16:creationId xmlns:a16="http://schemas.microsoft.com/office/drawing/2014/main" id="{81D75920-11E5-7F55-C232-F6F38F5C17F5}"/>
              </a:ext>
            </a:extLst>
          </p:cNvPr>
          <p:cNvSpPr>
            <a:spLocks noChangeShapeType="1"/>
          </p:cNvSpPr>
          <p:nvPr/>
        </p:nvSpPr>
        <p:spPr bwMode="auto">
          <a:xfrm>
            <a:off x="6156325" y="2781300"/>
            <a:ext cx="28733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7" name="Line 27">
            <a:extLst>
              <a:ext uri="{FF2B5EF4-FFF2-40B4-BE49-F238E27FC236}">
                <a16:creationId xmlns:a16="http://schemas.microsoft.com/office/drawing/2014/main" id="{AC379D36-B908-FC14-AA56-C5700006078E}"/>
              </a:ext>
            </a:extLst>
          </p:cNvPr>
          <p:cNvSpPr>
            <a:spLocks noChangeShapeType="1"/>
          </p:cNvSpPr>
          <p:nvPr/>
        </p:nvSpPr>
        <p:spPr bwMode="auto">
          <a:xfrm>
            <a:off x="6443663" y="2781300"/>
            <a:ext cx="360362" cy="5032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8" name="Line 28">
            <a:extLst>
              <a:ext uri="{FF2B5EF4-FFF2-40B4-BE49-F238E27FC236}">
                <a16:creationId xmlns:a16="http://schemas.microsoft.com/office/drawing/2014/main" id="{FD7C7DE3-03C3-D9BB-BC47-617B93A0DD99}"/>
              </a:ext>
            </a:extLst>
          </p:cNvPr>
          <p:cNvSpPr>
            <a:spLocks noChangeShapeType="1"/>
          </p:cNvSpPr>
          <p:nvPr/>
        </p:nvSpPr>
        <p:spPr bwMode="auto">
          <a:xfrm>
            <a:off x="6877050" y="3357563"/>
            <a:ext cx="287338" cy="714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89" name="Line 29">
            <a:extLst>
              <a:ext uri="{FF2B5EF4-FFF2-40B4-BE49-F238E27FC236}">
                <a16:creationId xmlns:a16="http://schemas.microsoft.com/office/drawing/2014/main" id="{B28D37DE-E134-048A-A15E-556FBB3B4430}"/>
              </a:ext>
            </a:extLst>
          </p:cNvPr>
          <p:cNvSpPr>
            <a:spLocks noChangeShapeType="1"/>
          </p:cNvSpPr>
          <p:nvPr/>
        </p:nvSpPr>
        <p:spPr bwMode="auto">
          <a:xfrm flipV="1">
            <a:off x="7235825" y="2852738"/>
            <a:ext cx="215900" cy="6477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90" name="Line 30">
            <a:extLst>
              <a:ext uri="{FF2B5EF4-FFF2-40B4-BE49-F238E27FC236}">
                <a16:creationId xmlns:a16="http://schemas.microsoft.com/office/drawing/2014/main" id="{1BD998C4-38DC-AF02-1AB0-864170A4F38F}"/>
              </a:ext>
            </a:extLst>
          </p:cNvPr>
          <p:cNvSpPr>
            <a:spLocks noChangeShapeType="1"/>
          </p:cNvSpPr>
          <p:nvPr/>
        </p:nvSpPr>
        <p:spPr bwMode="auto">
          <a:xfrm>
            <a:off x="7451725" y="2781300"/>
            <a:ext cx="288925"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71391" name="Text Box 31">
            <a:extLst>
              <a:ext uri="{FF2B5EF4-FFF2-40B4-BE49-F238E27FC236}">
                <a16:creationId xmlns:a16="http://schemas.microsoft.com/office/drawing/2014/main" id="{C16F0C1A-FAFD-4EE8-30E5-D44E85A8BBD4}"/>
              </a:ext>
            </a:extLst>
          </p:cNvPr>
          <p:cNvSpPr txBox="1">
            <a:spLocks noChangeArrowheads="1"/>
          </p:cNvSpPr>
          <p:nvPr/>
        </p:nvSpPr>
        <p:spPr bwMode="auto">
          <a:xfrm>
            <a:off x="7308850" y="1989138"/>
            <a:ext cx="1511300" cy="39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000">
                <a:latin typeface="Times New Roman" panose="02020603050405020304" pitchFamily="18" charset="0"/>
              </a:rPr>
              <a:t>UCL=10.66</a:t>
            </a:r>
            <a:endParaRPr lang="en-US" altLang="zh-CN" sz="2000"/>
          </a:p>
        </p:txBody>
      </p:sp>
      <p:sp>
        <p:nvSpPr>
          <p:cNvPr id="271392" name="Text Box 32">
            <a:extLst>
              <a:ext uri="{FF2B5EF4-FFF2-40B4-BE49-F238E27FC236}">
                <a16:creationId xmlns:a16="http://schemas.microsoft.com/office/drawing/2014/main" id="{B870DAA3-36DF-0D62-09CD-B6CE039473F5}"/>
              </a:ext>
            </a:extLst>
          </p:cNvPr>
          <p:cNvSpPr txBox="1">
            <a:spLocks noChangeArrowheads="1"/>
          </p:cNvSpPr>
          <p:nvPr/>
        </p:nvSpPr>
        <p:spPr bwMode="auto">
          <a:xfrm>
            <a:off x="7524750" y="3644900"/>
            <a:ext cx="1619250"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400">
                <a:latin typeface="Times New Roman" panose="02020603050405020304" pitchFamily="18" charset="0"/>
              </a:rPr>
              <a:t>LCL=1.15</a:t>
            </a:r>
            <a:endParaRPr lang="en-US" altLang="zh-CN" sz="2400"/>
          </a:p>
        </p:txBody>
      </p:sp>
      <p:sp>
        <p:nvSpPr>
          <p:cNvPr id="271393" name="Text Box 33">
            <a:extLst>
              <a:ext uri="{FF2B5EF4-FFF2-40B4-BE49-F238E27FC236}">
                <a16:creationId xmlns:a16="http://schemas.microsoft.com/office/drawing/2014/main" id="{70AD9FF9-8EE2-9F4D-0F7B-2B65E85AC8F1}"/>
              </a:ext>
            </a:extLst>
          </p:cNvPr>
          <p:cNvSpPr txBox="1">
            <a:spLocks noChangeArrowheads="1"/>
          </p:cNvSpPr>
          <p:nvPr/>
        </p:nvSpPr>
        <p:spPr bwMode="auto">
          <a:xfrm>
            <a:off x="7667625" y="2924175"/>
            <a:ext cx="1296988"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r>
              <a:rPr lang="en-US" altLang="zh-CN" sz="2400">
                <a:latin typeface="Times New Roman" panose="02020603050405020304" pitchFamily="18" charset="0"/>
              </a:rPr>
              <a:t>CL=4.44</a:t>
            </a:r>
            <a:endParaRPr lang="en-US" altLang="zh-CN" sz="2400"/>
          </a:p>
        </p:txBody>
      </p:sp>
      <p:sp>
        <p:nvSpPr>
          <p:cNvPr id="271394" name="Text Box 34">
            <a:extLst>
              <a:ext uri="{FF2B5EF4-FFF2-40B4-BE49-F238E27FC236}">
                <a16:creationId xmlns:a16="http://schemas.microsoft.com/office/drawing/2014/main" id="{6055E41B-92A5-ABA2-4559-CFCCAD899CD9}"/>
              </a:ext>
            </a:extLst>
          </p:cNvPr>
          <p:cNvSpPr txBox="1">
            <a:spLocks noChangeArrowheads="1"/>
          </p:cNvSpPr>
          <p:nvPr/>
        </p:nvSpPr>
        <p:spPr bwMode="auto">
          <a:xfrm>
            <a:off x="611188" y="1412875"/>
            <a:ext cx="792162"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Pn</a:t>
            </a:r>
            <a:r>
              <a:rPr lang="zh-CN" altLang="en-US"/>
              <a:t>控制图</a:t>
            </a:r>
          </a:p>
        </p:txBody>
      </p:sp>
      <p:sp>
        <p:nvSpPr>
          <p:cNvPr id="271395" name="Text Box 35">
            <a:extLst>
              <a:ext uri="{FF2B5EF4-FFF2-40B4-BE49-F238E27FC236}">
                <a16:creationId xmlns:a16="http://schemas.microsoft.com/office/drawing/2014/main" id="{A51E9529-0076-8E47-8E9E-E4621F11923D}"/>
              </a:ext>
            </a:extLst>
          </p:cNvPr>
          <p:cNvSpPr txBox="1">
            <a:spLocks noChangeArrowheads="1"/>
          </p:cNvSpPr>
          <p:nvPr/>
        </p:nvSpPr>
        <p:spPr bwMode="auto">
          <a:xfrm>
            <a:off x="2555875" y="4581525"/>
            <a:ext cx="2520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a:t>不合格品数控制图</a:t>
            </a:r>
          </a:p>
        </p:txBody>
      </p:sp>
    </p:spTree>
  </p:cSld>
  <p:clrMapOvr>
    <a:masterClrMapping/>
  </p:clrMapOvr>
  <p:transition spd="slow">
    <p:strips dir="rd"/>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96C6C86-3CDE-FBFC-EB89-1338BA3AC74B}"/>
              </a:ext>
            </a:extLst>
          </p:cNvPr>
          <p:cNvSpPr>
            <a:spLocks noGrp="1"/>
          </p:cNvSpPr>
          <p:nvPr>
            <p:ph type="dt" sz="half" idx="10"/>
          </p:nvPr>
        </p:nvSpPr>
        <p:spPr/>
        <p:txBody>
          <a:bodyPr/>
          <a:lstStyle/>
          <a:p>
            <a:r>
              <a:rPr lang="zh-CN" altLang="en-US"/>
              <a:t>讲义制作：李丽，陈志祥审</a:t>
            </a:r>
            <a:endParaRPr lang="en-US" altLang="zh-CN"/>
          </a:p>
        </p:txBody>
      </p:sp>
      <p:sp>
        <p:nvSpPr>
          <p:cNvPr id="246786" name="Rectangle 2">
            <a:extLst>
              <a:ext uri="{FF2B5EF4-FFF2-40B4-BE49-F238E27FC236}">
                <a16:creationId xmlns:a16="http://schemas.microsoft.com/office/drawing/2014/main" id="{A47C3CE4-87D1-084A-0678-5A1521B3D047}"/>
              </a:ext>
            </a:extLst>
          </p:cNvPr>
          <p:cNvSpPr>
            <a:spLocks noGrp="1" noChangeArrowheads="1"/>
          </p:cNvSpPr>
          <p:nvPr>
            <p:ph type="title"/>
          </p:nvPr>
        </p:nvSpPr>
        <p:spPr/>
        <p:txBody>
          <a:bodyPr/>
          <a:lstStyle/>
          <a:p>
            <a:r>
              <a:rPr lang="zh-CN" altLang="en-US"/>
              <a:t>控制图使用中的有关问题</a:t>
            </a:r>
          </a:p>
        </p:txBody>
      </p:sp>
      <p:sp>
        <p:nvSpPr>
          <p:cNvPr id="246787" name="Rectangle 3">
            <a:extLst>
              <a:ext uri="{FF2B5EF4-FFF2-40B4-BE49-F238E27FC236}">
                <a16:creationId xmlns:a16="http://schemas.microsoft.com/office/drawing/2014/main" id="{0C8E4358-CBA2-0A17-9411-0503EED62324}"/>
              </a:ext>
            </a:extLst>
          </p:cNvPr>
          <p:cNvSpPr>
            <a:spLocks noGrp="1" noChangeArrowheads="1"/>
          </p:cNvSpPr>
          <p:nvPr>
            <p:ph type="body" idx="1"/>
          </p:nvPr>
        </p:nvSpPr>
        <p:spPr/>
        <p:txBody>
          <a:bodyPr/>
          <a:lstStyle/>
          <a:p>
            <a:pPr>
              <a:buFontTx/>
              <a:buNone/>
            </a:pPr>
            <a:r>
              <a:rPr lang="en-US" altLang="zh-CN"/>
              <a:t>1</a:t>
            </a:r>
            <a:r>
              <a:rPr lang="zh-CN" altLang="en-US"/>
              <a:t>、异常处理坚持“</a:t>
            </a:r>
            <a:r>
              <a:rPr lang="en-US" altLang="zh-CN"/>
              <a:t>20</a:t>
            </a:r>
            <a:r>
              <a:rPr lang="zh-CN" altLang="en-US"/>
              <a:t>字方针”：</a:t>
            </a:r>
            <a:r>
              <a:rPr lang="en-US" altLang="zh-CN"/>
              <a:t>----</a:t>
            </a:r>
            <a:r>
              <a:rPr lang="zh-CN" altLang="en-US"/>
              <a:t>查出原因，采取措施，保证消除，不再出现，纳入标准。</a:t>
            </a:r>
          </a:p>
          <a:p>
            <a:pPr>
              <a:buFontTx/>
              <a:buNone/>
            </a:pPr>
            <a:r>
              <a:rPr lang="en-US" altLang="zh-CN"/>
              <a:t>2</a:t>
            </a:r>
            <a:r>
              <a:rPr lang="zh-CN" altLang="en-US"/>
              <a:t>、控制图的调整</a:t>
            </a:r>
          </a:p>
          <a:p>
            <a:pPr>
              <a:buFontTx/>
              <a:buNone/>
            </a:pPr>
            <a:r>
              <a:rPr lang="en-US" altLang="zh-CN"/>
              <a:t>3</a:t>
            </a:r>
            <a:r>
              <a:rPr lang="zh-CN" altLang="en-US"/>
              <a:t>、图类型的选用</a:t>
            </a:r>
          </a:p>
        </p:txBody>
      </p:sp>
    </p:spTree>
  </p:cSld>
  <p:clrMapOvr>
    <a:masterClrMapping/>
  </p:clrMapOvr>
  <p:transition spd="slow">
    <p:strips dir="rd"/>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DCB87A84-60F1-DAAE-87C4-6E619A8CF05D}"/>
              </a:ext>
            </a:extLst>
          </p:cNvPr>
          <p:cNvSpPr>
            <a:spLocks noGrp="1"/>
          </p:cNvSpPr>
          <p:nvPr>
            <p:ph type="dt" sz="half" idx="10"/>
          </p:nvPr>
        </p:nvSpPr>
        <p:spPr/>
        <p:txBody>
          <a:bodyPr/>
          <a:lstStyle/>
          <a:p>
            <a:r>
              <a:rPr lang="zh-CN" altLang="en-US"/>
              <a:t>讲义制作：李丽，陈志祥审</a:t>
            </a:r>
            <a:endParaRPr lang="en-US" altLang="zh-CN"/>
          </a:p>
        </p:txBody>
      </p:sp>
      <p:sp>
        <p:nvSpPr>
          <p:cNvPr id="160770" name="Rectangle 2">
            <a:extLst>
              <a:ext uri="{FF2B5EF4-FFF2-40B4-BE49-F238E27FC236}">
                <a16:creationId xmlns:a16="http://schemas.microsoft.com/office/drawing/2014/main" id="{3F6B8156-B5B9-142C-BB80-E9B48DD3DDB3}"/>
              </a:ext>
            </a:extLst>
          </p:cNvPr>
          <p:cNvSpPr>
            <a:spLocks noGrp="1" noChangeArrowheads="1"/>
          </p:cNvSpPr>
          <p:nvPr>
            <p:ph type="title"/>
          </p:nvPr>
        </p:nvSpPr>
        <p:spPr/>
        <p:txBody>
          <a:bodyPr/>
          <a:lstStyle/>
          <a:p>
            <a:r>
              <a:rPr lang="zh-CN" altLang="en-US"/>
              <a:t>三、工序能力分析</a:t>
            </a:r>
          </a:p>
        </p:txBody>
      </p:sp>
      <p:sp>
        <p:nvSpPr>
          <p:cNvPr id="160772" name="Text Box 4">
            <a:extLst>
              <a:ext uri="{FF2B5EF4-FFF2-40B4-BE49-F238E27FC236}">
                <a16:creationId xmlns:a16="http://schemas.microsoft.com/office/drawing/2014/main" id="{A30F5E57-D6BD-F4A9-D7B0-338FF63BD377}"/>
              </a:ext>
            </a:extLst>
          </p:cNvPr>
          <p:cNvSpPr txBox="1">
            <a:spLocks noChangeArrowheads="1"/>
          </p:cNvSpPr>
          <p:nvPr/>
        </p:nvSpPr>
        <p:spPr bwMode="auto">
          <a:xfrm>
            <a:off x="611188" y="1557338"/>
            <a:ext cx="8083550" cy="4473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a:t>       </a:t>
            </a:r>
            <a:r>
              <a:rPr lang="zh-CN" altLang="en-US" sz="2400" b="1">
                <a:effectLst>
                  <a:outerShdw blurRad="38100" dist="38100" dir="2700000" algn="tl">
                    <a:srgbClr val="000000"/>
                  </a:outerShdw>
                </a:effectLst>
              </a:rPr>
              <a:t>一个生产工序（或服务过程）的生产质量水平可以用一个能力指数来评判，这就是工序能力指数，或称为过程能力指数。</a:t>
            </a:r>
          </a:p>
          <a:p>
            <a:r>
              <a:rPr lang="zh-CN" altLang="en-US" sz="2400" b="1">
                <a:effectLst>
                  <a:outerShdw blurRad="38100" dist="38100" dir="2700000" algn="tl">
                    <a:srgbClr val="000000"/>
                  </a:outerShdw>
                </a:effectLst>
              </a:rPr>
              <a:t>        理解“工序能力指数”的概念，首先要搞清楚什么是“工序能力”，这里的工序能力指的是工序处于正常状态下稳定加工某种质量的产品的能力，也叫加工精度，用</a:t>
            </a:r>
            <a:r>
              <a:rPr lang="en-US" altLang="zh-CN" sz="2400" b="1">
                <a:effectLst>
                  <a:outerShdw blurRad="38100" dist="38100" dir="2700000" algn="tl">
                    <a:srgbClr val="000000"/>
                  </a:outerShdw>
                </a:effectLst>
              </a:rPr>
              <a:t>B</a:t>
            </a:r>
            <a:r>
              <a:rPr lang="zh-CN" altLang="en-US" sz="2400" b="1">
                <a:effectLst>
                  <a:outerShdw blurRad="38100" dist="38100" dir="2700000" algn="tl">
                    <a:srgbClr val="000000"/>
                  </a:outerShdw>
                </a:effectLst>
              </a:rPr>
              <a:t>来表示。通常用加工尺寸的分布密度函数的</a:t>
            </a:r>
            <a:r>
              <a:rPr lang="en-US" altLang="zh-CN" sz="2400" b="1">
                <a:effectLst>
                  <a:outerShdw blurRad="38100" dist="38100" dir="2700000" algn="tl">
                    <a:srgbClr val="000000"/>
                  </a:outerShdw>
                </a:effectLst>
              </a:rPr>
              <a:t>6</a:t>
            </a:r>
            <a:r>
              <a:rPr lang="zh-CN" altLang="en-US" sz="2400" b="1">
                <a:effectLst>
                  <a:outerShdw blurRad="38100" dist="38100" dir="2700000" algn="tl">
                    <a:srgbClr val="000000"/>
                  </a:outerShdw>
                </a:effectLst>
              </a:rPr>
              <a:t>倍标准方差表示</a:t>
            </a:r>
            <a:r>
              <a:rPr lang="en-US" altLang="zh-CN" sz="2400" b="1">
                <a:effectLst>
                  <a:outerShdw blurRad="38100" dist="38100" dir="2700000" algn="tl">
                    <a:srgbClr val="000000"/>
                  </a:outerShdw>
                </a:effectLst>
              </a:rPr>
              <a:t>,</a:t>
            </a:r>
            <a:r>
              <a:rPr lang="zh-CN" altLang="en-US" sz="2400" b="1">
                <a:effectLst>
                  <a:outerShdw blurRad="38100" dist="38100" dir="2700000" algn="tl">
                    <a:srgbClr val="000000"/>
                  </a:outerShdw>
                </a:effectLst>
              </a:rPr>
              <a:t>即</a:t>
            </a:r>
            <a:r>
              <a:rPr lang="en-US" altLang="zh-CN" sz="2400" b="1">
                <a:effectLst>
                  <a:outerShdw blurRad="38100" dist="38100" dir="2700000" algn="tl">
                    <a:srgbClr val="000000"/>
                  </a:outerShdw>
                </a:effectLst>
              </a:rPr>
              <a:t>B=6      </a:t>
            </a:r>
            <a:r>
              <a:rPr lang="zh-CN" altLang="en-US" sz="2400" b="1">
                <a:effectLst>
                  <a:outerShdw blurRad="38100" dist="38100" dir="2700000" algn="tl">
                    <a:srgbClr val="000000"/>
                  </a:outerShdw>
                </a:effectLst>
              </a:rPr>
              <a:t>。</a:t>
            </a:r>
          </a:p>
          <a:p>
            <a:r>
              <a:rPr lang="zh-CN" altLang="en-US" sz="2400" b="1">
                <a:effectLst>
                  <a:outerShdw blurRad="38100" dist="38100" dir="2700000" algn="tl">
                    <a:srgbClr val="000000"/>
                  </a:outerShdw>
                </a:effectLst>
              </a:rPr>
              <a:t>    下面一个图表示了不同的质量特性分布曲线下的工序能力（精度）。尺寸分布的方差越大，即越大，曲线的峰值越低，数据越分散，精度就低，工序能力低（</a:t>
            </a:r>
            <a:r>
              <a:rPr lang="en-US" altLang="zh-CN" sz="2400" b="1">
                <a:effectLst>
                  <a:outerShdw blurRad="38100" dist="38100" dir="2700000" algn="tl">
                    <a:srgbClr val="000000"/>
                  </a:outerShdw>
                </a:effectLst>
              </a:rPr>
              <a:t>B</a:t>
            </a:r>
            <a:r>
              <a:rPr lang="zh-CN" altLang="en-US" sz="2400" b="1">
                <a:effectLst>
                  <a:outerShdw blurRad="38100" dist="38100" dir="2700000" algn="tl">
                    <a:srgbClr val="000000"/>
                  </a:outerShdw>
                </a:effectLst>
              </a:rPr>
              <a:t>大）；反之，加工精度高，则工序能力高（</a:t>
            </a:r>
            <a:r>
              <a:rPr lang="en-US" altLang="zh-CN" sz="2400" b="1">
                <a:effectLst>
                  <a:outerShdw blurRad="38100" dist="38100" dir="2700000" algn="tl">
                    <a:srgbClr val="000000"/>
                  </a:outerShdw>
                </a:effectLst>
              </a:rPr>
              <a:t>B</a:t>
            </a:r>
            <a:r>
              <a:rPr lang="zh-CN" altLang="en-US" sz="2400" b="1">
                <a:effectLst>
                  <a:outerShdw blurRad="38100" dist="38100" dir="2700000" algn="tl">
                    <a:srgbClr val="000000"/>
                  </a:outerShdw>
                </a:effectLst>
              </a:rPr>
              <a:t>小）。</a:t>
            </a:r>
          </a:p>
        </p:txBody>
      </p:sp>
      <p:sp>
        <p:nvSpPr>
          <p:cNvPr id="160774" name="Rectangle 6">
            <a:extLst>
              <a:ext uri="{FF2B5EF4-FFF2-40B4-BE49-F238E27FC236}">
                <a16:creationId xmlns:a16="http://schemas.microsoft.com/office/drawing/2014/main" id="{8B395BD9-0036-F9A7-5E0A-ECAEA3227783}"/>
              </a:ext>
            </a:extLst>
          </p:cNvPr>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0773" name="Object 5">
            <a:extLst>
              <a:ext uri="{FF2B5EF4-FFF2-40B4-BE49-F238E27FC236}">
                <a16:creationId xmlns:a16="http://schemas.microsoft.com/office/drawing/2014/main" id="{7363F316-191A-DCBF-1FBB-4EEEDBEC635A}"/>
              </a:ext>
            </a:extLst>
          </p:cNvPr>
          <p:cNvGraphicFramePr>
            <a:graphicFrameLocks noChangeAspect="1"/>
          </p:cNvGraphicFramePr>
          <p:nvPr/>
        </p:nvGraphicFramePr>
        <p:xfrm>
          <a:off x="1331913" y="4221163"/>
          <a:ext cx="431800" cy="374650"/>
        </p:xfrm>
        <a:graphic>
          <a:graphicData uri="http://schemas.openxmlformats.org/presentationml/2006/ole">
            <mc:AlternateContent xmlns:mc="http://schemas.openxmlformats.org/markup-compatibility/2006">
              <mc:Choice xmlns:v="urn:schemas-microsoft-com:vml" Requires="v">
                <p:oleObj name="公式" r:id="rId2" imgW="139518" imgH="126835" progId="Equation.3">
                  <p:embed/>
                </p:oleObj>
              </mc:Choice>
              <mc:Fallback>
                <p:oleObj name="公式" r:id="rId2" imgW="139518" imgH="126835"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1913" y="4221163"/>
                        <a:ext cx="431800" cy="374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spd="slow">
    <p:strips dir="rd"/>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2F47ADF-EA06-423D-4DCD-681B142AD1B3}"/>
              </a:ext>
            </a:extLst>
          </p:cNvPr>
          <p:cNvSpPr>
            <a:spLocks noGrp="1"/>
          </p:cNvSpPr>
          <p:nvPr>
            <p:ph type="dt" sz="half" idx="10"/>
          </p:nvPr>
        </p:nvSpPr>
        <p:spPr/>
        <p:txBody>
          <a:bodyPr/>
          <a:lstStyle/>
          <a:p>
            <a:r>
              <a:rPr lang="zh-CN" altLang="en-US"/>
              <a:t>讲义制作：李丽，陈志祥审</a:t>
            </a:r>
            <a:endParaRPr lang="en-US" altLang="zh-CN"/>
          </a:p>
        </p:txBody>
      </p:sp>
      <p:sp>
        <p:nvSpPr>
          <p:cNvPr id="129026" name="Rectangle 2">
            <a:extLst>
              <a:ext uri="{FF2B5EF4-FFF2-40B4-BE49-F238E27FC236}">
                <a16:creationId xmlns:a16="http://schemas.microsoft.com/office/drawing/2014/main" id="{5ACA46F4-0969-5F12-8E43-4DFA8ECA9D44}"/>
              </a:ext>
            </a:extLst>
          </p:cNvPr>
          <p:cNvSpPr>
            <a:spLocks noChangeArrowheads="1"/>
          </p:cNvSpPr>
          <p:nvPr/>
        </p:nvSpPr>
        <p:spPr bwMode="auto">
          <a:xfrm>
            <a:off x="2125663" y="2389188"/>
            <a:ext cx="489426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zh-CN" altLang="en-US"/>
          </a:p>
        </p:txBody>
      </p:sp>
      <p:sp>
        <p:nvSpPr>
          <p:cNvPr id="129027" name="Line 3">
            <a:extLst>
              <a:ext uri="{FF2B5EF4-FFF2-40B4-BE49-F238E27FC236}">
                <a16:creationId xmlns:a16="http://schemas.microsoft.com/office/drawing/2014/main" id="{3F25D368-BABF-6E68-CEA4-A9C8F41BA1F2}"/>
              </a:ext>
            </a:extLst>
          </p:cNvPr>
          <p:cNvSpPr>
            <a:spLocks noChangeShapeType="1"/>
          </p:cNvSpPr>
          <p:nvPr/>
        </p:nvSpPr>
        <p:spPr bwMode="auto">
          <a:xfrm>
            <a:off x="1295400" y="3732213"/>
            <a:ext cx="6991350" cy="1587"/>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28" name="Line 4">
            <a:extLst>
              <a:ext uri="{FF2B5EF4-FFF2-40B4-BE49-F238E27FC236}">
                <a16:creationId xmlns:a16="http://schemas.microsoft.com/office/drawing/2014/main" id="{1B40FBEB-CDF7-48DD-0FC5-2777E50BAFE7}"/>
              </a:ext>
            </a:extLst>
          </p:cNvPr>
          <p:cNvSpPr>
            <a:spLocks noChangeShapeType="1"/>
          </p:cNvSpPr>
          <p:nvPr/>
        </p:nvSpPr>
        <p:spPr bwMode="auto">
          <a:xfrm flipH="1">
            <a:off x="3708400" y="657225"/>
            <a:ext cx="22225" cy="3348038"/>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29" name="Freeform 5">
            <a:extLst>
              <a:ext uri="{FF2B5EF4-FFF2-40B4-BE49-F238E27FC236}">
                <a16:creationId xmlns:a16="http://schemas.microsoft.com/office/drawing/2014/main" id="{F5ECEECD-DFDD-6228-C86E-E418AF8434E3}"/>
              </a:ext>
            </a:extLst>
          </p:cNvPr>
          <p:cNvSpPr>
            <a:spLocks/>
          </p:cNvSpPr>
          <p:nvPr/>
        </p:nvSpPr>
        <p:spPr bwMode="auto">
          <a:xfrm>
            <a:off x="1258888" y="1338263"/>
            <a:ext cx="5735637" cy="2366962"/>
          </a:xfrm>
          <a:custGeom>
            <a:avLst/>
            <a:gdLst>
              <a:gd name="T0" fmla="*/ 0 w 4665"/>
              <a:gd name="T1" fmla="*/ 1518 h 1542"/>
              <a:gd name="T2" fmla="*/ 1290 w 4665"/>
              <a:gd name="T3" fmla="*/ 936 h 1542"/>
              <a:gd name="T4" fmla="*/ 2010 w 4665"/>
              <a:gd name="T5" fmla="*/ 0 h 1542"/>
              <a:gd name="T6" fmla="*/ 2910 w 4665"/>
              <a:gd name="T7" fmla="*/ 936 h 1542"/>
              <a:gd name="T8" fmla="*/ 4350 w 4665"/>
              <a:gd name="T9" fmla="*/ 1422 h 1542"/>
              <a:gd name="T10" fmla="*/ 4665 w 4665"/>
              <a:gd name="T11" fmla="*/ 1542 h 1542"/>
            </a:gdLst>
            <a:ahLst/>
            <a:cxnLst>
              <a:cxn ang="0">
                <a:pos x="T0" y="T1"/>
              </a:cxn>
              <a:cxn ang="0">
                <a:pos x="T2" y="T3"/>
              </a:cxn>
              <a:cxn ang="0">
                <a:pos x="T4" y="T5"/>
              </a:cxn>
              <a:cxn ang="0">
                <a:pos x="T6" y="T7"/>
              </a:cxn>
              <a:cxn ang="0">
                <a:pos x="T8" y="T9"/>
              </a:cxn>
              <a:cxn ang="0">
                <a:pos x="T10" y="T11"/>
              </a:cxn>
            </a:cxnLst>
            <a:rect l="0" t="0" r="r" b="b"/>
            <a:pathLst>
              <a:path w="4665" h="1542">
                <a:moveTo>
                  <a:pt x="0" y="1518"/>
                </a:moveTo>
                <a:cubicBezTo>
                  <a:pt x="212" y="1421"/>
                  <a:pt x="955" y="1189"/>
                  <a:pt x="1290" y="936"/>
                </a:cubicBezTo>
                <a:cubicBezTo>
                  <a:pt x="1625" y="683"/>
                  <a:pt x="1740" y="0"/>
                  <a:pt x="2010" y="0"/>
                </a:cubicBezTo>
                <a:cubicBezTo>
                  <a:pt x="2280" y="0"/>
                  <a:pt x="2520" y="699"/>
                  <a:pt x="2910" y="936"/>
                </a:cubicBezTo>
                <a:cubicBezTo>
                  <a:pt x="3300" y="1173"/>
                  <a:pt x="4057" y="1321"/>
                  <a:pt x="4350" y="1422"/>
                </a:cubicBezTo>
                <a:cubicBezTo>
                  <a:pt x="4643" y="1523"/>
                  <a:pt x="4600" y="1517"/>
                  <a:pt x="4665" y="1542"/>
                </a:cubicBezTo>
              </a:path>
            </a:pathLst>
          </a:custGeom>
          <a:noFill/>
          <a:ln w="3810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0" name="Freeform 6">
            <a:extLst>
              <a:ext uri="{FF2B5EF4-FFF2-40B4-BE49-F238E27FC236}">
                <a16:creationId xmlns:a16="http://schemas.microsoft.com/office/drawing/2014/main" id="{398678F5-6AFB-CA65-9293-A9B1D1C2D510}"/>
              </a:ext>
            </a:extLst>
          </p:cNvPr>
          <p:cNvSpPr>
            <a:spLocks/>
          </p:cNvSpPr>
          <p:nvPr/>
        </p:nvSpPr>
        <p:spPr bwMode="auto">
          <a:xfrm>
            <a:off x="2198688" y="620713"/>
            <a:ext cx="3670300" cy="3125787"/>
          </a:xfrm>
          <a:custGeom>
            <a:avLst/>
            <a:gdLst>
              <a:gd name="T0" fmla="*/ 0 w 2985"/>
              <a:gd name="T1" fmla="*/ 1986 h 2037"/>
              <a:gd name="T2" fmla="*/ 465 w 2985"/>
              <a:gd name="T3" fmla="*/ 1806 h 2037"/>
              <a:gd name="T4" fmla="*/ 810 w 2985"/>
              <a:gd name="T5" fmla="*/ 1385 h 2037"/>
              <a:gd name="T6" fmla="*/ 1260 w 2985"/>
              <a:gd name="T7" fmla="*/ 55 h 2037"/>
              <a:gd name="T8" fmla="*/ 2100 w 2985"/>
              <a:gd name="T9" fmla="*/ 1718 h 2037"/>
              <a:gd name="T10" fmla="*/ 2985 w 2985"/>
              <a:gd name="T11" fmla="*/ 1971 h 2037"/>
            </a:gdLst>
            <a:ahLst/>
            <a:cxnLst>
              <a:cxn ang="0">
                <a:pos x="T0" y="T1"/>
              </a:cxn>
              <a:cxn ang="0">
                <a:pos x="T2" y="T3"/>
              </a:cxn>
              <a:cxn ang="0">
                <a:pos x="T4" y="T5"/>
              </a:cxn>
              <a:cxn ang="0">
                <a:pos x="T6" y="T7"/>
              </a:cxn>
              <a:cxn ang="0">
                <a:pos x="T8" y="T9"/>
              </a:cxn>
              <a:cxn ang="0">
                <a:pos x="T10" y="T11"/>
              </a:cxn>
            </a:cxnLst>
            <a:rect l="0" t="0" r="r" b="b"/>
            <a:pathLst>
              <a:path w="2985" h="2037">
                <a:moveTo>
                  <a:pt x="0" y="1986"/>
                </a:moveTo>
                <a:cubicBezTo>
                  <a:pt x="77" y="1959"/>
                  <a:pt x="330" y="1906"/>
                  <a:pt x="465" y="1806"/>
                </a:cubicBezTo>
                <a:cubicBezTo>
                  <a:pt x="600" y="1706"/>
                  <a:pt x="678" y="1677"/>
                  <a:pt x="810" y="1385"/>
                </a:cubicBezTo>
                <a:cubicBezTo>
                  <a:pt x="942" y="1093"/>
                  <a:pt x="1045" y="0"/>
                  <a:pt x="1260" y="55"/>
                </a:cubicBezTo>
                <a:cubicBezTo>
                  <a:pt x="1475" y="110"/>
                  <a:pt x="1813" y="1399"/>
                  <a:pt x="2100" y="1718"/>
                </a:cubicBezTo>
                <a:cubicBezTo>
                  <a:pt x="2387" y="2037"/>
                  <a:pt x="2801" y="1918"/>
                  <a:pt x="2985" y="1971"/>
                </a:cubicBezTo>
              </a:path>
            </a:pathLst>
          </a:custGeom>
          <a:noFill/>
          <a:ln w="3810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1" name="Line 7">
            <a:extLst>
              <a:ext uri="{FF2B5EF4-FFF2-40B4-BE49-F238E27FC236}">
                <a16:creationId xmlns:a16="http://schemas.microsoft.com/office/drawing/2014/main" id="{576EE8F7-7554-7251-4950-8EB8AA0A5B53}"/>
              </a:ext>
            </a:extLst>
          </p:cNvPr>
          <p:cNvSpPr>
            <a:spLocks noChangeShapeType="1"/>
          </p:cNvSpPr>
          <p:nvPr/>
        </p:nvSpPr>
        <p:spPr bwMode="auto">
          <a:xfrm flipV="1">
            <a:off x="3951288" y="860425"/>
            <a:ext cx="663575" cy="239713"/>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2" name="Text Box 8">
            <a:extLst>
              <a:ext uri="{FF2B5EF4-FFF2-40B4-BE49-F238E27FC236}">
                <a16:creationId xmlns:a16="http://schemas.microsoft.com/office/drawing/2014/main" id="{33A49ACF-7355-0123-A01C-3035B7003A58}"/>
              </a:ext>
            </a:extLst>
          </p:cNvPr>
          <p:cNvSpPr txBox="1">
            <a:spLocks noChangeArrowheads="1"/>
          </p:cNvSpPr>
          <p:nvPr/>
        </p:nvSpPr>
        <p:spPr bwMode="auto">
          <a:xfrm>
            <a:off x="4614863" y="620713"/>
            <a:ext cx="1190625" cy="620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sz="2400">
              <a:solidFill>
                <a:schemeClr val="hlink"/>
              </a:solidFill>
            </a:endParaRPr>
          </a:p>
        </p:txBody>
      </p:sp>
      <p:sp>
        <p:nvSpPr>
          <p:cNvPr id="129033" name="Text Box 9">
            <a:extLst>
              <a:ext uri="{FF2B5EF4-FFF2-40B4-BE49-F238E27FC236}">
                <a16:creationId xmlns:a16="http://schemas.microsoft.com/office/drawing/2014/main" id="{0ECB82EC-1C8C-DF75-E58D-494143FF8D90}"/>
              </a:ext>
            </a:extLst>
          </p:cNvPr>
          <p:cNvSpPr txBox="1">
            <a:spLocks noChangeArrowheads="1"/>
          </p:cNvSpPr>
          <p:nvPr/>
        </p:nvSpPr>
        <p:spPr bwMode="auto">
          <a:xfrm>
            <a:off x="4837113" y="1854200"/>
            <a:ext cx="1189037" cy="620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zh-CN" sz="2400"/>
          </a:p>
        </p:txBody>
      </p:sp>
      <p:sp>
        <p:nvSpPr>
          <p:cNvPr id="129034" name="Line 10">
            <a:extLst>
              <a:ext uri="{FF2B5EF4-FFF2-40B4-BE49-F238E27FC236}">
                <a16:creationId xmlns:a16="http://schemas.microsoft.com/office/drawing/2014/main" id="{3180B761-DDB0-00F1-EB89-C337C689C91E}"/>
              </a:ext>
            </a:extLst>
          </p:cNvPr>
          <p:cNvSpPr>
            <a:spLocks noChangeShapeType="1"/>
          </p:cNvSpPr>
          <p:nvPr/>
        </p:nvSpPr>
        <p:spPr bwMode="auto">
          <a:xfrm flipV="1">
            <a:off x="4837113" y="2535238"/>
            <a:ext cx="442912" cy="239712"/>
          </a:xfrm>
          <a:prstGeom prst="line">
            <a:avLst/>
          </a:prstGeom>
          <a:noFill/>
          <a:ln w="38100">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5" name="Line 11">
            <a:extLst>
              <a:ext uri="{FF2B5EF4-FFF2-40B4-BE49-F238E27FC236}">
                <a16:creationId xmlns:a16="http://schemas.microsoft.com/office/drawing/2014/main" id="{1D84FFCC-5F90-EA2F-A761-4C4EB142BB4A}"/>
              </a:ext>
            </a:extLst>
          </p:cNvPr>
          <p:cNvSpPr>
            <a:spLocks noChangeShapeType="1"/>
          </p:cNvSpPr>
          <p:nvPr/>
        </p:nvSpPr>
        <p:spPr bwMode="auto">
          <a:xfrm>
            <a:off x="2181225" y="3014663"/>
            <a:ext cx="0" cy="1436687"/>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6" name="Line 12">
            <a:extLst>
              <a:ext uri="{FF2B5EF4-FFF2-40B4-BE49-F238E27FC236}">
                <a16:creationId xmlns:a16="http://schemas.microsoft.com/office/drawing/2014/main" id="{6B90107F-C417-B3AB-3655-EF293966B095}"/>
              </a:ext>
            </a:extLst>
          </p:cNvPr>
          <p:cNvSpPr>
            <a:spLocks noChangeShapeType="1"/>
          </p:cNvSpPr>
          <p:nvPr/>
        </p:nvSpPr>
        <p:spPr bwMode="auto">
          <a:xfrm flipV="1">
            <a:off x="5943600" y="3014663"/>
            <a:ext cx="0" cy="1436687"/>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7" name="Line 13">
            <a:extLst>
              <a:ext uri="{FF2B5EF4-FFF2-40B4-BE49-F238E27FC236}">
                <a16:creationId xmlns:a16="http://schemas.microsoft.com/office/drawing/2014/main" id="{66599820-40C0-9D21-60CB-8FE49A20647E}"/>
              </a:ext>
            </a:extLst>
          </p:cNvPr>
          <p:cNvSpPr>
            <a:spLocks noChangeShapeType="1"/>
          </p:cNvSpPr>
          <p:nvPr/>
        </p:nvSpPr>
        <p:spPr bwMode="auto">
          <a:xfrm flipV="1">
            <a:off x="7019925" y="3573463"/>
            <a:ext cx="0" cy="1435100"/>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8" name="Line 14">
            <a:extLst>
              <a:ext uri="{FF2B5EF4-FFF2-40B4-BE49-F238E27FC236}">
                <a16:creationId xmlns:a16="http://schemas.microsoft.com/office/drawing/2014/main" id="{D08EA17A-E866-95EA-9D3B-03FA94DD3C06}"/>
              </a:ext>
            </a:extLst>
          </p:cNvPr>
          <p:cNvSpPr>
            <a:spLocks noChangeShapeType="1"/>
          </p:cNvSpPr>
          <p:nvPr/>
        </p:nvSpPr>
        <p:spPr bwMode="auto">
          <a:xfrm flipV="1">
            <a:off x="1295400" y="3254375"/>
            <a:ext cx="0" cy="1674813"/>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39" name="Line 15">
            <a:extLst>
              <a:ext uri="{FF2B5EF4-FFF2-40B4-BE49-F238E27FC236}">
                <a16:creationId xmlns:a16="http://schemas.microsoft.com/office/drawing/2014/main" id="{13ACC281-E8AB-43CB-65A7-A551E6087005}"/>
              </a:ext>
            </a:extLst>
          </p:cNvPr>
          <p:cNvSpPr>
            <a:spLocks noChangeShapeType="1"/>
          </p:cNvSpPr>
          <p:nvPr/>
        </p:nvSpPr>
        <p:spPr bwMode="auto">
          <a:xfrm>
            <a:off x="2181225" y="4211638"/>
            <a:ext cx="3762375" cy="0"/>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0" name="Line 16">
            <a:extLst>
              <a:ext uri="{FF2B5EF4-FFF2-40B4-BE49-F238E27FC236}">
                <a16:creationId xmlns:a16="http://schemas.microsoft.com/office/drawing/2014/main" id="{6E2A7F93-F87C-B72E-1D62-90B95F86F188}"/>
              </a:ext>
            </a:extLst>
          </p:cNvPr>
          <p:cNvSpPr>
            <a:spLocks noChangeShapeType="1"/>
          </p:cNvSpPr>
          <p:nvPr/>
        </p:nvSpPr>
        <p:spPr bwMode="auto">
          <a:xfrm>
            <a:off x="1295400" y="4727575"/>
            <a:ext cx="5754688" cy="0"/>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1" name="Text Box 17">
            <a:extLst>
              <a:ext uri="{FF2B5EF4-FFF2-40B4-BE49-F238E27FC236}">
                <a16:creationId xmlns:a16="http://schemas.microsoft.com/office/drawing/2014/main" id="{1E5DD2E3-8C00-1065-698B-085A1B37A596}"/>
              </a:ext>
            </a:extLst>
          </p:cNvPr>
          <p:cNvSpPr txBox="1">
            <a:spLocks noChangeArrowheads="1"/>
          </p:cNvSpPr>
          <p:nvPr/>
        </p:nvSpPr>
        <p:spPr bwMode="auto">
          <a:xfrm>
            <a:off x="3851275" y="3789363"/>
            <a:ext cx="1106488"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400">
                <a:latin typeface="Times New Roman" panose="02020603050405020304" pitchFamily="18" charset="0"/>
              </a:rPr>
              <a:t>B1</a:t>
            </a:r>
            <a:endParaRPr lang="en-US" altLang="zh-CN" sz="2400"/>
          </a:p>
        </p:txBody>
      </p:sp>
      <p:sp>
        <p:nvSpPr>
          <p:cNvPr id="129042" name="Text Box 18">
            <a:extLst>
              <a:ext uri="{FF2B5EF4-FFF2-40B4-BE49-F238E27FC236}">
                <a16:creationId xmlns:a16="http://schemas.microsoft.com/office/drawing/2014/main" id="{84F05526-1119-F529-3BEF-A6050679E630}"/>
              </a:ext>
            </a:extLst>
          </p:cNvPr>
          <p:cNvSpPr txBox="1">
            <a:spLocks noChangeArrowheads="1"/>
          </p:cNvSpPr>
          <p:nvPr/>
        </p:nvSpPr>
        <p:spPr bwMode="auto">
          <a:xfrm>
            <a:off x="3492500" y="4724400"/>
            <a:ext cx="1106488" cy="5254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400">
                <a:latin typeface="Times New Roman" panose="02020603050405020304" pitchFamily="18" charset="0"/>
              </a:rPr>
              <a:t>B2</a:t>
            </a:r>
            <a:endParaRPr lang="en-US" altLang="zh-CN" sz="2400"/>
          </a:p>
        </p:txBody>
      </p:sp>
      <p:sp>
        <p:nvSpPr>
          <p:cNvPr id="129043" name="Freeform 19">
            <a:extLst>
              <a:ext uri="{FF2B5EF4-FFF2-40B4-BE49-F238E27FC236}">
                <a16:creationId xmlns:a16="http://schemas.microsoft.com/office/drawing/2014/main" id="{540DCBAA-4DD9-DDE1-DDD5-0E61DC3645A1}"/>
              </a:ext>
            </a:extLst>
          </p:cNvPr>
          <p:cNvSpPr>
            <a:spLocks/>
          </p:cNvSpPr>
          <p:nvPr/>
        </p:nvSpPr>
        <p:spPr bwMode="auto">
          <a:xfrm>
            <a:off x="4837113" y="657225"/>
            <a:ext cx="3449637" cy="3125788"/>
          </a:xfrm>
          <a:custGeom>
            <a:avLst/>
            <a:gdLst>
              <a:gd name="T0" fmla="*/ 0 w 2985"/>
              <a:gd name="T1" fmla="*/ 1986 h 2037"/>
              <a:gd name="T2" fmla="*/ 465 w 2985"/>
              <a:gd name="T3" fmla="*/ 1806 h 2037"/>
              <a:gd name="T4" fmla="*/ 810 w 2985"/>
              <a:gd name="T5" fmla="*/ 1385 h 2037"/>
              <a:gd name="T6" fmla="*/ 1260 w 2985"/>
              <a:gd name="T7" fmla="*/ 55 h 2037"/>
              <a:gd name="T8" fmla="*/ 2100 w 2985"/>
              <a:gd name="T9" fmla="*/ 1718 h 2037"/>
              <a:gd name="T10" fmla="*/ 2985 w 2985"/>
              <a:gd name="T11" fmla="*/ 1971 h 2037"/>
            </a:gdLst>
            <a:ahLst/>
            <a:cxnLst>
              <a:cxn ang="0">
                <a:pos x="T0" y="T1"/>
              </a:cxn>
              <a:cxn ang="0">
                <a:pos x="T2" y="T3"/>
              </a:cxn>
              <a:cxn ang="0">
                <a:pos x="T4" y="T5"/>
              </a:cxn>
              <a:cxn ang="0">
                <a:pos x="T6" y="T7"/>
              </a:cxn>
              <a:cxn ang="0">
                <a:pos x="T8" y="T9"/>
              </a:cxn>
              <a:cxn ang="0">
                <a:pos x="T10" y="T11"/>
              </a:cxn>
            </a:cxnLst>
            <a:rect l="0" t="0" r="r" b="b"/>
            <a:pathLst>
              <a:path w="2985" h="2037">
                <a:moveTo>
                  <a:pt x="0" y="1986"/>
                </a:moveTo>
                <a:cubicBezTo>
                  <a:pt x="77" y="1959"/>
                  <a:pt x="330" y="1906"/>
                  <a:pt x="465" y="1806"/>
                </a:cubicBezTo>
                <a:cubicBezTo>
                  <a:pt x="600" y="1706"/>
                  <a:pt x="678" y="1677"/>
                  <a:pt x="810" y="1385"/>
                </a:cubicBezTo>
                <a:cubicBezTo>
                  <a:pt x="942" y="1093"/>
                  <a:pt x="1045" y="0"/>
                  <a:pt x="1260" y="55"/>
                </a:cubicBezTo>
                <a:cubicBezTo>
                  <a:pt x="1475" y="110"/>
                  <a:pt x="1813" y="1399"/>
                  <a:pt x="2100" y="1718"/>
                </a:cubicBezTo>
                <a:cubicBezTo>
                  <a:pt x="2387" y="2037"/>
                  <a:pt x="2801" y="1918"/>
                  <a:pt x="2985" y="1971"/>
                </a:cubicBezTo>
              </a:path>
            </a:pathLst>
          </a:custGeom>
          <a:noFill/>
          <a:ln w="38100" cap="flat" cmpd="sng">
            <a:solidFill>
              <a:srgbClr val="000000"/>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4" name="Line 20">
            <a:extLst>
              <a:ext uri="{FF2B5EF4-FFF2-40B4-BE49-F238E27FC236}">
                <a16:creationId xmlns:a16="http://schemas.microsoft.com/office/drawing/2014/main" id="{5BC63BC6-011E-2211-DFC2-23604A6085E5}"/>
              </a:ext>
            </a:extLst>
          </p:cNvPr>
          <p:cNvSpPr>
            <a:spLocks noChangeShapeType="1"/>
          </p:cNvSpPr>
          <p:nvPr/>
        </p:nvSpPr>
        <p:spPr bwMode="auto">
          <a:xfrm>
            <a:off x="6300788" y="657225"/>
            <a:ext cx="0" cy="3111500"/>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5" name="Line 21">
            <a:extLst>
              <a:ext uri="{FF2B5EF4-FFF2-40B4-BE49-F238E27FC236}">
                <a16:creationId xmlns:a16="http://schemas.microsoft.com/office/drawing/2014/main" id="{1BB3A7D8-B9C1-EC7A-F9C8-24AA977F0D9F}"/>
              </a:ext>
            </a:extLst>
          </p:cNvPr>
          <p:cNvSpPr>
            <a:spLocks noChangeShapeType="1"/>
          </p:cNvSpPr>
          <p:nvPr/>
        </p:nvSpPr>
        <p:spPr bwMode="auto">
          <a:xfrm>
            <a:off x="4837113" y="3530600"/>
            <a:ext cx="0" cy="1914525"/>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6" name="Line 22">
            <a:extLst>
              <a:ext uri="{FF2B5EF4-FFF2-40B4-BE49-F238E27FC236}">
                <a16:creationId xmlns:a16="http://schemas.microsoft.com/office/drawing/2014/main" id="{BD7DA018-4893-8006-59B4-6704D49193A1}"/>
              </a:ext>
            </a:extLst>
          </p:cNvPr>
          <p:cNvSpPr>
            <a:spLocks noChangeShapeType="1"/>
          </p:cNvSpPr>
          <p:nvPr/>
        </p:nvSpPr>
        <p:spPr bwMode="auto">
          <a:xfrm>
            <a:off x="7905750" y="3505200"/>
            <a:ext cx="0" cy="1914525"/>
          </a:xfrm>
          <a:prstGeom prst="line">
            <a:avLst/>
          </a:prstGeom>
          <a:noFill/>
          <a:ln w="38100" cap="rnd">
            <a:solidFill>
              <a:srgbClr val="000000"/>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7" name="Line 23">
            <a:extLst>
              <a:ext uri="{FF2B5EF4-FFF2-40B4-BE49-F238E27FC236}">
                <a16:creationId xmlns:a16="http://schemas.microsoft.com/office/drawing/2014/main" id="{B87E8F6F-BC5F-B352-05D8-38C47FD9BA05}"/>
              </a:ext>
            </a:extLst>
          </p:cNvPr>
          <p:cNvSpPr>
            <a:spLocks noChangeShapeType="1"/>
          </p:cNvSpPr>
          <p:nvPr/>
        </p:nvSpPr>
        <p:spPr bwMode="auto">
          <a:xfrm flipV="1">
            <a:off x="4837113" y="5181600"/>
            <a:ext cx="3221037" cy="23813"/>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48" name="Text Box 24">
            <a:extLst>
              <a:ext uri="{FF2B5EF4-FFF2-40B4-BE49-F238E27FC236}">
                <a16:creationId xmlns:a16="http://schemas.microsoft.com/office/drawing/2014/main" id="{152F5E40-0CD4-73A8-3F4A-5BE8090634F4}"/>
              </a:ext>
            </a:extLst>
          </p:cNvPr>
          <p:cNvSpPr txBox="1">
            <a:spLocks noChangeArrowheads="1"/>
          </p:cNvSpPr>
          <p:nvPr/>
        </p:nvSpPr>
        <p:spPr bwMode="auto">
          <a:xfrm>
            <a:off x="5848350" y="4800600"/>
            <a:ext cx="1106488" cy="717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400">
                <a:latin typeface="Times New Roman" panose="02020603050405020304" pitchFamily="18" charset="0"/>
              </a:rPr>
              <a:t>T</a:t>
            </a:r>
            <a:endParaRPr lang="en-US" altLang="zh-CN" sz="2400"/>
          </a:p>
        </p:txBody>
      </p:sp>
      <p:sp>
        <p:nvSpPr>
          <p:cNvPr id="129049" name="Line 25">
            <a:extLst>
              <a:ext uri="{FF2B5EF4-FFF2-40B4-BE49-F238E27FC236}">
                <a16:creationId xmlns:a16="http://schemas.microsoft.com/office/drawing/2014/main" id="{29066185-1484-F97D-26AC-3F5F97788DF9}"/>
              </a:ext>
            </a:extLst>
          </p:cNvPr>
          <p:cNvSpPr>
            <a:spLocks noChangeShapeType="1"/>
          </p:cNvSpPr>
          <p:nvPr/>
        </p:nvSpPr>
        <p:spPr bwMode="auto">
          <a:xfrm>
            <a:off x="3730625" y="3290888"/>
            <a:ext cx="2655888" cy="0"/>
          </a:xfrm>
          <a:prstGeom prst="line">
            <a:avLst/>
          </a:prstGeom>
          <a:noFill/>
          <a:ln w="19050">
            <a:solidFill>
              <a:srgbClr val="000000"/>
            </a:solidFill>
            <a:round/>
            <a:headEnd type="triangl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129050" name="Text Box 26">
            <a:extLst>
              <a:ext uri="{FF2B5EF4-FFF2-40B4-BE49-F238E27FC236}">
                <a16:creationId xmlns:a16="http://schemas.microsoft.com/office/drawing/2014/main" id="{38161CA0-6E2E-5D11-8DC5-8F15CF532400}"/>
              </a:ext>
            </a:extLst>
          </p:cNvPr>
          <p:cNvSpPr txBox="1">
            <a:spLocks noChangeArrowheads="1"/>
          </p:cNvSpPr>
          <p:nvPr/>
        </p:nvSpPr>
        <p:spPr bwMode="auto">
          <a:xfrm>
            <a:off x="4837113" y="2811463"/>
            <a:ext cx="1106487" cy="719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2400">
                <a:latin typeface="Times New Roman" panose="02020603050405020304" pitchFamily="18" charset="0"/>
              </a:rPr>
              <a:t>E</a:t>
            </a:r>
            <a:endParaRPr lang="en-US" altLang="zh-CN" sz="2400"/>
          </a:p>
        </p:txBody>
      </p:sp>
      <p:sp>
        <p:nvSpPr>
          <p:cNvPr id="129051" name="Rectangle 27">
            <a:extLst>
              <a:ext uri="{FF2B5EF4-FFF2-40B4-BE49-F238E27FC236}">
                <a16:creationId xmlns:a16="http://schemas.microsoft.com/office/drawing/2014/main" id="{4F397AEB-26E9-91B2-2F94-EF84B6CFDB86}"/>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29052" name="Object 28">
            <a:extLst>
              <a:ext uri="{FF2B5EF4-FFF2-40B4-BE49-F238E27FC236}">
                <a16:creationId xmlns:a16="http://schemas.microsoft.com/office/drawing/2014/main" id="{713A2580-4799-227E-AC35-5D0BF317973A}"/>
              </a:ext>
            </a:extLst>
          </p:cNvPr>
          <p:cNvGraphicFramePr>
            <a:graphicFrameLocks noChangeAspect="1"/>
          </p:cNvGraphicFramePr>
          <p:nvPr/>
        </p:nvGraphicFramePr>
        <p:xfrm>
          <a:off x="4643438" y="549275"/>
          <a:ext cx="1081087" cy="407988"/>
        </p:xfrm>
        <a:graphic>
          <a:graphicData uri="http://schemas.openxmlformats.org/presentationml/2006/ole">
            <mc:AlternateContent xmlns:mc="http://schemas.openxmlformats.org/markup-compatibility/2006">
              <mc:Choice xmlns:v="urn:schemas-microsoft-com:vml" Requires="v">
                <p:oleObj name="Equation" r:id="rId2" imgW="431613" imgH="165028" progId="Equation.3">
                  <p:embed/>
                </p:oleObj>
              </mc:Choice>
              <mc:Fallback>
                <p:oleObj name="Equation" r:id="rId2" imgW="431613" imgH="165028" progId="Equation.3">
                  <p:embed/>
                  <p:pic>
                    <p:nvPicPr>
                      <p:cNvPr id="0" name="Object 2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3438" y="549275"/>
                        <a:ext cx="1081087" cy="407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53" name="Rectangle 29">
            <a:extLst>
              <a:ext uri="{FF2B5EF4-FFF2-40B4-BE49-F238E27FC236}">
                <a16:creationId xmlns:a16="http://schemas.microsoft.com/office/drawing/2014/main" id="{FAB31B5D-A088-A43D-89D0-B577034E851C}"/>
              </a:ext>
            </a:extLst>
          </p:cNvPr>
          <p:cNvSpPr>
            <a:spLocks noChangeArrowheads="1"/>
          </p:cNvSpPr>
          <p:nvPr/>
        </p:nvSpPr>
        <p:spPr bwMode="auto">
          <a:xfrm>
            <a:off x="0" y="334803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29054" name="Object 30">
            <a:extLst>
              <a:ext uri="{FF2B5EF4-FFF2-40B4-BE49-F238E27FC236}">
                <a16:creationId xmlns:a16="http://schemas.microsoft.com/office/drawing/2014/main" id="{C49D4AC1-A219-E28B-26F1-88843DE71867}"/>
              </a:ext>
            </a:extLst>
          </p:cNvPr>
          <p:cNvGraphicFramePr>
            <a:graphicFrameLocks noChangeAspect="1"/>
          </p:cNvGraphicFramePr>
          <p:nvPr/>
        </p:nvGraphicFramePr>
        <p:xfrm>
          <a:off x="5003800" y="2060575"/>
          <a:ext cx="1152525" cy="434975"/>
        </p:xfrm>
        <a:graphic>
          <a:graphicData uri="http://schemas.openxmlformats.org/presentationml/2006/ole">
            <mc:AlternateContent xmlns:mc="http://schemas.openxmlformats.org/markup-compatibility/2006">
              <mc:Choice xmlns:v="urn:schemas-microsoft-com:vml" Requires="v">
                <p:oleObj name="Equation" r:id="rId4" imgW="431613" imgH="165028" progId="Equation.3">
                  <p:embed/>
                </p:oleObj>
              </mc:Choice>
              <mc:Fallback>
                <p:oleObj name="Equation" r:id="rId4" imgW="431613" imgH="165028" progId="Equation.3">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00" y="2060575"/>
                        <a:ext cx="1152525"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9055" name="Rectangle 31">
            <a:extLst>
              <a:ext uri="{FF2B5EF4-FFF2-40B4-BE49-F238E27FC236}">
                <a16:creationId xmlns:a16="http://schemas.microsoft.com/office/drawing/2014/main" id="{1C6D7945-F515-1721-63B1-E74E8244E0C7}"/>
              </a:ext>
            </a:extLst>
          </p:cNvPr>
          <p:cNvSpPr>
            <a:spLocks noChangeArrowheads="1"/>
          </p:cNvSpPr>
          <p:nvPr/>
        </p:nvSpPr>
        <p:spPr bwMode="auto">
          <a:xfrm>
            <a:off x="2987675" y="5661025"/>
            <a:ext cx="37893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a:r>
              <a:rPr kumimoji="1" lang="zh-CN" altLang="en-US" sz="2400" b="1">
                <a:effectLst>
                  <a:outerShdw blurRad="38100" dist="38100" dir="2700000" algn="tl">
                    <a:srgbClr val="000000"/>
                  </a:outerShdw>
                </a:effectLst>
              </a:rPr>
              <a:t>图   实际分布标准分布曲线</a:t>
            </a:r>
          </a:p>
        </p:txBody>
      </p:sp>
    </p:spTree>
  </p:cSld>
  <p:clrMapOvr>
    <a:masterClrMapping/>
  </p:clrMapOvr>
  <p:transition>
    <p:zoom dir="in"/>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1C565018-00FA-4AF2-D2F0-80219B13B633}"/>
              </a:ext>
            </a:extLst>
          </p:cNvPr>
          <p:cNvSpPr>
            <a:spLocks noGrp="1"/>
          </p:cNvSpPr>
          <p:nvPr>
            <p:ph type="dt" sz="half" idx="10"/>
          </p:nvPr>
        </p:nvSpPr>
        <p:spPr/>
        <p:txBody>
          <a:bodyPr/>
          <a:lstStyle/>
          <a:p>
            <a:r>
              <a:rPr lang="zh-CN" altLang="en-US"/>
              <a:t>讲义制作：李丽，陈志祥审</a:t>
            </a:r>
            <a:endParaRPr lang="en-US" altLang="zh-CN"/>
          </a:p>
        </p:txBody>
      </p:sp>
      <p:sp>
        <p:nvSpPr>
          <p:cNvPr id="130050" name="Rectangle 2">
            <a:extLst>
              <a:ext uri="{FF2B5EF4-FFF2-40B4-BE49-F238E27FC236}">
                <a16:creationId xmlns:a16="http://schemas.microsoft.com/office/drawing/2014/main" id="{79202E08-7FB4-E73F-0B79-15AB69DAEE67}"/>
              </a:ext>
            </a:extLst>
          </p:cNvPr>
          <p:cNvSpPr>
            <a:spLocks noChangeArrowheads="1"/>
          </p:cNvSpPr>
          <p:nvPr/>
        </p:nvSpPr>
        <p:spPr bwMode="auto">
          <a:xfrm>
            <a:off x="0" y="32527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0051" name="Object 3">
            <a:extLst>
              <a:ext uri="{FF2B5EF4-FFF2-40B4-BE49-F238E27FC236}">
                <a16:creationId xmlns:a16="http://schemas.microsoft.com/office/drawing/2014/main" id="{ABC0F1BA-585D-1FBA-D3F5-53617945B5A2}"/>
              </a:ext>
            </a:extLst>
          </p:cNvPr>
          <p:cNvGraphicFramePr>
            <a:graphicFrameLocks noChangeAspect="1"/>
          </p:cNvGraphicFramePr>
          <p:nvPr/>
        </p:nvGraphicFramePr>
        <p:xfrm>
          <a:off x="1835150" y="1773238"/>
          <a:ext cx="4392613" cy="1152525"/>
        </p:xfrm>
        <a:graphic>
          <a:graphicData uri="http://schemas.openxmlformats.org/presentationml/2006/ole">
            <mc:AlternateContent xmlns:mc="http://schemas.openxmlformats.org/markup-compatibility/2006">
              <mc:Choice xmlns:v="urn:schemas-microsoft-com:vml" Requires="v">
                <p:oleObj name="Equation" r:id="rId2" imgW="1079032" imgH="355446" progId="Equation.3">
                  <p:embed/>
                </p:oleObj>
              </mc:Choice>
              <mc:Fallback>
                <p:oleObj name="Equation" r:id="rId2" imgW="1079032" imgH="355446" progId="Equation.3">
                  <p:embed/>
                  <p:pic>
                    <p:nvPicPr>
                      <p:cNvPr id="0" name="Object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150" y="1773238"/>
                        <a:ext cx="4392613" cy="1152525"/>
                      </a:xfrm>
                      <a:prstGeom prst="rect">
                        <a:avLst/>
                      </a:prstGeom>
                      <a:solidFill>
                        <a:srgbClr val="FF9900"/>
                      </a:solidFill>
                    </p:spPr>
                  </p:pic>
                </p:oleObj>
              </mc:Fallback>
            </mc:AlternateContent>
          </a:graphicData>
        </a:graphic>
      </p:graphicFrame>
      <p:sp>
        <p:nvSpPr>
          <p:cNvPr id="130052" name="Text Box 4">
            <a:extLst>
              <a:ext uri="{FF2B5EF4-FFF2-40B4-BE49-F238E27FC236}">
                <a16:creationId xmlns:a16="http://schemas.microsoft.com/office/drawing/2014/main" id="{1CA946E4-A158-E230-4F3B-6003D986CA71}"/>
              </a:ext>
            </a:extLst>
          </p:cNvPr>
          <p:cNvSpPr txBox="1">
            <a:spLocks noChangeArrowheads="1"/>
          </p:cNvSpPr>
          <p:nvPr/>
        </p:nvSpPr>
        <p:spPr bwMode="auto">
          <a:xfrm>
            <a:off x="611188" y="981075"/>
            <a:ext cx="8208962"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sz="2400" b="1">
                <a:effectLst>
                  <a:outerShdw blurRad="38100" dist="38100" dir="2700000" algn="tl">
                    <a:srgbClr val="000000"/>
                  </a:outerShdw>
                </a:effectLst>
              </a:rPr>
              <a:t>工序能力指数是指公差范围</a:t>
            </a:r>
            <a:r>
              <a:rPr lang="en-US" altLang="zh-CN" sz="2400" b="1">
                <a:effectLst>
                  <a:outerShdw blurRad="38100" dist="38100" dir="2700000" algn="tl">
                    <a:srgbClr val="000000"/>
                  </a:outerShdw>
                </a:effectLst>
              </a:rPr>
              <a:t>T</a:t>
            </a:r>
            <a:r>
              <a:rPr lang="zh-CN" altLang="en-US" sz="2400" b="1">
                <a:effectLst>
                  <a:outerShdw blurRad="38100" dist="38100" dir="2700000" algn="tl">
                    <a:srgbClr val="000000"/>
                  </a:outerShdw>
                </a:effectLst>
              </a:rPr>
              <a:t>（质量标准）与工序能力</a:t>
            </a:r>
            <a:r>
              <a:rPr lang="en-US" altLang="zh-CN" sz="2400" b="1">
                <a:effectLst>
                  <a:outerShdw blurRad="38100" dist="38100" dir="2700000" algn="tl">
                    <a:srgbClr val="000000"/>
                  </a:outerShdw>
                </a:effectLst>
              </a:rPr>
              <a:t>B</a:t>
            </a:r>
            <a:r>
              <a:rPr lang="zh-CN" altLang="en-US" sz="2400" b="1">
                <a:effectLst>
                  <a:outerShdw blurRad="38100" dist="38100" dir="2700000" algn="tl">
                    <a:srgbClr val="000000"/>
                  </a:outerShdw>
                </a:effectLst>
              </a:rPr>
              <a:t>的比值，它表明某工序满足加工精度的程度：</a:t>
            </a:r>
          </a:p>
        </p:txBody>
      </p:sp>
      <p:sp>
        <p:nvSpPr>
          <p:cNvPr id="130053" name="Text Box 5">
            <a:extLst>
              <a:ext uri="{FF2B5EF4-FFF2-40B4-BE49-F238E27FC236}">
                <a16:creationId xmlns:a16="http://schemas.microsoft.com/office/drawing/2014/main" id="{22DCA1CF-2665-E764-1E6E-B46FACB4D47A}"/>
              </a:ext>
            </a:extLst>
          </p:cNvPr>
          <p:cNvSpPr txBox="1">
            <a:spLocks noChangeArrowheads="1"/>
          </p:cNvSpPr>
          <p:nvPr/>
        </p:nvSpPr>
        <p:spPr bwMode="auto">
          <a:xfrm>
            <a:off x="539750" y="3068638"/>
            <a:ext cx="81470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effectLst>
                  <a:outerShdw blurRad="38100" dist="38100" dir="2700000" algn="tl">
                    <a:srgbClr val="000000"/>
                  </a:outerShdw>
                </a:effectLst>
              </a:rPr>
              <a:t>      </a:t>
            </a:r>
            <a:r>
              <a:rPr lang="zh-CN" altLang="en-US" sz="2400" b="1">
                <a:effectLst>
                  <a:outerShdw blurRad="38100" dist="38100" dir="2700000" algn="tl">
                    <a:srgbClr val="000000"/>
                  </a:outerShdw>
                </a:effectLst>
              </a:rPr>
              <a:t>当实际的分布中心与公差中心有偏差</a:t>
            </a:r>
            <a:r>
              <a:rPr lang="en-US" altLang="zh-CN" sz="2400" b="1">
                <a:effectLst>
                  <a:outerShdw blurRad="38100" dist="38100" dir="2700000" algn="tl">
                    <a:srgbClr val="000000"/>
                  </a:outerShdw>
                </a:effectLst>
              </a:rPr>
              <a:t>E</a:t>
            </a:r>
            <a:r>
              <a:rPr lang="zh-CN" altLang="en-US" sz="2400" b="1">
                <a:effectLst>
                  <a:outerShdw blurRad="38100" dist="38100" dir="2700000" algn="tl">
                    <a:srgbClr val="000000"/>
                  </a:outerShdw>
                </a:effectLst>
              </a:rPr>
              <a:t>，则应对工序能力指数进行修正。 </a:t>
            </a:r>
          </a:p>
        </p:txBody>
      </p:sp>
      <p:sp>
        <p:nvSpPr>
          <p:cNvPr id="130054" name="Rectangle 6">
            <a:extLst>
              <a:ext uri="{FF2B5EF4-FFF2-40B4-BE49-F238E27FC236}">
                <a16:creationId xmlns:a16="http://schemas.microsoft.com/office/drawing/2014/main" id="{001EA76A-DF7B-28C5-20BF-6794CEE60599}"/>
              </a:ext>
            </a:extLst>
          </p:cNvPr>
          <p:cNvSpPr>
            <a:spLocks noChangeArrowheads="1"/>
          </p:cNvSpPr>
          <p:nvPr/>
        </p:nvSpPr>
        <p:spPr bwMode="auto">
          <a:xfrm>
            <a:off x="0" y="31384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0055" name="Object 7">
            <a:extLst>
              <a:ext uri="{FF2B5EF4-FFF2-40B4-BE49-F238E27FC236}">
                <a16:creationId xmlns:a16="http://schemas.microsoft.com/office/drawing/2014/main" id="{160B2D27-6947-D6F1-C835-6C77EF5F4C52}"/>
              </a:ext>
            </a:extLst>
          </p:cNvPr>
          <p:cNvGraphicFramePr>
            <a:graphicFrameLocks noChangeAspect="1"/>
          </p:cNvGraphicFramePr>
          <p:nvPr/>
        </p:nvGraphicFramePr>
        <p:xfrm>
          <a:off x="1763713" y="3933825"/>
          <a:ext cx="5486400" cy="2443163"/>
        </p:xfrm>
        <a:graphic>
          <a:graphicData uri="http://schemas.openxmlformats.org/presentationml/2006/ole">
            <mc:AlternateContent xmlns:mc="http://schemas.openxmlformats.org/markup-compatibility/2006">
              <mc:Choice xmlns:v="urn:schemas-microsoft-com:vml" Requires="v">
                <p:oleObj name="Equation" r:id="rId4" imgW="2361960" imgH="927000" progId="Equation.3">
                  <p:embed/>
                </p:oleObj>
              </mc:Choice>
              <mc:Fallback>
                <p:oleObj name="Equation" r:id="rId4" imgW="2361960" imgH="927000"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63713" y="3933825"/>
                        <a:ext cx="5486400" cy="2443163"/>
                      </a:xfrm>
                      <a:prstGeom prst="rect">
                        <a:avLst/>
                      </a:prstGeom>
                      <a:solidFill>
                        <a:srgbClr val="FF9900"/>
                      </a:solidFill>
                    </p:spPr>
                  </p:pic>
                </p:oleObj>
              </mc:Fallback>
            </mc:AlternateContent>
          </a:graphicData>
        </a:graphic>
      </p:graphicFrame>
      <p:sp>
        <p:nvSpPr>
          <p:cNvPr id="130056" name="Text Box 8">
            <a:extLst>
              <a:ext uri="{FF2B5EF4-FFF2-40B4-BE49-F238E27FC236}">
                <a16:creationId xmlns:a16="http://schemas.microsoft.com/office/drawing/2014/main" id="{23BA1F89-A3E1-6A37-EE6B-F9DA02FCF8E9}"/>
              </a:ext>
            </a:extLst>
          </p:cNvPr>
          <p:cNvSpPr txBox="1">
            <a:spLocks noChangeArrowheads="1"/>
          </p:cNvSpPr>
          <p:nvPr/>
        </p:nvSpPr>
        <p:spPr bwMode="auto">
          <a:xfrm>
            <a:off x="323850" y="333375"/>
            <a:ext cx="61928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、双侧公差要求的工序能力指数</a:t>
            </a:r>
          </a:p>
        </p:txBody>
      </p:sp>
    </p:spTree>
  </p:cSld>
  <p:clrMapOvr>
    <a:masterClrMapping/>
  </p:clrMapOvr>
  <p:transition>
    <p:zoom dir="in"/>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F60C3186-CD8C-D3AD-1952-2DA082FFD3A8}"/>
              </a:ext>
            </a:extLst>
          </p:cNvPr>
          <p:cNvSpPr>
            <a:spLocks noGrp="1"/>
          </p:cNvSpPr>
          <p:nvPr>
            <p:ph type="dt" sz="half" idx="10"/>
          </p:nvPr>
        </p:nvSpPr>
        <p:spPr/>
        <p:txBody>
          <a:bodyPr/>
          <a:lstStyle/>
          <a:p>
            <a:r>
              <a:rPr lang="zh-CN" altLang="en-US"/>
              <a:t>讲义制作：李丽，陈志祥审</a:t>
            </a:r>
            <a:endParaRPr lang="en-US" altLang="zh-CN"/>
          </a:p>
        </p:txBody>
      </p:sp>
      <p:sp>
        <p:nvSpPr>
          <p:cNvPr id="133122" name="Rectangle 2">
            <a:extLst>
              <a:ext uri="{FF2B5EF4-FFF2-40B4-BE49-F238E27FC236}">
                <a16:creationId xmlns:a16="http://schemas.microsoft.com/office/drawing/2014/main" id="{054C24DD-1204-A8ED-98F8-43A765B815E9}"/>
              </a:ext>
            </a:extLst>
          </p:cNvPr>
          <p:cNvSpPr>
            <a:spLocks noChangeArrowheads="1"/>
          </p:cNvSpPr>
          <p:nvPr/>
        </p:nvSpPr>
        <p:spPr bwMode="auto">
          <a:xfrm>
            <a:off x="0" y="32004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33123" name="Rectangle 3">
            <a:extLst>
              <a:ext uri="{FF2B5EF4-FFF2-40B4-BE49-F238E27FC236}">
                <a16:creationId xmlns:a16="http://schemas.microsoft.com/office/drawing/2014/main" id="{A5FF0033-962E-7949-0FC6-8660312951AD}"/>
              </a:ext>
            </a:extLst>
          </p:cNvPr>
          <p:cNvSpPr>
            <a:spLocks noChangeArrowheads="1"/>
          </p:cNvSpPr>
          <p:nvPr/>
        </p:nvSpPr>
        <p:spPr bwMode="auto">
          <a:xfrm>
            <a:off x="1258888" y="4581525"/>
            <a:ext cx="46212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effectLst>
                  <a:outerShdw blurRad="38100" dist="38100" dir="2700000" algn="tl">
                    <a:srgbClr val="000000"/>
                  </a:outerShdw>
                </a:effectLst>
              </a:rPr>
              <a:t>（</a:t>
            </a:r>
            <a:r>
              <a:rPr kumimoji="1" lang="en-US" altLang="zh-CN" sz="2400" b="1">
                <a:effectLst>
                  <a:outerShdw blurRad="38100" dist="38100" dir="2700000" algn="tl">
                    <a:srgbClr val="000000"/>
                  </a:outerShdw>
                </a:effectLst>
              </a:rPr>
              <a:t>2</a:t>
            </a:r>
            <a:r>
              <a:rPr kumimoji="1" lang="zh-CN" altLang="en-US" sz="2400" b="1">
                <a:effectLst>
                  <a:outerShdw blurRad="38100" dist="38100" dir="2700000" algn="tl">
                    <a:srgbClr val="000000"/>
                  </a:outerShdw>
                </a:effectLst>
              </a:rPr>
              <a:t>）只有上限精度要求的情形：</a:t>
            </a:r>
          </a:p>
        </p:txBody>
      </p:sp>
      <p:sp>
        <p:nvSpPr>
          <p:cNvPr id="133124" name="Rectangle 4">
            <a:extLst>
              <a:ext uri="{FF2B5EF4-FFF2-40B4-BE49-F238E27FC236}">
                <a16:creationId xmlns:a16="http://schemas.microsoft.com/office/drawing/2014/main" id="{E005A72C-68C7-68F1-8BC5-D6FB3790E3F3}"/>
              </a:ext>
            </a:extLst>
          </p:cNvPr>
          <p:cNvSpPr>
            <a:spLocks noChangeArrowheads="1"/>
          </p:cNvSpPr>
          <p:nvPr/>
        </p:nvSpPr>
        <p:spPr bwMode="auto">
          <a:xfrm>
            <a:off x="0" y="31813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33125" name="Object 5">
            <a:extLst>
              <a:ext uri="{FF2B5EF4-FFF2-40B4-BE49-F238E27FC236}">
                <a16:creationId xmlns:a16="http://schemas.microsoft.com/office/drawing/2014/main" id="{A2AC40C5-05BC-4AE2-511E-9AF8323B131E}"/>
              </a:ext>
            </a:extLst>
          </p:cNvPr>
          <p:cNvGraphicFramePr>
            <a:graphicFrameLocks noChangeAspect="1"/>
          </p:cNvGraphicFramePr>
          <p:nvPr/>
        </p:nvGraphicFramePr>
        <p:xfrm>
          <a:off x="1547813" y="5013325"/>
          <a:ext cx="2881312" cy="1193800"/>
        </p:xfrm>
        <a:graphic>
          <a:graphicData uri="http://schemas.openxmlformats.org/presentationml/2006/ole">
            <mc:AlternateContent xmlns:mc="http://schemas.openxmlformats.org/markup-compatibility/2006">
              <mc:Choice xmlns:v="urn:schemas-microsoft-com:vml" Requires="v">
                <p:oleObj name="Equation" r:id="rId2" imgW="825142" imgH="495085" progId="Equation.3">
                  <p:embed/>
                </p:oleObj>
              </mc:Choice>
              <mc:Fallback>
                <p:oleObj name="Equation" r:id="rId2" imgW="825142" imgH="495085"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813" y="5013325"/>
                        <a:ext cx="2881312" cy="1193800"/>
                      </a:xfrm>
                      <a:prstGeom prst="rect">
                        <a:avLst/>
                      </a:prstGeom>
                      <a:solidFill>
                        <a:srgbClr val="FF9900"/>
                      </a:solidFill>
                    </p:spPr>
                  </p:pic>
                </p:oleObj>
              </mc:Fallback>
            </mc:AlternateContent>
          </a:graphicData>
        </a:graphic>
      </p:graphicFrame>
      <p:graphicFrame>
        <p:nvGraphicFramePr>
          <p:cNvPr id="133126" name="Object 6">
            <a:extLst>
              <a:ext uri="{FF2B5EF4-FFF2-40B4-BE49-F238E27FC236}">
                <a16:creationId xmlns:a16="http://schemas.microsoft.com/office/drawing/2014/main" id="{6D772EBF-7E03-DB47-52A6-34985492C0D7}"/>
              </a:ext>
            </a:extLst>
          </p:cNvPr>
          <p:cNvGraphicFramePr>
            <a:graphicFrameLocks noChangeAspect="1"/>
          </p:cNvGraphicFramePr>
          <p:nvPr/>
        </p:nvGraphicFramePr>
        <p:xfrm>
          <a:off x="1403350" y="3284538"/>
          <a:ext cx="4032250" cy="1368425"/>
        </p:xfrm>
        <a:graphic>
          <a:graphicData uri="http://schemas.openxmlformats.org/presentationml/2006/ole">
            <mc:AlternateContent xmlns:mc="http://schemas.openxmlformats.org/markup-compatibility/2006">
              <mc:Choice xmlns:v="urn:schemas-microsoft-com:vml" Requires="v">
                <p:oleObj name="Equation" r:id="rId4" imgW="723586" imgH="457002" progId="Equation.3">
                  <p:embed/>
                </p:oleObj>
              </mc:Choice>
              <mc:Fallback>
                <p:oleObj name="Equation" r:id="rId4" imgW="723586" imgH="457002" progId="Equation.3">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3350" y="3284538"/>
                        <a:ext cx="4032250" cy="1368425"/>
                      </a:xfrm>
                      <a:prstGeom prst="rect">
                        <a:avLst/>
                      </a:prstGeom>
                      <a:solidFill>
                        <a:srgbClr val="FF9900"/>
                      </a:solidFill>
                    </p:spPr>
                  </p:pic>
                </p:oleObj>
              </mc:Fallback>
            </mc:AlternateContent>
          </a:graphicData>
        </a:graphic>
      </p:graphicFrame>
      <p:sp>
        <p:nvSpPr>
          <p:cNvPr id="133127" name="Text Box 7">
            <a:extLst>
              <a:ext uri="{FF2B5EF4-FFF2-40B4-BE49-F238E27FC236}">
                <a16:creationId xmlns:a16="http://schemas.microsoft.com/office/drawing/2014/main" id="{8F347104-75B2-7923-2C3B-7D5F7D9923E8}"/>
              </a:ext>
            </a:extLst>
          </p:cNvPr>
          <p:cNvSpPr txBox="1">
            <a:spLocks noChangeArrowheads="1"/>
          </p:cNvSpPr>
          <p:nvPr/>
        </p:nvSpPr>
        <p:spPr bwMode="auto">
          <a:xfrm>
            <a:off x="1187450" y="2852738"/>
            <a:ext cx="59039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effectLst>
                  <a:outerShdw blurRad="38100" dist="38100" dir="2700000" algn="tl">
                    <a:srgbClr val="000000"/>
                  </a:outerShdw>
                </a:effectLst>
              </a:rPr>
              <a:t>（</a:t>
            </a:r>
            <a:r>
              <a:rPr lang="en-US" altLang="zh-CN" sz="2400" b="1">
                <a:effectLst>
                  <a:outerShdw blurRad="38100" dist="38100" dir="2700000" algn="tl">
                    <a:srgbClr val="000000"/>
                  </a:outerShdw>
                </a:effectLst>
              </a:rPr>
              <a:t>1</a:t>
            </a:r>
            <a:r>
              <a:rPr lang="zh-CN" altLang="en-US" sz="2400" b="1">
                <a:effectLst>
                  <a:outerShdw blurRad="38100" dist="38100" dir="2700000" algn="tl">
                    <a:srgbClr val="000000"/>
                  </a:outerShdw>
                </a:effectLst>
              </a:rPr>
              <a:t>）只有下限精度要求的情形：</a:t>
            </a:r>
          </a:p>
        </p:txBody>
      </p:sp>
      <p:sp>
        <p:nvSpPr>
          <p:cNvPr id="133128" name="Text Box 8">
            <a:extLst>
              <a:ext uri="{FF2B5EF4-FFF2-40B4-BE49-F238E27FC236}">
                <a16:creationId xmlns:a16="http://schemas.microsoft.com/office/drawing/2014/main" id="{CF84DE8C-BFF5-9FBC-0456-C9977822364C}"/>
              </a:ext>
            </a:extLst>
          </p:cNvPr>
          <p:cNvSpPr txBox="1">
            <a:spLocks noChangeArrowheads="1"/>
          </p:cNvSpPr>
          <p:nvPr/>
        </p:nvSpPr>
        <p:spPr bwMode="auto">
          <a:xfrm>
            <a:off x="395288" y="836613"/>
            <a:ext cx="53276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effectLst>
                  <a:outerShdw blurRad="38100" dist="38100" dir="2700000" algn="tl">
                    <a:srgbClr val="000000"/>
                  </a:outerShdw>
                </a:effectLst>
              </a:rPr>
              <a:t>2</a:t>
            </a:r>
            <a:r>
              <a:rPr lang="zh-CN" altLang="en-US" sz="2400" b="1">
                <a:effectLst>
                  <a:outerShdw blurRad="38100" dist="38100" dir="2700000" algn="tl">
                    <a:srgbClr val="000000"/>
                  </a:outerShdw>
                </a:effectLst>
              </a:rPr>
              <a:t>、单侧公差要求的能力指数</a:t>
            </a:r>
          </a:p>
        </p:txBody>
      </p:sp>
      <p:sp>
        <p:nvSpPr>
          <p:cNvPr id="133129" name="Text Box 9">
            <a:extLst>
              <a:ext uri="{FF2B5EF4-FFF2-40B4-BE49-F238E27FC236}">
                <a16:creationId xmlns:a16="http://schemas.microsoft.com/office/drawing/2014/main" id="{0495C22A-7521-CC67-E070-A6731040D87F}"/>
              </a:ext>
            </a:extLst>
          </p:cNvPr>
          <p:cNvSpPr txBox="1">
            <a:spLocks noChangeArrowheads="1"/>
          </p:cNvSpPr>
          <p:nvPr/>
        </p:nvSpPr>
        <p:spPr bwMode="auto">
          <a:xfrm>
            <a:off x="827088" y="1557338"/>
            <a:ext cx="7705725" cy="1187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a:t>        </a:t>
            </a:r>
            <a:r>
              <a:rPr lang="zh-CN" altLang="en-US" sz="2400" b="1">
                <a:effectLst>
                  <a:outerShdw blurRad="38100" dist="38100" dir="2700000" algn="tl">
                    <a:srgbClr val="000000"/>
                  </a:outerShdw>
                </a:effectLst>
              </a:rPr>
              <a:t>当产品的质量只要求向一方面改进，如灯泡要求寿命越大越好，冰箱的噪音越小越好，纺织品的纱线的杂质越少越好。这样，对能力指数可以用单侧考核。</a:t>
            </a:r>
          </a:p>
        </p:txBody>
      </p:sp>
    </p:spTree>
  </p:cSld>
  <p:clrMapOvr>
    <a:masterClrMapping/>
  </p:clrMapOvr>
  <p:transition>
    <p:zoom dir="in"/>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6F11BD10-6706-966E-6E80-2DB18A690A84}"/>
              </a:ext>
            </a:extLst>
          </p:cNvPr>
          <p:cNvSpPr>
            <a:spLocks noGrp="1"/>
          </p:cNvSpPr>
          <p:nvPr>
            <p:ph type="dt" sz="half" idx="10"/>
          </p:nvPr>
        </p:nvSpPr>
        <p:spPr/>
        <p:txBody>
          <a:bodyPr/>
          <a:lstStyle/>
          <a:p>
            <a:r>
              <a:rPr lang="zh-CN" altLang="en-US"/>
              <a:t>讲义制作：李丽，陈志祥审</a:t>
            </a:r>
            <a:endParaRPr lang="en-US" altLang="zh-CN"/>
          </a:p>
        </p:txBody>
      </p:sp>
      <p:sp>
        <p:nvSpPr>
          <p:cNvPr id="161798" name="Rectangle 6">
            <a:extLst>
              <a:ext uri="{FF2B5EF4-FFF2-40B4-BE49-F238E27FC236}">
                <a16:creationId xmlns:a16="http://schemas.microsoft.com/office/drawing/2014/main" id="{1F342221-7DA7-3C2F-96B4-B2DF5F73206C}"/>
              </a:ext>
            </a:extLst>
          </p:cNvPr>
          <p:cNvSpPr>
            <a:spLocks noChangeArrowheads="1"/>
          </p:cNvSpPr>
          <p:nvPr/>
        </p:nvSpPr>
        <p:spPr bwMode="auto">
          <a:xfrm>
            <a:off x="684213" y="692150"/>
            <a:ext cx="5213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例子</a:t>
            </a:r>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1</a:t>
            </a:r>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：已经计算出实际的分布曲线：</a:t>
            </a:r>
            <a:endParaRPr kumimoji="1" lang="zh-CN" altLang="en-US" sz="2400" b="1">
              <a:effectLst>
                <a:outerShdw blurRad="38100" dist="38100" dir="2700000" algn="tl">
                  <a:srgbClr val="000000"/>
                </a:outerShdw>
              </a:effectLst>
              <a:latin typeface="Times New Roman" panose="02020603050405020304" pitchFamily="18" charset="0"/>
            </a:endParaRPr>
          </a:p>
        </p:txBody>
      </p:sp>
      <p:graphicFrame>
        <p:nvGraphicFramePr>
          <p:cNvPr id="161799" name="Object 7">
            <a:extLst>
              <a:ext uri="{FF2B5EF4-FFF2-40B4-BE49-F238E27FC236}">
                <a16:creationId xmlns:a16="http://schemas.microsoft.com/office/drawing/2014/main" id="{2BBDF26A-AB67-5463-7C01-B48C88FA10A8}"/>
              </a:ext>
            </a:extLst>
          </p:cNvPr>
          <p:cNvGraphicFramePr>
            <a:graphicFrameLocks noChangeAspect="1"/>
          </p:cNvGraphicFramePr>
          <p:nvPr/>
        </p:nvGraphicFramePr>
        <p:xfrm>
          <a:off x="5795963" y="549275"/>
          <a:ext cx="555625" cy="647700"/>
        </p:xfrm>
        <a:graphic>
          <a:graphicData uri="http://schemas.openxmlformats.org/presentationml/2006/ole">
            <mc:AlternateContent xmlns:mc="http://schemas.openxmlformats.org/markup-compatibility/2006">
              <mc:Choice xmlns:v="urn:schemas-microsoft-com:vml" Requires="v">
                <p:oleObj name="Equation" r:id="rId2" imgW="114151" imgH="266353" progId="Equation.3">
                  <p:embed/>
                </p:oleObj>
              </mc:Choice>
              <mc:Fallback>
                <p:oleObj name="Equation" r:id="rId2" imgW="114151" imgH="266353" progId="Equation.3">
                  <p:embed/>
                  <p:pic>
                    <p:nvPicPr>
                      <p:cNvPr id="0" name="Object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5963" y="549275"/>
                        <a:ext cx="555625" cy="647700"/>
                      </a:xfrm>
                      <a:prstGeom prst="rect">
                        <a:avLst/>
                      </a:prstGeom>
                      <a:solidFill>
                        <a:srgbClr val="FF9900"/>
                      </a:solidFill>
                    </p:spPr>
                  </p:pic>
                </p:oleObj>
              </mc:Fallback>
            </mc:AlternateContent>
          </a:graphicData>
        </a:graphic>
      </p:graphicFrame>
      <p:sp>
        <p:nvSpPr>
          <p:cNvPr id="161800" name="Text Box 8">
            <a:extLst>
              <a:ext uri="{FF2B5EF4-FFF2-40B4-BE49-F238E27FC236}">
                <a16:creationId xmlns:a16="http://schemas.microsoft.com/office/drawing/2014/main" id="{9B5579BF-969F-5FA6-01A5-C2416D457BE0}"/>
              </a:ext>
            </a:extLst>
          </p:cNvPr>
          <p:cNvSpPr txBox="1">
            <a:spLocks noChangeArrowheads="1"/>
          </p:cNvSpPr>
          <p:nvPr/>
        </p:nvSpPr>
        <p:spPr bwMode="auto">
          <a:xfrm>
            <a:off x="1576388" y="1727200"/>
            <a:ext cx="16573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a:effectLst>
                  <a:outerShdw blurRad="38100" dist="38100" dir="2700000" algn="tl">
                    <a:srgbClr val="000000"/>
                  </a:outerShdw>
                </a:effectLst>
              </a:rPr>
              <a:t>=10</a:t>
            </a:r>
          </a:p>
        </p:txBody>
      </p:sp>
      <p:sp>
        <p:nvSpPr>
          <p:cNvPr id="161801" name="Rectangle 9">
            <a:extLst>
              <a:ext uri="{FF2B5EF4-FFF2-40B4-BE49-F238E27FC236}">
                <a16:creationId xmlns:a16="http://schemas.microsoft.com/office/drawing/2014/main" id="{717B4BDD-D773-8625-9F1B-912EA62DBEC3}"/>
              </a:ext>
            </a:extLst>
          </p:cNvPr>
          <p:cNvSpPr>
            <a:spLocks noChangeArrowheads="1"/>
          </p:cNvSpPr>
          <p:nvPr/>
        </p:nvSpPr>
        <p:spPr bwMode="auto">
          <a:xfrm>
            <a:off x="6275388" y="660400"/>
            <a:ext cx="162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=10.10,</a:t>
            </a:r>
            <a:endParaRPr kumimoji="1" lang="en-US" altLang="zh-CN" sz="2400" b="1">
              <a:effectLst>
                <a:outerShdw blurRad="38100" dist="38100" dir="2700000" algn="tl">
                  <a:srgbClr val="000000"/>
                </a:outerShdw>
              </a:effectLst>
              <a:latin typeface="Times New Roman" panose="02020603050405020304" pitchFamily="18" charset="0"/>
            </a:endParaRPr>
          </a:p>
        </p:txBody>
      </p:sp>
      <p:graphicFrame>
        <p:nvGraphicFramePr>
          <p:cNvPr id="161802" name="Object 10">
            <a:extLst>
              <a:ext uri="{FF2B5EF4-FFF2-40B4-BE49-F238E27FC236}">
                <a16:creationId xmlns:a16="http://schemas.microsoft.com/office/drawing/2014/main" id="{C9130B1E-B0AE-75DE-219A-C81344078D84}"/>
              </a:ext>
            </a:extLst>
          </p:cNvPr>
          <p:cNvGraphicFramePr>
            <a:graphicFrameLocks noChangeAspect="1"/>
          </p:cNvGraphicFramePr>
          <p:nvPr/>
        </p:nvGraphicFramePr>
        <p:xfrm>
          <a:off x="1195388" y="1193800"/>
          <a:ext cx="1655762" cy="503238"/>
        </p:xfrm>
        <a:graphic>
          <a:graphicData uri="http://schemas.openxmlformats.org/presentationml/2006/ole">
            <mc:AlternateContent xmlns:mc="http://schemas.openxmlformats.org/markup-compatibility/2006">
              <mc:Choice xmlns:v="urn:schemas-microsoft-com:vml" Requires="v">
                <p:oleObj name="Equation" r:id="rId4" imgW="469696" imgH="165028" progId="Equation.3">
                  <p:embed/>
                </p:oleObj>
              </mc:Choice>
              <mc:Fallback>
                <p:oleObj name="Equation" r:id="rId4" imgW="469696" imgH="165028" progId="Equation.3">
                  <p:embed/>
                  <p:pic>
                    <p:nvPicPr>
                      <p:cNvPr id="0" name="Object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5388" y="1193800"/>
                        <a:ext cx="1655762" cy="503238"/>
                      </a:xfrm>
                      <a:prstGeom prst="rect">
                        <a:avLst/>
                      </a:prstGeom>
                      <a:solidFill>
                        <a:srgbClr val="FF9900"/>
                      </a:solidFill>
                    </p:spPr>
                  </p:pic>
                </p:oleObj>
              </mc:Fallback>
            </mc:AlternateContent>
          </a:graphicData>
        </a:graphic>
      </p:graphicFrame>
      <p:sp>
        <p:nvSpPr>
          <p:cNvPr id="161803" name="Rectangle 11">
            <a:extLst>
              <a:ext uri="{FF2B5EF4-FFF2-40B4-BE49-F238E27FC236}">
                <a16:creationId xmlns:a16="http://schemas.microsoft.com/office/drawing/2014/main" id="{93896173-F371-9258-EF34-83905A8BBB9D}"/>
              </a:ext>
            </a:extLst>
          </p:cNvPr>
          <p:cNvSpPr>
            <a:spLocks noChangeArrowheads="1"/>
          </p:cNvSpPr>
          <p:nvPr/>
        </p:nvSpPr>
        <p:spPr bwMode="auto">
          <a:xfrm>
            <a:off x="2743200" y="1193800"/>
            <a:ext cx="48736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a:t>
            </a:r>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已知公差范围</a:t>
            </a:r>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T=11-9=2</a:t>
            </a:r>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，公差中心</a:t>
            </a:r>
            <a:endParaRPr kumimoji="1" lang="zh-CN" altLang="en-US" sz="2400" b="1">
              <a:effectLst>
                <a:outerShdw blurRad="38100" dist="38100" dir="2700000" algn="tl">
                  <a:srgbClr val="000000"/>
                </a:outerShdw>
              </a:effectLst>
              <a:latin typeface="Times New Roman" panose="02020603050405020304" pitchFamily="18" charset="0"/>
            </a:endParaRPr>
          </a:p>
        </p:txBody>
      </p:sp>
      <p:graphicFrame>
        <p:nvGraphicFramePr>
          <p:cNvPr id="161804" name="Object 12">
            <a:extLst>
              <a:ext uri="{FF2B5EF4-FFF2-40B4-BE49-F238E27FC236}">
                <a16:creationId xmlns:a16="http://schemas.microsoft.com/office/drawing/2014/main" id="{CF778365-B22F-4BBA-7102-6019D9D45F4C}"/>
              </a:ext>
            </a:extLst>
          </p:cNvPr>
          <p:cNvGraphicFramePr>
            <a:graphicFrameLocks noChangeAspect="1"/>
          </p:cNvGraphicFramePr>
          <p:nvPr/>
        </p:nvGraphicFramePr>
        <p:xfrm>
          <a:off x="1119188" y="1803400"/>
          <a:ext cx="757237" cy="360363"/>
        </p:xfrm>
        <a:graphic>
          <a:graphicData uri="http://schemas.openxmlformats.org/presentationml/2006/ole">
            <mc:AlternateContent xmlns:mc="http://schemas.openxmlformats.org/markup-compatibility/2006">
              <mc:Choice xmlns:v="urn:schemas-microsoft-com:vml" Requires="v">
                <p:oleObj name="Equation" r:id="rId6" imgW="177569" imgH="152202" progId="Equation.3">
                  <p:embed/>
                </p:oleObj>
              </mc:Choice>
              <mc:Fallback>
                <p:oleObj name="Equation" r:id="rId6" imgW="177569" imgH="152202" progId="Equation.3">
                  <p:embed/>
                  <p:pic>
                    <p:nvPicPr>
                      <p:cNvPr id="0" name="Object 1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19188" y="1803400"/>
                        <a:ext cx="757237" cy="360363"/>
                      </a:xfrm>
                      <a:prstGeom prst="rect">
                        <a:avLst/>
                      </a:prstGeom>
                      <a:solidFill>
                        <a:srgbClr val="FF9900"/>
                      </a:solidFill>
                    </p:spPr>
                  </p:pic>
                </p:oleObj>
              </mc:Fallback>
            </mc:AlternateContent>
          </a:graphicData>
        </a:graphic>
      </p:graphicFrame>
      <p:sp>
        <p:nvSpPr>
          <p:cNvPr id="161805" name="Rectangle 13">
            <a:extLst>
              <a:ext uri="{FF2B5EF4-FFF2-40B4-BE49-F238E27FC236}">
                <a16:creationId xmlns:a16="http://schemas.microsoft.com/office/drawing/2014/main" id="{F2261EEA-5740-6A6F-BF34-DBEEAAFAE422}"/>
              </a:ext>
            </a:extLst>
          </p:cNvPr>
          <p:cNvSpPr>
            <a:spLocks noChangeArrowheads="1"/>
          </p:cNvSpPr>
          <p:nvPr/>
        </p:nvSpPr>
        <p:spPr bwMode="auto">
          <a:xfrm>
            <a:off x="2262188" y="1731963"/>
            <a:ext cx="5838825"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实际分布中心与公差中心的偏差</a:t>
            </a:r>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E=</a:t>
            </a:r>
            <a:endParaRPr kumimoji="1" lang="en-US" altLang="zh-CN" sz="2400" b="1">
              <a:effectLst>
                <a:outerShdw blurRad="38100" dist="38100" dir="2700000" algn="tl">
                  <a:srgbClr val="000000"/>
                </a:outerShdw>
              </a:effectLst>
            </a:endParaRPr>
          </a:p>
          <a:p>
            <a:pPr eaLnBrk="0" hangingPunct="0"/>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     </a:t>
            </a:r>
            <a:endParaRPr kumimoji="1" lang="en-US" altLang="zh-CN" sz="2400" b="1">
              <a:effectLst>
                <a:outerShdw blurRad="38100" dist="38100" dir="2700000" algn="tl">
                  <a:srgbClr val="000000"/>
                </a:outerShdw>
              </a:effectLst>
              <a:latin typeface="Times New Roman" panose="02020603050405020304" pitchFamily="18" charset="0"/>
            </a:endParaRPr>
          </a:p>
        </p:txBody>
      </p:sp>
      <p:sp>
        <p:nvSpPr>
          <p:cNvPr id="161806" name="Text Box 14">
            <a:extLst>
              <a:ext uri="{FF2B5EF4-FFF2-40B4-BE49-F238E27FC236}">
                <a16:creationId xmlns:a16="http://schemas.microsoft.com/office/drawing/2014/main" id="{4A268B3F-FE8A-0FD7-3965-65D99128D18C}"/>
              </a:ext>
            </a:extLst>
          </p:cNvPr>
          <p:cNvSpPr txBox="1">
            <a:spLocks noChangeArrowheads="1"/>
          </p:cNvSpPr>
          <p:nvPr/>
        </p:nvSpPr>
        <p:spPr bwMode="auto">
          <a:xfrm>
            <a:off x="6986588" y="1700213"/>
            <a:ext cx="9144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a:t>-0.10</a:t>
            </a:r>
          </a:p>
        </p:txBody>
      </p:sp>
      <p:graphicFrame>
        <p:nvGraphicFramePr>
          <p:cNvPr id="161808" name="Object 16">
            <a:extLst>
              <a:ext uri="{FF2B5EF4-FFF2-40B4-BE49-F238E27FC236}">
                <a16:creationId xmlns:a16="http://schemas.microsoft.com/office/drawing/2014/main" id="{854081D8-FF3E-B2E4-377A-B1D82D373D5A}"/>
              </a:ext>
            </a:extLst>
          </p:cNvPr>
          <p:cNvGraphicFramePr>
            <a:graphicFrameLocks noChangeAspect="1"/>
          </p:cNvGraphicFramePr>
          <p:nvPr/>
        </p:nvGraphicFramePr>
        <p:xfrm>
          <a:off x="1116013" y="3213100"/>
          <a:ext cx="7058025" cy="792163"/>
        </p:xfrm>
        <a:graphic>
          <a:graphicData uri="http://schemas.openxmlformats.org/presentationml/2006/ole">
            <mc:AlternateContent xmlns:mc="http://schemas.openxmlformats.org/markup-compatibility/2006">
              <mc:Choice xmlns:v="urn:schemas-microsoft-com:vml" Requires="v">
                <p:oleObj name="Equation" r:id="rId8" imgW="2997200" imgH="393700" progId="Equation.3">
                  <p:embed/>
                </p:oleObj>
              </mc:Choice>
              <mc:Fallback>
                <p:oleObj name="Equation" r:id="rId8" imgW="2997200" imgH="393700" progId="Equation.3">
                  <p:embed/>
                  <p:pic>
                    <p:nvPicPr>
                      <p:cNvPr id="0" name="Object 1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16013" y="3213100"/>
                        <a:ext cx="7058025" cy="792163"/>
                      </a:xfrm>
                      <a:prstGeom prst="rect">
                        <a:avLst/>
                      </a:prstGeom>
                      <a:solidFill>
                        <a:srgbClr val="FF9900"/>
                      </a:solidFill>
                    </p:spPr>
                  </p:pic>
                </p:oleObj>
              </mc:Fallback>
            </mc:AlternateContent>
          </a:graphicData>
        </a:graphic>
      </p:graphicFrame>
      <p:sp>
        <p:nvSpPr>
          <p:cNvPr id="161819" name="Text Box 27">
            <a:extLst>
              <a:ext uri="{FF2B5EF4-FFF2-40B4-BE49-F238E27FC236}">
                <a16:creationId xmlns:a16="http://schemas.microsoft.com/office/drawing/2014/main" id="{29B2BE1C-138B-76C4-C586-E49C56FCB41B}"/>
              </a:ext>
            </a:extLst>
          </p:cNvPr>
          <p:cNvSpPr txBox="1">
            <a:spLocks noChangeArrowheads="1"/>
          </p:cNvSpPr>
          <p:nvPr/>
        </p:nvSpPr>
        <p:spPr bwMode="auto">
          <a:xfrm>
            <a:off x="684213" y="2420938"/>
            <a:ext cx="65516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effectLst>
                  <a:outerShdw blurRad="38100" dist="38100" dir="2700000" algn="tl">
                    <a:srgbClr val="000000"/>
                  </a:outerShdw>
                </a:effectLst>
              </a:rPr>
              <a:t>求：该工序的能力指数率</a:t>
            </a:r>
          </a:p>
        </p:txBody>
      </p:sp>
      <p:sp>
        <p:nvSpPr>
          <p:cNvPr id="161820" name="Text Box 28">
            <a:extLst>
              <a:ext uri="{FF2B5EF4-FFF2-40B4-BE49-F238E27FC236}">
                <a16:creationId xmlns:a16="http://schemas.microsoft.com/office/drawing/2014/main" id="{20476BE9-CD63-0405-6A2A-2FA3B9B739CA}"/>
              </a:ext>
            </a:extLst>
          </p:cNvPr>
          <p:cNvSpPr txBox="1">
            <a:spLocks noChangeArrowheads="1"/>
          </p:cNvSpPr>
          <p:nvPr/>
        </p:nvSpPr>
        <p:spPr bwMode="auto">
          <a:xfrm>
            <a:off x="395288" y="3141663"/>
            <a:ext cx="172878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effectLst>
                  <a:outerShdw blurRad="38100" dist="38100" dir="2700000" algn="tl">
                    <a:srgbClr val="000000"/>
                  </a:outerShdw>
                </a:effectLst>
              </a:rPr>
              <a:t>解：</a:t>
            </a:r>
          </a:p>
        </p:txBody>
      </p:sp>
      <p:sp>
        <p:nvSpPr>
          <p:cNvPr id="161821" name="Rectangle 29">
            <a:extLst>
              <a:ext uri="{FF2B5EF4-FFF2-40B4-BE49-F238E27FC236}">
                <a16:creationId xmlns:a16="http://schemas.microsoft.com/office/drawing/2014/main" id="{B41AF2D4-AA11-F2D2-97AD-7E920AEC678A}"/>
              </a:ext>
            </a:extLst>
          </p:cNvPr>
          <p:cNvSpPr>
            <a:spLocks noChangeArrowheads="1"/>
          </p:cNvSpPr>
          <p:nvPr/>
        </p:nvSpPr>
        <p:spPr bwMode="auto">
          <a:xfrm>
            <a:off x="323850" y="2997200"/>
            <a:ext cx="8424863" cy="15113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61823" name="Rectangle 31">
            <a:extLst>
              <a:ext uri="{FF2B5EF4-FFF2-40B4-BE49-F238E27FC236}">
                <a16:creationId xmlns:a16="http://schemas.microsoft.com/office/drawing/2014/main" id="{B351680C-6A6A-ABCB-E6F2-51194667B837}"/>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1825" name="Rectangle 33">
            <a:extLst>
              <a:ext uri="{FF2B5EF4-FFF2-40B4-BE49-F238E27FC236}">
                <a16:creationId xmlns:a16="http://schemas.microsoft.com/office/drawing/2014/main" id="{0974ED93-5931-5983-AB99-848E722585D9}"/>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1827" name="Rectangle 35">
            <a:extLst>
              <a:ext uri="{FF2B5EF4-FFF2-40B4-BE49-F238E27FC236}">
                <a16:creationId xmlns:a16="http://schemas.microsoft.com/office/drawing/2014/main" id="{23568E39-1A2D-B922-4455-FC378DD2C157}"/>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61830" name="Rectangle 38">
            <a:extLst>
              <a:ext uri="{FF2B5EF4-FFF2-40B4-BE49-F238E27FC236}">
                <a16:creationId xmlns:a16="http://schemas.microsoft.com/office/drawing/2014/main" id="{53D24FE8-0BD3-9E2E-DF91-A220A02E2639}"/>
              </a:ext>
            </a:extLst>
          </p:cNvPr>
          <p:cNvSpPr>
            <a:spLocks noChangeArrowheads="1"/>
          </p:cNvSpPr>
          <p:nvPr/>
        </p:nvSpPr>
        <p:spPr bwMode="auto">
          <a:xfrm>
            <a:off x="0" y="333375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Tree>
  </p:cSld>
  <p:clrMapOvr>
    <a:masterClrMapping/>
  </p:clrMapOvr>
  <p:transition spd="slow">
    <p:strips dir="rd"/>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3F49AC3-E06B-F7D0-42BF-ADCCF042D262}"/>
              </a:ext>
            </a:extLst>
          </p:cNvPr>
          <p:cNvSpPr>
            <a:spLocks noGrp="1"/>
          </p:cNvSpPr>
          <p:nvPr>
            <p:ph type="dt" sz="half" idx="10"/>
          </p:nvPr>
        </p:nvSpPr>
        <p:spPr/>
        <p:txBody>
          <a:bodyPr/>
          <a:lstStyle/>
          <a:p>
            <a:r>
              <a:rPr lang="zh-CN" altLang="en-US"/>
              <a:t>讲义制作：李丽，陈志祥审</a:t>
            </a:r>
            <a:endParaRPr lang="en-US" altLang="zh-CN"/>
          </a:p>
        </p:txBody>
      </p:sp>
      <p:sp>
        <p:nvSpPr>
          <p:cNvPr id="182276" name="Rectangle 4">
            <a:extLst>
              <a:ext uri="{FF2B5EF4-FFF2-40B4-BE49-F238E27FC236}">
                <a16:creationId xmlns:a16="http://schemas.microsoft.com/office/drawing/2014/main" id="{D1032C6A-C36A-1EAA-8B9D-EF9BD7EE6FC6}"/>
              </a:ext>
            </a:extLst>
          </p:cNvPr>
          <p:cNvSpPr>
            <a:spLocks noChangeArrowheads="1"/>
          </p:cNvSpPr>
          <p:nvPr/>
        </p:nvSpPr>
        <p:spPr bwMode="auto">
          <a:xfrm>
            <a:off x="760413" y="981075"/>
            <a:ext cx="53244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例子</a:t>
            </a:r>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2</a:t>
            </a:r>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：某零件内径尺寸标准为</a:t>
            </a:r>
            <a:endParaRPr kumimoji="1" lang="zh-CN" altLang="en-US" sz="2400" b="1">
              <a:effectLst>
                <a:outerShdw blurRad="38100" dist="38100" dir="2700000" algn="tl">
                  <a:srgbClr val="000000"/>
                </a:outerShdw>
              </a:effectLst>
              <a:latin typeface="Times New Roman" panose="02020603050405020304" pitchFamily="18" charset="0"/>
            </a:endParaRPr>
          </a:p>
        </p:txBody>
      </p:sp>
      <p:graphicFrame>
        <p:nvGraphicFramePr>
          <p:cNvPr id="182277" name="Object 5">
            <a:extLst>
              <a:ext uri="{FF2B5EF4-FFF2-40B4-BE49-F238E27FC236}">
                <a16:creationId xmlns:a16="http://schemas.microsoft.com/office/drawing/2014/main" id="{CCAADDAA-DDA4-FFC8-072A-438EFB102C08}"/>
              </a:ext>
            </a:extLst>
          </p:cNvPr>
          <p:cNvGraphicFramePr>
            <a:graphicFrameLocks noChangeAspect="1"/>
          </p:cNvGraphicFramePr>
          <p:nvPr/>
        </p:nvGraphicFramePr>
        <p:xfrm>
          <a:off x="5148263" y="981075"/>
          <a:ext cx="1447800" cy="504825"/>
        </p:xfrm>
        <a:graphic>
          <a:graphicData uri="http://schemas.openxmlformats.org/presentationml/2006/ole">
            <mc:AlternateContent xmlns:mc="http://schemas.openxmlformats.org/markup-compatibility/2006">
              <mc:Choice xmlns:v="urn:schemas-microsoft-com:vml" Requires="v">
                <p:oleObj name="Equation" r:id="rId2" imgW="558800" imgH="228600" progId="Equation.3">
                  <p:embed/>
                </p:oleObj>
              </mc:Choice>
              <mc:Fallback>
                <p:oleObj name="Equation" r:id="rId2" imgW="558800" imgH="228600" progId="Equation.3">
                  <p:embed/>
                  <p:pic>
                    <p:nvPicPr>
                      <p:cNvPr id="0" name="Object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48263" y="981075"/>
                        <a:ext cx="1447800" cy="504825"/>
                      </a:xfrm>
                      <a:prstGeom prst="rect">
                        <a:avLst/>
                      </a:prstGeom>
                      <a:solidFill>
                        <a:srgbClr val="FF9900"/>
                      </a:solidFill>
                    </p:spPr>
                  </p:pic>
                </p:oleObj>
              </mc:Fallback>
            </mc:AlternateContent>
          </a:graphicData>
        </a:graphic>
      </p:graphicFrame>
      <p:sp>
        <p:nvSpPr>
          <p:cNvPr id="182278" name="Rectangle 6">
            <a:extLst>
              <a:ext uri="{FF2B5EF4-FFF2-40B4-BE49-F238E27FC236}">
                <a16:creationId xmlns:a16="http://schemas.microsoft.com/office/drawing/2014/main" id="{03641949-0C34-FB97-E1DF-27741A118263}"/>
              </a:ext>
            </a:extLst>
          </p:cNvPr>
          <p:cNvSpPr>
            <a:spLocks noChangeArrowheads="1"/>
          </p:cNvSpPr>
          <p:nvPr/>
        </p:nvSpPr>
        <p:spPr bwMode="auto">
          <a:xfrm>
            <a:off x="6732588" y="981075"/>
            <a:ext cx="2012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，加工数量为</a:t>
            </a:r>
            <a:endParaRPr kumimoji="1" lang="zh-CN" altLang="en-US" sz="2400" b="1">
              <a:effectLst>
                <a:outerShdw blurRad="38100" dist="38100" dir="2700000" algn="tl">
                  <a:srgbClr val="000000"/>
                </a:outerShdw>
              </a:effectLst>
              <a:latin typeface="Times New Roman" panose="02020603050405020304" pitchFamily="18" charset="0"/>
            </a:endParaRPr>
          </a:p>
        </p:txBody>
      </p:sp>
      <p:graphicFrame>
        <p:nvGraphicFramePr>
          <p:cNvPr id="182279" name="Object 7">
            <a:extLst>
              <a:ext uri="{FF2B5EF4-FFF2-40B4-BE49-F238E27FC236}">
                <a16:creationId xmlns:a16="http://schemas.microsoft.com/office/drawing/2014/main" id="{23707E13-3D41-E4A3-F1A5-05A079394414}"/>
              </a:ext>
            </a:extLst>
          </p:cNvPr>
          <p:cNvGraphicFramePr>
            <a:graphicFrameLocks noChangeAspect="1"/>
          </p:cNvGraphicFramePr>
          <p:nvPr/>
        </p:nvGraphicFramePr>
        <p:xfrm>
          <a:off x="3924300" y="1412875"/>
          <a:ext cx="2016125" cy="639763"/>
        </p:xfrm>
        <a:graphic>
          <a:graphicData uri="http://schemas.openxmlformats.org/presentationml/2006/ole">
            <mc:AlternateContent xmlns:mc="http://schemas.openxmlformats.org/markup-compatibility/2006">
              <mc:Choice xmlns:v="urn:schemas-microsoft-com:vml" Requires="v">
                <p:oleObj name="Equation" r:id="rId4" imgW="685502" imgH="266584" progId="Equation.3">
                  <p:embed/>
                </p:oleObj>
              </mc:Choice>
              <mc:Fallback>
                <p:oleObj name="Equation" r:id="rId4" imgW="685502" imgH="266584" progId="Equation.3">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4300" y="1412875"/>
                        <a:ext cx="2016125" cy="639763"/>
                      </a:xfrm>
                      <a:prstGeom prst="rect">
                        <a:avLst/>
                      </a:prstGeom>
                      <a:solidFill>
                        <a:srgbClr val="FF9900"/>
                      </a:solidFill>
                    </p:spPr>
                  </p:pic>
                </p:oleObj>
              </mc:Fallback>
            </mc:AlternateContent>
          </a:graphicData>
        </a:graphic>
      </p:graphicFrame>
      <p:graphicFrame>
        <p:nvGraphicFramePr>
          <p:cNvPr id="182280" name="Object 8">
            <a:extLst>
              <a:ext uri="{FF2B5EF4-FFF2-40B4-BE49-F238E27FC236}">
                <a16:creationId xmlns:a16="http://schemas.microsoft.com/office/drawing/2014/main" id="{D90F19F6-4FC3-7665-6A9A-E872DFB42807}"/>
              </a:ext>
            </a:extLst>
          </p:cNvPr>
          <p:cNvGraphicFramePr>
            <a:graphicFrameLocks noChangeAspect="1"/>
          </p:cNvGraphicFramePr>
          <p:nvPr/>
        </p:nvGraphicFramePr>
        <p:xfrm>
          <a:off x="5940425" y="1557338"/>
          <a:ext cx="1873250" cy="503237"/>
        </p:xfrm>
        <a:graphic>
          <a:graphicData uri="http://schemas.openxmlformats.org/presentationml/2006/ole">
            <mc:AlternateContent xmlns:mc="http://schemas.openxmlformats.org/markup-compatibility/2006">
              <mc:Choice xmlns:v="urn:schemas-microsoft-com:vml" Requires="v">
                <p:oleObj name="Equation" r:id="rId6" imgW="532937" imgH="164957" progId="Equation.3">
                  <p:embed/>
                </p:oleObj>
              </mc:Choice>
              <mc:Fallback>
                <p:oleObj name="Equation" r:id="rId6" imgW="532937" imgH="164957" progId="Equation.3">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40425" y="1557338"/>
                        <a:ext cx="1873250" cy="503237"/>
                      </a:xfrm>
                      <a:prstGeom prst="rect">
                        <a:avLst/>
                      </a:prstGeom>
                      <a:solidFill>
                        <a:srgbClr val="FF9900"/>
                      </a:solidFill>
                    </p:spPr>
                  </p:pic>
                </p:oleObj>
              </mc:Fallback>
            </mc:AlternateContent>
          </a:graphicData>
        </a:graphic>
      </p:graphicFrame>
      <p:sp>
        <p:nvSpPr>
          <p:cNvPr id="182281" name="Rectangle 9">
            <a:extLst>
              <a:ext uri="{FF2B5EF4-FFF2-40B4-BE49-F238E27FC236}">
                <a16:creationId xmlns:a16="http://schemas.microsoft.com/office/drawing/2014/main" id="{73E550AA-5200-1756-9D0C-B7EFE468767C}"/>
              </a:ext>
            </a:extLst>
          </p:cNvPr>
          <p:cNvSpPr>
            <a:spLocks noChangeArrowheads="1"/>
          </p:cNvSpPr>
          <p:nvPr/>
        </p:nvSpPr>
        <p:spPr bwMode="auto">
          <a:xfrm>
            <a:off x="900113" y="2997200"/>
            <a:ext cx="18589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zh-CN" altLang="en-US" b="1">
                <a:effectLst>
                  <a:outerShdw blurRad="38100" dist="38100" dir="2700000" algn="tl">
                    <a:srgbClr val="000000"/>
                  </a:outerShdw>
                </a:effectLst>
              </a:rPr>
              <a:t>求解：公差中心 </a:t>
            </a:r>
          </a:p>
        </p:txBody>
      </p:sp>
      <p:graphicFrame>
        <p:nvGraphicFramePr>
          <p:cNvPr id="182282" name="Object 10">
            <a:extLst>
              <a:ext uri="{FF2B5EF4-FFF2-40B4-BE49-F238E27FC236}">
                <a16:creationId xmlns:a16="http://schemas.microsoft.com/office/drawing/2014/main" id="{1DC4B334-EA24-1409-4639-2F5820615008}"/>
              </a:ext>
            </a:extLst>
          </p:cNvPr>
          <p:cNvGraphicFramePr>
            <a:graphicFrameLocks noChangeAspect="1"/>
          </p:cNvGraphicFramePr>
          <p:nvPr/>
        </p:nvGraphicFramePr>
        <p:xfrm>
          <a:off x="1979613" y="3500438"/>
          <a:ext cx="3887787" cy="644525"/>
        </p:xfrm>
        <a:graphic>
          <a:graphicData uri="http://schemas.openxmlformats.org/presentationml/2006/ole">
            <mc:AlternateContent xmlns:mc="http://schemas.openxmlformats.org/markup-compatibility/2006">
              <mc:Choice xmlns:v="urn:schemas-microsoft-com:vml" Requires="v">
                <p:oleObj name="Equation" r:id="rId8" imgW="2019300" imgH="368300" progId="Equation.3">
                  <p:embed/>
                </p:oleObj>
              </mc:Choice>
              <mc:Fallback>
                <p:oleObj name="Equation" r:id="rId8" imgW="2019300" imgH="368300" progId="Equation.3">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979613" y="3500438"/>
                        <a:ext cx="3887787" cy="644525"/>
                      </a:xfrm>
                      <a:prstGeom prst="rect">
                        <a:avLst/>
                      </a:prstGeom>
                      <a:solidFill>
                        <a:srgbClr val="FF9900"/>
                      </a:solidFill>
                    </p:spPr>
                  </p:pic>
                </p:oleObj>
              </mc:Fallback>
            </mc:AlternateContent>
          </a:graphicData>
        </a:graphic>
      </p:graphicFrame>
      <p:graphicFrame>
        <p:nvGraphicFramePr>
          <p:cNvPr id="182283" name="Object 11">
            <a:extLst>
              <a:ext uri="{FF2B5EF4-FFF2-40B4-BE49-F238E27FC236}">
                <a16:creationId xmlns:a16="http://schemas.microsoft.com/office/drawing/2014/main" id="{75726D45-1CB0-4EC3-2009-97E32A7579F1}"/>
              </a:ext>
            </a:extLst>
          </p:cNvPr>
          <p:cNvGraphicFramePr>
            <a:graphicFrameLocks noChangeAspect="1"/>
          </p:cNvGraphicFramePr>
          <p:nvPr/>
        </p:nvGraphicFramePr>
        <p:xfrm>
          <a:off x="827088" y="3573463"/>
          <a:ext cx="547687" cy="431800"/>
        </p:xfrm>
        <a:graphic>
          <a:graphicData uri="http://schemas.openxmlformats.org/presentationml/2006/ole">
            <mc:AlternateContent xmlns:mc="http://schemas.openxmlformats.org/markup-compatibility/2006">
              <mc:Choice xmlns:v="urn:schemas-microsoft-com:vml" Requires="v">
                <p:oleObj name="Equation" r:id="rId10" imgW="177569" imgH="152202" progId="Equation.3">
                  <p:embed/>
                </p:oleObj>
              </mc:Choice>
              <mc:Fallback>
                <p:oleObj name="Equation" r:id="rId10" imgW="177569" imgH="152202" progId="Equation.3">
                  <p:embed/>
                  <p:pic>
                    <p:nvPicPr>
                      <p:cNvPr id="0" name="Object 1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27088" y="3573463"/>
                        <a:ext cx="547687" cy="431800"/>
                      </a:xfrm>
                      <a:prstGeom prst="rect">
                        <a:avLst/>
                      </a:prstGeom>
                      <a:solidFill>
                        <a:srgbClr val="FF9900"/>
                      </a:solidFill>
                    </p:spPr>
                  </p:pic>
                </p:oleObj>
              </mc:Fallback>
            </mc:AlternateContent>
          </a:graphicData>
        </a:graphic>
      </p:graphicFrame>
      <p:sp>
        <p:nvSpPr>
          <p:cNvPr id="182284" name="Rectangle 12">
            <a:extLst>
              <a:ext uri="{FF2B5EF4-FFF2-40B4-BE49-F238E27FC236}">
                <a16:creationId xmlns:a16="http://schemas.microsoft.com/office/drawing/2014/main" id="{3D5C305F-CB5C-6E3A-F2E8-D3F8CF0690FD}"/>
              </a:ext>
            </a:extLst>
          </p:cNvPr>
          <p:cNvSpPr>
            <a:spLocks noChangeArrowheads="1"/>
          </p:cNvSpPr>
          <p:nvPr/>
        </p:nvSpPr>
        <p:spPr bwMode="auto">
          <a:xfrm>
            <a:off x="1476375" y="3573463"/>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a:t>
            </a:r>
            <a:endParaRPr kumimoji="1" lang="en-US" altLang="zh-CN" sz="2400" b="1">
              <a:effectLst>
                <a:outerShdw blurRad="38100" dist="38100" dir="2700000" algn="tl">
                  <a:srgbClr val="000000"/>
                </a:outerShdw>
              </a:effectLst>
              <a:latin typeface="Times New Roman" panose="02020603050405020304" pitchFamily="18" charset="0"/>
            </a:endParaRPr>
          </a:p>
        </p:txBody>
      </p:sp>
      <p:sp>
        <p:nvSpPr>
          <p:cNvPr id="182285" name="Rectangle 13">
            <a:extLst>
              <a:ext uri="{FF2B5EF4-FFF2-40B4-BE49-F238E27FC236}">
                <a16:creationId xmlns:a16="http://schemas.microsoft.com/office/drawing/2014/main" id="{70BC1705-4E9E-00B1-74FF-93BCBA457662}"/>
              </a:ext>
            </a:extLst>
          </p:cNvPr>
          <p:cNvSpPr>
            <a:spLocks noChangeArrowheads="1"/>
          </p:cNvSpPr>
          <p:nvPr/>
        </p:nvSpPr>
        <p:spPr bwMode="auto">
          <a:xfrm>
            <a:off x="611188" y="4221163"/>
            <a:ext cx="60801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     </a:t>
            </a:r>
            <a:r>
              <a:rPr kumimoji="1" lang="zh-CN" altLang="en-US"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公差中心正好与实际数据分布中心重合。                  </a:t>
            </a:r>
            <a:endParaRPr kumimoji="1" lang="zh-CN" altLang="en-US" sz="2400" b="1">
              <a:effectLst>
                <a:outerShdw blurRad="38100" dist="38100" dir="2700000" algn="tl">
                  <a:srgbClr val="000000"/>
                </a:outerShdw>
              </a:effectLst>
              <a:latin typeface="Times New Roman" panose="02020603050405020304" pitchFamily="18" charset="0"/>
            </a:endParaRPr>
          </a:p>
        </p:txBody>
      </p:sp>
      <p:sp>
        <p:nvSpPr>
          <p:cNvPr id="182286" name="Rectangle 14">
            <a:extLst>
              <a:ext uri="{FF2B5EF4-FFF2-40B4-BE49-F238E27FC236}">
                <a16:creationId xmlns:a16="http://schemas.microsoft.com/office/drawing/2014/main" id="{4320C628-D7F2-43DE-0AD2-E8F5E0EA932B}"/>
              </a:ext>
            </a:extLst>
          </p:cNvPr>
          <p:cNvSpPr>
            <a:spLocks noChangeArrowheads="1"/>
          </p:cNvSpPr>
          <p:nvPr/>
        </p:nvSpPr>
        <p:spPr bwMode="auto">
          <a:xfrm>
            <a:off x="539750" y="2852738"/>
            <a:ext cx="7777163" cy="338455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2287" name="Text Box 15">
            <a:extLst>
              <a:ext uri="{FF2B5EF4-FFF2-40B4-BE49-F238E27FC236}">
                <a16:creationId xmlns:a16="http://schemas.microsoft.com/office/drawing/2014/main" id="{E4E709E3-3CEB-F54D-747B-E1A617CBB3D4}"/>
              </a:ext>
            </a:extLst>
          </p:cNvPr>
          <p:cNvSpPr txBox="1">
            <a:spLocks noChangeArrowheads="1"/>
          </p:cNvSpPr>
          <p:nvPr/>
        </p:nvSpPr>
        <p:spPr bwMode="auto">
          <a:xfrm>
            <a:off x="900113" y="2205038"/>
            <a:ext cx="39957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2400" b="1">
                <a:effectLst>
                  <a:outerShdw blurRad="38100" dist="38100" dir="2700000" algn="tl">
                    <a:srgbClr val="000000"/>
                  </a:outerShdw>
                </a:effectLst>
              </a:rPr>
              <a:t>求工序能力</a:t>
            </a:r>
          </a:p>
        </p:txBody>
      </p:sp>
      <p:graphicFrame>
        <p:nvGraphicFramePr>
          <p:cNvPr id="182289" name="Object 17">
            <a:extLst>
              <a:ext uri="{FF2B5EF4-FFF2-40B4-BE49-F238E27FC236}">
                <a16:creationId xmlns:a16="http://schemas.microsoft.com/office/drawing/2014/main" id="{D04CFEFA-BC56-9461-DE7B-B62CB7A526D1}"/>
              </a:ext>
            </a:extLst>
          </p:cNvPr>
          <p:cNvGraphicFramePr>
            <a:graphicFrameLocks noChangeAspect="1"/>
          </p:cNvGraphicFramePr>
          <p:nvPr/>
        </p:nvGraphicFramePr>
        <p:xfrm>
          <a:off x="1258888" y="4724400"/>
          <a:ext cx="1152525" cy="588963"/>
        </p:xfrm>
        <a:graphic>
          <a:graphicData uri="http://schemas.openxmlformats.org/presentationml/2006/ole">
            <mc:AlternateContent xmlns:mc="http://schemas.openxmlformats.org/markup-compatibility/2006">
              <mc:Choice xmlns:v="urn:schemas-microsoft-com:vml" Requires="v">
                <p:oleObj name="Equation" r:id="rId12" imgW="507780" imgH="355446" progId="Equation.3">
                  <p:embed/>
                </p:oleObj>
              </mc:Choice>
              <mc:Fallback>
                <p:oleObj name="Equation" r:id="rId12" imgW="507780" imgH="355446" progId="Equation.3">
                  <p:embed/>
                  <p:pic>
                    <p:nvPicPr>
                      <p:cNvPr id="0" name="Object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58888" y="4724400"/>
                        <a:ext cx="1152525" cy="588963"/>
                      </a:xfrm>
                      <a:prstGeom prst="rect">
                        <a:avLst/>
                      </a:prstGeom>
                      <a:solidFill>
                        <a:srgbClr val="FF9900"/>
                      </a:solidFill>
                    </p:spPr>
                  </p:pic>
                </p:oleObj>
              </mc:Fallback>
            </mc:AlternateContent>
          </a:graphicData>
        </a:graphic>
      </p:graphicFrame>
      <p:graphicFrame>
        <p:nvGraphicFramePr>
          <p:cNvPr id="182290" name="Object 18">
            <a:extLst>
              <a:ext uri="{FF2B5EF4-FFF2-40B4-BE49-F238E27FC236}">
                <a16:creationId xmlns:a16="http://schemas.microsoft.com/office/drawing/2014/main" id="{0068D711-81D8-5A6C-316C-FF7B90A82D34}"/>
              </a:ext>
            </a:extLst>
          </p:cNvPr>
          <p:cNvGraphicFramePr>
            <a:graphicFrameLocks noChangeAspect="1"/>
          </p:cNvGraphicFramePr>
          <p:nvPr/>
        </p:nvGraphicFramePr>
        <p:xfrm>
          <a:off x="3059113" y="4724400"/>
          <a:ext cx="2952750" cy="638175"/>
        </p:xfrm>
        <a:graphic>
          <a:graphicData uri="http://schemas.openxmlformats.org/presentationml/2006/ole">
            <mc:AlternateContent xmlns:mc="http://schemas.openxmlformats.org/markup-compatibility/2006">
              <mc:Choice xmlns:v="urn:schemas-microsoft-com:vml" Requires="v">
                <p:oleObj name="Equation" r:id="rId14" imgW="1218671" imgH="355446" progId="Equation.3">
                  <p:embed/>
                </p:oleObj>
              </mc:Choice>
              <mc:Fallback>
                <p:oleObj name="Equation" r:id="rId14" imgW="1218671" imgH="355446" progId="Equation.3">
                  <p:embed/>
                  <p:pic>
                    <p:nvPicPr>
                      <p:cNvPr id="0" name="Object 1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059113" y="4724400"/>
                        <a:ext cx="2952750" cy="638175"/>
                      </a:xfrm>
                      <a:prstGeom prst="rect">
                        <a:avLst/>
                      </a:prstGeom>
                      <a:solidFill>
                        <a:srgbClr val="FF9900"/>
                      </a:solidFill>
                    </p:spPr>
                  </p:pic>
                </p:oleObj>
              </mc:Fallback>
            </mc:AlternateContent>
          </a:graphicData>
        </a:graphic>
      </p:graphicFrame>
      <p:sp>
        <p:nvSpPr>
          <p:cNvPr id="182293" name="Rectangle 21">
            <a:extLst>
              <a:ext uri="{FF2B5EF4-FFF2-40B4-BE49-F238E27FC236}">
                <a16:creationId xmlns:a16="http://schemas.microsoft.com/office/drawing/2014/main" id="{3E41EC35-AD61-65F4-11AE-7A097F9C53ED}"/>
              </a:ext>
            </a:extLst>
          </p:cNvPr>
          <p:cNvSpPr>
            <a:spLocks noChangeArrowheads="1"/>
          </p:cNvSpPr>
          <p:nvPr/>
        </p:nvSpPr>
        <p:spPr bwMode="auto">
          <a:xfrm>
            <a:off x="0" y="32623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sp>
        <p:nvSpPr>
          <p:cNvPr id="182294" name="Rectangle 22">
            <a:extLst>
              <a:ext uri="{FF2B5EF4-FFF2-40B4-BE49-F238E27FC236}">
                <a16:creationId xmlns:a16="http://schemas.microsoft.com/office/drawing/2014/main" id="{1944B9F1-D273-F5EB-FA59-3D628C820741}"/>
              </a:ext>
            </a:extLst>
          </p:cNvPr>
          <p:cNvSpPr>
            <a:spLocks noChangeArrowheads="1"/>
          </p:cNvSpPr>
          <p:nvPr/>
        </p:nvSpPr>
        <p:spPr bwMode="auto">
          <a:xfrm>
            <a:off x="2555875" y="4724400"/>
            <a:ext cx="35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r>
              <a:rPr kumimoji="1" lang="en-US" altLang="zh-CN" sz="2400" b="1">
                <a:effectLst>
                  <a:outerShdw blurRad="38100" dist="38100" dir="2700000" algn="tl">
                    <a:srgbClr val="000000"/>
                  </a:outerShdw>
                </a:effectLst>
                <a:latin typeface="Times New Roman" panose="02020603050405020304" pitchFamily="18" charset="0"/>
                <a:cs typeface="Times New Roman" panose="02020603050405020304" pitchFamily="18" charset="0"/>
              </a:rPr>
              <a:t>=</a:t>
            </a:r>
            <a:endParaRPr kumimoji="1" lang="en-US" altLang="zh-CN" sz="2400" b="1">
              <a:effectLst>
                <a:outerShdw blurRad="38100" dist="38100" dir="2700000" algn="tl">
                  <a:srgbClr val="000000"/>
                </a:outerShdw>
              </a:effectLst>
              <a:latin typeface="Times New Roman" panose="02020603050405020304" pitchFamily="18" charset="0"/>
            </a:endParaRPr>
          </a:p>
        </p:txBody>
      </p:sp>
      <p:sp>
        <p:nvSpPr>
          <p:cNvPr id="182295" name="Rectangle 23">
            <a:extLst>
              <a:ext uri="{FF2B5EF4-FFF2-40B4-BE49-F238E27FC236}">
                <a16:creationId xmlns:a16="http://schemas.microsoft.com/office/drawing/2014/main" id="{9C0B38A4-8BF2-D703-4793-E29B8DF4E4F3}"/>
              </a:ext>
            </a:extLst>
          </p:cNvPr>
          <p:cNvSpPr>
            <a:spLocks noChangeArrowheads="1"/>
          </p:cNvSpPr>
          <p:nvPr/>
        </p:nvSpPr>
        <p:spPr bwMode="auto">
          <a:xfrm>
            <a:off x="755650" y="1628775"/>
            <a:ext cx="30972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kumimoji="1" lang="en-US" altLang="zh-CN" b="1">
                <a:effectLst>
                  <a:outerShdw blurRad="38100" dist="38100" dir="2700000" algn="tl">
                    <a:srgbClr val="000000"/>
                  </a:outerShdw>
                </a:effectLst>
              </a:rPr>
              <a:t>100</a:t>
            </a:r>
            <a:r>
              <a:rPr kumimoji="1" lang="zh-CN" altLang="en-US" b="1">
                <a:effectLst>
                  <a:outerShdw blurRad="38100" dist="38100" dir="2700000" algn="tl">
                    <a:srgbClr val="000000"/>
                  </a:outerShdw>
                </a:effectLst>
              </a:rPr>
              <a:t>件的一批零件后，计算的</a:t>
            </a:r>
          </a:p>
        </p:txBody>
      </p:sp>
    </p:spTree>
  </p:cSld>
  <p:clrMapOvr>
    <a:masterClrMapping/>
  </p:clrMapOvr>
  <p:transition spd="slow">
    <p:strips dir="rd"/>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4FB066C8-E14D-496F-C65C-05E7F7B96353}"/>
              </a:ext>
            </a:extLst>
          </p:cNvPr>
          <p:cNvSpPr>
            <a:spLocks noGrp="1"/>
          </p:cNvSpPr>
          <p:nvPr>
            <p:ph type="dt" sz="half" idx="10"/>
          </p:nvPr>
        </p:nvSpPr>
        <p:spPr/>
        <p:txBody>
          <a:bodyPr/>
          <a:lstStyle/>
          <a:p>
            <a:r>
              <a:rPr lang="zh-CN" altLang="en-US"/>
              <a:t>讲义制作：李丽，陈志祥审</a:t>
            </a:r>
            <a:endParaRPr lang="en-US" altLang="zh-CN"/>
          </a:p>
        </p:txBody>
      </p:sp>
      <p:sp>
        <p:nvSpPr>
          <p:cNvPr id="162819" name="Rectangle 3">
            <a:extLst>
              <a:ext uri="{FF2B5EF4-FFF2-40B4-BE49-F238E27FC236}">
                <a16:creationId xmlns:a16="http://schemas.microsoft.com/office/drawing/2014/main" id="{79A5E7A2-18B4-67A3-64B3-8AF7E452C0AE}"/>
              </a:ext>
            </a:extLst>
          </p:cNvPr>
          <p:cNvSpPr>
            <a:spLocks noGrp="1" noChangeArrowheads="1"/>
          </p:cNvSpPr>
          <p:nvPr>
            <p:ph type="body" idx="1"/>
          </p:nvPr>
        </p:nvSpPr>
        <p:spPr>
          <a:xfrm>
            <a:off x="323850" y="765175"/>
            <a:ext cx="8540750" cy="4194175"/>
          </a:xfrm>
        </p:spPr>
        <p:txBody>
          <a:bodyPr/>
          <a:lstStyle/>
          <a:p>
            <a:r>
              <a:rPr lang="zh-CN" altLang="en-US" sz="2400" b="1">
                <a:effectLst>
                  <a:outerShdw blurRad="38100" dist="38100" dir="2700000" algn="tl">
                    <a:srgbClr val="000000"/>
                  </a:outerShdw>
                </a:effectLst>
              </a:rPr>
              <a:t>从理论与实际的结果都看出，过程能力指数与产品不合格品率之间存在一个对应的关系，因此我们可以从能力指数推出不合格品率，反之，从不合格率也可以知道过程能力。</a:t>
            </a:r>
          </a:p>
        </p:txBody>
      </p:sp>
      <p:sp>
        <p:nvSpPr>
          <p:cNvPr id="162821" name="Line 5">
            <a:extLst>
              <a:ext uri="{FF2B5EF4-FFF2-40B4-BE49-F238E27FC236}">
                <a16:creationId xmlns:a16="http://schemas.microsoft.com/office/drawing/2014/main" id="{287A399A-7F8F-03C8-D52D-4B434FF35E95}"/>
              </a:ext>
            </a:extLst>
          </p:cNvPr>
          <p:cNvSpPr>
            <a:spLocks noChangeShapeType="1"/>
          </p:cNvSpPr>
          <p:nvPr/>
        </p:nvSpPr>
        <p:spPr bwMode="auto">
          <a:xfrm>
            <a:off x="827088" y="2492375"/>
            <a:ext cx="79930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2" name="Text Box 6">
            <a:extLst>
              <a:ext uri="{FF2B5EF4-FFF2-40B4-BE49-F238E27FC236}">
                <a16:creationId xmlns:a16="http://schemas.microsoft.com/office/drawing/2014/main" id="{8F0C6E23-8AC5-C948-8826-639B40D007F5}"/>
              </a:ext>
            </a:extLst>
          </p:cNvPr>
          <p:cNvSpPr txBox="1">
            <a:spLocks noChangeArrowheads="1"/>
          </p:cNvSpPr>
          <p:nvPr/>
        </p:nvSpPr>
        <p:spPr bwMode="auto">
          <a:xfrm>
            <a:off x="900113" y="2708275"/>
            <a:ext cx="1655762"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ffectLst>
                  <a:outerShdw blurRad="38100" dist="38100" dir="2700000" algn="tl">
                    <a:srgbClr val="000000"/>
                  </a:outerShdw>
                </a:effectLst>
              </a:rPr>
              <a:t>等级</a:t>
            </a:r>
          </a:p>
        </p:txBody>
      </p:sp>
      <p:sp>
        <p:nvSpPr>
          <p:cNvPr id="162823" name="Line 7">
            <a:extLst>
              <a:ext uri="{FF2B5EF4-FFF2-40B4-BE49-F238E27FC236}">
                <a16:creationId xmlns:a16="http://schemas.microsoft.com/office/drawing/2014/main" id="{ABC0FDCA-B527-877A-242D-4EDCF1F9195F}"/>
              </a:ext>
            </a:extLst>
          </p:cNvPr>
          <p:cNvSpPr>
            <a:spLocks noChangeShapeType="1"/>
          </p:cNvSpPr>
          <p:nvPr/>
        </p:nvSpPr>
        <p:spPr bwMode="auto">
          <a:xfrm>
            <a:off x="827088" y="3284538"/>
            <a:ext cx="792162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4" name="Line 8">
            <a:extLst>
              <a:ext uri="{FF2B5EF4-FFF2-40B4-BE49-F238E27FC236}">
                <a16:creationId xmlns:a16="http://schemas.microsoft.com/office/drawing/2014/main" id="{FA013F26-3256-BAFA-E74A-D83191C33C07}"/>
              </a:ext>
            </a:extLst>
          </p:cNvPr>
          <p:cNvSpPr>
            <a:spLocks noChangeShapeType="1"/>
          </p:cNvSpPr>
          <p:nvPr/>
        </p:nvSpPr>
        <p:spPr bwMode="auto">
          <a:xfrm>
            <a:off x="1692275" y="2492375"/>
            <a:ext cx="0" cy="381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5" name="Line 9">
            <a:extLst>
              <a:ext uri="{FF2B5EF4-FFF2-40B4-BE49-F238E27FC236}">
                <a16:creationId xmlns:a16="http://schemas.microsoft.com/office/drawing/2014/main" id="{0E8512EB-6273-CA44-9A88-CB345259DE28}"/>
              </a:ext>
            </a:extLst>
          </p:cNvPr>
          <p:cNvSpPr>
            <a:spLocks noChangeShapeType="1"/>
          </p:cNvSpPr>
          <p:nvPr/>
        </p:nvSpPr>
        <p:spPr bwMode="auto">
          <a:xfrm>
            <a:off x="3563938" y="2492375"/>
            <a:ext cx="0" cy="381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6" name="Line 10">
            <a:extLst>
              <a:ext uri="{FF2B5EF4-FFF2-40B4-BE49-F238E27FC236}">
                <a16:creationId xmlns:a16="http://schemas.microsoft.com/office/drawing/2014/main" id="{695CFBEF-DAEE-4DAD-26A7-BE891C07098C}"/>
              </a:ext>
            </a:extLst>
          </p:cNvPr>
          <p:cNvSpPr>
            <a:spLocks noChangeShapeType="1"/>
          </p:cNvSpPr>
          <p:nvPr/>
        </p:nvSpPr>
        <p:spPr bwMode="auto">
          <a:xfrm>
            <a:off x="7092950" y="2492375"/>
            <a:ext cx="0" cy="381635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2827" name="Text Box 11">
            <a:extLst>
              <a:ext uri="{FF2B5EF4-FFF2-40B4-BE49-F238E27FC236}">
                <a16:creationId xmlns:a16="http://schemas.microsoft.com/office/drawing/2014/main" id="{A5093E51-4040-C1A3-9FBA-51D9005CFBE5}"/>
              </a:ext>
            </a:extLst>
          </p:cNvPr>
          <p:cNvSpPr txBox="1">
            <a:spLocks noChangeArrowheads="1"/>
          </p:cNvSpPr>
          <p:nvPr/>
        </p:nvSpPr>
        <p:spPr bwMode="auto">
          <a:xfrm>
            <a:off x="1908175" y="2636838"/>
            <a:ext cx="143986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ffectLst>
                  <a:outerShdw blurRad="38100" dist="38100" dir="2700000" algn="tl">
                    <a:srgbClr val="000000"/>
                  </a:outerShdw>
                </a:effectLst>
              </a:rPr>
              <a:t>过程能力指数</a:t>
            </a:r>
          </a:p>
        </p:txBody>
      </p:sp>
      <p:sp>
        <p:nvSpPr>
          <p:cNvPr id="162828" name="Text Box 12">
            <a:extLst>
              <a:ext uri="{FF2B5EF4-FFF2-40B4-BE49-F238E27FC236}">
                <a16:creationId xmlns:a16="http://schemas.microsoft.com/office/drawing/2014/main" id="{E354B977-0713-E9ED-59FF-E34EC354073D}"/>
              </a:ext>
            </a:extLst>
          </p:cNvPr>
          <p:cNvSpPr txBox="1">
            <a:spLocks noChangeArrowheads="1"/>
          </p:cNvSpPr>
          <p:nvPr/>
        </p:nvSpPr>
        <p:spPr bwMode="auto">
          <a:xfrm>
            <a:off x="3563938" y="2636838"/>
            <a:ext cx="1944687"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ffectLst>
                  <a:outerShdw blurRad="38100" dist="38100" dir="2700000" algn="tl">
                    <a:srgbClr val="000000"/>
                  </a:outerShdw>
                </a:effectLst>
              </a:rPr>
              <a:t>产品不合格品率</a:t>
            </a:r>
          </a:p>
        </p:txBody>
      </p:sp>
      <p:sp>
        <p:nvSpPr>
          <p:cNvPr id="162829" name="Text Box 13">
            <a:extLst>
              <a:ext uri="{FF2B5EF4-FFF2-40B4-BE49-F238E27FC236}">
                <a16:creationId xmlns:a16="http://schemas.microsoft.com/office/drawing/2014/main" id="{6753CCA0-6040-4ABD-ADF9-AB1E2B934A14}"/>
              </a:ext>
            </a:extLst>
          </p:cNvPr>
          <p:cNvSpPr txBox="1">
            <a:spLocks noChangeArrowheads="1"/>
          </p:cNvSpPr>
          <p:nvPr/>
        </p:nvSpPr>
        <p:spPr bwMode="auto">
          <a:xfrm>
            <a:off x="7235825" y="2708275"/>
            <a:ext cx="165576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b="1">
                <a:effectLst>
                  <a:outerShdw blurRad="38100" dist="38100" dir="2700000" algn="tl">
                    <a:srgbClr val="000000"/>
                  </a:outerShdw>
                </a:effectLst>
              </a:rPr>
              <a:t>能力评价</a:t>
            </a:r>
          </a:p>
        </p:txBody>
      </p:sp>
      <p:sp>
        <p:nvSpPr>
          <p:cNvPr id="162831" name="Rectangle 15">
            <a:extLst>
              <a:ext uri="{FF2B5EF4-FFF2-40B4-BE49-F238E27FC236}">
                <a16:creationId xmlns:a16="http://schemas.microsoft.com/office/drawing/2014/main" id="{08EBF219-BBDB-9C3B-ADD5-110BE1959659}"/>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30" name="Object 14">
            <a:extLst>
              <a:ext uri="{FF2B5EF4-FFF2-40B4-BE49-F238E27FC236}">
                <a16:creationId xmlns:a16="http://schemas.microsoft.com/office/drawing/2014/main" id="{E9F77F74-6C89-65FE-053B-008E77EEBFBF}"/>
              </a:ext>
            </a:extLst>
          </p:cNvPr>
          <p:cNvGraphicFramePr>
            <a:graphicFrameLocks noChangeAspect="1"/>
          </p:cNvGraphicFramePr>
          <p:nvPr/>
        </p:nvGraphicFramePr>
        <p:xfrm>
          <a:off x="1979613" y="3357563"/>
          <a:ext cx="1223962" cy="493712"/>
        </p:xfrm>
        <a:graphic>
          <a:graphicData uri="http://schemas.openxmlformats.org/presentationml/2006/ole">
            <mc:AlternateContent xmlns:mc="http://schemas.openxmlformats.org/markup-compatibility/2006">
              <mc:Choice xmlns:v="urn:schemas-microsoft-com:vml" Requires="v">
                <p:oleObj name="公式" r:id="rId2" imgW="545626" imgH="215713" progId="Equation.3">
                  <p:embed/>
                </p:oleObj>
              </mc:Choice>
              <mc:Fallback>
                <p:oleObj name="公式" r:id="rId2" imgW="545626" imgH="215713" progId="Equation.3">
                  <p:embed/>
                  <p:pic>
                    <p:nvPicPr>
                      <p:cNvPr id="0" name="Object 1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613" y="3357563"/>
                        <a:ext cx="1223962" cy="493712"/>
                      </a:xfrm>
                      <a:prstGeom prst="rect">
                        <a:avLst/>
                      </a:prstGeom>
                      <a:solidFill>
                        <a:srgbClr val="FF9900"/>
                      </a:solidFill>
                    </p:spPr>
                  </p:pic>
                </p:oleObj>
              </mc:Fallback>
            </mc:AlternateContent>
          </a:graphicData>
        </a:graphic>
      </p:graphicFrame>
      <p:sp>
        <p:nvSpPr>
          <p:cNvPr id="162833" name="Rectangle 17">
            <a:extLst>
              <a:ext uri="{FF2B5EF4-FFF2-40B4-BE49-F238E27FC236}">
                <a16:creationId xmlns:a16="http://schemas.microsoft.com/office/drawing/2014/main" id="{5B73D508-9E31-5A50-B88D-705E2682C671}"/>
              </a:ext>
            </a:extLst>
          </p:cNvPr>
          <p:cNvSpPr>
            <a:spLocks noChangeArrowheads="1"/>
          </p:cNvSpPr>
          <p:nvPr/>
        </p:nvSpPr>
        <p:spPr bwMode="auto">
          <a:xfrm>
            <a:off x="0" y="3352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32" name="Object 16">
            <a:extLst>
              <a:ext uri="{FF2B5EF4-FFF2-40B4-BE49-F238E27FC236}">
                <a16:creationId xmlns:a16="http://schemas.microsoft.com/office/drawing/2014/main" id="{556A1CCC-0974-FB54-B4A3-057C25DCA5D2}"/>
              </a:ext>
            </a:extLst>
          </p:cNvPr>
          <p:cNvGraphicFramePr>
            <a:graphicFrameLocks noChangeAspect="1"/>
          </p:cNvGraphicFramePr>
          <p:nvPr/>
        </p:nvGraphicFramePr>
        <p:xfrm>
          <a:off x="3708400" y="3357563"/>
          <a:ext cx="2636838" cy="431800"/>
        </p:xfrm>
        <a:graphic>
          <a:graphicData uri="http://schemas.openxmlformats.org/presentationml/2006/ole">
            <mc:AlternateContent xmlns:mc="http://schemas.openxmlformats.org/markup-compatibility/2006">
              <mc:Choice xmlns:v="urn:schemas-microsoft-com:vml" Requires="v">
                <p:oleObj name="公式" r:id="rId4" imgW="787320" imgH="152280" progId="Equation.3">
                  <p:embed/>
                </p:oleObj>
              </mc:Choice>
              <mc:Fallback>
                <p:oleObj name="公式" r:id="rId4" imgW="787320" imgH="152280" progId="Equation.3">
                  <p:embed/>
                  <p:pic>
                    <p:nvPicPr>
                      <p:cNvPr id="0" name="Object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08400" y="3357563"/>
                        <a:ext cx="2636838" cy="431800"/>
                      </a:xfrm>
                      <a:prstGeom prst="rect">
                        <a:avLst/>
                      </a:prstGeom>
                      <a:solidFill>
                        <a:srgbClr val="FF9900"/>
                      </a:solidFill>
                    </p:spPr>
                  </p:pic>
                </p:oleObj>
              </mc:Fallback>
            </mc:AlternateContent>
          </a:graphicData>
        </a:graphic>
      </p:graphicFrame>
      <p:sp>
        <p:nvSpPr>
          <p:cNvPr id="162835" name="Rectangle 19">
            <a:extLst>
              <a:ext uri="{FF2B5EF4-FFF2-40B4-BE49-F238E27FC236}">
                <a16:creationId xmlns:a16="http://schemas.microsoft.com/office/drawing/2014/main" id="{25320320-FF35-EA71-07F3-F4C5FD5E8D36}"/>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34" name="Object 18">
            <a:extLst>
              <a:ext uri="{FF2B5EF4-FFF2-40B4-BE49-F238E27FC236}">
                <a16:creationId xmlns:a16="http://schemas.microsoft.com/office/drawing/2014/main" id="{E8224B02-B686-8010-4038-913A36F11CB2}"/>
              </a:ext>
            </a:extLst>
          </p:cNvPr>
          <p:cNvGraphicFramePr>
            <a:graphicFrameLocks noChangeAspect="1"/>
          </p:cNvGraphicFramePr>
          <p:nvPr/>
        </p:nvGraphicFramePr>
        <p:xfrm>
          <a:off x="1835150" y="4005263"/>
          <a:ext cx="1584325" cy="485775"/>
        </p:xfrm>
        <a:graphic>
          <a:graphicData uri="http://schemas.openxmlformats.org/presentationml/2006/ole">
            <mc:AlternateContent xmlns:mc="http://schemas.openxmlformats.org/markup-compatibility/2006">
              <mc:Choice xmlns:v="urn:schemas-microsoft-com:vml" Requires="v">
                <p:oleObj name="公式" r:id="rId6" imgW="875920" imgH="215806" progId="Equation.3">
                  <p:embed/>
                </p:oleObj>
              </mc:Choice>
              <mc:Fallback>
                <p:oleObj name="公式" r:id="rId6" imgW="875920" imgH="215806" progId="Equation.3">
                  <p:embed/>
                  <p:pic>
                    <p:nvPicPr>
                      <p:cNvPr id="0" name="Object 1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35150" y="4005263"/>
                        <a:ext cx="1584325" cy="485775"/>
                      </a:xfrm>
                      <a:prstGeom prst="rect">
                        <a:avLst/>
                      </a:prstGeom>
                      <a:solidFill>
                        <a:srgbClr val="FF9900"/>
                      </a:solidFill>
                    </p:spPr>
                  </p:pic>
                </p:oleObj>
              </mc:Fallback>
            </mc:AlternateContent>
          </a:graphicData>
        </a:graphic>
      </p:graphicFrame>
      <p:sp>
        <p:nvSpPr>
          <p:cNvPr id="162837" name="Rectangle 21">
            <a:extLst>
              <a:ext uri="{FF2B5EF4-FFF2-40B4-BE49-F238E27FC236}">
                <a16:creationId xmlns:a16="http://schemas.microsoft.com/office/drawing/2014/main" id="{F67E6427-01C2-682C-475A-5066BDD97B28}"/>
              </a:ext>
            </a:extLst>
          </p:cNvPr>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36" name="Object 20">
            <a:extLst>
              <a:ext uri="{FF2B5EF4-FFF2-40B4-BE49-F238E27FC236}">
                <a16:creationId xmlns:a16="http://schemas.microsoft.com/office/drawing/2014/main" id="{12A2BEBB-7C0F-5E9F-E07F-E60DB9177E21}"/>
              </a:ext>
            </a:extLst>
          </p:cNvPr>
          <p:cNvGraphicFramePr>
            <a:graphicFrameLocks noChangeAspect="1"/>
          </p:cNvGraphicFramePr>
          <p:nvPr/>
        </p:nvGraphicFramePr>
        <p:xfrm>
          <a:off x="3635375" y="3933825"/>
          <a:ext cx="3457575" cy="431800"/>
        </p:xfrm>
        <a:graphic>
          <a:graphicData uri="http://schemas.openxmlformats.org/presentationml/2006/ole">
            <mc:AlternateContent xmlns:mc="http://schemas.openxmlformats.org/markup-compatibility/2006">
              <mc:Choice xmlns:v="urn:schemas-microsoft-com:vml" Requires="v">
                <p:oleObj name="公式" r:id="rId8" imgW="1294838" imgH="177723" progId="Equation.3">
                  <p:embed/>
                </p:oleObj>
              </mc:Choice>
              <mc:Fallback>
                <p:oleObj name="公式" r:id="rId8" imgW="1294838" imgH="177723" progId="Equation.3">
                  <p:embed/>
                  <p:pic>
                    <p:nvPicPr>
                      <p:cNvPr id="0" name="Object 2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5375" y="3933825"/>
                        <a:ext cx="3457575" cy="431800"/>
                      </a:xfrm>
                      <a:prstGeom prst="rect">
                        <a:avLst/>
                      </a:prstGeom>
                      <a:solidFill>
                        <a:srgbClr val="FF9900"/>
                      </a:solidFill>
                    </p:spPr>
                  </p:pic>
                </p:oleObj>
              </mc:Fallback>
            </mc:AlternateContent>
          </a:graphicData>
        </a:graphic>
      </p:graphicFrame>
      <p:sp>
        <p:nvSpPr>
          <p:cNvPr id="162839" name="Rectangle 23">
            <a:extLst>
              <a:ext uri="{FF2B5EF4-FFF2-40B4-BE49-F238E27FC236}">
                <a16:creationId xmlns:a16="http://schemas.microsoft.com/office/drawing/2014/main" id="{3FCC9745-84CE-325D-3365-5567C9C290D9}"/>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38" name="Object 22">
            <a:extLst>
              <a:ext uri="{FF2B5EF4-FFF2-40B4-BE49-F238E27FC236}">
                <a16:creationId xmlns:a16="http://schemas.microsoft.com/office/drawing/2014/main" id="{B22C735A-F299-9EE6-6ED6-6D96163AF5C6}"/>
              </a:ext>
            </a:extLst>
          </p:cNvPr>
          <p:cNvGraphicFramePr>
            <a:graphicFrameLocks noChangeAspect="1"/>
          </p:cNvGraphicFramePr>
          <p:nvPr/>
        </p:nvGraphicFramePr>
        <p:xfrm>
          <a:off x="1835150" y="4581525"/>
          <a:ext cx="1584325" cy="503238"/>
        </p:xfrm>
        <a:graphic>
          <a:graphicData uri="http://schemas.openxmlformats.org/presentationml/2006/ole">
            <mc:AlternateContent xmlns:mc="http://schemas.openxmlformats.org/markup-compatibility/2006">
              <mc:Choice xmlns:v="urn:schemas-microsoft-com:vml" Requires="v">
                <p:oleObj name="公式" r:id="rId10" imgW="875920" imgH="215806" progId="Equation.3">
                  <p:embed/>
                </p:oleObj>
              </mc:Choice>
              <mc:Fallback>
                <p:oleObj name="公式" r:id="rId10" imgW="875920" imgH="215806" progId="Equation.3">
                  <p:embed/>
                  <p:pic>
                    <p:nvPicPr>
                      <p:cNvPr id="0" name="Object 2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35150" y="4581525"/>
                        <a:ext cx="1584325" cy="503238"/>
                      </a:xfrm>
                      <a:prstGeom prst="rect">
                        <a:avLst/>
                      </a:prstGeom>
                      <a:solidFill>
                        <a:srgbClr val="FF9900"/>
                      </a:solidFill>
                    </p:spPr>
                  </p:pic>
                </p:oleObj>
              </mc:Fallback>
            </mc:AlternateContent>
          </a:graphicData>
        </a:graphic>
      </p:graphicFrame>
      <p:sp>
        <p:nvSpPr>
          <p:cNvPr id="162844" name="Rectangle 28">
            <a:extLst>
              <a:ext uri="{FF2B5EF4-FFF2-40B4-BE49-F238E27FC236}">
                <a16:creationId xmlns:a16="http://schemas.microsoft.com/office/drawing/2014/main" id="{88F2B591-6E98-29A5-721D-6E4D3CD3BFEE}"/>
              </a:ext>
            </a:extLst>
          </p:cNvPr>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43" name="Object 27">
            <a:extLst>
              <a:ext uri="{FF2B5EF4-FFF2-40B4-BE49-F238E27FC236}">
                <a16:creationId xmlns:a16="http://schemas.microsoft.com/office/drawing/2014/main" id="{A1EDAFF9-279A-5826-0BE0-B60918D49BD7}"/>
              </a:ext>
            </a:extLst>
          </p:cNvPr>
          <p:cNvGraphicFramePr>
            <a:graphicFrameLocks noChangeAspect="1"/>
          </p:cNvGraphicFramePr>
          <p:nvPr/>
        </p:nvGraphicFramePr>
        <p:xfrm>
          <a:off x="3779838" y="4581525"/>
          <a:ext cx="2520950" cy="412750"/>
        </p:xfrm>
        <a:graphic>
          <a:graphicData uri="http://schemas.openxmlformats.org/presentationml/2006/ole">
            <mc:AlternateContent xmlns:mc="http://schemas.openxmlformats.org/markup-compatibility/2006">
              <mc:Choice xmlns:v="urn:schemas-microsoft-com:vml" Requires="v">
                <p:oleObj name="公式" r:id="rId12" imgW="1104421" imgH="177723" progId="Equation.3">
                  <p:embed/>
                </p:oleObj>
              </mc:Choice>
              <mc:Fallback>
                <p:oleObj name="公式" r:id="rId12" imgW="1104421" imgH="177723" progId="Equation.3">
                  <p:embed/>
                  <p:pic>
                    <p:nvPicPr>
                      <p:cNvPr id="0" name="Object 2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779838" y="4581525"/>
                        <a:ext cx="2520950" cy="412750"/>
                      </a:xfrm>
                      <a:prstGeom prst="rect">
                        <a:avLst/>
                      </a:prstGeom>
                      <a:solidFill>
                        <a:srgbClr val="FF9900"/>
                      </a:solidFill>
                    </p:spPr>
                  </p:pic>
                </p:oleObj>
              </mc:Fallback>
            </mc:AlternateContent>
          </a:graphicData>
        </a:graphic>
      </p:graphicFrame>
      <p:sp>
        <p:nvSpPr>
          <p:cNvPr id="162846" name="Rectangle 30">
            <a:extLst>
              <a:ext uri="{FF2B5EF4-FFF2-40B4-BE49-F238E27FC236}">
                <a16:creationId xmlns:a16="http://schemas.microsoft.com/office/drawing/2014/main" id="{6B7640A3-E0D7-0424-9C72-00CF4811E5C2}"/>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45" name="Object 29">
            <a:extLst>
              <a:ext uri="{FF2B5EF4-FFF2-40B4-BE49-F238E27FC236}">
                <a16:creationId xmlns:a16="http://schemas.microsoft.com/office/drawing/2014/main" id="{C675E8B2-0E66-63C8-DF53-B074AAB85830}"/>
              </a:ext>
            </a:extLst>
          </p:cNvPr>
          <p:cNvGraphicFramePr>
            <a:graphicFrameLocks noChangeAspect="1"/>
          </p:cNvGraphicFramePr>
          <p:nvPr/>
        </p:nvGraphicFramePr>
        <p:xfrm>
          <a:off x="1763713" y="5084763"/>
          <a:ext cx="1728787" cy="463550"/>
        </p:xfrm>
        <a:graphic>
          <a:graphicData uri="http://schemas.openxmlformats.org/presentationml/2006/ole">
            <mc:AlternateContent xmlns:mc="http://schemas.openxmlformats.org/markup-compatibility/2006">
              <mc:Choice xmlns:v="urn:schemas-microsoft-com:vml" Requires="v">
                <p:oleObj name="公式" r:id="rId14" imgW="888614" imgH="215806" progId="Equation.3">
                  <p:embed/>
                </p:oleObj>
              </mc:Choice>
              <mc:Fallback>
                <p:oleObj name="公式" r:id="rId14" imgW="888614" imgH="215806" progId="Equation.3">
                  <p:embed/>
                  <p:pic>
                    <p:nvPicPr>
                      <p:cNvPr id="0" name="Object 2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763713" y="5084763"/>
                        <a:ext cx="1728787" cy="463550"/>
                      </a:xfrm>
                      <a:prstGeom prst="rect">
                        <a:avLst/>
                      </a:prstGeom>
                      <a:solidFill>
                        <a:srgbClr val="FF9900"/>
                      </a:solidFill>
                    </p:spPr>
                  </p:pic>
                </p:oleObj>
              </mc:Fallback>
            </mc:AlternateContent>
          </a:graphicData>
        </a:graphic>
      </p:graphicFrame>
      <p:sp>
        <p:nvSpPr>
          <p:cNvPr id="162848" name="Rectangle 32">
            <a:extLst>
              <a:ext uri="{FF2B5EF4-FFF2-40B4-BE49-F238E27FC236}">
                <a16:creationId xmlns:a16="http://schemas.microsoft.com/office/drawing/2014/main" id="{128267D6-82D5-F88B-E67A-A9510037D7C5}"/>
              </a:ext>
            </a:extLst>
          </p:cNvPr>
          <p:cNvSpPr>
            <a:spLocks noChangeArrowheads="1"/>
          </p:cNvSpPr>
          <p:nvPr/>
        </p:nvSpPr>
        <p:spPr bwMode="auto">
          <a:xfrm>
            <a:off x="0" y="33385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47" name="Object 31">
            <a:extLst>
              <a:ext uri="{FF2B5EF4-FFF2-40B4-BE49-F238E27FC236}">
                <a16:creationId xmlns:a16="http://schemas.microsoft.com/office/drawing/2014/main" id="{34CD8784-F6FF-73C7-B3C5-FC55F42B56DC}"/>
              </a:ext>
            </a:extLst>
          </p:cNvPr>
          <p:cNvGraphicFramePr>
            <a:graphicFrameLocks noChangeAspect="1"/>
          </p:cNvGraphicFramePr>
          <p:nvPr/>
        </p:nvGraphicFramePr>
        <p:xfrm>
          <a:off x="3779838" y="5084763"/>
          <a:ext cx="2808287" cy="490537"/>
        </p:xfrm>
        <a:graphic>
          <a:graphicData uri="http://schemas.openxmlformats.org/presentationml/2006/ole">
            <mc:AlternateContent xmlns:mc="http://schemas.openxmlformats.org/markup-compatibility/2006">
              <mc:Choice xmlns:v="urn:schemas-microsoft-com:vml" Requires="v">
                <p:oleObj name="公式" r:id="rId16" imgW="1040948" imgH="177723" progId="Equation.3">
                  <p:embed/>
                </p:oleObj>
              </mc:Choice>
              <mc:Fallback>
                <p:oleObj name="公式" r:id="rId16" imgW="1040948" imgH="177723" progId="Equation.3">
                  <p:embed/>
                  <p:pic>
                    <p:nvPicPr>
                      <p:cNvPr id="0" name="Object 3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779838" y="5084763"/>
                        <a:ext cx="2808287" cy="490537"/>
                      </a:xfrm>
                      <a:prstGeom prst="rect">
                        <a:avLst/>
                      </a:prstGeom>
                      <a:solidFill>
                        <a:srgbClr val="FF9900"/>
                      </a:solidFill>
                    </p:spPr>
                  </p:pic>
                </p:oleObj>
              </mc:Fallback>
            </mc:AlternateContent>
          </a:graphicData>
        </a:graphic>
      </p:graphicFrame>
      <p:sp>
        <p:nvSpPr>
          <p:cNvPr id="162850" name="Rectangle 34">
            <a:extLst>
              <a:ext uri="{FF2B5EF4-FFF2-40B4-BE49-F238E27FC236}">
                <a16:creationId xmlns:a16="http://schemas.microsoft.com/office/drawing/2014/main" id="{1CB1196C-6958-AB7F-CC4E-BF9A77C04E32}"/>
              </a:ext>
            </a:extLst>
          </p:cNvPr>
          <p:cNvSpPr>
            <a:spLocks noChangeArrowheads="1"/>
          </p:cNvSpPr>
          <p:nvPr/>
        </p:nvSpPr>
        <p:spPr bwMode="auto">
          <a:xfrm>
            <a:off x="0" y="331946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49" name="Object 33">
            <a:extLst>
              <a:ext uri="{FF2B5EF4-FFF2-40B4-BE49-F238E27FC236}">
                <a16:creationId xmlns:a16="http://schemas.microsoft.com/office/drawing/2014/main" id="{FC0BF3DB-B686-53DA-98C3-E17248D70C82}"/>
              </a:ext>
            </a:extLst>
          </p:cNvPr>
          <p:cNvGraphicFramePr>
            <a:graphicFrameLocks noChangeAspect="1"/>
          </p:cNvGraphicFramePr>
          <p:nvPr/>
        </p:nvGraphicFramePr>
        <p:xfrm>
          <a:off x="1908175" y="5589588"/>
          <a:ext cx="1295400" cy="504825"/>
        </p:xfrm>
        <a:graphic>
          <a:graphicData uri="http://schemas.openxmlformats.org/presentationml/2006/ole">
            <mc:AlternateContent xmlns:mc="http://schemas.openxmlformats.org/markup-compatibility/2006">
              <mc:Choice xmlns:v="urn:schemas-microsoft-com:vml" Requires="v">
                <p:oleObj name="公式" r:id="rId18" imgW="558558" imgH="215806" progId="Equation.3">
                  <p:embed/>
                </p:oleObj>
              </mc:Choice>
              <mc:Fallback>
                <p:oleObj name="公式" r:id="rId18" imgW="558558" imgH="215806" progId="Equation.3">
                  <p:embed/>
                  <p:pic>
                    <p:nvPicPr>
                      <p:cNvPr id="0" name="Object 3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908175" y="5589588"/>
                        <a:ext cx="1295400" cy="504825"/>
                      </a:xfrm>
                      <a:prstGeom prst="rect">
                        <a:avLst/>
                      </a:prstGeom>
                      <a:solidFill>
                        <a:srgbClr val="FF9900"/>
                      </a:solidFill>
                    </p:spPr>
                  </p:pic>
                </p:oleObj>
              </mc:Fallback>
            </mc:AlternateContent>
          </a:graphicData>
        </a:graphic>
      </p:graphicFrame>
      <p:sp>
        <p:nvSpPr>
          <p:cNvPr id="162852" name="Rectangle 36">
            <a:extLst>
              <a:ext uri="{FF2B5EF4-FFF2-40B4-BE49-F238E27FC236}">
                <a16:creationId xmlns:a16="http://schemas.microsoft.com/office/drawing/2014/main" id="{34350798-6945-5F89-283B-9116C00B33FD}"/>
              </a:ext>
            </a:extLst>
          </p:cNvPr>
          <p:cNvSpPr>
            <a:spLocks noChangeArrowheads="1"/>
          </p:cNvSpPr>
          <p:nvPr/>
        </p:nvSpPr>
        <p:spPr bwMode="auto">
          <a:xfrm>
            <a:off x="0" y="335280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p>
        </p:txBody>
      </p:sp>
      <p:graphicFrame>
        <p:nvGraphicFramePr>
          <p:cNvPr id="162851" name="Object 35">
            <a:extLst>
              <a:ext uri="{FF2B5EF4-FFF2-40B4-BE49-F238E27FC236}">
                <a16:creationId xmlns:a16="http://schemas.microsoft.com/office/drawing/2014/main" id="{C06E2799-8DDD-7669-E786-D35F2A66D5D2}"/>
              </a:ext>
            </a:extLst>
          </p:cNvPr>
          <p:cNvGraphicFramePr>
            <a:graphicFrameLocks noChangeAspect="1"/>
          </p:cNvGraphicFramePr>
          <p:nvPr/>
        </p:nvGraphicFramePr>
        <p:xfrm>
          <a:off x="3851275" y="5589588"/>
          <a:ext cx="1728788" cy="439737"/>
        </p:xfrm>
        <a:graphic>
          <a:graphicData uri="http://schemas.openxmlformats.org/presentationml/2006/ole">
            <mc:AlternateContent xmlns:mc="http://schemas.openxmlformats.org/markup-compatibility/2006">
              <mc:Choice xmlns:v="urn:schemas-microsoft-com:vml" Requires="v">
                <p:oleObj name="公式" r:id="rId20" imgW="596900" imgH="152400" progId="Equation.3">
                  <p:embed/>
                </p:oleObj>
              </mc:Choice>
              <mc:Fallback>
                <p:oleObj name="公式" r:id="rId20" imgW="596900" imgH="152400" progId="Equation.3">
                  <p:embed/>
                  <p:pic>
                    <p:nvPicPr>
                      <p:cNvPr id="0" name="Object 35"/>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851275" y="5589588"/>
                        <a:ext cx="1728788" cy="439737"/>
                      </a:xfrm>
                      <a:prstGeom prst="rect">
                        <a:avLst/>
                      </a:prstGeom>
                      <a:solidFill>
                        <a:srgbClr val="FF9900"/>
                      </a:solidFill>
                    </p:spPr>
                  </p:pic>
                </p:oleObj>
              </mc:Fallback>
            </mc:AlternateContent>
          </a:graphicData>
        </a:graphic>
      </p:graphicFrame>
      <p:sp>
        <p:nvSpPr>
          <p:cNvPr id="162853" name="Text Box 37">
            <a:extLst>
              <a:ext uri="{FF2B5EF4-FFF2-40B4-BE49-F238E27FC236}">
                <a16:creationId xmlns:a16="http://schemas.microsoft.com/office/drawing/2014/main" id="{ED6BD144-439D-340E-FBA2-ECB89A57242E}"/>
              </a:ext>
            </a:extLst>
          </p:cNvPr>
          <p:cNvSpPr txBox="1">
            <a:spLocks noChangeArrowheads="1"/>
          </p:cNvSpPr>
          <p:nvPr/>
        </p:nvSpPr>
        <p:spPr bwMode="auto">
          <a:xfrm>
            <a:off x="755650" y="3429000"/>
            <a:ext cx="86360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000" b="1">
                <a:effectLst>
                  <a:outerShdw blurRad="38100" dist="38100" dir="2700000" algn="tl">
                    <a:srgbClr val="000000"/>
                  </a:outerShdw>
                </a:effectLst>
              </a:rPr>
              <a:t>特级</a:t>
            </a:r>
          </a:p>
          <a:p>
            <a:pPr>
              <a:lnSpc>
                <a:spcPct val="120000"/>
              </a:lnSpc>
              <a:spcBef>
                <a:spcPct val="50000"/>
              </a:spcBef>
            </a:pPr>
            <a:r>
              <a:rPr lang="zh-CN" altLang="en-US" sz="2000" b="1">
                <a:effectLst>
                  <a:outerShdw blurRad="38100" dist="38100" dir="2700000" algn="tl">
                    <a:srgbClr val="000000"/>
                  </a:outerShdw>
                </a:effectLst>
              </a:rPr>
              <a:t>一级</a:t>
            </a:r>
          </a:p>
          <a:p>
            <a:pPr>
              <a:lnSpc>
                <a:spcPct val="120000"/>
              </a:lnSpc>
              <a:spcBef>
                <a:spcPct val="50000"/>
              </a:spcBef>
            </a:pPr>
            <a:r>
              <a:rPr lang="zh-CN" altLang="en-US" sz="2000" b="1">
                <a:effectLst>
                  <a:outerShdw blurRad="38100" dist="38100" dir="2700000" algn="tl">
                    <a:srgbClr val="000000"/>
                  </a:outerShdw>
                </a:effectLst>
              </a:rPr>
              <a:t>二级</a:t>
            </a:r>
          </a:p>
          <a:p>
            <a:pPr>
              <a:lnSpc>
                <a:spcPct val="120000"/>
              </a:lnSpc>
              <a:spcBef>
                <a:spcPct val="50000"/>
              </a:spcBef>
            </a:pPr>
            <a:r>
              <a:rPr lang="zh-CN" altLang="en-US" sz="2000" b="1">
                <a:effectLst>
                  <a:outerShdw blurRad="38100" dist="38100" dir="2700000" algn="tl">
                    <a:srgbClr val="000000"/>
                  </a:outerShdw>
                </a:effectLst>
              </a:rPr>
              <a:t>三级</a:t>
            </a:r>
          </a:p>
          <a:p>
            <a:pPr>
              <a:lnSpc>
                <a:spcPct val="120000"/>
              </a:lnSpc>
              <a:spcBef>
                <a:spcPct val="50000"/>
              </a:spcBef>
            </a:pPr>
            <a:r>
              <a:rPr lang="zh-CN" altLang="en-US" sz="2000" b="1">
                <a:effectLst>
                  <a:outerShdw blurRad="38100" dist="38100" dir="2700000" algn="tl">
                    <a:srgbClr val="000000"/>
                  </a:outerShdw>
                </a:effectLst>
              </a:rPr>
              <a:t>四级</a:t>
            </a:r>
          </a:p>
        </p:txBody>
      </p:sp>
      <p:sp>
        <p:nvSpPr>
          <p:cNvPr id="162854" name="Text Box 38">
            <a:extLst>
              <a:ext uri="{FF2B5EF4-FFF2-40B4-BE49-F238E27FC236}">
                <a16:creationId xmlns:a16="http://schemas.microsoft.com/office/drawing/2014/main" id="{FA16F1DF-0FA7-2B7A-5EB7-AF1018BA4062}"/>
              </a:ext>
            </a:extLst>
          </p:cNvPr>
          <p:cNvSpPr txBox="1">
            <a:spLocks noChangeArrowheads="1"/>
          </p:cNvSpPr>
          <p:nvPr/>
        </p:nvSpPr>
        <p:spPr bwMode="auto">
          <a:xfrm>
            <a:off x="7308850" y="3422650"/>
            <a:ext cx="1835150" cy="2527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000" b="1"/>
              <a:t>能力充裕</a:t>
            </a:r>
          </a:p>
          <a:p>
            <a:pPr>
              <a:lnSpc>
                <a:spcPct val="120000"/>
              </a:lnSpc>
              <a:spcBef>
                <a:spcPct val="50000"/>
              </a:spcBef>
            </a:pPr>
            <a:r>
              <a:rPr lang="zh-CN" altLang="en-US" sz="2000" b="1"/>
              <a:t>能力充足</a:t>
            </a:r>
          </a:p>
          <a:p>
            <a:pPr>
              <a:lnSpc>
                <a:spcPct val="120000"/>
              </a:lnSpc>
              <a:spcBef>
                <a:spcPct val="50000"/>
              </a:spcBef>
            </a:pPr>
            <a:r>
              <a:rPr lang="zh-CN" altLang="en-US" sz="2000" b="1"/>
              <a:t>能力尚可</a:t>
            </a:r>
          </a:p>
          <a:p>
            <a:pPr>
              <a:lnSpc>
                <a:spcPct val="120000"/>
              </a:lnSpc>
              <a:spcBef>
                <a:spcPct val="50000"/>
              </a:spcBef>
            </a:pPr>
            <a:r>
              <a:rPr lang="zh-CN" altLang="en-US" sz="2000" b="1"/>
              <a:t>能力不足</a:t>
            </a:r>
          </a:p>
          <a:p>
            <a:pPr>
              <a:lnSpc>
                <a:spcPct val="120000"/>
              </a:lnSpc>
              <a:spcBef>
                <a:spcPct val="50000"/>
              </a:spcBef>
            </a:pPr>
            <a:r>
              <a:rPr lang="zh-CN" altLang="en-US" sz="2000" b="1"/>
              <a:t>能力严重不足</a:t>
            </a:r>
          </a:p>
        </p:txBody>
      </p:sp>
    </p:spTree>
  </p:cSld>
  <p:clrMapOvr>
    <a:masterClrMapping/>
  </p:clrMapOvr>
  <p:transition spd="slow">
    <p:strips dir="rd"/>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C1179C45-017D-AB66-8212-6ADBB0A87871}"/>
              </a:ext>
            </a:extLst>
          </p:cNvPr>
          <p:cNvSpPr>
            <a:spLocks noGrp="1"/>
          </p:cNvSpPr>
          <p:nvPr>
            <p:ph type="dt" sz="half" idx="10"/>
          </p:nvPr>
        </p:nvSpPr>
        <p:spPr/>
        <p:txBody>
          <a:bodyPr/>
          <a:lstStyle/>
          <a:p>
            <a:r>
              <a:rPr lang="zh-CN" altLang="en-US"/>
              <a:t>讲义制作：李丽，陈志祥审</a:t>
            </a:r>
            <a:endParaRPr lang="en-US" altLang="zh-CN"/>
          </a:p>
        </p:txBody>
      </p:sp>
      <p:sp>
        <p:nvSpPr>
          <p:cNvPr id="244738" name="Rectangle 2">
            <a:extLst>
              <a:ext uri="{FF2B5EF4-FFF2-40B4-BE49-F238E27FC236}">
                <a16:creationId xmlns:a16="http://schemas.microsoft.com/office/drawing/2014/main" id="{E168CBD7-C733-DB58-2F89-D7D545A19048}"/>
              </a:ext>
            </a:extLst>
          </p:cNvPr>
          <p:cNvSpPr>
            <a:spLocks noGrp="1" noChangeArrowheads="1"/>
          </p:cNvSpPr>
          <p:nvPr>
            <p:ph type="title"/>
          </p:nvPr>
        </p:nvSpPr>
        <p:spPr/>
        <p:txBody>
          <a:bodyPr/>
          <a:lstStyle/>
          <a:p>
            <a:r>
              <a:rPr lang="zh-CN" altLang="en-US"/>
              <a:t>提高工序能力</a:t>
            </a:r>
          </a:p>
        </p:txBody>
      </p:sp>
      <p:sp>
        <p:nvSpPr>
          <p:cNvPr id="244739" name="Rectangle 3">
            <a:extLst>
              <a:ext uri="{FF2B5EF4-FFF2-40B4-BE49-F238E27FC236}">
                <a16:creationId xmlns:a16="http://schemas.microsoft.com/office/drawing/2014/main" id="{706D525E-E6E2-19D3-C23A-8FBB1EAC8129}"/>
              </a:ext>
            </a:extLst>
          </p:cNvPr>
          <p:cNvSpPr>
            <a:spLocks noGrp="1" noChangeArrowheads="1"/>
          </p:cNvSpPr>
          <p:nvPr>
            <p:ph type="body" idx="1"/>
          </p:nvPr>
        </p:nvSpPr>
        <p:spPr/>
        <p:txBody>
          <a:bodyPr/>
          <a:lstStyle/>
          <a:p>
            <a:pPr>
              <a:buFontTx/>
              <a:buNone/>
            </a:pPr>
            <a:r>
              <a:rPr lang="en-US" altLang="zh-CN" sz="2800"/>
              <a:t>1</a:t>
            </a:r>
            <a:r>
              <a:rPr lang="zh-CN" altLang="en-US" sz="2800"/>
              <a:t>、从工序能力的公式可以看出。影响工序能力的因素是三个：公差、样本与公差中心的偏移、产品特征分散程度。因此提高工序能力可以从三个方面考虑：</a:t>
            </a:r>
          </a:p>
          <a:p>
            <a:pPr>
              <a:buFontTx/>
              <a:buNone/>
            </a:pPr>
            <a:r>
              <a:rPr lang="zh-CN" altLang="en-US" sz="2800"/>
              <a:t>        （</a:t>
            </a:r>
            <a:r>
              <a:rPr lang="en-US" altLang="zh-CN" sz="2800"/>
              <a:t>1</a:t>
            </a:r>
            <a:r>
              <a:rPr lang="zh-CN" altLang="en-US" sz="2800"/>
              <a:t>）调整工序加工的分布中心，使偏移量减少</a:t>
            </a:r>
          </a:p>
          <a:p>
            <a:pPr>
              <a:buFontTx/>
              <a:buNone/>
            </a:pPr>
            <a:r>
              <a:rPr lang="zh-CN" altLang="en-US" sz="2800"/>
              <a:t>        （</a:t>
            </a:r>
            <a:r>
              <a:rPr lang="en-US" altLang="zh-CN" sz="2800"/>
              <a:t>2</a:t>
            </a:r>
            <a:r>
              <a:rPr lang="zh-CN" altLang="en-US" sz="2800"/>
              <a:t>）减少产品特征分散程度</a:t>
            </a:r>
          </a:p>
          <a:p>
            <a:pPr>
              <a:buFontTx/>
              <a:buNone/>
            </a:pPr>
            <a:r>
              <a:rPr lang="zh-CN" altLang="en-US" sz="2800"/>
              <a:t>        （</a:t>
            </a:r>
            <a:r>
              <a:rPr lang="en-US" altLang="zh-CN" sz="2800"/>
              <a:t>3</a:t>
            </a:r>
            <a:r>
              <a:rPr lang="zh-CN" altLang="en-US" sz="2800"/>
              <a:t>）在保证质量前提下，放宽公差    </a:t>
            </a:r>
          </a:p>
          <a:p>
            <a:pPr>
              <a:buFontTx/>
              <a:buNone/>
            </a:pPr>
            <a:r>
              <a:rPr lang="zh-CN" altLang="en-US" sz="2800"/>
              <a:t> </a:t>
            </a:r>
            <a:r>
              <a:rPr lang="en-US" altLang="zh-CN" sz="2800"/>
              <a:t>2</a:t>
            </a:r>
            <a:r>
              <a:rPr lang="zh-CN" altLang="en-US" sz="2800"/>
              <a:t>、考虑质量水平与质量成本的关系</a:t>
            </a:r>
          </a:p>
          <a:p>
            <a:pPr>
              <a:buFontTx/>
              <a:buNone/>
            </a:pPr>
            <a:endParaRPr lang="en-US" altLang="zh-CN" sz="2800"/>
          </a:p>
        </p:txBody>
      </p:sp>
    </p:spTree>
  </p:cSld>
  <p:clrMapOvr>
    <a:masterClrMapping/>
  </p:clrMapOvr>
  <p:transition spd="slow">
    <p:strips dir="rd"/>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FB5B926-3931-9D03-1477-D1B455DD3D85}"/>
              </a:ext>
            </a:extLst>
          </p:cNvPr>
          <p:cNvSpPr>
            <a:spLocks noGrp="1"/>
          </p:cNvSpPr>
          <p:nvPr>
            <p:ph type="dt" sz="half" idx="10"/>
          </p:nvPr>
        </p:nvSpPr>
        <p:spPr/>
        <p:txBody>
          <a:bodyPr/>
          <a:lstStyle/>
          <a:p>
            <a:r>
              <a:rPr lang="zh-CN" altLang="en-US"/>
              <a:t>讲义制作：李丽，陈志祥审</a:t>
            </a:r>
            <a:endParaRPr lang="en-US" altLang="zh-CN"/>
          </a:p>
        </p:txBody>
      </p:sp>
      <p:sp>
        <p:nvSpPr>
          <p:cNvPr id="256002" name="Rectangle 2">
            <a:extLst>
              <a:ext uri="{FF2B5EF4-FFF2-40B4-BE49-F238E27FC236}">
                <a16:creationId xmlns:a16="http://schemas.microsoft.com/office/drawing/2014/main" id="{4976C9E9-12F1-CF2B-8319-FE9369A4B0A9}"/>
              </a:ext>
            </a:extLst>
          </p:cNvPr>
          <p:cNvSpPr>
            <a:spLocks noGrp="1" noChangeArrowheads="1"/>
          </p:cNvSpPr>
          <p:nvPr>
            <p:ph type="title"/>
          </p:nvPr>
        </p:nvSpPr>
        <p:spPr/>
        <p:txBody>
          <a:bodyPr/>
          <a:lstStyle/>
          <a:p>
            <a:r>
              <a:rPr lang="zh-CN" altLang="en-US"/>
              <a:t>四、产品抽样检验</a:t>
            </a:r>
          </a:p>
        </p:txBody>
      </p:sp>
      <p:sp>
        <p:nvSpPr>
          <p:cNvPr id="256003" name="Rectangle 3">
            <a:extLst>
              <a:ext uri="{FF2B5EF4-FFF2-40B4-BE49-F238E27FC236}">
                <a16:creationId xmlns:a16="http://schemas.microsoft.com/office/drawing/2014/main" id="{9B4C46ED-A05B-2A12-28E5-D615AEA64995}"/>
              </a:ext>
            </a:extLst>
          </p:cNvPr>
          <p:cNvSpPr>
            <a:spLocks noGrp="1" noChangeArrowheads="1"/>
          </p:cNvSpPr>
          <p:nvPr>
            <p:ph type="body" idx="1"/>
          </p:nvPr>
        </p:nvSpPr>
        <p:spPr/>
        <p:txBody>
          <a:bodyPr/>
          <a:lstStyle/>
          <a:p>
            <a:pPr>
              <a:buFontTx/>
              <a:buNone/>
            </a:pPr>
            <a:r>
              <a:rPr lang="zh-CN" altLang="en-US"/>
              <a:t>（一）抽样检验的基本原理</a:t>
            </a:r>
          </a:p>
          <a:p>
            <a:pPr>
              <a:buFontTx/>
              <a:buNone/>
            </a:pPr>
            <a:r>
              <a:rPr lang="zh-CN" altLang="en-US"/>
              <a:t>（二）抽样方案设计</a:t>
            </a:r>
          </a:p>
          <a:p>
            <a:pPr>
              <a:buFontTx/>
              <a:buNone/>
            </a:pPr>
            <a:endParaRPr lang="en-US" altLang="zh-CN"/>
          </a:p>
        </p:txBody>
      </p:sp>
    </p:spTree>
  </p:cSld>
  <p:clrMapOvr>
    <a:masterClrMapping/>
  </p:clrMapOvr>
  <p:transition spd="slow">
    <p:strips dir="rd"/>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97CD050-15C4-A3F7-660A-F2DF4D365C5D}"/>
              </a:ext>
            </a:extLst>
          </p:cNvPr>
          <p:cNvSpPr>
            <a:spLocks noGrp="1"/>
          </p:cNvSpPr>
          <p:nvPr>
            <p:ph type="dt" sz="half" idx="10"/>
          </p:nvPr>
        </p:nvSpPr>
        <p:spPr/>
        <p:txBody>
          <a:bodyPr/>
          <a:lstStyle/>
          <a:p>
            <a:r>
              <a:rPr lang="zh-CN" altLang="en-US"/>
              <a:t>讲义制作：李丽，陈志祥审</a:t>
            </a:r>
            <a:endParaRPr lang="en-US" altLang="zh-CN"/>
          </a:p>
        </p:txBody>
      </p:sp>
      <p:sp>
        <p:nvSpPr>
          <p:cNvPr id="278530" name="Rectangle 2">
            <a:extLst>
              <a:ext uri="{FF2B5EF4-FFF2-40B4-BE49-F238E27FC236}">
                <a16:creationId xmlns:a16="http://schemas.microsoft.com/office/drawing/2014/main" id="{4FC54DC9-C270-B7A5-FB96-8B91762A35DE}"/>
              </a:ext>
            </a:extLst>
          </p:cNvPr>
          <p:cNvSpPr>
            <a:spLocks noGrp="1" noChangeArrowheads="1"/>
          </p:cNvSpPr>
          <p:nvPr>
            <p:ph type="title"/>
          </p:nvPr>
        </p:nvSpPr>
        <p:spPr/>
        <p:txBody>
          <a:bodyPr/>
          <a:lstStyle/>
          <a:p>
            <a:r>
              <a:rPr lang="zh-CN" altLang="en-US"/>
              <a:t>（一）抽样检验的基本原理</a:t>
            </a:r>
          </a:p>
        </p:txBody>
      </p:sp>
      <p:sp>
        <p:nvSpPr>
          <p:cNvPr id="278531" name="Rectangle 3">
            <a:extLst>
              <a:ext uri="{FF2B5EF4-FFF2-40B4-BE49-F238E27FC236}">
                <a16:creationId xmlns:a16="http://schemas.microsoft.com/office/drawing/2014/main" id="{F7318BB3-2769-C2E6-DCC6-04C73490FDF9}"/>
              </a:ext>
            </a:extLst>
          </p:cNvPr>
          <p:cNvSpPr>
            <a:spLocks noGrp="1" noChangeArrowheads="1"/>
          </p:cNvSpPr>
          <p:nvPr>
            <p:ph type="body" idx="1"/>
          </p:nvPr>
        </p:nvSpPr>
        <p:spPr/>
        <p:txBody>
          <a:bodyPr/>
          <a:lstStyle/>
          <a:p>
            <a:pPr>
              <a:buFontTx/>
              <a:buNone/>
            </a:pPr>
            <a:r>
              <a:rPr lang="zh-CN" altLang="en-US"/>
              <a:t>１．抽样检验的意义</a:t>
            </a:r>
          </a:p>
          <a:p>
            <a:pPr>
              <a:buFontTx/>
              <a:buNone/>
            </a:pPr>
            <a:r>
              <a:rPr lang="zh-CN" altLang="en-US"/>
              <a:t>检验分全检与部分检验，全检是所有的产品都通过检验．部分检验，就是抽样检验．为什么要进行抽样检验？原因有两个：</a:t>
            </a:r>
          </a:p>
          <a:p>
            <a:pPr>
              <a:buFontTx/>
              <a:buNone/>
            </a:pPr>
            <a:r>
              <a:rPr lang="zh-CN" altLang="en-US"/>
              <a:t>（１）成本问题，节约检验成本</a:t>
            </a:r>
          </a:p>
          <a:p>
            <a:pPr>
              <a:buFontTx/>
              <a:buNone/>
            </a:pPr>
            <a:r>
              <a:rPr lang="zh-CN" altLang="en-US"/>
              <a:t>（２）破坏性问题．有些检验是破坏性的，不能全检</a:t>
            </a:r>
          </a:p>
          <a:p>
            <a:pPr>
              <a:buFontTx/>
              <a:buNone/>
            </a:pPr>
            <a:endParaRPr lang="en-US" altLang="zh-CN"/>
          </a:p>
        </p:txBody>
      </p:sp>
    </p:spTree>
  </p:cSld>
  <p:clrMapOvr>
    <a:masterClrMapping/>
  </p:clrMapOvr>
  <p:transition spd="slow">
    <p:strips dir="rd"/>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A0956AD-8D01-26DC-0FA0-B291DB482C65}"/>
              </a:ext>
            </a:extLst>
          </p:cNvPr>
          <p:cNvSpPr>
            <a:spLocks noGrp="1"/>
          </p:cNvSpPr>
          <p:nvPr>
            <p:ph type="dt" sz="half" idx="10"/>
          </p:nvPr>
        </p:nvSpPr>
        <p:spPr/>
        <p:txBody>
          <a:bodyPr/>
          <a:lstStyle/>
          <a:p>
            <a:r>
              <a:rPr lang="zh-CN" altLang="en-US"/>
              <a:t>讲义制作：李丽，陈志祥审</a:t>
            </a:r>
            <a:endParaRPr lang="en-US" altLang="zh-CN"/>
          </a:p>
        </p:txBody>
      </p:sp>
      <p:grpSp>
        <p:nvGrpSpPr>
          <p:cNvPr id="257028" name="Group 4">
            <a:extLst>
              <a:ext uri="{FF2B5EF4-FFF2-40B4-BE49-F238E27FC236}">
                <a16:creationId xmlns:a16="http://schemas.microsoft.com/office/drawing/2014/main" id="{37A6D99C-F387-329A-F4AE-1BC0BF471365}"/>
              </a:ext>
            </a:extLst>
          </p:cNvPr>
          <p:cNvGrpSpPr>
            <a:grpSpLocks/>
          </p:cNvGrpSpPr>
          <p:nvPr/>
        </p:nvGrpSpPr>
        <p:grpSpPr bwMode="auto">
          <a:xfrm>
            <a:off x="1042988" y="1268413"/>
            <a:ext cx="6697662" cy="4537075"/>
            <a:chOff x="2517" y="5590"/>
            <a:chExt cx="6300" cy="4118"/>
          </a:xfrm>
        </p:grpSpPr>
        <p:sp>
          <p:nvSpPr>
            <p:cNvPr id="257029" name="Text Box 5">
              <a:extLst>
                <a:ext uri="{FF2B5EF4-FFF2-40B4-BE49-F238E27FC236}">
                  <a16:creationId xmlns:a16="http://schemas.microsoft.com/office/drawing/2014/main" id="{58A358F6-B44E-3234-FD62-27F98971B453}"/>
                </a:ext>
              </a:extLst>
            </p:cNvPr>
            <p:cNvSpPr txBox="1">
              <a:spLocks noChangeArrowheads="1"/>
            </p:cNvSpPr>
            <p:nvPr/>
          </p:nvSpPr>
          <p:spPr bwMode="auto">
            <a:xfrm>
              <a:off x="3777" y="6120"/>
              <a:ext cx="378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a:latin typeface="Times New Roman" panose="02020603050405020304" pitchFamily="18" charset="0"/>
                </a:rPr>
                <a:t>从批量为</a:t>
              </a:r>
              <a:r>
                <a:rPr lang="en-US" altLang="zh-CN">
                  <a:latin typeface="Times New Roman" panose="02020603050405020304" pitchFamily="18" charset="0"/>
                </a:rPr>
                <a:t>N</a:t>
              </a:r>
              <a:r>
                <a:rPr lang="zh-CN" altLang="en-US">
                  <a:latin typeface="Times New Roman" panose="02020603050405020304" pitchFamily="18" charset="0"/>
                </a:rPr>
                <a:t>的产品中抽取</a:t>
              </a:r>
              <a:r>
                <a:rPr lang="en-US" altLang="zh-CN">
                  <a:latin typeface="Times New Roman" panose="02020603050405020304" pitchFamily="18" charset="0"/>
                </a:rPr>
                <a:t>n</a:t>
              </a:r>
              <a:r>
                <a:rPr lang="zh-CN" altLang="en-US">
                  <a:latin typeface="Times New Roman" panose="02020603050405020304" pitchFamily="18" charset="0"/>
                </a:rPr>
                <a:t>个产品</a:t>
              </a:r>
              <a:endParaRPr lang="zh-CN" altLang="en-US"/>
            </a:p>
          </p:txBody>
        </p:sp>
        <p:sp>
          <p:nvSpPr>
            <p:cNvPr id="257030" name="Text Box 6">
              <a:extLst>
                <a:ext uri="{FF2B5EF4-FFF2-40B4-BE49-F238E27FC236}">
                  <a16:creationId xmlns:a16="http://schemas.microsoft.com/office/drawing/2014/main" id="{A1C9985E-5BDB-7D0A-A152-C407FFC14BDF}"/>
                </a:ext>
              </a:extLst>
            </p:cNvPr>
            <p:cNvSpPr txBox="1">
              <a:spLocks noChangeArrowheads="1"/>
            </p:cNvSpPr>
            <p:nvPr/>
          </p:nvSpPr>
          <p:spPr bwMode="auto">
            <a:xfrm>
              <a:off x="5037" y="5590"/>
              <a:ext cx="1260" cy="374"/>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a:latin typeface="Times New Roman" panose="02020603050405020304" pitchFamily="18" charset="0"/>
                </a:rPr>
                <a:t>（</a:t>
              </a:r>
              <a:r>
                <a:rPr lang="en-US" altLang="zh-CN">
                  <a:latin typeface="Times New Roman" panose="02020603050405020304" pitchFamily="18" charset="0"/>
                </a:rPr>
                <a:t>N,n,C</a:t>
              </a:r>
              <a:r>
                <a:rPr lang="zh-CN" altLang="en-US">
                  <a:latin typeface="Times New Roman" panose="02020603050405020304" pitchFamily="18" charset="0"/>
                </a:rPr>
                <a:t>）</a:t>
              </a:r>
              <a:endParaRPr lang="zh-CN" altLang="en-US"/>
            </a:p>
          </p:txBody>
        </p:sp>
        <p:sp>
          <p:nvSpPr>
            <p:cNvPr id="257031" name="Line 7">
              <a:extLst>
                <a:ext uri="{FF2B5EF4-FFF2-40B4-BE49-F238E27FC236}">
                  <a16:creationId xmlns:a16="http://schemas.microsoft.com/office/drawing/2014/main" id="{2A6561C7-B3BF-1217-084E-38E740EA134A}"/>
                </a:ext>
              </a:extLst>
            </p:cNvPr>
            <p:cNvSpPr>
              <a:spLocks noChangeShapeType="1"/>
            </p:cNvSpPr>
            <p:nvPr/>
          </p:nvSpPr>
          <p:spPr bwMode="auto">
            <a:xfrm>
              <a:off x="5577" y="658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32" name="Text Box 8">
              <a:extLst>
                <a:ext uri="{FF2B5EF4-FFF2-40B4-BE49-F238E27FC236}">
                  <a16:creationId xmlns:a16="http://schemas.microsoft.com/office/drawing/2014/main" id="{7ECC25FC-34A5-91F6-7A7F-F649B662913C}"/>
                </a:ext>
              </a:extLst>
            </p:cNvPr>
            <p:cNvSpPr txBox="1">
              <a:spLocks noChangeArrowheads="1"/>
            </p:cNvSpPr>
            <p:nvPr/>
          </p:nvSpPr>
          <p:spPr bwMode="auto">
            <a:xfrm>
              <a:off x="4137" y="6869"/>
              <a:ext cx="3060" cy="499"/>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a:latin typeface="Times New Roman" panose="02020603050405020304" pitchFamily="18" charset="0"/>
                </a:rPr>
                <a:t>统计不合格品数（</a:t>
              </a:r>
              <a:r>
                <a:rPr lang="en-US" altLang="zh-CN">
                  <a:latin typeface="Times New Roman" panose="02020603050405020304" pitchFamily="18" charset="0"/>
                </a:rPr>
                <a:t>d</a:t>
              </a:r>
              <a:r>
                <a:rPr lang="zh-CN" altLang="en-US">
                  <a:latin typeface="Times New Roman" panose="02020603050405020304" pitchFamily="18" charset="0"/>
                </a:rPr>
                <a:t>）</a:t>
              </a:r>
              <a:endParaRPr lang="zh-CN" altLang="en-US"/>
            </a:p>
          </p:txBody>
        </p:sp>
        <p:sp>
          <p:nvSpPr>
            <p:cNvPr id="257033" name="Line 9">
              <a:extLst>
                <a:ext uri="{FF2B5EF4-FFF2-40B4-BE49-F238E27FC236}">
                  <a16:creationId xmlns:a16="http://schemas.microsoft.com/office/drawing/2014/main" id="{5F87E581-FCC4-9D72-1EE2-9887E99A567C}"/>
                </a:ext>
              </a:extLst>
            </p:cNvPr>
            <p:cNvSpPr>
              <a:spLocks noChangeShapeType="1"/>
            </p:cNvSpPr>
            <p:nvPr/>
          </p:nvSpPr>
          <p:spPr bwMode="auto">
            <a:xfrm>
              <a:off x="3237" y="7680"/>
              <a:ext cx="468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34" name="Line 10">
              <a:extLst>
                <a:ext uri="{FF2B5EF4-FFF2-40B4-BE49-F238E27FC236}">
                  <a16:creationId xmlns:a16="http://schemas.microsoft.com/office/drawing/2014/main" id="{8342B917-FA17-0876-08CC-DEDEBBFFD758}"/>
                </a:ext>
              </a:extLst>
            </p:cNvPr>
            <p:cNvSpPr>
              <a:spLocks noChangeShapeType="1"/>
            </p:cNvSpPr>
            <p:nvPr/>
          </p:nvSpPr>
          <p:spPr bwMode="auto">
            <a:xfrm>
              <a:off x="5577" y="736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35" name="Line 11">
              <a:extLst>
                <a:ext uri="{FF2B5EF4-FFF2-40B4-BE49-F238E27FC236}">
                  <a16:creationId xmlns:a16="http://schemas.microsoft.com/office/drawing/2014/main" id="{5A7B0072-5558-4264-25E4-14E8F33D1DE5}"/>
                </a:ext>
              </a:extLst>
            </p:cNvPr>
            <p:cNvSpPr>
              <a:spLocks noChangeShapeType="1"/>
            </p:cNvSpPr>
            <p:nvPr/>
          </p:nvSpPr>
          <p:spPr bwMode="auto">
            <a:xfrm>
              <a:off x="3237" y="7742"/>
              <a:ext cx="0" cy="2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36" name="Line 12">
              <a:extLst>
                <a:ext uri="{FF2B5EF4-FFF2-40B4-BE49-F238E27FC236}">
                  <a16:creationId xmlns:a16="http://schemas.microsoft.com/office/drawing/2014/main" id="{DD5C639E-E2D4-B2EB-1BDF-29A98B37543B}"/>
                </a:ext>
              </a:extLst>
            </p:cNvPr>
            <p:cNvSpPr>
              <a:spLocks noChangeShapeType="1"/>
            </p:cNvSpPr>
            <p:nvPr/>
          </p:nvSpPr>
          <p:spPr bwMode="auto">
            <a:xfrm>
              <a:off x="7917" y="7742"/>
              <a:ext cx="0" cy="2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37" name="Text Box 13">
              <a:extLst>
                <a:ext uri="{FF2B5EF4-FFF2-40B4-BE49-F238E27FC236}">
                  <a16:creationId xmlns:a16="http://schemas.microsoft.com/office/drawing/2014/main" id="{56697A36-9083-CA69-11FF-AB76459EFB7A}"/>
                </a:ext>
              </a:extLst>
            </p:cNvPr>
            <p:cNvSpPr txBox="1">
              <a:spLocks noChangeArrowheads="1"/>
            </p:cNvSpPr>
            <p:nvPr/>
          </p:nvSpPr>
          <p:spPr bwMode="auto">
            <a:xfrm>
              <a:off x="2697" y="7930"/>
              <a:ext cx="1260" cy="374"/>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a:latin typeface="Times New Roman" panose="02020603050405020304" pitchFamily="18" charset="0"/>
                </a:rPr>
                <a:t>d</a:t>
              </a:r>
              <a:r>
                <a:rPr lang="en-US" altLang="zh-CN">
                  <a:latin typeface="宋体" panose="02010600030101010101" pitchFamily="2" charset="-122"/>
                </a:rPr>
                <a:t>≤</a:t>
              </a:r>
              <a:r>
                <a:rPr lang="en-US" altLang="zh-CN">
                  <a:latin typeface="Times New Roman" panose="02020603050405020304" pitchFamily="18" charset="0"/>
                </a:rPr>
                <a:t>C</a:t>
              </a:r>
              <a:endParaRPr lang="en-US" altLang="zh-CN"/>
            </a:p>
          </p:txBody>
        </p:sp>
        <p:sp>
          <p:nvSpPr>
            <p:cNvPr id="257038" name="Text Box 14">
              <a:extLst>
                <a:ext uri="{FF2B5EF4-FFF2-40B4-BE49-F238E27FC236}">
                  <a16:creationId xmlns:a16="http://schemas.microsoft.com/office/drawing/2014/main" id="{0C49A0B1-52F1-78FE-DB02-753D2E985C9A}"/>
                </a:ext>
              </a:extLst>
            </p:cNvPr>
            <p:cNvSpPr txBox="1">
              <a:spLocks noChangeArrowheads="1"/>
            </p:cNvSpPr>
            <p:nvPr/>
          </p:nvSpPr>
          <p:spPr bwMode="auto">
            <a:xfrm>
              <a:off x="7557" y="7930"/>
              <a:ext cx="1260" cy="374"/>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a:latin typeface="Times New Roman" panose="02020603050405020304" pitchFamily="18" charset="0"/>
                </a:rPr>
                <a:t>d&gt;C</a:t>
              </a:r>
              <a:endParaRPr lang="en-US" altLang="zh-CN"/>
            </a:p>
          </p:txBody>
        </p:sp>
        <p:sp>
          <p:nvSpPr>
            <p:cNvPr id="257039" name="Line 15">
              <a:extLst>
                <a:ext uri="{FF2B5EF4-FFF2-40B4-BE49-F238E27FC236}">
                  <a16:creationId xmlns:a16="http://schemas.microsoft.com/office/drawing/2014/main" id="{C3406D19-D1E0-3E17-913C-F28CFB72C761}"/>
                </a:ext>
              </a:extLst>
            </p:cNvPr>
            <p:cNvSpPr>
              <a:spLocks noChangeShapeType="1"/>
            </p:cNvSpPr>
            <p:nvPr/>
          </p:nvSpPr>
          <p:spPr bwMode="auto">
            <a:xfrm>
              <a:off x="3237" y="8304"/>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40" name="Text Box 16">
              <a:extLst>
                <a:ext uri="{FF2B5EF4-FFF2-40B4-BE49-F238E27FC236}">
                  <a16:creationId xmlns:a16="http://schemas.microsoft.com/office/drawing/2014/main" id="{A227B94B-828D-23AE-BFC8-3D304AB7FFFD}"/>
                </a:ext>
              </a:extLst>
            </p:cNvPr>
            <p:cNvSpPr txBox="1">
              <a:spLocks noChangeArrowheads="1"/>
            </p:cNvSpPr>
            <p:nvPr/>
          </p:nvSpPr>
          <p:spPr bwMode="auto">
            <a:xfrm>
              <a:off x="2697" y="8523"/>
              <a:ext cx="1260" cy="405"/>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a:latin typeface="Times New Roman" panose="02020603050405020304" pitchFamily="18" charset="0"/>
                </a:rPr>
                <a:t>合格批</a:t>
              </a:r>
              <a:endParaRPr lang="zh-CN" altLang="en-US"/>
            </a:p>
          </p:txBody>
        </p:sp>
        <p:sp>
          <p:nvSpPr>
            <p:cNvPr id="257041" name="Text Box 17">
              <a:extLst>
                <a:ext uri="{FF2B5EF4-FFF2-40B4-BE49-F238E27FC236}">
                  <a16:creationId xmlns:a16="http://schemas.microsoft.com/office/drawing/2014/main" id="{9AC0B36D-9318-76F0-7473-E62ACE931A5B}"/>
                </a:ext>
              </a:extLst>
            </p:cNvPr>
            <p:cNvSpPr txBox="1">
              <a:spLocks noChangeArrowheads="1"/>
            </p:cNvSpPr>
            <p:nvPr/>
          </p:nvSpPr>
          <p:spPr bwMode="auto">
            <a:xfrm>
              <a:off x="7377" y="8523"/>
              <a:ext cx="1260" cy="405"/>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a:latin typeface="Times New Roman" panose="02020603050405020304" pitchFamily="18" charset="0"/>
                </a:rPr>
                <a:t>不合格批</a:t>
              </a:r>
              <a:endParaRPr lang="zh-CN" altLang="en-US"/>
            </a:p>
          </p:txBody>
        </p:sp>
        <p:sp>
          <p:nvSpPr>
            <p:cNvPr id="257042" name="Line 18">
              <a:extLst>
                <a:ext uri="{FF2B5EF4-FFF2-40B4-BE49-F238E27FC236}">
                  <a16:creationId xmlns:a16="http://schemas.microsoft.com/office/drawing/2014/main" id="{8287FEFD-FE28-BBAF-67CB-472141D10F22}"/>
                </a:ext>
              </a:extLst>
            </p:cNvPr>
            <p:cNvSpPr>
              <a:spLocks noChangeShapeType="1"/>
            </p:cNvSpPr>
            <p:nvPr/>
          </p:nvSpPr>
          <p:spPr bwMode="auto">
            <a:xfrm>
              <a:off x="7917" y="8304"/>
              <a:ext cx="0" cy="25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43" name="AutoShape 19">
              <a:extLst>
                <a:ext uri="{FF2B5EF4-FFF2-40B4-BE49-F238E27FC236}">
                  <a16:creationId xmlns:a16="http://schemas.microsoft.com/office/drawing/2014/main" id="{47252638-F958-2598-C746-34B5FECDDCC1}"/>
                </a:ext>
              </a:extLst>
            </p:cNvPr>
            <p:cNvSpPr>
              <a:spLocks noChangeArrowheads="1"/>
            </p:cNvSpPr>
            <p:nvPr/>
          </p:nvSpPr>
          <p:spPr bwMode="auto">
            <a:xfrm>
              <a:off x="2517" y="9240"/>
              <a:ext cx="1440" cy="468"/>
            </a:xfrm>
            <a:prstGeom prst="flowChartTerminator">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a:latin typeface="Times New Roman" panose="02020603050405020304" pitchFamily="18" charset="0"/>
                </a:rPr>
                <a:t>接收</a:t>
              </a:r>
              <a:endParaRPr lang="zh-CN" altLang="en-US"/>
            </a:p>
          </p:txBody>
        </p:sp>
        <p:sp>
          <p:nvSpPr>
            <p:cNvPr id="257044" name="Line 20">
              <a:extLst>
                <a:ext uri="{FF2B5EF4-FFF2-40B4-BE49-F238E27FC236}">
                  <a16:creationId xmlns:a16="http://schemas.microsoft.com/office/drawing/2014/main" id="{2D004DBD-6F3D-C2B8-B7A2-83738B580DEA}"/>
                </a:ext>
              </a:extLst>
            </p:cNvPr>
            <p:cNvSpPr>
              <a:spLocks noChangeShapeType="1"/>
            </p:cNvSpPr>
            <p:nvPr/>
          </p:nvSpPr>
          <p:spPr bwMode="auto">
            <a:xfrm>
              <a:off x="3237" y="892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45" name="AutoShape 21">
              <a:extLst>
                <a:ext uri="{FF2B5EF4-FFF2-40B4-BE49-F238E27FC236}">
                  <a16:creationId xmlns:a16="http://schemas.microsoft.com/office/drawing/2014/main" id="{86AD7A55-5D17-DDE4-30F7-CE575665E3BD}"/>
                </a:ext>
              </a:extLst>
            </p:cNvPr>
            <p:cNvSpPr>
              <a:spLocks noChangeArrowheads="1"/>
            </p:cNvSpPr>
            <p:nvPr/>
          </p:nvSpPr>
          <p:spPr bwMode="auto">
            <a:xfrm>
              <a:off x="7197" y="9240"/>
              <a:ext cx="1440" cy="468"/>
            </a:xfrm>
            <a:prstGeom prst="flowChartTerminator">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a:latin typeface="Times New Roman" panose="02020603050405020304" pitchFamily="18" charset="0"/>
                </a:rPr>
                <a:t>不接收</a:t>
              </a:r>
              <a:endParaRPr lang="zh-CN" altLang="en-US"/>
            </a:p>
          </p:txBody>
        </p:sp>
        <p:sp>
          <p:nvSpPr>
            <p:cNvPr id="257046" name="Line 22">
              <a:extLst>
                <a:ext uri="{FF2B5EF4-FFF2-40B4-BE49-F238E27FC236}">
                  <a16:creationId xmlns:a16="http://schemas.microsoft.com/office/drawing/2014/main" id="{AA65B332-50B4-87A4-0820-9CE80647155D}"/>
                </a:ext>
              </a:extLst>
            </p:cNvPr>
            <p:cNvSpPr>
              <a:spLocks noChangeShapeType="1"/>
            </p:cNvSpPr>
            <p:nvPr/>
          </p:nvSpPr>
          <p:spPr bwMode="auto">
            <a:xfrm>
              <a:off x="7917" y="892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7047" name="Line 23">
              <a:extLst>
                <a:ext uri="{FF2B5EF4-FFF2-40B4-BE49-F238E27FC236}">
                  <a16:creationId xmlns:a16="http://schemas.microsoft.com/office/drawing/2014/main" id="{3C46A609-6AA0-222D-9440-59CAC727F698}"/>
                </a:ext>
              </a:extLst>
            </p:cNvPr>
            <p:cNvSpPr>
              <a:spLocks noChangeShapeType="1"/>
            </p:cNvSpPr>
            <p:nvPr/>
          </p:nvSpPr>
          <p:spPr bwMode="auto">
            <a:xfrm>
              <a:off x="5577" y="5964"/>
              <a:ext cx="0" cy="15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57048" name="Text Box 24">
            <a:extLst>
              <a:ext uri="{FF2B5EF4-FFF2-40B4-BE49-F238E27FC236}">
                <a16:creationId xmlns:a16="http://schemas.microsoft.com/office/drawing/2014/main" id="{C9437F58-30D3-85C7-593B-E404AD293D11}"/>
              </a:ext>
            </a:extLst>
          </p:cNvPr>
          <p:cNvSpPr txBox="1">
            <a:spLocks noChangeArrowheads="1"/>
          </p:cNvSpPr>
          <p:nvPr/>
        </p:nvSpPr>
        <p:spPr bwMode="auto">
          <a:xfrm>
            <a:off x="1547813" y="620713"/>
            <a:ext cx="6192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t>一次抽样方案的操作流程</a:t>
            </a:r>
          </a:p>
        </p:txBody>
      </p:sp>
    </p:spTree>
  </p:cSld>
  <p:clrMapOvr>
    <a:masterClrMapping/>
  </p:clrMapOvr>
  <p:transition spd="slow">
    <p:strips dir="rd"/>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A098FE30-5897-AEC0-C17B-DEF8071B21B6}"/>
              </a:ext>
            </a:extLst>
          </p:cNvPr>
          <p:cNvSpPr>
            <a:spLocks noGrp="1"/>
          </p:cNvSpPr>
          <p:nvPr>
            <p:ph type="dt" sz="half" idx="10"/>
          </p:nvPr>
        </p:nvSpPr>
        <p:spPr/>
        <p:txBody>
          <a:bodyPr/>
          <a:lstStyle/>
          <a:p>
            <a:r>
              <a:rPr lang="zh-CN" altLang="en-US"/>
              <a:t>讲义制作：李丽，陈志祥审</a:t>
            </a:r>
            <a:endParaRPr lang="en-US" altLang="zh-CN"/>
          </a:p>
        </p:txBody>
      </p:sp>
      <p:grpSp>
        <p:nvGrpSpPr>
          <p:cNvPr id="258052" name="Group 4">
            <a:extLst>
              <a:ext uri="{FF2B5EF4-FFF2-40B4-BE49-F238E27FC236}">
                <a16:creationId xmlns:a16="http://schemas.microsoft.com/office/drawing/2014/main" id="{C6939FB5-DB30-2A5F-A2CF-B9C2B8149ED7}"/>
              </a:ext>
            </a:extLst>
          </p:cNvPr>
          <p:cNvGrpSpPr>
            <a:grpSpLocks/>
          </p:cNvGrpSpPr>
          <p:nvPr/>
        </p:nvGrpSpPr>
        <p:grpSpPr bwMode="auto">
          <a:xfrm>
            <a:off x="1403350" y="1196975"/>
            <a:ext cx="6840538" cy="4340225"/>
            <a:chOff x="2337" y="1440"/>
            <a:chExt cx="6840" cy="5928"/>
          </a:xfrm>
        </p:grpSpPr>
        <p:sp>
          <p:nvSpPr>
            <p:cNvPr id="258053" name="Text Box 5">
              <a:extLst>
                <a:ext uri="{FF2B5EF4-FFF2-40B4-BE49-F238E27FC236}">
                  <a16:creationId xmlns:a16="http://schemas.microsoft.com/office/drawing/2014/main" id="{BB6D4913-2D71-39EE-0505-AA50455955AE}"/>
                </a:ext>
              </a:extLst>
            </p:cNvPr>
            <p:cNvSpPr txBox="1">
              <a:spLocks noChangeArrowheads="1"/>
            </p:cNvSpPr>
            <p:nvPr/>
          </p:nvSpPr>
          <p:spPr bwMode="auto">
            <a:xfrm>
              <a:off x="3957" y="1440"/>
              <a:ext cx="324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a:latin typeface="Times New Roman" panose="02020603050405020304" pitchFamily="18" charset="0"/>
                </a:rPr>
                <a:t>（</a:t>
              </a:r>
              <a:r>
                <a:rPr lang="en-US" altLang="zh-CN" sz="1600">
                  <a:latin typeface="Times New Roman" panose="02020603050405020304" pitchFamily="18" charset="0"/>
                </a:rPr>
                <a:t>N,n1,n2;C1,C2</a:t>
              </a:r>
              <a:r>
                <a:rPr lang="zh-CN" altLang="en-US" sz="1600">
                  <a:latin typeface="Times New Roman" panose="02020603050405020304" pitchFamily="18" charset="0"/>
                </a:rPr>
                <a:t>）</a:t>
              </a:r>
              <a:endParaRPr lang="zh-CN" altLang="en-US" sz="1600"/>
            </a:p>
          </p:txBody>
        </p:sp>
        <p:sp>
          <p:nvSpPr>
            <p:cNvPr id="258054" name="Line 6">
              <a:extLst>
                <a:ext uri="{FF2B5EF4-FFF2-40B4-BE49-F238E27FC236}">
                  <a16:creationId xmlns:a16="http://schemas.microsoft.com/office/drawing/2014/main" id="{CB183027-A312-32F9-D666-EC090BA1C093}"/>
                </a:ext>
              </a:extLst>
            </p:cNvPr>
            <p:cNvSpPr>
              <a:spLocks noChangeShapeType="1"/>
            </p:cNvSpPr>
            <p:nvPr/>
          </p:nvSpPr>
          <p:spPr bwMode="auto">
            <a:xfrm>
              <a:off x="5577" y="190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55" name="Text Box 7">
              <a:extLst>
                <a:ext uri="{FF2B5EF4-FFF2-40B4-BE49-F238E27FC236}">
                  <a16:creationId xmlns:a16="http://schemas.microsoft.com/office/drawing/2014/main" id="{F7AFBE28-F37A-6F0A-DE22-3458BC36495D}"/>
                </a:ext>
              </a:extLst>
            </p:cNvPr>
            <p:cNvSpPr txBox="1">
              <a:spLocks noChangeArrowheads="1"/>
            </p:cNvSpPr>
            <p:nvPr/>
          </p:nvSpPr>
          <p:spPr bwMode="auto">
            <a:xfrm>
              <a:off x="3237" y="2220"/>
              <a:ext cx="486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a:latin typeface="Times New Roman" panose="02020603050405020304" pitchFamily="18" charset="0"/>
                </a:rPr>
                <a:t>在</a:t>
              </a:r>
              <a:r>
                <a:rPr lang="en-US" altLang="zh-CN" sz="1600">
                  <a:latin typeface="Times New Roman" panose="02020603050405020304" pitchFamily="18" charset="0"/>
                </a:rPr>
                <a:t>N</a:t>
              </a:r>
              <a:r>
                <a:rPr lang="zh-CN" altLang="en-US" sz="1600">
                  <a:latin typeface="Times New Roman" panose="02020603050405020304" pitchFamily="18" charset="0"/>
                </a:rPr>
                <a:t>中随机抽取</a:t>
              </a:r>
              <a:r>
                <a:rPr lang="en-US" altLang="zh-CN" sz="1600">
                  <a:latin typeface="Times New Roman" panose="02020603050405020304" pitchFamily="18" charset="0"/>
                </a:rPr>
                <a:t>n1</a:t>
              </a:r>
              <a:r>
                <a:rPr lang="zh-CN" altLang="en-US" sz="1600">
                  <a:latin typeface="Times New Roman" panose="02020603050405020304" pitchFamily="18" charset="0"/>
                </a:rPr>
                <a:t>件产品检验，不合格件数为</a:t>
              </a:r>
              <a:r>
                <a:rPr lang="en-US" altLang="zh-CN" sz="1600">
                  <a:latin typeface="Times New Roman" panose="02020603050405020304" pitchFamily="18" charset="0"/>
                </a:rPr>
                <a:t>d1</a:t>
              </a:r>
              <a:endParaRPr lang="en-US" altLang="zh-CN" sz="1600"/>
            </a:p>
          </p:txBody>
        </p:sp>
        <p:sp>
          <p:nvSpPr>
            <p:cNvPr id="258056" name="Line 8">
              <a:extLst>
                <a:ext uri="{FF2B5EF4-FFF2-40B4-BE49-F238E27FC236}">
                  <a16:creationId xmlns:a16="http://schemas.microsoft.com/office/drawing/2014/main" id="{CADBA544-2E6E-5102-0AF4-8FB1352CC4D1}"/>
                </a:ext>
              </a:extLst>
            </p:cNvPr>
            <p:cNvSpPr>
              <a:spLocks noChangeShapeType="1"/>
            </p:cNvSpPr>
            <p:nvPr/>
          </p:nvSpPr>
          <p:spPr bwMode="auto">
            <a:xfrm>
              <a:off x="5577" y="268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57" name="Line 9">
              <a:extLst>
                <a:ext uri="{FF2B5EF4-FFF2-40B4-BE49-F238E27FC236}">
                  <a16:creationId xmlns:a16="http://schemas.microsoft.com/office/drawing/2014/main" id="{96AD3873-E6DE-CCDD-AC94-7B2E46482E0F}"/>
                </a:ext>
              </a:extLst>
            </p:cNvPr>
            <p:cNvSpPr>
              <a:spLocks noChangeShapeType="1"/>
            </p:cNvSpPr>
            <p:nvPr/>
          </p:nvSpPr>
          <p:spPr bwMode="auto">
            <a:xfrm>
              <a:off x="6657" y="3312"/>
              <a:ext cx="162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58" name="Line 10">
              <a:extLst>
                <a:ext uri="{FF2B5EF4-FFF2-40B4-BE49-F238E27FC236}">
                  <a16:creationId xmlns:a16="http://schemas.microsoft.com/office/drawing/2014/main" id="{30DE187B-6232-087B-3CE3-15A6E1A4BDE1}"/>
                </a:ext>
              </a:extLst>
            </p:cNvPr>
            <p:cNvSpPr>
              <a:spLocks noChangeShapeType="1"/>
            </p:cNvSpPr>
            <p:nvPr/>
          </p:nvSpPr>
          <p:spPr bwMode="auto">
            <a:xfrm>
              <a:off x="3057" y="331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59" name="Line 11">
              <a:extLst>
                <a:ext uri="{FF2B5EF4-FFF2-40B4-BE49-F238E27FC236}">
                  <a16:creationId xmlns:a16="http://schemas.microsoft.com/office/drawing/2014/main" id="{F91DF7A8-441C-C2F0-0949-CFC97C405D00}"/>
                </a:ext>
              </a:extLst>
            </p:cNvPr>
            <p:cNvSpPr>
              <a:spLocks noChangeShapeType="1"/>
            </p:cNvSpPr>
            <p:nvPr/>
          </p:nvSpPr>
          <p:spPr bwMode="auto">
            <a:xfrm>
              <a:off x="5577" y="3624"/>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60" name="AutoShape 12">
              <a:extLst>
                <a:ext uri="{FF2B5EF4-FFF2-40B4-BE49-F238E27FC236}">
                  <a16:creationId xmlns:a16="http://schemas.microsoft.com/office/drawing/2014/main" id="{278980A5-D77F-13B1-E82E-4F4197ACEE88}"/>
                </a:ext>
              </a:extLst>
            </p:cNvPr>
            <p:cNvSpPr>
              <a:spLocks noChangeArrowheads="1"/>
            </p:cNvSpPr>
            <p:nvPr/>
          </p:nvSpPr>
          <p:spPr bwMode="auto">
            <a:xfrm>
              <a:off x="4497" y="3000"/>
              <a:ext cx="2160" cy="624"/>
            </a:xfrm>
            <a:prstGeom prst="diamond">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a:latin typeface="Times New Roman" panose="02020603050405020304" pitchFamily="18" charset="0"/>
                </a:rPr>
                <a:t>判断</a:t>
              </a:r>
              <a:r>
                <a:rPr lang="en-US" altLang="zh-CN" sz="1600">
                  <a:latin typeface="Times New Roman" panose="02020603050405020304" pitchFamily="18" charset="0"/>
                </a:rPr>
                <a:t>d1</a:t>
              </a:r>
              <a:endParaRPr lang="en-US" altLang="zh-CN" sz="1600"/>
            </a:p>
          </p:txBody>
        </p:sp>
        <p:sp>
          <p:nvSpPr>
            <p:cNvPr id="258061" name="Line 13">
              <a:extLst>
                <a:ext uri="{FF2B5EF4-FFF2-40B4-BE49-F238E27FC236}">
                  <a16:creationId xmlns:a16="http://schemas.microsoft.com/office/drawing/2014/main" id="{9BB363FE-9010-55A2-027D-09BC57059991}"/>
                </a:ext>
              </a:extLst>
            </p:cNvPr>
            <p:cNvSpPr>
              <a:spLocks noChangeShapeType="1"/>
            </p:cNvSpPr>
            <p:nvPr/>
          </p:nvSpPr>
          <p:spPr bwMode="auto">
            <a:xfrm flipH="1">
              <a:off x="3057" y="3312"/>
              <a:ext cx="1440" cy="0"/>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62" name="Line 14">
              <a:extLst>
                <a:ext uri="{FF2B5EF4-FFF2-40B4-BE49-F238E27FC236}">
                  <a16:creationId xmlns:a16="http://schemas.microsoft.com/office/drawing/2014/main" id="{AEC71BB4-E8A1-0E97-8EA4-A31498C3CE9E}"/>
                </a:ext>
              </a:extLst>
            </p:cNvPr>
            <p:cNvSpPr>
              <a:spLocks noChangeShapeType="1"/>
            </p:cNvSpPr>
            <p:nvPr/>
          </p:nvSpPr>
          <p:spPr bwMode="auto">
            <a:xfrm>
              <a:off x="8277" y="331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63" name="Text Box 15">
              <a:extLst>
                <a:ext uri="{FF2B5EF4-FFF2-40B4-BE49-F238E27FC236}">
                  <a16:creationId xmlns:a16="http://schemas.microsoft.com/office/drawing/2014/main" id="{8CA6AA94-83F4-1E1D-FE56-7E0E422219E6}"/>
                </a:ext>
              </a:extLst>
            </p:cNvPr>
            <p:cNvSpPr txBox="1">
              <a:spLocks noChangeArrowheads="1"/>
            </p:cNvSpPr>
            <p:nvPr/>
          </p:nvSpPr>
          <p:spPr bwMode="auto">
            <a:xfrm>
              <a:off x="2697" y="3624"/>
              <a:ext cx="1080" cy="468"/>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1600">
                  <a:latin typeface="Times New Roman" panose="02020603050405020304" pitchFamily="18" charset="0"/>
                </a:rPr>
                <a:t>d1</a:t>
              </a:r>
              <a:r>
                <a:rPr lang="en-US" altLang="zh-CN" sz="1600">
                  <a:latin typeface="宋体" panose="02010600030101010101" pitchFamily="2" charset="-122"/>
                </a:rPr>
                <a:t>≤C1</a:t>
              </a:r>
              <a:endParaRPr lang="en-US" altLang="zh-CN" sz="1600"/>
            </a:p>
          </p:txBody>
        </p:sp>
        <p:sp>
          <p:nvSpPr>
            <p:cNvPr id="258064" name="Line 16">
              <a:extLst>
                <a:ext uri="{FF2B5EF4-FFF2-40B4-BE49-F238E27FC236}">
                  <a16:creationId xmlns:a16="http://schemas.microsoft.com/office/drawing/2014/main" id="{45B94AD5-A1A1-3E6B-4FEF-DB5AA0B50CAA}"/>
                </a:ext>
              </a:extLst>
            </p:cNvPr>
            <p:cNvSpPr>
              <a:spLocks noChangeShapeType="1"/>
            </p:cNvSpPr>
            <p:nvPr/>
          </p:nvSpPr>
          <p:spPr bwMode="auto">
            <a:xfrm>
              <a:off x="3057" y="4092"/>
              <a:ext cx="0" cy="46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65" name="Text Box 17">
              <a:extLst>
                <a:ext uri="{FF2B5EF4-FFF2-40B4-BE49-F238E27FC236}">
                  <a16:creationId xmlns:a16="http://schemas.microsoft.com/office/drawing/2014/main" id="{7BB7DAEC-D1F5-44BC-30DC-E490600D36DF}"/>
                </a:ext>
              </a:extLst>
            </p:cNvPr>
            <p:cNvSpPr txBox="1">
              <a:spLocks noChangeArrowheads="1"/>
            </p:cNvSpPr>
            <p:nvPr/>
          </p:nvSpPr>
          <p:spPr bwMode="auto">
            <a:xfrm>
              <a:off x="2337" y="4560"/>
              <a:ext cx="144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a:latin typeface="Times New Roman" panose="02020603050405020304" pitchFamily="18" charset="0"/>
                </a:rPr>
                <a:t>判为合格</a:t>
              </a:r>
              <a:endParaRPr lang="zh-CN" altLang="en-US" sz="1600"/>
            </a:p>
          </p:txBody>
        </p:sp>
        <p:sp>
          <p:nvSpPr>
            <p:cNvPr id="258066" name="Text Box 18">
              <a:extLst>
                <a:ext uri="{FF2B5EF4-FFF2-40B4-BE49-F238E27FC236}">
                  <a16:creationId xmlns:a16="http://schemas.microsoft.com/office/drawing/2014/main" id="{543930FA-D3DD-6F3E-2CB9-E3CEB94E5035}"/>
                </a:ext>
              </a:extLst>
            </p:cNvPr>
            <p:cNvSpPr txBox="1">
              <a:spLocks noChangeArrowheads="1"/>
            </p:cNvSpPr>
            <p:nvPr/>
          </p:nvSpPr>
          <p:spPr bwMode="auto">
            <a:xfrm>
              <a:off x="4857" y="3936"/>
              <a:ext cx="1620" cy="468"/>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1600">
                  <a:latin typeface="Times New Roman" panose="02020603050405020304" pitchFamily="18" charset="0"/>
                </a:rPr>
                <a:t>C1&lt;d1</a:t>
              </a:r>
              <a:r>
                <a:rPr lang="en-US" altLang="zh-CN" sz="1600">
                  <a:latin typeface="宋体" panose="02010600030101010101" pitchFamily="2" charset="-122"/>
                </a:rPr>
                <a:t>≤</a:t>
              </a:r>
              <a:r>
                <a:rPr lang="en-US" altLang="zh-CN" sz="1600">
                  <a:latin typeface="Times New Roman" panose="02020603050405020304" pitchFamily="18" charset="0"/>
                </a:rPr>
                <a:t>C2</a:t>
              </a:r>
              <a:endParaRPr lang="en-US" altLang="zh-CN" sz="1600"/>
            </a:p>
          </p:txBody>
        </p:sp>
        <p:sp>
          <p:nvSpPr>
            <p:cNvPr id="258067" name="Line 19">
              <a:extLst>
                <a:ext uri="{FF2B5EF4-FFF2-40B4-BE49-F238E27FC236}">
                  <a16:creationId xmlns:a16="http://schemas.microsoft.com/office/drawing/2014/main" id="{60F1FE43-0DA3-94D7-DD81-8F484114D7C9}"/>
                </a:ext>
              </a:extLst>
            </p:cNvPr>
            <p:cNvSpPr>
              <a:spLocks noChangeShapeType="1"/>
            </p:cNvSpPr>
            <p:nvPr/>
          </p:nvSpPr>
          <p:spPr bwMode="auto">
            <a:xfrm>
              <a:off x="5577" y="424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68" name="AutoShape 20">
              <a:extLst>
                <a:ext uri="{FF2B5EF4-FFF2-40B4-BE49-F238E27FC236}">
                  <a16:creationId xmlns:a16="http://schemas.microsoft.com/office/drawing/2014/main" id="{85FA6E98-2EBC-5BE0-4769-ADF504D40906}"/>
                </a:ext>
              </a:extLst>
            </p:cNvPr>
            <p:cNvSpPr>
              <a:spLocks noChangeArrowheads="1"/>
            </p:cNvSpPr>
            <p:nvPr/>
          </p:nvSpPr>
          <p:spPr bwMode="auto">
            <a:xfrm>
              <a:off x="2517" y="6744"/>
              <a:ext cx="1980" cy="624"/>
            </a:xfrm>
            <a:prstGeom prst="flowChartTerminator">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a:latin typeface="Times New Roman" panose="02020603050405020304" pitchFamily="18" charset="0"/>
                </a:rPr>
                <a:t>接收</a:t>
              </a:r>
              <a:endParaRPr lang="zh-CN" altLang="en-US" sz="1600"/>
            </a:p>
          </p:txBody>
        </p:sp>
        <p:sp>
          <p:nvSpPr>
            <p:cNvPr id="258069" name="Line 21">
              <a:extLst>
                <a:ext uri="{FF2B5EF4-FFF2-40B4-BE49-F238E27FC236}">
                  <a16:creationId xmlns:a16="http://schemas.microsoft.com/office/drawing/2014/main" id="{15AF14D6-E06C-B6E0-1FC2-334A7627FE47}"/>
                </a:ext>
              </a:extLst>
            </p:cNvPr>
            <p:cNvSpPr>
              <a:spLocks noChangeShapeType="1"/>
            </p:cNvSpPr>
            <p:nvPr/>
          </p:nvSpPr>
          <p:spPr bwMode="auto">
            <a:xfrm>
              <a:off x="3057" y="5028"/>
              <a:ext cx="0" cy="171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70" name="Text Box 22">
              <a:extLst>
                <a:ext uri="{FF2B5EF4-FFF2-40B4-BE49-F238E27FC236}">
                  <a16:creationId xmlns:a16="http://schemas.microsoft.com/office/drawing/2014/main" id="{37F5CE15-2559-623C-00F3-8C1B0774D130}"/>
                </a:ext>
              </a:extLst>
            </p:cNvPr>
            <p:cNvSpPr txBox="1">
              <a:spLocks noChangeArrowheads="1"/>
            </p:cNvSpPr>
            <p:nvPr/>
          </p:nvSpPr>
          <p:spPr bwMode="auto">
            <a:xfrm>
              <a:off x="3957" y="4560"/>
              <a:ext cx="342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a:latin typeface="Times New Roman" panose="02020603050405020304" pitchFamily="18" charset="0"/>
                </a:rPr>
                <a:t>再抽取</a:t>
              </a:r>
              <a:r>
                <a:rPr lang="en-US" altLang="zh-CN" sz="1600">
                  <a:latin typeface="Times New Roman" panose="02020603050405020304" pitchFamily="18" charset="0"/>
                </a:rPr>
                <a:t>n2</a:t>
              </a:r>
              <a:r>
                <a:rPr lang="zh-CN" altLang="en-US" sz="1600">
                  <a:latin typeface="Times New Roman" panose="02020603050405020304" pitchFamily="18" charset="0"/>
                </a:rPr>
                <a:t>件，检验出不合格数</a:t>
              </a:r>
              <a:r>
                <a:rPr lang="en-US" altLang="zh-CN" sz="1600">
                  <a:latin typeface="Times New Roman" panose="02020603050405020304" pitchFamily="18" charset="0"/>
                </a:rPr>
                <a:t>d2</a:t>
              </a:r>
              <a:endParaRPr lang="en-US" altLang="zh-CN" sz="1600"/>
            </a:p>
          </p:txBody>
        </p:sp>
        <p:sp>
          <p:nvSpPr>
            <p:cNvPr id="258071" name="Text Box 23">
              <a:extLst>
                <a:ext uri="{FF2B5EF4-FFF2-40B4-BE49-F238E27FC236}">
                  <a16:creationId xmlns:a16="http://schemas.microsoft.com/office/drawing/2014/main" id="{AD7E57E5-D2A2-321B-0E10-2CAEF318821C}"/>
                </a:ext>
              </a:extLst>
            </p:cNvPr>
            <p:cNvSpPr txBox="1">
              <a:spLocks noChangeArrowheads="1"/>
            </p:cNvSpPr>
            <p:nvPr/>
          </p:nvSpPr>
          <p:spPr bwMode="auto">
            <a:xfrm>
              <a:off x="7737" y="3624"/>
              <a:ext cx="1080" cy="468"/>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1600">
                  <a:latin typeface="Times New Roman" panose="02020603050405020304" pitchFamily="18" charset="0"/>
                </a:rPr>
                <a:t>d1&gt;C2</a:t>
              </a:r>
              <a:endParaRPr lang="en-US" altLang="zh-CN" sz="1600"/>
            </a:p>
          </p:txBody>
        </p:sp>
        <p:sp>
          <p:nvSpPr>
            <p:cNvPr id="258072" name="Text Box 24">
              <a:extLst>
                <a:ext uri="{FF2B5EF4-FFF2-40B4-BE49-F238E27FC236}">
                  <a16:creationId xmlns:a16="http://schemas.microsoft.com/office/drawing/2014/main" id="{CBC88423-C94D-EAD9-3E8F-3B403B936790}"/>
                </a:ext>
              </a:extLst>
            </p:cNvPr>
            <p:cNvSpPr txBox="1">
              <a:spLocks noChangeArrowheads="1"/>
            </p:cNvSpPr>
            <p:nvPr/>
          </p:nvSpPr>
          <p:spPr bwMode="auto">
            <a:xfrm>
              <a:off x="7737" y="4560"/>
              <a:ext cx="144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a:latin typeface="Times New Roman" panose="02020603050405020304" pitchFamily="18" charset="0"/>
                </a:rPr>
                <a:t>判为不合格</a:t>
              </a:r>
              <a:endParaRPr lang="zh-CN" altLang="en-US" sz="1600"/>
            </a:p>
          </p:txBody>
        </p:sp>
        <p:sp>
          <p:nvSpPr>
            <p:cNvPr id="258073" name="Line 25">
              <a:extLst>
                <a:ext uri="{FF2B5EF4-FFF2-40B4-BE49-F238E27FC236}">
                  <a16:creationId xmlns:a16="http://schemas.microsoft.com/office/drawing/2014/main" id="{A46E0CFC-B535-B337-3ED9-A317F93C0F09}"/>
                </a:ext>
              </a:extLst>
            </p:cNvPr>
            <p:cNvSpPr>
              <a:spLocks noChangeShapeType="1"/>
            </p:cNvSpPr>
            <p:nvPr/>
          </p:nvSpPr>
          <p:spPr bwMode="auto">
            <a:xfrm>
              <a:off x="8277" y="4092"/>
              <a:ext cx="0" cy="46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74" name="Line 26">
              <a:extLst>
                <a:ext uri="{FF2B5EF4-FFF2-40B4-BE49-F238E27FC236}">
                  <a16:creationId xmlns:a16="http://schemas.microsoft.com/office/drawing/2014/main" id="{A0C7CA14-6412-71E5-FE48-68FD3AA52645}"/>
                </a:ext>
              </a:extLst>
            </p:cNvPr>
            <p:cNvSpPr>
              <a:spLocks noChangeShapeType="1"/>
            </p:cNvSpPr>
            <p:nvPr/>
          </p:nvSpPr>
          <p:spPr bwMode="auto">
            <a:xfrm>
              <a:off x="8277" y="5028"/>
              <a:ext cx="0" cy="1716"/>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75" name="Text Box 27">
              <a:extLst>
                <a:ext uri="{FF2B5EF4-FFF2-40B4-BE49-F238E27FC236}">
                  <a16:creationId xmlns:a16="http://schemas.microsoft.com/office/drawing/2014/main" id="{7C9827B9-7E13-8084-A5C9-9C92AA475694}"/>
                </a:ext>
              </a:extLst>
            </p:cNvPr>
            <p:cNvSpPr txBox="1">
              <a:spLocks noChangeArrowheads="1"/>
            </p:cNvSpPr>
            <p:nvPr/>
          </p:nvSpPr>
          <p:spPr bwMode="auto">
            <a:xfrm>
              <a:off x="3597" y="5340"/>
              <a:ext cx="1440" cy="468"/>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1600">
                  <a:latin typeface="Times New Roman" panose="02020603050405020304" pitchFamily="18" charset="0"/>
                </a:rPr>
                <a:t>d1+d2</a:t>
              </a:r>
              <a:r>
                <a:rPr lang="en-US" altLang="zh-CN" sz="1600">
                  <a:latin typeface="宋体" panose="02010600030101010101" pitchFamily="2" charset="-122"/>
                </a:rPr>
                <a:t>≤C2</a:t>
              </a:r>
              <a:endParaRPr lang="en-US" altLang="zh-CN" sz="1600"/>
            </a:p>
          </p:txBody>
        </p:sp>
        <p:sp>
          <p:nvSpPr>
            <p:cNvPr id="258076" name="Line 28">
              <a:extLst>
                <a:ext uri="{FF2B5EF4-FFF2-40B4-BE49-F238E27FC236}">
                  <a16:creationId xmlns:a16="http://schemas.microsoft.com/office/drawing/2014/main" id="{314577E0-3DCE-022A-6226-4FAB7A3B6B10}"/>
                </a:ext>
              </a:extLst>
            </p:cNvPr>
            <p:cNvSpPr>
              <a:spLocks noChangeShapeType="1"/>
            </p:cNvSpPr>
            <p:nvPr/>
          </p:nvSpPr>
          <p:spPr bwMode="auto">
            <a:xfrm>
              <a:off x="3957" y="643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77" name="Text Box 29">
              <a:extLst>
                <a:ext uri="{FF2B5EF4-FFF2-40B4-BE49-F238E27FC236}">
                  <a16:creationId xmlns:a16="http://schemas.microsoft.com/office/drawing/2014/main" id="{2CF0A2E1-C3CA-4290-9979-5ECD96DFE44F}"/>
                </a:ext>
              </a:extLst>
            </p:cNvPr>
            <p:cNvSpPr txBox="1">
              <a:spLocks noChangeArrowheads="1"/>
            </p:cNvSpPr>
            <p:nvPr/>
          </p:nvSpPr>
          <p:spPr bwMode="auto">
            <a:xfrm>
              <a:off x="3417" y="5964"/>
              <a:ext cx="126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a:latin typeface="Times New Roman" panose="02020603050405020304" pitchFamily="18" charset="0"/>
                </a:rPr>
                <a:t>判为合格</a:t>
              </a:r>
              <a:endParaRPr lang="zh-CN" altLang="en-US" sz="1600"/>
            </a:p>
          </p:txBody>
        </p:sp>
        <p:sp>
          <p:nvSpPr>
            <p:cNvPr id="258078" name="Line 30">
              <a:extLst>
                <a:ext uri="{FF2B5EF4-FFF2-40B4-BE49-F238E27FC236}">
                  <a16:creationId xmlns:a16="http://schemas.microsoft.com/office/drawing/2014/main" id="{A75BE657-002D-2349-7A2E-2F1E7F984CFD}"/>
                </a:ext>
              </a:extLst>
            </p:cNvPr>
            <p:cNvSpPr>
              <a:spLocks noChangeShapeType="1"/>
            </p:cNvSpPr>
            <p:nvPr/>
          </p:nvSpPr>
          <p:spPr bwMode="auto">
            <a:xfrm>
              <a:off x="4317" y="502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79" name="Line 31">
              <a:extLst>
                <a:ext uri="{FF2B5EF4-FFF2-40B4-BE49-F238E27FC236}">
                  <a16:creationId xmlns:a16="http://schemas.microsoft.com/office/drawing/2014/main" id="{340E763F-E8EB-C248-FFC6-C3B61F87310B}"/>
                </a:ext>
              </a:extLst>
            </p:cNvPr>
            <p:cNvSpPr>
              <a:spLocks noChangeShapeType="1"/>
            </p:cNvSpPr>
            <p:nvPr/>
          </p:nvSpPr>
          <p:spPr bwMode="auto">
            <a:xfrm>
              <a:off x="3957" y="565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80" name="Text Box 32">
              <a:extLst>
                <a:ext uri="{FF2B5EF4-FFF2-40B4-BE49-F238E27FC236}">
                  <a16:creationId xmlns:a16="http://schemas.microsoft.com/office/drawing/2014/main" id="{5568EF46-3431-23AD-90FD-603EA4525D00}"/>
                </a:ext>
              </a:extLst>
            </p:cNvPr>
            <p:cNvSpPr txBox="1">
              <a:spLocks noChangeArrowheads="1"/>
            </p:cNvSpPr>
            <p:nvPr/>
          </p:nvSpPr>
          <p:spPr bwMode="auto">
            <a:xfrm>
              <a:off x="6117" y="5340"/>
              <a:ext cx="1440" cy="468"/>
            </a:xfrm>
            <a:prstGeom prst="rect">
              <a:avLst/>
            </a:prstGeom>
            <a:solidFill>
              <a:srgbClr val="FF9900"/>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en-US" altLang="zh-CN" sz="1600">
                  <a:latin typeface="Times New Roman" panose="02020603050405020304" pitchFamily="18" charset="0"/>
                </a:rPr>
                <a:t>d1+d2〉&gt;</a:t>
              </a:r>
              <a:r>
                <a:rPr lang="en-US" altLang="zh-CN" sz="1600">
                  <a:latin typeface="宋体" panose="02010600030101010101" pitchFamily="2" charset="-122"/>
                </a:rPr>
                <a:t>C2</a:t>
              </a:r>
              <a:endParaRPr lang="en-US" altLang="zh-CN" sz="1600"/>
            </a:p>
          </p:txBody>
        </p:sp>
        <p:sp>
          <p:nvSpPr>
            <p:cNvPr id="258081" name="Line 33">
              <a:extLst>
                <a:ext uri="{FF2B5EF4-FFF2-40B4-BE49-F238E27FC236}">
                  <a16:creationId xmlns:a16="http://schemas.microsoft.com/office/drawing/2014/main" id="{98BF2F70-D0F6-E873-7E94-B43E1DB70645}"/>
                </a:ext>
              </a:extLst>
            </p:cNvPr>
            <p:cNvSpPr>
              <a:spLocks noChangeShapeType="1"/>
            </p:cNvSpPr>
            <p:nvPr/>
          </p:nvSpPr>
          <p:spPr bwMode="auto">
            <a:xfrm>
              <a:off x="6837" y="5028"/>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82" name="Text Box 34">
              <a:extLst>
                <a:ext uri="{FF2B5EF4-FFF2-40B4-BE49-F238E27FC236}">
                  <a16:creationId xmlns:a16="http://schemas.microsoft.com/office/drawing/2014/main" id="{66A4FF9A-C98C-E9E7-C27F-CF7839C110EB}"/>
                </a:ext>
              </a:extLst>
            </p:cNvPr>
            <p:cNvSpPr txBox="1">
              <a:spLocks noChangeArrowheads="1"/>
            </p:cNvSpPr>
            <p:nvPr/>
          </p:nvSpPr>
          <p:spPr bwMode="auto">
            <a:xfrm>
              <a:off x="6117" y="5964"/>
              <a:ext cx="1440" cy="468"/>
            </a:xfrm>
            <a:prstGeom prst="rect">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just"/>
              <a:r>
                <a:rPr lang="zh-CN" altLang="en-US" sz="1600">
                  <a:latin typeface="Times New Roman" panose="02020603050405020304" pitchFamily="18" charset="0"/>
                </a:rPr>
                <a:t>判为不合格</a:t>
              </a:r>
              <a:endParaRPr lang="zh-CN" altLang="en-US" sz="1600"/>
            </a:p>
          </p:txBody>
        </p:sp>
        <p:sp>
          <p:nvSpPr>
            <p:cNvPr id="258083" name="Line 35">
              <a:extLst>
                <a:ext uri="{FF2B5EF4-FFF2-40B4-BE49-F238E27FC236}">
                  <a16:creationId xmlns:a16="http://schemas.microsoft.com/office/drawing/2014/main" id="{5BEF02E3-C1F6-7AE8-50CC-D9C0288A22E7}"/>
                </a:ext>
              </a:extLst>
            </p:cNvPr>
            <p:cNvSpPr>
              <a:spLocks noChangeShapeType="1"/>
            </p:cNvSpPr>
            <p:nvPr/>
          </p:nvSpPr>
          <p:spPr bwMode="auto">
            <a:xfrm>
              <a:off x="6837" y="565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58084" name="AutoShape 36">
              <a:extLst>
                <a:ext uri="{FF2B5EF4-FFF2-40B4-BE49-F238E27FC236}">
                  <a16:creationId xmlns:a16="http://schemas.microsoft.com/office/drawing/2014/main" id="{2123D535-86B6-76CB-734D-FA75AE652C2B}"/>
                </a:ext>
              </a:extLst>
            </p:cNvPr>
            <p:cNvSpPr>
              <a:spLocks noChangeArrowheads="1"/>
            </p:cNvSpPr>
            <p:nvPr/>
          </p:nvSpPr>
          <p:spPr bwMode="auto">
            <a:xfrm>
              <a:off x="6837" y="6744"/>
              <a:ext cx="1980" cy="624"/>
            </a:xfrm>
            <a:prstGeom prst="flowChartTerminator">
              <a:avLst/>
            </a:prstGeom>
            <a:solidFill>
              <a:srgbClr val="FF99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r>
                <a:rPr lang="zh-CN" altLang="en-US" sz="1600">
                  <a:latin typeface="Times New Roman" panose="02020603050405020304" pitchFamily="18" charset="0"/>
                </a:rPr>
                <a:t>拒绝接收</a:t>
              </a:r>
              <a:endParaRPr lang="zh-CN" altLang="en-US" sz="1600"/>
            </a:p>
          </p:txBody>
        </p:sp>
        <p:sp>
          <p:nvSpPr>
            <p:cNvPr id="258085" name="Line 37">
              <a:extLst>
                <a:ext uri="{FF2B5EF4-FFF2-40B4-BE49-F238E27FC236}">
                  <a16:creationId xmlns:a16="http://schemas.microsoft.com/office/drawing/2014/main" id="{C82C75BF-C913-379C-97E6-D21BAFDEAE84}"/>
                </a:ext>
              </a:extLst>
            </p:cNvPr>
            <p:cNvSpPr>
              <a:spLocks noChangeShapeType="1"/>
            </p:cNvSpPr>
            <p:nvPr/>
          </p:nvSpPr>
          <p:spPr bwMode="auto">
            <a:xfrm>
              <a:off x="7197" y="6432"/>
              <a:ext cx="0" cy="31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258086" name="Text Box 38">
            <a:extLst>
              <a:ext uri="{FF2B5EF4-FFF2-40B4-BE49-F238E27FC236}">
                <a16:creationId xmlns:a16="http://schemas.microsoft.com/office/drawing/2014/main" id="{FFC8325C-4191-233B-174D-37BBF4BAE5A0}"/>
              </a:ext>
            </a:extLst>
          </p:cNvPr>
          <p:cNvSpPr txBox="1">
            <a:spLocks noChangeArrowheads="1"/>
          </p:cNvSpPr>
          <p:nvPr/>
        </p:nvSpPr>
        <p:spPr bwMode="auto">
          <a:xfrm>
            <a:off x="1547813" y="620713"/>
            <a:ext cx="61928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pPr>
            <a:r>
              <a:rPr lang="zh-CN" altLang="en-US" sz="2400" b="1"/>
              <a:t>二次抽样方案的操作流程</a:t>
            </a:r>
          </a:p>
        </p:txBody>
      </p:sp>
    </p:spTree>
  </p:cSld>
  <p:clrMapOvr>
    <a:masterClrMapping/>
  </p:clrMapOvr>
  <p:transition spd="slow">
    <p:strips dir="rd"/>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77F3E839-1705-A5D8-215E-BBC0906AB355}"/>
              </a:ext>
            </a:extLst>
          </p:cNvPr>
          <p:cNvSpPr>
            <a:spLocks noGrp="1"/>
          </p:cNvSpPr>
          <p:nvPr>
            <p:ph type="dt" sz="half" idx="10"/>
          </p:nvPr>
        </p:nvSpPr>
        <p:spPr/>
        <p:txBody>
          <a:bodyPr/>
          <a:lstStyle/>
          <a:p>
            <a:r>
              <a:rPr lang="zh-CN" altLang="en-US"/>
              <a:t>讲义制作：李丽，陈志祥审</a:t>
            </a:r>
            <a:endParaRPr lang="en-US" altLang="zh-CN"/>
          </a:p>
        </p:txBody>
      </p:sp>
      <p:sp>
        <p:nvSpPr>
          <p:cNvPr id="260098" name="Rectangle 2">
            <a:extLst>
              <a:ext uri="{FF2B5EF4-FFF2-40B4-BE49-F238E27FC236}">
                <a16:creationId xmlns:a16="http://schemas.microsoft.com/office/drawing/2014/main" id="{662F075B-12CA-FA29-BDAE-242E595C7A98}"/>
              </a:ext>
            </a:extLst>
          </p:cNvPr>
          <p:cNvSpPr>
            <a:spLocks noGrp="1" noChangeArrowheads="1"/>
          </p:cNvSpPr>
          <p:nvPr>
            <p:ph type="title"/>
          </p:nvPr>
        </p:nvSpPr>
        <p:spPr/>
        <p:txBody>
          <a:bodyPr/>
          <a:lstStyle/>
          <a:p>
            <a:r>
              <a:rPr lang="en-US" altLang="zh-CN"/>
              <a:t>2</a:t>
            </a:r>
            <a:r>
              <a:rPr lang="zh-CN" altLang="en-US"/>
              <a:t>抽样方案设计</a:t>
            </a:r>
          </a:p>
        </p:txBody>
      </p:sp>
      <p:sp>
        <p:nvSpPr>
          <p:cNvPr id="260099" name="Rectangle 3">
            <a:extLst>
              <a:ext uri="{FF2B5EF4-FFF2-40B4-BE49-F238E27FC236}">
                <a16:creationId xmlns:a16="http://schemas.microsoft.com/office/drawing/2014/main" id="{E69148E9-C226-E3F8-4DB3-EA38397B8D3A}"/>
              </a:ext>
            </a:extLst>
          </p:cNvPr>
          <p:cNvSpPr>
            <a:spLocks noGrp="1" noChangeArrowheads="1"/>
          </p:cNvSpPr>
          <p:nvPr>
            <p:ph type="body" idx="1"/>
          </p:nvPr>
        </p:nvSpPr>
        <p:spPr/>
        <p:txBody>
          <a:bodyPr/>
          <a:lstStyle/>
          <a:p>
            <a:pPr>
              <a:buFontTx/>
              <a:buNone/>
            </a:pPr>
            <a:r>
              <a:rPr lang="en-US" altLang="zh-CN" b="1"/>
              <a:t>2.1</a:t>
            </a:r>
            <a:r>
              <a:rPr lang="zh-CN" altLang="en-US" b="1"/>
              <a:t>计数标准型抽样检验方案设计</a:t>
            </a:r>
          </a:p>
          <a:p>
            <a:pPr>
              <a:buFontTx/>
              <a:buNone/>
            </a:pPr>
            <a:r>
              <a:rPr lang="en-US" altLang="zh-CN" b="1"/>
              <a:t>2.2</a:t>
            </a:r>
            <a:r>
              <a:rPr lang="zh-CN" altLang="en-US" b="1"/>
              <a:t>计数调整型抽样检验方案设计</a:t>
            </a:r>
            <a:r>
              <a:rPr lang="zh-CN" altLang="en-US"/>
              <a:t> </a:t>
            </a:r>
          </a:p>
        </p:txBody>
      </p:sp>
    </p:spTree>
  </p:cSld>
  <p:clrMapOvr>
    <a:masterClrMapping/>
  </p:clrMapOvr>
  <p:transition spd="slow">
    <p:strips dir="rd"/>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F2D37865-768A-1750-C61B-5AB998AEED7E}"/>
              </a:ext>
            </a:extLst>
          </p:cNvPr>
          <p:cNvSpPr>
            <a:spLocks noGrp="1"/>
          </p:cNvSpPr>
          <p:nvPr>
            <p:ph type="dt" sz="half" idx="10"/>
          </p:nvPr>
        </p:nvSpPr>
        <p:spPr/>
        <p:txBody>
          <a:bodyPr/>
          <a:lstStyle/>
          <a:p>
            <a:r>
              <a:rPr lang="zh-CN" altLang="en-US"/>
              <a:t>讲义制作：李丽，陈志祥审</a:t>
            </a:r>
            <a:endParaRPr lang="en-US" altLang="zh-CN"/>
          </a:p>
        </p:txBody>
      </p:sp>
      <p:sp>
        <p:nvSpPr>
          <p:cNvPr id="273410" name="Rectangle 2">
            <a:extLst>
              <a:ext uri="{FF2B5EF4-FFF2-40B4-BE49-F238E27FC236}">
                <a16:creationId xmlns:a16="http://schemas.microsoft.com/office/drawing/2014/main" id="{B5D5FAA7-3F72-4DEA-05B4-D5A47B4278CD}"/>
              </a:ext>
            </a:extLst>
          </p:cNvPr>
          <p:cNvSpPr>
            <a:spLocks noGrp="1" noChangeArrowheads="1"/>
          </p:cNvSpPr>
          <p:nvPr>
            <p:ph type="title"/>
          </p:nvPr>
        </p:nvSpPr>
        <p:spPr/>
        <p:txBody>
          <a:bodyPr/>
          <a:lstStyle/>
          <a:p>
            <a:r>
              <a:rPr lang="zh-CN" altLang="en-US"/>
              <a:t>五、六西格玛质量改善</a:t>
            </a:r>
          </a:p>
        </p:txBody>
      </p:sp>
      <p:sp>
        <p:nvSpPr>
          <p:cNvPr id="273411" name="Rectangle 3">
            <a:extLst>
              <a:ext uri="{FF2B5EF4-FFF2-40B4-BE49-F238E27FC236}">
                <a16:creationId xmlns:a16="http://schemas.microsoft.com/office/drawing/2014/main" id="{60ED45F8-403D-8096-0ADA-B429F56CCE37}"/>
              </a:ext>
            </a:extLst>
          </p:cNvPr>
          <p:cNvSpPr>
            <a:spLocks noGrp="1" noChangeArrowheads="1"/>
          </p:cNvSpPr>
          <p:nvPr>
            <p:ph type="body" idx="1"/>
          </p:nvPr>
        </p:nvSpPr>
        <p:spPr/>
        <p:txBody>
          <a:bodyPr/>
          <a:lstStyle/>
          <a:p>
            <a:pPr>
              <a:buFontTx/>
              <a:buNone/>
            </a:pPr>
            <a:r>
              <a:rPr lang="zh-CN" altLang="en-US"/>
              <a:t>（一）六西格玛质量含义</a:t>
            </a:r>
          </a:p>
          <a:p>
            <a:pPr>
              <a:buFontTx/>
              <a:buNone/>
            </a:pPr>
            <a:r>
              <a:rPr lang="zh-CN" altLang="en-US"/>
              <a:t>（二）六西格玛运用模式与工作程序</a:t>
            </a:r>
          </a:p>
        </p:txBody>
      </p:sp>
    </p:spTree>
  </p:cSld>
  <p:clrMapOvr>
    <a:masterClrMapping/>
  </p:clrMapOvr>
  <p:transition spd="slow">
    <p:strips dir="rd"/>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B7E7186-3157-0DC0-BB62-B492FD4C05D4}"/>
              </a:ext>
            </a:extLst>
          </p:cNvPr>
          <p:cNvSpPr>
            <a:spLocks noGrp="1"/>
          </p:cNvSpPr>
          <p:nvPr>
            <p:ph type="dt" sz="half" idx="10"/>
          </p:nvPr>
        </p:nvSpPr>
        <p:spPr/>
        <p:txBody>
          <a:bodyPr/>
          <a:lstStyle/>
          <a:p>
            <a:r>
              <a:rPr lang="zh-CN" altLang="en-US"/>
              <a:t>讲义制作：李丽，陈志祥审</a:t>
            </a:r>
            <a:endParaRPr lang="en-US" altLang="zh-CN"/>
          </a:p>
        </p:txBody>
      </p:sp>
      <p:sp>
        <p:nvSpPr>
          <p:cNvPr id="274434" name="Rectangle 2">
            <a:extLst>
              <a:ext uri="{FF2B5EF4-FFF2-40B4-BE49-F238E27FC236}">
                <a16:creationId xmlns:a16="http://schemas.microsoft.com/office/drawing/2014/main" id="{DDB9670D-64CB-8A3B-EA1E-A8D08154DE54}"/>
              </a:ext>
            </a:extLst>
          </p:cNvPr>
          <p:cNvSpPr>
            <a:spLocks noGrp="1" noChangeArrowheads="1"/>
          </p:cNvSpPr>
          <p:nvPr>
            <p:ph type="title"/>
          </p:nvPr>
        </p:nvSpPr>
        <p:spPr/>
        <p:txBody>
          <a:bodyPr/>
          <a:lstStyle/>
          <a:p>
            <a:r>
              <a:rPr lang="zh-CN" altLang="en-US"/>
              <a:t>六西格玛质量含义</a:t>
            </a:r>
          </a:p>
        </p:txBody>
      </p:sp>
      <p:sp>
        <p:nvSpPr>
          <p:cNvPr id="274435" name="Rectangle 3">
            <a:extLst>
              <a:ext uri="{FF2B5EF4-FFF2-40B4-BE49-F238E27FC236}">
                <a16:creationId xmlns:a16="http://schemas.microsoft.com/office/drawing/2014/main" id="{6CBC5BE6-551D-3236-20C7-E29E86B55354}"/>
              </a:ext>
            </a:extLst>
          </p:cNvPr>
          <p:cNvSpPr>
            <a:spLocks noGrp="1" noChangeArrowheads="1"/>
          </p:cNvSpPr>
          <p:nvPr>
            <p:ph type="body" idx="1"/>
          </p:nvPr>
        </p:nvSpPr>
        <p:spPr>
          <a:xfrm>
            <a:off x="457200" y="1557338"/>
            <a:ext cx="8229600" cy="4495800"/>
          </a:xfrm>
        </p:spPr>
        <p:txBody>
          <a:bodyPr/>
          <a:lstStyle/>
          <a:p>
            <a:pPr>
              <a:lnSpc>
                <a:spcPct val="90000"/>
              </a:lnSpc>
              <a:buFontTx/>
              <a:buNone/>
            </a:pPr>
            <a:r>
              <a:rPr lang="zh-CN" altLang="en-US" sz="2400"/>
              <a:t>（</a:t>
            </a:r>
            <a:r>
              <a:rPr lang="en-US" altLang="zh-CN" sz="2400"/>
              <a:t>1</a:t>
            </a:r>
            <a:r>
              <a:rPr lang="zh-CN" altLang="en-US" sz="2400"/>
              <a:t>）是一种观念。通过达到六个</a:t>
            </a:r>
            <a:r>
              <a:rPr lang="en-US" altLang="zh-CN" sz="2400"/>
              <a:t>σ </a:t>
            </a:r>
            <a:r>
              <a:rPr lang="zh-CN" altLang="en-US" sz="2400"/>
              <a:t>的性能水平，向客户提供世界级质量的产品和服务，使最大限度地使客户得到满意。</a:t>
            </a:r>
          </a:p>
          <a:p>
            <a:pPr>
              <a:lnSpc>
                <a:spcPct val="90000"/>
              </a:lnSpc>
              <a:buFontTx/>
              <a:buNone/>
            </a:pPr>
            <a:r>
              <a:rPr lang="zh-CN" altLang="en-US" sz="2400"/>
              <a:t>（</a:t>
            </a:r>
            <a:r>
              <a:rPr lang="en-US" altLang="zh-CN" sz="2400"/>
              <a:t>2</a:t>
            </a:r>
            <a:r>
              <a:rPr lang="zh-CN" altLang="en-US" sz="2400"/>
              <a:t>）是一种思想。通过组织化、系统化的途径，实现突破性的改进，从而达到所有业务零缺陷的最佳状态。</a:t>
            </a:r>
          </a:p>
          <a:p>
            <a:pPr>
              <a:lnSpc>
                <a:spcPct val="90000"/>
              </a:lnSpc>
              <a:buFontTx/>
              <a:buNone/>
            </a:pPr>
            <a:r>
              <a:rPr lang="zh-CN" altLang="en-US" sz="2400"/>
              <a:t>（</a:t>
            </a:r>
            <a:r>
              <a:rPr lang="en-US" altLang="zh-CN" sz="2400"/>
              <a:t>3</a:t>
            </a:r>
            <a:r>
              <a:rPr lang="zh-CN" altLang="en-US" sz="2400"/>
              <a:t>）是一种管理体系。一种被证明是行之有效的、具有强大解决问题及提高业务水平的系统方法，它由相关的分析工具、项目管理技术和管理方法所组成，能使你达到目标、使公司更加成功，并且按照</a:t>
            </a:r>
            <a:r>
              <a:rPr lang="en-US" altLang="zh-CN" sz="2400"/>
              <a:t>DMAIC </a:t>
            </a:r>
            <a:r>
              <a:rPr lang="zh-CN" altLang="en-US" sz="2400"/>
              <a:t>工作程序（这个程序下面解释）的途径，指定最佳人选，提供足够的支持，解决操作过程中的最大问题。</a:t>
            </a:r>
          </a:p>
        </p:txBody>
      </p:sp>
    </p:spTree>
  </p:cSld>
  <p:clrMapOvr>
    <a:masterClrMapping/>
  </p:clrMapOvr>
  <p:transition spd="slow">
    <p:strips dir="rd"/>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D9D6CE9-3166-F091-5D9A-F9F14ABC62A5}"/>
              </a:ext>
            </a:extLst>
          </p:cNvPr>
          <p:cNvSpPr>
            <a:spLocks noGrp="1"/>
          </p:cNvSpPr>
          <p:nvPr>
            <p:ph type="dt" sz="half" idx="10"/>
          </p:nvPr>
        </p:nvSpPr>
        <p:spPr/>
        <p:txBody>
          <a:bodyPr/>
          <a:lstStyle/>
          <a:p>
            <a:r>
              <a:rPr lang="zh-CN" altLang="en-US"/>
              <a:t>讲义制作：李丽，陈志祥审</a:t>
            </a:r>
            <a:endParaRPr lang="en-US" altLang="zh-CN"/>
          </a:p>
        </p:txBody>
      </p:sp>
      <p:sp>
        <p:nvSpPr>
          <p:cNvPr id="275458" name="Rectangle 2">
            <a:extLst>
              <a:ext uri="{FF2B5EF4-FFF2-40B4-BE49-F238E27FC236}">
                <a16:creationId xmlns:a16="http://schemas.microsoft.com/office/drawing/2014/main" id="{80113F7C-F623-043F-1B48-9415DED0CA03}"/>
              </a:ext>
            </a:extLst>
          </p:cNvPr>
          <p:cNvSpPr>
            <a:spLocks noGrp="1" noChangeArrowheads="1"/>
          </p:cNvSpPr>
          <p:nvPr>
            <p:ph type="title"/>
          </p:nvPr>
        </p:nvSpPr>
        <p:spPr/>
        <p:txBody>
          <a:bodyPr/>
          <a:lstStyle/>
          <a:p>
            <a:r>
              <a:rPr lang="zh-CN" altLang="en-US"/>
              <a:t>六西格玛质量含义（续）</a:t>
            </a:r>
          </a:p>
        </p:txBody>
      </p:sp>
      <p:sp>
        <p:nvSpPr>
          <p:cNvPr id="275459" name="Rectangle 3">
            <a:extLst>
              <a:ext uri="{FF2B5EF4-FFF2-40B4-BE49-F238E27FC236}">
                <a16:creationId xmlns:a16="http://schemas.microsoft.com/office/drawing/2014/main" id="{797D31CD-9A5E-EA9C-0A0D-99BC87AB68D7}"/>
              </a:ext>
            </a:extLst>
          </p:cNvPr>
          <p:cNvSpPr>
            <a:spLocks noGrp="1" noChangeArrowheads="1"/>
          </p:cNvSpPr>
          <p:nvPr>
            <p:ph type="body" idx="1"/>
          </p:nvPr>
        </p:nvSpPr>
        <p:spPr/>
        <p:txBody>
          <a:bodyPr/>
          <a:lstStyle/>
          <a:p>
            <a:pPr>
              <a:lnSpc>
                <a:spcPct val="90000"/>
              </a:lnSpc>
              <a:buFontTx/>
              <a:buNone/>
            </a:pPr>
            <a:r>
              <a:rPr lang="zh-CN" altLang="en-US" sz="2400"/>
              <a:t>（</a:t>
            </a:r>
            <a:r>
              <a:rPr lang="en-US" altLang="zh-CN" sz="2400"/>
              <a:t>4</a:t>
            </a:r>
            <a:r>
              <a:rPr lang="zh-CN" altLang="en-US" sz="2400"/>
              <a:t>）是具有挑战性的目标。产品及服务质量达到</a:t>
            </a:r>
            <a:r>
              <a:rPr lang="en-US" altLang="zh-CN" sz="2400"/>
              <a:t>6 </a:t>
            </a:r>
            <a:r>
              <a:rPr lang="zh-CN" altLang="en-US" sz="2400"/>
              <a:t>个</a:t>
            </a:r>
            <a:r>
              <a:rPr lang="en-US" altLang="zh-CN" sz="2400"/>
              <a:t>σ </a:t>
            </a:r>
            <a:r>
              <a:rPr lang="zh-CN" altLang="en-US" sz="2400"/>
              <a:t>的水平，也即百万次的机会缺陷数为</a:t>
            </a:r>
            <a:r>
              <a:rPr lang="en-US" altLang="zh-CN" sz="2400"/>
              <a:t>3.4</a:t>
            </a:r>
            <a:r>
              <a:rPr lang="zh-CN" altLang="en-US" sz="2400"/>
              <a:t>，这是一个具有很强挑战性的目标，目前工业生产一般只能达到</a:t>
            </a:r>
            <a:r>
              <a:rPr lang="en-US" altLang="zh-CN" sz="2400"/>
              <a:t>3</a:t>
            </a:r>
            <a:r>
              <a:rPr lang="zh-CN" altLang="en-US" sz="2400"/>
              <a:t>到</a:t>
            </a:r>
            <a:r>
              <a:rPr lang="en-US" altLang="zh-CN" sz="2400"/>
              <a:t>3.5 </a:t>
            </a:r>
            <a:r>
              <a:rPr lang="zh-CN" altLang="en-US" sz="2400"/>
              <a:t>个</a:t>
            </a:r>
            <a:r>
              <a:rPr lang="en-US" altLang="zh-CN" sz="2400"/>
              <a:t>σ </a:t>
            </a:r>
            <a:r>
              <a:rPr lang="zh-CN" altLang="en-US" sz="2400"/>
              <a:t>的水平，这个目标同时也给所有的员工一种共同的价值观，一个可以接受的缺陷水平。</a:t>
            </a:r>
          </a:p>
          <a:p>
            <a:pPr>
              <a:lnSpc>
                <a:spcPct val="90000"/>
              </a:lnSpc>
              <a:buFontTx/>
              <a:buNone/>
            </a:pPr>
            <a:r>
              <a:rPr lang="zh-CN" altLang="en-US" sz="2400"/>
              <a:t>（</a:t>
            </a:r>
            <a:r>
              <a:rPr lang="en-US" altLang="zh-CN" sz="2400"/>
              <a:t>5</a:t>
            </a:r>
            <a:r>
              <a:rPr lang="zh-CN" altLang="en-US" sz="2400"/>
              <a:t>）是一种工具。六西格玛</a:t>
            </a:r>
            <a:r>
              <a:rPr lang="en-US" altLang="zh-CN" sz="2400"/>
              <a:t>DMAIC </a:t>
            </a:r>
            <a:r>
              <a:rPr lang="zh-CN" altLang="en-US" sz="2400"/>
              <a:t>各个阶段都推荐了大量的处理工具，从而保证具有强大的解决问题的能力，同时通过六西格玛的培训，员工将会掌握更多的解决问题的方法。</a:t>
            </a:r>
          </a:p>
          <a:p>
            <a:pPr>
              <a:lnSpc>
                <a:spcPct val="90000"/>
              </a:lnSpc>
              <a:buFontTx/>
              <a:buNone/>
            </a:pPr>
            <a:r>
              <a:rPr lang="zh-CN" altLang="en-US" sz="2400"/>
              <a:t>（</a:t>
            </a:r>
            <a:r>
              <a:rPr lang="en-US" altLang="zh-CN" sz="2400"/>
              <a:t>6</a:t>
            </a:r>
            <a:r>
              <a:rPr lang="zh-CN" altLang="en-US" sz="2400"/>
              <a:t>）是数据驱动的管理过程。可改变以往解决问题仅凭经验，或者仅将数据当成数字的方式，依靠可信的数据收集方式，采用统计方法进行决策。 </a:t>
            </a:r>
          </a:p>
          <a:p>
            <a:pPr>
              <a:lnSpc>
                <a:spcPct val="90000"/>
              </a:lnSpc>
              <a:buFontTx/>
              <a:buNone/>
            </a:pPr>
            <a:endParaRPr lang="en-US" altLang="zh-CN" sz="2400"/>
          </a:p>
        </p:txBody>
      </p:sp>
    </p:spTree>
  </p:cSld>
  <p:clrMapOvr>
    <a:masterClrMapping/>
  </p:clrMapOvr>
  <p:transition spd="slow">
    <p:strips dir="rd"/>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315E3BCF-FE91-B750-C24B-50639FB1C505}"/>
              </a:ext>
            </a:extLst>
          </p:cNvPr>
          <p:cNvSpPr>
            <a:spLocks noGrp="1"/>
          </p:cNvSpPr>
          <p:nvPr>
            <p:ph type="dt" sz="half" idx="10"/>
          </p:nvPr>
        </p:nvSpPr>
        <p:spPr/>
        <p:txBody>
          <a:bodyPr/>
          <a:lstStyle/>
          <a:p>
            <a:r>
              <a:rPr lang="zh-CN" altLang="en-US"/>
              <a:t>讲义制作：李丽，陈志祥审</a:t>
            </a:r>
            <a:endParaRPr lang="en-US" altLang="zh-CN"/>
          </a:p>
        </p:txBody>
      </p:sp>
      <p:sp>
        <p:nvSpPr>
          <p:cNvPr id="276482" name="Rectangle 2">
            <a:extLst>
              <a:ext uri="{FF2B5EF4-FFF2-40B4-BE49-F238E27FC236}">
                <a16:creationId xmlns:a16="http://schemas.microsoft.com/office/drawing/2014/main" id="{63E63C7E-2ECC-DD33-D3F5-746247183CB2}"/>
              </a:ext>
            </a:extLst>
          </p:cNvPr>
          <p:cNvSpPr>
            <a:spLocks noGrp="1" noChangeArrowheads="1"/>
          </p:cNvSpPr>
          <p:nvPr>
            <p:ph type="title"/>
          </p:nvPr>
        </p:nvSpPr>
        <p:spPr/>
        <p:txBody>
          <a:bodyPr/>
          <a:lstStyle/>
          <a:p>
            <a:r>
              <a:rPr lang="zh-CN" altLang="en-US" sz="3600" b="1"/>
              <a:t>六</a:t>
            </a:r>
            <a:r>
              <a:rPr lang="zh-CN" altLang="en-US" sz="4000"/>
              <a:t>西</a:t>
            </a:r>
            <a:r>
              <a:rPr lang="zh-CN" altLang="en-US" sz="3600" b="1"/>
              <a:t>格玛质量改善工作方法</a:t>
            </a:r>
            <a:r>
              <a:rPr lang="en-US" altLang="zh-CN" sz="3600" b="1"/>
              <a:t>--DMAIC</a:t>
            </a:r>
          </a:p>
        </p:txBody>
      </p:sp>
      <p:sp>
        <p:nvSpPr>
          <p:cNvPr id="276483" name="Rectangle 3">
            <a:extLst>
              <a:ext uri="{FF2B5EF4-FFF2-40B4-BE49-F238E27FC236}">
                <a16:creationId xmlns:a16="http://schemas.microsoft.com/office/drawing/2014/main" id="{B44991EB-E3D1-5926-47C9-B6BF6E0D0D65}"/>
              </a:ext>
            </a:extLst>
          </p:cNvPr>
          <p:cNvSpPr>
            <a:spLocks noGrp="1" noChangeArrowheads="1"/>
          </p:cNvSpPr>
          <p:nvPr>
            <p:ph type="body" idx="1"/>
          </p:nvPr>
        </p:nvSpPr>
        <p:spPr/>
        <p:txBody>
          <a:bodyPr/>
          <a:lstStyle/>
          <a:p>
            <a:pPr>
              <a:lnSpc>
                <a:spcPct val="80000"/>
              </a:lnSpc>
              <a:buFontTx/>
              <a:buNone/>
            </a:pPr>
            <a:r>
              <a:rPr lang="zh-CN" altLang="en-US" sz="2000" b="1"/>
              <a:t>（</a:t>
            </a:r>
            <a:r>
              <a:rPr lang="en-US" altLang="zh-CN" sz="2000" b="1"/>
              <a:t>1</a:t>
            </a:r>
            <a:r>
              <a:rPr lang="zh-CN" altLang="en-US" sz="2000" b="1"/>
              <a:t>）定义阶段（</a:t>
            </a:r>
            <a:r>
              <a:rPr lang="en-US" altLang="zh-CN" sz="2000" b="1"/>
              <a:t>D</a:t>
            </a:r>
            <a:r>
              <a:rPr lang="zh-CN" altLang="en-US" sz="2000" b="1"/>
              <a:t>）</a:t>
            </a:r>
            <a:endParaRPr lang="zh-CN" altLang="en-US" sz="2000"/>
          </a:p>
          <a:p>
            <a:pPr>
              <a:lnSpc>
                <a:spcPct val="80000"/>
              </a:lnSpc>
              <a:buFontTx/>
              <a:buNone/>
            </a:pPr>
            <a:r>
              <a:rPr lang="zh-CN" altLang="en-US" sz="2000"/>
              <a:t>这个阶段是项目的启动阶段，首先要倾听顾客需求， 识别并确定顾客的关键质量需求（这里“顾客”包括内部与外部的“顾客”），然后建立改善目标与团队。</a:t>
            </a:r>
          </a:p>
          <a:p>
            <a:pPr>
              <a:lnSpc>
                <a:spcPct val="80000"/>
              </a:lnSpc>
              <a:buFontTx/>
              <a:buNone/>
            </a:pPr>
            <a:r>
              <a:rPr lang="zh-CN" altLang="en-US" sz="2000"/>
              <a:t>本阶段的主要工作内容有：识别重大的问题，然后建立项目团队，最后给予团队职责和资源以解决问题。定义阶段要到对流程进行定义（用</a:t>
            </a:r>
            <a:r>
              <a:rPr lang="en-US" altLang="zh-CN" sz="2000"/>
              <a:t>SIPOC</a:t>
            </a:r>
            <a:r>
              <a:rPr lang="zh-CN" altLang="en-US" sz="2000"/>
              <a:t>工具），确定关键质量指标等。</a:t>
            </a:r>
          </a:p>
          <a:p>
            <a:pPr>
              <a:lnSpc>
                <a:spcPct val="80000"/>
              </a:lnSpc>
              <a:buFontTx/>
              <a:buNone/>
            </a:pPr>
            <a:r>
              <a:rPr lang="zh-CN" altLang="en-US" sz="2000"/>
              <a:t>本阶段的关键点是定义顾客的质量要求，选择合适的改善项目。在选择项目时，不宜好高务远，不一定非得重点的问题不可，只要有改进的必要与可行性，另外目标不应定得太高。</a:t>
            </a:r>
            <a:endParaRPr lang="zh-CN" altLang="en-US" sz="2000" b="1"/>
          </a:p>
          <a:p>
            <a:pPr>
              <a:lnSpc>
                <a:spcPct val="80000"/>
              </a:lnSpc>
              <a:buFontTx/>
              <a:buNone/>
            </a:pPr>
            <a:r>
              <a:rPr lang="zh-CN" altLang="en-US" sz="2000" b="1"/>
              <a:t>（</a:t>
            </a:r>
            <a:r>
              <a:rPr lang="en-US" altLang="zh-CN" sz="2000" b="1"/>
              <a:t>2</a:t>
            </a:r>
            <a:r>
              <a:rPr lang="zh-CN" altLang="en-US" sz="2000" b="1"/>
              <a:t>）测量阶段（</a:t>
            </a:r>
            <a:r>
              <a:rPr lang="en-US" altLang="zh-CN" sz="2000" b="1"/>
              <a:t>M</a:t>
            </a:r>
            <a:r>
              <a:rPr lang="zh-CN" altLang="en-US" sz="2000" b="1"/>
              <a:t>）</a:t>
            </a:r>
            <a:endParaRPr lang="zh-CN" altLang="en-US" sz="2000"/>
          </a:p>
          <a:p>
            <a:pPr>
              <a:lnSpc>
                <a:spcPct val="80000"/>
              </a:lnSpc>
              <a:buFontTx/>
              <a:buNone/>
            </a:pPr>
            <a:r>
              <a:rPr lang="zh-CN" altLang="en-US" sz="2000"/>
              <a:t>确定改进项目以后，就要进行数据采集与处理，确定工序或者过程的能力与质量水平。也就是收集并分析数据，精确描述出正在发生的情况。测量阶段的核心是对目前流程的能力与质量水平进行评估。</a:t>
            </a:r>
          </a:p>
          <a:p>
            <a:pPr>
              <a:lnSpc>
                <a:spcPct val="80000"/>
              </a:lnSpc>
              <a:buFontTx/>
              <a:buNone/>
            </a:pPr>
            <a:r>
              <a:rPr lang="zh-CN" altLang="en-US" sz="2000"/>
              <a:t>本阶段的关键点是测量变量的确定。</a:t>
            </a:r>
            <a:endParaRPr lang="zh-CN" altLang="en-US" sz="2000" b="1"/>
          </a:p>
        </p:txBody>
      </p:sp>
    </p:spTree>
  </p:cSld>
  <p:clrMapOvr>
    <a:masterClrMapping/>
  </p:clrMapOvr>
  <p:transition spd="slow">
    <p:strips dir="rd"/>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28C8EF2C-4E85-7FC5-08AD-99AA534CC085}"/>
              </a:ext>
            </a:extLst>
          </p:cNvPr>
          <p:cNvSpPr>
            <a:spLocks noGrp="1"/>
          </p:cNvSpPr>
          <p:nvPr>
            <p:ph type="dt" sz="half" idx="10"/>
          </p:nvPr>
        </p:nvSpPr>
        <p:spPr/>
        <p:txBody>
          <a:bodyPr/>
          <a:lstStyle/>
          <a:p>
            <a:r>
              <a:rPr lang="zh-CN" altLang="en-US"/>
              <a:t>讲义制作：李丽，陈志祥审</a:t>
            </a:r>
            <a:endParaRPr lang="en-US" altLang="zh-CN"/>
          </a:p>
        </p:txBody>
      </p:sp>
      <p:sp>
        <p:nvSpPr>
          <p:cNvPr id="277506" name="Rectangle 2">
            <a:extLst>
              <a:ext uri="{FF2B5EF4-FFF2-40B4-BE49-F238E27FC236}">
                <a16:creationId xmlns:a16="http://schemas.microsoft.com/office/drawing/2014/main" id="{6F2EB7F8-E8D3-78D1-AE45-995F873ED742}"/>
              </a:ext>
            </a:extLst>
          </p:cNvPr>
          <p:cNvSpPr>
            <a:spLocks noGrp="1" noChangeArrowheads="1"/>
          </p:cNvSpPr>
          <p:nvPr>
            <p:ph type="title"/>
          </p:nvPr>
        </p:nvSpPr>
        <p:spPr/>
        <p:txBody>
          <a:bodyPr/>
          <a:lstStyle/>
          <a:p>
            <a:r>
              <a:rPr lang="zh-CN" altLang="en-US" sz="3600" b="1"/>
              <a:t>六西格玛质量改善工作方法</a:t>
            </a:r>
            <a:r>
              <a:rPr lang="en-US" altLang="zh-CN" sz="3600" b="1"/>
              <a:t>--DMAIC</a:t>
            </a:r>
          </a:p>
        </p:txBody>
      </p:sp>
      <p:sp>
        <p:nvSpPr>
          <p:cNvPr id="277507" name="Rectangle 3">
            <a:extLst>
              <a:ext uri="{FF2B5EF4-FFF2-40B4-BE49-F238E27FC236}">
                <a16:creationId xmlns:a16="http://schemas.microsoft.com/office/drawing/2014/main" id="{D1CA464A-050A-812F-99E4-F1BD74352A04}"/>
              </a:ext>
            </a:extLst>
          </p:cNvPr>
          <p:cNvSpPr>
            <a:spLocks noGrp="1" noChangeArrowheads="1"/>
          </p:cNvSpPr>
          <p:nvPr>
            <p:ph type="body" idx="1"/>
          </p:nvPr>
        </p:nvSpPr>
        <p:spPr/>
        <p:txBody>
          <a:bodyPr/>
          <a:lstStyle/>
          <a:p>
            <a:pPr>
              <a:lnSpc>
                <a:spcPct val="80000"/>
              </a:lnSpc>
              <a:buFontTx/>
              <a:buNone/>
            </a:pPr>
            <a:r>
              <a:rPr lang="zh-CN" altLang="en-US" sz="2000" b="1"/>
              <a:t>（</a:t>
            </a:r>
            <a:r>
              <a:rPr lang="en-US" altLang="zh-CN" sz="2000" b="1"/>
              <a:t>3</a:t>
            </a:r>
            <a:r>
              <a:rPr lang="zh-CN" altLang="en-US" sz="2000" b="1"/>
              <a:t>）分析阶段（</a:t>
            </a:r>
            <a:r>
              <a:rPr lang="en-US" altLang="zh-CN" sz="2000" b="1"/>
              <a:t>A</a:t>
            </a:r>
            <a:r>
              <a:rPr lang="zh-CN" altLang="en-US" sz="2000" b="1"/>
              <a:t>）</a:t>
            </a:r>
            <a:endParaRPr lang="zh-CN" altLang="en-US" sz="2000"/>
          </a:p>
          <a:p>
            <a:pPr>
              <a:lnSpc>
                <a:spcPct val="80000"/>
              </a:lnSpc>
              <a:buFontTx/>
              <a:buNone/>
            </a:pPr>
            <a:r>
              <a:rPr lang="zh-CN" altLang="en-US" sz="2000"/>
              <a:t>分析阶段是六西格玛一个重要阶段，该阶段要对引入的问题原因提出设想，然后通过检验来确定根本原因。分析要用到不同的分析工具与方法，如失效模式与影响分析（</a:t>
            </a:r>
            <a:r>
              <a:rPr lang="en-US" altLang="zh-CN" sz="2000"/>
              <a:t>FMEA</a:t>
            </a:r>
            <a:r>
              <a:rPr lang="zh-CN" altLang="en-US" sz="2000"/>
              <a:t>）回归分析与相关分析等。</a:t>
            </a:r>
          </a:p>
          <a:p>
            <a:pPr>
              <a:lnSpc>
                <a:spcPct val="80000"/>
              </a:lnSpc>
              <a:buFontTx/>
              <a:buNone/>
            </a:pPr>
            <a:r>
              <a:rPr lang="zh-CN" altLang="en-US" sz="2000"/>
              <a:t>本阶段的关键点是如何识别关键原因。在分析原因时要区别可控因素与非可控因素，改进的目的是减少非可控因素。</a:t>
            </a:r>
          </a:p>
          <a:p>
            <a:pPr>
              <a:lnSpc>
                <a:spcPct val="80000"/>
              </a:lnSpc>
              <a:buFontTx/>
              <a:buNone/>
            </a:pPr>
            <a:r>
              <a:rPr lang="zh-CN" altLang="en-US" sz="2000"/>
              <a:t>（</a:t>
            </a:r>
            <a:r>
              <a:rPr lang="en-US" altLang="zh-CN" sz="2000"/>
              <a:t>4</a:t>
            </a:r>
            <a:r>
              <a:rPr lang="zh-CN" altLang="en-US" sz="2000"/>
              <a:t>）</a:t>
            </a:r>
            <a:r>
              <a:rPr lang="zh-CN" altLang="en-US" sz="2000" b="1"/>
              <a:t>改善阶段（</a:t>
            </a:r>
            <a:r>
              <a:rPr lang="en-US" altLang="zh-CN" sz="2000" b="1"/>
              <a:t>I</a:t>
            </a:r>
            <a:r>
              <a:rPr lang="zh-CN" altLang="en-US" sz="2000" b="1"/>
              <a:t>）</a:t>
            </a:r>
            <a:endParaRPr lang="zh-CN" altLang="en-US" sz="2000"/>
          </a:p>
          <a:p>
            <a:pPr>
              <a:lnSpc>
                <a:spcPct val="80000"/>
              </a:lnSpc>
              <a:buFontTx/>
              <a:buNone/>
            </a:pPr>
            <a:r>
              <a:rPr lang="zh-CN" altLang="en-US" sz="2000"/>
              <a:t>改善阶段通过对引起问题的过程进行重新设计和实施来解决根本原因，包括评估方案，设计改进，证明有效性与贯彻执行。</a:t>
            </a:r>
          </a:p>
          <a:p>
            <a:pPr>
              <a:lnSpc>
                <a:spcPct val="80000"/>
              </a:lnSpc>
              <a:buFontTx/>
              <a:buNone/>
            </a:pPr>
            <a:r>
              <a:rPr lang="zh-CN" altLang="en-US" sz="2000"/>
              <a:t>本阶段的关键点是群策群力，组织改变规则的意愿和创造性思维。</a:t>
            </a:r>
            <a:endParaRPr lang="zh-CN" altLang="en-US" sz="2000" b="1"/>
          </a:p>
          <a:p>
            <a:pPr>
              <a:lnSpc>
                <a:spcPct val="80000"/>
              </a:lnSpc>
              <a:buFontTx/>
              <a:buNone/>
            </a:pPr>
            <a:r>
              <a:rPr lang="zh-CN" altLang="en-US" sz="2000" b="1"/>
              <a:t>（</a:t>
            </a:r>
            <a:r>
              <a:rPr lang="en-US" altLang="zh-CN" sz="2000" b="1"/>
              <a:t>5</a:t>
            </a:r>
            <a:r>
              <a:rPr lang="zh-CN" altLang="en-US" sz="2000" b="1"/>
              <a:t>）控制阶段（</a:t>
            </a:r>
            <a:r>
              <a:rPr lang="en-US" altLang="zh-CN" sz="2000" b="1"/>
              <a:t>C</a:t>
            </a:r>
            <a:r>
              <a:rPr lang="zh-CN" altLang="en-US" sz="2000" b="1"/>
              <a:t>）</a:t>
            </a:r>
            <a:endParaRPr lang="zh-CN" altLang="en-US" sz="2000"/>
          </a:p>
          <a:p>
            <a:pPr>
              <a:lnSpc>
                <a:spcPct val="80000"/>
              </a:lnSpc>
              <a:buFontTx/>
              <a:buNone/>
            </a:pPr>
            <a:r>
              <a:rPr lang="zh-CN" altLang="en-US" sz="2000"/>
              <a:t>控制阶段要制定并实施新的控制措施以防止原有问题复发并保持改善所取得的成果。主要内容包括制定新的质量控制指标，明确管理责任，建立新的制度，实施有效控制等。</a:t>
            </a:r>
          </a:p>
          <a:p>
            <a:pPr>
              <a:lnSpc>
                <a:spcPct val="80000"/>
              </a:lnSpc>
              <a:buFontTx/>
              <a:buNone/>
            </a:pPr>
            <a:r>
              <a:rPr lang="zh-CN" altLang="en-US" sz="2000"/>
              <a:t>本阶段的关键点是确定改进后的过程文件化，制定控制方法，使用适当的控制工具，确保流程不回到原来的状态。</a:t>
            </a:r>
          </a:p>
          <a:p>
            <a:pPr>
              <a:lnSpc>
                <a:spcPct val="80000"/>
              </a:lnSpc>
              <a:buFontTx/>
              <a:buNone/>
            </a:pPr>
            <a:endParaRPr lang="en-US" altLang="zh-CN" sz="2000"/>
          </a:p>
        </p:txBody>
      </p:sp>
    </p:spTree>
  </p:cSld>
  <p:clrMapOvr>
    <a:masterClrMapping/>
  </p:clrMapOvr>
  <p:transition spd="slow">
    <p:strips dir="rd"/>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EB7AF7CD-71BD-FF47-1005-5FC44C2F3B47}"/>
              </a:ext>
            </a:extLst>
          </p:cNvPr>
          <p:cNvSpPr>
            <a:spLocks noGrp="1"/>
          </p:cNvSpPr>
          <p:nvPr>
            <p:ph type="dt" sz="half" idx="10"/>
          </p:nvPr>
        </p:nvSpPr>
        <p:spPr/>
        <p:txBody>
          <a:bodyPr/>
          <a:lstStyle/>
          <a:p>
            <a:r>
              <a:rPr lang="zh-CN" altLang="en-US"/>
              <a:t>讲义制作：李丽，陈志祥审</a:t>
            </a:r>
            <a:endParaRPr lang="en-US" altLang="zh-CN"/>
          </a:p>
        </p:txBody>
      </p:sp>
      <p:sp>
        <p:nvSpPr>
          <p:cNvPr id="272386" name="Rectangle 2">
            <a:extLst>
              <a:ext uri="{FF2B5EF4-FFF2-40B4-BE49-F238E27FC236}">
                <a16:creationId xmlns:a16="http://schemas.microsoft.com/office/drawing/2014/main" id="{2017F56E-0D60-2C2E-4AF1-58AC0D531A96}"/>
              </a:ext>
            </a:extLst>
          </p:cNvPr>
          <p:cNvSpPr>
            <a:spLocks noGrp="1" noChangeArrowheads="1"/>
          </p:cNvSpPr>
          <p:nvPr>
            <p:ph type="title"/>
          </p:nvPr>
        </p:nvSpPr>
        <p:spPr/>
        <p:txBody>
          <a:bodyPr/>
          <a:lstStyle/>
          <a:p>
            <a:r>
              <a:rPr lang="zh-CN" altLang="en-US"/>
              <a:t>本章小结</a:t>
            </a:r>
          </a:p>
        </p:txBody>
      </p:sp>
      <p:sp>
        <p:nvSpPr>
          <p:cNvPr id="272387" name="Rectangle 3">
            <a:extLst>
              <a:ext uri="{FF2B5EF4-FFF2-40B4-BE49-F238E27FC236}">
                <a16:creationId xmlns:a16="http://schemas.microsoft.com/office/drawing/2014/main" id="{B90F01DB-61A1-5E21-E0E2-313539B5A76B}"/>
              </a:ext>
            </a:extLst>
          </p:cNvPr>
          <p:cNvSpPr>
            <a:spLocks noGrp="1" noChangeArrowheads="1"/>
          </p:cNvSpPr>
          <p:nvPr>
            <p:ph type="body" idx="1"/>
          </p:nvPr>
        </p:nvSpPr>
        <p:spPr/>
        <p:txBody>
          <a:bodyPr/>
          <a:lstStyle/>
          <a:p>
            <a:pPr>
              <a:buFontTx/>
              <a:buNone/>
            </a:pPr>
            <a:r>
              <a:rPr lang="en-US" altLang="zh-CN" sz="2800"/>
              <a:t>   </a:t>
            </a:r>
            <a:r>
              <a:rPr lang="zh-CN" altLang="en-US" sz="2800"/>
              <a:t>本章介绍了有关质量管理的基本概念、理论与方法。第一节介绍了有关质量与质量管理的概念，全面质量管理的基本思想与实施方法。第二节介绍了常用的统计质量控制的工具，包括排列图、层别表、因果图、直方图、控制图等，重点是控制图的使用方法。第三节介绍了工序能力指数的概念与计算方法，指出过程能力指数与质量水平的关系。第四节介绍了新的质量改进方法</a:t>
            </a:r>
            <a:r>
              <a:rPr lang="en-US" altLang="zh-CN" sz="2800"/>
              <a:t>—</a:t>
            </a:r>
            <a:r>
              <a:rPr lang="zh-CN" altLang="en-US" sz="2800"/>
              <a:t>六西格玛的基本原理与实施方法。</a:t>
            </a:r>
          </a:p>
        </p:txBody>
      </p:sp>
    </p:spTree>
  </p:cSld>
  <p:clrMapOvr>
    <a:masterClrMapping/>
  </p:clrMapOvr>
  <p:transition spd="slow">
    <p:strips dir="rd"/>
  </p:transition>
</p:sld>
</file>

<file path=ppt/theme/theme1.xml><?xml version="1.0" encoding="utf-8"?>
<a:theme xmlns:a="http://schemas.openxmlformats.org/drawingml/2006/main" name="Mountain Top">
  <a:themeElements>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fontScheme name="Mountain Top">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Mountain Top 1">
        <a:dk1>
          <a:srgbClr val="4C3A1C"/>
        </a:dk1>
        <a:lt1>
          <a:srgbClr val="FFFFFF"/>
        </a:lt1>
        <a:dk2>
          <a:srgbClr val="993300"/>
        </a:dk2>
        <a:lt2>
          <a:srgbClr val="CCAA00"/>
        </a:lt2>
        <a:accent1>
          <a:srgbClr val="FF3300"/>
        </a:accent1>
        <a:accent2>
          <a:srgbClr val="9E6600"/>
        </a:accent2>
        <a:accent3>
          <a:srgbClr val="CAADAA"/>
        </a:accent3>
        <a:accent4>
          <a:srgbClr val="DADADA"/>
        </a:accent4>
        <a:accent5>
          <a:srgbClr val="FFADAA"/>
        </a:accent5>
        <a:accent6>
          <a:srgbClr val="8F5C00"/>
        </a:accent6>
        <a:hlink>
          <a:srgbClr val="FFCC00"/>
        </a:hlink>
        <a:folHlink>
          <a:srgbClr val="F7DC97"/>
        </a:folHlink>
      </a:clrScheme>
      <a:clrMap bg1="dk2" tx1="lt1" bg2="dk1" tx2="lt2" accent1="accent1" accent2="accent2" accent3="accent3" accent4="accent4" accent5="accent5" accent6="accent6" hlink="hlink" folHlink="folHlink"/>
    </a:extraClrScheme>
    <a:extraClrScheme>
      <a:clrScheme name="Mountain Top 2">
        <a:dk1>
          <a:srgbClr val="3D0058"/>
        </a:dk1>
        <a:lt1>
          <a:srgbClr val="FFFFFF"/>
        </a:lt1>
        <a:dk2>
          <a:srgbClr val="9188B0"/>
        </a:dk2>
        <a:lt2>
          <a:srgbClr val="DDE0DC"/>
        </a:lt2>
        <a:accent1>
          <a:srgbClr val="FFCC00"/>
        </a:accent1>
        <a:accent2>
          <a:srgbClr val="4C3D78"/>
        </a:accent2>
        <a:accent3>
          <a:srgbClr val="C7C3D4"/>
        </a:accent3>
        <a:accent4>
          <a:srgbClr val="DADADA"/>
        </a:accent4>
        <a:accent5>
          <a:srgbClr val="FFE2AA"/>
        </a:accent5>
        <a:accent6>
          <a:srgbClr val="44366C"/>
        </a:accent6>
        <a:hlink>
          <a:srgbClr val="743D78"/>
        </a:hlink>
        <a:folHlink>
          <a:srgbClr val="CC9900"/>
        </a:folHlink>
      </a:clrScheme>
      <a:clrMap bg1="dk2" tx1="lt1" bg2="dk1" tx2="lt2" accent1="accent1" accent2="accent2" accent3="accent3" accent4="accent4" accent5="accent5" accent6="accent6" hlink="hlink" folHlink="folHlink"/>
    </a:extraClrScheme>
    <a:extraClrScheme>
      <a:clrScheme name="Mountain Top 3">
        <a:dk1>
          <a:srgbClr val="10104C"/>
        </a:dk1>
        <a:lt1>
          <a:srgbClr val="FFFFFF"/>
        </a:lt1>
        <a:dk2>
          <a:srgbClr val="003366"/>
        </a:dk2>
        <a:lt2>
          <a:srgbClr val="C6CCD4"/>
        </a:lt2>
        <a:accent1>
          <a:srgbClr val="33CCFF"/>
        </a:accent1>
        <a:accent2>
          <a:srgbClr val="5B5B8D"/>
        </a:accent2>
        <a:accent3>
          <a:srgbClr val="AAADB8"/>
        </a:accent3>
        <a:accent4>
          <a:srgbClr val="DADADA"/>
        </a:accent4>
        <a:accent5>
          <a:srgbClr val="ADE2FF"/>
        </a:accent5>
        <a:accent6>
          <a:srgbClr val="52527F"/>
        </a:accent6>
        <a:hlink>
          <a:srgbClr val="4529AB"/>
        </a:hlink>
        <a:folHlink>
          <a:srgbClr val="00CC99"/>
        </a:folHlink>
      </a:clrScheme>
      <a:clrMap bg1="dk2" tx1="lt1" bg2="dk1" tx2="lt2" accent1="accent1" accent2="accent2" accent3="accent3" accent4="accent4" accent5="accent5" accent6="accent6" hlink="hlink" folHlink="folHlink"/>
    </a:extraClrScheme>
    <a:extraClrScheme>
      <a:clrScheme name="Mountain Top 4">
        <a:dk1>
          <a:srgbClr val="B0C8CA"/>
        </a:dk1>
        <a:lt1>
          <a:srgbClr val="FFFFFF"/>
        </a:lt1>
        <a:dk2>
          <a:srgbClr val="000099"/>
        </a:dk2>
        <a:lt2>
          <a:srgbClr val="FFFFFF"/>
        </a:lt2>
        <a:accent1>
          <a:srgbClr val="89C4FF"/>
        </a:accent1>
        <a:accent2>
          <a:srgbClr val="00008C"/>
        </a:accent2>
        <a:accent3>
          <a:srgbClr val="AAAACA"/>
        </a:accent3>
        <a:accent4>
          <a:srgbClr val="DADADA"/>
        </a:accent4>
        <a:accent5>
          <a:srgbClr val="C4DEFF"/>
        </a:accent5>
        <a:accent6>
          <a:srgbClr val="00007E"/>
        </a:accent6>
        <a:hlink>
          <a:srgbClr val="6666FF"/>
        </a:hlink>
        <a:folHlink>
          <a:srgbClr val="C0C0C0"/>
        </a:folHlink>
      </a:clrScheme>
      <a:clrMap bg1="dk2" tx1="lt1" bg2="dk1" tx2="lt2" accent1="accent1" accent2="accent2" accent3="accent3" accent4="accent4" accent5="accent5" accent6="accent6" hlink="hlink" folHlink="folHlink"/>
    </a:extraClrScheme>
    <a:extraClrScheme>
      <a:clrScheme name="Mountain Top 5">
        <a:dk1>
          <a:srgbClr val="463416"/>
        </a:dk1>
        <a:lt1>
          <a:srgbClr val="FFFFFF"/>
        </a:lt1>
        <a:dk2>
          <a:srgbClr val="003399"/>
        </a:dk2>
        <a:lt2>
          <a:srgbClr val="E3E3FF"/>
        </a:lt2>
        <a:accent1>
          <a:srgbClr val="3399FF"/>
        </a:accent1>
        <a:accent2>
          <a:srgbClr val="33CCCC"/>
        </a:accent2>
        <a:accent3>
          <a:srgbClr val="AAADCA"/>
        </a:accent3>
        <a:accent4>
          <a:srgbClr val="DADADA"/>
        </a:accent4>
        <a:accent5>
          <a:srgbClr val="ADCAFF"/>
        </a:accent5>
        <a:accent6>
          <a:srgbClr val="2DB9B9"/>
        </a:accent6>
        <a:hlink>
          <a:srgbClr val="00FFCC"/>
        </a:hlink>
        <a:folHlink>
          <a:srgbClr val="808000"/>
        </a:folHlink>
      </a:clrScheme>
      <a:clrMap bg1="dk2" tx1="lt1" bg2="dk1" tx2="lt2" accent1="accent1" accent2="accent2" accent3="accent3" accent4="accent4" accent5="accent5" accent6="accent6" hlink="hlink" folHlink="folHlink"/>
    </a:extraClrScheme>
    <a:extraClrScheme>
      <a:clrScheme name="Mountain Top 6">
        <a:dk1>
          <a:srgbClr val="809296"/>
        </a:dk1>
        <a:lt1>
          <a:srgbClr val="FFFFFF"/>
        </a:lt1>
        <a:dk2>
          <a:srgbClr val="6699FF"/>
        </a:dk2>
        <a:lt2>
          <a:srgbClr val="B3EDFF"/>
        </a:lt2>
        <a:accent1>
          <a:srgbClr val="FF9933"/>
        </a:accent1>
        <a:accent2>
          <a:srgbClr val="FFAA99"/>
        </a:accent2>
        <a:accent3>
          <a:srgbClr val="B8CAFF"/>
        </a:accent3>
        <a:accent4>
          <a:srgbClr val="DADADA"/>
        </a:accent4>
        <a:accent5>
          <a:srgbClr val="FFCAAD"/>
        </a:accent5>
        <a:accent6>
          <a:srgbClr val="E79A8A"/>
        </a:accent6>
        <a:hlink>
          <a:srgbClr val="FFCFAB"/>
        </a:hlink>
        <a:folHlink>
          <a:srgbClr val="CC9900"/>
        </a:folHlink>
      </a:clrScheme>
      <a:clrMap bg1="dk2" tx1="lt1" bg2="dk1" tx2="lt2" accent1="accent1" accent2="accent2" accent3="accent3" accent4="accent4" accent5="accent5" accent6="accent6" hlink="hlink" folHlink="folHlink"/>
    </a:extraClrScheme>
    <a:extraClrScheme>
      <a:clrScheme name="Mountain Top 7">
        <a:dk1>
          <a:srgbClr val="006666"/>
        </a:dk1>
        <a:lt1>
          <a:srgbClr val="FFFFFF"/>
        </a:lt1>
        <a:dk2>
          <a:srgbClr val="85D1E3"/>
        </a:dk2>
        <a:lt2>
          <a:srgbClr val="CCFFFF"/>
        </a:lt2>
        <a:accent1>
          <a:srgbClr val="FFCC00"/>
        </a:accent1>
        <a:accent2>
          <a:srgbClr val="00CC99"/>
        </a:accent2>
        <a:accent3>
          <a:srgbClr val="C2E5EF"/>
        </a:accent3>
        <a:accent4>
          <a:srgbClr val="DADADA"/>
        </a:accent4>
        <a:accent5>
          <a:srgbClr val="FFE2AA"/>
        </a:accent5>
        <a:accent6>
          <a:srgbClr val="00B98A"/>
        </a:accent6>
        <a:hlink>
          <a:srgbClr val="0099FF"/>
        </a:hlink>
        <a:folHlink>
          <a:srgbClr val="6600CC"/>
        </a:folHlink>
      </a:clrScheme>
      <a:clrMap bg1="dk2" tx1="lt1" bg2="dk1" tx2="lt2" accent1="accent1" accent2="accent2" accent3="accent3" accent4="accent4" accent5="accent5" accent6="accent6" hlink="hlink" folHlink="folHlink"/>
    </a:extraClrScheme>
    <a:extraClrScheme>
      <a:clrScheme name="Mountain Top 8">
        <a:dk1>
          <a:srgbClr val="404B3D"/>
        </a:dk1>
        <a:lt1>
          <a:srgbClr val="FFFFFF"/>
        </a:lt1>
        <a:dk2>
          <a:srgbClr val="A7A491"/>
        </a:dk2>
        <a:lt2>
          <a:srgbClr val="CCD0CA"/>
        </a:lt2>
        <a:accent1>
          <a:srgbClr val="33CCCC"/>
        </a:accent1>
        <a:accent2>
          <a:srgbClr val="004E4C"/>
        </a:accent2>
        <a:accent3>
          <a:srgbClr val="D0CFC7"/>
        </a:accent3>
        <a:accent4>
          <a:srgbClr val="DADADA"/>
        </a:accent4>
        <a:accent5>
          <a:srgbClr val="ADE2E2"/>
        </a:accent5>
        <a:accent6>
          <a:srgbClr val="004644"/>
        </a:accent6>
        <a:hlink>
          <a:srgbClr val="477781"/>
        </a:hlink>
        <a:folHlink>
          <a:srgbClr val="85CC74"/>
        </a:folHlink>
      </a:clrScheme>
      <a:clrMap bg1="dk2" tx1="lt1" bg2="dk1" tx2="lt2" accent1="accent1" accent2="accent2" accent3="accent3" accent4="accent4" accent5="accent5" accent6="accent6" hlink="hlink" folHlink="folHlink"/>
    </a:extraClrScheme>
    <a:extraClrScheme>
      <a:clrScheme name="Mountain Top 9">
        <a:dk1>
          <a:srgbClr val="000000"/>
        </a:dk1>
        <a:lt1>
          <a:srgbClr val="FFFFFF"/>
        </a:lt1>
        <a:dk2>
          <a:srgbClr val="FFFFAF"/>
        </a:dk2>
        <a:lt2>
          <a:srgbClr val="676597"/>
        </a:lt2>
        <a:accent1>
          <a:srgbClr val="66CCFF"/>
        </a:accent1>
        <a:accent2>
          <a:srgbClr val="CCECFF"/>
        </a:accent2>
        <a:accent3>
          <a:srgbClr val="FFFFFF"/>
        </a:accent3>
        <a:accent4>
          <a:srgbClr val="000000"/>
        </a:accent4>
        <a:accent5>
          <a:srgbClr val="B8E2FF"/>
        </a:accent5>
        <a:accent6>
          <a:srgbClr val="B9D6E7"/>
        </a:accent6>
        <a:hlink>
          <a:srgbClr val="6600CC"/>
        </a:hlink>
        <a:folHlink>
          <a:srgbClr val="0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Mountain Top</Template>
  <TotalTime>3139</TotalTime>
  <Words>3116</Words>
  <Application>Microsoft Office PowerPoint</Application>
  <PresentationFormat>全屏显示(4:3)</PresentationFormat>
  <Paragraphs>463</Paragraphs>
  <Slides>40</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3</vt:i4>
      </vt:variant>
      <vt:variant>
        <vt:lpstr>幻灯片标题</vt:lpstr>
      </vt:variant>
      <vt:variant>
        <vt:i4>40</vt:i4>
      </vt:variant>
    </vt:vector>
  </HeadingPairs>
  <TitlesOfParts>
    <vt:vector size="50" baseType="lpstr">
      <vt:lpstr>Arial</vt:lpstr>
      <vt:lpstr>宋体</vt:lpstr>
      <vt:lpstr>Wingdings</vt:lpstr>
      <vt:lpstr>黑体</vt:lpstr>
      <vt:lpstr>Times New Roman</vt:lpstr>
      <vt:lpstr>楷体_GB2312</vt:lpstr>
      <vt:lpstr>Mountain Top</vt:lpstr>
      <vt:lpstr>Microsoft Word 文档</vt:lpstr>
      <vt:lpstr>Microsoft 公式 3.0</vt:lpstr>
      <vt:lpstr>Microsoft Equation 3.0</vt:lpstr>
      <vt:lpstr>《生产与运作管理》教辅材料参考讲义</vt:lpstr>
      <vt:lpstr>第12章：质量管理</vt:lpstr>
      <vt:lpstr>引导案例：阳光保鲜食品有限公司</vt:lpstr>
      <vt:lpstr>一、质量管理概述</vt:lpstr>
      <vt:lpstr>（一）质量概念</vt:lpstr>
      <vt:lpstr>PowerPoint 演示文稿</vt:lpstr>
      <vt:lpstr>（二）全面质量管理</vt:lpstr>
      <vt:lpstr>全面质量管理的内涵</vt:lpstr>
      <vt:lpstr>PowerPoint 演示文稿</vt:lpstr>
      <vt:lpstr>二、质量管理工具</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不合格品数控制图例子</vt:lpstr>
      <vt:lpstr>PowerPoint 演示文稿</vt:lpstr>
      <vt:lpstr>不合格品数控制图例子</vt:lpstr>
      <vt:lpstr>控制图使用中的有关问题</vt:lpstr>
      <vt:lpstr>三、工序能力分析</vt:lpstr>
      <vt:lpstr>PowerPoint 演示文稿</vt:lpstr>
      <vt:lpstr>PowerPoint 演示文稿</vt:lpstr>
      <vt:lpstr>PowerPoint 演示文稿</vt:lpstr>
      <vt:lpstr>PowerPoint 演示文稿</vt:lpstr>
      <vt:lpstr>PowerPoint 演示文稿</vt:lpstr>
      <vt:lpstr>PowerPoint 演示文稿</vt:lpstr>
      <vt:lpstr>提高工序能力</vt:lpstr>
      <vt:lpstr>四、产品抽样检验</vt:lpstr>
      <vt:lpstr>（一）抽样检验的基本原理</vt:lpstr>
      <vt:lpstr>PowerPoint 演示文稿</vt:lpstr>
      <vt:lpstr>PowerPoint 演示文稿</vt:lpstr>
      <vt:lpstr>2抽样方案设计</vt:lpstr>
      <vt:lpstr>五、六西格玛质量改善</vt:lpstr>
      <vt:lpstr>六西格玛质量含义</vt:lpstr>
      <vt:lpstr>六西格玛质量含义（续）</vt:lpstr>
      <vt:lpstr>六西格玛质量改善工作方法--DMAIC</vt:lpstr>
      <vt:lpstr>六西格玛质量改善工作方法--DMAIC</vt:lpstr>
      <vt:lpstr>本章小结</vt:lpstr>
    </vt:vector>
  </TitlesOfParts>
  <Company>mns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中山大学管理学院管理学院 高级经理EMBA培训班 《生产与运作管理》</dc:title>
  <dc:creator>a</dc:creator>
  <cp:lastModifiedBy>先生 刘</cp:lastModifiedBy>
  <cp:revision>197</cp:revision>
  <dcterms:created xsi:type="dcterms:W3CDTF">2004-02-09T09:24:44Z</dcterms:created>
  <dcterms:modified xsi:type="dcterms:W3CDTF">2023-10-23T06:17:28Z</dcterms:modified>
</cp:coreProperties>
</file>