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Default Extension="jpg" ContentType="image/jpg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</p:sldIdLst>
  <p:sldSz cx="4610100" cy="3460750"/>
  <p:notesSz cx="4610100" cy="34607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5844" y="591744"/>
            <a:ext cx="4356735" cy="1144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535" y="904671"/>
            <a:ext cx="4369028" cy="18154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03625" y="3352425"/>
            <a:ext cx="708025" cy="102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025561" y="3356656"/>
            <a:ext cx="556894" cy="93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09237" y="3353670"/>
            <a:ext cx="346075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mailto:cesgf@mail.sysu.edu.cn" TargetMode="External"/><Relationship Id="rId6" Type="http://schemas.openxmlformats.org/officeDocument/2006/relationships/hyperlink" Target="http://202.116.83.148/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4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4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11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6.png"/><Relationship Id="rId4" Type="http://schemas.openxmlformats.org/officeDocument/2006/relationships/image" Target="../media/image33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32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5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4.png"/><Relationship Id="rId4" Type="http://schemas.openxmlformats.org/officeDocument/2006/relationships/image" Target="../media/image37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95998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8544" y="1006513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344" y="993813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20310" y="646569"/>
            <a:ext cx="50749" cy="3599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7743" y="640428"/>
            <a:ext cx="4432935" cy="417195"/>
          </a:xfrm>
          <a:custGeom>
            <a:avLst/>
            <a:gdLst/>
            <a:ahLst/>
            <a:cxnLst/>
            <a:rect l="l" t="t" r="r" b="b"/>
            <a:pathLst>
              <a:path w="4432935" h="417194">
                <a:moveTo>
                  <a:pt x="4432566" y="0"/>
                </a:moveTo>
                <a:lnTo>
                  <a:pt x="0" y="0"/>
                </a:lnTo>
                <a:lnTo>
                  <a:pt x="0" y="366084"/>
                </a:lnTo>
                <a:lnTo>
                  <a:pt x="4008" y="385808"/>
                </a:lnTo>
                <a:lnTo>
                  <a:pt x="14922" y="401961"/>
                </a:lnTo>
                <a:lnTo>
                  <a:pt x="31075" y="412876"/>
                </a:lnTo>
                <a:lnTo>
                  <a:pt x="50800" y="416884"/>
                </a:lnTo>
                <a:lnTo>
                  <a:pt x="4381765" y="416884"/>
                </a:lnTo>
                <a:lnTo>
                  <a:pt x="4401490" y="412876"/>
                </a:lnTo>
                <a:lnTo>
                  <a:pt x="4417643" y="401961"/>
                </a:lnTo>
                <a:lnTo>
                  <a:pt x="4428558" y="385808"/>
                </a:lnTo>
                <a:lnTo>
                  <a:pt x="4432566" y="366084"/>
                </a:lnTo>
                <a:lnTo>
                  <a:pt x="443256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684666"/>
            <a:ext cx="0" cy="340995"/>
          </a:xfrm>
          <a:custGeom>
            <a:avLst/>
            <a:gdLst/>
            <a:ahLst/>
            <a:cxnLst/>
            <a:rect l="l" t="t" r="r" b="b"/>
            <a:pathLst>
              <a:path w="0" h="340994">
                <a:moveTo>
                  <a:pt x="0" y="34089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6719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6592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6465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58214" y="639940"/>
            <a:ext cx="2151380" cy="3448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00" spc="-10">
                <a:solidFill>
                  <a:srgbClr val="FFFFFF"/>
                </a:solidFill>
              </a:rPr>
              <a:t>分</a:t>
            </a:r>
            <a:r>
              <a:rPr dirty="0" sz="2100" spc="-15">
                <a:solidFill>
                  <a:srgbClr val="FFFFFF"/>
                </a:solidFill>
              </a:rPr>
              <a:t>析</a:t>
            </a:r>
            <a:r>
              <a:rPr dirty="0" sz="2100" spc="-10">
                <a:solidFill>
                  <a:srgbClr val="FFFFFF"/>
                </a:solidFill>
              </a:rPr>
              <a:t>化学</a:t>
            </a:r>
            <a:r>
              <a:rPr dirty="0" sz="2100" spc="-15">
                <a:solidFill>
                  <a:srgbClr val="FFFFFF"/>
                </a:solidFill>
              </a:rPr>
              <a:t>基</a:t>
            </a:r>
            <a:r>
              <a:rPr dirty="0" sz="2100" spc="-10">
                <a:solidFill>
                  <a:srgbClr val="FFFFFF"/>
                </a:solidFill>
              </a:rPr>
              <a:t>础</a:t>
            </a:r>
            <a:r>
              <a:rPr dirty="0" sz="2100" spc="-15">
                <a:solidFill>
                  <a:srgbClr val="FFFFFF"/>
                </a:solidFill>
              </a:rPr>
              <a:t>教</a:t>
            </a:r>
            <a:r>
              <a:rPr dirty="0" sz="2100" spc="-10">
                <a:solidFill>
                  <a:srgbClr val="FFFFFF"/>
                </a:solidFill>
              </a:rPr>
              <a:t>程</a:t>
            </a:r>
            <a:endParaRPr sz="2100"/>
          </a:p>
        </p:txBody>
      </p:sp>
      <p:sp>
        <p:nvSpPr>
          <p:cNvPr id="12" name="object 12"/>
          <p:cNvSpPr txBox="1"/>
          <p:nvPr/>
        </p:nvSpPr>
        <p:spPr>
          <a:xfrm>
            <a:off x="1268730" y="1251432"/>
            <a:ext cx="2070735" cy="1459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600" spc="-10">
                <a:latin typeface="Arial Unicode MS"/>
                <a:cs typeface="Arial Unicode MS"/>
              </a:rPr>
              <a:t>甘</a:t>
            </a:r>
            <a:r>
              <a:rPr dirty="0" sz="1600" spc="220">
                <a:latin typeface="Arial Unicode MS"/>
                <a:cs typeface="Arial Unicode MS"/>
              </a:rPr>
              <a:t>峰</a:t>
            </a:r>
            <a:r>
              <a:rPr dirty="0" sz="1600" spc="-10">
                <a:latin typeface="Arial Unicode MS"/>
                <a:cs typeface="Arial Unicode MS"/>
              </a:rPr>
              <a:t>教授</a:t>
            </a:r>
            <a:endParaRPr sz="16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dirty="0" sz="1000" spc="-20">
                <a:latin typeface="Georgia"/>
                <a:cs typeface="Georgia"/>
              </a:rPr>
              <a:t>Email: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  <a:hlinkClick r:id="rId5"/>
              </a:rPr>
              <a:t>cesgf@mail.sysu.edu.cn</a:t>
            </a:r>
            <a:endParaRPr sz="10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1000" spc="-40">
                <a:latin typeface="Georgia"/>
                <a:cs typeface="Georgia"/>
              </a:rPr>
              <a:t>Homepage: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  <a:hlinkClick r:id="rId6"/>
              </a:rPr>
              <a:t>http://202.116.83.148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dirty="0" sz="900" spc="-5">
                <a:latin typeface="Arial Unicode MS"/>
                <a:cs typeface="Arial Unicode MS"/>
              </a:rPr>
              <a:t>中山大</a:t>
            </a:r>
            <a:r>
              <a:rPr dirty="0" sz="900" spc="-60">
                <a:latin typeface="Arial Unicode MS"/>
                <a:cs typeface="Arial Unicode MS"/>
              </a:rPr>
              <a:t>学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化学与化学工程学院</a:t>
            </a:r>
            <a:endParaRPr sz="9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</a:pPr>
            <a:r>
              <a:rPr dirty="0" sz="1100" spc="-65">
                <a:latin typeface="Georgia"/>
                <a:cs typeface="Georgia"/>
              </a:rPr>
              <a:t>2010 </a:t>
            </a:r>
            <a:r>
              <a:rPr dirty="0" sz="1200" spc="-5">
                <a:latin typeface="Arial Unicode MS"/>
                <a:cs typeface="Arial Unicode MS"/>
              </a:rPr>
              <a:t>年 </a:t>
            </a:r>
            <a:r>
              <a:rPr dirty="0" sz="1100" spc="-40">
                <a:latin typeface="Georgia"/>
                <a:cs typeface="Georgia"/>
              </a:rPr>
              <a:t>5 </a:t>
            </a:r>
            <a:r>
              <a:rPr dirty="0" sz="1200" spc="-5">
                <a:latin typeface="Arial Unicode MS"/>
                <a:cs typeface="Arial Unicode MS"/>
              </a:rPr>
              <a:t>月 </a:t>
            </a:r>
            <a:r>
              <a:rPr dirty="0" sz="1100">
                <a:latin typeface="Georgia"/>
                <a:cs typeface="Georgia"/>
              </a:rPr>
              <a:t>12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日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350018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6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5628" y="721847"/>
            <a:ext cx="2416810" cy="1280795"/>
          </a:xfrm>
          <a:prstGeom prst="rect"/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2650" spc="409"/>
              <a:t>第</a:t>
            </a:r>
            <a:r>
              <a:rPr dirty="0" sz="5100" spc="210">
                <a:latin typeface="Perpetua"/>
                <a:cs typeface="Perpetua"/>
              </a:rPr>
              <a:t>10</a:t>
            </a:r>
            <a:r>
              <a:rPr dirty="0" sz="2650" spc="35"/>
              <a:t>章</a:t>
            </a:r>
            <a:endParaRPr sz="2650">
              <a:latin typeface="Perpetua"/>
              <a:cs typeface="Perpetua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2650" spc="35"/>
              <a:t>分离与富集方法</a:t>
            </a:r>
            <a:endParaRPr sz="2650"/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50018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6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48456" y="674243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0">
                <a:moveTo>
                  <a:pt x="0" y="0"/>
                </a:moveTo>
                <a:lnTo>
                  <a:pt x="3036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4599" y="127505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536712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1798370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06001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4599" y="232167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4599" y="2583332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25844" y="425742"/>
            <a:ext cx="4246880" cy="2263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分离与富集方法是分析化学的两个重要内</a:t>
            </a:r>
            <a:r>
              <a:rPr dirty="0" sz="1200" spc="-20">
                <a:latin typeface="Arial Unicode MS"/>
                <a:cs typeface="Arial Unicode MS"/>
              </a:rPr>
              <a:t>容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分离的目的是 将可能对分析产生影响的共存组分从样本中清除出</a:t>
            </a:r>
            <a:r>
              <a:rPr dirty="0" sz="1200" spc="-65">
                <a:latin typeface="Arial Unicode MS"/>
                <a:cs typeface="Arial Unicode MS"/>
              </a:rPr>
              <a:t>去</a:t>
            </a:r>
            <a:r>
              <a:rPr dirty="0" sz="1200" spc="-200">
                <a:latin typeface="Arial Unicode MS"/>
                <a:cs typeface="Arial Unicode MS"/>
              </a:rPr>
              <a:t>；</a:t>
            </a:r>
            <a:r>
              <a:rPr dirty="0" sz="1200" spc="-5">
                <a:latin typeface="Arial Unicode MS"/>
                <a:cs typeface="Arial Unicode MS"/>
              </a:rPr>
              <a:t>而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富集</a:t>
            </a: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200" spc="-5">
                <a:latin typeface="Arial Unicode MS"/>
                <a:cs typeface="Arial Unicode MS"/>
              </a:rPr>
              <a:t>目的是使低含量组分的浓度提</a:t>
            </a:r>
            <a:r>
              <a:rPr dirty="0" sz="1200" spc="-20">
                <a:latin typeface="Arial Unicode MS"/>
                <a:cs typeface="Arial Unicode MS"/>
              </a:rPr>
              <a:t>高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常用的分离与富集方法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78130" marR="3049270">
              <a:lnSpc>
                <a:spcPct val="143100"/>
              </a:lnSpc>
            </a:pPr>
            <a:r>
              <a:rPr dirty="0" sz="1200" spc="-5">
                <a:latin typeface="Arial Unicode MS"/>
                <a:cs typeface="Arial Unicode MS"/>
              </a:rPr>
              <a:t>沉淀分离法 </a:t>
            </a:r>
            <a:r>
              <a:rPr dirty="0" sz="1200" spc="-5">
                <a:latin typeface="Arial Unicode MS"/>
                <a:cs typeface="Arial Unicode MS"/>
              </a:rPr>
              <a:t>共沉淀分离法 </a:t>
            </a:r>
            <a:r>
              <a:rPr dirty="0" sz="1200" spc="-5">
                <a:latin typeface="Arial Unicode MS"/>
                <a:cs typeface="Arial Unicode MS"/>
              </a:rPr>
              <a:t>萃取分离法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离子交换分离法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色谱分离法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720"/>
              </a:spcBef>
            </a:pP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350018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6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47383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10.1</a:t>
            </a:r>
            <a:r>
              <a:rPr dirty="0" sz="1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沉淀分离法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62888"/>
            <a:ext cx="435673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沉淀分离法是通过沉淀反应进行分离的方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其所依据的是 </a:t>
            </a:r>
            <a:r>
              <a:rPr dirty="0" sz="1200" spc="-10">
                <a:latin typeface="Arial Unicode MS"/>
                <a:cs typeface="Arial Unicode MS"/>
              </a:rPr>
              <a:t>溶度积原</a:t>
            </a:r>
            <a:r>
              <a:rPr dirty="0" sz="1200" spc="-20">
                <a:latin typeface="Arial Unicode MS"/>
                <a:cs typeface="Arial Unicode MS"/>
              </a:rPr>
              <a:t>理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根据样品的情况以及分析的目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沉淀分离既可采</a:t>
            </a:r>
            <a:r>
              <a:rPr dirty="0" sz="1200" spc="-5">
                <a:latin typeface="Arial Unicode MS"/>
                <a:cs typeface="Arial Unicode MS"/>
              </a:rPr>
              <a:t>用 </a:t>
            </a:r>
            <a:r>
              <a:rPr dirty="0" sz="1200" spc="-10">
                <a:latin typeface="Arial Unicode MS"/>
                <a:cs typeface="Arial Unicode MS"/>
              </a:rPr>
              <a:t>沉淀待测组</a:t>
            </a:r>
            <a:r>
              <a:rPr dirty="0" sz="1200" spc="-80">
                <a:latin typeface="Arial Unicode MS"/>
                <a:cs typeface="Arial Unicode MS"/>
              </a:rPr>
              <a:t>分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也可沉淀干扰组分的方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而所采用的沉淀剂既</a:t>
            </a:r>
            <a:r>
              <a:rPr dirty="0" sz="1200" spc="-5">
                <a:latin typeface="Arial Unicode MS"/>
                <a:cs typeface="Arial Unicode MS"/>
              </a:rPr>
              <a:t>可 </a:t>
            </a:r>
            <a:r>
              <a:rPr dirty="0" sz="1200" spc="-5">
                <a:latin typeface="Arial Unicode MS"/>
                <a:cs typeface="Arial Unicode MS"/>
              </a:rPr>
              <a:t>以是无机沉淀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也可以是有机沉淀</a:t>
            </a:r>
            <a:r>
              <a:rPr dirty="0" sz="1200" spc="-20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50018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6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82296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无机沉淀</a:t>
            </a:r>
            <a:r>
              <a:rPr dirty="0" sz="1050" spc="-10">
                <a:solidFill>
                  <a:srgbClr val="FFFFFF"/>
                </a:solidFill>
              </a:rPr>
              <a:t>剂</a:t>
            </a:r>
            <a:r>
              <a:rPr dirty="0" sz="1050" spc="-5">
                <a:solidFill>
                  <a:srgbClr val="FFFFFF"/>
                </a:solidFill>
              </a:rPr>
              <a:t>一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274599" y="937793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820710" y="93572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2271" y="94919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71825" y="864666"/>
            <a:ext cx="8515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4810" algn="l"/>
                <a:tab pos="767080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553" y="839038"/>
            <a:ext cx="37807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190">
                <a:latin typeface="Georgia"/>
                <a:cs typeface="Georgia"/>
              </a:rPr>
              <a:t> 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100" spc="45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HNO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介质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可沉淀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Ag</a:t>
            </a:r>
            <a:r>
              <a:rPr dirty="0" sz="1100" spc="280">
                <a:latin typeface="Georgia"/>
                <a:cs typeface="Georgia"/>
              </a:rPr>
              <a:t> </a:t>
            </a:r>
            <a:r>
              <a:rPr dirty="0" sz="1200" spc="-95">
                <a:latin typeface="Arial Unicode MS"/>
                <a:cs typeface="Arial Unicode MS"/>
              </a:rPr>
              <a:t>，</a:t>
            </a:r>
            <a:r>
              <a:rPr dirty="0" sz="1100" spc="-95">
                <a:latin typeface="Georgia"/>
                <a:cs typeface="Georgia"/>
              </a:rPr>
              <a:t>Hg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100" spc="-30">
                <a:latin typeface="Georgia"/>
                <a:cs typeface="Georgia"/>
              </a:rPr>
              <a:t>Tl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153" y="1062736"/>
            <a:ext cx="101726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85">
                <a:latin typeface="Georgia"/>
                <a:cs typeface="Georgia"/>
              </a:rPr>
              <a:t>Pb</a:t>
            </a:r>
            <a:r>
              <a:rPr dirty="0" baseline="37037" sz="900" spc="127">
                <a:latin typeface="Times New Roman"/>
                <a:cs typeface="Times New Roman"/>
              </a:rPr>
              <a:t>2+</a:t>
            </a:r>
            <a:r>
              <a:rPr dirty="0" baseline="37037" sz="900" spc="30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等离</a:t>
            </a:r>
            <a:r>
              <a:rPr dirty="0" sz="1200" spc="-65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4599" y="1561693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72322" y="155962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93896" y="157309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23450" y="1488567"/>
            <a:ext cx="8515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4810" algn="l"/>
                <a:tab pos="767080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6153" y="1462938"/>
            <a:ext cx="398272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57">
                <a:latin typeface="Times New Roman"/>
                <a:cs typeface="Times New Roman"/>
              </a:rPr>
              <a:t> 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100" spc="45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在稀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HNO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介质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可沉淀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Ag</a:t>
            </a:r>
            <a:r>
              <a:rPr dirty="0" sz="1100" spc="280">
                <a:latin typeface="Georgia"/>
                <a:cs typeface="Georgia"/>
              </a:rPr>
              <a:t> </a:t>
            </a:r>
            <a:r>
              <a:rPr dirty="0" sz="1200" spc="-95">
                <a:latin typeface="Arial Unicode MS"/>
                <a:cs typeface="Arial Unicode MS"/>
              </a:rPr>
              <a:t>，</a:t>
            </a:r>
            <a:r>
              <a:rPr dirty="0" sz="1100" spc="-95">
                <a:latin typeface="Georgia"/>
                <a:cs typeface="Georgia"/>
              </a:rPr>
              <a:t>Hg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100" spc="-30">
                <a:latin typeface="Georgia"/>
                <a:cs typeface="Georgia"/>
              </a:rPr>
              <a:t>Tl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599" y="2185593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4599" y="258579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40753" y="1686636"/>
            <a:ext cx="4033520" cy="1231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dirty="0" sz="1100" spc="85">
                <a:latin typeface="Georgia"/>
                <a:cs typeface="Georgia"/>
              </a:rPr>
              <a:t>Pb</a:t>
            </a:r>
            <a:r>
              <a:rPr dirty="0" baseline="37037" sz="900" spc="127">
                <a:latin typeface="Times New Roman"/>
                <a:cs typeface="Times New Roman"/>
              </a:rPr>
              <a:t>2+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等离</a:t>
            </a:r>
            <a:r>
              <a:rPr dirty="0" sz="1200" spc="-65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</a:pPr>
            <a:r>
              <a:rPr dirty="0" sz="1100" spc="10">
                <a:latin typeface="Georgia"/>
                <a:cs typeface="Georgia"/>
              </a:rPr>
              <a:t>NH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F</a:t>
            </a:r>
            <a:r>
              <a:rPr dirty="0" sz="1100" spc="175">
                <a:latin typeface="Georgia"/>
                <a:cs typeface="Georgia"/>
              </a:rPr>
              <a:t> 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在弱酸介质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可沉淀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Ca</a:t>
            </a:r>
            <a:r>
              <a:rPr dirty="0" baseline="37037" sz="900" spc="52">
                <a:latin typeface="Times New Roman"/>
                <a:cs typeface="Times New Roman"/>
              </a:rPr>
              <a:t>2+</a:t>
            </a:r>
            <a:r>
              <a:rPr dirty="0" sz="1200" spc="35">
                <a:latin typeface="Arial Unicode MS"/>
                <a:cs typeface="Arial Unicode MS"/>
              </a:rPr>
              <a:t>，</a:t>
            </a:r>
            <a:r>
              <a:rPr dirty="0" sz="1100" spc="35">
                <a:latin typeface="Georgia"/>
                <a:cs typeface="Georgia"/>
              </a:rPr>
              <a:t>Sr</a:t>
            </a:r>
            <a:r>
              <a:rPr dirty="0" baseline="37037" sz="900" spc="52">
                <a:latin typeface="Times New Roman"/>
                <a:cs typeface="Times New Roman"/>
              </a:rPr>
              <a:t>2+</a:t>
            </a:r>
            <a:r>
              <a:rPr dirty="0" sz="1200" spc="35">
                <a:latin typeface="Arial Unicode MS"/>
                <a:cs typeface="Arial Unicode MS"/>
              </a:rPr>
              <a:t>，</a:t>
            </a:r>
            <a:r>
              <a:rPr dirty="0" sz="1100" spc="35">
                <a:latin typeface="Georgia"/>
                <a:cs typeface="Georgia"/>
              </a:rPr>
              <a:t>Th</a:t>
            </a:r>
            <a:r>
              <a:rPr dirty="0" baseline="37037" sz="900" spc="52">
                <a:latin typeface="Times New Roman"/>
                <a:cs typeface="Times New Roman"/>
              </a:rPr>
              <a:t>4+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等离</a:t>
            </a:r>
            <a:r>
              <a:rPr dirty="0" sz="1200" spc="-65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</a:pPr>
            <a:endParaRPr sz="800">
              <a:latin typeface="Arial Unicode MS"/>
              <a:cs typeface="Arial Unicode MS"/>
            </a:endParaRPr>
          </a:p>
          <a:p>
            <a:pPr marL="62865" marR="43180">
              <a:lnSpc>
                <a:spcPct val="122300"/>
              </a:lnSpc>
            </a:pPr>
            <a:r>
              <a:rPr dirty="0" sz="1100" spc="-70">
                <a:latin typeface="Georgia"/>
                <a:cs typeface="Georgia"/>
              </a:rPr>
              <a:t>NaOH</a:t>
            </a:r>
            <a:r>
              <a:rPr dirty="0" sz="1200" spc="-70">
                <a:latin typeface="Arial Unicode MS"/>
                <a:cs typeface="Arial Unicode MS"/>
              </a:rPr>
              <a:t>（</a:t>
            </a:r>
            <a:r>
              <a:rPr dirty="0" sz="1200" spc="-5">
                <a:latin typeface="Arial Unicode MS"/>
                <a:cs typeface="Arial Unicode MS"/>
              </a:rPr>
              <a:t>过</a:t>
            </a:r>
            <a:r>
              <a:rPr dirty="0" sz="1200" spc="3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）</a:t>
            </a:r>
            <a:r>
              <a:rPr dirty="0" sz="1200" spc="105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100" spc="44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30">
                <a:latin typeface="Georgia"/>
                <a:cs typeface="Georgia"/>
              </a:rPr>
              <a:t>pH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30">
                <a:latin typeface="Georgia"/>
                <a:cs typeface="Georgia"/>
              </a:rPr>
              <a:t>14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可沉淀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Mg</a:t>
            </a:r>
            <a:r>
              <a:rPr dirty="0" baseline="37037" sz="900" spc="30">
                <a:latin typeface="Times New Roman"/>
                <a:cs typeface="Times New Roman"/>
              </a:rPr>
              <a:t>2+</a:t>
            </a:r>
            <a:r>
              <a:rPr dirty="0" sz="1200" spc="20">
                <a:latin typeface="Arial Unicode MS"/>
                <a:cs typeface="Arial Unicode MS"/>
              </a:rPr>
              <a:t>，</a:t>
            </a:r>
            <a:r>
              <a:rPr dirty="0" sz="1100" spc="20">
                <a:latin typeface="Georgia"/>
                <a:cs typeface="Georgia"/>
              </a:rPr>
              <a:t>Fe</a:t>
            </a:r>
            <a:r>
              <a:rPr dirty="0" baseline="37037" sz="900" spc="30">
                <a:latin typeface="Times New Roman"/>
                <a:cs typeface="Times New Roman"/>
              </a:rPr>
              <a:t>3+</a:t>
            </a:r>
            <a:r>
              <a:rPr dirty="0" sz="1200" spc="20">
                <a:latin typeface="Arial Unicode MS"/>
                <a:cs typeface="Arial Unicode MS"/>
              </a:rPr>
              <a:t>，</a:t>
            </a:r>
            <a:r>
              <a:rPr dirty="0" sz="1100" spc="20">
                <a:latin typeface="Georgia"/>
                <a:cs typeface="Georgia"/>
              </a:rPr>
              <a:t>Ag</a:t>
            </a:r>
            <a:r>
              <a:rPr dirty="0" baseline="37037" sz="900" spc="30">
                <a:latin typeface="Times New Roman"/>
                <a:cs typeface="Times New Roman"/>
              </a:rPr>
              <a:t>+</a:t>
            </a:r>
            <a:r>
              <a:rPr dirty="0" sz="1200" spc="20">
                <a:latin typeface="Arial Unicode MS"/>
                <a:cs typeface="Arial Unicode MS"/>
              </a:rPr>
              <a:t>，  </a:t>
            </a:r>
            <a:r>
              <a:rPr dirty="0" sz="1100" spc="10">
                <a:latin typeface="Georgia"/>
                <a:cs typeface="Georgia"/>
              </a:rPr>
              <a:t>Mn</a:t>
            </a:r>
            <a:r>
              <a:rPr dirty="0" baseline="37037" sz="900" spc="15">
                <a:latin typeface="Times New Roman"/>
                <a:cs typeface="Times New Roman"/>
              </a:rPr>
              <a:t>2+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100" spc="10">
                <a:latin typeface="Georgia"/>
                <a:cs typeface="Georgia"/>
              </a:rPr>
              <a:t>Cu</a:t>
            </a:r>
            <a:r>
              <a:rPr dirty="0" baseline="37037" sz="900" spc="15">
                <a:latin typeface="Times New Roman"/>
                <a:cs typeface="Times New Roman"/>
              </a:rPr>
              <a:t>2+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100" spc="10">
                <a:latin typeface="Georgia"/>
                <a:cs typeface="Georgia"/>
              </a:rPr>
              <a:t>Cd</a:t>
            </a:r>
            <a:r>
              <a:rPr dirty="0" baseline="37037" sz="900" spc="15">
                <a:latin typeface="Times New Roman"/>
                <a:cs typeface="Times New Roman"/>
              </a:rPr>
              <a:t>2+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100" spc="10">
                <a:latin typeface="Georgia"/>
                <a:cs typeface="Georgia"/>
              </a:rPr>
              <a:t>Ni</a:t>
            </a:r>
            <a:r>
              <a:rPr dirty="0" baseline="37037" sz="900" spc="15">
                <a:latin typeface="Times New Roman"/>
                <a:cs typeface="Times New Roman"/>
              </a:rPr>
              <a:t>2+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及稀土离</a:t>
            </a:r>
            <a:r>
              <a:rPr dirty="0" sz="1200" spc="-65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350018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6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82296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无机沉淀</a:t>
            </a:r>
            <a:r>
              <a:rPr dirty="0" sz="1050" spc="-10">
                <a:solidFill>
                  <a:srgbClr val="FFFFFF"/>
                </a:solidFill>
              </a:rPr>
              <a:t>剂</a:t>
            </a:r>
            <a:r>
              <a:rPr dirty="0" sz="1050" spc="-5">
                <a:solidFill>
                  <a:srgbClr val="FFFFFF"/>
                </a:solidFill>
              </a:rPr>
              <a:t>二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274599" y="809472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90711" y="80738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3649" y="736333"/>
            <a:ext cx="13646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61694" algn="l"/>
                <a:tab pos="1234440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03534" y="82086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153" y="710704"/>
            <a:ext cx="415671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-15">
                <a:latin typeface="Georgia"/>
                <a:cs typeface="Georgia"/>
              </a:rPr>
              <a:t>NH</a:t>
            </a:r>
            <a:r>
              <a:rPr dirty="0" baseline="-13888" sz="900" spc="-22">
                <a:latin typeface="Times New Roman"/>
                <a:cs typeface="Times New Roman"/>
              </a:rPr>
              <a:t>3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50">
                <a:latin typeface="Georgia"/>
                <a:cs typeface="Georgia"/>
              </a:rPr>
              <a:t>H</a:t>
            </a:r>
            <a:r>
              <a:rPr dirty="0" baseline="-13888" sz="900" spc="-75">
                <a:latin typeface="Times New Roman"/>
                <a:cs typeface="Times New Roman"/>
              </a:rPr>
              <a:t>2</a:t>
            </a:r>
            <a:r>
              <a:rPr dirty="0" sz="1100" spc="-50">
                <a:latin typeface="Georgia"/>
                <a:cs typeface="Georgia"/>
              </a:rPr>
              <a:t>O</a:t>
            </a:r>
            <a:r>
              <a:rPr dirty="0" sz="1200" spc="-50">
                <a:latin typeface="Arial Unicode MS"/>
                <a:cs typeface="Arial Unicode MS"/>
              </a:rPr>
              <a:t>（</a:t>
            </a:r>
            <a:r>
              <a:rPr dirty="0" sz="1200" spc="-5">
                <a:latin typeface="Arial Unicode MS"/>
                <a:cs typeface="Arial Unicode MS"/>
              </a:rPr>
              <a:t>过</a:t>
            </a:r>
            <a:r>
              <a:rPr dirty="0" sz="1200" spc="3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）</a:t>
            </a:r>
            <a:r>
              <a:rPr dirty="0" sz="1200" spc="110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100" spc="45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NH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Cl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存在下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可沉淀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Ag</a:t>
            </a:r>
            <a:r>
              <a:rPr dirty="0" sz="1100" spc="280">
                <a:latin typeface="Georgia"/>
                <a:cs typeface="Georgia"/>
              </a:rPr>
              <a:t> </a:t>
            </a:r>
            <a:r>
              <a:rPr dirty="0" sz="1200" spc="-95">
                <a:latin typeface="Arial Unicode MS"/>
                <a:cs typeface="Arial Unicode MS"/>
              </a:rPr>
              <a:t>，</a:t>
            </a:r>
            <a:r>
              <a:rPr dirty="0" sz="1100" spc="-95">
                <a:latin typeface="Georgia"/>
                <a:cs typeface="Georgia"/>
              </a:rPr>
              <a:t>Hg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599" y="1433372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4599" y="2057273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4599" y="2681173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5694" y="934402"/>
            <a:ext cx="4278630" cy="2400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95"/>
              </a:spcBef>
            </a:pPr>
            <a:r>
              <a:rPr dirty="0" sz="1100" spc="55">
                <a:latin typeface="Georgia"/>
                <a:cs typeface="Georgia"/>
              </a:rPr>
              <a:t>Tl</a:t>
            </a:r>
            <a:r>
              <a:rPr dirty="0" baseline="37037" sz="900" spc="82">
                <a:latin typeface="Times New Roman"/>
                <a:cs typeface="Times New Roman"/>
              </a:rPr>
              <a:t>+</a:t>
            </a:r>
            <a:r>
              <a:rPr dirty="0" sz="1200" spc="55">
                <a:latin typeface="Arial Unicode MS"/>
                <a:cs typeface="Arial Unicode MS"/>
              </a:rPr>
              <a:t>，</a:t>
            </a:r>
            <a:r>
              <a:rPr dirty="0" sz="1100" spc="55">
                <a:latin typeface="Georgia"/>
                <a:cs typeface="Georgia"/>
              </a:rPr>
              <a:t>Pb</a:t>
            </a:r>
            <a:r>
              <a:rPr dirty="0" baseline="37037" sz="900" spc="82">
                <a:latin typeface="Times New Roman"/>
                <a:cs typeface="Times New Roman"/>
              </a:rPr>
              <a:t>2+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等离</a:t>
            </a:r>
            <a:r>
              <a:rPr dirty="0" sz="1200" spc="-65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Arial Unicode MS"/>
              <a:cs typeface="Arial Unicode MS"/>
            </a:endParaRPr>
          </a:p>
          <a:p>
            <a:pPr marL="158115">
              <a:lnSpc>
                <a:spcPct val="100000"/>
              </a:lnSpc>
            </a:pPr>
            <a:r>
              <a:rPr dirty="0" sz="1100" spc="5">
                <a:latin typeface="Georgia"/>
                <a:cs typeface="Georgia"/>
              </a:rPr>
              <a:t>H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S</a:t>
            </a:r>
            <a:r>
              <a:rPr dirty="0" sz="1100" spc="175">
                <a:latin typeface="Georgia"/>
                <a:cs typeface="Georgia"/>
              </a:rPr>
              <a:t> 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100" spc="45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在稀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介质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可沉淀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Ag</a:t>
            </a:r>
            <a:r>
              <a:rPr dirty="0" baseline="37037" sz="900" spc="44">
                <a:latin typeface="Times New Roman"/>
                <a:cs typeface="Times New Roman"/>
              </a:rPr>
              <a:t>+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Hg</a:t>
            </a:r>
            <a:r>
              <a:rPr dirty="0" baseline="37037" sz="900" spc="44">
                <a:latin typeface="Times New Roman"/>
                <a:cs typeface="Times New Roman"/>
              </a:rPr>
              <a:t>2+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Cu</a:t>
            </a:r>
            <a:r>
              <a:rPr dirty="0" baseline="37037" sz="900" spc="44">
                <a:latin typeface="Times New Roman"/>
                <a:cs typeface="Times New Roman"/>
              </a:rPr>
              <a:t>2+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Cd</a:t>
            </a:r>
            <a:r>
              <a:rPr dirty="0" baseline="37037" sz="900" spc="44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等</a:t>
            </a:r>
            <a:endParaRPr sz="1200">
              <a:latin typeface="Arial Unicode MS"/>
              <a:cs typeface="Arial Unicode MS"/>
            </a:endParaRPr>
          </a:p>
          <a:p>
            <a:pPr marL="158115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离</a:t>
            </a:r>
            <a:r>
              <a:rPr dirty="0" sz="1200" spc="-65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Arial Unicode MS"/>
              <a:cs typeface="Arial Unicode MS"/>
            </a:endParaRPr>
          </a:p>
          <a:p>
            <a:pPr marL="158115">
              <a:lnSpc>
                <a:spcPct val="100000"/>
              </a:lnSpc>
            </a:pPr>
            <a:r>
              <a:rPr dirty="0" sz="1100" spc="15">
                <a:latin typeface="Georgia"/>
                <a:cs typeface="Georgia"/>
              </a:rPr>
              <a:t>Na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S</a:t>
            </a:r>
            <a:r>
              <a:rPr dirty="0" sz="1100" spc="170">
                <a:latin typeface="Georgia"/>
                <a:cs typeface="Georgia"/>
              </a:rPr>
              <a:t> 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100" spc="45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在碱性介质</a:t>
            </a:r>
            <a:r>
              <a:rPr dirty="0" sz="1200" spc="-260">
                <a:latin typeface="Arial Unicode MS"/>
                <a:cs typeface="Arial Unicode MS"/>
              </a:rPr>
              <a:t>中</a:t>
            </a:r>
            <a:r>
              <a:rPr dirty="0" sz="1200" spc="-35">
                <a:latin typeface="Arial Unicode MS"/>
                <a:cs typeface="Arial Unicode MS"/>
              </a:rPr>
              <a:t>（</a:t>
            </a:r>
            <a:r>
              <a:rPr dirty="0" sz="1100" spc="-35">
                <a:latin typeface="Georgia"/>
                <a:cs typeface="Georgia"/>
              </a:rPr>
              <a:t>pH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-315">
                <a:latin typeface="Georgia"/>
                <a:cs typeface="Georgia"/>
              </a:rPr>
              <a:t>9</a:t>
            </a:r>
            <a:r>
              <a:rPr dirty="0" sz="1200" spc="-315">
                <a:latin typeface="Arial Unicode MS"/>
                <a:cs typeface="Arial Unicode MS"/>
              </a:rPr>
              <a:t>），</a:t>
            </a:r>
            <a:r>
              <a:rPr dirty="0" sz="1200" spc="-5">
                <a:latin typeface="Arial Unicode MS"/>
                <a:cs typeface="Arial Unicode MS"/>
              </a:rPr>
              <a:t>可沉淀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Ag</a:t>
            </a:r>
            <a:r>
              <a:rPr dirty="0" baseline="37037" sz="900" spc="37">
                <a:latin typeface="Times New Roman"/>
                <a:cs typeface="Times New Roman"/>
              </a:rPr>
              <a:t>+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100" spc="25">
                <a:latin typeface="Georgia"/>
                <a:cs typeface="Georgia"/>
              </a:rPr>
              <a:t>Zn</a:t>
            </a:r>
            <a:r>
              <a:rPr dirty="0" baseline="37037" sz="900" spc="37">
                <a:latin typeface="Times New Roman"/>
                <a:cs typeface="Times New Roman"/>
              </a:rPr>
              <a:t>2+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100" spc="25">
                <a:latin typeface="Georgia"/>
                <a:cs typeface="Georgia"/>
              </a:rPr>
              <a:t>Ni</a:t>
            </a:r>
            <a:r>
              <a:rPr dirty="0" baseline="37037" sz="900" spc="37">
                <a:latin typeface="Times New Roman"/>
                <a:cs typeface="Times New Roman"/>
              </a:rPr>
              <a:t>2+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等</a:t>
            </a:r>
            <a:endParaRPr sz="1200">
              <a:latin typeface="Arial Unicode MS"/>
              <a:cs typeface="Arial Unicode MS"/>
            </a:endParaRPr>
          </a:p>
          <a:p>
            <a:pPr marL="158115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离</a:t>
            </a:r>
            <a:r>
              <a:rPr dirty="0" sz="1200" spc="-65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50">
              <a:latin typeface="Arial Unicode MS"/>
              <a:cs typeface="Arial Unicode MS"/>
            </a:endParaRPr>
          </a:p>
          <a:p>
            <a:pPr marL="158115">
              <a:lnSpc>
                <a:spcPct val="100000"/>
              </a:lnSpc>
            </a:pPr>
            <a:r>
              <a:rPr dirty="0" sz="1100" spc="15">
                <a:latin typeface="Georgia"/>
                <a:cs typeface="Georgia"/>
              </a:rPr>
              <a:t>(NH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100" spc="15">
                <a:latin typeface="Georgia"/>
                <a:cs typeface="Georgia"/>
              </a:rPr>
              <a:t>)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S</a:t>
            </a:r>
            <a:r>
              <a:rPr dirty="0" sz="1100" spc="165">
                <a:latin typeface="Georgia"/>
                <a:cs typeface="Georgia"/>
              </a:rPr>
              <a:t> 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100" spc="44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在氨性介质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可沉淀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Ag</a:t>
            </a:r>
            <a:r>
              <a:rPr dirty="0" baseline="37037" sz="900" spc="37">
                <a:latin typeface="Times New Roman"/>
                <a:cs typeface="Times New Roman"/>
              </a:rPr>
              <a:t>+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100" spc="25">
                <a:latin typeface="Georgia"/>
                <a:cs typeface="Georgia"/>
              </a:rPr>
              <a:t>Hg</a:t>
            </a:r>
            <a:r>
              <a:rPr dirty="0" baseline="37037" sz="900" spc="37">
                <a:latin typeface="Times New Roman"/>
                <a:cs typeface="Times New Roman"/>
              </a:rPr>
              <a:t>2+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100" spc="25">
                <a:latin typeface="Georgia"/>
                <a:cs typeface="Georgia"/>
              </a:rPr>
              <a:t>Pb</a:t>
            </a:r>
            <a:r>
              <a:rPr dirty="0" baseline="37037" sz="900" spc="37">
                <a:latin typeface="Times New Roman"/>
                <a:cs typeface="Times New Roman"/>
              </a:rPr>
              <a:t>2+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100" spc="25">
                <a:latin typeface="Georgia"/>
                <a:cs typeface="Georgia"/>
              </a:rPr>
              <a:t>Zn</a:t>
            </a:r>
            <a:r>
              <a:rPr dirty="0" baseline="37037" sz="900" spc="37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等</a:t>
            </a:r>
            <a:endParaRPr sz="1200">
              <a:latin typeface="Arial Unicode MS"/>
              <a:cs typeface="Arial Unicode MS"/>
            </a:endParaRPr>
          </a:p>
          <a:p>
            <a:pPr marL="158115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离</a:t>
            </a:r>
            <a:r>
              <a:rPr dirty="0" sz="1200" spc="-65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</a:pPr>
            <a:r>
              <a:rPr dirty="0" baseline="37037" sz="900" spc="82">
                <a:latin typeface="Times New Roman"/>
                <a:cs typeface="Times New Roman"/>
              </a:rPr>
              <a:t>1</a:t>
            </a:r>
            <a:r>
              <a:rPr dirty="0" sz="900" spc="55">
                <a:latin typeface="Garamond"/>
                <a:cs typeface="Garamond"/>
              </a:rPr>
              <a:t>pH </a:t>
            </a:r>
            <a:r>
              <a:rPr dirty="0" sz="900" spc="35">
                <a:latin typeface="Garamond"/>
                <a:cs typeface="Garamond"/>
              </a:rPr>
              <a:t>9 </a:t>
            </a:r>
            <a:r>
              <a:rPr dirty="0" sz="900">
                <a:latin typeface="Lucida Sans Unicode"/>
                <a:cs typeface="Lucida Sans Unicode"/>
              </a:rPr>
              <a:t>∼</a:t>
            </a:r>
            <a:r>
              <a:rPr dirty="0" sz="900" spc="-95">
                <a:latin typeface="Lucida Sans Unicode"/>
                <a:cs typeface="Lucida Sans Unicode"/>
              </a:rPr>
              <a:t> </a:t>
            </a:r>
            <a:r>
              <a:rPr dirty="0" sz="900" spc="35">
                <a:latin typeface="Garamond"/>
                <a:cs typeface="Garamond"/>
              </a:rPr>
              <a:t>10</a:t>
            </a:r>
            <a:endParaRPr sz="900">
              <a:latin typeface="Garamond"/>
              <a:cs typeface="Garamond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350018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6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69024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有机沉淀剂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222846" y="970010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2277" y="95484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153" y="858075"/>
            <a:ext cx="400685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草酸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——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50">
                <a:latin typeface="Georgia"/>
                <a:cs typeface="Georgia"/>
              </a:rPr>
              <a:t>2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用于沉淀稀土离</a:t>
            </a:r>
            <a:r>
              <a:rPr dirty="0" sz="1200" spc="-65">
                <a:latin typeface="Arial Unicode MS"/>
                <a:cs typeface="Arial Unicode MS"/>
              </a:rPr>
              <a:t>子</a:t>
            </a:r>
            <a:r>
              <a:rPr dirty="0" sz="1200" spc="-200">
                <a:latin typeface="Arial Unicode MS"/>
                <a:cs typeface="Arial Unicode MS"/>
              </a:rPr>
              <a:t>；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4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4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及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存在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沉淀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Ca</a:t>
            </a:r>
            <a:r>
              <a:rPr dirty="0" baseline="37037" sz="900" spc="75">
                <a:latin typeface="Times New Roman"/>
                <a:cs typeface="Times New Roman"/>
              </a:rPr>
              <a:t>2+</a:t>
            </a:r>
            <a:r>
              <a:rPr dirty="0" sz="1200" spc="50">
                <a:latin typeface="Arial Unicode MS"/>
                <a:cs typeface="Arial Unicode MS"/>
              </a:rPr>
              <a:t>，</a:t>
            </a:r>
            <a:r>
              <a:rPr dirty="0" sz="1100" spc="50">
                <a:latin typeface="Georgia"/>
                <a:cs typeface="Georgia"/>
              </a:rPr>
              <a:t>Ba</a:t>
            </a:r>
            <a:r>
              <a:rPr dirty="0" baseline="37037" sz="900" spc="75">
                <a:latin typeface="Times New Roman"/>
                <a:cs typeface="Times New Roman"/>
              </a:rPr>
              <a:t>2+</a:t>
            </a:r>
            <a:r>
              <a:rPr dirty="0" baseline="37037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等离</a:t>
            </a:r>
            <a:r>
              <a:rPr dirty="0" sz="1200" spc="-65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1593910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157874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2846" y="2217797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2277" y="220265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153" y="1481975"/>
            <a:ext cx="4040504" cy="10972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铜试剂</a:t>
            </a:r>
            <a:r>
              <a:rPr dirty="0" baseline="37037" sz="900" spc="97">
                <a:latin typeface="Times New Roman"/>
                <a:cs typeface="Times New Roman"/>
              </a:rPr>
              <a:t>2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100" spc="145">
                <a:latin typeface="Georgia"/>
                <a:cs typeface="Georgia"/>
              </a:rPr>
              <a:t>——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4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沉淀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Cu</a:t>
            </a:r>
            <a:r>
              <a:rPr dirty="0" baseline="37037" sz="900" spc="75">
                <a:latin typeface="Times New Roman"/>
                <a:cs typeface="Times New Roman"/>
              </a:rPr>
              <a:t>2+</a:t>
            </a:r>
            <a:r>
              <a:rPr dirty="0" sz="1200" spc="50">
                <a:latin typeface="Arial Unicode MS"/>
                <a:cs typeface="Arial Unicode MS"/>
              </a:rPr>
              <a:t>，</a:t>
            </a:r>
            <a:r>
              <a:rPr dirty="0" sz="1100" spc="50">
                <a:latin typeface="Georgia"/>
                <a:cs typeface="Georgia"/>
              </a:rPr>
              <a:t>Pb</a:t>
            </a:r>
            <a:r>
              <a:rPr dirty="0" baseline="37037" sz="900" spc="75">
                <a:latin typeface="Times New Roman"/>
                <a:cs typeface="Times New Roman"/>
              </a:rPr>
              <a:t>2+</a:t>
            </a:r>
            <a:r>
              <a:rPr dirty="0" baseline="37037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等离</a:t>
            </a:r>
            <a:r>
              <a:rPr dirty="0" sz="1200" spc="-65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r>
              <a:rPr dirty="0" sz="1200" spc="-170">
                <a:latin typeface="Arial Unicode MS"/>
                <a:cs typeface="Arial Unicode MS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4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及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存在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沉淀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Cu</a:t>
            </a:r>
            <a:r>
              <a:rPr dirty="0" baseline="37037" sz="900" spc="67">
                <a:latin typeface="Times New Roman"/>
                <a:cs typeface="Times New Roman"/>
              </a:rPr>
              <a:t>2+</a:t>
            </a:r>
            <a:r>
              <a:rPr dirty="0" sz="1200" spc="45">
                <a:latin typeface="Arial Unicode MS"/>
                <a:cs typeface="Arial Unicode MS"/>
              </a:rPr>
              <a:t>，</a:t>
            </a:r>
            <a:r>
              <a:rPr dirty="0" sz="1100" spc="45">
                <a:latin typeface="Georgia"/>
                <a:cs typeface="Georgia"/>
              </a:rPr>
              <a:t>Bi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等离</a:t>
            </a:r>
            <a:r>
              <a:rPr dirty="0" sz="1200" spc="-65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1715"/>
              </a:spcBef>
            </a:pPr>
            <a:r>
              <a:rPr dirty="0" sz="1200" spc="-5">
                <a:latin typeface="Arial Unicode MS"/>
                <a:cs typeface="Arial Unicode MS"/>
              </a:rPr>
              <a:t>铜铁试剂</a:t>
            </a:r>
            <a:r>
              <a:rPr dirty="0" baseline="37037" sz="900" spc="97">
                <a:latin typeface="Times New Roman"/>
                <a:cs typeface="Times New Roman"/>
              </a:rPr>
              <a:t>3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100" spc="145">
                <a:latin typeface="Georgia"/>
                <a:cs typeface="Georgia"/>
              </a:rPr>
              <a:t>——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在约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65">
                <a:latin typeface="Georgia"/>
                <a:cs typeface="Georgia"/>
              </a:rPr>
              <a:t>3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mol</a:t>
            </a:r>
            <a:r>
              <a:rPr dirty="0" sz="1100" spc="-50" b="0" i="1">
                <a:latin typeface="Bookman Old Style"/>
                <a:cs typeface="Bookman Old Style"/>
              </a:rPr>
              <a:t>/</a:t>
            </a:r>
            <a:r>
              <a:rPr dirty="0" sz="1100" spc="-50">
                <a:latin typeface="Georgia"/>
                <a:cs typeface="Georgia"/>
              </a:rPr>
              <a:t>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介质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沉淀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Cu</a:t>
            </a:r>
            <a:r>
              <a:rPr dirty="0" baseline="37037" sz="900" spc="52">
                <a:latin typeface="Times New Roman"/>
                <a:cs typeface="Times New Roman"/>
              </a:rPr>
              <a:t>2+</a:t>
            </a:r>
            <a:r>
              <a:rPr dirty="0" sz="1200" spc="35">
                <a:latin typeface="Arial Unicode MS"/>
                <a:cs typeface="Arial Unicode MS"/>
              </a:rPr>
              <a:t>，</a:t>
            </a:r>
            <a:r>
              <a:rPr dirty="0" sz="1100" spc="35">
                <a:latin typeface="Georgia"/>
                <a:cs typeface="Georgia"/>
              </a:rPr>
              <a:t>Fe</a:t>
            </a:r>
            <a:r>
              <a:rPr dirty="0" baseline="37037" sz="900" spc="52">
                <a:latin typeface="Times New Roman"/>
                <a:cs typeface="Times New Roman"/>
              </a:rPr>
              <a:t>3+</a:t>
            </a:r>
            <a:endParaRPr baseline="37037" sz="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等离</a:t>
            </a:r>
            <a:r>
              <a:rPr dirty="0" sz="1200" spc="-65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8544" y="3014611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58394" y="3005826"/>
            <a:ext cx="1381760" cy="32893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2</a:t>
            </a:r>
            <a:r>
              <a:rPr dirty="0" sz="900" spc="-5">
                <a:latin typeface="Arial Unicode MS"/>
                <a:cs typeface="Arial Unicode MS"/>
              </a:rPr>
              <a:t>二乙基二硫代氨基甲酸钠</a:t>
            </a:r>
            <a:endParaRPr sz="9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baseline="37037" sz="900" spc="60">
                <a:latin typeface="Times New Roman"/>
                <a:cs typeface="Times New Roman"/>
              </a:rPr>
              <a:t>3</a:t>
            </a:r>
            <a:r>
              <a:rPr dirty="0" sz="900" spc="40">
                <a:latin typeface="Garamond"/>
                <a:cs typeface="Garamond"/>
              </a:rPr>
              <a:t>N-</a:t>
            </a:r>
            <a:r>
              <a:rPr dirty="0" sz="900" spc="-5">
                <a:latin typeface="Arial Unicode MS"/>
                <a:cs typeface="Arial Unicode MS"/>
              </a:rPr>
              <a:t>亚硝基苯胲铵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67640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10.2</a:t>
            </a:r>
            <a:r>
              <a:rPr dirty="0" sz="1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共沉淀分离法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06551"/>
            <a:ext cx="4419600" cy="1815464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共沉淀分离法也是一种富集方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可用于浓度小</a:t>
            </a:r>
            <a:r>
              <a:rPr dirty="0" sz="1200" spc="175">
                <a:latin typeface="Arial Unicode MS"/>
                <a:cs typeface="Arial Unicode MS"/>
              </a:rPr>
              <a:t>于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mg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mL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的待测组分的分离富</a:t>
            </a:r>
            <a:r>
              <a:rPr dirty="0" sz="1200" spc="-20">
                <a:latin typeface="Arial Unicode MS"/>
                <a:cs typeface="Arial Unicode MS"/>
              </a:rPr>
              <a:t>集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 marR="50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共沉淀法所依据的原理是组分在沉淀表面发生的共沉淀现</a:t>
            </a:r>
            <a:r>
              <a:rPr dirty="0" sz="1200" spc="-80">
                <a:latin typeface="Arial Unicode MS"/>
                <a:cs typeface="Arial Unicode MS"/>
              </a:rPr>
              <a:t>象</a:t>
            </a:r>
            <a:r>
              <a:rPr dirty="0" sz="1200" spc="-5">
                <a:latin typeface="Arial Unicode MS"/>
                <a:cs typeface="Arial Unicode MS"/>
              </a:rPr>
              <a:t>， </a:t>
            </a:r>
            <a:r>
              <a:rPr dirty="0" sz="1200" spc="-5">
                <a:latin typeface="Arial Unicode MS"/>
                <a:cs typeface="Arial Unicode MS"/>
              </a:rPr>
              <a:t>利用某种特殊的沉淀作为载</a:t>
            </a:r>
            <a:r>
              <a:rPr dirty="0" sz="1200" spc="-80">
                <a:latin typeface="Arial Unicode MS"/>
                <a:cs typeface="Arial Unicode MS"/>
              </a:rPr>
              <a:t>体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使微量组分在此沉淀表面沉淀下 </a:t>
            </a:r>
            <a:r>
              <a:rPr dirty="0" sz="1200" spc="-20">
                <a:latin typeface="Arial Unicode MS"/>
                <a:cs typeface="Arial Unicode MS"/>
              </a:rPr>
              <a:t>来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然后对此沉淀进行相关的处</a:t>
            </a:r>
            <a:r>
              <a:rPr dirty="0" sz="1200" spc="-80">
                <a:latin typeface="Arial Unicode MS"/>
                <a:cs typeface="Arial Unicode MS"/>
              </a:rPr>
              <a:t>理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如再溶解或其它物理化学手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-80">
                <a:latin typeface="Arial Unicode MS"/>
                <a:cs typeface="Arial Unicode MS"/>
              </a:rPr>
              <a:t>段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使微量组分分离出</a:t>
            </a:r>
            <a:r>
              <a:rPr dirty="0" sz="1200" spc="-80">
                <a:latin typeface="Arial Unicode MS"/>
                <a:cs typeface="Arial Unicode MS"/>
              </a:rPr>
              <a:t>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从而达到对微量组分的富集之目</a:t>
            </a:r>
            <a:r>
              <a:rPr dirty="0" sz="1200" spc="-20">
                <a:latin typeface="Arial Unicode MS"/>
                <a:cs typeface="Arial Unicode MS"/>
              </a:rPr>
              <a:t>的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320"/>
              </a:spcBef>
            </a:pPr>
            <a:r>
              <a:rPr dirty="0" sz="1200" spc="-10">
                <a:latin typeface="Arial Unicode MS"/>
                <a:cs typeface="Arial Unicode MS"/>
              </a:rPr>
              <a:t>实现共沉淀的载体称为共沉淀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根据反应的试剂不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通</a:t>
            </a:r>
            <a:r>
              <a:rPr dirty="0" sz="1200" spc="-5">
                <a:latin typeface="Arial Unicode MS"/>
                <a:cs typeface="Arial Unicode MS"/>
              </a:rPr>
              <a:t>常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分为无机共沉淀剂和有机共沉淀</a:t>
            </a:r>
            <a:r>
              <a:rPr dirty="0" sz="1200" spc="-20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82296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无机共沉</a:t>
            </a:r>
            <a:r>
              <a:rPr dirty="0" sz="1050" spc="-10">
                <a:solidFill>
                  <a:srgbClr val="FFFFFF"/>
                </a:solidFill>
              </a:rPr>
              <a:t>淀</a:t>
            </a:r>
            <a:r>
              <a:rPr dirty="0" sz="1050" spc="-5">
                <a:solidFill>
                  <a:srgbClr val="FFFFFF"/>
                </a:solidFill>
              </a:rPr>
              <a:t>剂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00444" y="1173416"/>
            <a:ext cx="4351020" cy="114427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常用的无机共沉淀剂是氢氧化物或硫化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这类共沉淀剂的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特点是比表面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吸附能力</a:t>
            </a:r>
            <a:r>
              <a:rPr dirty="0" sz="1200" spc="-20">
                <a:latin typeface="Arial Unicode MS"/>
                <a:cs typeface="Arial Unicode MS"/>
              </a:rPr>
              <a:t>强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38100" marR="304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可以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-10">
                <a:latin typeface="Georgia"/>
                <a:cs typeface="Georgia"/>
              </a:rPr>
              <a:t>Fe(OH)</a:t>
            </a:r>
            <a:r>
              <a:rPr dirty="0" baseline="-13888" sz="900" spc="-15">
                <a:latin typeface="Times New Roman"/>
                <a:cs typeface="Times New Roman"/>
              </a:rPr>
              <a:t>3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或</a:t>
            </a:r>
            <a:r>
              <a:rPr dirty="0" sz="1100" spc="10">
                <a:latin typeface="Georgia"/>
                <a:cs typeface="Georgia"/>
              </a:rPr>
              <a:t>Al(OH)</a:t>
            </a:r>
            <a:r>
              <a:rPr dirty="0" baseline="-13888" sz="900" spc="15">
                <a:latin typeface="Times New Roman"/>
                <a:cs typeface="Times New Roman"/>
              </a:rPr>
              <a:t>3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沉淀吸附富集重金属离</a:t>
            </a:r>
            <a:r>
              <a:rPr dirty="0" sz="1200" spc="-20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。 这类沉淀的表面吸附层为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OH</a:t>
            </a:r>
            <a:r>
              <a:rPr dirty="0" baseline="37037" sz="900" spc="-15" i="1">
                <a:latin typeface="Arial"/>
                <a:cs typeface="Arial"/>
              </a:rPr>
              <a:t>−</a:t>
            </a:r>
            <a:r>
              <a:rPr dirty="0" sz="1200" spc="-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容易与一些重金属离子</a:t>
            </a:r>
            <a:r>
              <a:rPr dirty="0" sz="1200" spc="175">
                <a:latin typeface="Arial Unicode MS"/>
                <a:cs typeface="Arial Unicode MS"/>
              </a:rPr>
              <a:t>如</a:t>
            </a:r>
            <a:r>
              <a:rPr dirty="0" sz="1100" spc="50">
                <a:latin typeface="Georgia"/>
                <a:cs typeface="Georgia"/>
              </a:rPr>
              <a:t>Be</a:t>
            </a:r>
            <a:r>
              <a:rPr dirty="0" baseline="37037" sz="900" spc="75">
                <a:latin typeface="Times New Roman"/>
                <a:cs typeface="Times New Roman"/>
              </a:rPr>
              <a:t>2+</a:t>
            </a:r>
            <a:r>
              <a:rPr dirty="0" sz="1200" spc="50">
                <a:latin typeface="Arial Unicode MS"/>
                <a:cs typeface="Arial Unicode MS"/>
              </a:rPr>
              <a:t>，  </a:t>
            </a:r>
            <a:r>
              <a:rPr dirty="0" sz="1100" spc="50">
                <a:latin typeface="Georgia"/>
                <a:cs typeface="Georgia"/>
              </a:rPr>
              <a:t>Mn</a:t>
            </a:r>
            <a:r>
              <a:rPr dirty="0" baseline="37037" sz="900" spc="75">
                <a:latin typeface="Times New Roman"/>
                <a:cs typeface="Times New Roman"/>
              </a:rPr>
              <a:t>2+</a:t>
            </a:r>
            <a:r>
              <a:rPr dirty="0" baseline="37037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等形成共沉</a:t>
            </a:r>
            <a:r>
              <a:rPr dirty="0" sz="1200" spc="-80">
                <a:latin typeface="Arial Unicode MS"/>
                <a:cs typeface="Arial Unicode MS"/>
              </a:rPr>
              <a:t>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从而将这些金属离子共沉淀下</a:t>
            </a:r>
            <a:r>
              <a:rPr dirty="0" sz="1200" spc="-20">
                <a:latin typeface="Arial Unicode MS"/>
                <a:cs typeface="Arial Unicode MS"/>
              </a:rPr>
              <a:t>来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82296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有机共沉</a:t>
            </a:r>
            <a:r>
              <a:rPr dirty="0" sz="1050" spc="-10">
                <a:solidFill>
                  <a:srgbClr val="FFFFFF"/>
                </a:solidFill>
              </a:rPr>
              <a:t>淀</a:t>
            </a:r>
            <a:r>
              <a:rPr dirty="0" sz="1050" spc="-5">
                <a:solidFill>
                  <a:srgbClr val="FFFFFF"/>
                </a:solidFill>
              </a:rPr>
              <a:t>剂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274599" y="153390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795551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7744" y="801052"/>
            <a:ext cx="4432935" cy="207454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有机共沉淀剂则是利用有机化合物的疏水性来分离水相中的</a:t>
            </a:r>
            <a:endParaRPr sz="1200">
              <a:latin typeface="Arial Unicode MS"/>
              <a:cs typeface="Arial Unicode MS"/>
            </a:endParaRPr>
          </a:p>
          <a:p>
            <a:pPr marL="50165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金属离</a:t>
            </a:r>
            <a:r>
              <a:rPr dirty="0" sz="1200" spc="-20">
                <a:latin typeface="Arial Unicode MS"/>
                <a:cs typeface="Arial Unicode MS"/>
              </a:rPr>
              <a:t>子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其实现分离的方式通常分两个步</a:t>
            </a:r>
            <a:r>
              <a:rPr dirty="0" sz="1200" spc="-90">
                <a:latin typeface="Arial Unicode MS"/>
                <a:cs typeface="Arial Unicode MS"/>
              </a:rPr>
              <a:t>骤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8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用一种试剂将无机离子转化为某种化合</a:t>
            </a:r>
            <a:r>
              <a:rPr dirty="0" sz="1200" spc="-65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620"/>
              </a:spcBef>
            </a:pPr>
            <a:r>
              <a:rPr dirty="0" sz="1200" spc="-10">
                <a:latin typeface="Arial Unicode MS"/>
                <a:cs typeface="Arial Unicode MS"/>
              </a:rPr>
              <a:t>加入某种有机共沉淀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使前一步骤生成的化合</a:t>
            </a:r>
            <a:r>
              <a:rPr dirty="0" sz="1200" spc="-5">
                <a:latin typeface="Arial Unicode MS"/>
                <a:cs typeface="Arial Unicode MS"/>
              </a:rPr>
              <a:t>物</a:t>
            </a:r>
            <a:r>
              <a:rPr dirty="0" sz="1200" spc="-10">
                <a:latin typeface="Arial Unicode MS"/>
                <a:cs typeface="Arial Unicode MS"/>
              </a:rPr>
              <a:t>吸附在此</a:t>
            </a:r>
            <a:r>
              <a:rPr dirty="0" sz="1200" spc="-5">
                <a:latin typeface="Arial Unicode MS"/>
                <a:cs typeface="Arial Unicode MS"/>
              </a:rPr>
              <a:t>共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沉淀剂</a:t>
            </a:r>
            <a:r>
              <a:rPr dirty="0" sz="1200" spc="-80">
                <a:latin typeface="Arial Unicode MS"/>
                <a:cs typeface="Arial Unicode MS"/>
              </a:rPr>
              <a:t>上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从而实现与水相的分</a:t>
            </a:r>
            <a:r>
              <a:rPr dirty="0" sz="1200" spc="-20">
                <a:latin typeface="Arial Unicode MS"/>
                <a:cs typeface="Arial Unicode MS"/>
              </a:rPr>
              <a:t>离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50800" marR="108585" indent="303530">
              <a:lnSpc>
                <a:spcPct val="122300"/>
              </a:lnSpc>
              <a:spcBef>
                <a:spcPts val="60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在弱酸介质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可先用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65">
                <a:latin typeface="Georgia"/>
                <a:cs typeface="Georgia"/>
              </a:rPr>
              <a:t>SCN</a:t>
            </a:r>
            <a:r>
              <a:rPr dirty="0" baseline="37037" sz="900" spc="97" i="1">
                <a:latin typeface="Arial"/>
                <a:cs typeface="Arial"/>
              </a:rPr>
              <a:t>−</a:t>
            </a:r>
            <a:r>
              <a:rPr dirty="0" baseline="37037" sz="900" spc="345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80">
                <a:latin typeface="Georgia"/>
                <a:cs typeface="Georgia"/>
              </a:rPr>
              <a:t>Cu</a:t>
            </a:r>
            <a:r>
              <a:rPr dirty="0" baseline="37037" sz="900" spc="120">
                <a:latin typeface="Times New Roman"/>
                <a:cs typeface="Times New Roman"/>
              </a:rPr>
              <a:t>2+</a:t>
            </a:r>
            <a:r>
              <a:rPr dirty="0" baseline="37037" sz="900" spc="3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生成络阴离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，  然后加入甲基紫与前面生成的络阴离子形成共沉</a:t>
            </a:r>
            <a:r>
              <a:rPr dirty="0" sz="1200" spc="-80">
                <a:latin typeface="Arial Unicode MS"/>
                <a:cs typeface="Arial Unicode MS"/>
              </a:rPr>
              <a:t>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从而分离水 相中的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90">
                <a:latin typeface="Georgia"/>
                <a:cs typeface="Georgia"/>
              </a:rPr>
              <a:t>Cu</a:t>
            </a:r>
            <a:r>
              <a:rPr dirty="0" baseline="37037" sz="900" spc="135">
                <a:latin typeface="Times New Roman"/>
                <a:cs typeface="Times New Roman"/>
              </a:rPr>
              <a:t>2+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44" y="338924"/>
            <a:ext cx="4343400" cy="11442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也有采用单一有机共沉淀剂实现分离</a:t>
            </a:r>
            <a:r>
              <a:rPr dirty="0" spc="-80"/>
              <a:t>的</a:t>
            </a:r>
            <a:r>
              <a:rPr dirty="0" spc="-185"/>
              <a:t>，</a:t>
            </a:r>
            <a:r>
              <a:rPr dirty="0" spc="-5"/>
              <a:t>例</a:t>
            </a:r>
            <a:r>
              <a:rPr dirty="0" spc="-80"/>
              <a:t>如</a:t>
            </a:r>
            <a:r>
              <a:rPr dirty="0" spc="-40"/>
              <a:t>，</a:t>
            </a:r>
            <a:r>
              <a:rPr dirty="0" sz="1100" spc="-40">
                <a:latin typeface="Georgia"/>
                <a:cs typeface="Georgia"/>
              </a:rPr>
              <a:t>PAN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pc="-5"/>
              <a:t>本身不 溶于</a:t>
            </a:r>
            <a:r>
              <a:rPr dirty="0" spc="-80"/>
              <a:t>水</a:t>
            </a:r>
            <a:r>
              <a:rPr dirty="0" spc="-185"/>
              <a:t>，</a:t>
            </a:r>
            <a:r>
              <a:rPr dirty="0" spc="-5"/>
              <a:t>当把它的乙醇溶液加入到含微量</a:t>
            </a:r>
            <a:r>
              <a:rPr dirty="0"/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352">
                <a:latin typeface="Times New Roman"/>
                <a:cs typeface="Times New Roman"/>
              </a:rPr>
              <a:t> </a:t>
            </a:r>
            <a:r>
              <a:rPr dirty="0" sz="1200" spc="-5"/>
              <a:t>的水溶液中</a:t>
            </a:r>
            <a:r>
              <a:rPr dirty="0" sz="1200" spc="-80"/>
              <a:t>时</a:t>
            </a:r>
            <a:r>
              <a:rPr dirty="0" sz="1200" spc="-185"/>
              <a:t>，</a:t>
            </a:r>
            <a:r>
              <a:rPr dirty="0" sz="1200" spc="-5"/>
              <a:t>它 与</a:t>
            </a:r>
            <a:r>
              <a:rPr dirty="0" sz="1200"/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352">
                <a:latin typeface="Times New Roman"/>
                <a:cs typeface="Times New Roman"/>
              </a:rPr>
              <a:t> </a:t>
            </a:r>
            <a:r>
              <a:rPr dirty="0" sz="1200" spc="-5"/>
              <a:t>生成鳌合</a:t>
            </a:r>
            <a:r>
              <a:rPr dirty="0" sz="1200" spc="-80"/>
              <a:t>物</a:t>
            </a:r>
            <a:r>
              <a:rPr dirty="0" sz="1200" spc="-185"/>
              <a:t>，</a:t>
            </a:r>
            <a:r>
              <a:rPr dirty="0" sz="1200" spc="-5"/>
              <a:t>该鳌合物由于浓度极低而不会析出沉</a:t>
            </a:r>
            <a:r>
              <a:rPr dirty="0" sz="1200" spc="-20"/>
              <a:t>淀</a:t>
            </a:r>
            <a:r>
              <a:rPr dirty="0" sz="1200" spc="-235"/>
              <a:t>。</a:t>
            </a:r>
            <a:r>
              <a:rPr dirty="0" sz="1200" spc="-5"/>
              <a:t>然 </a:t>
            </a:r>
            <a:r>
              <a:rPr dirty="0" sz="1200" spc="-80"/>
              <a:t>而</a:t>
            </a:r>
            <a:r>
              <a:rPr dirty="0" sz="1200" spc="-185"/>
              <a:t>，</a:t>
            </a:r>
            <a:r>
              <a:rPr dirty="0" sz="1200" spc="-5"/>
              <a:t>由于</a:t>
            </a:r>
            <a:r>
              <a:rPr dirty="0" sz="1200" spc="-15"/>
              <a:t> </a:t>
            </a:r>
            <a:r>
              <a:rPr dirty="0" sz="1100" spc="10">
                <a:latin typeface="Georgia"/>
                <a:cs typeface="Georgia"/>
              </a:rPr>
              <a:t>PAN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200" spc="-5"/>
              <a:t>自身在大量水中的溶解度很</a:t>
            </a:r>
            <a:r>
              <a:rPr dirty="0" sz="1200" spc="-80"/>
              <a:t>小</a:t>
            </a:r>
            <a:r>
              <a:rPr dirty="0" sz="1200" spc="-185"/>
              <a:t>，</a:t>
            </a:r>
            <a:r>
              <a:rPr dirty="0" sz="1200" spc="-5"/>
              <a:t>它自身析出沉淀而 将前面生成的鳌合物共沉淀下</a:t>
            </a:r>
            <a:r>
              <a:rPr dirty="0" sz="1200" spc="-20"/>
              <a:t>来</a:t>
            </a:r>
            <a:r>
              <a:rPr dirty="0" sz="1200" spc="-5"/>
              <a:t>。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1595958"/>
            <a:ext cx="4388485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利用胶体的凝聚作</a:t>
            </a:r>
            <a:r>
              <a:rPr dirty="0" sz="1200" spc="-80">
                <a:latin typeface="Arial Unicode MS"/>
                <a:cs typeface="Arial Unicode MS"/>
              </a:rPr>
              <a:t>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也可实现共沉淀分</a:t>
            </a:r>
            <a:r>
              <a:rPr dirty="0" sz="1200" spc="-20">
                <a:latin typeface="Arial Unicode MS"/>
                <a:cs typeface="Arial Unicode MS"/>
              </a:rPr>
              <a:t>离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溶液中微 </a:t>
            </a:r>
            <a:r>
              <a:rPr dirty="0" sz="1200" spc="-5">
                <a:latin typeface="Arial Unicode MS"/>
                <a:cs typeface="Arial Unicode MS"/>
              </a:rPr>
              <a:t>量的 </a:t>
            </a:r>
            <a:r>
              <a:rPr dirty="0" sz="1100" spc="25">
                <a:latin typeface="Georgia"/>
                <a:cs typeface="Georgia"/>
              </a:rPr>
              <a:t>H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WO</a:t>
            </a:r>
            <a:r>
              <a:rPr dirty="0" baseline="-13888" sz="900" spc="37">
                <a:latin typeface="Times New Roman"/>
                <a:cs typeface="Times New Roman"/>
              </a:rPr>
              <a:t>4</a:t>
            </a:r>
            <a:r>
              <a:rPr dirty="0" baseline="-13888" sz="900" spc="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以带负电的胶体粒子存</a:t>
            </a:r>
            <a:r>
              <a:rPr dirty="0" sz="1200" spc="-80">
                <a:latin typeface="Arial Unicode MS"/>
                <a:cs typeface="Arial Unicode MS"/>
              </a:rPr>
              <a:t>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负电的相互排斥使这些胶 体粒子不易沉</a:t>
            </a:r>
            <a:r>
              <a:rPr dirty="0" sz="1200" spc="-20">
                <a:latin typeface="Arial Unicode MS"/>
                <a:cs typeface="Arial Unicode MS"/>
              </a:rPr>
              <a:t>淀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此时可以加入在酸性溶液中带正电的辛可</a:t>
            </a:r>
            <a:r>
              <a:rPr dirty="0" sz="1200" spc="-10">
                <a:latin typeface="Arial Unicode MS"/>
                <a:cs typeface="Arial Unicode MS"/>
              </a:rPr>
              <a:t>宁</a:t>
            </a:r>
            <a:r>
              <a:rPr dirty="0" baseline="37037" sz="900" spc="165">
                <a:latin typeface="Times New Roman"/>
                <a:cs typeface="Times New Roman"/>
              </a:rPr>
              <a:t>4</a:t>
            </a:r>
            <a:r>
              <a:rPr dirty="0" sz="1200" spc="-5">
                <a:latin typeface="Arial Unicode MS"/>
                <a:cs typeface="Arial Unicode MS"/>
              </a:rPr>
              <a:t>作 为共沉淀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使带负电的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H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WO</a:t>
            </a:r>
            <a:r>
              <a:rPr dirty="0" baseline="-13888" sz="900" spc="37">
                <a:latin typeface="Times New Roman"/>
                <a:cs typeface="Times New Roman"/>
              </a:rPr>
              <a:t>4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胶体粒子在辛可宁上凝</a:t>
            </a:r>
            <a:r>
              <a:rPr dirty="0" sz="1200" spc="-80">
                <a:latin typeface="Arial Unicode MS"/>
                <a:cs typeface="Arial Unicode MS"/>
              </a:rPr>
              <a:t>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一同 沉淀下</a:t>
            </a:r>
            <a:r>
              <a:rPr dirty="0" sz="1200" spc="-20">
                <a:latin typeface="Arial Unicode MS"/>
                <a:cs typeface="Arial Unicode MS"/>
              </a:rPr>
              <a:t>来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8394" y="3172599"/>
            <a:ext cx="206375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4</a:t>
            </a:r>
            <a:r>
              <a:rPr dirty="0" sz="900" spc="-5">
                <a:latin typeface="Arial Unicode MS"/>
                <a:cs typeface="Arial Unicode MS"/>
              </a:rPr>
              <a:t>辛可宁是一种具有大分子量的生物</a:t>
            </a:r>
            <a:r>
              <a:rPr dirty="0" sz="900" spc="-15">
                <a:latin typeface="Arial Unicode MS"/>
                <a:cs typeface="Arial Unicode MS"/>
              </a:rPr>
              <a:t>碱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47383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10.3</a:t>
            </a:r>
            <a:r>
              <a:rPr dirty="0" sz="1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萃取分离法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04367"/>
            <a:ext cx="4395470" cy="18154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萃取分离法是将与水不相溶的有机溶剂与试样水溶液一起振 </a:t>
            </a:r>
            <a:r>
              <a:rPr dirty="0" sz="1200" spc="-80">
                <a:latin typeface="Arial Unicode MS"/>
                <a:cs typeface="Arial Unicode MS"/>
              </a:rPr>
              <a:t>荡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使两相充分接</a:t>
            </a:r>
            <a:r>
              <a:rPr dirty="0" sz="1200" spc="-80">
                <a:latin typeface="Arial Unicode MS"/>
                <a:cs typeface="Arial Unicode MS"/>
              </a:rPr>
              <a:t>触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溶液中易于溶解在有机相的疏水物质将逐</a:t>
            </a:r>
            <a:r>
              <a:rPr dirty="0" sz="1200" spc="-5">
                <a:latin typeface="Arial Unicode MS"/>
                <a:cs typeface="Arial Unicode MS"/>
              </a:rPr>
              <a:t>步 </a:t>
            </a:r>
            <a:r>
              <a:rPr dirty="0" sz="1200" spc="-5">
                <a:latin typeface="Arial Unicode MS"/>
                <a:cs typeface="Arial Unicode MS"/>
              </a:rPr>
              <a:t>进入到有机相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而那些易于溶于水中的物质仍将留在水溶液</a:t>
            </a:r>
            <a:r>
              <a:rPr dirty="0" sz="1200" spc="-2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。 </a:t>
            </a:r>
            <a:r>
              <a:rPr dirty="0" sz="1200" spc="-10">
                <a:latin typeface="Arial Unicode MS"/>
                <a:cs typeface="Arial Unicode MS"/>
              </a:rPr>
              <a:t>当将整个溶液静置一段时间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有机相与水相相互分</a:t>
            </a:r>
            <a:r>
              <a:rPr dirty="0" sz="1200" spc="-80">
                <a:latin typeface="Arial Unicode MS"/>
                <a:cs typeface="Arial Unicode MS"/>
              </a:rPr>
              <a:t>开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从而使</a:t>
            </a:r>
            <a:r>
              <a:rPr dirty="0" sz="1200" spc="-5">
                <a:latin typeface="Arial Unicode MS"/>
                <a:cs typeface="Arial Unicode MS"/>
              </a:rPr>
              <a:t>得 亲水性物质与疏水性物质得以分</a:t>
            </a:r>
            <a:r>
              <a:rPr dirty="0" sz="1200" spc="-20">
                <a:latin typeface="Arial Unicode MS"/>
                <a:cs typeface="Arial Unicode MS"/>
              </a:rPr>
              <a:t>离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12700" marR="43815" indent="303530">
              <a:lnSpc>
                <a:spcPct val="122300"/>
              </a:lnSpc>
            </a:pPr>
            <a:r>
              <a:rPr dirty="0" sz="1200" spc="-10">
                <a:latin typeface="Arial Unicode MS"/>
                <a:cs typeface="Arial Unicode MS"/>
              </a:rPr>
              <a:t>萃取分离法的特点是分离效果</a:t>
            </a:r>
            <a:r>
              <a:rPr dirty="0" sz="1200" spc="-80">
                <a:latin typeface="Arial Unicode MS"/>
                <a:cs typeface="Arial Unicode MS"/>
              </a:rPr>
              <a:t>好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适用范围</a:t>
            </a:r>
            <a:r>
              <a:rPr dirty="0" sz="1200" spc="-80">
                <a:latin typeface="Arial Unicode MS"/>
                <a:cs typeface="Arial Unicode MS"/>
              </a:rPr>
              <a:t>广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不仅适用于</a:t>
            </a:r>
            <a:r>
              <a:rPr dirty="0" sz="1200" spc="-5">
                <a:latin typeface="Arial Unicode MS"/>
                <a:cs typeface="Arial Unicode MS"/>
              </a:rPr>
              <a:t>常 </a:t>
            </a:r>
            <a:r>
              <a:rPr dirty="0" sz="1200" spc="-5">
                <a:latin typeface="Arial Unicode MS"/>
                <a:cs typeface="Arial Unicode MS"/>
              </a:rPr>
              <a:t>量组分的分</a:t>
            </a:r>
            <a:r>
              <a:rPr dirty="0" sz="1200" spc="-80">
                <a:latin typeface="Arial Unicode MS"/>
                <a:cs typeface="Arial Unicode MS"/>
              </a:rPr>
              <a:t>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也适用于微量组分的分离富</a:t>
            </a:r>
            <a:r>
              <a:rPr dirty="0" sz="1200" spc="-20">
                <a:latin typeface="Arial Unicode MS"/>
                <a:cs typeface="Arial Unicode MS"/>
              </a:rPr>
              <a:t>集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由于有机溶 剂通常有</a:t>
            </a:r>
            <a:r>
              <a:rPr dirty="0" sz="1200" spc="-80">
                <a:latin typeface="Arial Unicode MS"/>
                <a:cs typeface="Arial Unicode MS"/>
              </a:rPr>
              <a:t>毒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故使萃取分离法在应用上受到一定的限</a:t>
            </a:r>
            <a:r>
              <a:rPr dirty="0" sz="1200" spc="-20">
                <a:latin typeface="Arial Unicode MS"/>
                <a:cs typeface="Arial Unicode MS"/>
              </a:rPr>
              <a:t>制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96456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FFFFFF"/>
                </a:solidFill>
                <a:latin typeface="Georgia"/>
                <a:cs typeface="Georgia"/>
              </a:rPr>
              <a:t>10.3.1</a:t>
            </a:r>
            <a:r>
              <a:rPr dirty="0" sz="1000" spc="11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基本原理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119238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604594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089937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1553" y="978966"/>
            <a:ext cx="4090670" cy="166751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金属离子易溶于水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这是因为水是极性的溶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容易与带正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电的金属离子形成水合离</a:t>
            </a:r>
            <a:r>
              <a:rPr dirty="0" sz="1200" spc="-20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10">
                <a:latin typeface="Arial Unicode MS"/>
                <a:cs typeface="Arial Unicode MS"/>
              </a:rPr>
              <a:t>有机萃取剂通常是一些非极性的化合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通常不能直接将水</a:t>
            </a:r>
            <a:r>
              <a:rPr dirty="0" sz="1200" spc="-5">
                <a:latin typeface="Arial Unicode MS"/>
                <a:cs typeface="Arial Unicode MS"/>
              </a:rPr>
              <a:t>溶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液中的金属离子提取出</a:t>
            </a:r>
            <a:r>
              <a:rPr dirty="0" sz="1200" spc="-20">
                <a:latin typeface="Arial Unicode MS"/>
                <a:cs typeface="Arial Unicode MS"/>
              </a:rPr>
              <a:t>来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 marR="5080">
              <a:lnSpc>
                <a:spcPct val="122300"/>
              </a:lnSpc>
              <a:spcBef>
                <a:spcPts val="300"/>
              </a:spcBef>
            </a:pPr>
            <a:r>
              <a:rPr dirty="0" sz="1200" spc="-5">
                <a:latin typeface="Arial Unicode MS"/>
                <a:cs typeface="Arial Unicode MS"/>
              </a:rPr>
              <a:t>可通过让金属离子与某种有机试</a:t>
            </a:r>
            <a:r>
              <a:rPr dirty="0" sz="1200" spc="-260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（或者萃取</a:t>
            </a:r>
            <a:r>
              <a:rPr dirty="0" sz="1200" spc="30">
                <a:latin typeface="Arial Unicode MS"/>
                <a:cs typeface="Arial Unicode MS"/>
              </a:rPr>
              <a:t>剂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形成 </a:t>
            </a:r>
            <a:r>
              <a:rPr dirty="0" sz="1200" spc="-10">
                <a:latin typeface="Arial Unicode MS"/>
                <a:cs typeface="Arial Unicode MS"/>
              </a:rPr>
              <a:t>稳</a:t>
            </a:r>
            <a:r>
              <a:rPr dirty="0" sz="1200" spc="-5">
                <a:latin typeface="Arial Unicode MS"/>
                <a:cs typeface="Arial Unicode MS"/>
              </a:rPr>
              <a:t>定</a:t>
            </a:r>
            <a:r>
              <a:rPr dirty="0" sz="1200" spc="-10">
                <a:latin typeface="Arial Unicode MS"/>
                <a:cs typeface="Arial Unicode MS"/>
              </a:rPr>
              <a:t>的电中性化合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然后再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-10">
                <a:latin typeface="Arial Unicode MS"/>
                <a:cs typeface="Arial Unicode MS"/>
              </a:rPr>
              <a:t>有机萃取</a:t>
            </a:r>
            <a:r>
              <a:rPr dirty="0" sz="1200" spc="-5">
                <a:latin typeface="Arial Unicode MS"/>
                <a:cs typeface="Arial Unicode MS"/>
              </a:rPr>
              <a:t>剂</a:t>
            </a:r>
            <a:r>
              <a:rPr dirty="0" sz="1200" spc="-10">
                <a:latin typeface="Arial Unicode MS"/>
                <a:cs typeface="Arial Unicode MS"/>
              </a:rPr>
              <a:t>将此电中性化合</a:t>
            </a:r>
            <a:r>
              <a:rPr dirty="0" sz="1200" spc="-5">
                <a:latin typeface="Arial Unicode MS"/>
                <a:cs typeface="Arial Unicode MS"/>
              </a:rPr>
              <a:t>物 </a:t>
            </a:r>
            <a:r>
              <a:rPr dirty="0" sz="1200" spc="-5">
                <a:latin typeface="Arial Unicode MS"/>
                <a:cs typeface="Arial Unicode MS"/>
              </a:rPr>
              <a:t>从水溶液中提取出</a:t>
            </a:r>
            <a:r>
              <a:rPr dirty="0" sz="1200" spc="-20">
                <a:latin typeface="Arial Unicode MS"/>
                <a:cs typeface="Arial Unicode MS"/>
              </a:rPr>
              <a:t>来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87" y="192722"/>
            <a:ext cx="8597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95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dirty="0" sz="1050" spc="-25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分配系数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698258"/>
            <a:ext cx="4276725" cy="920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分配系数是衡量溶液中某一物质分布在有机相和水相中的能 </a:t>
            </a:r>
            <a:r>
              <a:rPr dirty="0" spc="-5"/>
              <a:t>力的一个指</a:t>
            </a:r>
            <a:r>
              <a:rPr dirty="0" spc="-20"/>
              <a:t>标</a:t>
            </a:r>
            <a:r>
              <a:rPr dirty="0" spc="-235"/>
              <a:t>。</a:t>
            </a:r>
            <a:r>
              <a:rPr dirty="0" spc="-5"/>
              <a:t>往含有物质</a:t>
            </a:r>
            <a:r>
              <a:rPr dirty="0" spc="-10"/>
              <a:t> </a:t>
            </a:r>
            <a:r>
              <a:rPr dirty="0" sz="1100" spc="80">
                <a:latin typeface="Georgia"/>
                <a:cs typeface="Georgia"/>
              </a:rPr>
              <a:t>A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pc="-5"/>
              <a:t>的水溶液中加入有机溶</a:t>
            </a:r>
            <a:r>
              <a:rPr dirty="0" spc="-80"/>
              <a:t>剂</a:t>
            </a:r>
            <a:r>
              <a:rPr dirty="0" spc="-185"/>
              <a:t>，</a:t>
            </a:r>
            <a:r>
              <a:rPr dirty="0" spc="-5"/>
              <a:t>则物质 </a:t>
            </a:r>
            <a:r>
              <a:rPr dirty="0" sz="1100" spc="80">
                <a:latin typeface="Georgia"/>
                <a:cs typeface="Georgia"/>
              </a:rPr>
              <a:t>A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pc="-5"/>
              <a:t>将会在水相和有机相中重新分</a:t>
            </a:r>
            <a:r>
              <a:rPr dirty="0" spc="-80"/>
              <a:t>配</a:t>
            </a:r>
            <a:r>
              <a:rPr dirty="0" spc="-185"/>
              <a:t>，</a:t>
            </a:r>
            <a:r>
              <a:rPr dirty="0" spc="-5"/>
              <a:t>并在一段时间后达到如下的 动态平</a:t>
            </a:r>
            <a:r>
              <a:rPr dirty="0" spc="-90"/>
              <a:t>衡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8307" y="1668615"/>
            <a:ext cx="11055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120">
                <a:latin typeface="Georgia"/>
                <a:cs typeface="Georgia"/>
              </a:rPr>
              <a:t>A</a:t>
            </a:r>
            <a:r>
              <a:rPr dirty="0" sz="500" spc="20">
                <a:latin typeface="Arial Unicode MS"/>
                <a:cs typeface="Arial Unicode MS"/>
              </a:rPr>
              <a:t>水相</a:t>
            </a:r>
            <a:r>
              <a:rPr dirty="0" sz="500" spc="165">
                <a:latin typeface="Arial Unicode MS"/>
                <a:cs typeface="Arial Unicode MS"/>
              </a:rPr>
              <a:t> </a:t>
            </a:r>
            <a:r>
              <a:rPr dirty="0" baseline="6172" sz="675" spc="-600">
                <a:latin typeface="宋体"/>
                <a:cs typeface="宋体"/>
              </a:rPr>
              <a:t>｀</a:t>
            </a:r>
            <a:r>
              <a:rPr dirty="0" baseline="6172" sz="675" spc="1207">
                <a:latin typeface="宋体"/>
                <a:cs typeface="宋体"/>
              </a:rPr>
              <a:t> </a:t>
            </a:r>
            <a:r>
              <a:rPr dirty="0" baseline="30864" sz="675" spc="-622">
                <a:latin typeface="宋体"/>
                <a:cs typeface="宋体"/>
              </a:rPr>
              <a:t>、</a:t>
            </a:r>
            <a:r>
              <a:rPr dirty="0" baseline="6172" sz="675" spc="2512">
                <a:latin typeface="宋体"/>
                <a:cs typeface="宋体"/>
              </a:rPr>
              <a:t> </a:t>
            </a:r>
            <a:r>
              <a:rPr dirty="0" baseline="7575" sz="1650" spc="120">
                <a:latin typeface="Georgia"/>
                <a:cs typeface="Georgia"/>
              </a:rPr>
              <a:t>A</a:t>
            </a:r>
            <a:r>
              <a:rPr dirty="0" sz="500" spc="20">
                <a:latin typeface="Arial Unicode MS"/>
                <a:cs typeface="Arial Unicode MS"/>
              </a:rPr>
              <a:t>有机相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17638" y="2388590"/>
            <a:ext cx="607695" cy="0"/>
          </a:xfrm>
          <a:custGeom>
            <a:avLst/>
            <a:gdLst/>
            <a:ahLst/>
            <a:cxnLst/>
            <a:rect l="l" t="t" r="r" b="b"/>
            <a:pathLst>
              <a:path w="607694" h="0">
                <a:moveTo>
                  <a:pt x="0" y="0"/>
                </a:moveTo>
                <a:lnTo>
                  <a:pt x="60732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5856" y="1917141"/>
            <a:ext cx="424307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当温度和离子强度一定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100" spc="-55">
                <a:latin typeface="Georgia"/>
                <a:cs typeface="Georgia"/>
              </a:rPr>
              <a:t>A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在两相中的平衡浓度之比为常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并称之为分配系</a:t>
            </a:r>
            <a:r>
              <a:rPr dirty="0" sz="1200" spc="-9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66137" y="2501392"/>
            <a:ext cx="4629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[A</a:t>
            </a:r>
            <a:r>
              <a:rPr dirty="0" baseline="-16666" sz="750" spc="30">
                <a:latin typeface="Arial Unicode MS"/>
                <a:cs typeface="Arial Unicode MS"/>
              </a:rPr>
              <a:t>有机</a:t>
            </a:r>
            <a:r>
              <a:rPr dirty="0" baseline="-16666" sz="750" spc="97">
                <a:latin typeface="Arial Unicode MS"/>
                <a:cs typeface="Arial Unicode MS"/>
              </a:rPr>
              <a:t>相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04237" y="2711729"/>
            <a:ext cx="386715" cy="0"/>
          </a:xfrm>
          <a:custGeom>
            <a:avLst/>
            <a:gdLst/>
            <a:ahLst/>
            <a:cxnLst/>
            <a:rect l="l" t="t" r="r" b="b"/>
            <a:pathLst>
              <a:path w="386714" h="0">
                <a:moveTo>
                  <a:pt x="0" y="0"/>
                </a:moveTo>
                <a:lnTo>
                  <a:pt x="38648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863991" y="2595118"/>
            <a:ext cx="6540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5" b="0" i="1">
                <a:latin typeface="Bookman Old Style"/>
                <a:cs typeface="Bookman Old Style"/>
              </a:rPr>
              <a:t>K</a:t>
            </a:r>
            <a:r>
              <a:rPr dirty="0" baseline="-13888" sz="900" spc="217" i="1">
                <a:latin typeface="Arial"/>
                <a:cs typeface="Arial"/>
              </a:rPr>
              <a:t>D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0">
                <a:latin typeface="Georgia"/>
                <a:cs typeface="Georgia"/>
              </a:rPr>
              <a:t> </a:t>
            </a:r>
            <a:r>
              <a:rPr dirty="0" baseline="-37878" sz="1650" spc="-22">
                <a:latin typeface="Georgia"/>
                <a:cs typeface="Georgia"/>
              </a:rPr>
              <a:t>[A</a:t>
            </a:r>
            <a:endParaRPr baseline="-37878" sz="16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67152" y="2783065"/>
            <a:ext cx="158750" cy="1054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00" spc="20">
                <a:latin typeface="Arial Unicode MS"/>
                <a:cs typeface="Arial Unicode MS"/>
              </a:rPr>
              <a:t>水相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06332" y="2690152"/>
            <a:ext cx="64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87" y="192722"/>
            <a:ext cx="72644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dirty="0" sz="1050" spc="-25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分配比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711746"/>
            <a:ext cx="4244975" cy="920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在很多情况</a:t>
            </a:r>
            <a:r>
              <a:rPr dirty="0" spc="-80"/>
              <a:t>下</a:t>
            </a:r>
            <a:r>
              <a:rPr dirty="0" spc="-185"/>
              <a:t>，</a:t>
            </a:r>
            <a:r>
              <a:rPr dirty="0" spc="-5"/>
              <a:t>某物质在水相和有机相中都可能以多种型体 存</a:t>
            </a:r>
            <a:r>
              <a:rPr dirty="0" spc="-80"/>
              <a:t>在</a:t>
            </a:r>
            <a:r>
              <a:rPr dirty="0" spc="-185"/>
              <a:t>，</a:t>
            </a:r>
            <a:r>
              <a:rPr dirty="0" spc="-5"/>
              <a:t>用单一一种型体来表征该物质在两相中的分配程度就不能 反映真实的情</a:t>
            </a:r>
            <a:r>
              <a:rPr dirty="0" spc="-80"/>
              <a:t>况</a:t>
            </a:r>
            <a:r>
              <a:rPr dirty="0" spc="-185"/>
              <a:t>，</a:t>
            </a:r>
            <a:r>
              <a:rPr dirty="0" spc="-5"/>
              <a:t>此时定义分配比来计算某物质在两相中的分配 </a:t>
            </a:r>
            <a:r>
              <a:rPr dirty="0" spc="-5"/>
              <a:t>情</a:t>
            </a:r>
            <a:r>
              <a:rPr dirty="0" spc="-80"/>
              <a:t>况</a:t>
            </a:r>
            <a:r>
              <a:rPr dirty="0" spc="-185"/>
              <a:t>，</a:t>
            </a:r>
            <a:r>
              <a:rPr dirty="0" spc="-5"/>
              <a:t>如</a:t>
            </a:r>
            <a:r>
              <a:rPr dirty="0" spc="-90"/>
              <a:t>下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91702" y="1661325"/>
            <a:ext cx="2908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5" b="0" i="1">
                <a:latin typeface="Bookman Old Style"/>
                <a:cs typeface="Bookman Old Style"/>
              </a:rPr>
              <a:t>D</a:t>
            </a:r>
            <a:r>
              <a:rPr dirty="0" sz="1100" spc="-7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4768" y="1588376"/>
            <a:ext cx="3359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-97" b="0" i="1">
                <a:latin typeface="Bookman Old Style"/>
                <a:cs typeface="Bookman Old Style"/>
              </a:rPr>
              <a:t>c</a:t>
            </a:r>
            <a:r>
              <a:rPr dirty="0" sz="500" spc="20">
                <a:latin typeface="Arial Unicode MS"/>
                <a:cs typeface="Arial Unicode MS"/>
              </a:rPr>
              <a:t>有机相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22855" y="1777936"/>
            <a:ext cx="266065" cy="0"/>
          </a:xfrm>
          <a:custGeom>
            <a:avLst/>
            <a:gdLst/>
            <a:ahLst/>
            <a:cxnLst/>
            <a:rect l="l" t="t" r="r" b="b"/>
            <a:pathLst>
              <a:path w="266064" h="0">
                <a:moveTo>
                  <a:pt x="0" y="0"/>
                </a:moveTo>
                <a:lnTo>
                  <a:pt x="2655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17978" y="1777149"/>
            <a:ext cx="2692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-97" b="0" i="1">
                <a:latin typeface="Bookman Old Style"/>
                <a:cs typeface="Bookman Old Style"/>
              </a:rPr>
              <a:t>c</a:t>
            </a:r>
            <a:r>
              <a:rPr dirty="0" sz="500" spc="20">
                <a:latin typeface="Arial Unicode MS"/>
                <a:cs typeface="Arial Unicode MS"/>
              </a:rPr>
              <a:t>水相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599" y="233894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72642" y="2440343"/>
            <a:ext cx="455930" cy="0"/>
          </a:xfrm>
          <a:custGeom>
            <a:avLst/>
            <a:gdLst/>
            <a:ahLst/>
            <a:cxnLst/>
            <a:rect l="l" t="t" r="r" b="b"/>
            <a:pathLst>
              <a:path w="455930" h="0">
                <a:moveTo>
                  <a:pt x="0" y="0"/>
                </a:moveTo>
                <a:lnTo>
                  <a:pt x="45549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4599" y="2600591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4599" y="2862249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3144" y="1899056"/>
            <a:ext cx="3531235" cy="107251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9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90830">
              <a:lnSpc>
                <a:spcPct val="100000"/>
              </a:lnSpc>
              <a:spcBef>
                <a:spcPts val="620"/>
              </a:spcBef>
            </a:pPr>
            <a:r>
              <a:rPr dirty="0" sz="1100" spc="85" b="0" i="1">
                <a:latin typeface="Bookman Old Style"/>
                <a:cs typeface="Bookman Old Style"/>
              </a:rPr>
              <a:t>D</a:t>
            </a:r>
            <a:r>
              <a:rPr dirty="0" sz="1100" spc="5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表示分配</a:t>
            </a:r>
            <a:r>
              <a:rPr dirty="0" sz="1200" spc="-65">
                <a:latin typeface="Arial Unicode MS"/>
                <a:cs typeface="Arial Unicode MS"/>
              </a:rPr>
              <a:t>比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290830">
              <a:lnSpc>
                <a:spcPct val="100000"/>
              </a:lnSpc>
              <a:spcBef>
                <a:spcPts val="62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-16666" sz="750" spc="30">
                <a:latin typeface="Arial Unicode MS"/>
                <a:cs typeface="Arial Unicode MS"/>
              </a:rPr>
              <a:t>有机相</a:t>
            </a:r>
            <a:r>
              <a:rPr dirty="0" baseline="-16666" sz="750" spc="112">
                <a:latin typeface="Arial Unicode MS"/>
                <a:cs typeface="Arial Unicode MS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表示某物质在有机相中的各型体的总浓</a:t>
            </a:r>
            <a:r>
              <a:rPr dirty="0" sz="1200" spc="-65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290830">
              <a:lnSpc>
                <a:spcPct val="100000"/>
              </a:lnSpc>
              <a:spcBef>
                <a:spcPts val="62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-16666" sz="750" spc="30">
                <a:latin typeface="Arial Unicode MS"/>
                <a:cs typeface="Arial Unicode MS"/>
              </a:rPr>
              <a:t>水相</a:t>
            </a:r>
            <a:r>
              <a:rPr dirty="0" baseline="-16666" sz="750" spc="150">
                <a:latin typeface="Arial Unicode MS"/>
                <a:cs typeface="Arial Unicode MS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表示某物质在水相中的各型体的总浓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558190"/>
            <a:ext cx="438467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当用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CCl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baseline="-13888" sz="900" spc="3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萃取水溶液中的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100" spc="-55">
                <a:latin typeface="Georgia"/>
                <a:cs typeface="Georgia"/>
              </a:rPr>
              <a:t>I</a:t>
            </a:r>
            <a:r>
              <a:rPr dirty="0" baseline="-13888" sz="900" spc="-82">
                <a:latin typeface="Times New Roman"/>
                <a:cs typeface="Times New Roman"/>
              </a:rPr>
              <a:t>2</a:t>
            </a:r>
            <a:r>
              <a:rPr dirty="0" baseline="-13888" sz="900" spc="-5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在两相中存在的形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式相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</a:t>
            </a:r>
            <a:r>
              <a:rPr dirty="0" sz="1200" spc="-9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7358" y="1075194"/>
            <a:ext cx="7283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85" b="0" i="1">
                <a:latin typeface="Bookman Old Style"/>
                <a:cs typeface="Bookman Old Style"/>
              </a:rPr>
              <a:t>D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145" b="0" i="1">
                <a:latin typeface="Bookman Old Style"/>
                <a:cs typeface="Bookman Old Style"/>
              </a:rPr>
              <a:t>K</a:t>
            </a:r>
            <a:r>
              <a:rPr dirty="0" baseline="-13888" sz="900" spc="217" i="1">
                <a:latin typeface="Arial"/>
                <a:cs typeface="Arial"/>
              </a:rPr>
              <a:t>D</a:t>
            </a:r>
            <a:r>
              <a:rPr dirty="0" baseline="-13888" sz="900" spc="-82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72779" y="981468"/>
            <a:ext cx="5461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sz="1100" spc="5">
                <a:latin typeface="Georgia"/>
                <a:cs typeface="Georgia"/>
              </a:rPr>
              <a:t>(I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baseline="-16666" sz="750" spc="30">
                <a:latin typeface="Arial Unicode MS"/>
                <a:cs typeface="Arial Unicode MS"/>
              </a:rPr>
              <a:t>有机相</a:t>
            </a:r>
            <a:endParaRPr baseline="-16666" sz="75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10879" y="1191806"/>
            <a:ext cx="476250" cy="0"/>
          </a:xfrm>
          <a:custGeom>
            <a:avLst/>
            <a:gdLst/>
            <a:ahLst/>
            <a:cxnLst/>
            <a:rect l="l" t="t" r="r" b="b"/>
            <a:pathLst>
              <a:path w="476250" h="0">
                <a:moveTo>
                  <a:pt x="0" y="0"/>
                </a:moveTo>
                <a:lnTo>
                  <a:pt x="47607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27909" y="1075194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63939" y="1002258"/>
            <a:ext cx="4552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-60">
                <a:latin typeface="Georgia"/>
                <a:cs typeface="Georgia"/>
              </a:rPr>
              <a:t>[I</a:t>
            </a:r>
            <a:r>
              <a:rPr dirty="0" sz="600" spc="-40">
                <a:latin typeface="Times New Roman"/>
                <a:cs typeface="Times New Roman"/>
              </a:rPr>
              <a:t>2</a:t>
            </a:r>
            <a:r>
              <a:rPr dirty="0" baseline="7575" sz="1650" spc="-60">
                <a:latin typeface="Georgia"/>
                <a:cs typeface="Georgia"/>
              </a:rPr>
              <a:t>]</a:t>
            </a:r>
            <a:r>
              <a:rPr dirty="0" sz="500" spc="20">
                <a:latin typeface="Arial Unicode MS"/>
                <a:cs typeface="Arial Unicode MS"/>
              </a:rPr>
              <a:t>有机相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02039" y="1191806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4" h="0">
                <a:moveTo>
                  <a:pt x="0" y="0"/>
                </a:moveTo>
                <a:lnTo>
                  <a:pt x="38531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05990" y="1170241"/>
            <a:ext cx="1080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28980" algn="l"/>
              </a:tabLst>
            </a:pP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sz="1100" spc="5">
                <a:latin typeface="Georgia"/>
                <a:cs typeface="Georgia"/>
              </a:rPr>
              <a:t>(I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baseline="-16666" sz="750" spc="30">
                <a:latin typeface="Arial Unicode MS"/>
                <a:cs typeface="Arial Unicode MS"/>
              </a:rPr>
              <a:t>水相	</a:t>
            </a:r>
            <a:r>
              <a:rPr dirty="0" sz="1100" spc="-40">
                <a:latin typeface="Georgia"/>
                <a:cs typeface="Georgia"/>
              </a:rPr>
              <a:t>[I</a:t>
            </a:r>
            <a:r>
              <a:rPr dirty="0" baseline="-13888" sz="900" spc="-60">
                <a:latin typeface="Times New Roman"/>
                <a:cs typeface="Times New Roman"/>
              </a:rPr>
              <a:t>2</a:t>
            </a:r>
            <a:r>
              <a:rPr dirty="0" sz="1100" spc="-40">
                <a:latin typeface="Georgia"/>
                <a:cs typeface="Georgia"/>
              </a:rPr>
              <a:t>]</a:t>
            </a:r>
            <a:r>
              <a:rPr dirty="0" baseline="-16666" sz="750" spc="30">
                <a:latin typeface="Arial Unicode MS"/>
                <a:cs typeface="Arial Unicode MS"/>
              </a:rPr>
              <a:t>水相</a:t>
            </a:r>
            <a:endParaRPr baseline="-16666" sz="75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65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144" y="558190"/>
            <a:ext cx="437197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当用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CCl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baseline="-13888" sz="900" spc="3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萃取水溶液中的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100" spc="-55">
                <a:latin typeface="Georgia"/>
                <a:cs typeface="Georgia"/>
              </a:rPr>
              <a:t>I</a:t>
            </a:r>
            <a:r>
              <a:rPr dirty="0" baseline="-13888" sz="900" spc="-82">
                <a:latin typeface="Times New Roman"/>
                <a:cs typeface="Times New Roman"/>
              </a:rPr>
              <a:t>2</a:t>
            </a:r>
            <a:r>
              <a:rPr dirty="0" baseline="-13888" sz="900" spc="-5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在两相中存在的形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式相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</a:t>
            </a:r>
            <a:r>
              <a:rPr dirty="0" sz="1200" spc="-9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7358" y="1075194"/>
            <a:ext cx="7283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85" b="0" i="1">
                <a:latin typeface="Bookman Old Style"/>
                <a:cs typeface="Bookman Old Style"/>
              </a:rPr>
              <a:t>D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145" b="0" i="1">
                <a:latin typeface="Bookman Old Style"/>
                <a:cs typeface="Bookman Old Style"/>
              </a:rPr>
              <a:t>K</a:t>
            </a:r>
            <a:r>
              <a:rPr dirty="0" baseline="-13888" sz="900" spc="217" i="1">
                <a:latin typeface="Arial"/>
                <a:cs typeface="Arial"/>
              </a:rPr>
              <a:t>D</a:t>
            </a:r>
            <a:r>
              <a:rPr dirty="0" baseline="-13888" sz="900" spc="-82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72779" y="981468"/>
            <a:ext cx="5461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sz="1100" spc="5">
                <a:latin typeface="Georgia"/>
                <a:cs typeface="Georgia"/>
              </a:rPr>
              <a:t>(I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baseline="-16666" sz="750" spc="30">
                <a:latin typeface="Arial Unicode MS"/>
                <a:cs typeface="Arial Unicode MS"/>
              </a:rPr>
              <a:t>有机相</a:t>
            </a:r>
            <a:endParaRPr baseline="-16666" sz="75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10879" y="1191806"/>
            <a:ext cx="476250" cy="0"/>
          </a:xfrm>
          <a:custGeom>
            <a:avLst/>
            <a:gdLst/>
            <a:ahLst/>
            <a:cxnLst/>
            <a:rect l="l" t="t" r="r" b="b"/>
            <a:pathLst>
              <a:path w="476250" h="0">
                <a:moveTo>
                  <a:pt x="0" y="0"/>
                </a:moveTo>
                <a:lnTo>
                  <a:pt x="47607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27909" y="1075194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63939" y="1002258"/>
            <a:ext cx="4552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-60">
                <a:latin typeface="Georgia"/>
                <a:cs typeface="Georgia"/>
              </a:rPr>
              <a:t>[I</a:t>
            </a:r>
            <a:r>
              <a:rPr dirty="0" sz="600" spc="-40">
                <a:latin typeface="Times New Roman"/>
                <a:cs typeface="Times New Roman"/>
              </a:rPr>
              <a:t>2</a:t>
            </a:r>
            <a:r>
              <a:rPr dirty="0" baseline="7575" sz="1650" spc="-60">
                <a:latin typeface="Georgia"/>
                <a:cs typeface="Georgia"/>
              </a:rPr>
              <a:t>]</a:t>
            </a:r>
            <a:r>
              <a:rPr dirty="0" sz="500" spc="20">
                <a:latin typeface="Arial Unicode MS"/>
                <a:cs typeface="Arial Unicode MS"/>
              </a:rPr>
              <a:t>有机相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02039" y="1191806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4" h="0">
                <a:moveTo>
                  <a:pt x="0" y="0"/>
                </a:moveTo>
                <a:lnTo>
                  <a:pt x="38531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05990" y="1170241"/>
            <a:ext cx="1080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28980" algn="l"/>
              </a:tabLst>
            </a:pP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sz="1100" spc="5">
                <a:latin typeface="Georgia"/>
                <a:cs typeface="Georgia"/>
              </a:rPr>
              <a:t>(I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baseline="-16666" sz="750" spc="30">
                <a:latin typeface="Arial Unicode MS"/>
                <a:cs typeface="Arial Unicode MS"/>
              </a:rPr>
              <a:t>水相	</a:t>
            </a:r>
            <a:r>
              <a:rPr dirty="0" sz="1100" spc="-40">
                <a:latin typeface="Georgia"/>
                <a:cs typeface="Georgia"/>
              </a:rPr>
              <a:t>[I</a:t>
            </a:r>
            <a:r>
              <a:rPr dirty="0" baseline="-13888" sz="900" spc="-60">
                <a:latin typeface="Times New Roman"/>
                <a:cs typeface="Times New Roman"/>
              </a:rPr>
              <a:t>2</a:t>
            </a:r>
            <a:r>
              <a:rPr dirty="0" sz="1100" spc="-40">
                <a:latin typeface="Georgia"/>
                <a:cs typeface="Georgia"/>
              </a:rPr>
              <a:t>]</a:t>
            </a:r>
            <a:r>
              <a:rPr dirty="0" baseline="-16666" sz="750" spc="30">
                <a:latin typeface="Arial Unicode MS"/>
                <a:cs typeface="Arial Unicode MS"/>
              </a:rPr>
              <a:t>水相</a:t>
            </a:r>
            <a:endParaRPr baseline="-16666" sz="75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4101" y="1675777"/>
            <a:ext cx="34137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而当用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CCl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baseline="-13888" sz="900" spc="35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萃取水溶液中的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OsO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分配比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20254" y="2184895"/>
            <a:ext cx="696595" cy="0"/>
          </a:xfrm>
          <a:custGeom>
            <a:avLst/>
            <a:gdLst/>
            <a:ahLst/>
            <a:cxnLst/>
            <a:rect l="l" t="t" r="r" b="b"/>
            <a:pathLst>
              <a:path w="696594" h="0">
                <a:moveTo>
                  <a:pt x="0" y="0"/>
                </a:moveTo>
                <a:lnTo>
                  <a:pt x="69620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24762" y="2256231"/>
            <a:ext cx="265430" cy="10541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85">
                <a:latin typeface="Times New Roman"/>
                <a:cs typeface="Times New Roman"/>
              </a:rPr>
              <a:t> </a:t>
            </a:r>
            <a:r>
              <a:rPr dirty="0" sz="500" spc="20">
                <a:latin typeface="Arial Unicode MS"/>
                <a:cs typeface="Arial Unicode MS"/>
              </a:rPr>
              <a:t>水 相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9454" y="1974557"/>
            <a:ext cx="28917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236345" algn="l"/>
              </a:tabLst>
            </a:pPr>
            <a:r>
              <a:rPr dirty="0" sz="1100" spc="10" b="0" i="1">
                <a:latin typeface="Bookman Old Style"/>
                <a:cs typeface="Bookman Old Style"/>
              </a:rPr>
              <a:t>c</a:t>
            </a:r>
            <a:r>
              <a:rPr dirty="0" sz="1100" spc="10">
                <a:latin typeface="Georgia"/>
                <a:cs typeface="Georgia"/>
              </a:rPr>
              <a:t>(OsO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baseline="-16666" sz="750" spc="30">
                <a:latin typeface="Arial Unicode MS"/>
                <a:cs typeface="Arial Unicode MS"/>
              </a:rPr>
              <a:t>有机相	</a:t>
            </a:r>
            <a:r>
              <a:rPr dirty="0" sz="1100" spc="-20">
                <a:latin typeface="Georgia"/>
                <a:cs typeface="Georgia"/>
              </a:rPr>
              <a:t>[OsO</a:t>
            </a:r>
            <a:r>
              <a:rPr dirty="0" baseline="-13888" sz="900" spc="-30">
                <a:latin typeface="Times New Roman"/>
                <a:cs typeface="Times New Roman"/>
              </a:rPr>
              <a:t>4</a:t>
            </a:r>
            <a:r>
              <a:rPr dirty="0" sz="1100" spc="-20">
                <a:latin typeface="Georgia"/>
                <a:cs typeface="Georgia"/>
              </a:rPr>
              <a:t>]</a:t>
            </a:r>
            <a:r>
              <a:rPr dirty="0" baseline="-16666" sz="750" spc="30">
                <a:latin typeface="Arial Unicode MS"/>
                <a:cs typeface="Arial Unicode MS"/>
              </a:rPr>
              <a:t>有机相</a:t>
            </a:r>
            <a:r>
              <a:rPr dirty="0" baseline="-16666" sz="750" spc="195">
                <a:latin typeface="Arial Unicode MS"/>
                <a:cs typeface="Arial Unicode MS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4[(OsO</a:t>
            </a:r>
            <a:r>
              <a:rPr dirty="0" baseline="-13888" sz="900" spc="-7">
                <a:latin typeface="Times New Roman"/>
                <a:cs typeface="Times New Roman"/>
              </a:rPr>
              <a:t>4</a:t>
            </a:r>
            <a:r>
              <a:rPr dirty="0" sz="1100" spc="-5">
                <a:latin typeface="Georgia"/>
                <a:cs typeface="Georgia"/>
              </a:rPr>
              <a:t>)</a:t>
            </a:r>
            <a:r>
              <a:rPr dirty="0" baseline="-13888" sz="900" spc="-7">
                <a:latin typeface="Times New Roman"/>
                <a:cs typeface="Times New Roman"/>
              </a:rPr>
              <a:t>4</a:t>
            </a:r>
            <a:r>
              <a:rPr dirty="0" sz="1100" spc="-5">
                <a:latin typeface="Georgia"/>
                <a:cs typeface="Georgia"/>
              </a:rPr>
              <a:t>]</a:t>
            </a:r>
            <a:r>
              <a:rPr dirty="0" baseline="-16666" sz="750" spc="30">
                <a:latin typeface="Arial Unicode MS"/>
                <a:cs typeface="Arial Unicode MS"/>
              </a:rPr>
              <a:t>有机相</a:t>
            </a:r>
            <a:endParaRPr baseline="-16666" sz="75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31543" y="2184895"/>
            <a:ext cx="2159635" cy="0"/>
          </a:xfrm>
          <a:custGeom>
            <a:avLst/>
            <a:gdLst/>
            <a:ahLst/>
            <a:cxnLst/>
            <a:rect l="l" t="t" r="r" b="b"/>
            <a:pathLst>
              <a:path w="2159635" h="0">
                <a:moveTo>
                  <a:pt x="0" y="0"/>
                </a:moveTo>
                <a:lnTo>
                  <a:pt x="21594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127491" y="2256231"/>
            <a:ext cx="249554" cy="10541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-35">
                <a:latin typeface="Times New Roman"/>
                <a:cs typeface="Times New Roman"/>
              </a:rPr>
              <a:t> </a:t>
            </a:r>
            <a:r>
              <a:rPr dirty="0" sz="500" spc="20">
                <a:latin typeface="Arial Unicode MS"/>
                <a:cs typeface="Arial Unicode MS"/>
              </a:rPr>
              <a:t>水 相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39770" y="2258809"/>
            <a:ext cx="276225" cy="10541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600" spc="65">
                <a:latin typeface="Times New Roman"/>
                <a:cs typeface="Times New Roman"/>
              </a:rPr>
              <a:t>5</a:t>
            </a:r>
            <a:r>
              <a:rPr dirty="0" sz="600" spc="170">
                <a:latin typeface="Times New Roman"/>
                <a:cs typeface="Times New Roman"/>
              </a:rPr>
              <a:t> </a:t>
            </a:r>
            <a:r>
              <a:rPr dirty="0" sz="500" spc="20">
                <a:latin typeface="Arial Unicode MS"/>
                <a:cs typeface="Arial Unicode MS"/>
              </a:rPr>
              <a:t>水 相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74846" y="2167674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0989" y="2068284"/>
            <a:ext cx="3339465" cy="2870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ts val="1035"/>
              </a:lnSpc>
              <a:spcBef>
                <a:spcPts val="90"/>
              </a:spcBef>
              <a:tabLst>
                <a:tab pos="1118870" algn="l"/>
              </a:tabLst>
            </a:pPr>
            <a:r>
              <a:rPr dirty="0" sz="1100" spc="85" b="0" i="1">
                <a:latin typeface="Bookman Old Style"/>
                <a:cs typeface="Bookman Old Style"/>
              </a:rPr>
              <a:t>D</a:t>
            </a:r>
            <a:r>
              <a:rPr dirty="0" sz="110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	=</a:t>
            </a:r>
            <a:endParaRPr sz="1100">
              <a:latin typeface="Georgia"/>
              <a:cs typeface="Georgia"/>
            </a:endParaRPr>
          </a:p>
          <a:p>
            <a:pPr marL="401955">
              <a:lnSpc>
                <a:spcPts val="1035"/>
              </a:lnSpc>
              <a:tabLst>
                <a:tab pos="1280160" algn="l"/>
                <a:tab pos="1849755" algn="l"/>
                <a:tab pos="2689225" algn="l"/>
              </a:tabLst>
            </a:pPr>
            <a:r>
              <a:rPr dirty="0" sz="1100" spc="-10" b="0" i="1">
                <a:latin typeface="Bookman Old Style"/>
                <a:cs typeface="Bookman Old Style"/>
              </a:rPr>
              <a:t>c</a:t>
            </a:r>
            <a:r>
              <a:rPr dirty="0" sz="1100" spc="-10">
                <a:latin typeface="Georgia"/>
                <a:cs typeface="Georgia"/>
              </a:rPr>
              <a:t>(OsO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-25">
                <a:latin typeface="Georgia"/>
                <a:cs typeface="Georgia"/>
              </a:rPr>
              <a:t>[OsO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[HOsO</a:t>
            </a:r>
            <a:r>
              <a:rPr dirty="0" baseline="41666" sz="900" spc="-7" i="1">
                <a:latin typeface="Arial"/>
                <a:cs typeface="Arial"/>
              </a:rPr>
              <a:t>−</a:t>
            </a:r>
            <a:r>
              <a:rPr dirty="0" sz="1100" spc="-5">
                <a:latin typeface="Georgia"/>
                <a:cs typeface="Georgia"/>
              </a:rPr>
              <a:t>]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25">
                <a:latin typeface="Georgia"/>
                <a:cs typeface="Georgia"/>
              </a:rPr>
              <a:t>[OsO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74846" y="2258809"/>
            <a:ext cx="322580" cy="10541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600" spc="65">
                <a:latin typeface="Times New Roman"/>
                <a:cs typeface="Times New Roman"/>
              </a:rPr>
              <a:t>5</a:t>
            </a:r>
            <a:r>
              <a:rPr dirty="0" sz="600" spc="100">
                <a:latin typeface="Times New Roman"/>
                <a:cs typeface="Times New Roman"/>
              </a:rPr>
              <a:t> </a:t>
            </a:r>
            <a:r>
              <a:rPr dirty="0" sz="500" spc="20">
                <a:latin typeface="Arial Unicode MS"/>
                <a:cs typeface="Arial Unicode MS"/>
              </a:rPr>
              <a:t>水 相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65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87" y="192722"/>
            <a:ext cx="72644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dirty="0" sz="1050" spc="-25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萃取率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01" y="1322336"/>
            <a:ext cx="362712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萃取率是用来衡量萃取完全程度的指</a:t>
            </a:r>
            <a:r>
              <a:rPr dirty="0" sz="1200" spc="-80">
                <a:latin typeface="Arial Unicode MS"/>
                <a:cs typeface="Arial Unicode MS"/>
              </a:rPr>
              <a:t>标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其定义如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3612" y="1724202"/>
            <a:ext cx="397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60" b="0" i="1">
                <a:latin typeface="Bookman Old Style"/>
                <a:cs typeface="Bookman Old Style"/>
              </a:rPr>
              <a:t>E</a:t>
            </a:r>
            <a:r>
              <a:rPr dirty="0" sz="1100" spc="60">
                <a:latin typeface="Georgia"/>
                <a:cs typeface="Georgia"/>
              </a:rPr>
              <a:t>%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9240" y="1617192"/>
            <a:ext cx="18478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被萃取物质在有机相的总量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51927" y="1840814"/>
            <a:ext cx="1822450" cy="0"/>
          </a:xfrm>
          <a:custGeom>
            <a:avLst/>
            <a:gdLst/>
            <a:ahLst/>
            <a:cxnLst/>
            <a:rect l="l" t="t" r="r" b="b"/>
            <a:pathLst>
              <a:path w="1822450" h="0">
                <a:moveTo>
                  <a:pt x="0" y="0"/>
                </a:moveTo>
                <a:lnTo>
                  <a:pt x="182196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642897" y="1807883"/>
            <a:ext cx="124015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被萃取物质的总量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7169" y="1724202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9779" y="1724202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</a:t>
            </a:r>
            <a:r>
              <a:rPr dirty="0" sz="1100" spc="40">
                <a:latin typeface="Georgia"/>
                <a:cs typeface="Georgia"/>
              </a:rPr>
              <a:t>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8229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一次萃取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851674"/>
            <a:ext cx="437515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设</a:t>
            </a:r>
            <a:r>
              <a:rPr dirty="0" spc="20"/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W</a:t>
            </a:r>
            <a:r>
              <a:rPr dirty="0" baseline="-13888" sz="900" spc="247" i="1">
                <a:latin typeface="Arial"/>
                <a:cs typeface="Arial"/>
              </a:rPr>
              <a:t> </a:t>
            </a:r>
            <a:r>
              <a:rPr dirty="0" sz="1200" spc="-5"/>
              <a:t>体积的水溶液中含有待萃取物质</a:t>
            </a:r>
            <a:r>
              <a:rPr dirty="0" sz="1200" spc="20"/>
              <a:t> </a:t>
            </a:r>
            <a:r>
              <a:rPr dirty="0" sz="1100" spc="25" b="0" i="1">
                <a:latin typeface="Bookman Old Style"/>
                <a:cs typeface="Bookman Old Style"/>
              </a:rPr>
              <a:t>m</a:t>
            </a:r>
            <a:r>
              <a:rPr dirty="0" baseline="-13888" sz="900" spc="37">
                <a:latin typeface="Times New Roman"/>
                <a:cs typeface="Times New Roman"/>
              </a:rPr>
              <a:t>0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80"/>
              <a:t>克</a:t>
            </a:r>
            <a:r>
              <a:rPr dirty="0" sz="1200" spc="-185"/>
              <a:t>，</a:t>
            </a:r>
            <a:r>
              <a:rPr dirty="0" sz="1200" spc="-5"/>
              <a:t>用</a:t>
            </a:r>
            <a:r>
              <a:rPr dirty="0" sz="1200" spc="20"/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V</a:t>
            </a:r>
            <a:r>
              <a:rPr dirty="0" baseline="-13888" sz="900" spc="-22" i="1">
                <a:latin typeface="Arial"/>
                <a:cs typeface="Arial"/>
              </a:rPr>
              <a:t>O</a:t>
            </a:r>
            <a:r>
              <a:rPr dirty="0" baseline="-13888" sz="900" spc="157" i="1">
                <a:latin typeface="Arial"/>
                <a:cs typeface="Arial"/>
              </a:rPr>
              <a:t> </a:t>
            </a:r>
            <a:r>
              <a:rPr dirty="0" sz="1200" spc="-5"/>
              <a:t>体积的 有机试剂萃取一</a:t>
            </a:r>
            <a:r>
              <a:rPr dirty="0" sz="1200" spc="-80"/>
              <a:t>次</a:t>
            </a:r>
            <a:r>
              <a:rPr dirty="0" sz="1200" spc="-185"/>
              <a:t>，</a:t>
            </a:r>
            <a:r>
              <a:rPr dirty="0" sz="1200" spc="-5"/>
              <a:t>有</a:t>
            </a:r>
            <a:r>
              <a:rPr dirty="0" sz="1200" spc="5"/>
              <a:t> </a:t>
            </a:r>
            <a:r>
              <a:rPr dirty="0" sz="1100" spc="20">
                <a:latin typeface="Georgia"/>
                <a:cs typeface="Georgia"/>
              </a:rPr>
              <a:t>(</a:t>
            </a:r>
            <a:r>
              <a:rPr dirty="0" sz="1100" spc="20" b="0" i="1">
                <a:latin typeface="Bookman Old Style"/>
                <a:cs typeface="Bookman Old Style"/>
              </a:rPr>
              <a:t>m</a:t>
            </a:r>
            <a:r>
              <a:rPr dirty="0" baseline="-13888" sz="900" spc="30">
                <a:latin typeface="Times New Roman"/>
                <a:cs typeface="Times New Roman"/>
              </a:rPr>
              <a:t>0</a:t>
            </a:r>
            <a:r>
              <a:rPr dirty="0" baseline="-13888" sz="900" spc="187">
                <a:latin typeface="Times New Roman"/>
                <a:cs typeface="Times New Roman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25">
                <a:latin typeface="Lucida Sans Unicode"/>
                <a:cs typeface="Lucida Sans Unicode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m</a:t>
            </a:r>
            <a:r>
              <a:rPr dirty="0" baseline="-13888" sz="900" spc="52">
                <a:latin typeface="Times New Roman"/>
                <a:cs typeface="Times New Roman"/>
              </a:rPr>
              <a:t>1</a:t>
            </a:r>
            <a:r>
              <a:rPr dirty="0" sz="1100" spc="35">
                <a:latin typeface="Georgia"/>
                <a:cs typeface="Georgia"/>
              </a:rPr>
              <a:t>)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5"/>
              <a:t>克的待萃取物质进入有机</a:t>
            </a:r>
            <a:r>
              <a:rPr dirty="0" sz="1200" spc="-80"/>
              <a:t>相</a:t>
            </a:r>
            <a:r>
              <a:rPr dirty="0" sz="1200" spc="-185"/>
              <a:t>，</a:t>
            </a:r>
            <a:r>
              <a:rPr dirty="0" sz="1200" spc="-5"/>
              <a:t>此 时的分配比</a:t>
            </a:r>
            <a:r>
              <a:rPr dirty="0" sz="1200" spc="-90"/>
              <a:t>为</a:t>
            </a:r>
            <a:r>
              <a:rPr dirty="0" sz="1200" spc="-5"/>
              <a:t>：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41106" y="1848472"/>
            <a:ext cx="266065" cy="0"/>
          </a:xfrm>
          <a:custGeom>
            <a:avLst/>
            <a:gdLst/>
            <a:ahLst/>
            <a:cxnLst/>
            <a:rect l="l" t="t" r="r" b="b"/>
            <a:pathLst>
              <a:path w="266064" h="0">
                <a:moveTo>
                  <a:pt x="0" y="0"/>
                </a:moveTo>
                <a:lnTo>
                  <a:pt x="2655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36216" y="1847672"/>
            <a:ext cx="2692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-97" b="0" i="1">
                <a:latin typeface="Bookman Old Style"/>
                <a:cs typeface="Bookman Old Style"/>
              </a:rPr>
              <a:t>c</a:t>
            </a:r>
            <a:r>
              <a:rPr dirty="0" sz="500" spc="20">
                <a:latin typeface="Arial Unicode MS"/>
                <a:cs typeface="Arial Unicode MS"/>
              </a:rPr>
              <a:t>水相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839" y="1468285"/>
            <a:ext cx="5880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m</a:t>
            </a:r>
            <a:r>
              <a:rPr dirty="0" u="sng" baseline="-13888" sz="900" spc="3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22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m</a:t>
            </a:r>
            <a:r>
              <a:rPr dirty="0" u="sng" baseline="-13888" sz="900" spc="3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21750" y="1848472"/>
            <a:ext cx="548640" cy="0"/>
          </a:xfrm>
          <a:custGeom>
            <a:avLst/>
            <a:gdLst/>
            <a:ahLst/>
            <a:cxnLst/>
            <a:rect l="l" t="t" r="r" b="b"/>
            <a:pathLst>
              <a:path w="548639" h="0">
                <a:moveTo>
                  <a:pt x="0" y="0"/>
                </a:moveTo>
                <a:lnTo>
                  <a:pt x="54842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71840" y="1658912"/>
            <a:ext cx="1256030" cy="3092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r" marL="1036319" marR="43180" indent="-986155">
              <a:lnSpc>
                <a:spcPct val="70000"/>
              </a:lnSpc>
              <a:spcBef>
                <a:spcPts val="484"/>
              </a:spcBef>
              <a:tabLst>
                <a:tab pos="1043305" algn="l"/>
              </a:tabLst>
            </a:pPr>
            <a:r>
              <a:rPr dirty="0" baseline="-27777" sz="1650" spc="127" b="0" i="1">
                <a:latin typeface="Bookman Old Style"/>
                <a:cs typeface="Bookman Old Style"/>
              </a:rPr>
              <a:t>D</a:t>
            </a:r>
            <a:r>
              <a:rPr dirty="0" baseline="-27777" sz="1650" spc="127" b="0" i="1">
                <a:latin typeface="Bookman Old Style"/>
                <a:cs typeface="Bookman Old Style"/>
              </a:rPr>
              <a:t> </a:t>
            </a:r>
            <a:r>
              <a:rPr dirty="0" baseline="-27777" sz="1650" spc="209">
                <a:latin typeface="Georgia"/>
                <a:cs typeface="Georgia"/>
              </a:rPr>
              <a:t>=</a:t>
            </a:r>
            <a:r>
              <a:rPr dirty="0" baseline="-27777" sz="1650" spc="209">
                <a:latin typeface="Georgia"/>
                <a:cs typeface="Georgia"/>
              </a:rPr>
              <a:t> </a:t>
            </a:r>
            <a:r>
              <a:rPr dirty="0" baseline="-27777" sz="1650" spc="-165">
                <a:latin typeface="Georgia"/>
                <a:cs typeface="Georgia"/>
              </a:rPr>
              <a:t> </a:t>
            </a:r>
            <a:r>
              <a:rPr dirty="0" baseline="7575" sz="1650" spc="-97" b="0" i="1">
                <a:latin typeface="Bookman Old Style"/>
                <a:cs typeface="Bookman Old Style"/>
              </a:rPr>
              <a:t>c</a:t>
            </a:r>
            <a:r>
              <a:rPr dirty="0" sz="500" spc="20">
                <a:latin typeface="Arial Unicode MS"/>
                <a:cs typeface="Arial Unicode MS"/>
              </a:rPr>
              <a:t>有机相</a:t>
            </a:r>
            <a:r>
              <a:rPr dirty="0" sz="500">
                <a:latin typeface="Arial Unicode MS"/>
                <a:cs typeface="Arial Unicode MS"/>
              </a:rPr>
              <a:t>  </a:t>
            </a:r>
            <a:r>
              <a:rPr dirty="0" sz="500" spc="55">
                <a:latin typeface="Arial Unicode MS"/>
                <a:cs typeface="Arial Unicode MS"/>
              </a:rPr>
              <a:t> </a:t>
            </a:r>
            <a:r>
              <a:rPr dirty="0" baseline="-27777" sz="1650" spc="209">
                <a:latin typeface="Georgia"/>
                <a:cs typeface="Georgia"/>
              </a:rPr>
              <a:t>=</a:t>
            </a:r>
            <a:r>
              <a:rPr dirty="0" baseline="-27777" sz="1650">
                <a:latin typeface="Georgia"/>
                <a:cs typeface="Georgia"/>
              </a:rPr>
              <a:t>		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r>
              <a:rPr dirty="0" baseline="-13888" sz="900" spc="89" i="1">
                <a:latin typeface="Arial"/>
                <a:cs typeface="Arial"/>
              </a:rPr>
              <a:t>O </a:t>
            </a:r>
            <a:r>
              <a:rPr dirty="0" baseline="-13888" sz="900" spc="44" i="1">
                <a:latin typeface="Arial"/>
                <a:cs typeface="Arial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m</a:t>
            </a:r>
            <a:r>
              <a:rPr dirty="0" baseline="-13888" sz="900" spc="97"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02560" y="1986610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 h="0">
                <a:moveTo>
                  <a:pt x="0" y="0"/>
                </a:moveTo>
                <a:lnTo>
                  <a:pt x="18681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564460" y="1965032"/>
            <a:ext cx="2444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W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501" y="2164600"/>
            <a:ext cx="3187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即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8254" y="2419972"/>
            <a:ext cx="5067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m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m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99895" y="2503373"/>
            <a:ext cx="4311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1475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34793" y="2224620"/>
            <a:ext cx="1276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34">
                <a:latin typeface="Arial"/>
                <a:cs typeface="Arial"/>
              </a:rPr>
              <a:t>(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51964" y="2326246"/>
            <a:ext cx="3308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3622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56979" y="2409647"/>
            <a:ext cx="3556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265" algn="l"/>
              </a:tabLst>
            </a:pPr>
            <a:r>
              <a:rPr dirty="0" u="sng" sz="600" spc="12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	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51964" y="2515006"/>
            <a:ext cx="5549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DV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51328" y="2598407"/>
            <a:ext cx="4432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265" algn="l"/>
              </a:tabLst>
            </a:pPr>
            <a:r>
              <a:rPr dirty="0" sz="600" spc="90" i="1">
                <a:latin typeface="Arial"/>
                <a:cs typeface="Arial"/>
              </a:rPr>
              <a:t>O</a:t>
            </a:r>
            <a:r>
              <a:rPr dirty="0" sz="600" spc="90" i="1">
                <a:latin typeface="Arial"/>
                <a:cs typeface="Arial"/>
              </a:rPr>
              <a:t>	</a:t>
            </a:r>
            <a:r>
              <a:rPr dirty="0" sz="600" spc="12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02369" y="2224620"/>
            <a:ext cx="1276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34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8229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多次萃取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783234"/>
            <a:ext cx="439674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若再用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V</a:t>
            </a:r>
            <a:r>
              <a:rPr dirty="0" baseline="-13888" sz="900" spc="-22" i="1">
                <a:latin typeface="Arial"/>
                <a:cs typeface="Arial"/>
              </a:rPr>
              <a:t>O</a:t>
            </a:r>
            <a:r>
              <a:rPr dirty="0" baseline="-13888" sz="900" spc="127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体积的有机试剂萃取一</a:t>
            </a:r>
            <a:r>
              <a:rPr dirty="0" sz="1200" spc="-80">
                <a:latin typeface="Arial Unicode MS"/>
                <a:cs typeface="Arial Unicode MS"/>
              </a:rPr>
              <a:t>次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此时剩余在水相中的被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萃取物质为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5" b="0" i="1">
                <a:latin typeface="Bookman Old Style"/>
                <a:cs typeface="Bookman Old Style"/>
              </a:rPr>
              <a:t>m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则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6033" y="1461846"/>
            <a:ext cx="5067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m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m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7673" y="1545259"/>
            <a:ext cx="4311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147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4758" y="1451533"/>
            <a:ext cx="1130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99742" y="1556880"/>
            <a:ext cx="5549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DV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99107" y="1640294"/>
            <a:ext cx="4432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265" algn="l"/>
              </a:tabLst>
            </a:pPr>
            <a:r>
              <a:rPr dirty="0" sz="600" spc="90" i="1">
                <a:latin typeface="Arial"/>
                <a:cs typeface="Arial"/>
              </a:rPr>
              <a:t>O</a:t>
            </a:r>
            <a:r>
              <a:rPr dirty="0" sz="600" spc="90" i="1">
                <a:latin typeface="Arial"/>
                <a:cs typeface="Arial"/>
              </a:rPr>
              <a:t>	</a:t>
            </a:r>
            <a:r>
              <a:rPr dirty="0" sz="600" spc="12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0609" y="1461846"/>
            <a:ext cx="2933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m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58491" y="154525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99742" y="1368120"/>
            <a:ext cx="19126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36220" algn="l"/>
                <a:tab pos="647700" algn="l"/>
                <a:tab pos="1264285" algn="l"/>
                <a:tab pos="1488440" algn="l"/>
                <a:tab pos="189928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	</a:t>
            </a:r>
            <a:r>
              <a:rPr dirty="0" sz="1100" spc="-114" b="0" i="1">
                <a:latin typeface="Bookman Old Style"/>
                <a:cs typeface="Bookman Old Style"/>
              </a:rPr>
              <a:t>	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	V	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6483" y="1451521"/>
            <a:ext cx="1130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51467" y="1556880"/>
            <a:ext cx="5549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DV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50844" y="1640294"/>
            <a:ext cx="4432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265" algn="l"/>
              </a:tabLst>
            </a:pPr>
            <a:r>
              <a:rPr dirty="0" sz="600" spc="90" i="1">
                <a:latin typeface="Arial"/>
                <a:cs typeface="Arial"/>
              </a:rPr>
              <a:t>O</a:t>
            </a:r>
            <a:r>
              <a:rPr dirty="0" sz="600" spc="90" i="1">
                <a:latin typeface="Arial"/>
                <a:cs typeface="Arial"/>
              </a:rPr>
              <a:t>	</a:t>
            </a:r>
            <a:r>
              <a:rPr dirty="0" sz="600" spc="12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82572" y="1266494"/>
            <a:ext cx="21469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79780" algn="l"/>
                <a:tab pos="1264285" algn="l"/>
                <a:tab pos="2031364" algn="l"/>
              </a:tabLst>
            </a:pPr>
            <a:r>
              <a:rPr dirty="0" sz="1100" spc="434">
                <a:latin typeface="Arial"/>
                <a:cs typeface="Arial"/>
              </a:rPr>
              <a:t>(</a:t>
            </a:r>
            <a:r>
              <a:rPr dirty="0" sz="1100" spc="434">
                <a:latin typeface="Arial"/>
                <a:cs typeface="Arial"/>
              </a:rPr>
              <a:t>	</a:t>
            </a:r>
            <a:r>
              <a:rPr dirty="0" sz="1100" spc="434">
                <a:latin typeface="Arial"/>
                <a:cs typeface="Arial"/>
              </a:rPr>
              <a:t>)</a:t>
            </a:r>
            <a:r>
              <a:rPr dirty="0" sz="1100" spc="434">
                <a:latin typeface="Arial"/>
                <a:cs typeface="Arial"/>
              </a:rPr>
              <a:t>	</a:t>
            </a:r>
            <a:r>
              <a:rPr dirty="0" sz="1100" spc="434">
                <a:latin typeface="Arial"/>
                <a:cs typeface="Arial"/>
              </a:rPr>
              <a:t>(</a:t>
            </a:r>
            <a:r>
              <a:rPr dirty="0" sz="1100" spc="434">
                <a:latin typeface="Arial"/>
                <a:cs typeface="Arial"/>
              </a:rPr>
              <a:t>	</a:t>
            </a:r>
            <a:r>
              <a:rPr dirty="0" sz="1100" spc="434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03853" y="135486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65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8229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多次萃取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783234"/>
            <a:ext cx="439674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若再用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V</a:t>
            </a:r>
            <a:r>
              <a:rPr dirty="0" baseline="-13888" sz="900" spc="-22" i="1">
                <a:latin typeface="Arial"/>
                <a:cs typeface="Arial"/>
              </a:rPr>
              <a:t>O</a:t>
            </a:r>
            <a:r>
              <a:rPr dirty="0" baseline="-13888" sz="900" spc="127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体积的有机试剂萃取一</a:t>
            </a:r>
            <a:r>
              <a:rPr dirty="0" sz="1200" spc="-80">
                <a:latin typeface="Arial Unicode MS"/>
                <a:cs typeface="Arial Unicode MS"/>
              </a:rPr>
              <a:t>次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此时剩余在水相中的被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萃取物质为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5" b="0" i="1">
                <a:latin typeface="Bookman Old Style"/>
                <a:cs typeface="Bookman Old Style"/>
              </a:rPr>
              <a:t>m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则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6033" y="1461846"/>
            <a:ext cx="5067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m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m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7673" y="1545259"/>
            <a:ext cx="4311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147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4758" y="1451533"/>
            <a:ext cx="1130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0609" y="1461846"/>
            <a:ext cx="2933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m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58491" y="154525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99742" y="1368120"/>
            <a:ext cx="19126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36220" algn="l"/>
                <a:tab pos="647700" algn="l"/>
                <a:tab pos="1264285" algn="l"/>
                <a:tab pos="1488440" algn="l"/>
                <a:tab pos="189928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	</a:t>
            </a:r>
            <a:r>
              <a:rPr dirty="0" sz="1100" spc="-114" b="0" i="1">
                <a:latin typeface="Bookman Old Style"/>
                <a:cs typeface="Bookman Old Style"/>
              </a:rPr>
              <a:t>	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	V	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56483" y="1451521"/>
            <a:ext cx="1130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61642" y="1556880"/>
            <a:ext cx="19704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302385" algn="l"/>
              </a:tabLst>
            </a:pPr>
            <a:r>
              <a:rPr dirty="0" sz="1100" spc="30" b="0" i="1">
                <a:latin typeface="Bookman Old Style"/>
                <a:cs typeface="Bookman Old Style"/>
              </a:rPr>
              <a:t>DV</a:t>
            </a:r>
            <a:r>
              <a:rPr dirty="0" baseline="-13888" sz="900" spc="44" i="1">
                <a:latin typeface="Arial"/>
                <a:cs typeface="Arial"/>
              </a:rPr>
              <a:t>O</a:t>
            </a:r>
            <a:r>
              <a:rPr dirty="0" baseline="-13888" sz="900" spc="217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W	</a:t>
            </a:r>
            <a:r>
              <a:rPr dirty="0" sz="1100" spc="30" b="0" i="1">
                <a:latin typeface="Bookman Old Style"/>
                <a:cs typeface="Bookman Old Style"/>
              </a:rPr>
              <a:t>DV</a:t>
            </a:r>
            <a:r>
              <a:rPr dirty="0" baseline="-13888" sz="900" spc="44" i="1">
                <a:latin typeface="Arial"/>
                <a:cs typeface="Arial"/>
              </a:rPr>
              <a:t>O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V</a:t>
            </a:r>
            <a:r>
              <a:rPr dirty="0" baseline="-13888" sz="900" i="1">
                <a:latin typeface="Arial"/>
                <a:cs typeface="Arial"/>
              </a:rPr>
              <a:t>W</a:t>
            </a:r>
            <a:endParaRPr baseline="-13888"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82572" y="1266494"/>
            <a:ext cx="21469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79780" algn="l"/>
                <a:tab pos="1264285" algn="l"/>
                <a:tab pos="2031364" algn="l"/>
              </a:tabLst>
            </a:pPr>
            <a:r>
              <a:rPr dirty="0" sz="1100" spc="434">
                <a:latin typeface="Arial"/>
                <a:cs typeface="Arial"/>
              </a:rPr>
              <a:t>(</a:t>
            </a:r>
            <a:r>
              <a:rPr dirty="0" sz="1100" spc="434">
                <a:latin typeface="Arial"/>
                <a:cs typeface="Arial"/>
              </a:rPr>
              <a:t>	</a:t>
            </a:r>
            <a:r>
              <a:rPr dirty="0" sz="1100" spc="434">
                <a:latin typeface="Arial"/>
                <a:cs typeface="Arial"/>
              </a:rPr>
              <a:t>)</a:t>
            </a:r>
            <a:r>
              <a:rPr dirty="0" sz="1100" spc="434">
                <a:latin typeface="Arial"/>
                <a:cs typeface="Arial"/>
              </a:rPr>
              <a:t>	</a:t>
            </a:r>
            <a:r>
              <a:rPr dirty="0" sz="1100" spc="434">
                <a:latin typeface="Arial"/>
                <a:cs typeface="Arial"/>
              </a:rPr>
              <a:t>(</a:t>
            </a:r>
            <a:r>
              <a:rPr dirty="0" sz="1100" spc="434">
                <a:latin typeface="Arial"/>
                <a:cs typeface="Arial"/>
              </a:rPr>
              <a:t>	</a:t>
            </a:r>
            <a:r>
              <a:rPr dirty="0" sz="1100" spc="434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3853" y="135486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444" y="1803324"/>
            <a:ext cx="441134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由此类</a:t>
            </a:r>
            <a:r>
              <a:rPr dirty="0" sz="1200" spc="-80">
                <a:latin typeface="Arial Unicode MS"/>
                <a:cs typeface="Arial Unicode MS"/>
              </a:rPr>
              <a:t>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当上述的溶液用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V</a:t>
            </a:r>
            <a:r>
              <a:rPr dirty="0" baseline="-13888" sz="900" spc="-22" i="1">
                <a:latin typeface="Arial"/>
                <a:cs typeface="Arial"/>
              </a:rPr>
              <a:t>O</a:t>
            </a:r>
            <a:r>
              <a:rPr dirty="0" baseline="-13888" sz="900" spc="142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体积的有机试剂萃取了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n</a:t>
            </a:r>
            <a:r>
              <a:rPr dirty="0" sz="1100" spc="15" b="0" i="1">
                <a:latin typeface="Bookman Old Style"/>
                <a:cs typeface="Bookman Old Style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次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则此时水相中剩余的待萃取物质的量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39862" y="2465692"/>
            <a:ext cx="51815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 b="0" i="1">
                <a:latin typeface="Bookman Old Style"/>
                <a:cs typeface="Bookman Old Style"/>
              </a:rPr>
              <a:t>m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85">
                <a:latin typeface="Georgia"/>
                <a:cs typeface="Georgia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m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61502" y="2549106"/>
            <a:ext cx="4432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3540" algn="l"/>
              </a:tabLst>
            </a:pPr>
            <a:r>
              <a:rPr dirty="0" sz="600" spc="125" i="1">
                <a:latin typeface="Arial"/>
                <a:cs typeface="Arial"/>
              </a:rPr>
              <a:t>n</a:t>
            </a:r>
            <a:r>
              <a:rPr dirty="0" sz="600" spc="125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25598" y="2371966"/>
            <a:ext cx="661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36220" algn="l"/>
                <a:tab pos="64770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114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	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30627" y="2455367"/>
            <a:ext cx="1130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25598" y="2560726"/>
            <a:ext cx="5549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0" i="1">
                <a:latin typeface="Bookman Old Style"/>
                <a:cs typeface="Bookman Old Style"/>
              </a:rPr>
              <a:t>DV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24976" y="2644140"/>
            <a:ext cx="4432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265" algn="l"/>
              </a:tabLst>
            </a:pPr>
            <a:r>
              <a:rPr dirty="0" sz="600" spc="90" i="1">
                <a:latin typeface="Arial"/>
                <a:cs typeface="Arial"/>
              </a:rPr>
              <a:t>O</a:t>
            </a:r>
            <a:r>
              <a:rPr dirty="0" sz="600" spc="90" i="1">
                <a:latin typeface="Arial"/>
                <a:cs typeface="Arial"/>
              </a:rPr>
              <a:t>	</a:t>
            </a:r>
            <a:r>
              <a:rPr dirty="0" sz="600" spc="120" i="1">
                <a:latin typeface="Arial"/>
                <a:cs typeface="Arial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08441" y="2270341"/>
            <a:ext cx="895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79780" algn="l"/>
              </a:tabLst>
            </a:pPr>
            <a:r>
              <a:rPr dirty="0" sz="1100" spc="434">
                <a:latin typeface="Arial"/>
                <a:cs typeface="Arial"/>
              </a:rPr>
              <a:t>(</a:t>
            </a:r>
            <a:r>
              <a:rPr dirty="0" sz="1100" spc="434">
                <a:latin typeface="Arial"/>
                <a:cs typeface="Arial"/>
              </a:rPr>
              <a:t>	</a:t>
            </a:r>
            <a:r>
              <a:rPr dirty="0" sz="1100" spc="434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77984" y="2358707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79722" y="2465692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65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368833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544398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197419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184719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413080"/>
            <a:ext cx="50749" cy="7843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588668"/>
            <a:ext cx="4432935" cy="659765"/>
          </a:xfrm>
          <a:custGeom>
            <a:avLst/>
            <a:gdLst/>
            <a:ahLst/>
            <a:cxnLst/>
            <a:rect l="l" t="t" r="r" b="b"/>
            <a:pathLst>
              <a:path w="4432935" h="659765">
                <a:moveTo>
                  <a:pt x="4432566" y="0"/>
                </a:moveTo>
                <a:lnTo>
                  <a:pt x="0" y="0"/>
                </a:lnTo>
                <a:lnTo>
                  <a:pt x="0" y="608751"/>
                </a:lnTo>
                <a:lnTo>
                  <a:pt x="4008" y="628476"/>
                </a:lnTo>
                <a:lnTo>
                  <a:pt x="14922" y="644629"/>
                </a:lnTo>
                <a:lnTo>
                  <a:pt x="31075" y="655543"/>
                </a:lnTo>
                <a:lnTo>
                  <a:pt x="50800" y="659551"/>
                </a:lnTo>
                <a:lnTo>
                  <a:pt x="4381765" y="659551"/>
                </a:lnTo>
                <a:lnTo>
                  <a:pt x="4401490" y="655543"/>
                </a:lnTo>
                <a:lnTo>
                  <a:pt x="4417643" y="644629"/>
                </a:lnTo>
                <a:lnTo>
                  <a:pt x="4428558" y="628476"/>
                </a:lnTo>
                <a:lnTo>
                  <a:pt x="4432566" y="608751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451161"/>
            <a:ext cx="0" cy="765810"/>
          </a:xfrm>
          <a:custGeom>
            <a:avLst/>
            <a:gdLst/>
            <a:ahLst/>
            <a:cxnLst/>
            <a:rect l="l" t="t" r="r" b="b"/>
            <a:pathLst>
              <a:path w="0" h="765810">
                <a:moveTo>
                  <a:pt x="0" y="76530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43846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42576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41306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308343"/>
            <a:ext cx="4432935" cy="909319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10.1</a:t>
            </a:r>
            <a:endParaRPr sz="1200">
              <a:latin typeface="Calibri"/>
              <a:cs typeface="Calibri"/>
            </a:endParaRPr>
          </a:p>
          <a:p>
            <a:pPr marL="50800" marR="43180">
              <a:lnSpc>
                <a:spcPts val="1760"/>
              </a:lnSpc>
              <a:spcBef>
                <a:spcPts val="70"/>
              </a:spcBef>
            </a:pPr>
            <a:r>
              <a:rPr dirty="0" sz="1200" spc="-5">
                <a:latin typeface="Arial Unicode MS"/>
                <a:cs typeface="Arial Unicode MS"/>
              </a:rPr>
              <a:t>现有含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100" spc="-60">
                <a:latin typeface="Georgia"/>
                <a:cs typeface="Georgia"/>
              </a:rPr>
              <a:t>1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00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mg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的水溶液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105">
                <a:latin typeface="Georgia"/>
                <a:cs typeface="Georgia"/>
              </a:rPr>
              <a:t>mL</a:t>
            </a:r>
            <a:r>
              <a:rPr dirty="0" sz="1200" spc="-10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CCl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按如下方式萃取其中 的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215">
                <a:latin typeface="Georgia"/>
                <a:cs typeface="Georgia"/>
              </a:rPr>
              <a:t>I</a:t>
            </a:r>
            <a:r>
              <a:rPr dirty="0" baseline="-13888" sz="900" spc="-322">
                <a:latin typeface="Times New Roman"/>
                <a:cs typeface="Times New Roman"/>
              </a:rPr>
              <a:t>2</a:t>
            </a:r>
            <a:r>
              <a:rPr dirty="0" sz="1200" spc="-215">
                <a:latin typeface="Arial Unicode MS"/>
                <a:cs typeface="Arial Unicode MS"/>
              </a:rPr>
              <a:t>：（</a:t>
            </a:r>
            <a:r>
              <a:rPr dirty="0" sz="1100" spc="-215">
                <a:latin typeface="Georgia"/>
                <a:cs typeface="Georgia"/>
              </a:rPr>
              <a:t>1</a:t>
            </a:r>
            <a:r>
              <a:rPr dirty="0" sz="1200" spc="-21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80">
                <a:latin typeface="Georgia"/>
                <a:cs typeface="Georgia"/>
              </a:rPr>
              <a:t>9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mL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CCl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baseline="-13888" sz="900" spc="367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萃取一</a:t>
            </a:r>
            <a:r>
              <a:rPr dirty="0" sz="1200" spc="-70">
                <a:latin typeface="Arial Unicode MS"/>
                <a:cs typeface="Arial Unicode MS"/>
              </a:rPr>
              <a:t>次</a:t>
            </a:r>
            <a:r>
              <a:rPr dirty="0" sz="1200" spc="-320">
                <a:latin typeface="Arial Unicode MS"/>
                <a:cs typeface="Arial Unicode MS"/>
              </a:rPr>
              <a:t>；（</a:t>
            </a:r>
            <a:r>
              <a:rPr dirty="0" sz="1100" spc="-320">
                <a:latin typeface="Georgia"/>
                <a:cs typeface="Georgia"/>
              </a:rPr>
              <a:t>2</a:t>
            </a:r>
            <a:r>
              <a:rPr dirty="0" sz="1200" spc="-32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CCl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baseline="-13888" sz="900" spc="359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萃取三</a:t>
            </a:r>
            <a:r>
              <a:rPr dirty="0" sz="1200" spc="-80">
                <a:latin typeface="Arial Unicode MS"/>
                <a:cs typeface="Arial Unicode MS"/>
              </a:rPr>
              <a:t>次</a:t>
            </a:r>
            <a:r>
              <a:rPr dirty="0" sz="1200" spc="-22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每次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65">
                <a:latin typeface="Georgia"/>
                <a:cs typeface="Georgia"/>
              </a:rPr>
              <a:t>3  </a:t>
            </a:r>
            <a:r>
              <a:rPr dirty="0" sz="1100" spc="-30">
                <a:latin typeface="Georgia"/>
                <a:cs typeface="Georgia"/>
              </a:rPr>
              <a:t>mL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求两种情况下的萃取</a:t>
            </a:r>
            <a:r>
              <a:rPr dirty="0" sz="1200" spc="-20">
                <a:latin typeface="Arial Unicode MS"/>
                <a:cs typeface="Arial Unicode MS"/>
              </a:rPr>
              <a:t>率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40">
                <a:latin typeface="Arial Unicode MS"/>
                <a:cs typeface="Arial Unicode MS"/>
              </a:rPr>
              <a:t>：</a:t>
            </a:r>
            <a:r>
              <a:rPr dirty="0" sz="1100" spc="-40" b="0" i="1">
                <a:latin typeface="Bookman Old Style"/>
                <a:cs typeface="Bookman Old Style"/>
              </a:rPr>
              <a:t>D</a:t>
            </a:r>
            <a:r>
              <a:rPr dirty="0" sz="1100" spc="-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85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65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368833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544398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197419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184719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413080"/>
            <a:ext cx="50749" cy="7843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588668"/>
            <a:ext cx="4432935" cy="659765"/>
          </a:xfrm>
          <a:custGeom>
            <a:avLst/>
            <a:gdLst/>
            <a:ahLst/>
            <a:cxnLst/>
            <a:rect l="l" t="t" r="r" b="b"/>
            <a:pathLst>
              <a:path w="4432935" h="659765">
                <a:moveTo>
                  <a:pt x="4432566" y="0"/>
                </a:moveTo>
                <a:lnTo>
                  <a:pt x="0" y="0"/>
                </a:lnTo>
                <a:lnTo>
                  <a:pt x="0" y="608751"/>
                </a:lnTo>
                <a:lnTo>
                  <a:pt x="4008" y="628476"/>
                </a:lnTo>
                <a:lnTo>
                  <a:pt x="14922" y="644629"/>
                </a:lnTo>
                <a:lnTo>
                  <a:pt x="31075" y="655543"/>
                </a:lnTo>
                <a:lnTo>
                  <a:pt x="50800" y="659551"/>
                </a:lnTo>
                <a:lnTo>
                  <a:pt x="4381765" y="659551"/>
                </a:lnTo>
                <a:lnTo>
                  <a:pt x="4401490" y="655543"/>
                </a:lnTo>
                <a:lnTo>
                  <a:pt x="4417643" y="644629"/>
                </a:lnTo>
                <a:lnTo>
                  <a:pt x="4428558" y="628476"/>
                </a:lnTo>
                <a:lnTo>
                  <a:pt x="4432566" y="608751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451161"/>
            <a:ext cx="0" cy="765810"/>
          </a:xfrm>
          <a:custGeom>
            <a:avLst/>
            <a:gdLst/>
            <a:ahLst/>
            <a:cxnLst/>
            <a:rect l="l" t="t" r="r" b="b"/>
            <a:pathLst>
              <a:path w="0" h="765810">
                <a:moveTo>
                  <a:pt x="0" y="76530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43846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42576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41306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308343"/>
            <a:ext cx="4458335" cy="125730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10.1</a:t>
            </a:r>
            <a:endParaRPr sz="1200">
              <a:latin typeface="Calibri"/>
              <a:cs typeface="Calibri"/>
            </a:endParaRPr>
          </a:p>
          <a:p>
            <a:pPr marL="63500" marR="55880">
              <a:lnSpc>
                <a:spcPts val="1760"/>
              </a:lnSpc>
              <a:spcBef>
                <a:spcPts val="70"/>
              </a:spcBef>
            </a:pPr>
            <a:r>
              <a:rPr dirty="0" sz="1200" spc="-5">
                <a:latin typeface="Arial Unicode MS"/>
                <a:cs typeface="Arial Unicode MS"/>
              </a:rPr>
              <a:t>现有含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100" spc="-60">
                <a:latin typeface="Georgia"/>
                <a:cs typeface="Georgia"/>
              </a:rPr>
              <a:t>1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00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mg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的水溶液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105">
                <a:latin typeface="Georgia"/>
                <a:cs typeface="Georgia"/>
              </a:rPr>
              <a:t>mL</a:t>
            </a:r>
            <a:r>
              <a:rPr dirty="0" sz="1200" spc="-10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CCl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按如下方式萃取其中 的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215">
                <a:latin typeface="Georgia"/>
                <a:cs typeface="Georgia"/>
              </a:rPr>
              <a:t>I</a:t>
            </a:r>
            <a:r>
              <a:rPr dirty="0" baseline="-13888" sz="900" spc="-322">
                <a:latin typeface="Times New Roman"/>
                <a:cs typeface="Times New Roman"/>
              </a:rPr>
              <a:t>2</a:t>
            </a:r>
            <a:r>
              <a:rPr dirty="0" sz="1200" spc="-215">
                <a:latin typeface="Arial Unicode MS"/>
                <a:cs typeface="Arial Unicode MS"/>
              </a:rPr>
              <a:t>：（</a:t>
            </a:r>
            <a:r>
              <a:rPr dirty="0" sz="1100" spc="-215">
                <a:latin typeface="Georgia"/>
                <a:cs typeface="Georgia"/>
              </a:rPr>
              <a:t>1</a:t>
            </a:r>
            <a:r>
              <a:rPr dirty="0" sz="1200" spc="-21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80">
                <a:latin typeface="Georgia"/>
                <a:cs typeface="Georgia"/>
              </a:rPr>
              <a:t>9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mL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CCl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baseline="-13888" sz="900" spc="367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萃取一</a:t>
            </a:r>
            <a:r>
              <a:rPr dirty="0" sz="1200" spc="-70">
                <a:latin typeface="Arial Unicode MS"/>
                <a:cs typeface="Arial Unicode MS"/>
              </a:rPr>
              <a:t>次</a:t>
            </a:r>
            <a:r>
              <a:rPr dirty="0" sz="1200" spc="-320">
                <a:latin typeface="Arial Unicode MS"/>
                <a:cs typeface="Arial Unicode MS"/>
              </a:rPr>
              <a:t>；（</a:t>
            </a:r>
            <a:r>
              <a:rPr dirty="0" sz="1100" spc="-320">
                <a:latin typeface="Georgia"/>
                <a:cs typeface="Georgia"/>
              </a:rPr>
              <a:t>2</a:t>
            </a:r>
            <a:r>
              <a:rPr dirty="0" sz="1200" spc="-32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CCl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baseline="-13888" sz="900" spc="359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萃取三</a:t>
            </a:r>
            <a:r>
              <a:rPr dirty="0" sz="1200" spc="-80">
                <a:latin typeface="Arial Unicode MS"/>
                <a:cs typeface="Arial Unicode MS"/>
              </a:rPr>
              <a:t>次</a:t>
            </a:r>
            <a:r>
              <a:rPr dirty="0" sz="1200" spc="-22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每次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65">
                <a:latin typeface="Georgia"/>
                <a:cs typeface="Georgia"/>
              </a:rPr>
              <a:t>3  </a:t>
            </a:r>
            <a:r>
              <a:rPr dirty="0" sz="1100" spc="-30">
                <a:latin typeface="Georgia"/>
                <a:cs typeface="Georgia"/>
              </a:rPr>
              <a:t>mL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求两种情况下的萃取</a:t>
            </a:r>
            <a:r>
              <a:rPr dirty="0" sz="1200" spc="-20">
                <a:latin typeface="Arial Unicode MS"/>
                <a:cs typeface="Arial Unicode MS"/>
              </a:rPr>
              <a:t>率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40">
                <a:latin typeface="Arial Unicode MS"/>
                <a:cs typeface="Arial Unicode MS"/>
              </a:rPr>
              <a:t>：</a:t>
            </a:r>
            <a:r>
              <a:rPr dirty="0" sz="1100" spc="-40" b="0" i="1">
                <a:latin typeface="Bookman Old Style"/>
                <a:cs typeface="Bookman Old Style"/>
              </a:rPr>
              <a:t>D</a:t>
            </a:r>
            <a:r>
              <a:rPr dirty="0" sz="1100" spc="-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85">
                <a:latin typeface="Georgia"/>
                <a:cs typeface="Georgia"/>
              </a:rPr>
              <a:t>85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65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310">
                <a:latin typeface="Arial Unicode MS"/>
                <a:cs typeface="Arial Unicode MS"/>
              </a:rPr>
              <a:t>：（</a:t>
            </a:r>
            <a:r>
              <a:rPr dirty="0" sz="1100" spc="-310">
                <a:latin typeface="Georgia"/>
                <a:cs typeface="Georgia"/>
              </a:rPr>
              <a:t>1</a:t>
            </a:r>
            <a:r>
              <a:rPr dirty="0" sz="1200" spc="-31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80">
                <a:latin typeface="Georgia"/>
                <a:cs typeface="Georgia"/>
              </a:rPr>
              <a:t>9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mL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CCl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萃取一次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水溶液中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的剩余量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1288" y="183722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9647" y="1753819"/>
            <a:ext cx="945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3055" algn="l"/>
              </a:tabLst>
            </a:pPr>
            <a:r>
              <a:rPr dirty="0" sz="1100" spc="-15" b="0" i="1">
                <a:latin typeface="Bookman Old Style"/>
                <a:cs typeface="Bookman Old Style"/>
              </a:rPr>
              <a:t>m	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>
                <a:latin typeface="Georgia"/>
                <a:cs typeface="Georgia"/>
              </a:rPr>
              <a:t>1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00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30869" y="1660093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57615" y="1848853"/>
            <a:ext cx="710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5">
                <a:latin typeface="Georgia"/>
                <a:cs typeface="Georgia"/>
              </a:rPr>
              <a:t>85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80">
                <a:latin typeface="Georgia"/>
                <a:cs typeface="Georgia"/>
              </a:rPr>
              <a:t>9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53158" y="1558467"/>
            <a:ext cx="9321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905">
              <a:lnSpc>
                <a:spcPts val="660"/>
              </a:lnSpc>
              <a:spcBef>
                <a:spcPts val="90"/>
              </a:spcBef>
              <a:tabLst>
                <a:tab pos="70231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100">
              <a:latin typeface="Times New Roman"/>
              <a:cs typeface="Times New Roman"/>
            </a:endParaRPr>
          </a:p>
          <a:p>
            <a:pPr algn="ctr" marR="5080">
              <a:lnSpc>
                <a:spcPts val="660"/>
              </a:lnSpc>
              <a:tabLst>
                <a:tab pos="817244" algn="l"/>
              </a:tabLst>
            </a:pPr>
            <a:r>
              <a:rPr dirty="0" sz="1100" spc="434">
                <a:latin typeface="Arial"/>
                <a:cs typeface="Arial"/>
              </a:rPr>
              <a:t>(</a:t>
            </a:r>
            <a:r>
              <a:rPr dirty="0" sz="1100" spc="434">
                <a:latin typeface="Arial"/>
                <a:cs typeface="Arial"/>
              </a:rPr>
              <a:t>	</a:t>
            </a:r>
            <a:r>
              <a:rPr dirty="0" sz="1100" spc="434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98305" y="1753819"/>
            <a:ext cx="7181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013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9501" y="2136190"/>
            <a:ext cx="12299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此时的萃取率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59218" y="2512339"/>
            <a:ext cx="397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60" b="0" i="1">
                <a:latin typeface="Bookman Old Style"/>
                <a:cs typeface="Bookman Old Style"/>
              </a:rPr>
              <a:t>E</a:t>
            </a:r>
            <a:r>
              <a:rPr dirty="0" sz="1100" spc="60">
                <a:latin typeface="Georgia"/>
                <a:cs typeface="Georgia"/>
              </a:rPr>
              <a:t>%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84845" y="2418613"/>
            <a:ext cx="7569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dirty="0" u="sng" sz="1100" spc="-6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00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2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6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100" spc="-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013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27301" y="2607386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65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130">
                <a:latin typeface="Georgia"/>
                <a:cs typeface="Georgia"/>
              </a:rPr>
              <a:t>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62022" y="2512339"/>
            <a:ext cx="1033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100%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45">
                <a:latin typeface="Georgia"/>
                <a:cs typeface="Georgia"/>
              </a:rPr>
              <a:t> 98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7%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65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585" y="732205"/>
            <a:ext cx="416687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125"/>
              <a:t>（</a:t>
            </a:r>
            <a:r>
              <a:rPr dirty="0" sz="1100" spc="-125">
                <a:latin typeface="Georgia"/>
                <a:cs typeface="Georgia"/>
              </a:rPr>
              <a:t>2</a:t>
            </a:r>
            <a:r>
              <a:rPr dirty="0" spc="-125"/>
              <a:t>）</a:t>
            </a:r>
            <a:r>
              <a:rPr dirty="0" spc="-10"/>
              <a:t>每次</a:t>
            </a:r>
            <a:r>
              <a:rPr dirty="0" spc="-5"/>
              <a:t>用 </a:t>
            </a:r>
            <a:r>
              <a:rPr dirty="0" sz="1100" spc="-65">
                <a:latin typeface="Georgia"/>
                <a:cs typeface="Georgia"/>
              </a:rPr>
              <a:t>3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mL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CCl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baseline="-13888" sz="900" spc="345">
                <a:latin typeface="Times New Roman"/>
                <a:cs typeface="Times New Roman"/>
              </a:rPr>
              <a:t> </a:t>
            </a:r>
            <a:r>
              <a:rPr dirty="0" sz="1200" spc="-10"/>
              <a:t>萃取三次</a:t>
            </a:r>
            <a:r>
              <a:rPr dirty="0" sz="1200" spc="-85"/>
              <a:t>后</a:t>
            </a:r>
            <a:r>
              <a:rPr dirty="0" sz="1200" spc="-235"/>
              <a:t>，</a:t>
            </a:r>
            <a:r>
              <a:rPr dirty="0" sz="1200" spc="-10"/>
              <a:t>水溶液</a:t>
            </a:r>
            <a:r>
              <a:rPr dirty="0" sz="1200" spc="-5"/>
              <a:t>中</a:t>
            </a:r>
            <a:r>
              <a:rPr dirty="0" sz="1200"/>
              <a:t> 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10"/>
              <a:t>的剩余量</a:t>
            </a:r>
            <a:r>
              <a:rPr dirty="0" sz="1200" spc="-95"/>
              <a:t>为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716" y="122901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075" y="1145616"/>
            <a:ext cx="945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3055" algn="l"/>
              </a:tabLst>
            </a:pPr>
            <a:r>
              <a:rPr dirty="0" sz="1100" spc="-15" b="0" i="1">
                <a:latin typeface="Bookman Old Style"/>
                <a:cs typeface="Bookman Old Style"/>
              </a:rPr>
              <a:t>m	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>
                <a:latin typeface="Georgia"/>
                <a:cs typeface="Georgia"/>
              </a:rPr>
              <a:t>1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00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9043" y="1029383"/>
            <a:ext cx="71056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99"/>
              </a:lnSpc>
              <a:spcBef>
                <a:spcPts val="100"/>
              </a:spcBef>
              <a:tabLst>
                <a:tab pos="285750" algn="l"/>
                <a:tab pos="697230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10 	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85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65">
                <a:latin typeface="Georgia"/>
                <a:cs typeface="Georgia"/>
              </a:rPr>
              <a:t>3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1886" y="950264"/>
            <a:ext cx="944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29944" algn="l"/>
              </a:tabLst>
            </a:pPr>
            <a:r>
              <a:rPr dirty="0" sz="1100" spc="434">
                <a:latin typeface="Arial"/>
                <a:cs typeface="Arial"/>
              </a:rPr>
              <a:t>(</a:t>
            </a:r>
            <a:r>
              <a:rPr dirty="0" sz="1100" spc="434">
                <a:latin typeface="Arial"/>
                <a:cs typeface="Arial"/>
              </a:rPr>
              <a:t>	</a:t>
            </a:r>
            <a:r>
              <a:rPr dirty="0" sz="1100" spc="434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1251" y="103863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17050" y="1145616"/>
            <a:ext cx="11334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95">
                <a:latin typeface="Georgia"/>
                <a:cs typeface="Georgia"/>
              </a:rPr>
              <a:t>6</a:t>
            </a:r>
            <a:r>
              <a:rPr dirty="0" sz="1100" spc="-95" b="0" i="1">
                <a:latin typeface="Bookman Old Style"/>
                <a:cs typeface="Bookman Old Style"/>
              </a:rPr>
              <a:t>.</a:t>
            </a:r>
            <a:r>
              <a:rPr dirty="0" sz="1100" spc="-95">
                <a:latin typeface="Georgia"/>
                <a:cs typeface="Georgia"/>
              </a:rPr>
              <a:t>00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41666" sz="900" spc="82" i="1">
                <a:latin typeface="Arial"/>
                <a:cs typeface="Arial"/>
              </a:rPr>
              <a:t>−</a:t>
            </a:r>
            <a:r>
              <a:rPr dirty="0" baseline="41666" sz="900" spc="82">
                <a:latin typeface="Times New Roman"/>
                <a:cs typeface="Times New Roman"/>
              </a:rPr>
              <a:t>5</a:t>
            </a:r>
            <a:r>
              <a:rPr dirty="0" baseline="41666" sz="900" spc="127">
                <a:latin typeface="Times New Roman"/>
                <a:cs typeface="Times New Roman"/>
              </a:rPr>
              <a:t> </a:t>
            </a:r>
            <a:r>
              <a:rPr dirty="0" sz="1100" spc="-40">
                <a:latin typeface="Georgia"/>
                <a:cs typeface="Georgia"/>
              </a:rPr>
              <a:t>mg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501" y="1527987"/>
            <a:ext cx="12299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此时的萃取率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2365" y="1904149"/>
            <a:ext cx="397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60" b="0" i="1">
                <a:latin typeface="Bookman Old Style"/>
                <a:cs typeface="Bookman Old Style"/>
              </a:rPr>
              <a:t>E</a:t>
            </a:r>
            <a:r>
              <a:rPr dirty="0" sz="1100" spc="60">
                <a:latin typeface="Georgia"/>
                <a:cs typeface="Georgia"/>
              </a:rPr>
              <a:t>%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2593" y="1810423"/>
            <a:ext cx="11658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Georgia"/>
                <a:cs typeface="Georgia"/>
              </a:rPr>
              <a:t>1</a:t>
            </a:r>
            <a:r>
              <a:rPr dirty="0" sz="1100" spc="-55" b="0" i="1">
                <a:latin typeface="Bookman Old Style"/>
                <a:cs typeface="Bookman Old Style"/>
              </a:rPr>
              <a:t>.</a:t>
            </a:r>
            <a:r>
              <a:rPr dirty="0" sz="1100" spc="-55">
                <a:latin typeface="Georgia"/>
                <a:cs typeface="Georgia"/>
              </a:rPr>
              <a:t>00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95">
                <a:latin typeface="Georgia"/>
                <a:cs typeface="Georgia"/>
              </a:rPr>
              <a:t>6</a:t>
            </a:r>
            <a:r>
              <a:rPr dirty="0" sz="1100" spc="-95" b="0" i="1">
                <a:latin typeface="Bookman Old Style"/>
                <a:cs typeface="Bookman Old Style"/>
              </a:rPr>
              <a:t>.</a:t>
            </a:r>
            <a:r>
              <a:rPr dirty="0" sz="1100" spc="-95">
                <a:latin typeface="Georgia"/>
                <a:cs typeface="Georgia"/>
              </a:rPr>
              <a:t>00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45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37037" sz="900" spc="82" i="1">
                <a:latin typeface="Arial"/>
                <a:cs typeface="Arial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5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80693" y="2020760"/>
            <a:ext cx="1096010" cy="0"/>
          </a:xfrm>
          <a:custGeom>
            <a:avLst/>
            <a:gdLst/>
            <a:ahLst/>
            <a:cxnLst/>
            <a:rect l="l" t="t" r="r" b="b"/>
            <a:pathLst>
              <a:path w="1096010" h="0">
                <a:moveTo>
                  <a:pt x="0" y="0"/>
                </a:moveTo>
                <a:lnTo>
                  <a:pt x="109564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692655" y="1999183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130">
                <a:latin typeface="Georgia"/>
                <a:cs typeface="Georgia"/>
              </a:rPr>
              <a:t>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09609" y="1904149"/>
            <a:ext cx="1102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100%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99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99%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3633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10.3.2</a:t>
            </a:r>
            <a:r>
              <a:rPr dirty="0" sz="1000" spc="12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重要的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萃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取体系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49881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1553" y="1058926"/>
            <a:ext cx="1723389" cy="5492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7465">
              <a:lnSpc>
                <a:spcPct val="143100"/>
              </a:lnSpc>
              <a:spcBef>
                <a:spcPts val="100"/>
              </a:spcBef>
            </a:pPr>
            <a:r>
              <a:rPr dirty="0" spc="-5"/>
              <a:t>几种重要的萃取体系</a:t>
            </a:r>
            <a:r>
              <a:rPr dirty="0" spc="-90"/>
              <a:t>为</a:t>
            </a:r>
            <a:r>
              <a:rPr dirty="0" spc="-5"/>
              <a:t>： </a:t>
            </a:r>
            <a:r>
              <a:rPr dirty="0" spc="-5"/>
              <a:t>简单分子萃取体系</a:t>
            </a:r>
          </a:p>
        </p:txBody>
      </p:sp>
      <p:sp>
        <p:nvSpPr>
          <p:cNvPr id="5" name="object 5"/>
          <p:cNvSpPr/>
          <p:nvPr/>
        </p:nvSpPr>
        <p:spPr>
          <a:xfrm>
            <a:off x="274599" y="1760473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022119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4599" y="2283777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1553" y="1582242"/>
            <a:ext cx="1391920" cy="8108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中性络合物萃取体系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鳌合萃取体系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离子缔合物萃取体系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139065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</a:rPr>
              <a:t>（</a:t>
            </a:r>
            <a:r>
              <a:rPr dirty="0" sz="1000" spc="95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dirty="0" sz="1050" spc="-25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简单分</a:t>
            </a:r>
            <a:r>
              <a:rPr dirty="0" sz="1050" spc="-10">
                <a:solidFill>
                  <a:srgbClr val="FFFFFF"/>
                </a:solidFill>
              </a:rPr>
              <a:t>子</a:t>
            </a:r>
            <a:r>
              <a:rPr dirty="0" sz="1050" spc="-5">
                <a:solidFill>
                  <a:srgbClr val="FFFFFF"/>
                </a:solidFill>
              </a:rPr>
              <a:t>萃取体系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635927"/>
            <a:ext cx="4439920" cy="2486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11303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这类萃取体系的特点是被萃取物在水相和有机相中都以中性 分子的形式存</a:t>
            </a:r>
            <a:r>
              <a:rPr dirty="0" sz="1200" spc="-80">
                <a:latin typeface="Arial Unicode MS"/>
                <a:cs typeface="Arial Unicode MS"/>
              </a:rPr>
              <a:t>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萃取的过程是一个物理分配过</a:t>
            </a:r>
            <a:r>
              <a:rPr dirty="0" sz="1200" spc="-20">
                <a:latin typeface="Arial Unicode MS"/>
                <a:cs typeface="Arial Unicode MS"/>
              </a:rPr>
              <a:t>程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r>
              <a:rPr dirty="0" sz="1200" spc="-165">
                <a:latin typeface="Arial Unicode MS"/>
                <a:cs typeface="Arial Unicode MS"/>
              </a:rPr>
              <a:t> </a:t>
            </a:r>
            <a:r>
              <a:rPr dirty="0" sz="1100">
                <a:latin typeface="Georgia"/>
                <a:cs typeface="Georgia"/>
              </a:rPr>
              <a:t>I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200">
                <a:latin typeface="Arial Unicode MS"/>
                <a:cs typeface="Arial Unicode MS"/>
              </a:rPr>
              <a:t>，  </a:t>
            </a:r>
            <a:r>
              <a:rPr dirty="0" sz="1100" spc="-20">
                <a:latin typeface="Georgia"/>
                <a:cs typeface="Georgia"/>
              </a:rPr>
              <a:t>Cl</a:t>
            </a:r>
            <a:r>
              <a:rPr dirty="0" baseline="-13888" sz="900" spc="-30">
                <a:latin typeface="Times New Roman"/>
                <a:cs typeface="Times New Roman"/>
              </a:rPr>
              <a:t>2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100" spc="-20">
                <a:latin typeface="Georgia"/>
                <a:cs typeface="Georgia"/>
              </a:rPr>
              <a:t>Br</a:t>
            </a:r>
            <a:r>
              <a:rPr dirty="0" baseline="-13888" sz="900" spc="-30">
                <a:latin typeface="Times New Roman"/>
                <a:cs typeface="Times New Roman"/>
              </a:rPr>
              <a:t>2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100" spc="-20">
                <a:latin typeface="Georgia"/>
                <a:cs typeface="Georgia"/>
              </a:rPr>
              <a:t>GeCl</a:t>
            </a:r>
            <a:r>
              <a:rPr dirty="0" baseline="-13888" sz="900" spc="-30">
                <a:latin typeface="Times New Roman"/>
                <a:cs typeface="Times New Roman"/>
              </a:rPr>
              <a:t>4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酚</a:t>
            </a:r>
            <a:r>
              <a:rPr dirty="0" sz="1200" spc="-80">
                <a:latin typeface="Arial Unicode MS"/>
                <a:cs typeface="Arial Unicode MS"/>
              </a:rPr>
              <a:t>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酮类等是稳定的共价化合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它们在水溶 液中主要以分子形式存</a:t>
            </a:r>
            <a:r>
              <a:rPr dirty="0" sz="1200" spc="-80">
                <a:latin typeface="Arial Unicode MS"/>
                <a:cs typeface="Arial Unicode MS"/>
              </a:rPr>
              <a:t>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利用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CCl</a:t>
            </a:r>
            <a:r>
              <a:rPr dirty="0" baseline="-13888" sz="900" spc="-15">
                <a:latin typeface="Times New Roman"/>
                <a:cs typeface="Times New Roman"/>
              </a:rPr>
              <a:t>4</a:t>
            </a:r>
            <a:r>
              <a:rPr dirty="0" sz="1200" spc="-10">
                <a:latin typeface="Arial Unicode MS"/>
                <a:cs typeface="Arial Unicode MS"/>
              </a:rPr>
              <a:t>，</a:t>
            </a:r>
            <a:r>
              <a:rPr dirty="0" sz="1100" spc="-10">
                <a:latin typeface="Georgia"/>
                <a:cs typeface="Georgia"/>
              </a:rPr>
              <a:t>CHCl</a:t>
            </a:r>
            <a:r>
              <a:rPr dirty="0" baseline="-13888" sz="900" spc="-15">
                <a:latin typeface="Times New Roman"/>
                <a:cs typeface="Times New Roman"/>
              </a:rPr>
              <a:t>3</a:t>
            </a:r>
            <a:r>
              <a:rPr dirty="0" sz="1200" spc="-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苯等惰性溶剂可将 它们萃取出</a:t>
            </a:r>
            <a:r>
              <a:rPr dirty="0" sz="1200" spc="-20">
                <a:latin typeface="Arial Unicode MS"/>
                <a:cs typeface="Arial Unicode MS"/>
              </a:rPr>
              <a:t>来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8100" marR="304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这类体系的萃取条件通常视被萃取物来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对于无机化合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， </a:t>
            </a:r>
            <a:r>
              <a:rPr dirty="0" sz="1200" spc="-5">
                <a:latin typeface="Arial Unicode MS"/>
                <a:cs typeface="Arial Unicode MS"/>
              </a:rPr>
              <a:t>其萃取通常在酸性或微酸性介质中进</a:t>
            </a:r>
            <a:r>
              <a:rPr dirty="0" sz="1200" spc="-80">
                <a:latin typeface="Arial Unicode MS"/>
                <a:cs typeface="Arial Unicode MS"/>
              </a:rPr>
              <a:t>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因为碱性溶液有时会将 </a:t>
            </a:r>
            <a:r>
              <a:rPr dirty="0" sz="1200" spc="-10">
                <a:latin typeface="Arial Unicode MS"/>
                <a:cs typeface="Arial Unicode MS"/>
              </a:rPr>
              <a:t>无机物分子转变为另一种形</a:t>
            </a:r>
            <a:r>
              <a:rPr dirty="0" sz="1200" spc="-20">
                <a:latin typeface="Arial Unicode MS"/>
                <a:cs typeface="Arial Unicode MS"/>
              </a:rPr>
              <a:t>式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卤素在碱性溶液中生成次</a:t>
            </a:r>
            <a:r>
              <a:rPr dirty="0" sz="1200" spc="-5">
                <a:latin typeface="Arial Unicode MS"/>
                <a:cs typeface="Arial Unicode MS"/>
              </a:rPr>
              <a:t>卤 酸</a:t>
            </a:r>
            <a:r>
              <a:rPr dirty="0" sz="1200" spc="-80">
                <a:latin typeface="Arial Unicode MS"/>
                <a:cs typeface="Arial Unicode MS"/>
              </a:rPr>
              <a:t>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而卤化物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GeCl</a:t>
            </a:r>
            <a:r>
              <a:rPr dirty="0" baseline="-13888" sz="900" spc="37">
                <a:latin typeface="Times New Roman"/>
                <a:cs typeface="Times New Roman"/>
              </a:rPr>
              <a:t>4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则会水</a:t>
            </a:r>
            <a:r>
              <a:rPr dirty="0" sz="1200" spc="-20">
                <a:latin typeface="Arial Unicode MS"/>
                <a:cs typeface="Arial Unicode MS"/>
              </a:rPr>
              <a:t>解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41630">
              <a:lnSpc>
                <a:spcPct val="100000"/>
              </a:lnSpc>
              <a:spcBef>
                <a:spcPts val="320"/>
              </a:spcBef>
            </a:pPr>
            <a:r>
              <a:rPr dirty="0" sz="1200" spc="-10">
                <a:latin typeface="Arial Unicode MS"/>
                <a:cs typeface="Arial Unicode MS"/>
              </a:rPr>
              <a:t>而对于有机化合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如果被萃取物具有酸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则萃取酸度应</a:t>
            </a:r>
            <a:r>
              <a:rPr dirty="0" sz="1200" spc="-5">
                <a:latin typeface="Arial Unicode MS"/>
                <a:cs typeface="Arial Unicode MS"/>
              </a:rPr>
              <a:t>为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酸</a:t>
            </a:r>
            <a:r>
              <a:rPr dirty="0" sz="1200" spc="-65">
                <a:latin typeface="Arial Unicode MS"/>
                <a:cs typeface="Arial Unicode MS"/>
              </a:rPr>
              <a:t>性</a:t>
            </a:r>
            <a:r>
              <a:rPr dirty="0" sz="1200" spc="-200">
                <a:latin typeface="Arial Unicode MS"/>
                <a:cs typeface="Arial Unicode MS"/>
              </a:rPr>
              <a:t>；</a:t>
            </a:r>
            <a:r>
              <a:rPr dirty="0" sz="1200" spc="-5">
                <a:latin typeface="Arial Unicode MS"/>
                <a:cs typeface="Arial Unicode MS"/>
              </a:rPr>
              <a:t>如果其为碱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则萃取酸度应为碱</a:t>
            </a:r>
            <a:r>
              <a:rPr dirty="0" sz="1200" spc="-20">
                <a:latin typeface="Arial Unicode MS"/>
                <a:cs typeface="Arial Unicode MS"/>
              </a:rPr>
              <a:t>性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87" y="192722"/>
            <a:ext cx="152400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10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dirty="0" sz="1050" spc="-10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中性络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合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物萃取体系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922007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183652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1669008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44" y="482117"/>
            <a:ext cx="4407535" cy="222885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这类体系有时也称为溶剂化合物萃取体</a:t>
            </a:r>
            <a:r>
              <a:rPr dirty="0" sz="1200" spc="-80">
                <a:latin typeface="Arial Unicode MS"/>
                <a:cs typeface="Arial Unicode MS"/>
              </a:rPr>
              <a:t>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其特点</a:t>
            </a:r>
            <a:r>
              <a:rPr dirty="0" sz="1200" spc="-90">
                <a:latin typeface="Arial Unicode MS"/>
                <a:cs typeface="Arial Unicode MS"/>
              </a:rPr>
              <a:t>是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被萃取物是中性分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在水溶液中形成中性的水合</a:t>
            </a:r>
            <a:r>
              <a:rPr dirty="0" sz="1200" spc="-65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200" spc="-10">
                <a:latin typeface="Arial Unicode MS"/>
                <a:cs typeface="Arial Unicode MS"/>
              </a:rPr>
              <a:t>萃取剂本身也是中性分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且其中的某些原子具有很强的配</a:t>
            </a:r>
            <a:r>
              <a:rPr dirty="0" sz="1200" spc="-5">
                <a:latin typeface="Arial Unicode MS"/>
                <a:cs typeface="Arial Unicode MS"/>
              </a:rPr>
              <a:t>位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能</a:t>
            </a:r>
            <a:r>
              <a:rPr dirty="0" sz="1200" spc="-80">
                <a:latin typeface="Arial Unicode MS"/>
                <a:cs typeface="Arial Unicode MS"/>
              </a:rPr>
              <a:t>力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可以与无机化合物中的金属离子相键</a:t>
            </a:r>
            <a:r>
              <a:rPr dirty="0" sz="1200" spc="-65">
                <a:latin typeface="Arial Unicode MS"/>
                <a:cs typeface="Arial Unicode MS"/>
              </a:rPr>
              <a:t>合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萃取剂与被萃取物结合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萃取剂取代了被萃取物中的水分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325"/>
              </a:spcBef>
            </a:pP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生成难溶于水的中性分</a:t>
            </a:r>
            <a:r>
              <a:rPr dirty="0" sz="1200" spc="-20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8100" marR="30480" indent="303530">
              <a:lnSpc>
                <a:spcPct val="122300"/>
              </a:lnSpc>
              <a:spcBef>
                <a:spcPts val="295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用磷酸三丁</a:t>
            </a:r>
            <a:r>
              <a:rPr dirty="0" sz="1200" spc="-260">
                <a:latin typeface="Arial Unicode MS"/>
                <a:cs typeface="Arial Unicode MS"/>
              </a:rPr>
              <a:t>酯</a:t>
            </a:r>
            <a:r>
              <a:rPr dirty="0" sz="1200" spc="-5">
                <a:latin typeface="Arial Unicode MS"/>
                <a:cs typeface="Arial Unicode MS"/>
              </a:rPr>
              <a:t>（</a:t>
            </a:r>
            <a:r>
              <a:rPr dirty="0" sz="1100" spc="-5">
                <a:latin typeface="Georgia"/>
                <a:cs typeface="Georgia"/>
              </a:rPr>
              <a:t>TBP</a:t>
            </a:r>
            <a:r>
              <a:rPr dirty="0" sz="1200" spc="-5">
                <a:latin typeface="Arial Unicode MS"/>
                <a:cs typeface="Arial Unicode MS"/>
              </a:rPr>
              <a:t>）萃取水溶液中的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30">
                <a:latin typeface="Georgia"/>
                <a:cs typeface="Georgia"/>
              </a:rPr>
              <a:t>FeCl</a:t>
            </a:r>
            <a:r>
              <a:rPr dirty="0" baseline="-13888" sz="900" spc="-44">
                <a:latin typeface="Times New Roman"/>
                <a:cs typeface="Times New Roman"/>
              </a:rPr>
              <a:t>3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由于 </a:t>
            </a:r>
            <a:r>
              <a:rPr dirty="0" sz="1100" spc="75">
                <a:latin typeface="Georgia"/>
                <a:cs typeface="Georgia"/>
              </a:rPr>
              <a:t>TBP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中的氧原子具有很强的配位能</a:t>
            </a:r>
            <a:r>
              <a:rPr dirty="0" sz="1200" spc="-85">
                <a:latin typeface="Arial Unicode MS"/>
                <a:cs typeface="Arial Unicode MS"/>
              </a:rPr>
              <a:t>力</a:t>
            </a:r>
            <a:r>
              <a:rPr dirty="0" sz="1200" spc="-229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它能取代水</a:t>
            </a:r>
            <a:r>
              <a:rPr dirty="0" sz="1200" spc="-5">
                <a:latin typeface="Arial Unicode MS"/>
                <a:cs typeface="Arial Unicode MS"/>
              </a:rPr>
              <a:t>合</a:t>
            </a:r>
            <a:r>
              <a:rPr dirty="0" sz="1200" spc="-20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FeCl</a:t>
            </a:r>
            <a:r>
              <a:rPr dirty="0" baseline="-13888" sz="900" spc="7">
                <a:latin typeface="Times New Roman"/>
                <a:cs typeface="Times New Roman"/>
              </a:rPr>
              <a:t>3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中的</a:t>
            </a:r>
            <a:r>
              <a:rPr dirty="0" sz="1200" spc="-5">
                <a:latin typeface="Arial Unicode MS"/>
                <a:cs typeface="Arial Unicode MS"/>
              </a:rPr>
              <a:t>水 分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形成溶剂化合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从而被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75">
                <a:latin typeface="Georgia"/>
                <a:cs typeface="Georgia"/>
              </a:rPr>
              <a:t>TBP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萃</a:t>
            </a:r>
            <a:r>
              <a:rPr dirty="0" sz="1200" spc="-80">
                <a:latin typeface="Arial Unicode MS"/>
                <a:cs typeface="Arial Unicode MS"/>
              </a:rPr>
              <a:t>取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2919" y="2977236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400">
                <a:latin typeface="宋体"/>
                <a:cs typeface="宋体"/>
              </a:rPr>
              <a:t>｀</a:t>
            </a:r>
            <a:r>
              <a:rPr dirty="0" sz="450" spc="780">
                <a:latin typeface="宋体"/>
                <a:cs typeface="宋体"/>
              </a:rPr>
              <a:t> </a:t>
            </a:r>
            <a:r>
              <a:rPr dirty="0" baseline="24691" sz="675" spc="-622">
                <a:latin typeface="宋体"/>
                <a:cs typeface="宋体"/>
              </a:rPr>
              <a:t>、</a:t>
            </a:r>
            <a:r>
              <a:rPr dirty="0" sz="450" spc="90">
                <a:latin typeface="宋体"/>
                <a:cs typeface="宋体"/>
              </a:rPr>
              <a:t> </a:t>
            </a:r>
            <a:r>
              <a:rPr dirty="0" sz="450" spc="434">
                <a:latin typeface="宋体"/>
                <a:cs typeface="宋体"/>
              </a:rPr>
              <a:t> </a:t>
            </a:r>
            <a:endParaRPr sz="4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7085" y="2879153"/>
            <a:ext cx="31940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845945" algn="l"/>
              </a:tabLst>
            </a:pPr>
            <a:r>
              <a:rPr dirty="0" sz="1100" spc="20">
                <a:latin typeface="Georgia"/>
                <a:cs typeface="Georgia"/>
              </a:rPr>
              <a:t>Fe(H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O)</a:t>
            </a:r>
            <a:r>
              <a:rPr dirty="0" baseline="-13888" sz="900" spc="30">
                <a:latin typeface="Times New Roman"/>
                <a:cs typeface="Times New Roman"/>
              </a:rPr>
              <a:t>3</a:t>
            </a:r>
            <a:r>
              <a:rPr dirty="0" sz="1100" spc="20">
                <a:latin typeface="Georgia"/>
                <a:cs typeface="Georgia"/>
              </a:rPr>
              <a:t>Cl</a:t>
            </a:r>
            <a:r>
              <a:rPr dirty="0" baseline="-13888" sz="900" spc="30">
                <a:latin typeface="Times New Roman"/>
                <a:cs typeface="Times New Roman"/>
              </a:rPr>
              <a:t>3</a:t>
            </a:r>
            <a:r>
              <a:rPr dirty="0" baseline="-13888" sz="900" spc="217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40">
                <a:latin typeface="Georgia"/>
                <a:cs typeface="Georgia"/>
              </a:rPr>
              <a:t>3TBP	</a:t>
            </a:r>
            <a:r>
              <a:rPr dirty="0" sz="1100" spc="5">
                <a:latin typeface="Georgia"/>
                <a:cs typeface="Georgia"/>
              </a:rPr>
              <a:t>FeCl</a:t>
            </a:r>
            <a:r>
              <a:rPr dirty="0" baseline="-13888" sz="900" spc="7">
                <a:latin typeface="Times New Roman"/>
                <a:cs typeface="Times New Roman"/>
              </a:rPr>
              <a:t>3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40">
                <a:latin typeface="Georgia"/>
                <a:cs typeface="Georgia"/>
              </a:rPr>
              <a:t>3TBP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3H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10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125793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</a:rPr>
              <a:t>（</a:t>
            </a: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dirty="0" sz="1050" spc="-25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鳌合物</a:t>
            </a:r>
            <a:r>
              <a:rPr dirty="0" sz="1050" spc="-10">
                <a:solidFill>
                  <a:srgbClr val="FFFFFF"/>
                </a:solidFill>
              </a:rPr>
              <a:t>萃</a:t>
            </a:r>
            <a:r>
              <a:rPr dirty="0" sz="1050" spc="-5">
                <a:solidFill>
                  <a:srgbClr val="FFFFFF"/>
                </a:solidFill>
              </a:rPr>
              <a:t>取体系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200823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686179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171522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7744" y="575195"/>
            <a:ext cx="4432935" cy="263842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鳌合物萃取体系被广泛地应用于金属阳离子的萃</a:t>
            </a:r>
            <a:r>
              <a:rPr dirty="0" sz="1200" spc="-80">
                <a:latin typeface="Arial Unicode MS"/>
                <a:cs typeface="Arial Unicode MS"/>
              </a:rPr>
              <a:t>取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其特点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90">
                <a:latin typeface="Arial Unicode MS"/>
                <a:cs typeface="Arial Unicode MS"/>
              </a:rPr>
              <a:t>是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萃取剂是螯合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它既溶于水相也溶于有机</a:t>
            </a:r>
            <a:r>
              <a:rPr dirty="0" sz="1200" spc="-80">
                <a:latin typeface="Arial Unicode MS"/>
                <a:cs typeface="Arial Unicode MS"/>
              </a:rPr>
              <a:t>相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其在两相间的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分配系数取决于水相中的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20">
                <a:latin typeface="Arial Unicode MS"/>
                <a:cs typeface="Arial Unicode MS"/>
              </a:rPr>
              <a:t>值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620"/>
              </a:spcBef>
            </a:pPr>
            <a:r>
              <a:rPr dirty="0" sz="1200" spc="-10">
                <a:latin typeface="Arial Unicode MS"/>
                <a:cs typeface="Arial Unicode MS"/>
              </a:rPr>
              <a:t>螯合剂在水相中与金属离子形成中性鳌合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使金属离子从</a:t>
            </a:r>
            <a:r>
              <a:rPr dirty="0" sz="1200" spc="-5">
                <a:latin typeface="Arial Unicode MS"/>
                <a:cs typeface="Arial Unicode MS"/>
              </a:rPr>
              <a:t>亲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水性转为疏水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从而易被有机溶剂萃</a:t>
            </a:r>
            <a:r>
              <a:rPr dirty="0" sz="1200" spc="-65">
                <a:latin typeface="Arial Unicode MS"/>
                <a:cs typeface="Arial Unicode MS"/>
              </a:rPr>
              <a:t>取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algn="just" marL="316230" marR="71120">
              <a:lnSpc>
                <a:spcPct val="122300"/>
              </a:lnSpc>
              <a:spcBef>
                <a:spcPts val="300"/>
              </a:spcBef>
            </a:pPr>
            <a:r>
              <a:rPr dirty="0" sz="1200" spc="-5">
                <a:latin typeface="Arial Unicode MS"/>
                <a:cs typeface="Arial Unicode MS"/>
              </a:rPr>
              <a:t>适合于微量和痕量物质的分</a:t>
            </a:r>
            <a:r>
              <a:rPr dirty="0" sz="1200" spc="-80">
                <a:latin typeface="Arial Unicode MS"/>
                <a:cs typeface="Arial Unicode MS"/>
              </a:rPr>
              <a:t>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不适合常量组分的分</a:t>
            </a:r>
            <a:r>
              <a:rPr dirty="0" sz="1200" spc="-20">
                <a:latin typeface="Arial Unicode MS"/>
                <a:cs typeface="Arial Unicode MS"/>
              </a:rPr>
              <a:t>离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原因 </a:t>
            </a:r>
            <a:r>
              <a:rPr dirty="0" sz="1200" spc="-80">
                <a:latin typeface="Arial Unicode MS"/>
                <a:cs typeface="Arial Unicode MS"/>
              </a:rPr>
              <a:t>是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生成的鳌合物的分配比虽然</a:t>
            </a:r>
            <a:r>
              <a:rPr dirty="0" sz="1200" spc="-80">
                <a:latin typeface="Arial Unicode MS"/>
                <a:cs typeface="Arial Unicode MS"/>
              </a:rPr>
              <a:t>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但其在有机溶剂中的溶解 </a:t>
            </a:r>
            <a:r>
              <a:rPr dirty="0" sz="1200" spc="-5">
                <a:latin typeface="Arial Unicode MS"/>
                <a:cs typeface="Arial Unicode MS"/>
              </a:rPr>
              <a:t>度的绝对值却不</a:t>
            </a:r>
            <a:r>
              <a:rPr dirty="0" sz="1200" spc="-20">
                <a:latin typeface="Arial Unicode MS"/>
                <a:cs typeface="Arial Unicode MS"/>
              </a:rPr>
              <a:t>大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3543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9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的氨性溶液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铜试</a:t>
            </a:r>
            <a:r>
              <a:rPr dirty="0" sz="1200" spc="-260">
                <a:latin typeface="Arial Unicode MS"/>
                <a:cs typeface="Arial Unicode MS"/>
              </a:rPr>
              <a:t>剂</a:t>
            </a:r>
            <a:r>
              <a:rPr dirty="0" sz="1200" spc="-10">
                <a:latin typeface="Arial Unicode MS"/>
                <a:cs typeface="Arial Unicode MS"/>
              </a:rPr>
              <a:t>（</a:t>
            </a:r>
            <a:r>
              <a:rPr dirty="0" sz="1100" spc="-10">
                <a:latin typeface="Georgia"/>
                <a:cs typeface="Georgia"/>
              </a:rPr>
              <a:t>DDTC</a:t>
            </a:r>
            <a:r>
              <a:rPr dirty="0" sz="1200" spc="-1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80">
                <a:latin typeface="Georgia"/>
                <a:cs typeface="Georgia"/>
              </a:rPr>
              <a:t>Cu</a:t>
            </a:r>
            <a:r>
              <a:rPr dirty="0" baseline="37037" sz="900" spc="120">
                <a:latin typeface="Times New Roman"/>
                <a:cs typeface="Times New Roman"/>
              </a:rPr>
              <a:t>2+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形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成疏水性的鳌合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CCl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萃</a:t>
            </a:r>
            <a:r>
              <a:rPr dirty="0" sz="1200" spc="-20">
                <a:latin typeface="Arial Unicode MS"/>
                <a:cs typeface="Arial Unicode MS"/>
              </a:rPr>
              <a:t>取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152400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</a:rPr>
              <a:t>（</a:t>
            </a:r>
            <a:r>
              <a:rPr dirty="0" sz="1000" spc="-4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dirty="0" sz="1050" spc="-25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离子缔</a:t>
            </a:r>
            <a:r>
              <a:rPr dirty="0" sz="1050" spc="-10">
                <a:solidFill>
                  <a:srgbClr val="FFFFFF"/>
                </a:solidFill>
              </a:rPr>
              <a:t>合</a:t>
            </a:r>
            <a:r>
              <a:rPr dirty="0" sz="1050" spc="-5">
                <a:solidFill>
                  <a:srgbClr val="FFFFFF"/>
                </a:solidFill>
              </a:rPr>
              <a:t>物萃取体系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902576"/>
            <a:ext cx="4420235" cy="18154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431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离子缔合物是阳离子和阴离子通过静电引力相结合而形成的 化合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一般而</a:t>
            </a:r>
            <a:r>
              <a:rPr dirty="0" sz="1200" spc="-80">
                <a:latin typeface="Arial Unicode MS"/>
                <a:cs typeface="Arial Unicode MS"/>
              </a:rPr>
              <a:t>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离子的体积越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电荷数越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则越容易形成 </a:t>
            </a:r>
            <a:r>
              <a:rPr dirty="0" sz="1200" spc="-10">
                <a:latin typeface="Arial Unicode MS"/>
                <a:cs typeface="Arial Unicode MS"/>
              </a:rPr>
              <a:t>疏水性的离子缔合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根据离子缔合物所带电荷的不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离子缔</a:t>
            </a:r>
            <a:r>
              <a:rPr dirty="0" sz="1200" spc="-5">
                <a:latin typeface="Arial Unicode MS"/>
                <a:cs typeface="Arial Unicode MS"/>
              </a:rPr>
              <a:t>合 </a:t>
            </a:r>
            <a:r>
              <a:rPr dirty="0" sz="1200" spc="-5">
                <a:latin typeface="Arial Unicode MS"/>
                <a:cs typeface="Arial Unicode MS"/>
              </a:rPr>
              <a:t>物又分为金属阳离子缔合物和金属络阴离子缔合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38100" marR="304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当金属阳离子与大体积的络合剂作用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形成没</a:t>
            </a:r>
            <a:r>
              <a:rPr dirty="0" sz="1200" spc="-26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（或很</a:t>
            </a:r>
            <a:r>
              <a:rPr dirty="0" sz="1200" spc="30">
                <a:latin typeface="Arial Unicode MS"/>
                <a:cs typeface="Arial Unicode MS"/>
              </a:rPr>
              <a:t>少</a:t>
            </a:r>
            <a:r>
              <a:rPr dirty="0" sz="1200" spc="-5">
                <a:latin typeface="Arial Unicode MS"/>
                <a:cs typeface="Arial Unicode MS"/>
              </a:rPr>
              <a:t>） </a:t>
            </a:r>
            <a:r>
              <a:rPr dirty="0" sz="1200" spc="-10">
                <a:latin typeface="Arial Unicode MS"/>
                <a:cs typeface="Arial Unicode MS"/>
              </a:rPr>
              <a:t>配位水分子的络阳离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再与合适的阴离子缔</a:t>
            </a:r>
            <a:r>
              <a:rPr dirty="0" sz="1200" spc="-80">
                <a:latin typeface="Arial Unicode MS"/>
                <a:cs typeface="Arial Unicode MS"/>
              </a:rPr>
              <a:t>合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形成疏水性的</a:t>
            </a:r>
            <a:r>
              <a:rPr dirty="0" sz="1200" spc="-5">
                <a:latin typeface="Arial Unicode MS"/>
                <a:cs typeface="Arial Unicode MS"/>
              </a:rPr>
              <a:t>金 属阳离子缔合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100">
                <a:latin typeface="Georgia"/>
                <a:cs typeface="Georgia"/>
              </a:rPr>
              <a:t>Fe</a:t>
            </a:r>
            <a:r>
              <a:rPr dirty="0" baseline="37037" sz="900">
                <a:latin typeface="Times New Roman"/>
                <a:cs typeface="Times New Roman"/>
              </a:rPr>
              <a:t>2+</a:t>
            </a:r>
            <a:r>
              <a:rPr dirty="0" baseline="37037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与邻二氮菲形成带正电的鳌合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再 与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40">
                <a:latin typeface="Georgia"/>
                <a:cs typeface="Georgia"/>
              </a:rPr>
              <a:t>ClO</a:t>
            </a:r>
            <a:r>
              <a:rPr dirty="0" baseline="37037" sz="900" spc="-60" i="1">
                <a:latin typeface="Arial"/>
                <a:cs typeface="Arial"/>
              </a:rPr>
              <a:t>−</a:t>
            </a:r>
            <a:r>
              <a:rPr dirty="0" baseline="-23148" sz="900" spc="-60">
                <a:latin typeface="Times New Roman"/>
                <a:cs typeface="Times New Roman"/>
              </a:rPr>
              <a:t>4</a:t>
            </a:r>
            <a:r>
              <a:rPr dirty="0" baseline="-23148" sz="900" spc="4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形成离子缔合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0022" y="1325323"/>
            <a:ext cx="6985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20" b="1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4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32682" y="1219891"/>
            <a:ext cx="49530" cy="80010"/>
          </a:xfrm>
          <a:custGeom>
            <a:avLst/>
            <a:gdLst/>
            <a:ahLst/>
            <a:cxnLst/>
            <a:rect l="l" t="t" r="r" b="b"/>
            <a:pathLst>
              <a:path w="49530" h="80009">
                <a:moveTo>
                  <a:pt x="46004" y="0"/>
                </a:moveTo>
                <a:lnTo>
                  <a:pt x="0" y="79594"/>
                </a:lnTo>
                <a:lnTo>
                  <a:pt x="6206" y="79594"/>
                </a:lnTo>
                <a:lnTo>
                  <a:pt x="48925" y="5476"/>
                </a:lnTo>
                <a:lnTo>
                  <a:pt x="4600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49112" y="1234860"/>
            <a:ext cx="41275" cy="66675"/>
          </a:xfrm>
          <a:custGeom>
            <a:avLst/>
            <a:gdLst/>
            <a:ahLst/>
            <a:cxnLst/>
            <a:rect l="l" t="t" r="r" b="b"/>
            <a:pathLst>
              <a:path w="41275" h="66675">
                <a:moveTo>
                  <a:pt x="36511" y="0"/>
                </a:moveTo>
                <a:lnTo>
                  <a:pt x="0" y="63164"/>
                </a:lnTo>
                <a:lnTo>
                  <a:pt x="4746" y="66085"/>
                </a:lnTo>
                <a:lnTo>
                  <a:pt x="41257" y="2920"/>
                </a:lnTo>
                <a:lnTo>
                  <a:pt x="3651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32682" y="1299485"/>
            <a:ext cx="49530" cy="80010"/>
          </a:xfrm>
          <a:custGeom>
            <a:avLst/>
            <a:gdLst/>
            <a:ahLst/>
            <a:cxnLst/>
            <a:rect l="l" t="t" r="r" b="b"/>
            <a:pathLst>
              <a:path w="49530" h="80009">
                <a:moveTo>
                  <a:pt x="6206" y="0"/>
                </a:moveTo>
                <a:lnTo>
                  <a:pt x="0" y="0"/>
                </a:lnTo>
                <a:lnTo>
                  <a:pt x="46004" y="79594"/>
                </a:lnTo>
                <a:lnTo>
                  <a:pt x="48925" y="74117"/>
                </a:lnTo>
                <a:lnTo>
                  <a:pt x="620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88179" y="1358998"/>
            <a:ext cx="38100" cy="6350"/>
          </a:xfrm>
          <a:custGeom>
            <a:avLst/>
            <a:gdLst/>
            <a:ahLst/>
            <a:cxnLst/>
            <a:rect l="l" t="t" r="r" b="b"/>
            <a:pathLst>
              <a:path w="38100" h="6350">
                <a:moveTo>
                  <a:pt x="37606" y="0"/>
                </a:moveTo>
                <a:lnTo>
                  <a:pt x="0" y="730"/>
                </a:lnTo>
                <a:lnTo>
                  <a:pt x="0" y="6206"/>
                </a:lnTo>
                <a:lnTo>
                  <a:pt x="37971" y="5476"/>
                </a:lnTo>
                <a:lnTo>
                  <a:pt x="3760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75441" y="1299485"/>
            <a:ext cx="40005" cy="48260"/>
          </a:xfrm>
          <a:custGeom>
            <a:avLst/>
            <a:gdLst/>
            <a:ahLst/>
            <a:cxnLst/>
            <a:rect l="l" t="t" r="r" b="b"/>
            <a:pathLst>
              <a:path w="40005" h="48259">
                <a:moveTo>
                  <a:pt x="37971" y="0"/>
                </a:moveTo>
                <a:lnTo>
                  <a:pt x="34685" y="0"/>
                </a:lnTo>
                <a:lnTo>
                  <a:pt x="0" y="44908"/>
                </a:lnTo>
                <a:lnTo>
                  <a:pt x="4381" y="48194"/>
                </a:lnTo>
                <a:lnTo>
                  <a:pt x="39432" y="2920"/>
                </a:lnTo>
                <a:lnTo>
                  <a:pt x="3797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67408" y="1222446"/>
            <a:ext cx="48260" cy="77470"/>
          </a:xfrm>
          <a:custGeom>
            <a:avLst/>
            <a:gdLst/>
            <a:ahLst/>
            <a:cxnLst/>
            <a:rect l="l" t="t" r="r" b="b"/>
            <a:pathLst>
              <a:path w="48259" h="77469">
                <a:moveTo>
                  <a:pt x="4746" y="0"/>
                </a:moveTo>
                <a:lnTo>
                  <a:pt x="1825" y="0"/>
                </a:lnTo>
                <a:lnTo>
                  <a:pt x="0" y="2920"/>
                </a:lnTo>
                <a:lnTo>
                  <a:pt x="42718" y="77038"/>
                </a:lnTo>
                <a:lnTo>
                  <a:pt x="46004" y="77038"/>
                </a:lnTo>
                <a:lnTo>
                  <a:pt x="47829" y="74482"/>
                </a:lnTo>
                <a:lnTo>
                  <a:pt x="474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58645" y="1234860"/>
            <a:ext cx="41275" cy="65405"/>
          </a:xfrm>
          <a:custGeom>
            <a:avLst/>
            <a:gdLst/>
            <a:ahLst/>
            <a:cxnLst/>
            <a:rect l="l" t="t" r="r" b="b"/>
            <a:pathLst>
              <a:path w="41275" h="65405">
                <a:moveTo>
                  <a:pt x="4746" y="0"/>
                </a:moveTo>
                <a:lnTo>
                  <a:pt x="0" y="2920"/>
                </a:lnTo>
                <a:lnTo>
                  <a:pt x="36146" y="64989"/>
                </a:lnTo>
                <a:lnTo>
                  <a:pt x="40892" y="62434"/>
                </a:lnTo>
                <a:lnTo>
                  <a:pt x="474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81033" y="1224292"/>
            <a:ext cx="87630" cy="0"/>
          </a:xfrm>
          <a:custGeom>
            <a:avLst/>
            <a:gdLst/>
            <a:ahLst/>
            <a:cxnLst/>
            <a:rect l="l" t="t" r="r" b="b"/>
            <a:pathLst>
              <a:path w="87630" h="0">
                <a:moveTo>
                  <a:pt x="0" y="0"/>
                </a:moveTo>
                <a:lnTo>
                  <a:pt x="87046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79679" y="1221752"/>
            <a:ext cx="89535" cy="0"/>
          </a:xfrm>
          <a:custGeom>
            <a:avLst/>
            <a:gdLst/>
            <a:ahLst/>
            <a:cxnLst/>
            <a:rect l="l" t="t" r="r" b="b"/>
            <a:pathLst>
              <a:path w="89534" h="0">
                <a:moveTo>
                  <a:pt x="0" y="0"/>
                </a:moveTo>
                <a:lnTo>
                  <a:pt x="89059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14233" y="1301127"/>
            <a:ext cx="87630" cy="0"/>
          </a:xfrm>
          <a:custGeom>
            <a:avLst/>
            <a:gdLst/>
            <a:ahLst/>
            <a:cxnLst/>
            <a:rect l="l" t="t" r="r" b="b"/>
            <a:pathLst>
              <a:path w="87630" h="0">
                <a:moveTo>
                  <a:pt x="0" y="0"/>
                </a:moveTo>
                <a:lnTo>
                  <a:pt x="87445" y="0"/>
                </a:lnTo>
              </a:path>
            </a:pathLst>
          </a:custGeom>
          <a:ln w="3810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14507" y="1297952"/>
            <a:ext cx="87630" cy="0"/>
          </a:xfrm>
          <a:custGeom>
            <a:avLst/>
            <a:gdLst/>
            <a:ahLst/>
            <a:cxnLst/>
            <a:rect l="l" t="t" r="r" b="b"/>
            <a:pathLst>
              <a:path w="87630" h="0">
                <a:moveTo>
                  <a:pt x="0" y="0"/>
                </a:moveTo>
                <a:lnTo>
                  <a:pt x="87116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01039" y="1222811"/>
            <a:ext cx="47625" cy="76835"/>
          </a:xfrm>
          <a:custGeom>
            <a:avLst/>
            <a:gdLst/>
            <a:ahLst/>
            <a:cxnLst/>
            <a:rect l="l" t="t" r="r" b="b"/>
            <a:pathLst>
              <a:path w="47625" h="76834">
                <a:moveTo>
                  <a:pt x="46004" y="0"/>
                </a:moveTo>
                <a:lnTo>
                  <a:pt x="42718" y="0"/>
                </a:lnTo>
                <a:lnTo>
                  <a:pt x="0" y="74117"/>
                </a:lnTo>
                <a:lnTo>
                  <a:pt x="1460" y="76673"/>
                </a:lnTo>
                <a:lnTo>
                  <a:pt x="4746" y="76673"/>
                </a:lnTo>
                <a:lnTo>
                  <a:pt x="47464" y="2555"/>
                </a:lnTo>
                <a:lnTo>
                  <a:pt x="4600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92276" y="1221351"/>
            <a:ext cx="41275" cy="66675"/>
          </a:xfrm>
          <a:custGeom>
            <a:avLst/>
            <a:gdLst/>
            <a:ahLst/>
            <a:cxnLst/>
            <a:rect l="l" t="t" r="r" b="b"/>
            <a:pathLst>
              <a:path w="41275" h="66675">
                <a:moveTo>
                  <a:pt x="36511" y="0"/>
                </a:moveTo>
                <a:lnTo>
                  <a:pt x="0" y="63164"/>
                </a:lnTo>
                <a:lnTo>
                  <a:pt x="4746" y="66085"/>
                </a:lnTo>
                <a:lnTo>
                  <a:pt x="41257" y="2555"/>
                </a:lnTo>
                <a:lnTo>
                  <a:pt x="3651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01039" y="1142852"/>
            <a:ext cx="47625" cy="80010"/>
          </a:xfrm>
          <a:custGeom>
            <a:avLst/>
            <a:gdLst/>
            <a:ahLst/>
            <a:cxnLst/>
            <a:rect l="l" t="t" r="r" b="b"/>
            <a:pathLst>
              <a:path w="47625" h="80009">
                <a:moveTo>
                  <a:pt x="3286" y="0"/>
                </a:moveTo>
                <a:lnTo>
                  <a:pt x="0" y="5476"/>
                </a:lnTo>
                <a:lnTo>
                  <a:pt x="42718" y="79959"/>
                </a:lnTo>
                <a:lnTo>
                  <a:pt x="46004" y="79959"/>
                </a:lnTo>
                <a:lnTo>
                  <a:pt x="47464" y="77038"/>
                </a:lnTo>
                <a:lnTo>
                  <a:pt x="328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11952" y="1145408"/>
            <a:ext cx="92710" cy="0"/>
          </a:xfrm>
          <a:custGeom>
            <a:avLst/>
            <a:gdLst/>
            <a:ahLst/>
            <a:cxnLst/>
            <a:rect l="l" t="t" r="r" b="b"/>
            <a:pathLst>
              <a:path w="92709" h="0">
                <a:moveTo>
                  <a:pt x="0" y="0"/>
                </a:moveTo>
                <a:lnTo>
                  <a:pt x="92373" y="0"/>
                </a:lnTo>
              </a:path>
            </a:pathLst>
          </a:custGeom>
          <a:ln w="5841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21445" y="1156361"/>
            <a:ext cx="73660" cy="5715"/>
          </a:xfrm>
          <a:custGeom>
            <a:avLst/>
            <a:gdLst/>
            <a:ahLst/>
            <a:cxnLst/>
            <a:rect l="l" t="t" r="r" b="b"/>
            <a:pathLst>
              <a:path w="73659" h="5715">
                <a:moveTo>
                  <a:pt x="0" y="5476"/>
                </a:moveTo>
                <a:lnTo>
                  <a:pt x="73387" y="5476"/>
                </a:lnTo>
                <a:lnTo>
                  <a:pt x="73387" y="0"/>
                </a:lnTo>
                <a:lnTo>
                  <a:pt x="0" y="0"/>
                </a:lnTo>
                <a:lnTo>
                  <a:pt x="0" y="5476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67408" y="1142487"/>
            <a:ext cx="48260" cy="80010"/>
          </a:xfrm>
          <a:custGeom>
            <a:avLst/>
            <a:gdLst/>
            <a:ahLst/>
            <a:cxnLst/>
            <a:rect l="l" t="t" r="r" b="b"/>
            <a:pathLst>
              <a:path w="48259" h="80009">
                <a:moveTo>
                  <a:pt x="44543" y="0"/>
                </a:moveTo>
                <a:lnTo>
                  <a:pt x="0" y="77403"/>
                </a:lnTo>
                <a:lnTo>
                  <a:pt x="1825" y="79959"/>
                </a:lnTo>
                <a:lnTo>
                  <a:pt x="4746" y="79959"/>
                </a:lnTo>
                <a:lnTo>
                  <a:pt x="47829" y="5476"/>
                </a:lnTo>
                <a:lnTo>
                  <a:pt x="44543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328136" y="1324044"/>
            <a:ext cx="70485" cy="1003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25" b="1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4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01039" y="1299485"/>
            <a:ext cx="41275" cy="48260"/>
          </a:xfrm>
          <a:custGeom>
            <a:avLst/>
            <a:gdLst/>
            <a:ahLst/>
            <a:cxnLst/>
            <a:rect l="l" t="t" r="r" b="b"/>
            <a:pathLst>
              <a:path w="41275" h="48259">
                <a:moveTo>
                  <a:pt x="4746" y="0"/>
                </a:moveTo>
                <a:lnTo>
                  <a:pt x="1460" y="0"/>
                </a:lnTo>
                <a:lnTo>
                  <a:pt x="0" y="2920"/>
                </a:lnTo>
                <a:lnTo>
                  <a:pt x="36511" y="47829"/>
                </a:lnTo>
                <a:lnTo>
                  <a:pt x="40892" y="44543"/>
                </a:lnTo>
                <a:lnTo>
                  <a:pt x="474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391587" y="1358268"/>
            <a:ext cx="36830" cy="6985"/>
          </a:xfrm>
          <a:custGeom>
            <a:avLst/>
            <a:gdLst/>
            <a:ahLst/>
            <a:cxnLst/>
            <a:rect l="l" t="t" r="r" b="b"/>
            <a:pathLst>
              <a:path w="36830" h="6984">
                <a:moveTo>
                  <a:pt x="0" y="0"/>
                </a:moveTo>
                <a:lnTo>
                  <a:pt x="0" y="5476"/>
                </a:lnTo>
                <a:lnTo>
                  <a:pt x="36511" y="6937"/>
                </a:lnTo>
                <a:lnTo>
                  <a:pt x="36511" y="1460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434305" y="1299850"/>
            <a:ext cx="49530" cy="80010"/>
          </a:xfrm>
          <a:custGeom>
            <a:avLst/>
            <a:gdLst/>
            <a:ahLst/>
            <a:cxnLst/>
            <a:rect l="l" t="t" r="r" b="b"/>
            <a:pathLst>
              <a:path w="49530" h="80009">
                <a:moveTo>
                  <a:pt x="49290" y="0"/>
                </a:moveTo>
                <a:lnTo>
                  <a:pt x="43083" y="0"/>
                </a:lnTo>
                <a:lnTo>
                  <a:pt x="0" y="74117"/>
                </a:lnTo>
                <a:lnTo>
                  <a:pt x="3286" y="79594"/>
                </a:lnTo>
                <a:lnTo>
                  <a:pt x="4929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34305" y="1219891"/>
            <a:ext cx="49530" cy="80010"/>
          </a:xfrm>
          <a:custGeom>
            <a:avLst/>
            <a:gdLst/>
            <a:ahLst/>
            <a:cxnLst/>
            <a:rect l="l" t="t" r="r" b="b"/>
            <a:pathLst>
              <a:path w="49530" h="80009">
                <a:moveTo>
                  <a:pt x="3286" y="0"/>
                </a:moveTo>
                <a:lnTo>
                  <a:pt x="0" y="5476"/>
                </a:lnTo>
                <a:lnTo>
                  <a:pt x="43083" y="79959"/>
                </a:lnTo>
                <a:lnTo>
                  <a:pt x="49290" y="79959"/>
                </a:lnTo>
                <a:lnTo>
                  <a:pt x="328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425542" y="1234860"/>
            <a:ext cx="41910" cy="66675"/>
          </a:xfrm>
          <a:custGeom>
            <a:avLst/>
            <a:gdLst/>
            <a:ahLst/>
            <a:cxnLst/>
            <a:rect l="l" t="t" r="r" b="b"/>
            <a:pathLst>
              <a:path w="41909" h="66675">
                <a:moveTo>
                  <a:pt x="5111" y="0"/>
                </a:moveTo>
                <a:lnTo>
                  <a:pt x="0" y="2920"/>
                </a:lnTo>
                <a:lnTo>
                  <a:pt x="36876" y="66085"/>
                </a:lnTo>
                <a:lnTo>
                  <a:pt x="41622" y="63529"/>
                </a:lnTo>
                <a:lnTo>
                  <a:pt x="511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347890" y="1224292"/>
            <a:ext cx="87630" cy="0"/>
          </a:xfrm>
          <a:custGeom>
            <a:avLst/>
            <a:gdLst/>
            <a:ahLst/>
            <a:cxnLst/>
            <a:rect l="l" t="t" r="r" b="b"/>
            <a:pathLst>
              <a:path w="87630" h="0">
                <a:moveTo>
                  <a:pt x="0" y="0"/>
                </a:moveTo>
                <a:lnTo>
                  <a:pt x="8706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347573" y="1221752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 h="0">
                <a:moveTo>
                  <a:pt x="0" y="0"/>
                </a:moveTo>
                <a:lnTo>
                  <a:pt x="88901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97664" y="1182665"/>
            <a:ext cx="259079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22222" sz="1125" spc="15" b="1">
                <a:solidFill>
                  <a:srgbClr val="231F20"/>
                </a:solidFill>
                <a:latin typeface="Times New Roman"/>
                <a:cs typeface="Times New Roman"/>
              </a:rPr>
              <a:t>Fe</a:t>
            </a:r>
            <a:r>
              <a:rPr dirty="0" sz="550" spc="10" b="1">
                <a:solidFill>
                  <a:srgbClr val="231F20"/>
                </a:solidFill>
                <a:latin typeface="Times New Roman"/>
                <a:cs typeface="Times New Roman"/>
              </a:rPr>
              <a:t>2+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5072" y="1187524"/>
            <a:ext cx="655320" cy="2089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3210" algn="l"/>
                <a:tab pos="595630" algn="l"/>
              </a:tabLst>
            </a:pPr>
            <a:r>
              <a:rPr dirty="0" sz="1200" b="1">
                <a:solidFill>
                  <a:srgbClr val="231F20"/>
                </a:solidFill>
                <a:latin typeface="Times New Roman"/>
                <a:cs typeface="Times New Roman"/>
              </a:rPr>
              <a:t>+	</a:t>
            </a:r>
            <a:r>
              <a:rPr dirty="0" u="sng" sz="120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u="sng" sz="1200" spc="65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761804" y="1272890"/>
            <a:ext cx="81280" cy="39370"/>
          </a:xfrm>
          <a:custGeom>
            <a:avLst/>
            <a:gdLst/>
            <a:ahLst/>
            <a:cxnLst/>
            <a:rect l="l" t="t" r="r" b="b"/>
            <a:pathLst>
              <a:path w="81280" h="39369">
                <a:moveTo>
                  <a:pt x="0" y="0"/>
                </a:moveTo>
                <a:lnTo>
                  <a:pt x="5812" y="4877"/>
                </a:lnTo>
                <a:lnTo>
                  <a:pt x="9164" y="12070"/>
                </a:lnTo>
                <a:lnTo>
                  <a:pt x="9164" y="27244"/>
                </a:lnTo>
                <a:lnTo>
                  <a:pt x="5812" y="34437"/>
                </a:lnTo>
                <a:lnTo>
                  <a:pt x="0" y="39315"/>
                </a:lnTo>
                <a:lnTo>
                  <a:pt x="81062" y="19657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087935" y="1189502"/>
            <a:ext cx="69850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20" b="1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4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000229" y="1084434"/>
            <a:ext cx="49530" cy="80010"/>
          </a:xfrm>
          <a:custGeom>
            <a:avLst/>
            <a:gdLst/>
            <a:ahLst/>
            <a:cxnLst/>
            <a:rect l="l" t="t" r="r" b="b"/>
            <a:pathLst>
              <a:path w="49530" h="80009">
                <a:moveTo>
                  <a:pt x="46004" y="0"/>
                </a:moveTo>
                <a:lnTo>
                  <a:pt x="0" y="79594"/>
                </a:lnTo>
                <a:lnTo>
                  <a:pt x="6206" y="79594"/>
                </a:lnTo>
                <a:lnTo>
                  <a:pt x="49290" y="5476"/>
                </a:lnTo>
                <a:lnTo>
                  <a:pt x="4600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545743" y="1189502"/>
            <a:ext cx="238125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24790" algn="l"/>
              </a:tabLst>
            </a:pPr>
            <a:r>
              <a:rPr dirty="0" u="sng" sz="450" spc="5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450" spc="5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Times New Roman"/>
                <a:cs typeface="Times New Roman"/>
              </a:rPr>
              <a:t>	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017024" y="1099404"/>
            <a:ext cx="41275" cy="66675"/>
          </a:xfrm>
          <a:custGeom>
            <a:avLst/>
            <a:gdLst/>
            <a:ahLst/>
            <a:cxnLst/>
            <a:rect l="l" t="t" r="r" b="b"/>
            <a:pathLst>
              <a:path w="41275" h="66675">
                <a:moveTo>
                  <a:pt x="36146" y="0"/>
                </a:moveTo>
                <a:lnTo>
                  <a:pt x="0" y="63164"/>
                </a:lnTo>
                <a:lnTo>
                  <a:pt x="4746" y="66085"/>
                </a:lnTo>
                <a:lnTo>
                  <a:pt x="40892" y="2920"/>
                </a:lnTo>
                <a:lnTo>
                  <a:pt x="3614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000229" y="1164028"/>
            <a:ext cx="49530" cy="80010"/>
          </a:xfrm>
          <a:custGeom>
            <a:avLst/>
            <a:gdLst/>
            <a:ahLst/>
            <a:cxnLst/>
            <a:rect l="l" t="t" r="r" b="b"/>
            <a:pathLst>
              <a:path w="49530" h="80009">
                <a:moveTo>
                  <a:pt x="6206" y="0"/>
                </a:moveTo>
                <a:lnTo>
                  <a:pt x="0" y="0"/>
                </a:lnTo>
                <a:lnTo>
                  <a:pt x="46004" y="79594"/>
                </a:lnTo>
                <a:lnTo>
                  <a:pt x="49290" y="74117"/>
                </a:lnTo>
                <a:lnTo>
                  <a:pt x="620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046233" y="1237051"/>
            <a:ext cx="48260" cy="6985"/>
          </a:xfrm>
          <a:custGeom>
            <a:avLst/>
            <a:gdLst/>
            <a:ahLst/>
            <a:cxnLst/>
            <a:rect l="l" t="t" r="r" b="b"/>
            <a:pathLst>
              <a:path w="48260" h="6984">
                <a:moveTo>
                  <a:pt x="47464" y="0"/>
                </a:moveTo>
                <a:lnTo>
                  <a:pt x="3286" y="1095"/>
                </a:lnTo>
                <a:lnTo>
                  <a:pt x="0" y="6572"/>
                </a:lnTo>
                <a:lnTo>
                  <a:pt x="47829" y="5476"/>
                </a:lnTo>
                <a:lnTo>
                  <a:pt x="4746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055726" y="1223542"/>
            <a:ext cx="38100" cy="6350"/>
          </a:xfrm>
          <a:custGeom>
            <a:avLst/>
            <a:gdLst/>
            <a:ahLst/>
            <a:cxnLst/>
            <a:rect l="l" t="t" r="r" b="b"/>
            <a:pathLst>
              <a:path w="38100" h="6350">
                <a:moveTo>
                  <a:pt x="37971" y="0"/>
                </a:moveTo>
                <a:lnTo>
                  <a:pt x="0" y="730"/>
                </a:lnTo>
                <a:lnTo>
                  <a:pt x="0" y="6206"/>
                </a:lnTo>
                <a:lnTo>
                  <a:pt x="37971" y="5476"/>
                </a:lnTo>
                <a:lnTo>
                  <a:pt x="3797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142988" y="1164028"/>
            <a:ext cx="40005" cy="48260"/>
          </a:xfrm>
          <a:custGeom>
            <a:avLst/>
            <a:gdLst/>
            <a:ahLst/>
            <a:cxnLst/>
            <a:rect l="l" t="t" r="r" b="b"/>
            <a:pathLst>
              <a:path w="40005" h="48259">
                <a:moveTo>
                  <a:pt x="38336" y="0"/>
                </a:moveTo>
                <a:lnTo>
                  <a:pt x="35050" y="0"/>
                </a:lnTo>
                <a:lnTo>
                  <a:pt x="0" y="44908"/>
                </a:lnTo>
                <a:lnTo>
                  <a:pt x="4381" y="48194"/>
                </a:lnTo>
                <a:lnTo>
                  <a:pt x="39432" y="2920"/>
                </a:lnTo>
                <a:lnTo>
                  <a:pt x="3833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135321" y="1086990"/>
            <a:ext cx="47625" cy="77470"/>
          </a:xfrm>
          <a:custGeom>
            <a:avLst/>
            <a:gdLst/>
            <a:ahLst/>
            <a:cxnLst/>
            <a:rect l="l" t="t" r="r" b="b"/>
            <a:pathLst>
              <a:path w="47625" h="77469">
                <a:moveTo>
                  <a:pt x="4746" y="0"/>
                </a:moveTo>
                <a:lnTo>
                  <a:pt x="1460" y="0"/>
                </a:lnTo>
                <a:lnTo>
                  <a:pt x="0" y="2920"/>
                </a:lnTo>
                <a:lnTo>
                  <a:pt x="42718" y="77038"/>
                </a:lnTo>
                <a:lnTo>
                  <a:pt x="46004" y="77038"/>
                </a:lnTo>
                <a:lnTo>
                  <a:pt x="47464" y="74482"/>
                </a:lnTo>
                <a:lnTo>
                  <a:pt x="474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26558" y="1099404"/>
            <a:ext cx="40640" cy="65405"/>
          </a:xfrm>
          <a:custGeom>
            <a:avLst/>
            <a:gdLst/>
            <a:ahLst/>
            <a:cxnLst/>
            <a:rect l="l" t="t" r="r" b="b"/>
            <a:pathLst>
              <a:path w="40639" h="65405">
                <a:moveTo>
                  <a:pt x="4746" y="0"/>
                </a:moveTo>
                <a:lnTo>
                  <a:pt x="0" y="2920"/>
                </a:lnTo>
                <a:lnTo>
                  <a:pt x="35781" y="64989"/>
                </a:lnTo>
                <a:lnTo>
                  <a:pt x="40527" y="62069"/>
                </a:lnTo>
                <a:lnTo>
                  <a:pt x="474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048614" y="1088402"/>
            <a:ext cx="87630" cy="0"/>
          </a:xfrm>
          <a:custGeom>
            <a:avLst/>
            <a:gdLst/>
            <a:ahLst/>
            <a:cxnLst/>
            <a:rect l="l" t="t" r="r" b="b"/>
            <a:pathLst>
              <a:path w="87630" h="0">
                <a:moveTo>
                  <a:pt x="0" y="0"/>
                </a:moveTo>
                <a:lnTo>
                  <a:pt x="8746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047090" y="1085862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 h="0">
                <a:moveTo>
                  <a:pt x="0" y="0"/>
                </a:moveTo>
                <a:lnTo>
                  <a:pt x="89046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181325" y="1164211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 h="0">
                <a:moveTo>
                  <a:pt x="0" y="0"/>
                </a:moveTo>
                <a:lnTo>
                  <a:pt x="88722" y="0"/>
                </a:lnTo>
              </a:path>
            </a:pathLst>
          </a:custGeom>
          <a:ln w="547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268587" y="1086990"/>
            <a:ext cx="48260" cy="77470"/>
          </a:xfrm>
          <a:custGeom>
            <a:avLst/>
            <a:gdLst/>
            <a:ahLst/>
            <a:cxnLst/>
            <a:rect l="l" t="t" r="r" b="b"/>
            <a:pathLst>
              <a:path w="48260" h="77469">
                <a:moveTo>
                  <a:pt x="46004" y="0"/>
                </a:moveTo>
                <a:lnTo>
                  <a:pt x="43083" y="0"/>
                </a:lnTo>
                <a:lnTo>
                  <a:pt x="0" y="74482"/>
                </a:lnTo>
                <a:lnTo>
                  <a:pt x="1460" y="77038"/>
                </a:lnTo>
                <a:lnTo>
                  <a:pt x="4746" y="77038"/>
                </a:lnTo>
                <a:lnTo>
                  <a:pt x="47829" y="2920"/>
                </a:lnTo>
                <a:lnTo>
                  <a:pt x="4600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259824" y="1085894"/>
            <a:ext cx="41275" cy="66040"/>
          </a:xfrm>
          <a:custGeom>
            <a:avLst/>
            <a:gdLst/>
            <a:ahLst/>
            <a:cxnLst/>
            <a:rect l="l" t="t" r="r" b="b"/>
            <a:pathLst>
              <a:path w="41275" h="66040">
                <a:moveTo>
                  <a:pt x="36511" y="0"/>
                </a:moveTo>
                <a:lnTo>
                  <a:pt x="0" y="63164"/>
                </a:lnTo>
                <a:lnTo>
                  <a:pt x="4746" y="65720"/>
                </a:lnTo>
                <a:lnTo>
                  <a:pt x="41257" y="2555"/>
                </a:lnTo>
                <a:lnTo>
                  <a:pt x="3651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268587" y="1007030"/>
            <a:ext cx="48260" cy="80010"/>
          </a:xfrm>
          <a:custGeom>
            <a:avLst/>
            <a:gdLst/>
            <a:ahLst/>
            <a:cxnLst/>
            <a:rect l="l" t="t" r="r" b="b"/>
            <a:pathLst>
              <a:path w="48260" h="80009">
                <a:moveTo>
                  <a:pt x="3286" y="0"/>
                </a:moveTo>
                <a:lnTo>
                  <a:pt x="0" y="5476"/>
                </a:lnTo>
                <a:lnTo>
                  <a:pt x="43083" y="79959"/>
                </a:lnTo>
                <a:lnTo>
                  <a:pt x="46004" y="79959"/>
                </a:lnTo>
                <a:lnTo>
                  <a:pt x="47829" y="77403"/>
                </a:lnTo>
                <a:lnTo>
                  <a:pt x="328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135321" y="1007030"/>
            <a:ext cx="47625" cy="80010"/>
          </a:xfrm>
          <a:custGeom>
            <a:avLst/>
            <a:gdLst/>
            <a:ahLst/>
            <a:cxnLst/>
            <a:rect l="l" t="t" r="r" b="b"/>
            <a:pathLst>
              <a:path w="47625" h="80009">
                <a:moveTo>
                  <a:pt x="44543" y="0"/>
                </a:moveTo>
                <a:lnTo>
                  <a:pt x="0" y="77403"/>
                </a:lnTo>
                <a:lnTo>
                  <a:pt x="1460" y="79959"/>
                </a:lnTo>
                <a:lnTo>
                  <a:pt x="4746" y="79959"/>
                </a:lnTo>
                <a:lnTo>
                  <a:pt x="47464" y="5476"/>
                </a:lnTo>
                <a:lnTo>
                  <a:pt x="44543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2296049" y="1188587"/>
            <a:ext cx="70485" cy="1003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25" b="1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45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268952" y="1164028"/>
            <a:ext cx="40640" cy="48260"/>
          </a:xfrm>
          <a:custGeom>
            <a:avLst/>
            <a:gdLst/>
            <a:ahLst/>
            <a:cxnLst/>
            <a:rect l="l" t="t" r="r" b="b"/>
            <a:pathLst>
              <a:path w="40639" h="48259">
                <a:moveTo>
                  <a:pt x="4381" y="0"/>
                </a:moveTo>
                <a:lnTo>
                  <a:pt x="1095" y="0"/>
                </a:lnTo>
                <a:lnTo>
                  <a:pt x="0" y="2920"/>
                </a:lnTo>
                <a:lnTo>
                  <a:pt x="36146" y="47829"/>
                </a:lnTo>
                <a:lnTo>
                  <a:pt x="40527" y="44178"/>
                </a:lnTo>
                <a:lnTo>
                  <a:pt x="438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358404" y="1236321"/>
            <a:ext cx="46990" cy="8255"/>
          </a:xfrm>
          <a:custGeom>
            <a:avLst/>
            <a:gdLst/>
            <a:ahLst/>
            <a:cxnLst/>
            <a:rect l="l" t="t" r="r" b="b"/>
            <a:pathLst>
              <a:path w="46989" h="8255">
                <a:moveTo>
                  <a:pt x="365" y="0"/>
                </a:moveTo>
                <a:lnTo>
                  <a:pt x="0" y="5476"/>
                </a:lnTo>
                <a:lnTo>
                  <a:pt x="46734" y="7667"/>
                </a:lnTo>
                <a:lnTo>
                  <a:pt x="43813" y="2190"/>
                </a:lnTo>
                <a:lnTo>
                  <a:pt x="365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359135" y="1222811"/>
            <a:ext cx="37465" cy="6985"/>
          </a:xfrm>
          <a:custGeom>
            <a:avLst/>
            <a:gdLst/>
            <a:ahLst/>
            <a:cxnLst/>
            <a:rect l="l" t="t" r="r" b="b"/>
            <a:pathLst>
              <a:path w="37464" h="6984">
                <a:moveTo>
                  <a:pt x="365" y="0"/>
                </a:moveTo>
                <a:lnTo>
                  <a:pt x="0" y="5476"/>
                </a:lnTo>
                <a:lnTo>
                  <a:pt x="36511" y="6937"/>
                </a:lnTo>
                <a:lnTo>
                  <a:pt x="36876" y="1460"/>
                </a:lnTo>
                <a:lnTo>
                  <a:pt x="365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402218" y="1164393"/>
            <a:ext cx="49530" cy="80010"/>
          </a:xfrm>
          <a:custGeom>
            <a:avLst/>
            <a:gdLst/>
            <a:ahLst/>
            <a:cxnLst/>
            <a:rect l="l" t="t" r="r" b="b"/>
            <a:pathLst>
              <a:path w="49530" h="80009">
                <a:moveTo>
                  <a:pt x="48925" y="0"/>
                </a:moveTo>
                <a:lnTo>
                  <a:pt x="42718" y="0"/>
                </a:lnTo>
                <a:lnTo>
                  <a:pt x="0" y="74117"/>
                </a:lnTo>
                <a:lnTo>
                  <a:pt x="2920" y="79594"/>
                </a:lnTo>
                <a:lnTo>
                  <a:pt x="48925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402218" y="1084434"/>
            <a:ext cx="49530" cy="80010"/>
          </a:xfrm>
          <a:custGeom>
            <a:avLst/>
            <a:gdLst/>
            <a:ahLst/>
            <a:cxnLst/>
            <a:rect l="l" t="t" r="r" b="b"/>
            <a:pathLst>
              <a:path w="49530" h="80009">
                <a:moveTo>
                  <a:pt x="2920" y="0"/>
                </a:moveTo>
                <a:lnTo>
                  <a:pt x="0" y="5476"/>
                </a:lnTo>
                <a:lnTo>
                  <a:pt x="42718" y="79959"/>
                </a:lnTo>
                <a:lnTo>
                  <a:pt x="48925" y="79959"/>
                </a:lnTo>
                <a:lnTo>
                  <a:pt x="292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393455" y="1099404"/>
            <a:ext cx="41275" cy="66675"/>
          </a:xfrm>
          <a:custGeom>
            <a:avLst/>
            <a:gdLst/>
            <a:ahLst/>
            <a:cxnLst/>
            <a:rect l="l" t="t" r="r" b="b"/>
            <a:pathLst>
              <a:path w="41275" h="66675">
                <a:moveTo>
                  <a:pt x="4746" y="0"/>
                </a:moveTo>
                <a:lnTo>
                  <a:pt x="0" y="2920"/>
                </a:lnTo>
                <a:lnTo>
                  <a:pt x="36511" y="66085"/>
                </a:lnTo>
                <a:lnTo>
                  <a:pt x="41257" y="63529"/>
                </a:lnTo>
                <a:lnTo>
                  <a:pt x="474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315474" y="1088402"/>
            <a:ext cx="87630" cy="0"/>
          </a:xfrm>
          <a:custGeom>
            <a:avLst/>
            <a:gdLst/>
            <a:ahLst/>
            <a:cxnLst/>
            <a:rect l="l" t="t" r="r" b="b"/>
            <a:pathLst>
              <a:path w="87630" h="0">
                <a:moveTo>
                  <a:pt x="0" y="0"/>
                </a:moveTo>
                <a:lnTo>
                  <a:pt x="87548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315396" y="1085862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 h="0">
                <a:moveTo>
                  <a:pt x="0" y="0"/>
                </a:moveTo>
                <a:lnTo>
                  <a:pt x="8898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991101" y="1020904"/>
            <a:ext cx="17780" cy="280035"/>
          </a:xfrm>
          <a:custGeom>
            <a:avLst/>
            <a:gdLst/>
            <a:ahLst/>
            <a:cxnLst/>
            <a:rect l="l" t="t" r="r" b="b"/>
            <a:pathLst>
              <a:path w="17780" h="280034">
                <a:moveTo>
                  <a:pt x="17503" y="0"/>
                </a:moveTo>
                <a:lnTo>
                  <a:pt x="0" y="0"/>
                </a:lnTo>
                <a:lnTo>
                  <a:pt x="0" y="280041"/>
                </a:lnTo>
                <a:lnTo>
                  <a:pt x="17503" y="280041"/>
                </a:lnTo>
              </a:path>
            </a:pathLst>
          </a:custGeom>
          <a:ln w="547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447149" y="1020904"/>
            <a:ext cx="17780" cy="280035"/>
          </a:xfrm>
          <a:custGeom>
            <a:avLst/>
            <a:gdLst/>
            <a:ahLst/>
            <a:cxnLst/>
            <a:rect l="l" t="t" r="r" b="b"/>
            <a:pathLst>
              <a:path w="17780" h="280034">
                <a:moveTo>
                  <a:pt x="0" y="280041"/>
                </a:moveTo>
                <a:lnTo>
                  <a:pt x="17503" y="280041"/>
                </a:lnTo>
                <a:lnTo>
                  <a:pt x="17503" y="0"/>
                </a:lnTo>
                <a:lnTo>
                  <a:pt x="0" y="0"/>
                </a:lnTo>
              </a:path>
            </a:pathLst>
          </a:custGeom>
          <a:ln w="547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2175562" y="1342568"/>
            <a:ext cx="129539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 b="1">
                <a:solidFill>
                  <a:srgbClr val="231F20"/>
                </a:solidFill>
                <a:latin typeface="Times New Roman"/>
                <a:cs typeface="Times New Roman"/>
              </a:rPr>
              <a:t>Fe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2126923" y="1276118"/>
            <a:ext cx="31115" cy="53340"/>
          </a:xfrm>
          <a:custGeom>
            <a:avLst/>
            <a:gdLst/>
            <a:ahLst/>
            <a:cxnLst/>
            <a:rect l="l" t="t" r="r" b="b"/>
            <a:pathLst>
              <a:path w="31114" h="53340">
                <a:moveTo>
                  <a:pt x="30654" y="53247"/>
                </a:moveTo>
                <a:lnTo>
                  <a:pt x="0" y="0"/>
                </a:lnTo>
              </a:path>
            </a:pathLst>
          </a:custGeom>
          <a:ln w="3212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141732" y="1316353"/>
            <a:ext cx="42545" cy="59055"/>
          </a:xfrm>
          <a:custGeom>
            <a:avLst/>
            <a:gdLst/>
            <a:ahLst/>
            <a:cxnLst/>
            <a:rect l="l" t="t" r="r" b="b"/>
            <a:pathLst>
              <a:path w="42544" h="59055">
                <a:moveTo>
                  <a:pt x="0" y="14378"/>
                </a:moveTo>
                <a:lnTo>
                  <a:pt x="42148" y="58710"/>
                </a:lnTo>
                <a:lnTo>
                  <a:pt x="29744" y="16291"/>
                </a:lnTo>
                <a:lnTo>
                  <a:pt x="5221" y="16291"/>
                </a:lnTo>
                <a:lnTo>
                  <a:pt x="0" y="14378"/>
                </a:lnTo>
                <a:close/>
              </a:path>
              <a:path w="42544" h="59055">
                <a:moveTo>
                  <a:pt x="24980" y="0"/>
                </a:moveTo>
                <a:lnTo>
                  <a:pt x="24009" y="5476"/>
                </a:lnTo>
                <a:lnTo>
                  <a:pt x="20665" y="10237"/>
                </a:lnTo>
                <a:lnTo>
                  <a:pt x="11026" y="15787"/>
                </a:lnTo>
                <a:lnTo>
                  <a:pt x="5221" y="16291"/>
                </a:lnTo>
                <a:lnTo>
                  <a:pt x="29744" y="16291"/>
                </a:lnTo>
                <a:lnTo>
                  <a:pt x="2498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290457" y="1276118"/>
            <a:ext cx="27940" cy="48260"/>
          </a:xfrm>
          <a:custGeom>
            <a:avLst/>
            <a:gdLst/>
            <a:ahLst/>
            <a:cxnLst/>
            <a:rect l="l" t="t" r="r" b="b"/>
            <a:pathLst>
              <a:path w="27939" h="48259">
                <a:moveTo>
                  <a:pt x="0" y="47749"/>
                </a:moveTo>
                <a:lnTo>
                  <a:pt x="27419" y="0"/>
                </a:lnTo>
              </a:path>
            </a:pathLst>
          </a:custGeom>
          <a:ln w="3212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264205" y="1310862"/>
            <a:ext cx="42545" cy="59055"/>
          </a:xfrm>
          <a:custGeom>
            <a:avLst/>
            <a:gdLst/>
            <a:ahLst/>
            <a:cxnLst/>
            <a:rect l="l" t="t" r="r" b="b"/>
            <a:pathLst>
              <a:path w="42544" h="59055">
                <a:moveTo>
                  <a:pt x="17101" y="0"/>
                </a:moveTo>
                <a:lnTo>
                  <a:pt x="0" y="58724"/>
                </a:lnTo>
                <a:lnTo>
                  <a:pt x="40282" y="16262"/>
                </a:lnTo>
                <a:lnTo>
                  <a:pt x="36876" y="16262"/>
                </a:lnTo>
                <a:lnTo>
                  <a:pt x="31078" y="15772"/>
                </a:lnTo>
                <a:lnTo>
                  <a:pt x="21432" y="10230"/>
                </a:lnTo>
                <a:lnTo>
                  <a:pt x="18080" y="5469"/>
                </a:lnTo>
                <a:lnTo>
                  <a:pt x="17101" y="0"/>
                </a:lnTo>
                <a:close/>
              </a:path>
              <a:path w="42544" h="59055">
                <a:moveTo>
                  <a:pt x="42097" y="14348"/>
                </a:moveTo>
                <a:lnTo>
                  <a:pt x="36876" y="16262"/>
                </a:lnTo>
                <a:lnTo>
                  <a:pt x="40282" y="16262"/>
                </a:lnTo>
                <a:lnTo>
                  <a:pt x="42097" y="14348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948785" y="1222262"/>
            <a:ext cx="74930" cy="1441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 spc="10" b="1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497956" y="1226302"/>
            <a:ext cx="53340" cy="927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00" spc="15" b="1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949844" y="996077"/>
            <a:ext cx="31115" cy="494665"/>
          </a:xfrm>
          <a:custGeom>
            <a:avLst/>
            <a:gdLst/>
            <a:ahLst/>
            <a:cxnLst/>
            <a:rect l="l" t="t" r="r" b="b"/>
            <a:pathLst>
              <a:path w="31114" h="494665">
                <a:moveTo>
                  <a:pt x="30895" y="0"/>
                </a:moveTo>
                <a:lnTo>
                  <a:pt x="0" y="0"/>
                </a:lnTo>
                <a:lnTo>
                  <a:pt x="0" y="494362"/>
                </a:lnTo>
                <a:lnTo>
                  <a:pt x="30895" y="494362"/>
                </a:lnTo>
              </a:path>
            </a:pathLst>
          </a:custGeom>
          <a:ln w="547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520288" y="996077"/>
            <a:ext cx="31115" cy="494665"/>
          </a:xfrm>
          <a:custGeom>
            <a:avLst/>
            <a:gdLst/>
            <a:ahLst/>
            <a:cxnLst/>
            <a:rect l="l" t="t" r="r" b="b"/>
            <a:pathLst>
              <a:path w="31114" h="494665">
                <a:moveTo>
                  <a:pt x="0" y="494362"/>
                </a:moveTo>
                <a:lnTo>
                  <a:pt x="30895" y="494362"/>
                </a:lnTo>
                <a:lnTo>
                  <a:pt x="30895" y="0"/>
                </a:lnTo>
                <a:lnTo>
                  <a:pt x="0" y="0"/>
                </a:lnTo>
              </a:path>
            </a:pathLst>
          </a:custGeom>
          <a:ln w="547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2580472" y="949535"/>
            <a:ext cx="90170" cy="97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" spc="10" b="1">
                <a:solidFill>
                  <a:srgbClr val="231F20"/>
                </a:solidFill>
                <a:latin typeface="Times New Roman"/>
                <a:cs typeface="Times New Roman"/>
              </a:rPr>
              <a:t>2+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636255" y="1271371"/>
            <a:ext cx="196215" cy="0"/>
          </a:xfrm>
          <a:custGeom>
            <a:avLst/>
            <a:gdLst/>
            <a:ahLst/>
            <a:cxnLst/>
            <a:rect l="l" t="t" r="r" b="b"/>
            <a:pathLst>
              <a:path w="196214" h="0">
                <a:moveTo>
                  <a:pt x="196094" y="0"/>
                </a:moveTo>
                <a:lnTo>
                  <a:pt x="0" y="0"/>
                </a:lnTo>
              </a:path>
            </a:pathLst>
          </a:custGeom>
          <a:ln w="4381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2176657" y="949535"/>
            <a:ext cx="98425" cy="97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u="sng" sz="450" spc="5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450" spc="5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241690" y="949535"/>
            <a:ext cx="118110" cy="97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u="sng" sz="450" spc="5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450" spc="45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Times New Roman"/>
                <a:cs typeface="Times New Roman"/>
              </a:rPr>
              <a:t> 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2823185" y="1251714"/>
            <a:ext cx="81280" cy="39370"/>
          </a:xfrm>
          <a:custGeom>
            <a:avLst/>
            <a:gdLst/>
            <a:ahLst/>
            <a:cxnLst/>
            <a:rect l="l" t="t" r="r" b="b"/>
            <a:pathLst>
              <a:path w="81280" h="39369">
                <a:moveTo>
                  <a:pt x="0" y="0"/>
                </a:moveTo>
                <a:lnTo>
                  <a:pt x="5812" y="4877"/>
                </a:lnTo>
                <a:lnTo>
                  <a:pt x="9164" y="12070"/>
                </a:lnTo>
                <a:lnTo>
                  <a:pt x="9164" y="27244"/>
                </a:lnTo>
                <a:lnTo>
                  <a:pt x="5812" y="34437"/>
                </a:lnTo>
                <a:lnTo>
                  <a:pt x="0" y="39315"/>
                </a:lnTo>
                <a:lnTo>
                  <a:pt x="81062" y="19657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3162461" y="1209016"/>
            <a:ext cx="69850" cy="990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20" b="1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45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3075120" y="1103785"/>
            <a:ext cx="49530" cy="80010"/>
          </a:xfrm>
          <a:custGeom>
            <a:avLst/>
            <a:gdLst/>
            <a:ahLst/>
            <a:cxnLst/>
            <a:rect l="l" t="t" r="r" b="b"/>
            <a:pathLst>
              <a:path w="49530" h="80009">
                <a:moveTo>
                  <a:pt x="46004" y="0"/>
                </a:moveTo>
                <a:lnTo>
                  <a:pt x="0" y="79594"/>
                </a:lnTo>
                <a:lnTo>
                  <a:pt x="6206" y="79594"/>
                </a:lnTo>
                <a:lnTo>
                  <a:pt x="48925" y="5476"/>
                </a:lnTo>
                <a:lnTo>
                  <a:pt x="4600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091550" y="1118754"/>
            <a:ext cx="41275" cy="66675"/>
          </a:xfrm>
          <a:custGeom>
            <a:avLst/>
            <a:gdLst/>
            <a:ahLst/>
            <a:cxnLst/>
            <a:rect l="l" t="t" r="r" b="b"/>
            <a:pathLst>
              <a:path w="41275" h="66675">
                <a:moveTo>
                  <a:pt x="36511" y="0"/>
                </a:moveTo>
                <a:lnTo>
                  <a:pt x="0" y="63164"/>
                </a:lnTo>
                <a:lnTo>
                  <a:pt x="4746" y="66085"/>
                </a:lnTo>
                <a:lnTo>
                  <a:pt x="41257" y="2920"/>
                </a:lnTo>
                <a:lnTo>
                  <a:pt x="3651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075120" y="1183379"/>
            <a:ext cx="49530" cy="80010"/>
          </a:xfrm>
          <a:custGeom>
            <a:avLst/>
            <a:gdLst/>
            <a:ahLst/>
            <a:cxnLst/>
            <a:rect l="l" t="t" r="r" b="b"/>
            <a:pathLst>
              <a:path w="49530" h="80009">
                <a:moveTo>
                  <a:pt x="6206" y="0"/>
                </a:moveTo>
                <a:lnTo>
                  <a:pt x="0" y="0"/>
                </a:lnTo>
                <a:lnTo>
                  <a:pt x="46004" y="79594"/>
                </a:lnTo>
                <a:lnTo>
                  <a:pt x="49290" y="74117"/>
                </a:lnTo>
                <a:lnTo>
                  <a:pt x="620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121124" y="1256402"/>
            <a:ext cx="48260" cy="6985"/>
          </a:xfrm>
          <a:custGeom>
            <a:avLst/>
            <a:gdLst/>
            <a:ahLst/>
            <a:cxnLst/>
            <a:rect l="l" t="t" r="r" b="b"/>
            <a:pathLst>
              <a:path w="48260" h="6984">
                <a:moveTo>
                  <a:pt x="47464" y="0"/>
                </a:moveTo>
                <a:lnTo>
                  <a:pt x="3286" y="1095"/>
                </a:lnTo>
                <a:lnTo>
                  <a:pt x="0" y="6572"/>
                </a:lnTo>
                <a:lnTo>
                  <a:pt x="47829" y="5476"/>
                </a:lnTo>
                <a:lnTo>
                  <a:pt x="4746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130617" y="1242893"/>
            <a:ext cx="38100" cy="6350"/>
          </a:xfrm>
          <a:custGeom>
            <a:avLst/>
            <a:gdLst/>
            <a:ahLst/>
            <a:cxnLst/>
            <a:rect l="l" t="t" r="r" b="b"/>
            <a:pathLst>
              <a:path w="38100" h="6350">
                <a:moveTo>
                  <a:pt x="37606" y="0"/>
                </a:moveTo>
                <a:lnTo>
                  <a:pt x="0" y="730"/>
                </a:lnTo>
                <a:lnTo>
                  <a:pt x="0" y="6206"/>
                </a:lnTo>
                <a:lnTo>
                  <a:pt x="37971" y="5476"/>
                </a:lnTo>
                <a:lnTo>
                  <a:pt x="3760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217879" y="1183014"/>
            <a:ext cx="40005" cy="48895"/>
          </a:xfrm>
          <a:custGeom>
            <a:avLst/>
            <a:gdLst/>
            <a:ahLst/>
            <a:cxnLst/>
            <a:rect l="l" t="t" r="r" b="b"/>
            <a:pathLst>
              <a:path w="40004" h="48894">
                <a:moveTo>
                  <a:pt x="34685" y="0"/>
                </a:moveTo>
                <a:lnTo>
                  <a:pt x="0" y="45273"/>
                </a:lnTo>
                <a:lnTo>
                  <a:pt x="4381" y="48559"/>
                </a:lnTo>
                <a:lnTo>
                  <a:pt x="39432" y="3286"/>
                </a:lnTo>
                <a:lnTo>
                  <a:pt x="37971" y="365"/>
                </a:lnTo>
                <a:lnTo>
                  <a:pt x="34685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209846" y="1106341"/>
            <a:ext cx="48260" cy="77470"/>
          </a:xfrm>
          <a:custGeom>
            <a:avLst/>
            <a:gdLst/>
            <a:ahLst/>
            <a:cxnLst/>
            <a:rect l="l" t="t" r="r" b="b"/>
            <a:pathLst>
              <a:path w="48260" h="77469">
                <a:moveTo>
                  <a:pt x="4746" y="0"/>
                </a:moveTo>
                <a:lnTo>
                  <a:pt x="1825" y="0"/>
                </a:lnTo>
                <a:lnTo>
                  <a:pt x="0" y="2920"/>
                </a:lnTo>
                <a:lnTo>
                  <a:pt x="42718" y="76673"/>
                </a:lnTo>
                <a:lnTo>
                  <a:pt x="46004" y="77038"/>
                </a:lnTo>
                <a:lnTo>
                  <a:pt x="47829" y="74482"/>
                </a:lnTo>
                <a:lnTo>
                  <a:pt x="474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201449" y="1118754"/>
            <a:ext cx="40640" cy="65405"/>
          </a:xfrm>
          <a:custGeom>
            <a:avLst/>
            <a:gdLst/>
            <a:ahLst/>
            <a:cxnLst/>
            <a:rect l="l" t="t" r="r" b="b"/>
            <a:pathLst>
              <a:path w="40639" h="65405">
                <a:moveTo>
                  <a:pt x="4746" y="0"/>
                </a:moveTo>
                <a:lnTo>
                  <a:pt x="0" y="2555"/>
                </a:lnTo>
                <a:lnTo>
                  <a:pt x="35781" y="64989"/>
                </a:lnTo>
                <a:lnTo>
                  <a:pt x="40527" y="62069"/>
                </a:lnTo>
                <a:lnTo>
                  <a:pt x="474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123080" y="1107452"/>
            <a:ext cx="88265" cy="0"/>
          </a:xfrm>
          <a:custGeom>
            <a:avLst/>
            <a:gdLst/>
            <a:ahLst/>
            <a:cxnLst/>
            <a:rect l="l" t="t" r="r" b="b"/>
            <a:pathLst>
              <a:path w="88264" h="0">
                <a:moveTo>
                  <a:pt x="0" y="0"/>
                </a:moveTo>
                <a:lnTo>
                  <a:pt x="87897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121725" y="1104912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 h="0">
                <a:moveTo>
                  <a:pt x="0" y="0"/>
                </a:moveTo>
                <a:lnTo>
                  <a:pt x="88926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256622" y="1184922"/>
            <a:ext cx="88265" cy="0"/>
          </a:xfrm>
          <a:custGeom>
            <a:avLst/>
            <a:gdLst/>
            <a:ahLst/>
            <a:cxnLst/>
            <a:rect l="l" t="t" r="r" b="b"/>
            <a:pathLst>
              <a:path w="88264" h="0">
                <a:moveTo>
                  <a:pt x="0" y="0"/>
                </a:moveTo>
                <a:lnTo>
                  <a:pt x="87737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256563" y="1182382"/>
            <a:ext cx="88265" cy="0"/>
          </a:xfrm>
          <a:custGeom>
            <a:avLst/>
            <a:gdLst/>
            <a:ahLst/>
            <a:cxnLst/>
            <a:rect l="l" t="t" r="r" b="b"/>
            <a:pathLst>
              <a:path w="88264" h="0">
                <a:moveTo>
                  <a:pt x="0" y="0"/>
                </a:moveTo>
                <a:lnTo>
                  <a:pt x="87805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343477" y="1106341"/>
            <a:ext cx="47625" cy="77470"/>
          </a:xfrm>
          <a:custGeom>
            <a:avLst/>
            <a:gdLst/>
            <a:ahLst/>
            <a:cxnLst/>
            <a:rect l="l" t="t" r="r" b="b"/>
            <a:pathLst>
              <a:path w="47625" h="77469">
                <a:moveTo>
                  <a:pt x="46004" y="0"/>
                </a:moveTo>
                <a:lnTo>
                  <a:pt x="42718" y="0"/>
                </a:lnTo>
                <a:lnTo>
                  <a:pt x="0" y="74482"/>
                </a:lnTo>
                <a:lnTo>
                  <a:pt x="1460" y="77038"/>
                </a:lnTo>
                <a:lnTo>
                  <a:pt x="4746" y="77038"/>
                </a:lnTo>
                <a:lnTo>
                  <a:pt x="47464" y="2920"/>
                </a:lnTo>
                <a:lnTo>
                  <a:pt x="4600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334715" y="1105245"/>
            <a:ext cx="41275" cy="66040"/>
          </a:xfrm>
          <a:custGeom>
            <a:avLst/>
            <a:gdLst/>
            <a:ahLst/>
            <a:cxnLst/>
            <a:rect l="l" t="t" r="r" b="b"/>
            <a:pathLst>
              <a:path w="41275" h="66040">
                <a:moveTo>
                  <a:pt x="36511" y="0"/>
                </a:moveTo>
                <a:lnTo>
                  <a:pt x="0" y="63164"/>
                </a:lnTo>
                <a:lnTo>
                  <a:pt x="4746" y="65720"/>
                </a:lnTo>
                <a:lnTo>
                  <a:pt x="41257" y="2555"/>
                </a:lnTo>
                <a:lnTo>
                  <a:pt x="3651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343477" y="1026381"/>
            <a:ext cx="47625" cy="80010"/>
          </a:xfrm>
          <a:custGeom>
            <a:avLst/>
            <a:gdLst/>
            <a:ahLst/>
            <a:cxnLst/>
            <a:rect l="l" t="t" r="r" b="b"/>
            <a:pathLst>
              <a:path w="47625" h="80009">
                <a:moveTo>
                  <a:pt x="3286" y="0"/>
                </a:moveTo>
                <a:lnTo>
                  <a:pt x="0" y="5476"/>
                </a:lnTo>
                <a:lnTo>
                  <a:pt x="42718" y="79959"/>
                </a:lnTo>
                <a:lnTo>
                  <a:pt x="46004" y="79959"/>
                </a:lnTo>
                <a:lnTo>
                  <a:pt x="47464" y="77403"/>
                </a:lnTo>
                <a:lnTo>
                  <a:pt x="328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263883" y="1040255"/>
            <a:ext cx="73660" cy="5715"/>
          </a:xfrm>
          <a:custGeom>
            <a:avLst/>
            <a:gdLst/>
            <a:ahLst/>
            <a:cxnLst/>
            <a:rect l="l" t="t" r="r" b="b"/>
            <a:pathLst>
              <a:path w="73660" h="5715">
                <a:moveTo>
                  <a:pt x="0" y="5476"/>
                </a:moveTo>
                <a:lnTo>
                  <a:pt x="73387" y="5476"/>
                </a:lnTo>
                <a:lnTo>
                  <a:pt x="73387" y="0"/>
                </a:lnTo>
                <a:lnTo>
                  <a:pt x="0" y="0"/>
                </a:lnTo>
                <a:lnTo>
                  <a:pt x="0" y="5476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209846" y="1026381"/>
            <a:ext cx="48260" cy="80010"/>
          </a:xfrm>
          <a:custGeom>
            <a:avLst/>
            <a:gdLst/>
            <a:ahLst/>
            <a:cxnLst/>
            <a:rect l="l" t="t" r="r" b="b"/>
            <a:pathLst>
              <a:path w="48260" h="80009">
                <a:moveTo>
                  <a:pt x="44543" y="0"/>
                </a:moveTo>
                <a:lnTo>
                  <a:pt x="0" y="77403"/>
                </a:lnTo>
                <a:lnTo>
                  <a:pt x="1825" y="79959"/>
                </a:lnTo>
                <a:lnTo>
                  <a:pt x="4746" y="79959"/>
                </a:lnTo>
                <a:lnTo>
                  <a:pt x="47829" y="5476"/>
                </a:lnTo>
                <a:lnTo>
                  <a:pt x="44543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3370940" y="1207921"/>
            <a:ext cx="70485" cy="99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50" spc="25" b="1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45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3343843" y="1183379"/>
            <a:ext cx="40640" cy="48260"/>
          </a:xfrm>
          <a:custGeom>
            <a:avLst/>
            <a:gdLst/>
            <a:ahLst/>
            <a:cxnLst/>
            <a:rect l="l" t="t" r="r" b="b"/>
            <a:pathLst>
              <a:path w="40639" h="48259">
                <a:moveTo>
                  <a:pt x="4381" y="0"/>
                </a:moveTo>
                <a:lnTo>
                  <a:pt x="1095" y="0"/>
                </a:lnTo>
                <a:lnTo>
                  <a:pt x="0" y="2920"/>
                </a:lnTo>
                <a:lnTo>
                  <a:pt x="36146" y="47829"/>
                </a:lnTo>
                <a:lnTo>
                  <a:pt x="40527" y="44543"/>
                </a:lnTo>
                <a:lnTo>
                  <a:pt x="438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434025" y="1255672"/>
            <a:ext cx="46355" cy="8255"/>
          </a:xfrm>
          <a:custGeom>
            <a:avLst/>
            <a:gdLst/>
            <a:ahLst/>
            <a:cxnLst/>
            <a:rect l="l" t="t" r="r" b="b"/>
            <a:pathLst>
              <a:path w="46354" h="8255">
                <a:moveTo>
                  <a:pt x="0" y="0"/>
                </a:moveTo>
                <a:lnTo>
                  <a:pt x="0" y="5476"/>
                </a:lnTo>
                <a:lnTo>
                  <a:pt x="46004" y="7667"/>
                </a:lnTo>
                <a:lnTo>
                  <a:pt x="42718" y="2190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434390" y="1242162"/>
            <a:ext cx="36195" cy="6985"/>
          </a:xfrm>
          <a:custGeom>
            <a:avLst/>
            <a:gdLst/>
            <a:ahLst/>
            <a:cxnLst/>
            <a:rect l="l" t="t" r="r" b="b"/>
            <a:pathLst>
              <a:path w="36195" h="6984">
                <a:moveTo>
                  <a:pt x="365" y="0"/>
                </a:moveTo>
                <a:lnTo>
                  <a:pt x="0" y="5476"/>
                </a:lnTo>
                <a:lnTo>
                  <a:pt x="36146" y="6937"/>
                </a:lnTo>
                <a:lnTo>
                  <a:pt x="36146" y="1460"/>
                </a:lnTo>
                <a:lnTo>
                  <a:pt x="365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476743" y="1183379"/>
            <a:ext cx="49530" cy="80010"/>
          </a:xfrm>
          <a:custGeom>
            <a:avLst/>
            <a:gdLst/>
            <a:ahLst/>
            <a:cxnLst/>
            <a:rect l="l" t="t" r="r" b="b"/>
            <a:pathLst>
              <a:path w="49529" h="80009">
                <a:moveTo>
                  <a:pt x="49290" y="0"/>
                </a:moveTo>
                <a:lnTo>
                  <a:pt x="43083" y="0"/>
                </a:lnTo>
                <a:lnTo>
                  <a:pt x="0" y="74482"/>
                </a:lnTo>
                <a:lnTo>
                  <a:pt x="3286" y="79959"/>
                </a:lnTo>
                <a:lnTo>
                  <a:pt x="4929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476743" y="1103785"/>
            <a:ext cx="49530" cy="80010"/>
          </a:xfrm>
          <a:custGeom>
            <a:avLst/>
            <a:gdLst/>
            <a:ahLst/>
            <a:cxnLst/>
            <a:rect l="l" t="t" r="r" b="b"/>
            <a:pathLst>
              <a:path w="49529" h="80009">
                <a:moveTo>
                  <a:pt x="3286" y="0"/>
                </a:moveTo>
                <a:lnTo>
                  <a:pt x="0" y="5476"/>
                </a:lnTo>
                <a:lnTo>
                  <a:pt x="43083" y="79594"/>
                </a:lnTo>
                <a:lnTo>
                  <a:pt x="49290" y="79594"/>
                </a:lnTo>
                <a:lnTo>
                  <a:pt x="328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468346" y="1118754"/>
            <a:ext cx="41275" cy="66675"/>
          </a:xfrm>
          <a:custGeom>
            <a:avLst/>
            <a:gdLst/>
            <a:ahLst/>
            <a:cxnLst/>
            <a:rect l="l" t="t" r="r" b="b"/>
            <a:pathLst>
              <a:path w="41275" h="66675">
                <a:moveTo>
                  <a:pt x="4746" y="0"/>
                </a:moveTo>
                <a:lnTo>
                  <a:pt x="0" y="2920"/>
                </a:lnTo>
                <a:lnTo>
                  <a:pt x="36511" y="66085"/>
                </a:lnTo>
                <a:lnTo>
                  <a:pt x="41257" y="63529"/>
                </a:lnTo>
                <a:lnTo>
                  <a:pt x="474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390038" y="1107452"/>
            <a:ext cx="88265" cy="0"/>
          </a:xfrm>
          <a:custGeom>
            <a:avLst/>
            <a:gdLst/>
            <a:ahLst/>
            <a:cxnLst/>
            <a:rect l="l" t="t" r="r" b="b"/>
            <a:pathLst>
              <a:path w="88264" h="0">
                <a:moveTo>
                  <a:pt x="0" y="0"/>
                </a:moveTo>
                <a:lnTo>
                  <a:pt x="87791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390298" y="1104912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 h="0">
                <a:moveTo>
                  <a:pt x="0" y="0"/>
                </a:moveTo>
                <a:lnTo>
                  <a:pt x="89055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065992" y="1040255"/>
            <a:ext cx="17780" cy="280035"/>
          </a:xfrm>
          <a:custGeom>
            <a:avLst/>
            <a:gdLst/>
            <a:ahLst/>
            <a:cxnLst/>
            <a:rect l="l" t="t" r="r" b="b"/>
            <a:pathLst>
              <a:path w="17780" h="280034">
                <a:moveTo>
                  <a:pt x="17503" y="0"/>
                </a:moveTo>
                <a:lnTo>
                  <a:pt x="0" y="0"/>
                </a:lnTo>
                <a:lnTo>
                  <a:pt x="0" y="280041"/>
                </a:lnTo>
                <a:lnTo>
                  <a:pt x="17503" y="280041"/>
                </a:lnTo>
              </a:path>
            </a:pathLst>
          </a:custGeom>
          <a:ln w="547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522039" y="1040255"/>
            <a:ext cx="17780" cy="280035"/>
          </a:xfrm>
          <a:custGeom>
            <a:avLst/>
            <a:gdLst/>
            <a:ahLst/>
            <a:cxnLst/>
            <a:rect l="l" t="t" r="r" b="b"/>
            <a:pathLst>
              <a:path w="17779" h="280034">
                <a:moveTo>
                  <a:pt x="0" y="280041"/>
                </a:moveTo>
                <a:lnTo>
                  <a:pt x="17503" y="280041"/>
                </a:lnTo>
                <a:lnTo>
                  <a:pt x="17503" y="0"/>
                </a:lnTo>
                <a:lnTo>
                  <a:pt x="0" y="0"/>
                </a:lnTo>
              </a:path>
            </a:pathLst>
          </a:custGeom>
          <a:ln w="547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3250088" y="1361998"/>
            <a:ext cx="129539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10" b="1">
                <a:solidFill>
                  <a:srgbClr val="231F20"/>
                </a:solidFill>
                <a:latin typeface="Times New Roman"/>
                <a:cs typeface="Times New Roman"/>
              </a:rPr>
              <a:t>Fe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3201814" y="1295469"/>
            <a:ext cx="31115" cy="53340"/>
          </a:xfrm>
          <a:custGeom>
            <a:avLst/>
            <a:gdLst/>
            <a:ahLst/>
            <a:cxnLst/>
            <a:rect l="l" t="t" r="r" b="b"/>
            <a:pathLst>
              <a:path w="31114" h="53340">
                <a:moveTo>
                  <a:pt x="30654" y="53247"/>
                </a:moveTo>
                <a:lnTo>
                  <a:pt x="0" y="0"/>
                </a:lnTo>
              </a:path>
            </a:pathLst>
          </a:custGeom>
          <a:ln w="3212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3216623" y="1335704"/>
            <a:ext cx="42545" cy="59055"/>
          </a:xfrm>
          <a:custGeom>
            <a:avLst/>
            <a:gdLst/>
            <a:ahLst/>
            <a:cxnLst/>
            <a:rect l="l" t="t" r="r" b="b"/>
            <a:pathLst>
              <a:path w="42545" h="59055">
                <a:moveTo>
                  <a:pt x="0" y="14378"/>
                </a:moveTo>
                <a:lnTo>
                  <a:pt x="42148" y="58710"/>
                </a:lnTo>
                <a:lnTo>
                  <a:pt x="29744" y="16291"/>
                </a:lnTo>
                <a:lnTo>
                  <a:pt x="5221" y="16291"/>
                </a:lnTo>
                <a:lnTo>
                  <a:pt x="0" y="14378"/>
                </a:lnTo>
                <a:close/>
              </a:path>
              <a:path w="42545" h="59055">
                <a:moveTo>
                  <a:pt x="24980" y="0"/>
                </a:moveTo>
                <a:lnTo>
                  <a:pt x="24009" y="5476"/>
                </a:lnTo>
                <a:lnTo>
                  <a:pt x="20665" y="10237"/>
                </a:lnTo>
                <a:lnTo>
                  <a:pt x="11026" y="15787"/>
                </a:lnTo>
                <a:lnTo>
                  <a:pt x="5221" y="16291"/>
                </a:lnTo>
                <a:lnTo>
                  <a:pt x="29744" y="16291"/>
                </a:lnTo>
                <a:lnTo>
                  <a:pt x="2498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3365121" y="1295469"/>
            <a:ext cx="27940" cy="48260"/>
          </a:xfrm>
          <a:custGeom>
            <a:avLst/>
            <a:gdLst/>
            <a:ahLst/>
            <a:cxnLst/>
            <a:rect l="l" t="t" r="r" b="b"/>
            <a:pathLst>
              <a:path w="27939" h="48259">
                <a:moveTo>
                  <a:pt x="0" y="47822"/>
                </a:moveTo>
                <a:lnTo>
                  <a:pt x="27646" y="0"/>
                </a:lnTo>
              </a:path>
            </a:pathLst>
          </a:custGeom>
          <a:ln w="3212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3338731" y="1330257"/>
            <a:ext cx="42545" cy="59055"/>
          </a:xfrm>
          <a:custGeom>
            <a:avLst/>
            <a:gdLst/>
            <a:ahLst/>
            <a:cxnLst/>
            <a:rect l="l" t="t" r="r" b="b"/>
            <a:pathLst>
              <a:path w="42545" h="59055">
                <a:moveTo>
                  <a:pt x="17277" y="0"/>
                </a:moveTo>
                <a:lnTo>
                  <a:pt x="0" y="58680"/>
                </a:lnTo>
                <a:lnTo>
                  <a:pt x="40417" y="16327"/>
                </a:lnTo>
                <a:lnTo>
                  <a:pt x="37000" y="16327"/>
                </a:lnTo>
                <a:lnTo>
                  <a:pt x="31202" y="15816"/>
                </a:lnTo>
                <a:lnTo>
                  <a:pt x="21570" y="10252"/>
                </a:lnTo>
                <a:lnTo>
                  <a:pt x="18241" y="5483"/>
                </a:lnTo>
                <a:lnTo>
                  <a:pt x="17277" y="0"/>
                </a:lnTo>
                <a:close/>
              </a:path>
              <a:path w="42545" h="59055">
                <a:moveTo>
                  <a:pt x="42228" y="14429"/>
                </a:moveTo>
                <a:lnTo>
                  <a:pt x="37000" y="16327"/>
                </a:lnTo>
                <a:lnTo>
                  <a:pt x="40417" y="16327"/>
                </a:lnTo>
                <a:lnTo>
                  <a:pt x="42228" y="14429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 txBox="1"/>
          <p:nvPr/>
        </p:nvSpPr>
        <p:spPr>
          <a:xfrm>
            <a:off x="3572847" y="1245892"/>
            <a:ext cx="53340" cy="92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00" spc="15" b="1">
                <a:solidFill>
                  <a:srgbClr val="231F20"/>
                </a:solidFill>
                <a:latin typeface="Times New Roman"/>
                <a:cs typeface="Times New Roman"/>
              </a:rPr>
              <a:t>3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3024734" y="1015428"/>
            <a:ext cx="31115" cy="494030"/>
          </a:xfrm>
          <a:custGeom>
            <a:avLst/>
            <a:gdLst/>
            <a:ahLst/>
            <a:cxnLst/>
            <a:rect l="l" t="t" r="r" b="b"/>
            <a:pathLst>
              <a:path w="31114" h="494030">
                <a:moveTo>
                  <a:pt x="30873" y="0"/>
                </a:moveTo>
                <a:lnTo>
                  <a:pt x="0" y="0"/>
                </a:lnTo>
                <a:lnTo>
                  <a:pt x="0" y="493996"/>
                </a:lnTo>
                <a:lnTo>
                  <a:pt x="30873" y="493996"/>
                </a:lnTo>
              </a:path>
            </a:pathLst>
          </a:custGeom>
          <a:ln w="547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3595201" y="1015428"/>
            <a:ext cx="31115" cy="494030"/>
          </a:xfrm>
          <a:custGeom>
            <a:avLst/>
            <a:gdLst/>
            <a:ahLst/>
            <a:cxnLst/>
            <a:rect l="l" t="t" r="r" b="b"/>
            <a:pathLst>
              <a:path w="31114" h="494030">
                <a:moveTo>
                  <a:pt x="0" y="493996"/>
                </a:moveTo>
                <a:lnTo>
                  <a:pt x="30873" y="493996"/>
                </a:lnTo>
                <a:lnTo>
                  <a:pt x="30873" y="0"/>
                </a:lnTo>
                <a:lnTo>
                  <a:pt x="0" y="0"/>
                </a:lnTo>
              </a:path>
            </a:pathLst>
          </a:custGeom>
          <a:ln w="547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 txBox="1"/>
          <p:nvPr/>
        </p:nvSpPr>
        <p:spPr>
          <a:xfrm>
            <a:off x="3654997" y="969137"/>
            <a:ext cx="89535" cy="97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" spc="10" b="1">
                <a:solidFill>
                  <a:srgbClr val="231F20"/>
                </a:solidFill>
                <a:latin typeface="Times New Roman"/>
                <a:cs typeface="Times New Roman"/>
              </a:rPr>
              <a:t>2+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904369" y="1223621"/>
            <a:ext cx="69215" cy="1308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650" spc="20">
                <a:solidFill>
                  <a:srgbClr val="231F20"/>
                </a:solidFill>
                <a:latin typeface="Times New Roman"/>
                <a:cs typeface="Times New Roman"/>
              </a:rPr>
              <a:t>4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670697" y="1172505"/>
            <a:ext cx="342265" cy="1657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0" spc="10">
                <a:solidFill>
                  <a:srgbClr val="231F20"/>
                </a:solidFill>
                <a:latin typeface="Times New Roman"/>
                <a:cs typeface="Times New Roman"/>
              </a:rPr>
              <a:t>(ClO</a:t>
            </a:r>
            <a:r>
              <a:rPr dirty="0" sz="9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900" spc="5">
                <a:solidFill>
                  <a:srgbClr val="231F20"/>
                </a:solidFill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994917" y="1168650"/>
            <a:ext cx="85725" cy="112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550" spc="5" b="1">
                <a:solidFill>
                  <a:srgbClr val="231F20"/>
                </a:solidFill>
                <a:latin typeface="Times New Roman"/>
                <a:cs typeface="Times New Roman"/>
              </a:rPr>
              <a:t>2-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986154" y="1260513"/>
            <a:ext cx="59690" cy="106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15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595056" y="1717395"/>
            <a:ext cx="14179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15">
                <a:solidFill>
                  <a:srgbClr val="3333B2"/>
                </a:solidFill>
                <a:latin typeface="Georgia"/>
                <a:cs typeface="Georgia"/>
              </a:rPr>
              <a:t>1:</a:t>
            </a:r>
            <a:r>
              <a:rPr dirty="0" sz="1000" spc="15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离子缔合</a:t>
            </a:r>
            <a:r>
              <a:rPr dirty="0" sz="1050" spc="-10">
                <a:latin typeface="Arial Unicode MS"/>
                <a:cs typeface="Arial Unicode MS"/>
              </a:rPr>
              <a:t>物</a:t>
            </a:r>
            <a:r>
              <a:rPr dirty="0" sz="1050" spc="-5">
                <a:latin typeface="Arial Unicode MS"/>
                <a:cs typeface="Arial Unicode MS"/>
              </a:rPr>
              <a:t>示意图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1" name="object 1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2" name="object 1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442658"/>
            <a:ext cx="4394835" cy="6965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当金属阳离子与简单配位阴离子作用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能形成络阴离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再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与大体积的有机阳离子形成疏水性的离子缔合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4163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氯化四苯砷与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60">
                <a:latin typeface="Georgia"/>
                <a:cs typeface="Georgia"/>
              </a:rPr>
              <a:t>ReO</a:t>
            </a:r>
            <a:r>
              <a:rPr dirty="0" baseline="37037" sz="900" spc="-89" i="1">
                <a:latin typeface="Arial"/>
                <a:cs typeface="Arial"/>
              </a:rPr>
              <a:t>−</a:t>
            </a:r>
            <a:r>
              <a:rPr dirty="0" baseline="-23148" sz="900" spc="-89">
                <a:latin typeface="Times New Roman"/>
                <a:cs typeface="Times New Roman"/>
              </a:rPr>
              <a:t>4</a:t>
            </a:r>
            <a:r>
              <a:rPr dirty="0" baseline="-23148" sz="9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形成如下的离子缔合</a:t>
            </a:r>
            <a:r>
              <a:rPr dirty="0" sz="1200" spc="-90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7305" y="1471460"/>
            <a:ext cx="3352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6 5</a:t>
            </a:r>
            <a:r>
              <a:rPr dirty="0" sz="600" spc="229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3368" y="1388059"/>
            <a:ext cx="6540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(C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200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As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1802" y="1393469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89176" y="1265745"/>
            <a:ext cx="680085" cy="313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0320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latin typeface="Georgia"/>
                <a:cs typeface="Georgia"/>
              </a:rPr>
              <a:t>ReO</a:t>
            </a:r>
            <a:r>
              <a:rPr dirty="0" baseline="35714" sz="1050" spc="-120" i="1">
                <a:latin typeface="Arial"/>
                <a:cs typeface="Arial"/>
              </a:rPr>
              <a:t>−</a:t>
            </a:r>
            <a:r>
              <a:rPr dirty="0" baseline="-19841" sz="1050" spc="-120" b="0">
                <a:latin typeface="Bahnschrift Light"/>
                <a:cs typeface="Bahnschrift Light"/>
              </a:rPr>
              <a:t>4</a:t>
            </a:r>
            <a:endParaRPr baseline="-19841" sz="1050">
              <a:latin typeface="Bahnschrift Light"/>
              <a:cs typeface="Bahnschrift Light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450" spc="-400">
                <a:latin typeface="宋体"/>
                <a:cs typeface="宋体"/>
              </a:rPr>
              <a:t>｀</a:t>
            </a:r>
            <a:r>
              <a:rPr dirty="0" sz="450" spc="3350">
                <a:latin typeface="宋体"/>
                <a:cs typeface="宋体"/>
              </a:rPr>
              <a:t> </a:t>
            </a:r>
            <a:r>
              <a:rPr dirty="0" baseline="24691" sz="675" spc="-150">
                <a:latin typeface="宋体"/>
                <a:cs typeface="宋体"/>
              </a:rPr>
              <a:t>、</a:t>
            </a:r>
            <a:r>
              <a:rPr dirty="0" sz="450" spc="434">
                <a:latin typeface="宋体"/>
                <a:cs typeface="宋体"/>
              </a:rPr>
              <a:t> </a:t>
            </a:r>
            <a:endParaRPr sz="45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5039" y="1471460"/>
            <a:ext cx="3352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6 5</a:t>
            </a:r>
            <a:r>
              <a:rPr dirty="0" sz="600" spc="229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99536" y="1393469"/>
            <a:ext cx="5549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8630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55936" y="148493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7216" y="1388059"/>
            <a:ext cx="12979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5">
                <a:latin typeface="Georgia"/>
                <a:cs typeface="Georgia"/>
              </a:rPr>
              <a:t>((C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5">
                <a:latin typeface="Georgia"/>
                <a:cs typeface="Georgia"/>
              </a:rPr>
              <a:t>As </a:t>
            </a:r>
            <a:r>
              <a:rPr dirty="0" sz="1100" spc="5">
                <a:latin typeface="Georgia"/>
                <a:cs typeface="Georgia"/>
              </a:rPr>
              <a:t>)(ReO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65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442658"/>
            <a:ext cx="4394835" cy="6965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当金属阳离子与简单配位阴离子作用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能形成络阴离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再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与大体积的有机阳离子形成疏水性的离子缔合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4163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氯化四苯砷与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60">
                <a:latin typeface="Georgia"/>
                <a:cs typeface="Georgia"/>
              </a:rPr>
              <a:t>ReO</a:t>
            </a:r>
            <a:r>
              <a:rPr dirty="0" baseline="37037" sz="900" spc="-89" i="1">
                <a:latin typeface="Arial"/>
                <a:cs typeface="Arial"/>
              </a:rPr>
              <a:t>−</a:t>
            </a:r>
            <a:r>
              <a:rPr dirty="0" baseline="-23148" sz="900" spc="-89">
                <a:latin typeface="Times New Roman"/>
                <a:cs typeface="Times New Roman"/>
              </a:rPr>
              <a:t>4</a:t>
            </a:r>
            <a:r>
              <a:rPr dirty="0" baseline="-23148" sz="9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形成如下的离子缔合</a:t>
            </a:r>
            <a:r>
              <a:rPr dirty="0" sz="1200" spc="-90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7305" y="1471460"/>
            <a:ext cx="3352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6 5</a:t>
            </a:r>
            <a:r>
              <a:rPr dirty="0" sz="600" spc="229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3368" y="1388059"/>
            <a:ext cx="6540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>
                <a:latin typeface="Georgia"/>
                <a:cs typeface="Georgia"/>
              </a:rPr>
              <a:t>(C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200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As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1802" y="1393469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89176" y="1265745"/>
            <a:ext cx="680085" cy="313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0320">
              <a:lnSpc>
                <a:spcPct val="100000"/>
              </a:lnSpc>
              <a:spcBef>
                <a:spcPts val="95"/>
              </a:spcBef>
            </a:pPr>
            <a:r>
              <a:rPr dirty="0" sz="1000" spc="-80">
                <a:latin typeface="Georgia"/>
                <a:cs typeface="Georgia"/>
              </a:rPr>
              <a:t>ReO</a:t>
            </a:r>
            <a:r>
              <a:rPr dirty="0" baseline="35714" sz="1050" spc="-120" i="1">
                <a:latin typeface="Arial"/>
                <a:cs typeface="Arial"/>
              </a:rPr>
              <a:t>−</a:t>
            </a:r>
            <a:r>
              <a:rPr dirty="0" baseline="-19841" sz="1050" spc="-120" b="0">
                <a:latin typeface="Bahnschrift Light"/>
                <a:cs typeface="Bahnschrift Light"/>
              </a:rPr>
              <a:t>4</a:t>
            </a:r>
            <a:endParaRPr baseline="-19841" sz="1050">
              <a:latin typeface="Bahnschrift Light"/>
              <a:cs typeface="Bahnschrift Light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450" spc="-400">
                <a:latin typeface="宋体"/>
                <a:cs typeface="宋体"/>
              </a:rPr>
              <a:t>｀</a:t>
            </a:r>
            <a:r>
              <a:rPr dirty="0" sz="450" spc="3350">
                <a:latin typeface="宋体"/>
                <a:cs typeface="宋体"/>
              </a:rPr>
              <a:t> </a:t>
            </a:r>
            <a:r>
              <a:rPr dirty="0" baseline="24691" sz="675" spc="-150">
                <a:latin typeface="宋体"/>
                <a:cs typeface="宋体"/>
              </a:rPr>
              <a:t>、</a:t>
            </a:r>
            <a:r>
              <a:rPr dirty="0" sz="450" spc="434">
                <a:latin typeface="宋体"/>
                <a:cs typeface="宋体"/>
              </a:rPr>
              <a:t> </a:t>
            </a:r>
            <a:endParaRPr sz="45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5039" y="1471460"/>
            <a:ext cx="3352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6 5</a:t>
            </a:r>
            <a:r>
              <a:rPr dirty="0" sz="600" spc="229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99536" y="1393469"/>
            <a:ext cx="5549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8630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55936" y="148493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7216" y="1388059"/>
            <a:ext cx="12979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5">
                <a:latin typeface="Georgia"/>
                <a:cs typeface="Georgia"/>
              </a:rPr>
              <a:t>((C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5">
                <a:latin typeface="Georgia"/>
                <a:cs typeface="Georgia"/>
              </a:rPr>
              <a:t>As </a:t>
            </a:r>
            <a:r>
              <a:rPr dirty="0" sz="1100" spc="5">
                <a:latin typeface="Georgia"/>
                <a:cs typeface="Georgia"/>
              </a:rPr>
              <a:t>)(ReO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444" y="1987905"/>
            <a:ext cx="429577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金属络阴离子也可与含氧的有机溶剂如乙</a:t>
            </a:r>
            <a:r>
              <a:rPr dirty="0" sz="1200" spc="-80">
                <a:latin typeface="Arial Unicode MS"/>
                <a:cs typeface="Arial Unicode MS"/>
              </a:rPr>
              <a:t>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乙酸乙酯等形 </a:t>
            </a:r>
            <a:r>
              <a:rPr dirty="0" sz="1200" spc="-5">
                <a:latin typeface="Arial Unicode MS"/>
                <a:cs typeface="Arial Unicode MS"/>
              </a:rPr>
              <a:t>成疏水性的离子缔合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50">
                <a:latin typeface="Georgia"/>
                <a:cs typeface="Georgia"/>
              </a:rPr>
              <a:t>6M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用乙醚萃取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2+</a:t>
            </a:r>
            <a:r>
              <a:rPr dirty="0" baseline="37037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的过程如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65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599" y="298145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6153" y="199390"/>
            <a:ext cx="204660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2+</a:t>
            </a:r>
            <a:r>
              <a:rPr dirty="0" baseline="37037" sz="900" spc="322">
                <a:latin typeface="Times New Roman"/>
                <a:cs typeface="Times New Roman"/>
              </a:rPr>
              <a:t> </a:t>
            </a:r>
            <a:r>
              <a:rPr dirty="0" sz="1200" spc="-5"/>
              <a:t>形成水合氯铁酸阴离</a:t>
            </a:r>
            <a:r>
              <a:rPr dirty="0" sz="1200" spc="-90"/>
              <a:t>子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8813" y="65895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3164" y="580961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3164" y="67242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0554" y="575551"/>
            <a:ext cx="103949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79450" algn="l"/>
              </a:tabLst>
            </a:pPr>
            <a:r>
              <a:rPr dirty="0" sz="1100" spc="-40">
                <a:latin typeface="Georgia"/>
                <a:cs typeface="Georgia"/>
              </a:rPr>
              <a:t>Fe(H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O)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4Cl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94026" y="580961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63508" y="673621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400">
                <a:latin typeface="宋体"/>
                <a:cs typeface="宋体"/>
              </a:rPr>
              <a:t>｀</a:t>
            </a:r>
            <a:r>
              <a:rPr dirty="0" sz="450" spc="780">
                <a:latin typeface="宋体"/>
                <a:cs typeface="宋体"/>
              </a:rPr>
              <a:t> </a:t>
            </a:r>
            <a:r>
              <a:rPr dirty="0" baseline="24691" sz="675" spc="-622">
                <a:latin typeface="宋体"/>
                <a:cs typeface="宋体"/>
              </a:rPr>
              <a:t>、</a:t>
            </a:r>
            <a:r>
              <a:rPr dirty="0" sz="450" spc="90">
                <a:latin typeface="宋体"/>
                <a:cs typeface="宋体"/>
              </a:rPr>
              <a:t> </a:t>
            </a:r>
            <a:r>
              <a:rPr dirty="0" sz="450" spc="434">
                <a:latin typeface="宋体"/>
                <a:cs typeface="宋体"/>
              </a:rPr>
              <a:t> </a:t>
            </a:r>
            <a:endParaRPr sz="45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85337" y="67242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79712" y="658952"/>
            <a:ext cx="89979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6695" algn="l"/>
                <a:tab pos="84010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56052" y="575551"/>
            <a:ext cx="13627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Fe(H </a:t>
            </a:r>
            <a:r>
              <a:rPr dirty="0" sz="1100" spc="20">
                <a:latin typeface="Georgia"/>
                <a:cs typeface="Georgia"/>
              </a:rPr>
              <a:t>O) </a:t>
            </a:r>
            <a:r>
              <a:rPr dirty="0" sz="1100" spc="95">
                <a:latin typeface="Georgia"/>
                <a:cs typeface="Georgia"/>
              </a:rPr>
              <a:t>Cl</a:t>
            </a:r>
            <a:r>
              <a:rPr dirty="0" baseline="41666" sz="900" spc="142" i="1">
                <a:latin typeface="Arial"/>
                <a:cs typeface="Arial"/>
              </a:rPr>
              <a:t>−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4H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4599" y="1038720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66153" y="939952"/>
            <a:ext cx="366331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-15">
                <a:latin typeface="Georgia"/>
                <a:cs typeface="Georgia"/>
              </a:rPr>
              <a:t>Fe(H</a:t>
            </a:r>
            <a:r>
              <a:rPr dirty="0" baseline="-13888" sz="900" spc="-22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O)</a:t>
            </a:r>
            <a:r>
              <a:rPr dirty="0" baseline="-13888" sz="900" spc="-22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Cl</a:t>
            </a:r>
            <a:r>
              <a:rPr dirty="0" baseline="37037" sz="900" spc="-22" i="1">
                <a:latin typeface="Arial"/>
                <a:cs typeface="Arial"/>
              </a:rPr>
              <a:t>−</a:t>
            </a:r>
            <a:r>
              <a:rPr dirty="0" baseline="-23148" sz="900" spc="-22">
                <a:latin typeface="Times New Roman"/>
                <a:cs typeface="Times New Roman"/>
              </a:rPr>
              <a:t>4</a:t>
            </a:r>
            <a:r>
              <a:rPr dirty="0" baseline="-2314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中的水分子被乙</a:t>
            </a:r>
            <a:r>
              <a:rPr dirty="0" sz="1200" spc="-260">
                <a:latin typeface="Arial Unicode MS"/>
                <a:cs typeface="Arial Unicode MS"/>
              </a:rPr>
              <a:t>醚</a:t>
            </a:r>
            <a:r>
              <a:rPr dirty="0" sz="1200" spc="-5">
                <a:latin typeface="Arial Unicode MS"/>
                <a:cs typeface="Arial Unicode MS"/>
              </a:rPr>
              <a:t>（用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Et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O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</a:t>
            </a:r>
            <a:r>
              <a:rPr dirty="0" sz="1200" spc="30">
                <a:latin typeface="Arial Unicode MS"/>
                <a:cs typeface="Arial Unicode MS"/>
              </a:rPr>
              <a:t>示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取</a:t>
            </a:r>
            <a:r>
              <a:rPr dirty="0" sz="1200" spc="-90">
                <a:latin typeface="Arial Unicode MS"/>
                <a:cs typeface="Arial Unicode MS"/>
              </a:rPr>
              <a:t>代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3481" y="1321536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3481" y="141298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9597" y="1316113"/>
            <a:ext cx="1356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Fe(H </a:t>
            </a:r>
            <a:r>
              <a:rPr dirty="0" sz="1100" spc="20">
                <a:latin typeface="Georgia"/>
                <a:cs typeface="Georgia"/>
              </a:rPr>
              <a:t>O) </a:t>
            </a:r>
            <a:r>
              <a:rPr dirty="0" sz="1100" spc="30">
                <a:latin typeface="Georgia"/>
                <a:cs typeface="Georgia"/>
              </a:rPr>
              <a:t>Cl</a:t>
            </a:r>
            <a:r>
              <a:rPr dirty="0" sz="1100" spc="3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>
                <a:latin typeface="Georgia"/>
                <a:cs typeface="Georgia"/>
              </a:rPr>
              <a:t>2Et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2456" y="1399527"/>
            <a:ext cx="15068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52095" algn="l"/>
                <a:tab pos="909319" algn="l"/>
                <a:tab pos="1185545" algn="l"/>
              </a:tabLst>
            </a:pPr>
            <a:r>
              <a:rPr dirty="0" sz="600" spc="65">
                <a:latin typeface="Times New Roman"/>
                <a:cs typeface="Times New Roman"/>
              </a:rPr>
              <a:t>2	2	2	</a:t>
            </a:r>
            <a:r>
              <a:rPr dirty="0" baseline="6172" sz="675" spc="-600">
                <a:latin typeface="宋体"/>
                <a:cs typeface="宋体"/>
              </a:rPr>
              <a:t>｀</a:t>
            </a:r>
            <a:r>
              <a:rPr dirty="0" baseline="6172" sz="675" spc="1177">
                <a:latin typeface="宋体"/>
                <a:cs typeface="宋体"/>
              </a:rPr>
              <a:t> </a:t>
            </a:r>
            <a:r>
              <a:rPr dirty="0" baseline="30864" sz="675" spc="-622">
                <a:latin typeface="宋体"/>
                <a:cs typeface="宋体"/>
              </a:rPr>
              <a:t>、</a:t>
            </a:r>
            <a:r>
              <a:rPr dirty="0" baseline="6172" sz="675" spc="135">
                <a:latin typeface="宋体"/>
                <a:cs typeface="宋体"/>
              </a:rPr>
              <a:t> </a:t>
            </a:r>
            <a:r>
              <a:rPr dirty="0" baseline="6172" sz="675" spc="652">
                <a:latin typeface="宋体"/>
                <a:cs typeface="宋体"/>
              </a:rPr>
              <a:t> </a:t>
            </a:r>
            <a:endParaRPr baseline="6172" sz="675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20669" y="1399527"/>
            <a:ext cx="2863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669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26282" y="1321536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26282" y="141298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48227" y="139952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78150" y="1316113"/>
            <a:ext cx="1356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Fe(Et </a:t>
            </a:r>
            <a:r>
              <a:rPr dirty="0" sz="1100" spc="20">
                <a:latin typeface="Georgia"/>
                <a:cs typeface="Georgia"/>
              </a:rPr>
              <a:t>O) </a:t>
            </a:r>
            <a:r>
              <a:rPr dirty="0" sz="1100" spc="30">
                <a:latin typeface="Georgia"/>
                <a:cs typeface="Georgia"/>
              </a:rPr>
              <a:t>Cl</a:t>
            </a:r>
            <a:r>
              <a:rPr dirty="0" sz="1100" spc="3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5">
                <a:latin typeface="Georgia"/>
                <a:cs typeface="Georgia"/>
              </a:rPr>
              <a:t>2H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4599" y="1780349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66153" y="1681594"/>
            <a:ext cx="398652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水合氢离子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65">
                <a:latin typeface="Georgia"/>
                <a:cs typeface="Georgia"/>
              </a:rPr>
              <a:t>H</a:t>
            </a:r>
            <a:r>
              <a:rPr dirty="0" baseline="-13888" sz="900" spc="97">
                <a:latin typeface="Times New Roman"/>
                <a:cs typeface="Times New Roman"/>
              </a:rPr>
              <a:t>3</a:t>
            </a:r>
            <a:r>
              <a:rPr dirty="0" sz="1100" spc="65">
                <a:latin typeface="Georgia"/>
                <a:cs typeface="Georgia"/>
              </a:rPr>
              <a:t>O</a:t>
            </a:r>
            <a:r>
              <a:rPr dirty="0" baseline="37037" sz="900" spc="97">
                <a:latin typeface="Times New Roman"/>
                <a:cs typeface="Times New Roman"/>
              </a:rPr>
              <a:t>+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Et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O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结</a:t>
            </a:r>
            <a:r>
              <a:rPr dirty="0" sz="1200" spc="-80">
                <a:latin typeface="Arial Unicode MS"/>
                <a:cs typeface="Arial Unicode MS"/>
              </a:rPr>
              <a:t>合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生成形成佯离子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40">
                <a:latin typeface="Georgia"/>
                <a:cs typeface="Georgia"/>
              </a:rPr>
              <a:t>Et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OH</a:t>
            </a:r>
            <a:r>
              <a:rPr dirty="0" baseline="37037" sz="900" spc="60">
                <a:latin typeface="Times New Roman"/>
                <a:cs typeface="Times New Roman"/>
              </a:rPr>
              <a:t>+</a:t>
            </a:r>
            <a:r>
              <a:rPr dirty="0" sz="1200" spc="40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73111" y="2057755"/>
            <a:ext cx="89598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425"/>
              </a:lnSpc>
              <a:spcBef>
                <a:spcPts val="90"/>
              </a:spcBef>
            </a:pP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3</a:t>
            </a:r>
            <a:r>
              <a:rPr dirty="0" sz="1100" spc="20">
                <a:latin typeface="Georgia"/>
                <a:cs typeface="Georgia"/>
              </a:rPr>
              <a:t>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30">
                <a:latin typeface="Georgia"/>
                <a:cs typeface="Georgia"/>
              </a:rPr>
              <a:t>Et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  <a:p>
            <a:pPr algn="ctr" marR="212090">
              <a:lnSpc>
                <a:spcPts val="290"/>
              </a:lnSpc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  <a:p>
            <a:pPr algn="r" marR="144145">
              <a:lnSpc>
                <a:spcPts val="665"/>
              </a:lnSpc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08250" y="2155825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400">
                <a:latin typeface="宋体"/>
                <a:cs typeface="宋体"/>
              </a:rPr>
              <a:t>｀</a:t>
            </a:r>
            <a:r>
              <a:rPr dirty="0" sz="450" spc="780">
                <a:latin typeface="宋体"/>
                <a:cs typeface="宋体"/>
              </a:rPr>
              <a:t> </a:t>
            </a:r>
            <a:r>
              <a:rPr dirty="0" baseline="24691" sz="675" spc="-622">
                <a:latin typeface="宋体"/>
                <a:cs typeface="宋体"/>
              </a:rPr>
              <a:t>、</a:t>
            </a:r>
            <a:r>
              <a:rPr dirty="0" sz="450" spc="90">
                <a:latin typeface="宋体"/>
                <a:cs typeface="宋体"/>
              </a:rPr>
              <a:t> </a:t>
            </a:r>
            <a:r>
              <a:rPr dirty="0" sz="450" spc="434">
                <a:latin typeface="宋体"/>
                <a:cs typeface="宋体"/>
              </a:rPr>
              <a:t> </a:t>
            </a:r>
            <a:endParaRPr sz="45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00794" y="2057755"/>
            <a:ext cx="100012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425"/>
              </a:lnSpc>
              <a:spcBef>
                <a:spcPts val="90"/>
              </a:spcBef>
            </a:pPr>
            <a:r>
              <a:rPr dirty="0" sz="1100" spc="25">
                <a:latin typeface="Georgia"/>
                <a:cs typeface="Georgia"/>
              </a:rPr>
              <a:t>Et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OH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  <a:p>
            <a:pPr algn="ctr" marR="19685">
              <a:lnSpc>
                <a:spcPts val="290"/>
              </a:lnSpc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  <a:p>
            <a:pPr algn="r" marR="144145">
              <a:lnSpc>
                <a:spcPts val="665"/>
              </a:lnSpc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74599" y="2521991"/>
            <a:ext cx="63233" cy="632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66153" y="2423223"/>
            <a:ext cx="24580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>
                <a:latin typeface="Georgia"/>
                <a:cs typeface="Georgia"/>
              </a:rPr>
              <a:t>Fe(Et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100">
                <a:latin typeface="Georgia"/>
                <a:cs typeface="Georgia"/>
              </a:rPr>
              <a:t>O)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100">
                <a:latin typeface="Georgia"/>
                <a:cs typeface="Georgia"/>
              </a:rPr>
              <a:t>Cl</a:t>
            </a:r>
            <a:r>
              <a:rPr dirty="0" baseline="37037" sz="900" i="1">
                <a:latin typeface="Arial"/>
                <a:cs typeface="Arial"/>
              </a:rPr>
              <a:t>−</a:t>
            </a:r>
            <a:r>
              <a:rPr dirty="0" baseline="-23148" sz="900">
                <a:latin typeface="Times New Roman"/>
                <a:cs typeface="Times New Roman"/>
              </a:rPr>
              <a:t>4</a:t>
            </a:r>
            <a:r>
              <a:rPr dirty="0" baseline="-23148" sz="900" spc="18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与佯离子形成缔合</a:t>
            </a:r>
            <a:r>
              <a:rPr dirty="0" sz="1200" spc="-90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19974" y="289626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14349" y="2882785"/>
            <a:ext cx="87439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6695" algn="l"/>
                <a:tab pos="81470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19974" y="2804807"/>
            <a:ext cx="7581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3735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48661" y="2897467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400">
                <a:latin typeface="宋体"/>
                <a:cs typeface="宋体"/>
              </a:rPr>
              <a:t>｀</a:t>
            </a:r>
            <a:r>
              <a:rPr dirty="0" sz="450" spc="780">
                <a:latin typeface="宋体"/>
                <a:cs typeface="宋体"/>
              </a:rPr>
              <a:t> </a:t>
            </a:r>
            <a:r>
              <a:rPr dirty="0" baseline="24691" sz="675" spc="-622">
                <a:latin typeface="宋体"/>
                <a:cs typeface="宋体"/>
              </a:rPr>
              <a:t>、</a:t>
            </a:r>
            <a:r>
              <a:rPr dirty="0" sz="450" spc="90">
                <a:latin typeface="宋体"/>
                <a:cs typeface="宋体"/>
              </a:rPr>
              <a:t> </a:t>
            </a:r>
            <a:r>
              <a:rPr dirty="0" sz="450" spc="434">
                <a:latin typeface="宋体"/>
                <a:cs typeface="宋体"/>
              </a:rPr>
              <a:t> </a:t>
            </a:r>
            <a:endParaRPr sz="450">
              <a:latin typeface="宋体"/>
              <a:cs typeface="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109950" y="2804807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45561" y="2882785"/>
            <a:ext cx="107823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04545" algn="l"/>
                <a:tab pos="101854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43159" y="2804807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43159" y="289626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1842" y="2799384"/>
            <a:ext cx="35306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983739" algn="l"/>
              </a:tabLst>
            </a:pPr>
            <a:r>
              <a:rPr dirty="0" sz="1100" spc="-5">
                <a:latin typeface="Georgia"/>
                <a:cs typeface="Georgia"/>
              </a:rPr>
              <a:t>Fe(Et  </a:t>
            </a:r>
            <a:r>
              <a:rPr dirty="0" sz="1100" spc="20">
                <a:latin typeface="Georgia"/>
                <a:cs typeface="Georgia"/>
              </a:rPr>
              <a:t>O) </a:t>
            </a:r>
            <a:r>
              <a:rPr dirty="0" sz="1100" spc="30">
                <a:latin typeface="Georgia"/>
                <a:cs typeface="Georgia"/>
              </a:rPr>
              <a:t>Cl </a:t>
            </a:r>
            <a:r>
              <a:rPr dirty="0" sz="1100" spc="3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Et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OH	</a:t>
            </a:r>
            <a:r>
              <a:rPr dirty="0" sz="1100" spc="25">
                <a:latin typeface="Georgia"/>
                <a:cs typeface="Georgia"/>
              </a:rPr>
              <a:t>(Et </a:t>
            </a:r>
            <a:r>
              <a:rPr dirty="0" sz="1100" spc="-25">
                <a:latin typeface="Georgia"/>
                <a:cs typeface="Georgia"/>
              </a:rPr>
              <a:t>OH </a:t>
            </a:r>
            <a:r>
              <a:rPr dirty="0" sz="1100">
                <a:latin typeface="Georgia"/>
                <a:cs typeface="Georgia"/>
              </a:rPr>
              <a:t>)(Fe(Et </a:t>
            </a:r>
            <a:r>
              <a:rPr dirty="0" sz="1100" spc="20">
                <a:latin typeface="Georgia"/>
                <a:cs typeface="Georgia"/>
              </a:rPr>
              <a:t>O) </a:t>
            </a:r>
            <a:r>
              <a:rPr dirty="0" sz="1100" spc="30">
                <a:latin typeface="Georgia"/>
                <a:cs typeface="Georgia"/>
              </a:rPr>
              <a:t>Cl</a:t>
            </a:r>
            <a:r>
              <a:rPr dirty="0" sz="1100" spc="30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65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23063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10.3.3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萃取操</a:t>
            </a:r>
            <a:r>
              <a:rPr dirty="0" sz="1050" spc="-10">
                <a:solidFill>
                  <a:srgbClr val="FFFFFF"/>
                </a:solidFill>
              </a:rPr>
              <a:t>作</a:t>
            </a:r>
            <a:r>
              <a:rPr dirty="0" sz="1050" spc="-5">
                <a:solidFill>
                  <a:srgbClr val="FFFFFF"/>
                </a:solidFill>
              </a:rPr>
              <a:t>方法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01" y="885139"/>
            <a:ext cx="21405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萃取分离法的一般操作步骤</a:t>
            </a:r>
            <a:r>
              <a:rPr dirty="0" sz="1200" spc="-90">
                <a:latin typeface="Arial Unicode MS"/>
                <a:cs typeface="Arial Unicode MS"/>
              </a:rPr>
              <a:t>是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217215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20206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553" y="1105293"/>
            <a:ext cx="405257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移取一定体积的试液于分液漏斗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加入萃取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调节酸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掩蔽剂用量</a:t>
            </a:r>
            <a:r>
              <a:rPr dirty="0" sz="1200" spc="-80">
                <a:latin typeface="Arial Unicode MS"/>
                <a:cs typeface="Arial Unicode MS"/>
              </a:rPr>
              <a:t>等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使萃取条件最</a:t>
            </a:r>
            <a:r>
              <a:rPr dirty="0" sz="1200" spc="-65">
                <a:latin typeface="Arial Unicode MS"/>
                <a:cs typeface="Arial Unicode MS"/>
              </a:rPr>
              <a:t>优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846" y="1702571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2277" y="168742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1553" y="1590649"/>
            <a:ext cx="4129404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盖上顶塞充分振荡数分</a:t>
            </a:r>
            <a:r>
              <a:rPr dirty="0" sz="1200" spc="-285">
                <a:latin typeface="Arial Unicode MS"/>
                <a:cs typeface="Arial Unicode MS"/>
              </a:rPr>
              <a:t>钟</a:t>
            </a:r>
            <a:r>
              <a:rPr dirty="0" sz="1200" spc="-10">
                <a:latin typeface="Arial Unicode MS"/>
                <a:cs typeface="Arial Unicode MS"/>
              </a:rPr>
              <a:t>（注意放</a:t>
            </a:r>
            <a:r>
              <a:rPr dirty="0" sz="1200" spc="25">
                <a:latin typeface="Arial Unicode MS"/>
                <a:cs typeface="Arial Unicode MS"/>
              </a:rPr>
              <a:t>气</a:t>
            </a:r>
            <a:r>
              <a:rPr dirty="0" sz="1200" spc="-655">
                <a:latin typeface="Arial Unicode MS"/>
                <a:cs typeface="Arial Unicode MS"/>
              </a:rPr>
              <a:t>）</a:t>
            </a:r>
            <a:r>
              <a:rPr dirty="0" sz="1200" spc="-260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静置待两相分层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2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打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15">
                <a:latin typeface="Arial Unicode MS"/>
                <a:cs typeface="Arial Unicode MS"/>
              </a:rPr>
              <a:t>开下面的放液旋</a:t>
            </a:r>
            <a:r>
              <a:rPr dirty="0" sz="1200" spc="-85">
                <a:latin typeface="Arial Unicode MS"/>
                <a:cs typeface="Arial Unicode MS"/>
              </a:rPr>
              <a:t>塞</a:t>
            </a:r>
            <a:r>
              <a:rPr dirty="0" sz="1200" spc="-270">
                <a:latin typeface="Arial Unicode MS"/>
                <a:cs typeface="Arial Unicode MS"/>
              </a:rPr>
              <a:t>，</a:t>
            </a:r>
            <a:r>
              <a:rPr dirty="0" sz="1200" spc="-15">
                <a:latin typeface="Arial Unicode MS"/>
                <a:cs typeface="Arial Unicode MS"/>
              </a:rPr>
              <a:t>将下层的水</a:t>
            </a:r>
            <a:r>
              <a:rPr dirty="0" sz="1200" spc="-340">
                <a:latin typeface="Arial Unicode MS"/>
                <a:cs typeface="Arial Unicode MS"/>
              </a:rPr>
              <a:t>相</a:t>
            </a:r>
            <a:r>
              <a:rPr dirty="0" sz="1200" spc="-15">
                <a:latin typeface="Arial Unicode MS"/>
                <a:cs typeface="Arial Unicode MS"/>
              </a:rPr>
              <a:t>（或有机</a:t>
            </a:r>
            <a:r>
              <a:rPr dirty="0" sz="1200" spc="20">
                <a:latin typeface="Arial Unicode MS"/>
                <a:cs typeface="Arial Unicode MS"/>
              </a:rPr>
              <a:t>相</a:t>
            </a:r>
            <a:r>
              <a:rPr dirty="0" sz="1200" spc="-365">
                <a:latin typeface="Arial Unicode MS"/>
                <a:cs typeface="Arial Unicode MS"/>
              </a:rPr>
              <a:t>）</a:t>
            </a:r>
            <a:r>
              <a:rPr dirty="0" sz="1200" spc="-15">
                <a:latin typeface="Arial Unicode MS"/>
                <a:cs typeface="Arial Unicode MS"/>
              </a:rPr>
              <a:t>放入另一容</a:t>
            </a:r>
            <a:r>
              <a:rPr dirty="0" sz="1200" spc="-25">
                <a:latin typeface="Arial Unicode MS"/>
                <a:cs typeface="Arial Unicode MS"/>
              </a:rPr>
              <a:t>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2846" y="2187927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2277" y="217276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1553" y="2075992"/>
            <a:ext cx="409067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如果被萃取物的分配比足够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则一次萃取即可达到分离的</a:t>
            </a:r>
            <a:r>
              <a:rPr dirty="0" sz="1200" spc="-5">
                <a:latin typeface="Arial Unicode MS"/>
                <a:cs typeface="Arial Unicode MS"/>
              </a:rPr>
              <a:t>要 </a:t>
            </a:r>
            <a:r>
              <a:rPr dirty="0" sz="1200" spc="-65">
                <a:latin typeface="Arial Unicode MS"/>
                <a:cs typeface="Arial Unicode MS"/>
              </a:rPr>
              <a:t>求</a:t>
            </a:r>
            <a:r>
              <a:rPr dirty="0" sz="1200" spc="-200">
                <a:latin typeface="Arial Unicode MS"/>
                <a:cs typeface="Arial Unicode MS"/>
              </a:rPr>
              <a:t>；</a:t>
            </a:r>
            <a:r>
              <a:rPr dirty="0" sz="1200" spc="-5">
                <a:latin typeface="Arial Unicode MS"/>
                <a:cs typeface="Arial Unicode MS"/>
              </a:rPr>
              <a:t>如果分配比不够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则将剩余的水相按上述方式重新进行 多次萃取操</a:t>
            </a:r>
            <a:r>
              <a:rPr dirty="0" sz="1200" spc="-20">
                <a:latin typeface="Arial Unicode MS"/>
                <a:cs typeface="Arial Unicode MS"/>
              </a:rPr>
              <a:t>作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95567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可能出现</a:t>
            </a:r>
            <a:r>
              <a:rPr dirty="0" sz="1050" spc="-10">
                <a:solidFill>
                  <a:srgbClr val="FFFFFF"/>
                </a:solidFill>
              </a:rPr>
              <a:t>的</a:t>
            </a:r>
            <a:r>
              <a:rPr dirty="0" sz="1050" spc="-5">
                <a:solidFill>
                  <a:srgbClr val="FFFFFF"/>
                </a:solidFill>
              </a:rPr>
              <a:t>问题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25844" y="1083932"/>
            <a:ext cx="4356735" cy="136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静置分层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有时在两相交界处会出现一层乳浊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其可能</a:t>
            </a: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200" spc="-10">
                <a:latin typeface="Arial Unicode MS"/>
                <a:cs typeface="Arial Unicode MS"/>
              </a:rPr>
              <a:t>原因之一为由于振荡过于激</a:t>
            </a:r>
            <a:r>
              <a:rPr dirty="0" sz="1200" spc="-80">
                <a:latin typeface="Arial Unicode MS"/>
                <a:cs typeface="Arial Unicode MS"/>
              </a:rPr>
              <a:t>烈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使一相高度分散到另一相</a:t>
            </a:r>
            <a:r>
              <a:rPr dirty="0" sz="1200" spc="-70">
                <a:latin typeface="Arial Unicode MS"/>
                <a:cs typeface="Arial Unicode MS"/>
              </a:rPr>
              <a:t>中</a:t>
            </a:r>
            <a:r>
              <a:rPr dirty="0" sz="1200" spc="-215">
                <a:latin typeface="Arial Unicode MS"/>
                <a:cs typeface="Arial Unicode MS"/>
              </a:rPr>
              <a:t>；</a:t>
            </a:r>
            <a:r>
              <a:rPr dirty="0" sz="1200" spc="-10">
                <a:latin typeface="Arial Unicode MS"/>
                <a:cs typeface="Arial Unicode MS"/>
              </a:rPr>
              <a:t>也</a:t>
            </a:r>
            <a:r>
              <a:rPr dirty="0" sz="1200" spc="-5">
                <a:latin typeface="Arial Unicode MS"/>
                <a:cs typeface="Arial Unicode MS"/>
              </a:rPr>
              <a:t>可 </a:t>
            </a:r>
            <a:r>
              <a:rPr dirty="0" sz="1200" spc="-10">
                <a:latin typeface="Arial Unicode MS"/>
                <a:cs typeface="Arial Unicode MS"/>
              </a:rPr>
              <a:t>能是反应中生成了某些微溶化合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既不溶于水</a:t>
            </a:r>
            <a:r>
              <a:rPr dirty="0" sz="1200" spc="-80">
                <a:latin typeface="Arial Unicode MS"/>
                <a:cs typeface="Arial Unicode MS"/>
              </a:rPr>
              <a:t>相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也不溶于有</a:t>
            </a:r>
            <a:r>
              <a:rPr dirty="0" sz="1200" spc="-5">
                <a:latin typeface="Arial Unicode MS"/>
                <a:cs typeface="Arial Unicode MS"/>
              </a:rPr>
              <a:t>机 </a:t>
            </a:r>
            <a:r>
              <a:rPr dirty="0" sz="1200" spc="-20">
                <a:latin typeface="Arial Unicode MS"/>
                <a:cs typeface="Arial Unicode MS"/>
              </a:rPr>
              <a:t>相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320"/>
              </a:spcBef>
            </a:pPr>
            <a:r>
              <a:rPr dirty="0" sz="1200" spc="-10">
                <a:latin typeface="Arial Unicode MS"/>
                <a:cs typeface="Arial Unicode MS"/>
              </a:rPr>
              <a:t>如果出现这种情</a:t>
            </a:r>
            <a:r>
              <a:rPr dirty="0" sz="1200" spc="-80">
                <a:latin typeface="Arial Unicode MS"/>
                <a:cs typeface="Arial Unicode MS"/>
              </a:rPr>
              <a:t>况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可以采用增大有机溶剂的用</a:t>
            </a:r>
            <a:r>
              <a:rPr dirty="0" sz="1200" spc="-80">
                <a:latin typeface="Arial Unicode MS"/>
                <a:cs typeface="Arial Unicode MS"/>
              </a:rPr>
              <a:t>量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加入电</a:t>
            </a:r>
            <a:r>
              <a:rPr dirty="0" sz="1200" spc="-5">
                <a:latin typeface="Arial Unicode MS"/>
                <a:cs typeface="Arial Unicode MS"/>
              </a:rPr>
              <a:t>解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改变溶液酸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减弱振荡的力度等方式消除乳浊</a:t>
            </a:r>
            <a:r>
              <a:rPr dirty="0" sz="1200" spc="-20">
                <a:latin typeface="Arial Unicode MS"/>
                <a:cs typeface="Arial Unicode MS"/>
              </a:rPr>
              <a:t>液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55689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后续处理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25844" y="906195"/>
            <a:ext cx="4387850" cy="18154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6195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对于萃取分离出来的有机</a:t>
            </a:r>
            <a:r>
              <a:rPr dirty="0" sz="1200" spc="-80">
                <a:latin typeface="Arial Unicode MS"/>
                <a:cs typeface="Arial Unicode MS"/>
              </a:rPr>
              <a:t>相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往往要进行洗</a:t>
            </a:r>
            <a:r>
              <a:rPr dirty="0" sz="1200" spc="-80">
                <a:latin typeface="Arial Unicode MS"/>
                <a:cs typeface="Arial Unicode MS"/>
              </a:rPr>
              <a:t>涤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其作用是除</a:t>
            </a:r>
            <a:r>
              <a:rPr dirty="0" sz="1200" spc="-5">
                <a:latin typeface="Arial Unicode MS"/>
                <a:cs typeface="Arial Unicode MS"/>
              </a:rPr>
              <a:t>去 </a:t>
            </a:r>
            <a:r>
              <a:rPr dirty="0" sz="1200" spc="-5">
                <a:latin typeface="Arial Unicode MS"/>
                <a:cs typeface="Arial Unicode MS"/>
              </a:rPr>
              <a:t>少量随被萃取物一同进入有机相的杂</a:t>
            </a:r>
            <a:r>
              <a:rPr dirty="0" sz="1200" spc="-20">
                <a:latin typeface="Arial Unicode MS"/>
                <a:cs typeface="Arial Unicode MS"/>
              </a:rPr>
              <a:t>质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洗涤液的基本组成与试 液相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但不含被萃取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洗涤液的酸度要控制适</a:t>
            </a:r>
            <a:r>
              <a:rPr dirty="0" sz="1200" spc="-80">
                <a:latin typeface="Arial Unicode MS"/>
                <a:cs typeface="Arial Unicode MS"/>
              </a:rPr>
              <a:t>当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洗涤液与有 机相振荡的时间不宜过</a:t>
            </a:r>
            <a:r>
              <a:rPr dirty="0" sz="1200" spc="-80">
                <a:latin typeface="Arial Unicode MS"/>
                <a:cs typeface="Arial Unicode MS"/>
              </a:rPr>
              <a:t>长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洗涤次数一般为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20">
                <a:latin typeface="Arial Unicode MS"/>
                <a:cs typeface="Arial Unicode MS"/>
              </a:rPr>
              <a:t>次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 marR="50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被萃取物的后续处理方式取决于分析的目</a:t>
            </a:r>
            <a:r>
              <a:rPr dirty="0" sz="1200" spc="-20">
                <a:latin typeface="Arial Unicode MS"/>
                <a:cs typeface="Arial Unicode MS"/>
              </a:rPr>
              <a:t>的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如果是用于光 </a:t>
            </a:r>
            <a:r>
              <a:rPr dirty="0" sz="1200" spc="-10">
                <a:latin typeface="Arial Unicode MS"/>
                <a:cs typeface="Arial Unicode MS"/>
              </a:rPr>
              <a:t>度法测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则一般不须进行额外的处</a:t>
            </a:r>
            <a:r>
              <a:rPr dirty="0" sz="1200" spc="-20">
                <a:latin typeface="Arial Unicode MS"/>
                <a:cs typeface="Arial Unicode MS"/>
              </a:rPr>
              <a:t>理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如果萃取的目的仅仅是</a:t>
            </a:r>
            <a:r>
              <a:rPr dirty="0" sz="1200" spc="-5">
                <a:latin typeface="Arial Unicode MS"/>
                <a:cs typeface="Arial Unicode MS"/>
              </a:rPr>
              <a:t>为 </a:t>
            </a:r>
            <a:r>
              <a:rPr dirty="0" sz="1200" spc="-5">
                <a:latin typeface="Arial Unicode MS"/>
                <a:cs typeface="Arial Unicode MS"/>
              </a:rPr>
              <a:t>了分</a:t>
            </a:r>
            <a:r>
              <a:rPr dirty="0" sz="1200" spc="-80">
                <a:latin typeface="Arial Unicode MS"/>
                <a:cs typeface="Arial Unicode MS"/>
              </a:rPr>
              <a:t>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则通常需通过反萃取的方式使被萃取物重新转入水相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， </a:t>
            </a:r>
            <a:r>
              <a:rPr dirty="0" sz="1200" spc="-5">
                <a:latin typeface="Arial Unicode MS"/>
                <a:cs typeface="Arial Unicode MS"/>
              </a:rPr>
              <a:t>再进行后续的分</a:t>
            </a:r>
            <a:r>
              <a:rPr dirty="0" sz="1200" spc="-20">
                <a:latin typeface="Arial Unicode MS"/>
                <a:cs typeface="Arial Unicode MS"/>
              </a:rPr>
              <a:t>析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反萃取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44" y="1206868"/>
            <a:ext cx="4432935" cy="10591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反萃取的作用是破坏被萃取物的疏水</a:t>
            </a:r>
            <a:r>
              <a:rPr dirty="0" sz="1200" spc="-20">
                <a:latin typeface="Arial Unicode MS"/>
                <a:cs typeface="Arial Unicode MS"/>
              </a:rPr>
              <a:t>性</a:t>
            </a:r>
            <a:r>
              <a:rPr dirty="0" sz="1200" spc="-26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r>
              <a:rPr dirty="0" sz="1100" spc="-5">
                <a:latin typeface="Georgia"/>
                <a:cs typeface="Georgia"/>
              </a:rPr>
              <a:t>Fe</a:t>
            </a:r>
            <a:r>
              <a:rPr dirty="0" baseline="37037" sz="900" spc="-7">
                <a:latin typeface="Times New Roman"/>
                <a:cs typeface="Times New Roman"/>
              </a:rPr>
              <a:t>3+</a:t>
            </a:r>
            <a:r>
              <a:rPr dirty="0" baseline="37037" sz="900" spc="89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在盐酸</a:t>
            </a:r>
            <a:r>
              <a:rPr dirty="0" sz="1200" spc="-5">
                <a:latin typeface="Arial Unicode MS"/>
                <a:cs typeface="Arial Unicode MS"/>
              </a:rPr>
              <a:t>介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质中形成的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FeCl</a:t>
            </a:r>
            <a:r>
              <a:rPr dirty="0" baseline="37037" sz="900" spc="-82" i="1">
                <a:latin typeface="Arial"/>
                <a:cs typeface="Arial"/>
              </a:rPr>
              <a:t>−</a:t>
            </a:r>
            <a:r>
              <a:rPr dirty="0" baseline="-23148" sz="900" spc="-82">
                <a:latin typeface="Times New Roman"/>
                <a:cs typeface="Times New Roman"/>
              </a:rPr>
              <a:t>4</a:t>
            </a:r>
            <a:r>
              <a:rPr dirty="0" baseline="-23148" sz="900" spc="-2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可与甲基异丙酮结合成佯盐而被萃</a:t>
            </a:r>
            <a:r>
              <a:rPr dirty="0" sz="1200" spc="-20">
                <a:latin typeface="Arial Unicode MS"/>
                <a:cs typeface="Arial Unicode MS"/>
              </a:rPr>
              <a:t>取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543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要对被萃取物进行反萃</a:t>
            </a:r>
            <a:r>
              <a:rPr dirty="0" sz="1200" spc="-80">
                <a:latin typeface="Arial Unicode MS"/>
                <a:cs typeface="Arial Unicode MS"/>
              </a:rPr>
              <a:t>取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可采用酸度较低的水相与有机相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进行萃取操</a:t>
            </a:r>
            <a:r>
              <a:rPr dirty="0" sz="1200" spc="-80">
                <a:latin typeface="Arial Unicode MS"/>
                <a:cs typeface="Arial Unicode MS"/>
              </a:rPr>
              <a:t>作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则有机相的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将定量转入水</a:t>
            </a:r>
            <a:r>
              <a:rPr dirty="0" sz="1200" spc="-20">
                <a:latin typeface="Arial Unicode MS"/>
                <a:cs typeface="Arial Unicode MS"/>
              </a:rPr>
              <a:t>相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878964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10.4</a:t>
            </a:r>
            <a:r>
              <a:rPr dirty="0" sz="1400" spc="2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离子交换分离法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94156"/>
            <a:ext cx="4356735" cy="1591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离子交换分离法是通过离子交换剂与溶液中的离子发生交换 </a:t>
            </a:r>
            <a:r>
              <a:rPr dirty="0" sz="1200" spc="-10">
                <a:latin typeface="Arial Unicode MS"/>
                <a:cs typeface="Arial Unicode MS"/>
              </a:rPr>
              <a:t>反应而实现分离的一种方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其突出优点是分离效果</a:t>
            </a:r>
            <a:r>
              <a:rPr dirty="0" sz="1200" spc="-80">
                <a:latin typeface="Arial Unicode MS"/>
                <a:cs typeface="Arial Unicode MS"/>
              </a:rPr>
              <a:t>好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不仅用</a:t>
            </a:r>
            <a:r>
              <a:rPr dirty="0" sz="1200" spc="-5">
                <a:latin typeface="Arial Unicode MS"/>
                <a:cs typeface="Arial Unicode MS"/>
              </a:rPr>
              <a:t>于 </a:t>
            </a:r>
            <a:r>
              <a:rPr dirty="0" sz="1200" spc="-5">
                <a:latin typeface="Arial Unicode MS"/>
                <a:cs typeface="Arial Unicode MS"/>
              </a:rPr>
              <a:t>带相反电荷的离子之间的分</a:t>
            </a:r>
            <a:r>
              <a:rPr dirty="0" sz="1200" spc="-80">
                <a:latin typeface="Arial Unicode MS"/>
                <a:cs typeface="Arial Unicode MS"/>
              </a:rPr>
              <a:t>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还可用于带同种电荷离子间的分 </a:t>
            </a:r>
            <a:r>
              <a:rPr dirty="0" sz="1200" spc="-80">
                <a:latin typeface="Arial Unicode MS"/>
                <a:cs typeface="Arial Unicode MS"/>
              </a:rPr>
              <a:t>离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特别是可用于性质相近离子之间的分</a:t>
            </a:r>
            <a:r>
              <a:rPr dirty="0" sz="1200" spc="-80">
                <a:latin typeface="Arial Unicode MS"/>
                <a:cs typeface="Arial Unicode MS"/>
              </a:rPr>
              <a:t>离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它还用于微量或痕</a:t>
            </a:r>
            <a:r>
              <a:rPr dirty="0" sz="1200" spc="-5">
                <a:latin typeface="Arial Unicode MS"/>
                <a:cs typeface="Arial Unicode MS"/>
              </a:rPr>
              <a:t>量 </a:t>
            </a:r>
            <a:r>
              <a:rPr dirty="0" sz="1200" spc="-5">
                <a:latin typeface="Arial Unicode MS"/>
                <a:cs typeface="Arial Unicode MS"/>
              </a:rPr>
              <a:t>组分的富集和高纯物质的制备</a:t>
            </a:r>
            <a:r>
              <a:rPr dirty="0" sz="1200" spc="-20">
                <a:latin typeface="Arial Unicode MS"/>
                <a:cs typeface="Arial Unicode MS"/>
              </a:rPr>
              <a:t>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离子交换剂有无机离子交换剂和有机离子交换剂两大</a:t>
            </a:r>
            <a:r>
              <a:rPr dirty="0" sz="1200" spc="-80">
                <a:latin typeface="Arial Unicode MS"/>
                <a:cs typeface="Arial Unicode MS"/>
              </a:rPr>
              <a:t>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分析化学中使用最多的还是有机离子交换</a:t>
            </a:r>
            <a:r>
              <a:rPr dirty="0" sz="1200" spc="-20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36334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Georgia"/>
                <a:cs typeface="Georgia"/>
              </a:rPr>
              <a:t>10.4.1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有机离</a:t>
            </a:r>
            <a:r>
              <a:rPr dirty="0" sz="1050" spc="-10">
                <a:solidFill>
                  <a:srgbClr val="FFFFFF"/>
                </a:solidFill>
              </a:rPr>
              <a:t>子</a:t>
            </a:r>
            <a:r>
              <a:rPr dirty="0" sz="1050" spc="-5">
                <a:solidFill>
                  <a:srgbClr val="FFFFFF"/>
                </a:solidFill>
              </a:rPr>
              <a:t>交换剂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86002"/>
            <a:ext cx="4244975" cy="136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有机离子交换剂又称离子交换树</a:t>
            </a:r>
            <a:r>
              <a:rPr dirty="0" sz="1200" spc="-80">
                <a:latin typeface="Arial Unicode MS"/>
                <a:cs typeface="Arial Unicode MS"/>
              </a:rPr>
              <a:t>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是一种具有网状结构的 </a:t>
            </a:r>
            <a:r>
              <a:rPr dirty="0" sz="1200" spc="-5">
                <a:latin typeface="Arial Unicode MS"/>
                <a:cs typeface="Arial Unicode MS"/>
              </a:rPr>
              <a:t>高分子固体化合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有机离子交换剂具有很好的化学稳定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 </a:t>
            </a:r>
            <a:r>
              <a:rPr dirty="0" sz="1200" spc="-80">
                <a:latin typeface="Arial Unicode MS"/>
                <a:cs typeface="Arial Unicode MS"/>
              </a:rPr>
              <a:t>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酸和碱中难</a:t>
            </a:r>
            <a:r>
              <a:rPr dirty="0" sz="1200" spc="-80">
                <a:latin typeface="Arial Unicode MS"/>
                <a:cs typeface="Arial Unicode MS"/>
              </a:rPr>
              <a:t>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也不易与其它化学试剂反</a:t>
            </a:r>
            <a:r>
              <a:rPr dirty="0" sz="1200" spc="-2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12700" marR="50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在有机离子交换剂的骨架上有许多活性基</a:t>
            </a:r>
            <a:r>
              <a:rPr dirty="0" sz="1200" spc="-80">
                <a:latin typeface="Arial Unicode MS"/>
                <a:cs typeface="Arial Unicode MS"/>
              </a:rPr>
              <a:t>团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根据活性基团 上可电离的离子为阳离子或阴离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又可分为阳离子交换树脂和 </a:t>
            </a:r>
            <a:r>
              <a:rPr dirty="0" sz="1200" spc="-5">
                <a:latin typeface="Arial Unicode MS"/>
                <a:cs typeface="Arial Unicode MS"/>
              </a:rPr>
              <a:t>阴离子交换树</a:t>
            </a:r>
            <a:r>
              <a:rPr dirty="0" sz="1200" spc="-20">
                <a:latin typeface="Arial Unicode MS"/>
                <a:cs typeface="Arial Unicode MS"/>
              </a:rPr>
              <a:t>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87" y="192722"/>
            <a:ext cx="5937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95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dirty="0" sz="1050" spc="-25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结构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44" y="732104"/>
            <a:ext cx="4495800" cy="10591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聚苯乙烯磺酸基型阳离子交换树脂是广泛应用的阳离子交换</a:t>
            </a:r>
            <a:endParaRPr sz="1200">
              <a:latin typeface="Arial Unicode MS"/>
              <a:cs typeface="Arial Unicode MS"/>
            </a:endParaRPr>
          </a:p>
          <a:p>
            <a:pPr marL="50165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树</a:t>
            </a:r>
            <a:r>
              <a:rPr dirty="0" sz="1200" spc="-80">
                <a:latin typeface="Arial Unicode MS"/>
                <a:cs typeface="Arial Unicode MS"/>
              </a:rPr>
              <a:t>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它是用苯乙烯和二乙烯苯聚</a:t>
            </a:r>
            <a:r>
              <a:rPr dirty="0" sz="1200" spc="-80">
                <a:latin typeface="Arial Unicode MS"/>
                <a:cs typeface="Arial Unicode MS"/>
              </a:rPr>
              <a:t>合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并经硫酸磺化反应制</a:t>
            </a:r>
            <a:r>
              <a:rPr dirty="0" sz="1200" spc="-20">
                <a:latin typeface="Arial Unicode MS"/>
                <a:cs typeface="Arial Unicode MS"/>
              </a:rPr>
              <a:t>成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543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苯乙烯和二乙烯苯的分子之间互相连接形成网状结构的骨</a:t>
            </a:r>
            <a:r>
              <a:rPr dirty="0" sz="1200" spc="-80">
                <a:latin typeface="Arial Unicode MS"/>
                <a:cs typeface="Arial Unicode MS"/>
              </a:rPr>
              <a:t>架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上面连有活性的磺酸基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SO</a:t>
            </a:r>
            <a:r>
              <a:rPr dirty="0" baseline="-13888" sz="900">
                <a:latin typeface="Times New Roman"/>
                <a:cs typeface="Times New Roman"/>
              </a:rPr>
              <a:t>3</a:t>
            </a:r>
            <a:r>
              <a:rPr dirty="0" sz="1100">
                <a:latin typeface="Georgia"/>
                <a:cs typeface="Georgia"/>
              </a:rPr>
              <a:t>H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由于磺酸基是直接连接到聚合物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603" y="191710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756" y="1806943"/>
            <a:ext cx="21710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的骨架</a:t>
            </a:r>
            <a:r>
              <a:rPr dirty="0" sz="1200" spc="-80">
                <a:latin typeface="Arial Unicode MS"/>
                <a:cs typeface="Arial Unicode MS"/>
              </a:rPr>
              <a:t>上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100">
                <a:latin typeface="Lucida Sans Unicode"/>
                <a:cs typeface="Lucida Sans Unicode"/>
              </a:rPr>
              <a:t>−</a:t>
            </a:r>
            <a:r>
              <a:rPr dirty="0" sz="1100">
                <a:latin typeface="Georgia"/>
                <a:cs typeface="Georgia"/>
              </a:rPr>
              <a:t>SO</a:t>
            </a:r>
            <a:r>
              <a:rPr dirty="0" baseline="37037" sz="900" i="1">
                <a:latin typeface="Arial"/>
                <a:cs typeface="Arial"/>
              </a:rPr>
              <a:t>−</a:t>
            </a:r>
            <a:r>
              <a:rPr dirty="0" baseline="37037" sz="900" spc="67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不能进入溶液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04071" y="1832572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3097" y="1806943"/>
            <a:ext cx="22186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离子却可以解</a:t>
            </a:r>
            <a:r>
              <a:rPr dirty="0" sz="1200" spc="-80">
                <a:latin typeface="Arial Unicode MS"/>
                <a:cs typeface="Arial Unicode MS"/>
              </a:rPr>
              <a:t>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并与溶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56" y="2030641"/>
            <a:ext cx="24123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液中的阳离子发生交换反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2234" y="250367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6190" y="2406802"/>
            <a:ext cx="10198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R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5">
                <a:latin typeface="Georgia"/>
                <a:cs typeface="Georgia"/>
              </a:rPr>
              <a:t>SO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85">
                <a:latin typeface="Georgia"/>
                <a:cs typeface="Georgia"/>
              </a:rPr>
              <a:t>K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2234" y="2412225"/>
            <a:ext cx="6343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9910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    </a:t>
            </a:r>
            <a:r>
              <a:rPr dirty="0" sz="600" spc="30" i="1">
                <a:latin typeface="Arial"/>
                <a:cs typeface="Arial"/>
              </a:rPr>
              <a:t> 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27364" y="2504885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400">
                <a:latin typeface="宋体"/>
                <a:cs typeface="宋体"/>
              </a:rPr>
              <a:t>｀</a:t>
            </a:r>
            <a:r>
              <a:rPr dirty="0" sz="450" spc="780">
                <a:latin typeface="宋体"/>
                <a:cs typeface="宋体"/>
              </a:rPr>
              <a:t> </a:t>
            </a:r>
            <a:r>
              <a:rPr dirty="0" baseline="24691" sz="675" spc="-622">
                <a:latin typeface="宋体"/>
                <a:cs typeface="宋体"/>
              </a:rPr>
              <a:t>、</a:t>
            </a:r>
            <a:r>
              <a:rPr dirty="0" sz="450" spc="90">
                <a:latin typeface="宋体"/>
                <a:cs typeface="宋体"/>
              </a:rPr>
              <a:t> </a:t>
            </a:r>
            <a:r>
              <a:rPr dirty="0" sz="450" spc="434">
                <a:latin typeface="宋体"/>
                <a:cs typeface="宋体"/>
              </a:rPr>
              <a:t> </a:t>
            </a:r>
            <a:endParaRPr sz="45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01352" y="250367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45308" y="2406802"/>
            <a:ext cx="10198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R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5">
                <a:latin typeface="Georgia"/>
                <a:cs typeface="Georgia"/>
              </a:rPr>
              <a:t>SO </a:t>
            </a:r>
            <a:r>
              <a:rPr dirty="0" sz="1100" spc="85">
                <a:latin typeface="Georgia"/>
                <a:cs typeface="Georgia"/>
              </a:rPr>
              <a:t>K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01352" y="2412225"/>
            <a:ext cx="63436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9910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    </a:t>
            </a:r>
            <a:r>
              <a:rPr dirty="0" sz="600" spc="60" i="1">
                <a:latin typeface="Arial"/>
                <a:cs typeface="Arial"/>
              </a:rPr>
              <a:t> 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856" y="2770911"/>
            <a:ext cx="150685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中，</a:t>
            </a:r>
            <a:r>
              <a:rPr dirty="0" sz="1100" spc="-80">
                <a:latin typeface="Georgia"/>
                <a:cs typeface="Georgia"/>
              </a:rPr>
              <a:t>R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代表树脂</a:t>
            </a:r>
            <a:r>
              <a:rPr dirty="0" sz="1200" spc="-20">
                <a:latin typeface="Arial Unicode MS"/>
                <a:cs typeface="Arial Unicode MS"/>
              </a:rPr>
              <a:t>相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44" y="436168"/>
            <a:ext cx="4407535" cy="920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阴离子交换树脂的基本结构与阳离子交换树脂类</a:t>
            </a:r>
            <a:r>
              <a:rPr dirty="0" spc="-80"/>
              <a:t>似</a:t>
            </a:r>
            <a:r>
              <a:rPr dirty="0" spc="-185"/>
              <a:t>，</a:t>
            </a:r>
            <a:r>
              <a:rPr dirty="0" spc="-5"/>
              <a:t>不同之 </a:t>
            </a:r>
            <a:r>
              <a:rPr dirty="0" spc="-10"/>
              <a:t>处是其骨架上连接的活性基团是碱性基</a:t>
            </a:r>
            <a:r>
              <a:rPr dirty="0" spc="-20"/>
              <a:t>团</a:t>
            </a:r>
            <a:r>
              <a:rPr dirty="0" spc="-254"/>
              <a:t>。</a:t>
            </a:r>
            <a:r>
              <a:rPr dirty="0" spc="-10"/>
              <a:t>例</a:t>
            </a:r>
            <a:r>
              <a:rPr dirty="0" spc="-80"/>
              <a:t>如</a:t>
            </a:r>
            <a:r>
              <a:rPr dirty="0" spc="-204"/>
              <a:t>，</a:t>
            </a:r>
            <a:r>
              <a:rPr dirty="0" spc="-10"/>
              <a:t>如果活性基团</a:t>
            </a:r>
            <a:r>
              <a:rPr dirty="0" spc="-5"/>
              <a:t>为 </a:t>
            </a:r>
            <a:r>
              <a:rPr dirty="0" spc="-5"/>
              <a:t>伯氨基</a:t>
            </a:r>
            <a:r>
              <a:rPr dirty="0" spc="-10"/>
              <a:t> </a:t>
            </a:r>
            <a:r>
              <a:rPr dirty="0" sz="1100" spc="-60">
                <a:latin typeface="Lucida Sans Unicode"/>
                <a:cs typeface="Lucida Sans Unicode"/>
              </a:rPr>
              <a:t>−</a:t>
            </a:r>
            <a:r>
              <a:rPr dirty="0" sz="1100" spc="-60">
                <a:latin typeface="Georgia"/>
                <a:cs typeface="Georgia"/>
              </a:rPr>
              <a:t>NH</a:t>
            </a:r>
            <a:r>
              <a:rPr dirty="0" baseline="-13888" sz="900" spc="-89">
                <a:latin typeface="Times New Roman"/>
                <a:cs typeface="Times New Roman"/>
              </a:rPr>
              <a:t>2</a:t>
            </a:r>
            <a:r>
              <a:rPr dirty="0" sz="1200" spc="-60"/>
              <a:t>，</a:t>
            </a:r>
            <a:r>
              <a:rPr dirty="0" sz="1200" spc="-5"/>
              <a:t>则此树脂属于弱碱性阴离子交换树</a:t>
            </a:r>
            <a:r>
              <a:rPr dirty="0" sz="1200" spc="-80"/>
              <a:t>脂</a:t>
            </a:r>
            <a:r>
              <a:rPr dirty="0" sz="1200" spc="-185"/>
              <a:t>，</a:t>
            </a:r>
            <a:r>
              <a:rPr dirty="0" sz="1200" spc="-5"/>
              <a:t>它在水中首 先发生如下的水化反</a:t>
            </a:r>
            <a:r>
              <a:rPr dirty="0" sz="1200" spc="-90"/>
              <a:t>应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4477" y="1608328"/>
            <a:ext cx="9486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63855" algn="l"/>
                <a:tab pos="639445" algn="l"/>
              </a:tabLst>
            </a:pPr>
            <a:r>
              <a:rPr dirty="0" sz="600" spc="65">
                <a:latin typeface="Times New Roman"/>
                <a:cs typeface="Times New Roman"/>
              </a:rPr>
              <a:t>2	2	</a:t>
            </a:r>
            <a:r>
              <a:rPr dirty="0" baseline="6172" sz="675" spc="-600">
                <a:latin typeface="宋体"/>
                <a:cs typeface="宋体"/>
              </a:rPr>
              <a:t>｀</a:t>
            </a:r>
            <a:r>
              <a:rPr dirty="0" baseline="6172" sz="675" spc="1170">
                <a:latin typeface="宋体"/>
                <a:cs typeface="宋体"/>
              </a:rPr>
              <a:t> </a:t>
            </a:r>
            <a:r>
              <a:rPr dirty="0" baseline="30864" sz="675" spc="-622">
                <a:latin typeface="宋体"/>
                <a:cs typeface="宋体"/>
              </a:rPr>
              <a:t>、</a:t>
            </a:r>
            <a:r>
              <a:rPr dirty="0" baseline="6172" sz="675" spc="135">
                <a:latin typeface="宋体"/>
                <a:cs typeface="宋体"/>
              </a:rPr>
              <a:t> </a:t>
            </a:r>
            <a:r>
              <a:rPr dirty="0" baseline="6172" sz="675" spc="652">
                <a:latin typeface="宋体"/>
                <a:cs typeface="宋体"/>
              </a:rPr>
              <a:t> </a:t>
            </a:r>
            <a:endParaRPr baseline="6172" sz="675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83445" y="162180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0744" y="1524927"/>
            <a:ext cx="2267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85900" algn="l"/>
              </a:tabLst>
            </a:pPr>
            <a:r>
              <a:rPr dirty="0" sz="1100" spc="30">
                <a:latin typeface="Georgia"/>
                <a:cs typeface="Georgia"/>
              </a:rPr>
              <a:t>R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55">
                <a:latin typeface="Georgia"/>
                <a:cs typeface="Georgia"/>
              </a:rPr>
              <a:t>NH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3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R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55">
                <a:latin typeface="Georgia"/>
                <a:cs typeface="Georgia"/>
              </a:rPr>
              <a:t>NH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OH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83445" y="1530350"/>
            <a:ext cx="3879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625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4113" y="1891919"/>
            <a:ext cx="41001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基团中的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OH</a:t>
            </a:r>
            <a:r>
              <a:rPr dirty="0" baseline="37037" sz="900" spc="82" i="1">
                <a:latin typeface="Arial"/>
                <a:cs typeface="Arial"/>
              </a:rPr>
              <a:t>−</a:t>
            </a:r>
            <a:r>
              <a:rPr dirty="0" baseline="37037" sz="900" spc="345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可以与溶液中的阴离子如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95">
                <a:latin typeface="Georgia"/>
                <a:cs typeface="Georgia"/>
              </a:rPr>
              <a:t>Cl</a:t>
            </a:r>
            <a:r>
              <a:rPr dirty="0" baseline="37037" sz="900" spc="142" i="1">
                <a:latin typeface="Arial"/>
                <a:cs typeface="Arial"/>
              </a:rPr>
              <a:t>−</a:t>
            </a:r>
            <a:r>
              <a:rPr dirty="0" baseline="37037" sz="900" spc="345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发生交换反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1582" y="236495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1582" y="2273503"/>
            <a:ext cx="7753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625" algn="l"/>
                <a:tab pos="688340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27364" y="2366162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400">
                <a:latin typeface="宋体"/>
                <a:cs typeface="宋体"/>
              </a:rPr>
              <a:t>｀</a:t>
            </a:r>
            <a:r>
              <a:rPr dirty="0" sz="450" spc="780">
                <a:latin typeface="宋体"/>
                <a:cs typeface="宋体"/>
              </a:rPr>
              <a:t> </a:t>
            </a:r>
            <a:r>
              <a:rPr dirty="0" baseline="24691" sz="675" spc="-622">
                <a:latin typeface="宋体"/>
                <a:cs typeface="宋体"/>
              </a:rPr>
              <a:t>、</a:t>
            </a:r>
            <a:r>
              <a:rPr dirty="0" sz="450" spc="90">
                <a:latin typeface="宋体"/>
                <a:cs typeface="宋体"/>
              </a:rPr>
              <a:t> </a:t>
            </a:r>
            <a:r>
              <a:rPr dirty="0" sz="450" spc="434">
                <a:latin typeface="宋体"/>
                <a:cs typeface="宋体"/>
              </a:rPr>
              <a:t> </a:t>
            </a:r>
            <a:endParaRPr sz="45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24441" y="236495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2449" y="2268080"/>
            <a:ext cx="29241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755139" algn="l"/>
              </a:tabLst>
            </a:pPr>
            <a:r>
              <a:rPr dirty="0" sz="1100" spc="30">
                <a:latin typeface="Georgia"/>
                <a:cs typeface="Georgia"/>
              </a:rPr>
              <a:t>R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55">
                <a:latin typeface="Georgia"/>
                <a:cs typeface="Georgia"/>
              </a:rPr>
              <a:t>NH   </a:t>
            </a:r>
            <a:r>
              <a:rPr dirty="0" sz="1100" spc="-25">
                <a:latin typeface="Georgia"/>
                <a:cs typeface="Georgia"/>
              </a:rPr>
              <a:t>OH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Cl	R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-55">
                <a:latin typeface="Georgia"/>
                <a:cs typeface="Georgia"/>
              </a:rPr>
              <a:t>NH </a:t>
            </a:r>
            <a:r>
              <a:rPr dirty="0" sz="1100" spc="30">
                <a:latin typeface="Georgia"/>
                <a:cs typeface="Georgia"/>
              </a:rPr>
              <a:t>Cl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OH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24441" y="2273503"/>
            <a:ext cx="7753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7965" algn="l"/>
                <a:tab pos="688340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44" y="876236"/>
            <a:ext cx="43840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弱碱型树脂对 </a:t>
            </a:r>
            <a:r>
              <a:rPr dirty="0" sz="1100" spc="55">
                <a:latin typeface="Georgia"/>
                <a:cs typeface="Georgia"/>
              </a:rPr>
              <a:t>OH</a:t>
            </a:r>
            <a:r>
              <a:rPr dirty="0" baseline="37037" sz="900" spc="82" i="1">
                <a:latin typeface="Arial"/>
                <a:cs typeface="Arial"/>
              </a:rPr>
              <a:t>−</a:t>
            </a:r>
            <a:r>
              <a:rPr dirty="0" baseline="37037" sz="900" spc="307" i="1">
                <a:latin typeface="Arial"/>
                <a:cs typeface="Arial"/>
              </a:rPr>
              <a:t> </a:t>
            </a:r>
            <a:r>
              <a:rPr dirty="0" sz="1200" spc="-5"/>
              <a:t>的亲和力</a:t>
            </a:r>
            <a:r>
              <a:rPr dirty="0" sz="1200" spc="-80"/>
              <a:t>大</a:t>
            </a:r>
            <a:r>
              <a:rPr dirty="0" sz="1200" spc="-185"/>
              <a:t>，</a:t>
            </a:r>
            <a:r>
              <a:rPr dirty="0" sz="1200" spc="-5"/>
              <a:t>故不宜在碱性溶液中使</a:t>
            </a:r>
            <a:r>
              <a:rPr dirty="0" sz="1200" spc="-20"/>
              <a:t>用</a:t>
            </a:r>
            <a:r>
              <a:rPr dirty="0" sz="1200" spc="-5"/>
              <a:t>。 </a:t>
            </a:r>
            <a:r>
              <a:rPr dirty="0" sz="1200" spc="-5"/>
              <a:t>相对而</a:t>
            </a:r>
            <a:r>
              <a:rPr dirty="0" sz="1200" spc="-80"/>
              <a:t>言</a:t>
            </a:r>
            <a:r>
              <a:rPr dirty="0" sz="1200" spc="-185"/>
              <a:t>，</a:t>
            </a:r>
            <a:r>
              <a:rPr dirty="0" sz="1200" spc="-5"/>
              <a:t>强碱性阴离子交换树脂应用较</a:t>
            </a:r>
            <a:r>
              <a:rPr dirty="0" sz="1200" spc="-80"/>
              <a:t>广</a:t>
            </a:r>
            <a:r>
              <a:rPr dirty="0" sz="1200" spc="-185"/>
              <a:t>，</a:t>
            </a:r>
            <a:r>
              <a:rPr dirty="0" sz="1200" spc="-5"/>
              <a:t>在酸</a:t>
            </a:r>
            <a:r>
              <a:rPr dirty="0" sz="1200" spc="-80"/>
              <a:t>性</a:t>
            </a:r>
            <a:r>
              <a:rPr dirty="0" sz="1200" spc="-185"/>
              <a:t>，</a:t>
            </a:r>
            <a:r>
              <a:rPr dirty="0" sz="1200" spc="-5"/>
              <a:t>中性和碱性 </a:t>
            </a:r>
            <a:r>
              <a:rPr dirty="0" sz="1200" spc="-5"/>
              <a:t>溶液中都能使</a:t>
            </a:r>
            <a:r>
              <a:rPr dirty="0" sz="1200" spc="-20"/>
              <a:t>用</a:t>
            </a:r>
            <a:r>
              <a:rPr dirty="0" sz="1200" spc="-235"/>
              <a:t>。</a:t>
            </a:r>
            <a:r>
              <a:rPr dirty="0" sz="1200" spc="-5"/>
              <a:t>强碱性阴离子交换树脂上的活性基团通常为强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4949" y="168551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1540" y="169899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3190" y="1602117"/>
            <a:ext cx="6750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N(CH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35">
                <a:latin typeface="Georgia"/>
                <a:cs typeface="Georgia"/>
              </a:rPr>
              <a:t>X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1540" y="1614462"/>
            <a:ext cx="26035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87575" algn="l"/>
                <a:tab pos="2516505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044" y="1547330"/>
            <a:ext cx="446405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420"/>
              </a:spcBef>
              <a:tabLst>
                <a:tab pos="1880235" algn="l"/>
              </a:tabLst>
            </a:pPr>
            <a:r>
              <a:rPr dirty="0" sz="1200" spc="-15">
                <a:latin typeface="Arial Unicode MS"/>
                <a:cs typeface="Arial Unicode MS"/>
              </a:rPr>
              <a:t>碱性的基</a:t>
            </a:r>
            <a:r>
              <a:rPr dirty="0" sz="1200" spc="-85">
                <a:latin typeface="Arial Unicode MS"/>
                <a:cs typeface="Arial Unicode MS"/>
              </a:rPr>
              <a:t>团</a:t>
            </a:r>
            <a:r>
              <a:rPr dirty="0" sz="1200" spc="-26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 </a:t>
            </a:r>
            <a:r>
              <a:rPr dirty="0" sz="1100" spc="-30">
                <a:latin typeface="Lucida Sans Unicode"/>
                <a:cs typeface="Lucida Sans Unicode"/>
              </a:rPr>
              <a:t>−	</a:t>
            </a:r>
            <a:r>
              <a:rPr dirty="0" baseline="37037" sz="900" spc="390" i="1">
                <a:latin typeface="Arial"/>
                <a:cs typeface="Arial"/>
              </a:rPr>
              <a:t>−</a:t>
            </a:r>
            <a:r>
              <a:rPr dirty="0" sz="1200" spc="-310">
                <a:latin typeface="Arial Unicode MS"/>
                <a:cs typeface="Arial Unicode MS"/>
              </a:rPr>
              <a:t>。</a:t>
            </a:r>
            <a:r>
              <a:rPr dirty="0" sz="1200" spc="-15">
                <a:latin typeface="Arial Unicode MS"/>
                <a:cs typeface="Arial Unicode MS"/>
              </a:rPr>
              <a:t>活性基团上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35">
                <a:latin typeface="Georgia"/>
                <a:cs typeface="Georgia"/>
              </a:rPr>
              <a:t>X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200" spc="-15">
                <a:latin typeface="Arial Unicode MS"/>
                <a:cs typeface="Arial Unicode MS"/>
              </a:rPr>
              <a:t>可以</a:t>
            </a:r>
            <a:r>
              <a:rPr dirty="0" sz="1200" spc="-5">
                <a:latin typeface="Arial Unicode MS"/>
                <a:cs typeface="Arial Unicode MS"/>
              </a:rPr>
              <a:t>是</a:t>
            </a:r>
            <a:r>
              <a:rPr dirty="0" sz="1200" spc="-20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OH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Cl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100" spc="-75">
                <a:latin typeface="Georgia"/>
                <a:cs typeface="Georgia"/>
              </a:rPr>
              <a:t>NO</a:t>
            </a:r>
            <a:r>
              <a:rPr dirty="0" baseline="37037" sz="900" spc="-112" i="1">
                <a:latin typeface="Arial"/>
                <a:cs typeface="Arial"/>
              </a:rPr>
              <a:t>−</a:t>
            </a:r>
            <a:r>
              <a:rPr dirty="0" baseline="-23148" sz="900" spc="-112">
                <a:latin typeface="Times New Roman"/>
                <a:cs typeface="Times New Roman"/>
              </a:rPr>
              <a:t>3</a:t>
            </a:r>
            <a:r>
              <a:rPr dirty="0" baseline="-23148" sz="900" spc="-22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Arial Unicode MS"/>
                <a:cs typeface="Arial Unicode MS"/>
              </a:rPr>
              <a:t>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87" y="192722"/>
            <a:ext cx="72644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dirty="0" sz="1050" spc="-25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交联度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在合成离子交换树脂的过程</a:t>
            </a:r>
            <a:r>
              <a:rPr dirty="0" spc="-80"/>
              <a:t>中</a:t>
            </a:r>
            <a:r>
              <a:rPr dirty="0" spc="-185"/>
              <a:t>，</a:t>
            </a:r>
            <a:r>
              <a:rPr dirty="0" spc="-5"/>
              <a:t>链状聚合物分子相互连接而 形成网状结构的过程称为交</a:t>
            </a:r>
            <a:r>
              <a:rPr dirty="0" spc="-20"/>
              <a:t>联</a:t>
            </a:r>
            <a:r>
              <a:rPr dirty="0" spc="-235"/>
              <a:t>。</a:t>
            </a:r>
            <a:r>
              <a:rPr dirty="0" spc="-5"/>
              <a:t>如前述的聚苯乙烯树脂是由二乙 烯苯将聚苯乙烯的链状分子连接成网状结构</a:t>
            </a:r>
            <a:r>
              <a:rPr dirty="0" spc="-80"/>
              <a:t>的</a:t>
            </a:r>
            <a:r>
              <a:rPr dirty="0" spc="-185"/>
              <a:t>，</a:t>
            </a:r>
            <a:r>
              <a:rPr dirty="0" spc="-5"/>
              <a:t>故二乙烯苯也称 </a:t>
            </a:r>
            <a:r>
              <a:rPr dirty="0" spc="-10"/>
              <a:t>为交连</a:t>
            </a:r>
            <a:r>
              <a:rPr dirty="0" spc="-20"/>
              <a:t>剂</a:t>
            </a:r>
            <a:r>
              <a:rPr dirty="0" spc="-254"/>
              <a:t>。</a:t>
            </a:r>
            <a:r>
              <a:rPr dirty="0" spc="-10"/>
              <a:t>树脂中交连剂所占的质量百分数称为树脂的交联</a:t>
            </a:r>
            <a:r>
              <a:rPr dirty="0" spc="-80"/>
              <a:t>度</a:t>
            </a:r>
            <a:r>
              <a:rPr dirty="0" spc="-204"/>
              <a:t>，</a:t>
            </a:r>
            <a:r>
              <a:rPr dirty="0" spc="-5"/>
              <a:t>如 </a:t>
            </a:r>
            <a:r>
              <a:rPr dirty="0" spc="-90"/>
              <a:t>下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4213" y="1764512"/>
            <a:ext cx="62738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交联度</a:t>
            </a:r>
            <a:r>
              <a:rPr dirty="0" sz="1200" spc="-110">
                <a:latin typeface="Arial Unicode MS"/>
                <a:cs typeface="Arial Unicode MS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9610" y="1670786"/>
            <a:ext cx="9366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2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交连剂质量</a:t>
            </a:r>
            <a:r>
              <a:rPr dirty="0" u="sng" sz="1200" spc="-7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 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9610" y="1859546"/>
            <a:ext cx="9366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干树脂总质量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6567" y="1777796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2050199"/>
            <a:ext cx="4356735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树脂的交联度越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则网状结构的孔径越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网眼越</a:t>
            </a:r>
            <a:r>
              <a:rPr dirty="0" sz="1200" spc="-80">
                <a:latin typeface="Arial Unicode MS"/>
                <a:cs typeface="Arial Unicode MS"/>
              </a:rPr>
              <a:t>密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在离 </a:t>
            </a:r>
            <a:r>
              <a:rPr dirty="0" sz="1200" spc="-10">
                <a:latin typeface="Arial Unicode MS"/>
                <a:cs typeface="Arial Unicode MS"/>
              </a:rPr>
              <a:t>子交换过程中只允许小体积的离子进</a:t>
            </a:r>
            <a:r>
              <a:rPr dirty="0" sz="1200" spc="-80">
                <a:latin typeface="Arial Unicode MS"/>
                <a:cs typeface="Arial Unicode MS"/>
              </a:rPr>
              <a:t>入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故选择性较</a:t>
            </a:r>
            <a:r>
              <a:rPr dirty="0" sz="1200" spc="-20">
                <a:latin typeface="Arial Unicode MS"/>
                <a:cs typeface="Arial Unicode MS"/>
              </a:rPr>
              <a:t>高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交联度</a:t>
            </a:r>
            <a:r>
              <a:rPr dirty="0" sz="1200" spc="-5">
                <a:latin typeface="Arial Unicode MS"/>
                <a:cs typeface="Arial Unicode MS"/>
              </a:rPr>
              <a:t>大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形成的树脂结构紧</a:t>
            </a:r>
            <a:r>
              <a:rPr dirty="0" sz="1200" spc="-80">
                <a:latin typeface="Arial Unicode MS"/>
                <a:cs typeface="Arial Unicode MS"/>
              </a:rPr>
              <a:t>密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机械强度</a:t>
            </a:r>
            <a:r>
              <a:rPr dirty="0" sz="1200" spc="-20">
                <a:latin typeface="Arial Unicode MS"/>
                <a:cs typeface="Arial Unicode MS"/>
              </a:rPr>
              <a:t>高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其缺点是对水的溶涨性能 较</a:t>
            </a:r>
            <a:r>
              <a:rPr dirty="0" sz="1200" spc="-80">
                <a:latin typeface="Arial Unicode MS"/>
                <a:cs typeface="Arial Unicode MS"/>
              </a:rPr>
              <a:t>差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交换反应的速度较</a:t>
            </a:r>
            <a:r>
              <a:rPr dirty="0" sz="1200" spc="-20">
                <a:latin typeface="Arial Unicode MS"/>
                <a:cs typeface="Arial Unicode MS"/>
              </a:rPr>
              <a:t>慢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当树脂的交联度较小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其性能与上 述情况相</a:t>
            </a:r>
            <a:r>
              <a:rPr dirty="0" sz="1200" spc="-20">
                <a:latin typeface="Arial Unicode MS"/>
                <a:cs typeface="Arial Unicode MS"/>
              </a:rPr>
              <a:t>反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通常树脂的交联度在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35">
                <a:latin typeface="Georgia"/>
                <a:cs typeface="Georgia"/>
              </a:rPr>
              <a:t>4%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Georgia"/>
                <a:cs typeface="Georgia"/>
              </a:rPr>
              <a:t>14%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-20">
                <a:latin typeface="Arial Unicode MS"/>
                <a:cs typeface="Arial Unicode MS"/>
              </a:rPr>
              <a:t>宜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85979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</a:rPr>
              <a:t>（</a:t>
            </a: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dirty="0" sz="1050" spc="-25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交换容量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689989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951634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436990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5044" y="616966"/>
            <a:ext cx="4489450" cy="2402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558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交换容量指每克干树脂所能交换的相当于一价离子的物质的 </a:t>
            </a:r>
            <a:r>
              <a:rPr dirty="0" sz="1200" spc="-80">
                <a:latin typeface="Arial Unicode MS"/>
                <a:cs typeface="Arial Unicode MS"/>
              </a:rPr>
              <a:t>量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是表征树脂交换能力大小的指</a:t>
            </a:r>
            <a:r>
              <a:rPr dirty="0" sz="1200" spc="-20">
                <a:latin typeface="Arial Unicode MS"/>
                <a:cs typeface="Arial Unicode MS"/>
              </a:rPr>
              <a:t>标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交换容量的大小取决于一</a:t>
            </a:r>
            <a:r>
              <a:rPr dirty="0" sz="1200" spc="-5">
                <a:latin typeface="Arial Unicode MS"/>
                <a:cs typeface="Arial Unicode MS"/>
              </a:rPr>
              <a:t>定 </a:t>
            </a:r>
            <a:r>
              <a:rPr dirty="0" sz="1200" spc="-5">
                <a:latin typeface="Arial Unicode MS"/>
                <a:cs typeface="Arial Unicode MS"/>
              </a:rPr>
              <a:t>量树脂中所含活性基团的数</a:t>
            </a:r>
            <a:r>
              <a:rPr dirty="0" sz="1200" spc="-80">
                <a:latin typeface="Arial Unicode MS"/>
                <a:cs typeface="Arial Unicode MS"/>
              </a:rPr>
              <a:t>目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可通过酸碱滴定的方式进行测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， </a:t>
            </a:r>
            <a:r>
              <a:rPr dirty="0" sz="1200" spc="-5">
                <a:latin typeface="Arial Unicode MS"/>
                <a:cs typeface="Arial Unicode MS"/>
              </a:rPr>
              <a:t>以阳离子交换树脂为</a:t>
            </a:r>
            <a:r>
              <a:rPr dirty="0" sz="1200" spc="-80">
                <a:latin typeface="Arial Unicode MS"/>
                <a:cs typeface="Arial Unicode MS"/>
              </a:rPr>
              <a:t>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具体做法如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3289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准确称取一定量干燥的阳离子交换树</a:t>
            </a:r>
            <a:r>
              <a:rPr dirty="0" sz="1200" spc="-80">
                <a:latin typeface="Arial Unicode MS"/>
                <a:cs typeface="Arial Unicode MS"/>
              </a:rPr>
              <a:t>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置于锥形瓶</a:t>
            </a:r>
            <a:r>
              <a:rPr dirty="0" sz="1200" spc="-65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289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加入一定量过量的的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充分振荡后放置约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75">
                <a:latin typeface="Georgia"/>
                <a:cs typeface="Georgia"/>
              </a:rPr>
              <a:t>24</a:t>
            </a:r>
            <a:endParaRPr sz="1100">
              <a:latin typeface="Georgia"/>
              <a:cs typeface="Georgia"/>
            </a:endParaRPr>
          </a:p>
          <a:p>
            <a:pPr marL="3289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小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使活性基团中的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37037" sz="900" spc="104">
                <a:latin typeface="Times New Roman"/>
                <a:cs typeface="Times New Roman"/>
              </a:rPr>
              <a:t>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全部被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60">
                <a:latin typeface="Georgia"/>
                <a:cs typeface="Georgia"/>
              </a:rPr>
              <a:t>Na</a:t>
            </a:r>
            <a:r>
              <a:rPr dirty="0" baseline="37037" sz="900" spc="89">
                <a:latin typeface="Times New Roman"/>
                <a:cs typeface="Times New Roman"/>
              </a:rPr>
              <a:t>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交</a:t>
            </a:r>
            <a:r>
              <a:rPr dirty="0" sz="1200" spc="-65">
                <a:latin typeface="Arial Unicode MS"/>
                <a:cs typeface="Arial Unicode MS"/>
              </a:rPr>
              <a:t>换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289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标准溶液返滴定剩余的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70">
                <a:latin typeface="Georgia"/>
                <a:cs typeface="Georgia"/>
              </a:rPr>
              <a:t>NaOH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按下式计算交换容</a:t>
            </a:r>
            <a:r>
              <a:rPr dirty="0" sz="1200" spc="-9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219075">
              <a:lnSpc>
                <a:spcPct val="100000"/>
              </a:lnSpc>
              <a:spcBef>
                <a:spcPts val="800"/>
              </a:spcBef>
            </a:pPr>
            <a:r>
              <a:rPr dirty="0" baseline="-34722" sz="1800" spc="-7">
                <a:latin typeface="Arial Unicode MS"/>
                <a:cs typeface="Arial Unicode MS"/>
              </a:rPr>
              <a:t>交换容量</a:t>
            </a:r>
            <a:r>
              <a:rPr dirty="0" baseline="-34722" sz="1800" spc="-60">
                <a:latin typeface="Arial Unicode MS"/>
                <a:cs typeface="Arial Unicode MS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u="sng" sz="1100" spc="15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(NaOH)</a:t>
            </a:r>
            <a:r>
              <a:rPr dirty="0" u="sng" sz="1100" spc="-3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sz="1100" spc="-9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(NaOH)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11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(HCl)</a:t>
            </a:r>
            <a:r>
              <a:rPr dirty="0" u="sng" sz="11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V</a:t>
            </a:r>
            <a:r>
              <a:rPr dirty="0" u="sng" sz="1100" spc="-9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(HCl)</a:t>
            </a:r>
            <a:endParaRPr sz="1100">
              <a:latin typeface="Georgia"/>
              <a:cs typeface="Georgia"/>
            </a:endParaRPr>
          </a:p>
          <a:p>
            <a:pPr marL="2378075">
              <a:lnSpc>
                <a:spcPct val="100000"/>
              </a:lnSpc>
              <a:spcBef>
                <a:spcPts val="45"/>
              </a:spcBef>
            </a:pPr>
            <a:r>
              <a:rPr dirty="0" sz="1200" spc="-5">
                <a:latin typeface="Arial Unicode MS"/>
                <a:cs typeface="Arial Unicode MS"/>
              </a:rPr>
              <a:t>干树脂质量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23063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10.4.2</a:t>
            </a:r>
            <a:r>
              <a:rPr dirty="0" sz="1000" spc="14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离子交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换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平衡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748004"/>
            <a:ext cx="424688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离子交换树脂与电解质水溶液接触时发生离子交换反</a:t>
            </a:r>
            <a:r>
              <a:rPr dirty="0" sz="1200" spc="-20">
                <a:latin typeface="Arial Unicode MS"/>
                <a:cs typeface="Arial Unicode MS"/>
              </a:rPr>
              <a:t>应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对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于阳离子交换树</a:t>
            </a:r>
            <a:r>
              <a:rPr dirty="0" sz="1200" spc="-80">
                <a:latin typeface="Arial Unicode MS"/>
                <a:cs typeface="Arial Unicode MS"/>
              </a:rPr>
              <a:t>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离子交换反应如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9847" y="148624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9847" y="1394790"/>
            <a:ext cx="2800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605" i="1">
                <a:latin typeface="Arial"/>
                <a:cs typeface="Arial"/>
              </a:rPr>
              <a:t> 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6770" y="1389367"/>
            <a:ext cx="1229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 b="0" i="1">
                <a:latin typeface="Bookman Old Style"/>
                <a:cs typeface="Bookman Old Style"/>
              </a:rPr>
              <a:t>n</a:t>
            </a:r>
            <a:r>
              <a:rPr dirty="0" sz="1100" spc="5">
                <a:latin typeface="Georgia"/>
                <a:cs typeface="Georgia"/>
              </a:rPr>
              <a:t>(R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5">
                <a:latin typeface="Georgia"/>
                <a:cs typeface="Georgia"/>
              </a:rPr>
              <a:t>SO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0717" y="1377569"/>
            <a:ext cx="1549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0" i="1">
                <a:latin typeface="Arial"/>
                <a:cs typeface="Arial"/>
              </a:rPr>
              <a:t>n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8857" y="1463586"/>
            <a:ext cx="2959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90">
                <a:latin typeface="宋体"/>
                <a:cs typeface="宋体"/>
              </a:rPr>
              <a:t> </a:t>
            </a:r>
            <a:r>
              <a:rPr dirty="0" sz="450" spc="190">
                <a:latin typeface="宋体"/>
                <a:cs typeface="宋体"/>
              </a:rPr>
              <a:t> </a:t>
            </a:r>
            <a:r>
              <a:rPr dirty="0" sz="450" spc="90">
                <a:latin typeface="宋体"/>
                <a:cs typeface="宋体"/>
              </a:rPr>
              <a:t> </a:t>
            </a:r>
            <a:r>
              <a:rPr dirty="0" sz="450" spc="620">
                <a:latin typeface="宋体"/>
                <a:cs typeface="宋体"/>
              </a:rPr>
              <a:t>、</a:t>
            </a:r>
            <a:endParaRPr sz="45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1923" y="1487437"/>
            <a:ext cx="2959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0" spc="275">
                <a:latin typeface="宋体"/>
                <a:cs typeface="宋体"/>
              </a:rPr>
              <a:t>｀</a:t>
            </a:r>
            <a:r>
              <a:rPr dirty="0" sz="450" spc="190">
                <a:latin typeface="宋体"/>
                <a:cs typeface="宋体"/>
              </a:rPr>
              <a:t> </a:t>
            </a:r>
            <a:r>
              <a:rPr dirty="0" sz="450" spc="90">
                <a:latin typeface="宋体"/>
                <a:cs typeface="宋体"/>
              </a:rPr>
              <a:t> </a:t>
            </a:r>
            <a:r>
              <a:rPr dirty="0" sz="450" spc="434">
                <a:latin typeface="宋体"/>
                <a:cs typeface="宋体"/>
              </a:rPr>
              <a:t> </a:t>
            </a:r>
            <a:endParaRPr sz="45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11309" y="1472768"/>
            <a:ext cx="2171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-9259" sz="900" spc="97">
                <a:latin typeface="Times New Roman"/>
                <a:cs typeface="Times New Roman"/>
              </a:rPr>
              <a:t>3</a:t>
            </a:r>
            <a:r>
              <a:rPr dirty="0" baseline="-9259" sz="900" spc="337">
                <a:latin typeface="Times New Roman"/>
                <a:cs typeface="Times New Roman"/>
              </a:rPr>
              <a:t> </a:t>
            </a: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11309" y="1394790"/>
            <a:ext cx="48005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7185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120" i="1">
                <a:latin typeface="Arial"/>
                <a:cs typeface="Arial"/>
              </a:rPr>
              <a:t>n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01379" y="1389367"/>
            <a:ext cx="13525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14094" algn="l"/>
              </a:tabLst>
            </a:pPr>
            <a:r>
              <a:rPr dirty="0" sz="1100" spc="20">
                <a:latin typeface="Georgia"/>
                <a:cs typeface="Georgia"/>
              </a:rPr>
              <a:t>(R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sz="1100" spc="23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24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55" b="0" i="1">
                <a:latin typeface="Bookman Old Style"/>
                <a:cs typeface="Bookman Old Style"/>
              </a:rPr>
              <a:t>n</a:t>
            </a:r>
            <a:r>
              <a:rPr dirty="0" sz="1100" spc="-55">
                <a:latin typeface="Georgia"/>
                <a:cs typeface="Georgia"/>
              </a:rPr>
              <a:t>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28516" y="1394790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9513" y="1753476"/>
            <a:ext cx="33235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此交换反应属可逆反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达到平衡时有如下关</a:t>
            </a:r>
            <a:r>
              <a:rPr dirty="0" sz="1200" spc="-90">
                <a:latin typeface="Arial Unicode MS"/>
                <a:cs typeface="Arial Unicode MS"/>
              </a:rPr>
              <a:t>系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4642" y="2144458"/>
            <a:ext cx="2997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-2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10536" y="214760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43835" y="2134146"/>
            <a:ext cx="844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62125" y="2050732"/>
            <a:ext cx="13315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21715" algn="l"/>
              </a:tabLst>
            </a:pPr>
            <a:r>
              <a:rPr dirty="0" sz="1100" spc="-25">
                <a:latin typeface="Georgia"/>
                <a:cs typeface="Georgia"/>
              </a:rPr>
              <a:t>[(R </a:t>
            </a:r>
            <a:r>
              <a:rPr dirty="0" sz="1100" spc="-30">
                <a:latin typeface="Lucida Sans Unicode"/>
                <a:cs typeface="Lucida Sans Unicode"/>
              </a:rPr>
              <a:t>− </a:t>
            </a:r>
            <a:r>
              <a:rPr dirty="0" sz="1100" spc="5">
                <a:latin typeface="Georgia"/>
                <a:cs typeface="Georgia"/>
              </a:rPr>
              <a:t>SO 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24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M	</a:t>
            </a:r>
            <a:r>
              <a:rPr dirty="0" sz="1100" spc="-100">
                <a:latin typeface="Georgia"/>
                <a:cs typeface="Georgia"/>
              </a:rPr>
              <a:t>][H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10536" y="2063089"/>
            <a:ext cx="8413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7185" algn="l"/>
                <a:tab pos="654050" algn="l"/>
              </a:tabLst>
            </a:pPr>
            <a:r>
              <a:rPr dirty="0" sz="600" spc="225" i="1">
                <a:latin typeface="Arial"/>
                <a:cs typeface="Arial"/>
              </a:rPr>
              <a:t>−	</a:t>
            </a:r>
            <a:r>
              <a:rPr dirty="0" sz="600" spc="170" i="1">
                <a:latin typeface="Arial"/>
                <a:cs typeface="Arial"/>
              </a:rPr>
              <a:t>n</a:t>
            </a:r>
            <a:r>
              <a:rPr dirty="0" sz="600" spc="170">
                <a:latin typeface="Times New Roman"/>
                <a:cs typeface="Times New Roman"/>
              </a:rPr>
              <a:t>+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120">
                <a:latin typeface="Times New Roman"/>
                <a:cs typeface="Times New Roman"/>
              </a:rPr>
              <a:t> </a:t>
            </a:r>
            <a:r>
              <a:rPr dirty="0" sz="600" spc="125" i="1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74825" y="2261069"/>
            <a:ext cx="1370965" cy="0"/>
          </a:xfrm>
          <a:custGeom>
            <a:avLst/>
            <a:gdLst/>
            <a:ahLst/>
            <a:cxnLst/>
            <a:rect l="l" t="t" r="r" b="b"/>
            <a:pathLst>
              <a:path w="1370964" h="0">
                <a:moveTo>
                  <a:pt x="0" y="0"/>
                </a:moveTo>
                <a:lnTo>
                  <a:pt x="137066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874989" y="2239492"/>
            <a:ext cx="1164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[M]</a:t>
            </a:r>
            <a:r>
              <a:rPr dirty="0" baseline="27777" sz="900" spc="7" i="1">
                <a:latin typeface="Arial"/>
                <a:cs typeface="Arial"/>
              </a:rPr>
              <a:t>n</a:t>
            </a:r>
            <a:r>
              <a:rPr dirty="0" baseline="27777" sz="900" spc="7">
                <a:latin typeface="Times New Roman"/>
                <a:cs typeface="Times New Roman"/>
              </a:rPr>
              <a:t>+</a:t>
            </a:r>
            <a:r>
              <a:rPr dirty="0" sz="1100" spc="5">
                <a:latin typeface="Georgia"/>
                <a:cs typeface="Georgia"/>
              </a:rPr>
              <a:t>[R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65">
                <a:latin typeface="Lucida Sans Unicode"/>
                <a:cs typeface="Lucida Sans Unicode"/>
              </a:rPr>
              <a:t> 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baseline="-13888" sz="900" spc="7">
                <a:latin typeface="Times New Roman"/>
                <a:cs typeface="Times New Roman"/>
              </a:rPr>
              <a:t>3</a:t>
            </a:r>
            <a:r>
              <a:rPr dirty="0" sz="1100" spc="5">
                <a:latin typeface="Georgia"/>
                <a:cs typeface="Georgia"/>
              </a:rPr>
              <a:t>H]</a:t>
            </a:r>
            <a:r>
              <a:rPr dirty="0" baseline="27777" sz="900" spc="7" i="1">
                <a:latin typeface="Arial"/>
                <a:cs typeface="Arial"/>
              </a:rPr>
              <a:t>n</a:t>
            </a:r>
            <a:endParaRPr baseline="27777"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79722" y="2144458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(3)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5844" y="2483383"/>
            <a:ext cx="426720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4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值的大小表示树脂对金属离子交换能力的强</a:t>
            </a:r>
            <a:r>
              <a:rPr dirty="0" sz="1200" spc="-80">
                <a:latin typeface="Arial Unicode MS"/>
                <a:cs typeface="Arial Unicode MS"/>
              </a:rPr>
              <a:t>弱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称为树脂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对离子的亲和力或树脂对离子的选择性系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844" y="108902"/>
            <a:ext cx="4334510" cy="920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实验表</a:t>
            </a:r>
            <a:r>
              <a:rPr dirty="0" spc="-80"/>
              <a:t>明</a:t>
            </a:r>
            <a:r>
              <a:rPr dirty="0" spc="-185"/>
              <a:t>，</a:t>
            </a:r>
            <a:r>
              <a:rPr dirty="0" spc="-5"/>
              <a:t>离子交换树脂对不同离子的亲和力大小与离子所 </a:t>
            </a:r>
            <a:r>
              <a:rPr dirty="0" spc="-5"/>
              <a:t>带电荷数及其水化半径有</a:t>
            </a:r>
            <a:r>
              <a:rPr dirty="0" spc="-20"/>
              <a:t>关</a:t>
            </a:r>
            <a:r>
              <a:rPr dirty="0" spc="-235"/>
              <a:t>。</a:t>
            </a:r>
            <a:r>
              <a:rPr dirty="0" spc="-5"/>
              <a:t>一般而</a:t>
            </a:r>
            <a:r>
              <a:rPr dirty="0" spc="-80"/>
              <a:t>言</a:t>
            </a:r>
            <a:r>
              <a:rPr dirty="0" spc="-185"/>
              <a:t>，</a:t>
            </a:r>
            <a:r>
              <a:rPr dirty="0" spc="-5"/>
              <a:t>离子的价态越</a:t>
            </a:r>
            <a:r>
              <a:rPr dirty="0" spc="-80"/>
              <a:t>高</a:t>
            </a:r>
            <a:r>
              <a:rPr dirty="0" spc="-185"/>
              <a:t>，</a:t>
            </a:r>
            <a:r>
              <a:rPr dirty="0" spc="-5"/>
              <a:t>树脂对 它的亲和力越</a:t>
            </a:r>
            <a:r>
              <a:rPr dirty="0" spc="-20"/>
              <a:t>大</a:t>
            </a:r>
            <a:r>
              <a:rPr dirty="0" spc="-235"/>
              <a:t>。</a:t>
            </a:r>
            <a:r>
              <a:rPr dirty="0" spc="-5"/>
              <a:t>对于相同价态的离</a:t>
            </a:r>
            <a:r>
              <a:rPr dirty="0" spc="-80"/>
              <a:t>子</a:t>
            </a:r>
            <a:r>
              <a:rPr dirty="0" spc="-185"/>
              <a:t>，</a:t>
            </a:r>
            <a:r>
              <a:rPr dirty="0" spc="-5"/>
              <a:t>其水化半径越</a:t>
            </a:r>
            <a:r>
              <a:rPr dirty="0" spc="-80"/>
              <a:t>小</a:t>
            </a:r>
            <a:r>
              <a:rPr dirty="0" spc="-185"/>
              <a:t>，</a:t>
            </a:r>
            <a:r>
              <a:rPr dirty="0" spc="-5"/>
              <a:t>在交换 </a:t>
            </a:r>
            <a:r>
              <a:rPr dirty="0" spc="-5"/>
              <a:t>过程中越易进入树脂的腔体结构</a:t>
            </a:r>
            <a:r>
              <a:rPr dirty="0" spc="-80"/>
              <a:t>中</a:t>
            </a:r>
            <a:r>
              <a:rPr dirty="0" spc="-185"/>
              <a:t>，</a:t>
            </a:r>
            <a:r>
              <a:rPr dirty="0" spc="-5"/>
              <a:t>故越容易进入树脂</a:t>
            </a:r>
            <a:r>
              <a:rPr dirty="0" spc="-20"/>
              <a:t>相</a:t>
            </a:r>
            <a:r>
              <a:rPr dirty="0" spc="-5"/>
              <a:t>。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56" y="1183741"/>
            <a:ext cx="4432935" cy="1992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离子的亲和力顺序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 marL="1123950" marR="1122680">
              <a:lnSpc>
                <a:spcPts val="2860"/>
              </a:lnSpc>
              <a:spcBef>
                <a:spcPts val="330"/>
              </a:spcBef>
            </a:pPr>
            <a:r>
              <a:rPr dirty="0" sz="1100" spc="80">
                <a:latin typeface="Georgia"/>
                <a:cs typeface="Georgia"/>
              </a:rPr>
              <a:t>Ba</a:t>
            </a:r>
            <a:r>
              <a:rPr dirty="0" baseline="41666" sz="900" spc="120">
                <a:latin typeface="Times New Roman"/>
                <a:cs typeface="Times New Roman"/>
              </a:rPr>
              <a:t>2+ </a:t>
            </a:r>
            <a:r>
              <a:rPr dirty="0" sz="1100" spc="185" b="0" i="1">
                <a:latin typeface="Bookman Old Style"/>
                <a:cs typeface="Bookman Old Style"/>
              </a:rPr>
              <a:t>&gt; </a:t>
            </a:r>
            <a:r>
              <a:rPr dirty="0" sz="1100" spc="60">
                <a:latin typeface="Georgia"/>
                <a:cs typeface="Georgia"/>
              </a:rPr>
              <a:t>Sr</a:t>
            </a:r>
            <a:r>
              <a:rPr dirty="0" baseline="41666" sz="900" spc="89">
                <a:latin typeface="Times New Roman"/>
                <a:cs typeface="Times New Roman"/>
              </a:rPr>
              <a:t>2+ </a:t>
            </a:r>
            <a:r>
              <a:rPr dirty="0" sz="1100" spc="185" b="0" i="1">
                <a:latin typeface="Bookman Old Style"/>
                <a:cs typeface="Bookman Old Style"/>
              </a:rPr>
              <a:t>&gt; </a:t>
            </a:r>
            <a:r>
              <a:rPr dirty="0" sz="1100" spc="85">
                <a:latin typeface="Georgia"/>
                <a:cs typeface="Georgia"/>
              </a:rPr>
              <a:t>Ca</a:t>
            </a:r>
            <a:r>
              <a:rPr dirty="0" baseline="41666" sz="900" spc="127">
                <a:latin typeface="Times New Roman"/>
                <a:cs typeface="Times New Roman"/>
              </a:rPr>
              <a:t>2+ </a:t>
            </a:r>
            <a:r>
              <a:rPr dirty="0" sz="1100" spc="185" b="0" i="1">
                <a:latin typeface="Bookman Old Style"/>
                <a:cs typeface="Bookman Old Style"/>
              </a:rPr>
              <a:t>&gt; 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41666" sz="900" spc="97">
                <a:latin typeface="Times New Roman"/>
                <a:cs typeface="Times New Roman"/>
              </a:rPr>
              <a:t>2+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204" b="0" i="1">
                <a:latin typeface="Bookman Old Style"/>
                <a:cs typeface="Bookman Old Style"/>
              </a:rPr>
              <a:t> </a:t>
            </a:r>
            <a:r>
              <a:rPr dirty="0" sz="1100" spc="70">
                <a:latin typeface="Georgia"/>
                <a:cs typeface="Georgia"/>
              </a:rPr>
              <a:t>Be</a:t>
            </a:r>
            <a:r>
              <a:rPr dirty="0" baseline="41666" sz="900" spc="104">
                <a:latin typeface="Times New Roman"/>
                <a:cs typeface="Times New Roman"/>
              </a:rPr>
              <a:t>2+  </a:t>
            </a:r>
            <a:r>
              <a:rPr dirty="0" sz="1100" spc="85">
                <a:latin typeface="Georgia"/>
                <a:cs typeface="Georgia"/>
              </a:rPr>
              <a:t>Cs</a:t>
            </a:r>
            <a:r>
              <a:rPr dirty="0" baseline="41666" sz="900" spc="127">
                <a:latin typeface="Times New Roman"/>
                <a:cs typeface="Times New Roman"/>
              </a:rPr>
              <a:t>+</a:t>
            </a:r>
            <a:r>
              <a:rPr dirty="0" baseline="41666" sz="900" spc="284">
                <a:latin typeface="Times New Roman"/>
                <a:cs typeface="Times New Roman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75">
                <a:latin typeface="Georgia"/>
                <a:cs typeface="Georgia"/>
              </a:rPr>
              <a:t>Rb</a:t>
            </a:r>
            <a:r>
              <a:rPr dirty="0" baseline="41666" sz="900" spc="112">
                <a:latin typeface="Times New Roman"/>
                <a:cs typeface="Times New Roman"/>
              </a:rPr>
              <a:t>+</a:t>
            </a:r>
            <a:r>
              <a:rPr dirty="0" baseline="41666" sz="900" spc="292">
                <a:latin typeface="Times New Roman"/>
                <a:cs typeface="Times New Roman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150">
                <a:latin typeface="Georgia"/>
                <a:cs typeface="Georgia"/>
              </a:rPr>
              <a:t>K</a:t>
            </a:r>
            <a:r>
              <a:rPr dirty="0" baseline="41666" sz="900" spc="225">
                <a:latin typeface="Times New Roman"/>
                <a:cs typeface="Times New Roman"/>
              </a:rPr>
              <a:t>+</a:t>
            </a:r>
            <a:r>
              <a:rPr dirty="0" baseline="41666" sz="900" spc="292">
                <a:latin typeface="Times New Roman"/>
                <a:cs typeface="Times New Roman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60">
                <a:latin typeface="Georgia"/>
                <a:cs typeface="Georgia"/>
              </a:rPr>
              <a:t>Na</a:t>
            </a:r>
            <a:r>
              <a:rPr dirty="0" baseline="41666" sz="900" spc="89">
                <a:latin typeface="Times New Roman"/>
                <a:cs typeface="Times New Roman"/>
              </a:rPr>
              <a:t>+</a:t>
            </a:r>
            <a:r>
              <a:rPr dirty="0" baseline="41666" sz="900" spc="292">
                <a:latin typeface="Times New Roman"/>
                <a:cs typeface="Times New Roman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70">
                <a:latin typeface="Georgia"/>
                <a:cs typeface="Georgia"/>
              </a:rPr>
              <a:t>Li</a:t>
            </a:r>
            <a:r>
              <a:rPr dirty="0" baseline="41666" sz="900" spc="104">
                <a:latin typeface="Times New Roman"/>
                <a:cs typeface="Times New Roman"/>
              </a:rPr>
              <a:t>+</a:t>
            </a:r>
            <a:endParaRPr baseline="41666" sz="900">
              <a:latin typeface="Times New Roman"/>
              <a:cs typeface="Times New Roman"/>
            </a:endParaRPr>
          </a:p>
          <a:p>
            <a:pPr algn="ctr">
              <a:lnSpc>
                <a:spcPts val="1045"/>
              </a:lnSpc>
              <a:spcBef>
                <a:spcPts val="735"/>
              </a:spcBef>
            </a:pPr>
            <a:r>
              <a:rPr dirty="0" sz="1100" spc="80">
                <a:latin typeface="Georgia"/>
                <a:cs typeface="Georgia"/>
              </a:rPr>
              <a:t>ClO</a:t>
            </a:r>
            <a:r>
              <a:rPr dirty="0" baseline="41666" sz="900" spc="120" i="1">
                <a:latin typeface="Arial"/>
                <a:cs typeface="Arial"/>
              </a:rPr>
              <a:t>−</a:t>
            </a:r>
            <a:r>
              <a:rPr dirty="0" baseline="41666" sz="900" spc="270" i="1">
                <a:latin typeface="Arial"/>
                <a:cs typeface="Arial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95">
                <a:latin typeface="Georgia"/>
                <a:cs typeface="Georgia"/>
              </a:rPr>
              <a:t>I</a:t>
            </a:r>
            <a:r>
              <a:rPr dirty="0" baseline="41666" sz="900" spc="142" i="1">
                <a:latin typeface="Arial"/>
                <a:cs typeface="Arial"/>
              </a:rPr>
              <a:t>−</a:t>
            </a:r>
            <a:r>
              <a:rPr dirty="0" baseline="41666" sz="900" spc="277" i="1">
                <a:latin typeface="Arial"/>
                <a:cs typeface="Arial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85">
                <a:latin typeface="Georgia"/>
                <a:cs typeface="Georgia"/>
              </a:rPr>
              <a:t>Br</a:t>
            </a:r>
            <a:r>
              <a:rPr dirty="0" baseline="41666" sz="900" spc="127" i="1">
                <a:latin typeface="Arial"/>
                <a:cs typeface="Arial"/>
              </a:rPr>
              <a:t>−</a:t>
            </a:r>
            <a:r>
              <a:rPr dirty="0" baseline="41666" sz="900" spc="277" i="1">
                <a:latin typeface="Arial"/>
                <a:cs typeface="Arial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90">
                <a:latin typeface="Georgia"/>
                <a:cs typeface="Georgia"/>
              </a:rPr>
              <a:t>CN</a:t>
            </a:r>
            <a:r>
              <a:rPr dirty="0" baseline="41666" sz="900" spc="135" i="1">
                <a:latin typeface="Arial"/>
                <a:cs typeface="Arial"/>
              </a:rPr>
              <a:t>−</a:t>
            </a:r>
            <a:r>
              <a:rPr dirty="0" baseline="41666" sz="900" spc="277" i="1">
                <a:latin typeface="Arial"/>
                <a:cs typeface="Arial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70">
                <a:latin typeface="Georgia"/>
                <a:cs typeface="Georgia"/>
              </a:rPr>
              <a:t>NO</a:t>
            </a:r>
            <a:r>
              <a:rPr dirty="0" baseline="41666" sz="900" spc="104" i="1">
                <a:latin typeface="Arial"/>
                <a:cs typeface="Arial"/>
              </a:rPr>
              <a:t>−</a:t>
            </a:r>
            <a:r>
              <a:rPr dirty="0" baseline="41666" sz="900" spc="277" i="1">
                <a:latin typeface="Arial"/>
                <a:cs typeface="Arial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95">
                <a:latin typeface="Georgia"/>
                <a:cs typeface="Georgia"/>
              </a:rPr>
              <a:t>Cl</a:t>
            </a:r>
            <a:r>
              <a:rPr dirty="0" baseline="41666" sz="900" spc="142" i="1">
                <a:latin typeface="Arial"/>
                <a:cs typeface="Arial"/>
              </a:rPr>
              <a:t>−</a:t>
            </a:r>
            <a:r>
              <a:rPr dirty="0" baseline="41666" sz="900" spc="270" i="1">
                <a:latin typeface="Arial"/>
                <a:cs typeface="Arial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55">
                <a:latin typeface="Georgia"/>
                <a:cs typeface="Georgia"/>
              </a:rPr>
              <a:t>OH</a:t>
            </a:r>
            <a:r>
              <a:rPr dirty="0" baseline="41666" sz="900" spc="82" i="1">
                <a:latin typeface="Arial"/>
                <a:cs typeface="Arial"/>
              </a:rPr>
              <a:t>−</a:t>
            </a:r>
            <a:r>
              <a:rPr dirty="0" baseline="41666" sz="900" spc="270" i="1">
                <a:latin typeface="Arial"/>
                <a:cs typeface="Arial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135">
                <a:latin typeface="Georgia"/>
                <a:cs typeface="Georgia"/>
              </a:rPr>
              <a:t>F</a:t>
            </a:r>
            <a:r>
              <a:rPr dirty="0" baseline="41666" sz="900" spc="202" i="1">
                <a:latin typeface="Arial"/>
                <a:cs typeface="Arial"/>
              </a:rPr>
              <a:t>−</a:t>
            </a:r>
            <a:endParaRPr baseline="41666" sz="900">
              <a:latin typeface="Arial"/>
              <a:cs typeface="Arial"/>
            </a:endParaRPr>
          </a:p>
          <a:p>
            <a:pPr marL="845185">
              <a:lnSpc>
                <a:spcPts val="445"/>
              </a:lnSpc>
              <a:tabLst>
                <a:tab pos="2520315" algn="l"/>
              </a:tabLst>
            </a:pPr>
            <a:r>
              <a:rPr dirty="0" sz="600" spc="65">
                <a:latin typeface="Times New Roman"/>
                <a:cs typeface="Times New Roman"/>
              </a:rPr>
              <a:t>4	3</a:t>
            </a:r>
            <a:endParaRPr sz="600">
              <a:latin typeface="Times New Roman"/>
              <a:cs typeface="Times New Roman"/>
            </a:endParaRPr>
          </a:p>
          <a:p>
            <a:pPr algn="just" marL="50800" marR="43180" indent="303530">
              <a:lnSpc>
                <a:spcPct val="122300"/>
              </a:lnSpc>
              <a:spcBef>
                <a:spcPts val="495"/>
              </a:spcBef>
            </a:pPr>
            <a:r>
              <a:rPr dirty="0" sz="1200" spc="-10">
                <a:latin typeface="Arial Unicode MS"/>
                <a:cs typeface="Arial Unicode MS"/>
              </a:rPr>
              <a:t>因</a:t>
            </a:r>
            <a:r>
              <a:rPr dirty="0" sz="1200" spc="-80">
                <a:latin typeface="Arial Unicode MS"/>
                <a:cs typeface="Arial Unicode MS"/>
              </a:rPr>
              <a:t>此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当溶液中各种离子的浓度大致相同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总是亲和力大</a:t>
            </a: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200" spc="-10">
                <a:latin typeface="Arial Unicode MS"/>
                <a:cs typeface="Arial Unicode MS"/>
              </a:rPr>
              <a:t>离子优先被交换到树脂相</a:t>
            </a:r>
            <a:r>
              <a:rPr dirty="0" sz="1200" spc="-70">
                <a:latin typeface="Arial Unicode MS"/>
                <a:cs typeface="Arial Unicode MS"/>
              </a:rPr>
              <a:t>上</a:t>
            </a:r>
            <a:r>
              <a:rPr dirty="0" sz="1200" spc="-215">
                <a:latin typeface="Arial Unicode MS"/>
                <a:cs typeface="Arial Unicode MS"/>
              </a:rPr>
              <a:t>；</a:t>
            </a:r>
            <a:r>
              <a:rPr dirty="0" sz="1200" spc="-10">
                <a:latin typeface="Arial Unicode MS"/>
                <a:cs typeface="Arial Unicode MS"/>
              </a:rPr>
              <a:t>而在洗脱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亲和力较小的离子总</a:t>
            </a:r>
            <a:r>
              <a:rPr dirty="0" sz="1200" spc="-5">
                <a:latin typeface="Arial Unicode MS"/>
                <a:cs typeface="Arial Unicode MS"/>
              </a:rPr>
              <a:t>是 </a:t>
            </a:r>
            <a:r>
              <a:rPr dirty="0" sz="1200" spc="-5">
                <a:latin typeface="Arial Unicode MS"/>
                <a:cs typeface="Arial Unicode MS"/>
              </a:rPr>
              <a:t>先被洗脱而进入洗脱液</a:t>
            </a:r>
            <a:r>
              <a:rPr dirty="0" sz="1200" spc="-2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23063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10.4.3</a:t>
            </a:r>
            <a:r>
              <a:rPr dirty="0" sz="1000" spc="15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离子交</a:t>
            </a:r>
            <a:r>
              <a:rPr dirty="0" sz="1050" spc="-10">
                <a:solidFill>
                  <a:srgbClr val="FFFFFF"/>
                </a:solidFill>
              </a:rPr>
              <a:t>换</a:t>
            </a:r>
            <a:r>
              <a:rPr dirty="0" sz="1050" spc="-5">
                <a:solidFill>
                  <a:srgbClr val="FFFFFF"/>
                </a:solidFill>
              </a:rPr>
              <a:t>过程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01" y="1034033"/>
            <a:ext cx="22923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离子交换过程包括以下几个步</a:t>
            </a:r>
            <a:r>
              <a:rPr dirty="0" sz="1200" spc="-90">
                <a:latin typeface="Arial Unicode MS"/>
                <a:cs typeface="Arial Unicode MS"/>
              </a:rPr>
              <a:t>骤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366110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35096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1627768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161262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2846" y="1889426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2277" y="187427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2846" y="2151084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2277" y="213592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2846" y="2412730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42277" y="239758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1553" y="1216228"/>
            <a:ext cx="3358515" cy="133413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溶液中的离子向树脂表面扩</a:t>
            </a:r>
            <a:r>
              <a:rPr dirty="0" sz="1200" spc="-65">
                <a:latin typeface="Arial Unicode MS"/>
                <a:cs typeface="Arial Unicode MS"/>
              </a:rPr>
              <a:t>散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 marR="915669">
              <a:lnSpc>
                <a:spcPct val="143100"/>
              </a:lnSpc>
            </a:pPr>
            <a:r>
              <a:rPr dirty="0" sz="1200" spc="-5">
                <a:latin typeface="Arial Unicode MS"/>
                <a:cs typeface="Arial Unicode MS"/>
              </a:rPr>
              <a:t>离子通过树脂表面向树脂内部扩</a:t>
            </a:r>
            <a:r>
              <a:rPr dirty="0" sz="1200" spc="-65">
                <a:latin typeface="Arial Unicode MS"/>
                <a:cs typeface="Arial Unicode MS"/>
              </a:rPr>
              <a:t>散</a:t>
            </a:r>
            <a:r>
              <a:rPr dirty="0" sz="1200" spc="-5">
                <a:latin typeface="Arial Unicode MS"/>
                <a:cs typeface="Arial Unicode MS"/>
              </a:rPr>
              <a:t>； </a:t>
            </a:r>
            <a:r>
              <a:rPr dirty="0" sz="1200" spc="-5">
                <a:latin typeface="Arial Unicode MS"/>
                <a:cs typeface="Arial Unicode MS"/>
              </a:rPr>
              <a:t>离子在树脂内部进行交</a:t>
            </a:r>
            <a:r>
              <a:rPr dirty="0" sz="1200" spc="-65">
                <a:latin typeface="Arial Unicode MS"/>
                <a:cs typeface="Arial Unicode MS"/>
              </a:rPr>
              <a:t>换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 marR="5080">
              <a:lnSpc>
                <a:spcPct val="143100"/>
              </a:lnSpc>
            </a:pPr>
            <a:r>
              <a:rPr dirty="0" sz="1200" spc="-5">
                <a:latin typeface="Arial Unicode MS"/>
                <a:cs typeface="Arial Unicode MS"/>
              </a:rPr>
              <a:t>交换下来的离子从树脂内部向外扩散至树脂表</a:t>
            </a:r>
            <a:r>
              <a:rPr dirty="0" sz="1200" spc="-65">
                <a:latin typeface="Arial Unicode MS"/>
                <a:cs typeface="Arial Unicode MS"/>
              </a:rPr>
              <a:t>面</a:t>
            </a:r>
            <a:r>
              <a:rPr dirty="0" sz="1200" spc="-5">
                <a:latin typeface="Arial Unicode MS"/>
                <a:cs typeface="Arial Unicode MS"/>
              </a:rPr>
              <a:t>； </a:t>
            </a:r>
            <a:r>
              <a:rPr dirty="0" sz="1200" spc="-5">
                <a:latin typeface="Arial Unicode MS"/>
                <a:cs typeface="Arial Unicode MS"/>
              </a:rPr>
              <a:t>交换下来的离子从树脂表面扩散到溶液</a:t>
            </a:r>
            <a:r>
              <a:rPr dirty="0" sz="1200" spc="-2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7621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10.4.4</a:t>
            </a:r>
            <a:r>
              <a:rPr dirty="0" sz="1000" spc="14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离子交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换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分离操作方法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501482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763141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024799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286457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1553" y="1061605"/>
            <a:ext cx="2178685" cy="133413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离子交换分离的操作方法包</a:t>
            </a:r>
            <a:r>
              <a:rPr dirty="0" sz="1200" spc="-90">
                <a:latin typeface="Arial Unicode MS"/>
                <a:cs typeface="Arial Unicode MS"/>
              </a:rPr>
              <a:t>括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树脂的选择和处理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装柱</a:t>
            </a:r>
            <a:endParaRPr sz="1200">
              <a:latin typeface="Arial Unicode MS"/>
              <a:cs typeface="Arial Unicode MS"/>
            </a:endParaRPr>
          </a:p>
          <a:p>
            <a:pPr marL="12700" marR="1246505">
              <a:lnSpc>
                <a:spcPct val="143100"/>
              </a:lnSpc>
            </a:pPr>
            <a:r>
              <a:rPr dirty="0" sz="1200" spc="-5">
                <a:latin typeface="Arial Unicode MS"/>
                <a:cs typeface="Arial Unicode MS"/>
              </a:rPr>
              <a:t>离子交换操作 </a:t>
            </a:r>
            <a:r>
              <a:rPr dirty="0" sz="1200" spc="-5">
                <a:latin typeface="Arial Unicode MS"/>
                <a:cs typeface="Arial Unicode MS"/>
              </a:rPr>
              <a:t>离子洗脱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139065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</a:rPr>
              <a:t>（</a:t>
            </a:r>
            <a:r>
              <a:rPr dirty="0" sz="1000" spc="95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dirty="0" sz="1050" spc="-25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树脂的</a:t>
            </a:r>
            <a:r>
              <a:rPr dirty="0" sz="1050" spc="-10">
                <a:solidFill>
                  <a:srgbClr val="FFFFFF"/>
                </a:solidFill>
              </a:rPr>
              <a:t>选</a:t>
            </a:r>
            <a:r>
              <a:rPr dirty="0" sz="1050" spc="-5">
                <a:solidFill>
                  <a:srgbClr val="FFFFFF"/>
                </a:solidFill>
              </a:rPr>
              <a:t>择和处理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28217"/>
            <a:ext cx="4356735" cy="1506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树脂的选择应根据分离的对象和要求进</a:t>
            </a:r>
            <a:r>
              <a:rPr dirty="0" sz="1200" spc="-20">
                <a:latin typeface="Arial Unicode MS"/>
                <a:cs typeface="Arial Unicode MS"/>
              </a:rPr>
              <a:t>行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购买来的树脂还 </a:t>
            </a:r>
            <a:r>
              <a:rPr dirty="0" sz="1200" spc="-10">
                <a:latin typeface="Arial Unicode MS"/>
                <a:cs typeface="Arial Unicode MS"/>
              </a:rPr>
              <a:t>需将其过</a:t>
            </a:r>
            <a:r>
              <a:rPr dirty="0" sz="1200" spc="-80">
                <a:latin typeface="Arial Unicode MS"/>
                <a:cs typeface="Arial Unicode MS"/>
              </a:rPr>
              <a:t>筛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以除去粒径太大和太小的颗</a:t>
            </a:r>
            <a:r>
              <a:rPr dirty="0" sz="1200" spc="-20">
                <a:latin typeface="Arial Unicode MS"/>
                <a:cs typeface="Arial Unicode MS"/>
              </a:rPr>
              <a:t>粒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树脂在使用前需进</a:t>
            </a:r>
            <a:r>
              <a:rPr dirty="0" sz="1200" spc="-5">
                <a:latin typeface="Arial Unicode MS"/>
                <a:cs typeface="Arial Unicode MS"/>
              </a:rPr>
              <a:t>行 </a:t>
            </a:r>
            <a:r>
              <a:rPr dirty="0" sz="1200" spc="-5">
                <a:latin typeface="Arial Unicode MS"/>
                <a:cs typeface="Arial Unicode MS"/>
              </a:rPr>
              <a:t>净化处</a:t>
            </a:r>
            <a:r>
              <a:rPr dirty="0" sz="1200" spc="-80">
                <a:latin typeface="Arial Unicode MS"/>
                <a:cs typeface="Arial Unicode MS"/>
              </a:rPr>
              <a:t>理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以除去其中的杂</a:t>
            </a:r>
            <a:r>
              <a:rPr dirty="0" sz="1200" spc="-20">
                <a:latin typeface="Arial Unicode MS"/>
                <a:cs typeface="Arial Unicode MS"/>
              </a:rPr>
              <a:t>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12700" marR="71755" indent="303530">
              <a:lnSpc>
                <a:spcPct val="122300"/>
              </a:lnSpc>
              <a:spcBef>
                <a:spcPts val="1090"/>
              </a:spcBef>
            </a:pPr>
            <a:r>
              <a:rPr dirty="0" sz="1200" spc="-5">
                <a:latin typeface="Arial Unicode MS"/>
                <a:cs typeface="Arial Unicode MS"/>
              </a:rPr>
              <a:t>对于强酸型阳离子交换树脂和强碱型阴离子交换树</a:t>
            </a:r>
            <a:r>
              <a:rPr dirty="0" sz="1200" spc="-80">
                <a:latin typeface="Arial Unicode MS"/>
                <a:cs typeface="Arial Unicode MS"/>
              </a:rPr>
              <a:t>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 用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80">
                <a:latin typeface="Georgia"/>
                <a:cs typeface="Georgia"/>
              </a:rPr>
              <a:t>4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mol</a:t>
            </a:r>
            <a:r>
              <a:rPr dirty="0" sz="1100" spc="-50" b="0" i="1">
                <a:latin typeface="Bookman Old Style"/>
                <a:cs typeface="Bookman Old Style"/>
              </a:rPr>
              <a:t>/</a:t>
            </a:r>
            <a:r>
              <a:rPr dirty="0" sz="1100" spc="-50">
                <a:latin typeface="Georgia"/>
                <a:cs typeface="Georgia"/>
              </a:rPr>
              <a:t>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浸泡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以溶解各种杂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然后用蒸馏水洗 涤至中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浸泡于水中备</a:t>
            </a:r>
            <a:r>
              <a:rPr dirty="0" sz="1200" spc="-20">
                <a:latin typeface="Arial Unicode MS"/>
                <a:cs typeface="Arial Unicode MS"/>
              </a:rPr>
              <a:t>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59372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</a:rPr>
              <a:t>（</a:t>
            </a: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dirty="0" sz="1050" spc="-25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装柱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75715"/>
            <a:ext cx="4387850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离子交换树脂通常填入下端带旋塞的空心柱中使</a:t>
            </a:r>
            <a:r>
              <a:rPr dirty="0" sz="1200" spc="-20">
                <a:latin typeface="Arial Unicode MS"/>
                <a:cs typeface="Arial Unicode MS"/>
              </a:rPr>
              <a:t>用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在柱的 下段放置一层玻璃纤</a:t>
            </a:r>
            <a:r>
              <a:rPr dirty="0" sz="1200" spc="-80">
                <a:latin typeface="Arial Unicode MS"/>
                <a:cs typeface="Arial Unicode MS"/>
              </a:rPr>
              <a:t>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然后在柱加入蒸馏</a:t>
            </a:r>
            <a:r>
              <a:rPr dirty="0" sz="1200" spc="-80">
                <a:latin typeface="Arial Unicode MS"/>
                <a:cs typeface="Arial Unicode MS"/>
              </a:rPr>
              <a:t>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再倒入树</a:t>
            </a:r>
            <a:r>
              <a:rPr dirty="0" sz="1200" spc="-80">
                <a:latin typeface="Arial Unicode MS"/>
                <a:cs typeface="Arial Unicode MS"/>
              </a:rPr>
              <a:t>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使树 </a:t>
            </a:r>
            <a:r>
              <a:rPr dirty="0" sz="1200" spc="-10">
                <a:latin typeface="Arial Unicode MS"/>
                <a:cs typeface="Arial Unicode MS"/>
              </a:rPr>
              <a:t>脂自动下沉而均匀地填充空心</a:t>
            </a:r>
            <a:r>
              <a:rPr dirty="0" sz="1200" spc="-20">
                <a:latin typeface="Arial Unicode MS"/>
                <a:cs typeface="Arial Unicode MS"/>
              </a:rPr>
              <a:t>柱</a:t>
            </a:r>
            <a:r>
              <a:rPr dirty="0" sz="1200" spc="-24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树脂的高度约为柱高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-20">
                <a:latin typeface="Arial Unicode MS"/>
                <a:cs typeface="Arial Unicode MS"/>
              </a:rPr>
              <a:t> </a:t>
            </a:r>
            <a:r>
              <a:rPr dirty="0" sz="1100" spc="-120">
                <a:latin typeface="Georgia"/>
                <a:cs typeface="Georgia"/>
              </a:rPr>
              <a:t>90%</a:t>
            </a:r>
            <a:r>
              <a:rPr dirty="0" sz="1200" spc="-1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 </a:t>
            </a:r>
            <a:r>
              <a:rPr dirty="0" sz="1200" spc="-5">
                <a:latin typeface="Arial Unicode MS"/>
                <a:cs typeface="Arial Unicode MS"/>
              </a:rPr>
              <a:t>上端也应放置一层玻璃纤</a:t>
            </a:r>
            <a:r>
              <a:rPr dirty="0" sz="1200" spc="-80">
                <a:latin typeface="Arial Unicode MS"/>
                <a:cs typeface="Arial Unicode MS"/>
              </a:rPr>
              <a:t>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并保持蒸馏水的液面略高于树脂</a:t>
            </a:r>
            <a:r>
              <a:rPr dirty="0" sz="1200" spc="-80">
                <a:latin typeface="Arial Unicode MS"/>
                <a:cs typeface="Arial Unicode MS"/>
              </a:rPr>
              <a:t>层</a:t>
            </a:r>
            <a:r>
              <a:rPr dirty="0" sz="1200" spc="-5">
                <a:latin typeface="Arial Unicode MS"/>
                <a:cs typeface="Arial Unicode MS"/>
              </a:rPr>
              <a:t>， </a:t>
            </a:r>
            <a:r>
              <a:rPr dirty="0" sz="1200" spc="-5">
                <a:latin typeface="Arial Unicode MS"/>
                <a:cs typeface="Arial Unicode MS"/>
              </a:rPr>
              <a:t>防止树脂干裂而混入气</a:t>
            </a:r>
            <a:r>
              <a:rPr dirty="0" sz="1200" spc="-20">
                <a:latin typeface="Arial Unicode MS"/>
                <a:cs typeface="Arial Unicode MS"/>
              </a:rPr>
              <a:t>泡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112522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</a:rPr>
              <a:t>（</a:t>
            </a: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dirty="0" sz="1050" spc="-25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离子交</a:t>
            </a:r>
            <a:r>
              <a:rPr dirty="0" sz="1050" spc="-10">
                <a:solidFill>
                  <a:srgbClr val="FFFFFF"/>
                </a:solidFill>
              </a:rPr>
              <a:t>换</a:t>
            </a:r>
            <a:r>
              <a:rPr dirty="0" sz="1050" spc="-5">
                <a:solidFill>
                  <a:srgbClr val="FFFFFF"/>
                </a:solidFill>
              </a:rPr>
              <a:t>操作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65199"/>
            <a:ext cx="435673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将待分离的试液缓缓倒入交换柱</a:t>
            </a:r>
            <a:r>
              <a:rPr dirty="0" sz="1200" spc="-80">
                <a:latin typeface="Arial Unicode MS"/>
                <a:cs typeface="Arial Unicode MS"/>
              </a:rPr>
              <a:t>内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试液将从上至下流经交 </a:t>
            </a:r>
            <a:r>
              <a:rPr dirty="0" sz="1200" spc="-10">
                <a:latin typeface="Arial Unicode MS"/>
                <a:cs typeface="Arial Unicode MS"/>
              </a:rPr>
              <a:t>换</a:t>
            </a:r>
            <a:r>
              <a:rPr dirty="0" sz="1200" spc="-80">
                <a:latin typeface="Arial Unicode MS"/>
                <a:cs typeface="Arial Unicode MS"/>
              </a:rPr>
              <a:t>柱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其中的离子将与树脂上的活性基团进行离子交</a:t>
            </a:r>
            <a:r>
              <a:rPr dirty="0" sz="1200" spc="-20">
                <a:latin typeface="Arial Unicode MS"/>
                <a:cs typeface="Arial Unicode MS"/>
              </a:rPr>
              <a:t>换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交换完</a:t>
            </a:r>
            <a:r>
              <a:rPr dirty="0" sz="1200" spc="-5">
                <a:latin typeface="Arial Unicode MS"/>
                <a:cs typeface="Arial Unicode MS"/>
              </a:rPr>
              <a:t>成 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用蒸馏水或不含试样的空白溶液洗去柱中残留的试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然后</a:t>
            </a:r>
            <a:r>
              <a:rPr dirty="0" sz="1200" spc="-5">
                <a:latin typeface="Arial Unicode MS"/>
                <a:cs typeface="Arial Unicode MS"/>
              </a:rPr>
              <a:t>再 </a:t>
            </a:r>
            <a:r>
              <a:rPr dirty="0" sz="1200" spc="-5">
                <a:latin typeface="Arial Unicode MS"/>
                <a:cs typeface="Arial Unicode MS"/>
              </a:rPr>
              <a:t>进行洗</a:t>
            </a:r>
            <a:r>
              <a:rPr dirty="0" sz="1200" spc="-20">
                <a:latin typeface="Arial Unicode MS"/>
                <a:cs typeface="Arial Unicode MS"/>
              </a:rPr>
              <a:t>脱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85979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</a:rPr>
              <a:t>（</a:t>
            </a:r>
            <a:r>
              <a:rPr dirty="0" sz="1000" spc="-4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r>
              <a:rPr dirty="0" sz="1050" spc="-25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离子洗脱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62773"/>
            <a:ext cx="4387850" cy="92075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对于阳离子交换树脂通常采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溶液作为洗脱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洗脱完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成之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树脂转化为氢</a:t>
            </a:r>
            <a:r>
              <a:rPr dirty="0" sz="1200" spc="-65">
                <a:latin typeface="Arial Unicode MS"/>
                <a:cs typeface="Arial Unicode MS"/>
              </a:rPr>
              <a:t>型</a:t>
            </a:r>
            <a:r>
              <a:rPr dirty="0" sz="1200" spc="-200">
                <a:latin typeface="Arial Unicode MS"/>
                <a:cs typeface="Arial Unicode MS"/>
              </a:rPr>
              <a:t>；</a:t>
            </a:r>
            <a:r>
              <a:rPr dirty="0" sz="1200" spc="-5">
                <a:latin typeface="Arial Unicode MS"/>
                <a:cs typeface="Arial Unicode MS"/>
              </a:rPr>
              <a:t>对于阴离子交换树脂通常采用</a:t>
            </a:r>
            <a:r>
              <a:rPr dirty="0" sz="1100" spc="5">
                <a:latin typeface="Georgia"/>
                <a:cs typeface="Georgia"/>
              </a:rPr>
              <a:t>NaCl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或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作为洗脱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洗脱完成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树脂转化为氯型或氢氧</a:t>
            </a:r>
            <a:r>
              <a:rPr dirty="0" sz="1200" spc="-20">
                <a:latin typeface="Arial Unicode MS"/>
                <a:cs typeface="Arial Unicode MS"/>
              </a:rPr>
              <a:t>型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洗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10">
                <a:latin typeface="Arial Unicode MS"/>
                <a:cs typeface="Arial Unicode MS"/>
              </a:rPr>
              <a:t>脱完毕后树脂也已得到再</a:t>
            </a:r>
            <a:r>
              <a:rPr dirty="0" sz="1200" spc="-80">
                <a:latin typeface="Arial Unicode MS"/>
                <a:cs typeface="Arial Unicode MS"/>
              </a:rPr>
              <a:t>生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用蒸馏水洗涤干净后即可再次使</a:t>
            </a:r>
            <a:r>
              <a:rPr dirty="0" sz="1200" spc="-20">
                <a:latin typeface="Arial Unicode MS"/>
                <a:cs typeface="Arial Unicode MS"/>
              </a:rPr>
              <a:t>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7621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10.4.5</a:t>
            </a:r>
            <a:r>
              <a:rPr dirty="0" sz="1000" spc="14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离子交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换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分离法的应用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38409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645742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1907400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169058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1553" y="1205864"/>
            <a:ext cx="1840230" cy="106997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电解质与非电解质的分</a:t>
            </a:r>
            <a:r>
              <a:rPr dirty="0" sz="1200" spc="-65">
                <a:latin typeface="Arial Unicode MS"/>
                <a:cs typeface="Arial Unicode MS"/>
              </a:rPr>
              <a:t>离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去离子水的制</a:t>
            </a:r>
            <a:r>
              <a:rPr dirty="0" sz="1200" spc="-65">
                <a:latin typeface="Arial Unicode MS"/>
                <a:cs typeface="Arial Unicode MS"/>
              </a:rPr>
              <a:t>备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微量组分的富</a:t>
            </a:r>
            <a:r>
              <a:rPr dirty="0" sz="1200" spc="-65">
                <a:latin typeface="Arial Unicode MS"/>
                <a:cs typeface="Arial Unicode MS"/>
              </a:rPr>
              <a:t>集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178943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</a:rPr>
              <a:t>（</a:t>
            </a:r>
            <a:r>
              <a:rPr dirty="0" sz="1000" spc="95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dirty="0" sz="1050" spc="-25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电解质</a:t>
            </a:r>
            <a:r>
              <a:rPr dirty="0" sz="1050" spc="-10">
                <a:solidFill>
                  <a:srgbClr val="FFFFFF"/>
                </a:solidFill>
              </a:rPr>
              <a:t>与</a:t>
            </a:r>
            <a:r>
              <a:rPr dirty="0" sz="1050" spc="-5">
                <a:solidFill>
                  <a:srgbClr val="FFFFFF"/>
                </a:solidFill>
              </a:rPr>
              <a:t>非电解质</a:t>
            </a:r>
            <a:r>
              <a:rPr dirty="0" sz="1050" spc="-10">
                <a:solidFill>
                  <a:srgbClr val="FFFFFF"/>
                </a:solidFill>
              </a:rPr>
              <a:t>的</a:t>
            </a:r>
            <a:r>
              <a:rPr dirty="0" sz="1050" spc="-5">
                <a:solidFill>
                  <a:srgbClr val="FFFFFF"/>
                </a:solidFill>
              </a:rPr>
              <a:t>分离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1266533"/>
            <a:ext cx="438594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要测定牛奶中的重金</a:t>
            </a:r>
            <a:r>
              <a:rPr dirty="0" sz="1200" spc="-80">
                <a:latin typeface="Arial Unicode MS"/>
                <a:cs typeface="Arial Unicode MS"/>
              </a:rPr>
              <a:t>属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可使牛奶通过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37037" sz="900" spc="104">
                <a:latin typeface="Times New Roman"/>
                <a:cs typeface="Times New Roman"/>
              </a:rPr>
              <a:t>+</a:t>
            </a:r>
            <a:r>
              <a:rPr dirty="0" baseline="37037" sz="900" spc="32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型阳离子交 换树脂</a:t>
            </a:r>
            <a:r>
              <a:rPr dirty="0" sz="1200" spc="-80">
                <a:latin typeface="Arial Unicode MS"/>
                <a:cs typeface="Arial Unicode MS"/>
              </a:rPr>
              <a:t>柱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以收集牛奶中的重金属离</a:t>
            </a:r>
            <a:r>
              <a:rPr dirty="0" sz="1200" spc="-20">
                <a:latin typeface="Arial Unicode MS"/>
                <a:cs typeface="Arial Unicode MS"/>
              </a:rPr>
              <a:t>子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离子交换完成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-3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  </a:t>
            </a:r>
            <a:r>
              <a:rPr dirty="0" sz="1200" spc="-5">
                <a:latin typeface="Arial Unicode MS"/>
                <a:cs typeface="Arial Unicode MS"/>
              </a:rPr>
              <a:t>溶液作为洗脱液将重金属离子从树脂上洗脱下</a:t>
            </a:r>
            <a:r>
              <a:rPr dirty="0" sz="1200" spc="-80">
                <a:latin typeface="Arial Unicode MS"/>
                <a:cs typeface="Arial Unicode MS"/>
              </a:rPr>
              <a:t>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然后再进行后 续的测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125793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</a:rPr>
              <a:t>（</a:t>
            </a: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dirty="0" sz="1050" spc="-25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去离子</a:t>
            </a:r>
            <a:r>
              <a:rPr dirty="0" sz="1050" spc="-10">
                <a:solidFill>
                  <a:srgbClr val="FFFFFF"/>
                </a:solidFill>
              </a:rPr>
              <a:t>水</a:t>
            </a:r>
            <a:r>
              <a:rPr dirty="0" sz="1050" spc="-5">
                <a:solidFill>
                  <a:srgbClr val="FFFFFF"/>
                </a:solidFill>
              </a:rPr>
              <a:t>的制备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17016"/>
            <a:ext cx="4356735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在工业上和实验室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通常采用离子交换树脂由蒸馏水或自 </a:t>
            </a:r>
            <a:r>
              <a:rPr dirty="0" sz="1200" spc="-10">
                <a:latin typeface="Arial Unicode MS"/>
                <a:cs typeface="Arial Unicode MS"/>
              </a:rPr>
              <a:t>来水制备去离子</a:t>
            </a:r>
            <a:r>
              <a:rPr dirty="0" sz="1200" spc="-20">
                <a:latin typeface="Arial Unicode MS"/>
                <a:cs typeface="Arial Unicode MS"/>
              </a:rPr>
              <a:t>水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制备装置采用复柱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第一根柱装有阳离子</a:t>
            </a:r>
            <a:r>
              <a:rPr dirty="0" sz="1200" spc="-5">
                <a:latin typeface="Arial Unicode MS"/>
                <a:cs typeface="Arial Unicode MS"/>
              </a:rPr>
              <a:t>交 </a:t>
            </a:r>
            <a:r>
              <a:rPr dirty="0" sz="1200" spc="-5">
                <a:latin typeface="Arial Unicode MS"/>
                <a:cs typeface="Arial Unicode MS"/>
              </a:rPr>
              <a:t>换树</a:t>
            </a:r>
            <a:r>
              <a:rPr dirty="0" sz="1200" spc="-80">
                <a:latin typeface="Arial Unicode MS"/>
                <a:cs typeface="Arial Unicode MS"/>
              </a:rPr>
              <a:t>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第二根柱装有阴离子交换树</a:t>
            </a:r>
            <a:r>
              <a:rPr dirty="0" sz="1200" spc="-80">
                <a:latin typeface="Arial Unicode MS"/>
                <a:cs typeface="Arial Unicode MS"/>
              </a:rPr>
              <a:t>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第三根是混合</a:t>
            </a:r>
            <a:r>
              <a:rPr dirty="0" sz="1200" spc="-80">
                <a:latin typeface="Arial Unicode MS"/>
                <a:cs typeface="Arial Unicode MS"/>
              </a:rPr>
              <a:t>柱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其中的 </a:t>
            </a:r>
            <a:r>
              <a:rPr dirty="0" sz="1200" spc="-10">
                <a:latin typeface="Arial Unicode MS"/>
                <a:cs typeface="Arial Unicode MS"/>
              </a:rPr>
              <a:t>阳离子与阴离子树脂</a:t>
            </a:r>
            <a:r>
              <a:rPr dirty="0" sz="1200" spc="-5">
                <a:latin typeface="Arial Unicode MS"/>
                <a:cs typeface="Arial Unicode MS"/>
              </a:rPr>
              <a:t>按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1:2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体积混合装</a:t>
            </a:r>
            <a:r>
              <a:rPr dirty="0" sz="1200" spc="-20">
                <a:latin typeface="Arial Unicode MS"/>
                <a:cs typeface="Arial Unicode MS"/>
              </a:rPr>
              <a:t>柱</a:t>
            </a:r>
            <a:r>
              <a:rPr dirty="0" sz="1200" spc="-250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经过这三根柱出来的</a:t>
            </a:r>
            <a:r>
              <a:rPr dirty="0" sz="1200" spc="-5">
                <a:latin typeface="Arial Unicode MS"/>
                <a:cs typeface="Arial Unicode MS"/>
              </a:rPr>
              <a:t>的 水称为去离子</a:t>
            </a:r>
            <a:r>
              <a:rPr dirty="0" sz="1200" spc="-80">
                <a:latin typeface="Arial Unicode MS"/>
                <a:cs typeface="Arial Unicode MS"/>
              </a:rPr>
              <a:t>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其纯度用电阻表</a:t>
            </a:r>
            <a:r>
              <a:rPr dirty="0" sz="1200" spc="-80">
                <a:latin typeface="Arial Unicode MS"/>
                <a:cs typeface="Arial Unicode MS"/>
              </a:rPr>
              <a:t>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一般能达到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40">
                <a:latin typeface="Georgia"/>
                <a:cs typeface="Georgia"/>
              </a:rPr>
              <a:t>10MΩ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-20">
                <a:latin typeface="Arial Unicode MS"/>
                <a:cs typeface="Arial Unicode MS"/>
              </a:rPr>
              <a:t>上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65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125793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</a:rPr>
              <a:t>（</a:t>
            </a: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dirty="0" sz="1050" spc="-25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去离子</a:t>
            </a:r>
            <a:r>
              <a:rPr dirty="0" sz="1050" spc="-10">
                <a:solidFill>
                  <a:srgbClr val="FFFFFF"/>
                </a:solidFill>
              </a:rPr>
              <a:t>水</a:t>
            </a:r>
            <a:r>
              <a:rPr dirty="0" sz="1050" spc="-5">
                <a:solidFill>
                  <a:srgbClr val="FFFFFF"/>
                </a:solidFill>
              </a:rPr>
              <a:t>的制备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17016"/>
            <a:ext cx="4356735" cy="2038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在工业上和实验室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通常采用离子交换树脂由蒸馏水或自 </a:t>
            </a:r>
            <a:r>
              <a:rPr dirty="0" sz="1200" spc="-10">
                <a:latin typeface="Arial Unicode MS"/>
                <a:cs typeface="Arial Unicode MS"/>
              </a:rPr>
              <a:t>来水制备去离子</a:t>
            </a:r>
            <a:r>
              <a:rPr dirty="0" sz="1200" spc="-20">
                <a:latin typeface="Arial Unicode MS"/>
                <a:cs typeface="Arial Unicode MS"/>
              </a:rPr>
              <a:t>水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制备装置采用复柱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第一根柱装有阳离子</a:t>
            </a:r>
            <a:r>
              <a:rPr dirty="0" sz="1200" spc="-5">
                <a:latin typeface="Arial Unicode MS"/>
                <a:cs typeface="Arial Unicode MS"/>
              </a:rPr>
              <a:t>交 </a:t>
            </a:r>
            <a:r>
              <a:rPr dirty="0" sz="1200" spc="-5">
                <a:latin typeface="Arial Unicode MS"/>
                <a:cs typeface="Arial Unicode MS"/>
              </a:rPr>
              <a:t>换树</a:t>
            </a:r>
            <a:r>
              <a:rPr dirty="0" sz="1200" spc="-80">
                <a:latin typeface="Arial Unicode MS"/>
                <a:cs typeface="Arial Unicode MS"/>
              </a:rPr>
              <a:t>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第二根柱装有阴离子交换树</a:t>
            </a:r>
            <a:r>
              <a:rPr dirty="0" sz="1200" spc="-80">
                <a:latin typeface="Arial Unicode MS"/>
                <a:cs typeface="Arial Unicode MS"/>
              </a:rPr>
              <a:t>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第三根是混合</a:t>
            </a:r>
            <a:r>
              <a:rPr dirty="0" sz="1200" spc="-80">
                <a:latin typeface="Arial Unicode MS"/>
                <a:cs typeface="Arial Unicode MS"/>
              </a:rPr>
              <a:t>柱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其中的 </a:t>
            </a:r>
            <a:r>
              <a:rPr dirty="0" sz="1200" spc="-10">
                <a:latin typeface="Arial Unicode MS"/>
                <a:cs typeface="Arial Unicode MS"/>
              </a:rPr>
              <a:t>阳离子与阴离子树脂</a:t>
            </a:r>
            <a:r>
              <a:rPr dirty="0" sz="1200" spc="-5">
                <a:latin typeface="Arial Unicode MS"/>
                <a:cs typeface="Arial Unicode MS"/>
              </a:rPr>
              <a:t>按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-15">
                <a:latin typeface="Georgia"/>
                <a:cs typeface="Georgia"/>
              </a:rPr>
              <a:t>1:2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体积混合装</a:t>
            </a:r>
            <a:r>
              <a:rPr dirty="0" sz="1200" spc="-20">
                <a:latin typeface="Arial Unicode MS"/>
                <a:cs typeface="Arial Unicode MS"/>
              </a:rPr>
              <a:t>柱</a:t>
            </a:r>
            <a:r>
              <a:rPr dirty="0" sz="1200" spc="-250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经过这三根柱出来的</a:t>
            </a:r>
            <a:r>
              <a:rPr dirty="0" sz="1200" spc="-5">
                <a:latin typeface="Arial Unicode MS"/>
                <a:cs typeface="Arial Unicode MS"/>
              </a:rPr>
              <a:t>的 水称为去离子</a:t>
            </a:r>
            <a:r>
              <a:rPr dirty="0" sz="1200" spc="-80">
                <a:latin typeface="Arial Unicode MS"/>
                <a:cs typeface="Arial Unicode MS"/>
              </a:rPr>
              <a:t>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其纯度用电阻表</a:t>
            </a:r>
            <a:r>
              <a:rPr dirty="0" sz="1200" spc="-80">
                <a:latin typeface="Arial Unicode MS"/>
                <a:cs typeface="Arial Unicode MS"/>
              </a:rPr>
              <a:t>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一般能达到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40">
                <a:latin typeface="Georgia"/>
                <a:cs typeface="Georgia"/>
              </a:rPr>
              <a:t>10MΩ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-20">
                <a:latin typeface="Arial Unicode MS"/>
                <a:cs typeface="Arial Unicode MS"/>
              </a:rPr>
              <a:t>上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 marR="762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离子交换树脂使用一段时间后要进行再</a:t>
            </a:r>
            <a:r>
              <a:rPr dirty="0" sz="1200" spc="-80">
                <a:latin typeface="Arial Unicode MS"/>
                <a:cs typeface="Arial Unicode MS"/>
              </a:rPr>
              <a:t>生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以恢复其离子交 换的能</a:t>
            </a:r>
            <a:r>
              <a:rPr dirty="0" sz="1200" spc="-20">
                <a:latin typeface="Arial Unicode MS"/>
                <a:cs typeface="Arial Unicode MS"/>
              </a:rPr>
              <a:t>力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阳离子交换树脂用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2mol/L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70">
                <a:latin typeface="Georgia"/>
                <a:cs typeface="Georgia"/>
              </a:rPr>
              <a:t>HCl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阴离子交换树脂用 </a:t>
            </a:r>
            <a:r>
              <a:rPr dirty="0" sz="1100">
                <a:latin typeface="Georgia"/>
                <a:cs typeface="Georgia"/>
              </a:rPr>
              <a:t>1mol/L</a:t>
            </a:r>
            <a:r>
              <a:rPr dirty="0" sz="1100" spc="1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处理后用水洗至中</a:t>
            </a:r>
            <a:r>
              <a:rPr dirty="0" sz="1200" spc="-20">
                <a:latin typeface="Arial Unicode MS"/>
                <a:cs typeface="Arial Unicode MS"/>
              </a:rPr>
              <a:t>性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混合柱中的阳离子和阴离 子交换树脂需分离后再分别进行再</a:t>
            </a:r>
            <a:r>
              <a:rPr dirty="0" sz="1200" spc="-20">
                <a:latin typeface="Arial Unicode MS"/>
                <a:cs typeface="Arial Unicode MS"/>
              </a:rPr>
              <a:t>生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51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65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87" y="192722"/>
            <a:ext cx="125793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dirty="0" sz="1050" spc="-25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微量组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分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的富集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83932"/>
            <a:ext cx="43313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铁矿石中</a:t>
            </a:r>
            <a:r>
              <a:rPr dirty="0" sz="1200" spc="-80">
                <a:latin typeface="Arial Unicode MS"/>
                <a:cs typeface="Arial Unicode MS"/>
              </a:rPr>
              <a:t>钯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铂含量很</a:t>
            </a:r>
            <a:r>
              <a:rPr dirty="0" sz="1200" spc="-80">
                <a:latin typeface="Arial Unicode MS"/>
                <a:cs typeface="Arial Unicode MS"/>
              </a:rPr>
              <a:t>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要准确定量需先进行富</a:t>
            </a:r>
            <a:r>
              <a:rPr dirty="0" sz="1200" spc="-20">
                <a:latin typeface="Arial Unicode MS"/>
                <a:cs typeface="Arial Unicode MS"/>
              </a:rPr>
              <a:t>集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首先将试样用王水溶</a:t>
            </a:r>
            <a:r>
              <a:rPr dirty="0" sz="1200" spc="-80">
                <a:latin typeface="Arial Unicode MS"/>
                <a:cs typeface="Arial Unicode MS"/>
              </a:rPr>
              <a:t>解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再加入浓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使钯和铂形成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586115"/>
            <a:ext cx="3352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">
                <a:latin typeface="Georgia"/>
                <a:cs typeface="Georgia"/>
              </a:rPr>
              <a:t>P</a:t>
            </a:r>
            <a:r>
              <a:rPr dirty="0" sz="1100" spc="15">
                <a:latin typeface="Georgia"/>
                <a:cs typeface="Georgia"/>
              </a:rPr>
              <a:t>d</a:t>
            </a:r>
            <a:r>
              <a:rPr dirty="0" sz="1100" spc="30">
                <a:latin typeface="Georgia"/>
                <a:cs typeface="Georgia"/>
              </a:rPr>
              <a:t>Cl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248" y="1522552"/>
            <a:ext cx="4000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145">
                <a:latin typeface="Times New Roman"/>
                <a:cs typeface="Times New Roman"/>
              </a:rPr>
              <a:t>2</a:t>
            </a:r>
            <a:r>
              <a:rPr dirty="0" sz="600" spc="145" i="1">
                <a:latin typeface="Arial"/>
                <a:cs typeface="Arial"/>
              </a:rPr>
              <a:t>−</a:t>
            </a:r>
            <a:r>
              <a:rPr dirty="0" sz="600" spc="185" i="1">
                <a:latin typeface="Arial"/>
                <a:cs typeface="Arial"/>
              </a:rPr>
              <a:t> </a:t>
            </a:r>
            <a:r>
              <a:rPr dirty="0" baseline="-18518" sz="1800" spc="-7">
                <a:latin typeface="Arial Unicode MS"/>
                <a:cs typeface="Arial Unicode MS"/>
              </a:rPr>
              <a:t>和</a:t>
            </a:r>
            <a:endParaRPr baseline="-18518" sz="18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2377" y="159846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5648" y="1682991"/>
            <a:ext cx="7289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9290" algn="l"/>
              </a:tabLst>
            </a:pPr>
            <a:r>
              <a:rPr dirty="0" sz="600" spc="65">
                <a:latin typeface="Times New Roman"/>
                <a:cs typeface="Times New Roman"/>
              </a:rPr>
              <a:t>6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0262" y="1572831"/>
            <a:ext cx="36931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45">
                <a:latin typeface="Georgia"/>
                <a:cs typeface="Georgia"/>
              </a:rPr>
              <a:t>PtCl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baseline="37037" sz="900" spc="337" i="1">
                <a:latin typeface="Arial"/>
                <a:cs typeface="Arial"/>
              </a:rPr>
              <a:t>−</a:t>
            </a:r>
            <a:r>
              <a:rPr dirty="0" baseline="37037" sz="900" spc="315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络阴离</a:t>
            </a:r>
            <a:r>
              <a:rPr dirty="0" sz="1200" spc="-20">
                <a:latin typeface="Arial Unicode MS"/>
                <a:cs typeface="Arial Unicode MS"/>
              </a:rPr>
              <a:t>子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试液稀释后通过强碱性阴离子交换树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755025"/>
            <a:ext cx="433451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300"/>
              </a:lnSpc>
              <a:spcBef>
                <a:spcPts val="100"/>
              </a:spcBef>
            </a:pPr>
            <a:r>
              <a:rPr dirty="0" sz="1200" spc="-80">
                <a:latin typeface="Arial Unicode MS"/>
                <a:cs typeface="Arial Unicode MS"/>
              </a:rPr>
              <a:t>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即可将钯和铂离子与其它离子分</a:t>
            </a:r>
            <a:r>
              <a:rPr dirty="0" sz="1200" spc="-80">
                <a:latin typeface="Arial Unicode MS"/>
                <a:cs typeface="Arial Unicode MS"/>
              </a:rPr>
              <a:t>离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并富集到树脂</a:t>
            </a:r>
            <a:r>
              <a:rPr dirty="0" sz="1200" spc="-20">
                <a:latin typeface="Arial Unicode MS"/>
                <a:cs typeface="Arial Unicode MS"/>
              </a:rPr>
              <a:t>上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交换完 </a:t>
            </a:r>
            <a:r>
              <a:rPr dirty="0" sz="1200" spc="-5">
                <a:latin typeface="Arial Unicode MS"/>
                <a:cs typeface="Arial Unicode MS"/>
              </a:rPr>
              <a:t>后将树脂灰</a:t>
            </a:r>
            <a:r>
              <a:rPr dirty="0" sz="1200" spc="-80">
                <a:latin typeface="Arial Unicode MS"/>
                <a:cs typeface="Arial Unicode MS"/>
              </a:rPr>
              <a:t>化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再用王水浸取残</a:t>
            </a:r>
            <a:r>
              <a:rPr dirty="0" sz="1200" spc="-80">
                <a:latin typeface="Arial Unicode MS"/>
                <a:cs typeface="Arial Unicode MS"/>
              </a:rPr>
              <a:t>渣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获得含钯和铂浓度较高的试 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用光度法进行定量分</a:t>
            </a:r>
            <a:r>
              <a:rPr dirty="0" sz="1200" spc="-20">
                <a:latin typeface="Arial Unicode MS"/>
                <a:cs typeface="Arial Unicode MS"/>
              </a:rPr>
              <a:t>析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47383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10.5</a:t>
            </a:r>
            <a:r>
              <a:rPr dirty="0" sz="1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色谱分离法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94943"/>
            <a:ext cx="4356735" cy="1591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色谱分离法是利用组分在不相混溶的两相中分配能力不同而 进行分离的一类分离方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色谱分离中的两相分别称为固定相和 流动</a:t>
            </a:r>
            <a:r>
              <a:rPr dirty="0" sz="1200" spc="-80">
                <a:latin typeface="Arial Unicode MS"/>
                <a:cs typeface="Arial Unicode MS"/>
              </a:rPr>
              <a:t>相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待分离组分在流动相中流</a:t>
            </a:r>
            <a:r>
              <a:rPr dirty="0" sz="1200" spc="-80">
                <a:latin typeface="Arial Unicode MS"/>
                <a:cs typeface="Arial Unicode MS"/>
              </a:rPr>
              <a:t>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同时与固定相作</a:t>
            </a:r>
            <a:r>
              <a:rPr dirty="0" sz="1200" spc="-80">
                <a:latin typeface="Arial Unicode MS"/>
                <a:cs typeface="Arial Unicode MS"/>
              </a:rPr>
              <a:t>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从而在 </a:t>
            </a:r>
            <a:r>
              <a:rPr dirty="0" sz="1200" spc="-10">
                <a:latin typeface="Arial Unicode MS"/>
                <a:cs typeface="Arial Unicode MS"/>
              </a:rPr>
              <a:t>两相间进行反复的分</a:t>
            </a:r>
            <a:r>
              <a:rPr dirty="0" sz="1200" spc="-20">
                <a:latin typeface="Arial Unicode MS"/>
                <a:cs typeface="Arial Unicode MS"/>
              </a:rPr>
              <a:t>配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当分配次数足够多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可使各组分分离</a:t>
            </a:r>
            <a:r>
              <a:rPr dirty="0" sz="1200" spc="-5">
                <a:latin typeface="Arial Unicode MS"/>
                <a:cs typeface="Arial Unicode MS"/>
              </a:rPr>
              <a:t>开 </a:t>
            </a:r>
            <a:r>
              <a:rPr dirty="0" sz="1200" spc="-20">
                <a:latin typeface="Arial Unicode MS"/>
                <a:cs typeface="Arial Unicode MS"/>
              </a:rPr>
              <a:t>来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320"/>
              </a:spcBef>
            </a:pPr>
            <a:r>
              <a:rPr dirty="0" sz="1200" spc="-10">
                <a:latin typeface="Arial Unicode MS"/>
                <a:cs typeface="Arial Unicode MS"/>
              </a:rPr>
              <a:t>色谱分离法的种类繁</a:t>
            </a:r>
            <a:r>
              <a:rPr dirty="0" sz="1200" spc="-80">
                <a:latin typeface="Arial Unicode MS"/>
                <a:cs typeface="Arial Unicode MS"/>
              </a:rPr>
              <a:t>多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本节中只对柱色谱分离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纸层析</a:t>
            </a:r>
            <a:r>
              <a:rPr dirty="0" sz="1200" spc="-5">
                <a:latin typeface="Arial Unicode MS"/>
                <a:cs typeface="Arial Unicode MS"/>
              </a:rPr>
              <a:t>分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离法和薄层层析分离法作一简单介</a:t>
            </a:r>
            <a:r>
              <a:rPr dirty="0" sz="1200" spc="-20">
                <a:latin typeface="Arial Unicode MS"/>
                <a:cs typeface="Arial Unicode MS"/>
              </a:rPr>
              <a:t>绍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23063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Georgia"/>
                <a:cs typeface="Georgia"/>
              </a:rPr>
              <a:t>10.5.1</a:t>
            </a:r>
            <a:r>
              <a:rPr dirty="0" sz="1000" spc="10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柱色谱</a:t>
            </a:r>
            <a:r>
              <a:rPr dirty="0" sz="1050" spc="-10">
                <a:solidFill>
                  <a:srgbClr val="FFFFFF"/>
                </a:solidFill>
              </a:rPr>
              <a:t>分</a:t>
            </a:r>
            <a:r>
              <a:rPr dirty="0" sz="1050" spc="-5">
                <a:solidFill>
                  <a:srgbClr val="FFFFFF"/>
                </a:solidFill>
              </a:rPr>
              <a:t>离法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1086307"/>
            <a:ext cx="4445000" cy="136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柱色谱分离法于</a:t>
            </a:r>
            <a:r>
              <a:rPr dirty="0" sz="1100" spc="-50">
                <a:latin typeface="Georgia"/>
                <a:cs typeface="Georgia"/>
              </a:rPr>
              <a:t>1903</a:t>
            </a:r>
            <a:r>
              <a:rPr dirty="0" sz="1200" spc="-5">
                <a:latin typeface="Arial Unicode MS"/>
                <a:cs typeface="Arial Unicode MS"/>
              </a:rPr>
              <a:t>年由俄国植物学家茨维</a:t>
            </a:r>
            <a:r>
              <a:rPr dirty="0" sz="1200" spc="-260">
                <a:latin typeface="Arial Unicode MS"/>
                <a:cs typeface="Arial Unicode MS"/>
              </a:rPr>
              <a:t>特</a:t>
            </a:r>
            <a:r>
              <a:rPr dirty="0" sz="1200" spc="10">
                <a:latin typeface="Arial Unicode MS"/>
                <a:cs typeface="Arial Unicode MS"/>
              </a:rPr>
              <a:t>（</a:t>
            </a:r>
            <a:r>
              <a:rPr dirty="0" sz="1100" spc="10">
                <a:latin typeface="Georgia"/>
                <a:cs typeface="Georgia"/>
              </a:rPr>
              <a:t>M.C.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Tsweet</a:t>
            </a:r>
            <a:r>
              <a:rPr dirty="0" sz="1200" spc="-5">
                <a:latin typeface="Arial Unicode MS"/>
                <a:cs typeface="Arial Unicode MS"/>
              </a:rPr>
              <a:t>）  提</a:t>
            </a:r>
            <a:r>
              <a:rPr dirty="0" sz="1200" spc="-20">
                <a:latin typeface="Arial Unicode MS"/>
                <a:cs typeface="Arial Unicode MS"/>
              </a:rPr>
              <a:t>出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他将植物叶子的石油醚提取液通过一个装有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CaCO</a:t>
            </a:r>
            <a:r>
              <a:rPr dirty="0" baseline="-13888" sz="900" spc="67">
                <a:latin typeface="Times New Roman"/>
                <a:cs typeface="Times New Roman"/>
              </a:rPr>
              <a:t>3</a:t>
            </a:r>
            <a:r>
              <a:rPr dirty="0" baseline="-13888" sz="900" spc="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吸附剂 的玻璃管</a:t>
            </a:r>
            <a:r>
              <a:rPr dirty="0" sz="1200" spc="-80">
                <a:latin typeface="Arial Unicode MS"/>
                <a:cs typeface="Arial Unicode MS"/>
              </a:rPr>
              <a:t>柱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随着提取液流经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CaCO</a:t>
            </a:r>
            <a:r>
              <a:rPr dirty="0" baseline="-13888" sz="900" spc="67">
                <a:latin typeface="Times New Roman"/>
                <a:cs typeface="Times New Roman"/>
              </a:rPr>
              <a:t>3</a:t>
            </a:r>
            <a:r>
              <a:rPr dirty="0" baseline="-13888" sz="900" spc="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吸附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叶子中的几种色素 </a:t>
            </a:r>
            <a:r>
              <a:rPr dirty="0" sz="1200" spc="-10">
                <a:latin typeface="Arial Unicode MS"/>
                <a:cs typeface="Arial Unicode MS"/>
              </a:rPr>
              <a:t>被吸附在管柱</a:t>
            </a:r>
            <a:r>
              <a:rPr dirty="0" sz="1200" spc="-20">
                <a:latin typeface="Arial Unicode MS"/>
                <a:cs typeface="Arial Unicode MS"/>
              </a:rPr>
              <a:t>上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用适当的溶剂淋洗吸附剂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就出现层次分明</a:t>
            </a: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200" spc="-10">
                <a:latin typeface="Arial Unicode MS"/>
                <a:cs typeface="Arial Unicode MS"/>
              </a:rPr>
              <a:t>几条色</a:t>
            </a:r>
            <a:r>
              <a:rPr dirty="0" sz="1200" spc="-20">
                <a:latin typeface="Arial Unicode MS"/>
                <a:cs typeface="Arial Unicode MS"/>
              </a:rPr>
              <a:t>带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茨维特采用这种方法分离出了叶子中的几种色</a:t>
            </a:r>
            <a:r>
              <a:rPr dirty="0" sz="1200" spc="-80">
                <a:latin typeface="Arial Unicode MS"/>
                <a:cs typeface="Arial Unicode MS"/>
              </a:rPr>
              <a:t>素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他</a:t>
            </a:r>
            <a:r>
              <a:rPr dirty="0" sz="1200" spc="-5">
                <a:latin typeface="Arial Unicode MS"/>
                <a:cs typeface="Arial Unicode MS"/>
              </a:rPr>
              <a:t>同 时也建立了色谱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0883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柱色谱分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离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法原理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606247"/>
            <a:ext cx="4331970" cy="920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色谱分离法实质上是利用物质在固定相和流动相之间的分配 </a:t>
            </a:r>
            <a:r>
              <a:rPr dirty="0" spc="-5"/>
              <a:t>能力不同来实现组分的分</a:t>
            </a:r>
            <a:r>
              <a:rPr dirty="0" spc="-20"/>
              <a:t>离</a:t>
            </a:r>
            <a:r>
              <a:rPr dirty="0" spc="-235"/>
              <a:t>。</a:t>
            </a:r>
            <a:r>
              <a:rPr dirty="0" spc="-5"/>
              <a:t>上例中的</a:t>
            </a:r>
            <a:r>
              <a:rPr dirty="0"/>
              <a:t> </a:t>
            </a:r>
            <a:r>
              <a:rPr dirty="0" sz="1100" spc="45">
                <a:latin typeface="Georgia"/>
                <a:cs typeface="Georgia"/>
              </a:rPr>
              <a:t>CaCO</a:t>
            </a:r>
            <a:r>
              <a:rPr dirty="0" baseline="-13888" sz="900" spc="67">
                <a:latin typeface="Times New Roman"/>
                <a:cs typeface="Times New Roman"/>
              </a:rPr>
              <a:t>3</a:t>
            </a:r>
            <a:r>
              <a:rPr dirty="0" baseline="-13888" sz="900" spc="337">
                <a:latin typeface="Times New Roman"/>
                <a:cs typeface="Times New Roman"/>
              </a:rPr>
              <a:t> </a:t>
            </a:r>
            <a:r>
              <a:rPr dirty="0" sz="1200" spc="-5"/>
              <a:t>是固定</a:t>
            </a:r>
            <a:r>
              <a:rPr dirty="0" sz="1200" spc="-80"/>
              <a:t>相</a:t>
            </a:r>
            <a:r>
              <a:rPr dirty="0" sz="1200" spc="-185"/>
              <a:t>，</a:t>
            </a:r>
            <a:r>
              <a:rPr dirty="0" sz="1200" spc="-5"/>
              <a:t>而淋洗 用的溶剂是流动</a:t>
            </a:r>
            <a:r>
              <a:rPr dirty="0" sz="1200" spc="-20"/>
              <a:t>相</a:t>
            </a:r>
            <a:r>
              <a:rPr dirty="0" sz="1200" spc="-235"/>
              <a:t>。</a:t>
            </a:r>
            <a:r>
              <a:rPr dirty="0" sz="1200" spc="-5"/>
              <a:t>某一组分在固定相和流动相之间分配的多少 用分配系数来表</a:t>
            </a:r>
            <a:r>
              <a:rPr dirty="0" sz="1200" spc="-80"/>
              <a:t>示</a:t>
            </a:r>
            <a:r>
              <a:rPr dirty="0" sz="1200" spc="-185"/>
              <a:t>，</a:t>
            </a:r>
            <a:r>
              <a:rPr dirty="0" sz="1200" spc="-5"/>
              <a:t>其定义如</a:t>
            </a:r>
            <a:r>
              <a:rPr dirty="0" sz="1200" spc="-90"/>
              <a:t>下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3478" y="1695005"/>
            <a:ext cx="5207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55">
                <a:latin typeface="Georgia"/>
                <a:cs typeface="Georgia"/>
              </a:rPr>
              <a:t> </a:t>
            </a:r>
            <a:r>
              <a:rPr dirty="0" baseline="37878" sz="1650" spc="-7" b="0" i="1">
                <a:latin typeface="Bookman Old Style"/>
                <a:cs typeface="Bookman Old Style"/>
              </a:rPr>
              <a:t>c</a:t>
            </a:r>
            <a:r>
              <a:rPr dirty="0" baseline="50925" sz="900" spc="-7">
                <a:latin typeface="Times New Roman"/>
                <a:cs typeface="Times New Roman"/>
              </a:rPr>
              <a:t>s</a:t>
            </a:r>
            <a:endParaRPr baseline="50925"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89047" y="1811616"/>
            <a:ext cx="142240" cy="0"/>
          </a:xfrm>
          <a:custGeom>
            <a:avLst/>
            <a:gdLst/>
            <a:ahLst/>
            <a:cxnLst/>
            <a:rect l="l" t="t" r="r" b="b"/>
            <a:pathLst>
              <a:path w="142239" h="0">
                <a:moveTo>
                  <a:pt x="0" y="0"/>
                </a:moveTo>
                <a:lnTo>
                  <a:pt x="14220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350947" y="1790039"/>
            <a:ext cx="2120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35" b="0" i="1">
                <a:latin typeface="Bookman Old Style"/>
                <a:cs typeface="Bookman Old Style"/>
              </a:rPr>
              <a:t>c</a:t>
            </a:r>
            <a:r>
              <a:rPr dirty="0" baseline="-13888" sz="900" spc="52">
                <a:latin typeface="Times New Roman"/>
                <a:cs typeface="Times New Roman"/>
              </a:rPr>
              <a:t>m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444" y="2024164"/>
            <a:ext cx="4407535" cy="114427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100" spc="-30" b="0" i="1">
                <a:latin typeface="Bookman Old Style"/>
                <a:cs typeface="Bookman Old Style"/>
              </a:rPr>
              <a:t>K</a:t>
            </a:r>
            <a:r>
              <a:rPr dirty="0" sz="1100" spc="9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是分配系</a:t>
            </a:r>
            <a:r>
              <a:rPr dirty="0" sz="1200" spc="-80">
                <a:latin typeface="Arial Unicode MS"/>
                <a:cs typeface="Arial Unicode MS"/>
              </a:rPr>
              <a:t>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在一定条件下它是常</a:t>
            </a:r>
            <a:r>
              <a:rPr dirty="0" sz="1200" spc="-65">
                <a:latin typeface="Arial Unicode MS"/>
                <a:cs typeface="Arial Unicode MS"/>
              </a:rPr>
              <a:t>数</a:t>
            </a:r>
            <a:r>
              <a:rPr dirty="0" sz="1200" spc="-70">
                <a:latin typeface="Arial Unicode MS"/>
                <a:cs typeface="Arial Unicode MS"/>
              </a:rPr>
              <a:t>；</a:t>
            </a:r>
            <a:r>
              <a:rPr dirty="0" sz="1100" spc="-70" b="0" i="1">
                <a:latin typeface="Bookman Old Style"/>
                <a:cs typeface="Bookman Old Style"/>
              </a:rPr>
              <a:t>c</a:t>
            </a:r>
            <a:r>
              <a:rPr dirty="0" baseline="-13888" sz="900" spc="-104">
                <a:latin typeface="Times New Roman"/>
                <a:cs typeface="Times New Roman"/>
              </a:rPr>
              <a:t>s 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c</a:t>
            </a:r>
            <a:r>
              <a:rPr dirty="0" baseline="-13888" sz="900" spc="52">
                <a:latin typeface="Times New Roman"/>
                <a:cs typeface="Times New Roman"/>
              </a:rPr>
              <a:t>m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分别表示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某组分在固定相和流动相中的浓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38100" marR="30480" indent="303530">
              <a:lnSpc>
                <a:spcPct val="122300"/>
              </a:lnSpc>
            </a:pPr>
            <a:r>
              <a:rPr dirty="0" sz="1200" spc="-10">
                <a:latin typeface="Arial Unicode MS"/>
                <a:cs typeface="Arial Unicode MS"/>
              </a:rPr>
              <a:t>当固定相和流动相一定</a:t>
            </a:r>
            <a:r>
              <a:rPr dirty="0" sz="1200" spc="-85">
                <a:latin typeface="Arial Unicode MS"/>
                <a:cs typeface="Arial Unicode MS"/>
              </a:rPr>
              <a:t>时</a:t>
            </a:r>
            <a:r>
              <a:rPr dirty="0" sz="1200" spc="-24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不同组分的分配系数不</a:t>
            </a:r>
            <a:r>
              <a:rPr dirty="0" sz="1200" spc="-85">
                <a:latin typeface="Arial Unicode MS"/>
                <a:cs typeface="Arial Unicode MS"/>
              </a:rPr>
              <a:t>同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100" spc="-55" b="0" i="1">
                <a:latin typeface="Bookman Old Style"/>
                <a:cs typeface="Bookman Old Style"/>
              </a:rPr>
              <a:t>K</a:t>
            </a:r>
            <a:r>
              <a:rPr dirty="0" sz="1100" spc="5" b="0" i="1">
                <a:latin typeface="Bookman Old Style"/>
                <a:cs typeface="Bookman Old Style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大</a:t>
            </a:r>
            <a:r>
              <a:rPr dirty="0" sz="1200" spc="-5">
                <a:latin typeface="Arial Unicode MS"/>
                <a:cs typeface="Arial Unicode MS"/>
              </a:rPr>
              <a:t>的 组分在固定相中停留的时间</a:t>
            </a:r>
            <a:r>
              <a:rPr dirty="0" sz="1200" spc="-80">
                <a:latin typeface="Arial Unicode MS"/>
                <a:cs typeface="Arial Unicode MS"/>
              </a:rPr>
              <a:t>长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移动速度</a:t>
            </a:r>
            <a:r>
              <a:rPr dirty="0" sz="1200" spc="-80">
                <a:latin typeface="Arial Unicode MS"/>
                <a:cs typeface="Arial Unicode MS"/>
              </a:rPr>
              <a:t>慢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不易被洗</a:t>
            </a:r>
            <a:r>
              <a:rPr dirty="0" sz="1200" spc="-20">
                <a:latin typeface="Arial Unicode MS"/>
                <a:cs typeface="Arial Unicode MS"/>
              </a:rPr>
              <a:t>脱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3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值小 的组分则相</a:t>
            </a:r>
            <a:r>
              <a:rPr dirty="0" sz="1200" spc="-20">
                <a:latin typeface="Arial Unicode MS"/>
                <a:cs typeface="Arial Unicode MS"/>
              </a:rPr>
              <a:t>反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待分离组分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8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值相差越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则越容易被被分</a:t>
            </a:r>
            <a:r>
              <a:rPr dirty="0" sz="1200" spc="-20">
                <a:latin typeface="Arial Unicode MS"/>
                <a:cs typeface="Arial Unicode MS"/>
              </a:rPr>
              <a:t>离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192722"/>
            <a:ext cx="4256405" cy="8140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6715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10.5.2</a:t>
            </a:r>
            <a:r>
              <a:rPr dirty="0" sz="1000" spc="-1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纸层析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分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离法</a:t>
            </a:r>
            <a:endParaRPr sz="105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5"/>
              </a:spcBef>
            </a:pPr>
            <a:r>
              <a:rPr dirty="0" sz="1200" spc="-5">
                <a:latin typeface="Arial Unicode MS"/>
                <a:cs typeface="Arial Unicode MS"/>
              </a:rPr>
              <a:t>纸层析分离法是以层析滤纸为载体的液相色谱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图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所示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为纸层析分离的基本装</a:t>
            </a:r>
            <a:r>
              <a:rPr dirty="0" sz="1200" spc="-20">
                <a:latin typeface="Arial Unicode MS"/>
                <a:cs typeface="Arial Unicode MS"/>
              </a:rPr>
              <a:t>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03997" y="1152865"/>
            <a:ext cx="1799950" cy="1536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27911" y="2855899"/>
            <a:ext cx="11525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0">
                <a:solidFill>
                  <a:srgbClr val="3333B2"/>
                </a:solidFill>
                <a:latin typeface="Georgia"/>
                <a:cs typeface="Georgia"/>
              </a:rPr>
              <a:t>2:</a:t>
            </a:r>
            <a:r>
              <a:rPr dirty="0" sz="1000" spc="-3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纸色谱</a:t>
            </a:r>
            <a:r>
              <a:rPr dirty="0" sz="1050" spc="-10">
                <a:latin typeface="Arial Unicode MS"/>
                <a:cs typeface="Arial Unicode MS"/>
              </a:rPr>
              <a:t>分</a:t>
            </a:r>
            <a:r>
              <a:rPr dirty="0" sz="1050" spc="-5">
                <a:latin typeface="Arial Unicode MS"/>
                <a:cs typeface="Arial Unicode MS"/>
              </a:rPr>
              <a:t>离法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比移值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01" y="1172095"/>
            <a:ext cx="37788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组分在滤纸上的迁移距离用比移值来表</a:t>
            </a:r>
            <a:r>
              <a:rPr dirty="0" sz="1200" spc="-80">
                <a:latin typeface="Arial Unicode MS"/>
                <a:cs typeface="Arial Unicode MS"/>
              </a:rPr>
              <a:t>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其定义如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2133" y="1570316"/>
            <a:ext cx="3886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25" b="0" i="1">
                <a:latin typeface="Bookman Old Style"/>
                <a:cs typeface="Bookman Old Style"/>
              </a:rPr>
              <a:t>R</a:t>
            </a:r>
            <a:r>
              <a:rPr dirty="0" baseline="-13888" sz="900" spc="187" i="1">
                <a:latin typeface="Arial"/>
                <a:cs typeface="Arial"/>
              </a:rPr>
              <a:t>f</a:t>
            </a:r>
            <a:r>
              <a:rPr dirty="0" baseline="-13888" sz="900" spc="292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75955" y="1686928"/>
            <a:ext cx="1518920" cy="0"/>
          </a:xfrm>
          <a:custGeom>
            <a:avLst/>
            <a:gdLst/>
            <a:ahLst/>
            <a:cxnLst/>
            <a:rect l="l" t="t" r="r" b="b"/>
            <a:pathLst>
              <a:path w="1518920" h="0">
                <a:moveTo>
                  <a:pt x="0" y="0"/>
                </a:moveTo>
                <a:lnTo>
                  <a:pt x="151831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35236" y="1570316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3255" y="1463306"/>
            <a:ext cx="183261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45614" algn="l"/>
              </a:tabLst>
            </a:pPr>
            <a:r>
              <a:rPr dirty="0" sz="1200" spc="-5">
                <a:latin typeface="Arial Unicode MS"/>
                <a:cs typeface="Arial Unicode MS"/>
              </a:rPr>
              <a:t>原点至斑点中心的距离</a:t>
            </a:r>
            <a:r>
              <a:rPr dirty="0" sz="1200" spc="-5">
                <a:latin typeface="Arial Unicode MS"/>
                <a:cs typeface="Arial Unicode MS"/>
              </a:rPr>
              <a:t>	</a:t>
            </a:r>
            <a:r>
              <a:rPr dirty="0" sz="1100" spc="-105" b="0" i="1">
                <a:latin typeface="Bookman Old Style"/>
                <a:cs typeface="Bookman Old Style"/>
              </a:rPr>
              <a:t>a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09353" y="1686928"/>
            <a:ext cx="73660" cy="0"/>
          </a:xfrm>
          <a:custGeom>
            <a:avLst/>
            <a:gdLst/>
            <a:ahLst/>
            <a:cxnLst/>
            <a:rect l="l" t="t" r="r" b="b"/>
            <a:pathLst>
              <a:path w="73660" h="0">
                <a:moveTo>
                  <a:pt x="0" y="0"/>
                </a:moveTo>
                <a:lnTo>
                  <a:pt x="7322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63255" y="1652943"/>
            <a:ext cx="18256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52600" algn="l"/>
              </a:tabLst>
            </a:pPr>
            <a:r>
              <a:rPr dirty="0" sz="1200" spc="-5">
                <a:latin typeface="Arial Unicode MS"/>
                <a:cs typeface="Arial Unicode MS"/>
              </a:rPr>
              <a:t>原点至溶剂前沿的距离</a:t>
            </a:r>
            <a:r>
              <a:rPr dirty="0" sz="1200" spc="-5">
                <a:latin typeface="Arial Unicode MS"/>
                <a:cs typeface="Arial Unicode MS"/>
              </a:rPr>
              <a:t>	</a:t>
            </a:r>
            <a:r>
              <a:rPr dirty="0" sz="1100" spc="-195" b="0" i="1">
                <a:latin typeface="Bookman Old Style"/>
                <a:cs typeface="Bookman Old Style"/>
              </a:rPr>
              <a:t>b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444" y="1901431"/>
            <a:ext cx="429577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在所用的滤纸和有机溶剂等条件都一定的情况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不同的物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质都有其特定的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25" b="0" i="1">
                <a:latin typeface="Bookman Old Style"/>
                <a:cs typeface="Bookman Old Style"/>
              </a:rPr>
              <a:t>R</a:t>
            </a:r>
            <a:r>
              <a:rPr dirty="0" baseline="-13888" sz="900" spc="187" i="1">
                <a:latin typeface="Arial"/>
                <a:cs typeface="Arial"/>
              </a:rPr>
              <a:t>f</a:t>
            </a:r>
            <a:r>
              <a:rPr dirty="0" baseline="-13888" sz="900" spc="465" i="1">
                <a:latin typeface="Arial"/>
                <a:cs typeface="Arial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值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可用以定性鉴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09791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solidFill>
                  <a:srgbClr val="FFFFFF"/>
                </a:solidFill>
                <a:latin typeface="Georgia"/>
                <a:cs typeface="Georgia"/>
              </a:rPr>
              <a:t>10.5.3</a:t>
            </a:r>
            <a:r>
              <a:rPr dirty="0" sz="1000" spc="12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薄层层</a:t>
            </a:r>
            <a:r>
              <a:rPr dirty="0" sz="1050" spc="-10">
                <a:solidFill>
                  <a:srgbClr val="FFFFFF"/>
                </a:solidFill>
              </a:rPr>
              <a:t>析</a:t>
            </a:r>
            <a:r>
              <a:rPr dirty="0" sz="1050" spc="-5">
                <a:solidFill>
                  <a:srgbClr val="FFFFFF"/>
                </a:solidFill>
              </a:rPr>
              <a:t>法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63383"/>
            <a:ext cx="435673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薄层层析法与纸层析法类</a:t>
            </a:r>
            <a:r>
              <a:rPr dirty="0" sz="1200" spc="-80">
                <a:latin typeface="Arial Unicode MS"/>
                <a:cs typeface="Arial Unicode MS"/>
              </a:rPr>
              <a:t>似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不同之处在于它采用玻璃板作 为载</a:t>
            </a:r>
            <a:r>
              <a:rPr dirty="0" sz="1200" spc="-80">
                <a:latin typeface="Arial Unicode MS"/>
                <a:cs typeface="Arial Unicode MS"/>
              </a:rPr>
              <a:t>体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将固定</a:t>
            </a:r>
            <a:r>
              <a:rPr dirty="0" sz="1200" spc="-260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（固定</a:t>
            </a:r>
            <a:r>
              <a:rPr dirty="0" sz="1200" spc="30">
                <a:latin typeface="Arial Unicode MS"/>
                <a:cs typeface="Arial Unicode MS"/>
              </a:rPr>
              <a:t>相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是均匀地涂抹在玻璃板上形成一个薄 </a:t>
            </a:r>
            <a:r>
              <a:rPr dirty="0" sz="1200" spc="-80">
                <a:latin typeface="Arial Unicode MS"/>
                <a:cs typeface="Arial Unicode MS"/>
              </a:rPr>
              <a:t>层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样品组分的分离在这个薄层上进</a:t>
            </a:r>
            <a:r>
              <a:rPr dirty="0" sz="1200" spc="-20">
                <a:latin typeface="Arial Unicode MS"/>
                <a:cs typeface="Arial Unicode MS"/>
              </a:rPr>
              <a:t>行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薄层层析法的作用原理</a:t>
            </a:r>
            <a:r>
              <a:rPr dirty="0" sz="1200" spc="-5">
                <a:latin typeface="Arial Unicode MS"/>
                <a:cs typeface="Arial Unicode MS"/>
              </a:rPr>
              <a:t>及 </a:t>
            </a:r>
            <a:r>
              <a:rPr dirty="0" sz="1200" spc="-5">
                <a:latin typeface="Arial Unicode MS"/>
                <a:cs typeface="Arial Unicode MS"/>
              </a:rPr>
              <a:t>操作方法也与纸层析法类</a:t>
            </a:r>
            <a:r>
              <a:rPr dirty="0" sz="1200" spc="-20">
                <a:latin typeface="Arial Unicode MS"/>
                <a:cs typeface="Arial Unicode MS"/>
              </a:rPr>
              <a:t>似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68859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10.6</a:t>
            </a:r>
            <a:r>
              <a:rPr dirty="0" sz="1400" spc="2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其它分离与富集方法简介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740369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2002028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263673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5844" y="1114742"/>
            <a:ext cx="4244975" cy="1257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除了上述几种比较经典的分离富集方法</a:t>
            </a:r>
            <a:r>
              <a:rPr dirty="0" sz="1200" spc="-80">
                <a:latin typeface="Arial Unicode MS"/>
                <a:cs typeface="Arial Unicode MS"/>
              </a:rPr>
              <a:t>外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新技术的发展也 </a:t>
            </a:r>
            <a:r>
              <a:rPr dirty="0" sz="1200" spc="-5">
                <a:latin typeface="Arial Unicode MS"/>
                <a:cs typeface="Arial Unicode MS"/>
              </a:rPr>
              <a:t>产生出了许多新的分离富集方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比较有代表性的</a:t>
            </a:r>
            <a:r>
              <a:rPr dirty="0" sz="1200" spc="-90">
                <a:latin typeface="Arial Unicode MS"/>
                <a:cs typeface="Arial Unicode MS"/>
              </a:rPr>
              <a:t>是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超临界流体萃取分离法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毛细管电泳分离法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膜分离法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76212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Georgia"/>
                <a:cs typeface="Georgia"/>
              </a:rPr>
              <a:t>10.6.1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超临界</a:t>
            </a:r>
            <a:r>
              <a:rPr dirty="0" sz="1050" spc="-10">
                <a:solidFill>
                  <a:srgbClr val="FFFFFF"/>
                </a:solidFill>
              </a:rPr>
              <a:t>流</a:t>
            </a:r>
            <a:r>
              <a:rPr dirty="0" sz="1050" spc="-5">
                <a:solidFill>
                  <a:srgbClr val="FFFFFF"/>
                </a:solidFill>
              </a:rPr>
              <a:t>体萃取分</a:t>
            </a:r>
            <a:r>
              <a:rPr dirty="0" sz="1050" spc="-10">
                <a:solidFill>
                  <a:srgbClr val="FFFFFF"/>
                </a:solidFill>
              </a:rPr>
              <a:t>离</a:t>
            </a:r>
            <a:r>
              <a:rPr dirty="0" sz="1050" spc="-5">
                <a:solidFill>
                  <a:srgbClr val="FFFFFF"/>
                </a:solidFill>
              </a:rPr>
              <a:t>法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21310">
              <a:lnSpc>
                <a:spcPct val="100000"/>
              </a:lnSpc>
              <a:spcBef>
                <a:spcPts val="420"/>
              </a:spcBef>
            </a:pPr>
            <a:r>
              <a:rPr dirty="0" spc="-5"/>
              <a:t>超临界流体萃取分离法是利用超临界流体作为萃取剂的一种</a:t>
            </a:r>
          </a:p>
          <a:p>
            <a:pPr marL="17780">
              <a:lnSpc>
                <a:spcPct val="100000"/>
              </a:lnSpc>
              <a:spcBef>
                <a:spcPts val="320"/>
              </a:spcBef>
            </a:pPr>
            <a:r>
              <a:rPr dirty="0" spc="-5"/>
              <a:t>分离方</a:t>
            </a:r>
            <a:r>
              <a:rPr dirty="0" spc="-20"/>
              <a:t>法</a:t>
            </a:r>
            <a:r>
              <a:rPr dirty="0" spc="-5"/>
              <a:t>。</a:t>
            </a:r>
          </a:p>
          <a:p>
            <a:pPr marL="17780" marR="33655" indent="303530">
              <a:lnSpc>
                <a:spcPct val="122300"/>
              </a:lnSpc>
            </a:pPr>
            <a:r>
              <a:rPr dirty="0" spc="-5"/>
              <a:t>所谓超临界流</a:t>
            </a:r>
            <a:r>
              <a:rPr dirty="0" spc="-80"/>
              <a:t>体</a:t>
            </a:r>
            <a:r>
              <a:rPr dirty="0" spc="-185"/>
              <a:t>，</a:t>
            </a:r>
            <a:r>
              <a:rPr dirty="0" spc="-5"/>
              <a:t>是指物质处于其临界温度和临界压力之上 </a:t>
            </a:r>
            <a:r>
              <a:rPr dirty="0" spc="-5"/>
              <a:t>时的一种状</a:t>
            </a:r>
            <a:r>
              <a:rPr dirty="0" spc="-20"/>
              <a:t>态</a:t>
            </a:r>
            <a:r>
              <a:rPr dirty="0" spc="-235"/>
              <a:t>。</a:t>
            </a:r>
            <a:r>
              <a:rPr dirty="0" spc="-5"/>
              <a:t>这种流体兼有液体和气体的特</a:t>
            </a:r>
            <a:r>
              <a:rPr dirty="0" spc="-80"/>
              <a:t>点</a:t>
            </a:r>
            <a:r>
              <a:rPr dirty="0" spc="-185"/>
              <a:t>，</a:t>
            </a:r>
            <a:r>
              <a:rPr dirty="0" spc="-5"/>
              <a:t>密度</a:t>
            </a:r>
            <a:r>
              <a:rPr dirty="0" spc="-80"/>
              <a:t>大</a:t>
            </a:r>
            <a:r>
              <a:rPr dirty="0" spc="-185"/>
              <a:t>，</a:t>
            </a:r>
            <a:r>
              <a:rPr dirty="0" spc="-5"/>
              <a:t>粘稠度 </a:t>
            </a:r>
            <a:r>
              <a:rPr dirty="0" spc="-80"/>
              <a:t>低</a:t>
            </a:r>
            <a:r>
              <a:rPr dirty="0" spc="-185"/>
              <a:t>，</a:t>
            </a:r>
            <a:r>
              <a:rPr dirty="0" spc="-5"/>
              <a:t>表面张力</a:t>
            </a:r>
            <a:r>
              <a:rPr dirty="0" spc="-80"/>
              <a:t>小</a:t>
            </a:r>
            <a:r>
              <a:rPr dirty="0" spc="-185"/>
              <a:t>，</a:t>
            </a:r>
            <a:r>
              <a:rPr dirty="0" spc="-5"/>
              <a:t>有极高的溶解能</a:t>
            </a:r>
            <a:r>
              <a:rPr dirty="0" spc="-80"/>
              <a:t>力</a:t>
            </a:r>
            <a:r>
              <a:rPr dirty="0" spc="-185"/>
              <a:t>，</a:t>
            </a:r>
            <a:r>
              <a:rPr dirty="0" spc="-5"/>
              <a:t>能深入到提取材料的基质 </a:t>
            </a:r>
            <a:r>
              <a:rPr dirty="0" spc="-80"/>
              <a:t>中</a:t>
            </a:r>
            <a:r>
              <a:rPr dirty="0" spc="-185"/>
              <a:t>，</a:t>
            </a:r>
            <a:r>
              <a:rPr dirty="0" spc="-5"/>
              <a:t>发挥非常有效的萃取功</a:t>
            </a:r>
            <a:r>
              <a:rPr dirty="0" spc="-20"/>
              <a:t>能</a:t>
            </a:r>
            <a:r>
              <a:rPr dirty="0" spc="-5"/>
              <a:t>。</a:t>
            </a:r>
          </a:p>
          <a:p>
            <a:pPr marL="321310">
              <a:lnSpc>
                <a:spcPct val="100000"/>
              </a:lnSpc>
              <a:spcBef>
                <a:spcPts val="325"/>
              </a:spcBef>
            </a:pPr>
            <a:r>
              <a:rPr dirty="0" spc="-5"/>
              <a:t>而超临界流体萃</a:t>
            </a:r>
            <a:r>
              <a:rPr dirty="0" spc="-80"/>
              <a:t>取</a:t>
            </a:r>
            <a:r>
              <a:rPr dirty="0" spc="-185"/>
              <a:t>，</a:t>
            </a:r>
            <a:r>
              <a:rPr dirty="0" spc="-5"/>
              <a:t>就是利用超临界流体的这一强溶解能力</a:t>
            </a:r>
          </a:p>
          <a:p>
            <a:pPr marL="17780">
              <a:lnSpc>
                <a:spcPct val="100000"/>
              </a:lnSpc>
              <a:spcBef>
                <a:spcPts val="320"/>
              </a:spcBef>
            </a:pPr>
            <a:r>
              <a:rPr dirty="0" spc="-5"/>
              <a:t>特</a:t>
            </a:r>
            <a:r>
              <a:rPr dirty="0" spc="-80"/>
              <a:t>性</a:t>
            </a:r>
            <a:r>
              <a:rPr dirty="0" spc="-185"/>
              <a:t>，</a:t>
            </a:r>
            <a:r>
              <a:rPr dirty="0" spc="-5"/>
              <a:t>从样品中提取各种组</a:t>
            </a:r>
            <a:r>
              <a:rPr dirty="0" spc="-80"/>
              <a:t>分</a:t>
            </a:r>
            <a:r>
              <a:rPr dirty="0" spc="-185"/>
              <a:t>，</a:t>
            </a:r>
            <a:r>
              <a:rPr dirty="0" spc="-5"/>
              <a:t>再通过减压将其释放出来的过</a:t>
            </a:r>
            <a:r>
              <a:rPr dirty="0" spc="-20"/>
              <a:t>程</a:t>
            </a:r>
            <a:r>
              <a:rPr dirty="0" spc="-5"/>
              <a:t>。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55689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工作介质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00444" y="905345"/>
            <a:ext cx="4485005" cy="18154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107314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超临界流体萃取通常采用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baseline="-13888" sz="900" spc="82">
                <a:latin typeface="Times New Roman"/>
                <a:cs typeface="Times New Roman"/>
              </a:rPr>
              <a:t>2</a:t>
            </a:r>
            <a:r>
              <a:rPr dirty="0" baseline="-13888" sz="900" spc="3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为萃取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其超临界温度为 </a:t>
            </a:r>
            <a:r>
              <a:rPr dirty="0" sz="1100" spc="10">
                <a:latin typeface="Georgia"/>
                <a:cs typeface="Georgia"/>
              </a:rPr>
              <a:t>31</a:t>
            </a:r>
            <a:r>
              <a:rPr dirty="0" sz="1100" spc="10" b="0" i="1">
                <a:latin typeface="Bookman Old Style"/>
                <a:cs typeface="Bookman Old Style"/>
              </a:rPr>
              <a:t>.</a:t>
            </a:r>
            <a:r>
              <a:rPr dirty="0" sz="1100" spc="10">
                <a:latin typeface="Georgia"/>
                <a:cs typeface="Georgia"/>
              </a:rPr>
              <a:t>1</a:t>
            </a:r>
            <a:r>
              <a:rPr dirty="0" baseline="37037" sz="900" spc="15" i="1">
                <a:latin typeface="Arial"/>
                <a:cs typeface="Arial"/>
              </a:rPr>
              <a:t>◦</a:t>
            </a:r>
            <a:r>
              <a:rPr dirty="0" sz="1100" spc="10">
                <a:latin typeface="Georgia"/>
                <a:cs typeface="Georgia"/>
              </a:rPr>
              <a:t>C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超临界压力为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50">
                <a:latin typeface="Georgia"/>
                <a:cs typeface="Georgia"/>
              </a:rPr>
              <a:t>72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9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10">
                <a:latin typeface="Georgia"/>
                <a:cs typeface="Georgia"/>
              </a:rPr>
              <a:t>10</a:t>
            </a:r>
            <a:r>
              <a:rPr dirty="0" baseline="37037" sz="900" spc="15">
                <a:latin typeface="Times New Roman"/>
                <a:cs typeface="Times New Roman"/>
              </a:rPr>
              <a:t>6</a:t>
            </a:r>
            <a:r>
              <a:rPr dirty="0" sz="1100" spc="10">
                <a:latin typeface="Georgia"/>
                <a:cs typeface="Georgia"/>
              </a:rPr>
              <a:t>Pa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在此超临界状态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既能有效 地将物质溶解出</a:t>
            </a:r>
            <a:r>
              <a:rPr dirty="0" sz="1200" spc="-80">
                <a:latin typeface="Arial Unicode MS"/>
                <a:cs typeface="Arial Unicode MS"/>
              </a:rPr>
              <a:t>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又能比较完好地保存天然有效成分不被破坏 </a:t>
            </a:r>
            <a:r>
              <a:rPr dirty="0" sz="1200" spc="-10">
                <a:latin typeface="Arial Unicode MS"/>
                <a:cs typeface="Arial Unicode MS"/>
              </a:rPr>
              <a:t>或发生次生</a:t>
            </a:r>
            <a:r>
              <a:rPr dirty="0" sz="1200" spc="-80">
                <a:latin typeface="Arial Unicode MS"/>
                <a:cs typeface="Arial Unicode MS"/>
              </a:rPr>
              <a:t>化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对热敏感性</a:t>
            </a:r>
            <a:r>
              <a:rPr dirty="0" sz="1200" spc="15">
                <a:latin typeface="Arial Unicode MS"/>
                <a:cs typeface="Arial Unicode MS"/>
              </a:rPr>
              <a:t>强</a:t>
            </a:r>
            <a:r>
              <a:rPr dirty="0" sz="1200" spc="-290">
                <a:latin typeface="Arial Unicode MS"/>
                <a:cs typeface="Arial Unicode MS"/>
              </a:rPr>
              <a:t>、</a:t>
            </a:r>
            <a:r>
              <a:rPr dirty="0" sz="1200" spc="-10">
                <a:latin typeface="Arial Unicode MS"/>
                <a:cs typeface="Arial Unicode MS"/>
              </a:rPr>
              <a:t>容易氧化分解的成分的提取尤为</a:t>
            </a:r>
            <a:r>
              <a:rPr dirty="0" sz="1200" spc="-5">
                <a:latin typeface="Arial Unicode MS"/>
                <a:cs typeface="Arial Unicode MS"/>
              </a:rPr>
              <a:t>有 </a:t>
            </a:r>
            <a:r>
              <a:rPr dirty="0" sz="1200" spc="-20">
                <a:latin typeface="Arial Unicode MS"/>
                <a:cs typeface="Arial Unicode MS"/>
              </a:rPr>
              <a:t>利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8100" marR="30480" indent="303530">
              <a:lnSpc>
                <a:spcPct val="122300"/>
              </a:lnSpc>
            </a:pPr>
            <a:r>
              <a:rPr dirty="0" sz="1200" spc="-10">
                <a:latin typeface="Arial Unicode MS"/>
                <a:cs typeface="Arial Unicode MS"/>
              </a:rPr>
              <a:t>被萃取物质通过减压的方式被释放出</a:t>
            </a:r>
            <a:r>
              <a:rPr dirty="0" sz="1200" spc="-80">
                <a:latin typeface="Arial Unicode MS"/>
                <a:cs typeface="Arial Unicode MS"/>
              </a:rPr>
              <a:t>来</a:t>
            </a:r>
            <a:r>
              <a:rPr dirty="0" sz="1200" spc="-2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baseline="-13888" sz="900" spc="82">
                <a:latin typeface="Times New Roman"/>
                <a:cs typeface="Times New Roman"/>
              </a:rPr>
              <a:t>2</a:t>
            </a:r>
            <a:r>
              <a:rPr dirty="0" baseline="-13888" sz="900" spc="3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则循环使</a:t>
            </a:r>
            <a:r>
              <a:rPr dirty="0" sz="1200" spc="-20">
                <a:latin typeface="Arial Unicode MS"/>
                <a:cs typeface="Arial Unicode MS"/>
              </a:rPr>
              <a:t>用</a:t>
            </a:r>
            <a:r>
              <a:rPr dirty="0" sz="1200" spc="-5">
                <a:latin typeface="Arial Unicode MS"/>
                <a:cs typeface="Arial Unicode MS"/>
              </a:rPr>
              <a:t>。 超临界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baseline="-13888" sz="900" spc="82">
                <a:latin typeface="Times New Roman"/>
                <a:cs typeface="Times New Roman"/>
              </a:rPr>
              <a:t>2</a:t>
            </a:r>
            <a:r>
              <a:rPr dirty="0" baseline="-13888" sz="900" spc="3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可以溶解绝大多数非极</a:t>
            </a:r>
            <a:r>
              <a:rPr dirty="0" sz="1200" spc="15">
                <a:latin typeface="Arial Unicode MS"/>
                <a:cs typeface="Arial Unicode MS"/>
              </a:rPr>
              <a:t>性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中极性化合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在加入改 性剂后则可溶解某些极性化合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55689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应用领域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274599" y="1499235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984590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469946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955302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5844" y="649922"/>
            <a:ext cx="4439920" cy="241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07314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超临界流体萃取技术已被广泛应用于医</a:t>
            </a:r>
            <a:r>
              <a:rPr dirty="0" sz="1200" spc="15">
                <a:latin typeface="Arial Unicode MS"/>
                <a:cs typeface="Arial Unicode MS"/>
              </a:rPr>
              <a:t>药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食</a:t>
            </a:r>
            <a:r>
              <a:rPr dirty="0" sz="1200" spc="15">
                <a:latin typeface="Arial Unicode MS"/>
                <a:cs typeface="Arial Unicode MS"/>
              </a:rPr>
              <a:t>品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保</a:t>
            </a:r>
            <a:r>
              <a:rPr dirty="0" sz="1200" spc="15">
                <a:latin typeface="Arial Unicode MS"/>
                <a:cs typeface="Arial Unicode MS"/>
              </a:rPr>
              <a:t>健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石油 </a:t>
            </a:r>
            <a:r>
              <a:rPr dirty="0" sz="1200" spc="-5">
                <a:latin typeface="Arial Unicode MS"/>
                <a:cs typeface="Arial Unicode MS"/>
              </a:rPr>
              <a:t>化</a:t>
            </a:r>
            <a:r>
              <a:rPr dirty="0" sz="1200" spc="15">
                <a:latin typeface="Arial Unicode MS"/>
                <a:cs typeface="Arial Unicode MS"/>
              </a:rPr>
              <a:t>工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环</a:t>
            </a:r>
            <a:r>
              <a:rPr dirty="0" sz="1200" spc="15">
                <a:latin typeface="Arial Unicode MS"/>
                <a:cs typeface="Arial Unicode MS"/>
              </a:rPr>
              <a:t>保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发</a:t>
            </a:r>
            <a:r>
              <a:rPr dirty="0" sz="1200" spc="15">
                <a:latin typeface="Arial Unicode MS"/>
                <a:cs typeface="Arial Unicode MS"/>
              </a:rPr>
              <a:t>电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核废料处理及纺织印染等诸多领</a:t>
            </a:r>
            <a:r>
              <a:rPr dirty="0" sz="1200" spc="-20">
                <a:latin typeface="Arial Unicode MS"/>
                <a:cs typeface="Arial Unicode MS"/>
              </a:rPr>
              <a:t>域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主要应用 领域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just"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中草药有效成分的提取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100" spc="43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如银杏黄</a:t>
            </a:r>
            <a:r>
              <a:rPr dirty="0" sz="1200" spc="15">
                <a:latin typeface="Arial Unicode MS"/>
                <a:cs typeface="Arial Unicode MS"/>
              </a:rPr>
              <a:t>酮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紫杉</a:t>
            </a:r>
            <a:r>
              <a:rPr dirty="0" sz="1200" spc="15">
                <a:latin typeface="Arial Unicode MS"/>
                <a:cs typeface="Arial Unicode MS"/>
              </a:rPr>
              <a:t>醇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青嵩</a:t>
            </a:r>
            <a:r>
              <a:rPr dirty="0" sz="1200" spc="15">
                <a:latin typeface="Arial Unicode MS"/>
                <a:cs typeface="Arial Unicode MS"/>
              </a:rPr>
              <a:t>素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人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参皂</a:t>
            </a:r>
            <a:r>
              <a:rPr dirty="0" sz="1200" spc="15">
                <a:latin typeface="Arial Unicode MS"/>
                <a:cs typeface="Arial Unicode MS"/>
              </a:rPr>
              <a:t>甙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马钱子</a:t>
            </a:r>
            <a:r>
              <a:rPr dirty="0" sz="1200" spc="15">
                <a:latin typeface="Arial Unicode MS"/>
                <a:cs typeface="Arial Unicode MS"/>
              </a:rPr>
              <a:t>碱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阿托</a:t>
            </a:r>
            <a:r>
              <a:rPr dirty="0" sz="1200" spc="15">
                <a:latin typeface="Arial Unicode MS"/>
                <a:cs typeface="Arial Unicode MS"/>
              </a:rPr>
              <a:t>品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甘草等的提</a:t>
            </a:r>
            <a:r>
              <a:rPr dirty="0" sz="1200" spc="15">
                <a:latin typeface="Arial Unicode MS"/>
                <a:cs typeface="Arial Unicode MS"/>
              </a:rPr>
              <a:t>取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精</a:t>
            </a:r>
            <a:r>
              <a:rPr dirty="0" sz="1200" spc="-20">
                <a:latin typeface="Arial Unicode MS"/>
                <a:cs typeface="Arial Unicode MS"/>
              </a:rPr>
              <a:t>制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10">
                <a:latin typeface="Arial Unicode MS"/>
                <a:cs typeface="Arial Unicode MS"/>
              </a:rPr>
              <a:t>食品添</a:t>
            </a:r>
            <a:r>
              <a:rPr dirty="0" sz="1200" spc="-5">
                <a:latin typeface="Arial Unicode MS"/>
                <a:cs typeface="Arial Unicode MS"/>
              </a:rPr>
              <a:t>加剂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100" spc="409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如咖啡去除咖啡</a:t>
            </a:r>
            <a:r>
              <a:rPr dirty="0" sz="1200" spc="-70">
                <a:latin typeface="Arial Unicode MS"/>
                <a:cs typeface="Arial Unicode MS"/>
              </a:rPr>
              <a:t>因</a:t>
            </a:r>
            <a:r>
              <a:rPr dirty="0" sz="1200" spc="-204">
                <a:latin typeface="Arial Unicode MS"/>
                <a:cs typeface="Arial Unicode MS"/>
              </a:rPr>
              <a:t>；</a:t>
            </a:r>
            <a:r>
              <a:rPr dirty="0" sz="1200" spc="-10">
                <a:latin typeface="Arial Unicode MS"/>
                <a:cs typeface="Arial Unicode MS"/>
              </a:rPr>
              <a:t>辣椒红色</a:t>
            </a:r>
            <a:r>
              <a:rPr dirty="0" sz="1200" spc="-80">
                <a:latin typeface="Arial Unicode MS"/>
                <a:cs typeface="Arial Unicode MS"/>
              </a:rPr>
              <a:t>素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黑加仑籽</a:t>
            </a:r>
            <a:r>
              <a:rPr dirty="0" sz="1200" spc="-80">
                <a:latin typeface="Arial Unicode MS"/>
                <a:cs typeface="Arial Unicode MS"/>
              </a:rPr>
              <a:t>油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啤酒花浸膏的提取</a:t>
            </a:r>
            <a:r>
              <a:rPr dirty="0" sz="1200" spc="-20">
                <a:latin typeface="Arial Unicode MS"/>
                <a:cs typeface="Arial Unicode MS"/>
              </a:rPr>
              <a:t>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高级营养保键品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100" spc="43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如卵磷</a:t>
            </a:r>
            <a:r>
              <a:rPr dirty="0" sz="1200" spc="15">
                <a:latin typeface="Arial Unicode MS"/>
                <a:cs typeface="Arial Unicode MS"/>
              </a:rPr>
              <a:t>脂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天然鱼</a:t>
            </a:r>
            <a:r>
              <a:rPr dirty="0" sz="1200" spc="15">
                <a:latin typeface="Arial Unicode MS"/>
                <a:cs typeface="Arial Unicode MS"/>
              </a:rPr>
              <a:t>油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沙棘籽</a:t>
            </a:r>
            <a:r>
              <a:rPr dirty="0" sz="1200" spc="15">
                <a:latin typeface="Arial Unicode MS"/>
                <a:cs typeface="Arial Unicode MS"/>
              </a:rPr>
              <a:t>油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小麦胚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芽</a:t>
            </a:r>
            <a:r>
              <a:rPr dirty="0" sz="1200" spc="15">
                <a:latin typeface="Arial Unicode MS"/>
                <a:cs typeface="Arial Unicode MS"/>
              </a:rPr>
              <a:t>油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玉米胚芽</a:t>
            </a:r>
            <a:r>
              <a:rPr dirty="0" sz="1200" spc="15">
                <a:latin typeface="Arial Unicode MS"/>
                <a:cs typeface="Arial Unicode MS"/>
              </a:rPr>
              <a:t>油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大蒜</a:t>
            </a:r>
            <a:r>
              <a:rPr dirty="0" sz="1200" spc="15">
                <a:latin typeface="Arial Unicode MS"/>
                <a:cs typeface="Arial Unicode MS"/>
              </a:rPr>
              <a:t>素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100" spc="-30" b="0" i="1">
                <a:latin typeface="Bookman Old Style"/>
                <a:cs typeface="Bookman Old Style"/>
              </a:rPr>
              <a:t>α</a:t>
            </a:r>
            <a:r>
              <a:rPr dirty="0" sz="1100" spc="-30">
                <a:latin typeface="Georgia"/>
                <a:cs typeface="Georgia"/>
              </a:rPr>
              <a:t>-</a:t>
            </a:r>
            <a:r>
              <a:rPr dirty="0" sz="1200" spc="-5">
                <a:latin typeface="Arial Unicode MS"/>
                <a:cs typeface="Arial Unicode MS"/>
              </a:rPr>
              <a:t>亚麻</a:t>
            </a:r>
            <a:r>
              <a:rPr dirty="0" sz="1200" spc="15">
                <a:latin typeface="Arial Unicode MS"/>
                <a:cs typeface="Arial Unicode MS"/>
              </a:rPr>
              <a:t>酸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茶多酚等的提</a:t>
            </a:r>
            <a:r>
              <a:rPr dirty="0" sz="1200" spc="-20">
                <a:latin typeface="Arial Unicode MS"/>
                <a:cs typeface="Arial Unicode MS"/>
              </a:rPr>
              <a:t>取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环境保护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100" spc="45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超临界水氧化处理污</a:t>
            </a:r>
            <a:r>
              <a:rPr dirty="0" sz="1200" spc="-20">
                <a:latin typeface="Arial Unicode MS"/>
                <a:cs typeface="Arial Unicode MS"/>
              </a:rPr>
              <a:t>水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49606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10.6.2</a:t>
            </a:r>
            <a:r>
              <a:rPr dirty="0" sz="1000" spc="14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毛细管</a:t>
            </a:r>
            <a:r>
              <a:rPr dirty="0" sz="1050" spc="-10">
                <a:solidFill>
                  <a:srgbClr val="FFFFFF"/>
                </a:solidFill>
              </a:rPr>
              <a:t>电</a:t>
            </a:r>
            <a:r>
              <a:rPr dirty="0" sz="1050" spc="-5">
                <a:solidFill>
                  <a:srgbClr val="FFFFFF"/>
                </a:solidFill>
              </a:rPr>
              <a:t>泳分离法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74750"/>
            <a:ext cx="4427220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毛细管电泳是在传统电泳技术的基础上发展的一种分离技</a:t>
            </a:r>
            <a:r>
              <a:rPr dirty="0" sz="1200" spc="-20">
                <a:latin typeface="Arial Unicode MS"/>
                <a:cs typeface="Arial Unicode MS"/>
              </a:rPr>
              <a:t>术</a:t>
            </a:r>
            <a:r>
              <a:rPr dirty="0" sz="1200" spc="-5">
                <a:latin typeface="Arial Unicode MS"/>
                <a:cs typeface="Arial Unicode MS"/>
              </a:rPr>
              <a:t>。 </a:t>
            </a:r>
            <a:r>
              <a:rPr dirty="0" sz="1200" spc="-5">
                <a:latin typeface="Arial Unicode MS"/>
                <a:cs typeface="Arial Unicode MS"/>
              </a:rPr>
              <a:t>传统的电泳分离技术通常用于生</a:t>
            </a:r>
            <a:r>
              <a:rPr dirty="0" sz="1200" spc="15">
                <a:latin typeface="Arial Unicode MS"/>
                <a:cs typeface="Arial Unicode MS"/>
              </a:rPr>
              <a:t>物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医学领</a:t>
            </a:r>
            <a:r>
              <a:rPr dirty="0" sz="1200" spc="-80">
                <a:latin typeface="Arial Unicode MS"/>
                <a:cs typeface="Arial Unicode MS"/>
              </a:rPr>
              <a:t>域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由于难以克 </a:t>
            </a:r>
            <a:r>
              <a:rPr dirty="0" sz="1200" spc="-10">
                <a:latin typeface="Arial Unicode MS"/>
                <a:cs typeface="Arial Unicode MS"/>
              </a:rPr>
              <a:t>服由高电压引起的发热问</a:t>
            </a:r>
            <a:r>
              <a:rPr dirty="0" sz="1200" spc="-80">
                <a:latin typeface="Arial Unicode MS"/>
                <a:cs typeface="Arial Unicode MS"/>
              </a:rPr>
              <a:t>题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使其应用受到一定的限</a:t>
            </a:r>
            <a:r>
              <a:rPr dirty="0" sz="1200" spc="-20">
                <a:latin typeface="Arial Unicode MS"/>
                <a:cs typeface="Arial Unicode MS"/>
              </a:rPr>
              <a:t>制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毛细管</a:t>
            </a:r>
            <a:r>
              <a:rPr dirty="0" sz="1200" spc="-5">
                <a:latin typeface="Arial Unicode MS"/>
                <a:cs typeface="Arial Unicode MS"/>
              </a:rPr>
              <a:t>电 </a:t>
            </a:r>
            <a:r>
              <a:rPr dirty="0" sz="1200" spc="-10">
                <a:latin typeface="Arial Unicode MS"/>
                <a:cs typeface="Arial Unicode MS"/>
              </a:rPr>
              <a:t>泳是指以高压电场为驱动</a:t>
            </a:r>
            <a:r>
              <a:rPr dirty="0" sz="1200" spc="-80">
                <a:latin typeface="Arial Unicode MS"/>
                <a:cs typeface="Arial Unicode MS"/>
              </a:rPr>
              <a:t>力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以毛细管为分离通</a:t>
            </a:r>
            <a:r>
              <a:rPr dirty="0" sz="1200" spc="-80">
                <a:latin typeface="Arial Unicode MS"/>
                <a:cs typeface="Arial Unicode MS"/>
              </a:rPr>
              <a:t>道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依据样品中</a:t>
            </a:r>
            <a:r>
              <a:rPr dirty="0" sz="1200" spc="-5">
                <a:latin typeface="Arial Unicode MS"/>
                <a:cs typeface="Arial Unicode MS"/>
              </a:rPr>
              <a:t>各 组分离子淌度上的差异而实现分离的一类分离技</a:t>
            </a:r>
            <a:r>
              <a:rPr dirty="0" sz="1200" spc="-20">
                <a:latin typeface="Arial Unicode MS"/>
                <a:cs typeface="Arial Unicode MS"/>
              </a:rPr>
              <a:t>术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4006" y="836859"/>
            <a:ext cx="2879969" cy="880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62201" y="1884045"/>
            <a:ext cx="168402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45">
                <a:solidFill>
                  <a:srgbClr val="3333B2"/>
                </a:solidFill>
                <a:latin typeface="Georgia"/>
                <a:cs typeface="Georgia"/>
              </a:rPr>
              <a:t>3:</a:t>
            </a:r>
            <a:r>
              <a:rPr dirty="0" sz="1000" spc="-4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毛</a:t>
            </a:r>
            <a:r>
              <a:rPr dirty="0" sz="1050" spc="-5">
                <a:latin typeface="Arial Unicode MS"/>
                <a:cs typeface="Arial Unicode MS"/>
              </a:rPr>
              <a:t>细管电泳</a:t>
            </a:r>
            <a:r>
              <a:rPr dirty="0" sz="1050" spc="-10">
                <a:latin typeface="Arial Unicode MS"/>
                <a:cs typeface="Arial Unicode MS"/>
              </a:rPr>
              <a:t>装</a:t>
            </a:r>
            <a:r>
              <a:rPr dirty="0" sz="1050" spc="-5">
                <a:latin typeface="Arial Unicode MS"/>
                <a:cs typeface="Arial Unicode MS"/>
              </a:rPr>
              <a:t>置示意图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96456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10.6.3</a:t>
            </a:r>
            <a:r>
              <a:rPr dirty="0" sz="1000" spc="15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膜分离法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74991"/>
            <a:ext cx="4399915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膜分离法是采用天然或人工合成的高分子薄</a:t>
            </a:r>
            <a:r>
              <a:rPr dirty="0" sz="1200" spc="-80">
                <a:latin typeface="Arial Unicode MS"/>
                <a:cs typeface="Arial Unicode MS"/>
              </a:rPr>
              <a:t>膜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利用浓度</a:t>
            </a:r>
            <a:r>
              <a:rPr dirty="0" sz="1200" spc="15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、 </a:t>
            </a:r>
            <a:r>
              <a:rPr dirty="0" sz="1200" spc="-5">
                <a:latin typeface="Arial Unicode MS"/>
                <a:cs typeface="Arial Unicode MS"/>
              </a:rPr>
              <a:t>压力</a:t>
            </a:r>
            <a:r>
              <a:rPr dirty="0" sz="1200" spc="15">
                <a:latin typeface="Arial Unicode MS"/>
                <a:cs typeface="Arial Unicode MS"/>
              </a:rPr>
              <a:t>差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电位差等作为推动</a:t>
            </a:r>
            <a:r>
              <a:rPr dirty="0" sz="1200" spc="-80">
                <a:latin typeface="Arial Unicode MS"/>
                <a:cs typeface="Arial Unicode MS"/>
              </a:rPr>
              <a:t>力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使某些组分有选择性地透过</a:t>
            </a:r>
            <a:r>
              <a:rPr dirty="0" sz="1200" spc="-80">
                <a:latin typeface="Arial Unicode MS"/>
                <a:cs typeface="Arial Unicode MS"/>
              </a:rPr>
              <a:t>膜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 </a:t>
            </a:r>
            <a:r>
              <a:rPr dirty="0" sz="1200" spc="-10">
                <a:latin typeface="Arial Unicode MS"/>
                <a:cs typeface="Arial Unicode MS"/>
              </a:rPr>
              <a:t>而实现分离和富集的方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膜分离法一般在常温下进</a:t>
            </a:r>
            <a:r>
              <a:rPr dirty="0" sz="1200" spc="-80">
                <a:latin typeface="Arial Unicode MS"/>
                <a:cs typeface="Arial Unicode MS"/>
              </a:rPr>
              <a:t>行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具有耗</a:t>
            </a:r>
            <a:r>
              <a:rPr dirty="0" sz="1200" spc="-5">
                <a:latin typeface="Arial Unicode MS"/>
                <a:cs typeface="Arial Unicode MS"/>
              </a:rPr>
              <a:t>能 </a:t>
            </a:r>
            <a:r>
              <a:rPr dirty="0" sz="1200" spc="-80">
                <a:latin typeface="Arial Unicode MS"/>
                <a:cs typeface="Arial Unicode MS"/>
              </a:rPr>
              <a:t>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分离效率</a:t>
            </a:r>
            <a:r>
              <a:rPr dirty="0" sz="1200" spc="-80">
                <a:latin typeface="Arial Unicode MS"/>
                <a:cs typeface="Arial Unicode MS"/>
              </a:rPr>
              <a:t>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操作过程简</a:t>
            </a:r>
            <a:r>
              <a:rPr dirty="0" sz="1200" spc="-80">
                <a:latin typeface="Arial Unicode MS"/>
                <a:cs typeface="Arial Unicode MS"/>
              </a:rPr>
              <a:t>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不污染环境等优</a:t>
            </a:r>
            <a:r>
              <a:rPr dirty="0" sz="1200" spc="-80">
                <a:latin typeface="Arial Unicode MS"/>
                <a:cs typeface="Arial Unicode MS"/>
              </a:rPr>
              <a:t>点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对于无机物 和有机物均可适</a:t>
            </a:r>
            <a:r>
              <a:rPr dirty="0" sz="1200" spc="-20">
                <a:latin typeface="Arial Unicode MS"/>
                <a:cs typeface="Arial Unicode MS"/>
              </a:rPr>
              <a:t>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65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C4C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2023-10-22T14:17:38Z</dcterms:created>
  <dcterms:modified xsi:type="dcterms:W3CDTF">2023-10-22T14:17:38Z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2010-05-12T00:00:00Z</vt:filetime>
  </property>
  <property fmtid="{D5CDD505-2E9C-101B-9397-08002B2CF9AE}" pid="3" name="Creator">
    <vt:lpwstr>LaTeX with beamer class version 3.07</vt:lpwstr>
  </property>
  <property fmtid="{D5CDD505-2E9C-101B-9397-08002B2CF9AE}" pid="4" name="LastSaved">
    <vt:filetime>2010-05-12T00:00:00Z</vt:filetime>
  </property>
</Properties>
</file>