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</p:sldIdLst>
  <p:sldSz cx="4610100" cy="3460750"/>
  <p:notesSz cx="4610100" cy="346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5844" y="908443"/>
            <a:ext cx="4356735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553" y="880884"/>
            <a:ext cx="1088390" cy="1072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985329"/>
            <a:ext cx="4267835" cy="1059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35261" y="3352425"/>
            <a:ext cx="708025" cy="10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025561" y="3356656"/>
            <a:ext cx="556894" cy="9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09237" y="3353670"/>
            <a:ext cx="34607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cesgf@mail.sysu.edu.cn" TargetMode="External"/><Relationship Id="rId6" Type="http://schemas.openxmlformats.org/officeDocument/2006/relationships/hyperlink" Target="http://202.116.83.148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9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9.xml"/><Relationship Id="rId3" Type="http://schemas.openxmlformats.org/officeDocument/2006/relationships/slide" Target="slide11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27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9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1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1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1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7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0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73.xml"/><Relationship Id="rId3" Type="http://schemas.openxmlformats.org/officeDocument/2006/relationships/slide" Target="slide74.xml"/><Relationship Id="rId4" Type="http://schemas.openxmlformats.org/officeDocument/2006/relationships/slide" Target="slide7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9599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00651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99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646569"/>
            <a:ext cx="50749" cy="359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640428"/>
            <a:ext cx="4432935" cy="417195"/>
          </a:xfrm>
          <a:custGeom>
            <a:avLst/>
            <a:gdLst/>
            <a:ahLst/>
            <a:cxnLst/>
            <a:rect l="l" t="t" r="r" b="b"/>
            <a:pathLst>
              <a:path w="4432935" h="417194">
                <a:moveTo>
                  <a:pt x="4432566" y="0"/>
                </a:moveTo>
                <a:lnTo>
                  <a:pt x="0" y="0"/>
                </a:lnTo>
                <a:lnTo>
                  <a:pt x="0" y="366084"/>
                </a:lnTo>
                <a:lnTo>
                  <a:pt x="4008" y="385808"/>
                </a:lnTo>
                <a:lnTo>
                  <a:pt x="14922" y="401961"/>
                </a:lnTo>
                <a:lnTo>
                  <a:pt x="31075" y="412876"/>
                </a:lnTo>
                <a:lnTo>
                  <a:pt x="50800" y="416884"/>
                </a:lnTo>
                <a:lnTo>
                  <a:pt x="4381765" y="416884"/>
                </a:lnTo>
                <a:lnTo>
                  <a:pt x="4401490" y="412876"/>
                </a:lnTo>
                <a:lnTo>
                  <a:pt x="4417643" y="401961"/>
                </a:lnTo>
                <a:lnTo>
                  <a:pt x="4428558" y="385808"/>
                </a:lnTo>
                <a:lnTo>
                  <a:pt x="4432566" y="366084"/>
                </a:lnTo>
                <a:lnTo>
                  <a:pt x="44325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684666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4">
                <a:moveTo>
                  <a:pt x="0" y="3408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719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592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465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58214" y="639940"/>
            <a:ext cx="2151380" cy="3448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10">
                <a:solidFill>
                  <a:srgbClr val="FFFFFF"/>
                </a:solidFill>
              </a:rPr>
              <a:t>分</a:t>
            </a:r>
            <a:r>
              <a:rPr dirty="0" sz="2100" spc="-15">
                <a:solidFill>
                  <a:srgbClr val="FFFFFF"/>
                </a:solidFill>
              </a:rPr>
              <a:t>析</a:t>
            </a:r>
            <a:r>
              <a:rPr dirty="0" sz="2100" spc="-10">
                <a:solidFill>
                  <a:srgbClr val="FFFFFF"/>
                </a:solidFill>
              </a:rPr>
              <a:t>化学</a:t>
            </a:r>
            <a:r>
              <a:rPr dirty="0" sz="2100" spc="-15">
                <a:solidFill>
                  <a:srgbClr val="FFFFFF"/>
                </a:solidFill>
              </a:rPr>
              <a:t>基</a:t>
            </a:r>
            <a:r>
              <a:rPr dirty="0" sz="2100" spc="-10">
                <a:solidFill>
                  <a:srgbClr val="FFFFFF"/>
                </a:solidFill>
              </a:rPr>
              <a:t>础</a:t>
            </a:r>
            <a:r>
              <a:rPr dirty="0" sz="2100" spc="-15">
                <a:solidFill>
                  <a:srgbClr val="FFFFFF"/>
                </a:solidFill>
              </a:rPr>
              <a:t>教</a:t>
            </a:r>
            <a:r>
              <a:rPr dirty="0" sz="2100" spc="-10">
                <a:solidFill>
                  <a:srgbClr val="FFFFFF"/>
                </a:solidFill>
              </a:rPr>
              <a:t>程</a:t>
            </a:r>
            <a:endParaRPr sz="2100"/>
          </a:p>
        </p:txBody>
      </p:sp>
      <p:sp>
        <p:nvSpPr>
          <p:cNvPr id="12" name="object 12"/>
          <p:cNvSpPr txBox="1"/>
          <p:nvPr/>
        </p:nvSpPr>
        <p:spPr>
          <a:xfrm>
            <a:off x="1268730" y="1251432"/>
            <a:ext cx="2070735" cy="1459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甘</a:t>
            </a:r>
            <a:r>
              <a:rPr dirty="0" sz="1600" spc="220">
                <a:latin typeface="Arial Unicode MS"/>
                <a:cs typeface="Arial Unicode MS"/>
              </a:rPr>
              <a:t>峰</a:t>
            </a:r>
            <a:r>
              <a:rPr dirty="0" sz="1600" spc="-10">
                <a:latin typeface="Arial Unicode MS"/>
                <a:cs typeface="Arial Unicode MS"/>
              </a:rPr>
              <a:t>教授</a:t>
            </a:r>
            <a:endParaRPr sz="16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000" spc="-20">
                <a:latin typeface="Georgia"/>
                <a:cs typeface="Georgia"/>
              </a:rPr>
              <a:t>Email: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5"/>
              </a:rPr>
              <a:t>cesgf@mail.sysu.edu.cn</a:t>
            </a:r>
            <a:endParaRPr sz="1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000" spc="-40">
                <a:latin typeface="Georgia"/>
                <a:cs typeface="Georgia"/>
              </a:rPr>
              <a:t>Homepage: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6"/>
              </a:rPr>
              <a:t>http://202.116.83.148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900" spc="-5">
                <a:latin typeface="Arial Unicode MS"/>
                <a:cs typeface="Arial Unicode MS"/>
              </a:rPr>
              <a:t>中山大</a:t>
            </a:r>
            <a:r>
              <a:rPr dirty="0" sz="900" spc="-60">
                <a:latin typeface="Arial Unicode MS"/>
                <a:cs typeface="Arial Unicode MS"/>
              </a:rPr>
              <a:t>学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化学与化学工程学院</a:t>
            </a:r>
            <a:endParaRPr sz="9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65">
                <a:latin typeface="Georgia"/>
                <a:cs typeface="Georgia"/>
              </a:rPr>
              <a:t>2010 </a:t>
            </a:r>
            <a:r>
              <a:rPr dirty="0" sz="1200" spc="-5">
                <a:latin typeface="Arial Unicode MS"/>
                <a:cs typeface="Arial Unicode MS"/>
              </a:rPr>
              <a:t>年 </a:t>
            </a:r>
            <a:r>
              <a:rPr dirty="0" sz="1100" spc="-40">
                <a:latin typeface="Georgia"/>
                <a:cs typeface="Georgia"/>
              </a:rPr>
              <a:t>5 </a:t>
            </a:r>
            <a:r>
              <a:rPr dirty="0" sz="1200" spc="-5">
                <a:latin typeface="Arial Unicode MS"/>
                <a:cs typeface="Arial Unicode MS"/>
              </a:rPr>
              <a:t>月 </a:t>
            </a:r>
            <a:r>
              <a:rPr dirty="0" sz="1100">
                <a:latin typeface="Georgia"/>
                <a:cs typeface="Georgia"/>
              </a:rPr>
              <a:t>12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8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7258" y="726635"/>
            <a:ext cx="1733550" cy="12807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650" spc="409">
                <a:latin typeface="Arial Unicode MS"/>
                <a:cs typeface="Arial Unicode MS"/>
              </a:rPr>
              <a:t>第</a:t>
            </a:r>
            <a:r>
              <a:rPr dirty="0" sz="5100" spc="395">
                <a:latin typeface="Colonna MT"/>
                <a:cs typeface="Colonna MT"/>
              </a:rPr>
              <a:t>9</a:t>
            </a:r>
            <a:r>
              <a:rPr dirty="0" sz="2650" spc="35">
                <a:latin typeface="Arial Unicode MS"/>
                <a:cs typeface="Arial Unicode MS"/>
              </a:rPr>
              <a:t>章</a:t>
            </a:r>
            <a:endParaRPr sz="26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650" spc="35">
                <a:latin typeface="Arial Unicode MS"/>
                <a:cs typeface="Arial Unicode MS"/>
              </a:rPr>
              <a:t>吸光光度法</a:t>
            </a:r>
            <a:endParaRPr sz="26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8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03822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solidFill>
                  <a:srgbClr val="FFFFFF"/>
                </a:solidFill>
              </a:rPr>
              <a:t>吸光光度法</a:t>
            </a:r>
            <a:endParaRPr sz="1600"/>
          </a:p>
        </p:txBody>
      </p:sp>
      <p:sp>
        <p:nvSpPr>
          <p:cNvPr id="3" name="object 3"/>
          <p:cNvSpPr/>
          <p:nvPr/>
        </p:nvSpPr>
        <p:spPr>
          <a:xfrm>
            <a:off x="274599" y="112039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829435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314790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980122"/>
            <a:ext cx="4069079" cy="1667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吸光光度法是利用物质的分子对紫外</a:t>
            </a:r>
            <a:r>
              <a:rPr dirty="0" sz="1100" spc="-165">
                <a:latin typeface="Georgia"/>
                <a:cs typeface="Georgia"/>
              </a:rPr>
              <a:t>–</a:t>
            </a:r>
            <a:r>
              <a:rPr dirty="0" sz="1200" spc="-5">
                <a:latin typeface="Arial Unicode MS"/>
                <a:cs typeface="Arial Unicode MS"/>
              </a:rPr>
              <a:t>可见光谱</a:t>
            </a:r>
            <a:r>
              <a:rPr dirty="0" sz="1200" spc="-260">
                <a:latin typeface="Arial Unicode MS"/>
                <a:cs typeface="Arial Unicode MS"/>
              </a:rPr>
              <a:t>区</a:t>
            </a:r>
            <a:r>
              <a:rPr dirty="0" sz="1200" spc="-5">
                <a:latin typeface="Arial Unicode MS"/>
                <a:cs typeface="Arial Unicode MS"/>
              </a:rPr>
              <a:t>（一般认为 是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110">
                <a:latin typeface="Georgia"/>
                <a:cs typeface="Georgia"/>
              </a:rPr>
              <a:t>200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spc="-125">
                <a:latin typeface="Georgia"/>
                <a:cs typeface="Georgia"/>
              </a:rPr>
              <a:t>800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nm</a:t>
            </a:r>
            <a:r>
              <a:rPr dirty="0" sz="1200" spc="-12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的辐射的吸收来进行的定性与定量分析的一 种仪器分析方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吸光光度法是测定低含量组</a:t>
            </a:r>
            <a:r>
              <a:rPr dirty="0" sz="1200" spc="-260">
                <a:latin typeface="Arial Unicode MS"/>
                <a:cs typeface="Arial Unicode MS"/>
              </a:rPr>
              <a:t>分</a:t>
            </a:r>
            <a:r>
              <a:rPr dirty="0" sz="1200" spc="90">
                <a:latin typeface="Arial Unicode MS"/>
                <a:cs typeface="Arial Unicode MS"/>
              </a:rPr>
              <a:t>（</a:t>
            </a:r>
            <a:r>
              <a:rPr dirty="0" sz="1100" spc="90" b="0" i="1">
                <a:latin typeface="Bookman Old Style"/>
                <a:cs typeface="Bookman Old Style"/>
              </a:rPr>
              <a:t>&lt;</a:t>
            </a:r>
            <a:r>
              <a:rPr dirty="0" sz="1100" spc="-80" b="0" i="1">
                <a:latin typeface="Bookman Old Style"/>
                <a:cs typeface="Bookman Old Style"/>
              </a:rPr>
              <a:t> </a:t>
            </a:r>
            <a:r>
              <a:rPr dirty="0" sz="1100" spc="-55">
                <a:latin typeface="Georgia"/>
                <a:cs typeface="Georgia"/>
              </a:rPr>
              <a:t>1%</a:t>
            </a:r>
            <a:r>
              <a:rPr dirty="0" sz="1200" spc="-5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的常用方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其相对误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差一般为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2%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Georgia"/>
                <a:cs typeface="Georgia"/>
              </a:rPr>
              <a:t>5%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吸光光度法因为其准确度和灵敏度较</a:t>
            </a:r>
            <a:r>
              <a:rPr dirty="0" sz="1200" spc="-80">
                <a:latin typeface="Arial Unicode MS"/>
                <a:cs typeface="Arial Unicode MS"/>
              </a:rPr>
              <a:t>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仪器设备简</a:t>
            </a:r>
            <a:r>
              <a:rPr dirty="0" sz="1200" spc="-80">
                <a:latin typeface="Arial Unicode MS"/>
                <a:cs typeface="Arial Unicode MS"/>
              </a:rPr>
              <a:t>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而在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分析化学乃至化学领域获得了广泛的应</a:t>
            </a:r>
            <a:r>
              <a:rPr dirty="0" sz="1200" spc="-20">
                <a:latin typeface="Arial Unicode MS"/>
                <a:cs typeface="Arial Unicode MS"/>
              </a:rPr>
              <a:t>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8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239712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9.1</a:t>
            </a:r>
            <a:r>
              <a:rPr dirty="0" sz="1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物质对光的选择性吸收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21132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9668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958340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1071054"/>
            <a:ext cx="4090670" cy="14439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化合物分子是由原子组成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当原子相互结合形成分子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原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子轨道也进行相应的组合形成了分子轨</a:t>
            </a:r>
            <a:r>
              <a:rPr dirty="0" sz="1200" spc="-20">
                <a:latin typeface="Arial Unicode MS"/>
                <a:cs typeface="Arial Unicode MS"/>
              </a:rPr>
              <a:t>道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与原子轨道类</a:t>
            </a:r>
            <a:r>
              <a:rPr dirty="0" sz="1200" spc="-80">
                <a:latin typeface="Arial Unicode MS"/>
                <a:cs typeface="Arial Unicode MS"/>
              </a:rPr>
              <a:t>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分子轨道也是量子化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12700" marR="5080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在一般情况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分子中的电子处于分子轨道的基</a:t>
            </a:r>
            <a:r>
              <a:rPr dirty="0" sz="1200" spc="-80">
                <a:latin typeface="Arial Unicode MS"/>
                <a:cs typeface="Arial Unicode MS"/>
              </a:rPr>
              <a:t>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当分子获 </a:t>
            </a:r>
            <a:r>
              <a:rPr dirty="0" sz="1200" spc="-10">
                <a:latin typeface="Arial Unicode MS"/>
                <a:cs typeface="Arial Unicode MS"/>
              </a:rPr>
              <a:t>得外界提供的能量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其中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-10">
                <a:latin typeface="Arial Unicode MS"/>
                <a:cs typeface="Arial Unicode MS"/>
              </a:rPr>
              <a:t>电子将有可能从基态跃迁到能</a:t>
            </a:r>
            <a:r>
              <a:rPr dirty="0" sz="1200" spc="-5">
                <a:latin typeface="Arial Unicode MS"/>
                <a:cs typeface="Arial Unicode MS"/>
              </a:rPr>
              <a:t>量 </a:t>
            </a:r>
            <a:r>
              <a:rPr dirty="0" sz="1200" spc="-5">
                <a:latin typeface="Arial Unicode MS"/>
                <a:cs typeface="Arial Unicode MS"/>
              </a:rPr>
              <a:t>更高的分子轨</a:t>
            </a:r>
            <a:r>
              <a:rPr dirty="0" sz="1200" spc="-20">
                <a:latin typeface="Arial Unicode MS"/>
                <a:cs typeface="Arial Unicode MS"/>
              </a:rPr>
              <a:t>道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8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4887" y="358276"/>
            <a:ext cx="2484755" cy="0"/>
          </a:xfrm>
          <a:custGeom>
            <a:avLst/>
            <a:gdLst/>
            <a:ahLst/>
            <a:cxnLst/>
            <a:rect l="l" t="t" r="r" b="b"/>
            <a:pathLst>
              <a:path w="2484754" h="0">
                <a:moveTo>
                  <a:pt x="0" y="0"/>
                </a:move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74887" y="358276"/>
            <a:ext cx="2484755" cy="1958975"/>
          </a:xfrm>
          <a:custGeom>
            <a:avLst/>
            <a:gdLst/>
            <a:ahLst/>
            <a:cxnLst/>
            <a:rect l="l" t="t" r="r" b="b"/>
            <a:pathLst>
              <a:path w="2484754" h="1958975">
                <a:moveTo>
                  <a:pt x="0" y="1958396"/>
                </a:moveTo>
                <a:lnTo>
                  <a:pt x="2484248" y="1958396"/>
                </a:ln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74887" y="358276"/>
            <a:ext cx="0" cy="1958975"/>
          </a:xfrm>
          <a:custGeom>
            <a:avLst/>
            <a:gdLst/>
            <a:ahLst/>
            <a:cxnLst/>
            <a:rect l="l" t="t" r="r" b="b"/>
            <a:pathLst>
              <a:path w="0" h="1958975">
                <a:moveTo>
                  <a:pt x="0" y="19583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74887" y="2316673"/>
            <a:ext cx="2484755" cy="0"/>
          </a:xfrm>
          <a:custGeom>
            <a:avLst/>
            <a:gdLst/>
            <a:ahLst/>
            <a:cxnLst/>
            <a:rect l="l" t="t" r="r" b="b"/>
            <a:pathLst>
              <a:path w="2484754" h="0">
                <a:moveTo>
                  <a:pt x="0" y="0"/>
                </a:move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74887" y="358276"/>
            <a:ext cx="0" cy="1958975"/>
          </a:xfrm>
          <a:custGeom>
            <a:avLst/>
            <a:gdLst/>
            <a:ahLst/>
            <a:cxnLst/>
            <a:rect l="l" t="t" r="r" b="b"/>
            <a:pathLst>
              <a:path w="0" h="1958975">
                <a:moveTo>
                  <a:pt x="0" y="19583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17268" y="229165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17268" y="358276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37852" y="2313700"/>
            <a:ext cx="1593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Times New Roman"/>
                <a:cs typeface="Times New Roman"/>
              </a:rPr>
              <a:t>300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45825" y="229165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45825" y="358276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66411" y="2313700"/>
            <a:ext cx="1593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Times New Roman"/>
                <a:cs typeface="Times New Roman"/>
              </a:rPr>
              <a:t>350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73920" y="229165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73920" y="358276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02483" y="229165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02483" y="358276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723065" y="2313700"/>
            <a:ext cx="1593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Times New Roman"/>
                <a:cs typeface="Times New Roman"/>
              </a:rPr>
              <a:t>450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30578" y="229165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30578" y="358276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151160" y="2313700"/>
            <a:ext cx="1593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Times New Roman"/>
                <a:cs typeface="Times New Roman"/>
              </a:rPr>
              <a:t>500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59135" y="2291654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2501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59135" y="358276"/>
            <a:ext cx="0" cy="24765"/>
          </a:xfrm>
          <a:custGeom>
            <a:avLst/>
            <a:gdLst/>
            <a:ahLst/>
            <a:cxnLst/>
            <a:rect l="l" t="t" r="r" b="b"/>
            <a:pathLst>
              <a:path w="0" h="24764">
                <a:moveTo>
                  <a:pt x="0" y="0"/>
                </a:moveTo>
                <a:lnTo>
                  <a:pt x="0" y="245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579718" y="2313700"/>
            <a:ext cx="1593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Times New Roman"/>
                <a:cs typeface="Times New Roman"/>
              </a:rPr>
              <a:t>550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74887" y="2316673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34116" y="231667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101491" y="2247910"/>
            <a:ext cx="7048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Times New Roman"/>
                <a:cs typeface="Times New Roman"/>
              </a:rPr>
              <a:t>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74887" y="2098917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34116" y="209891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74887" y="1881161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34116" y="188116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74887" y="1663872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34116" y="1663872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74887" y="1446116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34116" y="144611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74887" y="1228365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34116" y="122836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74887" y="1010609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34116" y="101060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74887" y="793320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34116" y="79332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74887" y="575565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34116" y="57556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74887" y="358276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2455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34116" y="35827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25018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990298" y="289513"/>
            <a:ext cx="181610" cy="1873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latin typeface="Times New Roman"/>
                <a:cs typeface="Times New Roman"/>
              </a:rPr>
              <a:t>0.45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5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</a:pPr>
            <a:r>
              <a:rPr dirty="0" sz="700" b="1">
                <a:latin typeface="Times New Roman"/>
                <a:cs typeface="Times New Roman"/>
              </a:rPr>
              <a:t>0.4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00" b="1">
                <a:latin typeface="Times New Roman"/>
                <a:cs typeface="Times New Roman"/>
              </a:rPr>
              <a:t>0.35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5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5"/>
              </a:spcBef>
            </a:pPr>
            <a:r>
              <a:rPr dirty="0" sz="700" b="1">
                <a:latin typeface="Times New Roman"/>
                <a:cs typeface="Times New Roman"/>
              </a:rPr>
              <a:t>0.3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00" b="1">
                <a:latin typeface="Times New Roman"/>
                <a:cs typeface="Times New Roman"/>
              </a:rPr>
              <a:t>0.25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</a:pPr>
            <a:r>
              <a:rPr dirty="0" sz="700" b="1">
                <a:latin typeface="Times New Roman"/>
                <a:cs typeface="Times New Roman"/>
              </a:rPr>
              <a:t>0.2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00" b="1">
                <a:latin typeface="Times New Roman"/>
                <a:cs typeface="Times New Roman"/>
              </a:rPr>
              <a:t>0.15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50">
              <a:latin typeface="Times New Roman"/>
              <a:cs typeface="Times New Roman"/>
            </a:endParaRPr>
          </a:p>
          <a:p>
            <a:pPr marL="57150">
              <a:lnSpc>
                <a:spcPct val="100000"/>
              </a:lnSpc>
              <a:spcBef>
                <a:spcPts val="5"/>
              </a:spcBef>
            </a:pPr>
            <a:r>
              <a:rPr dirty="0" sz="700" b="1">
                <a:latin typeface="Times New Roman"/>
                <a:cs typeface="Times New Roman"/>
              </a:rPr>
              <a:t>0.1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00" b="1">
                <a:latin typeface="Times New Roman"/>
                <a:cs typeface="Times New Roman"/>
              </a:rPr>
              <a:t>0.05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74887" y="358276"/>
            <a:ext cx="2484755" cy="0"/>
          </a:xfrm>
          <a:custGeom>
            <a:avLst/>
            <a:gdLst/>
            <a:ahLst/>
            <a:cxnLst/>
            <a:rect l="l" t="t" r="r" b="b"/>
            <a:pathLst>
              <a:path w="2484754" h="0">
                <a:moveTo>
                  <a:pt x="0" y="0"/>
                </a:move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74887" y="358276"/>
            <a:ext cx="2484755" cy="1958975"/>
          </a:xfrm>
          <a:custGeom>
            <a:avLst/>
            <a:gdLst/>
            <a:ahLst/>
            <a:cxnLst/>
            <a:rect l="l" t="t" r="r" b="b"/>
            <a:pathLst>
              <a:path w="2484754" h="1958975">
                <a:moveTo>
                  <a:pt x="0" y="1958396"/>
                </a:moveTo>
                <a:lnTo>
                  <a:pt x="2484248" y="1958396"/>
                </a:lnTo>
                <a:lnTo>
                  <a:pt x="248424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74887" y="358276"/>
            <a:ext cx="0" cy="1958975"/>
          </a:xfrm>
          <a:custGeom>
            <a:avLst/>
            <a:gdLst/>
            <a:ahLst/>
            <a:cxnLst/>
            <a:rect l="l" t="t" r="r" b="b"/>
            <a:pathLst>
              <a:path w="0" h="1958975">
                <a:moveTo>
                  <a:pt x="0" y="195839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740117" y="565835"/>
            <a:ext cx="1680845" cy="1751330"/>
          </a:xfrm>
          <a:custGeom>
            <a:avLst/>
            <a:gdLst/>
            <a:ahLst/>
            <a:cxnLst/>
            <a:rect l="l" t="t" r="r" b="b"/>
            <a:pathLst>
              <a:path w="1680845" h="1751330">
                <a:moveTo>
                  <a:pt x="0" y="703299"/>
                </a:moveTo>
                <a:lnTo>
                  <a:pt x="17146" y="622222"/>
                </a:lnTo>
                <a:lnTo>
                  <a:pt x="34286" y="537437"/>
                </a:lnTo>
                <a:lnTo>
                  <a:pt x="51427" y="449872"/>
                </a:lnTo>
                <a:lnTo>
                  <a:pt x="68573" y="366477"/>
                </a:lnTo>
                <a:lnTo>
                  <a:pt x="85713" y="291421"/>
                </a:lnTo>
                <a:lnTo>
                  <a:pt x="102854" y="226095"/>
                </a:lnTo>
                <a:lnTo>
                  <a:pt x="120000" y="162159"/>
                </a:lnTo>
                <a:lnTo>
                  <a:pt x="137140" y="105633"/>
                </a:lnTo>
                <a:lnTo>
                  <a:pt x="154281" y="65787"/>
                </a:lnTo>
                <a:lnTo>
                  <a:pt x="188567" y="20848"/>
                </a:lnTo>
                <a:lnTo>
                  <a:pt x="222854" y="0"/>
                </a:lnTo>
                <a:lnTo>
                  <a:pt x="239994" y="14827"/>
                </a:lnTo>
                <a:lnTo>
                  <a:pt x="257135" y="44477"/>
                </a:lnTo>
                <a:lnTo>
                  <a:pt x="273814" y="76907"/>
                </a:lnTo>
                <a:lnTo>
                  <a:pt x="290960" y="102854"/>
                </a:lnTo>
                <a:lnTo>
                  <a:pt x="308100" y="134822"/>
                </a:lnTo>
                <a:lnTo>
                  <a:pt x="325241" y="185787"/>
                </a:lnTo>
                <a:lnTo>
                  <a:pt x="342387" y="241384"/>
                </a:lnTo>
                <a:lnTo>
                  <a:pt x="359527" y="319681"/>
                </a:lnTo>
                <a:lnTo>
                  <a:pt x="376668" y="368328"/>
                </a:lnTo>
                <a:lnTo>
                  <a:pt x="393814" y="415124"/>
                </a:lnTo>
                <a:lnTo>
                  <a:pt x="410954" y="478132"/>
                </a:lnTo>
                <a:lnTo>
                  <a:pt x="428095" y="555506"/>
                </a:lnTo>
                <a:lnTo>
                  <a:pt x="445241" y="634731"/>
                </a:lnTo>
                <a:lnTo>
                  <a:pt x="462381" y="700519"/>
                </a:lnTo>
                <a:lnTo>
                  <a:pt x="479522" y="756577"/>
                </a:lnTo>
                <a:lnTo>
                  <a:pt x="496668" y="815421"/>
                </a:lnTo>
                <a:lnTo>
                  <a:pt x="513808" y="886307"/>
                </a:lnTo>
                <a:lnTo>
                  <a:pt x="530949" y="954874"/>
                </a:lnTo>
                <a:lnTo>
                  <a:pt x="548095" y="1039659"/>
                </a:lnTo>
                <a:lnTo>
                  <a:pt x="565235" y="1105914"/>
                </a:lnTo>
                <a:lnTo>
                  <a:pt x="582376" y="1161511"/>
                </a:lnTo>
                <a:lnTo>
                  <a:pt x="599522" y="1213861"/>
                </a:lnTo>
                <a:lnTo>
                  <a:pt x="616662" y="1265288"/>
                </a:lnTo>
                <a:lnTo>
                  <a:pt x="633803" y="1308842"/>
                </a:lnTo>
                <a:lnTo>
                  <a:pt x="650949" y="1360270"/>
                </a:lnTo>
                <a:lnTo>
                  <a:pt x="668089" y="1397797"/>
                </a:lnTo>
                <a:lnTo>
                  <a:pt x="702376" y="1450614"/>
                </a:lnTo>
                <a:lnTo>
                  <a:pt x="736657" y="1482115"/>
                </a:lnTo>
                <a:lnTo>
                  <a:pt x="770944" y="1498794"/>
                </a:lnTo>
                <a:lnTo>
                  <a:pt x="822371" y="1510381"/>
                </a:lnTo>
                <a:lnTo>
                  <a:pt x="890938" y="1514084"/>
                </a:lnTo>
                <a:lnTo>
                  <a:pt x="908084" y="1515474"/>
                </a:lnTo>
                <a:lnTo>
                  <a:pt x="959511" y="1520572"/>
                </a:lnTo>
                <a:lnTo>
                  <a:pt x="1010938" y="1529373"/>
                </a:lnTo>
                <a:lnTo>
                  <a:pt x="1062365" y="1543272"/>
                </a:lnTo>
                <a:lnTo>
                  <a:pt x="1096185" y="1555320"/>
                </a:lnTo>
                <a:lnTo>
                  <a:pt x="1113325" y="1561808"/>
                </a:lnTo>
                <a:lnTo>
                  <a:pt x="1130471" y="1568757"/>
                </a:lnTo>
                <a:lnTo>
                  <a:pt x="1147612" y="1575707"/>
                </a:lnTo>
                <a:lnTo>
                  <a:pt x="1164752" y="1583118"/>
                </a:lnTo>
                <a:lnTo>
                  <a:pt x="1181898" y="1590529"/>
                </a:lnTo>
                <a:lnTo>
                  <a:pt x="1199039" y="1597946"/>
                </a:lnTo>
                <a:lnTo>
                  <a:pt x="1216179" y="1605818"/>
                </a:lnTo>
                <a:lnTo>
                  <a:pt x="1233325" y="1614158"/>
                </a:lnTo>
                <a:lnTo>
                  <a:pt x="1250466" y="1622497"/>
                </a:lnTo>
                <a:lnTo>
                  <a:pt x="1267606" y="1629914"/>
                </a:lnTo>
                <a:lnTo>
                  <a:pt x="1284752" y="1638253"/>
                </a:lnTo>
                <a:lnTo>
                  <a:pt x="1301893" y="1645665"/>
                </a:lnTo>
                <a:lnTo>
                  <a:pt x="1319033" y="1653076"/>
                </a:lnTo>
                <a:lnTo>
                  <a:pt x="1353320" y="1667903"/>
                </a:lnTo>
                <a:lnTo>
                  <a:pt x="1370460" y="1674391"/>
                </a:lnTo>
                <a:lnTo>
                  <a:pt x="1387606" y="1681341"/>
                </a:lnTo>
                <a:lnTo>
                  <a:pt x="1439033" y="1699871"/>
                </a:lnTo>
                <a:lnTo>
                  <a:pt x="1490461" y="1715622"/>
                </a:lnTo>
                <a:lnTo>
                  <a:pt x="1541888" y="1728598"/>
                </a:lnTo>
                <a:lnTo>
                  <a:pt x="1593315" y="1738789"/>
                </a:lnTo>
                <a:lnTo>
                  <a:pt x="1644742" y="1746667"/>
                </a:lnTo>
                <a:lnTo>
                  <a:pt x="1679023" y="1750837"/>
                </a:lnTo>
                <a:lnTo>
                  <a:pt x="1680413" y="1751298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174887" y="1075936"/>
            <a:ext cx="565785" cy="1126490"/>
          </a:xfrm>
          <a:custGeom>
            <a:avLst/>
            <a:gdLst/>
            <a:ahLst/>
            <a:cxnLst/>
            <a:rect l="l" t="t" r="r" b="b"/>
            <a:pathLst>
              <a:path w="565785" h="1126489">
                <a:moveTo>
                  <a:pt x="0" y="1126296"/>
                </a:moveTo>
                <a:lnTo>
                  <a:pt x="16679" y="1113325"/>
                </a:lnTo>
                <a:lnTo>
                  <a:pt x="33819" y="1105447"/>
                </a:lnTo>
                <a:lnTo>
                  <a:pt x="50960" y="1087845"/>
                </a:lnTo>
                <a:lnTo>
                  <a:pt x="68106" y="1097108"/>
                </a:lnTo>
                <a:lnTo>
                  <a:pt x="85246" y="1091548"/>
                </a:lnTo>
                <a:lnTo>
                  <a:pt x="102387" y="1077187"/>
                </a:lnTo>
                <a:lnTo>
                  <a:pt x="119533" y="1082286"/>
                </a:lnTo>
                <a:lnTo>
                  <a:pt x="153814" y="1040588"/>
                </a:lnTo>
                <a:lnTo>
                  <a:pt x="170960" y="977575"/>
                </a:lnTo>
                <a:lnTo>
                  <a:pt x="188100" y="901596"/>
                </a:lnTo>
                <a:lnTo>
                  <a:pt x="205241" y="685691"/>
                </a:lnTo>
                <a:lnTo>
                  <a:pt x="222387" y="378058"/>
                </a:lnTo>
                <a:lnTo>
                  <a:pt x="239527" y="164939"/>
                </a:lnTo>
                <a:lnTo>
                  <a:pt x="256668" y="39379"/>
                </a:lnTo>
                <a:lnTo>
                  <a:pt x="273814" y="0"/>
                </a:lnTo>
                <a:lnTo>
                  <a:pt x="290954" y="25018"/>
                </a:lnTo>
                <a:lnTo>
                  <a:pt x="308095" y="71347"/>
                </a:lnTo>
                <a:lnTo>
                  <a:pt x="325241" y="143161"/>
                </a:lnTo>
                <a:lnTo>
                  <a:pt x="342381" y="216366"/>
                </a:lnTo>
                <a:lnTo>
                  <a:pt x="359522" y="288174"/>
                </a:lnTo>
                <a:lnTo>
                  <a:pt x="376668" y="353039"/>
                </a:lnTo>
                <a:lnTo>
                  <a:pt x="393808" y="407246"/>
                </a:lnTo>
                <a:lnTo>
                  <a:pt x="410949" y="453575"/>
                </a:lnTo>
                <a:lnTo>
                  <a:pt x="445235" y="500832"/>
                </a:lnTo>
                <a:lnTo>
                  <a:pt x="462376" y="500371"/>
                </a:lnTo>
                <a:lnTo>
                  <a:pt x="496662" y="449405"/>
                </a:lnTo>
                <a:lnTo>
                  <a:pt x="513803" y="401686"/>
                </a:lnTo>
                <a:lnTo>
                  <a:pt x="530949" y="341920"/>
                </a:lnTo>
                <a:lnTo>
                  <a:pt x="548089" y="271034"/>
                </a:lnTo>
                <a:lnTo>
                  <a:pt x="565230" y="193198"/>
                </a:lnTo>
              </a:path>
            </a:pathLst>
          </a:custGeom>
          <a:ln w="111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294506" y="2313700"/>
            <a:ext cx="196850" cy="21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0"/>
              </a:lnSpc>
              <a:spcBef>
                <a:spcPts val="100"/>
              </a:spcBef>
            </a:pPr>
            <a:r>
              <a:rPr dirty="0" sz="700" b="1">
                <a:latin typeface="Times New Roman"/>
                <a:cs typeface="Times New Roman"/>
              </a:rPr>
              <a:t>400</a:t>
            </a:r>
            <a:endParaRPr sz="700">
              <a:latin typeface="Times New Roman"/>
              <a:cs typeface="Times New Roman"/>
            </a:endParaRPr>
          </a:p>
          <a:p>
            <a:pPr marL="60325">
              <a:lnSpc>
                <a:spcPts val="760"/>
              </a:lnSpc>
            </a:pPr>
            <a:r>
              <a:rPr dirty="0" sz="700" spc="-5" b="1">
                <a:latin typeface="Times New Roman"/>
                <a:cs typeface="Times New Roman"/>
              </a:rPr>
              <a:t>nm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64771" y="1292731"/>
            <a:ext cx="126364" cy="9017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700" b="1">
                <a:latin typeface="Times New Roman"/>
                <a:cs typeface="Times New Roman"/>
              </a:rPr>
              <a:t>A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95780" y="2702052"/>
            <a:ext cx="18167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6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重铬酸</a:t>
            </a:r>
            <a:r>
              <a:rPr dirty="0" sz="1050" spc="-10">
                <a:latin typeface="Arial Unicode MS"/>
                <a:cs typeface="Arial Unicode MS"/>
              </a:rPr>
              <a:t>钾</a:t>
            </a:r>
            <a:r>
              <a:rPr dirty="0" sz="1050" spc="-5">
                <a:latin typeface="Arial Unicode MS"/>
                <a:cs typeface="Arial Unicode MS"/>
              </a:rPr>
              <a:t>的吸收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谱曲线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8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3996" y="652181"/>
            <a:ext cx="3240111" cy="13244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28635" y="2161057"/>
            <a:ext cx="15513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0">
                <a:solidFill>
                  <a:srgbClr val="3333B2"/>
                </a:solidFill>
                <a:latin typeface="Georgia"/>
                <a:cs typeface="Georgia"/>
              </a:rPr>
              <a:t>2:</a:t>
            </a:r>
            <a:r>
              <a:rPr dirty="0" sz="1000" spc="-3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分子</a:t>
            </a:r>
            <a:r>
              <a:rPr dirty="0" sz="1050" spc="-10">
                <a:latin typeface="Arial Unicode MS"/>
                <a:cs typeface="Arial Unicode MS"/>
              </a:rPr>
              <a:t>轨</a:t>
            </a:r>
            <a:r>
              <a:rPr dirty="0" sz="1050" spc="-5">
                <a:latin typeface="Arial Unicode MS"/>
                <a:cs typeface="Arial Unicode MS"/>
              </a:rPr>
              <a:t>道能级</a:t>
            </a:r>
            <a:r>
              <a:rPr dirty="0" sz="1050" spc="-10">
                <a:latin typeface="Arial Unicode MS"/>
                <a:cs typeface="Arial Unicode MS"/>
              </a:rPr>
              <a:t>示</a:t>
            </a:r>
            <a:r>
              <a:rPr dirty="0" sz="1050" spc="-5">
                <a:latin typeface="Arial Unicode MS"/>
                <a:cs typeface="Arial Unicode MS"/>
              </a:rPr>
              <a:t>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8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5567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电子跃迁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条件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429501" y="993673"/>
            <a:ext cx="335534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分子轨道中电子的跃迁能否产生取决于两个因</a:t>
            </a:r>
            <a:r>
              <a:rPr dirty="0" sz="1200" spc="-90">
                <a:latin typeface="Arial Unicode MS"/>
                <a:cs typeface="Arial Unicode MS"/>
              </a:rPr>
              <a:t>素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36371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34856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625368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6102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553" y="1213827"/>
            <a:ext cx="1688464" cy="5492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分子轨道之间的能级</a:t>
            </a:r>
            <a:r>
              <a:rPr dirty="0" sz="1200" spc="-65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外界所提供的能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951596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只有当外界所提供的能量恰好等于两个分子轨道之间的能量 </a:t>
            </a:r>
            <a:r>
              <a:rPr dirty="0" sz="1200" spc="-10">
                <a:latin typeface="Arial Unicode MS"/>
                <a:cs typeface="Arial Unicode MS"/>
              </a:rPr>
              <a:t>差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电子在这两个分子轨道之间的跃迁才是可以实现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此时</a:t>
            </a:r>
            <a:r>
              <a:rPr dirty="0" sz="1200" spc="-5">
                <a:latin typeface="Arial Unicode MS"/>
                <a:cs typeface="Arial Unicode MS"/>
              </a:rPr>
              <a:t>外 </a:t>
            </a:r>
            <a:r>
              <a:rPr dirty="0" sz="1200" spc="-5">
                <a:latin typeface="Arial Unicode MS"/>
                <a:cs typeface="Arial Unicode MS"/>
              </a:rPr>
              <a:t>界所提供的能量才会被分子吸</a:t>
            </a:r>
            <a:r>
              <a:rPr dirty="0" sz="1200" spc="-20">
                <a:latin typeface="Arial Unicode MS"/>
                <a:cs typeface="Arial Unicode MS"/>
              </a:rPr>
              <a:t>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8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光辐射的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能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022921"/>
            <a:ext cx="433451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根据物理学理</a:t>
            </a:r>
            <a:r>
              <a:rPr dirty="0" sz="1200" spc="-80">
                <a:latin typeface="Arial Unicode MS"/>
                <a:cs typeface="Arial Unicode MS"/>
              </a:rPr>
              <a:t>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光是一种电磁</a:t>
            </a:r>
            <a:r>
              <a:rPr dirty="0" sz="1200" spc="-80">
                <a:latin typeface="Arial Unicode MS"/>
                <a:cs typeface="Arial Unicode MS"/>
              </a:rPr>
              <a:t>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具有波粒二象</a:t>
            </a:r>
            <a:r>
              <a:rPr dirty="0" sz="1200" spc="-20">
                <a:latin typeface="Arial Unicode MS"/>
                <a:cs typeface="Arial Unicode MS"/>
              </a:rPr>
              <a:t>性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光辐射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的能量可以用普朗克方程来描</a:t>
            </a:r>
            <a:r>
              <a:rPr dirty="0" sz="1200" spc="-90">
                <a:latin typeface="Arial Unicode MS"/>
                <a:cs typeface="Arial Unicode MS"/>
              </a:rPr>
              <a:t>述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7402" y="1664284"/>
            <a:ext cx="742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E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 b="0" i="1">
                <a:latin typeface="Bookman Old Style"/>
                <a:cs typeface="Bookman Old Style"/>
              </a:rPr>
              <a:t>hν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55" b="0" i="1">
                <a:latin typeface="Bookman Old Style"/>
                <a:cs typeface="Bookman Old Style"/>
              </a:rPr>
              <a:t>h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21902" y="1780895"/>
            <a:ext cx="81280" cy="0"/>
          </a:xfrm>
          <a:custGeom>
            <a:avLst/>
            <a:gdLst/>
            <a:ahLst/>
            <a:cxnLst/>
            <a:rect l="l" t="t" r="r" b="b"/>
            <a:pathLst>
              <a:path w="81280" h="0">
                <a:moveTo>
                  <a:pt x="0" y="0"/>
                </a:moveTo>
                <a:lnTo>
                  <a:pt x="80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09202" y="1548051"/>
            <a:ext cx="10668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">
              <a:lnSpc>
                <a:spcPct val="112599"/>
              </a:lnSpc>
              <a:spcBef>
                <a:spcPts val="100"/>
              </a:spcBef>
            </a:pPr>
            <a:r>
              <a:rPr dirty="0" sz="1100" spc="-50" b="0" i="1">
                <a:latin typeface="Bookman Old Style"/>
                <a:cs typeface="Bookman Old Style"/>
              </a:rPr>
              <a:t>c 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λ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1972373"/>
            <a:ext cx="430276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r>
              <a:rPr dirty="0" sz="1200" spc="-155">
                <a:latin typeface="Arial Unicode MS"/>
                <a:cs typeface="Arial Unicode MS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E</a:t>
            </a:r>
            <a:r>
              <a:rPr dirty="0" sz="1100" spc="8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是光辐射能</a:t>
            </a:r>
            <a:r>
              <a:rPr dirty="0" sz="1200" spc="-65">
                <a:latin typeface="Arial Unicode MS"/>
                <a:cs typeface="Arial Unicode MS"/>
              </a:rPr>
              <a:t>量</a:t>
            </a:r>
            <a:r>
              <a:rPr dirty="0" sz="1200" spc="-130">
                <a:latin typeface="Arial Unicode MS"/>
                <a:cs typeface="Arial Unicode MS"/>
              </a:rPr>
              <a:t>；</a:t>
            </a:r>
            <a:r>
              <a:rPr dirty="0" sz="1100" spc="-130" b="0" i="1">
                <a:latin typeface="Bookman Old Style"/>
                <a:cs typeface="Bookman Old Style"/>
              </a:rPr>
              <a:t>h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是普朗克常数</a:t>
            </a:r>
            <a:r>
              <a:rPr dirty="0" baseline="37037" sz="900" spc="-104">
                <a:latin typeface="Times New Roman"/>
                <a:cs typeface="Times New Roman"/>
              </a:rPr>
              <a:t>1</a:t>
            </a:r>
            <a:r>
              <a:rPr dirty="0" sz="1200" spc="-70">
                <a:latin typeface="Arial Unicode MS"/>
                <a:cs typeface="Arial Unicode MS"/>
              </a:rPr>
              <a:t>；</a:t>
            </a:r>
            <a:r>
              <a:rPr dirty="0" sz="1100" spc="-70" b="0" i="1">
                <a:latin typeface="Bookman Old Style"/>
                <a:cs typeface="Bookman Old Style"/>
              </a:rPr>
              <a:t>ν</a:t>
            </a:r>
            <a:r>
              <a:rPr dirty="0" sz="1100" spc="9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5" b="0" i="1">
                <a:latin typeface="Bookman Old Style"/>
                <a:cs typeface="Bookman Old Style"/>
              </a:rPr>
              <a:t>λ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分别为光辐射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的频率和波</a:t>
            </a:r>
            <a:r>
              <a:rPr dirty="0" sz="1200" spc="-65">
                <a:latin typeface="Arial Unicode MS"/>
                <a:cs typeface="Arial Unicode MS"/>
              </a:rPr>
              <a:t>长</a:t>
            </a:r>
            <a:r>
              <a:rPr dirty="0" sz="1200" spc="-130">
                <a:latin typeface="Arial Unicode MS"/>
                <a:cs typeface="Arial Unicode MS"/>
              </a:rPr>
              <a:t>；</a:t>
            </a:r>
            <a:r>
              <a:rPr dirty="0" sz="1100" spc="-130" b="0" i="1">
                <a:latin typeface="Bookman Old Style"/>
                <a:cs typeface="Bookman Old Style"/>
              </a:rPr>
              <a:t>c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是光</a:t>
            </a:r>
            <a:r>
              <a:rPr dirty="0" sz="1200" spc="-20">
                <a:latin typeface="Arial Unicode MS"/>
                <a:cs typeface="Arial Unicode MS"/>
              </a:rPr>
              <a:t>速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8394" y="3172599"/>
            <a:ext cx="122301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60">
                <a:latin typeface="Times New Roman"/>
                <a:cs typeface="Times New Roman"/>
              </a:rPr>
              <a:t>1</a:t>
            </a:r>
            <a:r>
              <a:rPr dirty="0" sz="900" spc="40" b="0" i="1">
                <a:latin typeface="Bookman Old Style"/>
                <a:cs typeface="Bookman Old Style"/>
              </a:rPr>
              <a:t>h</a:t>
            </a:r>
            <a:r>
              <a:rPr dirty="0" sz="900" spc="-25" b="0" i="1">
                <a:latin typeface="Bookman Old Style"/>
                <a:cs typeface="Bookman Old Style"/>
              </a:rPr>
              <a:t> </a:t>
            </a:r>
            <a:r>
              <a:rPr dirty="0" sz="900" spc="204">
                <a:latin typeface="Times New Roman"/>
                <a:cs typeface="Times New Roman"/>
              </a:rPr>
              <a:t>=</a:t>
            </a:r>
            <a:r>
              <a:rPr dirty="0" sz="900" spc="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6</a:t>
            </a:r>
            <a:r>
              <a:rPr dirty="0" sz="900" b="0" i="1">
                <a:latin typeface="Bookman Old Style"/>
                <a:cs typeface="Bookman Old Style"/>
              </a:rPr>
              <a:t>.</a:t>
            </a:r>
            <a:r>
              <a:rPr dirty="0" sz="900">
                <a:latin typeface="Times New Roman"/>
                <a:cs typeface="Times New Roman"/>
              </a:rPr>
              <a:t>63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25" i="1">
                <a:latin typeface="Verdana"/>
                <a:cs typeface="Verdana"/>
              </a:rPr>
              <a:t>×</a:t>
            </a:r>
            <a:r>
              <a:rPr dirty="0" sz="900" spc="-114" i="1">
                <a:latin typeface="Verdana"/>
                <a:cs typeface="Verdana"/>
              </a:rPr>
              <a:t> </a:t>
            </a:r>
            <a:r>
              <a:rPr dirty="0" sz="900" spc="70">
                <a:latin typeface="Times New Roman"/>
                <a:cs typeface="Times New Roman"/>
              </a:rPr>
              <a:t>10</a:t>
            </a:r>
            <a:r>
              <a:rPr dirty="0" baseline="37037" sz="900" spc="104" i="1">
                <a:latin typeface="Arial"/>
                <a:cs typeface="Arial"/>
              </a:rPr>
              <a:t>−</a:t>
            </a:r>
            <a:r>
              <a:rPr dirty="0" baseline="37037" sz="900" spc="104">
                <a:latin typeface="Times New Roman"/>
                <a:cs typeface="Times New Roman"/>
              </a:rPr>
              <a:t>34</a:t>
            </a:r>
            <a:r>
              <a:rPr dirty="0" baseline="37037" sz="900" spc="292">
                <a:latin typeface="Times New Roman"/>
                <a:cs typeface="Times New Roman"/>
              </a:rPr>
              <a:t> </a:t>
            </a:r>
            <a:r>
              <a:rPr dirty="0" sz="900" spc="120">
                <a:latin typeface="Times New Roman"/>
                <a:cs typeface="Times New Roman"/>
              </a:rPr>
              <a:t>J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75" i="1">
                <a:latin typeface="Verdana"/>
                <a:cs typeface="Verdana"/>
              </a:rPr>
              <a:t>·</a:t>
            </a:r>
            <a:r>
              <a:rPr dirty="0" sz="900" spc="-120" i="1">
                <a:latin typeface="Verdana"/>
                <a:cs typeface="Verdana"/>
              </a:rPr>
              <a:t> </a:t>
            </a:r>
            <a:r>
              <a:rPr dirty="0" sz="900" spc="10">
                <a:latin typeface="Times New Roman"/>
                <a:cs typeface="Times New Roman"/>
              </a:rPr>
              <a:t>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70"/>
              </a:lnSpc>
            </a:pPr>
            <a:fld id="{81D60167-4931-47E6-BA6A-407CBD079E47}" type="slidenum">
              <a:rPr dirty="0" spc="65"/>
              <a:t>8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23139"/>
            <a:ext cx="176593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9.2</a:t>
            </a:r>
            <a:r>
              <a:rPr dirty="0" sz="1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朗伯</a:t>
            </a:r>
            <a:r>
              <a:rPr dirty="0" sz="1400" spc="135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比尔定律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15530"/>
            <a:ext cx="4356735" cy="1226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100" spc="-25">
                <a:latin typeface="Georgia"/>
                <a:cs typeface="Georgia"/>
              </a:rPr>
              <a:t>1729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年和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1760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布</a:t>
            </a:r>
            <a:r>
              <a:rPr dirty="0" sz="1200" spc="-260">
                <a:latin typeface="Arial Unicode MS"/>
                <a:cs typeface="Arial Unicode MS"/>
              </a:rPr>
              <a:t>格</a:t>
            </a:r>
            <a:r>
              <a:rPr dirty="0" sz="1200" spc="-45">
                <a:latin typeface="Arial Unicode MS"/>
                <a:cs typeface="Arial Unicode MS"/>
              </a:rPr>
              <a:t>（</a:t>
            </a:r>
            <a:r>
              <a:rPr dirty="0" sz="1100" spc="-45">
                <a:latin typeface="Georgia"/>
                <a:cs typeface="Georgia"/>
              </a:rPr>
              <a:t>Bouguer</a:t>
            </a:r>
            <a:r>
              <a:rPr dirty="0" sz="1200" spc="-4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和朗</a:t>
            </a:r>
            <a:r>
              <a:rPr dirty="0" sz="1200" spc="-260">
                <a:latin typeface="Arial Unicode MS"/>
                <a:cs typeface="Arial Unicode MS"/>
              </a:rPr>
              <a:t>伯</a:t>
            </a:r>
            <a:r>
              <a:rPr dirty="0" sz="1200" spc="-40">
                <a:latin typeface="Arial Unicode MS"/>
                <a:cs typeface="Arial Unicode MS"/>
              </a:rPr>
              <a:t>（</a:t>
            </a:r>
            <a:r>
              <a:rPr dirty="0" sz="1100" spc="-40">
                <a:latin typeface="Georgia"/>
                <a:cs typeface="Georgia"/>
              </a:rPr>
              <a:t>Lambert</a:t>
            </a:r>
            <a:r>
              <a:rPr dirty="0" sz="1200" spc="-4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先后发 </a:t>
            </a:r>
            <a:r>
              <a:rPr dirty="0" sz="1200" spc="-80">
                <a:latin typeface="Arial Unicode MS"/>
                <a:cs typeface="Arial Unicode MS"/>
              </a:rPr>
              <a:t>现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物质对单色光的吸收程度与吸收层厚度成正</a:t>
            </a:r>
            <a:r>
              <a:rPr dirty="0" sz="1200" spc="-80">
                <a:latin typeface="Arial Unicode MS"/>
                <a:cs typeface="Arial Unicode MS"/>
              </a:rPr>
              <a:t>比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用数学式表</a:t>
            </a:r>
            <a:r>
              <a:rPr dirty="0" sz="1200" spc="-5">
                <a:latin typeface="Arial Unicode MS"/>
                <a:cs typeface="Arial Unicode MS"/>
              </a:rPr>
              <a:t>示 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004060">
              <a:lnSpc>
                <a:spcPct val="100000"/>
              </a:lnSpc>
              <a:spcBef>
                <a:spcPts val="420"/>
              </a:spcBef>
              <a:tabLst>
                <a:tab pos="416623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190">
                <a:latin typeface="Lucida Sans Unicode"/>
                <a:cs typeface="Lucida Sans Unicode"/>
              </a:rPr>
              <a:t>∝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195" b="0" i="1">
                <a:latin typeface="Bookman Old Style"/>
                <a:cs typeface="Bookman Old Style"/>
              </a:rPr>
              <a:t>b</a:t>
            </a:r>
            <a:r>
              <a:rPr dirty="0" sz="1100" b="0" i="1">
                <a:latin typeface="Bookman Old Style"/>
                <a:cs typeface="Bookman Old Style"/>
              </a:rPr>
              <a:t>	</a:t>
            </a:r>
            <a:r>
              <a:rPr dirty="0" sz="1100" spc="30">
                <a:latin typeface="Georgia"/>
                <a:cs typeface="Georgia"/>
              </a:rPr>
              <a:t>(1)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100" spc="-70" b="0" i="1">
                <a:latin typeface="Bookman Old Style"/>
                <a:cs typeface="Bookman Old Style"/>
              </a:rPr>
              <a:t>A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表示吸光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100" spc="-190" b="0" i="1">
                <a:latin typeface="Bookman Old Style"/>
                <a:cs typeface="Bookman Old Style"/>
              </a:rPr>
              <a:t>b</a:t>
            </a:r>
            <a:r>
              <a:rPr dirty="0" sz="1100" spc="-11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表示吸收层的厚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1030" y="3353670"/>
            <a:ext cx="2743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76593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9.2</a:t>
            </a:r>
            <a:r>
              <a:rPr dirty="0" sz="1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</a:rPr>
              <a:t>朗伯</a:t>
            </a:r>
            <a:r>
              <a:rPr dirty="0" sz="1400" spc="135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600" spc="-10">
                <a:solidFill>
                  <a:srgbClr val="FFFFFF"/>
                </a:solidFill>
              </a:rPr>
              <a:t>比尔定律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15530"/>
            <a:ext cx="4356735" cy="253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100" spc="-25">
                <a:latin typeface="Georgia"/>
                <a:cs typeface="Georgia"/>
              </a:rPr>
              <a:t>1729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年和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1760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布</a:t>
            </a:r>
            <a:r>
              <a:rPr dirty="0" sz="1200" spc="-260">
                <a:latin typeface="Arial Unicode MS"/>
                <a:cs typeface="Arial Unicode MS"/>
              </a:rPr>
              <a:t>格</a:t>
            </a:r>
            <a:r>
              <a:rPr dirty="0" sz="1200" spc="-45">
                <a:latin typeface="Arial Unicode MS"/>
                <a:cs typeface="Arial Unicode MS"/>
              </a:rPr>
              <a:t>（</a:t>
            </a:r>
            <a:r>
              <a:rPr dirty="0" sz="1100" spc="-45">
                <a:latin typeface="Georgia"/>
                <a:cs typeface="Georgia"/>
              </a:rPr>
              <a:t>Bouguer</a:t>
            </a:r>
            <a:r>
              <a:rPr dirty="0" sz="1200" spc="-4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和朗</a:t>
            </a:r>
            <a:r>
              <a:rPr dirty="0" sz="1200" spc="-260">
                <a:latin typeface="Arial Unicode MS"/>
                <a:cs typeface="Arial Unicode MS"/>
              </a:rPr>
              <a:t>伯</a:t>
            </a:r>
            <a:r>
              <a:rPr dirty="0" sz="1200" spc="-40">
                <a:latin typeface="Arial Unicode MS"/>
                <a:cs typeface="Arial Unicode MS"/>
              </a:rPr>
              <a:t>（</a:t>
            </a:r>
            <a:r>
              <a:rPr dirty="0" sz="1100" spc="-40">
                <a:latin typeface="Georgia"/>
                <a:cs typeface="Georgia"/>
              </a:rPr>
              <a:t>Lambert</a:t>
            </a:r>
            <a:r>
              <a:rPr dirty="0" sz="1200" spc="-4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先后发 </a:t>
            </a:r>
            <a:r>
              <a:rPr dirty="0" sz="1200" spc="-80">
                <a:latin typeface="Arial Unicode MS"/>
                <a:cs typeface="Arial Unicode MS"/>
              </a:rPr>
              <a:t>现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物质对单色光的吸收程度与吸收层厚度成正</a:t>
            </a:r>
            <a:r>
              <a:rPr dirty="0" sz="1200" spc="-80">
                <a:latin typeface="Arial Unicode MS"/>
                <a:cs typeface="Arial Unicode MS"/>
              </a:rPr>
              <a:t>比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用数学式表</a:t>
            </a:r>
            <a:r>
              <a:rPr dirty="0" sz="1200" spc="-5">
                <a:latin typeface="Arial Unicode MS"/>
                <a:cs typeface="Arial Unicode MS"/>
              </a:rPr>
              <a:t>示 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004060">
              <a:lnSpc>
                <a:spcPct val="100000"/>
              </a:lnSpc>
              <a:spcBef>
                <a:spcPts val="420"/>
              </a:spcBef>
              <a:tabLst>
                <a:tab pos="416623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190">
                <a:latin typeface="Lucida Sans Unicode"/>
                <a:cs typeface="Lucida Sans Unicode"/>
              </a:rPr>
              <a:t>∝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195" b="0" i="1">
                <a:latin typeface="Bookman Old Style"/>
                <a:cs typeface="Bookman Old Style"/>
              </a:rPr>
              <a:t>b</a:t>
            </a:r>
            <a:r>
              <a:rPr dirty="0" sz="1100" b="0" i="1">
                <a:latin typeface="Bookman Old Style"/>
                <a:cs typeface="Bookman Old Style"/>
              </a:rPr>
              <a:t>	</a:t>
            </a:r>
            <a:r>
              <a:rPr dirty="0" sz="1100" spc="30">
                <a:latin typeface="Georgia"/>
                <a:cs typeface="Georgia"/>
              </a:rPr>
              <a:t>(1)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100" spc="-70" b="0" i="1">
                <a:latin typeface="Bookman Old Style"/>
                <a:cs typeface="Bookman Old Style"/>
              </a:rPr>
              <a:t>A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表示吸光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100" spc="-190" b="0" i="1">
                <a:latin typeface="Bookman Old Style"/>
                <a:cs typeface="Bookman Old Style"/>
              </a:rPr>
              <a:t>b</a:t>
            </a:r>
            <a:r>
              <a:rPr dirty="0" sz="1100" spc="-11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表示吸收层的厚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100" spc="-40">
                <a:latin typeface="Georgia"/>
                <a:cs typeface="Georgia"/>
              </a:rPr>
              <a:t>1852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比</a:t>
            </a:r>
            <a:r>
              <a:rPr dirty="0" sz="1200" spc="-260">
                <a:latin typeface="Arial Unicode MS"/>
                <a:cs typeface="Arial Unicode MS"/>
              </a:rPr>
              <a:t>尔</a:t>
            </a:r>
            <a:r>
              <a:rPr dirty="0" sz="1200" spc="-55">
                <a:latin typeface="Arial Unicode MS"/>
                <a:cs typeface="Arial Unicode MS"/>
              </a:rPr>
              <a:t>（</a:t>
            </a:r>
            <a:r>
              <a:rPr dirty="0" sz="1100" spc="-55">
                <a:latin typeface="Georgia"/>
                <a:cs typeface="Georgia"/>
              </a:rPr>
              <a:t>Beer</a:t>
            </a:r>
            <a:r>
              <a:rPr dirty="0" sz="1200" spc="-5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发</a:t>
            </a:r>
            <a:r>
              <a:rPr dirty="0" sz="1200" spc="-80">
                <a:latin typeface="Arial Unicode MS"/>
                <a:cs typeface="Arial Unicode MS"/>
              </a:rPr>
              <a:t>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物质对单色光的吸收程度与物质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的浓度有</a:t>
            </a:r>
            <a:r>
              <a:rPr dirty="0" sz="1200" spc="-80">
                <a:latin typeface="Arial Unicode MS"/>
                <a:cs typeface="Arial Unicode MS"/>
              </a:rPr>
              <a:t>关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用数学式表示如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marL="2003425">
              <a:lnSpc>
                <a:spcPct val="100000"/>
              </a:lnSpc>
              <a:tabLst>
                <a:tab pos="416623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-190">
                <a:latin typeface="Lucida Sans Unicode"/>
                <a:cs typeface="Lucida Sans Unicode"/>
              </a:rPr>
              <a:t>∝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b="0" i="1">
                <a:latin typeface="Bookman Old Style"/>
                <a:cs typeface="Bookman Old Style"/>
              </a:rPr>
              <a:t>	</a:t>
            </a:r>
            <a:r>
              <a:rPr dirty="0" sz="1100" spc="-2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25">
                <a:latin typeface="Arial Unicode MS"/>
                <a:cs typeface="Arial Unicode MS"/>
              </a:rPr>
              <a:t>，</a:t>
            </a:r>
            <a:r>
              <a:rPr dirty="0" sz="1100" spc="-125" b="0" i="1">
                <a:latin typeface="Bookman Old Style"/>
                <a:cs typeface="Bookman Old Style"/>
              </a:rPr>
              <a:t>c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是吸光物质的浓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81654" y="3352425"/>
            <a:ext cx="708025" cy="1028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81030" y="3353670"/>
            <a:ext cx="27432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44" y="302564"/>
            <a:ext cx="4445635" cy="1226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260">
                <a:latin typeface="Arial Unicode MS"/>
                <a:cs typeface="Arial Unicode MS"/>
              </a:rPr>
              <a:t>将</a:t>
            </a: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260">
                <a:latin typeface="Arial Unicode MS"/>
                <a:cs typeface="Arial Unicode MS"/>
              </a:rPr>
              <a:t>和</a:t>
            </a:r>
            <a:r>
              <a:rPr dirty="0" sz="1200" spc="-110">
                <a:latin typeface="Arial Unicode MS"/>
                <a:cs typeface="Arial Unicode MS"/>
              </a:rPr>
              <a:t>（</a:t>
            </a:r>
            <a:r>
              <a:rPr dirty="0" sz="1100" spc="-110">
                <a:latin typeface="Georgia"/>
                <a:cs typeface="Georgia"/>
              </a:rPr>
              <a:t>2</a:t>
            </a:r>
            <a:r>
              <a:rPr dirty="0" sz="1200" spc="-11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式相结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就得到著名的朗伯－比尔定律</a:t>
            </a:r>
            <a:r>
              <a:rPr dirty="0" baseline="37037" sz="900" spc="22">
                <a:latin typeface="Times New Roman"/>
                <a:cs typeface="Times New Roman"/>
              </a:rPr>
              <a:t>2</a:t>
            </a:r>
            <a:r>
              <a:rPr dirty="0" sz="1200" spc="1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960880">
              <a:lnSpc>
                <a:spcPct val="100000"/>
              </a:lnSpc>
              <a:spcBef>
                <a:spcPts val="425"/>
              </a:spcBef>
              <a:tabLst>
                <a:tab pos="421703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Kbc	</a:t>
            </a:r>
            <a:r>
              <a:rPr dirty="0" sz="1100" spc="-15"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99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 b="0" i="1">
                <a:latin typeface="Bookman Old Style"/>
                <a:cs typeface="Bookman Old Style"/>
              </a:rPr>
              <a:t>K</a:t>
            </a:r>
            <a:r>
              <a:rPr dirty="0" sz="1100" spc="7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称为吸光系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它是与物质的性</a:t>
            </a:r>
            <a:r>
              <a:rPr dirty="0" sz="1200" spc="15">
                <a:latin typeface="Arial Unicode MS"/>
                <a:cs typeface="Arial Unicode MS"/>
              </a:rPr>
              <a:t>质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入射光波</a:t>
            </a:r>
            <a:r>
              <a:rPr dirty="0" sz="1200" spc="15">
                <a:latin typeface="Arial Unicode MS"/>
                <a:cs typeface="Arial Unicode MS"/>
              </a:rPr>
              <a:t>长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温度等</a:t>
            </a:r>
            <a:endParaRPr sz="1200">
              <a:latin typeface="Arial Unicode MS"/>
              <a:cs typeface="Arial Unicode MS"/>
            </a:endParaRPr>
          </a:p>
          <a:p>
            <a:pPr marL="628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因素有关的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3794" y="3181153"/>
            <a:ext cx="2405380" cy="15938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2</a:t>
            </a:r>
            <a:r>
              <a:rPr dirty="0" sz="900" spc="-5">
                <a:latin typeface="Arial Unicode MS"/>
                <a:cs typeface="Arial Unicode MS"/>
              </a:rPr>
              <a:t>为何不再提及</a:t>
            </a:r>
            <a:r>
              <a:rPr dirty="0" sz="900" spc="30">
                <a:latin typeface="Arial Unicode MS"/>
                <a:cs typeface="Arial Unicode MS"/>
              </a:rPr>
              <a:t> </a:t>
            </a:r>
            <a:r>
              <a:rPr dirty="0" sz="900" spc="35">
                <a:latin typeface="Times New Roman"/>
                <a:cs typeface="Times New Roman"/>
              </a:rPr>
              <a:t>Bouguer</a:t>
            </a:r>
            <a:r>
              <a:rPr dirty="0" sz="900" spc="60">
                <a:latin typeface="Times New Roman"/>
                <a:cs typeface="Times New Roman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的贡献至今原因不</a:t>
            </a:r>
            <a:r>
              <a:rPr dirty="0" sz="900" spc="-15">
                <a:latin typeface="Arial Unicode MS"/>
                <a:cs typeface="Arial Unicode MS"/>
              </a:rPr>
              <a:t>明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44" y="302564"/>
            <a:ext cx="4445635" cy="23958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260">
                <a:latin typeface="Arial Unicode MS"/>
                <a:cs typeface="Arial Unicode MS"/>
              </a:rPr>
              <a:t>将</a:t>
            </a: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260">
                <a:latin typeface="Arial Unicode MS"/>
                <a:cs typeface="Arial Unicode MS"/>
              </a:rPr>
              <a:t>和</a:t>
            </a:r>
            <a:r>
              <a:rPr dirty="0" sz="1200" spc="-110">
                <a:latin typeface="Arial Unicode MS"/>
                <a:cs typeface="Arial Unicode MS"/>
              </a:rPr>
              <a:t>（</a:t>
            </a:r>
            <a:r>
              <a:rPr dirty="0" sz="1100" spc="-110">
                <a:latin typeface="Georgia"/>
                <a:cs typeface="Georgia"/>
              </a:rPr>
              <a:t>2</a:t>
            </a:r>
            <a:r>
              <a:rPr dirty="0" sz="1200" spc="-11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式相结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就得到著名的朗伯－比尔定律</a:t>
            </a:r>
            <a:r>
              <a:rPr dirty="0" baseline="37037" sz="900" spc="22">
                <a:latin typeface="Times New Roman"/>
                <a:cs typeface="Times New Roman"/>
              </a:rPr>
              <a:t>2</a:t>
            </a:r>
            <a:r>
              <a:rPr dirty="0" sz="1200" spc="1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960880">
              <a:lnSpc>
                <a:spcPct val="100000"/>
              </a:lnSpc>
              <a:spcBef>
                <a:spcPts val="425"/>
              </a:spcBef>
              <a:tabLst>
                <a:tab pos="421703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5" b="0" i="1">
                <a:latin typeface="Bookman Old Style"/>
                <a:cs typeface="Bookman Old Style"/>
              </a:rPr>
              <a:t>Kbc	</a:t>
            </a:r>
            <a:r>
              <a:rPr dirty="0" sz="1100" spc="-15"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99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 b="0" i="1">
                <a:latin typeface="Bookman Old Style"/>
                <a:cs typeface="Bookman Old Style"/>
              </a:rPr>
              <a:t>K</a:t>
            </a:r>
            <a:r>
              <a:rPr dirty="0" sz="1100" spc="7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称为吸光系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它是与物质的性</a:t>
            </a:r>
            <a:r>
              <a:rPr dirty="0" sz="1200" spc="15">
                <a:latin typeface="Arial Unicode MS"/>
                <a:cs typeface="Arial Unicode MS"/>
              </a:rPr>
              <a:t>质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入射光波</a:t>
            </a:r>
            <a:r>
              <a:rPr dirty="0" sz="1200" spc="15">
                <a:latin typeface="Arial Unicode MS"/>
                <a:cs typeface="Arial Unicode MS"/>
              </a:rPr>
              <a:t>长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温度等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因素有关的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 Unicode MS"/>
              <a:cs typeface="Arial Unicode MS"/>
            </a:endParaRPr>
          </a:p>
          <a:p>
            <a:pPr algn="just" marL="63500" marR="137795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的单位为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Georgia"/>
                <a:cs typeface="Georgia"/>
              </a:rPr>
              <a:t>L</a:t>
            </a:r>
            <a:r>
              <a:rPr dirty="0" baseline="37037" sz="900" spc="-30" i="1">
                <a:latin typeface="Arial"/>
                <a:cs typeface="Arial"/>
              </a:rPr>
              <a:t>−</a:t>
            </a:r>
            <a:r>
              <a:rPr dirty="0" baseline="37037" sz="900" spc="-30">
                <a:latin typeface="Times New Roman"/>
                <a:cs typeface="Times New Roman"/>
              </a:rPr>
              <a:t>1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 b="0" i="1">
                <a:latin typeface="Bookman Old Style"/>
                <a:cs typeface="Bookman Old Style"/>
              </a:rPr>
              <a:t>b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的单位为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40">
                <a:latin typeface="Georgia"/>
                <a:cs typeface="Georgia"/>
              </a:rPr>
              <a:t>cm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吸光系数用另一 符号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来表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称为摩尔吸光系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其单位为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mol</a:t>
            </a:r>
            <a:r>
              <a:rPr dirty="0" baseline="37037" sz="900" spc="44" i="1">
                <a:latin typeface="Arial"/>
                <a:cs typeface="Arial"/>
              </a:rPr>
              <a:t>−</a:t>
            </a:r>
            <a:r>
              <a:rPr dirty="0" baseline="37037" sz="900" spc="44">
                <a:latin typeface="Times New Roman"/>
                <a:cs typeface="Times New Roman"/>
              </a:rPr>
              <a:t>1</a:t>
            </a:r>
            <a:r>
              <a:rPr dirty="0" baseline="37037" sz="900" spc="202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60">
                <a:latin typeface="Georgia"/>
                <a:cs typeface="Georgia"/>
              </a:rPr>
              <a:t>cm</a:t>
            </a:r>
            <a:r>
              <a:rPr dirty="0" baseline="37037" sz="900" spc="89" i="1">
                <a:latin typeface="Arial"/>
                <a:cs typeface="Arial"/>
              </a:rPr>
              <a:t>−</a:t>
            </a:r>
            <a:r>
              <a:rPr dirty="0" baseline="37037" sz="900" spc="89">
                <a:latin typeface="Times New Roman"/>
                <a:cs typeface="Times New Roman"/>
              </a:rPr>
              <a:t>1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335">
                <a:latin typeface="Arial Unicode MS"/>
                <a:cs typeface="Arial Unicode MS"/>
              </a:rPr>
              <a:t>，（</a:t>
            </a:r>
            <a:r>
              <a:rPr dirty="0" sz="1100" spc="-335">
                <a:latin typeface="Georgia"/>
                <a:cs typeface="Georgia"/>
                <a:hlinkClick r:id="rId3" action="ppaction://hlinksldjump"/>
              </a:rPr>
              <a:t>3</a:t>
            </a:r>
            <a:r>
              <a:rPr dirty="0" sz="1200" spc="-33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式变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992630">
              <a:lnSpc>
                <a:spcPct val="100000"/>
              </a:lnSpc>
              <a:spcBef>
                <a:spcPts val="420"/>
              </a:spcBef>
              <a:tabLst>
                <a:tab pos="421703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110" b="0" i="1">
                <a:latin typeface="Bookman Old Style"/>
                <a:cs typeface="Bookman Old Style"/>
              </a:rPr>
              <a:t>εbc	</a:t>
            </a:r>
            <a:r>
              <a:rPr dirty="0" sz="1100" spc="-20">
                <a:latin typeface="Georgia"/>
                <a:cs typeface="Georgia"/>
              </a:rPr>
              <a:t>(4)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3794" y="3181153"/>
            <a:ext cx="2405380" cy="15938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2</a:t>
            </a:r>
            <a:r>
              <a:rPr dirty="0" sz="900" spc="-5">
                <a:latin typeface="Arial Unicode MS"/>
                <a:cs typeface="Arial Unicode MS"/>
              </a:rPr>
              <a:t>为何不再提及</a:t>
            </a:r>
            <a:r>
              <a:rPr dirty="0" sz="900" spc="30">
                <a:latin typeface="Arial Unicode MS"/>
                <a:cs typeface="Arial Unicode MS"/>
              </a:rPr>
              <a:t> </a:t>
            </a:r>
            <a:r>
              <a:rPr dirty="0" sz="900" spc="35">
                <a:latin typeface="Times New Roman"/>
                <a:cs typeface="Times New Roman"/>
              </a:rPr>
              <a:t>Bouguer</a:t>
            </a:r>
            <a:r>
              <a:rPr dirty="0" sz="900" spc="60">
                <a:latin typeface="Times New Roman"/>
                <a:cs typeface="Times New Roman"/>
              </a:rPr>
              <a:t> </a:t>
            </a:r>
            <a:r>
              <a:rPr dirty="0" sz="900" spc="-5">
                <a:latin typeface="Arial Unicode MS"/>
                <a:cs typeface="Arial Unicode MS"/>
              </a:rPr>
              <a:t>的贡献至今原因不</a:t>
            </a:r>
            <a:r>
              <a:rPr dirty="0" sz="900" spc="-15">
                <a:latin typeface="Arial Unicode MS"/>
                <a:cs typeface="Arial Unicode MS"/>
              </a:rPr>
              <a:t>明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透光度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904290"/>
            <a:ext cx="43878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在吸光光度法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有时还使用透光度来衡量物质对光的吸</a:t>
            </a:r>
            <a:r>
              <a:rPr dirty="0" sz="1200" spc="-80">
                <a:latin typeface="Arial Unicode MS"/>
                <a:cs typeface="Arial Unicode MS"/>
              </a:rPr>
              <a:t>收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其定义如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4565" y="1406474"/>
            <a:ext cx="422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A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33853" y="1523085"/>
            <a:ext cx="100330" cy="0"/>
          </a:xfrm>
          <a:custGeom>
            <a:avLst/>
            <a:gdLst/>
            <a:ahLst/>
            <a:cxnLst/>
            <a:rect l="l" t="t" r="r" b="b"/>
            <a:pathLst>
              <a:path w="100330" h="0">
                <a:moveTo>
                  <a:pt x="0" y="0"/>
                </a:moveTo>
                <a:lnTo>
                  <a:pt x="10020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21153" y="1290241"/>
            <a:ext cx="110489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265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T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5026" y="1406474"/>
            <a:ext cx="2794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81922" y="1523085"/>
            <a:ext cx="113664" cy="0"/>
          </a:xfrm>
          <a:custGeom>
            <a:avLst/>
            <a:gdLst/>
            <a:ahLst/>
            <a:cxnLst/>
            <a:rect l="l" t="t" r="r" b="b"/>
            <a:pathLst>
              <a:path w="113664" h="0">
                <a:moveTo>
                  <a:pt x="0" y="0"/>
                </a:moveTo>
                <a:lnTo>
                  <a:pt x="11362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643822" y="1290241"/>
            <a:ext cx="18351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19" marR="30480" indent="-20955">
              <a:lnSpc>
                <a:spcPct val="112599"/>
              </a:lnSpc>
              <a:spcBef>
                <a:spcPts val="100"/>
              </a:spcBef>
            </a:pPr>
            <a:r>
              <a:rPr dirty="0" sz="1100" spc="120" b="0" i="1">
                <a:latin typeface="Bookman Old Style"/>
                <a:cs typeface="Bookman Old Style"/>
              </a:rPr>
              <a:t>I</a:t>
            </a:r>
            <a:r>
              <a:rPr dirty="0" baseline="-13888" sz="900" spc="60">
                <a:latin typeface="Times New Roman"/>
                <a:cs typeface="Times New Roman"/>
              </a:rPr>
              <a:t>0  </a:t>
            </a: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79722" y="1406474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">
                <a:latin typeface="Georgia"/>
                <a:cs typeface="Georgia"/>
              </a:rPr>
              <a:t>(5)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4599" y="205954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4599" y="2321204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4599" y="2582862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0444" y="1619656"/>
            <a:ext cx="1564640" cy="10725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9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7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是透光度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100" spc="90" b="0" i="1">
                <a:latin typeface="Bookman Old Style"/>
                <a:cs typeface="Bookman Old Style"/>
              </a:rPr>
              <a:t>I</a:t>
            </a:r>
            <a:r>
              <a:rPr dirty="0" baseline="-13888" sz="900" spc="135">
                <a:latin typeface="Times New Roman"/>
                <a:cs typeface="Times New Roman"/>
              </a:rPr>
              <a:t>0</a:t>
            </a:r>
            <a:r>
              <a:rPr dirty="0" baseline="-13888" sz="900" spc="25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是入射光的强度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r>
              <a:rPr dirty="0" sz="1100" spc="2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是出射光的强度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03023" y="938398"/>
            <a:ext cx="196215" cy="1615440"/>
          </a:xfrm>
          <a:custGeom>
            <a:avLst/>
            <a:gdLst/>
            <a:ahLst/>
            <a:cxnLst/>
            <a:rect l="l" t="t" r="r" b="b"/>
            <a:pathLst>
              <a:path w="196214" h="1615439">
                <a:moveTo>
                  <a:pt x="195827" y="0"/>
                </a:moveTo>
                <a:lnTo>
                  <a:pt x="0" y="240520"/>
                </a:lnTo>
                <a:lnTo>
                  <a:pt x="0" y="1614950"/>
                </a:lnTo>
                <a:lnTo>
                  <a:pt x="195827" y="1374429"/>
                </a:lnTo>
                <a:lnTo>
                  <a:pt x="195827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003023" y="938398"/>
            <a:ext cx="196215" cy="1615440"/>
          </a:xfrm>
          <a:custGeom>
            <a:avLst/>
            <a:gdLst/>
            <a:ahLst/>
            <a:cxnLst/>
            <a:rect l="l" t="t" r="r" b="b"/>
            <a:pathLst>
              <a:path w="196214" h="1615439">
                <a:moveTo>
                  <a:pt x="0" y="1614950"/>
                </a:moveTo>
                <a:lnTo>
                  <a:pt x="0" y="240520"/>
                </a:lnTo>
                <a:lnTo>
                  <a:pt x="195827" y="0"/>
                </a:lnTo>
                <a:lnTo>
                  <a:pt x="195827" y="1374429"/>
                </a:lnTo>
                <a:lnTo>
                  <a:pt x="0" y="1614950"/>
                </a:lnTo>
                <a:close/>
              </a:path>
            </a:pathLst>
          </a:custGeom>
          <a:ln w="4003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84073" y="938398"/>
            <a:ext cx="196215" cy="1615440"/>
          </a:xfrm>
          <a:custGeom>
            <a:avLst/>
            <a:gdLst/>
            <a:ahLst/>
            <a:cxnLst/>
            <a:rect l="l" t="t" r="r" b="b"/>
            <a:pathLst>
              <a:path w="196214" h="1615439">
                <a:moveTo>
                  <a:pt x="195827" y="0"/>
                </a:moveTo>
                <a:lnTo>
                  <a:pt x="0" y="240520"/>
                </a:lnTo>
                <a:lnTo>
                  <a:pt x="0" y="1614950"/>
                </a:lnTo>
                <a:lnTo>
                  <a:pt x="195827" y="1374429"/>
                </a:lnTo>
                <a:lnTo>
                  <a:pt x="195827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84073" y="938398"/>
            <a:ext cx="196215" cy="1615440"/>
          </a:xfrm>
          <a:custGeom>
            <a:avLst/>
            <a:gdLst/>
            <a:ahLst/>
            <a:cxnLst/>
            <a:rect l="l" t="t" r="r" b="b"/>
            <a:pathLst>
              <a:path w="196214" h="1615439">
                <a:moveTo>
                  <a:pt x="0" y="1614950"/>
                </a:moveTo>
                <a:lnTo>
                  <a:pt x="0" y="240520"/>
                </a:lnTo>
                <a:lnTo>
                  <a:pt x="195827" y="0"/>
                </a:lnTo>
                <a:lnTo>
                  <a:pt x="195827" y="1374429"/>
                </a:lnTo>
                <a:lnTo>
                  <a:pt x="0" y="1614950"/>
                </a:lnTo>
                <a:close/>
              </a:path>
            </a:pathLst>
          </a:custGeom>
          <a:ln w="4003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98859" y="938407"/>
            <a:ext cx="481330" cy="1374775"/>
          </a:xfrm>
          <a:custGeom>
            <a:avLst/>
            <a:gdLst/>
            <a:ahLst/>
            <a:cxnLst/>
            <a:rect l="l" t="t" r="r" b="b"/>
            <a:pathLst>
              <a:path w="481330" h="1374775">
                <a:moveTo>
                  <a:pt x="0" y="1374421"/>
                </a:moveTo>
                <a:lnTo>
                  <a:pt x="481050" y="1374421"/>
                </a:lnTo>
                <a:lnTo>
                  <a:pt x="481050" y="0"/>
                </a:lnTo>
                <a:lnTo>
                  <a:pt x="0" y="0"/>
                </a:lnTo>
                <a:lnTo>
                  <a:pt x="0" y="1374421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98859" y="938407"/>
            <a:ext cx="481330" cy="1374775"/>
          </a:xfrm>
          <a:custGeom>
            <a:avLst/>
            <a:gdLst/>
            <a:ahLst/>
            <a:cxnLst/>
            <a:rect l="l" t="t" r="r" b="b"/>
            <a:pathLst>
              <a:path w="481330" h="1374775">
                <a:moveTo>
                  <a:pt x="481050" y="1374421"/>
                </a:moveTo>
                <a:lnTo>
                  <a:pt x="0" y="1374421"/>
                </a:lnTo>
                <a:lnTo>
                  <a:pt x="0" y="0"/>
                </a:lnTo>
                <a:lnTo>
                  <a:pt x="481050" y="0"/>
                </a:lnTo>
                <a:lnTo>
                  <a:pt x="481050" y="1374421"/>
                </a:lnTo>
                <a:close/>
              </a:path>
            </a:pathLst>
          </a:custGeom>
          <a:ln w="4003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03023" y="2312828"/>
            <a:ext cx="676910" cy="240665"/>
          </a:xfrm>
          <a:custGeom>
            <a:avLst/>
            <a:gdLst/>
            <a:ahLst/>
            <a:cxnLst/>
            <a:rect l="l" t="t" r="r" b="b"/>
            <a:pathLst>
              <a:path w="676910" h="240664">
                <a:moveTo>
                  <a:pt x="676877" y="0"/>
                </a:moveTo>
                <a:lnTo>
                  <a:pt x="195827" y="0"/>
                </a:lnTo>
                <a:lnTo>
                  <a:pt x="0" y="240520"/>
                </a:lnTo>
                <a:lnTo>
                  <a:pt x="481050" y="240520"/>
                </a:lnTo>
                <a:lnTo>
                  <a:pt x="676877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03023" y="2312828"/>
            <a:ext cx="676910" cy="240665"/>
          </a:xfrm>
          <a:custGeom>
            <a:avLst/>
            <a:gdLst/>
            <a:ahLst/>
            <a:cxnLst/>
            <a:rect l="l" t="t" r="r" b="b"/>
            <a:pathLst>
              <a:path w="676910" h="240664">
                <a:moveTo>
                  <a:pt x="0" y="240520"/>
                </a:moveTo>
                <a:lnTo>
                  <a:pt x="195827" y="0"/>
                </a:lnTo>
                <a:lnTo>
                  <a:pt x="676877" y="0"/>
                </a:lnTo>
                <a:lnTo>
                  <a:pt x="481050" y="240520"/>
                </a:lnTo>
                <a:lnTo>
                  <a:pt x="0" y="240520"/>
                </a:lnTo>
                <a:close/>
              </a:path>
            </a:pathLst>
          </a:custGeom>
          <a:ln w="4003">
            <a:solidFill>
              <a:srgbClr val="00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03023" y="2553349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05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98850" y="2312828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05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03023" y="2312828"/>
            <a:ext cx="196215" cy="240665"/>
          </a:xfrm>
          <a:custGeom>
            <a:avLst/>
            <a:gdLst/>
            <a:ahLst/>
            <a:cxnLst/>
            <a:rect l="l" t="t" r="r" b="b"/>
            <a:pathLst>
              <a:path w="196214" h="240664">
                <a:moveTo>
                  <a:pt x="0" y="240520"/>
                </a:moveTo>
                <a:lnTo>
                  <a:pt x="195827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84073" y="2312828"/>
            <a:ext cx="196215" cy="240665"/>
          </a:xfrm>
          <a:custGeom>
            <a:avLst/>
            <a:gdLst/>
            <a:ahLst/>
            <a:cxnLst/>
            <a:rect l="l" t="t" r="r" b="b"/>
            <a:pathLst>
              <a:path w="196214" h="240664">
                <a:moveTo>
                  <a:pt x="0" y="240520"/>
                </a:moveTo>
                <a:lnTo>
                  <a:pt x="195827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03023" y="1178928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05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98850" y="938398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05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03023" y="938398"/>
            <a:ext cx="196215" cy="240665"/>
          </a:xfrm>
          <a:custGeom>
            <a:avLst/>
            <a:gdLst/>
            <a:ahLst/>
            <a:cxnLst/>
            <a:rect l="l" t="t" r="r" b="b"/>
            <a:pathLst>
              <a:path w="196214" h="240665">
                <a:moveTo>
                  <a:pt x="0" y="240529"/>
                </a:moveTo>
                <a:lnTo>
                  <a:pt x="195827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84073" y="938398"/>
            <a:ext cx="196215" cy="240665"/>
          </a:xfrm>
          <a:custGeom>
            <a:avLst/>
            <a:gdLst/>
            <a:ahLst/>
            <a:cxnLst/>
            <a:rect l="l" t="t" r="r" b="b"/>
            <a:pathLst>
              <a:path w="196214" h="240665">
                <a:moveTo>
                  <a:pt x="0" y="240529"/>
                </a:moveTo>
                <a:lnTo>
                  <a:pt x="195827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03023" y="1178928"/>
            <a:ext cx="0" cy="1374775"/>
          </a:xfrm>
          <a:custGeom>
            <a:avLst/>
            <a:gdLst/>
            <a:ahLst/>
            <a:cxnLst/>
            <a:rect l="l" t="t" r="r" b="b"/>
            <a:pathLst>
              <a:path w="0" h="1374775">
                <a:moveTo>
                  <a:pt x="0" y="1374421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98850" y="938398"/>
            <a:ext cx="0" cy="1374775"/>
          </a:xfrm>
          <a:custGeom>
            <a:avLst/>
            <a:gdLst/>
            <a:ahLst/>
            <a:cxnLst/>
            <a:rect l="l" t="t" r="r" b="b"/>
            <a:pathLst>
              <a:path w="0" h="1374775">
                <a:moveTo>
                  <a:pt x="0" y="1374429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79900" y="938398"/>
            <a:ext cx="0" cy="1374775"/>
          </a:xfrm>
          <a:custGeom>
            <a:avLst/>
            <a:gdLst/>
            <a:ahLst/>
            <a:cxnLst/>
            <a:rect l="l" t="t" r="r" b="b"/>
            <a:pathLst>
              <a:path w="0" h="1374775">
                <a:moveTo>
                  <a:pt x="0" y="1374429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484073" y="1178928"/>
            <a:ext cx="0" cy="1374775"/>
          </a:xfrm>
          <a:custGeom>
            <a:avLst/>
            <a:gdLst/>
            <a:ahLst/>
            <a:cxnLst/>
            <a:rect l="l" t="t" r="r" b="b"/>
            <a:pathLst>
              <a:path w="0" h="1374775">
                <a:moveTo>
                  <a:pt x="0" y="1374421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003023" y="2553349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05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98850" y="2312828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05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03023" y="2312828"/>
            <a:ext cx="196215" cy="240665"/>
          </a:xfrm>
          <a:custGeom>
            <a:avLst/>
            <a:gdLst/>
            <a:ahLst/>
            <a:cxnLst/>
            <a:rect l="l" t="t" r="r" b="b"/>
            <a:pathLst>
              <a:path w="196214" h="240664">
                <a:moveTo>
                  <a:pt x="0" y="240520"/>
                </a:moveTo>
                <a:lnTo>
                  <a:pt x="195827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84073" y="2312828"/>
            <a:ext cx="196215" cy="240665"/>
          </a:xfrm>
          <a:custGeom>
            <a:avLst/>
            <a:gdLst/>
            <a:ahLst/>
            <a:cxnLst/>
            <a:rect l="l" t="t" r="r" b="b"/>
            <a:pathLst>
              <a:path w="196214" h="240664">
                <a:moveTo>
                  <a:pt x="0" y="240520"/>
                </a:moveTo>
                <a:lnTo>
                  <a:pt x="195827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003023" y="835318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050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98850" y="594797"/>
            <a:ext cx="481330" cy="0"/>
          </a:xfrm>
          <a:custGeom>
            <a:avLst/>
            <a:gdLst/>
            <a:ahLst/>
            <a:cxnLst/>
            <a:rect l="l" t="t" r="r" b="b"/>
            <a:pathLst>
              <a:path w="481330" h="0">
                <a:moveTo>
                  <a:pt x="0" y="0"/>
                </a:moveTo>
                <a:lnTo>
                  <a:pt x="481050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003023" y="594797"/>
            <a:ext cx="196215" cy="240665"/>
          </a:xfrm>
          <a:custGeom>
            <a:avLst/>
            <a:gdLst/>
            <a:ahLst/>
            <a:cxnLst/>
            <a:rect l="l" t="t" r="r" b="b"/>
            <a:pathLst>
              <a:path w="196214" h="240665">
                <a:moveTo>
                  <a:pt x="0" y="240520"/>
                </a:moveTo>
                <a:lnTo>
                  <a:pt x="195827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484073" y="594797"/>
            <a:ext cx="196215" cy="240665"/>
          </a:xfrm>
          <a:custGeom>
            <a:avLst/>
            <a:gdLst/>
            <a:ahLst/>
            <a:cxnLst/>
            <a:rect l="l" t="t" r="r" b="b"/>
            <a:pathLst>
              <a:path w="196214" h="240665">
                <a:moveTo>
                  <a:pt x="0" y="240520"/>
                </a:moveTo>
                <a:lnTo>
                  <a:pt x="195827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003023" y="835318"/>
            <a:ext cx="0" cy="1718310"/>
          </a:xfrm>
          <a:custGeom>
            <a:avLst/>
            <a:gdLst/>
            <a:ahLst/>
            <a:cxnLst/>
            <a:rect l="l" t="t" r="r" b="b"/>
            <a:pathLst>
              <a:path w="0" h="1718310">
                <a:moveTo>
                  <a:pt x="0" y="1718031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198850" y="594797"/>
            <a:ext cx="0" cy="1718310"/>
          </a:xfrm>
          <a:custGeom>
            <a:avLst/>
            <a:gdLst/>
            <a:ahLst/>
            <a:cxnLst/>
            <a:rect l="l" t="t" r="r" b="b"/>
            <a:pathLst>
              <a:path w="0" h="1718310">
                <a:moveTo>
                  <a:pt x="0" y="1718031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79900" y="594797"/>
            <a:ext cx="0" cy="1718310"/>
          </a:xfrm>
          <a:custGeom>
            <a:avLst/>
            <a:gdLst/>
            <a:ahLst/>
            <a:cxnLst/>
            <a:rect l="l" t="t" r="r" b="b"/>
            <a:pathLst>
              <a:path w="0" h="1718310">
                <a:moveTo>
                  <a:pt x="0" y="1718031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484073" y="835318"/>
            <a:ext cx="0" cy="1718310"/>
          </a:xfrm>
          <a:custGeom>
            <a:avLst/>
            <a:gdLst/>
            <a:ahLst/>
            <a:cxnLst/>
            <a:rect l="l" t="t" r="r" b="b"/>
            <a:pathLst>
              <a:path w="0" h="1718310">
                <a:moveTo>
                  <a:pt x="0" y="1718031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865582" y="2604890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5" h="0">
                <a:moveTo>
                  <a:pt x="0" y="0"/>
                </a:moveTo>
                <a:lnTo>
                  <a:pt x="687210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145342" y="2261280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5" h="0">
                <a:moveTo>
                  <a:pt x="0" y="0"/>
                </a:moveTo>
                <a:lnTo>
                  <a:pt x="68721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865582" y="2261280"/>
            <a:ext cx="280035" cy="344170"/>
          </a:xfrm>
          <a:custGeom>
            <a:avLst/>
            <a:gdLst/>
            <a:ahLst/>
            <a:cxnLst/>
            <a:rect l="l" t="t" r="r" b="b"/>
            <a:pathLst>
              <a:path w="280035" h="344169">
                <a:moveTo>
                  <a:pt x="0" y="343609"/>
                </a:moveTo>
                <a:lnTo>
                  <a:pt x="279759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552793" y="2261280"/>
            <a:ext cx="280035" cy="344170"/>
          </a:xfrm>
          <a:custGeom>
            <a:avLst/>
            <a:gdLst/>
            <a:ahLst/>
            <a:cxnLst/>
            <a:rect l="l" t="t" r="r" b="b"/>
            <a:pathLst>
              <a:path w="280035" h="344169">
                <a:moveTo>
                  <a:pt x="0" y="343609"/>
                </a:moveTo>
                <a:lnTo>
                  <a:pt x="279759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865582" y="886859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5" h="0">
                <a:moveTo>
                  <a:pt x="0" y="0"/>
                </a:moveTo>
                <a:lnTo>
                  <a:pt x="687210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145342" y="543249"/>
            <a:ext cx="687705" cy="0"/>
          </a:xfrm>
          <a:custGeom>
            <a:avLst/>
            <a:gdLst/>
            <a:ahLst/>
            <a:cxnLst/>
            <a:rect l="l" t="t" r="r" b="b"/>
            <a:pathLst>
              <a:path w="687705" h="0">
                <a:moveTo>
                  <a:pt x="0" y="0"/>
                </a:moveTo>
                <a:lnTo>
                  <a:pt x="687210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65582" y="543249"/>
            <a:ext cx="280035" cy="344170"/>
          </a:xfrm>
          <a:custGeom>
            <a:avLst/>
            <a:gdLst/>
            <a:ahLst/>
            <a:cxnLst/>
            <a:rect l="l" t="t" r="r" b="b"/>
            <a:pathLst>
              <a:path w="280035" h="344169">
                <a:moveTo>
                  <a:pt x="0" y="343609"/>
                </a:moveTo>
                <a:lnTo>
                  <a:pt x="279759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52793" y="543249"/>
            <a:ext cx="280035" cy="344170"/>
          </a:xfrm>
          <a:custGeom>
            <a:avLst/>
            <a:gdLst/>
            <a:ahLst/>
            <a:cxnLst/>
            <a:rect l="l" t="t" r="r" b="b"/>
            <a:pathLst>
              <a:path w="280035" h="344169">
                <a:moveTo>
                  <a:pt x="0" y="343609"/>
                </a:moveTo>
                <a:lnTo>
                  <a:pt x="279759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65582" y="886859"/>
            <a:ext cx="0" cy="1718310"/>
          </a:xfrm>
          <a:custGeom>
            <a:avLst/>
            <a:gdLst/>
            <a:ahLst/>
            <a:cxnLst/>
            <a:rect l="l" t="t" r="r" b="b"/>
            <a:pathLst>
              <a:path w="0" h="1718310">
                <a:moveTo>
                  <a:pt x="0" y="1718031"/>
                </a:moveTo>
                <a:lnTo>
                  <a:pt x="0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145342" y="543249"/>
            <a:ext cx="0" cy="1718310"/>
          </a:xfrm>
          <a:custGeom>
            <a:avLst/>
            <a:gdLst/>
            <a:ahLst/>
            <a:cxnLst/>
            <a:rect l="l" t="t" r="r" b="b"/>
            <a:pathLst>
              <a:path w="0" h="1718310">
                <a:moveTo>
                  <a:pt x="0" y="1718031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832553" y="543249"/>
            <a:ext cx="0" cy="1718310"/>
          </a:xfrm>
          <a:custGeom>
            <a:avLst/>
            <a:gdLst/>
            <a:ahLst/>
            <a:cxnLst/>
            <a:rect l="l" t="t" r="r" b="b"/>
            <a:pathLst>
              <a:path w="0" h="1718310">
                <a:moveTo>
                  <a:pt x="0" y="1718031"/>
                </a:moveTo>
                <a:lnTo>
                  <a:pt x="0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552793" y="886858"/>
            <a:ext cx="0" cy="1718310"/>
          </a:xfrm>
          <a:custGeom>
            <a:avLst/>
            <a:gdLst/>
            <a:ahLst/>
            <a:cxnLst/>
            <a:rect l="l" t="t" r="r" b="b"/>
            <a:pathLst>
              <a:path w="0" h="1718310">
                <a:moveTo>
                  <a:pt x="0" y="1718031"/>
                </a:moveTo>
                <a:lnTo>
                  <a:pt x="0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521972" y="1659969"/>
            <a:ext cx="344170" cy="0"/>
          </a:xfrm>
          <a:custGeom>
            <a:avLst/>
            <a:gdLst/>
            <a:ahLst/>
            <a:cxnLst/>
            <a:rect l="l" t="t" r="r" b="b"/>
            <a:pathLst>
              <a:path w="344169" h="0">
                <a:moveTo>
                  <a:pt x="0" y="0"/>
                </a:moveTo>
                <a:lnTo>
                  <a:pt x="343609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863581" y="1659969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4" h="0">
                <a:moveTo>
                  <a:pt x="0" y="0"/>
                </a:moveTo>
                <a:lnTo>
                  <a:pt x="285072" y="0"/>
                </a:lnTo>
              </a:path>
            </a:pathLst>
          </a:custGeom>
          <a:ln w="4003">
            <a:solidFill>
              <a:srgbClr val="0000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146660" y="1643215"/>
            <a:ext cx="62865" cy="33655"/>
          </a:xfrm>
          <a:custGeom>
            <a:avLst/>
            <a:gdLst/>
            <a:ahLst/>
            <a:cxnLst/>
            <a:rect l="l" t="t" r="r" b="b"/>
            <a:pathLst>
              <a:path w="62864" h="33655">
                <a:moveTo>
                  <a:pt x="0" y="0"/>
                </a:moveTo>
                <a:lnTo>
                  <a:pt x="0" y="33509"/>
                </a:lnTo>
                <a:lnTo>
                  <a:pt x="62532" y="16754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146660" y="1643215"/>
            <a:ext cx="62865" cy="33655"/>
          </a:xfrm>
          <a:custGeom>
            <a:avLst/>
            <a:gdLst/>
            <a:ahLst/>
            <a:cxnLst/>
            <a:rect l="l" t="t" r="r" b="b"/>
            <a:pathLst>
              <a:path w="62864" h="33655">
                <a:moveTo>
                  <a:pt x="62532" y="16754"/>
                </a:moveTo>
                <a:lnTo>
                  <a:pt x="0" y="0"/>
                </a:lnTo>
                <a:lnTo>
                  <a:pt x="0" y="33509"/>
                </a:lnTo>
                <a:lnTo>
                  <a:pt x="15632" y="29323"/>
                </a:lnTo>
                <a:lnTo>
                  <a:pt x="31266" y="25135"/>
                </a:lnTo>
                <a:lnTo>
                  <a:pt x="46899" y="20945"/>
                </a:lnTo>
                <a:lnTo>
                  <a:pt x="62532" y="16754"/>
                </a:lnTo>
                <a:close/>
              </a:path>
            </a:pathLst>
          </a:custGeom>
          <a:ln w="4003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415352" y="1659969"/>
            <a:ext cx="274955" cy="0"/>
          </a:xfrm>
          <a:custGeom>
            <a:avLst/>
            <a:gdLst/>
            <a:ahLst/>
            <a:cxnLst/>
            <a:rect l="l" t="t" r="r" b="b"/>
            <a:pathLst>
              <a:path w="274955" h="0">
                <a:moveTo>
                  <a:pt x="0" y="0"/>
                </a:moveTo>
                <a:lnTo>
                  <a:pt x="274889" y="0"/>
                </a:lnTo>
              </a:path>
            </a:pathLst>
          </a:custGeom>
          <a:ln w="4003">
            <a:solidFill>
              <a:srgbClr val="0000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88240" y="1659969"/>
            <a:ext cx="354330" cy="0"/>
          </a:xfrm>
          <a:custGeom>
            <a:avLst/>
            <a:gdLst/>
            <a:ahLst/>
            <a:cxnLst/>
            <a:rect l="l" t="t" r="r" b="b"/>
            <a:pathLst>
              <a:path w="354330" h="0">
                <a:moveTo>
                  <a:pt x="0" y="0"/>
                </a:moveTo>
                <a:lnTo>
                  <a:pt x="353792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040031" y="1643215"/>
            <a:ext cx="62865" cy="33655"/>
          </a:xfrm>
          <a:custGeom>
            <a:avLst/>
            <a:gdLst/>
            <a:ahLst/>
            <a:cxnLst/>
            <a:rect l="l" t="t" r="r" b="b"/>
            <a:pathLst>
              <a:path w="62864" h="33655">
                <a:moveTo>
                  <a:pt x="0" y="0"/>
                </a:moveTo>
                <a:lnTo>
                  <a:pt x="0" y="33509"/>
                </a:lnTo>
                <a:lnTo>
                  <a:pt x="62532" y="167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040031" y="1643215"/>
            <a:ext cx="62865" cy="33655"/>
          </a:xfrm>
          <a:custGeom>
            <a:avLst/>
            <a:gdLst/>
            <a:ahLst/>
            <a:cxnLst/>
            <a:rect l="l" t="t" r="r" b="b"/>
            <a:pathLst>
              <a:path w="62864" h="33655">
                <a:moveTo>
                  <a:pt x="62532" y="16754"/>
                </a:moveTo>
                <a:lnTo>
                  <a:pt x="0" y="0"/>
                </a:lnTo>
                <a:lnTo>
                  <a:pt x="0" y="33509"/>
                </a:lnTo>
                <a:lnTo>
                  <a:pt x="15632" y="29323"/>
                </a:lnTo>
                <a:lnTo>
                  <a:pt x="31266" y="25135"/>
                </a:lnTo>
                <a:lnTo>
                  <a:pt x="46899" y="20945"/>
                </a:lnTo>
                <a:lnTo>
                  <a:pt x="62532" y="16754"/>
                </a:lnTo>
                <a:close/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143340" y="371448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5" h="0">
                <a:moveTo>
                  <a:pt x="0" y="0"/>
                </a:moveTo>
                <a:lnTo>
                  <a:pt x="628681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770021" y="354685"/>
            <a:ext cx="62865" cy="33655"/>
          </a:xfrm>
          <a:custGeom>
            <a:avLst/>
            <a:gdLst/>
            <a:ahLst/>
            <a:cxnLst/>
            <a:rect l="l" t="t" r="r" b="b"/>
            <a:pathLst>
              <a:path w="62864" h="33654">
                <a:moveTo>
                  <a:pt x="0" y="0"/>
                </a:moveTo>
                <a:lnTo>
                  <a:pt x="0" y="33517"/>
                </a:lnTo>
                <a:lnTo>
                  <a:pt x="62532" y="167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770021" y="354685"/>
            <a:ext cx="62865" cy="33655"/>
          </a:xfrm>
          <a:custGeom>
            <a:avLst/>
            <a:gdLst/>
            <a:ahLst/>
            <a:cxnLst/>
            <a:rect l="l" t="t" r="r" b="b"/>
            <a:pathLst>
              <a:path w="62864" h="33654">
                <a:moveTo>
                  <a:pt x="62532" y="16763"/>
                </a:moveTo>
                <a:lnTo>
                  <a:pt x="0" y="0"/>
                </a:lnTo>
                <a:lnTo>
                  <a:pt x="0" y="33517"/>
                </a:lnTo>
                <a:lnTo>
                  <a:pt x="15632" y="29327"/>
                </a:lnTo>
                <a:lnTo>
                  <a:pt x="31266" y="25137"/>
                </a:lnTo>
                <a:lnTo>
                  <a:pt x="46899" y="20949"/>
                </a:lnTo>
                <a:lnTo>
                  <a:pt x="62532" y="16763"/>
                </a:lnTo>
                <a:close/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205872" y="371448"/>
            <a:ext cx="629285" cy="0"/>
          </a:xfrm>
          <a:custGeom>
            <a:avLst/>
            <a:gdLst/>
            <a:ahLst/>
            <a:cxnLst/>
            <a:rect l="l" t="t" r="r" b="b"/>
            <a:pathLst>
              <a:path w="629285" h="0">
                <a:moveTo>
                  <a:pt x="0" y="0"/>
                </a:moveTo>
                <a:lnTo>
                  <a:pt x="628681" y="0"/>
                </a:lnTo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145342" y="354685"/>
            <a:ext cx="62865" cy="33655"/>
          </a:xfrm>
          <a:custGeom>
            <a:avLst/>
            <a:gdLst/>
            <a:ahLst/>
            <a:cxnLst/>
            <a:rect l="l" t="t" r="r" b="b"/>
            <a:pathLst>
              <a:path w="62864" h="33654">
                <a:moveTo>
                  <a:pt x="62532" y="0"/>
                </a:moveTo>
                <a:lnTo>
                  <a:pt x="0" y="16763"/>
                </a:lnTo>
                <a:lnTo>
                  <a:pt x="62532" y="33517"/>
                </a:lnTo>
                <a:lnTo>
                  <a:pt x="625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145342" y="354685"/>
            <a:ext cx="62865" cy="33655"/>
          </a:xfrm>
          <a:custGeom>
            <a:avLst/>
            <a:gdLst/>
            <a:ahLst/>
            <a:cxnLst/>
            <a:rect l="l" t="t" r="r" b="b"/>
            <a:pathLst>
              <a:path w="62864" h="33654">
                <a:moveTo>
                  <a:pt x="0" y="16763"/>
                </a:moveTo>
                <a:lnTo>
                  <a:pt x="62532" y="33517"/>
                </a:lnTo>
                <a:lnTo>
                  <a:pt x="62532" y="0"/>
                </a:lnTo>
                <a:lnTo>
                  <a:pt x="46899" y="4190"/>
                </a:lnTo>
                <a:lnTo>
                  <a:pt x="31266" y="8381"/>
                </a:lnTo>
                <a:lnTo>
                  <a:pt x="15632" y="12572"/>
                </a:lnTo>
                <a:lnTo>
                  <a:pt x="0" y="16763"/>
                </a:lnTo>
                <a:close/>
              </a:path>
            </a:pathLst>
          </a:custGeom>
          <a:ln w="40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145342" y="285548"/>
            <a:ext cx="0" cy="257810"/>
          </a:xfrm>
          <a:custGeom>
            <a:avLst/>
            <a:gdLst/>
            <a:ahLst/>
            <a:cxnLst/>
            <a:rect l="l" t="t" r="r" b="b"/>
            <a:pathLst>
              <a:path w="0" h="257809">
                <a:moveTo>
                  <a:pt x="0" y="257700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832553" y="285548"/>
            <a:ext cx="0" cy="257810"/>
          </a:xfrm>
          <a:custGeom>
            <a:avLst/>
            <a:gdLst/>
            <a:ahLst/>
            <a:cxnLst/>
            <a:rect l="l" t="t" r="r" b="b"/>
            <a:pathLst>
              <a:path w="0" h="257809">
                <a:moveTo>
                  <a:pt x="0" y="257700"/>
                </a:moveTo>
                <a:lnTo>
                  <a:pt x="0" y="0"/>
                </a:lnTo>
              </a:path>
            </a:pathLst>
          </a:custGeom>
          <a:ln w="4003">
            <a:solidFill>
              <a:srgbClr val="7F7F7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1373403" y="1573852"/>
            <a:ext cx="15494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750" spc="65" i="1">
                <a:latin typeface="Arial"/>
                <a:cs typeface="Arial"/>
              </a:rPr>
              <a:t>I</a:t>
            </a:r>
            <a:r>
              <a:rPr dirty="0" baseline="-11111" sz="750" spc="97">
                <a:latin typeface="Forte"/>
                <a:cs typeface="Forte"/>
              </a:rPr>
              <a:t>0</a:t>
            </a:r>
            <a:endParaRPr baseline="-11111" sz="750">
              <a:latin typeface="Forte"/>
              <a:cs typeface="Forte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133155" y="1581858"/>
            <a:ext cx="6858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130" i="1"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454627" y="207782"/>
            <a:ext cx="67310" cy="1454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95" i="1">
                <a:latin typeface="Arial"/>
                <a:cs typeface="Arial"/>
              </a:rPr>
              <a:t>b</a:t>
            </a:r>
            <a:endParaRPr sz="7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27911" y="2774188"/>
            <a:ext cx="11525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Georgia"/>
                <a:cs typeface="Georgia"/>
              </a:rPr>
              <a:t>3: </a:t>
            </a:r>
            <a:r>
              <a:rPr dirty="0" sz="1050" spc="-5">
                <a:latin typeface="Arial Unicode MS"/>
                <a:cs typeface="Arial Unicode MS"/>
              </a:rPr>
              <a:t>光吸收</a:t>
            </a:r>
            <a:r>
              <a:rPr dirty="0" sz="1050" spc="-10">
                <a:latin typeface="Arial Unicode MS"/>
                <a:cs typeface="Arial Unicode MS"/>
              </a:rPr>
              <a:t>示</a:t>
            </a:r>
            <a:r>
              <a:rPr dirty="0" sz="1050" spc="-5">
                <a:latin typeface="Arial Unicode MS"/>
                <a:cs typeface="Arial Unicode MS"/>
              </a:rPr>
              <a:t>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7050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260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9743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8473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1285"/>
            <a:ext cx="50749" cy="7761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6880"/>
            <a:ext cx="4432935" cy="651510"/>
          </a:xfrm>
          <a:custGeom>
            <a:avLst/>
            <a:gdLst/>
            <a:ahLst/>
            <a:cxnLst/>
            <a:rect l="l" t="t" r="r" b="b"/>
            <a:pathLst>
              <a:path w="4432935" h="651510">
                <a:moveTo>
                  <a:pt x="4432566" y="0"/>
                </a:moveTo>
                <a:lnTo>
                  <a:pt x="0" y="0"/>
                </a:lnTo>
                <a:lnTo>
                  <a:pt x="0" y="600552"/>
                </a:lnTo>
                <a:lnTo>
                  <a:pt x="4008" y="620277"/>
                </a:lnTo>
                <a:lnTo>
                  <a:pt x="14922" y="636430"/>
                </a:lnTo>
                <a:lnTo>
                  <a:pt x="31075" y="647344"/>
                </a:lnTo>
                <a:lnTo>
                  <a:pt x="50800" y="651352"/>
                </a:lnTo>
                <a:lnTo>
                  <a:pt x="4381765" y="651352"/>
                </a:lnTo>
                <a:lnTo>
                  <a:pt x="4401490" y="647344"/>
                </a:lnTo>
                <a:lnTo>
                  <a:pt x="4417643" y="636430"/>
                </a:lnTo>
                <a:lnTo>
                  <a:pt x="4428558" y="620277"/>
                </a:lnTo>
                <a:lnTo>
                  <a:pt x="4432566" y="60055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9373"/>
            <a:ext cx="0" cy="757555"/>
          </a:xfrm>
          <a:custGeom>
            <a:avLst/>
            <a:gdLst/>
            <a:ahLst/>
            <a:cxnLst/>
            <a:rect l="l" t="t" r="r" b="b"/>
            <a:pathLst>
              <a:path w="0" h="757555">
                <a:moveTo>
                  <a:pt x="0" y="75710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66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39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12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17323"/>
            <a:ext cx="4445000" cy="9074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9.1</a:t>
            </a:r>
            <a:endParaRPr sz="1200">
              <a:latin typeface="Calibri"/>
              <a:cs typeface="Calibri"/>
            </a:endParaRPr>
          </a:p>
          <a:p>
            <a:pPr marL="50165" marR="17780">
              <a:lnSpc>
                <a:spcPts val="1760"/>
              </a:lnSpc>
              <a:spcBef>
                <a:spcPts val="60"/>
              </a:spcBef>
            </a:pPr>
            <a:r>
              <a:rPr dirty="0" sz="1200" spc="-5">
                <a:latin typeface="Arial Unicode MS"/>
                <a:cs typeface="Arial Unicode MS"/>
              </a:rPr>
              <a:t>用邻二氮菲吸光光度法测</a:t>
            </a:r>
            <a:r>
              <a:rPr dirty="0" sz="1200" spc="-80">
                <a:latin typeface="Arial Unicode MS"/>
                <a:cs typeface="Arial Unicode MS"/>
              </a:rPr>
              <a:t>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的浓度为</a:t>
            </a:r>
            <a:r>
              <a:rPr dirty="0" sz="1100" spc="-100">
                <a:latin typeface="Georgia"/>
                <a:cs typeface="Georgia"/>
              </a:rPr>
              <a:t>500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µ</a:t>
            </a:r>
            <a:r>
              <a:rPr dirty="0" sz="1100">
                <a:latin typeface="Georgia"/>
                <a:cs typeface="Georgia"/>
              </a:rPr>
              <a:t>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L</a:t>
            </a:r>
            <a:r>
              <a:rPr dirty="0" baseline="37037" sz="900" spc="30" i="1">
                <a:latin typeface="Arial"/>
                <a:cs typeface="Arial"/>
              </a:rPr>
              <a:t>−</a:t>
            </a:r>
            <a:r>
              <a:rPr dirty="0" baseline="37037" sz="900" spc="30">
                <a:latin typeface="Times New Roman"/>
                <a:cs typeface="Times New Roman"/>
              </a:rPr>
              <a:t>1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液 层厚度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114">
                <a:latin typeface="Georgia"/>
                <a:cs typeface="Georgia"/>
              </a:rPr>
              <a:t>cm</a:t>
            </a:r>
            <a:r>
              <a:rPr dirty="0" sz="1200" spc="-114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95">
                <a:latin typeface="Georgia"/>
                <a:cs typeface="Georgia"/>
              </a:rPr>
              <a:t>508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处测得透光度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645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计算吸光系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200" spc="65">
                <a:latin typeface="Arial Unicode MS"/>
                <a:cs typeface="Arial Unicode MS"/>
              </a:rPr>
              <a:t>，  </a:t>
            </a:r>
            <a:r>
              <a:rPr dirty="0" sz="1200" spc="-5">
                <a:latin typeface="Arial Unicode MS"/>
                <a:cs typeface="Arial Unicode MS"/>
              </a:rPr>
              <a:t>摩尔吸光系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-90" b="0" i="1">
                <a:latin typeface="Bookman Old Style"/>
                <a:cs typeface="Bookman Old Style"/>
              </a:rPr>
              <a:t>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7050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260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9743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8473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1285"/>
            <a:ext cx="50749" cy="7761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6880"/>
            <a:ext cx="4432935" cy="651510"/>
          </a:xfrm>
          <a:custGeom>
            <a:avLst/>
            <a:gdLst/>
            <a:ahLst/>
            <a:cxnLst/>
            <a:rect l="l" t="t" r="r" b="b"/>
            <a:pathLst>
              <a:path w="4432935" h="651510">
                <a:moveTo>
                  <a:pt x="4432566" y="0"/>
                </a:moveTo>
                <a:lnTo>
                  <a:pt x="0" y="0"/>
                </a:lnTo>
                <a:lnTo>
                  <a:pt x="0" y="600552"/>
                </a:lnTo>
                <a:lnTo>
                  <a:pt x="4008" y="620277"/>
                </a:lnTo>
                <a:lnTo>
                  <a:pt x="14922" y="636430"/>
                </a:lnTo>
                <a:lnTo>
                  <a:pt x="31075" y="647344"/>
                </a:lnTo>
                <a:lnTo>
                  <a:pt x="50800" y="651352"/>
                </a:lnTo>
                <a:lnTo>
                  <a:pt x="4381765" y="651352"/>
                </a:lnTo>
                <a:lnTo>
                  <a:pt x="4401490" y="647344"/>
                </a:lnTo>
                <a:lnTo>
                  <a:pt x="4417643" y="636430"/>
                </a:lnTo>
                <a:lnTo>
                  <a:pt x="4428558" y="620277"/>
                </a:lnTo>
                <a:lnTo>
                  <a:pt x="4432566" y="60055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9373"/>
            <a:ext cx="0" cy="757555"/>
          </a:xfrm>
          <a:custGeom>
            <a:avLst/>
            <a:gdLst/>
            <a:ahLst/>
            <a:cxnLst/>
            <a:rect l="l" t="t" r="r" b="b"/>
            <a:pathLst>
              <a:path w="0" h="757555">
                <a:moveTo>
                  <a:pt x="0" y="75710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66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39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12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17323"/>
            <a:ext cx="4470400" cy="123634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9.1</a:t>
            </a:r>
            <a:endParaRPr sz="1200">
              <a:latin typeface="Calibri"/>
              <a:cs typeface="Calibri"/>
            </a:endParaRPr>
          </a:p>
          <a:p>
            <a:pPr marL="62865" marR="30480">
              <a:lnSpc>
                <a:spcPts val="1760"/>
              </a:lnSpc>
              <a:spcBef>
                <a:spcPts val="60"/>
              </a:spcBef>
            </a:pPr>
            <a:r>
              <a:rPr dirty="0" sz="1200" spc="-5">
                <a:latin typeface="Arial Unicode MS"/>
                <a:cs typeface="Arial Unicode MS"/>
              </a:rPr>
              <a:t>用邻二氮菲吸光光度法测</a:t>
            </a:r>
            <a:r>
              <a:rPr dirty="0" sz="1200" spc="-80">
                <a:latin typeface="Arial Unicode MS"/>
                <a:cs typeface="Arial Unicode MS"/>
              </a:rPr>
              <a:t>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的浓度为</a:t>
            </a:r>
            <a:r>
              <a:rPr dirty="0" sz="1100" spc="-100">
                <a:latin typeface="Georgia"/>
                <a:cs typeface="Georgia"/>
              </a:rPr>
              <a:t>500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µ</a:t>
            </a:r>
            <a:r>
              <a:rPr dirty="0" sz="1100">
                <a:latin typeface="Georgia"/>
                <a:cs typeface="Georgia"/>
              </a:rPr>
              <a:t>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L</a:t>
            </a:r>
            <a:r>
              <a:rPr dirty="0" baseline="37037" sz="900" spc="30" i="1">
                <a:latin typeface="Arial"/>
                <a:cs typeface="Arial"/>
              </a:rPr>
              <a:t>−</a:t>
            </a:r>
            <a:r>
              <a:rPr dirty="0" baseline="37037" sz="900" spc="30">
                <a:latin typeface="Times New Roman"/>
                <a:cs typeface="Times New Roman"/>
              </a:rPr>
              <a:t>1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液 层厚度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114">
                <a:latin typeface="Georgia"/>
                <a:cs typeface="Georgia"/>
              </a:rPr>
              <a:t>cm</a:t>
            </a:r>
            <a:r>
              <a:rPr dirty="0" sz="1200" spc="-114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95">
                <a:latin typeface="Georgia"/>
                <a:cs typeface="Georgia"/>
              </a:rPr>
              <a:t>508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处测得透光度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645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计算吸光系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200" spc="65">
                <a:latin typeface="Arial Unicode MS"/>
                <a:cs typeface="Arial Unicode MS"/>
              </a:rPr>
              <a:t>，  </a:t>
            </a:r>
            <a:r>
              <a:rPr dirty="0" sz="1200" spc="-5">
                <a:latin typeface="Arial Unicode MS"/>
                <a:cs typeface="Arial Unicode MS"/>
              </a:rPr>
              <a:t>摩尔吸光系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-90" b="0" i="1">
                <a:latin typeface="Bookman Old Style"/>
                <a:cs typeface="Bookman Old Style"/>
              </a:rPr>
              <a:t>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104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r>
              <a:rPr dirty="0" sz="1200" spc="-135">
                <a:latin typeface="Arial Unicode MS"/>
                <a:cs typeface="Arial Unicode MS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2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645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190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53120" y="146606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4" h="0">
                <a:moveTo>
                  <a:pt x="0" y="0"/>
                </a:moveTo>
                <a:lnTo>
                  <a:pt x="1194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36840" y="1349451"/>
            <a:ext cx="8102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6700" algn="l"/>
                <a:tab pos="688975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130" b="0" i="1">
                <a:latin typeface="Bookman Old Style"/>
                <a:cs typeface="Bookman Old Style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8167" y="1255725"/>
            <a:ext cx="10814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5247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45" b="0" i="1">
                <a:latin typeface="Bookman Old Style"/>
                <a:cs typeface="Bookman Old Style"/>
              </a:rPr>
              <a:t>	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190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87626" y="1466062"/>
            <a:ext cx="1142365" cy="0"/>
          </a:xfrm>
          <a:custGeom>
            <a:avLst/>
            <a:gdLst/>
            <a:ahLst/>
            <a:cxnLst/>
            <a:rect l="l" t="t" r="r" b="b"/>
            <a:pathLst>
              <a:path w="1142364" h="0">
                <a:moveTo>
                  <a:pt x="0" y="0"/>
                </a:moveTo>
                <a:lnTo>
                  <a:pt x="11418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15020" y="1444485"/>
            <a:ext cx="1546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72110" algn="l"/>
              </a:tabLst>
            </a:pPr>
            <a:r>
              <a:rPr dirty="0" sz="1100" spc="-125" b="0" i="1">
                <a:latin typeface="Bookman Old Style"/>
                <a:cs typeface="Bookman Old Style"/>
              </a:rPr>
              <a:t>bc	</a:t>
            </a: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40">
                <a:latin typeface="Georgia"/>
                <a:cs typeface="Georgia"/>
              </a:rPr>
              <a:t>cm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0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27777" sz="900" spc="82" i="1">
                <a:latin typeface="Arial"/>
                <a:cs typeface="Arial"/>
              </a:rPr>
              <a:t>−</a:t>
            </a:r>
            <a:r>
              <a:rPr dirty="0" baseline="27777" sz="900" spc="82">
                <a:latin typeface="Times New Roman"/>
                <a:cs typeface="Times New Roman"/>
              </a:rPr>
              <a:t>4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65554" y="1611109"/>
            <a:ext cx="1931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5">
                <a:latin typeface="Georgia"/>
                <a:cs typeface="Georgia"/>
              </a:rPr>
              <a:t>1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90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2 </a:t>
            </a:r>
            <a:r>
              <a:rPr dirty="0" sz="1100" spc="10">
                <a:latin typeface="Georgia"/>
                <a:cs typeface="Georgia"/>
              </a:rPr>
              <a:t>(L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95">
                <a:latin typeface="Georgia"/>
                <a:cs typeface="Georgia"/>
              </a:rPr>
              <a:t>g</a:t>
            </a:r>
            <a:r>
              <a:rPr dirty="0" baseline="41666" sz="900" spc="142" i="1">
                <a:latin typeface="Arial"/>
                <a:cs typeface="Arial"/>
              </a:rPr>
              <a:t>−</a:t>
            </a:r>
            <a:r>
              <a:rPr dirty="0" baseline="41666" sz="900" spc="142">
                <a:latin typeface="Times New Roman"/>
                <a:cs typeface="Times New Roman"/>
              </a:rPr>
              <a:t>1</a:t>
            </a:r>
            <a:r>
              <a:rPr dirty="0" baseline="41666" sz="900" spc="307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cm</a:t>
            </a:r>
            <a:r>
              <a:rPr dirty="0" baseline="41666" sz="900" spc="75" i="1">
                <a:latin typeface="Arial"/>
                <a:cs typeface="Arial"/>
              </a:rPr>
              <a:t>−</a:t>
            </a:r>
            <a:r>
              <a:rPr dirty="0" baseline="41666" sz="900" spc="75">
                <a:latin typeface="Times New Roman"/>
                <a:cs typeface="Times New Roman"/>
              </a:rPr>
              <a:t>1</a:t>
            </a:r>
            <a:r>
              <a:rPr dirty="0" sz="1100" spc="5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7050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260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9743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8473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1285"/>
            <a:ext cx="50749" cy="7761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6880"/>
            <a:ext cx="4432935" cy="651510"/>
          </a:xfrm>
          <a:custGeom>
            <a:avLst/>
            <a:gdLst/>
            <a:ahLst/>
            <a:cxnLst/>
            <a:rect l="l" t="t" r="r" b="b"/>
            <a:pathLst>
              <a:path w="4432935" h="651510">
                <a:moveTo>
                  <a:pt x="4432566" y="0"/>
                </a:moveTo>
                <a:lnTo>
                  <a:pt x="0" y="0"/>
                </a:lnTo>
                <a:lnTo>
                  <a:pt x="0" y="600552"/>
                </a:lnTo>
                <a:lnTo>
                  <a:pt x="4008" y="620277"/>
                </a:lnTo>
                <a:lnTo>
                  <a:pt x="14922" y="636430"/>
                </a:lnTo>
                <a:lnTo>
                  <a:pt x="31075" y="647344"/>
                </a:lnTo>
                <a:lnTo>
                  <a:pt x="50800" y="651352"/>
                </a:lnTo>
                <a:lnTo>
                  <a:pt x="4381765" y="651352"/>
                </a:lnTo>
                <a:lnTo>
                  <a:pt x="4401490" y="647344"/>
                </a:lnTo>
                <a:lnTo>
                  <a:pt x="4417643" y="636430"/>
                </a:lnTo>
                <a:lnTo>
                  <a:pt x="4428558" y="620277"/>
                </a:lnTo>
                <a:lnTo>
                  <a:pt x="4432566" y="60055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9373"/>
            <a:ext cx="0" cy="757555"/>
          </a:xfrm>
          <a:custGeom>
            <a:avLst/>
            <a:gdLst/>
            <a:ahLst/>
            <a:cxnLst/>
            <a:rect l="l" t="t" r="r" b="b"/>
            <a:pathLst>
              <a:path w="0" h="757555">
                <a:moveTo>
                  <a:pt x="0" y="75710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66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39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12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17323"/>
            <a:ext cx="4470400" cy="123634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9.1</a:t>
            </a:r>
            <a:endParaRPr sz="1200">
              <a:latin typeface="Calibri"/>
              <a:cs typeface="Calibri"/>
            </a:endParaRPr>
          </a:p>
          <a:p>
            <a:pPr marL="62865" marR="30480">
              <a:lnSpc>
                <a:spcPts val="1760"/>
              </a:lnSpc>
              <a:spcBef>
                <a:spcPts val="60"/>
              </a:spcBef>
            </a:pPr>
            <a:r>
              <a:rPr dirty="0" sz="1200" spc="-5">
                <a:latin typeface="Arial Unicode MS"/>
                <a:cs typeface="Arial Unicode MS"/>
              </a:rPr>
              <a:t>用邻二氮菲吸光光度法测</a:t>
            </a:r>
            <a:r>
              <a:rPr dirty="0" sz="1200" spc="-80">
                <a:latin typeface="Arial Unicode MS"/>
                <a:cs typeface="Arial Unicode MS"/>
              </a:rPr>
              <a:t>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的浓度为</a:t>
            </a:r>
            <a:r>
              <a:rPr dirty="0" sz="1100" spc="-100">
                <a:latin typeface="Georgia"/>
                <a:cs typeface="Georgia"/>
              </a:rPr>
              <a:t>500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µ</a:t>
            </a:r>
            <a:r>
              <a:rPr dirty="0" sz="1100">
                <a:latin typeface="Georgia"/>
                <a:cs typeface="Georgia"/>
              </a:rPr>
              <a:t>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L</a:t>
            </a:r>
            <a:r>
              <a:rPr dirty="0" baseline="37037" sz="900" spc="30" i="1">
                <a:latin typeface="Arial"/>
                <a:cs typeface="Arial"/>
              </a:rPr>
              <a:t>−</a:t>
            </a:r>
            <a:r>
              <a:rPr dirty="0" baseline="37037" sz="900" spc="30">
                <a:latin typeface="Times New Roman"/>
                <a:cs typeface="Times New Roman"/>
              </a:rPr>
              <a:t>1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液 层厚度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114">
                <a:latin typeface="Georgia"/>
                <a:cs typeface="Georgia"/>
              </a:rPr>
              <a:t>cm</a:t>
            </a:r>
            <a:r>
              <a:rPr dirty="0" sz="1200" spc="-114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95">
                <a:latin typeface="Georgia"/>
                <a:cs typeface="Georgia"/>
              </a:rPr>
              <a:t>508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处测得透光度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645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计算吸光系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200" spc="65">
                <a:latin typeface="Arial Unicode MS"/>
                <a:cs typeface="Arial Unicode MS"/>
              </a:rPr>
              <a:t>，  </a:t>
            </a:r>
            <a:r>
              <a:rPr dirty="0" sz="1200" spc="-5">
                <a:latin typeface="Arial Unicode MS"/>
                <a:cs typeface="Arial Unicode MS"/>
              </a:rPr>
              <a:t>摩尔吸光系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-90" b="0" i="1">
                <a:latin typeface="Bookman Old Style"/>
                <a:cs typeface="Bookman Old Style"/>
              </a:rPr>
              <a:t>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104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r>
              <a:rPr dirty="0" sz="1200" spc="-135">
                <a:latin typeface="Arial Unicode MS"/>
                <a:cs typeface="Arial Unicode MS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2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645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190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53120" y="146606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4" h="0">
                <a:moveTo>
                  <a:pt x="0" y="0"/>
                </a:moveTo>
                <a:lnTo>
                  <a:pt x="1194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36840" y="1349451"/>
            <a:ext cx="8102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6700" algn="l"/>
                <a:tab pos="688975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130" b="0" i="1">
                <a:latin typeface="Bookman Old Style"/>
                <a:cs typeface="Bookman Old Style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8167" y="1255725"/>
            <a:ext cx="10814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5247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45" b="0" i="1">
                <a:latin typeface="Bookman Old Style"/>
                <a:cs typeface="Bookman Old Style"/>
              </a:rPr>
              <a:t>	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190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87626" y="1466062"/>
            <a:ext cx="1142365" cy="0"/>
          </a:xfrm>
          <a:custGeom>
            <a:avLst/>
            <a:gdLst/>
            <a:ahLst/>
            <a:cxnLst/>
            <a:rect l="l" t="t" r="r" b="b"/>
            <a:pathLst>
              <a:path w="1142364" h="0">
                <a:moveTo>
                  <a:pt x="0" y="0"/>
                </a:moveTo>
                <a:lnTo>
                  <a:pt x="11418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15020" y="1444485"/>
            <a:ext cx="1546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72110" algn="l"/>
              </a:tabLst>
            </a:pPr>
            <a:r>
              <a:rPr dirty="0" sz="1100" spc="-125" b="0" i="1">
                <a:latin typeface="Bookman Old Style"/>
                <a:cs typeface="Bookman Old Style"/>
              </a:rPr>
              <a:t>bc	</a:t>
            </a: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40">
                <a:latin typeface="Georgia"/>
                <a:cs typeface="Georgia"/>
              </a:rPr>
              <a:t>cm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0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27777" sz="900" spc="82" i="1">
                <a:latin typeface="Arial"/>
                <a:cs typeface="Arial"/>
              </a:rPr>
              <a:t>−</a:t>
            </a:r>
            <a:r>
              <a:rPr dirty="0" baseline="27777" sz="900" spc="82">
                <a:latin typeface="Times New Roman"/>
                <a:cs typeface="Times New Roman"/>
              </a:rPr>
              <a:t>4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801" y="1611109"/>
            <a:ext cx="2992755" cy="4851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86485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5">
                <a:latin typeface="Georgia"/>
                <a:cs typeface="Georgia"/>
              </a:rPr>
              <a:t>1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90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2 </a:t>
            </a:r>
            <a:r>
              <a:rPr dirty="0" sz="1100" spc="10">
                <a:latin typeface="Georgia"/>
                <a:cs typeface="Georgia"/>
              </a:rPr>
              <a:t>(L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95">
                <a:latin typeface="Georgia"/>
                <a:cs typeface="Georgia"/>
              </a:rPr>
              <a:t>g</a:t>
            </a:r>
            <a:r>
              <a:rPr dirty="0" baseline="41666" sz="900" spc="142" i="1">
                <a:latin typeface="Arial"/>
                <a:cs typeface="Arial"/>
              </a:rPr>
              <a:t>−</a:t>
            </a:r>
            <a:r>
              <a:rPr dirty="0" baseline="41666" sz="900" spc="142">
                <a:latin typeface="Times New Roman"/>
                <a:cs typeface="Times New Roman"/>
              </a:rPr>
              <a:t>1</a:t>
            </a:r>
            <a:r>
              <a:rPr dirty="0" baseline="41666" sz="900" spc="307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cm</a:t>
            </a:r>
            <a:r>
              <a:rPr dirty="0" baseline="41666" sz="900" spc="75" i="1">
                <a:latin typeface="Arial"/>
                <a:cs typeface="Arial"/>
              </a:rPr>
              <a:t>−</a:t>
            </a:r>
            <a:r>
              <a:rPr dirty="0" baseline="41666" sz="900" spc="75">
                <a:latin typeface="Times New Roman"/>
                <a:cs typeface="Times New Roman"/>
              </a:rPr>
              <a:t>1</a:t>
            </a:r>
            <a:r>
              <a:rPr dirty="0" sz="1100" spc="5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865"/>
              </a:spcBef>
            </a:pPr>
            <a:r>
              <a:rPr dirty="0" sz="1200" spc="-5">
                <a:latin typeface="Arial Unicode MS"/>
                <a:cs typeface="Arial Unicode MS"/>
              </a:rPr>
              <a:t>将浓度折算为摩尔浓</a:t>
            </a:r>
            <a:r>
              <a:rPr dirty="0" sz="1200" spc="-9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8639" y="2191550"/>
            <a:ext cx="231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58506" y="2097824"/>
            <a:ext cx="9632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12683" y="2110168"/>
            <a:ext cx="5289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2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71206" y="2308161"/>
            <a:ext cx="1064260" cy="0"/>
          </a:xfrm>
          <a:custGeom>
            <a:avLst/>
            <a:gdLst/>
            <a:ahLst/>
            <a:cxnLst/>
            <a:rect l="l" t="t" r="r" b="b"/>
            <a:pathLst>
              <a:path w="1064260" h="0">
                <a:moveTo>
                  <a:pt x="0" y="0"/>
                </a:moveTo>
                <a:lnTo>
                  <a:pt x="106367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72413" y="2286584"/>
            <a:ext cx="735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55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85g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2457" y="230919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5852" y="2191550"/>
            <a:ext cx="418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14">
                <a:latin typeface="Georgia"/>
                <a:cs typeface="Georgia"/>
              </a:rPr>
              <a:t>8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95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76270" y="219697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91358" y="2191550"/>
            <a:ext cx="10922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0345" algn="l"/>
                <a:tab pos="66929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.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58133" y="219697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7050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5260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89743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88473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121285"/>
            <a:ext cx="50749" cy="7761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96880"/>
            <a:ext cx="4432935" cy="651510"/>
          </a:xfrm>
          <a:custGeom>
            <a:avLst/>
            <a:gdLst/>
            <a:ahLst/>
            <a:cxnLst/>
            <a:rect l="l" t="t" r="r" b="b"/>
            <a:pathLst>
              <a:path w="4432935" h="651510">
                <a:moveTo>
                  <a:pt x="4432566" y="0"/>
                </a:moveTo>
                <a:lnTo>
                  <a:pt x="0" y="0"/>
                </a:lnTo>
                <a:lnTo>
                  <a:pt x="0" y="600552"/>
                </a:lnTo>
                <a:lnTo>
                  <a:pt x="4008" y="620277"/>
                </a:lnTo>
                <a:lnTo>
                  <a:pt x="14922" y="636430"/>
                </a:lnTo>
                <a:lnTo>
                  <a:pt x="31075" y="647344"/>
                </a:lnTo>
                <a:lnTo>
                  <a:pt x="50800" y="651352"/>
                </a:lnTo>
                <a:lnTo>
                  <a:pt x="4381765" y="651352"/>
                </a:lnTo>
                <a:lnTo>
                  <a:pt x="4401490" y="647344"/>
                </a:lnTo>
                <a:lnTo>
                  <a:pt x="4417643" y="636430"/>
                </a:lnTo>
                <a:lnTo>
                  <a:pt x="4428558" y="620277"/>
                </a:lnTo>
                <a:lnTo>
                  <a:pt x="4432566" y="600552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59373"/>
            <a:ext cx="0" cy="757555"/>
          </a:xfrm>
          <a:custGeom>
            <a:avLst/>
            <a:gdLst/>
            <a:ahLst/>
            <a:cxnLst/>
            <a:rect l="l" t="t" r="r" b="b"/>
            <a:pathLst>
              <a:path w="0" h="757555">
                <a:moveTo>
                  <a:pt x="0" y="75710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1466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339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2127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44" y="17323"/>
            <a:ext cx="4470400" cy="123634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9.1</a:t>
            </a:r>
            <a:endParaRPr sz="1200">
              <a:latin typeface="Calibri"/>
              <a:cs typeface="Calibri"/>
            </a:endParaRPr>
          </a:p>
          <a:p>
            <a:pPr marL="62865" marR="30480">
              <a:lnSpc>
                <a:spcPts val="1760"/>
              </a:lnSpc>
              <a:spcBef>
                <a:spcPts val="60"/>
              </a:spcBef>
            </a:pPr>
            <a:r>
              <a:rPr dirty="0" sz="1200" spc="-5">
                <a:latin typeface="Arial Unicode MS"/>
                <a:cs typeface="Arial Unicode MS"/>
              </a:rPr>
              <a:t>用邻二氮菲吸光光度法测</a:t>
            </a:r>
            <a:r>
              <a:rPr dirty="0" sz="1200" spc="-80">
                <a:latin typeface="Arial Unicode MS"/>
                <a:cs typeface="Arial Unicode MS"/>
              </a:rPr>
              <a:t>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的浓度为</a:t>
            </a:r>
            <a:r>
              <a:rPr dirty="0" sz="1100" spc="-100">
                <a:latin typeface="Georgia"/>
                <a:cs typeface="Georgia"/>
              </a:rPr>
              <a:t>500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µ</a:t>
            </a:r>
            <a:r>
              <a:rPr dirty="0" sz="1100">
                <a:latin typeface="Georgia"/>
                <a:cs typeface="Georgia"/>
              </a:rPr>
              <a:t>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L</a:t>
            </a:r>
            <a:r>
              <a:rPr dirty="0" baseline="37037" sz="900" spc="30" i="1">
                <a:latin typeface="Arial"/>
                <a:cs typeface="Arial"/>
              </a:rPr>
              <a:t>−</a:t>
            </a:r>
            <a:r>
              <a:rPr dirty="0" baseline="37037" sz="900" spc="30">
                <a:latin typeface="Times New Roman"/>
                <a:cs typeface="Times New Roman"/>
              </a:rPr>
              <a:t>1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液 层厚度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114">
                <a:latin typeface="Georgia"/>
                <a:cs typeface="Georgia"/>
              </a:rPr>
              <a:t>cm</a:t>
            </a:r>
            <a:r>
              <a:rPr dirty="0" sz="1200" spc="-114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95">
                <a:latin typeface="Georgia"/>
                <a:cs typeface="Georgia"/>
              </a:rPr>
              <a:t>508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nm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处测得透光度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5">
                <a:latin typeface="Georgia"/>
                <a:cs typeface="Georgia"/>
              </a:rPr>
              <a:t>0</a:t>
            </a:r>
            <a:r>
              <a:rPr dirty="0" sz="1100" spc="-7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645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计算吸光系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65" b="0" i="1">
                <a:latin typeface="Bookman Old Style"/>
                <a:cs typeface="Bookman Old Style"/>
              </a:rPr>
              <a:t>K</a:t>
            </a:r>
            <a:r>
              <a:rPr dirty="0" sz="1200" spc="65">
                <a:latin typeface="Arial Unicode MS"/>
                <a:cs typeface="Arial Unicode MS"/>
              </a:rPr>
              <a:t>，  </a:t>
            </a:r>
            <a:r>
              <a:rPr dirty="0" sz="1200" spc="-5">
                <a:latin typeface="Arial Unicode MS"/>
                <a:cs typeface="Arial Unicode MS"/>
              </a:rPr>
              <a:t>摩尔吸光系</a:t>
            </a:r>
            <a:r>
              <a:rPr dirty="0" sz="1200" spc="175">
                <a:latin typeface="Arial Unicode MS"/>
                <a:cs typeface="Arial Unicode MS"/>
              </a:rPr>
              <a:t>数</a:t>
            </a:r>
            <a:r>
              <a:rPr dirty="0" sz="1100" spc="-90" b="0" i="1">
                <a:latin typeface="Bookman Old Style"/>
                <a:cs typeface="Bookman Old Style"/>
              </a:rPr>
              <a:t>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104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r>
              <a:rPr dirty="0" sz="1200" spc="-135">
                <a:latin typeface="Arial Unicode MS"/>
                <a:cs typeface="Arial Unicode MS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2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b="0" i="1">
                <a:latin typeface="Bookman Old Style"/>
                <a:cs typeface="Bookman Old Style"/>
              </a:rPr>
              <a:t>.</a:t>
            </a:r>
            <a:r>
              <a:rPr dirty="0" sz="1100" spc="-70">
                <a:latin typeface="Georgia"/>
                <a:cs typeface="Georgia"/>
              </a:rPr>
              <a:t>645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95">
                <a:latin typeface="Georgia"/>
                <a:cs typeface="Georgia"/>
              </a:rPr>
              <a:t>0</a:t>
            </a:r>
            <a:r>
              <a:rPr dirty="0" sz="1100" spc="-95" b="0" i="1">
                <a:latin typeface="Bookman Old Style"/>
                <a:cs typeface="Bookman Old Style"/>
              </a:rPr>
              <a:t>.</a:t>
            </a:r>
            <a:r>
              <a:rPr dirty="0" sz="1100" spc="-95">
                <a:latin typeface="Georgia"/>
                <a:cs typeface="Georgia"/>
              </a:rPr>
              <a:t>190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53120" y="146606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4" h="0">
                <a:moveTo>
                  <a:pt x="0" y="0"/>
                </a:moveTo>
                <a:lnTo>
                  <a:pt x="1194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36840" y="1349451"/>
            <a:ext cx="8102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6700" algn="l"/>
                <a:tab pos="688975" algn="l"/>
              </a:tabLst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130" b="0" i="1">
                <a:latin typeface="Bookman Old Style"/>
                <a:cs typeface="Bookman Old Style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48167" y="1255725"/>
            <a:ext cx="10814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5247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45" b="0" i="1">
                <a:latin typeface="Bookman Old Style"/>
                <a:cs typeface="Bookman Old Style"/>
              </a:rPr>
              <a:t>	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190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87626" y="1466062"/>
            <a:ext cx="1142365" cy="0"/>
          </a:xfrm>
          <a:custGeom>
            <a:avLst/>
            <a:gdLst/>
            <a:ahLst/>
            <a:cxnLst/>
            <a:rect l="l" t="t" r="r" b="b"/>
            <a:pathLst>
              <a:path w="1142364" h="0">
                <a:moveTo>
                  <a:pt x="0" y="0"/>
                </a:moveTo>
                <a:lnTo>
                  <a:pt x="11418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15020" y="1444485"/>
            <a:ext cx="1546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72110" algn="l"/>
              </a:tabLst>
            </a:pPr>
            <a:r>
              <a:rPr dirty="0" sz="1100" spc="-125" b="0" i="1">
                <a:latin typeface="Bookman Old Style"/>
                <a:cs typeface="Bookman Old Style"/>
              </a:rPr>
              <a:t>bc	</a:t>
            </a: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40">
                <a:latin typeface="Georgia"/>
                <a:cs typeface="Georgia"/>
              </a:rPr>
              <a:t>cm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0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27777" sz="900" spc="82" i="1">
                <a:latin typeface="Arial"/>
                <a:cs typeface="Arial"/>
              </a:rPr>
              <a:t>−</a:t>
            </a:r>
            <a:r>
              <a:rPr dirty="0" baseline="27777" sz="900" spc="82">
                <a:latin typeface="Times New Roman"/>
                <a:cs typeface="Times New Roman"/>
              </a:rPr>
              <a:t>4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801" y="1611109"/>
            <a:ext cx="2992755" cy="4851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86485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5">
                <a:latin typeface="Georgia"/>
                <a:cs typeface="Georgia"/>
              </a:rPr>
              <a:t>1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90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2 </a:t>
            </a:r>
            <a:r>
              <a:rPr dirty="0" sz="1100" spc="10">
                <a:latin typeface="Georgia"/>
                <a:cs typeface="Georgia"/>
              </a:rPr>
              <a:t>(L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95">
                <a:latin typeface="Georgia"/>
                <a:cs typeface="Georgia"/>
              </a:rPr>
              <a:t>g</a:t>
            </a:r>
            <a:r>
              <a:rPr dirty="0" baseline="41666" sz="900" spc="142" i="1">
                <a:latin typeface="Arial"/>
                <a:cs typeface="Arial"/>
              </a:rPr>
              <a:t>−</a:t>
            </a:r>
            <a:r>
              <a:rPr dirty="0" baseline="41666" sz="900" spc="142">
                <a:latin typeface="Times New Roman"/>
                <a:cs typeface="Times New Roman"/>
              </a:rPr>
              <a:t>1</a:t>
            </a:r>
            <a:r>
              <a:rPr dirty="0" baseline="41666" sz="900" spc="307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cm</a:t>
            </a:r>
            <a:r>
              <a:rPr dirty="0" baseline="41666" sz="900" spc="75" i="1">
                <a:latin typeface="Arial"/>
                <a:cs typeface="Arial"/>
              </a:rPr>
              <a:t>−</a:t>
            </a:r>
            <a:r>
              <a:rPr dirty="0" baseline="41666" sz="900" spc="75">
                <a:latin typeface="Times New Roman"/>
                <a:cs typeface="Times New Roman"/>
              </a:rPr>
              <a:t>1</a:t>
            </a:r>
            <a:r>
              <a:rPr dirty="0" sz="1100" spc="5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865"/>
              </a:spcBef>
            </a:pPr>
            <a:r>
              <a:rPr dirty="0" sz="1200" spc="-5">
                <a:latin typeface="Arial Unicode MS"/>
                <a:cs typeface="Arial Unicode MS"/>
              </a:rPr>
              <a:t>将浓度折算为摩尔浓</a:t>
            </a:r>
            <a:r>
              <a:rPr dirty="0" sz="1200" spc="-9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8639" y="2191550"/>
            <a:ext cx="231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58506" y="2097824"/>
            <a:ext cx="9632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>
                <a:latin typeface="Georgia"/>
                <a:cs typeface="Georgia"/>
              </a:rPr>
              <a:t>5</a:t>
            </a:r>
            <a:r>
              <a:rPr dirty="0" sz="1100" spc="-85" b="0" i="1">
                <a:latin typeface="Bookman Old Style"/>
                <a:cs typeface="Bookman Old Style"/>
              </a:rPr>
              <a:t>.</a:t>
            </a:r>
            <a:r>
              <a:rPr dirty="0" sz="1100" spc="-85">
                <a:latin typeface="Georgia"/>
                <a:cs typeface="Georgia"/>
              </a:rPr>
              <a:t>00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12683" y="2110168"/>
            <a:ext cx="5289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240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71206" y="2308161"/>
            <a:ext cx="1064260" cy="0"/>
          </a:xfrm>
          <a:custGeom>
            <a:avLst/>
            <a:gdLst/>
            <a:ahLst/>
            <a:cxnLst/>
            <a:rect l="l" t="t" r="r" b="b"/>
            <a:pathLst>
              <a:path w="1064260" h="0">
                <a:moveTo>
                  <a:pt x="0" y="0"/>
                </a:moveTo>
                <a:lnTo>
                  <a:pt x="106367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72413" y="2286584"/>
            <a:ext cx="735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55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85g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2457" y="230919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5852" y="2191550"/>
            <a:ext cx="418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14">
                <a:latin typeface="Georgia"/>
                <a:cs typeface="Georgia"/>
              </a:rPr>
              <a:t>8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95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76270" y="219697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91358" y="2191550"/>
            <a:ext cx="10922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0345" algn="l"/>
                <a:tab pos="669290" algn="l"/>
              </a:tabLst>
            </a:pPr>
            <a:r>
              <a:rPr dirty="0" sz="1100" spc="-30" b="0" i="1">
                <a:latin typeface="Bookman Old Style"/>
                <a:cs typeface="Bookman Old Style"/>
              </a:rPr>
              <a:t>.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5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58133" y="219697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9501" y="2481605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45627" y="290170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4" h="0">
                <a:moveTo>
                  <a:pt x="0" y="0"/>
                </a:moveTo>
                <a:lnTo>
                  <a:pt x="1194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92326" y="2785110"/>
            <a:ext cx="7473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26110" algn="l"/>
              </a:tabLst>
            </a:pP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sz="1100" spc="-75" b="0" i="1">
                <a:latin typeface="Bookman Old Style"/>
                <a:cs typeface="Bookman Old Style"/>
              </a:rPr>
              <a:t>  </a:t>
            </a:r>
            <a:r>
              <a:rPr dirty="0" sz="1100" spc="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40674" y="2691371"/>
            <a:ext cx="10814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5247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45" b="0" i="1">
                <a:latin typeface="Bookman Old Style"/>
                <a:cs typeface="Bookman Old Style"/>
              </a:rPr>
              <a:t>	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190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980133" y="2901708"/>
            <a:ext cx="1142365" cy="0"/>
          </a:xfrm>
          <a:custGeom>
            <a:avLst/>
            <a:gdLst/>
            <a:ahLst/>
            <a:cxnLst/>
            <a:rect l="l" t="t" r="r" b="b"/>
            <a:pathLst>
              <a:path w="1142364" h="0">
                <a:moveTo>
                  <a:pt x="0" y="0"/>
                </a:moveTo>
                <a:lnTo>
                  <a:pt x="114181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607527" y="2880144"/>
            <a:ext cx="15462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72110" algn="l"/>
              </a:tabLst>
            </a:pPr>
            <a:r>
              <a:rPr dirty="0" sz="1100" spc="-125" b="0" i="1">
                <a:latin typeface="Bookman Old Style"/>
                <a:cs typeface="Bookman Old Style"/>
              </a:rPr>
              <a:t>bc	</a:t>
            </a: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40">
                <a:latin typeface="Georgia"/>
                <a:cs typeface="Georgia"/>
              </a:rPr>
              <a:t>cm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5">
                <a:latin typeface="Georgia"/>
                <a:cs typeface="Georgia"/>
              </a:rPr>
              <a:t>8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95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2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27777" sz="900" spc="82" i="1">
                <a:latin typeface="Arial"/>
                <a:cs typeface="Arial"/>
              </a:rPr>
              <a:t>−</a:t>
            </a:r>
            <a:r>
              <a:rPr dirty="0" baseline="27777" sz="900" spc="82">
                <a:latin typeface="Times New Roman"/>
                <a:cs typeface="Times New Roman"/>
              </a:rPr>
              <a:t>6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58061" y="3046755"/>
            <a:ext cx="2083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5">
                <a:latin typeface="Georgia"/>
                <a:cs typeface="Georgia"/>
              </a:rPr>
              <a:t>1</a:t>
            </a:r>
            <a:r>
              <a:rPr dirty="0" sz="1100" spc="-45" b="0" i="1">
                <a:latin typeface="Bookman Old Style"/>
                <a:cs typeface="Bookman Old Style"/>
              </a:rPr>
              <a:t>.</a:t>
            </a:r>
            <a:r>
              <a:rPr dirty="0" sz="1100" spc="-45">
                <a:latin typeface="Georgia"/>
                <a:cs typeface="Georgia"/>
              </a:rPr>
              <a:t>06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2 </a:t>
            </a:r>
            <a:r>
              <a:rPr dirty="0" sz="1100" spc="10">
                <a:latin typeface="Georgia"/>
                <a:cs typeface="Georgia"/>
              </a:rPr>
              <a:t>(L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30">
                <a:latin typeface="Georgia"/>
                <a:cs typeface="Georgia"/>
              </a:rPr>
              <a:t>mol</a:t>
            </a:r>
            <a:r>
              <a:rPr dirty="0" baseline="41666" sz="900" spc="44" i="1">
                <a:latin typeface="Arial"/>
                <a:cs typeface="Arial"/>
              </a:rPr>
              <a:t>−</a:t>
            </a:r>
            <a:r>
              <a:rPr dirty="0" baseline="41666" sz="900" spc="44">
                <a:latin typeface="Times New Roman"/>
                <a:cs typeface="Times New Roman"/>
              </a:rPr>
              <a:t>1</a:t>
            </a:r>
            <a:r>
              <a:rPr dirty="0" baseline="41666" sz="900" spc="52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cm</a:t>
            </a:r>
            <a:r>
              <a:rPr dirty="0" baseline="41666" sz="900" spc="75" i="1">
                <a:latin typeface="Arial"/>
                <a:cs typeface="Arial"/>
              </a:rPr>
              <a:t>−</a:t>
            </a:r>
            <a:r>
              <a:rPr dirty="0" baseline="41666" sz="900" spc="75">
                <a:latin typeface="Times New Roman"/>
                <a:cs typeface="Times New Roman"/>
              </a:rPr>
              <a:t>1</a:t>
            </a:r>
            <a:r>
              <a:rPr dirty="0" sz="1100" spc="5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300418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9.3</a:t>
            </a:r>
            <a:r>
              <a:rPr dirty="0" sz="1400" spc="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影响吸光光度法准确度的因素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147946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74111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002777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1301229"/>
            <a:ext cx="3430270" cy="8108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物理因素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主要是一些影响入射光的因</a:t>
            </a:r>
            <a:r>
              <a:rPr dirty="0" sz="1200" spc="-20">
                <a:latin typeface="Arial Unicode MS"/>
                <a:cs typeface="Arial Unicode MS"/>
              </a:rPr>
              <a:t>素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化学因素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主要是一些与化学反应有关的因</a:t>
            </a:r>
            <a:r>
              <a:rPr dirty="0" sz="1200" spc="-20">
                <a:latin typeface="Arial Unicode MS"/>
                <a:cs typeface="Arial Unicode MS"/>
              </a:rPr>
              <a:t>素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仪器因素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仪器测量的误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9017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9.3.1</a:t>
            </a:r>
            <a:r>
              <a:rPr dirty="0" sz="1000" spc="11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物理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因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素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654418"/>
            <a:ext cx="44075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5">
                <a:latin typeface="Arial Unicode MS"/>
                <a:cs typeface="Arial Unicode MS"/>
              </a:rPr>
              <a:t>设有一入射光由波长分别</a:t>
            </a: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20">
                <a:latin typeface="Arial Unicode MS"/>
                <a:cs typeface="Arial Unicode MS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λ</a:t>
            </a:r>
            <a:r>
              <a:rPr dirty="0" baseline="-13888" sz="900" spc="89">
                <a:latin typeface="Times New Roman"/>
                <a:cs typeface="Times New Roman"/>
              </a:rPr>
              <a:t>1</a:t>
            </a:r>
            <a:r>
              <a:rPr dirty="0" baseline="-13888" sz="900" spc="3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λ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baseline="-13888" sz="900" spc="315">
                <a:latin typeface="Times New Roman"/>
                <a:cs typeface="Times New Roman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的两种单色光组</a:t>
            </a:r>
            <a:r>
              <a:rPr dirty="0" sz="1200" spc="-85">
                <a:latin typeface="Arial Unicode MS"/>
                <a:cs typeface="Arial Unicode MS"/>
              </a:rPr>
              <a:t>成</a:t>
            </a:r>
            <a:r>
              <a:rPr dirty="0" sz="1200" spc="-250">
                <a:latin typeface="Arial Unicode MS"/>
                <a:cs typeface="Arial Unicode MS"/>
              </a:rPr>
              <a:t>，</a:t>
            </a:r>
            <a:r>
              <a:rPr dirty="0" sz="1200" spc="-15">
                <a:latin typeface="Arial Unicode MS"/>
                <a:cs typeface="Arial Unicode MS"/>
              </a:rPr>
              <a:t>两</a:t>
            </a:r>
            <a:r>
              <a:rPr dirty="0" sz="1200" spc="-5">
                <a:latin typeface="Arial Unicode MS"/>
                <a:cs typeface="Arial Unicode MS"/>
              </a:rPr>
              <a:t>种 单色光的强度分别为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80" b="0" i="1">
                <a:latin typeface="Bookman Old Style"/>
                <a:cs typeface="Bookman Old Style"/>
              </a:rPr>
              <a:t>I</a:t>
            </a:r>
            <a:r>
              <a:rPr dirty="0" baseline="-13888" sz="900" spc="120">
                <a:latin typeface="Times New Roman"/>
                <a:cs typeface="Times New Roman"/>
              </a:rPr>
              <a:t>01</a:t>
            </a:r>
            <a:r>
              <a:rPr dirty="0" baseline="-13888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95" b="0" i="1">
                <a:latin typeface="Bookman Old Style"/>
                <a:cs typeface="Bookman Old Style"/>
              </a:rPr>
              <a:t>I</a:t>
            </a:r>
            <a:r>
              <a:rPr dirty="0" baseline="-13888" sz="900" spc="142">
                <a:latin typeface="Times New Roman"/>
                <a:cs typeface="Times New Roman"/>
              </a:rPr>
              <a:t>02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当通过厚度为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95" b="0" i="1">
                <a:latin typeface="Bookman Old Style"/>
                <a:cs typeface="Bookman Old Style"/>
              </a:rPr>
              <a:t>b</a:t>
            </a:r>
            <a:r>
              <a:rPr dirty="0" sz="1100" spc="-11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和浓度为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的溶 液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透射光的强度分别为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80" b="0" i="1">
                <a:latin typeface="Bookman Old Style"/>
                <a:cs typeface="Bookman Old Style"/>
              </a:rPr>
              <a:t>I</a:t>
            </a:r>
            <a:r>
              <a:rPr dirty="0" baseline="-13888" sz="900" spc="120">
                <a:latin typeface="Times New Roman"/>
                <a:cs typeface="Times New Roman"/>
              </a:rPr>
              <a:t>11</a:t>
            </a:r>
            <a:r>
              <a:rPr dirty="0" baseline="-13888" sz="900" spc="35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95" b="0" i="1">
                <a:latin typeface="Bookman Old Style"/>
                <a:cs typeface="Bookman Old Style"/>
              </a:rPr>
              <a:t>I</a:t>
            </a:r>
            <a:r>
              <a:rPr dirty="0" baseline="-13888" sz="900" spc="142">
                <a:latin typeface="Times New Roman"/>
                <a:cs typeface="Times New Roman"/>
              </a:rPr>
              <a:t>12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根据朗伯－比尔定</a:t>
            </a:r>
            <a:r>
              <a:rPr dirty="0" sz="1200" spc="-80">
                <a:latin typeface="Arial Unicode MS"/>
                <a:cs typeface="Arial Unicode MS"/>
              </a:rPr>
              <a:t>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7625" y="1425752"/>
            <a:ext cx="8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8522" y="1509153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01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0325" y="1636090"/>
            <a:ext cx="160020" cy="0"/>
          </a:xfrm>
          <a:custGeom>
            <a:avLst/>
            <a:gdLst/>
            <a:ahLst/>
            <a:cxnLst/>
            <a:rect l="l" t="t" r="r" b="b"/>
            <a:pathLst>
              <a:path w="160019" h="0">
                <a:moveTo>
                  <a:pt x="0" y="0"/>
                </a:moveTo>
                <a:lnTo>
                  <a:pt x="1600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37625" y="1614513"/>
            <a:ext cx="8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8522" y="1697913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2218" y="1602879"/>
            <a:ext cx="8820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232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8320" y="1519478"/>
            <a:ext cx="11118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501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39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-125" b="0" i="1">
                <a:latin typeface="Bookman Old Style"/>
                <a:cs typeface="Bookman Old Style"/>
              </a:rPr>
              <a:t>bc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7625" y="1881797"/>
            <a:ext cx="8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8522" y="1965198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02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50325" y="2092134"/>
            <a:ext cx="160020" cy="0"/>
          </a:xfrm>
          <a:custGeom>
            <a:avLst/>
            <a:gdLst/>
            <a:ahLst/>
            <a:cxnLst/>
            <a:rect l="l" t="t" r="r" b="b"/>
            <a:pathLst>
              <a:path w="160019" h="0">
                <a:moveTo>
                  <a:pt x="0" y="0"/>
                </a:moveTo>
                <a:lnTo>
                  <a:pt x="1600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237625" y="2070557"/>
            <a:ext cx="8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8522" y="2153958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2218" y="2058924"/>
            <a:ext cx="8820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23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8320" y="1975523"/>
            <a:ext cx="11118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501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39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-125" b="0" i="1">
                <a:latin typeface="Bookman Old Style"/>
                <a:cs typeface="Bookman Old Style"/>
              </a:rPr>
              <a:t>bc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9017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9.3.1</a:t>
            </a:r>
            <a:r>
              <a:rPr dirty="0" sz="1000" spc="11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物理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因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素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654418"/>
            <a:ext cx="44075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pc="-15"/>
              <a:t>设有一入射光由波长分别</a:t>
            </a:r>
            <a:r>
              <a:rPr dirty="0" spc="-5"/>
              <a:t>为</a:t>
            </a:r>
            <a:r>
              <a:rPr dirty="0" spc="-20"/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λ</a:t>
            </a:r>
            <a:r>
              <a:rPr dirty="0" baseline="-13888" sz="900" spc="89">
                <a:latin typeface="Times New Roman"/>
                <a:cs typeface="Times New Roman"/>
              </a:rPr>
              <a:t>1</a:t>
            </a:r>
            <a:r>
              <a:rPr dirty="0" baseline="-13888" sz="900" spc="315">
                <a:latin typeface="Times New Roman"/>
                <a:cs typeface="Times New Roman"/>
              </a:rPr>
              <a:t> </a:t>
            </a:r>
            <a:r>
              <a:rPr dirty="0" sz="1200" spc="-5"/>
              <a:t>和</a:t>
            </a:r>
            <a:r>
              <a:rPr dirty="0" sz="1200" spc="-15"/>
              <a:t> </a:t>
            </a:r>
            <a:r>
              <a:rPr dirty="0" sz="1100" spc="60" b="0" i="1">
                <a:latin typeface="Bookman Old Style"/>
                <a:cs typeface="Bookman Old Style"/>
              </a:rPr>
              <a:t>λ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baseline="-13888" sz="900" spc="315">
                <a:latin typeface="Times New Roman"/>
                <a:cs typeface="Times New Roman"/>
              </a:rPr>
              <a:t> </a:t>
            </a:r>
            <a:r>
              <a:rPr dirty="0" sz="1200" spc="-15"/>
              <a:t>的两种单色光组</a:t>
            </a:r>
            <a:r>
              <a:rPr dirty="0" sz="1200" spc="-85"/>
              <a:t>成</a:t>
            </a:r>
            <a:r>
              <a:rPr dirty="0" sz="1200" spc="-250"/>
              <a:t>，</a:t>
            </a:r>
            <a:r>
              <a:rPr dirty="0" sz="1200" spc="-15"/>
              <a:t>两</a:t>
            </a:r>
            <a:r>
              <a:rPr dirty="0" sz="1200" spc="-5"/>
              <a:t>种 单色光的强度分别为</a:t>
            </a:r>
            <a:r>
              <a:rPr dirty="0" sz="1200" spc="20"/>
              <a:t> </a:t>
            </a:r>
            <a:r>
              <a:rPr dirty="0" sz="1100" spc="80" b="0" i="1">
                <a:latin typeface="Bookman Old Style"/>
                <a:cs typeface="Bookman Old Style"/>
              </a:rPr>
              <a:t>I</a:t>
            </a:r>
            <a:r>
              <a:rPr dirty="0" baseline="-13888" sz="900" spc="120">
                <a:latin typeface="Times New Roman"/>
                <a:cs typeface="Times New Roman"/>
              </a:rPr>
              <a:t>01</a:t>
            </a:r>
            <a:r>
              <a:rPr dirty="0" baseline="-13888" sz="900" spc="382">
                <a:latin typeface="Times New Roman"/>
                <a:cs typeface="Times New Roman"/>
              </a:rPr>
              <a:t> </a:t>
            </a:r>
            <a:r>
              <a:rPr dirty="0" sz="1200" spc="-5"/>
              <a:t>和</a:t>
            </a:r>
            <a:r>
              <a:rPr dirty="0" sz="1200" spc="20"/>
              <a:t> </a:t>
            </a:r>
            <a:r>
              <a:rPr dirty="0" sz="1100" spc="95" b="0" i="1">
                <a:latin typeface="Bookman Old Style"/>
                <a:cs typeface="Bookman Old Style"/>
              </a:rPr>
              <a:t>I</a:t>
            </a:r>
            <a:r>
              <a:rPr dirty="0" baseline="-13888" sz="900" spc="142">
                <a:latin typeface="Times New Roman"/>
                <a:cs typeface="Times New Roman"/>
              </a:rPr>
              <a:t>02</a:t>
            </a:r>
            <a:r>
              <a:rPr dirty="0" sz="1200" spc="-235"/>
              <a:t>。</a:t>
            </a:r>
            <a:r>
              <a:rPr dirty="0" sz="1200" spc="-5"/>
              <a:t>当通过厚度为</a:t>
            </a:r>
            <a:r>
              <a:rPr dirty="0" sz="1200" spc="25"/>
              <a:t> </a:t>
            </a:r>
            <a:r>
              <a:rPr dirty="0" sz="1100" spc="-195" b="0" i="1">
                <a:latin typeface="Bookman Old Style"/>
                <a:cs typeface="Bookman Old Style"/>
              </a:rPr>
              <a:t>b</a:t>
            </a:r>
            <a:r>
              <a:rPr dirty="0" sz="1100" spc="-110" b="0" i="1">
                <a:latin typeface="Bookman Old Style"/>
                <a:cs typeface="Bookman Old Style"/>
              </a:rPr>
              <a:t> </a:t>
            </a:r>
            <a:r>
              <a:rPr dirty="0" sz="1200" spc="-5"/>
              <a:t>和浓度为</a:t>
            </a:r>
            <a:r>
              <a:rPr dirty="0" sz="1200" spc="20"/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spc="25" b="0" i="1">
                <a:latin typeface="Bookman Old Style"/>
                <a:cs typeface="Bookman Old Style"/>
              </a:rPr>
              <a:t> </a:t>
            </a:r>
            <a:r>
              <a:rPr dirty="0" sz="1200" spc="-5"/>
              <a:t>的溶 液</a:t>
            </a:r>
            <a:r>
              <a:rPr dirty="0" sz="1200" spc="-80"/>
              <a:t>后</a:t>
            </a:r>
            <a:r>
              <a:rPr dirty="0" sz="1200" spc="-185"/>
              <a:t>，</a:t>
            </a:r>
            <a:r>
              <a:rPr dirty="0" sz="1200" spc="-5"/>
              <a:t>透射光的强度分别为</a:t>
            </a:r>
            <a:r>
              <a:rPr dirty="0" sz="1200" spc="10"/>
              <a:t> </a:t>
            </a:r>
            <a:r>
              <a:rPr dirty="0" sz="1100" spc="80" b="0" i="1">
                <a:latin typeface="Bookman Old Style"/>
                <a:cs typeface="Bookman Old Style"/>
              </a:rPr>
              <a:t>I</a:t>
            </a:r>
            <a:r>
              <a:rPr dirty="0" baseline="-13888" sz="900" spc="120">
                <a:latin typeface="Times New Roman"/>
                <a:cs typeface="Times New Roman"/>
              </a:rPr>
              <a:t>11</a:t>
            </a:r>
            <a:r>
              <a:rPr dirty="0" baseline="-13888" sz="900" spc="359">
                <a:latin typeface="Times New Roman"/>
                <a:cs typeface="Times New Roman"/>
              </a:rPr>
              <a:t> </a:t>
            </a:r>
            <a:r>
              <a:rPr dirty="0" sz="1200" spc="-5"/>
              <a:t>和</a:t>
            </a:r>
            <a:r>
              <a:rPr dirty="0" sz="1200" spc="10"/>
              <a:t> </a:t>
            </a:r>
            <a:r>
              <a:rPr dirty="0" sz="1100" spc="95" b="0" i="1">
                <a:latin typeface="Bookman Old Style"/>
                <a:cs typeface="Bookman Old Style"/>
              </a:rPr>
              <a:t>I</a:t>
            </a:r>
            <a:r>
              <a:rPr dirty="0" baseline="-13888" sz="900" spc="142">
                <a:latin typeface="Times New Roman"/>
                <a:cs typeface="Times New Roman"/>
              </a:rPr>
              <a:t>12</a:t>
            </a:r>
            <a:r>
              <a:rPr dirty="0" sz="1200" spc="-235"/>
              <a:t>。</a:t>
            </a:r>
            <a:r>
              <a:rPr dirty="0" sz="1200" spc="-5"/>
              <a:t>根据朗伯－比尔定</a:t>
            </a:r>
            <a:r>
              <a:rPr dirty="0" sz="1200" spc="-80"/>
              <a:t>律</a:t>
            </a:r>
            <a:r>
              <a:rPr dirty="0" sz="1200" spc="-185"/>
              <a:t>，</a:t>
            </a:r>
            <a:r>
              <a:rPr dirty="0" sz="1200" spc="-90"/>
              <a:t>有</a:t>
            </a:r>
            <a:r>
              <a:rPr dirty="0" sz="1200" spc="-5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7625" y="1425752"/>
            <a:ext cx="8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8522" y="1509153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01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0325" y="1636090"/>
            <a:ext cx="160020" cy="0"/>
          </a:xfrm>
          <a:custGeom>
            <a:avLst/>
            <a:gdLst/>
            <a:ahLst/>
            <a:cxnLst/>
            <a:rect l="l" t="t" r="r" b="b"/>
            <a:pathLst>
              <a:path w="160019" h="0">
                <a:moveTo>
                  <a:pt x="0" y="0"/>
                </a:moveTo>
                <a:lnTo>
                  <a:pt x="1600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237625" y="1614513"/>
            <a:ext cx="8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8522" y="1697913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2218" y="1602879"/>
            <a:ext cx="8820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2325" algn="l"/>
              </a:tabLst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8320" y="1519478"/>
            <a:ext cx="11118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501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39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-125" b="0" i="1">
                <a:latin typeface="Bookman Old Style"/>
                <a:cs typeface="Bookman Old Style"/>
              </a:rPr>
              <a:t>bc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7625" y="1881797"/>
            <a:ext cx="8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8522" y="1965198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02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50325" y="2092134"/>
            <a:ext cx="160020" cy="0"/>
          </a:xfrm>
          <a:custGeom>
            <a:avLst/>
            <a:gdLst/>
            <a:ahLst/>
            <a:cxnLst/>
            <a:rect l="l" t="t" r="r" b="b"/>
            <a:pathLst>
              <a:path w="160019" h="0">
                <a:moveTo>
                  <a:pt x="0" y="0"/>
                </a:moveTo>
                <a:lnTo>
                  <a:pt x="1600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237625" y="2070557"/>
            <a:ext cx="86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25" b="0" i="1">
                <a:latin typeface="Bookman Old Style"/>
                <a:cs typeface="Bookman Old Style"/>
              </a:rPr>
              <a:t>I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8522" y="2153958"/>
            <a:ext cx="1187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2218" y="2058924"/>
            <a:ext cx="8820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23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8320" y="1975523"/>
            <a:ext cx="11118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1501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39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lg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-125" b="0" i="1">
                <a:latin typeface="Bookman Old Style"/>
                <a:cs typeface="Bookman Old Style"/>
              </a:rPr>
              <a:t>bc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801" y="2223749"/>
            <a:ext cx="2432685" cy="79502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65"/>
              </a:spcBef>
            </a:pPr>
            <a:r>
              <a:rPr dirty="0" sz="1200" spc="-5">
                <a:latin typeface="Arial Unicode MS"/>
                <a:cs typeface="Arial Unicode MS"/>
              </a:rPr>
              <a:t>上两式整理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386840">
              <a:lnSpc>
                <a:spcPts val="470"/>
              </a:lnSpc>
              <a:spcBef>
                <a:spcPts val="425"/>
              </a:spcBef>
            </a:pPr>
            <a:r>
              <a:rPr dirty="0" sz="1100" spc="80" b="0" i="1">
                <a:latin typeface="Bookman Old Style"/>
                <a:cs typeface="Bookman Old Style"/>
              </a:rPr>
              <a:t>I</a:t>
            </a:r>
            <a:r>
              <a:rPr dirty="0" baseline="-13888" sz="900" spc="120">
                <a:latin typeface="Times New Roman"/>
                <a:cs typeface="Times New Roman"/>
              </a:rPr>
              <a:t>11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80" b="0" i="1">
                <a:latin typeface="Bookman Old Style"/>
                <a:cs typeface="Bookman Old Style"/>
              </a:rPr>
              <a:t>I</a:t>
            </a:r>
            <a:r>
              <a:rPr dirty="0" baseline="-13888" sz="900" spc="120">
                <a:latin typeface="Times New Roman"/>
                <a:cs typeface="Times New Roman"/>
              </a:rPr>
              <a:t>01</a:t>
            </a:r>
            <a:r>
              <a:rPr dirty="0" baseline="-13888" sz="900" spc="195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  <a:p>
            <a:pPr marL="2202815">
              <a:lnSpc>
                <a:spcPts val="300"/>
              </a:lnSpc>
            </a:pPr>
            <a:r>
              <a:rPr dirty="0" sz="600" spc="35" i="1">
                <a:latin typeface="Verdana"/>
                <a:cs typeface="Verdana"/>
              </a:rPr>
              <a:t>ε</a:t>
            </a:r>
            <a:r>
              <a:rPr dirty="0" baseline="-11111" sz="750" spc="52">
                <a:latin typeface="Calibri"/>
                <a:cs typeface="Calibri"/>
              </a:rPr>
              <a:t>1</a:t>
            </a:r>
            <a:r>
              <a:rPr dirty="0" sz="600" spc="35" i="1">
                <a:latin typeface="Verdana"/>
                <a:cs typeface="Verdana"/>
              </a:rPr>
              <a:t>bc</a:t>
            </a:r>
            <a:endParaRPr sz="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600">
              <a:latin typeface="Verdana"/>
              <a:cs typeface="Verdana"/>
            </a:endParaRPr>
          </a:p>
          <a:p>
            <a:pPr marL="1386840">
              <a:lnSpc>
                <a:spcPts val="470"/>
              </a:lnSpc>
              <a:spcBef>
                <a:spcPts val="5"/>
              </a:spcBef>
            </a:pPr>
            <a:r>
              <a:rPr dirty="0" sz="1100" spc="80" b="0" i="1">
                <a:latin typeface="Bookman Old Style"/>
                <a:cs typeface="Bookman Old Style"/>
              </a:rPr>
              <a:t>I</a:t>
            </a:r>
            <a:r>
              <a:rPr dirty="0" baseline="-13888" sz="900" spc="120">
                <a:latin typeface="Times New Roman"/>
                <a:cs typeface="Times New Roman"/>
              </a:rPr>
              <a:t>12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80" b="0" i="1">
                <a:latin typeface="Bookman Old Style"/>
                <a:cs typeface="Bookman Old Style"/>
              </a:rPr>
              <a:t>I</a:t>
            </a:r>
            <a:r>
              <a:rPr dirty="0" baseline="-13888" sz="900" spc="120">
                <a:latin typeface="Times New Roman"/>
                <a:cs typeface="Times New Roman"/>
              </a:rPr>
              <a:t>02</a:t>
            </a:r>
            <a:r>
              <a:rPr dirty="0" baseline="-13888" sz="900" spc="195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  <a:p>
            <a:pPr marL="2202815">
              <a:lnSpc>
                <a:spcPts val="300"/>
              </a:lnSpc>
            </a:pPr>
            <a:r>
              <a:rPr dirty="0" sz="600" spc="35" i="1">
                <a:latin typeface="Verdana"/>
                <a:cs typeface="Verdana"/>
              </a:rPr>
              <a:t>ε</a:t>
            </a:r>
            <a:r>
              <a:rPr dirty="0" baseline="-11111" sz="750" spc="52">
                <a:latin typeface="Calibri"/>
                <a:cs typeface="Calibri"/>
              </a:rPr>
              <a:t>2</a:t>
            </a:r>
            <a:r>
              <a:rPr dirty="0" sz="600" spc="35" i="1">
                <a:latin typeface="Verdana"/>
                <a:cs typeface="Verdana"/>
              </a:rPr>
              <a:t>bc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528853"/>
            <a:ext cx="4394835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如果这两种单色光的波长较接</a:t>
            </a:r>
            <a:r>
              <a:rPr dirty="0" sz="1200" spc="-80">
                <a:latin typeface="Arial Unicode MS"/>
                <a:cs typeface="Arial Unicode MS"/>
              </a:rPr>
              <a:t>近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现有的装置难于区</a:t>
            </a:r>
            <a:r>
              <a:rPr dirty="0" sz="1200" spc="-80">
                <a:latin typeface="Arial Unicode MS"/>
                <a:cs typeface="Arial Unicode MS"/>
              </a:rPr>
              <a:t>分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我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们能够测定的只是入射光总强度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(</a:t>
            </a:r>
            <a:r>
              <a:rPr dirty="0" sz="1100" spc="65" b="0" i="1">
                <a:latin typeface="Bookman Old Style"/>
                <a:cs typeface="Bookman Old Style"/>
              </a:rPr>
              <a:t>I</a:t>
            </a:r>
            <a:r>
              <a:rPr dirty="0" baseline="-13888" sz="900" spc="97">
                <a:latin typeface="Times New Roman"/>
                <a:cs typeface="Times New Roman"/>
              </a:rPr>
              <a:t>01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I</a:t>
            </a:r>
            <a:r>
              <a:rPr dirty="0" baseline="-13888" sz="900" spc="112">
                <a:latin typeface="Times New Roman"/>
                <a:cs typeface="Times New Roman"/>
              </a:rPr>
              <a:t>02</a:t>
            </a:r>
            <a:r>
              <a:rPr dirty="0" sz="1100" spc="75">
                <a:latin typeface="Georgia"/>
                <a:cs typeface="Georgia"/>
              </a:rPr>
              <a:t>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和透射光总强度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100" spc="65">
                <a:latin typeface="Georgia"/>
                <a:cs typeface="Georgia"/>
              </a:rPr>
              <a:t>(</a:t>
            </a:r>
            <a:r>
              <a:rPr dirty="0" sz="1100" spc="65" b="0" i="1">
                <a:latin typeface="Bookman Old Style"/>
                <a:cs typeface="Bookman Old Style"/>
              </a:rPr>
              <a:t>I</a:t>
            </a:r>
            <a:r>
              <a:rPr dirty="0" baseline="-13888" sz="900" spc="97">
                <a:latin typeface="Times New Roman"/>
                <a:cs typeface="Times New Roman"/>
              </a:rPr>
              <a:t>11</a:t>
            </a:r>
            <a:r>
              <a:rPr dirty="0" baseline="-13888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 b="0" i="1">
                <a:latin typeface="Bookman Old Style"/>
                <a:cs typeface="Bookman Old Style"/>
              </a:rPr>
              <a:t>I</a:t>
            </a:r>
            <a:r>
              <a:rPr dirty="0" baseline="-13888" sz="900" spc="104">
                <a:latin typeface="Times New Roman"/>
                <a:cs typeface="Times New Roman"/>
              </a:rPr>
              <a:t>12</a:t>
            </a:r>
            <a:r>
              <a:rPr dirty="0" sz="1100" spc="70">
                <a:latin typeface="Georgia"/>
                <a:cs typeface="Georgia"/>
              </a:rPr>
              <a:t>)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总的吸光度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1859" y="1414691"/>
            <a:ext cx="372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120" b="0" i="1">
                <a:latin typeface="Bookman Old Style"/>
                <a:cs typeface="Bookman Old Style"/>
              </a:rPr>
              <a:t>A</a:t>
            </a:r>
            <a:r>
              <a:rPr dirty="0" sz="600" spc="80">
                <a:latin typeface="Times New Roman"/>
                <a:cs typeface="Times New Roman"/>
              </a:rPr>
              <a:t>total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608" y="1393913"/>
            <a:ext cx="3676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3453" y="1320965"/>
            <a:ext cx="559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120" b="0" i="1">
                <a:latin typeface="Bookman Old Style"/>
                <a:cs typeface="Bookman Old Style"/>
              </a:rPr>
              <a:t>I</a:t>
            </a:r>
            <a:r>
              <a:rPr dirty="0" sz="600" spc="80">
                <a:latin typeface="Times New Roman"/>
                <a:cs typeface="Times New Roman"/>
              </a:rPr>
              <a:t>01 </a:t>
            </a:r>
            <a:r>
              <a:rPr dirty="0" baseline="7575" sz="1650" spc="209">
                <a:latin typeface="Georgia"/>
                <a:cs typeface="Georgia"/>
              </a:rPr>
              <a:t>+</a:t>
            </a:r>
            <a:r>
              <a:rPr dirty="0" baseline="7575" sz="1650" spc="-15">
                <a:latin typeface="Georgia"/>
                <a:cs typeface="Georgia"/>
              </a:rPr>
              <a:t> </a:t>
            </a:r>
            <a:r>
              <a:rPr dirty="0" baseline="7575" sz="1650" spc="120" b="0" i="1">
                <a:latin typeface="Bookman Old Style"/>
                <a:cs typeface="Bookman Old Style"/>
              </a:rPr>
              <a:t>I</a:t>
            </a:r>
            <a:r>
              <a:rPr dirty="0" sz="600" spc="80">
                <a:latin typeface="Times New Roman"/>
                <a:cs typeface="Times New Roman"/>
              </a:rPr>
              <a:t>02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61553" y="1510525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 h="0">
                <a:moveTo>
                  <a:pt x="0" y="0"/>
                </a:moveTo>
                <a:lnTo>
                  <a:pt x="48935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23453" y="1509725"/>
            <a:ext cx="559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120" b="0" i="1">
                <a:latin typeface="Bookman Old Style"/>
                <a:cs typeface="Bookman Old Style"/>
              </a:rPr>
              <a:t>I</a:t>
            </a:r>
            <a:r>
              <a:rPr dirty="0" sz="600" spc="80">
                <a:latin typeface="Times New Roman"/>
                <a:cs typeface="Times New Roman"/>
              </a:rPr>
              <a:t>11 </a:t>
            </a:r>
            <a:r>
              <a:rPr dirty="0" baseline="7575" sz="1650" spc="209">
                <a:latin typeface="Georgia"/>
                <a:cs typeface="Georgia"/>
              </a:rPr>
              <a:t>+</a:t>
            </a:r>
            <a:r>
              <a:rPr dirty="0" baseline="7575" sz="1650" spc="-15">
                <a:latin typeface="Georgia"/>
                <a:cs typeface="Georgia"/>
              </a:rPr>
              <a:t> </a:t>
            </a:r>
            <a:r>
              <a:rPr dirty="0" baseline="7575" sz="1650" spc="120" b="0" i="1">
                <a:latin typeface="Bookman Old Style"/>
                <a:cs typeface="Bookman Old Style"/>
              </a:rPr>
              <a:t>I</a:t>
            </a:r>
            <a:r>
              <a:rPr dirty="0" sz="600" spc="80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6608" y="1748739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5486" y="1632506"/>
            <a:ext cx="170561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681355" algn="l"/>
                <a:tab pos="1666875" algn="l"/>
              </a:tabLst>
            </a:pPr>
            <a:r>
              <a:rPr dirty="0" baseline="-37878" sz="1650" spc="-22">
                <a:latin typeface="Georgia"/>
                <a:cs typeface="Georgia"/>
              </a:rPr>
              <a:t>lg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	</a:t>
            </a:r>
            <a:r>
              <a:rPr dirty="0" u="sng" sz="1100" spc="8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I</a:t>
            </a:r>
            <a:r>
              <a:rPr dirty="0" u="sng" baseline="-13888" sz="90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 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+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8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I</a:t>
            </a:r>
            <a:r>
              <a:rPr dirty="0" u="sng" baseline="-13888" sz="90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	</a:t>
            </a:r>
            <a:endParaRPr baseline="-13888" sz="900">
              <a:latin typeface="Times New Roman"/>
              <a:cs typeface="Times New Roman"/>
            </a:endParaRPr>
          </a:p>
          <a:p>
            <a:pPr marL="186055">
              <a:lnSpc>
                <a:spcPct val="100000"/>
              </a:lnSpc>
              <a:spcBef>
                <a:spcPts val="170"/>
              </a:spcBef>
            </a:pPr>
            <a:r>
              <a:rPr dirty="0" sz="1100" spc="120" b="0" i="1">
                <a:latin typeface="Bookman Old Style"/>
                <a:cs typeface="Bookman Old Style"/>
              </a:rPr>
              <a:t>I</a:t>
            </a:r>
            <a:r>
              <a:rPr dirty="0" baseline="-13888" sz="900" spc="97">
                <a:latin typeface="Times New Roman"/>
                <a:cs typeface="Times New Roman"/>
              </a:rPr>
              <a:t>01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27777" sz="900" spc="330" i="1">
                <a:latin typeface="Arial"/>
                <a:cs typeface="Arial"/>
              </a:rPr>
              <a:t>−</a:t>
            </a:r>
            <a:r>
              <a:rPr dirty="0" baseline="27777" sz="900" spc="52" i="1">
                <a:latin typeface="Verdana"/>
                <a:cs typeface="Verdana"/>
              </a:rPr>
              <a:t>ε</a:t>
            </a:r>
            <a:r>
              <a:rPr dirty="0" baseline="22222" sz="750" spc="195">
                <a:latin typeface="Calibri"/>
                <a:cs typeface="Calibri"/>
              </a:rPr>
              <a:t>1</a:t>
            </a:r>
            <a:r>
              <a:rPr dirty="0" baseline="27777" sz="900" spc="-22" i="1">
                <a:latin typeface="Verdana"/>
                <a:cs typeface="Verdana"/>
              </a:rPr>
              <a:t>bc</a:t>
            </a:r>
            <a:r>
              <a:rPr dirty="0" baseline="27777" sz="900" spc="120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20" b="0" i="1">
                <a:latin typeface="Bookman Old Style"/>
                <a:cs typeface="Bookman Old Style"/>
              </a:rPr>
              <a:t>I</a:t>
            </a:r>
            <a:r>
              <a:rPr dirty="0" baseline="-13888" sz="900" spc="97">
                <a:latin typeface="Times New Roman"/>
                <a:cs typeface="Times New Roman"/>
              </a:rPr>
              <a:t>02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27777" sz="900" spc="330" i="1">
                <a:latin typeface="Arial"/>
                <a:cs typeface="Arial"/>
              </a:rPr>
              <a:t>−</a:t>
            </a:r>
            <a:r>
              <a:rPr dirty="0" baseline="27777" sz="900" spc="52" i="1">
                <a:latin typeface="Verdana"/>
                <a:cs typeface="Verdana"/>
              </a:rPr>
              <a:t>ε</a:t>
            </a:r>
            <a:r>
              <a:rPr dirty="0" baseline="22222" sz="750" spc="195">
                <a:latin typeface="Calibri"/>
                <a:cs typeface="Calibri"/>
              </a:rPr>
              <a:t>2</a:t>
            </a:r>
            <a:r>
              <a:rPr dirty="0" baseline="27777" sz="900" spc="-22" i="1">
                <a:latin typeface="Verdana"/>
                <a:cs typeface="Verdana"/>
              </a:rPr>
              <a:t>bc</a:t>
            </a:r>
            <a:endParaRPr baseline="27777" sz="9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528853"/>
            <a:ext cx="4394835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如果这两种单色光的波长较接</a:t>
            </a:r>
            <a:r>
              <a:rPr dirty="0" sz="1200" spc="-80">
                <a:latin typeface="Arial Unicode MS"/>
                <a:cs typeface="Arial Unicode MS"/>
              </a:rPr>
              <a:t>近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现有的装置难于区</a:t>
            </a:r>
            <a:r>
              <a:rPr dirty="0" sz="1200" spc="-80">
                <a:latin typeface="Arial Unicode MS"/>
                <a:cs typeface="Arial Unicode MS"/>
              </a:rPr>
              <a:t>分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我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们能够测定的只是入射光总强度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(</a:t>
            </a:r>
            <a:r>
              <a:rPr dirty="0" sz="1100" spc="65" b="0" i="1">
                <a:latin typeface="Bookman Old Style"/>
                <a:cs typeface="Bookman Old Style"/>
              </a:rPr>
              <a:t>I</a:t>
            </a:r>
            <a:r>
              <a:rPr dirty="0" baseline="-13888" sz="900" spc="97">
                <a:latin typeface="Times New Roman"/>
                <a:cs typeface="Times New Roman"/>
              </a:rPr>
              <a:t>01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I</a:t>
            </a:r>
            <a:r>
              <a:rPr dirty="0" baseline="-13888" sz="900" spc="112">
                <a:latin typeface="Times New Roman"/>
                <a:cs typeface="Times New Roman"/>
              </a:rPr>
              <a:t>02</a:t>
            </a:r>
            <a:r>
              <a:rPr dirty="0" sz="1100" spc="75">
                <a:latin typeface="Georgia"/>
                <a:cs typeface="Georgia"/>
              </a:rPr>
              <a:t>)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和透射光总强度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dirty="0" sz="1100" spc="65">
                <a:latin typeface="Georgia"/>
                <a:cs typeface="Georgia"/>
              </a:rPr>
              <a:t>(</a:t>
            </a:r>
            <a:r>
              <a:rPr dirty="0" sz="1100" spc="65" b="0" i="1">
                <a:latin typeface="Bookman Old Style"/>
                <a:cs typeface="Bookman Old Style"/>
              </a:rPr>
              <a:t>I</a:t>
            </a:r>
            <a:r>
              <a:rPr dirty="0" baseline="-13888" sz="900" spc="97">
                <a:latin typeface="Times New Roman"/>
                <a:cs typeface="Times New Roman"/>
              </a:rPr>
              <a:t>11</a:t>
            </a:r>
            <a:r>
              <a:rPr dirty="0" baseline="-13888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0" b="0" i="1">
                <a:latin typeface="Bookman Old Style"/>
                <a:cs typeface="Bookman Old Style"/>
              </a:rPr>
              <a:t>I</a:t>
            </a:r>
            <a:r>
              <a:rPr dirty="0" baseline="-13888" sz="900" spc="104">
                <a:latin typeface="Times New Roman"/>
                <a:cs typeface="Times New Roman"/>
              </a:rPr>
              <a:t>12</a:t>
            </a:r>
            <a:r>
              <a:rPr dirty="0" sz="1100" spc="70">
                <a:latin typeface="Georgia"/>
                <a:cs typeface="Georgia"/>
              </a:rPr>
              <a:t>)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总的吸光度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1859" y="1414691"/>
            <a:ext cx="372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120" b="0" i="1">
                <a:latin typeface="Bookman Old Style"/>
                <a:cs typeface="Bookman Old Style"/>
              </a:rPr>
              <a:t>A</a:t>
            </a:r>
            <a:r>
              <a:rPr dirty="0" sz="600" spc="80">
                <a:latin typeface="Times New Roman"/>
                <a:cs typeface="Times New Roman"/>
              </a:rPr>
              <a:t>total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608" y="1393913"/>
            <a:ext cx="3676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3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3453" y="1320965"/>
            <a:ext cx="559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120" b="0" i="1">
                <a:latin typeface="Bookman Old Style"/>
                <a:cs typeface="Bookman Old Style"/>
              </a:rPr>
              <a:t>I</a:t>
            </a:r>
            <a:r>
              <a:rPr dirty="0" sz="600" spc="80">
                <a:latin typeface="Times New Roman"/>
                <a:cs typeface="Times New Roman"/>
              </a:rPr>
              <a:t>01 </a:t>
            </a:r>
            <a:r>
              <a:rPr dirty="0" baseline="7575" sz="1650" spc="209">
                <a:latin typeface="Georgia"/>
                <a:cs typeface="Georgia"/>
              </a:rPr>
              <a:t>+</a:t>
            </a:r>
            <a:r>
              <a:rPr dirty="0" baseline="7575" sz="1650" spc="-15">
                <a:latin typeface="Georgia"/>
                <a:cs typeface="Georgia"/>
              </a:rPr>
              <a:t> </a:t>
            </a:r>
            <a:r>
              <a:rPr dirty="0" baseline="7575" sz="1650" spc="120" b="0" i="1">
                <a:latin typeface="Bookman Old Style"/>
                <a:cs typeface="Bookman Old Style"/>
              </a:rPr>
              <a:t>I</a:t>
            </a:r>
            <a:r>
              <a:rPr dirty="0" sz="600" spc="80">
                <a:latin typeface="Times New Roman"/>
                <a:cs typeface="Times New Roman"/>
              </a:rPr>
              <a:t>02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61553" y="1510525"/>
            <a:ext cx="489584" cy="0"/>
          </a:xfrm>
          <a:custGeom>
            <a:avLst/>
            <a:gdLst/>
            <a:ahLst/>
            <a:cxnLst/>
            <a:rect l="l" t="t" r="r" b="b"/>
            <a:pathLst>
              <a:path w="489585" h="0">
                <a:moveTo>
                  <a:pt x="0" y="0"/>
                </a:moveTo>
                <a:lnTo>
                  <a:pt x="48935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23453" y="1509725"/>
            <a:ext cx="5594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120" b="0" i="1">
                <a:latin typeface="Bookman Old Style"/>
                <a:cs typeface="Bookman Old Style"/>
              </a:rPr>
              <a:t>I</a:t>
            </a:r>
            <a:r>
              <a:rPr dirty="0" sz="600" spc="80">
                <a:latin typeface="Times New Roman"/>
                <a:cs typeface="Times New Roman"/>
              </a:rPr>
              <a:t>11 </a:t>
            </a:r>
            <a:r>
              <a:rPr dirty="0" baseline="7575" sz="1650" spc="209">
                <a:latin typeface="Georgia"/>
                <a:cs typeface="Georgia"/>
              </a:rPr>
              <a:t>+</a:t>
            </a:r>
            <a:r>
              <a:rPr dirty="0" baseline="7575" sz="1650" spc="-15">
                <a:latin typeface="Georgia"/>
                <a:cs typeface="Georgia"/>
              </a:rPr>
              <a:t> </a:t>
            </a:r>
            <a:r>
              <a:rPr dirty="0" baseline="7575" sz="1650" spc="120" b="0" i="1">
                <a:latin typeface="Bookman Old Style"/>
                <a:cs typeface="Bookman Old Style"/>
              </a:rPr>
              <a:t>I</a:t>
            </a:r>
            <a:r>
              <a:rPr dirty="0" sz="600" spc="80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6608" y="1748739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5486" y="1655013"/>
            <a:ext cx="17056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81355" algn="l"/>
                <a:tab pos="1666875" algn="l"/>
              </a:tabLst>
            </a:pPr>
            <a:r>
              <a:rPr dirty="0" baseline="-37878" sz="1650" spc="-22">
                <a:latin typeface="Georgia"/>
                <a:cs typeface="Georgia"/>
              </a:rPr>
              <a:t>lg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	</a:t>
            </a:r>
            <a:r>
              <a:rPr dirty="0" u="sng" sz="1100" spc="8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I</a:t>
            </a:r>
            <a:r>
              <a:rPr dirty="0" u="sng" baseline="-13888" sz="90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01 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+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8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I</a:t>
            </a:r>
            <a:r>
              <a:rPr dirty="0" u="sng" baseline="-13888" sz="90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	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3453" y="1843773"/>
            <a:ext cx="1551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20" b="0" i="1">
                <a:latin typeface="Bookman Old Style"/>
                <a:cs typeface="Bookman Old Style"/>
              </a:rPr>
              <a:t>I</a:t>
            </a:r>
            <a:r>
              <a:rPr dirty="0" baseline="-13888" sz="900" spc="97">
                <a:latin typeface="Times New Roman"/>
                <a:cs typeface="Times New Roman"/>
              </a:rPr>
              <a:t>01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27777" sz="900" spc="330" i="1">
                <a:latin typeface="Arial"/>
                <a:cs typeface="Arial"/>
              </a:rPr>
              <a:t>−</a:t>
            </a:r>
            <a:r>
              <a:rPr dirty="0" baseline="27777" sz="900" spc="52" i="1">
                <a:latin typeface="Verdana"/>
                <a:cs typeface="Verdana"/>
              </a:rPr>
              <a:t>ε</a:t>
            </a:r>
            <a:r>
              <a:rPr dirty="0" baseline="22222" sz="750" spc="195">
                <a:latin typeface="Calibri"/>
                <a:cs typeface="Calibri"/>
              </a:rPr>
              <a:t>1</a:t>
            </a:r>
            <a:r>
              <a:rPr dirty="0" baseline="27777" sz="900" spc="-22" i="1">
                <a:latin typeface="Verdana"/>
                <a:cs typeface="Verdana"/>
              </a:rPr>
              <a:t>bc</a:t>
            </a:r>
            <a:r>
              <a:rPr dirty="0" baseline="27777" sz="900" spc="120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20" b="0" i="1">
                <a:latin typeface="Bookman Old Style"/>
                <a:cs typeface="Bookman Old Style"/>
              </a:rPr>
              <a:t>I</a:t>
            </a:r>
            <a:r>
              <a:rPr dirty="0" baseline="-13888" sz="900" spc="97">
                <a:latin typeface="Times New Roman"/>
                <a:cs typeface="Times New Roman"/>
              </a:rPr>
              <a:t>02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baseline="27777" sz="900" spc="330" i="1">
                <a:latin typeface="Arial"/>
                <a:cs typeface="Arial"/>
              </a:rPr>
              <a:t>−</a:t>
            </a:r>
            <a:r>
              <a:rPr dirty="0" baseline="27777" sz="900" spc="52" i="1">
                <a:latin typeface="Verdana"/>
                <a:cs typeface="Verdana"/>
              </a:rPr>
              <a:t>ε</a:t>
            </a:r>
            <a:r>
              <a:rPr dirty="0" baseline="22222" sz="750" spc="195">
                <a:latin typeface="Calibri"/>
                <a:cs typeface="Calibri"/>
              </a:rPr>
              <a:t>2</a:t>
            </a:r>
            <a:r>
              <a:rPr dirty="0" baseline="27777" sz="900" spc="-22" i="1">
                <a:latin typeface="Verdana"/>
                <a:cs typeface="Verdana"/>
              </a:rPr>
              <a:t>bc</a:t>
            </a:r>
            <a:endParaRPr baseline="27777" sz="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44" y="2074862"/>
            <a:ext cx="439420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  <a:tabLst>
                <a:tab pos="3358515" algn="l"/>
              </a:tabLst>
            </a:pPr>
            <a:r>
              <a:rPr dirty="0" sz="1200" spc="-5">
                <a:latin typeface="Arial Unicode MS"/>
                <a:cs typeface="Arial Unicode MS"/>
              </a:rPr>
              <a:t>一般而</a:t>
            </a:r>
            <a:r>
              <a:rPr dirty="0" sz="1200" spc="-80">
                <a:latin typeface="Arial Unicode MS"/>
                <a:cs typeface="Arial Unicode MS"/>
              </a:rPr>
              <a:t>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在分子光谱的相邻波长</a:t>
            </a:r>
            <a:r>
              <a:rPr dirty="0" sz="1200" spc="-80">
                <a:latin typeface="Arial Unicode MS"/>
                <a:cs typeface="Arial Unicode MS"/>
              </a:rPr>
              <a:t>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5" b="0" i="1">
                <a:latin typeface="Bookman Old Style"/>
                <a:cs typeface="Bookman Old Style"/>
              </a:rPr>
              <a:t>ε</a:t>
            </a:r>
            <a:r>
              <a:rPr dirty="0" baseline="-13888" sz="900" spc="-7">
                <a:latin typeface="Times New Roman"/>
                <a:cs typeface="Times New Roman"/>
              </a:rPr>
              <a:t>1 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100" spc="-360">
                <a:latin typeface="Georgia"/>
                <a:cs typeface="Georgia"/>
              </a:rPr>
              <a:t>=</a:t>
            </a:r>
            <a:r>
              <a:rPr dirty="0" sz="1100" spc="-360">
                <a:latin typeface="Lucida Sans Unicode"/>
                <a:cs typeface="Lucida Sans Unicode"/>
              </a:rPr>
              <a:t>/	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13888" sz="900" spc="-112">
                <a:latin typeface="Times New Roman"/>
                <a:cs typeface="Times New Roman"/>
              </a:rPr>
              <a:t>2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所以此时已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不满足朗伯－比尔定</a:t>
            </a:r>
            <a:r>
              <a:rPr dirty="0" sz="1200" spc="-20">
                <a:latin typeface="Arial Unicode MS"/>
                <a:cs typeface="Arial Unicode MS"/>
              </a:rPr>
              <a:t>律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67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871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非平行入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光产生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误差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17993"/>
            <a:ext cx="435673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如果入射光为非平行</a:t>
            </a:r>
            <a:r>
              <a:rPr dirty="0" sz="1200" spc="-80">
                <a:latin typeface="Arial Unicode MS"/>
                <a:cs typeface="Arial Unicode MS"/>
              </a:rPr>
              <a:t>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则并非所有的入射光都会经历相同 </a:t>
            </a:r>
            <a:r>
              <a:rPr dirty="0" sz="1200" spc="-10">
                <a:latin typeface="Arial Unicode MS"/>
                <a:cs typeface="Arial Unicode MS"/>
              </a:rPr>
              <a:t>的光</a:t>
            </a:r>
            <a:r>
              <a:rPr dirty="0" sz="1200" spc="-80">
                <a:latin typeface="Arial Unicode MS"/>
                <a:cs typeface="Arial Unicode MS"/>
              </a:rPr>
              <a:t>程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不与吸收介质表面垂直的光经历的光程要长一</a:t>
            </a:r>
            <a:r>
              <a:rPr dirty="0" sz="1200" spc="-80">
                <a:latin typeface="Arial Unicode MS"/>
                <a:cs typeface="Arial Unicode MS"/>
              </a:rPr>
              <a:t>些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此时</a:t>
            </a:r>
            <a:r>
              <a:rPr dirty="0" sz="1200" spc="-5">
                <a:latin typeface="Arial Unicode MS"/>
                <a:cs typeface="Arial Unicode MS"/>
              </a:rPr>
              <a:t>按 </a:t>
            </a:r>
            <a:r>
              <a:rPr dirty="0" sz="1200" spc="-5">
                <a:latin typeface="Arial Unicode MS"/>
                <a:cs typeface="Arial Unicode MS"/>
              </a:rPr>
              <a:t>介质厚度计算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所得浓度值要大于实际</a:t>
            </a:r>
            <a:r>
              <a:rPr dirty="0" sz="1200" spc="-80">
                <a:latin typeface="Arial Unicode MS"/>
                <a:cs typeface="Arial Unicode MS"/>
              </a:rPr>
              <a:t>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从而产生正偏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algn="r" marR="116205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另一方</a:t>
            </a:r>
            <a:r>
              <a:rPr dirty="0" sz="1200" spc="-80">
                <a:latin typeface="Arial Unicode MS"/>
                <a:cs typeface="Arial Unicode MS"/>
              </a:rPr>
              <a:t>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不与介质表面垂直的光也容易在介质表面产生反</a:t>
            </a:r>
            <a:endParaRPr sz="1200">
              <a:latin typeface="Arial Unicode MS"/>
              <a:cs typeface="Arial Unicode MS"/>
            </a:endParaRPr>
          </a:p>
          <a:p>
            <a:pPr algn="r" marR="14986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使部分入射光实际上并不进入介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此时也会产生正偏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35445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介质不均</a:t>
            </a:r>
            <a:r>
              <a:rPr dirty="0" sz="1050" spc="-10">
                <a:solidFill>
                  <a:srgbClr val="FFFFFF"/>
                </a:solidFill>
              </a:rPr>
              <a:t>匀</a:t>
            </a:r>
            <a:r>
              <a:rPr dirty="0" sz="1050" spc="-5">
                <a:solidFill>
                  <a:srgbClr val="FFFFFF"/>
                </a:solidFill>
              </a:rPr>
              <a:t>引起的</a:t>
            </a:r>
            <a:r>
              <a:rPr dirty="0" sz="1050" spc="-10">
                <a:solidFill>
                  <a:srgbClr val="FFFFFF"/>
                </a:solidFill>
              </a:rPr>
              <a:t>误</a:t>
            </a:r>
            <a:r>
              <a:rPr dirty="0" sz="1050" spc="-5">
                <a:solidFill>
                  <a:srgbClr val="FFFFFF"/>
                </a:solidFill>
              </a:rPr>
              <a:t>差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1118603"/>
            <a:ext cx="4333240" cy="12827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介质不均匀容易导致光散射现</a:t>
            </a:r>
            <a:r>
              <a:rPr dirty="0" sz="1200" spc="-80">
                <a:latin typeface="Arial Unicode MS"/>
                <a:cs typeface="Arial Unicode MS"/>
              </a:rPr>
              <a:t>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使一部分入射光因散射而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损</a:t>
            </a:r>
            <a:r>
              <a:rPr dirty="0" sz="1200" spc="-80">
                <a:latin typeface="Arial Unicode MS"/>
                <a:cs typeface="Arial Unicode MS"/>
              </a:rPr>
              <a:t>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这就导致实测的吸光度值偏</a:t>
            </a:r>
            <a:r>
              <a:rPr dirty="0" sz="1200" spc="-80">
                <a:latin typeface="Arial Unicode MS"/>
                <a:cs typeface="Arial Unicode MS"/>
              </a:rPr>
              <a:t>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产生正偏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5080" indent="303530">
              <a:lnSpc>
                <a:spcPct val="122300"/>
              </a:lnSpc>
              <a:spcBef>
                <a:spcPts val="1095"/>
              </a:spcBef>
            </a:pPr>
            <a:r>
              <a:rPr dirty="0" sz="1200" spc="-5">
                <a:latin typeface="Arial Unicode MS"/>
                <a:cs typeface="Arial Unicode MS"/>
              </a:rPr>
              <a:t>一般而</a:t>
            </a:r>
            <a:r>
              <a:rPr dirty="0" sz="1200" spc="-80">
                <a:latin typeface="Arial Unicode MS"/>
                <a:cs typeface="Arial Unicode MS"/>
              </a:rPr>
              <a:t>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吸光物质的浓度越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对光的散射越严</a:t>
            </a:r>
            <a:r>
              <a:rPr dirty="0" sz="1200" spc="-80">
                <a:latin typeface="Arial Unicode MS"/>
                <a:cs typeface="Arial Unicode MS"/>
              </a:rPr>
              <a:t>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使实测 </a:t>
            </a:r>
            <a:r>
              <a:rPr dirty="0" sz="1200" spc="-5">
                <a:latin typeface="Arial Unicode MS"/>
                <a:cs typeface="Arial Unicode MS"/>
              </a:rPr>
              <a:t>的吸光度值偏高得越</a:t>
            </a:r>
            <a:r>
              <a:rPr dirty="0" sz="1200" spc="-80">
                <a:latin typeface="Arial Unicode MS"/>
                <a:cs typeface="Arial Unicode MS"/>
              </a:rPr>
              <a:t>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甚至使标准曲线的上部偏离直线而向吸 光度轴弯</a:t>
            </a:r>
            <a:r>
              <a:rPr dirty="0" sz="1200" spc="-20">
                <a:latin typeface="Arial Unicode MS"/>
                <a:cs typeface="Arial Unicode MS"/>
              </a:rPr>
              <a:t>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0170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9.3.2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化学</a:t>
            </a:r>
            <a:r>
              <a:rPr dirty="0" sz="1050" spc="-10">
                <a:solidFill>
                  <a:srgbClr val="FFFFFF"/>
                </a:solidFill>
              </a:rPr>
              <a:t>因</a:t>
            </a:r>
            <a:r>
              <a:rPr dirty="0" sz="1050" spc="-5">
                <a:solidFill>
                  <a:srgbClr val="FFFFFF"/>
                </a:solidFill>
              </a:rPr>
              <a:t>素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17879"/>
            <a:ext cx="4387850" cy="1603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化学因素的影响主要涉及浓度和化学反应两个方</a:t>
            </a:r>
            <a:r>
              <a:rPr dirty="0" sz="1200" spc="-20">
                <a:latin typeface="Arial Unicode MS"/>
                <a:cs typeface="Arial Unicode MS"/>
              </a:rPr>
              <a:t>面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12700" marR="36195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当溶液的浓度较高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吸光物质的粒子之间的接近程度也会 </a:t>
            </a:r>
            <a:r>
              <a:rPr dirty="0" sz="1200" spc="-10">
                <a:latin typeface="Arial Unicode MS"/>
                <a:cs typeface="Arial Unicode MS"/>
              </a:rPr>
              <a:t>增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粒子之间的相互作用会影响到吸光微粒的电荷分</a:t>
            </a:r>
            <a:r>
              <a:rPr dirty="0" sz="1200" spc="-80">
                <a:latin typeface="Arial Unicode MS"/>
                <a:cs typeface="Arial Unicode MS"/>
              </a:rPr>
              <a:t>布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从而</a:t>
            </a:r>
            <a:r>
              <a:rPr dirty="0" sz="1200" spc="-5">
                <a:latin typeface="Arial Unicode MS"/>
                <a:cs typeface="Arial Unicode MS"/>
              </a:rPr>
              <a:t>改 </a:t>
            </a:r>
            <a:r>
              <a:rPr dirty="0" sz="1200" spc="-5">
                <a:latin typeface="Arial Unicode MS"/>
                <a:cs typeface="Arial Unicode MS"/>
              </a:rPr>
              <a:t>变微粒的能级分</a:t>
            </a:r>
            <a:r>
              <a:rPr dirty="0" sz="1200" spc="-80">
                <a:latin typeface="Arial Unicode MS"/>
                <a:cs typeface="Arial Unicode MS"/>
              </a:rPr>
              <a:t>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这必然会改变吸光物质的摩尔吸光系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过高的浓度会使吸光度与浓度之间的线性关系被改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从而引起误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82296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化学反应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影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44" y="822071"/>
            <a:ext cx="4438650" cy="10591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由化学反应引起的误差通常来自两个方</a:t>
            </a:r>
            <a:r>
              <a:rPr dirty="0" sz="1200" spc="-80">
                <a:latin typeface="Arial Unicode MS"/>
                <a:cs typeface="Arial Unicode MS"/>
              </a:rPr>
              <a:t>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其一是吸光物质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自身的因化学反应导致的浓度变</a:t>
            </a:r>
            <a:r>
              <a:rPr dirty="0" sz="1200" spc="-70">
                <a:latin typeface="Arial Unicode MS"/>
                <a:cs typeface="Arial Unicode MS"/>
              </a:rPr>
              <a:t>化</a:t>
            </a:r>
            <a:r>
              <a:rPr dirty="0" sz="1200" spc="-215">
                <a:latin typeface="Arial Unicode MS"/>
                <a:cs typeface="Arial Unicode MS"/>
              </a:rPr>
              <a:t>；</a:t>
            </a:r>
            <a:r>
              <a:rPr dirty="0" sz="1200" spc="-10">
                <a:latin typeface="Arial Unicode MS"/>
                <a:cs typeface="Arial Unicode MS"/>
              </a:rPr>
              <a:t>其二是显色反应的完全程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</a:pPr>
            <a:r>
              <a:rPr dirty="0" sz="1200" spc="-10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如果采用稀释的方式配</a:t>
            </a:r>
            <a:r>
              <a:rPr dirty="0" sz="1200" spc="-5">
                <a:latin typeface="Arial Unicode MS"/>
                <a:cs typeface="Arial Unicode MS"/>
              </a:rPr>
              <a:t>制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37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标准溶液系</a:t>
            </a:r>
            <a:r>
              <a:rPr dirty="0" sz="1200" spc="-80">
                <a:latin typeface="Arial Unicode MS"/>
                <a:cs typeface="Arial Unicode MS"/>
              </a:rPr>
              <a:t>列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会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发生如下的平衡变</a:t>
            </a:r>
            <a:r>
              <a:rPr dirty="0" sz="1200" spc="-90">
                <a:latin typeface="Arial Unicode MS"/>
                <a:cs typeface="Arial Unicode MS"/>
              </a:rPr>
              <a:t>化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425" y="205479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5948" y="2132774"/>
            <a:ext cx="6318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213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6018" y="2147456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175">
                <a:latin typeface="宋体"/>
                <a:cs typeface="宋体"/>
              </a:rPr>
              <a:t>－</a:t>
            </a:r>
            <a:r>
              <a:rPr dirty="0" baseline="24691" sz="675" spc="-262">
                <a:latin typeface="宋体"/>
                <a:cs typeface="宋体"/>
              </a:rPr>
              <a:t>——</a:t>
            </a:r>
            <a:r>
              <a:rPr dirty="0" sz="450" spc="-175">
                <a:latin typeface="宋体"/>
                <a:cs typeface="宋体"/>
              </a:rPr>
              <a:t>—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35">
                <a:latin typeface="宋体"/>
                <a:cs typeface="宋体"/>
              </a:rPr>
              <a:t>——</a:t>
            </a:r>
            <a:endParaRPr sz="4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6425" y="2146249"/>
            <a:ext cx="14712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0970" algn="l"/>
              </a:tabLst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1630" y="2049373"/>
            <a:ext cx="22078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3870" algn="l"/>
                <a:tab pos="1394460" algn="l"/>
                <a:tab pos="1882775" algn="l"/>
              </a:tabLst>
            </a:pP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>
                <a:latin typeface="Georgia"/>
                <a:cs typeface="Georgia"/>
              </a:rPr>
              <a:t>2CrO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75">
                <a:latin typeface="Georgia"/>
                <a:cs typeface="Georgia"/>
              </a:rPr>
              <a:t>2H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5318" y="2054796"/>
            <a:ext cx="5651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06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44" y="2373795"/>
            <a:ext cx="44513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也</a:t>
            </a:r>
            <a:r>
              <a:rPr dirty="0" sz="1200" spc="-80">
                <a:latin typeface="Arial Unicode MS"/>
                <a:cs typeface="Arial Unicode MS"/>
              </a:rPr>
              <a:t>即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溶液中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35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的浓度会因为平衡移动而额外地减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由此产生误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125831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又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在采用显色反应的方式配制标准溶液系列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待测物</a:t>
            </a:r>
            <a:r>
              <a:rPr dirty="0" sz="1200" spc="-5">
                <a:latin typeface="Arial Unicode MS"/>
                <a:cs typeface="Arial Unicode MS"/>
              </a:rPr>
              <a:t>质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与显色剂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发生如下的显色反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生成有色物质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30">
                <a:latin typeface="Georgia"/>
                <a:cs typeface="Georgia"/>
              </a:rPr>
              <a:t>MR</a:t>
            </a:r>
            <a:r>
              <a:rPr dirty="0" sz="1200" spc="-30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2022" y="865276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175">
                <a:latin typeface="宋体"/>
                <a:cs typeface="宋体"/>
              </a:rPr>
              <a:t>－</a:t>
            </a:r>
            <a:r>
              <a:rPr dirty="0" baseline="24691" sz="675" spc="-262">
                <a:latin typeface="宋体"/>
                <a:cs typeface="宋体"/>
              </a:rPr>
              <a:t>——</a:t>
            </a:r>
            <a:r>
              <a:rPr dirty="0" sz="450" spc="-175">
                <a:latin typeface="宋体"/>
                <a:cs typeface="宋体"/>
              </a:rPr>
              <a:t>—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35">
                <a:latin typeface="宋体"/>
                <a:cs typeface="宋体"/>
              </a:rPr>
              <a:t>——</a:t>
            </a:r>
            <a:endParaRPr sz="4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3656" y="767194"/>
            <a:ext cx="1160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5">
                <a:latin typeface="Georgia"/>
                <a:cs typeface="Georgia"/>
              </a:rPr>
              <a:t>MR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156" y="1131912"/>
            <a:ext cx="4382135" cy="2021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设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MR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的总浓度之间存在如下关</a:t>
            </a:r>
            <a:r>
              <a:rPr dirty="0" sz="1200" spc="-9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R="4445">
              <a:lnSpc>
                <a:spcPct val="100000"/>
              </a:lnSpc>
            </a:pP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endParaRPr baseline="-33333" sz="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Calibri"/>
              <a:cs typeface="Calibri"/>
            </a:endParaRPr>
          </a:p>
          <a:p>
            <a:pPr marL="3289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则根据朗伯－比尔定律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R="4445">
              <a:lnSpc>
                <a:spcPct val="100000"/>
              </a:lnSpc>
              <a:spcBef>
                <a:spcPts val="5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3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5" b="0" i="1">
                <a:latin typeface="Bookman Old Style"/>
                <a:cs typeface="Bookman Old Style"/>
              </a:rPr>
              <a:t>εb</a:t>
            </a:r>
            <a:r>
              <a:rPr dirty="0" sz="1100" spc="-40">
                <a:latin typeface="Georgia"/>
                <a:cs typeface="Georgia"/>
              </a:rPr>
              <a:t>[</a:t>
            </a:r>
            <a:r>
              <a:rPr dirty="0" sz="1100" spc="-100">
                <a:latin typeface="Georgia"/>
                <a:cs typeface="Georgia"/>
              </a:rPr>
              <a:t>M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5" b="0" i="1">
                <a:latin typeface="Bookman Old Style"/>
                <a:cs typeface="Bookman Old Style"/>
              </a:rPr>
              <a:t>εb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endParaRPr baseline="-33333" sz="7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Calibri"/>
              <a:cs typeface="Calibri"/>
            </a:endParaRPr>
          </a:p>
          <a:p>
            <a:pPr marL="328930">
              <a:lnSpc>
                <a:spcPct val="100000"/>
              </a:lnSpc>
            </a:pPr>
            <a:r>
              <a:rPr dirty="0" sz="1200" spc="-10">
                <a:latin typeface="Arial Unicode MS"/>
                <a:cs typeface="Arial Unicode MS"/>
              </a:rPr>
              <a:t>很显</a:t>
            </a:r>
            <a:r>
              <a:rPr dirty="0" sz="1200" spc="-85">
                <a:latin typeface="Arial Unicode MS"/>
                <a:cs typeface="Arial Unicode MS"/>
              </a:rPr>
              <a:t>然</a:t>
            </a:r>
            <a:r>
              <a:rPr dirty="0" sz="1200" spc="-229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要实现准确定</a:t>
            </a:r>
            <a:r>
              <a:rPr dirty="0" sz="1200" spc="-85">
                <a:latin typeface="Arial Unicode MS"/>
                <a:cs typeface="Arial Unicode MS"/>
              </a:rPr>
              <a:t>量</a:t>
            </a:r>
            <a:r>
              <a:rPr dirty="0" sz="1200" spc="-229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必</a:t>
            </a:r>
            <a:r>
              <a:rPr dirty="0" sz="1200" spc="-5">
                <a:latin typeface="Arial Unicode MS"/>
                <a:cs typeface="Arial Unicode MS"/>
              </a:rPr>
              <a:t>须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-40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120">
                <a:latin typeface="Georgia"/>
                <a:cs typeface="Georgia"/>
              </a:rPr>
              <a:t>1</a:t>
            </a:r>
            <a:r>
              <a:rPr dirty="0" sz="1200" spc="-1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否则就会产生误</a:t>
            </a:r>
            <a:r>
              <a:rPr dirty="0" sz="1200" spc="-25">
                <a:latin typeface="Arial Unicode MS"/>
                <a:cs typeface="Arial Unicode MS"/>
              </a:rPr>
              <a:t>差</a:t>
            </a:r>
            <a:r>
              <a:rPr dirty="0" sz="1200" spc="-27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实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现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 b="0" i="1">
                <a:latin typeface="Bookman Old Style"/>
                <a:cs typeface="Bookman Old Style"/>
              </a:rPr>
              <a:t>α</a:t>
            </a:r>
            <a:r>
              <a:rPr dirty="0" sz="1100" spc="-25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的一个简单方法是加入过量的显示</a:t>
            </a:r>
            <a:r>
              <a:rPr dirty="0" sz="1200" spc="-20">
                <a:latin typeface="Arial Unicode MS"/>
                <a:cs typeface="Arial Unicode MS"/>
              </a:rPr>
              <a:t>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331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9.3.3</a:t>
            </a:r>
            <a:r>
              <a:rPr dirty="0" sz="1000" spc="1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吸光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度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测量的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误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差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17993"/>
            <a:ext cx="435673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吸光光度法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仪器测量的是经过样品的透光</a:t>
            </a:r>
            <a:r>
              <a:rPr dirty="0" sz="1200" spc="-5">
                <a:latin typeface="Arial Unicode MS"/>
                <a:cs typeface="Arial Unicode MS"/>
              </a:rPr>
              <a:t>度</a:t>
            </a:r>
            <a:r>
              <a:rPr dirty="0" sz="1200" spc="-25">
                <a:latin typeface="Arial Unicode MS"/>
                <a:cs typeface="Arial Unicode MS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-210" b="0" i="1">
                <a:latin typeface="Bookman Old Style"/>
                <a:cs typeface="Bookman Old Style"/>
              </a:rPr>
              <a:t> 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在分光</a:t>
            </a:r>
            <a:r>
              <a:rPr dirty="0" sz="1200" spc="-5">
                <a:latin typeface="Arial Unicode MS"/>
                <a:cs typeface="Arial Unicode MS"/>
              </a:rPr>
              <a:t>光 </a:t>
            </a:r>
            <a:r>
              <a:rPr dirty="0" sz="1200" spc="-10">
                <a:latin typeface="Arial Unicode MS"/>
                <a:cs typeface="Arial Unicode MS"/>
              </a:rPr>
              <a:t>度计的标尺</a:t>
            </a:r>
            <a:r>
              <a:rPr dirty="0" sz="1200" spc="-80">
                <a:latin typeface="Arial Unicode MS"/>
                <a:cs typeface="Arial Unicode MS"/>
              </a:rPr>
              <a:t>上</a:t>
            </a:r>
            <a:r>
              <a:rPr dirty="0" sz="1200" spc="-20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透光</a:t>
            </a:r>
            <a:r>
              <a:rPr dirty="0" sz="1200" spc="-5">
                <a:latin typeface="Arial Unicode MS"/>
                <a:cs typeface="Arial Unicode MS"/>
              </a:rPr>
              <a:t>度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55" b="0" i="1">
                <a:latin typeface="Bookman Old Style"/>
                <a:cs typeface="Bookman Old Style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的标尺是均匀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20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透光度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-10">
                <a:latin typeface="Arial Unicode MS"/>
                <a:cs typeface="Arial Unicode MS"/>
              </a:rPr>
              <a:t>读数误</a:t>
            </a:r>
            <a:r>
              <a:rPr dirty="0" sz="1200" spc="-5">
                <a:latin typeface="Arial Unicode MS"/>
                <a:cs typeface="Arial Unicode MS"/>
              </a:rPr>
              <a:t>差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75">
                <a:latin typeface="Georgia"/>
                <a:cs typeface="Georgia"/>
              </a:rPr>
              <a:t>∆</a:t>
            </a:r>
            <a:r>
              <a:rPr dirty="0" sz="1100" spc="75" b="0" i="1">
                <a:latin typeface="Bookman Old Style"/>
                <a:cs typeface="Bookman Old Style"/>
              </a:rPr>
              <a:t>T  </a:t>
            </a:r>
            <a:r>
              <a:rPr dirty="0" sz="1200" spc="-5">
                <a:latin typeface="Arial Unicode MS"/>
                <a:cs typeface="Arial Unicode MS"/>
              </a:rPr>
              <a:t>仅取决于仪器的状</a:t>
            </a:r>
            <a:r>
              <a:rPr dirty="0" sz="1200" spc="-80">
                <a:latin typeface="Arial Unicode MS"/>
                <a:cs typeface="Arial Unicode MS"/>
              </a:rPr>
              <a:t>态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与透光度值无</a:t>
            </a:r>
            <a:r>
              <a:rPr dirty="0" sz="1200" spc="-20">
                <a:latin typeface="Arial Unicode MS"/>
                <a:cs typeface="Arial Unicode MS"/>
              </a:rPr>
              <a:t>关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透光度与吸光度之间存在的是对数关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1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∆</a:t>
            </a:r>
            <a:r>
              <a:rPr dirty="0" sz="1100" spc="-15" b="0" i="1">
                <a:latin typeface="Bookman Old Style"/>
                <a:cs typeface="Bookman Old Style"/>
              </a:rPr>
              <a:t>T</a:t>
            </a:r>
            <a:r>
              <a:rPr dirty="0" sz="1100" spc="14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对浓度估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计产生的误差将不再是固定</a:t>
            </a:r>
            <a:r>
              <a:rPr dirty="0" sz="1200" spc="-80">
                <a:latin typeface="Arial Unicode MS"/>
                <a:cs typeface="Arial Unicode MS"/>
              </a:rPr>
              <a:t>值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而是与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7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有关的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802703"/>
            <a:ext cx="407479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根据朗伯－比尔定</a:t>
            </a:r>
            <a:r>
              <a:rPr dirty="0" spc="-80"/>
              <a:t>律</a:t>
            </a:r>
            <a:r>
              <a:rPr dirty="0" spc="-204"/>
              <a:t>，</a:t>
            </a:r>
            <a:r>
              <a:rPr dirty="0" spc="-10"/>
              <a:t>可以得到如下的仪器测量的误差公</a:t>
            </a:r>
            <a:r>
              <a:rPr dirty="0" spc="-95"/>
              <a:t>式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5055" y="1178864"/>
            <a:ext cx="4438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0" b="0" i="1">
                <a:latin typeface="Bookman Old Style"/>
                <a:cs typeface="Bookman Old Style"/>
              </a:rPr>
              <a:t>E</a:t>
            </a:r>
            <a:r>
              <a:rPr dirty="0" sz="1100" spc="60">
                <a:latin typeface="Georgia"/>
                <a:cs typeface="Georgia"/>
              </a:rPr>
              <a:t>%</a:t>
            </a:r>
            <a:r>
              <a:rPr dirty="0" sz="1100" spc="3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5750" y="1295476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4" h="0">
                <a:moveTo>
                  <a:pt x="0" y="0"/>
                </a:moveTo>
                <a:lnTo>
                  <a:pt x="17541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43050" y="1062632"/>
            <a:ext cx="201295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0" marR="5080" indent="-57785">
              <a:lnSpc>
                <a:spcPct val="112599"/>
              </a:lnSpc>
              <a:spcBef>
                <a:spcPts val="100"/>
              </a:spcBef>
            </a:pPr>
            <a:r>
              <a:rPr dirty="0" sz="1100" spc="170">
                <a:latin typeface="Georgia"/>
                <a:cs typeface="Georgia"/>
              </a:rPr>
              <a:t>∆</a:t>
            </a:r>
            <a:r>
              <a:rPr dirty="0" sz="1100" spc="-50" b="0" i="1">
                <a:latin typeface="Bookman Old Style"/>
                <a:cs typeface="Bookman Old Style"/>
              </a:rPr>
              <a:t>c 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4423" y="1178864"/>
            <a:ext cx="680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31224" y="1295476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4" h="0">
                <a:moveTo>
                  <a:pt x="0" y="0"/>
                </a:moveTo>
                <a:lnTo>
                  <a:pt x="53124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18511" y="1062632"/>
            <a:ext cx="53784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75">
                <a:latin typeface="Georgia"/>
                <a:cs typeface="Georgia"/>
              </a:rPr>
              <a:t>434</a:t>
            </a:r>
            <a:r>
              <a:rPr dirty="0" sz="1100" spc="170">
                <a:latin typeface="Georgia"/>
                <a:cs typeface="Georgia"/>
              </a:rPr>
              <a:t>∆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endParaRPr sz="11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25" b="0" i="1">
                <a:latin typeface="Bookman Old Style"/>
                <a:cs typeface="Bookman Old Style"/>
              </a:rPr>
              <a:t>T </a:t>
            </a:r>
            <a:r>
              <a:rPr dirty="0" sz="1100" spc="-15">
                <a:latin typeface="Georgia"/>
                <a:cs typeface="Georgia"/>
              </a:rPr>
              <a:t>lg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95726" y="1178864"/>
            <a:ext cx="1386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96340" algn="l"/>
              </a:tabLst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20">
                <a:latin typeface="Georgia"/>
                <a:cs typeface="Georgia"/>
              </a:rPr>
              <a:t>(6)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4629" y="1547342"/>
            <a:ext cx="2012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70">
                <a:latin typeface="Georgia"/>
                <a:cs typeface="Georgia"/>
              </a:rPr>
              <a:t>∆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7329" y="1757680"/>
            <a:ext cx="175895" cy="0"/>
          </a:xfrm>
          <a:custGeom>
            <a:avLst/>
            <a:gdLst/>
            <a:ahLst/>
            <a:cxnLst/>
            <a:rect l="l" t="t" r="r" b="b"/>
            <a:pathLst>
              <a:path w="175895" h="0">
                <a:moveTo>
                  <a:pt x="0" y="0"/>
                </a:moveTo>
                <a:lnTo>
                  <a:pt x="17541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2363" y="1736102"/>
            <a:ext cx="85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44" y="1627784"/>
            <a:ext cx="206628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87705" algn="l"/>
              </a:tabLst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r>
              <a:rPr dirty="0" sz="1200">
                <a:latin typeface="Arial Unicode MS"/>
                <a:cs typeface="Arial Unicode MS"/>
              </a:rPr>
              <a:t>	</a:t>
            </a:r>
            <a:r>
              <a:rPr dirty="0" sz="1200" spc="-5">
                <a:latin typeface="Arial Unicode MS"/>
                <a:cs typeface="Arial Unicode MS"/>
              </a:rPr>
              <a:t>是浓度的相对误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9501" y="1990026"/>
            <a:ext cx="32194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60">
                <a:latin typeface="Arial Unicode MS"/>
                <a:cs typeface="Arial Unicode MS"/>
              </a:rPr>
              <a:t>图</a:t>
            </a:r>
            <a:r>
              <a:rPr dirty="0" sz="1200" spc="-5">
                <a:latin typeface="Arial Unicode MS"/>
                <a:cs typeface="Arial Unicode MS"/>
              </a:rPr>
              <a:t>（</a:t>
            </a:r>
            <a:r>
              <a:rPr dirty="0" sz="1100" spc="-45">
                <a:latin typeface="Georgia"/>
                <a:cs typeface="Georgia"/>
              </a:rPr>
              <a:t>4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所示为浓度的相对误差与透光度的关</a:t>
            </a:r>
            <a:r>
              <a:rPr dirty="0" sz="1200" spc="-2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7400" y="326300"/>
            <a:ext cx="2594610" cy="0"/>
          </a:xfrm>
          <a:custGeom>
            <a:avLst/>
            <a:gdLst/>
            <a:ahLst/>
            <a:cxnLst/>
            <a:rect l="l" t="t" r="r" b="b"/>
            <a:pathLst>
              <a:path w="2594610" h="0">
                <a:moveTo>
                  <a:pt x="0" y="0"/>
                </a:moveTo>
                <a:lnTo>
                  <a:pt x="25945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07400" y="326300"/>
            <a:ext cx="2594610" cy="2045970"/>
          </a:xfrm>
          <a:custGeom>
            <a:avLst/>
            <a:gdLst/>
            <a:ahLst/>
            <a:cxnLst/>
            <a:rect l="l" t="t" r="r" b="b"/>
            <a:pathLst>
              <a:path w="2594610" h="2045970">
                <a:moveTo>
                  <a:pt x="0" y="2045363"/>
                </a:moveTo>
                <a:lnTo>
                  <a:pt x="2594565" y="2045363"/>
                </a:lnTo>
                <a:lnTo>
                  <a:pt x="25945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07400" y="326300"/>
            <a:ext cx="0" cy="2045970"/>
          </a:xfrm>
          <a:custGeom>
            <a:avLst/>
            <a:gdLst/>
            <a:ahLst/>
            <a:cxnLst/>
            <a:rect l="l" t="t" r="r" b="b"/>
            <a:pathLst>
              <a:path w="0" h="2045970">
                <a:moveTo>
                  <a:pt x="0" y="20453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07400" y="2371663"/>
            <a:ext cx="2594610" cy="0"/>
          </a:xfrm>
          <a:custGeom>
            <a:avLst/>
            <a:gdLst/>
            <a:ahLst/>
            <a:cxnLst/>
            <a:rect l="l" t="t" r="r" b="b"/>
            <a:pathLst>
              <a:path w="2594610" h="0">
                <a:moveTo>
                  <a:pt x="0" y="0"/>
                </a:moveTo>
                <a:lnTo>
                  <a:pt x="25945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7400" y="326300"/>
            <a:ext cx="0" cy="2045970"/>
          </a:xfrm>
          <a:custGeom>
            <a:avLst/>
            <a:gdLst/>
            <a:ahLst/>
            <a:cxnLst/>
            <a:rect l="l" t="t" r="r" b="b"/>
            <a:pathLst>
              <a:path w="0" h="2045970">
                <a:moveTo>
                  <a:pt x="0" y="20453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7400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07400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74375" y="2366704"/>
            <a:ext cx="66040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5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66756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66756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26118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26118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85480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85480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44836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44836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404680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04680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664042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664042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23404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23404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82760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82760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42122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42122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01965" y="2345534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69">
                <a:moveTo>
                  <a:pt x="0" y="2612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01965" y="326300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0"/>
                </a:moveTo>
                <a:lnTo>
                  <a:pt x="0" y="256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668943" y="2366704"/>
            <a:ext cx="66040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5">
                <a:latin typeface="Times New Roman"/>
                <a:cs typeface="Times New Roman"/>
              </a:rPr>
              <a:t>1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107400" y="237166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75836" y="2371663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037116" y="2306702"/>
            <a:ext cx="66040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5">
                <a:latin typeface="Times New Roman"/>
                <a:cs typeface="Times New Roman"/>
              </a:rPr>
              <a:t>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07400" y="2185366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75836" y="2185366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07400" y="199955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75836" y="1999555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07400" y="1813745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75836" y="1813745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07400" y="162745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675836" y="1627453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037116" y="1562494"/>
            <a:ext cx="66040" cy="6813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5">
                <a:latin typeface="Times New Roman"/>
                <a:cs typeface="Times New Roman"/>
              </a:rPr>
              <a:t>8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650" spc="-5">
                <a:latin typeface="Times New Roman"/>
                <a:cs typeface="Times New Roman"/>
              </a:rPr>
              <a:t>6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50" spc="-5">
                <a:latin typeface="Times New Roman"/>
                <a:cs typeface="Times New Roman"/>
              </a:rPr>
              <a:t>4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50" spc="-5">
                <a:latin typeface="Times New Roman"/>
                <a:cs typeface="Times New Roman"/>
              </a:rPr>
              <a:t>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07400" y="144164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75836" y="1441643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996470" y="1376684"/>
            <a:ext cx="107314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5">
                <a:latin typeface="Times New Roman"/>
                <a:cs typeface="Times New Roman"/>
              </a:rPr>
              <a:t>10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07400" y="125583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75836" y="1255833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96470" y="1190874"/>
            <a:ext cx="107314" cy="12318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5">
                <a:latin typeface="Times New Roman"/>
                <a:cs typeface="Times New Roman"/>
              </a:rPr>
              <a:t>12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07400" y="1070023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75836" y="1070023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07400" y="88373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75836" y="883731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07400" y="69792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75836" y="697921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07400" y="51211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675836" y="512110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07400" y="326300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 h="0">
                <a:moveTo>
                  <a:pt x="0" y="0"/>
                </a:moveTo>
                <a:lnTo>
                  <a:pt x="25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675836" y="326300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 h="0">
                <a:moveTo>
                  <a:pt x="26129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996470" y="261339"/>
            <a:ext cx="107314" cy="866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" spc="-5">
                <a:latin typeface="Times New Roman"/>
                <a:cs typeface="Times New Roman"/>
              </a:rPr>
              <a:t>22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50" spc="-5">
                <a:latin typeface="Times New Roman"/>
                <a:cs typeface="Times New Roman"/>
              </a:rPr>
              <a:t>20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50" spc="-5">
                <a:latin typeface="Times New Roman"/>
                <a:cs typeface="Times New Roman"/>
              </a:rPr>
              <a:t>18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50" spc="-5">
                <a:latin typeface="Times New Roman"/>
                <a:cs typeface="Times New Roman"/>
              </a:rPr>
              <a:t>16</a:t>
            </a: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50" spc="-5">
                <a:latin typeface="Times New Roman"/>
                <a:cs typeface="Times New Roman"/>
              </a:rPr>
              <a:t>14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107400" y="326300"/>
            <a:ext cx="2594610" cy="0"/>
          </a:xfrm>
          <a:custGeom>
            <a:avLst/>
            <a:gdLst/>
            <a:ahLst/>
            <a:cxnLst/>
            <a:rect l="l" t="t" r="r" b="b"/>
            <a:pathLst>
              <a:path w="2594610" h="0">
                <a:moveTo>
                  <a:pt x="0" y="0"/>
                </a:moveTo>
                <a:lnTo>
                  <a:pt x="25945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107400" y="326300"/>
            <a:ext cx="2594610" cy="2045970"/>
          </a:xfrm>
          <a:custGeom>
            <a:avLst/>
            <a:gdLst/>
            <a:ahLst/>
            <a:cxnLst/>
            <a:rect l="l" t="t" r="r" b="b"/>
            <a:pathLst>
              <a:path w="2594610" h="2045970">
                <a:moveTo>
                  <a:pt x="0" y="2045363"/>
                </a:moveTo>
                <a:lnTo>
                  <a:pt x="2594565" y="2045363"/>
                </a:lnTo>
                <a:lnTo>
                  <a:pt x="259456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107400" y="326300"/>
            <a:ext cx="0" cy="2045970"/>
          </a:xfrm>
          <a:custGeom>
            <a:avLst/>
            <a:gdLst/>
            <a:ahLst/>
            <a:cxnLst/>
            <a:rect l="l" t="t" r="r" b="b"/>
            <a:pathLst>
              <a:path w="0" h="2045970">
                <a:moveTo>
                  <a:pt x="0" y="20453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133042" y="353881"/>
            <a:ext cx="2439035" cy="1765300"/>
          </a:xfrm>
          <a:custGeom>
            <a:avLst/>
            <a:gdLst/>
            <a:ahLst/>
            <a:cxnLst/>
            <a:rect l="l" t="t" r="r" b="b"/>
            <a:pathLst>
              <a:path w="2439035" h="1765300">
                <a:moveTo>
                  <a:pt x="2438758" y="110806"/>
                </a:moveTo>
                <a:lnTo>
                  <a:pt x="2413116" y="420006"/>
                </a:lnTo>
                <a:lnTo>
                  <a:pt x="2386986" y="641137"/>
                </a:lnTo>
                <a:lnTo>
                  <a:pt x="2361339" y="806625"/>
                </a:lnTo>
                <a:lnTo>
                  <a:pt x="2335209" y="934857"/>
                </a:lnTo>
                <a:lnTo>
                  <a:pt x="2309080" y="1037923"/>
                </a:lnTo>
                <a:lnTo>
                  <a:pt x="2283432" y="1121631"/>
                </a:lnTo>
                <a:lnTo>
                  <a:pt x="2257302" y="1191797"/>
                </a:lnTo>
                <a:lnTo>
                  <a:pt x="2231173" y="1250827"/>
                </a:lnTo>
                <a:lnTo>
                  <a:pt x="2205531" y="1301152"/>
                </a:lnTo>
                <a:lnTo>
                  <a:pt x="2179402" y="1345184"/>
                </a:lnTo>
                <a:lnTo>
                  <a:pt x="2153754" y="1382926"/>
                </a:lnTo>
                <a:lnTo>
                  <a:pt x="2127624" y="1416802"/>
                </a:lnTo>
                <a:lnTo>
                  <a:pt x="2101495" y="1446799"/>
                </a:lnTo>
                <a:lnTo>
                  <a:pt x="2049718" y="1497124"/>
                </a:lnTo>
                <a:lnTo>
                  <a:pt x="1997946" y="1538252"/>
                </a:lnTo>
                <a:lnTo>
                  <a:pt x="1946169" y="1572128"/>
                </a:lnTo>
                <a:lnTo>
                  <a:pt x="1893910" y="1600673"/>
                </a:lnTo>
                <a:lnTo>
                  <a:pt x="1842133" y="1624869"/>
                </a:lnTo>
                <a:lnTo>
                  <a:pt x="1790362" y="1645192"/>
                </a:lnTo>
                <a:lnTo>
                  <a:pt x="1764232" y="1654871"/>
                </a:lnTo>
                <a:lnTo>
                  <a:pt x="1738584" y="1663093"/>
                </a:lnTo>
                <a:lnTo>
                  <a:pt x="1712455" y="1671321"/>
                </a:lnTo>
                <a:lnTo>
                  <a:pt x="1686325" y="1678579"/>
                </a:lnTo>
                <a:lnTo>
                  <a:pt x="1660678" y="1685838"/>
                </a:lnTo>
                <a:lnTo>
                  <a:pt x="1634548" y="1692126"/>
                </a:lnTo>
                <a:lnTo>
                  <a:pt x="1608906" y="1698420"/>
                </a:lnTo>
                <a:lnTo>
                  <a:pt x="1582777" y="1704227"/>
                </a:lnTo>
                <a:lnTo>
                  <a:pt x="1531000" y="1714388"/>
                </a:lnTo>
                <a:lnTo>
                  <a:pt x="1478741" y="1723580"/>
                </a:lnTo>
                <a:lnTo>
                  <a:pt x="1426963" y="1731320"/>
                </a:lnTo>
                <a:lnTo>
                  <a:pt x="1401322" y="1735193"/>
                </a:lnTo>
                <a:lnTo>
                  <a:pt x="1375192" y="1738097"/>
                </a:lnTo>
                <a:lnTo>
                  <a:pt x="1349062" y="1741482"/>
                </a:lnTo>
                <a:lnTo>
                  <a:pt x="1323415" y="1744385"/>
                </a:lnTo>
                <a:lnTo>
                  <a:pt x="1297285" y="1746806"/>
                </a:lnTo>
                <a:lnTo>
                  <a:pt x="1271156" y="1749228"/>
                </a:lnTo>
                <a:lnTo>
                  <a:pt x="1245508" y="1751643"/>
                </a:lnTo>
                <a:lnTo>
                  <a:pt x="1219379" y="1754065"/>
                </a:lnTo>
                <a:lnTo>
                  <a:pt x="1193737" y="1755516"/>
                </a:lnTo>
                <a:lnTo>
                  <a:pt x="1167607" y="1757450"/>
                </a:lnTo>
                <a:lnTo>
                  <a:pt x="1141478" y="1758902"/>
                </a:lnTo>
                <a:lnTo>
                  <a:pt x="1115830" y="1760353"/>
                </a:lnTo>
                <a:lnTo>
                  <a:pt x="1089701" y="1761323"/>
                </a:lnTo>
                <a:lnTo>
                  <a:pt x="1064053" y="1762775"/>
                </a:lnTo>
                <a:lnTo>
                  <a:pt x="1037923" y="1763256"/>
                </a:lnTo>
                <a:lnTo>
                  <a:pt x="1011794" y="1764226"/>
                </a:lnTo>
                <a:lnTo>
                  <a:pt x="986152" y="1764708"/>
                </a:lnTo>
                <a:lnTo>
                  <a:pt x="960022" y="1764708"/>
                </a:lnTo>
                <a:lnTo>
                  <a:pt x="933893" y="1765196"/>
                </a:lnTo>
                <a:lnTo>
                  <a:pt x="908245" y="1764708"/>
                </a:lnTo>
                <a:lnTo>
                  <a:pt x="882116" y="1764708"/>
                </a:lnTo>
                <a:lnTo>
                  <a:pt x="856468" y="1764226"/>
                </a:lnTo>
                <a:lnTo>
                  <a:pt x="830339" y="1763744"/>
                </a:lnTo>
                <a:lnTo>
                  <a:pt x="804209" y="1762775"/>
                </a:lnTo>
                <a:lnTo>
                  <a:pt x="778567" y="1761805"/>
                </a:lnTo>
                <a:lnTo>
                  <a:pt x="752438" y="1760353"/>
                </a:lnTo>
                <a:lnTo>
                  <a:pt x="726308" y="1758902"/>
                </a:lnTo>
                <a:lnTo>
                  <a:pt x="700661" y="1756968"/>
                </a:lnTo>
                <a:lnTo>
                  <a:pt x="674531" y="1754547"/>
                </a:lnTo>
                <a:lnTo>
                  <a:pt x="648883" y="1752131"/>
                </a:lnTo>
                <a:lnTo>
                  <a:pt x="622754" y="1749228"/>
                </a:lnTo>
                <a:lnTo>
                  <a:pt x="596624" y="1746325"/>
                </a:lnTo>
                <a:lnTo>
                  <a:pt x="570982" y="1742452"/>
                </a:lnTo>
                <a:lnTo>
                  <a:pt x="544853" y="1738579"/>
                </a:lnTo>
                <a:lnTo>
                  <a:pt x="519205" y="1734224"/>
                </a:lnTo>
                <a:lnTo>
                  <a:pt x="466946" y="1723098"/>
                </a:lnTo>
                <a:lnTo>
                  <a:pt x="415169" y="1709064"/>
                </a:lnTo>
                <a:lnTo>
                  <a:pt x="363398" y="1691162"/>
                </a:lnTo>
                <a:lnTo>
                  <a:pt x="311621" y="1667448"/>
                </a:lnTo>
                <a:lnTo>
                  <a:pt x="259361" y="1635030"/>
                </a:lnTo>
                <a:lnTo>
                  <a:pt x="207584" y="1589059"/>
                </a:lnTo>
                <a:lnTo>
                  <a:pt x="181455" y="1557611"/>
                </a:lnTo>
                <a:lnTo>
                  <a:pt x="155813" y="1518417"/>
                </a:lnTo>
                <a:lnTo>
                  <a:pt x="129683" y="1467122"/>
                </a:lnTo>
                <a:lnTo>
                  <a:pt x="104036" y="1397443"/>
                </a:lnTo>
                <a:lnTo>
                  <a:pt x="77906" y="1295828"/>
                </a:lnTo>
                <a:lnTo>
                  <a:pt x="51777" y="1134214"/>
                </a:lnTo>
                <a:lnTo>
                  <a:pt x="26129" y="829851"/>
                </a:lnTo>
                <a:lnTo>
                  <a:pt x="0" y="0"/>
                </a:lnTo>
              </a:path>
            </a:pathLst>
          </a:custGeom>
          <a:ln w="116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049515" y="2119078"/>
            <a:ext cx="34925" cy="0"/>
          </a:xfrm>
          <a:custGeom>
            <a:avLst/>
            <a:gdLst/>
            <a:ahLst/>
            <a:cxnLst/>
            <a:rect l="l" t="t" r="r" b="b"/>
            <a:pathLst>
              <a:path w="34925" h="0">
                <a:moveTo>
                  <a:pt x="0" y="0"/>
                </a:moveTo>
                <a:lnTo>
                  <a:pt x="34839" y="0"/>
                </a:lnTo>
              </a:path>
            </a:pathLst>
          </a:custGeom>
          <a:ln w="580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066935" y="2101658"/>
            <a:ext cx="0" cy="34925"/>
          </a:xfrm>
          <a:custGeom>
            <a:avLst/>
            <a:gdLst/>
            <a:ahLst/>
            <a:cxnLst/>
            <a:rect l="l" t="t" r="r" b="b"/>
            <a:pathLst>
              <a:path w="0" h="34925">
                <a:moveTo>
                  <a:pt x="0" y="0"/>
                </a:moveTo>
                <a:lnTo>
                  <a:pt x="0" y="34839"/>
                </a:lnTo>
              </a:path>
            </a:pathLst>
          </a:custGeom>
          <a:ln w="580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054834" y="2106977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0" y="0"/>
                </a:moveTo>
                <a:lnTo>
                  <a:pt x="24195" y="24195"/>
                </a:lnTo>
              </a:path>
            </a:pathLst>
          </a:custGeom>
          <a:ln w="580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054834" y="2106977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24195" y="0"/>
                </a:moveTo>
                <a:lnTo>
                  <a:pt x="0" y="24195"/>
                </a:lnTo>
              </a:path>
            </a:pathLst>
          </a:custGeom>
          <a:ln w="5806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303250" y="2366704"/>
            <a:ext cx="2202815" cy="213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ts val="715"/>
              </a:lnSpc>
              <a:spcBef>
                <a:spcPts val="90"/>
              </a:spcBef>
              <a:tabLst>
                <a:tab pos="259079" algn="l"/>
                <a:tab pos="518159" algn="l"/>
                <a:tab pos="777875" algn="l"/>
                <a:tab pos="1037590" algn="l"/>
                <a:tab pos="1296670" algn="l"/>
                <a:tab pos="1556385" algn="l"/>
                <a:tab pos="1815464" algn="l"/>
                <a:tab pos="2075180" algn="l"/>
              </a:tabLst>
            </a:pPr>
            <a:r>
              <a:rPr dirty="0" sz="650" spc="-5">
                <a:latin typeface="Times New Roman"/>
                <a:cs typeface="Times New Roman"/>
              </a:rPr>
              <a:t>0.1</a:t>
            </a:r>
            <a:r>
              <a:rPr dirty="0" sz="650" spc="-5">
                <a:latin typeface="Times New Roman"/>
                <a:cs typeface="Times New Roman"/>
              </a:rPr>
              <a:t>	</a:t>
            </a:r>
            <a:r>
              <a:rPr dirty="0" sz="650" spc="-5">
                <a:latin typeface="Times New Roman"/>
                <a:cs typeface="Times New Roman"/>
              </a:rPr>
              <a:t>0.2</a:t>
            </a:r>
            <a:r>
              <a:rPr dirty="0" sz="650" spc="-5">
                <a:latin typeface="Times New Roman"/>
                <a:cs typeface="Times New Roman"/>
              </a:rPr>
              <a:t>	</a:t>
            </a:r>
            <a:r>
              <a:rPr dirty="0" sz="650" spc="-5">
                <a:latin typeface="Times New Roman"/>
                <a:cs typeface="Times New Roman"/>
              </a:rPr>
              <a:t>0.3</a:t>
            </a:r>
            <a:r>
              <a:rPr dirty="0" sz="650" spc="-5">
                <a:latin typeface="Times New Roman"/>
                <a:cs typeface="Times New Roman"/>
              </a:rPr>
              <a:t>	</a:t>
            </a:r>
            <a:r>
              <a:rPr dirty="0" sz="650" spc="-5">
                <a:latin typeface="Times New Roman"/>
                <a:cs typeface="Times New Roman"/>
              </a:rPr>
              <a:t>0.4</a:t>
            </a:r>
            <a:r>
              <a:rPr dirty="0" sz="650" spc="-5">
                <a:latin typeface="Times New Roman"/>
                <a:cs typeface="Times New Roman"/>
              </a:rPr>
              <a:t>	</a:t>
            </a:r>
            <a:r>
              <a:rPr dirty="0" sz="650" spc="-5">
                <a:latin typeface="Times New Roman"/>
                <a:cs typeface="Times New Roman"/>
              </a:rPr>
              <a:t>0.5</a:t>
            </a:r>
            <a:r>
              <a:rPr dirty="0" sz="650" spc="-5">
                <a:latin typeface="Times New Roman"/>
                <a:cs typeface="Times New Roman"/>
              </a:rPr>
              <a:t>	</a:t>
            </a:r>
            <a:r>
              <a:rPr dirty="0" sz="650" spc="-5">
                <a:latin typeface="Times New Roman"/>
                <a:cs typeface="Times New Roman"/>
              </a:rPr>
              <a:t>0.6</a:t>
            </a:r>
            <a:r>
              <a:rPr dirty="0" sz="650" spc="-5">
                <a:latin typeface="Times New Roman"/>
                <a:cs typeface="Times New Roman"/>
              </a:rPr>
              <a:t>	</a:t>
            </a:r>
            <a:r>
              <a:rPr dirty="0" sz="650" spc="-5">
                <a:latin typeface="Times New Roman"/>
                <a:cs typeface="Times New Roman"/>
              </a:rPr>
              <a:t>0.7</a:t>
            </a:r>
            <a:r>
              <a:rPr dirty="0" sz="650" spc="-5">
                <a:latin typeface="Times New Roman"/>
                <a:cs typeface="Times New Roman"/>
              </a:rPr>
              <a:t>	</a:t>
            </a:r>
            <a:r>
              <a:rPr dirty="0" sz="650" spc="-5">
                <a:latin typeface="Times New Roman"/>
                <a:cs typeface="Times New Roman"/>
              </a:rPr>
              <a:t>0.8</a:t>
            </a:r>
            <a:r>
              <a:rPr dirty="0" sz="650" spc="-5">
                <a:latin typeface="Times New Roman"/>
                <a:cs typeface="Times New Roman"/>
              </a:rPr>
              <a:t>	</a:t>
            </a:r>
            <a:r>
              <a:rPr dirty="0" sz="650" spc="-5">
                <a:latin typeface="Times New Roman"/>
                <a:cs typeface="Times New Roman"/>
              </a:rPr>
              <a:t>0.9</a:t>
            </a:r>
            <a:endParaRPr sz="650">
              <a:latin typeface="Times New Roman"/>
              <a:cs typeface="Times New Roman"/>
            </a:endParaRPr>
          </a:p>
          <a:p>
            <a:pPr algn="ctr">
              <a:lnSpc>
                <a:spcPts val="775"/>
              </a:lnSpc>
            </a:pPr>
            <a:r>
              <a:rPr dirty="0" sz="700" spc="15" i="1"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65369" y="1215890"/>
            <a:ext cx="131445" cy="266065"/>
          </a:xfrm>
          <a:prstGeom prst="rect">
            <a:avLst/>
          </a:prstGeom>
        </p:spPr>
        <p:txBody>
          <a:bodyPr wrap="square" lIns="0" tIns="825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700" spc="5">
                <a:latin typeface="Times New Roman"/>
                <a:cs typeface="Times New Roman"/>
              </a:rPr>
              <a:t>| </a:t>
            </a:r>
            <a:r>
              <a:rPr dirty="0" sz="700" spc="15" i="1">
                <a:latin typeface="Times New Roman"/>
                <a:cs typeface="Times New Roman"/>
              </a:rPr>
              <a:t>E </a:t>
            </a:r>
            <a:r>
              <a:rPr dirty="0" sz="700" spc="5">
                <a:latin typeface="Times New Roman"/>
                <a:cs typeface="Times New Roman"/>
              </a:rPr>
              <a:t>|</a:t>
            </a:r>
            <a:r>
              <a:rPr dirty="0" sz="700" spc="-85">
                <a:latin typeface="Times New Roman"/>
                <a:cs typeface="Times New Roman"/>
              </a:rPr>
              <a:t> </a:t>
            </a:r>
            <a:r>
              <a:rPr dirty="0" sz="700" spc="25">
                <a:latin typeface="Times New Roman"/>
                <a:cs typeface="Times New Roman"/>
              </a:rPr>
              <a:t>%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820035" y="1317167"/>
            <a:ext cx="3835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15" i="1">
                <a:latin typeface="Times New Roman"/>
                <a:cs typeface="Times New Roman"/>
              </a:rPr>
              <a:t>T </a:t>
            </a:r>
            <a:r>
              <a:rPr dirty="0" sz="700" spc="15">
                <a:latin typeface="Times New Roman"/>
                <a:cs typeface="Times New Roman"/>
              </a:rPr>
              <a:t>=</a:t>
            </a:r>
            <a:r>
              <a:rPr dirty="0" sz="700" spc="-80">
                <a:latin typeface="Times New Roman"/>
                <a:cs typeface="Times New Roman"/>
              </a:rPr>
              <a:t> </a:t>
            </a:r>
            <a:r>
              <a:rPr dirty="0" sz="700" spc="10">
                <a:latin typeface="Times New Roman"/>
                <a:cs typeface="Times New Roman"/>
              </a:rPr>
              <a:t>0.368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826324" y="1099908"/>
            <a:ext cx="387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15" i="1">
                <a:latin typeface="Times New Roman"/>
                <a:cs typeface="Times New Roman"/>
              </a:rPr>
              <a:t>A </a:t>
            </a:r>
            <a:r>
              <a:rPr dirty="0" sz="700" spc="15">
                <a:latin typeface="Times New Roman"/>
                <a:cs typeface="Times New Roman"/>
              </a:rPr>
              <a:t>=</a:t>
            </a:r>
            <a:r>
              <a:rPr dirty="0" sz="700" spc="-80">
                <a:latin typeface="Times New Roman"/>
                <a:cs typeface="Times New Roman"/>
              </a:rPr>
              <a:t> </a:t>
            </a:r>
            <a:r>
              <a:rPr dirty="0" sz="700" spc="10">
                <a:latin typeface="Times New Roman"/>
                <a:cs typeface="Times New Roman"/>
              </a:rPr>
              <a:t>0.434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070802" y="1548095"/>
            <a:ext cx="0" cy="452120"/>
          </a:xfrm>
          <a:custGeom>
            <a:avLst/>
            <a:gdLst/>
            <a:ahLst/>
            <a:cxnLst/>
            <a:rect l="l" t="t" r="r" b="b"/>
            <a:pathLst>
              <a:path w="0" h="452119">
                <a:moveTo>
                  <a:pt x="0" y="0"/>
                </a:moveTo>
                <a:lnTo>
                  <a:pt x="0" y="451948"/>
                </a:lnTo>
              </a:path>
            </a:pathLst>
          </a:custGeom>
          <a:ln w="116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049028" y="1979720"/>
            <a:ext cx="43815" cy="58419"/>
          </a:xfrm>
          <a:custGeom>
            <a:avLst/>
            <a:gdLst/>
            <a:ahLst/>
            <a:cxnLst/>
            <a:rect l="l" t="t" r="r" b="b"/>
            <a:pathLst>
              <a:path w="43814" h="58419">
                <a:moveTo>
                  <a:pt x="0" y="0"/>
                </a:moveTo>
                <a:lnTo>
                  <a:pt x="21774" y="58065"/>
                </a:lnTo>
                <a:lnTo>
                  <a:pt x="35928" y="20322"/>
                </a:lnTo>
                <a:lnTo>
                  <a:pt x="21774" y="20322"/>
                </a:lnTo>
                <a:lnTo>
                  <a:pt x="0" y="0"/>
                </a:lnTo>
                <a:close/>
              </a:path>
              <a:path w="43814" h="58419">
                <a:moveTo>
                  <a:pt x="43549" y="0"/>
                </a:moveTo>
                <a:lnTo>
                  <a:pt x="21774" y="20322"/>
                </a:lnTo>
                <a:lnTo>
                  <a:pt x="35928" y="20322"/>
                </a:lnTo>
                <a:lnTo>
                  <a:pt x="43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1196505" y="2749346"/>
            <a:ext cx="22155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4:</a:t>
            </a:r>
            <a:r>
              <a:rPr dirty="0" sz="1000" spc="-2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浓度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相对误差</a:t>
            </a:r>
            <a:r>
              <a:rPr dirty="0" sz="1050" spc="-10">
                <a:latin typeface="Arial Unicode MS"/>
                <a:cs typeface="Arial Unicode MS"/>
              </a:rPr>
              <a:t>与</a:t>
            </a:r>
            <a:r>
              <a:rPr dirty="0" sz="1050" spc="-5">
                <a:latin typeface="Arial Unicode MS"/>
                <a:cs typeface="Arial Unicode MS"/>
              </a:rPr>
              <a:t>透光度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关系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0" name="object 8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239712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9.4</a:t>
            </a:r>
            <a:r>
              <a:rPr dirty="0" sz="1400" spc="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吸光光度法的仪器结构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4006" y="1378944"/>
            <a:ext cx="2880041" cy="262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29359" y="1807870"/>
            <a:ext cx="194945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35">
                <a:solidFill>
                  <a:srgbClr val="3333B2"/>
                </a:solidFill>
                <a:latin typeface="Georgia"/>
                <a:cs typeface="Georgia"/>
              </a:rPr>
              <a:t>5:</a:t>
            </a:r>
            <a:r>
              <a:rPr dirty="0" sz="1000" spc="16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分光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度计基</a:t>
            </a:r>
            <a:r>
              <a:rPr dirty="0" sz="1050" spc="-10">
                <a:latin typeface="Arial Unicode MS"/>
                <a:cs typeface="Arial Unicode MS"/>
              </a:rPr>
              <a:t>本</a:t>
            </a:r>
            <a:r>
              <a:rPr dirty="0" sz="1050" spc="-5">
                <a:latin typeface="Arial Unicode MS"/>
                <a:cs typeface="Arial Unicode MS"/>
              </a:rPr>
              <a:t>结构示</a:t>
            </a:r>
            <a:r>
              <a:rPr dirty="0" sz="1050" spc="-10">
                <a:latin typeface="Arial Unicode MS"/>
                <a:cs typeface="Arial Unicode MS"/>
              </a:rPr>
              <a:t>意</a:t>
            </a:r>
            <a:r>
              <a:rPr dirty="0" sz="1050" spc="-5">
                <a:latin typeface="Arial Unicode MS"/>
                <a:cs typeface="Arial Unicode MS"/>
              </a:rPr>
              <a:t>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2914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光源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995324"/>
            <a:ext cx="259651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分光光度计中常用的光源可分为两</a:t>
            </a:r>
            <a:r>
              <a:rPr dirty="0" spc="-90"/>
              <a:t>类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/>
          <p:nvPr/>
        </p:nvSpPr>
        <p:spPr>
          <a:xfrm>
            <a:off x="222846" y="1327413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3122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53" y="1215479"/>
            <a:ext cx="409067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热辐射光</a:t>
            </a:r>
            <a:r>
              <a:rPr dirty="0" sz="1200" spc="-5">
                <a:latin typeface="Arial Unicode MS"/>
                <a:cs typeface="Arial Unicode MS"/>
              </a:rPr>
              <a:t>源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09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其波长范围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90">
                <a:latin typeface="Georgia"/>
                <a:cs typeface="Georgia"/>
              </a:rPr>
              <a:t>340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95">
                <a:latin typeface="Georgia"/>
                <a:cs typeface="Georgia"/>
              </a:rPr>
              <a:t>2500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40">
                <a:latin typeface="Georgia"/>
                <a:cs typeface="Georgia"/>
              </a:rPr>
              <a:t>nm</a:t>
            </a:r>
            <a:r>
              <a:rPr dirty="0" sz="1200" spc="-14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如钨灯和碘钨</a:t>
            </a:r>
            <a:r>
              <a:rPr dirty="0" sz="1200" spc="-5">
                <a:latin typeface="Arial Unicode MS"/>
                <a:cs typeface="Arial Unicode MS"/>
              </a:rPr>
              <a:t>灯 </a:t>
            </a:r>
            <a:r>
              <a:rPr dirty="0" sz="1200" spc="-80">
                <a:latin typeface="Arial Unicode MS"/>
                <a:cs typeface="Arial Unicode MS"/>
              </a:rPr>
              <a:t>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可用于可见光区</a:t>
            </a:r>
            <a:r>
              <a:rPr dirty="0" sz="1200" spc="-65">
                <a:latin typeface="Arial Unicode MS"/>
                <a:cs typeface="Arial Unicode MS"/>
              </a:rPr>
              <a:t>域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1812756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179760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700834"/>
            <a:ext cx="4306570" cy="958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13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气体放电光源</a:t>
            </a:r>
            <a:r>
              <a:rPr dirty="0" sz="1200" spc="40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</a:t>
            </a:r>
            <a:r>
              <a:rPr dirty="0" sz="1100" spc="43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其波长范围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45">
                <a:latin typeface="Georgia"/>
                <a:cs typeface="Georgia"/>
              </a:rPr>
              <a:t>160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375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25">
                <a:latin typeface="Georgia"/>
                <a:cs typeface="Georgia"/>
              </a:rPr>
              <a:t>nm</a:t>
            </a:r>
            <a:r>
              <a:rPr dirty="0" sz="1200" spc="-1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如氢灯和氘灯 </a:t>
            </a:r>
            <a:r>
              <a:rPr dirty="0" sz="1200" spc="-80">
                <a:latin typeface="Arial Unicode MS"/>
                <a:cs typeface="Arial Unicode MS"/>
              </a:rPr>
              <a:t>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常用于紫外光</a:t>
            </a:r>
            <a:r>
              <a:rPr dirty="0" sz="1200" spc="-20">
                <a:latin typeface="Arial Unicode MS"/>
                <a:cs typeface="Arial Unicode MS"/>
              </a:rPr>
              <a:t>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由于受石英窗吸收的限</a:t>
            </a:r>
            <a:r>
              <a:rPr dirty="0" sz="1200" spc="-80">
                <a:latin typeface="Arial Unicode MS"/>
                <a:cs typeface="Arial Unicode MS"/>
              </a:rPr>
              <a:t>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通常紫外光区波长的有效范围一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般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10">
                <a:latin typeface="Georgia"/>
                <a:cs typeface="Georgia"/>
              </a:rPr>
              <a:t>200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375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nm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单色器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815492"/>
            <a:ext cx="4336415" cy="13677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65405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单色器是从光源的发出的复合光中分出单色光的光学装</a:t>
            </a:r>
            <a:r>
              <a:rPr dirty="0" spc="-20"/>
              <a:t>置</a:t>
            </a:r>
            <a:r>
              <a:rPr dirty="0" spc="-5"/>
              <a:t>。 </a:t>
            </a:r>
            <a:r>
              <a:rPr dirty="0" spc="-5"/>
              <a:t>单色器的性能直接影响出射光的单色</a:t>
            </a:r>
            <a:r>
              <a:rPr dirty="0" spc="-80"/>
              <a:t>性</a:t>
            </a:r>
            <a:r>
              <a:rPr dirty="0" spc="-185"/>
              <a:t>，</a:t>
            </a:r>
            <a:r>
              <a:rPr dirty="0" spc="-5"/>
              <a:t>从而也影响到测定的灵 敏</a:t>
            </a:r>
            <a:r>
              <a:rPr dirty="0" spc="15"/>
              <a:t>度</a:t>
            </a:r>
            <a:r>
              <a:rPr dirty="0" spc="-270"/>
              <a:t>、</a:t>
            </a:r>
            <a:r>
              <a:rPr dirty="0" spc="-5"/>
              <a:t>选择性及校准曲线的线性关系</a:t>
            </a:r>
            <a:r>
              <a:rPr dirty="0" spc="-20"/>
              <a:t>等</a:t>
            </a:r>
            <a:r>
              <a:rPr dirty="0" spc="-5"/>
              <a:t>。</a:t>
            </a:r>
          </a:p>
          <a:p>
            <a:pPr marL="12700" marR="5080" indent="303530">
              <a:lnSpc>
                <a:spcPct val="122300"/>
              </a:lnSpc>
            </a:pPr>
            <a:r>
              <a:rPr dirty="0" spc="-5"/>
              <a:t>单色器通常由入射狭</a:t>
            </a:r>
            <a:r>
              <a:rPr dirty="0" spc="15"/>
              <a:t>缝</a:t>
            </a:r>
            <a:r>
              <a:rPr dirty="0" spc="-270"/>
              <a:t>、</a:t>
            </a:r>
            <a:r>
              <a:rPr dirty="0" spc="-5"/>
              <a:t>准光</a:t>
            </a:r>
            <a:r>
              <a:rPr dirty="0" spc="-260"/>
              <a:t>器</a:t>
            </a:r>
            <a:r>
              <a:rPr dirty="0" spc="-5"/>
              <a:t>（使入射光变成平行</a:t>
            </a:r>
            <a:r>
              <a:rPr dirty="0" spc="30"/>
              <a:t>光</a:t>
            </a:r>
            <a:r>
              <a:rPr dirty="0" spc="-615"/>
              <a:t>）</a:t>
            </a:r>
            <a:r>
              <a:rPr dirty="0" spc="-270"/>
              <a:t>、</a:t>
            </a:r>
            <a:r>
              <a:rPr dirty="0" spc="-5"/>
              <a:t>色 </a:t>
            </a:r>
            <a:r>
              <a:rPr dirty="0" spc="-5"/>
              <a:t>散元</a:t>
            </a:r>
            <a:r>
              <a:rPr dirty="0" spc="15"/>
              <a:t>件</a:t>
            </a:r>
            <a:r>
              <a:rPr dirty="0" spc="-270"/>
              <a:t>、</a:t>
            </a:r>
            <a:r>
              <a:rPr dirty="0" spc="-5"/>
              <a:t>聚焦元件和出射狭缝五个部分组</a:t>
            </a:r>
            <a:r>
              <a:rPr dirty="0" spc="-20"/>
              <a:t>成</a:t>
            </a:r>
            <a:r>
              <a:rPr dirty="0" spc="-235"/>
              <a:t>。</a:t>
            </a:r>
            <a:r>
              <a:rPr dirty="0" spc="-5"/>
              <a:t>其</a:t>
            </a:r>
            <a:r>
              <a:rPr dirty="0" spc="-80"/>
              <a:t>中</a:t>
            </a:r>
            <a:r>
              <a:rPr dirty="0" spc="-185"/>
              <a:t>，</a:t>
            </a:r>
            <a:r>
              <a:rPr dirty="0" spc="-5"/>
              <a:t>色散元件起了 </a:t>
            </a:r>
            <a:r>
              <a:rPr dirty="0" spc="-5"/>
              <a:t>关键的作</a:t>
            </a:r>
            <a:r>
              <a:rPr dirty="0" spc="-80"/>
              <a:t>用</a:t>
            </a:r>
            <a:r>
              <a:rPr dirty="0" spc="-185"/>
              <a:t>，</a:t>
            </a:r>
            <a:r>
              <a:rPr dirty="0" spc="-5"/>
              <a:t>它把复合光分解为单色</a:t>
            </a:r>
            <a:r>
              <a:rPr dirty="0" spc="-20"/>
              <a:t>光</a:t>
            </a:r>
            <a:r>
              <a:rPr dirty="0" spc="-5"/>
              <a:t>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856" y="2157679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出射狭缝也起着重要作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它决定了获得的谱带的宽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狭</a:t>
            </a:r>
            <a:r>
              <a:rPr dirty="0" sz="1200" spc="-5">
                <a:latin typeface="Arial Unicode MS"/>
                <a:cs typeface="Arial Unicode MS"/>
              </a:rPr>
              <a:t>缝 </a:t>
            </a:r>
            <a:r>
              <a:rPr dirty="0" sz="1200" spc="-5">
                <a:latin typeface="Arial Unicode MS"/>
                <a:cs typeface="Arial Unicode MS"/>
              </a:rPr>
              <a:t>宽度过大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谱带宽度太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入射光单色性</a:t>
            </a:r>
            <a:r>
              <a:rPr dirty="0" sz="1200" spc="-80">
                <a:latin typeface="Arial Unicode MS"/>
                <a:cs typeface="Arial Unicode MS"/>
              </a:rPr>
              <a:t>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狭缝宽度过小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，  又会减弱光</a:t>
            </a:r>
            <a:r>
              <a:rPr dirty="0" sz="1200" spc="-80">
                <a:latin typeface="Arial Unicode MS"/>
                <a:cs typeface="Arial Unicode MS"/>
              </a:rPr>
              <a:t>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使信背比不</a:t>
            </a:r>
            <a:r>
              <a:rPr dirty="0" sz="1200" spc="-20">
                <a:latin typeface="Arial Unicode MS"/>
                <a:cs typeface="Arial Unicode MS"/>
              </a:rPr>
              <a:t>足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006" y="187517"/>
            <a:ext cx="2879934" cy="2500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95056" y="2855226"/>
            <a:ext cx="14179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6:</a:t>
            </a:r>
            <a:r>
              <a:rPr dirty="0" sz="1000" spc="-2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单色器的</a:t>
            </a:r>
            <a:r>
              <a:rPr dirty="0" sz="1050" spc="-10">
                <a:latin typeface="Arial Unicode MS"/>
                <a:cs typeface="Arial Unicode MS"/>
              </a:rPr>
              <a:t>一</a:t>
            </a:r>
            <a:r>
              <a:rPr dirty="0" sz="1050" spc="-5">
                <a:latin typeface="Arial Unicode MS"/>
                <a:cs typeface="Arial Unicode MS"/>
              </a:rPr>
              <a:t>般结构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555688"/>
            <a:ext cx="4356735" cy="19538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玻璃棱镜只适用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-80">
                <a:latin typeface="Georgia"/>
                <a:cs typeface="Georgia"/>
              </a:rPr>
              <a:t>350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100">
                <a:latin typeface="Georgia"/>
                <a:cs typeface="Georgia"/>
              </a:rPr>
              <a:t>3200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nm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的可见和近红外光区波长范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石英棱镜适用的波长范围较</a:t>
            </a:r>
            <a:r>
              <a:rPr dirty="0" sz="1200" spc="-80">
                <a:latin typeface="Arial Unicode MS"/>
                <a:cs typeface="Arial Unicode MS"/>
              </a:rPr>
              <a:t>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5">
                <a:latin typeface="Georgia"/>
                <a:cs typeface="Georgia"/>
              </a:rPr>
              <a:t>185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120">
                <a:latin typeface="Georgia"/>
                <a:cs typeface="Georgia"/>
              </a:rPr>
              <a:t>4000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25">
                <a:latin typeface="Georgia"/>
                <a:cs typeface="Georgia"/>
              </a:rPr>
              <a:t>nm</a:t>
            </a:r>
            <a:r>
              <a:rPr dirty="0" sz="1200" spc="-1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可用于紫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15">
                <a:latin typeface="Arial Unicode MS"/>
                <a:cs typeface="Arial Unicode MS"/>
              </a:rPr>
              <a:t>外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15">
                <a:latin typeface="Arial Unicode MS"/>
                <a:cs typeface="Arial Unicode MS"/>
              </a:rPr>
              <a:t>见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红外三个光谱区</a:t>
            </a:r>
            <a:r>
              <a:rPr dirty="0" sz="1200" spc="-20">
                <a:latin typeface="Arial Unicode MS"/>
                <a:cs typeface="Arial Unicode MS"/>
              </a:rPr>
              <a:t>域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12700" marR="5080" indent="303530">
              <a:lnSpc>
                <a:spcPct val="122300"/>
              </a:lnSpc>
            </a:pPr>
            <a:r>
              <a:rPr dirty="0" sz="1200" spc="-10">
                <a:latin typeface="Arial Unicode MS"/>
                <a:cs typeface="Arial Unicode MS"/>
              </a:rPr>
              <a:t>光栅依据的是光的衍射和干涉作用原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可用于紫</a:t>
            </a:r>
            <a:r>
              <a:rPr dirty="0" sz="1200" spc="15">
                <a:latin typeface="Arial Unicode MS"/>
                <a:cs typeface="Arial Unicode MS"/>
              </a:rPr>
              <a:t>外</a:t>
            </a:r>
            <a:r>
              <a:rPr dirty="0" sz="1200" spc="-290">
                <a:latin typeface="Arial Unicode MS"/>
                <a:cs typeface="Arial Unicode MS"/>
              </a:rPr>
              <a:t>、</a:t>
            </a:r>
            <a:r>
              <a:rPr dirty="0" sz="1200" spc="-10">
                <a:latin typeface="Arial Unicode MS"/>
                <a:cs typeface="Arial Unicode MS"/>
              </a:rPr>
              <a:t>可见</a:t>
            </a:r>
            <a:r>
              <a:rPr dirty="0" sz="1200" spc="-5">
                <a:latin typeface="Arial Unicode MS"/>
                <a:cs typeface="Arial Unicode MS"/>
              </a:rPr>
              <a:t>和 </a:t>
            </a:r>
            <a:r>
              <a:rPr dirty="0" sz="1200" spc="-10">
                <a:latin typeface="Arial Unicode MS"/>
                <a:cs typeface="Arial Unicode MS"/>
              </a:rPr>
              <a:t>近红外光谱区</a:t>
            </a:r>
            <a:r>
              <a:rPr dirty="0" sz="1200" spc="-20">
                <a:latin typeface="Arial Unicode MS"/>
                <a:cs typeface="Arial Unicode MS"/>
              </a:rPr>
              <a:t>域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光栅在整个波长区域中具有良好</a:t>
            </a:r>
            <a:r>
              <a:rPr dirty="0" sz="1200" spc="15">
                <a:latin typeface="Arial Unicode MS"/>
                <a:cs typeface="Arial Unicode MS"/>
              </a:rPr>
              <a:t>的</a:t>
            </a:r>
            <a:r>
              <a:rPr dirty="0" sz="1200" spc="-290">
                <a:latin typeface="Arial Unicode MS"/>
                <a:cs typeface="Arial Unicode MS"/>
              </a:rPr>
              <a:t>、</a:t>
            </a:r>
            <a:r>
              <a:rPr dirty="0" sz="1200" spc="-10">
                <a:latin typeface="Arial Unicode MS"/>
                <a:cs typeface="Arial Unicode MS"/>
              </a:rPr>
              <a:t>几乎均匀</a:t>
            </a:r>
            <a:r>
              <a:rPr dirty="0" sz="1200" spc="-5">
                <a:latin typeface="Arial Unicode MS"/>
                <a:cs typeface="Arial Unicode MS"/>
              </a:rPr>
              <a:t>一 </a:t>
            </a:r>
            <a:r>
              <a:rPr dirty="0" sz="1200" spc="-5">
                <a:latin typeface="Arial Unicode MS"/>
                <a:cs typeface="Arial Unicode MS"/>
              </a:rPr>
              <a:t>致的色散</a:t>
            </a:r>
            <a:r>
              <a:rPr dirty="0" sz="1200" spc="-80">
                <a:latin typeface="Arial Unicode MS"/>
                <a:cs typeface="Arial Unicode MS"/>
              </a:rPr>
              <a:t>率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且具有适用波长范围</a:t>
            </a:r>
            <a:r>
              <a:rPr dirty="0" sz="1200" spc="15">
                <a:latin typeface="Arial Unicode MS"/>
                <a:cs typeface="Arial Unicode MS"/>
              </a:rPr>
              <a:t>宽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分辨率</a:t>
            </a:r>
            <a:r>
              <a:rPr dirty="0" sz="1200" spc="15">
                <a:latin typeface="Arial Unicode MS"/>
                <a:cs typeface="Arial Unicode MS"/>
              </a:rPr>
              <a:t>高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成本</a:t>
            </a:r>
            <a:r>
              <a:rPr dirty="0" sz="1200" spc="15">
                <a:latin typeface="Arial Unicode MS"/>
                <a:cs typeface="Arial Unicode MS"/>
              </a:rPr>
              <a:t>低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便于保 </a:t>
            </a:r>
            <a:r>
              <a:rPr dirty="0" sz="1200" spc="-10">
                <a:latin typeface="Arial Unicode MS"/>
                <a:cs typeface="Arial Unicode MS"/>
              </a:rPr>
              <a:t>存和易于制作等优</a:t>
            </a:r>
            <a:r>
              <a:rPr dirty="0" sz="1200" spc="-80">
                <a:latin typeface="Arial Unicode MS"/>
                <a:cs typeface="Arial Unicode MS"/>
              </a:rPr>
              <a:t>点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是目前应用最多的色散元</a:t>
            </a:r>
            <a:r>
              <a:rPr dirty="0" sz="1200" spc="-20">
                <a:latin typeface="Arial Unicode MS"/>
                <a:cs typeface="Arial Unicode MS"/>
              </a:rPr>
              <a:t>件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其缺点是不</a:t>
            </a:r>
            <a:r>
              <a:rPr dirty="0" sz="1200" spc="-5">
                <a:latin typeface="Arial Unicode MS"/>
                <a:cs typeface="Arial Unicode MS"/>
              </a:rPr>
              <a:t>同 </a:t>
            </a:r>
            <a:r>
              <a:rPr dirty="0" sz="1200" spc="-5">
                <a:latin typeface="Arial Unicode MS"/>
                <a:cs typeface="Arial Unicode MS"/>
              </a:rPr>
              <a:t>级的光谱之间会重叠而产生干</a:t>
            </a:r>
            <a:r>
              <a:rPr dirty="0" sz="1200" spc="-20">
                <a:latin typeface="Arial Unicode MS"/>
                <a:cs typeface="Arial Unicode MS"/>
              </a:rPr>
              <a:t>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吸收池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吸收池用于盛放试样溶</a:t>
            </a:r>
            <a:r>
              <a:rPr dirty="0" spc="-20"/>
              <a:t>液</a:t>
            </a:r>
            <a:r>
              <a:rPr dirty="0" spc="-235"/>
              <a:t>。</a:t>
            </a:r>
            <a:r>
              <a:rPr dirty="0" spc="-5"/>
              <a:t>吸收池一般有玻璃和石英两个材 </a:t>
            </a:r>
            <a:r>
              <a:rPr dirty="0" spc="-10"/>
              <a:t>料做</a:t>
            </a:r>
            <a:r>
              <a:rPr dirty="0" spc="-80"/>
              <a:t>成</a:t>
            </a:r>
            <a:r>
              <a:rPr dirty="0" spc="-204"/>
              <a:t>，</a:t>
            </a:r>
            <a:r>
              <a:rPr dirty="0" spc="-10"/>
              <a:t>玻璃池只能用于可见光</a:t>
            </a:r>
            <a:r>
              <a:rPr dirty="0" spc="-80"/>
              <a:t>区</a:t>
            </a:r>
            <a:r>
              <a:rPr dirty="0" spc="-204"/>
              <a:t>，</a:t>
            </a:r>
            <a:r>
              <a:rPr dirty="0" spc="-10"/>
              <a:t>而石英池可用于可见光区及</a:t>
            </a:r>
            <a:r>
              <a:rPr dirty="0" spc="-5"/>
              <a:t>紫 </a:t>
            </a:r>
            <a:r>
              <a:rPr dirty="0" spc="-5"/>
              <a:t>外光</a:t>
            </a:r>
            <a:r>
              <a:rPr dirty="0" spc="-20"/>
              <a:t>区</a:t>
            </a:r>
            <a:r>
              <a:rPr dirty="0" spc="-5"/>
              <a:t>。</a:t>
            </a:r>
          </a:p>
          <a:p>
            <a:pPr algn="just" marL="12700" marR="5080" indent="303530">
              <a:lnSpc>
                <a:spcPct val="122300"/>
              </a:lnSpc>
            </a:pPr>
            <a:r>
              <a:rPr dirty="0" spc="-10"/>
              <a:t>吸收池通常随仪器配</a:t>
            </a:r>
            <a:r>
              <a:rPr dirty="0" spc="-80"/>
              <a:t>给</a:t>
            </a:r>
            <a:r>
              <a:rPr dirty="0" spc="-204"/>
              <a:t>，</a:t>
            </a:r>
            <a:r>
              <a:rPr dirty="0" spc="-10"/>
              <a:t>其规格从几毫米到几厘米不</a:t>
            </a:r>
            <a:r>
              <a:rPr dirty="0" spc="-80"/>
              <a:t>等</a:t>
            </a:r>
            <a:r>
              <a:rPr dirty="0" spc="-204"/>
              <a:t>，</a:t>
            </a:r>
            <a:r>
              <a:rPr dirty="0" spc="-10"/>
              <a:t>最</a:t>
            </a:r>
            <a:r>
              <a:rPr dirty="0" spc="-5"/>
              <a:t>常 </a:t>
            </a:r>
            <a:r>
              <a:rPr dirty="0" spc="-5"/>
              <a:t>用的是</a:t>
            </a:r>
            <a:r>
              <a:rPr dirty="0" spc="-10"/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pc="-5"/>
              <a:t>厘米的吸收</a:t>
            </a:r>
            <a:r>
              <a:rPr dirty="0" spc="-20"/>
              <a:t>池</a:t>
            </a:r>
            <a:r>
              <a:rPr dirty="0" spc="-235"/>
              <a:t>。</a:t>
            </a:r>
            <a:r>
              <a:rPr dirty="0" spc="-5"/>
              <a:t>在高精度分析测定</a:t>
            </a:r>
            <a:r>
              <a:rPr dirty="0" spc="-80"/>
              <a:t>中</a:t>
            </a:r>
            <a:r>
              <a:rPr dirty="0" spc="-185"/>
              <a:t>，</a:t>
            </a:r>
            <a:r>
              <a:rPr dirty="0" spc="-5"/>
              <a:t>吸收池要配</a:t>
            </a:r>
            <a:r>
              <a:rPr dirty="0" spc="-80"/>
              <a:t>对</a:t>
            </a:r>
            <a:r>
              <a:rPr dirty="0" spc="-185"/>
              <a:t>，</a:t>
            </a:r>
            <a:r>
              <a:rPr dirty="0" spc="-5"/>
              <a:t>使 盛放标准溶液与未知样品的吸收池有基本一致的吸光</a:t>
            </a:r>
            <a:r>
              <a:rPr dirty="0" spc="-20"/>
              <a:t>度</a:t>
            </a:r>
            <a:r>
              <a:rPr dirty="0" spc="-5"/>
              <a:t>。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56" y="2250630"/>
            <a:ext cx="42449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吸收池在放置时应使其光学面严格垂直于光束方</a:t>
            </a:r>
            <a:r>
              <a:rPr dirty="0" sz="1200" spc="-80">
                <a:latin typeface="Arial Unicode MS"/>
                <a:cs typeface="Arial Unicode MS"/>
              </a:rPr>
              <a:t>向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以减少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光的反射损</a:t>
            </a:r>
            <a:r>
              <a:rPr dirty="0" sz="1200" spc="-20">
                <a:latin typeface="Arial Unicode MS"/>
                <a:cs typeface="Arial Unicode MS"/>
              </a:rPr>
              <a:t>失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检测器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679970"/>
            <a:ext cx="426910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检测器的作用是将光信号转换为电信</a:t>
            </a:r>
            <a:r>
              <a:rPr dirty="0" spc="-20"/>
              <a:t>号</a:t>
            </a:r>
            <a:r>
              <a:rPr dirty="0" spc="-235"/>
              <a:t>。</a:t>
            </a:r>
            <a:r>
              <a:rPr dirty="0" spc="-5"/>
              <a:t>在测量的光谱范围 </a:t>
            </a:r>
            <a:r>
              <a:rPr dirty="0" spc="-80"/>
              <a:t>内</a:t>
            </a:r>
            <a:r>
              <a:rPr dirty="0" spc="-185"/>
              <a:t>，</a:t>
            </a:r>
            <a:r>
              <a:rPr dirty="0" spc="-5"/>
              <a:t>检测器应灵敏度</a:t>
            </a:r>
            <a:r>
              <a:rPr dirty="0" spc="-80"/>
              <a:t>高</a:t>
            </a:r>
            <a:r>
              <a:rPr dirty="0" spc="-185"/>
              <a:t>，</a:t>
            </a:r>
            <a:r>
              <a:rPr dirty="0" spc="-5"/>
              <a:t>响应</a:t>
            </a:r>
            <a:r>
              <a:rPr dirty="0" spc="-80"/>
              <a:t>快</a:t>
            </a:r>
            <a:r>
              <a:rPr dirty="0" spc="-185"/>
              <a:t>，</a:t>
            </a:r>
            <a:r>
              <a:rPr dirty="0" spc="-5"/>
              <a:t>线性范围</a:t>
            </a:r>
            <a:r>
              <a:rPr dirty="0" spc="-80"/>
              <a:t>宽</a:t>
            </a:r>
            <a:r>
              <a:rPr dirty="0" spc="-185"/>
              <a:t>，</a:t>
            </a:r>
            <a:r>
              <a:rPr dirty="0" spc="-5"/>
              <a:t>稳定性</a:t>
            </a:r>
            <a:r>
              <a:rPr dirty="0" spc="-80"/>
              <a:t>好</a:t>
            </a:r>
            <a:r>
              <a:rPr dirty="0" spc="-185"/>
              <a:t>，</a:t>
            </a:r>
            <a:r>
              <a:rPr dirty="0" spc="-5"/>
              <a:t>啋音水 </a:t>
            </a:r>
            <a:r>
              <a:rPr dirty="0" spc="-5"/>
              <a:t>平</a:t>
            </a:r>
            <a:r>
              <a:rPr dirty="0" spc="-80"/>
              <a:t>低</a:t>
            </a:r>
            <a:r>
              <a:rPr dirty="0" spc="-185"/>
              <a:t>，</a:t>
            </a:r>
            <a:r>
              <a:rPr dirty="0" spc="-5"/>
              <a:t>对不同波长的辐射响应性能相同且可</a:t>
            </a:r>
            <a:r>
              <a:rPr dirty="0" spc="-20"/>
              <a:t>靠</a:t>
            </a:r>
            <a:r>
              <a:rPr dirty="0" spc="-5"/>
              <a:t>。</a:t>
            </a:r>
          </a:p>
        </p:txBody>
      </p:sp>
      <p:sp>
        <p:nvSpPr>
          <p:cNvPr id="4" name="object 4"/>
          <p:cNvSpPr/>
          <p:nvPr/>
        </p:nvSpPr>
        <p:spPr>
          <a:xfrm>
            <a:off x="1044003" y="1526113"/>
            <a:ext cx="2519941" cy="9402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62201" y="2633040"/>
            <a:ext cx="16840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20">
                <a:solidFill>
                  <a:srgbClr val="3333B2"/>
                </a:solidFill>
                <a:latin typeface="Georgia"/>
                <a:cs typeface="Georgia"/>
              </a:rPr>
              <a:t>7:</a:t>
            </a:r>
            <a:r>
              <a:rPr dirty="0" sz="1000" spc="15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电倍增管</a:t>
            </a:r>
            <a:r>
              <a:rPr dirty="0" sz="1050" spc="-10">
                <a:latin typeface="Arial Unicode MS"/>
                <a:cs typeface="Arial Unicode MS"/>
              </a:rPr>
              <a:t>工</a:t>
            </a:r>
            <a:r>
              <a:rPr dirty="0" sz="1050" spc="-5">
                <a:latin typeface="Arial Unicode MS"/>
                <a:cs typeface="Arial Unicode MS"/>
              </a:rPr>
              <a:t>作原理图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229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信号显示</a:t>
            </a:r>
            <a:r>
              <a:rPr dirty="0" sz="1050" spc="-10">
                <a:solidFill>
                  <a:srgbClr val="FFFFFF"/>
                </a:solidFill>
              </a:rPr>
              <a:t>系</a:t>
            </a:r>
            <a:r>
              <a:rPr dirty="0" sz="1050" spc="-5">
                <a:solidFill>
                  <a:srgbClr val="FFFFFF"/>
                </a:solidFill>
              </a:rPr>
              <a:t>统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1267866"/>
            <a:ext cx="43567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信号显示的作用是以适当的方式显示或记录该信</a:t>
            </a:r>
            <a:r>
              <a:rPr dirty="0" sz="1200" spc="-20">
                <a:latin typeface="Arial Unicode MS"/>
                <a:cs typeface="Arial Unicode MS"/>
              </a:rPr>
              <a:t>号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现代分 </a:t>
            </a:r>
            <a:r>
              <a:rPr dirty="0" sz="1200" spc="-10">
                <a:latin typeface="Arial Unicode MS"/>
                <a:cs typeface="Arial Unicode MS"/>
              </a:rPr>
              <a:t>光光度计通常采用数字电压</a:t>
            </a:r>
            <a:r>
              <a:rPr dirty="0" sz="1200" spc="-80">
                <a:latin typeface="Arial Unicode MS"/>
                <a:cs typeface="Arial Unicode MS"/>
              </a:rPr>
              <a:t>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函数记录</a:t>
            </a:r>
            <a:r>
              <a:rPr dirty="0" sz="1200" spc="-80">
                <a:latin typeface="Arial Unicode MS"/>
                <a:cs typeface="Arial Unicode MS"/>
              </a:rPr>
              <a:t>仪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示波器等来显示或</a:t>
            </a:r>
            <a:r>
              <a:rPr dirty="0" sz="1200" spc="-5">
                <a:latin typeface="Arial Unicode MS"/>
                <a:cs typeface="Arial Unicode MS"/>
              </a:rPr>
              <a:t>记 </a:t>
            </a:r>
            <a:r>
              <a:rPr dirty="0" sz="1200" spc="-5">
                <a:latin typeface="Arial Unicode MS"/>
                <a:cs typeface="Arial Unicode MS"/>
              </a:rPr>
              <a:t>录信</a:t>
            </a:r>
            <a:r>
              <a:rPr dirty="0" sz="1200" spc="-20">
                <a:latin typeface="Arial Unicode MS"/>
                <a:cs typeface="Arial Unicode MS"/>
              </a:rPr>
              <a:t>号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计算机技术的引入使信号显示和记录变得更加容易和有 </a:t>
            </a:r>
            <a:r>
              <a:rPr dirty="0" sz="1200" spc="-20">
                <a:latin typeface="Arial Unicode MS"/>
                <a:cs typeface="Arial Unicode MS"/>
              </a:rPr>
              <a:t>效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331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9.4.2</a:t>
            </a:r>
            <a:r>
              <a:rPr dirty="0" sz="1000" spc="16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分光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度计的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类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38409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4574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907400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1553" y="1205864"/>
            <a:ext cx="1384300" cy="8108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3100"/>
              </a:lnSpc>
              <a:spcBef>
                <a:spcPts val="100"/>
              </a:spcBef>
            </a:pPr>
            <a:r>
              <a:rPr dirty="0" spc="-5"/>
              <a:t>单光束分光光度</a:t>
            </a:r>
            <a:r>
              <a:rPr dirty="0" spc="-65"/>
              <a:t>计</a:t>
            </a:r>
            <a:r>
              <a:rPr dirty="0" spc="-5"/>
              <a:t>； 双光束分光光度</a:t>
            </a:r>
            <a:r>
              <a:rPr dirty="0" spc="-65"/>
              <a:t>计</a:t>
            </a:r>
            <a:r>
              <a:rPr dirty="0" spc="-5"/>
              <a:t>； 双波长分光光度</a:t>
            </a:r>
            <a:r>
              <a:rPr dirty="0" spc="-65"/>
              <a:t>计</a:t>
            </a:r>
            <a:r>
              <a:rPr dirty="0" spc="-5"/>
              <a:t>；</a:t>
            </a:r>
          </a:p>
        </p:txBody>
      </p:sp>
      <p:sp>
        <p:nvSpPr>
          <p:cNvPr id="7" name="object 7"/>
          <p:cNvSpPr/>
          <p:nvPr/>
        </p:nvSpPr>
        <p:spPr>
          <a:xfrm>
            <a:off x="274599" y="216905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1553" y="2083574"/>
            <a:ext cx="372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08839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</a:rPr>
              <a:t>单光束分光</a:t>
            </a:r>
            <a:r>
              <a:rPr dirty="0" sz="1050" spc="-10">
                <a:solidFill>
                  <a:srgbClr val="FFFFFF"/>
                </a:solidFill>
              </a:rPr>
              <a:t>光</a:t>
            </a:r>
            <a:r>
              <a:rPr dirty="0" sz="1050" spc="-5">
                <a:solidFill>
                  <a:srgbClr val="FFFFFF"/>
                </a:solidFill>
              </a:rPr>
              <a:t>度计</a:t>
            </a:r>
            <a:endParaRPr sz="1050"/>
          </a:p>
        </p:txBody>
      </p:sp>
      <p:sp>
        <p:nvSpPr>
          <p:cNvPr id="3" name="object 3"/>
          <p:cNvSpPr txBox="1"/>
          <p:nvPr/>
        </p:nvSpPr>
        <p:spPr>
          <a:xfrm>
            <a:off x="125844" y="865276"/>
            <a:ext cx="433768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单光束分光光度计的光路示意图如下图所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这种简易型分 光光度计结构简</a:t>
            </a:r>
            <a:r>
              <a:rPr dirty="0" sz="1200" spc="-80">
                <a:latin typeface="Arial Unicode MS"/>
                <a:cs typeface="Arial Unicode MS"/>
              </a:rPr>
              <a:t>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操作方</a:t>
            </a:r>
            <a:r>
              <a:rPr dirty="0" sz="1200" spc="-80">
                <a:latin typeface="Arial Unicode MS"/>
                <a:cs typeface="Arial Unicode MS"/>
              </a:rPr>
              <a:t>便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维修容</a:t>
            </a:r>
            <a:r>
              <a:rPr dirty="0" sz="1200" spc="-80">
                <a:latin typeface="Arial Unicode MS"/>
                <a:cs typeface="Arial Unicode MS"/>
              </a:rPr>
              <a:t>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适用于常规分</a:t>
            </a:r>
            <a:r>
              <a:rPr dirty="0" sz="1200" spc="-20">
                <a:latin typeface="Arial Unicode MS"/>
                <a:cs typeface="Arial Unicode MS"/>
              </a:rPr>
              <a:t>析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国 </a:t>
            </a:r>
            <a:r>
              <a:rPr dirty="0" sz="1200" spc="175">
                <a:latin typeface="Arial Unicode MS"/>
                <a:cs typeface="Arial Unicode MS"/>
              </a:rPr>
              <a:t>产</a:t>
            </a:r>
            <a:r>
              <a:rPr dirty="0" sz="1100" spc="-50">
                <a:latin typeface="Georgia"/>
                <a:cs typeface="Georgia"/>
              </a:rPr>
              <a:t>722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英</a:t>
            </a:r>
            <a:r>
              <a:rPr dirty="0" sz="1200" spc="175">
                <a:latin typeface="Arial Unicode MS"/>
                <a:cs typeface="Arial Unicode MS"/>
              </a:rPr>
              <a:t>国</a:t>
            </a:r>
            <a:r>
              <a:rPr dirty="0" sz="1100" spc="-50">
                <a:latin typeface="Georgia"/>
                <a:cs typeface="Georgia"/>
              </a:rPr>
              <a:t>SP500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型以</a:t>
            </a:r>
            <a:r>
              <a:rPr dirty="0" sz="1200" spc="175">
                <a:latin typeface="Arial Unicode MS"/>
                <a:cs typeface="Arial Unicode MS"/>
              </a:rPr>
              <a:t>及</a:t>
            </a:r>
            <a:r>
              <a:rPr dirty="0" sz="1100" spc="-20">
                <a:latin typeface="Georgia"/>
                <a:cs typeface="Georgia"/>
              </a:rPr>
              <a:t>Backman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DU</a:t>
            </a:r>
            <a:r>
              <a:rPr dirty="0" sz="1200" spc="-30">
                <a:latin typeface="Arial Unicode MS"/>
                <a:cs typeface="Arial Unicode MS"/>
              </a:rPr>
              <a:t>－</a:t>
            </a:r>
            <a:r>
              <a:rPr dirty="0" sz="1100" spc="-30">
                <a:latin typeface="Georgia"/>
                <a:cs typeface="Georgia"/>
              </a:rPr>
              <a:t>8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型等均属于此类光度 </a:t>
            </a:r>
            <a:r>
              <a:rPr dirty="0" sz="1200" spc="-20">
                <a:latin typeface="Arial Unicode MS"/>
                <a:cs typeface="Arial Unicode MS"/>
              </a:rPr>
              <a:t>计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4006" y="1929210"/>
            <a:ext cx="2880041" cy="262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29359" y="2358136"/>
            <a:ext cx="194945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70">
                <a:solidFill>
                  <a:srgbClr val="3333B2"/>
                </a:solidFill>
                <a:latin typeface="Georgia"/>
                <a:cs typeface="Georgia"/>
              </a:rPr>
              <a:t>8: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分光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度计基</a:t>
            </a:r>
            <a:r>
              <a:rPr dirty="0" sz="1050" spc="-10">
                <a:latin typeface="Arial Unicode MS"/>
                <a:cs typeface="Arial Unicode MS"/>
              </a:rPr>
              <a:t>本</a:t>
            </a:r>
            <a:r>
              <a:rPr dirty="0" sz="1050" spc="-5">
                <a:latin typeface="Arial Unicode MS"/>
                <a:cs typeface="Arial Unicode MS"/>
              </a:rPr>
              <a:t>结构示</a:t>
            </a:r>
            <a:r>
              <a:rPr dirty="0" sz="1050" spc="-10">
                <a:latin typeface="Arial Unicode MS"/>
                <a:cs typeface="Arial Unicode MS"/>
              </a:rPr>
              <a:t>意</a:t>
            </a:r>
            <a:r>
              <a:rPr dirty="0" sz="1050" spc="-5">
                <a:latin typeface="Arial Unicode MS"/>
                <a:cs typeface="Arial Unicode MS"/>
              </a:rPr>
              <a:t>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双光束分光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度计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3996" y="1004491"/>
            <a:ext cx="3239926" cy="11818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62926" y="2368346"/>
            <a:ext cx="2082164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9:</a:t>
            </a:r>
            <a:r>
              <a:rPr dirty="0" sz="1000" spc="-2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双光束分光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度计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路示意图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双波长分光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度计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3996" y="1157937"/>
            <a:ext cx="3239915" cy="8147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63433" y="2139365"/>
            <a:ext cx="1481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30">
                <a:solidFill>
                  <a:srgbClr val="3333B2"/>
                </a:solidFill>
                <a:latin typeface="Georgia"/>
                <a:cs typeface="Georgia"/>
              </a:rPr>
              <a:t>10:</a:t>
            </a:r>
            <a:r>
              <a:rPr dirty="0" sz="1000" spc="16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双波</a:t>
            </a:r>
            <a:r>
              <a:rPr dirty="0" sz="1050" spc="-10">
                <a:latin typeface="Arial Unicode MS"/>
                <a:cs typeface="Arial Unicode MS"/>
              </a:rPr>
              <a:t>长</a:t>
            </a:r>
            <a:r>
              <a:rPr dirty="0" sz="1050" spc="-5">
                <a:latin typeface="Arial Unicode MS"/>
                <a:cs typeface="Arial Unicode MS"/>
              </a:rPr>
              <a:t>分光光</a:t>
            </a:r>
            <a:r>
              <a:rPr dirty="0" sz="1050" spc="-10">
                <a:latin typeface="Arial Unicode MS"/>
                <a:cs typeface="Arial Unicode MS"/>
              </a:rPr>
              <a:t>度</a:t>
            </a:r>
            <a:r>
              <a:rPr dirty="0" sz="1050" spc="-5">
                <a:latin typeface="Arial Unicode MS"/>
                <a:cs typeface="Arial Unicode MS"/>
              </a:rPr>
              <a:t>计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23139"/>
            <a:ext cx="1789430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9.5</a:t>
            </a:r>
            <a:r>
              <a:rPr dirty="0" sz="1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分析条件的选择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05911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32076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58242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1844078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</a:pPr>
            <a:r>
              <a:rPr dirty="0" spc="-5"/>
              <a:t>显色剂的选择 显色剂的用量 </a:t>
            </a:r>
            <a:r>
              <a:rPr dirty="0" spc="-5"/>
              <a:t>溶液的酸度控制 </a:t>
            </a:r>
            <a:r>
              <a:rPr dirty="0" spc="-5"/>
              <a:t>温度的控制</a:t>
            </a:r>
          </a:p>
        </p:txBody>
      </p:sp>
      <p:sp>
        <p:nvSpPr>
          <p:cNvPr id="8" name="object 8"/>
          <p:cNvSpPr/>
          <p:nvPr/>
        </p:nvSpPr>
        <p:spPr>
          <a:xfrm>
            <a:off x="274599" y="2105736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4599" y="2367394"/>
            <a:ext cx="63233" cy="632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4599" y="2629039"/>
            <a:ext cx="63233" cy="632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1553" y="1927504"/>
            <a:ext cx="1088390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31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显色时间的控制 测量波长的选择 参比溶液的选择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16713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9.5.1</a:t>
            </a:r>
            <a:r>
              <a:rPr dirty="0" sz="1000" spc="11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显色</a:t>
            </a:r>
            <a:r>
              <a:rPr dirty="0" sz="1050" spc="-10">
                <a:solidFill>
                  <a:srgbClr val="FFFFFF"/>
                </a:solidFill>
              </a:rPr>
              <a:t>剂</a:t>
            </a:r>
            <a:r>
              <a:rPr dirty="0" sz="1050" spc="-5">
                <a:solidFill>
                  <a:srgbClr val="FFFFFF"/>
                </a:solidFill>
              </a:rPr>
              <a:t>的选择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59421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显色剂的作用是使本身无色或颜色很浅的物质形成深颜色的 </a:t>
            </a:r>
            <a:r>
              <a:rPr dirty="0" sz="1200" spc="-10">
                <a:latin typeface="Arial Unicode MS"/>
                <a:cs typeface="Arial Unicode MS"/>
              </a:rPr>
              <a:t>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从而提高测量的信背</a:t>
            </a:r>
            <a:r>
              <a:rPr dirty="0" sz="1200" spc="-20">
                <a:latin typeface="Arial Unicode MS"/>
                <a:cs typeface="Arial Unicode MS"/>
              </a:rPr>
              <a:t>比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选择显色剂时应考虑如下两个</a:t>
            </a:r>
            <a:r>
              <a:rPr dirty="0" sz="1200" spc="-5">
                <a:latin typeface="Arial Unicode MS"/>
                <a:cs typeface="Arial Unicode MS"/>
              </a:rPr>
              <a:t>方 </a:t>
            </a:r>
            <a:r>
              <a:rPr dirty="0" sz="1200" spc="-90">
                <a:latin typeface="Arial Unicode MS"/>
                <a:cs typeface="Arial Unicode MS"/>
              </a:rPr>
              <a:t>面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68041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66524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53" y="1568475"/>
            <a:ext cx="409067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显色反应的选择性要</a:t>
            </a:r>
            <a:r>
              <a:rPr dirty="0" sz="1200" spc="-80">
                <a:latin typeface="Arial Unicode MS"/>
                <a:cs typeface="Arial Unicode MS"/>
              </a:rPr>
              <a:t>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应只与待测离子有显色反</a:t>
            </a:r>
            <a:r>
              <a:rPr dirty="0" sz="1200" spc="-20">
                <a:latin typeface="Arial Unicode MS"/>
                <a:cs typeface="Arial Unicode MS"/>
              </a:rPr>
              <a:t>应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显色剂 </a:t>
            </a:r>
            <a:r>
              <a:rPr dirty="0" sz="1200" spc="-10">
                <a:latin typeface="Arial Unicode MS"/>
                <a:cs typeface="Arial Unicode MS"/>
              </a:rPr>
              <a:t>与待测离子形成的化合物的组成应恒定且稳定性</a:t>
            </a:r>
            <a:r>
              <a:rPr dirty="0" sz="1200" spc="-80">
                <a:latin typeface="Arial Unicode MS"/>
                <a:cs typeface="Arial Unicode MS"/>
              </a:rPr>
              <a:t>好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显色条</a:t>
            </a:r>
            <a:r>
              <a:rPr dirty="0" sz="1200" spc="-5">
                <a:latin typeface="Arial Unicode MS"/>
                <a:cs typeface="Arial Unicode MS"/>
              </a:rPr>
              <a:t>件 </a:t>
            </a:r>
            <a:r>
              <a:rPr dirty="0" sz="1200" spc="-5">
                <a:latin typeface="Arial Unicode MS"/>
                <a:cs typeface="Arial Unicode MS"/>
              </a:rPr>
              <a:t>应易于控</a:t>
            </a:r>
            <a:r>
              <a:rPr dirty="0" sz="1200" spc="-65">
                <a:latin typeface="Arial Unicode MS"/>
                <a:cs typeface="Arial Unicode MS"/>
              </a:rPr>
              <a:t>制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2389451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237430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153" y="2277529"/>
            <a:ext cx="41414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生成的有色化合物有较高的摩尔吸光系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显色剂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 spc="-10">
                <a:latin typeface="Arial Unicode MS"/>
                <a:cs typeface="Arial Unicode MS"/>
              </a:rPr>
              <a:t>有色物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最大吸收波长有明显的差</a:t>
            </a:r>
            <a:r>
              <a:rPr dirty="0" sz="1200" spc="-80">
                <a:latin typeface="Arial Unicode MS"/>
                <a:cs typeface="Arial Unicode MS"/>
              </a:rPr>
              <a:t>别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一般要</a:t>
            </a:r>
            <a:r>
              <a:rPr dirty="0" sz="1200" spc="175">
                <a:latin typeface="Arial Unicode MS"/>
                <a:cs typeface="Arial Unicode MS"/>
              </a:rPr>
              <a:t>求</a:t>
            </a:r>
            <a:r>
              <a:rPr dirty="0" sz="1100" spc="105">
                <a:latin typeface="Georgia"/>
                <a:cs typeface="Georgia"/>
              </a:rPr>
              <a:t>∆</a:t>
            </a:r>
            <a:r>
              <a:rPr dirty="0" sz="1100" spc="105" b="0" i="1">
                <a:latin typeface="Bookman Old Style"/>
                <a:cs typeface="Bookman Old Style"/>
              </a:rPr>
              <a:t>λ</a:t>
            </a:r>
            <a:r>
              <a:rPr dirty="0" baseline="-13888" sz="900" spc="157">
                <a:latin typeface="Times New Roman"/>
                <a:cs typeface="Times New Roman"/>
              </a:rPr>
              <a:t>max</a:t>
            </a:r>
            <a:r>
              <a:rPr dirty="0" baseline="-13888" sz="900" spc="292">
                <a:latin typeface="Times New Roman"/>
                <a:cs typeface="Times New Roman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-85">
                <a:latin typeface="Georgia"/>
                <a:cs typeface="Georgia"/>
              </a:rPr>
              <a:t>60nm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1671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9.5.2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显色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剂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的用量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3996" y="1022997"/>
            <a:ext cx="3240119" cy="1152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31303" y="2341752"/>
            <a:ext cx="214566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30">
                <a:solidFill>
                  <a:srgbClr val="3333B2"/>
                </a:solidFill>
                <a:latin typeface="Georgia"/>
                <a:cs typeface="Georgia"/>
              </a:rPr>
              <a:t>11:</a:t>
            </a:r>
            <a:r>
              <a:rPr dirty="0" sz="1000" spc="16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显色</a:t>
            </a:r>
            <a:r>
              <a:rPr dirty="0" sz="1050" spc="-10">
                <a:latin typeface="Arial Unicode MS"/>
                <a:cs typeface="Arial Unicode MS"/>
              </a:rPr>
              <a:t>剂</a:t>
            </a:r>
            <a:r>
              <a:rPr dirty="0" sz="1050" spc="-5">
                <a:latin typeface="Arial Unicode MS"/>
                <a:cs typeface="Arial Unicode MS"/>
              </a:rPr>
              <a:t>的用量与</a:t>
            </a:r>
            <a:r>
              <a:rPr dirty="0" sz="1050" spc="-10">
                <a:latin typeface="Arial Unicode MS"/>
                <a:cs typeface="Arial Unicode MS"/>
              </a:rPr>
              <a:t>吸</a:t>
            </a:r>
            <a:r>
              <a:rPr dirty="0" sz="1050" spc="-5">
                <a:latin typeface="Arial Unicode MS"/>
                <a:cs typeface="Arial Unicode MS"/>
              </a:rPr>
              <a:t>光度的</a:t>
            </a:r>
            <a:r>
              <a:rPr dirty="0" sz="1050" spc="-10">
                <a:latin typeface="Arial Unicode MS"/>
                <a:cs typeface="Arial Unicode MS"/>
              </a:rPr>
              <a:t>关</a:t>
            </a:r>
            <a:r>
              <a:rPr dirty="0" sz="1050" spc="-5">
                <a:latin typeface="Arial Unicode MS"/>
                <a:cs typeface="Arial Unicode MS"/>
              </a:rPr>
              <a:t>系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998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9.5.3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溶液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酸度控制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87158"/>
            <a:ext cx="4276725" cy="136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3683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大多数的显色剂是有机弱酸或弱</a:t>
            </a:r>
            <a:r>
              <a:rPr dirty="0" sz="1200" spc="-80">
                <a:latin typeface="Arial Unicode MS"/>
                <a:cs typeface="Arial Unicode MS"/>
              </a:rPr>
              <a:t>碱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酸度对它们的各种型体 的浓度的影响很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所以酸度的改变通常会影响到它与金属离子 </a:t>
            </a:r>
            <a:r>
              <a:rPr dirty="0" sz="1200" spc="-5">
                <a:latin typeface="Arial Unicode MS"/>
                <a:cs typeface="Arial Unicode MS"/>
              </a:rPr>
              <a:t>形成的有色络合物的浓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显色剂的用量的确定方法通常是通过作出吸光度与酸度的变 </a:t>
            </a:r>
            <a:r>
              <a:rPr dirty="0" sz="1200" spc="-5">
                <a:latin typeface="Arial Unicode MS"/>
                <a:cs typeface="Arial Unicode MS"/>
              </a:rPr>
              <a:t>化</a:t>
            </a:r>
            <a:r>
              <a:rPr dirty="0" sz="1200" spc="-80">
                <a:latin typeface="Arial Unicode MS"/>
                <a:cs typeface="Arial Unicode MS"/>
              </a:rPr>
              <a:t>图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从图中确定吸光度变化相对平稳的酸度区域作为实际的酸 度范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03441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9.5.4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温度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控制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97064"/>
            <a:ext cx="433451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大多数的显色反应在室温下进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温度的轻微波动对测量的 </a:t>
            </a:r>
            <a:r>
              <a:rPr dirty="0" sz="1200" spc="-5">
                <a:latin typeface="Arial Unicode MS"/>
                <a:cs typeface="Arial Unicode MS"/>
              </a:rPr>
              <a:t>影响不</a:t>
            </a:r>
            <a:r>
              <a:rPr dirty="0" sz="1200" spc="-20">
                <a:latin typeface="Arial Unicode MS"/>
                <a:cs typeface="Arial Unicode MS"/>
              </a:rPr>
              <a:t>大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但</a:t>
            </a:r>
            <a:r>
              <a:rPr dirty="0" sz="1200" spc="-80">
                <a:latin typeface="Arial Unicode MS"/>
                <a:cs typeface="Arial Unicode MS"/>
              </a:rPr>
              <a:t>是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有些显色反应受温度影响很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甚至需要在加热 </a:t>
            </a:r>
            <a:r>
              <a:rPr dirty="0" sz="1200" spc="-5">
                <a:latin typeface="Arial Unicode MS"/>
                <a:cs typeface="Arial Unicode MS"/>
              </a:rPr>
              <a:t>状态下才能完</a:t>
            </a:r>
            <a:r>
              <a:rPr dirty="0" sz="1200" spc="-20">
                <a:latin typeface="Arial Unicode MS"/>
                <a:cs typeface="Arial Unicode MS"/>
              </a:rPr>
              <a:t>成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169" y="1735290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6461" y="181982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113" y="1709661"/>
            <a:ext cx="40125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746250" algn="l"/>
              </a:tabLst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过硫酸铵氧</a:t>
            </a:r>
            <a:r>
              <a:rPr dirty="0" sz="1200" spc="175">
                <a:latin typeface="Arial Unicode MS"/>
                <a:cs typeface="Arial Unicode MS"/>
              </a:rPr>
              <a:t>化</a:t>
            </a:r>
            <a:r>
              <a:rPr dirty="0" sz="1100" spc="-35">
                <a:latin typeface="Georgia"/>
                <a:cs typeface="Georgia"/>
              </a:rPr>
              <a:t>Mn	</a:t>
            </a:r>
            <a:r>
              <a:rPr dirty="0" sz="1200" spc="-5">
                <a:latin typeface="Arial Unicode MS"/>
                <a:cs typeface="Arial Unicode MS"/>
              </a:rPr>
              <a:t>生</a:t>
            </a:r>
            <a:r>
              <a:rPr dirty="0" sz="1200" spc="175">
                <a:latin typeface="Arial Unicode MS"/>
                <a:cs typeface="Arial Unicode MS"/>
              </a:rPr>
              <a:t>成</a:t>
            </a:r>
            <a:r>
              <a:rPr dirty="0" sz="1100" spc="45">
                <a:latin typeface="Georgia"/>
                <a:cs typeface="Georgia"/>
              </a:rPr>
              <a:t>MnO</a:t>
            </a:r>
            <a:r>
              <a:rPr dirty="0" baseline="37037" sz="900" spc="67" i="1">
                <a:latin typeface="Arial"/>
                <a:cs typeface="Arial"/>
              </a:rPr>
              <a:t>−</a:t>
            </a:r>
            <a:r>
              <a:rPr dirty="0" baseline="37037" sz="900" spc="30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的显色反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需要在微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891855"/>
            <a:ext cx="4244975" cy="696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沸情况下保</a:t>
            </a:r>
            <a:r>
              <a:rPr dirty="0" sz="1200" spc="175">
                <a:latin typeface="Arial Unicode MS"/>
                <a:cs typeface="Arial Unicode MS"/>
              </a:rPr>
              <a:t>持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r>
              <a:rPr dirty="0" sz="1200" spc="-80">
                <a:latin typeface="Arial Unicode MS"/>
                <a:cs typeface="Arial Unicode MS"/>
              </a:rPr>
              <a:t>钟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待溶液冷却后再进行测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当采用光度法进行热力学和动力学方面的研究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反应温度 </a:t>
            </a:r>
            <a:r>
              <a:rPr dirty="0" sz="1200" spc="-5">
                <a:latin typeface="Arial Unicode MS"/>
                <a:cs typeface="Arial Unicode MS"/>
              </a:rPr>
              <a:t>的控制更为重</a:t>
            </a:r>
            <a:r>
              <a:rPr dirty="0" sz="1200" spc="-20">
                <a:latin typeface="Arial Unicode MS"/>
                <a:cs typeface="Arial Unicode MS"/>
              </a:rPr>
              <a:t>要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998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9.5.5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显色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时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间的控制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74267"/>
            <a:ext cx="435673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715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各种显色反应的速度不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获得稳定的有色络合物所需的时 </a:t>
            </a:r>
            <a:r>
              <a:rPr dirty="0" sz="1200" spc="-5">
                <a:latin typeface="Arial Unicode MS"/>
                <a:cs typeface="Arial Unicode MS"/>
              </a:rPr>
              <a:t>间也不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故显色反应时间的控制也很重</a:t>
            </a:r>
            <a:r>
              <a:rPr dirty="0" sz="1200" spc="-20">
                <a:latin typeface="Arial Unicode MS"/>
                <a:cs typeface="Arial Unicode MS"/>
              </a:rPr>
              <a:t>要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80">
                <a:latin typeface="Arial Unicode MS"/>
                <a:cs typeface="Arial Unicode MS"/>
              </a:rPr>
              <a:t>外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介质酸</a:t>
            </a:r>
            <a:r>
              <a:rPr dirty="0" sz="1200" spc="15">
                <a:latin typeface="Arial Unicode MS"/>
                <a:cs typeface="Arial Unicode MS"/>
              </a:rPr>
              <a:t>度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显 </a:t>
            </a:r>
            <a:r>
              <a:rPr dirty="0" sz="1200" spc="-5">
                <a:latin typeface="Arial Unicode MS"/>
                <a:cs typeface="Arial Unicode MS"/>
              </a:rPr>
              <a:t>色剂的浓度都会影响到显色时</a:t>
            </a:r>
            <a:r>
              <a:rPr dirty="0" sz="1200" spc="-20">
                <a:latin typeface="Arial Unicode MS"/>
                <a:cs typeface="Arial Unicode MS"/>
              </a:rPr>
              <a:t>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在进行定量分析之</a:t>
            </a:r>
            <a:r>
              <a:rPr dirty="0" sz="1200" spc="-80">
                <a:latin typeface="Arial Unicode MS"/>
                <a:cs typeface="Arial Unicode MS"/>
              </a:rPr>
              <a:t>前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应综合考虑各种因素的影响程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通</a:t>
            </a:r>
            <a:r>
              <a:rPr dirty="0" sz="1200" spc="-5">
                <a:latin typeface="Arial Unicode MS"/>
                <a:cs typeface="Arial Unicode MS"/>
              </a:rPr>
              <a:t>过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实验的方式获得最佳的显色反应时</a:t>
            </a:r>
            <a:r>
              <a:rPr dirty="0" sz="1200" spc="-20">
                <a:latin typeface="Arial Unicode MS"/>
                <a:cs typeface="Arial Unicode MS"/>
              </a:rPr>
              <a:t>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998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9.5.6</a:t>
            </a:r>
            <a:r>
              <a:rPr dirty="0" sz="1000" spc="15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测量</a:t>
            </a:r>
            <a:r>
              <a:rPr dirty="0" sz="1050" spc="-10">
                <a:solidFill>
                  <a:srgbClr val="FFFFFF"/>
                </a:solidFill>
              </a:rPr>
              <a:t>波</a:t>
            </a:r>
            <a:r>
              <a:rPr dirty="0" sz="1050" spc="-5">
                <a:solidFill>
                  <a:srgbClr val="FFFFFF"/>
                </a:solidFill>
              </a:rPr>
              <a:t>长的选择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2113470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37511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5844" y="1040447"/>
            <a:ext cx="4276725" cy="14439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如果不存在其它有色物质的干扰或显色剂本身无色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测量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波长应取待测有色络合物的最大吸收波</a:t>
            </a:r>
            <a:r>
              <a:rPr dirty="0" sz="1200" spc="-20">
                <a:latin typeface="Arial Unicode MS"/>
                <a:cs typeface="Arial Unicode MS"/>
              </a:rPr>
              <a:t>长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50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当待测有色络合物的最大吸收波长处存在有其它物质的吸收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选取测定波长的原则</a:t>
            </a:r>
            <a:r>
              <a:rPr dirty="0" sz="1200" spc="-90">
                <a:latin typeface="Arial Unicode MS"/>
                <a:cs typeface="Arial Unicode MS"/>
              </a:rPr>
              <a:t>是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 Unicode MS"/>
                <a:cs typeface="Arial Unicode MS"/>
              </a:rPr>
              <a:t>选定的波长处待测有色络合物的吸光度值应足够</a:t>
            </a:r>
            <a:r>
              <a:rPr dirty="0" sz="1200" spc="-65">
                <a:latin typeface="Arial Unicode MS"/>
                <a:cs typeface="Arial Unicode MS"/>
              </a:rPr>
              <a:t>大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其它物质在此波长处的吸光度应为零或足够</a:t>
            </a:r>
            <a:r>
              <a:rPr dirty="0" sz="1200" spc="-20">
                <a:latin typeface="Arial Unicode MS"/>
                <a:cs typeface="Arial Unicode MS"/>
              </a:rPr>
              <a:t>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998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FFFFFF"/>
                </a:solidFill>
                <a:latin typeface="Georgia"/>
                <a:cs typeface="Georgia"/>
              </a:rPr>
              <a:t>9.5.7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参比</a:t>
            </a:r>
            <a:r>
              <a:rPr dirty="0" sz="1050" spc="-10">
                <a:solidFill>
                  <a:srgbClr val="FFFFFF"/>
                </a:solidFill>
              </a:rPr>
              <a:t>溶</a:t>
            </a:r>
            <a:r>
              <a:rPr dirty="0" sz="1050" spc="-5">
                <a:solidFill>
                  <a:srgbClr val="FFFFFF"/>
                </a:solidFill>
              </a:rPr>
              <a:t>液的选择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582547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844205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329561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814904"/>
            <a:ext cx="63233" cy="632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5844" y="594690"/>
            <a:ext cx="4357370" cy="25533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参比溶液的作用是调节仪器的零</a:t>
            </a:r>
            <a:r>
              <a:rPr dirty="0" sz="1200" spc="-80">
                <a:latin typeface="Arial Unicode MS"/>
                <a:cs typeface="Arial Unicode MS"/>
              </a:rPr>
              <a:t>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以此来消除比色皿器壁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及溶液对入射光的吸收或反射带来的误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参比溶液应根据下列情况来选</a:t>
            </a:r>
            <a:r>
              <a:rPr dirty="0" sz="1200" spc="-90">
                <a:latin typeface="Arial Unicode MS"/>
                <a:cs typeface="Arial Unicode MS"/>
              </a:rPr>
              <a:t>择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当试液本身及显色剂均无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可用蒸馏水作参比溶</a:t>
            </a:r>
            <a:r>
              <a:rPr dirty="0" sz="1200" spc="-65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如果显色剂无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但待测试液中存在其它有色物质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可采用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不加显色剂的待测试液做参比溶</a:t>
            </a:r>
            <a:r>
              <a:rPr dirty="0" sz="1200" spc="-65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 marR="65405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如果显色剂有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则采用试剂空</a:t>
            </a:r>
            <a:r>
              <a:rPr dirty="0" sz="1200" spc="-260">
                <a:latin typeface="Arial Unicode MS"/>
                <a:cs typeface="Arial Unicode MS"/>
              </a:rPr>
              <a:t>白</a:t>
            </a:r>
            <a:r>
              <a:rPr dirty="0" sz="1200" spc="-5">
                <a:latin typeface="Arial Unicode MS"/>
                <a:cs typeface="Arial Unicode MS"/>
              </a:rPr>
              <a:t>（不加待测试</a:t>
            </a:r>
            <a:r>
              <a:rPr dirty="0" sz="1200" spc="30">
                <a:latin typeface="Arial Unicode MS"/>
                <a:cs typeface="Arial Unicode MS"/>
              </a:rPr>
              <a:t>样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溶液作参 </a:t>
            </a:r>
            <a:r>
              <a:rPr dirty="0" sz="1200" spc="-5">
                <a:latin typeface="Arial Unicode MS"/>
                <a:cs typeface="Arial Unicode MS"/>
              </a:rPr>
              <a:t>比溶</a:t>
            </a:r>
            <a:r>
              <a:rPr dirty="0" sz="1200" spc="-65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如果显色剂和待测试样都有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则可取一份试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在其中加入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适当的掩蔽剂将待测组分掩</a:t>
            </a:r>
            <a:r>
              <a:rPr dirty="0" sz="1200" spc="-80">
                <a:latin typeface="Arial Unicode MS"/>
                <a:cs typeface="Arial Unicode MS"/>
              </a:rPr>
              <a:t>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然后以此试液作为参比溶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199199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9.6</a:t>
            </a:r>
            <a:r>
              <a:rPr dirty="0" sz="140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吸光光度法的应用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138409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64574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1907400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599" y="2169058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1553" y="1205864"/>
            <a:ext cx="1999614" cy="10699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定量分析</a:t>
            </a:r>
            <a:endParaRPr sz="1200">
              <a:latin typeface="Arial Unicode MS"/>
              <a:cs typeface="Arial Unicode MS"/>
            </a:endParaRPr>
          </a:p>
          <a:p>
            <a:pPr marL="12700" marR="5080">
              <a:lnSpc>
                <a:spcPct val="143100"/>
              </a:lnSpc>
            </a:pPr>
            <a:r>
              <a:rPr dirty="0" sz="1200" spc="-5">
                <a:latin typeface="Arial Unicode MS"/>
                <a:cs typeface="Arial Unicode MS"/>
              </a:rPr>
              <a:t>配合物组成与稳定常数的测定 </a:t>
            </a:r>
            <a:r>
              <a:rPr dirty="0" sz="1200" spc="-5">
                <a:latin typeface="Arial Unicode MS"/>
                <a:cs typeface="Arial Unicode MS"/>
              </a:rPr>
              <a:t>动力学过程分析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0170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">
                <a:solidFill>
                  <a:srgbClr val="FFFFFF"/>
                </a:solidFill>
                <a:latin typeface="Georgia"/>
                <a:cs typeface="Georgia"/>
              </a:rPr>
              <a:t>9.6.1</a:t>
            </a:r>
            <a:r>
              <a:rPr dirty="0" sz="10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</a:rPr>
              <a:t>定量</a:t>
            </a:r>
            <a:r>
              <a:rPr dirty="0" sz="1050" spc="-10">
                <a:solidFill>
                  <a:srgbClr val="FFFFFF"/>
                </a:solidFill>
              </a:rPr>
              <a:t>分</a:t>
            </a:r>
            <a:r>
              <a:rPr dirty="0" sz="1050" spc="-5">
                <a:solidFill>
                  <a:srgbClr val="FFFFFF"/>
                </a:solidFill>
              </a:rPr>
              <a:t>析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65631"/>
            <a:ext cx="4244975" cy="9207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吸光光度法是测定低含量组分的一种很好的方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而随着分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光光度计的普</a:t>
            </a:r>
            <a:r>
              <a:rPr dirty="0" sz="1200" spc="-80">
                <a:latin typeface="Arial Unicode MS"/>
                <a:cs typeface="Arial Unicode MS"/>
              </a:rPr>
              <a:t>及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该法也已成为一种常规分析方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化学计量学的发展提出了许多处理多变量体系的方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拓展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了吸光光度法的应用领</a:t>
            </a:r>
            <a:r>
              <a:rPr dirty="0" sz="1200" spc="-20">
                <a:latin typeface="Arial Unicode MS"/>
                <a:cs typeface="Arial Unicode MS"/>
              </a:rPr>
              <a:t>域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39065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单组分的</a:t>
            </a:r>
            <a:r>
              <a:rPr dirty="0" sz="1050" spc="-10">
                <a:solidFill>
                  <a:srgbClr val="FFFFFF"/>
                </a:solidFill>
              </a:rPr>
              <a:t>定</a:t>
            </a:r>
            <a:r>
              <a:rPr dirty="0" sz="1050" spc="-5">
                <a:solidFill>
                  <a:srgbClr val="FFFFFF"/>
                </a:solidFill>
              </a:rPr>
              <a:t>量分析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18709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896148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157806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866847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5844" y="561479"/>
            <a:ext cx="4356735" cy="263842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单组分的测定多采用标准曲线法或一元线性回归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其一般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步骤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 marR="34290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分别移取不同量被测物质的标准溶液于一系列相同体积的容 </a:t>
            </a:r>
            <a:r>
              <a:rPr dirty="0" sz="1200" spc="-5">
                <a:latin typeface="Arial Unicode MS"/>
                <a:cs typeface="Arial Unicode MS"/>
              </a:rPr>
              <a:t>量瓶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加入适量的显色剂和其它辅助试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在最佳的显色条 </a:t>
            </a:r>
            <a:r>
              <a:rPr dirty="0" sz="1200" spc="-5">
                <a:latin typeface="Arial Unicode MS"/>
                <a:cs typeface="Arial Unicode MS"/>
              </a:rPr>
              <a:t>件下进行显色反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然后定</a:t>
            </a:r>
            <a:r>
              <a:rPr dirty="0" sz="1200" spc="-65">
                <a:latin typeface="Arial Unicode MS"/>
                <a:cs typeface="Arial Unicode MS"/>
              </a:rPr>
              <a:t>容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配制相应的参比溶</a:t>
            </a:r>
            <a:r>
              <a:rPr dirty="0" sz="1200" spc="-65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 marR="5080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在选定的波长处测量各标准溶液的吸光度值并绘制吸光度与 </a:t>
            </a:r>
            <a:r>
              <a:rPr dirty="0" sz="1200" spc="-10">
                <a:latin typeface="Arial Unicode MS"/>
                <a:cs typeface="Arial Unicode MS"/>
              </a:rPr>
              <a:t>浓</a:t>
            </a:r>
            <a:r>
              <a:rPr dirty="0" sz="1200" spc="-5">
                <a:latin typeface="Arial Unicode MS"/>
                <a:cs typeface="Arial Unicode MS"/>
              </a:rPr>
              <a:t>度</a:t>
            </a:r>
            <a:r>
              <a:rPr dirty="0" sz="1200" spc="-10">
                <a:latin typeface="Arial Unicode MS"/>
                <a:cs typeface="Arial Unicode MS"/>
              </a:rPr>
              <a:t>的标准曲</a:t>
            </a:r>
            <a:r>
              <a:rPr dirty="0" sz="1200" spc="-80">
                <a:latin typeface="Arial Unicode MS"/>
                <a:cs typeface="Arial Unicode MS"/>
              </a:rPr>
              <a:t>线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或者通过线性回归</a:t>
            </a:r>
            <a:r>
              <a:rPr dirty="0" sz="1200" spc="-5">
                <a:latin typeface="Arial Unicode MS"/>
                <a:cs typeface="Arial Unicode MS"/>
              </a:rPr>
              <a:t>方</a:t>
            </a:r>
            <a:r>
              <a:rPr dirty="0" sz="1200" spc="-10">
                <a:latin typeface="Arial Unicode MS"/>
                <a:cs typeface="Arial Unicode MS"/>
              </a:rPr>
              <a:t>法建立吸光度与浓</a:t>
            </a:r>
            <a:r>
              <a:rPr dirty="0" sz="1200" spc="-5">
                <a:latin typeface="Arial Unicode MS"/>
                <a:cs typeface="Arial Unicode MS"/>
              </a:rPr>
              <a:t>度的 </a:t>
            </a:r>
            <a:r>
              <a:rPr dirty="0" sz="1200" spc="-5">
                <a:latin typeface="Arial Unicode MS"/>
                <a:cs typeface="Arial Unicode MS"/>
              </a:rPr>
              <a:t>回归方</a:t>
            </a:r>
            <a:r>
              <a:rPr dirty="0" sz="1200" spc="-65">
                <a:latin typeface="Arial Unicode MS"/>
                <a:cs typeface="Arial Unicode MS"/>
              </a:rPr>
              <a:t>程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将未知试液按标准溶液的显色步骤显色后测定其吸光度</a:t>
            </a:r>
            <a:r>
              <a:rPr dirty="0" sz="1200" spc="-80">
                <a:latin typeface="Arial Unicode MS"/>
                <a:cs typeface="Arial Unicode MS"/>
              </a:rPr>
              <a:t>值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后根据标准曲线或回归方程求得其浓度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656714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0">
                <a:solidFill>
                  <a:srgbClr val="FFFFFF"/>
                </a:solidFill>
              </a:rPr>
              <a:t>（</a:t>
            </a:r>
            <a:r>
              <a:rPr dirty="0" sz="1000" spc="-10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10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多组分</a:t>
            </a:r>
            <a:r>
              <a:rPr dirty="0" sz="1050" spc="-10">
                <a:solidFill>
                  <a:srgbClr val="FFFFFF"/>
                </a:solidFill>
              </a:rPr>
              <a:t>的</a:t>
            </a:r>
            <a:r>
              <a:rPr dirty="0" sz="1050" spc="-5">
                <a:solidFill>
                  <a:srgbClr val="FFFFFF"/>
                </a:solidFill>
              </a:rPr>
              <a:t>同时定量</a:t>
            </a:r>
            <a:r>
              <a:rPr dirty="0" sz="1050" spc="-10">
                <a:solidFill>
                  <a:srgbClr val="FFFFFF"/>
                </a:solidFill>
              </a:rPr>
              <a:t>分</a:t>
            </a:r>
            <a:r>
              <a:rPr dirty="0" sz="1050" spc="-5">
                <a:solidFill>
                  <a:srgbClr val="FFFFFF"/>
                </a:solidFill>
              </a:rPr>
              <a:t>析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pc="-5"/>
              <a:t>现代的分光光度计一般都可以获得某一样品的吸光光谱</a:t>
            </a:r>
            <a:r>
              <a:rPr dirty="0" spc="-80"/>
              <a:t>图</a:t>
            </a:r>
            <a:r>
              <a:rPr dirty="0" spc="-5"/>
              <a:t>， </a:t>
            </a:r>
            <a:r>
              <a:rPr dirty="0" spc="-5"/>
              <a:t>而此光谱图实际上包含了该样品中各组分的定量方面的信</a:t>
            </a:r>
            <a:r>
              <a:rPr dirty="0" spc="-80"/>
              <a:t>息</a:t>
            </a:r>
            <a:r>
              <a:rPr dirty="0" spc="-185"/>
              <a:t>，</a:t>
            </a:r>
            <a:r>
              <a:rPr dirty="0" spc="-5"/>
              <a:t>故 借助此吸光光谱图就有可能实现多组分的同时定量分</a:t>
            </a:r>
            <a:r>
              <a:rPr dirty="0" spc="-20"/>
              <a:t>析</a:t>
            </a:r>
            <a:r>
              <a:rPr dirty="0" spc="-5"/>
              <a:t>。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/>
          </a:p>
          <a:p>
            <a:pPr marL="316230">
              <a:lnSpc>
                <a:spcPct val="100000"/>
              </a:lnSpc>
            </a:pPr>
            <a:r>
              <a:rPr dirty="0" spc="-5"/>
              <a:t>要实现此目</a:t>
            </a:r>
            <a:r>
              <a:rPr dirty="0" spc="-80"/>
              <a:t>标</a:t>
            </a:r>
            <a:r>
              <a:rPr dirty="0" spc="-185"/>
              <a:t>，</a:t>
            </a:r>
            <a:r>
              <a:rPr dirty="0" spc="-5"/>
              <a:t>还需满足如下两个条</a:t>
            </a:r>
            <a:r>
              <a:rPr dirty="0" spc="-90"/>
              <a:t>件</a:t>
            </a:r>
            <a:r>
              <a:rPr dirty="0" spc="-5"/>
              <a:t>：</a:t>
            </a:r>
          </a:p>
        </p:txBody>
      </p:sp>
      <p:sp>
        <p:nvSpPr>
          <p:cNvPr id="4" name="object 4"/>
          <p:cNvSpPr/>
          <p:nvPr/>
        </p:nvSpPr>
        <p:spPr>
          <a:xfrm>
            <a:off x="222846" y="2168559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215339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2430205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241505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553" y="2018665"/>
            <a:ext cx="2757170" cy="5492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单一组份的响应符合朗伯－比尔定</a:t>
            </a:r>
            <a:r>
              <a:rPr dirty="0" sz="1200" spc="-65">
                <a:latin typeface="Arial Unicode MS"/>
                <a:cs typeface="Arial Unicode MS"/>
              </a:rPr>
              <a:t>律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体系的总响应是各组份响应的线性加</a:t>
            </a:r>
            <a:r>
              <a:rPr dirty="0" sz="1200" spc="-20">
                <a:latin typeface="Arial Unicode MS"/>
                <a:cs typeface="Arial Unicode MS"/>
              </a:rPr>
              <a:t>和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8653" y="1050914"/>
            <a:ext cx="14414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Times New Roman"/>
                <a:cs typeface="Times New Roman"/>
              </a:rPr>
              <a:t>200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5424" y="1045335"/>
            <a:ext cx="0" cy="10795"/>
          </a:xfrm>
          <a:custGeom>
            <a:avLst/>
            <a:gdLst/>
            <a:ahLst/>
            <a:cxnLst/>
            <a:rect l="l" t="t" r="r" b="b"/>
            <a:pathLst>
              <a:path w="0" h="10794">
                <a:moveTo>
                  <a:pt x="0" y="1077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75424" y="291574"/>
            <a:ext cx="0" cy="10795"/>
          </a:xfrm>
          <a:custGeom>
            <a:avLst/>
            <a:gdLst/>
            <a:ahLst/>
            <a:cxnLst/>
            <a:rect l="l" t="t" r="r" b="b"/>
            <a:pathLst>
              <a:path w="0" h="10795">
                <a:moveTo>
                  <a:pt x="0" y="0"/>
                </a:moveTo>
                <a:lnTo>
                  <a:pt x="0" y="1031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1934" y="992788"/>
            <a:ext cx="64769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50418" y="737361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0" y="0"/>
                </a:moveTo>
                <a:lnTo>
                  <a:pt x="10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89652" y="737361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107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83495" y="674033"/>
            <a:ext cx="16383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Times New Roman"/>
                <a:cs typeface="Times New Roman"/>
              </a:rPr>
              <a:t>0.05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50418" y="418605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0" y="0"/>
                </a:moveTo>
                <a:lnTo>
                  <a:pt x="10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89652" y="418605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107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22871" y="355279"/>
            <a:ext cx="12446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Times New Roman"/>
                <a:cs typeface="Times New Roman"/>
              </a:rPr>
              <a:t>0.1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60729" y="371258"/>
            <a:ext cx="1040130" cy="682625"/>
          </a:xfrm>
          <a:custGeom>
            <a:avLst/>
            <a:gdLst/>
            <a:ahLst/>
            <a:cxnLst/>
            <a:rect l="l" t="t" r="r" b="b"/>
            <a:pathLst>
              <a:path w="1040130" h="682625">
                <a:moveTo>
                  <a:pt x="0" y="0"/>
                </a:moveTo>
                <a:lnTo>
                  <a:pt x="21094" y="67973"/>
                </a:lnTo>
                <a:lnTo>
                  <a:pt x="31404" y="130316"/>
                </a:lnTo>
                <a:lnTo>
                  <a:pt x="42188" y="213753"/>
                </a:lnTo>
                <a:lnTo>
                  <a:pt x="52498" y="299068"/>
                </a:lnTo>
                <a:lnTo>
                  <a:pt x="62815" y="373134"/>
                </a:lnTo>
                <a:lnTo>
                  <a:pt x="70267" y="412545"/>
                </a:lnTo>
                <a:lnTo>
                  <a:pt x="80831" y="457618"/>
                </a:lnTo>
                <a:lnTo>
                  <a:pt x="98208" y="499473"/>
                </a:lnTo>
                <a:lnTo>
                  <a:pt x="126097" y="529230"/>
                </a:lnTo>
                <a:lnTo>
                  <a:pt x="172683" y="540943"/>
                </a:lnTo>
                <a:lnTo>
                  <a:pt x="188907" y="541886"/>
                </a:lnTo>
                <a:lnTo>
                  <a:pt x="204455" y="543681"/>
                </a:lnTo>
                <a:lnTo>
                  <a:pt x="220535" y="546940"/>
                </a:lnTo>
                <a:lnTo>
                  <a:pt x="236621" y="550719"/>
                </a:lnTo>
                <a:lnTo>
                  <a:pt x="252189" y="554070"/>
                </a:lnTo>
                <a:lnTo>
                  <a:pt x="295770" y="571916"/>
                </a:lnTo>
                <a:lnTo>
                  <a:pt x="323845" y="597461"/>
                </a:lnTo>
                <a:lnTo>
                  <a:pt x="347499" y="627796"/>
                </a:lnTo>
                <a:lnTo>
                  <a:pt x="377820" y="660013"/>
                </a:lnTo>
                <a:lnTo>
                  <a:pt x="408187" y="674122"/>
                </a:lnTo>
                <a:lnTo>
                  <a:pt x="443576" y="679387"/>
                </a:lnTo>
                <a:lnTo>
                  <a:pt x="480306" y="679770"/>
                </a:lnTo>
                <a:lnTo>
                  <a:pt x="514695" y="679228"/>
                </a:lnTo>
                <a:lnTo>
                  <a:pt x="568398" y="677045"/>
                </a:lnTo>
                <a:lnTo>
                  <a:pt x="620698" y="672637"/>
                </a:lnTo>
                <a:lnTo>
                  <a:pt x="672396" y="666416"/>
                </a:lnTo>
                <a:lnTo>
                  <a:pt x="724296" y="658790"/>
                </a:lnTo>
                <a:lnTo>
                  <a:pt x="777200" y="650169"/>
                </a:lnTo>
                <a:lnTo>
                  <a:pt x="793101" y="648169"/>
                </a:lnTo>
                <a:lnTo>
                  <a:pt x="808569" y="647386"/>
                </a:lnTo>
                <a:lnTo>
                  <a:pt x="824055" y="647526"/>
                </a:lnTo>
                <a:lnTo>
                  <a:pt x="840010" y="648290"/>
                </a:lnTo>
                <a:lnTo>
                  <a:pt x="855873" y="649467"/>
                </a:lnTo>
                <a:lnTo>
                  <a:pt x="871528" y="649870"/>
                </a:lnTo>
                <a:lnTo>
                  <a:pt x="887127" y="651125"/>
                </a:lnTo>
                <a:lnTo>
                  <a:pt x="902825" y="654855"/>
                </a:lnTo>
                <a:lnTo>
                  <a:pt x="918466" y="661250"/>
                </a:lnTo>
                <a:lnTo>
                  <a:pt x="933941" y="668155"/>
                </a:lnTo>
                <a:lnTo>
                  <a:pt x="949679" y="674269"/>
                </a:lnTo>
                <a:lnTo>
                  <a:pt x="966108" y="678295"/>
                </a:lnTo>
                <a:lnTo>
                  <a:pt x="984529" y="680522"/>
                </a:lnTo>
                <a:lnTo>
                  <a:pt x="1002835" y="681744"/>
                </a:lnTo>
                <a:lnTo>
                  <a:pt x="1021175" y="682295"/>
                </a:lnTo>
                <a:lnTo>
                  <a:pt x="1039701" y="682513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50418" y="365633"/>
            <a:ext cx="10795" cy="5715"/>
          </a:xfrm>
          <a:custGeom>
            <a:avLst/>
            <a:gdLst/>
            <a:ahLst/>
            <a:cxnLst/>
            <a:rect l="l" t="t" r="r" b="b"/>
            <a:pathLst>
              <a:path w="10794" h="5714">
                <a:moveTo>
                  <a:pt x="0" y="0"/>
                </a:moveTo>
                <a:lnTo>
                  <a:pt x="10310" y="5625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603661" y="1050914"/>
            <a:ext cx="668655" cy="2006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675"/>
              </a:lnSpc>
              <a:spcBef>
                <a:spcPts val="120"/>
              </a:spcBef>
              <a:tabLst>
                <a:tab pos="537210" algn="l"/>
              </a:tabLst>
            </a:pPr>
            <a:r>
              <a:rPr dirty="0" sz="600" spc="10">
                <a:latin typeface="Times New Roman"/>
                <a:cs typeface="Times New Roman"/>
              </a:rPr>
              <a:t>250</a:t>
            </a:r>
            <a:r>
              <a:rPr dirty="0" sz="600" spc="10">
                <a:latin typeface="Times New Roman"/>
                <a:cs typeface="Times New Roman"/>
              </a:rPr>
              <a:t>	</a:t>
            </a:r>
            <a:r>
              <a:rPr dirty="0" sz="600" spc="10">
                <a:latin typeface="Times New Roman"/>
                <a:cs typeface="Times New Roman"/>
              </a:rPr>
              <a:t>300</a:t>
            </a:r>
            <a:endParaRPr sz="600">
              <a:latin typeface="Times New Roman"/>
              <a:cs typeface="Times New Roman"/>
            </a:endParaRPr>
          </a:p>
          <a:p>
            <a:pPr marL="16510">
              <a:lnSpc>
                <a:spcPts val="675"/>
              </a:lnSpc>
            </a:pPr>
            <a:r>
              <a:rPr dirty="0" sz="600" spc="5" b="1">
                <a:latin typeface="Times New Roman"/>
                <a:cs typeface="Times New Roman"/>
              </a:rPr>
              <a:t>nm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0662" y="633100"/>
            <a:ext cx="113030" cy="8255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600" b="1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67270" y="1050914"/>
            <a:ext cx="14414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Times New Roman"/>
                <a:cs typeface="Times New Roman"/>
              </a:rPr>
              <a:t>200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01228" y="104674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937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01228" y="291574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890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70552" y="992788"/>
            <a:ext cx="64769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39032" y="673607"/>
            <a:ext cx="9525" cy="0"/>
          </a:xfrm>
          <a:custGeom>
            <a:avLst/>
            <a:gdLst/>
            <a:ahLst/>
            <a:cxnLst/>
            <a:rect l="l" t="t" r="r" b="b"/>
            <a:pathLst>
              <a:path w="9525" h="0">
                <a:moveTo>
                  <a:pt x="0" y="0"/>
                </a:moveTo>
                <a:lnTo>
                  <a:pt x="89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54514" y="673607"/>
            <a:ext cx="9525" cy="0"/>
          </a:xfrm>
          <a:custGeom>
            <a:avLst/>
            <a:gdLst/>
            <a:ahLst/>
            <a:cxnLst/>
            <a:rect l="l" t="t" r="r" b="b"/>
            <a:pathLst>
              <a:path w="9525" h="0">
                <a:moveTo>
                  <a:pt x="93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532738" y="610283"/>
            <a:ext cx="20320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Times New Roman"/>
                <a:cs typeface="Times New Roman"/>
              </a:rPr>
              <a:t>0.005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72113" y="228245"/>
            <a:ext cx="16383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>
                <a:latin typeface="Times New Roman"/>
                <a:cs typeface="Times New Roman"/>
              </a:rPr>
              <a:t>0.01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47942" y="357196"/>
            <a:ext cx="916305" cy="697230"/>
          </a:xfrm>
          <a:custGeom>
            <a:avLst/>
            <a:gdLst/>
            <a:ahLst/>
            <a:cxnLst/>
            <a:rect l="l" t="t" r="r" b="b"/>
            <a:pathLst>
              <a:path w="916304" h="697230">
                <a:moveTo>
                  <a:pt x="0" y="79223"/>
                </a:moveTo>
                <a:lnTo>
                  <a:pt x="9371" y="105003"/>
                </a:lnTo>
                <a:lnTo>
                  <a:pt x="18748" y="120005"/>
                </a:lnTo>
                <a:lnTo>
                  <a:pt x="27652" y="118599"/>
                </a:lnTo>
                <a:lnTo>
                  <a:pt x="37029" y="100317"/>
                </a:lnTo>
                <a:lnTo>
                  <a:pt x="46406" y="82503"/>
                </a:lnTo>
                <a:lnTo>
                  <a:pt x="55778" y="52504"/>
                </a:lnTo>
                <a:lnTo>
                  <a:pt x="64688" y="25785"/>
                </a:lnTo>
                <a:lnTo>
                  <a:pt x="74059" y="10316"/>
                </a:lnTo>
                <a:lnTo>
                  <a:pt x="83436" y="0"/>
                </a:lnTo>
                <a:lnTo>
                  <a:pt x="92813" y="27658"/>
                </a:lnTo>
                <a:lnTo>
                  <a:pt x="101718" y="55317"/>
                </a:lnTo>
                <a:lnTo>
                  <a:pt x="111095" y="67501"/>
                </a:lnTo>
                <a:lnTo>
                  <a:pt x="120466" y="68440"/>
                </a:lnTo>
                <a:lnTo>
                  <a:pt x="129376" y="61409"/>
                </a:lnTo>
                <a:lnTo>
                  <a:pt x="138748" y="57657"/>
                </a:lnTo>
                <a:lnTo>
                  <a:pt x="148125" y="94692"/>
                </a:lnTo>
                <a:lnTo>
                  <a:pt x="157502" y="220784"/>
                </a:lnTo>
                <a:lnTo>
                  <a:pt x="166406" y="377820"/>
                </a:lnTo>
                <a:lnTo>
                  <a:pt x="175783" y="499698"/>
                </a:lnTo>
                <a:lnTo>
                  <a:pt x="185155" y="579383"/>
                </a:lnTo>
                <a:lnTo>
                  <a:pt x="194532" y="628136"/>
                </a:lnTo>
                <a:lnTo>
                  <a:pt x="217036" y="678330"/>
                </a:lnTo>
                <a:lnTo>
                  <a:pt x="253919" y="689979"/>
                </a:lnTo>
                <a:lnTo>
                  <a:pt x="277502" y="688605"/>
                </a:lnTo>
                <a:lnTo>
                  <a:pt x="319539" y="683550"/>
                </a:lnTo>
                <a:lnTo>
                  <a:pt x="360939" y="675010"/>
                </a:lnTo>
                <a:lnTo>
                  <a:pt x="397963" y="665001"/>
                </a:lnTo>
                <a:lnTo>
                  <a:pt x="416277" y="659466"/>
                </a:lnTo>
                <a:lnTo>
                  <a:pt x="435004" y="655322"/>
                </a:lnTo>
                <a:lnTo>
                  <a:pt x="443909" y="651103"/>
                </a:lnTo>
                <a:lnTo>
                  <a:pt x="453286" y="645478"/>
                </a:lnTo>
                <a:lnTo>
                  <a:pt x="462663" y="641732"/>
                </a:lnTo>
                <a:lnTo>
                  <a:pt x="471567" y="642198"/>
                </a:lnTo>
                <a:lnTo>
                  <a:pt x="480944" y="643605"/>
                </a:lnTo>
                <a:lnTo>
                  <a:pt x="490316" y="642198"/>
                </a:lnTo>
                <a:lnTo>
                  <a:pt x="499693" y="636573"/>
                </a:lnTo>
                <a:lnTo>
                  <a:pt x="508597" y="629542"/>
                </a:lnTo>
                <a:lnTo>
                  <a:pt x="517974" y="626263"/>
                </a:lnTo>
                <a:lnTo>
                  <a:pt x="527351" y="630481"/>
                </a:lnTo>
                <a:lnTo>
                  <a:pt x="536723" y="638447"/>
                </a:lnTo>
                <a:lnTo>
                  <a:pt x="545633" y="642198"/>
                </a:lnTo>
                <a:lnTo>
                  <a:pt x="555010" y="642198"/>
                </a:lnTo>
                <a:lnTo>
                  <a:pt x="564381" y="640792"/>
                </a:lnTo>
                <a:lnTo>
                  <a:pt x="573291" y="641259"/>
                </a:lnTo>
                <a:lnTo>
                  <a:pt x="582663" y="647824"/>
                </a:lnTo>
                <a:lnTo>
                  <a:pt x="592040" y="657201"/>
                </a:lnTo>
                <a:lnTo>
                  <a:pt x="601417" y="663293"/>
                </a:lnTo>
                <a:lnTo>
                  <a:pt x="610321" y="667511"/>
                </a:lnTo>
                <a:lnTo>
                  <a:pt x="621840" y="674843"/>
                </a:lnTo>
                <a:lnTo>
                  <a:pt x="631573" y="682362"/>
                </a:lnTo>
                <a:lnTo>
                  <a:pt x="642283" y="688667"/>
                </a:lnTo>
                <a:lnTo>
                  <a:pt x="698176" y="696372"/>
                </a:lnTo>
                <a:lnTo>
                  <a:pt x="740165" y="696576"/>
                </a:lnTo>
                <a:lnTo>
                  <a:pt x="784123" y="696924"/>
                </a:lnTo>
                <a:lnTo>
                  <a:pt x="828055" y="697050"/>
                </a:lnTo>
                <a:lnTo>
                  <a:pt x="871987" y="697056"/>
                </a:lnTo>
                <a:lnTo>
                  <a:pt x="915949" y="697043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739032" y="423290"/>
            <a:ext cx="9525" cy="13335"/>
          </a:xfrm>
          <a:custGeom>
            <a:avLst/>
            <a:gdLst/>
            <a:ahLst/>
            <a:cxnLst/>
            <a:rect l="l" t="t" r="r" b="b"/>
            <a:pathLst>
              <a:path w="9525" h="13334">
                <a:moveTo>
                  <a:pt x="0" y="0"/>
                </a:moveTo>
                <a:lnTo>
                  <a:pt x="8910" y="13128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129465" y="1050914"/>
            <a:ext cx="606425" cy="2006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675"/>
              </a:lnSpc>
              <a:spcBef>
                <a:spcPts val="120"/>
              </a:spcBef>
              <a:tabLst>
                <a:tab pos="474980" algn="l"/>
              </a:tabLst>
            </a:pPr>
            <a:r>
              <a:rPr dirty="0" sz="600" spc="10">
                <a:latin typeface="Times New Roman"/>
                <a:cs typeface="Times New Roman"/>
              </a:rPr>
              <a:t>250</a:t>
            </a:r>
            <a:r>
              <a:rPr dirty="0" sz="600" spc="10">
                <a:latin typeface="Times New Roman"/>
                <a:cs typeface="Times New Roman"/>
              </a:rPr>
              <a:t>	</a:t>
            </a:r>
            <a:r>
              <a:rPr dirty="0" sz="600" spc="10">
                <a:latin typeface="Times New Roman"/>
                <a:cs typeface="Times New Roman"/>
              </a:rPr>
              <a:t>300</a:t>
            </a:r>
            <a:endParaRPr sz="600">
              <a:latin typeface="Times New Roman"/>
              <a:cs typeface="Times New Roman"/>
            </a:endParaRPr>
          </a:p>
          <a:p>
            <a:pPr marL="16510">
              <a:lnSpc>
                <a:spcPts val="675"/>
              </a:lnSpc>
            </a:pPr>
            <a:r>
              <a:rPr dirty="0" sz="600" spc="5" b="1">
                <a:latin typeface="Times New Roman"/>
                <a:cs typeface="Times New Roman"/>
              </a:rPr>
              <a:t>nm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19904" y="633100"/>
            <a:ext cx="113030" cy="8255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600" b="1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8653" y="2260307"/>
            <a:ext cx="14414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200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675424" y="2251443"/>
            <a:ext cx="0" cy="10795"/>
          </a:xfrm>
          <a:custGeom>
            <a:avLst/>
            <a:gdLst/>
            <a:ahLst/>
            <a:cxnLst/>
            <a:rect l="l" t="t" r="r" b="b"/>
            <a:pathLst>
              <a:path w="0" h="10794">
                <a:moveTo>
                  <a:pt x="0" y="1078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675424" y="1443309"/>
            <a:ext cx="0" cy="10795"/>
          </a:xfrm>
          <a:custGeom>
            <a:avLst/>
            <a:gdLst/>
            <a:ahLst/>
            <a:cxnLst/>
            <a:rect l="l" t="t" r="r" b="b"/>
            <a:pathLst>
              <a:path w="0" h="10794">
                <a:moveTo>
                  <a:pt x="0" y="0"/>
                </a:moveTo>
                <a:lnTo>
                  <a:pt x="0" y="1031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081934" y="2199838"/>
            <a:ext cx="64769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150418" y="2125351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0" y="0"/>
                </a:moveTo>
                <a:lnTo>
                  <a:pt x="10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89652" y="2125351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107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50418" y="1988943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0" y="0"/>
                </a:moveTo>
                <a:lnTo>
                  <a:pt x="10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189652" y="1988943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107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50418" y="1852534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0" y="0"/>
                </a:moveTo>
                <a:lnTo>
                  <a:pt x="10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189652" y="1852534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107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50418" y="1716126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0" y="0"/>
                </a:moveTo>
                <a:lnTo>
                  <a:pt x="10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189652" y="1716126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107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50418" y="1579718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0" y="0"/>
                </a:moveTo>
                <a:lnTo>
                  <a:pt x="103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189652" y="1579718"/>
            <a:ext cx="10795" cy="0"/>
          </a:xfrm>
          <a:custGeom>
            <a:avLst/>
            <a:gdLst/>
            <a:ahLst/>
            <a:cxnLst/>
            <a:rect l="l" t="t" r="r" b="b"/>
            <a:pathLst>
              <a:path w="10794" h="0">
                <a:moveTo>
                  <a:pt x="107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983495" y="1475420"/>
            <a:ext cx="163830" cy="70802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52069">
              <a:lnSpc>
                <a:spcPct val="100000"/>
              </a:lnSpc>
              <a:spcBef>
                <a:spcPts val="450"/>
              </a:spcBef>
            </a:pPr>
            <a:r>
              <a:rPr dirty="0" sz="600" spc="5" b="1">
                <a:latin typeface="Times New Roman"/>
                <a:cs typeface="Times New Roman"/>
              </a:rPr>
              <a:t>0.1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600" spc="5" b="1">
                <a:latin typeface="Times New Roman"/>
                <a:cs typeface="Times New Roman"/>
              </a:rPr>
              <a:t>0.08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600" spc="5" b="1">
                <a:latin typeface="Times New Roman"/>
                <a:cs typeface="Times New Roman"/>
              </a:rPr>
              <a:t>0.06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600" spc="5" b="1">
                <a:latin typeface="Times New Roman"/>
                <a:cs typeface="Times New Roman"/>
              </a:rPr>
              <a:t>0.04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600" spc="5" b="1">
                <a:latin typeface="Times New Roman"/>
                <a:cs typeface="Times New Roman"/>
              </a:rPr>
              <a:t>0.02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160729" y="1590495"/>
            <a:ext cx="1040130" cy="669290"/>
          </a:xfrm>
          <a:custGeom>
            <a:avLst/>
            <a:gdLst/>
            <a:ahLst/>
            <a:cxnLst/>
            <a:rect l="l" t="t" r="r" b="b"/>
            <a:pathLst>
              <a:path w="1040130" h="669289">
                <a:moveTo>
                  <a:pt x="0" y="0"/>
                </a:moveTo>
                <a:lnTo>
                  <a:pt x="10449" y="46266"/>
                </a:lnTo>
                <a:lnTo>
                  <a:pt x="21468" y="94024"/>
                </a:lnTo>
                <a:lnTo>
                  <a:pt x="34228" y="142018"/>
                </a:lnTo>
                <a:lnTo>
                  <a:pt x="49901" y="188994"/>
                </a:lnTo>
                <a:lnTo>
                  <a:pt x="69656" y="233695"/>
                </a:lnTo>
                <a:lnTo>
                  <a:pt x="94664" y="274868"/>
                </a:lnTo>
                <a:lnTo>
                  <a:pt x="126097" y="311258"/>
                </a:lnTo>
                <a:lnTo>
                  <a:pt x="159170" y="331952"/>
                </a:lnTo>
                <a:lnTo>
                  <a:pt x="222385" y="335103"/>
                </a:lnTo>
                <a:lnTo>
                  <a:pt x="252189" y="349694"/>
                </a:lnTo>
                <a:lnTo>
                  <a:pt x="273978" y="373668"/>
                </a:lnTo>
                <a:lnTo>
                  <a:pt x="289904" y="399371"/>
                </a:lnTo>
                <a:lnTo>
                  <a:pt x="302675" y="427071"/>
                </a:lnTo>
                <a:lnTo>
                  <a:pt x="315004" y="457038"/>
                </a:lnTo>
                <a:lnTo>
                  <a:pt x="327201" y="485900"/>
                </a:lnTo>
                <a:lnTo>
                  <a:pt x="358260" y="542738"/>
                </a:lnTo>
                <a:lnTo>
                  <a:pt x="408006" y="587848"/>
                </a:lnTo>
                <a:lnTo>
                  <a:pt x="478638" y="598461"/>
                </a:lnTo>
                <a:lnTo>
                  <a:pt x="514695" y="593446"/>
                </a:lnTo>
                <a:lnTo>
                  <a:pt x="531505" y="590517"/>
                </a:lnTo>
                <a:lnTo>
                  <a:pt x="546706" y="586481"/>
                </a:lnTo>
                <a:lnTo>
                  <a:pt x="561604" y="582294"/>
                </a:lnTo>
                <a:lnTo>
                  <a:pt x="577510" y="578916"/>
                </a:lnTo>
                <a:lnTo>
                  <a:pt x="587821" y="577977"/>
                </a:lnTo>
                <a:lnTo>
                  <a:pt x="598604" y="577043"/>
                </a:lnTo>
                <a:lnTo>
                  <a:pt x="608915" y="575637"/>
                </a:lnTo>
                <a:lnTo>
                  <a:pt x="619698" y="573291"/>
                </a:lnTo>
                <a:lnTo>
                  <a:pt x="630009" y="570946"/>
                </a:lnTo>
                <a:lnTo>
                  <a:pt x="640320" y="570946"/>
                </a:lnTo>
                <a:lnTo>
                  <a:pt x="656416" y="577094"/>
                </a:lnTo>
                <a:lnTo>
                  <a:pt x="670206" y="586119"/>
                </a:lnTo>
                <a:lnTo>
                  <a:pt x="684874" y="594355"/>
                </a:lnTo>
                <a:lnTo>
                  <a:pt x="703602" y="598137"/>
                </a:lnTo>
                <a:lnTo>
                  <a:pt x="724624" y="605440"/>
                </a:lnTo>
                <a:lnTo>
                  <a:pt x="740988" y="619237"/>
                </a:lnTo>
                <a:lnTo>
                  <a:pt x="757058" y="634789"/>
                </a:lnTo>
                <a:lnTo>
                  <a:pt x="777200" y="647357"/>
                </a:lnTo>
                <a:lnTo>
                  <a:pt x="839097" y="664228"/>
                </a:lnTo>
                <a:lnTo>
                  <a:pt x="902825" y="667511"/>
                </a:lnTo>
                <a:lnTo>
                  <a:pt x="971280" y="668282"/>
                </a:lnTo>
                <a:lnTo>
                  <a:pt x="1005563" y="668442"/>
                </a:lnTo>
                <a:lnTo>
                  <a:pt x="1039701" y="668918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50418" y="1566122"/>
            <a:ext cx="10795" cy="24765"/>
          </a:xfrm>
          <a:custGeom>
            <a:avLst/>
            <a:gdLst/>
            <a:ahLst/>
            <a:cxnLst/>
            <a:rect l="l" t="t" r="r" b="b"/>
            <a:pathLst>
              <a:path w="10794" h="24765">
                <a:moveTo>
                  <a:pt x="0" y="0"/>
                </a:moveTo>
                <a:lnTo>
                  <a:pt x="10310" y="24373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603661" y="2260307"/>
            <a:ext cx="668655" cy="1987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670"/>
              </a:lnSpc>
              <a:spcBef>
                <a:spcPts val="120"/>
              </a:spcBef>
              <a:tabLst>
                <a:tab pos="537210" algn="l"/>
              </a:tabLst>
            </a:pPr>
            <a:r>
              <a:rPr dirty="0" sz="600" spc="10" b="1">
                <a:latin typeface="Times New Roman"/>
                <a:cs typeface="Times New Roman"/>
              </a:rPr>
              <a:t>250</a:t>
            </a:r>
            <a:r>
              <a:rPr dirty="0" sz="600" spc="10" b="1">
                <a:latin typeface="Times New Roman"/>
                <a:cs typeface="Times New Roman"/>
              </a:rPr>
              <a:t>	</a:t>
            </a:r>
            <a:r>
              <a:rPr dirty="0" sz="600" spc="10" b="1">
                <a:latin typeface="Times New Roman"/>
                <a:cs typeface="Times New Roman"/>
              </a:rPr>
              <a:t>300</a:t>
            </a:r>
            <a:endParaRPr sz="600">
              <a:latin typeface="Times New Roman"/>
              <a:cs typeface="Times New Roman"/>
            </a:endParaRPr>
          </a:p>
          <a:p>
            <a:pPr marL="20955">
              <a:lnSpc>
                <a:spcPts val="670"/>
              </a:lnSpc>
            </a:pPr>
            <a:r>
              <a:rPr dirty="0" sz="600" spc="10">
                <a:latin typeface="Times New Roman"/>
                <a:cs typeface="Times New Roman"/>
              </a:rPr>
              <a:t>nm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0662" y="1812024"/>
            <a:ext cx="113030" cy="8255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600" b="1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67270" y="2260307"/>
            <a:ext cx="144145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200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201228" y="2252849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937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201228" y="1443309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890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670552" y="2199838"/>
            <a:ext cx="64769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10" b="1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739032" y="2057377"/>
            <a:ext cx="9525" cy="0"/>
          </a:xfrm>
          <a:custGeom>
            <a:avLst/>
            <a:gdLst/>
            <a:ahLst/>
            <a:cxnLst/>
            <a:rect l="l" t="t" r="r" b="b"/>
            <a:pathLst>
              <a:path w="9525" h="0">
                <a:moveTo>
                  <a:pt x="0" y="0"/>
                </a:moveTo>
                <a:lnTo>
                  <a:pt x="89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54514" y="2057377"/>
            <a:ext cx="9525" cy="0"/>
          </a:xfrm>
          <a:custGeom>
            <a:avLst/>
            <a:gdLst/>
            <a:ahLst/>
            <a:cxnLst/>
            <a:rect l="l" t="t" r="r" b="b"/>
            <a:pathLst>
              <a:path w="9525" h="0">
                <a:moveTo>
                  <a:pt x="93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572113" y="1994991"/>
            <a:ext cx="16383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 b="1">
                <a:latin typeface="Times New Roman"/>
                <a:cs typeface="Times New Roman"/>
              </a:rPr>
              <a:t>0.05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739032" y="1852534"/>
            <a:ext cx="9525" cy="0"/>
          </a:xfrm>
          <a:custGeom>
            <a:avLst/>
            <a:gdLst/>
            <a:ahLst/>
            <a:cxnLst/>
            <a:rect l="l" t="t" r="r" b="b"/>
            <a:pathLst>
              <a:path w="9525" h="0">
                <a:moveTo>
                  <a:pt x="0" y="0"/>
                </a:moveTo>
                <a:lnTo>
                  <a:pt x="89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654514" y="1852534"/>
            <a:ext cx="9525" cy="0"/>
          </a:xfrm>
          <a:custGeom>
            <a:avLst/>
            <a:gdLst/>
            <a:ahLst/>
            <a:cxnLst/>
            <a:rect l="l" t="t" r="r" b="b"/>
            <a:pathLst>
              <a:path w="9525" h="0">
                <a:moveTo>
                  <a:pt x="93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2611489" y="1790144"/>
            <a:ext cx="12446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 b="1">
                <a:latin typeface="Times New Roman"/>
                <a:cs typeface="Times New Roman"/>
              </a:rPr>
              <a:t>0.1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739032" y="1647686"/>
            <a:ext cx="9525" cy="0"/>
          </a:xfrm>
          <a:custGeom>
            <a:avLst/>
            <a:gdLst/>
            <a:ahLst/>
            <a:cxnLst/>
            <a:rect l="l" t="t" r="r" b="b"/>
            <a:pathLst>
              <a:path w="9525" h="0">
                <a:moveTo>
                  <a:pt x="0" y="0"/>
                </a:moveTo>
                <a:lnTo>
                  <a:pt x="891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654514" y="1647686"/>
            <a:ext cx="9525" cy="0"/>
          </a:xfrm>
          <a:custGeom>
            <a:avLst/>
            <a:gdLst/>
            <a:ahLst/>
            <a:cxnLst/>
            <a:rect l="l" t="t" r="r" b="b"/>
            <a:pathLst>
              <a:path w="9525" h="0">
                <a:moveTo>
                  <a:pt x="9377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2572113" y="1585297"/>
            <a:ext cx="16383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 b="1">
                <a:latin typeface="Times New Roman"/>
                <a:cs typeface="Times New Roman"/>
              </a:rPr>
              <a:t>0.15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11489" y="1380919"/>
            <a:ext cx="124460" cy="12001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spc="5" b="1">
                <a:latin typeface="Times New Roman"/>
                <a:cs typeface="Times New Roman"/>
              </a:rPr>
              <a:t>0.2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747942" y="1603152"/>
            <a:ext cx="916305" cy="642620"/>
          </a:xfrm>
          <a:custGeom>
            <a:avLst/>
            <a:gdLst/>
            <a:ahLst/>
            <a:cxnLst/>
            <a:rect l="l" t="t" r="r" b="b"/>
            <a:pathLst>
              <a:path w="916304" h="642619">
                <a:moveTo>
                  <a:pt x="0" y="0"/>
                </a:moveTo>
                <a:lnTo>
                  <a:pt x="9501" y="51723"/>
                </a:lnTo>
                <a:lnTo>
                  <a:pt x="18268" y="103393"/>
                </a:lnTo>
                <a:lnTo>
                  <a:pt x="26790" y="155025"/>
                </a:lnTo>
                <a:lnTo>
                  <a:pt x="35555" y="206634"/>
                </a:lnTo>
                <a:lnTo>
                  <a:pt x="45055" y="258238"/>
                </a:lnTo>
                <a:lnTo>
                  <a:pt x="55778" y="309852"/>
                </a:lnTo>
                <a:lnTo>
                  <a:pt x="65418" y="355386"/>
                </a:lnTo>
                <a:lnTo>
                  <a:pt x="77150" y="402598"/>
                </a:lnTo>
                <a:lnTo>
                  <a:pt x="92026" y="448789"/>
                </a:lnTo>
                <a:lnTo>
                  <a:pt x="111095" y="491261"/>
                </a:lnTo>
                <a:lnTo>
                  <a:pt x="148721" y="514953"/>
                </a:lnTo>
                <a:lnTo>
                  <a:pt x="166406" y="509542"/>
                </a:lnTo>
                <a:lnTo>
                  <a:pt x="181172" y="501188"/>
                </a:lnTo>
                <a:lnTo>
                  <a:pt x="195252" y="491739"/>
                </a:lnTo>
                <a:lnTo>
                  <a:pt x="208854" y="481581"/>
                </a:lnTo>
                <a:lnTo>
                  <a:pt x="222190" y="471100"/>
                </a:lnTo>
                <a:lnTo>
                  <a:pt x="249065" y="450824"/>
                </a:lnTo>
                <a:lnTo>
                  <a:pt x="304892" y="411833"/>
                </a:lnTo>
                <a:lnTo>
                  <a:pt x="364595" y="379902"/>
                </a:lnTo>
                <a:lnTo>
                  <a:pt x="394144" y="375321"/>
                </a:lnTo>
                <a:lnTo>
                  <a:pt x="423264" y="381013"/>
                </a:lnTo>
                <a:lnTo>
                  <a:pt x="453286" y="397974"/>
                </a:lnTo>
                <a:lnTo>
                  <a:pt x="484430" y="424983"/>
                </a:lnTo>
                <a:lnTo>
                  <a:pt x="511578" y="454214"/>
                </a:lnTo>
                <a:lnTo>
                  <a:pt x="537354" y="484624"/>
                </a:lnTo>
                <a:lnTo>
                  <a:pt x="564381" y="515167"/>
                </a:lnTo>
                <a:lnTo>
                  <a:pt x="618826" y="562043"/>
                </a:lnTo>
                <a:lnTo>
                  <a:pt x="684387" y="590166"/>
                </a:lnTo>
                <a:lnTo>
                  <a:pt x="740065" y="600994"/>
                </a:lnTo>
                <a:lnTo>
                  <a:pt x="767895" y="606507"/>
                </a:lnTo>
                <a:lnTo>
                  <a:pt x="795482" y="613134"/>
                </a:lnTo>
                <a:lnTo>
                  <a:pt x="825401" y="621186"/>
                </a:lnTo>
                <a:lnTo>
                  <a:pt x="855479" y="628634"/>
                </a:lnTo>
                <a:lnTo>
                  <a:pt x="885675" y="635598"/>
                </a:lnTo>
                <a:lnTo>
                  <a:pt x="915949" y="642198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739032" y="1578778"/>
            <a:ext cx="9525" cy="24765"/>
          </a:xfrm>
          <a:custGeom>
            <a:avLst/>
            <a:gdLst/>
            <a:ahLst/>
            <a:cxnLst/>
            <a:rect l="l" t="t" r="r" b="b"/>
            <a:pathLst>
              <a:path w="9525" h="24765">
                <a:moveTo>
                  <a:pt x="0" y="0"/>
                </a:moveTo>
                <a:lnTo>
                  <a:pt x="8910" y="24373"/>
                </a:lnTo>
              </a:path>
            </a:pathLst>
          </a:custGeom>
          <a:ln w="112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3129465" y="2260307"/>
            <a:ext cx="606425" cy="2006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675"/>
              </a:lnSpc>
              <a:spcBef>
                <a:spcPts val="120"/>
              </a:spcBef>
              <a:tabLst>
                <a:tab pos="474980" algn="l"/>
              </a:tabLst>
            </a:pPr>
            <a:r>
              <a:rPr dirty="0" sz="600" spc="10" b="1">
                <a:latin typeface="Times New Roman"/>
                <a:cs typeface="Times New Roman"/>
              </a:rPr>
              <a:t>250</a:t>
            </a:r>
            <a:r>
              <a:rPr dirty="0" sz="600" spc="10" b="1">
                <a:latin typeface="Times New Roman"/>
                <a:cs typeface="Times New Roman"/>
              </a:rPr>
              <a:t>	</a:t>
            </a:r>
            <a:r>
              <a:rPr dirty="0" sz="600" spc="10" b="1">
                <a:latin typeface="Times New Roman"/>
                <a:cs typeface="Times New Roman"/>
              </a:rPr>
              <a:t>300</a:t>
            </a:r>
            <a:endParaRPr sz="600">
              <a:latin typeface="Times New Roman"/>
              <a:cs typeface="Times New Roman"/>
            </a:endParaRPr>
          </a:p>
          <a:p>
            <a:pPr marL="16510">
              <a:lnSpc>
                <a:spcPts val="675"/>
              </a:lnSpc>
            </a:pPr>
            <a:r>
              <a:rPr dirty="0" sz="600" spc="5" b="1">
                <a:latin typeface="Times New Roman"/>
                <a:cs typeface="Times New Roman"/>
              </a:rPr>
              <a:t>nm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459280" y="1812024"/>
            <a:ext cx="113030" cy="8255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600" b="1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50418" y="291574"/>
            <a:ext cx="1050290" cy="7645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60325" rIns="0" bIns="0" rtlCol="0" vert="horz">
            <a:spAutoFit/>
          </a:bodyPr>
          <a:lstStyle/>
          <a:p>
            <a:pPr algn="r" marR="133350">
              <a:lnSpc>
                <a:spcPct val="100000"/>
              </a:lnSpc>
              <a:spcBef>
                <a:spcPts val="475"/>
              </a:spcBef>
            </a:pPr>
            <a:r>
              <a:rPr dirty="0" sz="600" spc="5">
                <a:latin typeface="Times New Roman"/>
                <a:cs typeface="Times New Roman"/>
              </a:rPr>
              <a:t>(1)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739032" y="291574"/>
            <a:ext cx="925194" cy="76454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algn="r" marR="120014">
              <a:lnSpc>
                <a:spcPct val="100000"/>
              </a:lnSpc>
              <a:spcBef>
                <a:spcPts val="520"/>
              </a:spcBef>
            </a:pPr>
            <a:r>
              <a:rPr dirty="0" sz="600" spc="5">
                <a:latin typeface="Times New Roman"/>
                <a:cs typeface="Times New Roman"/>
              </a:rPr>
              <a:t>(2)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50418" y="1443309"/>
            <a:ext cx="1050290" cy="81915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600">
              <a:latin typeface="Times New Roman"/>
              <a:cs typeface="Times New Roman"/>
            </a:endParaRPr>
          </a:p>
          <a:p>
            <a:pPr algn="r" marR="121285">
              <a:lnSpc>
                <a:spcPct val="100000"/>
              </a:lnSpc>
            </a:pPr>
            <a:r>
              <a:rPr dirty="0" sz="600" spc="5">
                <a:latin typeface="Times New Roman"/>
                <a:cs typeface="Times New Roman"/>
              </a:rPr>
              <a:t>(3)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739032" y="1443309"/>
            <a:ext cx="925194" cy="81915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550">
              <a:latin typeface="Times New Roman"/>
              <a:cs typeface="Times New Roman"/>
            </a:endParaRPr>
          </a:p>
          <a:p>
            <a:pPr algn="r" marR="114300">
              <a:lnSpc>
                <a:spcPct val="100000"/>
              </a:lnSpc>
            </a:pPr>
            <a:r>
              <a:rPr dirty="0" sz="600" spc="5">
                <a:latin typeface="Times New Roman"/>
                <a:cs typeface="Times New Roman"/>
              </a:rPr>
              <a:t>(4)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5844" y="2562938"/>
            <a:ext cx="4333240" cy="42037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3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12:</a:t>
            </a:r>
            <a:r>
              <a:rPr dirty="0" sz="1000" spc="19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扑</a:t>
            </a:r>
            <a:r>
              <a:rPr dirty="0" sz="1050" spc="-5">
                <a:latin typeface="Arial Unicode MS"/>
                <a:cs typeface="Arial Unicode MS"/>
              </a:rPr>
              <a:t>尔敏</a:t>
            </a:r>
            <a:r>
              <a:rPr dirty="0" sz="1000" spc="35">
                <a:latin typeface="Georgia"/>
                <a:cs typeface="Georgia"/>
              </a:rPr>
              <a:t>(1)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50" spc="-10">
                <a:latin typeface="Arial Unicode MS"/>
                <a:cs typeface="Arial Unicode MS"/>
              </a:rPr>
              <a:t>对</a:t>
            </a:r>
            <a:r>
              <a:rPr dirty="0" sz="1050" spc="-5">
                <a:latin typeface="Arial Unicode MS"/>
                <a:cs typeface="Arial Unicode MS"/>
              </a:rPr>
              <a:t>乙酰氨基</a:t>
            </a:r>
            <a:r>
              <a:rPr dirty="0" sz="1050" spc="-10">
                <a:latin typeface="Arial Unicode MS"/>
                <a:cs typeface="Arial Unicode MS"/>
              </a:rPr>
              <a:t>酸</a:t>
            </a:r>
            <a:r>
              <a:rPr dirty="0" sz="1000" spc="-10">
                <a:latin typeface="Georgia"/>
                <a:cs typeface="Georgia"/>
              </a:rPr>
              <a:t>(2)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50" spc="-5">
                <a:latin typeface="Arial Unicode MS"/>
                <a:cs typeface="Arial Unicode MS"/>
              </a:rPr>
              <a:t>盐酸</a:t>
            </a:r>
            <a:r>
              <a:rPr dirty="0" sz="1050" spc="-10">
                <a:latin typeface="Arial Unicode MS"/>
                <a:cs typeface="Arial Unicode MS"/>
              </a:rPr>
              <a:t>伪</a:t>
            </a:r>
            <a:r>
              <a:rPr dirty="0" sz="1050" spc="-5">
                <a:latin typeface="Arial Unicode MS"/>
                <a:cs typeface="Arial Unicode MS"/>
              </a:rPr>
              <a:t>麻黄碱</a:t>
            </a:r>
            <a:r>
              <a:rPr dirty="0" sz="1000" spc="-15">
                <a:latin typeface="Georgia"/>
                <a:cs typeface="Georgia"/>
              </a:rPr>
              <a:t>(3)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r>
              <a:rPr dirty="0" sz="1050" spc="-10">
                <a:latin typeface="Arial Unicode MS"/>
                <a:cs typeface="Arial Unicode MS"/>
              </a:rPr>
              <a:t>溴</a:t>
            </a:r>
            <a:r>
              <a:rPr dirty="0" sz="1050" spc="-5">
                <a:latin typeface="Arial Unicode MS"/>
                <a:cs typeface="Arial Unicode MS"/>
              </a:rPr>
              <a:t>酸右美沙</a:t>
            </a:r>
            <a:r>
              <a:rPr dirty="0" sz="1050" spc="-10">
                <a:latin typeface="Arial Unicode MS"/>
                <a:cs typeface="Arial Unicode MS"/>
              </a:rPr>
              <a:t>芬</a:t>
            </a:r>
            <a:r>
              <a:rPr dirty="0" sz="1000" spc="-20">
                <a:latin typeface="Georgia"/>
                <a:cs typeface="Georgia"/>
              </a:rPr>
              <a:t>(4)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latin typeface="Arial Unicode MS"/>
                <a:cs typeface="Arial Unicode MS"/>
              </a:rPr>
              <a:t>吸光光</a:t>
            </a:r>
            <a:r>
              <a:rPr dirty="0" sz="1050" spc="-10">
                <a:latin typeface="Arial Unicode MS"/>
                <a:cs typeface="Arial Unicode MS"/>
              </a:rPr>
              <a:t>谱</a:t>
            </a:r>
            <a:r>
              <a:rPr dirty="0" sz="1050" spc="-5">
                <a:latin typeface="Arial Unicode MS"/>
                <a:cs typeface="Arial Unicode MS"/>
              </a:rPr>
              <a:t>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76" name="object 7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9155" y="347305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19155" y="2348246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57370" y="347305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19155" y="347305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19155" y="2348246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9155" y="347305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9155" y="232268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19155" y="347305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40181" y="2345958"/>
            <a:ext cx="1581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200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26607" y="232268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26607" y="347305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47635" y="2345958"/>
            <a:ext cx="1581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220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34059" y="232268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34059" y="347305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055089" y="2345958"/>
            <a:ext cx="1581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240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41989" y="232268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41989" y="347305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563017" y="2345958"/>
            <a:ext cx="1581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260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49441" y="232268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49441" y="347305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070471" y="2345958"/>
            <a:ext cx="1581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280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57370" y="2322684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57370" y="347305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78398" y="2345958"/>
            <a:ext cx="15811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5">
                <a:latin typeface="Arial"/>
                <a:cs typeface="Arial"/>
              </a:rPr>
              <a:t>300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19155" y="234824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631808" y="234824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045862" y="2285366"/>
            <a:ext cx="6985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19155" y="214800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631808" y="214800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19155" y="194777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31808" y="194777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119155" y="174753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31808" y="174753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19155" y="154777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31808" y="154777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19155" y="134753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31808" y="134753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19155" y="114730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31808" y="114730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19155" y="94753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631808" y="94753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19155" y="74730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31808" y="747300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19155" y="54706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31808" y="547064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19155" y="34730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631808" y="34730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979589" y="284426"/>
            <a:ext cx="136525" cy="1922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Arial"/>
                <a:cs typeface="Arial"/>
              </a:rPr>
              <a:t>5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600" spc="5">
                <a:latin typeface="Arial"/>
                <a:cs typeface="Arial"/>
              </a:rPr>
              <a:t>4.5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600" spc="10"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3.5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600" spc="10"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2.5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600" spc="10"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1.5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600" spc="1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600" spc="5">
                <a:latin typeface="Arial"/>
                <a:cs typeface="Arial"/>
              </a:rPr>
              <a:t>0.5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119155" y="347305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19155" y="2348246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657370" y="347305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119155" y="347305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144240" y="551324"/>
            <a:ext cx="2513330" cy="1787525"/>
          </a:xfrm>
          <a:custGeom>
            <a:avLst/>
            <a:gdLst/>
            <a:ahLst/>
            <a:cxnLst/>
            <a:rect l="l" t="t" r="r" b="b"/>
            <a:pathLst>
              <a:path w="2513329" h="1787525">
                <a:moveTo>
                  <a:pt x="0" y="0"/>
                </a:moveTo>
                <a:lnTo>
                  <a:pt x="25562" y="91364"/>
                </a:lnTo>
                <a:lnTo>
                  <a:pt x="50652" y="190772"/>
                </a:lnTo>
                <a:lnTo>
                  <a:pt x="76214" y="295860"/>
                </a:lnTo>
                <a:lnTo>
                  <a:pt x="101776" y="407101"/>
                </a:lnTo>
                <a:lnTo>
                  <a:pt x="126867" y="515029"/>
                </a:lnTo>
                <a:lnTo>
                  <a:pt x="152429" y="598345"/>
                </a:lnTo>
                <a:lnTo>
                  <a:pt x="177514" y="662250"/>
                </a:lnTo>
                <a:lnTo>
                  <a:pt x="203076" y="713374"/>
                </a:lnTo>
                <a:lnTo>
                  <a:pt x="228638" y="750768"/>
                </a:lnTo>
                <a:lnTo>
                  <a:pt x="253728" y="804733"/>
                </a:lnTo>
                <a:lnTo>
                  <a:pt x="279290" y="851125"/>
                </a:lnTo>
                <a:lnTo>
                  <a:pt x="304853" y="880470"/>
                </a:lnTo>
                <a:lnTo>
                  <a:pt x="355505" y="900829"/>
                </a:lnTo>
                <a:lnTo>
                  <a:pt x="380590" y="904141"/>
                </a:lnTo>
                <a:lnTo>
                  <a:pt x="406152" y="933963"/>
                </a:lnTo>
                <a:lnTo>
                  <a:pt x="431714" y="1027691"/>
                </a:lnTo>
                <a:lnTo>
                  <a:pt x="456805" y="1143191"/>
                </a:lnTo>
                <a:lnTo>
                  <a:pt x="482367" y="1233136"/>
                </a:lnTo>
                <a:lnTo>
                  <a:pt x="507929" y="1292780"/>
                </a:lnTo>
                <a:lnTo>
                  <a:pt x="533019" y="1329703"/>
                </a:lnTo>
                <a:lnTo>
                  <a:pt x="583666" y="1368989"/>
                </a:lnTo>
                <a:lnTo>
                  <a:pt x="634790" y="1393131"/>
                </a:lnTo>
                <a:lnTo>
                  <a:pt x="659881" y="1404969"/>
                </a:lnTo>
                <a:lnTo>
                  <a:pt x="710534" y="1437155"/>
                </a:lnTo>
                <a:lnTo>
                  <a:pt x="761658" y="1483547"/>
                </a:lnTo>
                <a:lnTo>
                  <a:pt x="786743" y="1510529"/>
                </a:lnTo>
                <a:lnTo>
                  <a:pt x="812305" y="1537040"/>
                </a:lnTo>
                <a:lnTo>
                  <a:pt x="862957" y="1584847"/>
                </a:lnTo>
                <a:lnTo>
                  <a:pt x="913610" y="1618929"/>
                </a:lnTo>
                <a:lnTo>
                  <a:pt x="964734" y="1636448"/>
                </a:lnTo>
                <a:lnTo>
                  <a:pt x="1015381" y="1643549"/>
                </a:lnTo>
                <a:lnTo>
                  <a:pt x="1066034" y="1644969"/>
                </a:lnTo>
                <a:lnTo>
                  <a:pt x="1091596" y="1644020"/>
                </a:lnTo>
                <a:lnTo>
                  <a:pt x="1116686" y="1642128"/>
                </a:lnTo>
                <a:lnTo>
                  <a:pt x="1142248" y="1640708"/>
                </a:lnTo>
                <a:lnTo>
                  <a:pt x="1167810" y="1639760"/>
                </a:lnTo>
                <a:lnTo>
                  <a:pt x="1192895" y="1638340"/>
                </a:lnTo>
                <a:lnTo>
                  <a:pt x="1218457" y="1635499"/>
                </a:lnTo>
                <a:lnTo>
                  <a:pt x="1244019" y="1631710"/>
                </a:lnTo>
                <a:lnTo>
                  <a:pt x="1269110" y="1628870"/>
                </a:lnTo>
                <a:lnTo>
                  <a:pt x="1294672" y="1629347"/>
                </a:lnTo>
                <a:lnTo>
                  <a:pt x="1319763" y="1630290"/>
                </a:lnTo>
                <a:lnTo>
                  <a:pt x="1345325" y="1629347"/>
                </a:lnTo>
                <a:lnTo>
                  <a:pt x="1370887" y="1625087"/>
                </a:lnTo>
                <a:lnTo>
                  <a:pt x="1395972" y="1620350"/>
                </a:lnTo>
                <a:lnTo>
                  <a:pt x="1421534" y="1619407"/>
                </a:lnTo>
                <a:lnTo>
                  <a:pt x="1446624" y="1624138"/>
                </a:lnTo>
                <a:lnTo>
                  <a:pt x="1472186" y="1630767"/>
                </a:lnTo>
                <a:lnTo>
                  <a:pt x="1497748" y="1633608"/>
                </a:lnTo>
                <a:lnTo>
                  <a:pt x="1522839" y="1633608"/>
                </a:lnTo>
                <a:lnTo>
                  <a:pt x="1548401" y="1634079"/>
                </a:lnTo>
                <a:lnTo>
                  <a:pt x="1573963" y="1637868"/>
                </a:lnTo>
                <a:lnTo>
                  <a:pt x="1599048" y="1647332"/>
                </a:lnTo>
                <a:lnTo>
                  <a:pt x="1624610" y="1659641"/>
                </a:lnTo>
                <a:lnTo>
                  <a:pt x="1649700" y="1668633"/>
                </a:lnTo>
                <a:lnTo>
                  <a:pt x="1675263" y="1674314"/>
                </a:lnTo>
                <a:lnTo>
                  <a:pt x="1700825" y="1679523"/>
                </a:lnTo>
                <a:lnTo>
                  <a:pt x="1725915" y="1686152"/>
                </a:lnTo>
                <a:lnTo>
                  <a:pt x="1751477" y="1693724"/>
                </a:lnTo>
                <a:lnTo>
                  <a:pt x="1777039" y="1701773"/>
                </a:lnTo>
                <a:lnTo>
                  <a:pt x="1802124" y="1709817"/>
                </a:lnTo>
                <a:lnTo>
                  <a:pt x="1827686" y="1716446"/>
                </a:lnTo>
                <a:lnTo>
                  <a:pt x="1852777" y="1721655"/>
                </a:lnTo>
                <a:lnTo>
                  <a:pt x="1878339" y="1724966"/>
                </a:lnTo>
                <a:lnTo>
                  <a:pt x="1903901" y="1726858"/>
                </a:lnTo>
                <a:lnTo>
                  <a:pt x="1928991" y="1728278"/>
                </a:lnTo>
                <a:lnTo>
                  <a:pt x="1954553" y="1730647"/>
                </a:lnTo>
                <a:lnTo>
                  <a:pt x="1979638" y="1733016"/>
                </a:lnTo>
                <a:lnTo>
                  <a:pt x="2005200" y="1735856"/>
                </a:lnTo>
                <a:lnTo>
                  <a:pt x="2030762" y="1737748"/>
                </a:lnTo>
                <a:lnTo>
                  <a:pt x="2055853" y="1739639"/>
                </a:lnTo>
                <a:lnTo>
                  <a:pt x="2081415" y="1741059"/>
                </a:lnTo>
                <a:lnTo>
                  <a:pt x="2106977" y="1742479"/>
                </a:lnTo>
                <a:lnTo>
                  <a:pt x="2157630" y="1746268"/>
                </a:lnTo>
                <a:lnTo>
                  <a:pt x="2208277" y="1754789"/>
                </a:lnTo>
                <a:lnTo>
                  <a:pt x="2233839" y="1760941"/>
                </a:lnTo>
                <a:lnTo>
                  <a:pt x="2258929" y="1766621"/>
                </a:lnTo>
                <a:lnTo>
                  <a:pt x="2310053" y="1775142"/>
                </a:lnTo>
                <a:lnTo>
                  <a:pt x="2360706" y="1780822"/>
                </a:lnTo>
                <a:lnTo>
                  <a:pt x="2411353" y="1783663"/>
                </a:lnTo>
                <a:lnTo>
                  <a:pt x="2436915" y="1784611"/>
                </a:lnTo>
                <a:lnTo>
                  <a:pt x="2462006" y="1785560"/>
                </a:lnTo>
                <a:lnTo>
                  <a:pt x="2487568" y="1786503"/>
                </a:lnTo>
                <a:lnTo>
                  <a:pt x="2513130" y="1786980"/>
                </a:lnTo>
              </a:path>
            </a:pathLst>
          </a:custGeom>
          <a:ln w="11360">
            <a:solidFill>
              <a:srgbClr val="0000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119155" y="512510"/>
            <a:ext cx="25400" cy="39370"/>
          </a:xfrm>
          <a:custGeom>
            <a:avLst/>
            <a:gdLst/>
            <a:ahLst/>
            <a:cxnLst/>
            <a:rect l="l" t="t" r="r" b="b"/>
            <a:pathLst>
              <a:path w="25400" h="39370">
                <a:moveTo>
                  <a:pt x="0" y="0"/>
                </a:moveTo>
                <a:lnTo>
                  <a:pt x="25084" y="38814"/>
                </a:lnTo>
              </a:path>
            </a:pathLst>
          </a:custGeom>
          <a:ln w="11360">
            <a:solidFill>
              <a:srgbClr val="0000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144240" y="781860"/>
            <a:ext cx="2513330" cy="1556385"/>
          </a:xfrm>
          <a:custGeom>
            <a:avLst/>
            <a:gdLst/>
            <a:ahLst/>
            <a:cxnLst/>
            <a:rect l="l" t="t" r="r" b="b"/>
            <a:pathLst>
              <a:path w="2513329" h="1556385">
                <a:moveTo>
                  <a:pt x="0" y="320468"/>
                </a:moveTo>
                <a:lnTo>
                  <a:pt x="25562" y="361651"/>
                </a:lnTo>
                <a:lnTo>
                  <a:pt x="50652" y="389111"/>
                </a:lnTo>
                <a:lnTo>
                  <a:pt x="76214" y="399052"/>
                </a:lnTo>
                <a:lnTo>
                  <a:pt x="101776" y="360231"/>
                </a:lnTo>
                <a:lnTo>
                  <a:pt x="126867" y="264612"/>
                </a:lnTo>
                <a:lnTo>
                  <a:pt x="152429" y="191238"/>
                </a:lnTo>
                <a:lnTo>
                  <a:pt x="177514" y="155735"/>
                </a:lnTo>
                <a:lnTo>
                  <a:pt x="203076" y="60116"/>
                </a:lnTo>
                <a:lnTo>
                  <a:pt x="228638" y="0"/>
                </a:lnTo>
                <a:lnTo>
                  <a:pt x="253728" y="60116"/>
                </a:lnTo>
                <a:lnTo>
                  <a:pt x="279290" y="180825"/>
                </a:lnTo>
                <a:lnTo>
                  <a:pt x="304853" y="260352"/>
                </a:lnTo>
                <a:lnTo>
                  <a:pt x="329943" y="279762"/>
                </a:lnTo>
                <a:lnTo>
                  <a:pt x="355505" y="279762"/>
                </a:lnTo>
                <a:lnTo>
                  <a:pt x="380590" y="348399"/>
                </a:lnTo>
                <a:lnTo>
                  <a:pt x="406152" y="504140"/>
                </a:lnTo>
                <a:lnTo>
                  <a:pt x="431714" y="689698"/>
                </a:lnTo>
                <a:lnTo>
                  <a:pt x="456805" y="861532"/>
                </a:lnTo>
                <a:lnTo>
                  <a:pt x="482367" y="981770"/>
                </a:lnTo>
                <a:lnTo>
                  <a:pt x="507929" y="1057036"/>
                </a:lnTo>
                <a:lnTo>
                  <a:pt x="533019" y="1102008"/>
                </a:lnTo>
                <a:lnTo>
                  <a:pt x="583666" y="1144611"/>
                </a:lnTo>
                <a:lnTo>
                  <a:pt x="634790" y="1168753"/>
                </a:lnTo>
                <a:lnTo>
                  <a:pt x="659881" y="1180114"/>
                </a:lnTo>
                <a:lnTo>
                  <a:pt x="710534" y="1210880"/>
                </a:lnTo>
                <a:lnTo>
                  <a:pt x="761658" y="1256800"/>
                </a:lnTo>
                <a:lnTo>
                  <a:pt x="786743" y="1283305"/>
                </a:lnTo>
                <a:lnTo>
                  <a:pt x="812305" y="1309345"/>
                </a:lnTo>
                <a:lnTo>
                  <a:pt x="862957" y="1355260"/>
                </a:lnTo>
                <a:lnTo>
                  <a:pt x="922028" y="1393207"/>
                </a:lnTo>
                <a:lnTo>
                  <a:pt x="989819" y="1410644"/>
                </a:lnTo>
                <a:lnTo>
                  <a:pt x="1040112" y="1414752"/>
                </a:lnTo>
                <a:lnTo>
                  <a:pt x="1091044" y="1414072"/>
                </a:lnTo>
                <a:lnTo>
                  <a:pt x="1142133" y="1411204"/>
                </a:lnTo>
                <a:lnTo>
                  <a:pt x="1192895" y="1408753"/>
                </a:lnTo>
                <a:lnTo>
                  <a:pt x="1218457" y="1405912"/>
                </a:lnTo>
                <a:lnTo>
                  <a:pt x="1244019" y="1402123"/>
                </a:lnTo>
                <a:lnTo>
                  <a:pt x="1269110" y="1399755"/>
                </a:lnTo>
                <a:lnTo>
                  <a:pt x="1294672" y="1400232"/>
                </a:lnTo>
                <a:lnTo>
                  <a:pt x="1328982" y="1401650"/>
                </a:lnTo>
                <a:lnTo>
                  <a:pt x="1359617" y="1397794"/>
                </a:lnTo>
                <a:lnTo>
                  <a:pt x="1389495" y="1392789"/>
                </a:lnTo>
                <a:lnTo>
                  <a:pt x="1421534" y="1390763"/>
                </a:lnTo>
                <a:lnTo>
                  <a:pt x="1446624" y="1395494"/>
                </a:lnTo>
                <a:lnTo>
                  <a:pt x="1472186" y="1401652"/>
                </a:lnTo>
                <a:lnTo>
                  <a:pt x="1497748" y="1404964"/>
                </a:lnTo>
                <a:lnTo>
                  <a:pt x="1548401" y="1404964"/>
                </a:lnTo>
                <a:lnTo>
                  <a:pt x="1573963" y="1409224"/>
                </a:lnTo>
                <a:lnTo>
                  <a:pt x="1599048" y="1418693"/>
                </a:lnTo>
                <a:lnTo>
                  <a:pt x="1624610" y="1430526"/>
                </a:lnTo>
                <a:lnTo>
                  <a:pt x="1649700" y="1439518"/>
                </a:lnTo>
                <a:lnTo>
                  <a:pt x="1707376" y="1451450"/>
                </a:lnTo>
                <a:lnTo>
                  <a:pt x="1770800" y="1469401"/>
                </a:lnTo>
                <a:lnTo>
                  <a:pt x="1802124" y="1479281"/>
                </a:lnTo>
                <a:lnTo>
                  <a:pt x="1827686" y="1485910"/>
                </a:lnTo>
                <a:lnTo>
                  <a:pt x="1852777" y="1491119"/>
                </a:lnTo>
                <a:lnTo>
                  <a:pt x="1878339" y="1493959"/>
                </a:lnTo>
                <a:lnTo>
                  <a:pt x="1903901" y="1495851"/>
                </a:lnTo>
                <a:lnTo>
                  <a:pt x="1935779" y="1498157"/>
                </a:lnTo>
                <a:lnTo>
                  <a:pt x="1967391" y="1501108"/>
                </a:lnTo>
                <a:lnTo>
                  <a:pt x="1998974" y="1504270"/>
                </a:lnTo>
                <a:lnTo>
                  <a:pt x="2030762" y="1507212"/>
                </a:lnTo>
                <a:lnTo>
                  <a:pt x="2055853" y="1509103"/>
                </a:lnTo>
                <a:lnTo>
                  <a:pt x="2106977" y="1511944"/>
                </a:lnTo>
                <a:lnTo>
                  <a:pt x="2132068" y="1513364"/>
                </a:lnTo>
                <a:lnTo>
                  <a:pt x="2164276" y="1516586"/>
                </a:lnTo>
                <a:lnTo>
                  <a:pt x="2195946" y="1522111"/>
                </a:lnTo>
                <a:lnTo>
                  <a:pt x="2227392" y="1528943"/>
                </a:lnTo>
                <a:lnTo>
                  <a:pt x="2258929" y="1536086"/>
                </a:lnTo>
                <a:lnTo>
                  <a:pt x="2308889" y="1544363"/>
                </a:lnTo>
                <a:lnTo>
                  <a:pt x="2359796" y="1549754"/>
                </a:lnTo>
                <a:lnTo>
                  <a:pt x="2411143" y="1552994"/>
                </a:lnTo>
                <a:lnTo>
                  <a:pt x="2462423" y="1554820"/>
                </a:lnTo>
                <a:lnTo>
                  <a:pt x="2513130" y="1555967"/>
                </a:lnTo>
              </a:path>
            </a:pathLst>
          </a:custGeom>
          <a:ln w="1136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119155" y="1061622"/>
            <a:ext cx="25400" cy="41275"/>
          </a:xfrm>
          <a:custGeom>
            <a:avLst/>
            <a:gdLst/>
            <a:ahLst/>
            <a:cxnLst/>
            <a:rect l="l" t="t" r="r" b="b"/>
            <a:pathLst>
              <a:path w="25400" h="41275">
                <a:moveTo>
                  <a:pt x="0" y="0"/>
                </a:moveTo>
                <a:lnTo>
                  <a:pt x="25084" y="40706"/>
                </a:lnTo>
              </a:path>
            </a:pathLst>
          </a:custGeom>
          <a:ln w="1136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2324437" y="2425484"/>
            <a:ext cx="12763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5">
                <a:latin typeface="Times New Roman"/>
                <a:cs typeface="Times New Roman"/>
              </a:rPr>
              <a:t>nm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64054" y="1306754"/>
            <a:ext cx="116205" cy="83185"/>
          </a:xfrm>
          <a:prstGeom prst="rect">
            <a:avLst/>
          </a:prstGeom>
        </p:spPr>
        <p:txBody>
          <a:bodyPr wrap="square" lIns="0" tIns="88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600">
                <a:latin typeface="Times New Roman"/>
                <a:cs typeface="Times New Roman"/>
              </a:rPr>
              <a:t>A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0788" y="2715666"/>
            <a:ext cx="296672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0">
                <a:solidFill>
                  <a:srgbClr val="3333B2"/>
                </a:solidFill>
                <a:latin typeface="Georgia"/>
                <a:cs typeface="Georgia"/>
              </a:rPr>
              <a:t>13:</a:t>
            </a:r>
            <a:r>
              <a:rPr dirty="0" sz="1000" spc="16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测</a:t>
            </a:r>
            <a:r>
              <a:rPr dirty="0" sz="1050" spc="-225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（实</a:t>
            </a:r>
            <a:r>
              <a:rPr dirty="0" sz="1050" spc="25">
                <a:latin typeface="Arial Unicode MS"/>
                <a:cs typeface="Arial Unicode MS"/>
              </a:rPr>
              <a:t>线</a:t>
            </a:r>
            <a:r>
              <a:rPr dirty="0" sz="1050" spc="-250">
                <a:latin typeface="Arial Unicode MS"/>
                <a:cs typeface="Arial Unicode MS"/>
              </a:rPr>
              <a:t>）</a:t>
            </a:r>
            <a:r>
              <a:rPr dirty="0" sz="1050" spc="-5">
                <a:latin typeface="Arial Unicode MS"/>
                <a:cs typeface="Arial Unicode MS"/>
              </a:rPr>
              <a:t>和计</a:t>
            </a:r>
            <a:r>
              <a:rPr dirty="0" sz="1050" spc="-225">
                <a:latin typeface="Arial Unicode MS"/>
                <a:cs typeface="Arial Unicode MS"/>
              </a:rPr>
              <a:t>算</a:t>
            </a:r>
            <a:r>
              <a:rPr dirty="0" sz="1050" spc="-10">
                <a:latin typeface="Arial Unicode MS"/>
                <a:cs typeface="Arial Unicode MS"/>
              </a:rPr>
              <a:t>（</a:t>
            </a:r>
            <a:r>
              <a:rPr dirty="0" sz="1050" spc="-5">
                <a:latin typeface="Arial Unicode MS"/>
                <a:cs typeface="Arial Unicode MS"/>
              </a:rPr>
              <a:t>虚</a:t>
            </a:r>
            <a:r>
              <a:rPr dirty="0" sz="1050" spc="25">
                <a:latin typeface="Arial Unicode MS"/>
                <a:cs typeface="Arial Unicode MS"/>
              </a:rPr>
              <a:t>线</a:t>
            </a:r>
            <a:r>
              <a:rPr dirty="0" sz="1050" spc="-250">
                <a:latin typeface="Arial Unicode MS"/>
                <a:cs typeface="Arial Unicode MS"/>
              </a:rPr>
              <a:t>）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混合物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谱图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固定波长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的吸光度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205906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32072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582379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444" y="903808"/>
            <a:ext cx="4407535" cy="178752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如果体系中</a:t>
            </a: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-114" b="0" i="1">
                <a:latin typeface="Bookman Old Style"/>
                <a:cs typeface="Bookman Old Style"/>
              </a:rPr>
              <a:t>p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个组</a:t>
            </a:r>
            <a:r>
              <a:rPr dirty="0" sz="1200" spc="-80">
                <a:latin typeface="Arial Unicode MS"/>
                <a:cs typeface="Arial Unicode MS"/>
              </a:rPr>
              <a:t>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根据条件</a:t>
            </a:r>
            <a:r>
              <a:rPr dirty="0" sz="1200" spc="-80">
                <a:latin typeface="Arial Unicode MS"/>
                <a:cs typeface="Arial Unicode MS"/>
              </a:rPr>
              <a:t>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可得在波</a:t>
            </a:r>
            <a:r>
              <a:rPr dirty="0" sz="1200" spc="175">
                <a:latin typeface="Arial Unicode MS"/>
                <a:cs typeface="Arial Unicode MS"/>
              </a:rPr>
              <a:t>长</a:t>
            </a:r>
            <a:r>
              <a:rPr dirty="0" sz="1100" spc="55" b="0" i="1">
                <a:latin typeface="Bookman Old Style"/>
                <a:cs typeface="Bookman Old Style"/>
              </a:rPr>
              <a:t>λ</a:t>
            </a:r>
            <a:r>
              <a:rPr dirty="0" sz="1100" spc="-16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处的吸光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122680">
              <a:lnSpc>
                <a:spcPct val="100000"/>
              </a:lnSpc>
              <a:spcBef>
                <a:spcPts val="425"/>
              </a:spcBef>
              <a:tabLst>
                <a:tab pos="4191635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baseline="-13888" sz="900" spc="120" i="1">
                <a:latin typeface="Verdana"/>
                <a:cs typeface="Verdana"/>
              </a:rPr>
              <a:t>λ</a:t>
            </a:r>
            <a:r>
              <a:rPr dirty="0" baseline="-13888" sz="900" spc="120" i="1">
                <a:latin typeface="Verdana"/>
                <a:cs typeface="Verdana"/>
              </a:rPr>
              <a:t> </a:t>
            </a:r>
            <a:r>
              <a:rPr dirty="0" baseline="-13888" sz="900" spc="-104" i="1">
                <a:latin typeface="Verdana"/>
                <a:cs typeface="Verdan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1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33333" sz="750" spc="-60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33333" sz="750" spc="127">
                <a:latin typeface="Calibri"/>
                <a:cs typeface="Calibri"/>
              </a:rPr>
              <a:t>1</a:t>
            </a:r>
            <a:r>
              <a:rPr dirty="0" baseline="-33333" sz="750">
                <a:latin typeface="Calibri"/>
                <a:cs typeface="Calibri"/>
              </a:rPr>
              <a:t>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33333" sz="750" spc="-60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33333" sz="750" spc="127">
                <a:latin typeface="Calibri"/>
                <a:cs typeface="Calibri"/>
              </a:rPr>
              <a:t>2</a:t>
            </a:r>
            <a:r>
              <a:rPr dirty="0" baseline="-33333" sz="750">
                <a:latin typeface="Calibri"/>
                <a:cs typeface="Calibri"/>
              </a:rPr>
              <a:t>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72" i="1">
                <a:latin typeface="Arial"/>
                <a:cs typeface="Arial"/>
              </a:rPr>
              <a:t>p,λ</a:t>
            </a:r>
            <a:r>
              <a:rPr dirty="0" baseline="-33333" sz="750" spc="-60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27777" sz="750" spc="135" i="1">
                <a:latin typeface="Arial"/>
                <a:cs typeface="Arial"/>
              </a:rPr>
              <a:t>p</a:t>
            </a:r>
            <a:r>
              <a:rPr dirty="0" baseline="-27777" sz="750" i="1">
                <a:latin typeface="Arial"/>
                <a:cs typeface="Arial"/>
              </a:rPr>
              <a:t>	</a:t>
            </a:r>
            <a:r>
              <a:rPr dirty="0" sz="1100" spc="5">
                <a:latin typeface="Georgia"/>
                <a:cs typeface="Georgia"/>
              </a:rPr>
              <a:t>(7)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990"/>
              </a:spcBef>
            </a:pP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ts val="1215"/>
              </a:lnSpc>
              <a:spcBef>
                <a:spcPts val="620"/>
              </a:spcBef>
            </a:pPr>
            <a:r>
              <a:rPr dirty="0" sz="1100" spc="-60" b="0" i="1">
                <a:latin typeface="Bookman Old Style"/>
                <a:cs typeface="Bookman Old Style"/>
              </a:rPr>
              <a:t>c </a:t>
            </a:r>
            <a:r>
              <a:rPr dirty="0" sz="1200" spc="-5">
                <a:latin typeface="Arial Unicode MS"/>
                <a:cs typeface="Arial Unicode MS"/>
              </a:rPr>
              <a:t>是各组分的浓</a:t>
            </a:r>
            <a:r>
              <a:rPr dirty="0" sz="1200" spc="-65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63220">
              <a:lnSpc>
                <a:spcPts val="375"/>
              </a:lnSpc>
            </a:pPr>
            <a:r>
              <a:rPr dirty="0" sz="500" spc="150" i="1">
                <a:latin typeface="Arial"/>
                <a:cs typeface="Arial"/>
              </a:rPr>
              <a:t>i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00">
              <a:latin typeface="Arial"/>
              <a:cs typeface="Arial"/>
            </a:endParaRPr>
          </a:p>
          <a:p>
            <a:pPr marL="303530">
              <a:lnSpc>
                <a:spcPts val="1220"/>
              </a:lnSpc>
              <a:spcBef>
                <a:spcPts val="5"/>
              </a:spcBef>
              <a:tabLst>
                <a:tab pos="519430" algn="l"/>
              </a:tabLst>
            </a:pPr>
            <a:r>
              <a:rPr dirty="0" sz="1100" spc="-90" b="0" i="1">
                <a:latin typeface="Bookman Old Style"/>
                <a:cs typeface="Bookman Old Style"/>
              </a:rPr>
              <a:t>o	</a:t>
            </a:r>
            <a:r>
              <a:rPr dirty="0" sz="1200" spc="-5">
                <a:latin typeface="Arial Unicode MS"/>
                <a:cs typeface="Arial Unicode MS"/>
              </a:rPr>
              <a:t>为各组分在波</a:t>
            </a:r>
            <a:r>
              <a:rPr dirty="0" sz="1200" spc="175">
                <a:latin typeface="Arial Unicode MS"/>
                <a:cs typeface="Arial Unicode MS"/>
              </a:rPr>
              <a:t>长</a:t>
            </a:r>
            <a:r>
              <a:rPr dirty="0" sz="1100" spc="55" b="0" i="1">
                <a:latin typeface="Bookman Old Style"/>
                <a:cs typeface="Bookman Old Style"/>
              </a:rPr>
              <a:t>λ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处的吸光系</a:t>
            </a:r>
            <a:r>
              <a:rPr dirty="0" sz="1200" spc="-65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68300">
              <a:lnSpc>
                <a:spcPts val="380"/>
              </a:lnSpc>
            </a:pPr>
            <a:r>
              <a:rPr dirty="0" sz="500" spc="135" i="1">
                <a:latin typeface="Arial"/>
                <a:cs typeface="Arial"/>
              </a:rPr>
              <a:t>i,λ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">
              <a:latin typeface="Arial"/>
              <a:cs typeface="Arial"/>
            </a:endParaRPr>
          </a:p>
          <a:p>
            <a:pPr marL="303530">
              <a:lnSpc>
                <a:spcPct val="100000"/>
              </a:lnSpc>
              <a:spcBef>
                <a:spcPts val="5"/>
              </a:spcBef>
            </a:pPr>
            <a:r>
              <a:rPr dirty="0" sz="1100" spc="65" b="0" i="1">
                <a:latin typeface="Bookman Old Style"/>
                <a:cs typeface="Bookman Old Style"/>
              </a:rPr>
              <a:t>A</a:t>
            </a:r>
            <a:r>
              <a:rPr dirty="0" baseline="-13888" sz="900" spc="97" i="1">
                <a:latin typeface="Verdana"/>
                <a:cs typeface="Verdana"/>
              </a:rPr>
              <a:t>λ</a:t>
            </a:r>
            <a:r>
              <a:rPr dirty="0" baseline="-13888" sz="900" spc="22" i="1">
                <a:latin typeface="Verdana"/>
                <a:cs typeface="Verdan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是混合物在波</a:t>
            </a:r>
            <a:r>
              <a:rPr dirty="0" sz="1200" spc="175">
                <a:latin typeface="Arial Unicode MS"/>
                <a:cs typeface="Arial Unicode MS"/>
              </a:rPr>
              <a:t>长</a:t>
            </a:r>
            <a:r>
              <a:rPr dirty="0" sz="1100" spc="55" b="0" i="1">
                <a:latin typeface="Bookman Old Style"/>
                <a:cs typeface="Bookman Old Style"/>
              </a:rPr>
              <a:t>λ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处的吸光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5567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多组分定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模型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837565"/>
            <a:ext cx="426148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很显</a:t>
            </a:r>
            <a:r>
              <a:rPr dirty="0" sz="1200" spc="-80">
                <a:latin typeface="Arial Unicode MS"/>
                <a:cs typeface="Arial Unicode MS"/>
              </a:rPr>
              <a:t>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要想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-114" b="0" i="1">
                <a:latin typeface="Bookman Old Style"/>
                <a:cs typeface="Bookman Old Style"/>
              </a:rPr>
              <a:t>p</a:t>
            </a:r>
            <a:r>
              <a:rPr dirty="0" sz="1100" spc="-18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个组份同时定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必须构</a:t>
            </a:r>
            <a:r>
              <a:rPr dirty="0" sz="1200" spc="175">
                <a:latin typeface="Arial Unicode MS"/>
                <a:cs typeface="Arial Unicode MS"/>
              </a:rPr>
              <a:t>造</a:t>
            </a:r>
            <a:r>
              <a:rPr dirty="0" sz="1100" spc="-114" b="0" i="1">
                <a:latin typeface="Bookman Old Style"/>
                <a:cs typeface="Bookman Old Style"/>
              </a:rPr>
              <a:t>p</a:t>
            </a:r>
            <a:r>
              <a:rPr dirty="0" sz="1100" spc="-18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个方</a:t>
            </a:r>
            <a:r>
              <a:rPr dirty="0" sz="1200" spc="-80">
                <a:latin typeface="Arial Unicode MS"/>
                <a:cs typeface="Arial Unicode MS"/>
              </a:rPr>
              <a:t>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这可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以通过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114" b="0" i="1">
                <a:latin typeface="Bookman Old Style"/>
                <a:cs typeface="Bookman Old Style"/>
              </a:rPr>
              <a:t>p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个波长点处进行测量来实</a:t>
            </a:r>
            <a:r>
              <a:rPr dirty="0" sz="1200" spc="-80">
                <a:latin typeface="Arial Unicode MS"/>
                <a:cs typeface="Arial Unicode MS"/>
              </a:rPr>
              <a:t>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如下</a:t>
            </a:r>
            <a:r>
              <a:rPr dirty="0" sz="1100" spc="-45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213" y="1383522"/>
            <a:ext cx="580390" cy="81089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  <a:tabLst>
                <a:tab pos="40640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baseline="-13888" sz="900" spc="120" i="1">
                <a:latin typeface="Verdana"/>
                <a:cs typeface="Verdana"/>
              </a:rPr>
              <a:t>λ</a:t>
            </a:r>
            <a:r>
              <a:rPr dirty="0" baseline="-33333" sz="750" spc="127">
                <a:latin typeface="Calibri"/>
                <a:cs typeface="Calibri"/>
              </a:rPr>
              <a:t>1</a:t>
            </a:r>
            <a:r>
              <a:rPr dirty="0" baseline="-33333" sz="750" spc="127">
                <a:latin typeface="Calibri"/>
                <a:cs typeface="Calibri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  <a:tabLst>
                <a:tab pos="40640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baseline="-13888" sz="900" spc="120" i="1">
                <a:latin typeface="Verdana"/>
                <a:cs typeface="Verdana"/>
              </a:rPr>
              <a:t>λ</a:t>
            </a:r>
            <a:r>
              <a:rPr dirty="0" baseline="-33333" sz="750" spc="127">
                <a:latin typeface="Calibri"/>
                <a:cs typeface="Calibri"/>
              </a:rPr>
              <a:t>2</a:t>
            </a:r>
            <a:r>
              <a:rPr dirty="0" baseline="-33333" sz="750" spc="127">
                <a:latin typeface="Calibri"/>
                <a:cs typeface="Calibri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91440">
              <a:lnSpc>
                <a:spcPct val="100000"/>
              </a:lnSpc>
              <a:spcBef>
                <a:spcPts val="74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 . .</a:t>
            </a:r>
            <a:r>
              <a:rPr dirty="0" sz="1100" spc="10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 . 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479" y="2297328"/>
            <a:ext cx="2832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2626" sz="1650" spc="67" b="0" i="1">
                <a:latin typeface="Bookman Old Style"/>
                <a:cs typeface="Bookman Old Style"/>
              </a:rPr>
              <a:t>A</a:t>
            </a:r>
            <a:r>
              <a:rPr dirty="0" baseline="9259" sz="900" spc="120" i="1">
                <a:latin typeface="Verdana"/>
                <a:cs typeface="Verdana"/>
              </a:rPr>
              <a:t>λ</a:t>
            </a:r>
            <a:r>
              <a:rPr dirty="0" sz="500" spc="90" i="1">
                <a:latin typeface="Arial"/>
                <a:cs typeface="Arial"/>
              </a:rPr>
              <a:t>p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2174" y="1383522"/>
            <a:ext cx="2303145" cy="1072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165">
              <a:lnSpc>
                <a:spcPct val="156100"/>
              </a:lnSpc>
              <a:spcBef>
                <a:spcPts val="100"/>
              </a:spcBef>
            </a:pP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1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1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2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72" i="1">
                <a:latin typeface="Arial"/>
                <a:cs typeface="Arial"/>
              </a:rPr>
              <a:t>p,λ</a:t>
            </a:r>
            <a:r>
              <a:rPr dirty="0" baseline="-44444" sz="750" spc="135" i="1">
                <a:latin typeface="Arial"/>
                <a:cs typeface="Arial"/>
              </a:rPr>
              <a:t>p</a:t>
            </a:r>
            <a:r>
              <a:rPr dirty="0" baseline="-44444" sz="750" spc="15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7" i="1">
                <a:latin typeface="Verdana"/>
                <a:cs typeface="Verdana"/>
              </a:rPr>
              <a:t>p </a:t>
            </a:r>
            <a:r>
              <a:rPr dirty="0" baseline="-13888" sz="900" spc="7" i="1">
                <a:latin typeface="Verdana"/>
                <a:cs typeface="Verdan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1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2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2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2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15" i="1">
                <a:latin typeface="Verdana"/>
                <a:cs typeface="Verdana"/>
              </a:rPr>
              <a:t>p</a:t>
            </a:r>
            <a:endParaRPr baseline="-13888" sz="9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74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  <a:tabLst>
                <a:tab pos="299085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1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44444" sz="750" spc="135" i="1">
                <a:latin typeface="Arial"/>
                <a:cs typeface="Arial"/>
              </a:rPr>
              <a:t>p</a:t>
            </a:r>
            <a:r>
              <a:rPr dirty="0" baseline="-44444" sz="750" spc="15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44444" sz="750" spc="135" i="1">
                <a:latin typeface="Arial"/>
                <a:cs typeface="Arial"/>
              </a:rPr>
              <a:t>p</a:t>
            </a:r>
            <a:r>
              <a:rPr dirty="0" baseline="-44444" sz="750" spc="15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72" i="1">
                <a:latin typeface="Arial"/>
                <a:cs typeface="Arial"/>
              </a:rPr>
              <a:t>p,λ</a:t>
            </a:r>
            <a:r>
              <a:rPr dirty="0" baseline="-44444" sz="750" spc="135" i="1">
                <a:latin typeface="Arial"/>
                <a:cs typeface="Arial"/>
              </a:rPr>
              <a:t>p</a:t>
            </a:r>
            <a:r>
              <a:rPr dirty="0" baseline="-44444" sz="750" spc="15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15" i="1">
                <a:latin typeface="Verdana"/>
                <a:cs typeface="Verdana"/>
              </a:rPr>
              <a:t>p</a:t>
            </a:r>
            <a:endParaRPr baseline="-13888" sz="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9722" y="2263889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(8)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501" y="2613482"/>
            <a:ext cx="363601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通过解上述的线性方程</a:t>
            </a:r>
            <a:r>
              <a:rPr dirty="0" sz="1200" spc="-80">
                <a:latin typeface="Arial Unicode MS"/>
                <a:cs typeface="Arial Unicode MS"/>
              </a:rPr>
              <a:t>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就可以求得各组份的浓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48717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多组分定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量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模型一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般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形式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917854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通常情况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分光光度计能够提供波长扫描光</a:t>
            </a:r>
            <a:r>
              <a:rPr dirty="0" sz="1200" spc="-80">
                <a:latin typeface="Arial Unicode MS"/>
                <a:cs typeface="Arial Unicode MS"/>
              </a:rPr>
              <a:t>谱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其测量点</a:t>
            </a:r>
            <a:r>
              <a:rPr dirty="0" sz="1200" spc="-5">
                <a:latin typeface="Arial Unicode MS"/>
                <a:cs typeface="Arial Unicode MS"/>
              </a:rPr>
              <a:t>数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目</a:t>
            </a:r>
            <a:r>
              <a:rPr dirty="0" sz="1100" spc="-15" b="0" i="1">
                <a:latin typeface="Bookman Old Style"/>
                <a:cs typeface="Bookman Old Style"/>
              </a:rPr>
              <a:t>m</a:t>
            </a:r>
            <a:r>
              <a:rPr dirty="0" sz="1100" spc="-40" b="0" i="1">
                <a:latin typeface="Bookman Old Style"/>
                <a:cs typeface="Bookman Old Style"/>
              </a:rPr>
              <a:t> </a:t>
            </a:r>
            <a:r>
              <a:rPr dirty="0" sz="1100" spc="185" b="0" i="1">
                <a:latin typeface="Bookman Old Style"/>
                <a:cs typeface="Bookman Old Style"/>
              </a:rPr>
              <a:t>&gt;</a:t>
            </a:r>
            <a:r>
              <a:rPr dirty="0" sz="1100" spc="-35" b="0" i="1">
                <a:latin typeface="Bookman Old Style"/>
                <a:cs typeface="Bookman Old Style"/>
              </a:rPr>
              <a:t> </a:t>
            </a:r>
            <a:r>
              <a:rPr dirty="0" sz="1100" spc="-190" b="0" i="1">
                <a:latin typeface="Bookman Old Style"/>
                <a:cs typeface="Bookman Old Style"/>
              </a:rPr>
              <a:t>p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可用此扫描光谱来建立多组分定量模型的一般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2327" y="1463824"/>
            <a:ext cx="580390" cy="81089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  <a:tabLst>
                <a:tab pos="40640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baseline="-13888" sz="900" spc="120" i="1">
                <a:latin typeface="Verdana"/>
                <a:cs typeface="Verdana"/>
              </a:rPr>
              <a:t>λ</a:t>
            </a:r>
            <a:r>
              <a:rPr dirty="0" baseline="-33333" sz="750" spc="127">
                <a:latin typeface="Calibri"/>
                <a:cs typeface="Calibri"/>
              </a:rPr>
              <a:t>1</a:t>
            </a:r>
            <a:r>
              <a:rPr dirty="0" baseline="-33333" sz="750" spc="127">
                <a:latin typeface="Calibri"/>
                <a:cs typeface="Calibri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  <a:tabLst>
                <a:tab pos="406400" algn="l"/>
              </a:tabLst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baseline="-13888" sz="900" spc="120" i="1">
                <a:latin typeface="Verdana"/>
                <a:cs typeface="Verdana"/>
              </a:rPr>
              <a:t>λ</a:t>
            </a:r>
            <a:r>
              <a:rPr dirty="0" baseline="-33333" sz="750" spc="127">
                <a:latin typeface="Calibri"/>
                <a:cs typeface="Calibri"/>
              </a:rPr>
              <a:t>2</a:t>
            </a:r>
            <a:r>
              <a:rPr dirty="0" baseline="-33333" sz="750" spc="127">
                <a:latin typeface="Calibri"/>
                <a:cs typeface="Calibri"/>
              </a:rPr>
              <a:t>	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91440">
              <a:lnSpc>
                <a:spcPct val="100000"/>
              </a:lnSpc>
              <a:spcBef>
                <a:spcPts val="74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 . .</a:t>
            </a:r>
            <a:r>
              <a:rPr dirty="0" sz="1100" spc="10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 . 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7694" y="2377617"/>
            <a:ext cx="3136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2626" sz="1650" spc="67" b="0" i="1">
                <a:latin typeface="Bookman Old Style"/>
                <a:cs typeface="Bookman Old Style"/>
              </a:rPr>
              <a:t>A</a:t>
            </a:r>
            <a:r>
              <a:rPr dirty="0" baseline="9259" sz="900" spc="120" i="1">
                <a:latin typeface="Verdana"/>
                <a:cs typeface="Verdana"/>
              </a:rPr>
              <a:t>λ</a:t>
            </a:r>
            <a:r>
              <a:rPr dirty="0" sz="500" spc="195" i="1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1287" y="1463824"/>
            <a:ext cx="2395855" cy="1072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142875">
              <a:lnSpc>
                <a:spcPct val="156100"/>
              </a:lnSpc>
              <a:spcBef>
                <a:spcPts val="100"/>
              </a:spcBef>
            </a:pP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1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1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2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72" i="1">
                <a:latin typeface="Arial"/>
                <a:cs typeface="Arial"/>
              </a:rPr>
              <a:t>p,λ</a:t>
            </a:r>
            <a:r>
              <a:rPr dirty="0" baseline="-44444" sz="750" spc="135" i="1">
                <a:latin typeface="Arial"/>
                <a:cs typeface="Arial"/>
              </a:rPr>
              <a:t>p</a:t>
            </a:r>
            <a:r>
              <a:rPr dirty="0" baseline="-44444" sz="750" spc="15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7" i="1">
                <a:latin typeface="Verdana"/>
                <a:cs typeface="Verdana"/>
              </a:rPr>
              <a:t>p </a:t>
            </a:r>
            <a:r>
              <a:rPr dirty="0" baseline="-13888" sz="900" spc="7" i="1">
                <a:latin typeface="Verdana"/>
                <a:cs typeface="Verdan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1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2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2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50000" sz="750" spc="127">
                <a:latin typeface="Calibri"/>
                <a:cs typeface="Calibri"/>
              </a:rPr>
              <a:t>2</a:t>
            </a:r>
            <a:r>
              <a:rPr dirty="0" baseline="-50000" sz="750" spc="52">
                <a:latin typeface="Calibri"/>
                <a:cs typeface="Calibri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15" i="1">
                <a:latin typeface="Verdana"/>
                <a:cs typeface="Verdana"/>
              </a:rPr>
              <a:t>p</a:t>
            </a:r>
            <a:endParaRPr baseline="-13888" sz="9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74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  <a:tabLst>
                <a:tab pos="299085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1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44444" sz="750" spc="292" i="1">
                <a:latin typeface="Arial"/>
                <a:cs typeface="Arial"/>
              </a:rPr>
              <a:t>m</a:t>
            </a:r>
            <a:r>
              <a:rPr dirty="0" baseline="-44444" sz="750" spc="15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1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20">
                <a:latin typeface="Calibri"/>
                <a:cs typeface="Calibri"/>
              </a:rPr>
              <a:t>2</a:t>
            </a:r>
            <a:r>
              <a:rPr dirty="0" baseline="-33333" sz="750" spc="195" i="1">
                <a:latin typeface="Arial"/>
                <a:cs typeface="Arial"/>
              </a:rPr>
              <a:t>,λ</a:t>
            </a:r>
            <a:r>
              <a:rPr dirty="0" baseline="-44444" sz="750" spc="292" i="1">
                <a:latin typeface="Arial"/>
                <a:cs typeface="Arial"/>
              </a:rPr>
              <a:t>m</a:t>
            </a:r>
            <a:r>
              <a:rPr dirty="0" baseline="-44444" sz="750" spc="15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97">
                <a:latin typeface="Times New Roman"/>
                <a:cs typeface="Times New Roman"/>
              </a:rPr>
              <a:t>2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75" b="0" i="1">
                <a:latin typeface="Bookman Old Style"/>
                <a:cs typeface="Bookman Old Style"/>
              </a:rPr>
              <a:t>ε</a:t>
            </a:r>
            <a:r>
              <a:rPr dirty="0" baseline="-33333" sz="750" spc="172" i="1">
                <a:latin typeface="Arial"/>
                <a:cs typeface="Arial"/>
              </a:rPr>
              <a:t>p,λ</a:t>
            </a:r>
            <a:r>
              <a:rPr dirty="0" baseline="-44444" sz="750" spc="292" i="1">
                <a:latin typeface="Arial"/>
                <a:cs typeface="Arial"/>
              </a:rPr>
              <a:t>m</a:t>
            </a:r>
            <a:r>
              <a:rPr dirty="0" baseline="-44444" sz="750" spc="15" i="1">
                <a:latin typeface="Arial"/>
                <a:cs typeface="Arial"/>
              </a:rPr>
              <a:t> </a:t>
            </a:r>
            <a:r>
              <a:rPr dirty="0" sz="1100" spc="-140" b="0" i="1">
                <a:latin typeface="Bookman Old Style"/>
                <a:cs typeface="Bookman Old Style"/>
              </a:rPr>
              <a:t>b</a:t>
            </a:r>
            <a:r>
              <a:rPr dirty="0" sz="1100" spc="-120" b="0" i="1">
                <a:latin typeface="Bookman Old Style"/>
                <a:cs typeface="Bookman Old Style"/>
              </a:rPr>
              <a:t>c</a:t>
            </a:r>
            <a:r>
              <a:rPr dirty="0" baseline="-13888" sz="900" spc="15" i="1">
                <a:latin typeface="Verdana"/>
                <a:cs typeface="Verdana"/>
              </a:rPr>
              <a:t>p</a:t>
            </a:r>
            <a:endParaRPr baseline="-13888" sz="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9722" y="234417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(9)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523290"/>
            <a:ext cx="3475354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上述的线性方程组通常以矩阵的形式来表</a:t>
            </a:r>
            <a:r>
              <a:rPr dirty="0" spc="-80"/>
              <a:t>示</a:t>
            </a:r>
            <a:r>
              <a:rPr dirty="0" spc="-185"/>
              <a:t>，</a:t>
            </a:r>
            <a:r>
              <a:rPr dirty="0" spc="-5"/>
              <a:t>如</a:t>
            </a:r>
            <a:r>
              <a:rPr dirty="0" spc="-90"/>
              <a:t>下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899452"/>
            <a:ext cx="4283075" cy="1730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3825">
              <a:lnSpc>
                <a:spcPct val="100000"/>
              </a:lnSpc>
              <a:spcBef>
                <a:spcPts val="90"/>
              </a:spcBef>
            </a:pPr>
            <a:r>
              <a:rPr dirty="0" sz="1100" spc="25" b="1">
                <a:latin typeface="Gill Sans MT"/>
                <a:cs typeface="Gill Sans MT"/>
              </a:rPr>
              <a:t>a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65" b="1">
                <a:latin typeface="Gill Sans MT"/>
                <a:cs typeface="Gill Sans MT"/>
              </a:rPr>
              <a:t>Ec</a:t>
            </a:r>
            <a:endParaRPr sz="11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中，</a:t>
            </a:r>
            <a:r>
              <a:rPr dirty="0" sz="1100" spc="-80" b="1">
                <a:latin typeface="Gill Sans MT"/>
                <a:cs typeface="Gill Sans MT"/>
              </a:rPr>
              <a:t>a</a:t>
            </a:r>
            <a:r>
              <a:rPr dirty="0" sz="1100" spc="-130" b="1">
                <a:latin typeface="Gill Sans MT"/>
                <a:cs typeface="Gill Sans MT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是吸光度向</a:t>
            </a:r>
            <a:r>
              <a:rPr dirty="0" sz="1200" spc="-65">
                <a:latin typeface="Arial Unicode MS"/>
                <a:cs typeface="Arial Unicode MS"/>
              </a:rPr>
              <a:t>量</a:t>
            </a:r>
            <a:r>
              <a:rPr dirty="0" sz="1200" spc="-40">
                <a:latin typeface="Arial Unicode MS"/>
                <a:cs typeface="Arial Unicode MS"/>
              </a:rPr>
              <a:t>；</a:t>
            </a:r>
            <a:r>
              <a:rPr dirty="0" sz="1100" spc="-40" b="1">
                <a:latin typeface="Gill Sans MT"/>
                <a:cs typeface="Gill Sans MT"/>
              </a:rPr>
              <a:t>E</a:t>
            </a:r>
            <a:r>
              <a:rPr dirty="0" sz="1100" spc="-130" b="1">
                <a:latin typeface="Gill Sans MT"/>
                <a:cs typeface="Gill Sans MT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是吸光系数矩</a:t>
            </a:r>
            <a:r>
              <a:rPr dirty="0" sz="1200" spc="-65">
                <a:latin typeface="Arial Unicode MS"/>
                <a:cs typeface="Arial Unicode MS"/>
              </a:rPr>
              <a:t>阵</a:t>
            </a:r>
            <a:r>
              <a:rPr dirty="0" sz="1200" spc="-100">
                <a:latin typeface="Arial Unicode MS"/>
                <a:cs typeface="Arial Unicode MS"/>
              </a:rPr>
              <a:t>；</a:t>
            </a:r>
            <a:r>
              <a:rPr dirty="0" sz="1100" spc="-100" b="1">
                <a:latin typeface="Gill Sans MT"/>
                <a:cs typeface="Gill Sans MT"/>
              </a:rPr>
              <a:t>c</a:t>
            </a:r>
            <a:r>
              <a:rPr dirty="0" sz="1100" spc="-130" b="1">
                <a:latin typeface="Gill Sans MT"/>
                <a:cs typeface="Gill Sans MT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是浓度向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416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从上式可以求得浓度如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23825">
              <a:lnSpc>
                <a:spcPct val="100000"/>
              </a:lnSpc>
            </a:pPr>
            <a:r>
              <a:rPr dirty="0" sz="1100" spc="5" b="1">
                <a:latin typeface="Gill Sans MT"/>
                <a:cs typeface="Gill Sans MT"/>
              </a:rPr>
              <a:t>c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20">
                <a:latin typeface="Georgia"/>
                <a:cs typeface="Georgia"/>
              </a:rPr>
              <a:t>(</a:t>
            </a:r>
            <a:r>
              <a:rPr dirty="0" sz="1100" spc="120" b="1">
                <a:latin typeface="Gill Sans MT"/>
                <a:cs typeface="Gill Sans MT"/>
              </a:rPr>
              <a:t>E</a:t>
            </a:r>
            <a:r>
              <a:rPr dirty="0" baseline="41666" sz="900" spc="179" b="1">
                <a:latin typeface="Times New Roman"/>
                <a:cs typeface="Times New Roman"/>
              </a:rPr>
              <a:t>T</a:t>
            </a:r>
            <a:r>
              <a:rPr dirty="0" sz="1100" spc="120" b="1">
                <a:latin typeface="Gill Sans MT"/>
                <a:cs typeface="Gill Sans MT"/>
              </a:rPr>
              <a:t>E</a:t>
            </a:r>
            <a:r>
              <a:rPr dirty="0" sz="1100" spc="120">
                <a:latin typeface="Georgia"/>
                <a:cs typeface="Georgia"/>
              </a:rPr>
              <a:t>)</a:t>
            </a:r>
            <a:r>
              <a:rPr dirty="0" baseline="41666" sz="900" spc="179" i="1">
                <a:latin typeface="Arial"/>
                <a:cs typeface="Arial"/>
              </a:rPr>
              <a:t>−</a:t>
            </a:r>
            <a:r>
              <a:rPr dirty="0" baseline="41666" sz="900" spc="179" b="1">
                <a:latin typeface="Times New Roman"/>
                <a:cs typeface="Times New Roman"/>
              </a:rPr>
              <a:t>1</a:t>
            </a:r>
            <a:r>
              <a:rPr dirty="0" sz="1100" spc="120" b="1">
                <a:latin typeface="Gill Sans MT"/>
                <a:cs typeface="Gill Sans MT"/>
              </a:rPr>
              <a:t>E</a:t>
            </a:r>
            <a:r>
              <a:rPr dirty="0" baseline="41666" sz="900" spc="179" b="1">
                <a:latin typeface="Times New Roman"/>
                <a:cs typeface="Times New Roman"/>
              </a:rPr>
              <a:t>T</a:t>
            </a:r>
            <a:r>
              <a:rPr dirty="0" sz="1100" spc="120" b="1">
                <a:latin typeface="Gill Sans MT"/>
                <a:cs typeface="Gill Sans MT"/>
              </a:rPr>
              <a:t>a</a:t>
            </a:r>
            <a:endParaRPr sz="11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ill Sans MT"/>
              <a:cs typeface="Gill Sans MT"/>
            </a:endParaRPr>
          </a:p>
          <a:p>
            <a:pPr marL="3416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关于多组分的同时定量分析的内</a:t>
            </a:r>
            <a:r>
              <a:rPr dirty="0" sz="1200" spc="-80">
                <a:latin typeface="Arial Unicode MS"/>
                <a:cs typeface="Arial Unicode MS"/>
              </a:rPr>
              <a:t>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可以参阅化学计量学的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相关文</a:t>
            </a:r>
            <a:r>
              <a:rPr dirty="0" sz="1200" spc="-20">
                <a:latin typeface="Arial Unicode MS"/>
                <a:cs typeface="Arial Unicode MS"/>
              </a:rPr>
              <a:t>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9925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示差光</a:t>
            </a:r>
            <a:r>
              <a:rPr dirty="0" sz="1050" spc="-10">
                <a:solidFill>
                  <a:srgbClr val="FFFFFF"/>
                </a:solidFill>
              </a:rPr>
              <a:t>度</a:t>
            </a:r>
            <a:r>
              <a:rPr dirty="0" sz="1050" spc="-5">
                <a:solidFill>
                  <a:srgbClr val="FFFFFF"/>
                </a:solidFill>
              </a:rPr>
              <a:t>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508952"/>
            <a:ext cx="4356735" cy="1506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吸光光度法通常只适合于微量或痕量组分的测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因测量高 </a:t>
            </a:r>
            <a:r>
              <a:rPr dirty="0" sz="1200" spc="-10">
                <a:latin typeface="Arial Unicode MS"/>
                <a:cs typeface="Arial Unicode MS"/>
              </a:rPr>
              <a:t>浓度时吸光度过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导致较高的测量误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示差光度法的目的是</a:t>
            </a:r>
            <a:r>
              <a:rPr dirty="0" sz="1200" spc="-5">
                <a:latin typeface="Arial Unicode MS"/>
                <a:cs typeface="Arial Unicode MS"/>
              </a:rPr>
              <a:t>将 </a:t>
            </a:r>
            <a:r>
              <a:rPr dirty="0" sz="1200" spc="-5">
                <a:latin typeface="Arial Unicode MS"/>
                <a:cs typeface="Arial Unicode MS"/>
              </a:rPr>
              <a:t>高浓度体系的吸光度调整到适当的范</a:t>
            </a:r>
            <a:r>
              <a:rPr dirty="0" sz="1200" spc="-80">
                <a:latin typeface="Arial Unicode MS"/>
                <a:cs typeface="Arial Unicode MS"/>
              </a:rPr>
              <a:t>围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从而使测量误差减小到 可接受的范</a:t>
            </a:r>
            <a:r>
              <a:rPr dirty="0" sz="1200" spc="-20">
                <a:latin typeface="Arial Unicode MS"/>
                <a:cs typeface="Arial Unicode MS"/>
              </a:rPr>
              <a:t>围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16230">
              <a:lnSpc>
                <a:spcPct val="100000"/>
              </a:lnSpc>
            </a:pPr>
            <a:r>
              <a:rPr dirty="0" sz="1200" spc="175">
                <a:latin typeface="Arial Unicode MS"/>
                <a:cs typeface="Arial Unicode MS"/>
              </a:rPr>
              <a:t>图</a:t>
            </a:r>
            <a:r>
              <a:rPr dirty="0" sz="1100" spc="-5">
                <a:latin typeface="Georgia"/>
                <a:cs typeface="Georgia"/>
              </a:rPr>
              <a:t>14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所示为示差光度法的原理</a:t>
            </a:r>
            <a:r>
              <a:rPr dirty="0" sz="1200" spc="-80">
                <a:latin typeface="Arial Unicode MS"/>
                <a:cs typeface="Arial Unicode MS"/>
              </a:rPr>
              <a:t>图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它实际上是用一个浓度比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待测试液浓度低的标准溶液调节仪器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25" b="0" i="1">
                <a:latin typeface="Bookman Old Style"/>
                <a:cs typeface="Bookman Old Style"/>
              </a:rPr>
              <a:t>T</a:t>
            </a:r>
            <a:r>
              <a:rPr dirty="0" sz="1100" spc="120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100%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4006" y="2087911"/>
            <a:ext cx="2880021" cy="7567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63433" y="3027184"/>
            <a:ext cx="1481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5">
                <a:solidFill>
                  <a:srgbClr val="3333B2"/>
                </a:solidFill>
                <a:latin typeface="Georgia"/>
                <a:cs typeface="Georgia"/>
              </a:rPr>
              <a:t>14:</a:t>
            </a:r>
            <a:r>
              <a:rPr dirty="0" sz="1000" spc="16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示差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度法原</a:t>
            </a:r>
            <a:r>
              <a:rPr dirty="0" sz="1050" spc="-10">
                <a:latin typeface="Arial Unicode MS"/>
                <a:cs typeface="Arial Unicode MS"/>
              </a:rPr>
              <a:t>理</a:t>
            </a:r>
            <a:r>
              <a:rPr dirty="0" sz="1050" spc="-5">
                <a:latin typeface="Arial Unicode MS"/>
                <a:cs typeface="Arial Unicode MS"/>
              </a:rPr>
              <a:t>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20974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9.6.2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络合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物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组成与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稳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定常数的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测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184514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10680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5844" y="1219530"/>
            <a:ext cx="4267835" cy="9963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吸光光度法是测定某些化合物组成及稳定常数的有效方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常用的</a:t>
            </a:r>
            <a:r>
              <a:rPr dirty="0" sz="1200" spc="-9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摩尔比法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 Unicode MS"/>
                <a:cs typeface="Arial Unicode MS"/>
              </a:rPr>
              <a:t>等摩尔连续变化法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8597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摩尔比法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4101" y="969378"/>
            <a:ext cx="118173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设络合反应为</a:t>
            </a:r>
            <a:r>
              <a:rPr dirty="0" baseline="37037" sz="900" spc="15">
                <a:latin typeface="Times New Roman"/>
                <a:cs typeface="Times New Roman"/>
              </a:rPr>
              <a:t>3</a:t>
            </a:r>
            <a:r>
              <a:rPr dirty="0" sz="1200" spc="10"/>
              <a:t>：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1217" y="1443622"/>
            <a:ext cx="346710" cy="93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450" spc="-175">
                <a:latin typeface="宋体"/>
                <a:cs typeface="宋体"/>
              </a:rPr>
              <a:t>－</a:t>
            </a:r>
            <a:r>
              <a:rPr dirty="0" baseline="24691" sz="675" spc="-262">
                <a:latin typeface="宋体"/>
                <a:cs typeface="宋体"/>
              </a:rPr>
              <a:t>——</a:t>
            </a:r>
            <a:r>
              <a:rPr dirty="0" sz="450" spc="-175">
                <a:latin typeface="宋体"/>
                <a:cs typeface="宋体"/>
              </a:rPr>
              <a:t>—</a:t>
            </a:r>
            <a:r>
              <a:rPr dirty="0" baseline="24691" sz="675" spc="-622">
                <a:latin typeface="宋体"/>
                <a:cs typeface="宋体"/>
              </a:rPr>
              <a:t>、</a:t>
            </a:r>
            <a:r>
              <a:rPr dirty="0" sz="450" spc="35">
                <a:latin typeface="宋体"/>
                <a:cs typeface="宋体"/>
              </a:rPr>
              <a:t>——</a:t>
            </a:r>
            <a:endParaRPr sz="4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4291" y="1345539"/>
            <a:ext cx="13658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027430" algn="l"/>
              </a:tabLst>
            </a:pP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b="0" i="1">
                <a:latin typeface="Bookman Old Style"/>
                <a:cs typeface="Bookman Old Style"/>
              </a:rPr>
              <a:t>n</a:t>
            </a:r>
            <a:r>
              <a:rPr dirty="0" sz="1100">
                <a:latin typeface="Georgia"/>
                <a:cs typeface="Georgia"/>
              </a:rPr>
              <a:t>R	</a:t>
            </a:r>
            <a:r>
              <a:rPr dirty="0" sz="1100" spc="25">
                <a:latin typeface="Georgia"/>
                <a:cs typeface="Georgia"/>
              </a:rPr>
              <a:t>MR</a:t>
            </a:r>
            <a:r>
              <a:rPr dirty="0" baseline="-13888" sz="900" spc="37" i="1">
                <a:latin typeface="Verdana"/>
                <a:cs typeface="Verdana"/>
              </a:rPr>
              <a:t>n</a:t>
            </a:r>
            <a:endParaRPr baseline="-13888" sz="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444" y="1672247"/>
            <a:ext cx="44075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随着络合</a:t>
            </a:r>
            <a:r>
              <a:rPr dirty="0" sz="1200" spc="175">
                <a:latin typeface="Arial Unicode MS"/>
                <a:cs typeface="Arial Unicode MS"/>
              </a:rPr>
              <a:t>剂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的加</a:t>
            </a:r>
            <a:r>
              <a:rPr dirty="0" sz="1200" spc="-80">
                <a:latin typeface="Arial Unicode MS"/>
                <a:cs typeface="Arial Unicode MS"/>
              </a:rPr>
              <a:t>入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100" spc="-35">
                <a:latin typeface="Georgia"/>
                <a:cs typeface="Georgia"/>
              </a:rPr>
              <a:t>MR</a:t>
            </a:r>
            <a:r>
              <a:rPr dirty="0" baseline="-13888" sz="900" spc="-52" i="1">
                <a:latin typeface="Verdana"/>
                <a:cs typeface="Verdana"/>
              </a:rPr>
              <a:t>n</a:t>
            </a:r>
            <a:r>
              <a:rPr dirty="0" baseline="-13888" sz="900" spc="-30" i="1">
                <a:latin typeface="Verdana"/>
                <a:cs typeface="Verdan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的浓度不断增</a:t>
            </a:r>
            <a:r>
              <a:rPr dirty="0" sz="1200" spc="-80">
                <a:latin typeface="Arial Unicode MS"/>
                <a:cs typeface="Arial Unicode MS"/>
              </a:rPr>
              <a:t>加</a:t>
            </a:r>
            <a:r>
              <a:rPr dirty="0" sz="1200" spc="-22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其吸光度值也</a:t>
            </a:r>
            <a:r>
              <a:rPr dirty="0" sz="1200" spc="-5">
                <a:latin typeface="Arial Unicode MS"/>
                <a:cs typeface="Arial Unicode MS"/>
              </a:rPr>
              <a:t>不 断增</a:t>
            </a:r>
            <a:r>
              <a:rPr dirty="0" sz="1200" spc="-20">
                <a:latin typeface="Arial Unicode MS"/>
                <a:cs typeface="Arial Unicode MS"/>
              </a:rPr>
              <a:t>加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当络合</a:t>
            </a:r>
            <a:r>
              <a:rPr dirty="0" sz="1200" spc="175">
                <a:latin typeface="Arial Unicode MS"/>
                <a:cs typeface="Arial Unicode MS"/>
              </a:rPr>
              <a:t>剂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的加入量恰好与离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完全反应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理论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上</a:t>
            </a:r>
            <a:r>
              <a:rPr dirty="0" sz="1100" spc="25">
                <a:latin typeface="Georgia"/>
                <a:cs typeface="Georgia"/>
              </a:rPr>
              <a:t>MR</a:t>
            </a:r>
            <a:r>
              <a:rPr dirty="0" baseline="-13888" sz="900" spc="37" i="1">
                <a:latin typeface="Verdana"/>
                <a:cs typeface="Verdana"/>
              </a:rPr>
              <a:t>n</a:t>
            </a:r>
            <a:r>
              <a:rPr dirty="0" baseline="-13888" sz="900" spc="7" i="1">
                <a:latin typeface="Verdana"/>
                <a:cs typeface="Verdan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的吸光度要达到最大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基于这一原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可以设计一个实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验来测定络合物的组成及稳定常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8394" y="3172599"/>
            <a:ext cx="925194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3</a:t>
            </a:r>
            <a:r>
              <a:rPr dirty="0" sz="900" spc="-5">
                <a:latin typeface="Arial Unicode MS"/>
                <a:cs typeface="Arial Unicode MS"/>
              </a:rPr>
              <a:t>略去电荷表</a:t>
            </a:r>
            <a:r>
              <a:rPr dirty="0" sz="900" spc="-15">
                <a:latin typeface="Arial Unicode MS"/>
                <a:cs typeface="Arial Unicode MS"/>
              </a:rPr>
              <a:t>示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964361"/>
            <a:ext cx="44075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175">
                <a:latin typeface="Arial Unicode MS"/>
                <a:cs typeface="Arial Unicode MS"/>
              </a:rPr>
              <a:t>设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的分析浓度分别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r>
              <a:rPr dirty="0" baseline="-33333" sz="750">
                <a:latin typeface="Calibri"/>
                <a:cs typeface="Calibri"/>
              </a:rPr>
              <a:t> </a:t>
            </a:r>
            <a:r>
              <a:rPr dirty="0" baseline="-33333" sz="750" spc="82">
                <a:latin typeface="Calibri"/>
                <a:cs typeface="Calibri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315">
                <a:latin typeface="Calibri"/>
                <a:cs typeface="Calibri"/>
              </a:rPr>
              <a:t>R</a:t>
            </a:r>
            <a:r>
              <a:rPr dirty="0" baseline="-33333" sz="750" spc="-44">
                <a:latin typeface="Calibri"/>
                <a:cs typeface="Calibri"/>
              </a:rPr>
              <a:t> </a:t>
            </a:r>
            <a:r>
              <a:rPr dirty="0" sz="1200" spc="-24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如</a:t>
            </a:r>
            <a:r>
              <a:rPr dirty="0" sz="1200" spc="175">
                <a:latin typeface="Arial Unicode MS"/>
                <a:cs typeface="Arial Unicode MS"/>
              </a:rPr>
              <a:t>果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5">
                <a:latin typeface="Georgia"/>
                <a:cs typeface="Georgia"/>
              </a:rPr>
              <a:t>M</a:t>
            </a:r>
            <a:r>
              <a:rPr dirty="0" sz="1100" spc="-5">
                <a:latin typeface="Georgia"/>
                <a:cs typeface="Georgia"/>
              </a:rPr>
              <a:t>R</a:t>
            </a:r>
            <a:r>
              <a:rPr dirty="0" baseline="-13888" sz="900" spc="150">
                <a:latin typeface="Times New Roman"/>
                <a:cs typeface="Times New Roman"/>
              </a:rPr>
              <a:t>n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-10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测 </a:t>
            </a:r>
            <a:r>
              <a:rPr dirty="0" sz="1200" spc="-10">
                <a:latin typeface="Arial Unicode MS"/>
                <a:cs typeface="Arial Unicode MS"/>
              </a:rPr>
              <a:t>量波长处均无吸</a:t>
            </a:r>
            <a:r>
              <a:rPr dirty="0" sz="1200" spc="-85">
                <a:latin typeface="Arial Unicode MS"/>
                <a:cs typeface="Arial Unicode MS"/>
              </a:rPr>
              <a:t>收</a:t>
            </a:r>
            <a:r>
              <a:rPr dirty="0" sz="1200" spc="-24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则当固定金属离</a:t>
            </a:r>
            <a:r>
              <a:rPr dirty="0" sz="1200" spc="175">
                <a:latin typeface="Arial Unicode MS"/>
                <a:cs typeface="Arial Unicode MS"/>
              </a:rPr>
              <a:t>子</a:t>
            </a:r>
            <a:r>
              <a:rPr dirty="0" sz="1100" spc="-20">
                <a:latin typeface="Georgia"/>
                <a:cs typeface="Georgia"/>
              </a:rPr>
              <a:t>M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的浓</a:t>
            </a:r>
            <a:r>
              <a:rPr dirty="0" sz="1200" spc="-85">
                <a:latin typeface="Arial Unicode MS"/>
                <a:cs typeface="Arial Unicode MS"/>
              </a:rPr>
              <a:t>度</a:t>
            </a:r>
            <a:r>
              <a:rPr dirty="0" sz="1200" spc="-24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改变络合</a:t>
            </a:r>
            <a:r>
              <a:rPr dirty="0" sz="1200" spc="175">
                <a:latin typeface="Arial Unicode MS"/>
                <a:cs typeface="Arial Unicode MS"/>
              </a:rPr>
              <a:t>剂</a:t>
            </a:r>
            <a:r>
              <a:rPr dirty="0" sz="1100" spc="30">
                <a:latin typeface="Georgia"/>
                <a:cs typeface="Georgia"/>
              </a:rPr>
              <a:t>R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 </a:t>
            </a:r>
            <a:r>
              <a:rPr dirty="0" sz="1200" spc="-5">
                <a:latin typeface="Arial Unicode MS"/>
                <a:cs typeface="Arial Unicode MS"/>
              </a:rPr>
              <a:t>浓度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可得到具有不</a:t>
            </a:r>
            <a:r>
              <a:rPr dirty="0" sz="1200" spc="175">
                <a:latin typeface="Arial Unicode MS"/>
                <a:cs typeface="Arial Unicode MS"/>
              </a:rPr>
              <a:t>同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315">
                <a:latin typeface="Calibri"/>
                <a:cs typeface="Calibri"/>
              </a:rPr>
              <a:t>R</a:t>
            </a:r>
            <a:r>
              <a:rPr dirty="0" baseline="-33333" sz="750" spc="-22">
                <a:latin typeface="Calibri"/>
                <a:cs typeface="Calibri"/>
              </a:rPr>
              <a:t> </a:t>
            </a:r>
            <a:r>
              <a:rPr dirty="0" sz="1100" spc="-95" b="0" i="1">
                <a:latin typeface="Bookman Old Style"/>
                <a:cs typeface="Bookman Old Style"/>
              </a:rPr>
              <a:t>/</a:t>
            </a:r>
            <a:r>
              <a:rPr dirty="0" sz="1100" spc="-85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r>
              <a:rPr dirty="0" baseline="-33333" sz="750">
                <a:latin typeface="Calibri"/>
                <a:cs typeface="Calibri"/>
              </a:rPr>
              <a:t> </a:t>
            </a:r>
            <a:r>
              <a:rPr dirty="0" baseline="-33333" sz="750" spc="82">
                <a:latin typeface="Calibri"/>
                <a:cs typeface="Calibri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值的溶液系</a:t>
            </a:r>
            <a:r>
              <a:rPr dirty="0" sz="1200" spc="-20">
                <a:latin typeface="Arial Unicode MS"/>
                <a:cs typeface="Arial Unicode MS"/>
              </a:rPr>
              <a:t>列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在选定的波长下测 定各溶液的吸光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然后以吸光</a:t>
            </a:r>
            <a:r>
              <a:rPr dirty="0" sz="1200" spc="175">
                <a:latin typeface="Arial Unicode MS"/>
                <a:cs typeface="Arial Unicode MS"/>
              </a:rPr>
              <a:t>度</a:t>
            </a: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315">
                <a:latin typeface="Calibri"/>
                <a:cs typeface="Calibri"/>
              </a:rPr>
              <a:t>R</a:t>
            </a:r>
            <a:r>
              <a:rPr dirty="0" baseline="-33333" sz="750" spc="-22">
                <a:latin typeface="Calibri"/>
                <a:cs typeface="Calibri"/>
              </a:rPr>
              <a:t> </a:t>
            </a:r>
            <a:r>
              <a:rPr dirty="0" sz="1100" spc="-95" b="0" i="1">
                <a:latin typeface="Bookman Old Style"/>
                <a:cs typeface="Bookman Old Style"/>
              </a:rPr>
              <a:t>/</a:t>
            </a:r>
            <a:r>
              <a:rPr dirty="0" sz="1100" spc="-85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r>
              <a:rPr dirty="0" baseline="-33333" sz="750">
                <a:latin typeface="Calibri"/>
                <a:cs typeface="Calibri"/>
              </a:rPr>
              <a:t> </a:t>
            </a:r>
            <a:r>
              <a:rPr dirty="0" baseline="-33333" sz="750" spc="82">
                <a:latin typeface="Calibri"/>
                <a:cs typeface="Calibri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</a:t>
            </a:r>
            <a:r>
              <a:rPr dirty="0" sz="1200" spc="-80">
                <a:latin typeface="Arial Unicode MS"/>
                <a:cs typeface="Arial Unicode MS"/>
              </a:rPr>
              <a:t>图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175">
                <a:latin typeface="Arial Unicode MS"/>
                <a:cs typeface="Arial Unicode MS"/>
              </a:rPr>
              <a:t>图</a:t>
            </a:r>
            <a:r>
              <a:rPr dirty="0" sz="1100" spc="15">
                <a:latin typeface="Georgia"/>
                <a:cs typeface="Georgia"/>
              </a:rPr>
              <a:t>15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3997" y="426560"/>
            <a:ext cx="1799990" cy="1878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29854" y="2499461"/>
            <a:ext cx="134874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>
                <a:solidFill>
                  <a:srgbClr val="3333B2"/>
                </a:solidFill>
                <a:latin typeface="Georgia"/>
                <a:cs typeface="Georgia"/>
              </a:rPr>
              <a:t>15:</a:t>
            </a:r>
            <a:r>
              <a:rPr dirty="0" sz="1000" spc="15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摩尔比法</a:t>
            </a:r>
            <a:r>
              <a:rPr dirty="0" sz="1050" spc="-10">
                <a:latin typeface="Arial Unicode MS"/>
                <a:cs typeface="Arial Unicode MS"/>
              </a:rPr>
              <a:t>示</a:t>
            </a:r>
            <a:r>
              <a:rPr dirty="0" sz="1050" spc="-5">
                <a:latin typeface="Arial Unicode MS"/>
                <a:cs typeface="Arial Unicode MS"/>
              </a:rPr>
              <a:t>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205562"/>
            <a:ext cx="153352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络合物的稳定常数</a:t>
            </a:r>
            <a:r>
              <a:rPr dirty="0" spc="-90"/>
              <a:t>为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/>
          <p:nvPr/>
        </p:nvSpPr>
        <p:spPr>
          <a:xfrm>
            <a:off x="2236317" y="782853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 h="0">
                <a:moveTo>
                  <a:pt x="0" y="0"/>
                </a:moveTo>
                <a:lnTo>
                  <a:pt x="44767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144" y="550009"/>
            <a:ext cx="4201795" cy="87249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795145" indent="365760">
              <a:lnSpc>
                <a:spcPct val="100000"/>
              </a:lnSpc>
              <a:spcBef>
                <a:spcPts val="265"/>
              </a:spcBef>
            </a:pPr>
            <a:r>
              <a:rPr dirty="0" sz="1100" spc="-20">
                <a:latin typeface="Georgia"/>
                <a:cs typeface="Georgia"/>
              </a:rPr>
              <a:t>[MR</a:t>
            </a:r>
            <a:r>
              <a:rPr dirty="0" baseline="-13888" sz="900" spc="-30" i="1">
                <a:latin typeface="Verdana"/>
                <a:cs typeface="Verdana"/>
              </a:rPr>
              <a:t>n</a:t>
            </a:r>
            <a:r>
              <a:rPr dirty="0" sz="1100" spc="-2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algn="ctr" marL="158750">
              <a:lnSpc>
                <a:spcPct val="100000"/>
              </a:lnSpc>
              <a:spcBef>
                <a:spcPts val="170"/>
              </a:spcBef>
            </a:pPr>
            <a:r>
              <a:rPr dirty="0" baseline="37878" sz="1650" spc="195" b="0" i="1">
                <a:latin typeface="Bookman Old Style"/>
                <a:cs typeface="Bookman Old Style"/>
              </a:rPr>
              <a:t>K </a:t>
            </a:r>
            <a:r>
              <a:rPr dirty="0" baseline="37878" sz="1650" spc="209">
                <a:latin typeface="Georgia"/>
                <a:cs typeface="Georgia"/>
              </a:rPr>
              <a:t>=</a:t>
            </a:r>
            <a:r>
              <a:rPr dirty="0" baseline="37878" sz="1650" spc="1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[M][R]</a:t>
            </a:r>
            <a:r>
              <a:rPr dirty="0" baseline="50925" sz="900" spc="-82" i="1">
                <a:latin typeface="Verdana"/>
                <a:cs typeface="Verdana"/>
              </a:rPr>
              <a:t>n</a:t>
            </a:r>
            <a:endParaRPr baseline="50925" sz="900">
              <a:latin typeface="Verdana"/>
              <a:cs typeface="Verdana"/>
            </a:endParaRPr>
          </a:p>
          <a:p>
            <a:pPr marL="328930">
              <a:lnSpc>
                <a:spcPct val="100000"/>
              </a:lnSpc>
              <a:spcBef>
                <a:spcPts val="490"/>
              </a:spcBef>
            </a:pPr>
            <a:r>
              <a:rPr dirty="0" sz="1200" spc="-5">
                <a:latin typeface="Arial Unicode MS"/>
                <a:cs typeface="Arial Unicode MS"/>
              </a:rPr>
              <a:t>设络合物不解离时在转折点处的浓度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60" b="0" i="1">
                <a:latin typeface="Bookman Old Style"/>
                <a:cs typeface="Bookman Old Style"/>
              </a:rPr>
              <a:t>c</a:t>
            </a:r>
            <a:r>
              <a:rPr dirty="0" sz="1200" spc="-16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络合物的解离度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35" b="0" i="1">
                <a:latin typeface="Bookman Old Style"/>
                <a:cs typeface="Bookman Old Style"/>
              </a:rPr>
              <a:t>α</a:t>
            </a:r>
            <a:r>
              <a:rPr dirty="0" sz="1200" spc="-13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则达到平衡时</a:t>
            </a:r>
            <a:r>
              <a:rPr dirty="0" sz="1100" spc="-45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58759" y="1607631"/>
          <a:ext cx="1290955" cy="692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5455"/>
                <a:gridCol w="234314"/>
                <a:gridCol w="590550"/>
              </a:tblGrid>
              <a:tr h="264455">
                <a:tc>
                  <a:txBody>
                    <a:bodyPr/>
                    <a:lstStyle/>
                    <a:p>
                      <a:pPr algn="r" marR="55244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[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M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R</a:t>
                      </a:r>
                      <a:r>
                        <a:rPr dirty="0" baseline="-13888" sz="900" spc="67" i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</a:pPr>
                      <a:r>
                        <a:rPr dirty="0" sz="1100" spc="40">
                          <a:latin typeface="Georgia"/>
                          <a:cs typeface="Georgia"/>
                        </a:rPr>
                        <a:t>(1 </a:t>
                      </a:r>
                      <a:r>
                        <a:rPr dirty="0" sz="1100" spc="-3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dirty="0" sz="1100" spc="-229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20" b="0" i="1">
                          <a:latin typeface="Bookman Old Style"/>
                          <a:cs typeface="Bookman Old Style"/>
                        </a:rPr>
                        <a:t>α</a:t>
                      </a:r>
                      <a:r>
                        <a:rPr dirty="0" sz="1100" spc="-20">
                          <a:latin typeface="Georgia"/>
                          <a:cs typeface="Georgia"/>
                        </a:rPr>
                        <a:t>)</a:t>
                      </a:r>
                      <a:r>
                        <a:rPr dirty="0" sz="1100" spc="-20" b="0" i="1">
                          <a:latin typeface="Bookman Old Style"/>
                          <a:cs typeface="Bookman Old Style"/>
                        </a:rPr>
                        <a:t>c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B="0" marT="0"/>
                </a:tc>
              </a:tr>
              <a:tr h="212474">
                <a:tc>
                  <a:txBody>
                    <a:bodyPr/>
                    <a:lstStyle/>
                    <a:p>
                      <a:pPr algn="r" marR="55244">
                        <a:lnSpc>
                          <a:spcPts val="125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[</a:t>
                      </a:r>
                      <a:r>
                        <a:rPr dirty="0" sz="1100" spc="-5">
                          <a:latin typeface="Georgia"/>
                          <a:cs typeface="Georgia"/>
                        </a:rPr>
                        <a:t>M</a:t>
                      </a:r>
                      <a:r>
                        <a:rPr dirty="0" sz="1100">
                          <a:latin typeface="Georgia"/>
                          <a:cs typeface="Georgia"/>
                        </a:rPr>
                        <a:t>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55"/>
                        </a:lnSpc>
                      </a:pPr>
                      <a:r>
                        <a:rPr dirty="0" sz="1100" spc="-35" b="0" i="1">
                          <a:latin typeface="Bookman Old Style"/>
                          <a:cs typeface="Bookman Old Style"/>
                        </a:rPr>
                        <a:t>αc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B="0" marT="0"/>
                </a:tc>
              </a:tr>
              <a:tr h="215271">
                <a:tc>
                  <a:txBody>
                    <a:bodyPr/>
                    <a:lstStyle/>
                    <a:p>
                      <a:pPr algn="r" marR="55244">
                        <a:lnSpc>
                          <a:spcPts val="1275"/>
                        </a:lnSpc>
                        <a:spcBef>
                          <a:spcPts val="32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[R]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  <a:spcBef>
                          <a:spcPts val="320"/>
                        </a:spcBef>
                      </a:pPr>
                      <a:r>
                        <a:rPr dirty="0" sz="1100">
                          <a:latin typeface="Georgia"/>
                          <a:cs typeface="Georgia"/>
                        </a:rPr>
                        <a:t>=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275"/>
                        </a:lnSpc>
                        <a:spcBef>
                          <a:spcPts val="320"/>
                        </a:spcBef>
                      </a:pPr>
                      <a:r>
                        <a:rPr dirty="0" sz="1100" spc="-30" b="0" i="1">
                          <a:latin typeface="Bookman Old Style"/>
                          <a:cs typeface="Bookman Old Style"/>
                        </a:rPr>
                        <a:t>nαc</a:t>
                      </a:r>
                      <a:endParaRPr sz="1100">
                        <a:latin typeface="Bookman Old Style"/>
                        <a:cs typeface="Bookman Old Style"/>
                      </a:endParaRPr>
                    </a:p>
                  </a:txBody>
                  <a:tcPr marL="0" marR="0" marB="0" marT="4064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397673" y="2811449"/>
            <a:ext cx="12871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00405" algn="l"/>
              </a:tabLst>
            </a:pPr>
            <a:r>
              <a:rPr dirty="0" sz="1100" spc="-50">
                <a:latin typeface="Georgia"/>
                <a:cs typeface="Georgia"/>
              </a:rPr>
              <a:t>[M][R]</a:t>
            </a:r>
            <a:r>
              <a:rPr dirty="0" baseline="50925" sz="900" spc="-75" i="1">
                <a:latin typeface="Verdana"/>
                <a:cs typeface="Verdana"/>
              </a:rPr>
              <a:t>n	</a:t>
            </a:r>
            <a:r>
              <a:rPr dirty="0" sz="1100" spc="-10" b="0" i="1">
                <a:latin typeface="Bookman Old Style"/>
                <a:cs typeface="Bookman Old Style"/>
              </a:rPr>
              <a:t>αc</a:t>
            </a:r>
            <a:r>
              <a:rPr dirty="0" sz="1100" spc="-10">
                <a:latin typeface="Georgia"/>
                <a:cs typeface="Georgia"/>
              </a:rPr>
              <a:t>(</a:t>
            </a:r>
            <a:r>
              <a:rPr dirty="0" sz="1100" spc="-10" b="0" i="1">
                <a:latin typeface="Bookman Old Style"/>
                <a:cs typeface="Bookman Old Style"/>
              </a:rPr>
              <a:t>nαc</a:t>
            </a:r>
            <a:r>
              <a:rPr dirty="0" sz="1100" spc="-10">
                <a:latin typeface="Georgia"/>
                <a:cs typeface="Georgia"/>
              </a:rPr>
              <a:t>)</a:t>
            </a:r>
            <a:r>
              <a:rPr dirty="0" baseline="27777" sz="900" spc="-15" i="1">
                <a:latin typeface="Verdana"/>
                <a:cs typeface="Verdana"/>
              </a:rPr>
              <a:t>n</a:t>
            </a:r>
            <a:endParaRPr baseline="27777" sz="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813" y="2463546"/>
            <a:ext cx="3119120" cy="351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1345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690880">
              <a:lnSpc>
                <a:spcPts val="1225"/>
              </a:lnSpc>
              <a:tabLst>
                <a:tab pos="3067050" algn="l"/>
              </a:tabLst>
            </a:pPr>
            <a:r>
              <a:rPr dirty="0" baseline="-37878" sz="1650" spc="195" b="0" i="1">
                <a:latin typeface="Bookman Old Style"/>
                <a:cs typeface="Bookman Old Style"/>
              </a:rPr>
              <a:t>K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[MR</a:t>
            </a:r>
            <a:r>
              <a:rPr dirty="0" u="sng" baseline="-13888" sz="900" spc="-3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] </a:t>
            </a:r>
            <a:r>
              <a:rPr dirty="0" sz="1100" spc="-20">
                <a:latin typeface="Georgia"/>
                <a:cs typeface="Georgia"/>
              </a:rPr>
              <a:t> 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(1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 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α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2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c </a:t>
            </a:r>
            <a:r>
              <a:rPr dirty="0" sz="1100" spc="-20" b="0" i="1">
                <a:latin typeface="Bookman Old Style"/>
                <a:cs typeface="Bookman Old Style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  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-1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α	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9407" y="2771432"/>
            <a:ext cx="6870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 spc="97" b="0" i="1">
                <a:latin typeface="Bookman Old Style"/>
                <a:cs typeface="Bookman Old Style"/>
              </a:rPr>
              <a:t>n</a:t>
            </a:r>
            <a:r>
              <a:rPr dirty="0" sz="600" spc="65" i="1">
                <a:latin typeface="Verdana"/>
                <a:cs typeface="Verdana"/>
              </a:rPr>
              <a:t>n</a:t>
            </a:r>
            <a:r>
              <a:rPr dirty="0" baseline="-15151" sz="1650" spc="97" b="0" i="1">
                <a:latin typeface="Bookman Old Style"/>
                <a:cs typeface="Bookman Old Style"/>
              </a:rPr>
              <a:t>α</a:t>
            </a:r>
            <a:r>
              <a:rPr dirty="0" sz="600" spc="65">
                <a:latin typeface="Times New Roman"/>
                <a:cs typeface="Times New Roman"/>
              </a:rPr>
              <a:t>(</a:t>
            </a:r>
            <a:r>
              <a:rPr dirty="0" sz="600" spc="65" i="1">
                <a:latin typeface="Verdana"/>
                <a:cs typeface="Verdana"/>
              </a:rPr>
              <a:t>n</a:t>
            </a:r>
            <a:r>
              <a:rPr dirty="0" sz="600" spc="65">
                <a:latin typeface="Times New Roman"/>
                <a:cs typeface="Times New Roman"/>
              </a:rPr>
              <a:t>+1)</a:t>
            </a:r>
            <a:r>
              <a:rPr dirty="0" baseline="-15151" sz="1650" spc="97" b="0" i="1">
                <a:latin typeface="Bookman Old Style"/>
                <a:cs typeface="Bookman Old Style"/>
              </a:rPr>
              <a:t>c</a:t>
            </a:r>
            <a:r>
              <a:rPr dirty="0" sz="600" spc="65" i="1">
                <a:latin typeface="Verdana"/>
                <a:cs typeface="Verdana"/>
              </a:rPr>
              <a:t>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438594"/>
            <a:ext cx="183705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由于解离度可用下式衡</a:t>
            </a:r>
            <a:r>
              <a:rPr dirty="0" spc="-90"/>
              <a:t>量</a:t>
            </a:r>
            <a:r>
              <a:rPr dirty="0" spc="-5"/>
              <a:t>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2488" y="721017"/>
            <a:ext cx="8420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37878" sz="1650" spc="-15" b="0" i="1">
                <a:latin typeface="Bookman Old Style"/>
                <a:cs typeface="Bookman Old Style"/>
              </a:rPr>
              <a:t>α </a:t>
            </a: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dirty="0" u="sng" baseline="-13888" sz="900" spc="8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9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5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dirty="0" u="sng" baseline="-13888" sz="900" spc="8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813310"/>
            <a:ext cx="3917950" cy="57658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algn="ctr" marL="756920">
              <a:lnSpc>
                <a:spcPct val="100000"/>
              </a:lnSpc>
              <a:spcBef>
                <a:spcPts val="85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A</a:t>
            </a:r>
            <a:r>
              <a:rPr dirty="0" baseline="-13888" sz="900" spc="82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 b="0" i="1">
                <a:latin typeface="Bookman Old Style"/>
                <a:cs typeface="Bookman Old Style"/>
              </a:rPr>
              <a:t>A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55" b="0" i="1">
                <a:latin typeface="Bookman Old Style"/>
                <a:cs typeface="Bookman Old Style"/>
              </a:rPr>
              <a:t>A</a:t>
            </a:r>
            <a:r>
              <a:rPr dirty="0" baseline="-13888" sz="900" spc="82">
                <a:latin typeface="Times New Roman"/>
                <a:cs typeface="Times New Roman"/>
              </a:rPr>
              <a:t>1 </a:t>
            </a:r>
            <a:r>
              <a:rPr dirty="0" sz="1200" spc="-5">
                <a:latin typeface="Arial Unicode MS"/>
                <a:cs typeface="Arial Unicode MS"/>
              </a:rPr>
              <a:t>分别表示无解离时和有解离时的吸光度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513" y="1544015"/>
            <a:ext cx="1501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稳定常数如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4482" y="2096681"/>
            <a:ext cx="299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-2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1674" y="1926831"/>
            <a:ext cx="23367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25458" y="1833105"/>
            <a:ext cx="4552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dirty="0" sz="1100" spc="45" b="0" i="1">
                <a:latin typeface="Bookman Old Style"/>
                <a:cs typeface="Bookman Old Style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8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4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29370" y="1916506"/>
            <a:ext cx="3981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8455" algn="l"/>
              </a:tabLst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3038" y="2021865"/>
            <a:ext cx="226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A</a:t>
            </a:r>
            <a:r>
              <a:rPr dirty="0" baseline="-13888" sz="900" spc="82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14664" y="2213292"/>
            <a:ext cx="1291590" cy="0"/>
          </a:xfrm>
          <a:custGeom>
            <a:avLst/>
            <a:gdLst/>
            <a:ahLst/>
            <a:cxnLst/>
            <a:rect l="l" t="t" r="r" b="b"/>
            <a:pathLst>
              <a:path w="1291589" h="0">
                <a:moveTo>
                  <a:pt x="0" y="0"/>
                </a:moveTo>
                <a:lnTo>
                  <a:pt x="129098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776564" y="2267966"/>
            <a:ext cx="218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 spc="37" b="0" i="1">
                <a:latin typeface="Bookman Old Style"/>
                <a:cs typeface="Bookman Old Style"/>
              </a:rPr>
              <a:t>n</a:t>
            </a:r>
            <a:r>
              <a:rPr dirty="0" sz="600" spc="25" i="1">
                <a:latin typeface="Verdana"/>
                <a:cs typeface="Verdana"/>
              </a:rPr>
              <a:t>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72970" y="2112632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34">
                <a:latin typeface="Arial"/>
                <a:cs typeface="Arial"/>
              </a:rPr>
              <a:t>(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0140" y="2214257"/>
            <a:ext cx="5080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100" spc="-26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 spc="4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dirty="0" u="sng" sz="1100" spc="8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94051" y="2297671"/>
            <a:ext cx="3981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8455" algn="l"/>
              </a:tabLst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27719" y="2403017"/>
            <a:ext cx="2266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A</a:t>
            </a:r>
            <a:r>
              <a:rPr dirty="0" baseline="-13888" sz="900" spc="82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7904" y="2112632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34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89898" y="2200998"/>
            <a:ext cx="2743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5">
                <a:latin typeface="Times New Roman"/>
                <a:cs typeface="Times New Roman"/>
              </a:rPr>
              <a:t>(</a:t>
            </a:r>
            <a:r>
              <a:rPr dirty="0" sz="600" spc="75" i="1">
                <a:latin typeface="Verdana"/>
                <a:cs typeface="Verdana"/>
              </a:rPr>
              <a:t>n</a:t>
            </a:r>
            <a:r>
              <a:rPr dirty="0" sz="600" spc="120">
                <a:latin typeface="Times New Roman"/>
                <a:cs typeface="Times New Roman"/>
              </a:rPr>
              <a:t>+1)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2831" y="2267966"/>
            <a:ext cx="1949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 spc="15" b="0" i="1">
                <a:latin typeface="Bookman Old Style"/>
                <a:cs typeface="Bookman Old Style"/>
              </a:rPr>
              <a:t>c</a:t>
            </a:r>
            <a:r>
              <a:rPr dirty="0" sz="600" spc="10" i="1">
                <a:latin typeface="Verdana"/>
                <a:cs typeface="Verdana"/>
              </a:rPr>
              <a:t>n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10456" y="2096681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(10)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287" y="192722"/>
            <a:ext cx="139065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</a:rPr>
              <a:t>（</a:t>
            </a: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r>
              <a:rPr dirty="0" sz="1050" spc="-250">
                <a:solidFill>
                  <a:srgbClr val="FFFFFF"/>
                </a:solidFill>
              </a:rPr>
              <a:t>）</a:t>
            </a:r>
            <a:r>
              <a:rPr dirty="0" sz="1050" spc="-5">
                <a:solidFill>
                  <a:srgbClr val="FFFFFF"/>
                </a:solidFill>
              </a:rPr>
              <a:t>等摩尔</a:t>
            </a:r>
            <a:r>
              <a:rPr dirty="0" sz="1050" spc="-10">
                <a:solidFill>
                  <a:srgbClr val="FFFFFF"/>
                </a:solidFill>
              </a:rPr>
              <a:t>连</a:t>
            </a:r>
            <a:r>
              <a:rPr dirty="0" sz="1050" spc="-5">
                <a:solidFill>
                  <a:srgbClr val="FFFFFF"/>
                </a:solidFill>
              </a:rPr>
              <a:t>续变化法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764146"/>
            <a:ext cx="4432935" cy="2177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00" marR="431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在保持溶液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r>
              <a:rPr dirty="0" baseline="-33333" sz="750">
                <a:latin typeface="Calibri"/>
                <a:cs typeface="Calibri"/>
              </a:rPr>
              <a:t>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315">
                <a:latin typeface="Calibri"/>
                <a:cs typeface="Calibri"/>
              </a:rPr>
              <a:t>R</a:t>
            </a:r>
            <a:r>
              <a:rPr dirty="0" baseline="-33333" sz="750">
                <a:latin typeface="Calibri"/>
                <a:cs typeface="Calibri"/>
              </a:rPr>
              <a:t> </a:t>
            </a:r>
            <a:r>
              <a:rPr dirty="0" baseline="-33333" sz="750" spc="82">
                <a:latin typeface="Calibri"/>
                <a:cs typeface="Calibri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为常数的情况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连续改</a:t>
            </a:r>
            <a:r>
              <a:rPr dirty="0" sz="1200" spc="175">
                <a:latin typeface="Arial Unicode MS"/>
                <a:cs typeface="Arial Unicode MS"/>
              </a:rPr>
              <a:t>变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r>
              <a:rPr dirty="0" baseline="-33333" sz="750">
                <a:latin typeface="Calibri"/>
                <a:cs typeface="Calibri"/>
              </a:rPr>
              <a:t> </a:t>
            </a:r>
            <a:r>
              <a:rPr dirty="0" baseline="-33333" sz="750" spc="82">
                <a:latin typeface="Calibri"/>
                <a:cs typeface="Calibri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315">
                <a:latin typeface="Calibri"/>
                <a:cs typeface="Calibri"/>
              </a:rPr>
              <a:t>R</a:t>
            </a:r>
            <a:r>
              <a:rPr dirty="0" baseline="-33333" sz="750">
                <a:latin typeface="Calibri"/>
                <a:cs typeface="Calibri"/>
              </a:rPr>
              <a:t> </a:t>
            </a:r>
            <a:r>
              <a:rPr dirty="0" baseline="-33333" sz="750" spc="82">
                <a:latin typeface="Calibri"/>
                <a:cs typeface="Calibri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比 </a:t>
            </a:r>
            <a:r>
              <a:rPr dirty="0" sz="1200" spc="-80">
                <a:latin typeface="Arial Unicode MS"/>
                <a:cs typeface="Arial Unicode MS"/>
              </a:rPr>
              <a:t>值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由此可以得到一系列的有色溶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测量此有色溶液系列的吸</a:t>
            </a:r>
            <a:r>
              <a:rPr dirty="0" sz="1200" spc="-5">
                <a:latin typeface="Arial Unicode MS"/>
                <a:cs typeface="Arial Unicode MS"/>
              </a:rPr>
              <a:t>光 度</a:t>
            </a:r>
            <a:r>
              <a:rPr dirty="0" sz="1200" spc="175">
                <a:latin typeface="Arial Unicode MS"/>
                <a:cs typeface="Arial Unicode MS"/>
              </a:rPr>
              <a:t>值</a:t>
            </a: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并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r>
              <a:rPr dirty="0" baseline="-33333" sz="750" spc="-22">
                <a:latin typeface="Calibri"/>
                <a:cs typeface="Calibri"/>
              </a:rPr>
              <a:t> </a:t>
            </a:r>
            <a:r>
              <a:rPr dirty="0" sz="1100" spc="-120" b="0" i="1">
                <a:latin typeface="Bookman Old Style"/>
                <a:cs typeface="Bookman Old Style"/>
              </a:rPr>
              <a:t>/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240">
                <a:latin typeface="Calibri"/>
                <a:cs typeface="Calibri"/>
              </a:rPr>
              <a:t>M</a:t>
            </a:r>
            <a:r>
              <a:rPr dirty="0" baseline="-33333" sz="750">
                <a:latin typeface="Calibri"/>
                <a:cs typeface="Calibri"/>
              </a:rPr>
              <a:t>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baseline="-33333" sz="750" spc="315">
                <a:latin typeface="Calibri"/>
                <a:cs typeface="Calibri"/>
              </a:rPr>
              <a:t>R</a:t>
            </a:r>
            <a:r>
              <a:rPr dirty="0" baseline="-33333" sz="750" spc="-22">
                <a:latin typeface="Calibri"/>
                <a:cs typeface="Calibri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</a:t>
            </a:r>
            <a:r>
              <a:rPr dirty="0" sz="1200" spc="-80">
                <a:latin typeface="Arial Unicode MS"/>
                <a:cs typeface="Arial Unicode MS"/>
              </a:rPr>
              <a:t>图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其中的转折点即为络合物的络合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比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50800" marR="43180" indent="303530">
              <a:lnSpc>
                <a:spcPct val="122300"/>
              </a:lnSpc>
              <a:spcBef>
                <a:spcPts val="5"/>
              </a:spcBef>
            </a:pPr>
            <a:r>
              <a:rPr dirty="0" sz="1200" spc="-10">
                <a:latin typeface="Arial Unicode MS"/>
                <a:cs typeface="Arial Unicode MS"/>
              </a:rPr>
              <a:t>通常情况</a:t>
            </a:r>
            <a:r>
              <a:rPr dirty="0" sz="1200" spc="-80">
                <a:latin typeface="Arial Unicode MS"/>
                <a:cs typeface="Arial Unicode MS"/>
              </a:rPr>
              <a:t>下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由于络合物的解离导致转折点不明</a:t>
            </a:r>
            <a:r>
              <a:rPr dirty="0" sz="1200" spc="-80">
                <a:latin typeface="Arial Unicode MS"/>
                <a:cs typeface="Arial Unicode MS"/>
              </a:rPr>
              <a:t>显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此时可</a:t>
            </a:r>
            <a:r>
              <a:rPr dirty="0" sz="1200" spc="-5">
                <a:latin typeface="Arial Unicode MS"/>
                <a:cs typeface="Arial Unicode MS"/>
              </a:rPr>
              <a:t>作 </a:t>
            </a:r>
            <a:r>
              <a:rPr dirty="0" sz="1200" spc="-5">
                <a:latin typeface="Arial Unicode MS"/>
                <a:cs typeface="Arial Unicode MS"/>
              </a:rPr>
              <a:t>切线外推找出转折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175">
                <a:latin typeface="Arial Unicode MS"/>
                <a:cs typeface="Arial Unicode MS"/>
              </a:rPr>
              <a:t>图</a:t>
            </a:r>
            <a:r>
              <a:rPr dirty="0" sz="1100" spc="-5">
                <a:latin typeface="Georgia"/>
                <a:cs typeface="Georgia"/>
              </a:rPr>
              <a:t>16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用此法测定络合比仅适用于 络合比低且稳定性较高的络合</a:t>
            </a:r>
            <a:r>
              <a:rPr dirty="0" sz="1200" spc="-20">
                <a:latin typeface="Arial Unicode MS"/>
                <a:cs typeface="Arial Unicode MS"/>
              </a:rPr>
              <a:t>物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等摩尔连续变化法计算络合物稳定常数的公式</a:t>
            </a:r>
            <a:r>
              <a:rPr dirty="0" sz="1200" spc="-260">
                <a:latin typeface="Arial Unicode MS"/>
                <a:cs typeface="Arial Unicode MS"/>
              </a:rPr>
              <a:t>与</a:t>
            </a:r>
            <a:r>
              <a:rPr dirty="0" sz="1200" spc="-80">
                <a:latin typeface="Arial Unicode MS"/>
                <a:cs typeface="Arial Unicode MS"/>
              </a:rPr>
              <a:t>（</a:t>
            </a:r>
            <a:r>
              <a:rPr dirty="0" sz="1100" spc="-80">
                <a:latin typeface="Georgia"/>
                <a:cs typeface="Georgia"/>
                <a:hlinkClick r:id="rId2" action="ppaction://hlinksldjump"/>
              </a:rPr>
              <a:t>10</a:t>
            </a:r>
            <a:r>
              <a:rPr dirty="0" sz="1200" spc="-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式相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同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4000" y="287686"/>
            <a:ext cx="2159983" cy="2243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64145" y="2707843"/>
            <a:ext cx="18802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1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15">
                <a:solidFill>
                  <a:srgbClr val="3333B2"/>
                </a:solidFill>
                <a:latin typeface="Georgia"/>
                <a:cs typeface="Georgia"/>
              </a:rPr>
              <a:t>16:</a:t>
            </a:r>
            <a:r>
              <a:rPr dirty="0" sz="1000" spc="16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等</a:t>
            </a:r>
            <a:r>
              <a:rPr dirty="0" sz="1050" spc="-10">
                <a:latin typeface="Arial Unicode MS"/>
                <a:cs typeface="Arial Unicode MS"/>
              </a:rPr>
              <a:t>摩</a:t>
            </a:r>
            <a:r>
              <a:rPr dirty="0" sz="1050" spc="-5">
                <a:latin typeface="Arial Unicode MS"/>
                <a:cs typeface="Arial Unicode MS"/>
              </a:rPr>
              <a:t>尔连续变</a:t>
            </a:r>
            <a:r>
              <a:rPr dirty="0" sz="1050" spc="-10">
                <a:latin typeface="Arial Unicode MS"/>
                <a:cs typeface="Arial Unicode MS"/>
              </a:rPr>
              <a:t>化</a:t>
            </a:r>
            <a:r>
              <a:rPr dirty="0" sz="1050" spc="-5">
                <a:latin typeface="Arial Unicode MS"/>
                <a:cs typeface="Arial Unicode MS"/>
              </a:rPr>
              <a:t>法示意图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87" y="192722"/>
            <a:ext cx="15240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（</a:t>
            </a: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r>
              <a:rPr dirty="0" sz="1050" spc="-250">
                <a:solidFill>
                  <a:srgbClr val="FFFFFF"/>
                </a:solidFill>
                <a:latin typeface="Arial Unicode MS"/>
                <a:cs typeface="Arial Unicode MS"/>
              </a:rPr>
              <a:t>）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酸碱解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离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常数的测定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936561"/>
            <a:ext cx="342011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以一元弱</a:t>
            </a:r>
            <a:r>
              <a:rPr dirty="0" spc="175"/>
              <a:t>酸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-140">
                <a:latin typeface="Georgia"/>
                <a:cs typeface="Georgia"/>
              </a:rPr>
              <a:t> </a:t>
            </a:r>
            <a:r>
              <a:rPr dirty="0" spc="-5"/>
              <a:t>为</a:t>
            </a:r>
            <a:r>
              <a:rPr dirty="0" spc="-80"/>
              <a:t>例</a:t>
            </a:r>
            <a:r>
              <a:rPr dirty="0" spc="-185"/>
              <a:t>，</a:t>
            </a:r>
            <a:r>
              <a:rPr dirty="0" spc="-5"/>
              <a:t>在溶液中有下列的解离平</a:t>
            </a:r>
            <a:r>
              <a:rPr dirty="0" spc="-90"/>
              <a:t>衡</a:t>
            </a:r>
            <a:r>
              <a:rPr dirty="0" spc="-5"/>
              <a:t>：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079" y="1350556"/>
            <a:ext cx="227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HB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79" y="1242999"/>
            <a:ext cx="515620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60" b="0" i="1">
                <a:latin typeface="Bookman Old Style"/>
                <a:cs typeface="Bookman Old Style"/>
              </a:rPr>
              <a:t>K</a:t>
            </a:r>
            <a:r>
              <a:rPr dirty="0" baseline="-11904" sz="1050" spc="89" b="0" i="1">
                <a:latin typeface="Bookman Old Style"/>
                <a:cs typeface="Bookman Old Style"/>
              </a:rPr>
              <a:t>a</a:t>
            </a:r>
            <a:endParaRPr baseline="-11904" sz="105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450" spc="-105">
                <a:latin typeface="宋体"/>
                <a:cs typeface="宋体"/>
              </a:rPr>
              <a:t>－</a:t>
            </a:r>
            <a:r>
              <a:rPr dirty="0" baseline="24691" sz="675" spc="-157">
                <a:latin typeface="宋体"/>
                <a:cs typeface="宋体"/>
              </a:rPr>
              <a:t>——</a:t>
            </a:r>
            <a:r>
              <a:rPr dirty="0" sz="450" spc="-105">
                <a:latin typeface="宋体"/>
                <a:cs typeface="宋体"/>
              </a:rPr>
              <a:t>————</a:t>
            </a:r>
            <a:r>
              <a:rPr dirty="0" baseline="24691" sz="675" spc="-675">
                <a:latin typeface="宋体"/>
                <a:cs typeface="宋体"/>
              </a:rPr>
              <a:t>、</a:t>
            </a:r>
            <a:r>
              <a:rPr dirty="0" sz="450" spc="55">
                <a:latin typeface="宋体"/>
                <a:cs typeface="宋体"/>
              </a:rPr>
              <a:t>——</a:t>
            </a:r>
            <a:endParaRPr sz="4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0131" y="1433957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40" i="1">
                <a:latin typeface="Verdana"/>
                <a:cs typeface="Verdana"/>
              </a:rPr>
              <a:t>a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7692" y="1350556"/>
            <a:ext cx="1077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716915" algn="l"/>
              </a:tabLst>
            </a:pPr>
            <a:r>
              <a:rPr dirty="0" sz="1100" spc="70">
                <a:latin typeface="Georgia"/>
                <a:cs typeface="Georgia"/>
              </a:rPr>
              <a:t>H</a:t>
            </a:r>
            <a:r>
              <a:rPr dirty="0" baseline="41666" sz="900" spc="104">
                <a:latin typeface="Times New Roman"/>
                <a:cs typeface="Times New Roman"/>
              </a:rPr>
              <a:t>+</a:t>
            </a:r>
            <a:r>
              <a:rPr dirty="0" baseline="41666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35">
                <a:latin typeface="Georgia"/>
                <a:cs typeface="Georgia"/>
              </a:rPr>
              <a:t>B</a:t>
            </a:r>
            <a:r>
              <a:rPr dirty="0" baseline="41666" sz="900" spc="202" i="1">
                <a:latin typeface="Arial"/>
                <a:cs typeface="Arial"/>
              </a:rPr>
              <a:t>−	</a:t>
            </a:r>
            <a:r>
              <a:rPr dirty="0" sz="1100" spc="130" b="0" i="1">
                <a:latin typeface="Bookman Old Style"/>
                <a:cs typeface="Bookman Old Style"/>
              </a:rPr>
              <a:t>K</a:t>
            </a:r>
            <a:r>
              <a:rPr dirty="0" sz="1100" spc="35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00298" y="1467167"/>
            <a:ext cx="513080" cy="0"/>
          </a:xfrm>
          <a:custGeom>
            <a:avLst/>
            <a:gdLst/>
            <a:ahLst/>
            <a:cxnLst/>
            <a:rect l="l" t="t" r="r" b="b"/>
            <a:pathLst>
              <a:path w="513079" h="0">
                <a:moveTo>
                  <a:pt x="0" y="0"/>
                </a:moveTo>
                <a:lnTo>
                  <a:pt x="51273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62198" y="1234323"/>
            <a:ext cx="58928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940" marR="30480" indent="-117475">
              <a:lnSpc>
                <a:spcPct val="112599"/>
              </a:lnSpc>
              <a:spcBef>
                <a:spcPts val="100"/>
              </a:spcBef>
            </a:pPr>
            <a:r>
              <a:rPr dirty="0" sz="1100" spc="-60">
                <a:latin typeface="Georgia"/>
                <a:cs typeface="Georgia"/>
              </a:rPr>
              <a:t>[</a:t>
            </a:r>
            <a:r>
              <a:rPr dirty="0" sz="1100" spc="-135">
                <a:latin typeface="Georgia"/>
                <a:cs typeface="Georgia"/>
              </a:rPr>
              <a:t>H</a:t>
            </a:r>
            <a:r>
              <a:rPr dirty="0" baseline="37037" sz="900" spc="397">
                <a:latin typeface="Times New Roman"/>
                <a:cs typeface="Times New Roman"/>
              </a:rPr>
              <a:t>+</a:t>
            </a:r>
            <a:r>
              <a:rPr dirty="0" sz="1100" spc="-45">
                <a:latin typeface="Georgia"/>
                <a:cs typeface="Georgia"/>
              </a:rPr>
              <a:t>][</a:t>
            </a:r>
            <a:r>
              <a:rPr dirty="0" sz="1100" spc="-85">
                <a:latin typeface="Georgia"/>
                <a:cs typeface="Georgia"/>
              </a:rPr>
              <a:t>B</a:t>
            </a:r>
            <a:r>
              <a:rPr dirty="0" baseline="37037" sz="900" spc="405" i="1">
                <a:latin typeface="Arial"/>
                <a:cs typeface="Arial"/>
              </a:rPr>
              <a:t>−</a:t>
            </a:r>
            <a:r>
              <a:rPr dirty="0" sz="1100" spc="-85">
                <a:latin typeface="Georgia"/>
                <a:cs typeface="Georgia"/>
              </a:rPr>
              <a:t>]  </a:t>
            </a:r>
            <a:r>
              <a:rPr dirty="0" sz="1100" spc="-65">
                <a:latin typeface="Georgia"/>
                <a:cs typeface="Georgia"/>
              </a:rPr>
              <a:t>[HB]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501" y="1729613"/>
            <a:ext cx="9258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从上式可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4886" y="1979295"/>
            <a:ext cx="9639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0" b="0" i="1">
                <a:latin typeface="Bookman Old Style"/>
                <a:cs typeface="Bookman Old Style"/>
              </a:rPr>
              <a:t>pK</a:t>
            </a:r>
            <a:r>
              <a:rPr dirty="0" baseline="-13888" sz="900" spc="30" i="1">
                <a:latin typeface="Verdana"/>
                <a:cs typeface="Verdana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55">
                <a:latin typeface="Georgia"/>
                <a:cs typeface="Georgia"/>
              </a:rPr>
              <a:t>pH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lg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20810" y="2095906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 h="0">
                <a:moveTo>
                  <a:pt x="0" y="0"/>
                </a:moveTo>
                <a:lnTo>
                  <a:pt x="27901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82710" y="1863062"/>
            <a:ext cx="35560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dirty="0" sz="1100" spc="-65">
                <a:latin typeface="Georgia"/>
                <a:cs typeface="Georgia"/>
              </a:rPr>
              <a:t>[HB]</a:t>
            </a:r>
            <a:endParaRPr sz="1100">
              <a:latin typeface="Georgia"/>
              <a:cs typeface="Georgia"/>
            </a:endParaRPr>
          </a:p>
          <a:p>
            <a:pPr marL="50165">
              <a:lnSpc>
                <a:spcPct val="100000"/>
              </a:lnSpc>
              <a:spcBef>
                <a:spcPts val="170"/>
              </a:spcBef>
            </a:pPr>
            <a:r>
              <a:rPr dirty="0" sz="1100" spc="25">
                <a:latin typeface="Georgia"/>
                <a:cs typeface="Georgia"/>
              </a:rPr>
              <a:t>[B</a:t>
            </a:r>
            <a:r>
              <a:rPr dirty="0" baseline="27777" sz="900" spc="37" i="1">
                <a:latin typeface="Arial"/>
                <a:cs typeface="Arial"/>
              </a:rPr>
              <a:t>−</a:t>
            </a:r>
            <a:r>
              <a:rPr dirty="0" sz="1100" spc="2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444" y="2262949"/>
            <a:ext cx="437832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只要求得弱酸溶液中某</a:t>
            </a:r>
            <a:r>
              <a:rPr dirty="0" sz="1200" spc="175">
                <a:latin typeface="Arial Unicode MS"/>
                <a:cs typeface="Arial Unicode MS"/>
              </a:rPr>
              <a:t>一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情况</a:t>
            </a:r>
            <a:r>
              <a:rPr dirty="0" sz="1200" spc="175">
                <a:latin typeface="Arial Unicode MS"/>
                <a:cs typeface="Arial Unicode MS"/>
              </a:rPr>
              <a:t>下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和</a:t>
            </a:r>
            <a:r>
              <a:rPr dirty="0" sz="1100" spc="135">
                <a:latin typeface="Georgia"/>
                <a:cs typeface="Georgia"/>
              </a:rPr>
              <a:t>B</a:t>
            </a:r>
            <a:r>
              <a:rPr dirty="0" baseline="37037" sz="900" spc="202" i="1">
                <a:latin typeface="Arial"/>
                <a:cs typeface="Arial"/>
              </a:rPr>
              <a:t>−</a:t>
            </a:r>
            <a:r>
              <a:rPr dirty="0" baseline="37037" sz="900" spc="6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就可以求</a:t>
            </a:r>
            <a:r>
              <a:rPr dirty="0" sz="1200" spc="175">
                <a:latin typeface="Arial Unicode MS"/>
                <a:cs typeface="Arial Unicode MS"/>
              </a:rPr>
              <a:t>得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的解离常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步骤一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943673"/>
            <a:ext cx="43846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首</a:t>
            </a:r>
            <a:r>
              <a:rPr dirty="0" sz="1200" spc="-80">
                <a:latin typeface="Arial Unicode MS"/>
                <a:cs typeface="Arial Unicode MS"/>
              </a:rPr>
              <a:t>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配制一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的分析浓度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spc="-16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其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值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50">
                <a:latin typeface="Georgia"/>
                <a:cs typeface="Georgia"/>
              </a:rPr>
              <a:t>p</a:t>
            </a: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baseline="-13888" sz="900" spc="75" i="1">
                <a:latin typeface="Verdana"/>
                <a:cs typeface="Verdana"/>
              </a:rPr>
              <a:t>a</a:t>
            </a:r>
            <a:r>
              <a:rPr dirty="0" baseline="-13888" sz="900" spc="7" i="1">
                <a:latin typeface="Verdana"/>
                <a:cs typeface="Verdan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附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近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在某一波长处测得的吸光度为</a:t>
            </a:r>
            <a:r>
              <a:rPr dirty="0" baseline="37037" sz="900" spc="15">
                <a:latin typeface="Times New Roman"/>
                <a:cs typeface="Times New Roman"/>
              </a:rPr>
              <a:t>4</a:t>
            </a:r>
            <a:r>
              <a:rPr dirty="0" sz="1200" spc="10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579" y="1489644"/>
            <a:ext cx="1981200" cy="83185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A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5" b="0" i="1">
                <a:latin typeface="Bookman Old Style"/>
                <a:cs typeface="Bookman Old Style"/>
              </a:rPr>
              <a:t>A</a:t>
            </a:r>
            <a:r>
              <a:rPr dirty="0" sz="1100" spc="5">
                <a:latin typeface="Georgia"/>
                <a:cs typeface="Georgia"/>
              </a:rPr>
              <a:t>(HB)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A</a:t>
            </a:r>
            <a:r>
              <a:rPr dirty="0" sz="1100" spc="75">
                <a:latin typeface="Georgia"/>
                <a:cs typeface="Georgia"/>
              </a:rPr>
              <a:t>(B</a:t>
            </a:r>
            <a:r>
              <a:rPr dirty="0" baseline="41666" sz="900" spc="112" i="1">
                <a:latin typeface="Arial"/>
                <a:cs typeface="Arial"/>
              </a:rPr>
              <a:t>−</a:t>
            </a:r>
            <a:r>
              <a:rPr dirty="0" sz="1100" spc="7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267970">
              <a:lnSpc>
                <a:spcPct val="100000"/>
              </a:lnSpc>
              <a:spcBef>
                <a:spcPts val="74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0" b="0" i="1">
                <a:latin typeface="Bookman Old Style"/>
                <a:cs typeface="Bookman Old Style"/>
              </a:rPr>
              <a:t>ε</a:t>
            </a:r>
            <a:r>
              <a:rPr dirty="0" sz="1100" spc="-40">
                <a:latin typeface="Georgia"/>
                <a:cs typeface="Georgia"/>
              </a:rPr>
              <a:t>(HB)[HB]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40" b="0" i="1">
                <a:latin typeface="Bookman Old Style"/>
                <a:cs typeface="Bookman Old Style"/>
              </a:rPr>
              <a:t>ε</a:t>
            </a:r>
            <a:r>
              <a:rPr dirty="0" sz="1100" spc="40">
                <a:latin typeface="Georgia"/>
                <a:cs typeface="Georgia"/>
              </a:rPr>
              <a:t>(B</a:t>
            </a:r>
            <a:r>
              <a:rPr dirty="0" baseline="41666" sz="900" spc="60" i="1">
                <a:latin typeface="Arial"/>
                <a:cs typeface="Arial"/>
              </a:rPr>
              <a:t>−</a:t>
            </a:r>
            <a:r>
              <a:rPr dirty="0" sz="1100" spc="40">
                <a:latin typeface="Georgia"/>
                <a:cs typeface="Georgia"/>
              </a:rPr>
              <a:t>)[B</a:t>
            </a:r>
            <a:r>
              <a:rPr dirty="0" baseline="41666" sz="900" spc="60" i="1">
                <a:latin typeface="Arial"/>
                <a:cs typeface="Arial"/>
              </a:rPr>
              <a:t>−</a:t>
            </a:r>
            <a:r>
              <a:rPr dirty="0" sz="1100" spc="4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marL="267970">
              <a:lnSpc>
                <a:spcPct val="100000"/>
              </a:lnSpc>
              <a:spcBef>
                <a:spcPts val="91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3697" y="2129574"/>
            <a:ext cx="4000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ε</a:t>
            </a:r>
            <a:r>
              <a:rPr dirty="0" sz="1100" spc="-20">
                <a:latin typeface="Georgia"/>
                <a:cs typeface="Georgia"/>
              </a:rPr>
              <a:t>(HB)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45995" y="2246185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2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07895" y="2013341"/>
            <a:ext cx="67310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142240">
              <a:lnSpc>
                <a:spcPct val="112599"/>
              </a:lnSpc>
              <a:spcBef>
                <a:spcPts val="100"/>
              </a:spcBef>
            </a:pPr>
            <a:r>
              <a:rPr dirty="0" sz="1100" spc="-20">
                <a:latin typeface="Georgia"/>
                <a:cs typeface="Georgia"/>
              </a:rPr>
              <a:t>[H</a:t>
            </a:r>
            <a:r>
              <a:rPr dirty="0" baseline="37037" sz="900" spc="-30">
                <a:latin typeface="Times New Roman"/>
                <a:cs typeface="Times New Roman"/>
              </a:rPr>
              <a:t>+</a:t>
            </a:r>
            <a:r>
              <a:rPr dirty="0" sz="1100" spc="-20">
                <a:latin typeface="Georgia"/>
                <a:cs typeface="Georgia"/>
              </a:rPr>
              <a:t>]</a:t>
            </a:r>
            <a:r>
              <a:rPr dirty="0" sz="1100" spc="-20" b="0" i="1">
                <a:latin typeface="Bookman Old Style"/>
                <a:cs typeface="Bookman Old Style"/>
              </a:rPr>
              <a:t>c  </a:t>
            </a: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85" b="0" i="1">
                <a:latin typeface="Bookman Old Style"/>
                <a:cs typeface="Bookman Old Style"/>
              </a:rPr>
              <a:t>K</a:t>
            </a:r>
            <a:r>
              <a:rPr dirty="0" baseline="-13888" sz="900" spc="127" i="1">
                <a:latin typeface="Verdana"/>
                <a:cs typeface="Verdana"/>
              </a:rPr>
              <a:t>a</a:t>
            </a:r>
            <a:endParaRPr baseline="-13888"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6624" y="2129574"/>
            <a:ext cx="5651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55">
                <a:latin typeface="Georgia"/>
                <a:cs typeface="Georgia"/>
              </a:rPr>
              <a:t> </a:t>
            </a:r>
            <a:r>
              <a:rPr dirty="0" sz="1100" spc="50" b="0" i="1">
                <a:latin typeface="Bookman Old Style"/>
                <a:cs typeface="Bookman Old Style"/>
              </a:rPr>
              <a:t>ε</a:t>
            </a:r>
            <a:r>
              <a:rPr dirty="0" sz="1100" spc="50">
                <a:latin typeface="Georgia"/>
                <a:cs typeface="Georgia"/>
              </a:rPr>
              <a:t>(B</a:t>
            </a:r>
            <a:r>
              <a:rPr dirty="0" baseline="41666" sz="900" spc="75" i="1">
                <a:latin typeface="Arial"/>
                <a:cs typeface="Arial"/>
              </a:rPr>
              <a:t>−</a:t>
            </a:r>
            <a:r>
              <a:rPr dirty="0" sz="1100" spc="5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8381" y="2246185"/>
            <a:ext cx="603250" cy="0"/>
          </a:xfrm>
          <a:custGeom>
            <a:avLst/>
            <a:gdLst/>
            <a:ahLst/>
            <a:cxnLst/>
            <a:rect l="l" t="t" r="r" b="b"/>
            <a:pathLst>
              <a:path w="603250" h="0">
                <a:moveTo>
                  <a:pt x="0" y="0"/>
                </a:moveTo>
                <a:lnTo>
                  <a:pt x="602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60281" y="2013341"/>
            <a:ext cx="67310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265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-13888" sz="900" spc="82" i="1">
                <a:latin typeface="Verdana"/>
                <a:cs typeface="Verdana"/>
              </a:rPr>
              <a:t>a</a:t>
            </a:r>
            <a:r>
              <a:rPr dirty="0" sz="1100" spc="55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10">
                <a:latin typeface="Georgia"/>
                <a:cs typeface="Georgia"/>
              </a:rPr>
              <a:t>[H</a:t>
            </a:r>
            <a:r>
              <a:rPr dirty="0" baseline="27777" sz="900" spc="-15">
                <a:latin typeface="Times New Roman"/>
                <a:cs typeface="Times New Roman"/>
              </a:rPr>
              <a:t>+</a:t>
            </a:r>
            <a:r>
              <a:rPr dirty="0" sz="1100" spc="-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85" b="0" i="1">
                <a:latin typeface="Bookman Old Style"/>
                <a:cs typeface="Bookman Old Style"/>
              </a:rPr>
              <a:t>K</a:t>
            </a:r>
            <a:r>
              <a:rPr dirty="0" baseline="-13888" sz="900" spc="127" i="1">
                <a:latin typeface="Verdana"/>
                <a:cs typeface="Verdana"/>
              </a:rPr>
              <a:t>a</a:t>
            </a:r>
            <a:endParaRPr baseline="-13888" sz="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0456" y="212957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0">
                <a:latin typeface="Georgia"/>
                <a:cs typeface="Georgia"/>
              </a:rPr>
              <a:t>(11)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8544" y="3166313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 h="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58394" y="3172599"/>
            <a:ext cx="140017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165">
                <a:latin typeface="Times New Roman"/>
                <a:cs typeface="Times New Roman"/>
              </a:rPr>
              <a:t>4</a:t>
            </a:r>
            <a:r>
              <a:rPr dirty="0" sz="900" spc="-5">
                <a:latin typeface="Arial Unicode MS"/>
                <a:cs typeface="Arial Unicode MS"/>
              </a:rPr>
              <a:t>设比色皿的厚度</a:t>
            </a:r>
            <a:r>
              <a:rPr dirty="0" sz="900" spc="145">
                <a:latin typeface="Arial Unicode MS"/>
                <a:cs typeface="Arial Unicode MS"/>
              </a:rPr>
              <a:t>为</a:t>
            </a:r>
            <a:r>
              <a:rPr dirty="0" sz="900" spc="10">
                <a:latin typeface="Times New Roman"/>
                <a:cs typeface="Times New Roman"/>
              </a:rPr>
              <a:t>1</a:t>
            </a:r>
            <a:r>
              <a:rPr dirty="0" sz="900" spc="-100">
                <a:latin typeface="Times New Roman"/>
                <a:cs typeface="Times New Roman"/>
              </a:rPr>
              <a:t> </a:t>
            </a:r>
            <a:r>
              <a:rPr dirty="0" sz="900" spc="30">
                <a:latin typeface="Times New Roman"/>
                <a:cs typeface="Times New Roman"/>
              </a:rPr>
              <a:t>cm</a:t>
            </a:r>
            <a:r>
              <a:rPr dirty="0" sz="900" spc="-5">
                <a:latin typeface="Arial Unicode MS"/>
                <a:cs typeface="Arial Unicode MS"/>
              </a:rPr>
              <a:t>。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步骤二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996099"/>
            <a:ext cx="4264025" cy="11988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配制一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的分析浓度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spc="-18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的高酸度的溶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此时溶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液中的主要存在型体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95">
                <a:latin typeface="Georgia"/>
                <a:cs typeface="Georgia"/>
              </a:rPr>
              <a:t>HB</a:t>
            </a:r>
            <a:r>
              <a:rPr dirty="0" sz="1200" spc="-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在上述波长处测得的吸光度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marL="1242060">
              <a:lnSpc>
                <a:spcPct val="100000"/>
              </a:lnSpc>
            </a:pPr>
            <a:r>
              <a:rPr dirty="0" sz="1100" spc="5" b="0" i="1">
                <a:latin typeface="Bookman Old Style"/>
                <a:cs typeface="Bookman Old Style"/>
              </a:rPr>
              <a:t>A</a:t>
            </a:r>
            <a:r>
              <a:rPr dirty="0" sz="1100" spc="5">
                <a:latin typeface="Georgia"/>
                <a:cs typeface="Georgia"/>
              </a:rPr>
              <a:t>(HB)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40" b="0" i="1">
                <a:latin typeface="Bookman Old Style"/>
                <a:cs typeface="Bookman Old Style"/>
              </a:rPr>
              <a:t>ε</a:t>
            </a:r>
            <a:r>
              <a:rPr dirty="0" sz="1100" spc="-40">
                <a:latin typeface="Georgia"/>
                <a:cs typeface="Georgia"/>
              </a:rPr>
              <a:t>(HB)[HB]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ε</a:t>
            </a:r>
            <a:r>
              <a:rPr dirty="0" sz="1100" spc="-25">
                <a:latin typeface="Georgia"/>
                <a:cs typeface="Georgia"/>
              </a:rPr>
              <a:t>(HB)</a:t>
            </a:r>
            <a:r>
              <a:rPr dirty="0" sz="1100" spc="-25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  <a:p>
            <a:pPr marL="31623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9696" y="2239924"/>
            <a:ext cx="546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b="0" i="1">
                <a:latin typeface="Bookman Old Style"/>
                <a:cs typeface="Bookman Old Style"/>
              </a:rPr>
              <a:t>ε</a:t>
            </a:r>
            <a:r>
              <a:rPr dirty="0" sz="1100" spc="-20">
                <a:latin typeface="Georgia"/>
                <a:cs typeface="Georgia"/>
              </a:rPr>
              <a:t>(HB)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016" y="2146198"/>
            <a:ext cx="439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5">
                <a:latin typeface="Georgia"/>
                <a:cs typeface="Georgia"/>
              </a:rPr>
              <a:t>(HB)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76716" y="2356535"/>
            <a:ext cx="414020" cy="0"/>
          </a:xfrm>
          <a:custGeom>
            <a:avLst/>
            <a:gdLst/>
            <a:ahLst/>
            <a:cxnLst/>
            <a:rect l="l" t="t" r="r" b="b"/>
            <a:pathLst>
              <a:path w="414019" h="0">
                <a:moveTo>
                  <a:pt x="0" y="0"/>
                </a:moveTo>
                <a:lnTo>
                  <a:pt x="41371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40889" y="2334958"/>
            <a:ext cx="85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0456" y="2239924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步骤三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044" y="686015"/>
            <a:ext cx="4352925" cy="11988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最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配制一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-15">
                <a:latin typeface="Georgia"/>
                <a:cs typeface="Georgia"/>
              </a:rPr>
              <a:t>HB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的分析浓度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0" b="0" i="1">
                <a:latin typeface="Bookman Old Style"/>
                <a:cs typeface="Bookman Old Style"/>
              </a:rPr>
              <a:t>c</a:t>
            </a:r>
            <a:r>
              <a:rPr dirty="0" sz="1100" spc="-170" b="0" i="1">
                <a:latin typeface="Bookman Old Style"/>
                <a:cs typeface="Bookman Old Style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的高碱度的溶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此时溶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液中的主要存在型体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30" b="0" i="1">
                <a:latin typeface="Bookman Old Style"/>
                <a:cs typeface="Bookman Old Style"/>
              </a:rPr>
              <a:t>B</a:t>
            </a:r>
            <a:r>
              <a:rPr dirty="0" baseline="37037" sz="900" spc="44" i="1">
                <a:latin typeface="Arial"/>
                <a:cs typeface="Arial"/>
              </a:rPr>
              <a:t>−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在上述波长处测得的吸光度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05410">
              <a:lnSpc>
                <a:spcPct val="100000"/>
              </a:lnSpc>
            </a:pPr>
            <a:r>
              <a:rPr dirty="0" sz="1100" spc="75" b="0" i="1">
                <a:latin typeface="Bookman Old Style"/>
                <a:cs typeface="Bookman Old Style"/>
              </a:rPr>
              <a:t>A</a:t>
            </a:r>
            <a:r>
              <a:rPr dirty="0" sz="1100" spc="75">
                <a:latin typeface="Georgia"/>
                <a:cs typeface="Georgia"/>
              </a:rPr>
              <a:t>(B</a:t>
            </a:r>
            <a:r>
              <a:rPr dirty="0" baseline="41666" sz="900" spc="112" i="1">
                <a:latin typeface="Arial"/>
                <a:cs typeface="Arial"/>
              </a:rPr>
              <a:t>−</a:t>
            </a:r>
            <a:r>
              <a:rPr dirty="0" sz="1100" spc="7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40" b="0" i="1">
                <a:latin typeface="Bookman Old Style"/>
                <a:cs typeface="Bookman Old Style"/>
              </a:rPr>
              <a:t>ε</a:t>
            </a:r>
            <a:r>
              <a:rPr dirty="0" sz="1100" spc="40">
                <a:latin typeface="Georgia"/>
                <a:cs typeface="Georgia"/>
              </a:rPr>
              <a:t>(B</a:t>
            </a:r>
            <a:r>
              <a:rPr dirty="0" baseline="41666" sz="900" spc="60" i="1">
                <a:latin typeface="Arial"/>
                <a:cs typeface="Arial"/>
              </a:rPr>
              <a:t>−</a:t>
            </a:r>
            <a:r>
              <a:rPr dirty="0" sz="1100" spc="40">
                <a:latin typeface="Georgia"/>
                <a:cs typeface="Georgia"/>
              </a:rPr>
              <a:t>)[B</a:t>
            </a:r>
            <a:r>
              <a:rPr dirty="0" baseline="41666" sz="900" spc="60" i="1">
                <a:latin typeface="Arial"/>
                <a:cs typeface="Arial"/>
              </a:rPr>
              <a:t>−</a:t>
            </a:r>
            <a:r>
              <a:rPr dirty="0" sz="1100" spc="40">
                <a:latin typeface="Georgia"/>
                <a:cs typeface="Georgia"/>
              </a:rPr>
              <a:t>] </a:t>
            </a:r>
            <a:r>
              <a:rPr dirty="0" sz="1100" spc="-30">
                <a:latin typeface="Lucida Sans Unicode"/>
                <a:cs typeface="Lucida Sans Unicode"/>
              </a:rPr>
              <a:t>≈</a:t>
            </a:r>
            <a:r>
              <a:rPr dirty="0" sz="1100" spc="-210">
                <a:latin typeface="Lucida Sans Unicode"/>
                <a:cs typeface="Lucida Sans Unicode"/>
              </a:rPr>
              <a:t> </a:t>
            </a:r>
            <a:r>
              <a:rPr dirty="0" sz="1100" spc="35" b="0" i="1">
                <a:latin typeface="Bookman Old Style"/>
                <a:cs typeface="Bookman Old Style"/>
              </a:rPr>
              <a:t>ε</a:t>
            </a:r>
            <a:r>
              <a:rPr dirty="0" sz="1100" spc="35">
                <a:latin typeface="Georgia"/>
                <a:cs typeface="Georgia"/>
              </a:rPr>
              <a:t>(B</a:t>
            </a:r>
            <a:r>
              <a:rPr dirty="0" baseline="41666" sz="900" spc="52" i="1">
                <a:latin typeface="Arial"/>
                <a:cs typeface="Arial"/>
              </a:rPr>
              <a:t>−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35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  <a:p>
            <a:pPr marL="36703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8782" y="1929841"/>
            <a:ext cx="10153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ε</a:t>
            </a:r>
            <a:r>
              <a:rPr dirty="0" sz="1100" spc="50">
                <a:latin typeface="Georgia"/>
                <a:cs typeface="Georgia"/>
              </a:rPr>
              <a:t>(B</a:t>
            </a:r>
            <a:r>
              <a:rPr dirty="0" baseline="41666" sz="900" spc="75" i="1">
                <a:latin typeface="Arial"/>
                <a:cs typeface="Arial"/>
              </a:rPr>
              <a:t>−</a:t>
            </a:r>
            <a:r>
              <a:rPr dirty="0" sz="1100" spc="5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baseline="37878" sz="1650" spc="112" b="0" i="1">
                <a:latin typeface="Bookman Old Style"/>
                <a:cs typeface="Bookman Old Style"/>
              </a:rPr>
              <a:t>A</a:t>
            </a:r>
            <a:r>
              <a:rPr dirty="0" baseline="37878" sz="1650" spc="112">
                <a:latin typeface="Georgia"/>
                <a:cs typeface="Georgia"/>
              </a:rPr>
              <a:t>(B</a:t>
            </a:r>
            <a:r>
              <a:rPr dirty="0" baseline="106481" sz="900" spc="112" i="1">
                <a:latin typeface="Arial"/>
                <a:cs typeface="Arial"/>
              </a:rPr>
              <a:t>−</a:t>
            </a:r>
            <a:r>
              <a:rPr dirty="0" baseline="37878" sz="1650" spc="112">
                <a:latin typeface="Georgia"/>
                <a:cs typeface="Georgia"/>
              </a:rPr>
              <a:t>)</a:t>
            </a:r>
            <a:endParaRPr baseline="37878" sz="165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76716" y="2046452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5" h="0">
                <a:moveTo>
                  <a:pt x="0" y="0"/>
                </a:moveTo>
                <a:lnTo>
                  <a:pt x="38922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10456" y="1929841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501" y="1996248"/>
            <a:ext cx="3096895" cy="43434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r" marR="916940">
              <a:lnSpc>
                <a:spcPct val="100000"/>
              </a:lnSpc>
              <a:spcBef>
                <a:spcPts val="315"/>
              </a:spcBef>
            </a:pPr>
            <a:r>
              <a:rPr dirty="0" sz="1100" spc="-60" b="0" i="1">
                <a:latin typeface="Bookman Old Style"/>
                <a:cs typeface="Bookman Old Style"/>
              </a:rPr>
              <a:t>c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200" spc="-260">
                <a:latin typeface="Arial Unicode MS"/>
                <a:cs typeface="Arial Unicode MS"/>
              </a:rPr>
              <a:t>将</a:t>
            </a:r>
            <a:r>
              <a:rPr dirty="0" sz="1200" spc="-65">
                <a:latin typeface="Arial Unicode MS"/>
                <a:cs typeface="Arial Unicode MS"/>
              </a:rPr>
              <a:t>（</a:t>
            </a:r>
            <a:r>
              <a:rPr dirty="0" sz="1100" spc="-65">
                <a:latin typeface="Georgia"/>
                <a:cs typeface="Georgia"/>
                <a:hlinkClick r:id="rId2" action="ppaction://hlinksldjump"/>
              </a:rPr>
              <a:t>12</a:t>
            </a:r>
            <a:r>
              <a:rPr dirty="0" sz="1200" spc="-6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</a:t>
            </a:r>
            <a:r>
              <a:rPr dirty="0" sz="1200" spc="-260">
                <a:latin typeface="Arial Unicode MS"/>
                <a:cs typeface="Arial Unicode MS"/>
              </a:rPr>
              <a:t>和</a:t>
            </a: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  <a:hlinkClick r:id="rId3" action="ppaction://hlinksldjump"/>
              </a:rPr>
              <a:t>13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式代</a:t>
            </a:r>
            <a:r>
              <a:rPr dirty="0" sz="1200" spc="-260">
                <a:latin typeface="Arial Unicode MS"/>
                <a:cs typeface="Arial Unicode MS"/>
              </a:rPr>
              <a:t>入</a:t>
            </a:r>
            <a:r>
              <a:rPr dirty="0" sz="1200" spc="-30">
                <a:latin typeface="Arial Unicode MS"/>
                <a:cs typeface="Arial Unicode MS"/>
              </a:rPr>
              <a:t>（</a:t>
            </a:r>
            <a:r>
              <a:rPr dirty="0" sz="1100" spc="-30">
                <a:latin typeface="Georgia"/>
                <a:cs typeface="Georgia"/>
                <a:hlinkClick r:id="rId4" action="ppaction://hlinksldjump"/>
              </a:rPr>
              <a:t>11</a:t>
            </a:r>
            <a:r>
              <a:rPr dirty="0" sz="1200" spc="-3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经整理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6324" y="2613482"/>
            <a:ext cx="2127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 b="0" i="1">
                <a:latin typeface="Bookman Old Style"/>
                <a:cs typeface="Bookman Old Style"/>
              </a:rPr>
              <a:t>pK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3687" y="2696895"/>
            <a:ext cx="768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40" i="1">
                <a:latin typeface="Verdana"/>
                <a:cs typeface="Verdana"/>
              </a:rPr>
              <a:t>a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16848" y="2730093"/>
            <a:ext cx="687070" cy="0"/>
          </a:xfrm>
          <a:custGeom>
            <a:avLst/>
            <a:gdLst/>
            <a:ahLst/>
            <a:cxnLst/>
            <a:rect l="l" t="t" r="r" b="b"/>
            <a:pathLst>
              <a:path w="687069" h="0">
                <a:moveTo>
                  <a:pt x="0" y="0"/>
                </a:moveTo>
                <a:lnTo>
                  <a:pt x="68695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734337" y="2497249"/>
            <a:ext cx="140779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r" marR="42545">
              <a:lnSpc>
                <a:spcPct val="100000"/>
              </a:lnSpc>
              <a:spcBef>
                <a:spcPts val="265"/>
              </a:spcBef>
            </a:pPr>
            <a:r>
              <a:rPr dirty="0" baseline="-37878" sz="1650" spc="209">
                <a:latin typeface="Georgia"/>
                <a:cs typeface="Georgia"/>
              </a:rPr>
              <a:t>=</a:t>
            </a:r>
            <a:r>
              <a:rPr dirty="0" baseline="-37878" sz="1650" spc="30">
                <a:latin typeface="Georgia"/>
                <a:cs typeface="Georgia"/>
              </a:rPr>
              <a:t> </a:t>
            </a:r>
            <a:r>
              <a:rPr dirty="0" baseline="-37878" sz="1650" spc="-82">
                <a:latin typeface="Georgia"/>
                <a:cs typeface="Georgia"/>
              </a:rPr>
              <a:t>pH</a:t>
            </a:r>
            <a:r>
              <a:rPr dirty="0" baseline="-37878" sz="1650" spc="-44">
                <a:latin typeface="Georgia"/>
                <a:cs typeface="Georgia"/>
              </a:rPr>
              <a:t> </a:t>
            </a:r>
            <a:r>
              <a:rPr dirty="0" baseline="-37878" sz="1650" spc="209">
                <a:latin typeface="Georgia"/>
                <a:cs typeface="Georgia"/>
              </a:rPr>
              <a:t>+</a:t>
            </a:r>
            <a:r>
              <a:rPr dirty="0" baseline="-37878" sz="1650" spc="-52">
                <a:latin typeface="Georgia"/>
                <a:cs typeface="Georgia"/>
              </a:rPr>
              <a:t> </a:t>
            </a:r>
            <a:r>
              <a:rPr dirty="0" baseline="-37878" sz="1650" spc="-22">
                <a:latin typeface="Georgia"/>
                <a:cs typeface="Georgia"/>
              </a:rPr>
              <a:t>lg</a:t>
            </a:r>
            <a:r>
              <a:rPr dirty="0" baseline="-37878" sz="1650" spc="195">
                <a:latin typeface="Georgia"/>
                <a:cs typeface="Georgia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100" b="0" i="1">
                <a:latin typeface="Bookman Old Style"/>
                <a:cs typeface="Bookman Old Style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75" b="0" i="1">
                <a:latin typeface="Bookman Old Style"/>
                <a:cs typeface="Bookman Old Style"/>
              </a:rPr>
              <a:t>A</a:t>
            </a:r>
            <a:r>
              <a:rPr dirty="0" sz="1100" spc="75">
                <a:latin typeface="Georgia"/>
                <a:cs typeface="Georgia"/>
              </a:rPr>
              <a:t>(B</a:t>
            </a:r>
            <a:r>
              <a:rPr dirty="0" baseline="37037" sz="900" spc="112" i="1">
                <a:latin typeface="Arial"/>
                <a:cs typeface="Arial"/>
              </a:rPr>
              <a:t>−</a:t>
            </a:r>
            <a:r>
              <a:rPr dirty="0" sz="1100" spc="7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algn="r" marR="30480">
              <a:lnSpc>
                <a:spcPct val="100000"/>
              </a:lnSpc>
              <a:spcBef>
                <a:spcPts val="17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A</a:t>
            </a:r>
            <a:r>
              <a:rPr dirty="0" sz="1100" spc="5">
                <a:latin typeface="Georgia"/>
                <a:cs typeface="Georgia"/>
              </a:rPr>
              <a:t>(HB)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15">
                <a:latin typeface="Lucida Sans Unicode"/>
                <a:cs typeface="Lucida Sans Unicode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0456" y="2613482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(14)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13664" y="3353670"/>
            <a:ext cx="708660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</a:t>
            </a:r>
            <a:r>
              <a:rPr dirty="0" sz="500" spc="140">
                <a:solidFill>
                  <a:srgbClr val="FFFFFF"/>
                </a:solidFill>
                <a:latin typeface="Arial Unicode MS"/>
                <a:cs typeface="Arial Unicode MS"/>
              </a:rPr>
              <a:t>峰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教授</a:t>
            </a:r>
            <a:r>
              <a:rPr dirty="0" sz="500" spc="135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12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67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2023-10-22T14:04:48Z</dcterms:created>
  <dcterms:modified xsi:type="dcterms:W3CDTF">2023-10-22T14:04:48Z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2010-05-12T00:00:00Z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2010-05-12T00:00:00Z</vt:filetime>
  </property>
</Properties>
</file>