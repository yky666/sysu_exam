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37"/>
  </p:handoutMasterIdLst>
  <p:sldIdLst>
    <p:sldId id="258" r:id="rId2"/>
    <p:sldId id="288" r:id="rId3"/>
    <p:sldId id="267" r:id="rId4"/>
    <p:sldId id="324" r:id="rId5"/>
    <p:sldId id="278" r:id="rId6"/>
    <p:sldId id="326" r:id="rId7"/>
    <p:sldId id="284" r:id="rId8"/>
    <p:sldId id="327" r:id="rId9"/>
    <p:sldId id="304" r:id="rId10"/>
    <p:sldId id="301" r:id="rId11"/>
    <p:sldId id="331" r:id="rId12"/>
    <p:sldId id="305" r:id="rId13"/>
    <p:sldId id="306" r:id="rId14"/>
    <p:sldId id="332" r:id="rId15"/>
    <p:sldId id="303" r:id="rId16"/>
    <p:sldId id="307" r:id="rId17"/>
    <p:sldId id="308" r:id="rId18"/>
    <p:sldId id="309" r:id="rId19"/>
    <p:sldId id="333" r:id="rId20"/>
    <p:sldId id="310" r:id="rId21"/>
    <p:sldId id="311" r:id="rId22"/>
    <p:sldId id="312" r:id="rId23"/>
    <p:sldId id="313" r:id="rId24"/>
    <p:sldId id="314" r:id="rId25"/>
    <p:sldId id="315" r:id="rId26"/>
    <p:sldId id="334" r:id="rId27"/>
    <p:sldId id="316" r:id="rId28"/>
    <p:sldId id="317" r:id="rId29"/>
    <p:sldId id="318" r:id="rId30"/>
    <p:sldId id="319" r:id="rId31"/>
    <p:sldId id="320" r:id="rId32"/>
    <p:sldId id="323" r:id="rId33"/>
    <p:sldId id="321" r:id="rId34"/>
    <p:sldId id="322" r:id="rId35"/>
    <p:sldId id="325" r:id="rId3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0CF44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83" autoAdjust="0"/>
  </p:normalViewPr>
  <p:slideViewPr>
    <p:cSldViewPr>
      <p:cViewPr varScale="1">
        <p:scale>
          <a:sx n="113" d="100"/>
          <a:sy n="113" d="100"/>
        </p:scale>
        <p:origin x="153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4ED4788-78BE-E4A3-F131-90E99F83DD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1A073D4E-D6C7-AFC8-E20B-2FF33B599B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B6D86230-72F4-DB98-2784-A28E682362C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B42B7670-FCE0-87D2-B4AE-2E2FFED957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4503A2-2874-4FB0-8812-3C4279B2190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9352B00-19A7-0DA9-1A35-6F9EF6ACBAD5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2CC4AC5-4F68-C796-F45A-E8FEA87A4AE7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116656C-A761-2AF9-5D1E-437E08A7818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46C73A9-9735-5EA4-54B0-91A821E000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28490ED-FB64-A153-A349-D6D02B0E8A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C9A8B4D-F83A-440B-AC01-4D2D0632EE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CCFD10-DAA9-309B-849F-35A0F531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D16C3-027A-8B26-424F-2329F6F25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47F704-C603-3209-F444-0D54F41B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8EBCE-D531-654A-461A-24561ABF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D506B-4539-D622-E915-0B744372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1ABA2-099E-438A-B98A-C012610323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033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310DA-5FF6-B1E1-7706-29A24BBE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EE9926-2777-3959-3508-87205DCE1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2AD6DB-697C-04E4-1F33-976A6C91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76894-54B9-6371-97CC-3BBFE7C5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772816-5F95-B386-9494-08345387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3FD0AA-790C-4647-A212-480F56F469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872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17099-6493-C552-9F5E-CB4A1643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9D59EA-0B28-B7C9-3AFB-37D852F55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251882-8801-7B7A-2829-900FEE335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31D1EC-839E-AAB7-FA6A-2B18B219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25B0E6-B91F-F73F-BC9B-DF661307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5DA8CF-DA2F-736C-8B3E-3236759D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6FEAF1-BD29-4750-ADAB-5588278B05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42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FBB43-D287-916F-B7F7-3A6CD7B2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98A6AA-EA7B-119E-F50B-AFA6E38CE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C3B321-EAE4-2EE1-42BB-D30E28DBB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73F842-4865-7B4E-F312-0A0EEB6D0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287617-CBC3-D528-A13B-50CE24D0C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9A639A-4094-36A3-381B-6786EE12C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E00FC1-A620-4460-12F3-A4AA3691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C8476D-5366-563A-5BB7-FBE66D1D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CA46B-CA95-437B-A0B5-FCC4626EDD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72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55364-797A-7D01-4B21-65197668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029BB8-1C9A-07B3-2A56-CDAC5C2C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794698-F07E-81E5-91E8-94EE140F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80DBE2-3850-2431-7362-C43C64AA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DC0519-33AB-41B7-8492-052E04BE59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33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127C3B-9249-B080-4E14-A3797EB3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4CFC39-6B72-2F0E-95A3-CFF2873E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86E1D-448D-52D1-DF30-5A3868D7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CD140A-477B-40EE-AD3D-6486CD4A24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733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4A6BA7-3BEE-7A44-8930-F7252AEB7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AC7F94-AC0C-4B20-C564-81B886C24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2C6F32-E407-D5E6-1393-BE5EEDEAB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F386EF-D2FD-E86D-E65D-515D61F1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E74BFF-32BE-60C8-38D8-214B250A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63ABE-1F17-3F42-5253-AB0E8A31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E7DDE-D8C3-4207-800B-EC60388262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256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B5C72-00BD-C922-A63D-91D38219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8FEFC5-9A71-C6C7-47D3-65EE85B2F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70EE8D-B318-D29A-B226-601B053E0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025B96-31BB-F711-8D5B-CBD56DDB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221675-16FB-B6F5-2226-9ED2DD04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EB9BCE-2D9E-8BDB-5EAB-55013136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41583C-1A7C-4522-AC8F-2AF454165F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041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F890A-5E38-4B46-DDFC-8B7979E7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476C0B-3440-FEFE-9A27-D34D3E245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38EF2-1132-DDB6-E416-D01E5315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C622B-F340-B24E-90B9-A0F68422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1BFA9-0920-4D23-1C83-FD6CBAF6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542261-617E-4E70-BF64-C21034AB24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627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4C5DB6-3826-5C25-0D3E-11106E5C6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B7A0D0-BB0D-20D6-4F79-038DEB280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F0D1C-877D-A78A-0646-A6ECA898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4DCB57-AB33-696B-CCEE-21E533F6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CF0CC1-7A84-B434-8129-3D3F5460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333EB6-45EA-41B0-AFF6-6BD6E3DF4C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86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69F200A-2282-F417-493D-7C96C4B72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F3A696-A4B4-9BC9-804A-52FC30F484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102282C-88BE-4D29-737B-3C346CB7A4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7EB512E-D04F-5EEE-794D-D9A35643FD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9AC5A4F9-4D1C-4F0C-9774-84A3D8C70D8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A12DEB4-ECEC-BC95-4C50-BC83CF0DF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8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1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5.w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9.png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5.w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3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oleObject" Target="../embeddings/oleObject3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>
            <a:extLst>
              <a:ext uri="{FF2B5EF4-FFF2-40B4-BE49-F238E27FC236}">
                <a16:creationId xmlns:a16="http://schemas.microsoft.com/office/drawing/2014/main" id="{258E205A-50CC-9AEC-AE74-CF0703E1A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412875"/>
            <a:ext cx="691515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Analysis of Variance</a:t>
            </a:r>
          </a:p>
          <a:p>
            <a:pPr algn="ctr"/>
            <a:endParaRPr lang="en-US" altLang="zh-CN" sz="40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zh-CN" altLang="en-US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</a:t>
            </a:r>
            <a:r>
              <a:rPr lang="en-US" altLang="zh-CN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Part Ⅱ</a:t>
            </a:r>
            <a:r>
              <a:rPr lang="zh-CN" altLang="en-US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</a:p>
        </p:txBody>
      </p:sp>
      <p:sp>
        <p:nvSpPr>
          <p:cNvPr id="48131" name="Rectangle 1027">
            <a:extLst>
              <a:ext uri="{FF2B5EF4-FFF2-40B4-BE49-F238E27FC236}">
                <a16:creationId xmlns:a16="http://schemas.microsoft.com/office/drawing/2014/main" id="{5AF2D0B7-DA67-F342-48FE-0CECD4D4A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724400"/>
            <a:ext cx="3881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>
                <a:effectLst>
                  <a:outerShdw blurRad="38100" dist="38100" dir="2700000" algn="tl">
                    <a:srgbClr val="000000"/>
                  </a:outerShdw>
                </a:effectLst>
              </a:rPr>
              <a:t>March,10th,2005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C51C64C2-652B-9975-9F38-6FD61B8AEA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71450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4960" imgH="2933640" progId="Word.Document.8">
                  <p:embed/>
                </p:oleObj>
              </mc:Choice>
              <mc:Fallback>
                <p:oleObj name="文档" r:id="rId2" imgW="5484960" imgH="2933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14500"/>
                        <a:ext cx="91440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>
            <a:extLst>
              <a:ext uri="{FF2B5EF4-FFF2-40B4-BE49-F238E27FC236}">
                <a16:creationId xmlns:a16="http://schemas.microsoft.com/office/drawing/2014/main" id="{22B24A75-74F3-2DAA-08AC-5ABDEE4DD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572000"/>
          <a:ext cx="53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41200" progId="Equation.3">
                  <p:embed/>
                </p:oleObj>
              </mc:Choice>
              <mc:Fallback>
                <p:oleObj name="Equation" r:id="rId4" imgW="2156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53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>
            <a:extLst>
              <a:ext uri="{FF2B5EF4-FFF2-40B4-BE49-F238E27FC236}">
                <a16:creationId xmlns:a16="http://schemas.microsoft.com/office/drawing/2014/main" id="{49130C68-3604-E713-A424-E39170E3F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7E845DFB-8169-48B2-F4F2-55E6DB7F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2CC90004-AD64-038C-1747-2B5B6E01BF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3248025"/>
          <a:ext cx="2000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51" imgH="215619" progId="Equation.3">
                  <p:embed/>
                </p:oleObj>
              </mc:Choice>
              <mc:Fallback>
                <p:oleObj r:id="rId6" imgW="114151" imgH="2156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248025"/>
                        <a:ext cx="20002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ECD5E895-B8C4-7601-097B-DFC60709D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4572000"/>
          <a:ext cx="5064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90440" progId="Equation.3">
                  <p:embed/>
                </p:oleObj>
              </mc:Choice>
              <mc:Fallback>
                <p:oleObj name="Equation" r:id="rId8" imgW="17748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572000"/>
                        <a:ext cx="50641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>
            <a:extLst>
              <a:ext uri="{FF2B5EF4-FFF2-40B4-BE49-F238E27FC236}">
                <a16:creationId xmlns:a16="http://schemas.microsoft.com/office/drawing/2014/main" id="{D5209F6D-811B-36E9-A065-CD5F0D189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20713"/>
            <a:ext cx="86423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800" b="1" u="sng">
                <a:latin typeface="Times New Roman" panose="02020603050405020304" pitchFamily="18" charset="0"/>
              </a:rPr>
              <a:t> A  medical research on </a:t>
            </a:r>
            <a:r>
              <a:rPr lang="en-US" altLang="zh-CN" sz="4800" b="1" i="1" u="sng">
                <a:latin typeface="Times New Roman" panose="02020603050405020304" pitchFamily="18" charset="0"/>
              </a:rPr>
              <a:t>p</a:t>
            </a:r>
            <a:r>
              <a:rPr lang="en-US" altLang="zh-CN" sz="4800" b="1" u="sng">
                <a:latin typeface="Times New Roman" panose="02020603050405020304" pitchFamily="18" charset="0"/>
              </a:rPr>
              <a:t>.297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Line 3">
            <a:extLst>
              <a:ext uri="{FF2B5EF4-FFF2-40B4-BE49-F238E27FC236}">
                <a16:creationId xmlns:a16="http://schemas.microsoft.com/office/drawing/2014/main" id="{A43FE6F6-2CA2-7B69-5436-03F1FDEFE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7163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68" name="Line 4">
            <a:extLst>
              <a:ext uri="{FF2B5EF4-FFF2-40B4-BE49-F238E27FC236}">
                <a16:creationId xmlns:a16="http://schemas.microsoft.com/office/drawing/2014/main" id="{C707A5D1-690B-35A0-7866-3B444F3D6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4290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69" name="Line 5">
            <a:extLst>
              <a:ext uri="{FF2B5EF4-FFF2-40B4-BE49-F238E27FC236}">
                <a16:creationId xmlns:a16="http://schemas.microsoft.com/office/drawing/2014/main" id="{0203D8EE-F03B-02B4-466C-967EAA8C18B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8608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0" name="Line 6">
            <a:extLst>
              <a:ext uri="{FF2B5EF4-FFF2-40B4-BE49-F238E27FC236}">
                <a16:creationId xmlns:a16="http://schemas.microsoft.com/office/drawing/2014/main" id="{23CC2282-8003-7357-DB94-82FE8C5CF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004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1" name="Line 7">
            <a:extLst>
              <a:ext uri="{FF2B5EF4-FFF2-40B4-BE49-F238E27FC236}">
                <a16:creationId xmlns:a16="http://schemas.microsoft.com/office/drawing/2014/main" id="{B124D0C6-72D0-FDB4-3209-3586C543C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8608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2" name="Line 8">
            <a:extLst>
              <a:ext uri="{FF2B5EF4-FFF2-40B4-BE49-F238E27FC236}">
                <a16:creationId xmlns:a16="http://schemas.microsoft.com/office/drawing/2014/main" id="{332E797E-05A8-C7B1-512A-B0B028B48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6449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3" name="Line 9">
            <a:extLst>
              <a:ext uri="{FF2B5EF4-FFF2-40B4-BE49-F238E27FC236}">
                <a16:creationId xmlns:a16="http://schemas.microsoft.com/office/drawing/2014/main" id="{778BD55E-98C9-A8A7-E436-FF048F31C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004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4" name="Line 10">
            <a:extLst>
              <a:ext uri="{FF2B5EF4-FFF2-40B4-BE49-F238E27FC236}">
                <a16:creationId xmlns:a16="http://schemas.microsoft.com/office/drawing/2014/main" id="{9C616AAA-EBEB-A885-3436-DD4FF9E58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7346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5" name="Line 11">
            <a:extLst>
              <a:ext uri="{FF2B5EF4-FFF2-40B4-BE49-F238E27FC236}">
                <a16:creationId xmlns:a16="http://schemas.microsoft.com/office/drawing/2014/main" id="{72C6C8EF-BD81-064A-3B44-9E14002C1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6449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6" name="Line 12">
            <a:extLst>
              <a:ext uri="{FF2B5EF4-FFF2-40B4-BE49-F238E27FC236}">
                <a16:creationId xmlns:a16="http://schemas.microsoft.com/office/drawing/2014/main" id="{68223B3C-BE20-A2C4-3C96-275B7A7150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6368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7" name="Line 13">
            <a:extLst>
              <a:ext uri="{FF2B5EF4-FFF2-40B4-BE49-F238E27FC236}">
                <a16:creationId xmlns:a16="http://schemas.microsoft.com/office/drawing/2014/main" id="{168110B5-4921-21ED-1E7D-D5D7FE4CD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5654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8" name="Line 14">
            <a:extLst>
              <a:ext uri="{FF2B5EF4-FFF2-40B4-BE49-F238E27FC236}">
                <a16:creationId xmlns:a16="http://schemas.microsoft.com/office/drawing/2014/main" id="{C644FAAF-C848-5C11-362B-FDC3F9C8E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49237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79" name="Line 15">
            <a:extLst>
              <a:ext uri="{FF2B5EF4-FFF2-40B4-BE49-F238E27FC236}">
                <a16:creationId xmlns:a16="http://schemas.microsoft.com/office/drawing/2014/main" id="{7FFC67EA-A6E2-DAA0-AD77-4B324CD18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70827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0" name="Line 16">
            <a:extLst>
              <a:ext uri="{FF2B5EF4-FFF2-40B4-BE49-F238E27FC236}">
                <a16:creationId xmlns:a16="http://schemas.microsoft.com/office/drawing/2014/main" id="{1A71CB15-0A62-699B-CFA4-D2B421F6A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05251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1" name="Line 17">
            <a:extLst>
              <a:ext uri="{FF2B5EF4-FFF2-40B4-BE49-F238E27FC236}">
                <a16:creationId xmlns:a16="http://schemas.microsoft.com/office/drawing/2014/main" id="{4F94C381-31C6-8A86-0882-50BEB3C1C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98107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2" name="Line 18">
            <a:extLst>
              <a:ext uri="{FF2B5EF4-FFF2-40B4-BE49-F238E27FC236}">
                <a16:creationId xmlns:a16="http://schemas.microsoft.com/office/drawing/2014/main" id="{08D12654-88E6-CA6F-0486-874161AF8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1255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3" name="Line 19">
            <a:extLst>
              <a:ext uri="{FF2B5EF4-FFF2-40B4-BE49-F238E27FC236}">
                <a16:creationId xmlns:a16="http://schemas.microsoft.com/office/drawing/2014/main" id="{538D5006-646A-5247-D8C4-11C0E5F3E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26841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4" name="Line 20">
            <a:extLst>
              <a:ext uri="{FF2B5EF4-FFF2-40B4-BE49-F238E27FC236}">
                <a16:creationId xmlns:a16="http://schemas.microsoft.com/office/drawing/2014/main" id="{B66D8624-2983-6353-E473-8EB7AECB3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644900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5" name="Line 21">
            <a:extLst>
              <a:ext uri="{FF2B5EF4-FFF2-40B4-BE49-F238E27FC236}">
                <a16:creationId xmlns:a16="http://schemas.microsoft.com/office/drawing/2014/main" id="{057CCC48-9B38-893F-F77A-1B6F78161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6368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6" name="Line 22">
            <a:extLst>
              <a:ext uri="{FF2B5EF4-FFF2-40B4-BE49-F238E27FC236}">
                <a16:creationId xmlns:a16="http://schemas.microsoft.com/office/drawing/2014/main" id="{8348F4FE-739B-4ECE-40D1-01921B505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1255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87" name="Line 23">
            <a:extLst>
              <a:ext uri="{FF2B5EF4-FFF2-40B4-BE49-F238E27FC236}">
                <a16:creationId xmlns:a16="http://schemas.microsoft.com/office/drawing/2014/main" id="{D1A30B97-34AE-1E88-B0E1-B3CDC66F1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2420938"/>
            <a:ext cx="73453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091" name="Rectangle 27">
            <a:extLst>
              <a:ext uri="{FF2B5EF4-FFF2-40B4-BE49-F238E27FC236}">
                <a16:creationId xmlns:a16="http://schemas.microsoft.com/office/drawing/2014/main" id="{BC96CD01-ABA1-95AD-0394-027EAF1E8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93" name="Rectangle 29">
            <a:extLst>
              <a:ext uri="{FF2B5EF4-FFF2-40B4-BE49-F238E27FC236}">
                <a16:creationId xmlns:a16="http://schemas.microsoft.com/office/drawing/2014/main" id="{2E11F5E4-B165-4E37-B977-F5B3C074B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95" name="Rectangle 31">
            <a:extLst>
              <a:ext uri="{FF2B5EF4-FFF2-40B4-BE49-F238E27FC236}">
                <a16:creationId xmlns:a16="http://schemas.microsoft.com/office/drawing/2014/main" id="{76BD5BBC-439C-0C5A-8FE9-56B88CD8C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97" name="Rectangle 33">
            <a:extLst>
              <a:ext uri="{FF2B5EF4-FFF2-40B4-BE49-F238E27FC236}">
                <a16:creationId xmlns:a16="http://schemas.microsoft.com/office/drawing/2014/main" id="{848B1D18-F8F4-3AEF-9B2D-756ED5E8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49" name="Object 81">
            <a:extLst>
              <a:ext uri="{FF2B5EF4-FFF2-40B4-BE49-F238E27FC236}">
                <a16:creationId xmlns:a16="http://schemas.microsoft.com/office/drawing/2014/main" id="{5A40D2ED-D868-550C-73FF-C7E001476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853238" y="1441450"/>
          <a:ext cx="22701251" cy="1702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1121480" imgH="8344080" progId="Word.Document.8">
                  <p:embed/>
                </p:oleObj>
              </mc:Choice>
              <mc:Fallback>
                <p:oleObj name="文档" r:id="rId2" imgW="11121480" imgH="8344080" progId="Word.Document.8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853238" y="1441450"/>
                        <a:ext cx="22701251" cy="1702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2F2A0B26-B02E-08A9-BC03-8C9357F97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609600"/>
            <a:ext cx="8640762" cy="1143000"/>
          </a:xfrm>
        </p:spPr>
        <p:txBody>
          <a:bodyPr/>
          <a:lstStyle/>
          <a:p>
            <a:pPr algn="l"/>
            <a:r>
              <a:rPr lang="en-US" altLang="zh-CN" b="1">
                <a:latin typeface="Times New Roman" panose="02020603050405020304" pitchFamily="18" charset="0"/>
              </a:rPr>
              <a:t>Conditions </a:t>
            </a:r>
            <a:br>
              <a:rPr lang="en-US" altLang="zh-CN" b="1">
                <a:latin typeface="Times New Roman" panose="02020603050405020304" pitchFamily="18" charset="0"/>
              </a:rPr>
            </a:br>
            <a:r>
              <a:rPr lang="en-US" altLang="zh-CN" b="1">
                <a:latin typeface="Times New Roman" panose="02020603050405020304" pitchFamily="18" charset="0"/>
              </a:rPr>
              <a:t>                for ANOVA application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FF639BC-853A-135F-9817-985757F48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773238"/>
            <a:ext cx="8748712" cy="41148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sz="4000" b="1"/>
              <a:t> </a:t>
            </a:r>
            <a:r>
              <a:rPr lang="en-US" altLang="zh-CN" sz="3600" b="1"/>
              <a:t>Individuals are drawn from the population </a:t>
            </a:r>
            <a:r>
              <a:rPr lang="en-US" altLang="zh-CN" sz="3600" b="1" i="1">
                <a:solidFill>
                  <a:schemeClr val="folHlink"/>
                </a:solidFill>
              </a:rPr>
              <a:t>randomly</a:t>
            </a:r>
            <a:r>
              <a:rPr lang="en-US" altLang="zh-CN" sz="3600" b="1"/>
              <a:t> and </a:t>
            </a:r>
            <a:r>
              <a:rPr lang="en-US" altLang="zh-CN" sz="3600" b="1" i="1">
                <a:solidFill>
                  <a:schemeClr val="folHlink"/>
                </a:solidFill>
              </a:rPr>
              <a:t>independently</a:t>
            </a:r>
            <a:r>
              <a:rPr lang="en-US" altLang="zh-CN" sz="3600" b="1"/>
              <a:t>. </a:t>
            </a:r>
          </a:p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sz="3600" b="1"/>
              <a:t>The concerned populations all belong to </a:t>
            </a:r>
            <a:r>
              <a:rPr lang="en-US" altLang="zh-CN" sz="3600" b="1" i="1">
                <a:solidFill>
                  <a:schemeClr val="folHlink"/>
                </a:solidFill>
              </a:rPr>
              <a:t>normal distributions</a:t>
            </a:r>
            <a:r>
              <a:rPr lang="en-US" altLang="zh-CN" sz="3600" b="1"/>
              <a:t>.</a:t>
            </a:r>
          </a:p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sz="3600" b="1"/>
              <a:t>The </a:t>
            </a:r>
            <a:r>
              <a:rPr lang="en-US" altLang="zh-CN" sz="3600" b="1" i="1">
                <a:solidFill>
                  <a:schemeClr val="folHlink"/>
                </a:solidFill>
              </a:rPr>
              <a:t>variances</a:t>
            </a:r>
            <a:r>
              <a:rPr lang="en-US" altLang="zh-CN" sz="3600" b="1"/>
              <a:t> in each populations are </a:t>
            </a:r>
            <a:r>
              <a:rPr lang="en-US" altLang="zh-CN" sz="3600" b="1" i="1">
                <a:solidFill>
                  <a:schemeClr val="folHlink"/>
                </a:solidFill>
              </a:rPr>
              <a:t>equal</a:t>
            </a:r>
            <a:r>
              <a:rPr lang="en-US" altLang="zh-CN" sz="3600" b="1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BC4E01A-79AB-8F65-54EB-318F951D0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zh-CN" b="1"/>
              <a:t>Vocabulary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D956A2A-9DE8-07A4-D142-A9A44BD09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43000"/>
            <a:ext cx="8964612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randomized block design  </a:t>
            </a:r>
            <a:r>
              <a:rPr lang="zh-CN" altLang="en-US" sz="4000" b="1">
                <a:solidFill>
                  <a:schemeClr val="folHlink"/>
                </a:solidFill>
                <a:ea typeface="黑体" panose="02010609060101010101" pitchFamily="49" charset="-122"/>
              </a:rPr>
              <a:t>随机区组设计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restrain    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抑制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carcinoma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瘤体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common status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（个体的）一般状况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>
                <a:solidFill>
                  <a:schemeClr val="folHlink"/>
                </a:solidFill>
                <a:ea typeface="黑体" panose="02010609060101010101" pitchFamily="49" charset="-122"/>
              </a:rPr>
              <a:t>rank   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排列顺序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multiple comparison</a:t>
            </a:r>
            <a:r>
              <a:rPr lang="en-US" altLang="zh-CN" sz="4400" b="1">
                <a:solidFill>
                  <a:schemeClr val="folHlink"/>
                </a:solidFill>
                <a:ea typeface="黑体" panose="02010609060101010101" pitchFamily="49" charset="-122"/>
              </a:rPr>
              <a:t>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两两多重比较</a:t>
            </a:r>
            <a:r>
              <a:rPr lang="zh-CN" altLang="en-US" sz="4400" b="1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F4BA68F-2383-7EB8-6607-BF89413DC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C24EB20-C367-723D-B6CE-C60C01C14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</a:t>
            </a:r>
            <a:r>
              <a:rPr lang="en-US" altLang="zh-CN" sz="3600" b="1">
                <a:solidFill>
                  <a:schemeClr val="folHlink"/>
                </a:solidFill>
              </a:rPr>
              <a:t> 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A practical medicine research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Source of variation in Randomized Block Design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Multiple comparison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>
            <a:extLst>
              <a:ext uri="{FF2B5EF4-FFF2-40B4-BE49-F238E27FC236}">
                <a16:creationId xmlns:a16="http://schemas.microsoft.com/office/drawing/2014/main" id="{3ABB7EBF-E618-C61C-A9F1-F7B2D0C037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99060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4960" imgH="2933640" progId="Word.Document.8">
                  <p:embed/>
                </p:oleObj>
              </mc:Choice>
              <mc:Fallback>
                <p:oleObj name="文档" r:id="rId2" imgW="5484960" imgH="2933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90600"/>
                        <a:ext cx="91440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3">
            <a:extLst>
              <a:ext uri="{FF2B5EF4-FFF2-40B4-BE49-F238E27FC236}">
                <a16:creationId xmlns:a16="http://schemas.microsoft.com/office/drawing/2014/main" id="{E5348BAD-C89D-A2BB-6824-BC9E106722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572000"/>
          <a:ext cx="53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41200" progId="Equation.3">
                  <p:embed/>
                </p:oleObj>
              </mc:Choice>
              <mc:Fallback>
                <p:oleObj name="Equation" r:id="rId4" imgW="2156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53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Rectangle 4">
            <a:extLst>
              <a:ext uri="{FF2B5EF4-FFF2-40B4-BE49-F238E27FC236}">
                <a16:creationId xmlns:a16="http://schemas.microsoft.com/office/drawing/2014/main" id="{06C7CA0C-B65E-9522-BCD0-9386CDB7F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180751F4-43FE-8956-6960-CCF316270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4518" name="Object 6">
            <a:extLst>
              <a:ext uri="{FF2B5EF4-FFF2-40B4-BE49-F238E27FC236}">
                <a16:creationId xmlns:a16="http://schemas.microsoft.com/office/drawing/2014/main" id="{49A0C366-72D4-DFFF-374A-27C85735A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3248025"/>
          <a:ext cx="2000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51" imgH="215619" progId="Equation.3">
                  <p:embed/>
                </p:oleObj>
              </mc:Choice>
              <mc:Fallback>
                <p:oleObj r:id="rId6" imgW="114151" imgH="2156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248025"/>
                        <a:ext cx="20002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>
            <a:extLst>
              <a:ext uri="{FF2B5EF4-FFF2-40B4-BE49-F238E27FC236}">
                <a16:creationId xmlns:a16="http://schemas.microsoft.com/office/drawing/2014/main" id="{C43DEF1E-DD52-8B71-643A-AE165CFFC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4572000"/>
          <a:ext cx="5064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90440" progId="Equation.3">
                  <p:embed/>
                </p:oleObj>
              </mc:Choice>
              <mc:Fallback>
                <p:oleObj name="Equation" r:id="rId8" imgW="177480" imgH="190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572000"/>
                        <a:ext cx="50641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Oval 8">
            <a:extLst>
              <a:ext uri="{FF2B5EF4-FFF2-40B4-BE49-F238E27FC236}">
                <a16:creationId xmlns:a16="http://schemas.microsoft.com/office/drawing/2014/main" id="{621CE1A7-745B-BC2A-CA6B-68050C890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1143000" cy="914400"/>
          </a:xfrm>
          <a:prstGeom prst="ellips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1" name="Oval 9">
            <a:extLst>
              <a:ext uri="{FF2B5EF4-FFF2-40B4-BE49-F238E27FC236}">
                <a16:creationId xmlns:a16="http://schemas.microsoft.com/office/drawing/2014/main" id="{E7E51529-C370-3737-B4FA-C0CBFE9C0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905000"/>
            <a:ext cx="838200" cy="457200"/>
          </a:xfrm>
          <a:prstGeom prst="ellipse">
            <a:avLst/>
          </a:prstGeom>
          <a:noFill/>
          <a:ln w="38100">
            <a:solidFill>
              <a:srgbClr val="0CF44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30189784-75FB-16D4-E871-9C0479CE6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743200"/>
            <a:ext cx="1143000" cy="1447800"/>
          </a:xfrm>
          <a:prstGeom prst="ellipse">
            <a:avLst/>
          </a:prstGeom>
          <a:noFill/>
          <a:ln w="38100">
            <a:solidFill>
              <a:srgbClr val="0CF44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>
            <a:extLst>
              <a:ext uri="{FF2B5EF4-FFF2-40B4-BE49-F238E27FC236}">
                <a16:creationId xmlns:a16="http://schemas.microsoft.com/office/drawing/2014/main" id="{72931A42-AC9B-8CA2-BF6C-E13F8F065B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99060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4960" imgH="2933640" progId="Word.Document.8">
                  <p:embed/>
                </p:oleObj>
              </mc:Choice>
              <mc:Fallback>
                <p:oleObj name="文档" r:id="rId2" imgW="5484960" imgH="2933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90600"/>
                        <a:ext cx="91440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3">
            <a:extLst>
              <a:ext uri="{FF2B5EF4-FFF2-40B4-BE49-F238E27FC236}">
                <a16:creationId xmlns:a16="http://schemas.microsoft.com/office/drawing/2014/main" id="{B403B611-02D6-A2F8-9F60-F73E081A2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572000"/>
          <a:ext cx="53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41200" progId="Equation.3">
                  <p:embed/>
                </p:oleObj>
              </mc:Choice>
              <mc:Fallback>
                <p:oleObj name="Equation" r:id="rId4" imgW="2156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53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Rectangle 4">
            <a:extLst>
              <a:ext uri="{FF2B5EF4-FFF2-40B4-BE49-F238E27FC236}">
                <a16:creationId xmlns:a16="http://schemas.microsoft.com/office/drawing/2014/main" id="{339E8A16-5F4D-8960-596A-BC66E5D2B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F557A5F3-27D9-2C5D-C23C-852C6906D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1446" name="Object 6">
            <a:extLst>
              <a:ext uri="{FF2B5EF4-FFF2-40B4-BE49-F238E27FC236}">
                <a16:creationId xmlns:a16="http://schemas.microsoft.com/office/drawing/2014/main" id="{62A2A5C2-1AAC-F012-F5D0-ED4FA73B6C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3248025"/>
          <a:ext cx="2000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51" imgH="215619" progId="Equation.3">
                  <p:embed/>
                </p:oleObj>
              </mc:Choice>
              <mc:Fallback>
                <p:oleObj r:id="rId6" imgW="114151" imgH="2156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248025"/>
                        <a:ext cx="20002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7">
            <a:extLst>
              <a:ext uri="{FF2B5EF4-FFF2-40B4-BE49-F238E27FC236}">
                <a16:creationId xmlns:a16="http://schemas.microsoft.com/office/drawing/2014/main" id="{D14BBAC4-29B4-E066-073E-60CDF50B59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4572000"/>
          <a:ext cx="5064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90440" progId="Equation.3">
                  <p:embed/>
                </p:oleObj>
              </mc:Choice>
              <mc:Fallback>
                <p:oleObj name="Equation" r:id="rId8" imgW="177480" imgH="190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572000"/>
                        <a:ext cx="50641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0" name="Oval 10">
            <a:extLst>
              <a:ext uri="{FF2B5EF4-FFF2-40B4-BE49-F238E27FC236}">
                <a16:creationId xmlns:a16="http://schemas.microsoft.com/office/drawing/2014/main" id="{CD609B41-BF87-9388-E065-52FDDF54B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362200"/>
            <a:ext cx="5486400" cy="533400"/>
          </a:xfrm>
          <a:prstGeom prst="ellipse">
            <a:avLst/>
          </a:prstGeom>
          <a:noFill/>
          <a:ln w="381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1" name="Oval 11">
            <a:extLst>
              <a:ext uri="{FF2B5EF4-FFF2-40B4-BE49-F238E27FC236}">
                <a16:creationId xmlns:a16="http://schemas.microsoft.com/office/drawing/2014/main" id="{D503C906-0B26-7764-8B53-C5AA8117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752600"/>
            <a:ext cx="5181600" cy="685800"/>
          </a:xfrm>
          <a:prstGeom prst="ellipse">
            <a:avLst/>
          </a:prstGeom>
          <a:noFill/>
          <a:ln w="38100">
            <a:solidFill>
              <a:srgbClr val="0CF44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Oval 12">
            <a:extLst>
              <a:ext uri="{FF2B5EF4-FFF2-40B4-BE49-F238E27FC236}">
                <a16:creationId xmlns:a16="http://schemas.microsoft.com/office/drawing/2014/main" id="{9ADBCA51-5F39-D1EF-6DC9-03AA7B897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038600"/>
            <a:ext cx="5562600" cy="609600"/>
          </a:xfrm>
          <a:prstGeom prst="ellipse">
            <a:avLst/>
          </a:prstGeom>
          <a:noFill/>
          <a:ln w="38100">
            <a:solidFill>
              <a:srgbClr val="0CF44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1453" name="Object 13">
            <a:extLst>
              <a:ext uri="{FF2B5EF4-FFF2-40B4-BE49-F238E27FC236}">
                <a16:creationId xmlns:a16="http://schemas.microsoft.com/office/drawing/2014/main" id="{1F273D26-57D0-6F8E-1CFF-FE3FA520C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6525" y="1354138"/>
          <a:ext cx="56515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53800" progId="Equation.3">
                  <p:embed/>
                </p:oleObj>
              </mc:Choice>
              <mc:Fallback>
                <p:oleObj name="Equation" r:id="rId10" imgW="228600" imgH="253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525" y="1354138"/>
                        <a:ext cx="56515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53067997-7F6E-E95C-003D-1BC976E09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AF0D78CC-E8DA-39E7-5335-2B868A30F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>
                <a:solidFill>
                  <a:schemeClr val="folHlink"/>
                </a:solidFill>
              </a:rPr>
              <a:t>2. A practical medicine research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Source of variation in Randomized Block Design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Multiple comparison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938FC2F-C339-03D6-B22E-9FE1102B8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 practical medicine research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EDFBA17-6019-B041-7050-CFDA34274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153400" cy="4343400"/>
          </a:xfrm>
        </p:spPr>
        <p:txBody>
          <a:bodyPr/>
          <a:lstStyle/>
          <a:p>
            <a:r>
              <a:rPr lang="en-US" altLang="zh-CN" b="1"/>
              <a:t>The effectiveness of medicines to restrain carcinoma is correlated with the </a:t>
            </a:r>
            <a:r>
              <a:rPr lang="en-US" altLang="zh-CN" b="1">
                <a:solidFill>
                  <a:schemeClr val="folHlink"/>
                </a:solidFill>
              </a:rPr>
              <a:t>common status</a:t>
            </a:r>
            <a:r>
              <a:rPr lang="en-US" altLang="zh-CN" b="1"/>
              <a:t> of the individuals. Twenty mice are used and every four mice,who have similar common status, are assigned in to a same sub-group(statistically called </a:t>
            </a:r>
            <a:r>
              <a:rPr lang="en-US" altLang="zh-CN" b="1">
                <a:solidFill>
                  <a:schemeClr val="folHlink"/>
                </a:solidFill>
              </a:rPr>
              <a:t>block</a:t>
            </a:r>
            <a:r>
              <a:rPr lang="en-US" altLang="zh-CN" b="1"/>
              <a:t>).</a:t>
            </a:r>
          </a:p>
          <a:p>
            <a:r>
              <a:rPr lang="en-US" altLang="zh-CN" b="1"/>
              <a:t>Individuals in a same </a:t>
            </a:r>
            <a:r>
              <a:rPr lang="en-US" altLang="zh-CN" b="1">
                <a:solidFill>
                  <a:schemeClr val="folHlink"/>
                </a:solidFill>
              </a:rPr>
              <a:t>block</a:t>
            </a:r>
            <a:r>
              <a:rPr lang="en-US" altLang="zh-CN" b="1"/>
              <a:t> will be given a medicine randomly.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702240F5-6F42-80C9-B5FC-3ED34A5FF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8686800" y="990600"/>
          <a:ext cx="26266775" cy="171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1491560" imgH="7505640" progId="Word.Document.8">
                  <p:embed/>
                </p:oleObj>
              </mc:Choice>
              <mc:Fallback>
                <p:oleObj name="文档" r:id="rId2" imgW="11491560" imgH="75056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686800" y="990600"/>
                        <a:ext cx="26266775" cy="1715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Rectangle 6">
            <a:extLst>
              <a:ext uri="{FF2B5EF4-FFF2-40B4-BE49-F238E27FC236}">
                <a16:creationId xmlns:a16="http://schemas.microsoft.com/office/drawing/2014/main" id="{41A1CAA2-F5FF-5D10-BEAE-C48F02EA4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568" name="Rectangle 8">
            <a:extLst>
              <a:ext uri="{FF2B5EF4-FFF2-40B4-BE49-F238E27FC236}">
                <a16:creationId xmlns:a16="http://schemas.microsoft.com/office/drawing/2014/main" id="{0140A8DA-987C-948E-D8A3-749D78AB4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6567" name="Object 7">
            <a:extLst>
              <a:ext uri="{FF2B5EF4-FFF2-40B4-BE49-F238E27FC236}">
                <a16:creationId xmlns:a16="http://schemas.microsoft.com/office/drawing/2014/main" id="{545696E9-5363-2839-0F3D-FD4928B50C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1524000"/>
          <a:ext cx="4524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713" imgH="253780" progId="Equation.3">
                  <p:embed/>
                </p:oleObj>
              </mc:Choice>
              <mc:Fallback>
                <p:oleObj name="Equation" r:id="rId4" imgW="215713" imgH="2537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524000"/>
                        <a:ext cx="4524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10">
            <a:extLst>
              <a:ext uri="{FF2B5EF4-FFF2-40B4-BE49-F238E27FC236}">
                <a16:creationId xmlns:a16="http://schemas.microsoft.com/office/drawing/2014/main" id="{1BE67963-B5B3-14A8-2C2A-F21C677AD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6569" name="Object 9">
            <a:extLst>
              <a:ext uri="{FF2B5EF4-FFF2-40B4-BE49-F238E27FC236}">
                <a16:creationId xmlns:a16="http://schemas.microsoft.com/office/drawing/2014/main" id="{C6AC4604-3480-5F5B-1EA3-9F8BE7EDB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267200"/>
          <a:ext cx="4826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03112" imgH="241195" progId="Equation.3">
                  <p:embed/>
                </p:oleObj>
              </mc:Choice>
              <mc:Fallback>
                <p:oleObj r:id="rId6" imgW="203112" imgH="2411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267200"/>
                        <a:ext cx="4826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2" name="Rectangle 12">
            <a:extLst>
              <a:ext uri="{FF2B5EF4-FFF2-40B4-BE49-F238E27FC236}">
                <a16:creationId xmlns:a16="http://schemas.microsoft.com/office/drawing/2014/main" id="{51104346-149E-70F1-4679-0ED7680C8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574" name="Rectangle 14">
            <a:extLst>
              <a:ext uri="{FF2B5EF4-FFF2-40B4-BE49-F238E27FC236}">
                <a16:creationId xmlns:a16="http://schemas.microsoft.com/office/drawing/2014/main" id="{A3642F9A-C6EC-BCBD-AA21-B6BD27072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6576" name="Rectangle 16">
            <a:extLst>
              <a:ext uri="{FF2B5EF4-FFF2-40B4-BE49-F238E27FC236}">
                <a16:creationId xmlns:a16="http://schemas.microsoft.com/office/drawing/2014/main" id="{38087E03-54C8-5558-5E2C-8555DE92D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6577" name="Object 17">
            <a:extLst>
              <a:ext uri="{FF2B5EF4-FFF2-40B4-BE49-F238E27FC236}">
                <a16:creationId xmlns:a16="http://schemas.microsoft.com/office/drawing/2014/main" id="{854F0FB0-9DD8-3B6B-40EB-74E99BFE3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267200"/>
          <a:ext cx="13652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203040" progId="Equation.3">
                  <p:embed/>
                </p:oleObj>
              </mc:Choice>
              <mc:Fallback>
                <p:oleObj name="Equation" r:id="rId8" imgW="596880" imgH="2030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267200"/>
                        <a:ext cx="136525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8" name="Rectangle 18">
            <a:extLst>
              <a:ext uri="{FF2B5EF4-FFF2-40B4-BE49-F238E27FC236}">
                <a16:creationId xmlns:a16="http://schemas.microsoft.com/office/drawing/2014/main" id="{41D28C98-E059-30FA-68C0-9412F6063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953000"/>
            <a:ext cx="7778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Analysis to Example 9-20 on </a:t>
            </a:r>
            <a:r>
              <a:rPr lang="en-US" altLang="zh-CN" sz="3600" b="1" i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</a:t>
            </a:r>
            <a:r>
              <a:rPr lang="en-US" altLang="zh-CN" sz="3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. 299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231525E1-B281-6023-23B4-14451032E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DF717B45-CE68-01FA-7308-9B801FA91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A practical medicine research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>
                <a:solidFill>
                  <a:schemeClr val="folHlink"/>
                </a:solidFill>
              </a:rPr>
              <a:t>3. Source of variation in Randomized Block Design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Multiple comparison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7" name="Object 5">
            <a:extLst>
              <a:ext uri="{FF2B5EF4-FFF2-40B4-BE49-F238E27FC236}">
                <a16:creationId xmlns:a16="http://schemas.microsoft.com/office/drawing/2014/main" id="{4F9DC039-B586-96A9-0976-F6FBA8584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0"/>
          <a:ext cx="8458200" cy="675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4761905" imgH="3801006" progId="Paint.Picture">
                  <p:embed/>
                </p:oleObj>
              </mc:Choice>
              <mc:Fallback>
                <p:oleObj name="位图图像" r:id="rId2" imgW="4761905" imgH="3801006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0"/>
                        <a:ext cx="8458200" cy="675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9" name="Rectangle 7">
            <a:extLst>
              <a:ext uri="{FF2B5EF4-FFF2-40B4-BE49-F238E27FC236}">
                <a16:creationId xmlns:a16="http://schemas.microsoft.com/office/drawing/2014/main" id="{00B21EEF-CDFC-99A3-E682-81191D63C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363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638" name="Object 6">
            <a:extLst>
              <a:ext uri="{FF2B5EF4-FFF2-40B4-BE49-F238E27FC236}">
                <a16:creationId xmlns:a16="http://schemas.microsoft.com/office/drawing/2014/main" id="{08349565-5B37-B1D7-6A3B-DA3410478B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04800"/>
          <a:ext cx="1295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1847" imgH="215713" progId="Equation.3">
                  <p:embed/>
                </p:oleObj>
              </mc:Choice>
              <mc:Fallback>
                <p:oleObj r:id="rId4" imgW="291847" imgH="2157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04800"/>
                        <a:ext cx="1295400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Rectangle 9">
            <a:extLst>
              <a:ext uri="{FF2B5EF4-FFF2-40B4-BE49-F238E27FC236}">
                <a16:creationId xmlns:a16="http://schemas.microsoft.com/office/drawing/2014/main" id="{65157803-C5A9-529B-47C3-ABEEDDB22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640" name="Object 8">
            <a:extLst>
              <a:ext uri="{FF2B5EF4-FFF2-40B4-BE49-F238E27FC236}">
                <a16:creationId xmlns:a16="http://schemas.microsoft.com/office/drawing/2014/main" id="{F2D5801E-D700-C4DD-FDCA-2BCAFA3B0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2667000"/>
          <a:ext cx="16002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4536" imgH="215713" progId="Equation.3">
                  <p:embed/>
                </p:oleObj>
              </mc:Choice>
              <mc:Fallback>
                <p:oleObj r:id="rId6" imgW="304536" imgH="2157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667000"/>
                        <a:ext cx="16002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3" name="Rectangle 11">
            <a:extLst>
              <a:ext uri="{FF2B5EF4-FFF2-40B4-BE49-F238E27FC236}">
                <a16:creationId xmlns:a16="http://schemas.microsoft.com/office/drawing/2014/main" id="{5817B53B-EE74-D139-0D44-599D3AB2D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642" name="Object 10">
            <a:extLst>
              <a:ext uri="{FF2B5EF4-FFF2-40B4-BE49-F238E27FC236}">
                <a16:creationId xmlns:a16="http://schemas.microsoft.com/office/drawing/2014/main" id="{1720F447-8DE3-8F51-21CF-C0F31D70AA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667000"/>
          <a:ext cx="16002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04536" imgH="215713" progId="Equation.3">
                  <p:embed/>
                </p:oleObj>
              </mc:Choice>
              <mc:Fallback>
                <p:oleObj r:id="rId8" imgW="304536" imgH="21571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67000"/>
                        <a:ext cx="1600200" cy="1150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5" name="Rectangle 13">
            <a:extLst>
              <a:ext uri="{FF2B5EF4-FFF2-40B4-BE49-F238E27FC236}">
                <a16:creationId xmlns:a16="http://schemas.microsoft.com/office/drawing/2014/main" id="{80A6F4EF-0516-16A7-CFA8-3CA855CE1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644" name="Object 12">
            <a:extLst>
              <a:ext uri="{FF2B5EF4-FFF2-40B4-BE49-F238E27FC236}">
                <a16:creationId xmlns:a16="http://schemas.microsoft.com/office/drawing/2014/main" id="{48C62677-8F63-E9FB-3202-CE8767072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2667000"/>
          <a:ext cx="15240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04536" imgH="215713" progId="Equation.3">
                  <p:embed/>
                </p:oleObj>
              </mc:Choice>
              <mc:Fallback>
                <p:oleObj r:id="rId10" imgW="304536" imgH="21571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667000"/>
                        <a:ext cx="1524000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7" name="Rectangle 15">
            <a:extLst>
              <a:ext uri="{FF2B5EF4-FFF2-40B4-BE49-F238E27FC236}">
                <a16:creationId xmlns:a16="http://schemas.microsoft.com/office/drawing/2014/main" id="{4BB745D3-895C-0AE8-8EAB-D3FF12F0D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257800"/>
            <a:ext cx="134461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800" b="1" i="1">
                <a:solidFill>
                  <a:schemeClr val="bg2"/>
                </a:solidFill>
              </a:rPr>
              <a:t>A+E</a:t>
            </a:r>
          </a:p>
        </p:txBody>
      </p:sp>
      <p:sp>
        <p:nvSpPr>
          <p:cNvPr id="69648" name="Rectangle 16">
            <a:extLst>
              <a:ext uri="{FF2B5EF4-FFF2-40B4-BE49-F238E27FC236}">
                <a16:creationId xmlns:a16="http://schemas.microsoft.com/office/drawing/2014/main" id="{AF940D34-159A-81BD-C03D-E52C44009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257800"/>
            <a:ext cx="134461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800" b="1" i="1">
                <a:solidFill>
                  <a:schemeClr val="bg2"/>
                </a:solidFill>
              </a:rPr>
              <a:t>B+E</a:t>
            </a:r>
          </a:p>
        </p:txBody>
      </p:sp>
      <p:sp>
        <p:nvSpPr>
          <p:cNvPr id="69649" name="Rectangle 17">
            <a:extLst>
              <a:ext uri="{FF2B5EF4-FFF2-40B4-BE49-F238E27FC236}">
                <a16:creationId xmlns:a16="http://schemas.microsoft.com/office/drawing/2014/main" id="{3E88C158-25AA-68C2-FD2E-6035BDFC0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257800"/>
            <a:ext cx="5905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800" b="1" i="1">
                <a:solidFill>
                  <a:schemeClr val="bg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755" name="Object 99">
            <a:extLst>
              <a:ext uri="{FF2B5EF4-FFF2-40B4-BE49-F238E27FC236}">
                <a16:creationId xmlns:a16="http://schemas.microsoft.com/office/drawing/2014/main" id="{884B473C-AFBC-6AFA-A066-E6B0608EB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371600" y="1447800"/>
          <a:ext cx="14835188" cy="968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224400" imgH="4064040" progId="Word.Document.8">
                  <p:embed/>
                </p:oleObj>
              </mc:Choice>
              <mc:Fallback>
                <p:oleObj name="文档" r:id="rId2" imgW="6224400" imgH="4064040" progId="Word.Document.8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371600" y="1447800"/>
                        <a:ext cx="14835188" cy="968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>
            <a:extLst>
              <a:ext uri="{FF2B5EF4-FFF2-40B4-BE49-F238E27FC236}">
                <a16:creationId xmlns:a16="http://schemas.microsoft.com/office/drawing/2014/main" id="{E84C36D8-077F-CBFE-E9E6-E0FBE56F6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066800" y="304800"/>
          <a:ext cx="12693650" cy="827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224400" imgH="4064040" progId="Word.Document.8">
                  <p:embed/>
                </p:oleObj>
              </mc:Choice>
              <mc:Fallback>
                <p:oleObj name="文档" r:id="rId2" imgW="6224400" imgH="40640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66800" y="304800"/>
                        <a:ext cx="12693650" cy="827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Rectangle 4">
            <a:extLst>
              <a:ext uri="{FF2B5EF4-FFF2-40B4-BE49-F238E27FC236}">
                <a16:creationId xmlns:a16="http://schemas.microsoft.com/office/drawing/2014/main" id="{5BF609BE-523E-E59A-339D-33E3A8675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550" y="3071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1683" name="Object 3">
            <a:extLst>
              <a:ext uri="{FF2B5EF4-FFF2-40B4-BE49-F238E27FC236}">
                <a16:creationId xmlns:a16="http://schemas.microsoft.com/office/drawing/2014/main" id="{0F851D3D-3DDD-C58E-76EC-4650DA0E31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728788"/>
          <a:ext cx="2057400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736560" progId="Equation.3">
                  <p:embed/>
                </p:oleObj>
              </mc:Choice>
              <mc:Fallback>
                <p:oleObj name="Equation" r:id="rId4" imgW="1104840" imgH="736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728788"/>
                        <a:ext cx="2057400" cy="1377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6">
            <a:extLst>
              <a:ext uri="{FF2B5EF4-FFF2-40B4-BE49-F238E27FC236}">
                <a16:creationId xmlns:a16="http://schemas.microsoft.com/office/drawing/2014/main" id="{3018AB5B-EE7A-43C5-C71B-9616F9975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888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1685" name="Object 5">
            <a:extLst>
              <a:ext uri="{FF2B5EF4-FFF2-40B4-BE49-F238E27FC236}">
                <a16:creationId xmlns:a16="http://schemas.microsoft.com/office/drawing/2014/main" id="{578CE9AE-40B7-B58D-A8DD-EC551D2DF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048000"/>
          <a:ext cx="23622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40948" imgH="495085" progId="Equation.3">
                  <p:embed/>
                </p:oleObj>
              </mc:Choice>
              <mc:Fallback>
                <p:oleObj r:id="rId6" imgW="1040948" imgH="4950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048000"/>
                        <a:ext cx="2362200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Rectangle 8">
            <a:extLst>
              <a:ext uri="{FF2B5EF4-FFF2-40B4-BE49-F238E27FC236}">
                <a16:creationId xmlns:a16="http://schemas.microsoft.com/office/drawing/2014/main" id="{D0AFD5F6-41D3-73B5-FD1A-E12A5E94C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1687" name="Object 7">
            <a:extLst>
              <a:ext uri="{FF2B5EF4-FFF2-40B4-BE49-F238E27FC236}">
                <a16:creationId xmlns:a16="http://schemas.microsoft.com/office/drawing/2014/main" id="{5A12BCF3-8E09-CFD8-1A27-4E287B709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4876800"/>
          <a:ext cx="22098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431640" progId="Equation.3">
                  <p:embed/>
                </p:oleObj>
              </mc:Choice>
              <mc:Fallback>
                <p:oleObj name="Equation" r:id="rId8" imgW="71100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2209800" cy="1325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9" name="Rectangle 9">
            <a:extLst>
              <a:ext uri="{FF2B5EF4-FFF2-40B4-BE49-F238E27FC236}">
                <a16:creationId xmlns:a16="http://schemas.microsoft.com/office/drawing/2014/main" id="{26769CF0-652A-8FAB-08B0-E6F375945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257800"/>
            <a:ext cx="144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/>
              <a:t>Where,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54EABC4-0C0F-D5C2-9A1A-6D12B1C9C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 altLang="zh-CN"/>
              <a:t>Two types of one-way ANOVA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E2A04D9-2D60-D7D2-AB4A-D9FA36BDF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686800" cy="4114800"/>
          </a:xfrm>
        </p:spPr>
        <p:txBody>
          <a:bodyPr/>
          <a:lstStyle/>
          <a:p>
            <a:r>
              <a:rPr lang="en-US" altLang="zh-CN" b="1">
                <a:solidFill>
                  <a:schemeClr val="folHlink"/>
                </a:solidFill>
              </a:rPr>
              <a:t>1. Completely randomized design</a:t>
            </a:r>
          </a:p>
          <a:p>
            <a:r>
              <a:rPr lang="en-US" altLang="zh-CN" b="1"/>
              <a:t>All the individuals,who are assumed with homogeneity , are assigned into each groups randomly.</a:t>
            </a:r>
          </a:p>
          <a:p>
            <a:endParaRPr lang="en-US" altLang="zh-CN" b="1"/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7DF339FC-9784-851C-AD41-6611D4781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352800"/>
            <a:ext cx="8610600" cy="252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sz="3200" b="1">
                <a:solidFill>
                  <a:schemeClr val="folHlink"/>
                </a:solidFill>
              </a:rPr>
              <a:t>2. Randomized block design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sz="3200" b="1"/>
              <a:t>In every block, the individuals,who are assumed with homogeneity, accept the given treatments randomly. Those who are not in the same block may be different in some status.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AA142D9-9C25-0B29-A82D-C8243F258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4204D54F-DB35-CA07-0834-145B9239A3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A practical medicine research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Source of variation in Randomized Block Design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>
                <a:solidFill>
                  <a:schemeClr val="folHlink"/>
                </a:solidFill>
              </a:rPr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Multiple comparison</a:t>
            </a:r>
          </a:p>
          <a:p>
            <a:endParaRPr lang="en-US" altLang="zh-CN" sz="3600" b="1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0523957-9004-4D4D-58BD-978543A6D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b="1" u="sng">
                <a:latin typeface="Times New Roman" panose="02020603050405020304" pitchFamily="18" charset="0"/>
              </a:rPr>
              <a:t>4. Steps of ANOVA for Randomized Block Design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012A8C9-5B7F-67D5-4020-792DD3592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924800" cy="4648200"/>
          </a:xfrm>
        </p:spPr>
        <p:txBody>
          <a:bodyPr/>
          <a:lstStyle/>
          <a:p>
            <a:pPr algn="just"/>
            <a:r>
              <a:rPr lang="en-US" altLang="zh-CN" sz="2800" b="1">
                <a:solidFill>
                  <a:schemeClr val="folHlink"/>
                </a:solidFill>
              </a:rPr>
              <a:t>(1) Hypothesis &amp; significance level.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   H</a:t>
            </a:r>
            <a:r>
              <a:rPr lang="en-US" altLang="zh-CN" sz="2800" b="1" baseline="-30000"/>
              <a:t>0</a:t>
            </a:r>
            <a:r>
              <a:rPr lang="en-US" altLang="zh-CN" sz="2800" b="1"/>
              <a:t>: 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=…=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k</a:t>
            </a:r>
            <a:endParaRPr lang="en-US" altLang="zh-CN" sz="2800" b="1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   H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: 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,…,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k </a:t>
            </a:r>
            <a:r>
              <a:rPr lang="en-US" altLang="zh-CN" sz="2800" b="1"/>
              <a:t>are not same in all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   H</a:t>
            </a:r>
            <a:r>
              <a:rPr lang="en-US" altLang="zh-CN" sz="2800" b="1" baseline="-30000"/>
              <a:t>0</a:t>
            </a:r>
            <a:r>
              <a:rPr lang="en-US" altLang="zh-CN" sz="2800" b="1"/>
              <a:t>: 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=…=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b</a:t>
            </a:r>
            <a:endParaRPr lang="en-US" altLang="zh-CN" sz="2800" b="1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   H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: 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,…,</a:t>
            </a:r>
            <a:r>
              <a:rPr lang="en-US" altLang="zh-CN" sz="2800" b="1" i="1">
                <a:sym typeface="Symbol" panose="05050102010706020507" pitchFamily="18" charset="2"/>
              </a:rPr>
              <a:t></a:t>
            </a:r>
            <a:r>
              <a:rPr lang="en-US" altLang="zh-CN" sz="2800" b="1" baseline="-30000"/>
              <a:t>b </a:t>
            </a:r>
            <a:r>
              <a:rPr lang="en-US" altLang="zh-CN" sz="2800" b="1"/>
              <a:t>are not same in all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   </a:t>
            </a:r>
            <a:r>
              <a:rPr lang="en-US" altLang="zh-CN" sz="2800" b="1">
                <a:sym typeface="Symbol" panose="05050102010706020507" pitchFamily="18" charset="2"/>
              </a:rPr>
              <a:t></a:t>
            </a:r>
            <a:r>
              <a:rPr lang="en-US" altLang="zh-CN" sz="2800" b="1"/>
              <a:t>=0.05</a:t>
            </a:r>
          </a:p>
          <a:p>
            <a:pPr algn="just"/>
            <a:r>
              <a:rPr lang="en-US" altLang="zh-CN" sz="2800" b="1">
                <a:solidFill>
                  <a:schemeClr val="folHlink"/>
                </a:solidFill>
              </a:rPr>
              <a:t>(2)</a:t>
            </a:r>
            <a:r>
              <a:rPr lang="en-US" altLang="zh-CN" sz="2800" b="1"/>
              <a:t> </a:t>
            </a:r>
            <a:r>
              <a:rPr lang="en-US" altLang="zh-CN" sz="2800" b="1">
                <a:solidFill>
                  <a:schemeClr val="folHlink"/>
                </a:solidFill>
              </a:rPr>
              <a:t>Calculation of </a:t>
            </a:r>
            <a:r>
              <a:rPr lang="en-US" altLang="zh-CN" sz="2800" b="1" i="1"/>
              <a:t>F</a:t>
            </a:r>
            <a:r>
              <a:rPr lang="en-US" altLang="zh-CN" sz="2800" b="1">
                <a:solidFill>
                  <a:schemeClr val="folHlink"/>
                </a:solidFill>
              </a:rPr>
              <a:t> value.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    Construct a table of ANOVA</a:t>
            </a:r>
          </a:p>
          <a:p>
            <a:pPr algn="just"/>
            <a:r>
              <a:rPr lang="en-US" altLang="zh-CN" sz="2800" b="1">
                <a:solidFill>
                  <a:schemeClr val="folHlink"/>
                </a:solidFill>
              </a:rPr>
              <a:t>(3) Make a judgment based on </a:t>
            </a:r>
            <a:r>
              <a:rPr lang="en-US" altLang="zh-CN" sz="2800" b="1" i="1"/>
              <a:t>P</a:t>
            </a:r>
            <a:r>
              <a:rPr lang="en-US" altLang="zh-CN" sz="2800" b="1">
                <a:solidFill>
                  <a:schemeClr val="folHlink"/>
                </a:solidFill>
              </a:rPr>
              <a:t> value 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29DCF83-2E80-07B5-82FF-63D45B51C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077200" cy="1143000"/>
          </a:xfrm>
        </p:spPr>
        <p:txBody>
          <a:bodyPr/>
          <a:lstStyle/>
          <a:p>
            <a:r>
              <a:rPr lang="en-US" altLang="zh-CN" sz="3600" b="1"/>
              <a:t>Analysis to </a:t>
            </a:r>
            <a:r>
              <a:rPr lang="en-US" altLang="zh-CN" sz="3600" b="1">
                <a:solidFill>
                  <a:schemeClr val="folHlink"/>
                </a:solidFill>
              </a:rPr>
              <a:t>Example 9-20</a:t>
            </a:r>
            <a:r>
              <a:rPr lang="en-US" altLang="zh-CN" sz="3600" b="1"/>
              <a:t> on </a:t>
            </a:r>
            <a:r>
              <a:rPr lang="en-US" altLang="zh-CN" sz="3600" b="1" i="1"/>
              <a:t>p</a:t>
            </a:r>
            <a:r>
              <a:rPr lang="en-US" altLang="zh-CN" sz="3600" b="1"/>
              <a:t>. 299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FE1003E-79AD-1D09-64D0-D10A5CCA9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7924800" cy="4648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</a:rPr>
              <a:t>   (1)  Hypothesis &amp; significance level.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0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=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=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3</a:t>
            </a:r>
            <a:r>
              <a:rPr lang="en-US" altLang="zh-CN" b="1"/>
              <a:t> =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4</a:t>
            </a:r>
            <a:r>
              <a:rPr lang="en-US" altLang="zh-CN" b="1"/>
              <a:t>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1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,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,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3</a:t>
            </a:r>
            <a:r>
              <a:rPr lang="en-US" altLang="zh-CN" b="1"/>
              <a:t> ,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4</a:t>
            </a:r>
            <a:r>
              <a:rPr lang="en-US" altLang="zh-CN" b="1"/>
              <a:t> are not equal in all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0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=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=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3</a:t>
            </a:r>
            <a:r>
              <a:rPr lang="en-US" altLang="zh-CN" b="1"/>
              <a:t> =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4</a:t>
            </a:r>
            <a:r>
              <a:rPr lang="en-US" altLang="zh-CN" b="1"/>
              <a:t> =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5</a:t>
            </a: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1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,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 ,</a:t>
            </a:r>
            <a:r>
              <a:rPr lang="en-US" altLang="zh-CN" b="1" baseline="-30000"/>
              <a:t>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3</a:t>
            </a:r>
            <a:r>
              <a:rPr lang="en-US" altLang="zh-CN" b="1"/>
              <a:t> ,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4</a:t>
            </a:r>
            <a:r>
              <a:rPr lang="en-US" altLang="zh-CN" b="1"/>
              <a:t>,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5 </a:t>
            </a:r>
            <a:r>
              <a:rPr lang="en-US" altLang="zh-CN" b="1"/>
              <a:t>are not equal in all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</a:t>
            </a:r>
            <a:r>
              <a:rPr lang="en-US" altLang="zh-CN" b="1">
                <a:sym typeface="Symbol" panose="05050102010706020507" pitchFamily="18" charset="2"/>
              </a:rPr>
              <a:t></a:t>
            </a:r>
            <a:r>
              <a:rPr lang="en-US" altLang="zh-CN" b="1"/>
              <a:t>=0.05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DE6E1F51-2179-1BE8-A15F-A585ED95B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l"/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(2) Calculation of </a:t>
            </a:r>
            <a:r>
              <a:rPr lang="en-US" altLang="zh-CN" sz="3200" b="1" i="1">
                <a:solidFill>
                  <a:srgbClr val="FF9900"/>
                </a:solidFill>
                <a:effectLst/>
                <a:latin typeface="Times New Roman" panose="02020603050405020304" pitchFamily="18" charset="0"/>
              </a:rPr>
              <a:t>F-</a:t>
            </a:r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value.</a:t>
            </a:r>
          </a:p>
        </p:txBody>
      </p:sp>
      <p:graphicFrame>
        <p:nvGraphicFramePr>
          <p:cNvPr id="75780" name="Object 4">
            <a:extLst>
              <a:ext uri="{FF2B5EF4-FFF2-40B4-BE49-F238E27FC236}">
                <a16:creationId xmlns:a16="http://schemas.microsoft.com/office/drawing/2014/main" id="{1E028915-47FD-F25B-74E5-E84AC32C2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371600" y="1676400"/>
          <a:ext cx="14835188" cy="968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224400" imgH="4064040" progId="Word.Document.8">
                  <p:embed/>
                </p:oleObj>
              </mc:Choice>
              <mc:Fallback>
                <p:oleObj name="文档" r:id="rId2" imgW="6224400" imgH="40640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371600" y="1676400"/>
                        <a:ext cx="14835188" cy="968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Rectangle 6">
            <a:extLst>
              <a:ext uri="{FF2B5EF4-FFF2-40B4-BE49-F238E27FC236}">
                <a16:creationId xmlns:a16="http://schemas.microsoft.com/office/drawing/2014/main" id="{1199421E-7905-6E88-457B-F00E302D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244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i="1"/>
              <a:t>F</a:t>
            </a:r>
            <a:r>
              <a:rPr lang="en-US" altLang="zh-CN" sz="3200" b="1" baseline="-30000"/>
              <a:t>0.05 (3</a:t>
            </a:r>
            <a:r>
              <a:rPr lang="zh-CN" altLang="en-US" sz="3200" b="1" baseline="-30000"/>
              <a:t>，</a:t>
            </a:r>
            <a:r>
              <a:rPr lang="en-US" altLang="zh-CN" sz="3200" b="1" baseline="-30000"/>
              <a:t>12)</a:t>
            </a:r>
            <a:r>
              <a:rPr lang="en-US" altLang="zh-CN" sz="3200" b="1"/>
              <a:t>=3.49</a:t>
            </a:r>
            <a:r>
              <a:rPr lang="zh-CN" altLang="en-US" sz="3200" b="1"/>
              <a:t>，</a:t>
            </a:r>
            <a:r>
              <a:rPr lang="en-US" altLang="zh-CN" sz="3200" b="1" i="1"/>
              <a:t>F</a:t>
            </a:r>
            <a:r>
              <a:rPr lang="en-US" altLang="zh-CN" sz="3200" b="1" baseline="-30000"/>
              <a:t>0.01 (3</a:t>
            </a:r>
            <a:r>
              <a:rPr lang="zh-CN" altLang="en-US" sz="3200" b="1" baseline="-30000"/>
              <a:t>，</a:t>
            </a:r>
            <a:r>
              <a:rPr lang="en-US" altLang="zh-CN" sz="3200" b="1" baseline="-30000"/>
              <a:t>12)</a:t>
            </a:r>
            <a:r>
              <a:rPr lang="en-US" altLang="zh-CN" sz="3200" b="1"/>
              <a:t>=5.95</a:t>
            </a:r>
            <a:r>
              <a:rPr lang="en-US" altLang="zh-CN" sz="1200"/>
              <a:t> </a:t>
            </a:r>
            <a:endParaRPr lang="en-US" altLang="zh-CN"/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F3F8CF1B-DD24-4BF4-4C75-04A621FCC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i="1"/>
              <a:t>F</a:t>
            </a:r>
            <a:r>
              <a:rPr lang="en-US" altLang="zh-CN" sz="3200" b="1" baseline="-30000"/>
              <a:t>0.05 (4</a:t>
            </a:r>
            <a:r>
              <a:rPr lang="zh-CN" altLang="en-US" sz="3200" b="1" baseline="-30000"/>
              <a:t>，</a:t>
            </a:r>
            <a:r>
              <a:rPr lang="en-US" altLang="zh-CN" sz="3200" b="1" baseline="-30000"/>
              <a:t>12)</a:t>
            </a:r>
            <a:r>
              <a:rPr lang="en-US" altLang="zh-CN" sz="3200" b="1"/>
              <a:t>=3.26</a:t>
            </a:r>
            <a:r>
              <a:rPr lang="en-US" altLang="zh-CN" sz="1100"/>
              <a:t> </a:t>
            </a:r>
            <a:endParaRPr lang="en-US" altLang="zh-CN"/>
          </a:p>
        </p:txBody>
      </p:sp>
      <p:sp>
        <p:nvSpPr>
          <p:cNvPr id="75784" name="Rectangle 8">
            <a:extLst>
              <a:ext uri="{FF2B5EF4-FFF2-40B4-BE49-F238E27FC236}">
                <a16:creationId xmlns:a16="http://schemas.microsoft.com/office/drawing/2014/main" id="{343927B8-D48F-F205-E7A7-0A7044F1D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638800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/>
              <a:t>F</a:t>
            </a:r>
            <a:r>
              <a:rPr lang="en-US" altLang="zh-CN" sz="3200" b="1">
                <a:solidFill>
                  <a:schemeClr val="folHlink"/>
                </a:solidFill>
              </a:rPr>
              <a:t>-table,  </a:t>
            </a:r>
            <a:r>
              <a:rPr lang="en-US" altLang="zh-CN" sz="3200" b="1" i="1">
                <a:solidFill>
                  <a:schemeClr val="folHlink"/>
                </a:solidFill>
              </a:rPr>
              <a:t>p</a:t>
            </a:r>
            <a:r>
              <a:rPr lang="en-US" altLang="zh-CN" sz="3200" b="1">
                <a:solidFill>
                  <a:schemeClr val="folHlink"/>
                </a:solidFill>
              </a:rPr>
              <a:t>.295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E04CB00-7C56-3AA8-76EC-CDEC066B8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(3) Make a judgment based on </a:t>
            </a:r>
            <a:r>
              <a:rPr lang="en-US" altLang="zh-CN" sz="3200" b="1" i="1">
                <a:solidFill>
                  <a:srgbClr val="FF99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 value .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6A40D96-24DF-5A2B-0041-1ADC33FD1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419600"/>
          </a:xfrm>
        </p:spPr>
        <p:txBody>
          <a:bodyPr/>
          <a:lstStyle/>
          <a:p>
            <a:r>
              <a:rPr lang="en-US" altLang="zh-CN" b="1"/>
              <a:t>As to treatment, since </a:t>
            </a:r>
            <a:r>
              <a:rPr lang="en-US" altLang="zh-CN" b="1" i="1"/>
              <a:t>P</a:t>
            </a:r>
            <a:r>
              <a:rPr lang="en-US" altLang="zh-CN" b="1"/>
              <a:t> &lt; 0.01, it can be concluded that the </a:t>
            </a:r>
            <a:r>
              <a:rPr lang="en-US" altLang="zh-CN" b="1">
                <a:solidFill>
                  <a:schemeClr val="folHlink"/>
                </a:solidFill>
              </a:rPr>
              <a:t>means </a:t>
            </a:r>
            <a:r>
              <a:rPr lang="en-US" altLang="zh-CN" b="1"/>
              <a:t>of  </a:t>
            </a:r>
            <a:r>
              <a:rPr lang="en-US" altLang="zh-CN" b="1">
                <a:solidFill>
                  <a:schemeClr val="folHlink"/>
                </a:solidFill>
              </a:rPr>
              <a:t>carcinoma weight</a:t>
            </a:r>
            <a:r>
              <a:rPr lang="en-US" altLang="zh-CN" b="1"/>
              <a:t> are not same in all. The effectiveness of 4 medicines are of statistically significant difference.</a:t>
            </a:r>
          </a:p>
          <a:p>
            <a:endParaRPr lang="en-US" altLang="zh-CN" sz="1400" b="1"/>
          </a:p>
          <a:p>
            <a:r>
              <a:rPr lang="en-US" altLang="zh-CN" b="1">
                <a:solidFill>
                  <a:schemeClr val="folHlink"/>
                </a:solidFill>
              </a:rPr>
              <a:t>Question:</a:t>
            </a:r>
            <a:r>
              <a:rPr lang="en-US" altLang="zh-CN" b="1"/>
              <a:t> Is the above mentioned </a:t>
            </a:r>
            <a:r>
              <a:rPr lang="en-US" altLang="zh-CN" b="1">
                <a:solidFill>
                  <a:schemeClr val="folHlink"/>
                </a:solidFill>
              </a:rPr>
              <a:t>means</a:t>
            </a:r>
            <a:r>
              <a:rPr lang="en-US" altLang="zh-CN" b="1"/>
              <a:t> are </a:t>
            </a:r>
            <a:r>
              <a:rPr lang="en-US" altLang="zh-CN" b="1" i="1">
                <a:solidFill>
                  <a:schemeClr val="tx2"/>
                </a:solidFill>
              </a:rPr>
              <a:t>sample means</a:t>
            </a:r>
            <a:r>
              <a:rPr lang="en-US" altLang="zh-CN" b="1"/>
              <a:t> or </a:t>
            </a:r>
            <a:r>
              <a:rPr lang="en-US" altLang="zh-CN" b="1" i="1">
                <a:solidFill>
                  <a:schemeClr val="tx2"/>
                </a:solidFill>
              </a:rPr>
              <a:t>population means</a:t>
            </a:r>
            <a:r>
              <a:rPr lang="en-US" altLang="zh-CN" b="1"/>
              <a:t>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>
            <a:extLst>
              <a:ext uri="{FF2B5EF4-FFF2-40B4-BE49-F238E27FC236}">
                <a16:creationId xmlns:a16="http://schemas.microsoft.com/office/drawing/2014/main" id="{AA75EA0E-5437-43C6-24FE-581382A2F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8915400" cy="4419600"/>
          </a:xfrm>
        </p:spPr>
        <p:txBody>
          <a:bodyPr/>
          <a:lstStyle/>
          <a:p>
            <a:r>
              <a:rPr lang="en-US" altLang="zh-CN" b="1"/>
              <a:t>As to block , since </a:t>
            </a:r>
            <a:r>
              <a:rPr lang="en-US" altLang="zh-CN" b="1" i="1"/>
              <a:t>P</a:t>
            </a:r>
            <a:r>
              <a:rPr lang="en-US" altLang="zh-CN" b="1"/>
              <a:t> &gt; 0.05, it can be concluded that the </a:t>
            </a:r>
            <a:r>
              <a:rPr lang="en-US" altLang="zh-CN" b="1">
                <a:solidFill>
                  <a:schemeClr val="folHlink"/>
                </a:solidFill>
              </a:rPr>
              <a:t>means </a:t>
            </a:r>
            <a:r>
              <a:rPr lang="en-US" altLang="zh-CN" b="1"/>
              <a:t>of  </a:t>
            </a:r>
            <a:r>
              <a:rPr lang="en-US" altLang="zh-CN" b="1">
                <a:solidFill>
                  <a:schemeClr val="folHlink"/>
                </a:solidFill>
              </a:rPr>
              <a:t>carcinoma weight</a:t>
            </a:r>
            <a:r>
              <a:rPr lang="en-US" altLang="zh-CN" b="1"/>
              <a:t> in each </a:t>
            </a:r>
            <a:r>
              <a:rPr lang="en-US" altLang="zh-CN" b="1" i="1">
                <a:solidFill>
                  <a:schemeClr val="folHlink"/>
                </a:solidFill>
              </a:rPr>
              <a:t>family</a:t>
            </a:r>
            <a:r>
              <a:rPr lang="en-US" altLang="zh-CN" b="1"/>
              <a:t> can be regarded as the same in all. The difference among blocks are not statistically significant.</a:t>
            </a:r>
          </a:p>
          <a:p>
            <a:endParaRPr lang="en-US" altLang="zh-CN" sz="1400" b="1"/>
          </a:p>
          <a:p>
            <a:r>
              <a:rPr lang="en-US" altLang="zh-CN" b="1"/>
              <a:t>In this research</a:t>
            </a:r>
            <a:r>
              <a:rPr lang="en-US" altLang="zh-CN" b="1">
                <a:solidFill>
                  <a:schemeClr val="folHlink"/>
                </a:solidFill>
              </a:rPr>
              <a:t>,  block factor </a:t>
            </a:r>
            <a:r>
              <a:rPr lang="en-US" altLang="zh-CN" b="1"/>
              <a:t>is not concerned so much.  </a:t>
            </a:r>
            <a:r>
              <a:rPr lang="en-US" altLang="zh-CN" b="1">
                <a:solidFill>
                  <a:schemeClr val="folHlink"/>
                </a:solidFill>
              </a:rPr>
              <a:t>Treatment</a:t>
            </a:r>
            <a:r>
              <a:rPr lang="en-US" altLang="zh-CN" b="1"/>
              <a:t> is the focused factor.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8BDEB06B-2E90-CFE8-BCE1-CBEEAC8F8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8686800" cy="5257800"/>
          </a:xfrm>
        </p:spPr>
        <p:txBody>
          <a:bodyPr/>
          <a:lstStyle/>
          <a:p>
            <a:r>
              <a:rPr lang="en-US" altLang="zh-CN" sz="3600" b="1"/>
              <a:t>Because the differences among the </a:t>
            </a:r>
            <a:r>
              <a:rPr lang="en-US" altLang="zh-CN" sz="3600" b="1">
                <a:solidFill>
                  <a:srgbClr val="FF9900"/>
                </a:solidFill>
              </a:rPr>
              <a:t>sample means</a:t>
            </a:r>
            <a:r>
              <a:rPr lang="en-US" altLang="zh-CN" sz="3600" b="1"/>
              <a:t> are statistically significant,  we can draw a conclusion that the </a:t>
            </a:r>
            <a:r>
              <a:rPr lang="en-US" altLang="zh-CN" sz="3600" b="1" i="1">
                <a:solidFill>
                  <a:schemeClr val="folHlink"/>
                </a:solidFill>
              </a:rPr>
              <a:t>population means are not same in all</a:t>
            </a:r>
            <a:r>
              <a:rPr lang="en-US" altLang="zh-CN" sz="3600" b="1"/>
              <a:t>. </a:t>
            </a:r>
          </a:p>
          <a:p>
            <a:endParaRPr lang="en-US" altLang="zh-CN" sz="3600" b="1"/>
          </a:p>
          <a:p>
            <a:r>
              <a:rPr lang="en-US" altLang="zh-CN" sz="3600" b="1"/>
              <a:t>If we try to know in detail, which pair of them are different, </a:t>
            </a:r>
            <a:r>
              <a:rPr lang="en-US" altLang="zh-CN" sz="3600" b="1" i="1">
                <a:solidFill>
                  <a:schemeClr val="folHlink"/>
                </a:solidFill>
              </a:rPr>
              <a:t>which pair</a:t>
            </a:r>
            <a:r>
              <a:rPr lang="en-US" altLang="zh-CN" sz="3600" b="1"/>
              <a:t> of them are equal, we need to do </a:t>
            </a:r>
            <a:r>
              <a:rPr lang="en-US" altLang="zh-CN" sz="3600" b="1" i="1">
                <a:solidFill>
                  <a:schemeClr val="folHlink"/>
                </a:solidFill>
              </a:rPr>
              <a:t>further analysis</a:t>
            </a:r>
            <a:r>
              <a:rPr lang="en-US" altLang="zh-CN" sz="3600" b="1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397A0222-0163-A55D-903E-0B9B2808F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5B90E7A-FEF9-F9AA-379D-DF61EBAF3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A practical medicine research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Source of variation in Randomized Block Design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>
                <a:solidFill>
                  <a:schemeClr val="folHlink"/>
                </a:solidFill>
              </a:rPr>
              <a:t>5. Multiple comparison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7824F2C4-68DD-2EA2-94F8-82E1A1224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</a:rPr>
              <a:t>Multiple comparison (</a:t>
            </a:r>
            <a:r>
              <a:rPr lang="en-US" altLang="zh-CN" b="1" i="1">
                <a:latin typeface="Times New Roman" panose="02020603050405020304" pitchFamily="18" charset="0"/>
              </a:rPr>
              <a:t>q</a:t>
            </a:r>
            <a:r>
              <a:rPr lang="en-US" altLang="zh-CN" b="1">
                <a:latin typeface="Times New Roman" panose="02020603050405020304" pitchFamily="18" charset="0"/>
              </a:rPr>
              <a:t> test)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90A764C-0D3C-B8BF-DCB8-6722BED05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305800" cy="4114800"/>
          </a:xfrm>
        </p:spPr>
        <p:txBody>
          <a:bodyPr/>
          <a:lstStyle/>
          <a:p>
            <a:r>
              <a:rPr lang="en-US" altLang="zh-CN" b="1"/>
              <a:t>There are many methods to fulfill multiple comparison. They may be appropriate  under particular situation. </a:t>
            </a:r>
          </a:p>
          <a:p>
            <a:r>
              <a:rPr lang="en-US" altLang="zh-CN" b="1"/>
              <a:t> When we haven’t any information about the forms of influence produced by treatments, SNK (</a:t>
            </a:r>
            <a:r>
              <a:rPr lang="en-US" altLang="zh-CN" b="1">
                <a:solidFill>
                  <a:schemeClr val="folHlink"/>
                </a:solidFill>
              </a:rPr>
              <a:t>S</a:t>
            </a:r>
            <a:r>
              <a:rPr lang="en-US" altLang="zh-CN" b="1"/>
              <a:t>tudent-</a:t>
            </a:r>
            <a:r>
              <a:rPr lang="en-US" altLang="zh-CN" b="1">
                <a:solidFill>
                  <a:schemeClr val="folHlink"/>
                </a:solidFill>
              </a:rPr>
              <a:t>N</a:t>
            </a:r>
            <a:r>
              <a:rPr lang="en-US" altLang="zh-CN" b="1"/>
              <a:t>ewman-</a:t>
            </a:r>
            <a:r>
              <a:rPr lang="en-US" altLang="zh-CN" b="1">
                <a:solidFill>
                  <a:schemeClr val="folHlink"/>
                </a:solidFill>
              </a:rPr>
              <a:t>K</a:t>
            </a:r>
            <a:r>
              <a:rPr lang="en-US" altLang="zh-CN" b="1"/>
              <a:t>euls)  method is suitable, which is also called </a:t>
            </a:r>
            <a:r>
              <a:rPr lang="en-US" altLang="zh-CN" b="1" i="1">
                <a:solidFill>
                  <a:schemeClr val="folHlink"/>
                </a:solidFill>
              </a:rPr>
              <a:t>q</a:t>
            </a:r>
            <a:r>
              <a:rPr lang="en-US" altLang="zh-CN" b="1">
                <a:solidFill>
                  <a:schemeClr val="folHlink"/>
                </a:solidFill>
              </a:rPr>
              <a:t> test</a:t>
            </a:r>
            <a:r>
              <a:rPr lang="en-US" altLang="zh-CN" b="1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5EB37C7-796C-948C-83D0-A62D41686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Times New Roman" panose="02020603050405020304" pitchFamily="18" charset="0"/>
              </a:rPr>
              <a:t>Steps  of   </a:t>
            </a:r>
            <a:r>
              <a:rPr lang="en-US" altLang="zh-CN" b="1" i="1">
                <a:latin typeface="Times New Roman" panose="02020603050405020304" pitchFamily="18" charset="0"/>
              </a:rPr>
              <a:t>q</a:t>
            </a:r>
            <a:r>
              <a:rPr lang="en-US" altLang="zh-CN" b="1">
                <a:latin typeface="Times New Roman" panose="02020603050405020304" pitchFamily="18" charset="0"/>
              </a:rPr>
              <a:t> test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DAC4578-A3CC-2615-A1F7-311C2B5EE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382000" cy="4648200"/>
          </a:xfrm>
        </p:spPr>
        <p:txBody>
          <a:bodyPr/>
          <a:lstStyle/>
          <a:p>
            <a:pPr algn="just"/>
            <a:r>
              <a:rPr lang="en-US" altLang="zh-CN" b="1"/>
              <a:t>1. </a:t>
            </a:r>
            <a:r>
              <a:rPr lang="en-US" altLang="zh-CN" b="1">
                <a:solidFill>
                  <a:schemeClr val="folHlink"/>
                </a:solidFill>
              </a:rPr>
              <a:t>Hypothesis &amp; significance level. </a:t>
            </a:r>
            <a:endParaRPr lang="en-US" altLang="zh-CN" b="1"/>
          </a:p>
          <a:p>
            <a:pPr algn="just"/>
            <a:r>
              <a:rPr lang="en-US" altLang="zh-CN" b="1"/>
              <a:t>2. </a:t>
            </a:r>
            <a:r>
              <a:rPr lang="en-US" altLang="zh-CN" b="1">
                <a:solidFill>
                  <a:schemeClr val="folHlink"/>
                </a:solidFill>
              </a:rPr>
              <a:t>Rank the means</a:t>
            </a:r>
            <a:r>
              <a:rPr lang="en-US" altLang="zh-CN" b="1"/>
              <a:t> of each groups.</a:t>
            </a:r>
          </a:p>
          <a:p>
            <a:pPr algn="just"/>
            <a:r>
              <a:rPr lang="en-US" altLang="zh-CN" b="1"/>
              <a:t>3. </a:t>
            </a:r>
            <a:r>
              <a:rPr lang="en-US" altLang="zh-CN" b="1">
                <a:solidFill>
                  <a:schemeClr val="folHlink"/>
                </a:solidFill>
              </a:rPr>
              <a:t>Calculate </a:t>
            </a:r>
            <a:r>
              <a:rPr lang="en-US" altLang="zh-CN" b="1" i="1">
                <a:solidFill>
                  <a:schemeClr val="folHlink"/>
                </a:solidFill>
              </a:rPr>
              <a:t>q</a:t>
            </a:r>
            <a:r>
              <a:rPr lang="en-US" altLang="zh-CN" b="1">
                <a:solidFill>
                  <a:schemeClr val="folHlink"/>
                </a:solidFill>
              </a:rPr>
              <a:t> value </a:t>
            </a:r>
            <a:r>
              <a:rPr lang="en-US" altLang="zh-CN" b="1"/>
              <a:t>for each comparison.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Count </a:t>
            </a:r>
            <a:r>
              <a:rPr lang="en-US" altLang="zh-CN" b="1" i="1">
                <a:solidFill>
                  <a:schemeClr val="folHlink"/>
                </a:solidFill>
              </a:rPr>
              <a:t>a</a:t>
            </a:r>
            <a:r>
              <a:rPr lang="en-US" altLang="zh-CN" b="1"/>
              <a:t> — </a:t>
            </a:r>
            <a:r>
              <a:rPr lang="en-US" altLang="zh-CN" b="1">
                <a:solidFill>
                  <a:schemeClr val="folHlink"/>
                </a:solidFill>
              </a:rPr>
              <a:t>the</a:t>
            </a:r>
            <a:r>
              <a:rPr lang="en-US" altLang="zh-CN" b="1"/>
              <a:t> </a:t>
            </a:r>
            <a:r>
              <a:rPr lang="en-US" altLang="zh-CN" b="1">
                <a:solidFill>
                  <a:schemeClr val="folHlink"/>
                </a:solidFill>
              </a:rPr>
              <a:t>number of groups</a:t>
            </a:r>
            <a:r>
              <a:rPr lang="en-US" altLang="zh-CN" b="1"/>
              <a:t> which are </a:t>
            </a:r>
            <a:r>
              <a:rPr lang="en-US" altLang="zh-CN" b="1">
                <a:solidFill>
                  <a:schemeClr val="folHlink"/>
                </a:solidFill>
              </a:rPr>
              <a:t>covered </a:t>
            </a:r>
            <a:r>
              <a:rPr lang="en-US" altLang="zh-CN" b="1"/>
              <a:t>by the compared pairs.</a:t>
            </a:r>
          </a:p>
          <a:p>
            <a:pPr algn="just"/>
            <a:r>
              <a:rPr lang="en-US" altLang="zh-CN" b="1"/>
              <a:t>4. </a:t>
            </a:r>
            <a:r>
              <a:rPr lang="en-US" altLang="zh-CN" b="1">
                <a:solidFill>
                  <a:schemeClr val="folHlink"/>
                </a:solidFill>
              </a:rPr>
              <a:t>Check out </a:t>
            </a:r>
            <a:r>
              <a:rPr lang="en-US" altLang="zh-CN" b="1" i="1">
                <a:solidFill>
                  <a:schemeClr val="folHlink"/>
                </a:solidFill>
              </a:rPr>
              <a:t>P</a:t>
            </a:r>
            <a:r>
              <a:rPr lang="en-US" altLang="zh-CN" b="1"/>
              <a:t> value from </a:t>
            </a:r>
            <a:r>
              <a:rPr lang="en-US" altLang="zh-CN" b="1" i="1">
                <a:solidFill>
                  <a:schemeClr val="folHlink"/>
                </a:solidFill>
              </a:rPr>
              <a:t>q</a:t>
            </a:r>
            <a:r>
              <a:rPr lang="en-US" altLang="zh-CN" b="1">
                <a:solidFill>
                  <a:schemeClr val="folHlink"/>
                </a:solidFill>
              </a:rPr>
              <a:t> table</a:t>
            </a:r>
            <a:r>
              <a:rPr lang="en-US" altLang="zh-CN" b="1"/>
              <a:t> , then draw conclusions respectively.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D7DA5EEE-5A1E-AD82-2DB8-0C8C5FB55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382000" cy="1143000"/>
          </a:xfrm>
        </p:spPr>
        <p:txBody>
          <a:bodyPr/>
          <a:lstStyle/>
          <a:p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(1) Hypothesis &amp; significance level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16B5EE6-8367-97CE-8AD6-3FFDDB789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sz="3600" b="1"/>
              <a:t>H</a:t>
            </a:r>
            <a:r>
              <a:rPr lang="en-US" altLang="zh-CN" sz="3600" b="1" baseline="-30000"/>
              <a:t>0</a:t>
            </a:r>
            <a:r>
              <a:rPr lang="zh-CN" altLang="en-US" sz="3600" b="1"/>
              <a:t>：</a:t>
            </a:r>
            <a:r>
              <a:rPr lang="en-US" altLang="zh-CN" sz="3600" b="1" i="1"/>
              <a:t>μ</a:t>
            </a:r>
            <a:r>
              <a:rPr lang="en-US" altLang="zh-CN" sz="3600" b="1" baseline="-30000"/>
              <a:t>A</a:t>
            </a:r>
            <a:r>
              <a:rPr lang="zh-CN" altLang="en-US" sz="3600" b="1"/>
              <a:t>＝</a:t>
            </a:r>
            <a:r>
              <a:rPr lang="en-US" altLang="zh-CN" sz="3600" b="1" i="1"/>
              <a:t>μ</a:t>
            </a:r>
            <a:r>
              <a:rPr lang="en-US" altLang="zh-CN" sz="3600" b="1" baseline="-30000"/>
              <a:t>B</a:t>
            </a:r>
            <a:r>
              <a:rPr lang="zh-CN" altLang="en-US" sz="3600" b="1"/>
              <a:t>， </a:t>
            </a:r>
            <a:r>
              <a:rPr lang="en-US" altLang="zh-CN" sz="3600" b="1"/>
              <a:t>population means in group A and B are equal</a:t>
            </a:r>
          </a:p>
          <a:p>
            <a:pPr algn="just"/>
            <a:r>
              <a:rPr lang="en-US" altLang="zh-CN" sz="3600" b="1"/>
              <a:t>H</a:t>
            </a:r>
            <a:r>
              <a:rPr lang="en-US" altLang="zh-CN" sz="3600" b="1" baseline="-30000"/>
              <a:t>1</a:t>
            </a:r>
            <a:r>
              <a:rPr lang="zh-CN" altLang="en-US" sz="3600" b="1"/>
              <a:t>：</a:t>
            </a:r>
            <a:r>
              <a:rPr lang="en-US" altLang="zh-CN" sz="3600" b="1" i="1"/>
              <a:t>μ</a:t>
            </a:r>
            <a:r>
              <a:rPr lang="en-US" altLang="zh-CN" sz="3600" b="1" baseline="-30000"/>
              <a:t>A</a:t>
            </a:r>
            <a:r>
              <a:rPr lang="en-US" altLang="zh-CN" sz="3600" b="1"/>
              <a:t>≠</a:t>
            </a:r>
            <a:r>
              <a:rPr lang="en-US" altLang="zh-CN" sz="3600" b="1" i="1"/>
              <a:t>μ</a:t>
            </a:r>
            <a:r>
              <a:rPr lang="en-US" altLang="zh-CN" sz="3600" b="1" baseline="-30000"/>
              <a:t>B</a:t>
            </a:r>
            <a:r>
              <a:rPr lang="zh-CN" altLang="en-US" sz="3600" b="1"/>
              <a:t>， </a:t>
            </a:r>
            <a:r>
              <a:rPr lang="en-US" altLang="zh-CN" sz="3600" b="1"/>
              <a:t>population means in group A and B are not equal</a:t>
            </a:r>
            <a:r>
              <a:rPr lang="en-US" altLang="zh-CN" sz="3600" b="1">
                <a:latin typeface="Lucida Console" panose="020B0609040504020204" pitchFamily="49" charset="0"/>
              </a:rPr>
              <a:t> </a:t>
            </a:r>
          </a:p>
          <a:p>
            <a:pPr algn="just"/>
            <a:r>
              <a:rPr lang="en-US" altLang="zh-CN" sz="3600" b="1" i="1">
                <a:latin typeface="Lucida Console" panose="020B0609040504020204" pitchFamily="49" charset="0"/>
              </a:rPr>
              <a:t>α</a:t>
            </a:r>
            <a:r>
              <a:rPr lang="zh-CN" altLang="en-US" sz="3600" b="1"/>
              <a:t>＝</a:t>
            </a:r>
            <a:r>
              <a:rPr lang="en-US" altLang="zh-CN" sz="3600" b="1"/>
              <a:t>0.05</a:t>
            </a:r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DFC20741-F6F1-E50F-EDAE-D784E65C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81600"/>
            <a:ext cx="7848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EF12BEA8-8B51-D293-5070-422CB2D5A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81600"/>
            <a:ext cx="7778750" cy="6413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Analysis to Example 9-19 on </a:t>
            </a:r>
            <a:r>
              <a:rPr lang="en-US" altLang="zh-CN" sz="3600" b="1" i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</a:t>
            </a:r>
            <a:r>
              <a:rPr lang="en-US" altLang="zh-CN" sz="36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. 297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2C758000-9EB4-F222-E6E6-3088BCAB8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763000" cy="1143000"/>
          </a:xfrm>
        </p:spPr>
        <p:txBody>
          <a:bodyPr/>
          <a:lstStyle/>
          <a:p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(2) Rank the means of each groups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02F4CC41-EED8-BF57-F4B5-2C530B0A9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8686800" cy="4114800"/>
          </a:xfrm>
        </p:spPr>
        <p:txBody>
          <a:bodyPr/>
          <a:lstStyle/>
          <a:p>
            <a:pPr algn="just"/>
            <a:r>
              <a:rPr lang="en-US" altLang="zh-CN" b="1"/>
              <a:t>Rank          1              2               3               4</a:t>
            </a:r>
          </a:p>
          <a:p>
            <a:pPr algn="just"/>
            <a:r>
              <a:rPr lang="en-US" altLang="zh-CN" b="1"/>
              <a:t>Mean    3.3200      3.0975      2.6850      2.4025</a:t>
            </a:r>
          </a:p>
          <a:p>
            <a:pPr algn="just"/>
            <a:r>
              <a:rPr lang="en-US" altLang="zh-CN" b="1"/>
              <a:t>Group        D              C              B              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3EDDE450-4CE4-62A2-D1BA-3A16A0413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04800" y="533400"/>
            <a:ext cx="9753600" cy="1143000"/>
          </a:xfrm>
        </p:spPr>
        <p:txBody>
          <a:bodyPr/>
          <a:lstStyle/>
          <a:p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Calculate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value</a:t>
            </a:r>
            <a:b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for each comparison</a:t>
            </a: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7057AA25-596B-8882-040F-9EBA5FED7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157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A0AAD2ED-78A6-E150-A30F-8909272297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362200"/>
          <a:ext cx="2667000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520560" progId="Equation.3">
                  <p:embed/>
                </p:oleObj>
              </mc:Choice>
              <mc:Fallback>
                <p:oleObj name="Equation" r:id="rId2" imgW="914400" imgH="520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362200"/>
                        <a:ext cx="2667000" cy="1509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>
            <a:extLst>
              <a:ext uri="{FF2B5EF4-FFF2-40B4-BE49-F238E27FC236}">
                <a16:creationId xmlns:a16="http://schemas.microsoft.com/office/drawing/2014/main" id="{44A5A391-0A7F-CB1D-6AC0-061A3F98B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3974" name="Object 6">
            <a:extLst>
              <a:ext uri="{FF2B5EF4-FFF2-40B4-BE49-F238E27FC236}">
                <a16:creationId xmlns:a16="http://schemas.microsoft.com/office/drawing/2014/main" id="{26C321E8-7ABD-9A20-0AF4-A86E61EF8E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4038600"/>
          <a:ext cx="46180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520560" progId="Equation.3">
                  <p:embed/>
                </p:oleObj>
              </mc:Choice>
              <mc:Fallback>
                <p:oleObj name="Equation" r:id="rId4" imgW="1790640" imgH="520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4038600"/>
                        <a:ext cx="4618037" cy="1354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D1316EE-4331-B061-F54C-F6FAFF04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i="1">
                <a:solidFill>
                  <a:schemeClr val="fol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5400" i="1">
                <a:latin typeface="Times New Roman" panose="02020603050405020304" pitchFamily="18" charset="0"/>
              </a:rPr>
              <a:t> </a:t>
            </a:r>
            <a:r>
              <a:rPr lang="en-US" altLang="zh-CN" sz="5400">
                <a:latin typeface="Times New Roman" panose="02020603050405020304" pitchFamily="18" charset="0"/>
              </a:rPr>
              <a:t>- distribution</a:t>
            </a:r>
          </a:p>
        </p:txBody>
      </p:sp>
      <p:pic>
        <p:nvPicPr>
          <p:cNvPr id="87043" name="Picture 3">
            <a:extLst>
              <a:ext uri="{FF2B5EF4-FFF2-40B4-BE49-F238E27FC236}">
                <a16:creationId xmlns:a16="http://schemas.microsoft.com/office/drawing/2014/main" id="{67C04525-A732-9C08-7496-778326BE5043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36550"/>
            <a:ext cx="9144000" cy="5414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87044" name="Object 4">
            <a:extLst>
              <a:ext uri="{FF2B5EF4-FFF2-40B4-BE49-F238E27FC236}">
                <a16:creationId xmlns:a16="http://schemas.microsoft.com/office/drawing/2014/main" id="{61717372-4EC7-9F10-E770-381A7687D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4953000"/>
          <a:ext cx="1219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819048" imgH="390580" progId="Paint.Picture">
                  <p:embed/>
                </p:oleObj>
              </mc:Choice>
              <mc:Fallback>
                <p:oleObj name="位图图像" r:id="rId3" imgW="819048" imgH="39058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953000"/>
                        <a:ext cx="1219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>
            <a:extLst>
              <a:ext uri="{FF2B5EF4-FFF2-40B4-BE49-F238E27FC236}">
                <a16:creationId xmlns:a16="http://schemas.microsoft.com/office/drawing/2014/main" id="{58E43DC1-3D37-A876-8F28-DA542B565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3505200"/>
          <a:ext cx="4365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343039" imgH="419048" progId="Paint.Picture">
                  <p:embed/>
                </p:oleObj>
              </mc:Choice>
              <mc:Fallback>
                <p:oleObj name="位图图像" r:id="rId5" imgW="343039" imgH="419048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505200"/>
                        <a:ext cx="4365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>
            <a:extLst>
              <a:ext uri="{FF2B5EF4-FFF2-40B4-BE49-F238E27FC236}">
                <a16:creationId xmlns:a16="http://schemas.microsoft.com/office/drawing/2014/main" id="{EAFC847B-7224-1AE3-A376-FC730F034F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953000"/>
          <a:ext cx="8382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7" imgW="581106" imgH="533474" progId="Paint.Picture">
                  <p:embed/>
                </p:oleObj>
              </mc:Choice>
              <mc:Fallback>
                <p:oleObj name="位图图像" r:id="rId7" imgW="581106" imgH="533474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953000"/>
                        <a:ext cx="8382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7">
            <a:extLst>
              <a:ext uri="{FF2B5EF4-FFF2-40B4-BE49-F238E27FC236}">
                <a16:creationId xmlns:a16="http://schemas.microsoft.com/office/drawing/2014/main" id="{1FA9C92A-8331-60B5-3762-11A2C36A4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648200"/>
          <a:ext cx="5191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9" imgW="237969" imgH="419048" progId="Paint.Picture">
                  <p:embed/>
                </p:oleObj>
              </mc:Choice>
              <mc:Fallback>
                <p:oleObj name="位图图像" r:id="rId9" imgW="237969" imgH="419048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648200"/>
                        <a:ext cx="5191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01" name="Object 9">
            <a:extLst>
              <a:ext uri="{FF2B5EF4-FFF2-40B4-BE49-F238E27FC236}">
                <a16:creationId xmlns:a16="http://schemas.microsoft.com/office/drawing/2014/main" id="{8CEFA3A3-DB46-7AE6-703A-2D446BA78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" y="304800"/>
          <a:ext cx="18178463" cy="1897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1796120" imgH="11796120" progId="Word.Document.8">
                  <p:embed/>
                </p:oleObj>
              </mc:Choice>
              <mc:Fallback>
                <p:oleObj name="文档" r:id="rId2" imgW="11796120" imgH="1179612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304800"/>
                        <a:ext cx="18178463" cy="1897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Rectangle 5">
            <a:extLst>
              <a:ext uri="{FF2B5EF4-FFF2-40B4-BE49-F238E27FC236}">
                <a16:creationId xmlns:a16="http://schemas.microsoft.com/office/drawing/2014/main" id="{8CB599BC-5158-54BB-7D7E-37AE1453C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4996" name="Object 4">
            <a:extLst>
              <a:ext uri="{FF2B5EF4-FFF2-40B4-BE49-F238E27FC236}">
                <a16:creationId xmlns:a16="http://schemas.microsoft.com/office/drawing/2014/main" id="{2B60BA41-BA29-0F95-6D14-E65B21E1C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125538"/>
          <a:ext cx="1219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96900" imgH="228600" progId="Equation.3">
                  <p:embed/>
                </p:oleObj>
              </mc:Choice>
              <mc:Fallback>
                <p:oleObj r:id="rId4" imgW="5969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25538"/>
                        <a:ext cx="12192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Rectangle 7">
            <a:extLst>
              <a:ext uri="{FF2B5EF4-FFF2-40B4-BE49-F238E27FC236}">
                <a16:creationId xmlns:a16="http://schemas.microsoft.com/office/drawing/2014/main" id="{81B0CCA3-2A98-6EFE-B8AB-247D344D4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4998" name="Object 6">
            <a:extLst>
              <a:ext uri="{FF2B5EF4-FFF2-40B4-BE49-F238E27FC236}">
                <a16:creationId xmlns:a16="http://schemas.microsoft.com/office/drawing/2014/main" id="{743E31A4-B141-E652-A8BA-48C9A04A2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990600"/>
          <a:ext cx="11430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253890" progId="Equation.3">
                  <p:embed/>
                </p:oleObj>
              </mc:Choice>
              <mc:Fallback>
                <p:oleObj name="Equation" r:id="rId6" imgW="457002" imgH="2538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990600"/>
                        <a:ext cx="1143000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CE0BE61B-07D3-C577-0847-D127D735E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zh-CN" sz="3600" b="1">
                <a:latin typeface="Times New Roman" panose="02020603050405020304" pitchFamily="18" charset="0"/>
              </a:rPr>
              <a:t>4.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Check out </a:t>
            </a:r>
            <a:r>
              <a:rPr lang="en-US" altLang="zh-CN" sz="36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600" b="1">
                <a:latin typeface="Times New Roman" panose="02020603050405020304" pitchFamily="18" charset="0"/>
              </a:rPr>
              <a:t> value from </a:t>
            </a:r>
            <a:r>
              <a:rPr lang="en-US" altLang="zh-CN" sz="36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 table</a:t>
            </a:r>
            <a:r>
              <a:rPr lang="en-US" altLang="zh-CN" sz="3600" b="1">
                <a:latin typeface="Times New Roman" panose="02020603050405020304" pitchFamily="18" charset="0"/>
              </a:rPr>
              <a:t> , then draw conclusions respectively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5DD246D0-BD2D-F2F9-D82F-76AA96ABE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8839200" cy="5257800"/>
          </a:xfrm>
        </p:spPr>
        <p:txBody>
          <a:bodyPr/>
          <a:lstStyle/>
          <a:p>
            <a:r>
              <a:rPr lang="en-US" altLang="zh-CN"/>
              <a:t>           </a:t>
            </a:r>
            <a:r>
              <a:rPr lang="en-US" altLang="zh-CN" b="1"/>
              <a:t>A          B          C          D</a:t>
            </a:r>
          </a:p>
          <a:p>
            <a:endParaRPr lang="en-US" altLang="zh-CN" b="1"/>
          </a:p>
          <a:p>
            <a:r>
              <a:rPr lang="en-US" altLang="zh-CN" sz="3600" b="1"/>
              <a:t>Between A &amp; B  or Between C &amp; D, the diets cause same influence on liver/body ratios to mice. </a:t>
            </a:r>
          </a:p>
          <a:p>
            <a:r>
              <a:rPr lang="en-US" altLang="zh-CN" sz="3600" b="1"/>
              <a:t>However, between any other pairs of diets, the difference are of statistical significance. Those with diets C or D have higher ratios than with A or B.</a:t>
            </a:r>
          </a:p>
        </p:txBody>
      </p:sp>
      <p:sp>
        <p:nvSpPr>
          <p:cNvPr id="86020" name="Line 4">
            <a:extLst>
              <a:ext uri="{FF2B5EF4-FFF2-40B4-BE49-F238E27FC236}">
                <a16:creationId xmlns:a16="http://schemas.microsoft.com/office/drawing/2014/main" id="{9F30A612-317E-333C-D0AF-0C0D404C1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828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021" name="Line 5">
            <a:extLst>
              <a:ext uri="{FF2B5EF4-FFF2-40B4-BE49-F238E27FC236}">
                <a16:creationId xmlns:a16="http://schemas.microsoft.com/office/drawing/2014/main" id="{5C3B5288-3C04-A52D-9495-077BC42EA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828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E:\张晋昕文档\01备课本\本科\05j02全英\备查文件\校门.pot</Template>
  <TotalTime>923</TotalTime>
  <Words>1035</Words>
  <Application>Microsoft Office PowerPoint</Application>
  <PresentationFormat>全屏显示(4:3)</PresentationFormat>
  <Paragraphs>115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Times New Roman</vt:lpstr>
      <vt:lpstr>宋体</vt:lpstr>
      <vt:lpstr>Arial</vt:lpstr>
      <vt:lpstr>Wingdings</vt:lpstr>
      <vt:lpstr>黑体</vt:lpstr>
      <vt:lpstr>Symbol</vt:lpstr>
      <vt:lpstr>Lucida Console</vt:lpstr>
      <vt:lpstr>校门</vt:lpstr>
      <vt:lpstr>Microsoft Word 文档</vt:lpstr>
      <vt:lpstr>Microsoft 公式 3.0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Conditions                  for ANOVA application</vt:lpstr>
      <vt:lpstr>Vocabulary</vt:lpstr>
      <vt:lpstr>Contents</vt:lpstr>
      <vt:lpstr>PowerPoint 演示文稿</vt:lpstr>
      <vt:lpstr>PowerPoint 演示文稿</vt:lpstr>
      <vt:lpstr>Contents</vt:lpstr>
      <vt:lpstr>A practical medicine research</vt:lpstr>
      <vt:lpstr>PowerPoint 演示文稿</vt:lpstr>
      <vt:lpstr>Contents</vt:lpstr>
      <vt:lpstr>PowerPoint 演示文稿</vt:lpstr>
      <vt:lpstr>PowerPoint 演示文稿</vt:lpstr>
      <vt:lpstr>PowerPoint 演示文稿</vt:lpstr>
      <vt:lpstr>Two types of one-way ANOVA</vt:lpstr>
      <vt:lpstr>Contents</vt:lpstr>
      <vt:lpstr>4. Steps of ANOVA for Randomized Block Design</vt:lpstr>
      <vt:lpstr>Analysis to Example 9-20 on p. 299</vt:lpstr>
      <vt:lpstr>(2) Calculation of F-value.</vt:lpstr>
      <vt:lpstr>(3) Make a judgment based on P value .</vt:lpstr>
      <vt:lpstr>PowerPoint 演示文稿</vt:lpstr>
      <vt:lpstr>PowerPoint 演示文稿</vt:lpstr>
      <vt:lpstr>Contents</vt:lpstr>
      <vt:lpstr>Multiple comparison (q test)</vt:lpstr>
      <vt:lpstr>Steps  of   q test</vt:lpstr>
      <vt:lpstr>(1) Hypothesis &amp; significance level</vt:lpstr>
      <vt:lpstr>(2) Rank the means of each groups</vt:lpstr>
      <vt:lpstr>（3）Calculate q value  for each comparison</vt:lpstr>
      <vt:lpstr>q - distribution</vt:lpstr>
      <vt:lpstr>PowerPoint 演示文稿</vt:lpstr>
      <vt:lpstr>4. Check out P value from q table , then draw conclusions respectively</vt:lpstr>
      <vt:lpstr>PowerPoint 演示文稿</vt:lpstr>
    </vt:vector>
  </TitlesOfParts>
  <Company>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zjx</dc:creator>
  <cp:lastModifiedBy>超然网络服务店 超然网络服务店</cp:lastModifiedBy>
  <cp:revision>45</cp:revision>
  <dcterms:created xsi:type="dcterms:W3CDTF">2005-02-28T03:28:35Z</dcterms:created>
  <dcterms:modified xsi:type="dcterms:W3CDTF">2023-10-24T11:44:19Z</dcterms:modified>
</cp:coreProperties>
</file>