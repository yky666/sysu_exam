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246888" y="280416"/>
            <a:ext cx="1060704" cy="1054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511808" y="594364"/>
            <a:ext cx="3840455" cy="4693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1362455" y="1100329"/>
            <a:ext cx="4142220" cy="1920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15823" y="112776"/>
            <a:ext cx="8891270" cy="6598920"/>
          </a:xfrm>
          <a:custGeom>
            <a:avLst/>
            <a:gdLst/>
            <a:ahLst/>
            <a:cxnLst/>
            <a:rect l="l" t="t" r="r" b="b"/>
            <a:pathLst>
              <a:path w="8891270" h="6598920">
                <a:moveTo>
                  <a:pt x="0" y="0"/>
                </a:moveTo>
                <a:lnTo>
                  <a:pt x="0" y="6598919"/>
                </a:lnTo>
                <a:lnTo>
                  <a:pt x="8891015" y="6598919"/>
                </a:lnTo>
                <a:lnTo>
                  <a:pt x="8891015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679704" y="364388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679704" y="364693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679704" y="364998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679704" y="365302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679704" y="365607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679704" y="365912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679704" y="366217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679704" y="366522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679704" y="366826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679704" y="367131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679704" y="367436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679704" y="3677411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679704" y="368046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679704" y="368350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bk object 35"/>
          <p:cNvSpPr/>
          <p:nvPr/>
        </p:nvSpPr>
        <p:spPr>
          <a:xfrm>
            <a:off x="679704" y="3686555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bk object 36"/>
          <p:cNvSpPr/>
          <p:nvPr/>
        </p:nvSpPr>
        <p:spPr>
          <a:xfrm>
            <a:off x="679704" y="368960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bk object 37"/>
          <p:cNvSpPr/>
          <p:nvPr/>
        </p:nvSpPr>
        <p:spPr>
          <a:xfrm>
            <a:off x="679704" y="369265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k object 38"/>
          <p:cNvSpPr/>
          <p:nvPr/>
        </p:nvSpPr>
        <p:spPr>
          <a:xfrm>
            <a:off x="679704" y="369570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bk object 39"/>
          <p:cNvSpPr/>
          <p:nvPr/>
        </p:nvSpPr>
        <p:spPr>
          <a:xfrm>
            <a:off x="679704" y="369874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bk object 40"/>
          <p:cNvSpPr/>
          <p:nvPr/>
        </p:nvSpPr>
        <p:spPr>
          <a:xfrm>
            <a:off x="679704" y="370179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bk object 41"/>
          <p:cNvSpPr/>
          <p:nvPr/>
        </p:nvSpPr>
        <p:spPr>
          <a:xfrm>
            <a:off x="679704" y="370484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bk object 42"/>
          <p:cNvSpPr/>
          <p:nvPr/>
        </p:nvSpPr>
        <p:spPr>
          <a:xfrm>
            <a:off x="679704" y="370789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bk object 43"/>
          <p:cNvSpPr/>
          <p:nvPr/>
        </p:nvSpPr>
        <p:spPr>
          <a:xfrm>
            <a:off x="679704" y="371094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bk object 44"/>
          <p:cNvSpPr/>
          <p:nvPr/>
        </p:nvSpPr>
        <p:spPr>
          <a:xfrm>
            <a:off x="679704" y="371398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bk object 45"/>
          <p:cNvSpPr/>
          <p:nvPr/>
        </p:nvSpPr>
        <p:spPr>
          <a:xfrm>
            <a:off x="679704" y="371703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bk object 46"/>
          <p:cNvSpPr/>
          <p:nvPr/>
        </p:nvSpPr>
        <p:spPr>
          <a:xfrm>
            <a:off x="679704" y="372008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bk object 47"/>
          <p:cNvSpPr/>
          <p:nvPr/>
        </p:nvSpPr>
        <p:spPr>
          <a:xfrm>
            <a:off x="679704" y="372313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bk object 48"/>
          <p:cNvSpPr/>
          <p:nvPr/>
        </p:nvSpPr>
        <p:spPr>
          <a:xfrm>
            <a:off x="679704" y="372618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bk object 49"/>
          <p:cNvSpPr/>
          <p:nvPr/>
        </p:nvSpPr>
        <p:spPr>
          <a:xfrm>
            <a:off x="679704" y="372922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bk object 50"/>
          <p:cNvSpPr/>
          <p:nvPr/>
        </p:nvSpPr>
        <p:spPr>
          <a:xfrm>
            <a:off x="679704" y="373227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bk object 51"/>
          <p:cNvSpPr/>
          <p:nvPr/>
        </p:nvSpPr>
        <p:spPr>
          <a:xfrm>
            <a:off x="679704" y="373532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bk object 52"/>
          <p:cNvSpPr/>
          <p:nvPr/>
        </p:nvSpPr>
        <p:spPr>
          <a:xfrm>
            <a:off x="679704" y="373837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bk object 53"/>
          <p:cNvSpPr/>
          <p:nvPr/>
        </p:nvSpPr>
        <p:spPr>
          <a:xfrm>
            <a:off x="679704" y="374142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bk object 54"/>
          <p:cNvSpPr/>
          <p:nvPr/>
        </p:nvSpPr>
        <p:spPr>
          <a:xfrm>
            <a:off x="679704" y="374446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bk object 55"/>
          <p:cNvSpPr/>
          <p:nvPr/>
        </p:nvSpPr>
        <p:spPr>
          <a:xfrm>
            <a:off x="679704" y="374751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bk object 56"/>
          <p:cNvSpPr/>
          <p:nvPr/>
        </p:nvSpPr>
        <p:spPr>
          <a:xfrm>
            <a:off x="679704" y="375056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bk object 57"/>
          <p:cNvSpPr/>
          <p:nvPr/>
        </p:nvSpPr>
        <p:spPr>
          <a:xfrm>
            <a:off x="679704" y="3753611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bk object 58"/>
          <p:cNvSpPr/>
          <p:nvPr/>
        </p:nvSpPr>
        <p:spPr>
          <a:xfrm>
            <a:off x="679704" y="375666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bk object 59"/>
          <p:cNvSpPr/>
          <p:nvPr/>
        </p:nvSpPr>
        <p:spPr>
          <a:xfrm>
            <a:off x="679704" y="375970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bk object 60"/>
          <p:cNvSpPr/>
          <p:nvPr/>
        </p:nvSpPr>
        <p:spPr>
          <a:xfrm>
            <a:off x="679704" y="3762755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bk object 61"/>
          <p:cNvSpPr/>
          <p:nvPr/>
        </p:nvSpPr>
        <p:spPr>
          <a:xfrm>
            <a:off x="679704" y="376580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bk object 62"/>
          <p:cNvSpPr/>
          <p:nvPr/>
        </p:nvSpPr>
        <p:spPr>
          <a:xfrm>
            <a:off x="679704" y="376885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bk object 63"/>
          <p:cNvSpPr/>
          <p:nvPr/>
        </p:nvSpPr>
        <p:spPr>
          <a:xfrm>
            <a:off x="679704" y="377190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bk object 64"/>
          <p:cNvSpPr/>
          <p:nvPr/>
        </p:nvSpPr>
        <p:spPr>
          <a:xfrm>
            <a:off x="679704" y="377494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bk object 65"/>
          <p:cNvSpPr/>
          <p:nvPr/>
        </p:nvSpPr>
        <p:spPr>
          <a:xfrm>
            <a:off x="679704" y="377799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bk object 66"/>
          <p:cNvSpPr/>
          <p:nvPr/>
        </p:nvSpPr>
        <p:spPr>
          <a:xfrm>
            <a:off x="679704" y="378104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bk object 67"/>
          <p:cNvSpPr/>
          <p:nvPr/>
        </p:nvSpPr>
        <p:spPr>
          <a:xfrm>
            <a:off x="679704" y="378409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3528" y="42672"/>
            <a:ext cx="2157984" cy="4328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40207" y="185928"/>
            <a:ext cx="8857615" cy="6553200"/>
          </a:xfrm>
          <a:custGeom>
            <a:avLst/>
            <a:gdLst/>
            <a:ahLst/>
            <a:cxnLst/>
            <a:rect l="l" t="t" r="r" b="b"/>
            <a:pathLst>
              <a:path w="8857615" h="6553200">
                <a:moveTo>
                  <a:pt x="0" y="0"/>
                </a:moveTo>
                <a:lnTo>
                  <a:pt x="0" y="6553199"/>
                </a:lnTo>
                <a:lnTo>
                  <a:pt x="8857487" y="6553199"/>
                </a:lnTo>
                <a:lnTo>
                  <a:pt x="8857487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121920" y="141274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21920" y="141579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121920" y="141884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121920" y="142189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121920" y="142494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121920" y="142798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121920" y="143103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121920" y="143408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121920" y="143713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121920" y="144018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121920" y="144322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121920" y="144627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121920" y="144932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121920" y="145237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121920" y="145542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121920" y="145846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bk object 35"/>
          <p:cNvSpPr/>
          <p:nvPr/>
        </p:nvSpPr>
        <p:spPr>
          <a:xfrm>
            <a:off x="121920" y="146151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bk object 36"/>
          <p:cNvSpPr/>
          <p:nvPr/>
        </p:nvSpPr>
        <p:spPr>
          <a:xfrm>
            <a:off x="121920" y="146456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bk object 37"/>
          <p:cNvSpPr/>
          <p:nvPr/>
        </p:nvSpPr>
        <p:spPr>
          <a:xfrm>
            <a:off x="121920" y="146761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k object 38"/>
          <p:cNvSpPr/>
          <p:nvPr/>
        </p:nvSpPr>
        <p:spPr>
          <a:xfrm>
            <a:off x="121920" y="147066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bk object 39"/>
          <p:cNvSpPr/>
          <p:nvPr/>
        </p:nvSpPr>
        <p:spPr>
          <a:xfrm>
            <a:off x="121920" y="147370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bk object 40"/>
          <p:cNvSpPr/>
          <p:nvPr/>
        </p:nvSpPr>
        <p:spPr>
          <a:xfrm>
            <a:off x="121920" y="147675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bk object 41"/>
          <p:cNvSpPr/>
          <p:nvPr/>
        </p:nvSpPr>
        <p:spPr>
          <a:xfrm>
            <a:off x="121920" y="147980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bk object 42"/>
          <p:cNvSpPr/>
          <p:nvPr/>
        </p:nvSpPr>
        <p:spPr>
          <a:xfrm>
            <a:off x="121920" y="148285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bk object 43"/>
          <p:cNvSpPr/>
          <p:nvPr/>
        </p:nvSpPr>
        <p:spPr>
          <a:xfrm>
            <a:off x="121920" y="148590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bk object 44"/>
          <p:cNvSpPr/>
          <p:nvPr/>
        </p:nvSpPr>
        <p:spPr>
          <a:xfrm>
            <a:off x="121920" y="148894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bk object 45"/>
          <p:cNvSpPr/>
          <p:nvPr/>
        </p:nvSpPr>
        <p:spPr>
          <a:xfrm>
            <a:off x="121920" y="149199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bk object 46"/>
          <p:cNvSpPr/>
          <p:nvPr/>
        </p:nvSpPr>
        <p:spPr>
          <a:xfrm>
            <a:off x="121920" y="149504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bk object 47"/>
          <p:cNvSpPr/>
          <p:nvPr/>
        </p:nvSpPr>
        <p:spPr>
          <a:xfrm>
            <a:off x="121920" y="149809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bk object 48"/>
          <p:cNvSpPr/>
          <p:nvPr/>
        </p:nvSpPr>
        <p:spPr>
          <a:xfrm>
            <a:off x="121920" y="150114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bk object 49"/>
          <p:cNvSpPr/>
          <p:nvPr/>
        </p:nvSpPr>
        <p:spPr>
          <a:xfrm>
            <a:off x="121920" y="150418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bk object 50"/>
          <p:cNvSpPr/>
          <p:nvPr/>
        </p:nvSpPr>
        <p:spPr>
          <a:xfrm>
            <a:off x="121920" y="150723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bk object 51"/>
          <p:cNvSpPr/>
          <p:nvPr/>
        </p:nvSpPr>
        <p:spPr>
          <a:xfrm>
            <a:off x="121920" y="151028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bk object 52"/>
          <p:cNvSpPr/>
          <p:nvPr/>
        </p:nvSpPr>
        <p:spPr>
          <a:xfrm>
            <a:off x="121920" y="151333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bk object 53"/>
          <p:cNvSpPr/>
          <p:nvPr/>
        </p:nvSpPr>
        <p:spPr>
          <a:xfrm>
            <a:off x="121920" y="151638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bk object 54"/>
          <p:cNvSpPr/>
          <p:nvPr/>
        </p:nvSpPr>
        <p:spPr>
          <a:xfrm>
            <a:off x="121920" y="151942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bk object 55"/>
          <p:cNvSpPr/>
          <p:nvPr/>
        </p:nvSpPr>
        <p:spPr>
          <a:xfrm>
            <a:off x="121920" y="152247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bk object 56"/>
          <p:cNvSpPr/>
          <p:nvPr/>
        </p:nvSpPr>
        <p:spPr>
          <a:xfrm>
            <a:off x="121920" y="152552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bk object 57"/>
          <p:cNvSpPr/>
          <p:nvPr/>
        </p:nvSpPr>
        <p:spPr>
          <a:xfrm>
            <a:off x="121920" y="152857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bk object 58"/>
          <p:cNvSpPr/>
          <p:nvPr/>
        </p:nvSpPr>
        <p:spPr>
          <a:xfrm>
            <a:off x="121920" y="153162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bk object 59"/>
          <p:cNvSpPr/>
          <p:nvPr/>
        </p:nvSpPr>
        <p:spPr>
          <a:xfrm>
            <a:off x="121920" y="153466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bk object 60"/>
          <p:cNvSpPr/>
          <p:nvPr/>
        </p:nvSpPr>
        <p:spPr>
          <a:xfrm>
            <a:off x="121920" y="153771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bk object 61"/>
          <p:cNvSpPr/>
          <p:nvPr/>
        </p:nvSpPr>
        <p:spPr>
          <a:xfrm>
            <a:off x="121920" y="154076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bk object 62"/>
          <p:cNvSpPr/>
          <p:nvPr/>
        </p:nvSpPr>
        <p:spPr>
          <a:xfrm>
            <a:off x="121920" y="154381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bk object 63"/>
          <p:cNvSpPr/>
          <p:nvPr/>
        </p:nvSpPr>
        <p:spPr>
          <a:xfrm>
            <a:off x="121920" y="154686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bk object 64"/>
          <p:cNvSpPr/>
          <p:nvPr/>
        </p:nvSpPr>
        <p:spPr>
          <a:xfrm>
            <a:off x="121920" y="154990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bk object 65"/>
          <p:cNvSpPr/>
          <p:nvPr/>
        </p:nvSpPr>
        <p:spPr>
          <a:xfrm>
            <a:off x="121920" y="155295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76220" y="496316"/>
            <a:ext cx="3591559" cy="636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7929" y="2194560"/>
            <a:ext cx="8248141" cy="4191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2803" y="2834132"/>
            <a:ext cx="642620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45665" algn="l"/>
              </a:tabLst>
            </a:pPr>
            <a:r>
              <a:rPr dirty="0" sz="4800"/>
              <a:t>第八章</a:t>
            </a:r>
            <a:r>
              <a:rPr dirty="0" sz="4800"/>
              <a:t>	</a:t>
            </a:r>
            <a:r>
              <a:rPr dirty="0" sz="4800"/>
              <a:t>股利理论与政策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8220" y="639572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17851" y="2166620"/>
            <a:ext cx="4640580" cy="282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股利政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策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与投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资、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筹资决</a:t>
            </a:r>
            <a:r>
              <a:rPr dirty="0" sz="2800" spc="-245" b="1">
                <a:solidFill>
                  <a:srgbClr val="FFFFFF"/>
                </a:solidFill>
                <a:latin typeface="Microsoft JhengHei"/>
                <a:cs typeface="Microsoft JhengHei"/>
              </a:rPr>
              <a:t>策</a:t>
            </a:r>
            <a:endParaRPr sz="2800">
              <a:latin typeface="Microsoft JhengHei"/>
              <a:cs typeface="Microsoft JhengHei"/>
            </a:endParaRPr>
          </a:p>
          <a:p>
            <a:pPr marL="12700" marR="361315">
              <a:lnSpc>
                <a:spcPct val="185000"/>
              </a:lnSpc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关于股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利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政策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的基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本理</a:t>
            </a:r>
            <a:r>
              <a:rPr dirty="0" sz="2800" spc="-335" b="1">
                <a:solidFill>
                  <a:srgbClr val="FFFFFF"/>
                </a:solidFill>
                <a:latin typeface="Microsoft JhengHei"/>
                <a:cs typeface="Microsoft JhengHei"/>
              </a:rPr>
              <a:t>论 </a:t>
            </a: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股利政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策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的影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响因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素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股利政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策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的实施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8252" y="639572"/>
            <a:ext cx="6124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股利政</a:t>
            </a:r>
            <a:r>
              <a:rPr dirty="0" spc="-20"/>
              <a:t>策</a:t>
            </a:r>
            <a:r>
              <a:rPr dirty="0" spc="5"/>
              <a:t>与</a:t>
            </a:r>
            <a:r>
              <a:rPr dirty="0" spc="-20"/>
              <a:t>投</a:t>
            </a:r>
            <a:r>
              <a:rPr dirty="0" spc="5"/>
              <a:t>资、筹</a:t>
            </a:r>
            <a:r>
              <a:rPr dirty="0" spc="-20"/>
              <a:t>资</a:t>
            </a:r>
            <a:r>
              <a:rPr dirty="0" spc="5"/>
              <a:t>决策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749044"/>
            <a:ext cx="8096884" cy="35401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股利政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策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与投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筹资决策</a:t>
            </a:r>
            <a:endParaRPr sz="2800">
              <a:latin typeface="宋体"/>
              <a:cs typeface="宋体"/>
            </a:endParaRPr>
          </a:p>
          <a:p>
            <a:pPr marL="756285" marR="5080" indent="-287020">
              <a:lnSpc>
                <a:spcPct val="120000"/>
              </a:lnSpc>
              <a:spcBef>
                <a:spcPts val="172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股利政策所涉及的主要是公司对其收益进行分配或留</a:t>
            </a:r>
            <a:r>
              <a:rPr dirty="0" sz="2400" spc="-65">
                <a:solidFill>
                  <a:srgbClr val="FFFFFF"/>
                </a:solidFill>
                <a:latin typeface="宋体"/>
                <a:cs typeface="宋体"/>
              </a:rPr>
              <a:t>存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以用于再投资的决策问题，通常用股利支付率表示：</a:t>
            </a:r>
            <a:endParaRPr sz="24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1555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股利支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付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000" spc="-20" i="1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每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股股利</a:t>
            </a:r>
            <a:r>
              <a:rPr dirty="0" sz="2000" spc="15" i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每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收益</a:t>
            </a:r>
            <a:endParaRPr sz="2000">
              <a:latin typeface="宋体"/>
              <a:cs typeface="宋体"/>
            </a:endParaRPr>
          </a:p>
          <a:p>
            <a:pPr marL="756285" marR="17145" indent="-287020">
              <a:lnSpc>
                <a:spcPct val="119600"/>
              </a:lnSpc>
              <a:spcBef>
                <a:spcPts val="1385"/>
              </a:spcBef>
              <a:buClr>
                <a:srgbClr val="FF6600"/>
              </a:buClr>
              <a:buFont typeface="Wingdings"/>
              <a:buChar char=""/>
              <a:tabLst>
                <a:tab pos="84518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在投资决策既定的情况下，这种选择就归</a:t>
            </a:r>
            <a:r>
              <a:rPr dirty="0" sz="2400" spc="-63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结为，公司 是否用留存收益（内部筹资）或以出售新股票（外部筹 资）来融通投资所需要的股权资本。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1235" y="633476"/>
            <a:ext cx="5615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关于股</a:t>
            </a:r>
            <a:r>
              <a:rPr dirty="0" spc="-20"/>
              <a:t>利</a:t>
            </a:r>
            <a:r>
              <a:rPr dirty="0" spc="5"/>
              <a:t>政</a:t>
            </a:r>
            <a:r>
              <a:rPr dirty="0" spc="-20"/>
              <a:t>策</a:t>
            </a:r>
            <a:r>
              <a:rPr dirty="0" spc="5"/>
              <a:t>的基本</a:t>
            </a:r>
            <a:r>
              <a:rPr dirty="0" spc="-20"/>
              <a:t>理</a:t>
            </a:r>
            <a:r>
              <a:rPr dirty="0" spc="5"/>
              <a:t>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03067" y="2212340"/>
            <a:ext cx="4283710" cy="31451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股利政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策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无关论</a:t>
            </a:r>
            <a:endParaRPr sz="2800">
              <a:latin typeface="Microsoft JhengHei"/>
              <a:cs typeface="Microsoft JhengHei"/>
            </a:endParaRPr>
          </a:p>
          <a:p>
            <a:pPr marL="12700" marR="1071880">
              <a:lnSpc>
                <a:spcPct val="210000"/>
              </a:lnSpc>
              <a:spcBef>
                <a:spcPts val="2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“一鸟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在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手”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理</a:t>
            </a:r>
            <a:r>
              <a:rPr dirty="0" sz="2800" spc="-335" b="1">
                <a:solidFill>
                  <a:srgbClr val="FFFFFF"/>
                </a:solidFill>
                <a:latin typeface="Microsoft JhengHei"/>
                <a:cs typeface="Microsoft JhengHei"/>
              </a:rPr>
              <a:t>论 </a:t>
            </a: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差别税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收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理论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三种股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利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政策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理论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的比</a:t>
            </a:r>
            <a:r>
              <a:rPr dirty="0" sz="2800" spc="-245" b="1">
                <a:solidFill>
                  <a:srgbClr val="FFFFFF"/>
                </a:solidFill>
                <a:latin typeface="Microsoft JhengHei"/>
                <a:cs typeface="Microsoft JhengHei"/>
              </a:rPr>
              <a:t>较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5187" y="1767332"/>
            <a:ext cx="7639684" cy="3677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7244" algn="l"/>
              </a:tabLst>
            </a:pPr>
            <a:r>
              <a:rPr dirty="0" sz="2400">
                <a:solidFill>
                  <a:srgbClr val="FF6600"/>
                </a:solidFill>
                <a:latin typeface="Wingdings"/>
                <a:cs typeface="Wingdings"/>
              </a:rPr>
              <a:t></a:t>
            </a:r>
            <a:r>
              <a:rPr dirty="0" sz="2400">
                <a:solidFill>
                  <a:srgbClr val="FF6600"/>
                </a:solidFill>
                <a:latin typeface="Times New Roman"/>
                <a:cs typeface="Times New Roman"/>
              </a:rPr>
              <a:t>	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股利政策无关论</a:t>
            </a:r>
            <a:endParaRPr sz="2400">
              <a:latin typeface="宋体"/>
              <a:cs typeface="宋体"/>
            </a:endParaRPr>
          </a:p>
          <a:p>
            <a:pPr marL="756285" marR="5080" indent="-287020">
              <a:lnSpc>
                <a:spcPct val="140000"/>
              </a:lnSpc>
              <a:spcBef>
                <a:spcPts val="575"/>
              </a:spcBef>
              <a:tabLst>
                <a:tab pos="7016750" algn="l"/>
              </a:tabLst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由米勒（Miller）和莫迪格莱尼(Modigliani)	首次 提出</a:t>
            </a:r>
            <a:endParaRPr sz="2400">
              <a:latin typeface="宋体"/>
              <a:cs typeface="宋体"/>
            </a:endParaRPr>
          </a:p>
          <a:p>
            <a:pPr marL="756285" marR="157480" indent="-287020">
              <a:lnSpc>
                <a:spcPct val="140000"/>
              </a:lnSpc>
              <a:spcBef>
                <a:spcPts val="55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在完善的资本市场条件下，股利政策（盈余分配</a:t>
            </a:r>
            <a:r>
              <a:rPr dirty="0" sz="2400" spc="-65">
                <a:solidFill>
                  <a:srgbClr val="FFFFFF"/>
                </a:solidFill>
                <a:latin typeface="宋体"/>
                <a:cs typeface="宋体"/>
              </a:rPr>
              <a:t>方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式）不会影响公司的价值</a:t>
            </a:r>
            <a:endParaRPr sz="2400">
              <a:latin typeface="宋体"/>
              <a:cs typeface="宋体"/>
            </a:endParaRPr>
          </a:p>
          <a:p>
            <a:pPr marL="756285" marR="157480" indent="-287020">
              <a:lnSpc>
                <a:spcPct val="139200"/>
              </a:lnSpc>
              <a:spcBef>
                <a:spcPts val="60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公司价值是由公司投资决策所确定的本身获利能</a:t>
            </a:r>
            <a:r>
              <a:rPr dirty="0" sz="2400" spc="-65">
                <a:solidFill>
                  <a:srgbClr val="FFFFFF"/>
                </a:solidFill>
                <a:latin typeface="宋体"/>
                <a:cs typeface="宋体"/>
              </a:rPr>
              <a:t>力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和风险组合所决定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61235" y="633476"/>
            <a:ext cx="5615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关于股</a:t>
            </a:r>
            <a:r>
              <a:rPr dirty="0" spc="-20"/>
              <a:t>利</a:t>
            </a:r>
            <a:r>
              <a:rPr dirty="0" spc="5"/>
              <a:t>政</a:t>
            </a:r>
            <a:r>
              <a:rPr dirty="0" spc="-20"/>
              <a:t>策</a:t>
            </a:r>
            <a:r>
              <a:rPr dirty="0" spc="5"/>
              <a:t>的基本</a:t>
            </a:r>
            <a:r>
              <a:rPr dirty="0" spc="-20"/>
              <a:t>理</a:t>
            </a:r>
            <a:r>
              <a:rPr dirty="0" spc="5"/>
              <a:t>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79" y="1941068"/>
            <a:ext cx="8401685" cy="3238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2445" algn="l"/>
              </a:tabLst>
            </a:pPr>
            <a:r>
              <a:rPr dirty="0" sz="2400">
                <a:solidFill>
                  <a:srgbClr val="FF6600"/>
                </a:solidFill>
                <a:latin typeface="Wingdings"/>
                <a:cs typeface="Wingdings"/>
              </a:rPr>
              <a:t></a:t>
            </a:r>
            <a:r>
              <a:rPr dirty="0" sz="2400">
                <a:solidFill>
                  <a:srgbClr val="FF6600"/>
                </a:solidFill>
                <a:latin typeface="Times New Roman"/>
                <a:cs typeface="Times New Roman"/>
              </a:rPr>
              <a:t>	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“一鸟在手”理论</a:t>
            </a:r>
            <a:endParaRPr sz="24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1700"/>
              </a:spcBef>
              <a:tabLst>
                <a:tab pos="5797550" algn="l"/>
                <a:tab pos="6254750" algn="l"/>
              </a:tabLst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这一理论的主要代表人物是M.Gordon	和	D.Durand等。</a:t>
            </a:r>
            <a:endParaRPr sz="24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1730"/>
              </a:spcBef>
              <a:tabLst>
                <a:tab pos="4883150" algn="l"/>
                <a:tab pos="5492750" algn="l"/>
              </a:tabLst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股票投资收益率=股利收益率	+	资本利得</a:t>
            </a:r>
            <a:endParaRPr sz="2400">
              <a:latin typeface="宋体"/>
              <a:cs typeface="宋体"/>
            </a:endParaRPr>
          </a:p>
          <a:p>
            <a:pPr marL="3060065">
              <a:lnSpc>
                <a:spcPct val="100000"/>
              </a:lnSpc>
              <a:spcBef>
                <a:spcPts val="1730"/>
              </a:spcBef>
              <a:tabLst>
                <a:tab pos="534606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（风险小）	（风险大）</a:t>
            </a:r>
            <a:endParaRPr sz="2400">
              <a:latin typeface="宋体"/>
              <a:cs typeface="宋体"/>
            </a:endParaRPr>
          </a:p>
          <a:p>
            <a:pPr marL="756285" marR="5080" indent="-287020">
              <a:lnSpc>
                <a:spcPct val="140000"/>
              </a:lnSpc>
              <a:spcBef>
                <a:spcPts val="55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通常将这种理论称之为“在手之鸟”理论，即：“双鸟</a:t>
            </a:r>
            <a:r>
              <a:rPr dirty="0" sz="2400" spc="-65">
                <a:solidFill>
                  <a:srgbClr val="FFFFFF"/>
                </a:solidFill>
                <a:latin typeface="宋体"/>
                <a:cs typeface="宋体"/>
              </a:rPr>
              <a:t>在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林，不如一鸟在手”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61235" y="633476"/>
            <a:ext cx="5615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关于股</a:t>
            </a:r>
            <a:r>
              <a:rPr dirty="0" spc="-20"/>
              <a:t>利</a:t>
            </a:r>
            <a:r>
              <a:rPr dirty="0" spc="5"/>
              <a:t>政</a:t>
            </a:r>
            <a:r>
              <a:rPr dirty="0" spc="-20"/>
              <a:t>策</a:t>
            </a:r>
            <a:r>
              <a:rPr dirty="0" spc="5"/>
              <a:t>的基本</a:t>
            </a:r>
            <a:r>
              <a:rPr dirty="0" spc="-20"/>
              <a:t>理</a:t>
            </a:r>
            <a:r>
              <a:rPr dirty="0" spc="5"/>
              <a:t>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5187" y="1794764"/>
            <a:ext cx="8096884" cy="3677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2445" algn="l"/>
              </a:tabLst>
            </a:pPr>
            <a:r>
              <a:rPr dirty="0" sz="2400">
                <a:solidFill>
                  <a:srgbClr val="FF6600"/>
                </a:solidFill>
                <a:latin typeface="Wingdings"/>
                <a:cs typeface="Wingdings"/>
              </a:rPr>
              <a:t></a:t>
            </a:r>
            <a:r>
              <a:rPr dirty="0" sz="2400">
                <a:solidFill>
                  <a:srgbClr val="FF6600"/>
                </a:solidFill>
                <a:latin typeface="Times New Roman"/>
                <a:cs typeface="Times New Roman"/>
              </a:rPr>
              <a:t>	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差别税收理论</a:t>
            </a:r>
            <a:endParaRPr sz="24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1725"/>
              </a:spcBef>
              <a:tabLst>
                <a:tab pos="3054350" algn="l"/>
                <a:tab pos="3511550" algn="l"/>
                <a:tab pos="5035550" algn="l"/>
              </a:tabLst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由Litzenberger	和	Ramaswamy	于1979年提出</a:t>
            </a:r>
            <a:endParaRPr sz="2400">
              <a:latin typeface="宋体"/>
              <a:cs typeface="宋体"/>
            </a:endParaRPr>
          </a:p>
          <a:p>
            <a:pPr marL="756285" marR="5080" indent="-287020">
              <a:lnSpc>
                <a:spcPct val="139200"/>
              </a:lnSpc>
              <a:spcBef>
                <a:spcPts val="60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股利收入所得税率高于资本利得所得税率，资本利得</a:t>
            </a:r>
            <a:r>
              <a:rPr dirty="0" sz="2400" spc="-65">
                <a:solidFill>
                  <a:srgbClr val="FFFFFF"/>
                </a:solidFill>
                <a:latin typeface="宋体"/>
                <a:cs typeface="宋体"/>
              </a:rPr>
              <a:t>税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要递延到股票真正售出的时候才发生</a:t>
            </a:r>
            <a:endParaRPr sz="2400">
              <a:latin typeface="宋体"/>
              <a:cs typeface="宋体"/>
            </a:endParaRPr>
          </a:p>
          <a:p>
            <a:pPr algn="just" marL="756285" marR="5080" indent="-287020">
              <a:lnSpc>
                <a:spcPct val="139600"/>
              </a:lnSpc>
              <a:spcBef>
                <a:spcPts val="59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支付股利的股票必须比具有同等风险但不支付股利的</a:t>
            </a:r>
            <a:r>
              <a:rPr dirty="0" sz="2400" spc="-65">
                <a:solidFill>
                  <a:srgbClr val="FFFFFF"/>
                </a:solidFill>
                <a:latin typeface="宋体"/>
                <a:cs typeface="宋体"/>
              </a:rPr>
              <a:t>股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票提供一个更高的预期税前收益率，才能补偿纳税义务 给股东造成的价值损失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61235" y="633476"/>
            <a:ext cx="5615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关于股</a:t>
            </a:r>
            <a:r>
              <a:rPr dirty="0" spc="-20"/>
              <a:t>利</a:t>
            </a:r>
            <a:r>
              <a:rPr dirty="0" spc="5"/>
              <a:t>政</a:t>
            </a:r>
            <a:r>
              <a:rPr dirty="0" spc="-20"/>
              <a:t>策</a:t>
            </a:r>
            <a:r>
              <a:rPr dirty="0" spc="5"/>
              <a:t>的基本</a:t>
            </a:r>
            <a:r>
              <a:rPr dirty="0" spc="-20"/>
              <a:t>理</a:t>
            </a:r>
            <a:r>
              <a:rPr dirty="0" spc="5"/>
              <a:t>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22651" y="6284468"/>
            <a:ext cx="4292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股利政策理论对股票价格的影响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41523" y="1794764"/>
            <a:ext cx="393954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三种股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政策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理论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的比较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72183" y="2410981"/>
            <a:ext cx="6797024" cy="37337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61235" y="633476"/>
            <a:ext cx="5615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关于股</a:t>
            </a:r>
            <a:r>
              <a:rPr dirty="0" spc="-20"/>
              <a:t>利</a:t>
            </a:r>
            <a:r>
              <a:rPr dirty="0" spc="5"/>
              <a:t>政</a:t>
            </a:r>
            <a:r>
              <a:rPr dirty="0" spc="-20"/>
              <a:t>策</a:t>
            </a:r>
            <a:r>
              <a:rPr dirty="0" spc="5"/>
              <a:t>的基本</a:t>
            </a:r>
            <a:r>
              <a:rPr dirty="0" spc="-20"/>
              <a:t>理</a:t>
            </a:r>
            <a:r>
              <a:rPr dirty="0" spc="5"/>
              <a:t>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63624" y="2398777"/>
            <a:ext cx="6891524" cy="3401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45336" y="5907024"/>
            <a:ext cx="6885423" cy="2590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61235" y="633476"/>
            <a:ext cx="5615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关于股</a:t>
            </a:r>
            <a:r>
              <a:rPr dirty="0" spc="-20"/>
              <a:t>利</a:t>
            </a:r>
            <a:r>
              <a:rPr dirty="0" spc="5"/>
              <a:t>政</a:t>
            </a:r>
            <a:r>
              <a:rPr dirty="0" spc="-20"/>
              <a:t>策</a:t>
            </a:r>
            <a:r>
              <a:rPr dirty="0" spc="5"/>
              <a:t>的基本</a:t>
            </a:r>
            <a:r>
              <a:rPr dirty="0" spc="-20"/>
              <a:t>理</a:t>
            </a:r>
            <a:r>
              <a:rPr dirty="0" spc="5"/>
              <a:t>论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422651" y="6284468"/>
            <a:ext cx="4292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股利政策理论对股本成本的影响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41523" y="1794764"/>
            <a:ext cx="393954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三种股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政策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理论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的比较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5187" y="1369226"/>
            <a:ext cx="8084820" cy="506158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股利政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策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的影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响因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素</a:t>
            </a:r>
            <a:endParaRPr sz="28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56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法律因素</a:t>
            </a:r>
            <a:endParaRPr sz="24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45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资本保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全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的约束</a:t>
            </a:r>
            <a:endParaRPr sz="20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企业积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累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的约束</a:t>
            </a:r>
            <a:endParaRPr sz="20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企业利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润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的约束</a:t>
            </a:r>
            <a:endParaRPr sz="20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偿债能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力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的约束</a:t>
            </a:r>
            <a:endParaRPr sz="2000">
              <a:latin typeface="宋体"/>
              <a:cs typeface="宋体"/>
            </a:endParaRPr>
          </a:p>
          <a:p>
            <a:pPr marL="756285" marR="5080" indent="-287020">
              <a:lnSpc>
                <a:spcPct val="100000"/>
              </a:lnSpc>
              <a:spcBef>
                <a:spcPts val="56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债务契约因素：当公司以长期借款协议、债券契约、 优先股协议、以及租赁合约等形式向公司外部筹资时， 常常应对方的要求，接受一些关于股利支付的限制性 条款</a:t>
            </a:r>
            <a:endParaRPr sz="24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47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规定每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股利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最高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限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额</a:t>
            </a:r>
            <a:endParaRPr sz="20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459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规定未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股息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支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付来源</a:t>
            </a:r>
            <a:endParaRPr sz="20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规定企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支付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金股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制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约条件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67204" y="602996"/>
            <a:ext cx="4600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股利政</a:t>
            </a:r>
            <a:r>
              <a:rPr dirty="0" spc="-20"/>
              <a:t>策</a:t>
            </a:r>
            <a:r>
              <a:rPr dirty="0" spc="5"/>
              <a:t>的</a:t>
            </a:r>
            <a:r>
              <a:rPr dirty="0" spc="-20"/>
              <a:t>影</a:t>
            </a:r>
            <a:r>
              <a:rPr dirty="0" spc="5"/>
              <a:t>响因素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8524" y="1539152"/>
            <a:ext cx="4469765" cy="4385945"/>
          </a:xfrm>
          <a:prstGeom prst="rect">
            <a:avLst/>
          </a:prstGeom>
        </p:spPr>
        <p:txBody>
          <a:bodyPr wrap="square" lIns="0" tIns="186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股利政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策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的影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响因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素</a:t>
            </a:r>
            <a:endParaRPr sz="28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117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公司自身因素</a:t>
            </a:r>
            <a:endParaRPr sz="24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95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变现能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力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和现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流量</a:t>
            </a:r>
            <a:endParaRPr sz="20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935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举债能力</a:t>
            </a:r>
            <a:endParaRPr sz="20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96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投资机会</a:t>
            </a:r>
            <a:endParaRPr sz="20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94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资本成本</a:t>
            </a:r>
            <a:endParaRPr sz="20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65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股东因素</a:t>
            </a:r>
            <a:endParaRPr sz="24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47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追求稳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，规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避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风险</a:t>
            </a:r>
            <a:endParaRPr sz="20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股权稀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释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：担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心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控制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权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稀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释</a:t>
            </a:r>
            <a:endParaRPr sz="20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税赋：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避所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得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税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67204" y="602996"/>
            <a:ext cx="4600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股利政</a:t>
            </a:r>
            <a:r>
              <a:rPr dirty="0" spc="-20"/>
              <a:t>策</a:t>
            </a:r>
            <a:r>
              <a:rPr dirty="0" spc="5"/>
              <a:t>的</a:t>
            </a:r>
            <a:r>
              <a:rPr dirty="0" spc="-20"/>
              <a:t>影</a:t>
            </a:r>
            <a:r>
              <a:rPr dirty="0" spc="5"/>
              <a:t>响因素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6220" y="633476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股利政</a:t>
            </a:r>
            <a:r>
              <a:rPr dirty="0" spc="-20"/>
              <a:t>策</a:t>
            </a:r>
            <a:r>
              <a:rPr dirty="0" spc="5"/>
              <a:t>的</a:t>
            </a:r>
            <a:r>
              <a:rPr dirty="0" spc="-20"/>
              <a:t>实</a:t>
            </a:r>
            <a:r>
              <a:rPr dirty="0" spc="5"/>
              <a:t>施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03067" y="2212340"/>
            <a:ext cx="4640580" cy="31451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股利政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策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的主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要类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型</a:t>
            </a:r>
            <a:endParaRPr sz="2800">
              <a:latin typeface="Microsoft JhengHei"/>
              <a:cs typeface="Microsoft JhengHei"/>
            </a:endParaRPr>
          </a:p>
          <a:p>
            <a:pPr marL="12700" marR="718185">
              <a:lnSpc>
                <a:spcPct val="210000"/>
              </a:lnSpc>
              <a:spcBef>
                <a:spcPts val="2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不同股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利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政策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的适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用</a:t>
            </a:r>
            <a:r>
              <a:rPr dirty="0" sz="2800" spc="-335" b="1">
                <a:solidFill>
                  <a:srgbClr val="FFFFFF"/>
                </a:solidFill>
                <a:latin typeface="Microsoft JhengHei"/>
                <a:cs typeface="Microsoft JhengHei"/>
              </a:rPr>
              <a:t>性 </a:t>
            </a: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利润分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配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的顺序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股票股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利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和股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票分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割之比</a:t>
            </a:r>
            <a:r>
              <a:rPr dirty="0" sz="2800" spc="-245" b="1">
                <a:solidFill>
                  <a:srgbClr val="FFFFFF"/>
                </a:solidFill>
                <a:latin typeface="Microsoft JhengHei"/>
                <a:cs typeface="Microsoft JhengHei"/>
              </a:rPr>
              <a:t>较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6220" y="496316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股利政</a:t>
            </a:r>
            <a:r>
              <a:rPr dirty="0" spc="-20"/>
              <a:t>策</a:t>
            </a:r>
            <a:r>
              <a:rPr dirty="0" spc="5"/>
              <a:t>的</a:t>
            </a:r>
            <a:r>
              <a:rPr dirty="0" spc="-20"/>
              <a:t>实</a:t>
            </a:r>
            <a:r>
              <a:rPr dirty="0" spc="5"/>
              <a:t>施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8779" y="1539152"/>
            <a:ext cx="8273415" cy="4324985"/>
          </a:xfrm>
          <a:prstGeom prst="rect">
            <a:avLst/>
          </a:prstGeom>
        </p:spPr>
        <p:txBody>
          <a:bodyPr wrap="square" lIns="0" tIns="186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股利政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策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的主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要类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型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117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剩余股利政策</a:t>
            </a:r>
            <a:endParaRPr sz="2400">
              <a:latin typeface="宋体"/>
              <a:cs typeface="宋体"/>
            </a:endParaRPr>
          </a:p>
          <a:p>
            <a:pPr marL="1155700" marR="5080" indent="-228600">
              <a:lnSpc>
                <a:spcPct val="113999"/>
              </a:lnSpc>
              <a:spcBef>
                <a:spcPts val="615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85">
                <a:solidFill>
                  <a:srgbClr val="FFFFFF"/>
                </a:solidFill>
                <a:latin typeface="宋体"/>
                <a:cs typeface="宋体"/>
              </a:rPr>
              <a:t>确定</a:t>
            </a:r>
            <a:r>
              <a:rPr dirty="0" sz="2000" spc="60">
                <a:solidFill>
                  <a:srgbClr val="FFFFFF"/>
                </a:solidFill>
                <a:latin typeface="宋体"/>
                <a:cs typeface="宋体"/>
              </a:rPr>
              <a:t>目标</a:t>
            </a:r>
            <a:r>
              <a:rPr dirty="0" sz="2000" spc="85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6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000" spc="85">
                <a:solidFill>
                  <a:srgbClr val="FFFFFF"/>
                </a:solidFill>
                <a:latin typeface="宋体"/>
                <a:cs typeface="宋体"/>
              </a:rPr>
              <a:t>结</a:t>
            </a:r>
            <a:r>
              <a:rPr dirty="0" sz="2000" spc="60">
                <a:solidFill>
                  <a:srgbClr val="FFFFFF"/>
                </a:solidFill>
                <a:latin typeface="宋体"/>
                <a:cs typeface="宋体"/>
              </a:rPr>
              <a:t>构</a:t>
            </a:r>
            <a:r>
              <a:rPr dirty="0" sz="2000" spc="8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2000" spc="60">
                <a:solidFill>
                  <a:srgbClr val="FFFFFF"/>
                </a:solidFill>
                <a:latin typeface="宋体"/>
                <a:cs typeface="宋体"/>
              </a:rPr>
              <a:t>确</a:t>
            </a:r>
            <a:r>
              <a:rPr dirty="0" sz="2000" spc="85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000" spc="60">
                <a:solidFill>
                  <a:srgbClr val="FFFFFF"/>
                </a:solidFill>
                <a:latin typeface="宋体"/>
                <a:cs typeface="宋体"/>
              </a:rPr>
              <a:t>股权</a:t>
            </a:r>
            <a:r>
              <a:rPr dirty="0" sz="2000" spc="85">
                <a:solidFill>
                  <a:srgbClr val="FFFFFF"/>
                </a:solidFill>
                <a:latin typeface="宋体"/>
                <a:cs typeface="宋体"/>
              </a:rPr>
              <a:t>投</a:t>
            </a:r>
            <a:r>
              <a:rPr dirty="0" sz="2000" spc="6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85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2000" spc="60">
                <a:solidFill>
                  <a:srgbClr val="FFFFFF"/>
                </a:solidFill>
                <a:latin typeface="宋体"/>
                <a:cs typeface="宋体"/>
              </a:rPr>
              <a:t>额</a:t>
            </a:r>
            <a:r>
              <a:rPr dirty="0" sz="2000" spc="8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2000" spc="60">
                <a:solidFill>
                  <a:srgbClr val="FFFFFF"/>
                </a:solidFill>
                <a:latin typeface="宋体"/>
                <a:cs typeface="宋体"/>
              </a:rPr>
              <a:t>税</a:t>
            </a:r>
            <a:r>
              <a:rPr dirty="0" sz="2000" spc="85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r>
              <a:rPr dirty="0" sz="2000" spc="60">
                <a:solidFill>
                  <a:srgbClr val="FFFFFF"/>
                </a:solidFill>
                <a:latin typeface="宋体"/>
                <a:cs typeface="宋体"/>
              </a:rPr>
              <a:t>净</a:t>
            </a:r>
            <a:r>
              <a:rPr dirty="0" sz="2000" spc="85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000" spc="60">
                <a:solidFill>
                  <a:srgbClr val="FFFFFF"/>
                </a:solidFill>
                <a:latin typeface="宋体"/>
                <a:cs typeface="宋体"/>
              </a:rPr>
              <a:t>满足</a:t>
            </a:r>
            <a:r>
              <a:rPr dirty="0" sz="2000" spc="85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000" spc="60">
                <a:solidFill>
                  <a:srgbClr val="FFFFFF"/>
                </a:solidFill>
                <a:latin typeface="宋体"/>
                <a:cs typeface="宋体"/>
              </a:rPr>
              <a:t>权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投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资；剩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余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利润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配股利</a:t>
            </a:r>
            <a:endParaRPr sz="20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96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优点在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可适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当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降低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000" i="1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前提</a:t>
            </a:r>
            <a:r>
              <a:rPr dirty="0" sz="2000" spc="-10" i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企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必须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良好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投资机会</a:t>
            </a:r>
            <a:r>
              <a:rPr dirty="0" sz="2000" spc="-5" i="1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1155700" marR="254635" indent="-228600">
              <a:lnSpc>
                <a:spcPct val="113999"/>
              </a:lnSpc>
              <a:spcBef>
                <a:spcPts val="745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缺点在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股利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支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付额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受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盈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水平和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投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资机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会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约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期股利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不稳定</a:t>
            </a:r>
            <a:r>
              <a:rPr dirty="0" sz="2000" spc="-5" i="1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dirty="0" sz="2000" spc="-1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望有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稳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定股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利收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入的投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者不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欢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迎</a:t>
            </a:r>
            <a:endParaRPr sz="20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77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低正常股利加额外股利政策</a:t>
            </a:r>
            <a:endParaRPr sz="24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47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每期支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付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较低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正常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当盈利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较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多时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据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实情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增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发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endParaRPr sz="20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特点在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股利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政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策的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灵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活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性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与稳定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性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相结合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2891" y="1454388"/>
            <a:ext cx="8069580" cy="4729480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股利政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策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的主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要类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型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100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固定股利或稳定增长股利政策</a:t>
            </a:r>
            <a:endParaRPr sz="24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107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股利额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相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对固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或呈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稳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增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长趋势</a:t>
            </a:r>
            <a:endParaRPr sz="2000">
              <a:latin typeface="宋体"/>
              <a:cs typeface="宋体"/>
            </a:endParaRPr>
          </a:p>
          <a:p>
            <a:pPr marL="1155700" marR="5080" indent="-228600">
              <a:lnSpc>
                <a:spcPts val="2260"/>
              </a:lnSpc>
              <a:spcBef>
                <a:spcPts val="106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优点在于传递积极信息</a:t>
            </a:r>
            <a:r>
              <a:rPr dirty="0" sz="2000" i="1">
                <a:solidFill>
                  <a:srgbClr val="FFFFFF"/>
                </a:solidFill>
                <a:latin typeface="Arial"/>
                <a:cs typeface="Arial"/>
              </a:rPr>
              <a:t>——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表明企业经营状况稳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满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足希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望 获得固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收入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投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资者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endParaRPr sz="20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90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缺点在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给公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造成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较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大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财务压力</a:t>
            </a:r>
            <a:endParaRPr sz="20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118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固定股利支付率股利政策</a:t>
            </a:r>
            <a:endParaRPr sz="24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93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从净利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润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中按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固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定股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支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付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率发放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endParaRPr sz="2000">
              <a:latin typeface="宋体"/>
              <a:cs typeface="宋体"/>
            </a:endParaRPr>
          </a:p>
          <a:p>
            <a:pPr marL="1155700" marR="234315" indent="-228600">
              <a:lnSpc>
                <a:spcPts val="2260"/>
              </a:lnSpc>
              <a:spcBef>
                <a:spcPts val="1055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优点在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股利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经营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绩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正比</a:t>
            </a:r>
            <a:r>
              <a:rPr dirty="0" sz="2000" spc="-10" i="1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不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会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给公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造成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较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大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财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务负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担</a:t>
            </a:r>
            <a:endParaRPr sz="20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905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缺点在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传递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消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极信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使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股价产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生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较大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波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76220" y="496316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股利政</a:t>
            </a:r>
            <a:r>
              <a:rPr dirty="0" spc="-20"/>
              <a:t>策</a:t>
            </a:r>
            <a:r>
              <a:rPr dirty="0" spc="5"/>
              <a:t>的</a:t>
            </a:r>
            <a:r>
              <a:rPr dirty="0" spc="-20"/>
              <a:t>实</a:t>
            </a:r>
            <a:r>
              <a:rPr dirty="0" spc="5"/>
              <a:t>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47929" y="2194560"/>
          <a:ext cx="8248141" cy="419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71290"/>
                <a:gridCol w="4257675"/>
              </a:tblGrid>
              <a:tr h="701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类</a:t>
                      </a:r>
                      <a:r>
                        <a:rPr dirty="0" sz="2400" spc="13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型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158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适</a:t>
                      </a:r>
                      <a:r>
                        <a:rPr dirty="0" sz="2400" spc="-53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用</a:t>
                      </a:r>
                      <a:r>
                        <a:rPr dirty="0" sz="2400" spc="-53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性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158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437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剩余股利政策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198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股份公司有良好的投资机会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198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5590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5"/>
                        </a:spcBef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固定股利政策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2038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5"/>
                        </a:spcBef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经营比较稳定的股份公司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2038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9936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固定股利支付率股利政策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12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经营业绩稳步提高的股份公司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12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9845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低正常股利加额外股利政策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2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各年收益变化较大的股份公司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2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532891" y="1639316"/>
            <a:ext cx="392684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不同股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政策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800" spc="-245">
                <a:solidFill>
                  <a:srgbClr val="FFFFFF"/>
                </a:solidFill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76220" y="496316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股利政</a:t>
            </a:r>
            <a:r>
              <a:rPr dirty="0" spc="-20"/>
              <a:t>策</a:t>
            </a:r>
            <a:r>
              <a:rPr dirty="0" spc="5"/>
              <a:t>的</a:t>
            </a:r>
            <a:r>
              <a:rPr dirty="0" spc="-20"/>
              <a:t>实</a:t>
            </a:r>
            <a:r>
              <a:rPr dirty="0" spc="5"/>
              <a:t>施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1491" y="1496541"/>
            <a:ext cx="6268085" cy="4736465"/>
          </a:xfrm>
          <a:prstGeom prst="rect">
            <a:avLst/>
          </a:prstGeom>
        </p:spPr>
        <p:txBody>
          <a:bodyPr wrap="square" lIns="0" tIns="165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利润分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的顺序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1019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弥补亏损</a:t>
            </a:r>
            <a:endParaRPr sz="24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101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计提法定盈余公积金</a:t>
            </a:r>
            <a:endParaRPr sz="24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101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计提公益金</a:t>
            </a:r>
            <a:endParaRPr sz="24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115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计提任意盈余公积金</a:t>
            </a:r>
            <a:endParaRPr sz="24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84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向股东（投资者）支付股利（分配利润）</a:t>
            </a:r>
            <a:endParaRPr sz="24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975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现金股利</a:t>
            </a:r>
            <a:endParaRPr sz="20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84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股票股利</a:t>
            </a:r>
            <a:endParaRPr sz="20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84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财产股利</a:t>
            </a:r>
            <a:endParaRPr sz="20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84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负债股利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76220" y="496316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股利政</a:t>
            </a:r>
            <a:r>
              <a:rPr dirty="0" spc="-20"/>
              <a:t>策</a:t>
            </a:r>
            <a:r>
              <a:rPr dirty="0" spc="5"/>
              <a:t>的</a:t>
            </a:r>
            <a:r>
              <a:rPr dirty="0" spc="-20"/>
              <a:t>实</a:t>
            </a:r>
            <a:r>
              <a:rPr dirty="0" spc="5"/>
              <a:t>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2891" y="1639316"/>
            <a:ext cx="402780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6600"/>
                </a:solidFill>
                <a:latin typeface="Wingdings"/>
                <a:cs typeface="Wingdings"/>
              </a:rPr>
              <a:t></a:t>
            </a:r>
            <a:r>
              <a:rPr dirty="0" sz="2400" spc="-114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股票股利和股票分割之比较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76220" y="496316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股利政</a:t>
            </a:r>
            <a:r>
              <a:rPr dirty="0" spc="-20"/>
              <a:t>策</a:t>
            </a:r>
            <a:r>
              <a:rPr dirty="0" spc="5"/>
              <a:t>的</a:t>
            </a:r>
            <a:r>
              <a:rPr dirty="0" spc="-20"/>
              <a:t>实</a:t>
            </a:r>
            <a:r>
              <a:rPr dirty="0" spc="5"/>
              <a:t>施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73607" y="2340864"/>
          <a:ext cx="7952740" cy="3474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5410"/>
                <a:gridCol w="2642235"/>
                <a:gridCol w="2645410"/>
              </a:tblGrid>
              <a:tr h="4876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22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股票股利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B="0" marT="831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22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股票分割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B="0" marT="831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876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22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股东的</a:t>
                      </a:r>
                      <a:r>
                        <a:rPr dirty="0" sz="22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现</a:t>
                      </a:r>
                      <a:r>
                        <a:rPr dirty="0" sz="22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金流量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B="0" marT="831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22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不增加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B="0" marT="831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22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不增加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B="0" marT="831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364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22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流通股</a:t>
                      </a:r>
                      <a:r>
                        <a:rPr dirty="0" sz="22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股</a:t>
                      </a:r>
                      <a:r>
                        <a:rPr dirty="0" sz="22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数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B="0" marT="1047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22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增加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B="0" marT="1047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22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增加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B="0" marT="1047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876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22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股票市</a:t>
                      </a:r>
                      <a:r>
                        <a:rPr dirty="0" sz="22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场</a:t>
                      </a:r>
                      <a:r>
                        <a:rPr dirty="0" sz="22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价格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B="0" marT="831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22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下降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B="0" marT="831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22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下降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B="0" marT="831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876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22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股东权</a:t>
                      </a:r>
                      <a:r>
                        <a:rPr dirty="0" sz="22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益</a:t>
                      </a:r>
                      <a:r>
                        <a:rPr dirty="0" sz="22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总额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B="0" marT="831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22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不变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B="0" marT="831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22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不变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B="0" marT="831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876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22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股东权</a:t>
                      </a:r>
                      <a:r>
                        <a:rPr dirty="0" sz="22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益</a:t>
                      </a:r>
                      <a:r>
                        <a:rPr dirty="0" sz="22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结构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B="0" marT="831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22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变化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B="0" marT="831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22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不变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B="0" marT="831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876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22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收益限</a:t>
                      </a:r>
                      <a:r>
                        <a:rPr dirty="0" sz="22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制</a:t>
                      </a:r>
                      <a:r>
                        <a:rPr dirty="0" sz="22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程度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B="0" marT="831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22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有限制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B="0" marT="831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22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无限制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B="0" marT="831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2023-10-22T13:38:10Z</dcterms:created>
  <dcterms:modified xsi:type="dcterms:W3CDTF">2023-10-22T13:38:10Z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2006-06-02T00:00:00Z</vt:filetime>
  </property>
  <property fmtid="{D5CDD505-2E9C-101B-9397-08002B2CF9AE}" pid="3" name="LastSaved">
    <vt:filetime>2006-06-02T00:00:00Z</vt:filetime>
  </property>
</Properties>
</file>