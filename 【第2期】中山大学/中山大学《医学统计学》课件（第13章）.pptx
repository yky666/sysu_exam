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sldIdLst>
    <p:sldId id="304" r:id="rId2"/>
    <p:sldId id="305" r:id="rId3"/>
    <p:sldId id="310" r:id="rId4"/>
    <p:sldId id="311" r:id="rId5"/>
    <p:sldId id="312" r:id="rId6"/>
    <p:sldId id="257" r:id="rId7"/>
    <p:sldId id="259" r:id="rId8"/>
    <p:sldId id="260" r:id="rId9"/>
    <p:sldId id="262" r:id="rId10"/>
    <p:sldId id="287" r:id="rId11"/>
    <p:sldId id="288" r:id="rId12"/>
    <p:sldId id="291" r:id="rId13"/>
    <p:sldId id="290" r:id="rId14"/>
    <p:sldId id="289" r:id="rId15"/>
    <p:sldId id="292" r:id="rId16"/>
    <p:sldId id="263" r:id="rId17"/>
    <p:sldId id="265" r:id="rId18"/>
    <p:sldId id="267" r:id="rId19"/>
    <p:sldId id="269" r:id="rId20"/>
    <p:sldId id="270" r:id="rId21"/>
    <p:sldId id="271" r:id="rId22"/>
    <p:sldId id="294" r:id="rId23"/>
    <p:sldId id="295" r:id="rId24"/>
    <p:sldId id="293" r:id="rId25"/>
    <p:sldId id="274" r:id="rId26"/>
    <p:sldId id="275" r:id="rId27"/>
    <p:sldId id="309" r:id="rId28"/>
    <p:sldId id="313" r:id="rId29"/>
    <p:sldId id="314" r:id="rId30"/>
    <p:sldId id="315" r:id="rId31"/>
    <p:sldId id="276" r:id="rId32"/>
    <p:sldId id="296" r:id="rId33"/>
    <p:sldId id="277" r:id="rId34"/>
    <p:sldId id="299" r:id="rId35"/>
    <p:sldId id="300" r:id="rId36"/>
    <p:sldId id="297" r:id="rId37"/>
    <p:sldId id="298" r:id="rId38"/>
    <p:sldId id="301" r:id="rId39"/>
    <p:sldId id="278" r:id="rId40"/>
    <p:sldId id="302" r:id="rId41"/>
    <p:sldId id="303" r:id="rId42"/>
    <p:sldId id="280" r:id="rId43"/>
    <p:sldId id="281" r:id="rId44"/>
    <p:sldId id="283" r:id="rId45"/>
    <p:sldId id="284" r:id="rId46"/>
    <p:sldId id="306" r:id="rId47"/>
    <p:sldId id="316" r:id="rId48"/>
    <p:sldId id="307" r:id="rId49"/>
    <p:sldId id="317" r:id="rId50"/>
    <p:sldId id="318" r:id="rId51"/>
    <p:sldId id="319" r:id="rId52"/>
    <p:sldId id="308" r:id="rId5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8628" autoAdjust="0"/>
  </p:normalViewPr>
  <p:slideViewPr>
    <p:cSldViewPr>
      <p:cViewPr varScale="1">
        <p:scale>
          <a:sx n="113" d="100"/>
          <a:sy n="113" d="100"/>
        </p:scale>
        <p:origin x="153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0.xml"/><Relationship Id="rId1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69E7FB2B-6A68-4929-4C4F-40F4871702DD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51D1C7CC-DEB0-BF8C-8CB0-4FF015187990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  <a:solidFill>
            <a:srgbClr val="3366FF">
              <a:alpha val="50000"/>
            </a:srgbClr>
          </a:solidFill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E7FBA8ED-7340-A43B-84B0-A474BD2978D0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F4675275-2FD4-B27B-2413-E37A2C9511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29A8DD4C-763C-D7DC-C1FF-643E3A6E69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C20F6C7-CCD8-439E-97F9-C93FD3588AF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BF29F-A01D-9BA7-0E9A-37B21EBB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99ADDB-BE26-F909-5A75-345B349A0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7CD4F1-7863-65E7-5EEB-9DF92A49C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669976-06B4-11F9-27BA-DFAF083BA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1CCC91-1732-29E6-B74B-71CBAAE0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5F8CBC-69B6-471E-A73B-A974485A08B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36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5615CD-922E-9796-D924-84FF82D28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664173-741B-31AA-D5C9-4001329BA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F91B53-3D79-BC05-62E0-36E7E007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442E48-24E3-F451-1531-7D131BE8A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891EF2-6D83-763F-8D2B-829F307D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1A69A-0EA7-4EAC-8A13-939F159E15D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556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23141-74B3-A79D-64A4-6EE96B80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E0DB5-CFA4-826D-86F5-C1265DD7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C730C8-3EA0-3C61-EA78-1ACA60054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2C5EC2-C4B1-34CE-4090-7E8FA3BE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8C3964-573A-5C3D-0280-EE3499C1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82892F-8F39-6469-78A5-4C07439A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19FA5F-F8F4-48F8-B75C-773D8D6BC6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350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D71BC-7290-59A1-87F6-259640A2F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E616C4-03B6-BE3D-9522-F948C08E8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8EC020-8685-BB65-2CDD-09E5B834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85B587-1A0E-72E0-F769-F1A07ECDA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6039CC-00A3-B6BD-2225-02E4101EC1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BCB872-A7E9-CF4A-8B04-11F771E95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E609B3-305E-A94A-00F2-A27764C6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4FB9D4-BACA-C34D-FE44-36DD947A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957421-319B-40C6-9F1D-F26F82D1D1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280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F8EEA-76EC-AEDC-FA22-6AB60018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4DBA02-095A-B9E9-10FA-60CC02CFC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F92D45-BF35-A5CD-97D2-C70B6040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CE7667-F740-CFE7-BF2E-61DD9923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7274E-3FD0-4548-92C1-26D3DD7980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946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8E7AF3-41C3-A49F-4BDC-A6CFA2A9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873872-B3B5-DD40-7307-788125B8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BD81DC-4E0E-AE06-AC74-FF33BCEC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2FFA3-CE48-4D8B-B3EE-4544272111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436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5AD5F-FE8D-C6C9-E314-AD72973C5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04BBDF-8DCC-F4FB-A552-F0EBABBCD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8E50F6-4A0D-B198-0695-F435AF58E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A28DB3-64FA-9243-E048-9FC23B130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878E9-8027-09F6-F7DD-EDED8DFA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DC12E7-D073-6DF9-B367-7287CD95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6E5CCC-3D32-4612-9E5A-3740FC8838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301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BE470-70AA-2360-41D1-65E183E91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98B513-EDE9-39D5-67E2-C1B1BAB56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BA811B-A9D5-99CD-E204-D77200CBE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AA8CD8-7839-7494-5587-C57022F5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CD182F-78CC-F38F-22A7-17EC867C3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52C49E-1F88-26E9-35C0-A554EBE71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A448F3-4D04-4DD5-9EC9-658C40E69F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17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2F423-F40F-71FC-6B12-E5265DA9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22E686-3114-0EA7-B817-160E16B2B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771989-1AA6-5026-30B5-8BE3766B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D7031F-7704-8CFD-3D11-848261F34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79BFA1-EEDA-0DF0-5DED-600E61C5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F43407-C263-4A38-AAAD-BB2DA725B6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0679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9C011F-B92C-4D2B-13D1-18C2027CA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1667F3-4645-220D-C8F3-8389E40E1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1E500-8223-BFF1-2EC5-C4BAAAD1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CE709-111D-94DF-C1EA-EA3D93877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C35D08-8EFB-8058-434E-70812D67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99FC9-E28B-4C4F-AE0D-A25C9060A7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5104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16FCC-1EE2-6B84-7077-6E9881F3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27B3A2-009D-7862-01FE-F4017C63820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6BCE3-9DB9-FFC4-14EA-6ECDD554D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CDCE4B-77A9-25C8-2AD9-EEDAAF87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C869E7-1B5E-DE7D-D395-F34DD51F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AACE5B-3884-049C-43C4-372F6C16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54AC5D4-01FD-4721-9D2C-FE36C334D1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88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BD540C33-8B66-F3E5-1343-AE90E5809B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A38152B5-D7B7-358A-07BA-3DA610903ED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zh-CN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AB02FFEB-2003-0CB1-4256-EBABEE0BE8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zh-CN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2953E1B2-21AD-DB6D-6B35-C72BC668D9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12BFB88B-6942-4EA6-8C9A-249C833736E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7A4825D6-F71C-66AC-D579-D5D272FEA4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emf"/><Relationship Id="rId5" Type="http://schemas.openxmlformats.org/officeDocument/2006/relationships/image" Target="../media/image7.e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5.emf"/><Relationship Id="rId5" Type="http://schemas.openxmlformats.org/officeDocument/2006/relationships/image" Target="../media/image12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2.emf"/><Relationship Id="rId3" Type="http://schemas.openxmlformats.org/officeDocument/2006/relationships/image" Target="../media/image17.emf"/><Relationship Id="rId7" Type="http://schemas.openxmlformats.org/officeDocument/2006/relationships/image" Target="../media/image19.emf"/><Relationship Id="rId12" Type="http://schemas.openxmlformats.org/officeDocument/2006/relationships/oleObject" Target="../embeddings/oleObject20.bin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1.emf"/><Relationship Id="rId5" Type="http://schemas.openxmlformats.org/officeDocument/2006/relationships/image" Target="../media/image18.emf"/><Relationship Id="rId15" Type="http://schemas.openxmlformats.org/officeDocument/2006/relationships/image" Target="../media/image23.e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0.emf"/><Relationship Id="rId14" Type="http://schemas.openxmlformats.org/officeDocument/2006/relationships/oleObject" Target="../embeddings/oleObject21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9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>
            <a:extLst>
              <a:ext uri="{FF2B5EF4-FFF2-40B4-BE49-F238E27FC236}">
                <a16:creationId xmlns:a16="http://schemas.microsoft.com/office/drawing/2014/main" id="{7E71DDB1-CCD4-C602-FF70-54DEE5815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8288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CN" sz="4400" b="1"/>
              <a:t>Chapter 13 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4400" b="1"/>
              <a:t>Design of medical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39" name="Object 3">
            <a:extLst>
              <a:ext uri="{FF2B5EF4-FFF2-40B4-BE49-F238E27FC236}">
                <a16:creationId xmlns:a16="http://schemas.microsoft.com/office/drawing/2014/main" id="{751694BA-73DF-3DC5-2CA5-110411BB5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27013"/>
          <a:ext cx="9525000" cy="661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3764160" progId="Word.Document.8">
                  <p:embed/>
                </p:oleObj>
              </mc:Choice>
              <mc:Fallback>
                <p:oleObj name="Document" r:id="rId2" imgW="5420880" imgH="376416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7013"/>
                        <a:ext cx="9525000" cy="661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2" name="Object 2">
            <a:extLst>
              <a:ext uri="{FF2B5EF4-FFF2-40B4-BE49-F238E27FC236}">
                <a16:creationId xmlns:a16="http://schemas.microsoft.com/office/drawing/2014/main" id="{A021812D-EE03-E09E-B96E-17FEC49AD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55588"/>
          <a:ext cx="9144000" cy="668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3962520" progId="Word.Document.8">
                  <p:embed/>
                </p:oleObj>
              </mc:Choice>
              <mc:Fallback>
                <p:oleObj name="Document" r:id="rId2" imgW="5420880" imgH="396252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5588"/>
                        <a:ext cx="9144000" cy="668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6" name="Object 2">
            <a:extLst>
              <a:ext uri="{FF2B5EF4-FFF2-40B4-BE49-F238E27FC236}">
                <a16:creationId xmlns:a16="http://schemas.microsoft.com/office/drawing/2014/main" id="{2306291B-9FDC-C6E7-6403-04AA052479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381000"/>
          <a:ext cx="11353800" cy="580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2773800" progId="Word.Document.8">
                  <p:embed/>
                </p:oleObj>
              </mc:Choice>
              <mc:Fallback>
                <p:oleObj name="Document" r:id="rId2" imgW="5420880" imgH="27738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"/>
                        <a:ext cx="11353800" cy="580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583AC02F-F484-6B58-9CE2-68D709A5BE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The aim of research design: </a:t>
            </a:r>
          </a:p>
          <a:p>
            <a:r>
              <a:rPr lang="en-US" altLang="zh-CN" sz="3600" b="1"/>
              <a:t> To get a reliable result in the lowest cost of manpower, time and money;</a:t>
            </a:r>
          </a:p>
          <a:p>
            <a:r>
              <a:rPr lang="en-US" altLang="zh-CN" sz="3600" b="1"/>
              <a:t> To estimate the random error within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 the observed data;</a:t>
            </a:r>
          </a:p>
          <a:p>
            <a:r>
              <a:rPr lang="en-US" altLang="zh-CN" sz="3600" b="1"/>
              <a:t> To promote the efficiency of the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 research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There are two kinds of research:</a:t>
            </a:r>
            <a:r>
              <a:rPr lang="en-US" altLang="zh-CN" sz="3600" b="1"/>
              <a:t> </a:t>
            </a:r>
          </a:p>
          <a:p>
            <a:r>
              <a:rPr lang="en-US" altLang="zh-CN" sz="3600" b="1"/>
              <a:t> Laboratory experiment and Clinical trial</a:t>
            </a:r>
          </a:p>
          <a:p>
            <a:r>
              <a:rPr lang="en-US" altLang="zh-CN" sz="3600" b="1"/>
              <a:t> Medical survey</a:t>
            </a:r>
          </a:p>
          <a:p>
            <a:endParaRPr lang="en-US" altLang="zh-CN" sz="3600" b="1"/>
          </a:p>
          <a:p>
            <a:endParaRPr lang="en-US" altLang="zh-CN" sz="3600" b="1"/>
          </a:p>
          <a:p>
            <a:endParaRPr lang="en-US" altLang="zh-CN" sz="3600" b="1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5F04621-FBE1-7883-7008-DFFBF92F5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304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14D603-4C96-46C3-6DF2-914A4A36C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325563"/>
          </a:xfrm>
        </p:spPr>
        <p:txBody>
          <a:bodyPr/>
          <a:lstStyle/>
          <a:p>
            <a:r>
              <a:rPr lang="en-US" altLang="zh-CN" sz="4000" b="1"/>
              <a:t>13.1  Principles of research design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EFC839E-EDBC-AD31-BCFE-7CA5F0C31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410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endParaRPr lang="en-US" altLang="zh-CN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600" b="1"/>
              <a:t>1.  Control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600" b="1"/>
              <a:t>2.  Balance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600" b="1"/>
              <a:t>3.  Randomization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600" b="1"/>
              <a:t>4.  Replication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C66C49FA-8AA1-50DA-0869-CCFC20D3F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3600" b="1"/>
              <a:t>  1.  Control</a:t>
            </a:r>
          </a:p>
          <a:p>
            <a:r>
              <a:rPr lang="en-US" altLang="zh-CN" b="1"/>
              <a:t>If there is no control, then there is no comparison.</a:t>
            </a:r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</a:t>
            </a:r>
          </a:p>
          <a:p>
            <a:endParaRPr lang="en-US" altLang="zh-CN" b="1"/>
          </a:p>
          <a:p>
            <a:endParaRPr lang="en-US" altLang="zh-CN" b="1"/>
          </a:p>
        </p:txBody>
      </p:sp>
      <p:grpSp>
        <p:nvGrpSpPr>
          <p:cNvPr id="6419" name="Group 275">
            <a:extLst>
              <a:ext uri="{FF2B5EF4-FFF2-40B4-BE49-F238E27FC236}">
                <a16:creationId xmlns:a16="http://schemas.microsoft.com/office/drawing/2014/main" id="{2F0E04C8-3A52-0806-9C69-5225DDED9FE0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76400"/>
            <a:ext cx="8153400" cy="5181600"/>
            <a:chOff x="336" y="1056"/>
            <a:chExt cx="5136" cy="3264"/>
          </a:xfrm>
        </p:grpSpPr>
        <p:sp>
          <p:nvSpPr>
            <p:cNvPr id="6396" name="Oval 252">
              <a:extLst>
                <a:ext uri="{FF2B5EF4-FFF2-40B4-BE49-F238E27FC236}">
                  <a16:creationId xmlns:a16="http://schemas.microsoft.com/office/drawing/2014/main" id="{852A3FB4-7E8B-1FEF-8AAA-DB3632667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1322"/>
              <a:ext cx="750" cy="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97" name="Line 253">
              <a:extLst>
                <a:ext uri="{FF2B5EF4-FFF2-40B4-BE49-F238E27FC236}">
                  <a16:creationId xmlns:a16="http://schemas.microsoft.com/office/drawing/2014/main" id="{457A37E8-51DF-21BB-F142-A5076561D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0" y="1703"/>
              <a:ext cx="4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98" name="Line 254">
              <a:extLst>
                <a:ext uri="{FF2B5EF4-FFF2-40B4-BE49-F238E27FC236}">
                  <a16:creationId xmlns:a16="http://schemas.microsoft.com/office/drawing/2014/main" id="{2FAF66BD-A220-FB7C-5ADE-119847CB4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1981"/>
              <a:ext cx="170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99" name="Line 255">
              <a:extLst>
                <a:ext uri="{FF2B5EF4-FFF2-40B4-BE49-F238E27FC236}">
                  <a16:creationId xmlns:a16="http://schemas.microsoft.com/office/drawing/2014/main" id="{57F799DA-FC9F-403A-8584-A2DEA30D6E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1430"/>
              <a:ext cx="240" cy="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00" name="Line 256">
              <a:extLst>
                <a:ext uri="{FF2B5EF4-FFF2-40B4-BE49-F238E27FC236}">
                  <a16:creationId xmlns:a16="http://schemas.microsoft.com/office/drawing/2014/main" id="{4189CCCC-9CE0-88D7-D96C-DC85A5C2A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703"/>
              <a:ext cx="6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01" name="Text Box 257">
              <a:extLst>
                <a:ext uri="{FF2B5EF4-FFF2-40B4-BE49-F238E27FC236}">
                  <a16:creationId xmlns:a16="http://schemas.microsoft.com/office/drawing/2014/main" id="{7128E903-0B58-4153-D573-7C0CD8A95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056"/>
              <a:ext cx="80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402" name="Text Box 258">
              <a:extLst>
                <a:ext uri="{FF2B5EF4-FFF2-40B4-BE49-F238E27FC236}">
                  <a16:creationId xmlns:a16="http://schemas.microsoft.com/office/drawing/2014/main" id="{99A41729-7235-3E1F-8FB8-143828247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208"/>
              <a:ext cx="1680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  <p:sp>
          <p:nvSpPr>
            <p:cNvPr id="6403" name="Text Box 259">
              <a:extLst>
                <a:ext uri="{FF2B5EF4-FFF2-40B4-BE49-F238E27FC236}">
                  <a16:creationId xmlns:a16="http://schemas.microsoft.com/office/drawing/2014/main" id="{3C57ED8E-2498-2904-80CB-9677306B1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84"/>
              <a:ext cx="196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treatment</a:t>
              </a:r>
              <a:endParaRPr kumimoji="0" lang="en-US" altLang="zh-CN" sz="2800"/>
            </a:p>
          </p:txBody>
        </p:sp>
        <p:sp>
          <p:nvSpPr>
            <p:cNvPr id="6404" name="Text Box 260">
              <a:extLst>
                <a:ext uri="{FF2B5EF4-FFF2-40B4-BE49-F238E27FC236}">
                  <a16:creationId xmlns:a16="http://schemas.microsoft.com/office/drawing/2014/main" id="{5863B4C3-49E3-26DB-B598-C0A1F2A2F9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84"/>
              <a:ext cx="122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Treatment</a:t>
              </a:r>
              <a:endParaRPr kumimoji="0" lang="en-US" altLang="zh-CN" sz="2800"/>
            </a:p>
          </p:txBody>
        </p:sp>
        <p:sp>
          <p:nvSpPr>
            <p:cNvPr id="6405" name="Text Box 261">
              <a:extLst>
                <a:ext uri="{FF2B5EF4-FFF2-40B4-BE49-F238E27FC236}">
                  <a16:creationId xmlns:a16="http://schemas.microsoft.com/office/drawing/2014/main" id="{DDA4172B-FB0A-519C-9D18-1DA21B034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536"/>
              <a:ext cx="85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  <a:endParaRPr kumimoji="0" lang="en-US" altLang="zh-CN" sz="2800"/>
            </a:p>
          </p:txBody>
        </p:sp>
        <p:grpSp>
          <p:nvGrpSpPr>
            <p:cNvPr id="6418" name="Group 274">
              <a:extLst>
                <a:ext uri="{FF2B5EF4-FFF2-40B4-BE49-F238E27FC236}">
                  <a16:creationId xmlns:a16="http://schemas.microsoft.com/office/drawing/2014/main" id="{132239A6-047F-75CC-3F19-69E900625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3083"/>
              <a:ext cx="1997" cy="847"/>
              <a:chOff x="1488" y="3083"/>
              <a:chExt cx="1997" cy="847"/>
            </a:xfrm>
          </p:grpSpPr>
          <p:sp>
            <p:nvSpPr>
              <p:cNvPr id="6407" name="Oval 263">
                <a:extLst>
                  <a:ext uri="{FF2B5EF4-FFF2-40B4-BE49-F238E27FC236}">
                    <a16:creationId xmlns:a16="http://schemas.microsoft.com/office/drawing/2014/main" id="{1B22E948-DE98-E0AE-FB62-03E7E9CE4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4" y="3083"/>
                <a:ext cx="750" cy="73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08" name="Line 264">
                <a:extLst>
                  <a:ext uri="{FF2B5EF4-FFF2-40B4-BE49-F238E27FC236}">
                    <a16:creationId xmlns:a16="http://schemas.microsoft.com/office/drawing/2014/main" id="{4D8CAF3D-2895-F86B-9198-64711411B7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1" y="3465"/>
                <a:ext cx="4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09" name="Line 265">
                <a:extLst>
                  <a:ext uri="{FF2B5EF4-FFF2-40B4-BE49-F238E27FC236}">
                    <a16:creationId xmlns:a16="http://schemas.microsoft.com/office/drawing/2014/main" id="{69DB04F3-EED9-721A-68C7-B901F4BF5D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9" y="3742"/>
                <a:ext cx="171" cy="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10" name="Line 266">
                <a:extLst>
                  <a:ext uri="{FF2B5EF4-FFF2-40B4-BE49-F238E27FC236}">
                    <a16:creationId xmlns:a16="http://schemas.microsoft.com/office/drawing/2014/main" id="{648DC076-02AA-9C65-3358-DF0E6FA1E1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3191"/>
                <a:ext cx="24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11" name="Line 267">
                <a:extLst>
                  <a:ext uri="{FF2B5EF4-FFF2-40B4-BE49-F238E27FC236}">
                    <a16:creationId xmlns:a16="http://schemas.microsoft.com/office/drawing/2014/main" id="{4026AAEE-FBAD-8840-B0B5-4E4A70EC7B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3465"/>
                <a:ext cx="6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12" name="Text Box 268">
              <a:extLst>
                <a:ext uri="{FF2B5EF4-FFF2-40B4-BE49-F238E27FC236}">
                  <a16:creationId xmlns:a16="http://schemas.microsoft.com/office/drawing/2014/main" id="{0964C7AB-D522-2ADC-2791-83CE8DB91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801"/>
              <a:ext cx="80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413" name="Text Box 269">
              <a:extLst>
                <a:ext uri="{FF2B5EF4-FFF2-40B4-BE49-F238E27FC236}">
                  <a16:creationId xmlns:a16="http://schemas.microsoft.com/office/drawing/2014/main" id="{66ECDD4F-C2C1-DF64-BE07-0E5A9482F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272"/>
              <a:ext cx="1056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Control</a:t>
              </a:r>
              <a:endParaRPr kumimoji="0" lang="en-US" altLang="zh-CN" sz="2800"/>
            </a:p>
          </p:txBody>
        </p:sp>
        <p:sp>
          <p:nvSpPr>
            <p:cNvPr id="6414" name="Text Box 270">
              <a:extLst>
                <a:ext uri="{FF2B5EF4-FFF2-40B4-BE49-F238E27FC236}">
                  <a16:creationId xmlns:a16="http://schemas.microsoft.com/office/drawing/2014/main" id="{9D131095-F4CE-A66B-8221-DCF1A03C4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272"/>
              <a:ext cx="1728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control</a:t>
              </a:r>
            </a:p>
          </p:txBody>
        </p:sp>
        <p:sp>
          <p:nvSpPr>
            <p:cNvPr id="6415" name="Text Box 271">
              <a:extLst>
                <a:ext uri="{FF2B5EF4-FFF2-40B4-BE49-F238E27FC236}">
                  <a16:creationId xmlns:a16="http://schemas.microsoft.com/office/drawing/2014/main" id="{055DB77C-3D84-5319-A5C3-A148EE8B1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" y="3277"/>
              <a:ext cx="872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  <a:endParaRPr kumimoji="0" lang="en-US" altLang="zh-CN" sz="2800"/>
            </a:p>
          </p:txBody>
        </p:sp>
        <p:sp>
          <p:nvSpPr>
            <p:cNvPr id="6416" name="Text Box 272">
              <a:extLst>
                <a:ext uri="{FF2B5EF4-FFF2-40B4-BE49-F238E27FC236}">
                  <a16:creationId xmlns:a16="http://schemas.microsoft.com/office/drawing/2014/main" id="{BB89F33C-7C45-3D95-AF91-D2354D3AA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" y="3877"/>
              <a:ext cx="162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6462790D-7FC9-888D-C820-118CCA719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algn="just"/>
            <a:r>
              <a:rPr lang="en-US" altLang="zh-CN" b="1"/>
              <a:t>Some forms of control:</a:t>
            </a:r>
            <a:endParaRPr lang="en-US" altLang="zh-CN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(1) Empty control</a:t>
            </a:r>
            <a:endParaRPr lang="en-US" altLang="zh-CN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(2) Placebo control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(for animal, Experimental control)</a:t>
            </a:r>
            <a:endParaRPr lang="en-US" altLang="zh-CN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(3) Mutual control</a:t>
            </a:r>
            <a:endParaRPr lang="en-US" altLang="zh-CN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(4) Self control</a:t>
            </a:r>
            <a:endParaRPr lang="en-US" altLang="zh-CN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(5) Standard control</a:t>
            </a:r>
            <a:endParaRPr lang="en-US" altLang="zh-CN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(6) Historical control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C9746E98-3345-9F9C-EC13-E28E5C2C8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9163"/>
          </a:xfrm>
        </p:spPr>
        <p:txBody>
          <a:bodyPr/>
          <a:lstStyle/>
          <a:p>
            <a:r>
              <a:rPr lang="en-US" altLang="zh-CN" b="1"/>
              <a:t>(1) Empty control</a:t>
            </a:r>
            <a:endParaRPr lang="en-US" altLang="zh-CN"/>
          </a:p>
        </p:txBody>
      </p:sp>
      <p:grpSp>
        <p:nvGrpSpPr>
          <p:cNvPr id="62491" name="Group 27">
            <a:extLst>
              <a:ext uri="{FF2B5EF4-FFF2-40B4-BE49-F238E27FC236}">
                <a16:creationId xmlns:a16="http://schemas.microsoft.com/office/drawing/2014/main" id="{C3E73D59-5F47-518A-3C8F-08F44C303B9B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447800"/>
            <a:ext cx="8839200" cy="5105400"/>
            <a:chOff x="1248" y="1118"/>
            <a:chExt cx="3384" cy="2225"/>
          </a:xfrm>
        </p:grpSpPr>
        <p:sp>
          <p:nvSpPr>
            <p:cNvPr id="62469" name="Oval 5">
              <a:extLst>
                <a:ext uri="{FF2B5EF4-FFF2-40B4-BE49-F238E27FC236}">
                  <a16:creationId xmlns:a16="http://schemas.microsoft.com/office/drawing/2014/main" id="{AF9DA637-BF18-2851-A731-CE098F7B6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" y="1299"/>
              <a:ext cx="534" cy="5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0" name="Line 6">
              <a:extLst>
                <a:ext uri="{FF2B5EF4-FFF2-40B4-BE49-F238E27FC236}">
                  <a16:creationId xmlns:a16="http://schemas.microsoft.com/office/drawing/2014/main" id="{2EE75E4B-CC3C-0249-C598-EE751F8BD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559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1" name="Line 7">
              <a:extLst>
                <a:ext uri="{FF2B5EF4-FFF2-40B4-BE49-F238E27FC236}">
                  <a16:creationId xmlns:a16="http://schemas.microsoft.com/office/drawing/2014/main" id="{E2319FBD-0E25-A6F0-605A-35651EA20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1748"/>
              <a:ext cx="121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2" name="Line 8">
              <a:extLst>
                <a:ext uri="{FF2B5EF4-FFF2-40B4-BE49-F238E27FC236}">
                  <a16:creationId xmlns:a16="http://schemas.microsoft.com/office/drawing/2014/main" id="{0FA55FC0-4B8A-4705-2C62-79B87578E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0" y="1373"/>
              <a:ext cx="171" cy="1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3" name="Line 9">
              <a:extLst>
                <a:ext uri="{FF2B5EF4-FFF2-40B4-BE49-F238E27FC236}">
                  <a16:creationId xmlns:a16="http://schemas.microsoft.com/office/drawing/2014/main" id="{8E72F70A-1E8D-C6A9-68F5-1B6112BA3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2" y="155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4" name="Text Box 10">
              <a:extLst>
                <a:ext uri="{FF2B5EF4-FFF2-40B4-BE49-F238E27FC236}">
                  <a16:creationId xmlns:a16="http://schemas.microsoft.com/office/drawing/2014/main" id="{6F82C3B9-48C2-4FEC-942E-A34D2E9DE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2" y="1118"/>
              <a:ext cx="57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2475" name="Text Box 11">
              <a:extLst>
                <a:ext uri="{FF2B5EF4-FFF2-40B4-BE49-F238E27FC236}">
                  <a16:creationId xmlns:a16="http://schemas.microsoft.com/office/drawing/2014/main" id="{020B83BA-B1A3-805D-F4E3-677568B13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837"/>
              <a:ext cx="967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others</a:t>
              </a:r>
            </a:p>
          </p:txBody>
        </p:sp>
        <p:sp>
          <p:nvSpPr>
            <p:cNvPr id="62476" name="Text Box 12">
              <a:extLst>
                <a:ext uri="{FF2B5EF4-FFF2-40B4-BE49-F238E27FC236}">
                  <a16:creationId xmlns:a16="http://schemas.microsoft.com/office/drawing/2014/main" id="{DB69179F-76E5-9732-BD54-E0A0C8315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5" y="1390"/>
              <a:ext cx="1217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treatment</a:t>
              </a:r>
            </a:p>
          </p:txBody>
        </p:sp>
        <p:sp>
          <p:nvSpPr>
            <p:cNvPr id="62477" name="Text Box 13">
              <a:extLst>
                <a:ext uri="{FF2B5EF4-FFF2-40B4-BE49-F238E27FC236}">
                  <a16:creationId xmlns:a16="http://schemas.microsoft.com/office/drawing/2014/main" id="{8D95F735-8F3B-B371-033A-E69CBBDBA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420"/>
              <a:ext cx="734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Treatment</a:t>
              </a:r>
            </a:p>
          </p:txBody>
        </p:sp>
        <p:sp>
          <p:nvSpPr>
            <p:cNvPr id="62478" name="Text Box 14">
              <a:extLst>
                <a:ext uri="{FF2B5EF4-FFF2-40B4-BE49-F238E27FC236}">
                  <a16:creationId xmlns:a16="http://schemas.microsoft.com/office/drawing/2014/main" id="{D3E713F9-C44B-CD53-1F53-972F367DA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1" y="1396"/>
              <a:ext cx="573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</a:p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   A</a:t>
              </a:r>
            </a:p>
          </p:txBody>
        </p:sp>
        <p:grpSp>
          <p:nvGrpSpPr>
            <p:cNvPr id="62490" name="Group 26">
              <a:extLst>
                <a:ext uri="{FF2B5EF4-FFF2-40B4-BE49-F238E27FC236}">
                  <a16:creationId xmlns:a16="http://schemas.microsoft.com/office/drawing/2014/main" id="{3423B35B-7FF7-AAC5-798F-3702BFFD51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2" y="2500"/>
              <a:ext cx="1422" cy="577"/>
              <a:chOff x="1982" y="2500"/>
              <a:chExt cx="1422" cy="577"/>
            </a:xfrm>
          </p:grpSpPr>
          <p:sp>
            <p:nvSpPr>
              <p:cNvPr id="62480" name="Oval 16">
                <a:extLst>
                  <a:ext uri="{FF2B5EF4-FFF2-40B4-BE49-F238E27FC236}">
                    <a16:creationId xmlns:a16="http://schemas.microsoft.com/office/drawing/2014/main" id="{56AF9C75-3AA4-459B-3E24-F7315DE94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4" y="2500"/>
                <a:ext cx="534" cy="49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81" name="Line 17">
                <a:extLst>
                  <a:ext uri="{FF2B5EF4-FFF2-40B4-BE49-F238E27FC236}">
                    <a16:creationId xmlns:a16="http://schemas.microsoft.com/office/drawing/2014/main" id="{47700BB4-C72A-531F-EFFE-E776C5C74C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6" y="27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82" name="Line 18">
                <a:extLst>
                  <a:ext uri="{FF2B5EF4-FFF2-40B4-BE49-F238E27FC236}">
                    <a16:creationId xmlns:a16="http://schemas.microsoft.com/office/drawing/2014/main" id="{B81C9DAE-3F7F-2A0A-2B6E-600D699F0B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949"/>
                <a:ext cx="121" cy="1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83" name="Line 19">
                <a:extLst>
                  <a:ext uri="{FF2B5EF4-FFF2-40B4-BE49-F238E27FC236}">
                    <a16:creationId xmlns:a16="http://schemas.microsoft.com/office/drawing/2014/main" id="{1A4BB8B1-3710-36CD-716B-4AB89B2D2B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0" y="2574"/>
                <a:ext cx="171" cy="1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84" name="Line 20">
                <a:extLst>
                  <a:ext uri="{FF2B5EF4-FFF2-40B4-BE49-F238E27FC236}">
                    <a16:creationId xmlns:a16="http://schemas.microsoft.com/office/drawing/2014/main" id="{6DACF684-AAC5-2EFD-4F12-F5FEB560A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2" y="276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2485" name="Text Box 21">
              <a:extLst>
                <a:ext uri="{FF2B5EF4-FFF2-40B4-BE49-F238E27FC236}">
                  <a16:creationId xmlns:a16="http://schemas.microsoft.com/office/drawing/2014/main" id="{1200EF6E-9E87-83D2-DE1F-ED9CCEC96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" y="2308"/>
              <a:ext cx="57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2486" name="Text Box 22">
              <a:extLst>
                <a:ext uri="{FF2B5EF4-FFF2-40B4-BE49-F238E27FC236}">
                  <a16:creationId xmlns:a16="http://schemas.microsoft.com/office/drawing/2014/main" id="{BEE252D3-BAD3-0EE6-AC32-B1529FB0A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628"/>
              <a:ext cx="590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endParaRPr kumimoji="0" lang="zh-CN" altLang="zh-CN" sz="1600"/>
            </a:p>
          </p:txBody>
        </p:sp>
        <p:sp>
          <p:nvSpPr>
            <p:cNvPr id="62487" name="Text Box 23">
              <a:extLst>
                <a:ext uri="{FF2B5EF4-FFF2-40B4-BE49-F238E27FC236}">
                  <a16:creationId xmlns:a16="http://schemas.microsoft.com/office/drawing/2014/main" id="{0DAC2310-CC7C-6091-7D71-56C067AA1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" y="2628"/>
              <a:ext cx="1019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endParaRPr kumimoji="0" lang="zh-CN" altLang="zh-CN" sz="1000"/>
            </a:p>
          </p:txBody>
        </p:sp>
        <p:sp>
          <p:nvSpPr>
            <p:cNvPr id="62488" name="Text Box 24">
              <a:extLst>
                <a:ext uri="{FF2B5EF4-FFF2-40B4-BE49-F238E27FC236}">
                  <a16:creationId xmlns:a16="http://schemas.microsoft.com/office/drawing/2014/main" id="{E022627A-DDA9-B2A9-103A-60DB9991D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602"/>
              <a:ext cx="567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</a:p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   B</a:t>
              </a:r>
            </a:p>
          </p:txBody>
        </p:sp>
        <p:sp>
          <p:nvSpPr>
            <p:cNvPr id="62489" name="Text Box 25">
              <a:extLst>
                <a:ext uri="{FF2B5EF4-FFF2-40B4-BE49-F238E27FC236}">
                  <a16:creationId xmlns:a16="http://schemas.microsoft.com/office/drawing/2014/main" id="{3830E00F-C562-8892-A14E-910F41475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" y="3041"/>
              <a:ext cx="967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others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C659632-001A-691C-7BA5-D850D694F7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(2) Placebo control</a:t>
            </a:r>
          </a:p>
        </p:txBody>
      </p:sp>
      <p:grpSp>
        <p:nvGrpSpPr>
          <p:cNvPr id="63492" name="Group 4">
            <a:extLst>
              <a:ext uri="{FF2B5EF4-FFF2-40B4-BE49-F238E27FC236}">
                <a16:creationId xmlns:a16="http://schemas.microsoft.com/office/drawing/2014/main" id="{0BA87963-A1C8-C3C1-DCF6-D942AB12BA2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76400"/>
            <a:ext cx="8153400" cy="5181600"/>
            <a:chOff x="336" y="1056"/>
            <a:chExt cx="5136" cy="3264"/>
          </a:xfrm>
        </p:grpSpPr>
        <p:sp>
          <p:nvSpPr>
            <p:cNvPr id="63493" name="Oval 5">
              <a:extLst>
                <a:ext uri="{FF2B5EF4-FFF2-40B4-BE49-F238E27FC236}">
                  <a16:creationId xmlns:a16="http://schemas.microsoft.com/office/drawing/2014/main" id="{15BFD101-9021-FCAB-018C-51CC33C2C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1322"/>
              <a:ext cx="750" cy="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4" name="Line 6">
              <a:extLst>
                <a:ext uri="{FF2B5EF4-FFF2-40B4-BE49-F238E27FC236}">
                  <a16:creationId xmlns:a16="http://schemas.microsoft.com/office/drawing/2014/main" id="{DDBA2113-391F-8C99-8716-1E6BAD736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0" y="1703"/>
              <a:ext cx="4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5" name="Line 7">
              <a:extLst>
                <a:ext uri="{FF2B5EF4-FFF2-40B4-BE49-F238E27FC236}">
                  <a16:creationId xmlns:a16="http://schemas.microsoft.com/office/drawing/2014/main" id="{077E38D8-5876-0EE3-6DC7-45D362208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1981"/>
              <a:ext cx="170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6" name="Line 8">
              <a:extLst>
                <a:ext uri="{FF2B5EF4-FFF2-40B4-BE49-F238E27FC236}">
                  <a16:creationId xmlns:a16="http://schemas.microsoft.com/office/drawing/2014/main" id="{798FC8A1-2B35-64AE-DA92-186138CCF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1430"/>
              <a:ext cx="240" cy="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7" name="Line 9">
              <a:extLst>
                <a:ext uri="{FF2B5EF4-FFF2-40B4-BE49-F238E27FC236}">
                  <a16:creationId xmlns:a16="http://schemas.microsoft.com/office/drawing/2014/main" id="{32CD64E7-EB34-AD46-1E7D-CD656A625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703"/>
              <a:ext cx="6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98" name="Text Box 10">
              <a:extLst>
                <a:ext uri="{FF2B5EF4-FFF2-40B4-BE49-F238E27FC236}">
                  <a16:creationId xmlns:a16="http://schemas.microsoft.com/office/drawing/2014/main" id="{A6068C08-DC7C-FFDA-A69B-12936C613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056"/>
              <a:ext cx="80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3499" name="Text Box 11">
              <a:extLst>
                <a:ext uri="{FF2B5EF4-FFF2-40B4-BE49-F238E27FC236}">
                  <a16:creationId xmlns:a16="http://schemas.microsoft.com/office/drawing/2014/main" id="{A00942F0-5EE9-D0DE-13FD-26392F542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208"/>
              <a:ext cx="1680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  <p:sp>
          <p:nvSpPr>
            <p:cNvPr id="63500" name="Text Box 12">
              <a:extLst>
                <a:ext uri="{FF2B5EF4-FFF2-40B4-BE49-F238E27FC236}">
                  <a16:creationId xmlns:a16="http://schemas.microsoft.com/office/drawing/2014/main" id="{6245BCE0-9923-CAE8-41AD-9A58C29CF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84"/>
              <a:ext cx="196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treatment</a:t>
              </a:r>
              <a:endParaRPr kumimoji="0" lang="en-US" altLang="zh-CN" sz="2800"/>
            </a:p>
          </p:txBody>
        </p:sp>
        <p:sp>
          <p:nvSpPr>
            <p:cNvPr id="63501" name="Text Box 13">
              <a:extLst>
                <a:ext uri="{FF2B5EF4-FFF2-40B4-BE49-F238E27FC236}">
                  <a16:creationId xmlns:a16="http://schemas.microsoft.com/office/drawing/2014/main" id="{A436CB85-BB5D-CBB5-9034-145DB9DD7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84"/>
              <a:ext cx="122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Treatment</a:t>
              </a:r>
              <a:endParaRPr kumimoji="0" lang="en-US" altLang="zh-CN" sz="2800"/>
            </a:p>
          </p:txBody>
        </p:sp>
        <p:sp>
          <p:nvSpPr>
            <p:cNvPr id="63502" name="Text Box 14">
              <a:extLst>
                <a:ext uri="{FF2B5EF4-FFF2-40B4-BE49-F238E27FC236}">
                  <a16:creationId xmlns:a16="http://schemas.microsoft.com/office/drawing/2014/main" id="{3ABD793F-4FED-31A1-9C0F-3450B2AD6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536"/>
              <a:ext cx="85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</a:p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  A</a:t>
              </a:r>
              <a:endParaRPr kumimoji="0" lang="en-US" altLang="zh-CN" sz="2800"/>
            </a:p>
          </p:txBody>
        </p:sp>
        <p:grpSp>
          <p:nvGrpSpPr>
            <p:cNvPr id="63503" name="Group 15">
              <a:extLst>
                <a:ext uri="{FF2B5EF4-FFF2-40B4-BE49-F238E27FC236}">
                  <a16:creationId xmlns:a16="http://schemas.microsoft.com/office/drawing/2014/main" id="{39BE8736-0EF3-7A90-D104-A508F956FA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3083"/>
              <a:ext cx="1997" cy="847"/>
              <a:chOff x="1488" y="3083"/>
              <a:chExt cx="1997" cy="847"/>
            </a:xfrm>
          </p:grpSpPr>
          <p:sp>
            <p:nvSpPr>
              <p:cNvPr id="63504" name="Oval 16">
                <a:extLst>
                  <a:ext uri="{FF2B5EF4-FFF2-40B4-BE49-F238E27FC236}">
                    <a16:creationId xmlns:a16="http://schemas.microsoft.com/office/drawing/2014/main" id="{FA1EBF1A-29E2-E9BC-D819-69F147A4F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4" y="3083"/>
                <a:ext cx="750" cy="73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5" name="Line 17">
                <a:extLst>
                  <a:ext uri="{FF2B5EF4-FFF2-40B4-BE49-F238E27FC236}">
                    <a16:creationId xmlns:a16="http://schemas.microsoft.com/office/drawing/2014/main" id="{DE2E2A3F-C2B4-30BC-11C4-CF445172D4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1" y="3465"/>
                <a:ext cx="4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6" name="Line 18">
                <a:extLst>
                  <a:ext uri="{FF2B5EF4-FFF2-40B4-BE49-F238E27FC236}">
                    <a16:creationId xmlns:a16="http://schemas.microsoft.com/office/drawing/2014/main" id="{DEA7682B-A7F3-0A0B-7279-83E8419F5F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9" y="3742"/>
                <a:ext cx="171" cy="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7" name="Line 19">
                <a:extLst>
                  <a:ext uri="{FF2B5EF4-FFF2-40B4-BE49-F238E27FC236}">
                    <a16:creationId xmlns:a16="http://schemas.microsoft.com/office/drawing/2014/main" id="{1F45CA3B-C628-6D66-03AB-0CC311AE1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3191"/>
                <a:ext cx="24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8" name="Line 20">
                <a:extLst>
                  <a:ext uri="{FF2B5EF4-FFF2-40B4-BE49-F238E27FC236}">
                    <a16:creationId xmlns:a16="http://schemas.microsoft.com/office/drawing/2014/main" id="{B7B9FBC2-E9AB-A1AF-451E-0470241A0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3465"/>
                <a:ext cx="6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509" name="Text Box 21">
              <a:extLst>
                <a:ext uri="{FF2B5EF4-FFF2-40B4-BE49-F238E27FC236}">
                  <a16:creationId xmlns:a16="http://schemas.microsoft.com/office/drawing/2014/main" id="{F9D41C27-9B0A-B1D4-A049-E503007F1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801"/>
              <a:ext cx="80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3510" name="Text Box 22">
              <a:extLst>
                <a:ext uri="{FF2B5EF4-FFF2-40B4-BE49-F238E27FC236}">
                  <a16:creationId xmlns:a16="http://schemas.microsoft.com/office/drawing/2014/main" id="{6C2B34DC-943C-C648-620D-95F2FF58D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272"/>
              <a:ext cx="1056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Placebo</a:t>
              </a:r>
              <a:endParaRPr kumimoji="0" lang="en-US" altLang="zh-CN" sz="2800"/>
            </a:p>
          </p:txBody>
        </p:sp>
        <p:sp>
          <p:nvSpPr>
            <p:cNvPr id="63511" name="Text Box 23">
              <a:extLst>
                <a:ext uri="{FF2B5EF4-FFF2-40B4-BE49-F238E27FC236}">
                  <a16:creationId xmlns:a16="http://schemas.microsoft.com/office/drawing/2014/main" id="{5EAD36AD-31B2-1E7B-204F-EEEDDE6FE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272"/>
              <a:ext cx="1728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placebo</a:t>
              </a:r>
            </a:p>
          </p:txBody>
        </p:sp>
        <p:sp>
          <p:nvSpPr>
            <p:cNvPr id="63512" name="Text Box 24">
              <a:extLst>
                <a:ext uri="{FF2B5EF4-FFF2-40B4-BE49-F238E27FC236}">
                  <a16:creationId xmlns:a16="http://schemas.microsoft.com/office/drawing/2014/main" id="{D331F120-E400-7FC5-36BC-B22BCAFBC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" y="3277"/>
              <a:ext cx="872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</a:p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  B</a:t>
              </a:r>
              <a:endParaRPr kumimoji="0" lang="en-US" altLang="zh-CN" sz="2800"/>
            </a:p>
          </p:txBody>
        </p:sp>
        <p:sp>
          <p:nvSpPr>
            <p:cNvPr id="63513" name="Text Box 25">
              <a:extLst>
                <a:ext uri="{FF2B5EF4-FFF2-40B4-BE49-F238E27FC236}">
                  <a16:creationId xmlns:a16="http://schemas.microsoft.com/office/drawing/2014/main" id="{74B2AF87-36C4-D787-0C6C-E44B535E0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" y="3877"/>
              <a:ext cx="162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57C3F6A-1BCC-9C26-1498-A81481AF78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57225"/>
          </a:xfrm>
        </p:spPr>
        <p:txBody>
          <a:bodyPr/>
          <a:lstStyle/>
          <a:p>
            <a:br>
              <a:rPr lang="en-US" altLang="zh-CN" b="1"/>
            </a:br>
            <a:r>
              <a:rPr lang="en-US" altLang="zh-CN" b="1"/>
              <a:t>(3) Mutual control</a:t>
            </a:r>
            <a:br>
              <a:rPr lang="en-US" altLang="zh-CN"/>
            </a:br>
            <a:endParaRPr lang="en-US" altLang="zh-CN"/>
          </a:p>
        </p:txBody>
      </p:sp>
      <p:grpSp>
        <p:nvGrpSpPr>
          <p:cNvPr id="66587" name="Group 27">
            <a:extLst>
              <a:ext uri="{FF2B5EF4-FFF2-40B4-BE49-F238E27FC236}">
                <a16:creationId xmlns:a16="http://schemas.microsoft.com/office/drawing/2014/main" id="{B31D0D6B-93FF-72C0-F20F-1CA2C210521D}"/>
              </a:ext>
            </a:extLst>
          </p:cNvPr>
          <p:cNvGrpSpPr>
            <a:grpSpLocks/>
          </p:cNvGrpSpPr>
          <p:nvPr/>
        </p:nvGrpSpPr>
        <p:grpSpPr bwMode="auto">
          <a:xfrm>
            <a:off x="-188913" y="1676400"/>
            <a:ext cx="9504363" cy="5181600"/>
            <a:chOff x="-119" y="1056"/>
            <a:chExt cx="5987" cy="3264"/>
          </a:xfrm>
        </p:grpSpPr>
        <p:sp>
          <p:nvSpPr>
            <p:cNvPr id="66565" name="Oval 5">
              <a:extLst>
                <a:ext uri="{FF2B5EF4-FFF2-40B4-BE49-F238E27FC236}">
                  <a16:creationId xmlns:a16="http://schemas.microsoft.com/office/drawing/2014/main" id="{E2B6B2D5-F8A3-0B45-5474-A66C46818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6" y="1322"/>
              <a:ext cx="1022" cy="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66" name="Line 6">
              <a:extLst>
                <a:ext uri="{FF2B5EF4-FFF2-40B4-BE49-F238E27FC236}">
                  <a16:creationId xmlns:a16="http://schemas.microsoft.com/office/drawing/2014/main" id="{EACC75AE-A1AE-09D5-7AC7-70A7D4E62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2" y="1680"/>
              <a:ext cx="55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67" name="Line 7">
              <a:extLst>
                <a:ext uri="{FF2B5EF4-FFF2-40B4-BE49-F238E27FC236}">
                  <a16:creationId xmlns:a16="http://schemas.microsoft.com/office/drawing/2014/main" id="{E6D3E1EA-2620-C1C9-C597-3E80B002D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2" y="2062"/>
              <a:ext cx="232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68" name="Line 8">
              <a:extLst>
                <a:ext uri="{FF2B5EF4-FFF2-40B4-BE49-F238E27FC236}">
                  <a16:creationId xmlns:a16="http://schemas.microsoft.com/office/drawing/2014/main" id="{083756FB-096B-92B5-3468-D0A5F63C93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1430"/>
              <a:ext cx="327" cy="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69" name="Line 9">
              <a:extLst>
                <a:ext uri="{FF2B5EF4-FFF2-40B4-BE49-F238E27FC236}">
                  <a16:creationId xmlns:a16="http://schemas.microsoft.com/office/drawing/2014/main" id="{430B0A4B-511B-DD21-A29C-F37153AB0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3" y="1703"/>
              <a:ext cx="82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0" name="Text Box 10">
              <a:extLst>
                <a:ext uri="{FF2B5EF4-FFF2-40B4-BE49-F238E27FC236}">
                  <a16:creationId xmlns:a16="http://schemas.microsoft.com/office/drawing/2014/main" id="{A58A3644-FF3F-EE77-3C1D-9173A81CB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0" y="1056"/>
              <a:ext cx="1104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6571" name="Text Box 11">
              <a:extLst>
                <a:ext uri="{FF2B5EF4-FFF2-40B4-BE49-F238E27FC236}">
                  <a16:creationId xmlns:a16="http://schemas.microsoft.com/office/drawing/2014/main" id="{8F2C1735-C4B8-6DC6-8CD6-2459BC112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6" y="2208"/>
              <a:ext cx="2292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  <p:sp>
          <p:nvSpPr>
            <p:cNvPr id="66572" name="Text Box 12">
              <a:extLst>
                <a:ext uri="{FF2B5EF4-FFF2-40B4-BE49-F238E27FC236}">
                  <a16:creationId xmlns:a16="http://schemas.microsoft.com/office/drawing/2014/main" id="{2F365EDD-3827-AFDE-E9B0-79CBDFB69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449"/>
              <a:ext cx="158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</a:t>
              </a:r>
            </a:p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Treatment A</a:t>
              </a:r>
              <a:endParaRPr kumimoji="0" lang="en-US" altLang="zh-CN" sz="2800"/>
            </a:p>
          </p:txBody>
        </p:sp>
        <p:sp>
          <p:nvSpPr>
            <p:cNvPr id="66573" name="Text Box 13">
              <a:extLst>
                <a:ext uri="{FF2B5EF4-FFF2-40B4-BE49-F238E27FC236}">
                  <a16:creationId xmlns:a16="http://schemas.microsoft.com/office/drawing/2014/main" id="{120FE0B2-3005-E041-F28C-1788AE28E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9" y="1584"/>
              <a:ext cx="1666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 Treatment I</a:t>
              </a:r>
            </a:p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      </a:t>
              </a:r>
              <a:endParaRPr kumimoji="0" lang="en-US" altLang="zh-CN" sz="2800"/>
            </a:p>
          </p:txBody>
        </p:sp>
        <p:sp>
          <p:nvSpPr>
            <p:cNvPr id="66574" name="Text Box 14">
              <a:extLst>
                <a:ext uri="{FF2B5EF4-FFF2-40B4-BE49-F238E27FC236}">
                  <a16:creationId xmlns:a16="http://schemas.microsoft.com/office/drawing/2014/main" id="{D9A846AA-4850-F7FE-E6E2-DCF7D8944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1" y="1473"/>
              <a:ext cx="116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</a:p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  A</a:t>
              </a:r>
              <a:endParaRPr kumimoji="0" lang="en-US" altLang="zh-CN" sz="2800"/>
            </a:p>
          </p:txBody>
        </p:sp>
        <p:grpSp>
          <p:nvGrpSpPr>
            <p:cNvPr id="66586" name="Group 26">
              <a:extLst>
                <a:ext uri="{FF2B5EF4-FFF2-40B4-BE49-F238E27FC236}">
                  <a16:creationId xmlns:a16="http://schemas.microsoft.com/office/drawing/2014/main" id="{434DD76C-CB15-F726-C148-8A65C949BE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7" y="3074"/>
              <a:ext cx="2480" cy="847"/>
              <a:chOff x="1587" y="3074"/>
              <a:chExt cx="2480" cy="847"/>
            </a:xfrm>
          </p:grpSpPr>
          <p:sp>
            <p:nvSpPr>
              <p:cNvPr id="66576" name="Oval 16">
                <a:extLst>
                  <a:ext uri="{FF2B5EF4-FFF2-40B4-BE49-F238E27FC236}">
                    <a16:creationId xmlns:a16="http://schemas.microsoft.com/office/drawing/2014/main" id="{F0DB4467-9EE5-C1A9-C673-828CA84D73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8" y="3074"/>
                <a:ext cx="1022" cy="73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7" name="Line 17">
                <a:extLst>
                  <a:ext uri="{FF2B5EF4-FFF2-40B4-BE49-F238E27FC236}">
                    <a16:creationId xmlns:a16="http://schemas.microsoft.com/office/drawing/2014/main" id="{7975AD6B-2D7C-8968-7556-09A00FD74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6" y="3456"/>
                <a:ext cx="5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8" name="Line 18">
                <a:extLst>
                  <a:ext uri="{FF2B5EF4-FFF2-40B4-BE49-F238E27FC236}">
                    <a16:creationId xmlns:a16="http://schemas.microsoft.com/office/drawing/2014/main" id="{E68CDF23-12E7-723F-54B9-5A966505E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3" y="3733"/>
                <a:ext cx="234" cy="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9" name="Line 19">
                <a:extLst>
                  <a:ext uri="{FF2B5EF4-FFF2-40B4-BE49-F238E27FC236}">
                    <a16:creationId xmlns:a16="http://schemas.microsoft.com/office/drawing/2014/main" id="{21701582-03C8-BC88-7A24-8FFCF73EE4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8" y="3182"/>
                <a:ext cx="327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0" name="Line 20">
                <a:extLst>
                  <a:ext uri="{FF2B5EF4-FFF2-40B4-BE49-F238E27FC236}">
                    <a16:creationId xmlns:a16="http://schemas.microsoft.com/office/drawing/2014/main" id="{5D0A108E-4D65-2FEF-904A-02EAC7513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7" y="3456"/>
                <a:ext cx="8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581" name="Text Box 21">
              <a:extLst>
                <a:ext uri="{FF2B5EF4-FFF2-40B4-BE49-F238E27FC236}">
                  <a16:creationId xmlns:a16="http://schemas.microsoft.com/office/drawing/2014/main" id="{9553CEA5-232E-A2F0-503E-5770883DC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2801"/>
              <a:ext cx="1102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6582" name="Text Box 22">
              <a:extLst>
                <a:ext uri="{FF2B5EF4-FFF2-40B4-BE49-F238E27FC236}">
                  <a16:creationId xmlns:a16="http://schemas.microsoft.com/office/drawing/2014/main" id="{0ED54C11-69C0-C4F8-DC25-F58055976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" y="3272"/>
              <a:ext cx="1440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Treatment II</a:t>
              </a:r>
            </a:p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      </a:t>
              </a:r>
              <a:endParaRPr kumimoji="0" lang="en-US" altLang="zh-CN" sz="2800"/>
            </a:p>
          </p:txBody>
        </p:sp>
        <p:sp>
          <p:nvSpPr>
            <p:cNvPr id="66583" name="Text Box 23">
              <a:extLst>
                <a:ext uri="{FF2B5EF4-FFF2-40B4-BE49-F238E27FC236}">
                  <a16:creationId xmlns:a16="http://schemas.microsoft.com/office/drawing/2014/main" id="{27B77398-F078-F3BD-62E8-09FFA39E0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2" y="3162"/>
              <a:ext cx="177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</a:t>
              </a:r>
            </a:p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Treatment B</a:t>
              </a:r>
            </a:p>
          </p:txBody>
        </p:sp>
        <p:sp>
          <p:nvSpPr>
            <p:cNvPr id="66584" name="Text Box 24">
              <a:extLst>
                <a:ext uri="{FF2B5EF4-FFF2-40B4-BE49-F238E27FC236}">
                  <a16:creationId xmlns:a16="http://schemas.microsoft.com/office/drawing/2014/main" id="{217CE741-9993-4FCA-E965-7948A3DE5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192"/>
              <a:ext cx="1188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  Subject</a:t>
              </a:r>
            </a:p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            B</a:t>
              </a:r>
              <a:endParaRPr kumimoji="0" lang="en-US" altLang="zh-CN" sz="2800"/>
            </a:p>
          </p:txBody>
        </p:sp>
        <p:sp>
          <p:nvSpPr>
            <p:cNvPr id="66585" name="Text Box 25">
              <a:extLst>
                <a:ext uri="{FF2B5EF4-FFF2-40B4-BE49-F238E27FC236}">
                  <a16:creationId xmlns:a16="http://schemas.microsoft.com/office/drawing/2014/main" id="{C499D337-9BF2-10DA-861E-4564B5C0B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3877"/>
              <a:ext cx="221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5D1B5B34-57F3-D16B-E25F-67B053BAE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57225"/>
          </a:xfrm>
        </p:spPr>
        <p:txBody>
          <a:bodyPr/>
          <a:lstStyle/>
          <a:p>
            <a:br>
              <a:rPr lang="en-US" altLang="zh-CN" b="1"/>
            </a:br>
            <a:r>
              <a:rPr lang="en-US" altLang="zh-CN" b="1"/>
              <a:t>(4) Self control</a:t>
            </a:r>
            <a:br>
              <a:rPr lang="en-US" altLang="zh-CN"/>
            </a:br>
            <a:endParaRPr lang="en-US" altLang="zh-CN"/>
          </a:p>
        </p:txBody>
      </p:sp>
      <p:grpSp>
        <p:nvGrpSpPr>
          <p:cNvPr id="65540" name="Group 4">
            <a:extLst>
              <a:ext uri="{FF2B5EF4-FFF2-40B4-BE49-F238E27FC236}">
                <a16:creationId xmlns:a16="http://schemas.microsoft.com/office/drawing/2014/main" id="{96E59E8C-7E2B-9C85-C849-321233FA5EE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76400"/>
            <a:ext cx="8153400" cy="5181600"/>
            <a:chOff x="336" y="1056"/>
            <a:chExt cx="5136" cy="3264"/>
          </a:xfrm>
        </p:grpSpPr>
        <p:sp>
          <p:nvSpPr>
            <p:cNvPr id="65541" name="Oval 5">
              <a:extLst>
                <a:ext uri="{FF2B5EF4-FFF2-40B4-BE49-F238E27FC236}">
                  <a16:creationId xmlns:a16="http://schemas.microsoft.com/office/drawing/2014/main" id="{7A80E0EA-912F-2023-D974-CCA8623DC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1322"/>
              <a:ext cx="750" cy="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2" name="Line 6">
              <a:extLst>
                <a:ext uri="{FF2B5EF4-FFF2-40B4-BE49-F238E27FC236}">
                  <a16:creationId xmlns:a16="http://schemas.microsoft.com/office/drawing/2014/main" id="{E9C600D8-6C12-E5CE-BB9D-DC5D2CCDD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0" y="1703"/>
              <a:ext cx="4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3" name="Line 7">
              <a:extLst>
                <a:ext uri="{FF2B5EF4-FFF2-40B4-BE49-F238E27FC236}">
                  <a16:creationId xmlns:a16="http://schemas.microsoft.com/office/drawing/2014/main" id="{64D57496-0AD3-CAB6-D4DC-2D2339539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1981"/>
              <a:ext cx="170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4" name="Line 8">
              <a:extLst>
                <a:ext uri="{FF2B5EF4-FFF2-40B4-BE49-F238E27FC236}">
                  <a16:creationId xmlns:a16="http://schemas.microsoft.com/office/drawing/2014/main" id="{8867803F-18C1-AE51-7B61-AD42EE9AA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1430"/>
              <a:ext cx="240" cy="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5" name="Line 9">
              <a:extLst>
                <a:ext uri="{FF2B5EF4-FFF2-40B4-BE49-F238E27FC236}">
                  <a16:creationId xmlns:a16="http://schemas.microsoft.com/office/drawing/2014/main" id="{F2AE491A-0D4F-B29D-BAB5-1FC5F76A9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703"/>
              <a:ext cx="6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6" name="Text Box 10">
              <a:extLst>
                <a:ext uri="{FF2B5EF4-FFF2-40B4-BE49-F238E27FC236}">
                  <a16:creationId xmlns:a16="http://schemas.microsoft.com/office/drawing/2014/main" id="{FCCC0BEB-03DB-B7C7-0A11-BE63A07BF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056"/>
              <a:ext cx="80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5547" name="Text Box 11">
              <a:extLst>
                <a:ext uri="{FF2B5EF4-FFF2-40B4-BE49-F238E27FC236}">
                  <a16:creationId xmlns:a16="http://schemas.microsoft.com/office/drawing/2014/main" id="{A8196F8B-41DC-D776-B998-E29AC8D8C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208"/>
              <a:ext cx="1680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  <p:sp>
          <p:nvSpPr>
            <p:cNvPr id="65548" name="Text Box 12">
              <a:extLst>
                <a:ext uri="{FF2B5EF4-FFF2-40B4-BE49-F238E27FC236}">
                  <a16:creationId xmlns:a16="http://schemas.microsoft.com/office/drawing/2014/main" id="{248A8E7B-986E-5BB9-1674-F17BD40B8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84"/>
              <a:ext cx="196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treatment</a:t>
              </a:r>
              <a:endParaRPr kumimoji="0" lang="en-US" altLang="zh-CN" sz="2800"/>
            </a:p>
          </p:txBody>
        </p:sp>
        <p:sp>
          <p:nvSpPr>
            <p:cNvPr id="65549" name="Text Box 13">
              <a:extLst>
                <a:ext uri="{FF2B5EF4-FFF2-40B4-BE49-F238E27FC236}">
                  <a16:creationId xmlns:a16="http://schemas.microsoft.com/office/drawing/2014/main" id="{5437BF24-822B-A65B-8C25-4564ECF7D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84"/>
              <a:ext cx="122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Treatment</a:t>
              </a:r>
              <a:endParaRPr kumimoji="0" lang="en-US" altLang="zh-CN" sz="2800"/>
            </a:p>
          </p:txBody>
        </p:sp>
        <p:sp>
          <p:nvSpPr>
            <p:cNvPr id="65550" name="Text Box 14">
              <a:extLst>
                <a:ext uri="{FF2B5EF4-FFF2-40B4-BE49-F238E27FC236}">
                  <a16:creationId xmlns:a16="http://schemas.microsoft.com/office/drawing/2014/main" id="{ECD014C1-FFB9-20E7-D6E9-ECCCA7080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536"/>
              <a:ext cx="85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  <a:endParaRPr kumimoji="0" lang="en-US" altLang="zh-CN" sz="2800"/>
            </a:p>
          </p:txBody>
        </p:sp>
        <p:grpSp>
          <p:nvGrpSpPr>
            <p:cNvPr id="65551" name="Group 15">
              <a:extLst>
                <a:ext uri="{FF2B5EF4-FFF2-40B4-BE49-F238E27FC236}">
                  <a16:creationId xmlns:a16="http://schemas.microsoft.com/office/drawing/2014/main" id="{F32589C2-CC2B-CFA1-5362-0E08182E2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3083"/>
              <a:ext cx="1997" cy="847"/>
              <a:chOff x="1488" y="3083"/>
              <a:chExt cx="1997" cy="847"/>
            </a:xfrm>
          </p:grpSpPr>
          <p:sp>
            <p:nvSpPr>
              <p:cNvPr id="65552" name="Oval 16">
                <a:extLst>
                  <a:ext uri="{FF2B5EF4-FFF2-40B4-BE49-F238E27FC236}">
                    <a16:creationId xmlns:a16="http://schemas.microsoft.com/office/drawing/2014/main" id="{12FD8743-9DAE-9E75-4FD7-874278823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4" y="3083"/>
                <a:ext cx="750" cy="73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3" name="Line 17">
                <a:extLst>
                  <a:ext uri="{FF2B5EF4-FFF2-40B4-BE49-F238E27FC236}">
                    <a16:creationId xmlns:a16="http://schemas.microsoft.com/office/drawing/2014/main" id="{717AE810-E1BB-3D10-9E81-3A0CBCF83A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1" y="3465"/>
                <a:ext cx="4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4" name="Line 18">
                <a:extLst>
                  <a:ext uri="{FF2B5EF4-FFF2-40B4-BE49-F238E27FC236}">
                    <a16:creationId xmlns:a16="http://schemas.microsoft.com/office/drawing/2014/main" id="{9EE02BF1-515A-55E0-96E3-7C5118199A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9" y="3742"/>
                <a:ext cx="171" cy="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5" name="Line 19">
                <a:extLst>
                  <a:ext uri="{FF2B5EF4-FFF2-40B4-BE49-F238E27FC236}">
                    <a16:creationId xmlns:a16="http://schemas.microsoft.com/office/drawing/2014/main" id="{45D575B8-BA18-5A90-81A3-6D97E23CD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3191"/>
                <a:ext cx="24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6" name="Line 20">
                <a:extLst>
                  <a:ext uri="{FF2B5EF4-FFF2-40B4-BE49-F238E27FC236}">
                    <a16:creationId xmlns:a16="http://schemas.microsoft.com/office/drawing/2014/main" id="{860002F2-BC31-B089-C71B-7F4A6D6114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3465"/>
                <a:ext cx="6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557" name="Text Box 21">
              <a:extLst>
                <a:ext uri="{FF2B5EF4-FFF2-40B4-BE49-F238E27FC236}">
                  <a16:creationId xmlns:a16="http://schemas.microsoft.com/office/drawing/2014/main" id="{046DB24B-104E-3ECE-3D74-711142809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801"/>
              <a:ext cx="80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5558" name="Text Box 22">
              <a:extLst>
                <a:ext uri="{FF2B5EF4-FFF2-40B4-BE49-F238E27FC236}">
                  <a16:creationId xmlns:a16="http://schemas.microsoft.com/office/drawing/2014/main" id="{1D47CE84-CA97-DE64-0D10-CC06290DD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272"/>
              <a:ext cx="1056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Control</a:t>
              </a:r>
              <a:endParaRPr kumimoji="0" lang="en-US" altLang="zh-CN" sz="2800"/>
            </a:p>
          </p:txBody>
        </p:sp>
        <p:sp>
          <p:nvSpPr>
            <p:cNvPr id="65559" name="Text Box 23">
              <a:extLst>
                <a:ext uri="{FF2B5EF4-FFF2-40B4-BE49-F238E27FC236}">
                  <a16:creationId xmlns:a16="http://schemas.microsoft.com/office/drawing/2014/main" id="{B378E15D-11C5-3F47-7164-96A48CFD3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272"/>
              <a:ext cx="1728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control</a:t>
              </a:r>
            </a:p>
          </p:txBody>
        </p:sp>
        <p:sp>
          <p:nvSpPr>
            <p:cNvPr id="65560" name="Text Box 24">
              <a:extLst>
                <a:ext uri="{FF2B5EF4-FFF2-40B4-BE49-F238E27FC236}">
                  <a16:creationId xmlns:a16="http://schemas.microsoft.com/office/drawing/2014/main" id="{C54177F0-F68D-A11A-E985-642BD0EEB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" y="3277"/>
              <a:ext cx="872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  <a:endParaRPr kumimoji="0" lang="en-US" altLang="zh-CN" sz="2800"/>
            </a:p>
          </p:txBody>
        </p:sp>
        <p:sp>
          <p:nvSpPr>
            <p:cNvPr id="65561" name="Text Box 25">
              <a:extLst>
                <a:ext uri="{FF2B5EF4-FFF2-40B4-BE49-F238E27FC236}">
                  <a16:creationId xmlns:a16="http://schemas.microsoft.com/office/drawing/2014/main" id="{1B8EE381-3D71-6592-EAC2-86927FE38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" y="3877"/>
              <a:ext cx="162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43883FE-45CF-A8FC-34D7-05942BACCD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(5) Standard control</a:t>
            </a:r>
          </a:p>
        </p:txBody>
      </p:sp>
      <p:grpSp>
        <p:nvGrpSpPr>
          <p:cNvPr id="64540" name="Group 28">
            <a:extLst>
              <a:ext uri="{FF2B5EF4-FFF2-40B4-BE49-F238E27FC236}">
                <a16:creationId xmlns:a16="http://schemas.microsoft.com/office/drawing/2014/main" id="{C392AA69-C832-4DAA-9B16-3D40FB3F146F}"/>
              </a:ext>
            </a:extLst>
          </p:cNvPr>
          <p:cNvGrpSpPr>
            <a:grpSpLocks/>
          </p:cNvGrpSpPr>
          <p:nvPr/>
        </p:nvGrpSpPr>
        <p:grpSpPr bwMode="auto">
          <a:xfrm>
            <a:off x="690563" y="1639888"/>
            <a:ext cx="8024812" cy="2532062"/>
            <a:chOff x="435" y="1033"/>
            <a:chExt cx="5055" cy="1595"/>
          </a:xfrm>
        </p:grpSpPr>
        <p:sp>
          <p:nvSpPr>
            <p:cNvPr id="64517" name="Oval 5">
              <a:extLst>
                <a:ext uri="{FF2B5EF4-FFF2-40B4-BE49-F238E27FC236}">
                  <a16:creationId xmlns:a16="http://schemas.microsoft.com/office/drawing/2014/main" id="{36A058A8-2921-FFA7-A155-EC794A203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1299"/>
              <a:ext cx="750" cy="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18" name="Line 6">
              <a:extLst>
                <a:ext uri="{FF2B5EF4-FFF2-40B4-BE49-F238E27FC236}">
                  <a16:creationId xmlns:a16="http://schemas.microsoft.com/office/drawing/2014/main" id="{67FEF1C7-4C63-5CF0-A188-87ED98863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680"/>
              <a:ext cx="4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19" name="Line 7">
              <a:extLst>
                <a:ext uri="{FF2B5EF4-FFF2-40B4-BE49-F238E27FC236}">
                  <a16:creationId xmlns:a16="http://schemas.microsoft.com/office/drawing/2014/main" id="{E28F9CD1-1613-8391-8584-9D2B8C6E0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1958"/>
              <a:ext cx="170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0" name="Line 8">
              <a:extLst>
                <a:ext uri="{FF2B5EF4-FFF2-40B4-BE49-F238E27FC236}">
                  <a16:creationId xmlns:a16="http://schemas.microsoft.com/office/drawing/2014/main" id="{18529797-2C11-FBBA-ADBF-4D1F013E5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1407"/>
              <a:ext cx="240" cy="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1" name="Line 9">
              <a:extLst>
                <a:ext uri="{FF2B5EF4-FFF2-40B4-BE49-F238E27FC236}">
                  <a16:creationId xmlns:a16="http://schemas.microsoft.com/office/drawing/2014/main" id="{A6484373-C04E-280A-AB59-ECB84DF0C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8" y="1680"/>
              <a:ext cx="6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2" name="Text Box 10">
              <a:extLst>
                <a:ext uri="{FF2B5EF4-FFF2-40B4-BE49-F238E27FC236}">
                  <a16:creationId xmlns:a16="http://schemas.microsoft.com/office/drawing/2014/main" id="{21672EBC-D43B-1A4A-E497-F62D8A36B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033"/>
              <a:ext cx="80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4523" name="Text Box 11">
              <a:extLst>
                <a:ext uri="{FF2B5EF4-FFF2-40B4-BE49-F238E27FC236}">
                  <a16:creationId xmlns:a16="http://schemas.microsoft.com/office/drawing/2014/main" id="{CE8EF066-017B-310A-DC92-682B880BB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185"/>
              <a:ext cx="1680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  <p:sp>
          <p:nvSpPr>
            <p:cNvPr id="64524" name="Text Box 12">
              <a:extLst>
                <a:ext uri="{FF2B5EF4-FFF2-40B4-BE49-F238E27FC236}">
                  <a16:creationId xmlns:a16="http://schemas.microsoft.com/office/drawing/2014/main" id="{0ADDDFC8-C610-E4D4-9722-E0E5023B2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2" y="1516"/>
              <a:ext cx="196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treatment</a:t>
              </a:r>
              <a:endParaRPr kumimoji="0" lang="en-US" altLang="zh-CN" sz="2800"/>
            </a:p>
          </p:txBody>
        </p:sp>
        <p:sp>
          <p:nvSpPr>
            <p:cNvPr id="64525" name="Text Box 13">
              <a:extLst>
                <a:ext uri="{FF2B5EF4-FFF2-40B4-BE49-F238E27FC236}">
                  <a16:creationId xmlns:a16="http://schemas.microsoft.com/office/drawing/2014/main" id="{6C630994-7B74-6354-9159-5B928C805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" y="1507"/>
              <a:ext cx="122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Treatment</a:t>
              </a:r>
              <a:endParaRPr kumimoji="0" lang="en-US" altLang="zh-CN" sz="2800"/>
            </a:p>
          </p:txBody>
        </p:sp>
        <p:sp>
          <p:nvSpPr>
            <p:cNvPr id="64526" name="Text Box 14">
              <a:extLst>
                <a:ext uri="{FF2B5EF4-FFF2-40B4-BE49-F238E27FC236}">
                  <a16:creationId xmlns:a16="http://schemas.microsoft.com/office/drawing/2014/main" id="{D4C2DE32-FC6A-8ECB-35F6-8CA295468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513"/>
              <a:ext cx="85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  <a:endParaRPr kumimoji="0" lang="en-US" altLang="zh-CN" sz="2800"/>
            </a:p>
          </p:txBody>
        </p:sp>
      </p:grpSp>
      <p:sp>
        <p:nvSpPr>
          <p:cNvPr id="64539" name="Text Box 27">
            <a:extLst>
              <a:ext uri="{FF2B5EF4-FFF2-40B4-BE49-F238E27FC236}">
                <a16:creationId xmlns:a16="http://schemas.microsoft.com/office/drawing/2014/main" id="{72CE59E2-A707-2DC0-C531-286FFFC9E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724400"/>
            <a:ext cx="8839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kumimoji="0" lang="en-US" altLang="zh-CN" sz="4000" b="1"/>
              <a:t>There is no control group, </a:t>
            </a:r>
          </a:p>
          <a:p>
            <a:pPr algn="just" eaLnBrk="0" hangingPunct="0">
              <a:spcBef>
                <a:spcPct val="50000"/>
              </a:spcBef>
            </a:pPr>
            <a:r>
              <a:rPr kumimoji="0" lang="en-US" altLang="zh-CN" sz="4000" b="1"/>
              <a:t> but compare with certain “standard”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62B362F6-8974-2BAD-3ED3-38E07C1EB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54075"/>
          </a:xfrm>
        </p:spPr>
        <p:txBody>
          <a:bodyPr/>
          <a:lstStyle/>
          <a:p>
            <a:r>
              <a:rPr lang="en-US" altLang="zh-CN" b="1"/>
              <a:t>(6) Historical control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1D9CF59D-0D62-AA8D-28F1-7AB960DEF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3250" y="4724400"/>
            <a:ext cx="8540750" cy="1752600"/>
          </a:xfrm>
        </p:spPr>
        <p:txBody>
          <a:bodyPr/>
          <a:lstStyle/>
          <a:p>
            <a:pPr algn="just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4000" b="1"/>
              <a:t>There is no control group, </a:t>
            </a:r>
          </a:p>
          <a:p>
            <a:pPr algn="just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4000" b="1"/>
              <a:t> but compare with “historical result”</a:t>
            </a:r>
          </a:p>
        </p:txBody>
      </p:sp>
      <p:grpSp>
        <p:nvGrpSpPr>
          <p:cNvPr id="67588" name="Group 4">
            <a:extLst>
              <a:ext uri="{FF2B5EF4-FFF2-40B4-BE49-F238E27FC236}">
                <a16:creationId xmlns:a16="http://schemas.microsoft.com/office/drawing/2014/main" id="{4BFBED57-E0F9-77D8-85A4-7150937EA293}"/>
              </a:ext>
            </a:extLst>
          </p:cNvPr>
          <p:cNvGrpSpPr>
            <a:grpSpLocks/>
          </p:cNvGrpSpPr>
          <p:nvPr/>
        </p:nvGrpSpPr>
        <p:grpSpPr bwMode="auto">
          <a:xfrm>
            <a:off x="690563" y="1639888"/>
            <a:ext cx="8024812" cy="2532062"/>
            <a:chOff x="435" y="1033"/>
            <a:chExt cx="5055" cy="1595"/>
          </a:xfrm>
        </p:grpSpPr>
        <p:sp>
          <p:nvSpPr>
            <p:cNvPr id="67589" name="Oval 5">
              <a:extLst>
                <a:ext uri="{FF2B5EF4-FFF2-40B4-BE49-F238E27FC236}">
                  <a16:creationId xmlns:a16="http://schemas.microsoft.com/office/drawing/2014/main" id="{9C05F46C-C343-6E51-B8C6-CA3A560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1299"/>
              <a:ext cx="750" cy="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0" name="Line 6">
              <a:extLst>
                <a:ext uri="{FF2B5EF4-FFF2-40B4-BE49-F238E27FC236}">
                  <a16:creationId xmlns:a16="http://schemas.microsoft.com/office/drawing/2014/main" id="{76413314-21AD-17E2-C730-B54E4D8C0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680"/>
              <a:ext cx="4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1" name="Line 7">
              <a:extLst>
                <a:ext uri="{FF2B5EF4-FFF2-40B4-BE49-F238E27FC236}">
                  <a16:creationId xmlns:a16="http://schemas.microsoft.com/office/drawing/2014/main" id="{6D3CA0CA-F6E6-A005-6E6C-69E7973CD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1958"/>
              <a:ext cx="170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2" name="Line 8">
              <a:extLst>
                <a:ext uri="{FF2B5EF4-FFF2-40B4-BE49-F238E27FC236}">
                  <a16:creationId xmlns:a16="http://schemas.microsoft.com/office/drawing/2014/main" id="{9AD37067-F647-6C22-4D5E-BC6D77BEE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1407"/>
              <a:ext cx="240" cy="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3" name="Line 9">
              <a:extLst>
                <a:ext uri="{FF2B5EF4-FFF2-40B4-BE49-F238E27FC236}">
                  <a16:creationId xmlns:a16="http://schemas.microsoft.com/office/drawing/2014/main" id="{18B3C3BA-96CF-B929-3943-417848B82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8" y="1680"/>
              <a:ext cx="6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4" name="Text Box 10">
              <a:extLst>
                <a:ext uri="{FF2B5EF4-FFF2-40B4-BE49-F238E27FC236}">
                  <a16:creationId xmlns:a16="http://schemas.microsoft.com/office/drawing/2014/main" id="{EA7CD37C-0D66-D0DB-995F-93D021290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033"/>
              <a:ext cx="80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67595" name="Text Box 11">
              <a:extLst>
                <a:ext uri="{FF2B5EF4-FFF2-40B4-BE49-F238E27FC236}">
                  <a16:creationId xmlns:a16="http://schemas.microsoft.com/office/drawing/2014/main" id="{7F14131F-07DF-FD46-2952-E00620C24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185"/>
              <a:ext cx="1680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  <p:sp>
          <p:nvSpPr>
            <p:cNvPr id="67596" name="Text Box 12">
              <a:extLst>
                <a:ext uri="{FF2B5EF4-FFF2-40B4-BE49-F238E27FC236}">
                  <a16:creationId xmlns:a16="http://schemas.microsoft.com/office/drawing/2014/main" id="{9F88C60A-EA59-3E28-A7F6-91801D5B4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2" y="1516"/>
              <a:ext cx="196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treatment</a:t>
              </a:r>
              <a:endParaRPr kumimoji="0" lang="en-US" altLang="zh-CN" sz="2800"/>
            </a:p>
          </p:txBody>
        </p:sp>
        <p:sp>
          <p:nvSpPr>
            <p:cNvPr id="67597" name="Text Box 13">
              <a:extLst>
                <a:ext uri="{FF2B5EF4-FFF2-40B4-BE49-F238E27FC236}">
                  <a16:creationId xmlns:a16="http://schemas.microsoft.com/office/drawing/2014/main" id="{482BADEF-493D-0F7D-E538-443F2A868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" y="1507"/>
              <a:ext cx="122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Treatment</a:t>
              </a:r>
              <a:endParaRPr kumimoji="0" lang="en-US" altLang="zh-CN" sz="2800"/>
            </a:p>
          </p:txBody>
        </p:sp>
        <p:sp>
          <p:nvSpPr>
            <p:cNvPr id="67598" name="Text Box 14">
              <a:extLst>
                <a:ext uri="{FF2B5EF4-FFF2-40B4-BE49-F238E27FC236}">
                  <a16:creationId xmlns:a16="http://schemas.microsoft.com/office/drawing/2014/main" id="{AD456E62-F085-90CC-B260-6DBAC4975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513"/>
              <a:ext cx="85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  <a:endParaRPr kumimoji="0" lang="en-US" altLang="zh-CN" sz="280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A0FFEFB1-96DF-DF8F-E18F-5AA20FA14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705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3600" b="1"/>
              <a:t>   2. Balance:  The</a:t>
            </a:r>
            <a:r>
              <a:rPr lang="en-US" altLang="zh-CN" b="1"/>
              <a:t> experimental group and control group are almost the same in all aspects except the treatment.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 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/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/>
            <a:endParaRPr lang="en-US" altLang="zh-CN"/>
          </a:p>
          <a:p>
            <a:endParaRPr lang="en-US" altLang="zh-CN"/>
          </a:p>
        </p:txBody>
      </p:sp>
      <p:grpSp>
        <p:nvGrpSpPr>
          <p:cNvPr id="9242" name="Group 26">
            <a:extLst>
              <a:ext uri="{FF2B5EF4-FFF2-40B4-BE49-F238E27FC236}">
                <a16:creationId xmlns:a16="http://schemas.microsoft.com/office/drawing/2014/main" id="{E8AD7FDD-F654-647A-DA94-BD3D6984441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76400"/>
            <a:ext cx="8153400" cy="5181600"/>
            <a:chOff x="336" y="1056"/>
            <a:chExt cx="5136" cy="3264"/>
          </a:xfrm>
        </p:grpSpPr>
        <p:sp>
          <p:nvSpPr>
            <p:cNvPr id="9243" name="Oval 27">
              <a:extLst>
                <a:ext uri="{FF2B5EF4-FFF2-40B4-BE49-F238E27FC236}">
                  <a16:creationId xmlns:a16="http://schemas.microsoft.com/office/drawing/2014/main" id="{B27FA4CA-E59E-B3A5-1B34-F82D11C13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1322"/>
              <a:ext cx="750" cy="7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Line 28">
              <a:extLst>
                <a:ext uri="{FF2B5EF4-FFF2-40B4-BE49-F238E27FC236}">
                  <a16:creationId xmlns:a16="http://schemas.microsoft.com/office/drawing/2014/main" id="{EC71C5B5-18C1-32DD-A285-7B1A16AF6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0" y="1703"/>
              <a:ext cx="4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Line 29">
              <a:extLst>
                <a:ext uri="{FF2B5EF4-FFF2-40B4-BE49-F238E27FC236}">
                  <a16:creationId xmlns:a16="http://schemas.microsoft.com/office/drawing/2014/main" id="{2F5F279C-1087-B374-05FA-49C717688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" y="1981"/>
              <a:ext cx="170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6" name="Line 30">
              <a:extLst>
                <a:ext uri="{FF2B5EF4-FFF2-40B4-BE49-F238E27FC236}">
                  <a16:creationId xmlns:a16="http://schemas.microsoft.com/office/drawing/2014/main" id="{9BE71D42-93B3-7E63-124D-2E3B0337D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1430"/>
              <a:ext cx="240" cy="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31">
              <a:extLst>
                <a:ext uri="{FF2B5EF4-FFF2-40B4-BE49-F238E27FC236}">
                  <a16:creationId xmlns:a16="http://schemas.microsoft.com/office/drawing/2014/main" id="{0E1CFFAE-47F8-7A4C-F764-41E8E919C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703"/>
              <a:ext cx="6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Text Box 32">
              <a:extLst>
                <a:ext uri="{FF2B5EF4-FFF2-40B4-BE49-F238E27FC236}">
                  <a16:creationId xmlns:a16="http://schemas.microsoft.com/office/drawing/2014/main" id="{A1E3359B-0B6A-D507-E3AD-EA2EB67F0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056"/>
              <a:ext cx="80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9249" name="Text Box 33">
              <a:extLst>
                <a:ext uri="{FF2B5EF4-FFF2-40B4-BE49-F238E27FC236}">
                  <a16:creationId xmlns:a16="http://schemas.microsoft.com/office/drawing/2014/main" id="{AB74AB0D-A44F-BF64-EB45-C5063234D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208"/>
              <a:ext cx="1680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  <p:sp>
          <p:nvSpPr>
            <p:cNvPr id="9250" name="Text Box 34">
              <a:extLst>
                <a:ext uri="{FF2B5EF4-FFF2-40B4-BE49-F238E27FC236}">
                  <a16:creationId xmlns:a16="http://schemas.microsoft.com/office/drawing/2014/main" id="{A1BD6E28-1CBE-B927-D211-F5B498132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84"/>
              <a:ext cx="196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treatment</a:t>
              </a:r>
              <a:endParaRPr kumimoji="0" lang="en-US" altLang="zh-CN" sz="2800"/>
            </a:p>
          </p:txBody>
        </p:sp>
        <p:sp>
          <p:nvSpPr>
            <p:cNvPr id="9251" name="Text Box 35">
              <a:extLst>
                <a:ext uri="{FF2B5EF4-FFF2-40B4-BE49-F238E27FC236}">
                  <a16:creationId xmlns:a16="http://schemas.microsoft.com/office/drawing/2014/main" id="{3A1D1638-529F-0E41-BA28-5C93472D6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84"/>
              <a:ext cx="122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Treatment</a:t>
              </a:r>
              <a:endParaRPr kumimoji="0" lang="en-US" altLang="zh-CN" sz="2800"/>
            </a:p>
          </p:txBody>
        </p:sp>
        <p:sp>
          <p:nvSpPr>
            <p:cNvPr id="9252" name="Text Box 36">
              <a:extLst>
                <a:ext uri="{FF2B5EF4-FFF2-40B4-BE49-F238E27FC236}">
                  <a16:creationId xmlns:a16="http://schemas.microsoft.com/office/drawing/2014/main" id="{08172235-6699-ED3D-06EF-38275FA42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536"/>
              <a:ext cx="85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  <a:endParaRPr kumimoji="0" lang="en-US" altLang="zh-CN" sz="2800"/>
            </a:p>
          </p:txBody>
        </p:sp>
        <p:grpSp>
          <p:nvGrpSpPr>
            <p:cNvPr id="9253" name="Group 37">
              <a:extLst>
                <a:ext uri="{FF2B5EF4-FFF2-40B4-BE49-F238E27FC236}">
                  <a16:creationId xmlns:a16="http://schemas.microsoft.com/office/drawing/2014/main" id="{E6694773-95C3-019E-61D3-2F02DCBF9B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3083"/>
              <a:ext cx="1997" cy="847"/>
              <a:chOff x="1488" y="3083"/>
              <a:chExt cx="1997" cy="847"/>
            </a:xfrm>
          </p:grpSpPr>
          <p:sp>
            <p:nvSpPr>
              <p:cNvPr id="9254" name="Oval 38">
                <a:extLst>
                  <a:ext uri="{FF2B5EF4-FFF2-40B4-BE49-F238E27FC236}">
                    <a16:creationId xmlns:a16="http://schemas.microsoft.com/office/drawing/2014/main" id="{6EA603A3-E1EC-1246-27BB-E5506C183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4" y="3083"/>
                <a:ext cx="750" cy="73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5" name="Line 39">
                <a:extLst>
                  <a:ext uri="{FF2B5EF4-FFF2-40B4-BE49-F238E27FC236}">
                    <a16:creationId xmlns:a16="http://schemas.microsoft.com/office/drawing/2014/main" id="{9EF28519-C3B0-BB73-6081-74CC5D92D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1" y="3465"/>
                <a:ext cx="4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6" name="Line 40">
                <a:extLst>
                  <a:ext uri="{FF2B5EF4-FFF2-40B4-BE49-F238E27FC236}">
                    <a16:creationId xmlns:a16="http://schemas.microsoft.com/office/drawing/2014/main" id="{27EB5398-14E8-934C-CBD6-A8C8D909A8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9" y="3742"/>
                <a:ext cx="171" cy="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7" name="Line 41">
                <a:extLst>
                  <a:ext uri="{FF2B5EF4-FFF2-40B4-BE49-F238E27FC236}">
                    <a16:creationId xmlns:a16="http://schemas.microsoft.com/office/drawing/2014/main" id="{5B243825-F440-DBAD-B9FF-82B7ADAEBF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3191"/>
                <a:ext cx="24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8" name="Line 42">
                <a:extLst>
                  <a:ext uri="{FF2B5EF4-FFF2-40B4-BE49-F238E27FC236}">
                    <a16:creationId xmlns:a16="http://schemas.microsoft.com/office/drawing/2014/main" id="{763084A4-4CD9-84BF-5305-35F08AE9DF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3465"/>
                <a:ext cx="6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59" name="Text Box 43">
              <a:extLst>
                <a:ext uri="{FF2B5EF4-FFF2-40B4-BE49-F238E27FC236}">
                  <a16:creationId xmlns:a16="http://schemas.microsoft.com/office/drawing/2014/main" id="{FBFCE147-6BAF-1EA0-8F95-3E148C079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801"/>
              <a:ext cx="809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Others</a:t>
              </a:r>
            </a:p>
          </p:txBody>
        </p:sp>
        <p:sp>
          <p:nvSpPr>
            <p:cNvPr id="9260" name="Text Box 44">
              <a:extLst>
                <a:ext uri="{FF2B5EF4-FFF2-40B4-BE49-F238E27FC236}">
                  <a16:creationId xmlns:a16="http://schemas.microsoft.com/office/drawing/2014/main" id="{9AC1437F-F955-D5C7-8ADD-EE45A1211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272"/>
              <a:ext cx="1056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Control</a:t>
              </a:r>
              <a:endParaRPr kumimoji="0" lang="en-US" altLang="zh-CN" sz="2800"/>
            </a:p>
          </p:txBody>
        </p:sp>
        <p:sp>
          <p:nvSpPr>
            <p:cNvPr id="9261" name="Text Box 45">
              <a:extLst>
                <a:ext uri="{FF2B5EF4-FFF2-40B4-BE49-F238E27FC236}">
                  <a16:creationId xmlns:a16="http://schemas.microsoft.com/office/drawing/2014/main" id="{3E22F0FF-407C-96FF-5230-4410D5F9B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272"/>
              <a:ext cx="1728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Effect of control</a:t>
              </a:r>
            </a:p>
          </p:txBody>
        </p:sp>
        <p:sp>
          <p:nvSpPr>
            <p:cNvPr id="9262" name="Text Box 46">
              <a:extLst>
                <a:ext uri="{FF2B5EF4-FFF2-40B4-BE49-F238E27FC236}">
                  <a16:creationId xmlns:a16="http://schemas.microsoft.com/office/drawing/2014/main" id="{ED49F8AC-ED42-5740-E6B0-462889E79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" y="3277"/>
              <a:ext cx="872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>
                  <a:ea typeface="黑体" panose="02010609060101010101" pitchFamily="49" charset="-122"/>
                </a:rPr>
                <a:t>Subject</a:t>
              </a:r>
              <a:endParaRPr kumimoji="0" lang="en-US" altLang="zh-CN" sz="2800"/>
            </a:p>
          </p:txBody>
        </p:sp>
        <p:sp>
          <p:nvSpPr>
            <p:cNvPr id="9263" name="Text Box 47">
              <a:extLst>
                <a:ext uri="{FF2B5EF4-FFF2-40B4-BE49-F238E27FC236}">
                  <a16:creationId xmlns:a16="http://schemas.microsoft.com/office/drawing/2014/main" id="{4A7BB16F-7EB9-C999-BFF8-7C25BB316C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" y="3877"/>
              <a:ext cx="1623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kumimoji="0" lang="en-US" altLang="zh-CN" sz="2800" b="1"/>
                <a:t>Effect of others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55CDFA3E-3DC2-2793-70D1-1680BA12D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  <a:r>
              <a:rPr lang="en-US" altLang="zh-CN" sz="3600" b="1"/>
              <a:t>3. Randomization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Many factors, we know that they may influence the results, but they are very difficult to deal with – Randomization is the best choice!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Example   To improve the homogeneity of subjects, collect a number of students with same age and gender; randomly arrange them into two groups to make them balance in height and weight.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1492C195-9107-9481-D033-74FA62BE6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9144000" cy="53340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zh-CN" sz="4000" b="1"/>
              <a:t>Randomization is the prerequisite of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000" b="1"/>
              <a:t>   statistical inference.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4000" b="1"/>
          </a:p>
          <a:p>
            <a:pPr algn="just">
              <a:lnSpc>
                <a:spcPct val="90000"/>
              </a:lnSpc>
            </a:pPr>
            <a:r>
              <a:rPr lang="en-US" altLang="zh-CN" sz="4000" b="1"/>
              <a:t>Randomization  </a:t>
            </a:r>
            <a:r>
              <a:rPr lang="en-US" altLang="zh-CN" sz="4800" b="1">
                <a:sym typeface="Symbol" panose="05050102010706020507" pitchFamily="18" charset="2"/>
              </a:rPr>
              <a:t></a:t>
            </a:r>
            <a:r>
              <a:rPr lang="en-US" altLang="zh-CN" sz="4000" b="1">
                <a:sym typeface="Symbol" panose="05050102010706020507" pitchFamily="18" charset="2"/>
              </a:rPr>
              <a:t> Casual</a:t>
            </a:r>
            <a:endParaRPr lang="en-US" altLang="zh-CN" sz="4000" b="1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4000" b="1"/>
          </a:p>
          <a:p>
            <a:pPr algn="just">
              <a:lnSpc>
                <a:spcPct val="90000"/>
              </a:lnSpc>
            </a:pPr>
            <a:r>
              <a:rPr lang="en-US" altLang="zh-CN" sz="4000" b="1"/>
              <a:t>Randomization means that all subjects in population have same probability to be sampled out for research. </a:t>
            </a:r>
            <a:endParaRPr lang="en-US" altLang="zh-CN" sz="4000"/>
          </a:p>
          <a:p>
            <a:pPr algn="just">
              <a:lnSpc>
                <a:spcPct val="90000"/>
              </a:lnSpc>
            </a:pPr>
            <a:endParaRPr lang="en-US" altLang="zh-CN" sz="4000"/>
          </a:p>
          <a:p>
            <a:pPr>
              <a:lnSpc>
                <a:spcPct val="90000"/>
              </a:lnSpc>
            </a:pP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FD00B894-92D3-E95E-54BE-1E574FD13D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  <a:r>
              <a:rPr lang="en-US" altLang="zh-CN" sz="3600" b="1"/>
              <a:t>4. Replication</a:t>
            </a:r>
          </a:p>
          <a:p>
            <a:pPr algn="just"/>
            <a:r>
              <a:rPr lang="en-US" altLang="zh-CN" b="1"/>
              <a:t>One meaning of replication :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The results can be reproduced in different labs and by different researchers.</a:t>
            </a:r>
            <a:endParaRPr lang="en-US" altLang="zh-CN"/>
          </a:p>
          <a:p>
            <a:r>
              <a:rPr lang="en-US" altLang="zh-CN" b="1"/>
              <a:t>Another meaning of replication 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The study should be performed in a big enough sample.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Altman &amp; Dore checked 90 papers:</a:t>
            </a:r>
            <a:r>
              <a:rPr lang="en-US" altLang="zh-CN"/>
              <a:t> </a:t>
            </a:r>
          </a:p>
          <a:p>
            <a:pPr algn="just"/>
            <a:r>
              <a:rPr lang="en-US" altLang="zh-CN" b="1"/>
              <a:t>39% mentioned their sample size and why.</a:t>
            </a:r>
            <a:endParaRPr lang="en-US" altLang="zh-CN"/>
          </a:p>
          <a:p>
            <a:pPr algn="just"/>
            <a:r>
              <a:rPr lang="en-US" altLang="zh-CN" b="1"/>
              <a:t>Sample sizes of 27% papers were too small to make a conclusion.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19DE3B1E-14C7-AF16-867F-070ACD638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"/>
            <a:ext cx="9144000" cy="6705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4000" b="1"/>
              <a:t>   </a:t>
            </a:r>
            <a:r>
              <a:rPr lang="en-US" altLang="zh-CN" sz="4000" b="1">
                <a:solidFill>
                  <a:schemeClr val="tx2"/>
                </a:solidFill>
              </a:rPr>
              <a:t>How to estimate sample size in the design stage?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</a:t>
            </a:r>
            <a:r>
              <a:rPr lang="en-US" altLang="zh-CN" b="1"/>
              <a:t>Four parameters are needed: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(1) </a:t>
            </a:r>
            <a:r>
              <a:rPr lang="en-US" altLang="zh-CN" b="1" i="1">
                <a:sym typeface="Symbol" panose="05050102010706020507" pitchFamily="18" charset="2"/>
              </a:rPr>
              <a:t></a:t>
            </a:r>
            <a:r>
              <a:rPr lang="en-US" altLang="zh-CN" b="1"/>
              <a:t> : the maximal probability of type </a:t>
            </a:r>
            <a:r>
              <a:rPr lang="en-US" altLang="zh-CN" b="1">
                <a:sym typeface="Symbol" panose="05050102010706020507" pitchFamily="18" charset="2"/>
              </a:rPr>
              <a:t> </a:t>
            </a:r>
            <a:r>
              <a:rPr lang="en-US" altLang="zh-CN" b="1"/>
              <a:t>error is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allowed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(2) </a:t>
            </a:r>
            <a:r>
              <a:rPr lang="en-US" altLang="zh-CN" b="1" i="1">
                <a:sym typeface="Symbol" panose="05050102010706020507" pitchFamily="18" charset="2"/>
              </a:rPr>
              <a:t> </a:t>
            </a:r>
            <a:r>
              <a:rPr lang="en-US" altLang="zh-CN" b="1">
                <a:sym typeface="Symbol" panose="05050102010706020507" pitchFamily="18" charset="2"/>
              </a:rPr>
              <a:t>:</a:t>
            </a:r>
            <a:r>
              <a:rPr lang="en-US" altLang="zh-CN" b="1"/>
              <a:t> the maximal probability of type </a:t>
            </a:r>
            <a:r>
              <a:rPr lang="en-US" altLang="zh-CN" b="1">
                <a:sym typeface="Symbol" panose="05050102010706020507" pitchFamily="18" charset="2"/>
              </a:rPr>
              <a:t>I </a:t>
            </a:r>
            <a:r>
              <a:rPr lang="en-US" altLang="zh-CN" b="1"/>
              <a:t>error is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allowed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(3) </a:t>
            </a:r>
            <a:r>
              <a:rPr lang="en-US" altLang="zh-CN" b="1">
                <a:sym typeface="Symbol" panose="05050102010706020507" pitchFamily="18" charset="2"/>
              </a:rPr>
              <a:t> : </a:t>
            </a:r>
            <a:r>
              <a:rPr lang="en-US" altLang="zh-CN" b="1"/>
              <a:t>the minimal difference between two means is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allowed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(4) </a:t>
            </a:r>
            <a:r>
              <a:rPr lang="en-US" altLang="zh-CN" b="1">
                <a:sym typeface="Symbol" panose="05050102010706020507" pitchFamily="18" charset="2"/>
              </a:rPr>
              <a:t> : the standard deviation among subjects in the same group</a:t>
            </a: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/>
          </a:p>
          <a:p>
            <a:endParaRPr lang="en-US" altLang="zh-CN"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3CA52CBC-277F-3AF3-0372-F3CA90212F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1054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Check Table 13-2, or calculate by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Example 13-1   A pilot study shows, the  sample mean  and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standard deviation of pulse among male patients with lead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poisoning are 67/min and 5.97/min respectively. To test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whether the population mean of this kind of patients is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lower than the mean of normal males (one-side test), how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many  cases are needed?  Given                             , take             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                    (Check Table 13-2, </a:t>
            </a:r>
            <a:r>
              <a:rPr lang="en-US" altLang="zh-CN" sz="2800" b="1" i="1">
                <a:sym typeface="Symbol" panose="05050102010706020507" pitchFamily="18" charset="2"/>
              </a:rPr>
              <a:t>/ </a:t>
            </a:r>
            <a:r>
              <a:rPr lang="en-US" altLang="zh-CN" sz="2800" b="1">
                <a:sym typeface="Symbol" panose="05050102010706020507" pitchFamily="18" charset="2"/>
              </a:rPr>
              <a:t> 0.85, </a:t>
            </a:r>
            <a:r>
              <a:rPr lang="en-US" altLang="zh-CN" sz="2800" b="1" i="1">
                <a:sym typeface="Symbol" panose="05050102010706020507" pitchFamily="18" charset="2"/>
              </a:rPr>
              <a:t>n</a:t>
            </a:r>
            <a:r>
              <a:rPr lang="en-US" altLang="zh-CN" sz="2800" b="1">
                <a:sym typeface="Symbol" panose="05050102010706020507" pitchFamily="18" charset="2"/>
              </a:rPr>
              <a:t>=14)</a:t>
            </a:r>
            <a:endParaRPr lang="en-US" altLang="zh-CN" sz="2800" b="1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 algn="just">
              <a:lnSpc>
                <a:spcPct val="90000"/>
              </a:lnSpc>
            </a:pPr>
            <a:endParaRPr lang="en-US" altLang="zh-CN" sz="2800" b="1"/>
          </a:p>
          <a:p>
            <a:pPr>
              <a:lnSpc>
                <a:spcPct val="90000"/>
              </a:lnSpc>
            </a:pPr>
            <a:endParaRPr lang="en-US" altLang="zh-CN" sz="2800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38C8E2C2-311F-74B9-8B26-576B10B8E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9DE43D33-3610-6BBD-C703-6747EDE1E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490" name="Text Box 10">
            <a:extLst>
              <a:ext uri="{FF2B5EF4-FFF2-40B4-BE49-F238E27FC236}">
                <a16:creationId xmlns:a16="http://schemas.microsoft.com/office/drawing/2014/main" id="{9D6835D4-FBE4-64F0-DCB0-531F9A638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0488"/>
            <a:ext cx="83581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 eaLnBrk="0" hangingPunct="0"/>
            <a:r>
              <a:rPr kumimoji="0" lang="en-US" altLang="zh-CN" sz="2800" b="1">
                <a:solidFill>
                  <a:schemeClr val="tx2"/>
                </a:solidFill>
              </a:rPr>
              <a:t>1. Comparison between the mean and a given number</a:t>
            </a:r>
          </a:p>
        </p:txBody>
      </p:sp>
      <p:graphicFrame>
        <p:nvGraphicFramePr>
          <p:cNvPr id="20492" name="Object 12">
            <a:extLst>
              <a:ext uri="{FF2B5EF4-FFF2-40B4-BE49-F238E27FC236}">
                <a16:creationId xmlns:a16="http://schemas.microsoft.com/office/drawing/2014/main" id="{13B2A537-868B-192A-6B48-E7F829A79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1403350"/>
          <a:ext cx="26670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901440" progId="Equation.3">
                  <p:embed/>
                </p:oleObj>
              </mc:Choice>
              <mc:Fallback>
                <p:oleObj name="Equation" r:id="rId2" imgW="2209680" imgH="9014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403350"/>
                        <a:ext cx="266700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Object 13">
            <a:extLst>
              <a:ext uri="{FF2B5EF4-FFF2-40B4-BE49-F238E27FC236}">
                <a16:creationId xmlns:a16="http://schemas.microsoft.com/office/drawing/2014/main" id="{57DF7961-C4B9-824D-D111-24DCF679F9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800600"/>
          <a:ext cx="25146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280" imgH="330120" progId="Equation.3">
                  <p:embed/>
                </p:oleObj>
              </mc:Choice>
              <mc:Fallback>
                <p:oleObj name="Equation" r:id="rId4" imgW="2222280" imgH="3301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800600"/>
                        <a:ext cx="25146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15">
            <a:extLst>
              <a:ext uri="{FF2B5EF4-FFF2-40B4-BE49-F238E27FC236}">
                <a16:creationId xmlns:a16="http://schemas.microsoft.com/office/drawing/2014/main" id="{F1886040-59D6-1538-090B-D21D17C035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57800"/>
          <a:ext cx="32766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3880" imgH="203040" progId="Equation.3">
                  <p:embed/>
                </p:oleObj>
              </mc:Choice>
              <mc:Fallback>
                <p:oleObj name="Equation" r:id="rId6" imgW="152388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57800"/>
                        <a:ext cx="32766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Object 17">
            <a:extLst>
              <a:ext uri="{FF2B5EF4-FFF2-40B4-BE49-F238E27FC236}">
                <a16:creationId xmlns:a16="http://schemas.microsoft.com/office/drawing/2014/main" id="{CFFC9C15-63A5-048C-5D97-E7E1709E20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756275"/>
          <a:ext cx="79248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5720" imgH="507960" progId="Equation.3">
                  <p:embed/>
                </p:oleObj>
              </mc:Choice>
              <mc:Fallback>
                <p:oleObj name="Equation" r:id="rId8" imgW="3555720" imgH="5079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756275"/>
                        <a:ext cx="792480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8" name="Object 18">
            <a:extLst>
              <a:ext uri="{FF2B5EF4-FFF2-40B4-BE49-F238E27FC236}">
                <a16:creationId xmlns:a16="http://schemas.microsoft.com/office/drawing/2014/main" id="{D1A64620-F1C6-2558-1E38-69498CAC1C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609600"/>
          <a:ext cx="78486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17560" imgH="241200" progId="Equation.3">
                  <p:embed/>
                </p:oleObj>
              </mc:Choice>
              <mc:Fallback>
                <p:oleObj name="Equation" r:id="rId10" imgW="3517560" imgH="24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609600"/>
                        <a:ext cx="78486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1027">
            <a:extLst>
              <a:ext uri="{FF2B5EF4-FFF2-40B4-BE49-F238E27FC236}">
                <a16:creationId xmlns:a16="http://schemas.microsoft.com/office/drawing/2014/main" id="{A119AED5-8711-2CD1-4D3E-C660DB91B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257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Check Table 13-2, or calculate by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Example 13-2  Comparing mean reductions of blood sedimentation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between drug A and B. To test whether the effects of two drugs are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different (two-side), how many cases are needed? A pilot study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shows,                                                                                                      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Take                                                 ,                                    .                                                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(Check Table 13-3, </a:t>
            </a:r>
            <a:r>
              <a:rPr lang="en-US" altLang="zh-CN" sz="2400" b="1">
                <a:sym typeface="Symbol" panose="05050102010706020507" pitchFamily="18" charset="2"/>
              </a:rPr>
              <a:t>/  0.60, </a:t>
            </a:r>
            <a:r>
              <a:rPr lang="en-US" altLang="zh-CN" sz="2400" b="1" i="1">
                <a:sym typeface="Symbol" panose="05050102010706020507" pitchFamily="18" charset="2"/>
              </a:rPr>
              <a:t>n</a:t>
            </a:r>
            <a:r>
              <a:rPr lang="en-US" altLang="zh-CN" sz="2400" b="1">
                <a:sym typeface="Symbol" panose="05050102010706020507" pitchFamily="18" charset="2"/>
              </a:rPr>
              <a:t>=60)</a:t>
            </a:r>
            <a:endParaRPr lang="en-US" altLang="zh-CN" sz="2400" b="1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                                              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</a:t>
            </a:r>
          </a:p>
        </p:txBody>
      </p:sp>
      <p:sp>
        <p:nvSpPr>
          <p:cNvPr id="69636" name="Text Box 1028">
            <a:extLst>
              <a:ext uri="{FF2B5EF4-FFF2-40B4-BE49-F238E27FC236}">
                <a16:creationId xmlns:a16="http://schemas.microsoft.com/office/drawing/2014/main" id="{8B38AE24-85EC-47D9-6B88-B211928E6AB1}"/>
              </a:ext>
            </a:extLst>
          </p:cNvPr>
          <p:cNvSpPr txBox="1">
            <a:spLocks noChangeArrowheads="1"/>
          </p:cNvSpPr>
          <p:nvPr>
            <p:ph type="title"/>
          </p:nvPr>
        </p:nvSpPr>
        <p:spPr>
          <a:xfrm>
            <a:off x="0" y="228600"/>
            <a:ext cx="9144000" cy="8382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40" tIns="45720" rIns="91440" bIns="45720"/>
          <a:lstStyle/>
          <a:p>
            <a:pPr marL="568325" indent="-568325" algn="l" eaLnBrk="0" hangingPunct="0"/>
            <a:r>
              <a:rPr lang="en-US" altLang="zh-CN" sz="2800" b="1">
                <a:effectLst/>
                <a:latin typeface="Times New Roman" panose="02020603050405020304" pitchFamily="18" charset="0"/>
              </a:rPr>
              <a:t>2. Comparison between two means  of two independent samples</a:t>
            </a:r>
          </a:p>
        </p:txBody>
      </p:sp>
      <p:graphicFrame>
        <p:nvGraphicFramePr>
          <p:cNvPr id="69637" name="Object 1029">
            <a:extLst>
              <a:ext uri="{FF2B5EF4-FFF2-40B4-BE49-F238E27FC236}">
                <a16:creationId xmlns:a16="http://schemas.microsoft.com/office/drawing/2014/main" id="{9B0328B8-C15C-C7DC-004F-4D80EE7EF0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762000"/>
          <a:ext cx="41910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228600" progId="Equation.3">
                  <p:embed/>
                </p:oleObj>
              </mc:Choice>
              <mc:Fallback>
                <p:oleObj name="Equation" r:id="rId2" imgW="1828800" imgH="22860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762000"/>
                        <a:ext cx="41910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1030">
            <a:extLst>
              <a:ext uri="{FF2B5EF4-FFF2-40B4-BE49-F238E27FC236}">
                <a16:creationId xmlns:a16="http://schemas.microsoft.com/office/drawing/2014/main" id="{8E9646AB-642F-AA27-E0AF-78DF3846F7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1752600"/>
          <a:ext cx="35814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507960" progId="Equation.3">
                  <p:embed/>
                </p:oleObj>
              </mc:Choice>
              <mc:Fallback>
                <p:oleObj name="Equation" r:id="rId4" imgW="1549080" imgH="50796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752600"/>
                        <a:ext cx="358140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1031">
            <a:extLst>
              <a:ext uri="{FF2B5EF4-FFF2-40B4-BE49-F238E27FC236}">
                <a16:creationId xmlns:a16="http://schemas.microsoft.com/office/drawing/2014/main" id="{C79E2EF2-B10F-6C78-FD22-01FBF8E93F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038600"/>
          <a:ext cx="76962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73240" imgH="228600" progId="Equation.3">
                  <p:embed/>
                </p:oleObj>
              </mc:Choice>
              <mc:Fallback>
                <p:oleObj name="Equation" r:id="rId6" imgW="3873240" imgH="228600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038600"/>
                        <a:ext cx="76962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1032">
            <a:extLst>
              <a:ext uri="{FF2B5EF4-FFF2-40B4-BE49-F238E27FC236}">
                <a16:creationId xmlns:a16="http://schemas.microsoft.com/office/drawing/2014/main" id="{63FA1A39-47FD-1948-E1A5-4A33AA6A5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2013" y="4510088"/>
          <a:ext cx="35179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88760" imgH="203040" progId="Equation.3">
                  <p:embed/>
                </p:oleObj>
              </mc:Choice>
              <mc:Fallback>
                <p:oleObj name="Equation" r:id="rId8" imgW="1688760" imgH="20304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4510088"/>
                        <a:ext cx="35179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1033">
            <a:extLst>
              <a:ext uri="{FF2B5EF4-FFF2-40B4-BE49-F238E27FC236}">
                <a16:creationId xmlns:a16="http://schemas.microsoft.com/office/drawing/2014/main" id="{62D90B76-6496-2A21-F93B-6C74C5B5D0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4524375"/>
          <a:ext cx="24384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22280" imgH="330120" progId="Equation.3">
                  <p:embed/>
                </p:oleObj>
              </mc:Choice>
              <mc:Fallback>
                <p:oleObj name="Equation" r:id="rId10" imgW="2222280" imgH="33012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524375"/>
                        <a:ext cx="243840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34">
            <a:extLst>
              <a:ext uri="{FF2B5EF4-FFF2-40B4-BE49-F238E27FC236}">
                <a16:creationId xmlns:a16="http://schemas.microsoft.com/office/drawing/2014/main" id="{8698E1CD-493D-C20C-466E-C17713F57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5334000"/>
          <a:ext cx="86106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6960" imgH="507960" progId="Equation.3">
                  <p:embed/>
                </p:oleObj>
              </mc:Choice>
              <mc:Fallback>
                <p:oleObj name="Equation" r:id="rId12" imgW="3936960" imgH="50796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0"/>
                        <a:ext cx="861060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4">
            <a:extLst>
              <a:ext uri="{FF2B5EF4-FFF2-40B4-BE49-F238E27FC236}">
                <a16:creationId xmlns:a16="http://schemas.microsoft.com/office/drawing/2014/main" id="{2A5633F2-D9B4-2BD8-1577-931DC9682DED}"/>
              </a:ext>
            </a:extLst>
          </p:cNvPr>
          <p:cNvSpPr txBox="1">
            <a:spLocks noChangeArrowheads="1"/>
          </p:cNvSpPr>
          <p:nvPr>
            <p:ph type="title"/>
          </p:nvPr>
        </p:nvSpPr>
        <p:spPr>
          <a:xfrm>
            <a:off x="152400" y="228600"/>
            <a:ext cx="8991600" cy="854075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40" tIns="45720" rIns="91440" bIns="45720"/>
          <a:lstStyle/>
          <a:p>
            <a:pPr marL="568325" indent="-568325" algn="l" eaLnBrk="0" hangingPunct="0"/>
            <a:r>
              <a:rPr lang="en-US" altLang="zh-CN" sz="2800" b="1">
                <a:effectLst/>
                <a:latin typeface="Times New Roman" panose="02020603050405020304" pitchFamily="18" charset="0"/>
              </a:rPr>
              <a:t>3. Comparison between two frequencies  of two</a:t>
            </a:r>
            <a:br>
              <a:rPr lang="en-US" altLang="zh-CN" sz="2800" b="1">
                <a:effectLst/>
                <a:latin typeface="Times New Roman" panose="02020603050405020304" pitchFamily="18" charset="0"/>
              </a:rPr>
            </a:br>
            <a:r>
              <a:rPr lang="en-US" altLang="zh-CN" sz="2800" b="1">
                <a:effectLst/>
                <a:latin typeface="Times New Roman" panose="02020603050405020304" pitchFamily="18" charset="0"/>
              </a:rPr>
              <a:t>independent samples</a:t>
            </a:r>
            <a:r>
              <a:rPr lang="en-US" altLang="zh-CN" sz="2800" b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0661" name="Object 5">
            <a:extLst>
              <a:ext uri="{FF2B5EF4-FFF2-40B4-BE49-F238E27FC236}">
                <a16:creationId xmlns:a16="http://schemas.microsoft.com/office/drawing/2014/main" id="{A5B1192A-DDDE-93E0-7FC2-B5724945CE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714375"/>
          <a:ext cx="4038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5840" imgH="228600" progId="Equation.3">
                  <p:embed/>
                </p:oleObj>
              </mc:Choice>
              <mc:Fallback>
                <p:oleObj name="Equation" r:id="rId2" imgW="18158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14375"/>
                        <a:ext cx="4038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3" name="Rectangle 7">
            <a:extLst>
              <a:ext uri="{FF2B5EF4-FFF2-40B4-BE49-F238E27FC236}">
                <a16:creationId xmlns:a16="http://schemas.microsoft.com/office/drawing/2014/main" id="{73C08C80-7D52-152D-441C-C3570C1BF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8037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Check Table 13-4, or calculate by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Example 13-3  Comparing two chemotherapies for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lymphoma, how many cases are needed?  The pilot study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shows, the remission rates are                                 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Given                              . (Check Table 13-4, </a:t>
            </a:r>
            <a:r>
              <a:rPr lang="en-US" altLang="zh-CN" sz="2800" b="1" i="1"/>
              <a:t>n</a:t>
            </a:r>
            <a:r>
              <a:rPr lang="en-US" altLang="zh-CN" sz="2800" b="1"/>
              <a:t>=35)</a:t>
            </a:r>
            <a:r>
              <a:rPr lang="en-US" altLang="zh-CN" b="1"/>
              <a:t> </a:t>
            </a:r>
          </a:p>
        </p:txBody>
      </p:sp>
      <p:graphicFrame>
        <p:nvGraphicFramePr>
          <p:cNvPr id="70664" name="Object 8">
            <a:extLst>
              <a:ext uri="{FF2B5EF4-FFF2-40B4-BE49-F238E27FC236}">
                <a16:creationId xmlns:a16="http://schemas.microsoft.com/office/drawing/2014/main" id="{95467B60-ABAC-0CD2-A677-EA2C45388D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1752600"/>
          <a:ext cx="35814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507960" progId="Equation.3">
                  <p:embed/>
                </p:oleObj>
              </mc:Choice>
              <mc:Fallback>
                <p:oleObj name="Equation" r:id="rId4" imgW="1549080" imgH="5079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752600"/>
                        <a:ext cx="358140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6" name="Object 10">
            <a:extLst>
              <a:ext uri="{FF2B5EF4-FFF2-40B4-BE49-F238E27FC236}">
                <a16:creationId xmlns:a16="http://schemas.microsoft.com/office/drawing/2014/main" id="{CD6178AB-8932-B8D6-1EC3-1C9F3B53D9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1766888"/>
          <a:ext cx="3733800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760" imgH="634680" progId="Equation.3">
                  <p:embed/>
                </p:oleObj>
              </mc:Choice>
              <mc:Fallback>
                <p:oleObj name="Equation" r:id="rId6" imgW="1688760" imgH="6346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66888"/>
                        <a:ext cx="3733800" cy="1401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7" name="Object 11">
            <a:extLst>
              <a:ext uri="{FF2B5EF4-FFF2-40B4-BE49-F238E27FC236}">
                <a16:creationId xmlns:a16="http://schemas.microsoft.com/office/drawing/2014/main" id="{EAA0EDED-CCDC-8FCD-00A1-EE18935C80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3929063"/>
          <a:ext cx="2819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520" imgH="215640" progId="Equation.3">
                  <p:embed/>
                </p:oleObj>
              </mc:Choice>
              <mc:Fallback>
                <p:oleObj name="Equation" r:id="rId8" imgW="124452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929063"/>
                        <a:ext cx="28194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8" name="Object 12">
            <a:extLst>
              <a:ext uri="{FF2B5EF4-FFF2-40B4-BE49-F238E27FC236}">
                <a16:creationId xmlns:a16="http://schemas.microsoft.com/office/drawing/2014/main" id="{7F6D8C5E-522F-9A2E-124F-AF83E4F978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8238" y="4614863"/>
          <a:ext cx="2438400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22280" imgH="330120" progId="Equation.3">
                  <p:embed/>
                </p:oleObj>
              </mc:Choice>
              <mc:Fallback>
                <p:oleObj name="Equation" r:id="rId10" imgW="2222280" imgH="3301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4614863"/>
                        <a:ext cx="2438400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9" name="Object 13">
            <a:extLst>
              <a:ext uri="{FF2B5EF4-FFF2-40B4-BE49-F238E27FC236}">
                <a16:creationId xmlns:a16="http://schemas.microsoft.com/office/drawing/2014/main" id="{82CF8BC6-05C5-9D46-860D-965F14910F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" y="5588000"/>
          <a:ext cx="9063038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35360" imgH="545760" progId="Equation.3">
                  <p:embed/>
                </p:oleObj>
              </mc:Choice>
              <mc:Fallback>
                <p:oleObj name="Equation" r:id="rId12" imgW="4635360" imgH="54576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" y="5588000"/>
                        <a:ext cx="9063038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99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0" name="Object 14">
            <a:extLst>
              <a:ext uri="{FF2B5EF4-FFF2-40B4-BE49-F238E27FC236}">
                <a16:creationId xmlns:a16="http://schemas.microsoft.com/office/drawing/2014/main" id="{7AE43C89-5B9C-4BF4-65AC-F2A35EB27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8338" y="5213350"/>
          <a:ext cx="37973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26920" imgH="203040" progId="Equation.3">
                  <p:embed/>
                </p:oleObj>
              </mc:Choice>
              <mc:Fallback>
                <p:oleObj name="Equation" r:id="rId14" imgW="172692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338" y="5213350"/>
                        <a:ext cx="37973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6FD89CC-571C-9679-6664-3564CFC72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10588" cy="685800"/>
          </a:xfrm>
        </p:spPr>
        <p:txBody>
          <a:bodyPr/>
          <a:lstStyle/>
          <a:p>
            <a:r>
              <a:rPr lang="en-US" altLang="zh-CN" sz="4000" b="1"/>
              <a:t>13.2   Experimental design</a:t>
            </a:r>
          </a:p>
        </p:txBody>
      </p:sp>
      <p:sp>
        <p:nvSpPr>
          <p:cNvPr id="68614" name="Text Box 6">
            <a:extLst>
              <a:ext uri="{FF2B5EF4-FFF2-40B4-BE49-F238E27FC236}">
                <a16:creationId xmlns:a16="http://schemas.microsoft.com/office/drawing/2014/main" id="{D19AEE0D-DA0A-44C5-93A8-9249ADDF7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8200"/>
            <a:ext cx="9144000" cy="644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spcBef>
                <a:spcPct val="50000"/>
              </a:spcBef>
              <a:buFontTx/>
              <a:buAutoNum type="arabicPeriod"/>
            </a:pPr>
            <a:r>
              <a:rPr kumimoji="0" lang="en-US" altLang="zh-CN" sz="3200" b="1"/>
              <a:t>Why? </a:t>
            </a:r>
          </a:p>
          <a:p>
            <a:pPr algn="just" eaLnBrk="0" hangingPunct="0">
              <a:spcBef>
                <a:spcPct val="50000"/>
              </a:spcBef>
            </a:pPr>
            <a:r>
              <a:rPr kumimoji="0" lang="en-US" altLang="zh-CN" sz="2800" b="1"/>
              <a:t>     To plan and arrange subject selection, treatment</a:t>
            </a:r>
          </a:p>
          <a:p>
            <a:pPr algn="just" eaLnBrk="0" hangingPunct="0">
              <a:spcBef>
                <a:spcPct val="50000"/>
              </a:spcBef>
            </a:pPr>
            <a:r>
              <a:rPr kumimoji="0" lang="en-US" altLang="zh-CN" sz="2800" b="1"/>
              <a:t>assignment, data collection and statistical analysis </a:t>
            </a:r>
          </a:p>
          <a:p>
            <a:pPr algn="just" eaLnBrk="0" hangingPunct="0">
              <a:spcBef>
                <a:spcPct val="50000"/>
              </a:spcBef>
            </a:pPr>
            <a:r>
              <a:rPr kumimoji="0" lang="en-US" altLang="zh-CN" sz="2800" b="1"/>
              <a:t>     To make sure validity, reproducible and economy.</a:t>
            </a:r>
          </a:p>
          <a:p>
            <a:pPr algn="just" eaLnBrk="0" hangingPunct="0">
              <a:spcBef>
                <a:spcPct val="50000"/>
              </a:spcBef>
            </a:pPr>
            <a:r>
              <a:rPr kumimoji="0" lang="en-US" altLang="zh-CN" sz="3200" b="1"/>
              <a:t>2.  Types of research</a:t>
            </a:r>
          </a:p>
          <a:p>
            <a:pPr algn="just" eaLnBrk="0" hangingPunct="0">
              <a:spcBef>
                <a:spcPct val="50000"/>
              </a:spcBef>
              <a:buFontTx/>
              <a:buChar char="•"/>
            </a:pPr>
            <a:r>
              <a:rPr kumimoji="0" lang="en-US" altLang="zh-CN" sz="2800" b="1"/>
              <a:t>Experiment: animal experiment, clinical trial, </a:t>
            </a:r>
          </a:p>
          <a:p>
            <a:pPr algn="just" eaLnBrk="0" hangingPunct="0">
              <a:spcBef>
                <a:spcPct val="50000"/>
              </a:spcBef>
            </a:pPr>
            <a:r>
              <a:rPr kumimoji="0" lang="en-US" altLang="zh-CN" sz="2800" b="1"/>
              <a:t>      community intervention trial</a:t>
            </a:r>
          </a:p>
          <a:p>
            <a:pPr algn="just" eaLnBrk="0" hangingPunct="0">
              <a:spcBef>
                <a:spcPct val="50000"/>
              </a:spcBef>
              <a:buFontTx/>
              <a:buChar char="•"/>
            </a:pPr>
            <a:r>
              <a:rPr kumimoji="0" lang="en-US" altLang="zh-CN" sz="2800" b="1"/>
              <a:t> Survey</a:t>
            </a:r>
          </a:p>
          <a:p>
            <a:pPr algn="just" eaLnBrk="0" hangingPunct="0">
              <a:spcBef>
                <a:spcPct val="50000"/>
              </a:spcBef>
            </a:pPr>
            <a:r>
              <a:rPr kumimoji="0" lang="en-US" altLang="zh-CN" sz="2800" b="1"/>
              <a:t>     Both need well design !                                     </a:t>
            </a:r>
          </a:p>
          <a:p>
            <a:pPr algn="just" eaLnBrk="0" hangingPunct="0">
              <a:spcBef>
                <a:spcPct val="50000"/>
              </a:spcBef>
            </a:pPr>
            <a:endParaRPr kumimoji="0" lang="en-US" altLang="zh-CN" sz="28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40B95748-7464-479A-9CC0-1DB505021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endParaRPr lang="en-US" altLang="zh-CN" b="1"/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zh-CN" b="1"/>
          </a:p>
          <a:p>
            <a:pPr marL="609600" indent="-609600"/>
            <a:endParaRPr lang="en-US" altLang="zh-CN" b="1"/>
          </a:p>
          <a:p>
            <a:pPr marL="609600" indent="-609600"/>
            <a:endParaRPr lang="en-US" altLang="zh-CN" b="1"/>
          </a:p>
          <a:p>
            <a:pPr marL="609600" indent="-609600"/>
            <a:endParaRPr lang="en-US" altLang="zh-CN" b="1"/>
          </a:p>
          <a:p>
            <a:pPr marL="609600" indent="-609600"/>
            <a:endParaRPr lang="en-US" altLang="zh-CN" b="1"/>
          </a:p>
          <a:p>
            <a:pPr marL="609600" indent="-609600"/>
            <a:endParaRPr lang="en-US" altLang="zh-CN" b="1"/>
          </a:p>
          <a:p>
            <a:pPr marL="609600" indent="-609600">
              <a:buFont typeface="Wingdings" panose="05000000000000000000" pitchFamily="2" charset="2"/>
              <a:buAutoNum type="arabicParenBoth"/>
            </a:pPr>
            <a:r>
              <a:rPr lang="en-US" altLang="zh-CN" b="1"/>
              <a:t>Subject: </a:t>
            </a:r>
          </a:p>
          <a:p>
            <a:pPr marL="609600" indent="-609600"/>
            <a:r>
              <a:rPr lang="en-US" altLang="zh-CN" b="1"/>
              <a:t>Subject could be: gene, protein, cell, tissue, animal, patient or healthy population.</a:t>
            </a:r>
          </a:p>
          <a:p>
            <a:pPr marL="609600" indent="-609600"/>
            <a:r>
              <a:rPr lang="en-US" altLang="zh-CN" b="1"/>
              <a:t>Subject should be clearly defined, and  homogeneous. 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D0992023-A2E6-679E-8510-9AED91969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276475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86B5ECE4-4165-4881-D182-0469528B8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276475"/>
            <a:ext cx="2160587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600" b="1"/>
              <a:t>Eligible</a:t>
            </a:r>
          </a:p>
          <a:p>
            <a:r>
              <a:rPr lang="en-US" altLang="zh-CN" sz="3600" b="1"/>
              <a:t>subjects</a:t>
            </a:r>
          </a:p>
        </p:txBody>
      </p:sp>
      <p:sp>
        <p:nvSpPr>
          <p:cNvPr id="23558" name="Line 6">
            <a:extLst>
              <a:ext uri="{FF2B5EF4-FFF2-40B4-BE49-F238E27FC236}">
                <a16:creationId xmlns:a16="http://schemas.microsoft.com/office/drawing/2014/main" id="{DD7FABB8-033D-AEE3-EC0B-F867667B59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6238" y="2060575"/>
            <a:ext cx="86360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Text Box 8">
            <a:extLst>
              <a:ext uri="{FF2B5EF4-FFF2-40B4-BE49-F238E27FC236}">
                <a16:creationId xmlns:a16="http://schemas.microsoft.com/office/drawing/2014/main" id="{040D1F41-DF47-7FC9-A77F-92890D46D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484313"/>
            <a:ext cx="24479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/>
              <a:t>Treatment</a:t>
            </a:r>
          </a:p>
        </p:txBody>
      </p:sp>
      <p:sp>
        <p:nvSpPr>
          <p:cNvPr id="23561" name="Text Box 9">
            <a:extLst>
              <a:ext uri="{FF2B5EF4-FFF2-40B4-BE49-F238E27FC236}">
                <a16:creationId xmlns:a16="http://schemas.microsoft.com/office/drawing/2014/main" id="{A7F13840-5634-B142-0485-CA828EEB4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492375"/>
            <a:ext cx="15128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/>
              <a:t>effects</a:t>
            </a:r>
          </a:p>
        </p:txBody>
      </p:sp>
      <p:sp>
        <p:nvSpPr>
          <p:cNvPr id="23562" name="Text Box 10">
            <a:extLst>
              <a:ext uri="{FF2B5EF4-FFF2-40B4-BE49-F238E27FC236}">
                <a16:creationId xmlns:a16="http://schemas.microsoft.com/office/drawing/2014/main" id="{2342BFCE-58A4-96AF-3BE7-DB2449533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284538"/>
            <a:ext cx="2016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/>
              <a:t>Control</a:t>
            </a:r>
          </a:p>
        </p:txBody>
      </p:sp>
      <p:sp>
        <p:nvSpPr>
          <p:cNvPr id="23563" name="Line 11">
            <a:extLst>
              <a:ext uri="{FF2B5EF4-FFF2-40B4-BE49-F238E27FC236}">
                <a16:creationId xmlns:a16="http://schemas.microsoft.com/office/drawing/2014/main" id="{307A8C30-8628-E0E7-7EE8-6CFD78548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3357563"/>
            <a:ext cx="7191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4" name="Line 12">
            <a:extLst>
              <a:ext uri="{FF2B5EF4-FFF2-40B4-BE49-F238E27FC236}">
                <a16:creationId xmlns:a16="http://schemas.microsoft.com/office/drawing/2014/main" id="{8D651DF9-B77A-9ACB-D8AE-19669650F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4888" y="1989138"/>
            <a:ext cx="50323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5" name="Line 13">
            <a:extLst>
              <a:ext uri="{FF2B5EF4-FFF2-40B4-BE49-F238E27FC236}">
                <a16:creationId xmlns:a16="http://schemas.microsoft.com/office/drawing/2014/main" id="{1A14C9D3-EBE3-F614-CFF1-4FFEF9BC86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3284538"/>
            <a:ext cx="5762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6" name="Text Box 14">
            <a:extLst>
              <a:ext uri="{FF2B5EF4-FFF2-40B4-BE49-F238E27FC236}">
                <a16:creationId xmlns:a16="http://schemas.microsoft.com/office/drawing/2014/main" id="{6FE8EAD1-4447-52B3-0074-153FC3080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kumimoji="0" lang="en-US" altLang="zh-CN" sz="3200" b="1"/>
              <a:t> 3. Three elements of experimental design</a:t>
            </a:r>
          </a:p>
          <a:p>
            <a:pPr algn="just" eaLnBrk="0" hangingPunct="0"/>
            <a:endParaRPr kumimoji="0" lang="en-US" altLang="zh-CN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EC2C4ECB-BC7D-C8B6-BF74-115E83EFD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2) Treatment: </a:t>
            </a:r>
          </a:p>
          <a:p>
            <a:pPr>
              <a:lnSpc>
                <a:spcPct val="90000"/>
              </a:lnSpc>
            </a:pPr>
            <a:r>
              <a:rPr lang="en-US" altLang="zh-CN" b="1"/>
              <a:t>A measure used to intervene a life process.</a:t>
            </a:r>
          </a:p>
          <a:p>
            <a:pPr>
              <a:lnSpc>
                <a:spcPct val="90000"/>
              </a:lnSpc>
            </a:pPr>
            <a:r>
              <a:rPr lang="en-US" altLang="zh-CN" b="1"/>
              <a:t>Treatment factor: drug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Levels of treatment factor: dose A, dose B                      </a:t>
            </a:r>
          </a:p>
          <a:p>
            <a:pPr>
              <a:lnSpc>
                <a:spcPct val="90000"/>
              </a:lnSpc>
            </a:pPr>
            <a:r>
              <a:rPr lang="en-US" altLang="zh-CN" b="1"/>
              <a:t>Treatment factor and non-treatment factors  should be identified.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Non-treatment factors: age, gender, disease status,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        weather, environment …</a:t>
            </a:r>
          </a:p>
          <a:p>
            <a:pPr>
              <a:lnSpc>
                <a:spcPct val="90000"/>
              </a:lnSpc>
            </a:pPr>
            <a:r>
              <a:rPr lang="en-US" altLang="zh-CN" b="1"/>
              <a:t>Treatment should be standardized: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3) Effect: </a:t>
            </a:r>
          </a:p>
          <a:p>
            <a:pPr>
              <a:lnSpc>
                <a:spcPct val="90000"/>
              </a:lnSpc>
            </a:pPr>
            <a:r>
              <a:rPr lang="en-US" altLang="zh-CN" b="1"/>
              <a:t>Change caused by treatment. </a:t>
            </a:r>
          </a:p>
          <a:p>
            <a:pPr>
              <a:lnSpc>
                <a:spcPct val="90000"/>
              </a:lnSpc>
            </a:pPr>
            <a:r>
              <a:rPr lang="en-US" altLang="zh-CN" b="1"/>
              <a:t>Effect measurement should be objective, accurate, precise, specific and sensitive.</a:t>
            </a:r>
          </a:p>
          <a:p>
            <a:pPr>
              <a:lnSpc>
                <a:spcPct val="90000"/>
              </a:lnSpc>
            </a:pPr>
            <a:endParaRPr lang="en-US" altLang="zh-CN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11" name="Object 3">
            <a:extLst>
              <a:ext uri="{FF2B5EF4-FFF2-40B4-BE49-F238E27FC236}">
                <a16:creationId xmlns:a16="http://schemas.microsoft.com/office/drawing/2014/main" id="{AC4731FB-4C94-35FC-5ABD-8240F20831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613" y="95250"/>
          <a:ext cx="9829800" cy="682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3764160" progId="Word.Document.8">
                  <p:embed/>
                </p:oleObj>
              </mc:Choice>
              <mc:Fallback>
                <p:oleObj name="Document" r:id="rId2" imgW="5420880" imgH="376416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95250"/>
                        <a:ext cx="9829800" cy="682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4" name="Object 1026">
            <a:extLst>
              <a:ext uri="{FF2B5EF4-FFF2-40B4-BE49-F238E27FC236}">
                <a16:creationId xmlns:a16="http://schemas.microsoft.com/office/drawing/2014/main" id="{EF96AF57-3DFA-5116-2707-2082ED51B1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319088"/>
          <a:ext cx="10287000" cy="676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3566160" progId="Word.Document.8">
                  <p:embed/>
                </p:oleObj>
              </mc:Choice>
              <mc:Fallback>
                <p:oleObj name="Document" r:id="rId2" imgW="5420880" imgH="3566160" progId="Word.Document.8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19088"/>
                        <a:ext cx="10287000" cy="676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>
            <a:extLst>
              <a:ext uri="{FF2B5EF4-FFF2-40B4-BE49-F238E27FC236}">
                <a16:creationId xmlns:a16="http://schemas.microsoft.com/office/drawing/2014/main" id="{B2E1D7EF-1086-3EFC-FA18-A4661D1E40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838200"/>
          <a:ext cx="11201400" cy="491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2377440" progId="Word.Document.8">
                  <p:embed/>
                </p:oleObj>
              </mc:Choice>
              <mc:Fallback>
                <p:oleObj name="Document" r:id="rId2" imgW="5420880" imgH="23774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838200"/>
                        <a:ext cx="11201400" cy="491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40682CF2-F674-5BE5-2391-2F17AA966DC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685800"/>
            <a:ext cx="9372600" cy="61722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tx2"/>
                </a:solidFill>
              </a:rPr>
              <a:t>(1) Completely random design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zh-CN" b="1"/>
              <a:t>Randomly allocate the subjects into two or more groups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zh-CN" b="1"/>
              <a:t>Independently sampling from two or more populations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Example 13-4 Randomly allocate 10 animals 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into two groups. (Using Table 13-1, read 0-9 only)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A: 1, 4, 6, 8, 9                     B: 2, 3, 5, 7, 10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	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</p:txBody>
      </p:sp>
      <p:sp>
        <p:nvSpPr>
          <p:cNvPr id="26011" name="Text Box 411">
            <a:extLst>
              <a:ext uri="{FF2B5EF4-FFF2-40B4-BE49-F238E27FC236}">
                <a16:creationId xmlns:a16="http://schemas.microsoft.com/office/drawing/2014/main" id="{BF066C38-EFB1-F591-743C-2972456E0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192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0" lang="en-US" altLang="zh-CN" sz="4000" b="1">
                <a:solidFill>
                  <a:schemeClr val="tx2"/>
                </a:solidFill>
              </a:rPr>
              <a:t>4.Commonly used experimental designs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0" lang="en-US" altLang="zh-CN" sz="4000" b="1">
                <a:solidFill>
                  <a:schemeClr val="tx2"/>
                </a:solidFill>
              </a:rPr>
              <a:t>    </a:t>
            </a:r>
          </a:p>
          <a:p>
            <a:pPr algn="just" eaLnBrk="0" hangingPunct="0"/>
            <a:endParaRPr kumimoji="0" lang="en-US" altLang="zh-CN" sz="4000" b="1"/>
          </a:p>
        </p:txBody>
      </p:sp>
      <p:graphicFrame>
        <p:nvGraphicFramePr>
          <p:cNvPr id="26016" name="Object 416">
            <a:extLst>
              <a:ext uri="{FF2B5EF4-FFF2-40B4-BE49-F238E27FC236}">
                <a16:creationId xmlns:a16="http://schemas.microsoft.com/office/drawing/2014/main" id="{89E6FCA6-7C1E-9A35-199C-329340D86D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4138613"/>
          <a:ext cx="8229600" cy="240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1585080" progId="Word.Document.8">
                  <p:embed/>
                </p:oleObj>
              </mc:Choice>
              <mc:Fallback>
                <p:oleObj name="Document" r:id="rId2" imgW="5420880" imgH="1585080" progId="Word.Document.8">
                  <p:embed/>
                  <p:pic>
                    <p:nvPicPr>
                      <p:cNvPr id="0" name="Object 4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138613"/>
                        <a:ext cx="8229600" cy="240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7" name="Rectangle 417">
            <a:extLst>
              <a:ext uri="{FF2B5EF4-FFF2-40B4-BE49-F238E27FC236}">
                <a16:creationId xmlns:a16="http://schemas.microsoft.com/office/drawing/2014/main" id="{51A05374-DA2E-767C-ADA7-89E5369AB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0338" y="1030288"/>
            <a:ext cx="29845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>
            <a:extLst>
              <a:ext uri="{FF2B5EF4-FFF2-40B4-BE49-F238E27FC236}">
                <a16:creationId xmlns:a16="http://schemas.microsoft.com/office/drawing/2014/main" id="{E151D919-FD9B-775C-6C92-589C4D48CE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52400"/>
            <a:ext cx="9144000" cy="6705600"/>
          </a:xfrm>
        </p:spPr>
        <p:txBody>
          <a:bodyPr/>
          <a:lstStyle/>
          <a:p>
            <a:r>
              <a:rPr lang="en-US" altLang="zh-CN" b="1"/>
              <a:t>Example 13-5 Randomly allocate 15 animals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into three groups.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A: 4, 6, 8, 11, 15                 B: 3, 5, 9, 12, 14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C: 1, 2, 7, 10, 13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Data analysis: </a:t>
            </a:r>
            <a:r>
              <a:rPr lang="en-US" altLang="zh-CN" b="1" i="1"/>
              <a:t>t</a:t>
            </a:r>
            <a:r>
              <a:rPr lang="en-US" altLang="zh-CN" b="1"/>
              <a:t> test;  rank sum test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Advantage: Simple; stable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Disadvantage: If there are many confounders,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they may not be balanced by randomization only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</p:txBody>
      </p:sp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07B26AF5-FA62-ECBE-DCA2-0AB9940FBA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447800"/>
          <a:ext cx="9982200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990720" progId="Word.Document.8">
                  <p:embed/>
                </p:oleObj>
              </mc:Choice>
              <mc:Fallback>
                <p:oleObj name="Document" r:id="rId2" imgW="5420880" imgH="9907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447800"/>
                        <a:ext cx="9982200" cy="182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>
            <a:extLst>
              <a:ext uri="{FF2B5EF4-FFF2-40B4-BE49-F238E27FC236}">
                <a16:creationId xmlns:a16="http://schemas.microsoft.com/office/drawing/2014/main" id="{B096ACF3-7FF9-1ADA-120E-1B4BD99293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tx2"/>
                </a:solidFill>
              </a:rPr>
              <a:t>(2) Paired design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Example 13-6  Randomly allocate 8 pairs of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subjects into two groups (read 0-7 only, odd for AB)</a:t>
            </a: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A: 1-1, 2-2, 3-2, 4-1, 5-2, 6-1, 7-2, 8-1;  B: the rest</a:t>
            </a:r>
          </a:p>
          <a:p>
            <a:pPr>
              <a:lnSpc>
                <a:spcPct val="90000"/>
              </a:lnSpc>
            </a:pPr>
            <a:r>
              <a:rPr lang="en-US" altLang="zh-CN" sz="2800" b="1"/>
              <a:t>Data analysis: Paired </a:t>
            </a:r>
            <a:r>
              <a:rPr lang="en-US" altLang="zh-CN" sz="2800" b="1" i="1"/>
              <a:t>t </a:t>
            </a:r>
            <a:r>
              <a:rPr lang="en-US" altLang="zh-CN" sz="2800" b="1"/>
              <a:t>test; signed rank sum test</a:t>
            </a:r>
          </a:p>
          <a:p>
            <a:pPr>
              <a:lnSpc>
                <a:spcPct val="90000"/>
              </a:lnSpc>
            </a:pPr>
            <a:r>
              <a:rPr lang="en-US" altLang="zh-CN" sz="2800" b="1"/>
              <a:t> Advantage: Well control the non-treatment factors,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          Save sample size</a:t>
            </a:r>
          </a:p>
          <a:p>
            <a:pPr>
              <a:lnSpc>
                <a:spcPct val="90000"/>
              </a:lnSpc>
            </a:pPr>
            <a:r>
              <a:rPr lang="en-US" altLang="zh-CN" sz="2800" b="1"/>
              <a:t> Disadvantage: Difficult to perform in practice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               Used for short period studies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</p:txBody>
      </p:sp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9F85EB32-FDC4-0497-6333-18AC7959AF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" y="1809750"/>
          <a:ext cx="9144000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04920" imgH="1386720" progId="Word.Document.8">
                  <p:embed/>
                </p:oleObj>
              </mc:Choice>
              <mc:Fallback>
                <p:oleObj name="Document" r:id="rId2" imgW="5704920" imgH="138672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" y="1809750"/>
                        <a:ext cx="9144000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>
            <a:extLst>
              <a:ext uri="{FF2B5EF4-FFF2-40B4-BE49-F238E27FC236}">
                <a16:creationId xmlns:a16="http://schemas.microsoft.com/office/drawing/2014/main" id="{0A0FF4C0-B0AE-F657-4314-5435DC3DC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"/>
            <a:ext cx="9144000" cy="6705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000" b="1">
                <a:solidFill>
                  <a:schemeClr val="tx2"/>
                </a:solidFill>
              </a:rPr>
              <a:t>(3) Random block design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Example 13-7  Four groups of subjects; four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treatments: A, B, C, D.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endParaRPr lang="en-US" altLang="zh-CN" b="1"/>
          </a:p>
        </p:txBody>
      </p:sp>
      <p:graphicFrame>
        <p:nvGraphicFramePr>
          <p:cNvPr id="76808" name="Object 8">
            <a:extLst>
              <a:ext uri="{FF2B5EF4-FFF2-40B4-BE49-F238E27FC236}">
                <a16:creationId xmlns:a16="http://schemas.microsoft.com/office/drawing/2014/main" id="{5D22A7E1-9B31-5F17-2722-39CC602F39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8" y="2057400"/>
          <a:ext cx="8953500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66600" imgH="1188720" progId="Word.Document.8">
                  <p:embed/>
                </p:oleObj>
              </mc:Choice>
              <mc:Fallback>
                <p:oleObj name="Document" r:id="rId2" imgW="5466600" imgH="118872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8" y="2057400"/>
                        <a:ext cx="8953500" cy="194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0" name="Object 10">
            <a:extLst>
              <a:ext uri="{FF2B5EF4-FFF2-40B4-BE49-F238E27FC236}">
                <a16:creationId xmlns:a16="http://schemas.microsoft.com/office/drawing/2014/main" id="{75788A7B-CC16-D572-4048-E95FDC49AD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3" y="3852863"/>
          <a:ext cx="8915400" cy="300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20880" imgH="1827360" progId="Word.Document.8">
                  <p:embed/>
                </p:oleObj>
              </mc:Choice>
              <mc:Fallback>
                <p:oleObj name="Document" r:id="rId4" imgW="5420880" imgH="182736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3" y="3852863"/>
                        <a:ext cx="8915400" cy="300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1027">
            <a:extLst>
              <a:ext uri="{FF2B5EF4-FFF2-40B4-BE49-F238E27FC236}">
                <a16:creationId xmlns:a16="http://schemas.microsoft.com/office/drawing/2014/main" id="{5B2AC353-BB83-E59E-7BF2-36BB710BC5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44000" cy="6858000"/>
          </a:xfrm>
        </p:spPr>
        <p:txBody>
          <a:bodyPr/>
          <a:lstStyle/>
          <a:p>
            <a:r>
              <a:rPr lang="en-US" altLang="zh-CN" b="1"/>
              <a:t>Data analysis: Analysis of variance for random block design</a:t>
            </a:r>
          </a:p>
          <a:p>
            <a:r>
              <a:rPr lang="en-US" altLang="zh-CN" b="1"/>
              <a:t>Advantage: The individuals in same block are quite similar so that the comparison within block is more sensitive than that between completely randomized groups.</a:t>
            </a:r>
          </a:p>
          <a:p>
            <a:r>
              <a:rPr lang="en-US" altLang="zh-CN" b="1"/>
              <a:t>Disadvantage: if any one individual observation is missed, the data analysis in the block will be very difficult.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5BDDB7FF-C91C-807C-F272-46E0D9FF8E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991600" cy="838200"/>
          </a:xfrm>
        </p:spPr>
        <p:txBody>
          <a:bodyPr/>
          <a:lstStyle/>
          <a:p>
            <a:pPr algn="l"/>
            <a:r>
              <a:rPr lang="en-US" altLang="zh-CN" sz="4000" b="1"/>
              <a:t>(4) Cross-over design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AFC7AF3A-0561-F408-2B03-E458EDE5B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 b="1"/>
              <a:t>		       1st period	     wash-out        2nd period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 b="1"/>
              <a:t>Group 1	   A	                 none	              B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 b="1"/>
              <a:t>Group 2    	   B		       none	              A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zh-CN" sz="2800" b="1"/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 b="1"/>
              <a:t>Example 13-8  </a:t>
            </a:r>
          </a:p>
          <a:p>
            <a:pPr marL="609600" indent="-609600"/>
            <a:r>
              <a:rPr lang="en-US" altLang="zh-CN" sz="2800" b="1"/>
              <a:t>If there are 16 patients, then randomly allocate them into group 1 and 2 (same as Completely randomized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 b="1"/>
              <a:t>design).</a:t>
            </a:r>
          </a:p>
          <a:p>
            <a:pPr marL="609600" indent="-609600"/>
            <a:r>
              <a:rPr lang="en-US" altLang="zh-CN" sz="2800" b="1"/>
              <a:t>If there are 8 pairs of patients, then randomly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 b="1"/>
              <a:t>       allocate two subjects within each pair into group 1 and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 b="1"/>
              <a:t>2 (same as paired design).</a:t>
            </a:r>
          </a:p>
          <a:p>
            <a:pPr marL="609600" indent="-609600"/>
            <a:endParaRPr lang="en-US" altLang="zh-CN" sz="2800" b="1"/>
          </a:p>
          <a:p>
            <a:pPr marL="609600" indent="-609600"/>
            <a:endParaRPr lang="en-US" altLang="zh-CN" sz="2800" b="1"/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zh-CN" sz="2800" b="1"/>
          </a:p>
          <a:p>
            <a:pPr marL="609600" indent="-609600"/>
            <a:endParaRPr lang="en-US" altLang="zh-CN" sz="2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>
            <a:extLst>
              <a:ext uri="{FF2B5EF4-FFF2-40B4-BE49-F238E27FC236}">
                <a16:creationId xmlns:a16="http://schemas.microsoft.com/office/drawing/2014/main" id="{82D12C08-8E34-0455-1D19-DBB0BBD73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28600"/>
            <a:ext cx="9144000" cy="6629400"/>
          </a:xfrm>
        </p:spPr>
        <p:txBody>
          <a:bodyPr/>
          <a:lstStyle/>
          <a:p>
            <a:r>
              <a:rPr lang="en-US" altLang="zh-CN" b="1"/>
              <a:t>Data analysis: Analysis of variance for cross-over design</a:t>
            </a:r>
          </a:p>
          <a:p>
            <a:r>
              <a:rPr lang="en-US" altLang="zh-CN" b="1"/>
              <a:t>Advantage: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Well control the non-treatment factors, save sample size;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Everyone receives both treatments – Equity</a:t>
            </a:r>
          </a:p>
          <a:p>
            <a:r>
              <a:rPr lang="en-US" altLang="zh-CN" b="1"/>
              <a:t>Disadvantage: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Assume the subjects keep the same in 1</a:t>
            </a:r>
            <a:r>
              <a:rPr lang="en-US" altLang="zh-CN" b="1" baseline="30000"/>
              <a:t>st</a:t>
            </a:r>
            <a:r>
              <a:rPr lang="en-US" altLang="zh-CN" b="1"/>
              <a:t> period and 2</a:t>
            </a:r>
            <a:r>
              <a:rPr lang="en-US" altLang="zh-CN" b="1" baseline="30000"/>
              <a:t>nd</a:t>
            </a:r>
            <a:r>
              <a:rPr lang="en-US" altLang="zh-CN" b="1"/>
              <a:t> period -- it can only be used for chronic diseases;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Wash-out period is required – the treatment should be stopped during wash-out period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36E4E55A-74EA-A064-6449-38EB221BB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10588" cy="1096963"/>
          </a:xfrm>
        </p:spPr>
        <p:txBody>
          <a:bodyPr/>
          <a:lstStyle/>
          <a:p>
            <a:r>
              <a:rPr lang="en-US" altLang="zh-CN" b="1"/>
              <a:t>Blinding and Placebo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F2B91711-5B24-F8D3-67E9-454FE5E1C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/>
              <a:t>Necessary for clinical trial.</a:t>
            </a:r>
          </a:p>
          <a:p>
            <a:pPr>
              <a:lnSpc>
                <a:spcPct val="90000"/>
              </a:lnSpc>
            </a:pPr>
            <a:r>
              <a:rPr lang="en-US" altLang="zh-CN" sz="2800" b="1"/>
              <a:t>Blinding (Masking) --  To reduce the bias caused by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psychological effect of knowing the treatment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Single blinding: Any patient does not know what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treatment is taken.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Double blinding: Both patient and physician do not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know the treatment.</a:t>
            </a:r>
          </a:p>
          <a:p>
            <a:pPr>
              <a:lnSpc>
                <a:spcPct val="90000"/>
              </a:lnSpc>
            </a:pPr>
            <a:r>
              <a:rPr lang="en-US" altLang="zh-CN" sz="2800" b="1"/>
              <a:t>Placebo – To ensure blinding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Everything should be the same to the treatment group,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except that it does not contain any effective components of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the treatment.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Special skills are needed for blinding and placebo.</a:t>
            </a:r>
            <a:r>
              <a:rPr lang="en-US" altLang="zh-CN" sz="2800"/>
              <a:t>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>
            <a:extLst>
              <a:ext uri="{FF2B5EF4-FFF2-40B4-BE49-F238E27FC236}">
                <a16:creationId xmlns:a16="http://schemas.microsoft.com/office/drawing/2014/main" id="{0C15D6D9-B7EE-CBBF-5A66-CB48F72DB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6400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0"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13.3   Survey design</a:t>
            </a: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A67CD0E8-873A-8ACD-B9F0-3A51F1B45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b="1"/>
              <a:t>1. Survey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Observe the existing process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Without intervention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Well design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CN" b="1"/>
              <a:t>Example for surveys: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Health condition survey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Epidemiological survey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Etiologic survey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Clinical follow up survey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Sanitary survey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…….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8FE3B3ED-92F3-54CD-DF36-C09C90798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812213" cy="1325563"/>
          </a:xfrm>
        </p:spPr>
        <p:txBody>
          <a:bodyPr/>
          <a:lstStyle/>
          <a:p>
            <a:pPr algn="l"/>
            <a:r>
              <a:rPr lang="en-US" altLang="zh-CN" sz="3600" b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2. Design</a:t>
            </a:r>
            <a:r>
              <a:rPr lang="en-US" altLang="zh-CN" sz="4800" b="1"/>
              <a:t> </a:t>
            </a:r>
            <a:br>
              <a:rPr lang="en-US" altLang="zh-CN" sz="4800" b="1"/>
            </a:br>
            <a:endParaRPr lang="en-US" altLang="zh-CN" sz="4800" b="1"/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6783065F-A852-21FC-0B02-AE2A2299B28F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0" y="914400"/>
            <a:ext cx="9144000" cy="5943600"/>
          </a:xfrm>
          <a:noFill/>
          <a:ln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</a:t>
            </a:r>
            <a:r>
              <a:rPr lang="en-US" altLang="zh-CN" b="1">
                <a:solidFill>
                  <a:schemeClr val="tx2"/>
                </a:solidFill>
              </a:rPr>
              <a:t>(1) The purpose of survey</a:t>
            </a:r>
            <a:r>
              <a:rPr lang="en-US" altLang="zh-CN" b="1"/>
              <a:t>, clear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</a:t>
            </a:r>
            <a:r>
              <a:rPr lang="en-US" altLang="zh-CN" b="1">
                <a:solidFill>
                  <a:schemeClr val="tx2"/>
                </a:solidFill>
              </a:rPr>
              <a:t>(2) The population concerned</a:t>
            </a:r>
            <a:r>
              <a:rPr lang="en-US" altLang="zh-CN" b="1"/>
              <a:t>, well defined.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</a:t>
            </a:r>
            <a:r>
              <a:rPr lang="en-US" altLang="zh-CN" b="1">
                <a:solidFill>
                  <a:schemeClr val="tx2"/>
                </a:solidFill>
              </a:rPr>
              <a:t>(3)</a:t>
            </a:r>
            <a:r>
              <a:rPr lang="en-US" altLang="zh-CN" b="1"/>
              <a:t> </a:t>
            </a:r>
            <a:r>
              <a:rPr lang="en-US" altLang="zh-CN" b="1">
                <a:solidFill>
                  <a:schemeClr val="tx2"/>
                </a:solidFill>
              </a:rPr>
              <a:t>Space, time and sample size</a:t>
            </a:r>
            <a:r>
              <a:rPr lang="en-US" altLang="zh-CN" b="1"/>
              <a:t>, specified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</a:t>
            </a:r>
            <a:r>
              <a:rPr lang="en-US" altLang="zh-CN" b="1">
                <a:solidFill>
                  <a:schemeClr val="tx2"/>
                </a:solidFill>
              </a:rPr>
              <a:t>(4) Observed unit</a:t>
            </a:r>
            <a:r>
              <a:rPr lang="en-US" altLang="zh-CN" b="1"/>
              <a:t>, well decided individual?  Family? Class?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</a:t>
            </a:r>
            <a:r>
              <a:rPr lang="en-US" altLang="zh-CN" b="1">
                <a:solidFill>
                  <a:schemeClr val="tx2"/>
                </a:solidFill>
              </a:rPr>
              <a:t>(5) The questionnaire</a:t>
            </a:r>
            <a:r>
              <a:rPr lang="en-US" altLang="zh-CN" b="1"/>
              <a:t>, well designed</a:t>
            </a:r>
          </a:p>
          <a:p>
            <a:r>
              <a:rPr lang="en-US" altLang="zh-CN" b="1"/>
              <a:t>  </a:t>
            </a:r>
            <a:r>
              <a:rPr lang="en-US" altLang="zh-CN" b="1">
                <a:solidFill>
                  <a:schemeClr val="tx2"/>
                </a:solidFill>
              </a:rPr>
              <a:t>Items</a:t>
            </a:r>
            <a:r>
              <a:rPr lang="en-US" altLang="zh-CN" b="1"/>
              <a:t>, carefully chosen </a:t>
            </a:r>
          </a:p>
          <a:p>
            <a:r>
              <a:rPr lang="en-US" altLang="zh-CN" b="1"/>
              <a:t>  </a:t>
            </a:r>
            <a:r>
              <a:rPr lang="en-US" altLang="zh-CN" b="1">
                <a:solidFill>
                  <a:schemeClr val="tx2"/>
                </a:solidFill>
              </a:rPr>
              <a:t>Language</a:t>
            </a:r>
            <a:r>
              <a:rPr lang="en-US" altLang="zh-CN" b="1"/>
              <a:t>, clear and specific</a:t>
            </a:r>
          </a:p>
          <a:p>
            <a:r>
              <a:rPr lang="en-US" altLang="zh-CN" b="1"/>
              <a:t>  </a:t>
            </a:r>
            <a:r>
              <a:rPr lang="en-US" altLang="zh-CN" b="1">
                <a:solidFill>
                  <a:schemeClr val="tx2"/>
                </a:solidFill>
              </a:rPr>
              <a:t>Possible answers</a:t>
            </a:r>
            <a:r>
              <a:rPr lang="en-US" altLang="zh-CN" b="1"/>
              <a:t>, well coded in advance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5FC9F94F-6D52-09F3-6BAA-467636EC57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510588" cy="1325563"/>
          </a:xfrm>
        </p:spPr>
        <p:txBody>
          <a:bodyPr/>
          <a:lstStyle/>
          <a:p>
            <a:pPr algn="l"/>
            <a:r>
              <a:rPr lang="en-US" altLang="zh-CN" sz="3200" b="1">
                <a:effectLst/>
                <a:latin typeface="Times New Roman" panose="02020603050405020304" pitchFamily="18" charset="0"/>
              </a:rPr>
              <a:t> (6) Data collection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CA1C02C-2872-3974-27A6-FE4164ECB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marL="609600" indent="-609600"/>
            <a:r>
              <a:rPr lang="en-US" altLang="zh-CN" b="1">
                <a:solidFill>
                  <a:schemeClr val="tx2"/>
                </a:solidFill>
              </a:rPr>
              <a:t>Direct observation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Measurement, observation, test, count …  </a:t>
            </a:r>
          </a:p>
          <a:p>
            <a:pPr marL="609600" indent="-609600"/>
            <a:r>
              <a:rPr lang="en-US" altLang="zh-CN" b="1">
                <a:solidFill>
                  <a:schemeClr val="tx2"/>
                </a:solidFill>
              </a:rPr>
              <a:t>Interview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Form filling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Group meeting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Telephone or internet ( the response rate ?)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>
            <a:extLst>
              <a:ext uri="{FF2B5EF4-FFF2-40B4-BE49-F238E27FC236}">
                <a16:creationId xmlns:a16="http://schemas.microsoft.com/office/drawing/2014/main" id="{90EDD802-BC06-08CD-601C-D10013EE3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000" b="1">
                <a:solidFill>
                  <a:schemeClr val="tx2"/>
                </a:solidFill>
              </a:rPr>
              <a:t>(1) Overall survey (Complete survey)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Example: National Census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To get the population parameters directly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There is no sampling error, but non-sampling error is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relatively high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</a:t>
            </a:r>
            <a:r>
              <a:rPr lang="en-US" altLang="zh-CN" sz="4000" b="1">
                <a:solidFill>
                  <a:schemeClr val="tx2"/>
                </a:solidFill>
              </a:rPr>
              <a:t>(2) Sampling survey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Sampling – Observation – Statistical inference –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knowledge about population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Advantage: Efficient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Disadvantage: Complicate in design, implementation and analysis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7E39AD08-3F4B-D4EA-CD77-699E4E317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04800"/>
            <a:ext cx="6781800" cy="106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0"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3.</a:t>
            </a:r>
            <a:r>
              <a:rPr kumimoji="0" lang="en-US" altLang="zh-CN" sz="40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Classification of survey</a:t>
            </a:r>
          </a:p>
          <a:p>
            <a:pPr algn="just" eaLnBrk="0" hangingPunct="0">
              <a:spcBef>
                <a:spcPct val="50000"/>
              </a:spcBef>
            </a:pPr>
            <a:endParaRPr kumimoji="0" lang="en-US" altLang="zh-CN" sz="1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>
            <a:extLst>
              <a:ext uri="{FF2B5EF4-FFF2-40B4-BE49-F238E27FC236}">
                <a16:creationId xmlns:a16="http://schemas.microsoft.com/office/drawing/2014/main" id="{AE1B0D2D-D756-4C5A-57EF-B35B5FFFD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25538"/>
            <a:ext cx="9144000" cy="57324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tx2"/>
                </a:solidFill>
              </a:rPr>
              <a:t>     </a:t>
            </a:r>
            <a:r>
              <a:rPr lang="en-US" altLang="zh-CN" b="1">
                <a:solidFill>
                  <a:schemeClr val="tx2"/>
                </a:solidFill>
              </a:rPr>
              <a:t>Simple random sampling</a:t>
            </a:r>
          </a:p>
          <a:p>
            <a:r>
              <a:rPr lang="en-US" altLang="zh-CN" b="1"/>
              <a:t>Every individual has same probability to be sampled.</a:t>
            </a:r>
          </a:p>
          <a:p>
            <a:r>
              <a:rPr lang="en-US" altLang="zh-CN" b="1"/>
              <a:t>Suitable for small population.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tx2"/>
                </a:solidFill>
              </a:rPr>
              <a:t>     </a:t>
            </a:r>
            <a:r>
              <a:rPr lang="en-US" altLang="zh-CN" b="1">
                <a:solidFill>
                  <a:schemeClr val="tx2"/>
                </a:solidFill>
              </a:rPr>
              <a:t>Systematic sampling</a:t>
            </a:r>
          </a:p>
          <a:p>
            <a:r>
              <a:rPr lang="en-US" altLang="zh-CN" b="1"/>
              <a:t>According to the sequence of individuals, to sample subjects in a fixed interval.</a:t>
            </a:r>
          </a:p>
          <a:p>
            <a:r>
              <a:rPr lang="en-US" altLang="zh-CN" b="1"/>
              <a:t>When population has a sequence number ( such as ID code), it is convenient to carry out.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</p:txBody>
      </p:sp>
      <p:sp>
        <p:nvSpPr>
          <p:cNvPr id="39941" name="Text Box 5">
            <a:extLst>
              <a:ext uri="{FF2B5EF4-FFF2-40B4-BE49-F238E27FC236}">
                <a16:creationId xmlns:a16="http://schemas.microsoft.com/office/drawing/2014/main" id="{6BAEBA86-488D-018B-0115-F9D61A106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77813"/>
            <a:ext cx="6559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 eaLnBrk="0" hangingPunct="0"/>
            <a:r>
              <a:rPr kumimoji="0"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Methods of random sampling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>
            <a:extLst>
              <a:ext uri="{FF2B5EF4-FFF2-40B4-BE49-F238E27FC236}">
                <a16:creationId xmlns:a16="http://schemas.microsoft.com/office/drawing/2014/main" id="{E7B68E94-9B15-C97B-7908-9C7C6B65B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tx2"/>
                </a:solidFill>
              </a:rPr>
              <a:t>               </a:t>
            </a:r>
            <a:r>
              <a:rPr lang="en-US" altLang="zh-CN" b="1">
                <a:solidFill>
                  <a:schemeClr val="tx2"/>
                </a:solidFill>
              </a:rPr>
              <a:t>Stratified sampling</a:t>
            </a:r>
          </a:p>
          <a:p>
            <a:r>
              <a:rPr lang="en-US" altLang="zh-CN" b="1"/>
              <a:t>The population is stratified according some factors that may influence the results of study and then the individuals in strata were randomly sampled.</a:t>
            </a:r>
          </a:p>
          <a:p>
            <a:r>
              <a:rPr lang="en-US" altLang="zh-CN" b="1"/>
              <a:t>Some important confounding factors could be controlled by stratified sampling.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             </a:t>
            </a:r>
            <a:r>
              <a:rPr lang="en-US" altLang="zh-CN" b="1">
                <a:solidFill>
                  <a:schemeClr val="tx2"/>
                </a:solidFill>
              </a:rPr>
              <a:t>Cluster sampling</a:t>
            </a:r>
          </a:p>
          <a:p>
            <a:r>
              <a:rPr lang="en-US" altLang="zh-CN" b="1"/>
              <a:t>If the individuals belong to certain unit ( such as community, school, class, city, county), we may directly sample the unit other than individuals.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21079960-DAC6-EA38-86DE-B7E44C988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84313"/>
            <a:ext cx="9144000" cy="461168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     </a:t>
            </a:r>
            <a:r>
              <a:rPr lang="en-US" altLang="zh-CN" b="1"/>
              <a:t>Stratified sampling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    &lt;Systematic sampling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           &lt;Simple random sampling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                &lt;Cluster sampling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4000" b="1"/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0621D3A2-A344-161E-5662-85BABDA18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81000"/>
            <a:ext cx="670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0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Sampling error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>
            <a:extLst>
              <a:ext uri="{FF2B5EF4-FFF2-40B4-BE49-F238E27FC236}">
                <a16:creationId xmlns:a16="http://schemas.microsoft.com/office/drawing/2014/main" id="{EA02C680-FCC5-4DB8-A485-391BF8D83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sz="4000" b="1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000" b="1">
                <a:solidFill>
                  <a:schemeClr val="tx2"/>
                </a:solidFill>
              </a:rPr>
              <a:t>(3) Typical survey (case survey)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Advantage: Only a few typical subjects are observed, who well reflect the main characteristics of same kind of subjects.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Disadvantage: There is no ground for any statistical inference.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>
            <a:extLst>
              <a:ext uri="{FF2B5EF4-FFF2-40B4-BE49-F238E27FC236}">
                <a16:creationId xmlns:a16="http://schemas.microsoft.com/office/drawing/2014/main" id="{141C5065-B0B5-A928-33B6-D4B23DB946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000" b="1">
                <a:solidFill>
                  <a:schemeClr val="tx2"/>
                </a:solidFill>
              </a:rPr>
              <a:t>(4) Case-control survey (retrospective study)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Good for </a:t>
            </a:r>
            <a:r>
              <a:rPr lang="en-US" altLang="zh-CN" b="1">
                <a:solidFill>
                  <a:schemeClr val="tx2"/>
                </a:solidFill>
              </a:rPr>
              <a:t>rare diseases</a:t>
            </a:r>
            <a:r>
              <a:rPr lang="en-US" altLang="zh-CN" b="1"/>
              <a:t>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        Outcome           Exposure (Cause?)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</a:t>
            </a:r>
            <a:r>
              <a:rPr lang="en-US" altLang="zh-CN" b="1">
                <a:solidFill>
                  <a:schemeClr val="tx2"/>
                </a:solidFill>
              </a:rPr>
              <a:t>“Case”</a:t>
            </a:r>
            <a:r>
              <a:rPr lang="en-US" altLang="zh-CN" b="1"/>
              <a:t>: Patients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</a:t>
            </a:r>
            <a:r>
              <a:rPr lang="en-US" altLang="zh-CN" b="1">
                <a:solidFill>
                  <a:schemeClr val="tx2"/>
                </a:solidFill>
              </a:rPr>
              <a:t>“Control”</a:t>
            </a:r>
            <a:r>
              <a:rPr lang="en-US" altLang="zh-CN" b="1"/>
              <a:t>: Non patients, main confounders are similar to the patients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</a:t>
            </a:r>
            <a:r>
              <a:rPr lang="en-US" altLang="zh-CN" b="1">
                <a:solidFill>
                  <a:schemeClr val="tx2"/>
                </a:solidFill>
              </a:rPr>
              <a:t>Comparing</a:t>
            </a:r>
            <a:r>
              <a:rPr lang="en-US" altLang="zh-CN" b="1"/>
              <a:t> the  frequency (or intensity) of exposure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1:1 case-control; 1:m case-control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group – group case control</a:t>
            </a:r>
          </a:p>
          <a:p>
            <a:endParaRPr lang="en-US" altLang="zh-CN"/>
          </a:p>
        </p:txBody>
      </p:sp>
      <p:sp>
        <p:nvSpPr>
          <p:cNvPr id="97284" name="Line 4">
            <a:extLst>
              <a:ext uri="{FF2B5EF4-FFF2-40B4-BE49-F238E27FC236}">
                <a16:creationId xmlns:a16="http://schemas.microsoft.com/office/drawing/2014/main" id="{616C91C8-5EE1-08EB-DD82-862B088A5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209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>
            <a:extLst>
              <a:ext uri="{FF2B5EF4-FFF2-40B4-BE49-F238E27FC236}">
                <a16:creationId xmlns:a16="http://schemas.microsoft.com/office/drawing/2014/main" id="{D8EC27A6-3E1D-0B29-A1A9-76B8D24911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4876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000" b="1">
                <a:solidFill>
                  <a:schemeClr val="tx2"/>
                </a:solidFill>
              </a:rPr>
              <a:t>(5) Cohort survey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</a:t>
            </a:r>
            <a:r>
              <a:rPr lang="en-US" altLang="zh-CN" sz="4000" b="1">
                <a:solidFill>
                  <a:schemeClr val="tx2"/>
                </a:solidFill>
              </a:rPr>
              <a:t>(Follow-up study, prospective study)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  </a:t>
            </a:r>
            <a:r>
              <a:rPr lang="en-US" altLang="zh-CN" b="1"/>
              <a:t>Exposure</a:t>
            </a:r>
            <a:r>
              <a:rPr lang="en-US" altLang="zh-CN"/>
              <a:t> (</a:t>
            </a:r>
            <a:r>
              <a:rPr lang="en-US" altLang="zh-CN" b="1"/>
              <a:t>Cause?)         Outcome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Different groups of exposure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Comparing the outcomes of different groups: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Does different condition of exposure leads to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different outcome?</a:t>
            </a:r>
          </a:p>
        </p:txBody>
      </p:sp>
      <p:sp>
        <p:nvSpPr>
          <p:cNvPr id="88068" name="Line 4">
            <a:extLst>
              <a:ext uri="{FF2B5EF4-FFF2-40B4-BE49-F238E27FC236}">
                <a16:creationId xmlns:a16="http://schemas.microsoft.com/office/drawing/2014/main" id="{BB1DE2D9-DCBC-A979-8ED5-6891FE040B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74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EC299B5E-F896-774F-02FF-3B5E5F80F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zh-CN" b="1"/>
              <a:t>Summary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14305EEC-4A38-D482-7514-F406073FAA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486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4000" b="1">
                <a:solidFill>
                  <a:schemeClr val="tx2"/>
                </a:solidFill>
              </a:rPr>
              <a:t>1. Commonly used Experimental Designs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4000" b="1">
                <a:solidFill>
                  <a:schemeClr val="tx2"/>
                </a:solidFill>
              </a:rPr>
              <a:t>   </a:t>
            </a:r>
            <a:r>
              <a:rPr lang="en-US" altLang="zh-CN" sz="4400" b="1"/>
              <a:t>Completely random design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   Paired design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   Random block design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   Cross-over design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000" b="1">
                <a:solidFill>
                  <a:schemeClr val="tx2"/>
                </a:solidFill>
              </a:rPr>
              <a:t>  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>
            <a:extLst>
              <a:ext uri="{FF2B5EF4-FFF2-40B4-BE49-F238E27FC236}">
                <a16:creationId xmlns:a16="http://schemas.microsoft.com/office/drawing/2014/main" id="{DE14ED04-DED4-AD33-E419-A4C71171C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52400" y="76200"/>
            <a:ext cx="9144000" cy="6858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kumimoji="0" lang="en-US" altLang="zh-CN"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2. Content of Survey Design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</a:rPr>
              <a:t>         </a:t>
            </a:r>
            <a:r>
              <a:rPr lang="en-US" altLang="zh-CN" sz="4000" b="1"/>
              <a:t>Purpose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       Population concerned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       Space, time and sample size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       Observed unit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       Questionnaire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       Data collection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4000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>
            <a:extLst>
              <a:ext uri="{FF2B5EF4-FFF2-40B4-BE49-F238E27FC236}">
                <a16:creationId xmlns:a16="http://schemas.microsoft.com/office/drawing/2014/main" id="{87F7F5EC-8C1F-2812-503A-6B36A82D1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3.Classification</a:t>
            </a:r>
            <a:r>
              <a:rPr kumimoji="0" lang="en-US" altLang="zh-CN" sz="4000" b="1">
                <a:solidFill>
                  <a:schemeClr val="tx2"/>
                </a:solidFill>
              </a:rPr>
              <a:t> of survey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b="1"/>
              <a:t>   </a:t>
            </a:r>
            <a:r>
              <a:rPr lang="en-US" altLang="zh-CN" sz="4000" b="1"/>
              <a:t>Overall survey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000" b="1"/>
              <a:t>   Sampling survey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000" b="1"/>
              <a:t>         </a:t>
            </a:r>
            <a:r>
              <a:rPr kumimoji="0" lang="en-US" altLang="zh-CN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Sampling error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Stratified sampling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   &lt;Systematic sampling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         &lt;Simple random sampling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              &lt;Cluster sampling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000" b="1"/>
              <a:t>   Typical survey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000" b="1"/>
              <a:t>   Case-control survey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4000" b="1"/>
              <a:t>   Cohort survey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校门">
  <a:themeElements>
    <a:clrScheme name="校门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校门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校门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Settings\fangjq\Application Data\Microsoft\Templates\校门.pot</Template>
  <TotalTime>1178</TotalTime>
  <Words>2210</Words>
  <Application>Microsoft Office PowerPoint</Application>
  <PresentationFormat>全屏显示(4:3)</PresentationFormat>
  <Paragraphs>420</Paragraphs>
  <Slides>52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1" baseType="lpstr">
      <vt:lpstr>Times New Roman</vt:lpstr>
      <vt:lpstr>宋体</vt:lpstr>
      <vt:lpstr>Arial</vt:lpstr>
      <vt:lpstr>Wingdings</vt:lpstr>
      <vt:lpstr>黑体</vt:lpstr>
      <vt:lpstr>Symbol</vt:lpstr>
      <vt:lpstr>校门</vt:lpstr>
      <vt:lpstr>Microsoft Word 文档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13.1  Principles of research design </vt:lpstr>
      <vt:lpstr>PowerPoint 演示文稿</vt:lpstr>
      <vt:lpstr>PowerPoint 演示文稿</vt:lpstr>
      <vt:lpstr>(1) Empty control</vt:lpstr>
      <vt:lpstr>(2) Placebo control</vt:lpstr>
      <vt:lpstr> (3) Mutual control </vt:lpstr>
      <vt:lpstr> (4) Self control </vt:lpstr>
      <vt:lpstr>(5) Standard control</vt:lpstr>
      <vt:lpstr>(6) Historical control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Comparison between two means  of two independent samples</vt:lpstr>
      <vt:lpstr>3. Comparison between two frequencies  of two independent samples </vt:lpstr>
      <vt:lpstr>13.2   Experimental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(4) Cross-over design</vt:lpstr>
      <vt:lpstr>PowerPoint 演示文稿</vt:lpstr>
      <vt:lpstr>Blinding and Placebo</vt:lpstr>
      <vt:lpstr>PowerPoint 演示文稿</vt:lpstr>
      <vt:lpstr> 2. Design  </vt:lpstr>
      <vt:lpstr> (6) Data collection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PowerPoint 演示文稿</vt:lpstr>
      <vt:lpstr>PowerPoint 演示文稿</vt:lpstr>
      <vt:lpstr>PowerPoint 演示文稿</vt:lpstr>
    </vt:vector>
  </TitlesOfParts>
  <Company>Micro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陈泽滨</dc:creator>
  <cp:lastModifiedBy>超然网络服务店 超然网络服务店</cp:lastModifiedBy>
  <cp:revision>27</cp:revision>
  <dcterms:created xsi:type="dcterms:W3CDTF">2002-09-25T01:19:33Z</dcterms:created>
  <dcterms:modified xsi:type="dcterms:W3CDTF">2023-10-24T11:42:27Z</dcterms:modified>
</cp:coreProperties>
</file>