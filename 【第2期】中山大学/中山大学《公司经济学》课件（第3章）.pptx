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2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D117937-0E94-EB63-5633-473AAC1A9B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9083166-1771-5F54-9DE0-7D87187461D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D53F4499-1E4D-D72F-3E1B-2C6FBD331D6B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C9786E84-A4FA-DF5B-5E9F-FDBD80F2960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6804D01D-FCAE-CEF8-B80C-3C0422E5AB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55FA59A4-7FD6-C9C8-6CF4-6C6A474725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6385FB5-7F1F-4420-8638-A973EF486CC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137440C-420A-9322-5FFA-6A467F0AE7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EF2EE8-BFCA-42BE-B187-5F4E43EE31FB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4949374B-D6DE-BA54-A8FC-53A6CFBD539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1295689-37AF-91AE-7FD7-632C66558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C2B2616-3D5C-B508-296A-9E93CB6D24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B5493F-7CE3-4DEE-B2B3-99FFE091D881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CDB6DE50-37BC-1341-6ED1-E6BCC7C2D0E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0DCCC97-1537-1127-B025-74003D286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FF3DCD6-EDF8-3802-697A-210B96E0A5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E95077-1C73-4B9D-94D8-94342007EB0B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BA4630D7-75A1-32EE-22C2-465788211BC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02090A4-3C3B-3700-706D-6284544F8B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4B0154B-9E79-4FC6-A757-343860E675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90439F-BA2C-4D38-95AF-A8ED1809488F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AD6A2FCE-B18C-5EB4-8259-7819831E3D0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17A9D4F-4069-D8A7-9B20-A82FB6769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AFFE7D8-8862-1022-B7D0-3E00DEE24A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0A6A6C-C655-40BD-B06F-2ECF2F2828B9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5B480981-9FCC-C3A0-BD4E-F8986A092FF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F0B98089-58DD-F9A4-5325-F33A268449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A6F658F-6184-1E93-03EE-3506D21822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2385B0-EE4C-400C-9358-950C5DEB23A5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3AE2AB7C-7E1F-755E-AC49-211182B6A91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BBBE83E-0978-10F2-8ED5-F31F44825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45FB609-0D5D-9950-6000-BE5700C6CF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2D8C5A-4C2C-42EE-BC89-498837C4B0C7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E317FCAA-F9D2-8894-F607-0C80D0C0FE8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AA5483E-47AF-C2B4-4513-435C1430D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96D411F-1B09-BFBF-8DC0-56B4C358AA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F285DB-8781-4A17-8614-0833C8173A3B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A0300194-C856-2A4E-9B13-26A240D6D24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630317E-BE32-D68D-9F8A-FA091D5DA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4F46F0C-7B1C-0CA8-B7FD-E99C8377FD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FAE571-952B-466E-A3CD-9A0C43125F18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885DC9EC-5971-59DD-1398-1F45F923188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A516545-A15E-BD81-C5DE-C8BDCFFB61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256DAE2-FC20-9682-FC43-7E9173FADE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C85231-E510-4D00-AD0F-D77C3A14B8BC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75D4EB1D-97C5-8084-AF6B-96C691F930D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54D9553-58A9-C630-453A-2C755FB0C9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D9548E8-1949-C737-807E-404CDC67EB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D190D4-2033-4B60-AA4B-CB8E9B388D41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052E4302-CFC5-B473-6A06-09B6712460C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4A4ED00-4B6C-6E2F-F894-C0232055D3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4D37068-F620-B3E7-F78A-01CD56E0DB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271416-E10B-4B54-8231-CF625153E027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84FA763A-4464-EAC9-553E-50C3CEB7F5B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738A653-5AE1-83F2-768B-C61275A51F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DADFE0E-CC6A-90DA-6CC8-C122A6E3FE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F1DA57-864E-4F47-8A1B-24544C03E52B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FA8DC1E8-C351-20D2-CAF6-F60A0B26C02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6BFDEE9-0983-2D67-F56F-8E5A33EACF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CFC8C9B-9E2B-7493-CC11-CE8BE6E574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3748EB-941F-4E8F-97A9-4EE7A5222399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26E642A9-3E6F-7EC5-8487-67A9662C63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DBFB38D-B03D-AEE8-A176-2FBFC5075E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267FE22-77DB-A104-0D5A-2218324DEF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E5B3EE-4C7F-4EB1-AC59-A2B5FF1F806F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89D60162-9CCC-2D21-B108-FFC7841EA33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2F26DFB-3E17-5FB3-1286-B8D3C9E739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00777D8-E06B-9742-25DE-43CE6AA4CD8F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B14C150-3B77-9185-D349-7FFD6375A9BF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C03BB152-7332-A565-CC56-58D260E4D2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F3D9AF48-8A03-545D-1266-B35144024D5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68876F98-F5F3-5D25-7731-337E85BADD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E7BCD347-41C3-4B37-9EB5-3F8934B91BE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46F01-6FA2-75EC-FDC5-CF67F1AD2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ED274-2ECE-4863-1BDD-305A0884F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F049F-D770-5618-496B-0F65048B8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AC3C4E-B707-9748-8450-0C52D8F83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8460AD-FD09-300A-1454-5D824A94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6AD82C-3EE2-4956-A244-34A9EB7B7C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941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6EEA06-C586-4C6A-F6F4-939A64A1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DC7D95-ACCD-250F-39C3-23CB6AEA2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ECCE82-795E-11C7-3C23-2423CB9E5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D73E3B-7F1D-B26C-ACA0-A37AA392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B548DD-9A79-E4BA-3ADD-A69012205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5BC617-6D9E-40AE-8B38-C1550AEB8C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7657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DBB38B-DC5B-7FFE-933C-381B6B57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ACCB63-51D9-8DDD-B26D-C8FC33701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AA983A-E4D6-442B-7A25-9A88D2FA7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1462D4-0354-CEE3-0978-C4CE533C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AA9AFA-6E99-BBD3-1BBD-8CDACC46F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56EECE-69EB-1642-3637-E982371A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DA7EAD-15BC-4D77-B914-9D859432DA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258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B8BCB7-B114-E2A0-0A85-423DC11B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954E83-DAA2-A31C-6CAD-3ACC7EB5A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DE2AEE-6836-83EC-E267-696CEB24B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BF7271-DBB9-714F-F274-1B8B60E2A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96FA41-A3E5-760A-218C-04D69C3E70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FAB7A9-694E-9D1B-25E3-5BAA38A4C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B00CF9-1654-32FF-FBBE-D57097859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ADD018-C075-A873-2030-940CC8CD2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BC4723-73FB-4848-8880-C81E1D91ACA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459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F9242-CDB1-7E82-DD7B-0E6DCEF0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630B7D-79BA-2708-80E7-B4BB1D47D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96171E-5F7D-FE51-3556-DC9FD8F2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FD24ED-9A72-65F8-7905-5A581AD8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1BF2BD-7D41-431F-B97E-D00C6E00A64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3034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B68975-28C5-5A2D-55AF-425BC518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4B5E74-6720-0E5F-4CEE-7AB4EB4F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0B4B28-CA16-DD78-6B97-5967F6F8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ED8FEF-0BF5-4D42-94ED-697C9F581E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0726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FE0818-3077-0D26-60BC-3E70F3436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F85219-A3FD-61B3-1558-CD98AE12A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DF491F-8098-35C5-1935-5C56076D4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5574C5-B293-6E98-9C20-EA0E5D841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6E4C99-7592-76ED-41B5-3097D92E1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FA85F3-9620-0BD4-4155-9DCF23E62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D01DE0-FF88-445F-B8B6-061D7221BB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4214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42F8E-A3D5-7096-4B6F-13E4EC0A1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A7DEFD5-8D90-1A45-FA58-EE05A695C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807332-F07B-08B6-29A8-D8298D298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9EE275-DEE6-963A-E258-8832AC3A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C15DE4-E9A3-31C5-4207-45D9C2969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156B76-4680-82C6-A612-A3523E71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6F612-1779-4870-A0D1-85440F83EC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3412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E33FE-32CB-CE9A-95C2-AA20E1DA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36F343-CE8E-A503-7184-7E02800E6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B1A79D-0FBF-E992-76BA-77730504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088027-7B77-BF96-BF8A-D5E68DC80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1432F3-FD7C-F662-4C79-318E5C119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A4827E-B0E3-4EBC-8682-A6975FD344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378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B8728D-FDEC-D971-9E13-0C989BF62A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ECB089-9443-D195-73FE-27B7327A9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859DE0-4B3D-DC35-7169-0FB87BF5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9FCE22-28CB-79FF-E52B-2EDEAB857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A69A1B-9F31-6DF1-A8C1-6884BB80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C1500D-0620-44EF-AF50-C3D079822B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5323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436633A-71F5-4974-C2C4-A00D8A8B0E6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09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17B8E91-50F2-9581-DA80-B3020CFF71B3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905000"/>
            <a:ext cx="8540750" cy="419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7DD41329-93CF-95B9-362A-35FC647BC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F45A8A40-A4EC-5C60-B560-9A5C5166933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D60CB5BA-4D00-20DC-F809-59670BEB37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92CCA31-F94E-41D2-9D52-34C2E90EFBA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B5DAEB2-62B2-9B2C-8E60-9FB4DD2202E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第三章    商品需求分析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16B8E63-8C45-A7C8-C9AB-61B0DF9D62B5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第一节　需求及其分类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375C1B6-CE52-4F2A-BA99-3E8CAD1652D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79590AE-73F6-E270-9387-54C63A04AEEE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 b="1"/>
              <a:t>一、几种主要的需求：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（一）商品的个人、市场、全社会需求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  <a:r>
              <a:rPr lang="en-US" altLang="zh-CN" b="1"/>
              <a:t>1.</a:t>
            </a:r>
            <a:r>
              <a:rPr lang="zh-CN" altLang="en-US" b="1"/>
              <a:t>商品的个人需求与市场需求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  <a:r>
              <a:rPr lang="zh-CN" altLang="en-US" b="1">
                <a:ea typeface="仿宋_GB2312" pitchFamily="49" charset="-122"/>
              </a:rPr>
              <a:t>在特定的时期内，某人愿意按一定价格购买的商品量是其对该商品的需求；所有消费者愿意购买该商品的数量则是该商品的市场需求。</a:t>
            </a:r>
            <a:r>
              <a:rPr lang="zh-CN" altLang="en-US" b="1"/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  <a:r>
              <a:rPr lang="en-US" altLang="zh-CN" b="1"/>
              <a:t>2.</a:t>
            </a:r>
            <a:r>
              <a:rPr lang="zh-CN" altLang="en-US" b="1"/>
              <a:t>商品的社会总需求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F4D509E-1F29-6764-4BD4-B17191A68E0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2E5DD6B-A5B6-41B8-D7DC-4982F0C2113D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（二）对企业、对行业和对所有行业商品的需求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</a:t>
            </a:r>
            <a:r>
              <a:rPr lang="zh-CN" altLang="en-US" sz="2800" b="1">
                <a:ea typeface="仿宋_GB2312" pitchFamily="49" charset="-122"/>
              </a:rPr>
              <a:t>在特定时期，一定范围内消费者愿意按一定价格购买某企业产品的数量，是该范围市场对该企业产品的需求。对该行业所有企业产品需求的总和，构成对该行业的需求；所有行业商品总需求等同于全社会的总需求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（三）自发需求与派生需求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 </a:t>
            </a:r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如果对某一商品的需求独立于任何其他商品需求而产生，称之为自发的需求。如果对商品的需求与某些商品有关，则称为派生需求。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00DECFB-CE02-29B6-5E40-21A00564533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082EDC6-8ACD-37E2-ABEC-62CE4B7F8E31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（四）短期需求与长期需求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  <a:r>
              <a:rPr lang="zh-CN" altLang="en-US" b="1">
                <a:latin typeface="仿宋_GB2312" pitchFamily="49" charset="-122"/>
                <a:ea typeface="仿宋_GB2312" pitchFamily="49" charset="-122"/>
              </a:rPr>
              <a:t>短期需求是在短时期内对某种商品的需求。长期需求是长时期内存在的需求，其变化要在一段长时期后才看得出来。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2BED3A9-00EA-AB99-AE58-64A36084033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第二节　　需求的形成与实现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5D2733C-E105-ED11-B2B5-229706317A2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</a:t>
            </a:r>
            <a:r>
              <a:rPr lang="zh-CN" altLang="en-US" sz="2400" b="1"/>
              <a:t>一、需求的决定因素</a:t>
            </a:r>
            <a:r>
              <a:rPr lang="en-US" altLang="zh-CN" sz="2400" b="1"/>
              <a:t>——</a:t>
            </a:r>
            <a:r>
              <a:rPr lang="zh-CN" altLang="en-US" sz="2400" b="1"/>
              <a:t>个人对单个商品的需求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（一）静态分析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</a:t>
            </a:r>
            <a:r>
              <a:rPr lang="en-US" altLang="zh-CN" sz="2400" b="1"/>
              <a:t>1.</a:t>
            </a:r>
            <a:r>
              <a:rPr lang="zh-CN" altLang="en-US" sz="2400" b="1"/>
              <a:t>价格</a:t>
            </a:r>
            <a:r>
              <a:rPr lang="en-US" altLang="zh-CN" sz="2400" b="1"/>
              <a:t>——</a:t>
            </a:r>
            <a:r>
              <a:rPr lang="zh-CN" altLang="en-US" sz="2400" b="1"/>
              <a:t>需求关系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总的来看，价格下降，需求量增加，价格上升，需求量减少。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在理论上可以把商品的需求按弹性值的大小划分为五种类型：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1</a:t>
            </a:r>
            <a:r>
              <a:rPr lang="zh-CN" altLang="en-US" sz="2400" b="1"/>
              <a:t>）零弹性需求。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2</a:t>
            </a:r>
            <a:r>
              <a:rPr lang="zh-CN" altLang="en-US" sz="2400" b="1"/>
              <a:t>）无穷大弹性需求。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3</a:t>
            </a:r>
            <a:r>
              <a:rPr lang="zh-CN" altLang="en-US" sz="2400" b="1"/>
              <a:t>）单位弹性需求。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（</a:t>
            </a:r>
            <a:r>
              <a:rPr lang="en-US" altLang="zh-CN" sz="2400" b="1"/>
              <a:t>4</a:t>
            </a:r>
            <a:r>
              <a:rPr lang="zh-CN" altLang="en-US" sz="2400" b="1"/>
              <a:t>）低弹性需求与高弹性需求。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935F5F2-A1F1-871D-CF61-60264F4C36D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658813"/>
          </a:xfrm>
        </p:spPr>
        <p:txBody>
          <a:bodyPr/>
          <a:lstStyle/>
          <a:p>
            <a:r>
              <a:rPr lang="zh-CN" altLang="en-US" sz="3200" b="1"/>
              <a:t>房地产调控的相关政策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A7BBF48-EDDA-29E1-F19D-79976D4A0F8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1341438"/>
            <a:ext cx="8540750" cy="511175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900" b="1"/>
              <a:t> </a:t>
            </a:r>
            <a:r>
              <a:rPr lang="en-US" altLang="zh-CN" sz="2400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☆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 2003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6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13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日，中国人民银行发布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121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文件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(《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关于进一步加强房地产信贷业务管理的通知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》) 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，要求各商业银行严控开发贷款、严控土地储备贷款、严防建筑贷款垫资、加强个人住房贷款管理。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☆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2003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8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月，国务院发布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18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号令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(《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关于促进房地产市场持续健康发展的通知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》)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☆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 2004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月，银监会发布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商业银行房地产贷款风险管理指引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征求意见稿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)》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，明确指出了买房人月供与收入的比例不超过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50%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☆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2004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27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日，国务院发出通知，决定房地产开发项目资本金比例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不含经济适用房项目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由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20%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及以上提高到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35%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及以上。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☆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2004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25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日，中国人民银行将存款准备金率由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7%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提高到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7.5%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934B8870-A767-B575-E1DB-74B064B14D8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55575"/>
          </a:xfrm>
        </p:spPr>
        <p:txBody>
          <a:bodyPr/>
          <a:lstStyle/>
          <a:p>
            <a:endParaRPr lang="zh-CN" altLang="zh-CN" sz="4000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3AD2D5A-318F-4581-CE46-50F8BAC92A0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981075"/>
            <a:ext cx="8540750" cy="51181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☆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 2004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13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日，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经济适用住房管理办法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以及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关于已购经济适用住房上市出售有关问题的通知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出台。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☆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2005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年年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26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日，国务院下发了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关于切实稳定住房价格的通知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☆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2005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27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日，国务院总理温家宝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27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日主持召开国务院常务会议，分析当前房地产市场形势，研究进一步加强房地产市场宏观调控问题。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☆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2005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30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日，建设部 发展改革委 财政部 国土资源部 人民银行 税务总局 银监会七部委联合下发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关于做好稳定住房价格工作的意见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☆ 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2005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6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日起，对个人购买住房不足２年转手交易的，销售时按其取得的售房收入全额征收营业税。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58672F9-6420-BC85-836F-5478425267B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65F3F83-0EBD-38F1-E9FB-22E5A6758BC3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2.</a:t>
            </a:r>
            <a:r>
              <a:rPr lang="zh-CN" altLang="en-US" b="1"/>
              <a:t>收入</a:t>
            </a:r>
            <a:r>
              <a:rPr lang="en-US" altLang="zh-CN" b="1"/>
              <a:t>——</a:t>
            </a:r>
            <a:r>
              <a:rPr lang="zh-CN" altLang="en-US" b="1"/>
              <a:t>需求关系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）生活必需品的收入</a:t>
            </a:r>
            <a:r>
              <a:rPr lang="en-US" altLang="zh-CN" b="1"/>
              <a:t>——</a:t>
            </a:r>
            <a:r>
              <a:rPr lang="zh-CN" altLang="en-US" b="1"/>
              <a:t>需求关系。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）低档商品的收入</a:t>
            </a:r>
            <a:r>
              <a:rPr lang="en-US" altLang="zh-CN" b="1"/>
              <a:t>——</a:t>
            </a:r>
            <a:r>
              <a:rPr lang="zh-CN" altLang="en-US" b="1"/>
              <a:t>需求关系。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）普通商品的收入</a:t>
            </a:r>
            <a:r>
              <a:rPr lang="en-US" altLang="zh-CN" b="1"/>
              <a:t>——</a:t>
            </a:r>
            <a:r>
              <a:rPr lang="zh-CN" altLang="en-US" b="1"/>
              <a:t>需求关系。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（</a:t>
            </a:r>
            <a:r>
              <a:rPr lang="en-US" altLang="zh-CN" b="1"/>
              <a:t>4</a:t>
            </a:r>
            <a:r>
              <a:rPr lang="zh-CN" altLang="en-US" b="1"/>
              <a:t>）高级消费品的收入</a:t>
            </a:r>
            <a:r>
              <a:rPr lang="en-US" altLang="zh-CN" b="1"/>
              <a:t>——</a:t>
            </a:r>
            <a:r>
              <a:rPr lang="zh-CN" altLang="en-US" b="1"/>
              <a:t>需求关系。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A2B2E4D-298A-8C74-517F-A6B56266731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97AA9E6-7857-229C-17F2-2C1A8993A23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n-US" sz="2800" b="1"/>
              <a:t>补充资料</a:t>
            </a:r>
            <a:r>
              <a:rPr lang="zh-CN" altLang="en-US" sz="2800"/>
              <a:t>：</a:t>
            </a:r>
            <a:r>
              <a:rPr lang="zh-CN" altLang="en-US" sz="2800" b="1"/>
              <a:t>消费需求不足的收入探因及对策</a:t>
            </a:r>
            <a:r>
              <a:rPr lang="zh-CN" altLang="en-US" sz="2800"/>
              <a:t>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sz="2800">
                <a:latin typeface="宋体" panose="02010600030101010101" pitchFamily="2" charset="-122"/>
              </a:rPr>
              <a:t>Ⅰ</a:t>
            </a:r>
            <a:r>
              <a:rPr lang="zh-CN" altLang="en-US" sz="2800">
                <a:latin typeface="宋体" panose="02010600030101010101" pitchFamily="2" charset="-122"/>
              </a:rPr>
              <a:t>、</a:t>
            </a:r>
            <a:r>
              <a:rPr lang="zh-CN" altLang="en-US" sz="2800"/>
              <a:t> </a:t>
            </a:r>
            <a:r>
              <a:rPr lang="zh-CN" altLang="en-US" sz="2400" b="1"/>
              <a:t>现期收入的影响效应及对策</a:t>
            </a:r>
            <a:br>
              <a:rPr lang="zh-CN" altLang="en-US" sz="2800"/>
            </a:br>
            <a:r>
              <a:rPr lang="en-US" altLang="zh-CN" sz="2800" b="1">
                <a:latin typeface="宋体" panose="02010600030101010101" pitchFamily="2" charset="-122"/>
              </a:rPr>
              <a:t>ⅰ</a:t>
            </a:r>
            <a:r>
              <a:rPr lang="zh-CN" altLang="en-US" sz="2800" b="1">
                <a:latin typeface="宋体" panose="02010600030101010101" pitchFamily="2" charset="-122"/>
              </a:rPr>
              <a:t>、</a:t>
            </a:r>
            <a:r>
              <a:rPr lang="zh-CN" altLang="en-US" sz="2400" b="1">
                <a:latin typeface="宋体" panose="02010600030101010101" pitchFamily="2" charset="-122"/>
              </a:rPr>
              <a:t>凯恩斯的绝对收入假定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    </a:t>
            </a:r>
            <a:r>
              <a:rPr lang="en-US" altLang="zh-CN" sz="2400" b="1">
                <a:latin typeface="宋体" panose="02010600030101010101" pitchFamily="2" charset="-122"/>
              </a:rPr>
              <a:t>ⅱ</a:t>
            </a:r>
            <a:r>
              <a:rPr lang="zh-CN" altLang="en-US" sz="2400" b="1">
                <a:latin typeface="宋体" panose="02010600030101010101" pitchFamily="2" charset="-122"/>
              </a:rPr>
              <a:t>、影响效应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     </a:t>
            </a:r>
            <a:r>
              <a:rPr lang="en-US" altLang="zh-CN" sz="2400" b="1">
                <a:latin typeface="宋体" panose="02010600030101010101" pitchFamily="2" charset="-122"/>
              </a:rPr>
              <a:t>•</a:t>
            </a:r>
            <a:r>
              <a:rPr lang="zh-CN" altLang="en-US" sz="2400" b="1"/>
              <a:t>居民收入低、增长缓慢，导致消费增长滞后。 </a:t>
            </a:r>
            <a:r>
              <a:rPr lang="zh-CN" altLang="en-US" sz="2400" b="1">
                <a:latin typeface="宋体" panose="02010600030101010101" pitchFamily="2" charset="-122"/>
              </a:rPr>
              <a:t>       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     </a:t>
            </a:r>
            <a:r>
              <a:rPr lang="en-US" altLang="zh-CN" sz="2400" b="1">
                <a:latin typeface="宋体" panose="02010600030101010101" pitchFamily="2" charset="-122"/>
              </a:rPr>
              <a:t>•</a:t>
            </a:r>
            <a:r>
              <a:rPr lang="zh-CN" altLang="en-US" sz="2400" b="1"/>
              <a:t>居民收入差距扩大，带动消费倾向下降。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     </a:t>
            </a:r>
            <a:r>
              <a:rPr lang="en-US" altLang="zh-CN" sz="2400" b="1">
                <a:latin typeface="宋体" panose="02010600030101010101" pitchFamily="2" charset="-122"/>
              </a:rPr>
              <a:t>ⅲ</a:t>
            </a:r>
            <a:r>
              <a:rPr lang="en-US" altLang="zh-CN" sz="2400" b="1"/>
              <a:t> </a:t>
            </a:r>
            <a:r>
              <a:rPr lang="zh-CN" altLang="en-US" sz="2400" b="1"/>
              <a:t>、对策：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      </a:t>
            </a:r>
            <a:r>
              <a:rPr lang="en-US" altLang="zh-CN" sz="2400" b="1">
                <a:latin typeface="宋体" panose="02010600030101010101" pitchFamily="2" charset="-122"/>
              </a:rPr>
              <a:t>•</a:t>
            </a:r>
            <a:r>
              <a:rPr lang="zh-CN" altLang="en-US" sz="2400" b="1"/>
              <a:t>制定收入增长政策，增加消费者收入。</a:t>
            </a:r>
            <a:br>
              <a:rPr lang="zh-CN" altLang="en-US" sz="2800" b="1"/>
            </a:br>
            <a:r>
              <a:rPr lang="zh-CN" altLang="en-US" sz="2800" b="1"/>
              <a:t>  </a:t>
            </a:r>
            <a:r>
              <a:rPr lang="en-US" altLang="zh-CN" sz="2400" b="1">
                <a:cs typeface="Arial" panose="020B0604020202020204" pitchFamily="34" charset="0"/>
              </a:rPr>
              <a:t>•</a:t>
            </a:r>
            <a:r>
              <a:rPr lang="zh-CN" altLang="en-US" sz="2400" b="1"/>
              <a:t>调整收入分配政策，平衡收入差距。</a:t>
            </a:r>
            <a:br>
              <a:rPr lang="zh-CN" altLang="en-US" sz="2800" b="1"/>
            </a:br>
            <a:endParaRPr lang="zh-CN" altLang="en-US" sz="2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22DF02F-BA68-DDCC-4B2F-A7AAC9155D5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34A5611-8BF1-B119-1B3B-637A8C1CA62E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Ⅱ</a:t>
            </a:r>
            <a:r>
              <a:rPr lang="zh-CN" altLang="en-US" sz="2400">
                <a:latin typeface="宋体" panose="02010600030101010101" pitchFamily="2" charset="-122"/>
              </a:rPr>
              <a:t>、</a:t>
            </a:r>
            <a:r>
              <a:rPr lang="zh-CN" altLang="en-US" sz="2400" b="1"/>
              <a:t>相对收入的影响效应及对策</a:t>
            </a:r>
            <a:br>
              <a:rPr lang="zh-CN" altLang="en-US" sz="2400"/>
            </a:br>
            <a:r>
              <a:rPr lang="en-US" altLang="zh-CN" sz="2400" b="1">
                <a:latin typeface="宋体" panose="02010600030101010101" pitchFamily="2" charset="-122"/>
              </a:rPr>
              <a:t>ⅰ</a:t>
            </a:r>
            <a:r>
              <a:rPr lang="zh-CN" altLang="en-US" sz="2400" b="1">
                <a:latin typeface="宋体" panose="02010600030101010101" pitchFamily="2" charset="-122"/>
              </a:rPr>
              <a:t>、</a:t>
            </a:r>
            <a:r>
              <a:rPr lang="zh-CN" altLang="en-US" sz="2400" b="1"/>
              <a:t>杜森贝的 相对收入假定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  </a:t>
            </a:r>
            <a:r>
              <a:rPr lang="en-US" altLang="zh-CN" sz="2400" b="1">
                <a:latin typeface="宋体" panose="02010600030101010101" pitchFamily="2" charset="-122"/>
              </a:rPr>
              <a:t>ⅱ</a:t>
            </a:r>
            <a:r>
              <a:rPr lang="zh-CN" altLang="en-US" sz="2400" b="1">
                <a:latin typeface="宋体" panose="02010600030101010101" pitchFamily="2" charset="-122"/>
              </a:rPr>
              <a:t>、</a:t>
            </a:r>
            <a:r>
              <a:rPr lang="zh-CN" altLang="en-US" sz="2400" b="1"/>
              <a:t>在我国，由于制度变迁中未来不确定因素的增加和分配结构的特点，导致消费中存在的“示范效应”和“棘轮作用”弱化。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Ⅲ</a:t>
            </a:r>
            <a:r>
              <a:rPr lang="zh-CN" altLang="en-US" sz="2400" b="1">
                <a:latin typeface="宋体" panose="02010600030101010101" pitchFamily="2" charset="-122"/>
              </a:rPr>
              <a:t>、</a:t>
            </a:r>
            <a:r>
              <a:rPr lang="zh-CN" altLang="en-US" sz="2400" b="1"/>
              <a:t>持久收入的影响效应及对策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</a:t>
            </a:r>
            <a:r>
              <a:rPr lang="en-US" altLang="zh-CN" sz="2400" b="1">
                <a:latin typeface="宋体" panose="02010600030101010101" pitchFamily="2" charset="-122"/>
              </a:rPr>
              <a:t>ⅰ</a:t>
            </a:r>
            <a:r>
              <a:rPr lang="zh-CN" altLang="en-US" sz="2400" b="1">
                <a:latin typeface="宋体" panose="02010600030101010101" pitchFamily="2" charset="-122"/>
              </a:rPr>
              <a:t>、</a:t>
            </a:r>
            <a:r>
              <a:rPr lang="zh-CN" altLang="en-US" sz="2400" b="1"/>
              <a:t>弗里德曼提出了“持久收入假定”理论。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</a:t>
            </a:r>
            <a:r>
              <a:rPr lang="en-US" altLang="zh-CN" sz="2400" b="1">
                <a:latin typeface="宋体" panose="02010600030101010101" pitchFamily="2" charset="-122"/>
              </a:rPr>
              <a:t>ⅱ</a:t>
            </a:r>
            <a:r>
              <a:rPr lang="zh-CN" altLang="en-US" sz="2400" b="1">
                <a:latin typeface="宋体" panose="02010600030101010101" pitchFamily="2" charset="-122"/>
              </a:rPr>
              <a:t>、</a:t>
            </a:r>
            <a:r>
              <a:rPr lang="zh-CN" altLang="en-US" sz="2400" b="1"/>
              <a:t>改革开放以来，市场竞争的风险日益加强，培育并逐步增强了居民对收入特别是持久收人的风险意识，预期持久性收入下降。   </a:t>
            </a:r>
            <a:br>
              <a:rPr lang="zh-CN" altLang="en-US" sz="2400" b="1"/>
            </a:br>
            <a:br>
              <a:rPr lang="zh-CN" altLang="en-US" sz="2400" b="1"/>
            </a:br>
            <a:r>
              <a:rPr lang="zh-CN" altLang="en-US" sz="2400" b="1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5FA189A-0A1E-53D9-ED04-5ED383396CA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73940CD-392D-1519-1FE9-34B1E592DA0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latin typeface="宋体" panose="02010600030101010101" pitchFamily="2" charset="-122"/>
              </a:rPr>
              <a:t>Ⅳ</a:t>
            </a:r>
            <a:r>
              <a:rPr lang="zh-CN" altLang="en-US">
                <a:latin typeface="宋体" panose="02010600030101010101" pitchFamily="2" charset="-122"/>
              </a:rPr>
              <a:t>、</a:t>
            </a:r>
            <a:r>
              <a:rPr lang="zh-CN" altLang="en-US" b="1"/>
              <a:t>总收入对消费需求的影响效应及对策</a:t>
            </a:r>
            <a:r>
              <a:rPr lang="zh-CN" altLang="en-US"/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 b="1">
                <a:latin typeface="宋体" panose="02010600030101010101" pitchFamily="2" charset="-122"/>
              </a:rPr>
              <a:t>ⅰ</a:t>
            </a:r>
            <a:r>
              <a:rPr lang="zh-CN" altLang="en-US" b="1">
                <a:latin typeface="宋体" panose="02010600030101010101" pitchFamily="2" charset="-122"/>
              </a:rPr>
              <a:t>、</a:t>
            </a:r>
            <a:r>
              <a:rPr lang="zh-CN" altLang="en-US" b="1"/>
              <a:t>莫迪利安尼等人提出了“生命周期假定”理论。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  <a:r>
              <a:rPr lang="en-US" altLang="zh-CN" b="1">
                <a:latin typeface="宋体" panose="02010600030101010101" pitchFamily="2" charset="-122"/>
              </a:rPr>
              <a:t>ⅱ</a:t>
            </a:r>
            <a:r>
              <a:rPr lang="zh-CN" altLang="en-US" b="1">
                <a:latin typeface="宋体" panose="02010600030101010101" pitchFamily="2" charset="-122"/>
              </a:rPr>
              <a:t>、</a:t>
            </a:r>
            <a:r>
              <a:rPr lang="zh-CN" altLang="en-US" b="1"/>
              <a:t>我国的现实情况是，居民对未来的预期支出上升，使人们所估计的一生的总收入中用于现期消费的数额减少，从而影响了现期消费。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E8B67B-BFF6-8FBB-7618-AEFEF15710B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1EF76DC-1D0D-0302-299F-2B8DB0C73E2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3</a:t>
            </a:r>
            <a:r>
              <a:rPr lang="zh-CN" altLang="en-US" b="1"/>
              <a:t>、消费者偏好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它取决于社会文化风俗、人们的习惯、社会生活方式等。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4</a:t>
            </a:r>
            <a:r>
              <a:rPr lang="zh-CN" altLang="en-US" b="1"/>
              <a:t>、商品的质量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5</a:t>
            </a:r>
            <a:r>
              <a:rPr lang="zh-CN" altLang="en-US" b="1"/>
              <a:t>、不同商品间的消费平衡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   要实现这种消费平衡必须满足预期效用均衡条件，使得消费者的每单位支出的边际效用对各种商品相同。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B8D6933-DD30-BFBD-6900-9B6AFEC2BAD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F7631AC-6C4F-A9C0-FF4B-62722303DD1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6</a:t>
            </a:r>
            <a:r>
              <a:rPr lang="zh-CN" altLang="en-US" sz="2800" b="1"/>
              <a:t>、示范效应与攀比行为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7</a:t>
            </a:r>
            <a:r>
              <a:rPr lang="zh-CN" altLang="en-US" sz="2800" b="1"/>
              <a:t>、广告和推销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  若干假定：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（</a:t>
            </a:r>
            <a:r>
              <a:rPr lang="en-US" altLang="zh-CN" sz="2800" b="1"/>
              <a:t>1</a:t>
            </a:r>
            <a:r>
              <a:rPr lang="zh-CN" altLang="en-US" sz="2800" b="1"/>
              <a:t>）消费者对于不同的广告模式具有同等的敏感；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（</a:t>
            </a:r>
            <a:r>
              <a:rPr lang="en-US" altLang="zh-CN" sz="2800" b="1"/>
              <a:t>2</a:t>
            </a:r>
            <a:r>
              <a:rPr lang="zh-CN" altLang="en-US" sz="2800" b="1"/>
              <a:t>）对于公司的广告，竞争者无反应行动；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（</a:t>
            </a:r>
            <a:r>
              <a:rPr lang="en-US" altLang="zh-CN" sz="2800" b="1"/>
              <a:t>3</a:t>
            </a:r>
            <a:r>
              <a:rPr lang="zh-CN" altLang="en-US" sz="2800" b="1"/>
              <a:t>）需求尚未饱和；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（</a:t>
            </a:r>
            <a:r>
              <a:rPr lang="en-US" altLang="zh-CN" sz="2800" b="1"/>
              <a:t>4</a:t>
            </a:r>
            <a:r>
              <a:rPr lang="zh-CN" altLang="en-US" sz="2800" b="1"/>
              <a:t>）增加到价格中的单位广告费用不会高得令顾客不敢购买；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 （</a:t>
            </a:r>
            <a:r>
              <a:rPr lang="en-US" altLang="zh-CN" sz="2800" b="1"/>
              <a:t>5</a:t>
            </a:r>
            <a:r>
              <a:rPr lang="zh-CN" altLang="en-US" sz="2800" b="1"/>
              <a:t>）其他需求决定因素不对需求起反向作用。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8BAA031-31BB-54A5-0E9A-3D6D8AAE2E3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AFDCF71-2707-9565-19DF-2E87E00F1D7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8</a:t>
            </a:r>
            <a:r>
              <a:rPr lang="zh-CN" altLang="en-US" b="1"/>
              <a:t>、相关商品的情况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9</a:t>
            </a:r>
            <a:r>
              <a:rPr lang="zh-CN" altLang="en-US" b="1"/>
              <a:t>、对商品信息的了解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10</a:t>
            </a:r>
            <a:r>
              <a:rPr lang="zh-CN" altLang="en-US" b="1"/>
              <a:t>、消费信贷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11</a:t>
            </a:r>
            <a:r>
              <a:rPr lang="zh-CN" altLang="en-US" b="1"/>
              <a:t>、商品的购买成本与使用成本之比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12</a:t>
            </a:r>
            <a:r>
              <a:rPr lang="zh-CN" altLang="en-US" b="1"/>
              <a:t>、商品价格与收入之比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13</a:t>
            </a:r>
            <a:r>
              <a:rPr lang="zh-CN" altLang="en-US" b="1"/>
              <a:t>、消费者预期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14</a:t>
            </a:r>
            <a:r>
              <a:rPr lang="zh-CN" altLang="en-US" b="1"/>
              <a:t>、存款利率和其他投资机会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17E9066-68FA-EC6D-AE03-27E221F8E14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CFFE2D8-61F0-0EB8-5B15-ACAE8280EF1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/>
              <a:t>（二）动态分析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1.</a:t>
            </a:r>
            <a:r>
              <a:rPr lang="zh-CN" altLang="en-US" sz="2800" b="1"/>
              <a:t>商品性质、特点的变化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2.</a:t>
            </a:r>
            <a:r>
              <a:rPr lang="zh-CN" altLang="en-US" sz="2800" b="1"/>
              <a:t>需求的时间特性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/>
              <a:t>二、商品的市场需求的决定因素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/>
              <a:t>三、对企业产品的需求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1</a:t>
            </a:r>
            <a:r>
              <a:rPr lang="zh-CN" altLang="en-US" sz="2800" b="1"/>
              <a:t>、企业产品的多样化程度、与竞争对手产品的差别程度，和顾客对企业品牌的忠诚度。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2</a:t>
            </a:r>
            <a:r>
              <a:rPr lang="zh-CN" altLang="en-US" sz="2800" b="1"/>
              <a:t>、竞争对手的反应程度。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A20E69F-79B3-4F7B-F6E4-DB312864257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474DC07-E0F8-672B-CB10-C7DA1B08D2F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四、中间产品需求的决定因素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1.</a:t>
            </a:r>
            <a:r>
              <a:rPr lang="zh-CN" altLang="en-US" b="1"/>
              <a:t>总体经济增长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2.</a:t>
            </a:r>
            <a:r>
              <a:rPr lang="zh-CN" altLang="en-US" b="1"/>
              <a:t>经济结构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3.</a:t>
            </a:r>
            <a:r>
              <a:rPr lang="zh-CN" altLang="en-US" b="1"/>
              <a:t>价格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63B0BFBF-1222-7A95-5487-87DD62D677A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第三节　　需求的衡量与需求函数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26D7BF9-E5B6-20FC-FB33-AA655B14364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一、需求的衡量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/>
              <a:t>二、需求函数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CDESIGNL</Template>
  <TotalTime>85</TotalTime>
  <Words>1297</Words>
  <Application>Microsoft Office PowerPoint</Application>
  <PresentationFormat>全屏显示(4:3)</PresentationFormat>
  <Paragraphs>103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Arial</vt:lpstr>
      <vt:lpstr>宋体</vt:lpstr>
      <vt:lpstr>Wingdings</vt:lpstr>
      <vt:lpstr>仿宋_GB2312</vt:lpstr>
      <vt:lpstr>华文楷体</vt:lpstr>
      <vt:lpstr>诗情画意</vt:lpstr>
      <vt:lpstr>第三章    商品需求分析</vt:lpstr>
      <vt:lpstr>PowerPoint 演示文稿</vt:lpstr>
      <vt:lpstr>PowerPoint 演示文稿</vt:lpstr>
      <vt:lpstr>PowerPoint 演示文稿</vt:lpstr>
      <vt:lpstr>第二节　　需求的形成与实现</vt:lpstr>
      <vt:lpstr>房地产调控的相关政策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第三节　　需求的衡量与需求函数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   商品需求分析</dc:title>
  <dc:creator>zjz</dc:creator>
  <cp:lastModifiedBy>先生 刘</cp:lastModifiedBy>
  <cp:revision>6</cp:revision>
  <dcterms:created xsi:type="dcterms:W3CDTF">2002-10-08T15:19:02Z</dcterms:created>
  <dcterms:modified xsi:type="dcterms:W3CDTF">2023-10-22T14:21:53Z</dcterms:modified>
</cp:coreProperties>
</file>