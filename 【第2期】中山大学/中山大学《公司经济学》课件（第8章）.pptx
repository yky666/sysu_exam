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sldIdLst>
    <p:sldId id="256" r:id="rId2"/>
    <p:sldId id="276" r:id="rId3"/>
    <p:sldId id="277" r:id="rId4"/>
    <p:sldId id="261" r:id="rId5"/>
    <p:sldId id="262" r:id="rId6"/>
    <p:sldId id="263" r:id="rId7"/>
    <p:sldId id="264" r:id="rId8"/>
    <p:sldId id="284" r:id="rId9"/>
    <p:sldId id="285" r:id="rId10"/>
    <p:sldId id="265" r:id="rId11"/>
    <p:sldId id="266" r:id="rId12"/>
    <p:sldId id="268" r:id="rId13"/>
    <p:sldId id="267" r:id="rId14"/>
    <p:sldId id="269" r:id="rId15"/>
    <p:sldId id="270" r:id="rId16"/>
    <p:sldId id="271" r:id="rId17"/>
    <p:sldId id="272" r:id="rId18"/>
    <p:sldId id="273" r:id="rId19"/>
    <p:sldId id="274" r:id="rId20"/>
    <p:sldId id="286" r:id="rId21"/>
    <p:sldId id="287" r:id="rId22"/>
    <p:sldId id="288" r:id="rId23"/>
    <p:sldId id="292" r:id="rId24"/>
    <p:sldId id="289" r:id="rId25"/>
    <p:sldId id="290" r:id="rId26"/>
    <p:sldId id="293" r:id="rId27"/>
    <p:sldId id="294" r:id="rId28"/>
    <p:sldId id="295" r:id="rId29"/>
    <p:sldId id="291" r:id="rId30"/>
    <p:sldId id="282" r:id="rId31"/>
    <p:sldId id="279" r:id="rId32"/>
    <p:sldId id="280" r:id="rId33"/>
    <p:sldId id="283" r:id="rId34"/>
    <p:sldId id="278" r:id="rId35"/>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2" autoAdjust="0"/>
    <p:restoredTop sz="94686" autoAdjust="0"/>
  </p:normalViewPr>
  <p:slideViewPr>
    <p:cSldViewPr>
      <p:cViewPr varScale="1">
        <p:scale>
          <a:sx n="68" d="100"/>
          <a:sy n="68" d="100"/>
        </p:scale>
        <p:origin x="124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A4DE69D-F083-87E5-911E-0B2DAC43DF4C}"/>
              </a:ext>
            </a:extLst>
          </p:cNvPr>
          <p:cNvSpPr>
            <a:spLocks noGrp="1" noRot="1" noChangeArrowheads="1"/>
          </p:cNvSpPr>
          <p:nvPr>
            <p:ph type="ctrTitle"/>
          </p:nvPr>
        </p:nvSpPr>
        <p:spPr>
          <a:xfrm>
            <a:off x="3962400" y="1066800"/>
            <a:ext cx="4648200" cy="1981200"/>
          </a:xfrm>
        </p:spPr>
        <p:txBody>
          <a:bodyPr/>
          <a:lstStyle>
            <a:lvl1pPr>
              <a:defRPr/>
            </a:lvl1pPr>
          </a:lstStyle>
          <a:p>
            <a:pPr lvl="0"/>
            <a:r>
              <a:rPr lang="zh-CN" altLang="en-US" noProof="0"/>
              <a:t>单击此处编辑母版标题样式</a:t>
            </a:r>
          </a:p>
        </p:txBody>
      </p:sp>
      <p:sp>
        <p:nvSpPr>
          <p:cNvPr id="64515" name="Rectangle 3">
            <a:extLst>
              <a:ext uri="{FF2B5EF4-FFF2-40B4-BE49-F238E27FC236}">
                <a16:creationId xmlns:a16="http://schemas.microsoft.com/office/drawing/2014/main" id="{4362C8B2-9F32-849B-6C71-D75D0F85E52E}"/>
              </a:ext>
            </a:extLst>
          </p:cNvPr>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64516" name="Rectangle 4">
            <a:extLst>
              <a:ext uri="{FF2B5EF4-FFF2-40B4-BE49-F238E27FC236}">
                <a16:creationId xmlns:a16="http://schemas.microsoft.com/office/drawing/2014/main" id="{437C77D8-591E-282E-C0AD-C7E03B13F1B9}"/>
              </a:ext>
            </a:extLst>
          </p:cNvPr>
          <p:cNvSpPr>
            <a:spLocks noGrp="1" noChangeArrowheads="1"/>
          </p:cNvSpPr>
          <p:nvPr>
            <p:ph type="dt" sz="half" idx="2"/>
          </p:nvPr>
        </p:nvSpPr>
        <p:spPr>
          <a:xfrm>
            <a:off x="301625" y="6076950"/>
            <a:ext cx="2289175" cy="476250"/>
          </a:xfrm>
        </p:spPr>
        <p:txBody>
          <a:bodyPr/>
          <a:lstStyle>
            <a:lvl1pPr>
              <a:defRPr/>
            </a:lvl1pPr>
          </a:lstStyle>
          <a:p>
            <a:endParaRPr lang="en-US" altLang="zh-CN"/>
          </a:p>
        </p:txBody>
      </p:sp>
      <p:sp>
        <p:nvSpPr>
          <p:cNvPr id="64517" name="Rectangle 5">
            <a:extLst>
              <a:ext uri="{FF2B5EF4-FFF2-40B4-BE49-F238E27FC236}">
                <a16:creationId xmlns:a16="http://schemas.microsoft.com/office/drawing/2014/main" id="{826F0CE1-26C8-1284-F90D-0E34FCE2ED81}"/>
              </a:ext>
            </a:extLst>
          </p:cNvPr>
          <p:cNvSpPr>
            <a:spLocks noGrp="1" noChangeArrowheads="1"/>
          </p:cNvSpPr>
          <p:nvPr>
            <p:ph type="ftr" sz="quarter" idx="3"/>
          </p:nvPr>
        </p:nvSpPr>
        <p:spPr>
          <a:xfrm>
            <a:off x="3124200" y="6076950"/>
            <a:ext cx="2895600" cy="476250"/>
          </a:xfrm>
        </p:spPr>
        <p:txBody>
          <a:bodyPr/>
          <a:lstStyle>
            <a:lvl1pPr>
              <a:defRPr/>
            </a:lvl1pPr>
          </a:lstStyle>
          <a:p>
            <a:endParaRPr lang="en-US" altLang="zh-CN"/>
          </a:p>
        </p:txBody>
      </p:sp>
      <p:sp>
        <p:nvSpPr>
          <p:cNvPr id="64518" name="Rectangle 6">
            <a:extLst>
              <a:ext uri="{FF2B5EF4-FFF2-40B4-BE49-F238E27FC236}">
                <a16:creationId xmlns:a16="http://schemas.microsoft.com/office/drawing/2014/main" id="{85C578A1-EE11-23B9-B81A-78EA006744A4}"/>
              </a:ext>
            </a:extLst>
          </p:cNvPr>
          <p:cNvSpPr>
            <a:spLocks noGrp="1" noChangeArrowheads="1"/>
          </p:cNvSpPr>
          <p:nvPr>
            <p:ph type="sldNum" sz="quarter" idx="4"/>
          </p:nvPr>
        </p:nvSpPr>
        <p:spPr>
          <a:xfrm>
            <a:off x="6553200" y="6076950"/>
            <a:ext cx="2289175" cy="476250"/>
          </a:xfrm>
        </p:spPr>
        <p:txBody>
          <a:bodyPr/>
          <a:lstStyle>
            <a:lvl1pPr>
              <a:defRPr/>
            </a:lvl1pPr>
          </a:lstStyle>
          <a:p>
            <a:fld id="{D6820846-5F62-4C8A-890F-8740A6BD9D75}"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0DB4B1-3F65-2EB5-A8DC-AC4A48D0804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621E6EB-9A82-B54B-1B07-7B340F231D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8F1644-7FD0-CFF5-872C-4F2A18826DE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2F4BDEB5-16F7-CC35-19AB-68C53CBD3A5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DC91FE0-779E-4801-DF1F-EF6C6A430BE6}"/>
              </a:ext>
            </a:extLst>
          </p:cNvPr>
          <p:cNvSpPr>
            <a:spLocks noGrp="1"/>
          </p:cNvSpPr>
          <p:nvPr>
            <p:ph type="sldNum" sz="quarter" idx="12"/>
          </p:nvPr>
        </p:nvSpPr>
        <p:spPr/>
        <p:txBody>
          <a:bodyPr/>
          <a:lstStyle>
            <a:lvl1pPr>
              <a:defRPr/>
            </a:lvl1pPr>
          </a:lstStyle>
          <a:p>
            <a:fld id="{48DD4D9F-1A8C-4F8B-8B82-526C8F6AF6C0}" type="slidenum">
              <a:rPr lang="en-US" altLang="zh-CN"/>
              <a:pPr/>
              <a:t>‹#›</a:t>
            </a:fld>
            <a:endParaRPr lang="en-US" altLang="zh-CN"/>
          </a:p>
        </p:txBody>
      </p:sp>
    </p:spTree>
    <p:extLst>
      <p:ext uri="{BB962C8B-B14F-4D97-AF65-F5344CB8AC3E}">
        <p14:creationId xmlns:p14="http://schemas.microsoft.com/office/powerpoint/2010/main" val="445460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0C281C-7E4F-7467-F5AD-933C4CB48C1F}"/>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1709905-E1D2-F8CA-1CB7-2B4BD5E26C9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048B9A2-5B4D-DEC4-16FD-C844696CCC8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C5721BC-D3B0-D4CC-DBEC-8B6D996E885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FB875AD-8B80-25BA-AFDF-958F69F63A7F}"/>
              </a:ext>
            </a:extLst>
          </p:cNvPr>
          <p:cNvSpPr>
            <a:spLocks noGrp="1"/>
          </p:cNvSpPr>
          <p:nvPr>
            <p:ph type="sldNum" sz="quarter" idx="12"/>
          </p:nvPr>
        </p:nvSpPr>
        <p:spPr/>
        <p:txBody>
          <a:bodyPr/>
          <a:lstStyle>
            <a:lvl1pPr>
              <a:defRPr/>
            </a:lvl1pPr>
          </a:lstStyle>
          <a:p>
            <a:fld id="{510C3651-87EA-4B51-BFE3-2F10AC578BBA}" type="slidenum">
              <a:rPr lang="en-US" altLang="zh-CN"/>
              <a:pPr/>
              <a:t>‹#›</a:t>
            </a:fld>
            <a:endParaRPr lang="en-US" altLang="zh-CN"/>
          </a:p>
        </p:txBody>
      </p:sp>
    </p:spTree>
    <p:extLst>
      <p:ext uri="{BB962C8B-B14F-4D97-AF65-F5344CB8AC3E}">
        <p14:creationId xmlns:p14="http://schemas.microsoft.com/office/powerpoint/2010/main" val="299660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3BE59-1545-B29C-97D2-EF636C39AC1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C061B4E-C0A0-9152-6B17-C8B261EB0CF6}"/>
              </a:ext>
            </a:extLst>
          </p:cNvPr>
          <p:cNvSpPr>
            <a:spLocks noGrp="1"/>
          </p:cNvSpPr>
          <p:nvPr>
            <p:ph sz="half" idx="1"/>
          </p:nvPr>
        </p:nvSpPr>
        <p:spPr>
          <a:xfrm>
            <a:off x="304800" y="1981200"/>
            <a:ext cx="4194175"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F6A0DF2-2F9A-E64A-9AF8-24F267977CAA}"/>
              </a:ext>
            </a:extLst>
          </p:cNvPr>
          <p:cNvSpPr>
            <a:spLocks noGrp="1"/>
          </p:cNvSpPr>
          <p:nvPr>
            <p:ph sz="half" idx="2"/>
          </p:nvPr>
        </p:nvSpPr>
        <p:spPr>
          <a:xfrm>
            <a:off x="4651375" y="1981200"/>
            <a:ext cx="4194175"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081A507-20DA-AFD3-EF05-E8B4226C28DE}"/>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AC720787-724D-9643-19B0-AD7FB300EB9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02A7EE6-FC18-0867-364E-233C9E275962}"/>
              </a:ext>
            </a:extLst>
          </p:cNvPr>
          <p:cNvSpPr>
            <a:spLocks noGrp="1"/>
          </p:cNvSpPr>
          <p:nvPr>
            <p:ph type="sldNum" sz="quarter" idx="12"/>
          </p:nvPr>
        </p:nvSpPr>
        <p:spPr/>
        <p:txBody>
          <a:bodyPr/>
          <a:lstStyle>
            <a:lvl1pPr>
              <a:defRPr/>
            </a:lvl1pPr>
          </a:lstStyle>
          <a:p>
            <a:fld id="{4998C764-6817-42F2-988F-0FE6A127D290}" type="slidenum">
              <a:rPr lang="en-US" altLang="zh-CN"/>
              <a:pPr/>
              <a:t>‹#›</a:t>
            </a:fld>
            <a:endParaRPr lang="en-US" altLang="zh-CN"/>
          </a:p>
        </p:txBody>
      </p:sp>
    </p:spTree>
    <p:extLst>
      <p:ext uri="{BB962C8B-B14F-4D97-AF65-F5344CB8AC3E}">
        <p14:creationId xmlns:p14="http://schemas.microsoft.com/office/powerpoint/2010/main" val="2589748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98A71-0A0F-7158-8F11-868DCBE5808C}"/>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95AB9C5-0673-14BD-D026-26F421F89A7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54698D5-CDDE-3356-5166-BD5E8BA11014}"/>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D6BC0BF-0C9D-4C83-215C-30EE043C9AB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27C026A-917A-F8F9-0607-EBDBBD10D2BF}"/>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FA8F53B-DE70-022D-D33B-4A4B41C00035}"/>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DF017F59-A247-A211-E779-699F32441AF0}"/>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2058EEEF-0BD9-31AC-84D5-ED526CDD192C}"/>
              </a:ext>
            </a:extLst>
          </p:cNvPr>
          <p:cNvSpPr>
            <a:spLocks noGrp="1"/>
          </p:cNvSpPr>
          <p:nvPr>
            <p:ph type="sldNum" sz="quarter" idx="12"/>
          </p:nvPr>
        </p:nvSpPr>
        <p:spPr/>
        <p:txBody>
          <a:bodyPr/>
          <a:lstStyle>
            <a:lvl1pPr>
              <a:defRPr/>
            </a:lvl1pPr>
          </a:lstStyle>
          <a:p>
            <a:fld id="{DFD8EEC3-EFD8-40B4-BA72-56589E7E391C}" type="slidenum">
              <a:rPr lang="en-US" altLang="zh-CN"/>
              <a:pPr/>
              <a:t>‹#›</a:t>
            </a:fld>
            <a:endParaRPr lang="en-US" altLang="zh-CN"/>
          </a:p>
        </p:txBody>
      </p:sp>
    </p:spTree>
    <p:extLst>
      <p:ext uri="{BB962C8B-B14F-4D97-AF65-F5344CB8AC3E}">
        <p14:creationId xmlns:p14="http://schemas.microsoft.com/office/powerpoint/2010/main" val="230434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A2DA1-13AF-CBE3-049E-3015F9D047C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B871857-BFBE-362C-5B4E-B36465CAC1EB}"/>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BF589D2D-D2F8-095B-37BD-09B4A3B48B0E}"/>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065BDEB4-30BF-EC8C-D813-018E1293008D}"/>
              </a:ext>
            </a:extLst>
          </p:cNvPr>
          <p:cNvSpPr>
            <a:spLocks noGrp="1"/>
          </p:cNvSpPr>
          <p:nvPr>
            <p:ph type="sldNum" sz="quarter" idx="12"/>
          </p:nvPr>
        </p:nvSpPr>
        <p:spPr/>
        <p:txBody>
          <a:bodyPr/>
          <a:lstStyle>
            <a:lvl1pPr>
              <a:defRPr/>
            </a:lvl1pPr>
          </a:lstStyle>
          <a:p>
            <a:fld id="{8AC9315A-C7E6-4933-BA7A-3005D546DB72}" type="slidenum">
              <a:rPr lang="en-US" altLang="zh-CN"/>
              <a:pPr/>
              <a:t>‹#›</a:t>
            </a:fld>
            <a:endParaRPr lang="en-US" altLang="zh-CN"/>
          </a:p>
        </p:txBody>
      </p:sp>
    </p:spTree>
    <p:extLst>
      <p:ext uri="{BB962C8B-B14F-4D97-AF65-F5344CB8AC3E}">
        <p14:creationId xmlns:p14="http://schemas.microsoft.com/office/powerpoint/2010/main" val="3861020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9CDDD63-5D29-4BAF-A189-991516D1DBAF}"/>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C03A5220-E557-3966-6BB0-E75BA699253B}"/>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A87D3F12-5CE6-7104-35D2-455E780D0E4A}"/>
              </a:ext>
            </a:extLst>
          </p:cNvPr>
          <p:cNvSpPr>
            <a:spLocks noGrp="1"/>
          </p:cNvSpPr>
          <p:nvPr>
            <p:ph type="sldNum" sz="quarter" idx="12"/>
          </p:nvPr>
        </p:nvSpPr>
        <p:spPr/>
        <p:txBody>
          <a:bodyPr/>
          <a:lstStyle>
            <a:lvl1pPr>
              <a:defRPr/>
            </a:lvl1pPr>
          </a:lstStyle>
          <a:p>
            <a:fld id="{34BF2D13-B170-407F-9376-AAF199403A76}" type="slidenum">
              <a:rPr lang="en-US" altLang="zh-CN"/>
              <a:pPr/>
              <a:t>‹#›</a:t>
            </a:fld>
            <a:endParaRPr lang="en-US" altLang="zh-CN"/>
          </a:p>
        </p:txBody>
      </p:sp>
    </p:spTree>
    <p:extLst>
      <p:ext uri="{BB962C8B-B14F-4D97-AF65-F5344CB8AC3E}">
        <p14:creationId xmlns:p14="http://schemas.microsoft.com/office/powerpoint/2010/main" val="181514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4291D-B339-CB74-06FF-DF88F63501A1}"/>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F161001-B771-44B7-9A39-5E57F5F1F35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53A7D19-5891-FD28-497E-20A88F1252F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293A1E-52A6-DF69-E82B-F893E29E8C98}"/>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4461842-E353-C19C-A95A-69DF652B9EF6}"/>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69D960C-5D82-D400-650A-EF5E75B71806}"/>
              </a:ext>
            </a:extLst>
          </p:cNvPr>
          <p:cNvSpPr>
            <a:spLocks noGrp="1"/>
          </p:cNvSpPr>
          <p:nvPr>
            <p:ph type="sldNum" sz="quarter" idx="12"/>
          </p:nvPr>
        </p:nvSpPr>
        <p:spPr/>
        <p:txBody>
          <a:bodyPr/>
          <a:lstStyle>
            <a:lvl1pPr>
              <a:defRPr/>
            </a:lvl1pPr>
          </a:lstStyle>
          <a:p>
            <a:fld id="{1C7EC760-528D-485E-9F1E-31F0DF5E2351}" type="slidenum">
              <a:rPr lang="en-US" altLang="zh-CN"/>
              <a:pPr/>
              <a:t>‹#›</a:t>
            </a:fld>
            <a:endParaRPr lang="en-US" altLang="zh-CN"/>
          </a:p>
        </p:txBody>
      </p:sp>
    </p:spTree>
    <p:extLst>
      <p:ext uri="{BB962C8B-B14F-4D97-AF65-F5344CB8AC3E}">
        <p14:creationId xmlns:p14="http://schemas.microsoft.com/office/powerpoint/2010/main" val="1607148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C8F39-1C22-DB27-0C8C-3ED2F10DA28B}"/>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01648ED-3014-5893-6B72-97190221863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110BE23-CD92-A688-55AD-EF63399B185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6154803-B904-EFEA-7A94-DE4D72F67D6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78027D8-B5EC-309D-224E-92A36DC86AFD}"/>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236CE2B-EA07-6700-8BC5-424D8EE39433}"/>
              </a:ext>
            </a:extLst>
          </p:cNvPr>
          <p:cNvSpPr>
            <a:spLocks noGrp="1"/>
          </p:cNvSpPr>
          <p:nvPr>
            <p:ph type="sldNum" sz="quarter" idx="12"/>
          </p:nvPr>
        </p:nvSpPr>
        <p:spPr/>
        <p:txBody>
          <a:bodyPr/>
          <a:lstStyle>
            <a:lvl1pPr>
              <a:defRPr/>
            </a:lvl1pPr>
          </a:lstStyle>
          <a:p>
            <a:fld id="{9301BD4D-F0CC-47B0-A764-23619AF7DF25}" type="slidenum">
              <a:rPr lang="en-US" altLang="zh-CN"/>
              <a:pPr/>
              <a:t>‹#›</a:t>
            </a:fld>
            <a:endParaRPr lang="en-US" altLang="zh-CN"/>
          </a:p>
        </p:txBody>
      </p:sp>
    </p:spTree>
    <p:extLst>
      <p:ext uri="{BB962C8B-B14F-4D97-AF65-F5344CB8AC3E}">
        <p14:creationId xmlns:p14="http://schemas.microsoft.com/office/powerpoint/2010/main" val="239793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29397C-9DFA-2E47-F4BD-9CD77382612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5F38D98-2779-9028-1AE8-EADDFBD239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97553A-769A-350D-1B10-F4E7F74CEE1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9CAF35F-F1CA-625E-E1AF-64FDAFE9F82D}"/>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4FF96BF-91A6-4D71-7FFC-AD5DA5CEFC68}"/>
              </a:ext>
            </a:extLst>
          </p:cNvPr>
          <p:cNvSpPr>
            <a:spLocks noGrp="1"/>
          </p:cNvSpPr>
          <p:nvPr>
            <p:ph type="sldNum" sz="quarter" idx="12"/>
          </p:nvPr>
        </p:nvSpPr>
        <p:spPr/>
        <p:txBody>
          <a:bodyPr/>
          <a:lstStyle>
            <a:lvl1pPr>
              <a:defRPr/>
            </a:lvl1pPr>
          </a:lstStyle>
          <a:p>
            <a:fld id="{42951E2B-63EF-44AB-AEFF-F508A1674A66}" type="slidenum">
              <a:rPr lang="en-US" altLang="zh-CN"/>
              <a:pPr/>
              <a:t>‹#›</a:t>
            </a:fld>
            <a:endParaRPr lang="en-US" altLang="zh-CN"/>
          </a:p>
        </p:txBody>
      </p:sp>
    </p:spTree>
    <p:extLst>
      <p:ext uri="{BB962C8B-B14F-4D97-AF65-F5344CB8AC3E}">
        <p14:creationId xmlns:p14="http://schemas.microsoft.com/office/powerpoint/2010/main" val="1381397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983ED17-FDC5-54D0-8F8E-BEBB37727117}"/>
              </a:ext>
            </a:extLst>
          </p:cNvPr>
          <p:cNvSpPr>
            <a:spLocks noGrp="1"/>
          </p:cNvSpPr>
          <p:nvPr>
            <p:ph type="title" orient="vert"/>
          </p:nvPr>
        </p:nvSpPr>
        <p:spPr>
          <a:xfrm>
            <a:off x="6710363" y="685800"/>
            <a:ext cx="2135187" cy="51816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BD3864C-C789-318D-15A4-CBE0282B3EDE}"/>
              </a:ext>
            </a:extLst>
          </p:cNvPr>
          <p:cNvSpPr>
            <a:spLocks noGrp="1"/>
          </p:cNvSpPr>
          <p:nvPr>
            <p:ph type="body" orient="vert" idx="1"/>
          </p:nvPr>
        </p:nvSpPr>
        <p:spPr>
          <a:xfrm>
            <a:off x="301625" y="685800"/>
            <a:ext cx="6256338" cy="51816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FD38A76-B647-C316-5605-6A86B6E33728}"/>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FDE49BCF-C9C2-D019-B195-992E043C68E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8F58D52-66C7-6F7D-D70F-7CFFC7ED22E7}"/>
              </a:ext>
            </a:extLst>
          </p:cNvPr>
          <p:cNvSpPr>
            <a:spLocks noGrp="1"/>
          </p:cNvSpPr>
          <p:nvPr>
            <p:ph type="sldNum" sz="quarter" idx="12"/>
          </p:nvPr>
        </p:nvSpPr>
        <p:spPr/>
        <p:txBody>
          <a:bodyPr/>
          <a:lstStyle>
            <a:lvl1pPr>
              <a:defRPr/>
            </a:lvl1pPr>
          </a:lstStyle>
          <a:p>
            <a:fld id="{CBA77254-F8BD-42F8-90A1-048D38E3D874}" type="slidenum">
              <a:rPr lang="en-US" altLang="zh-CN"/>
              <a:pPr/>
              <a:t>‹#›</a:t>
            </a:fld>
            <a:endParaRPr lang="en-US" altLang="zh-CN"/>
          </a:p>
        </p:txBody>
      </p:sp>
    </p:spTree>
    <p:extLst>
      <p:ext uri="{BB962C8B-B14F-4D97-AF65-F5344CB8AC3E}">
        <p14:creationId xmlns:p14="http://schemas.microsoft.com/office/powerpoint/2010/main" val="633309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B7168EE-6988-3250-8E92-BAEE6B7860E7}"/>
              </a:ext>
            </a:extLst>
          </p:cNvPr>
          <p:cNvSpPr>
            <a:spLocks noGrp="1" noRot="1" noChangeArrowheads="1"/>
          </p:cNvSpPr>
          <p:nvPr>
            <p:ph type="title"/>
          </p:nvPr>
        </p:nvSpPr>
        <p:spPr bwMode="auto">
          <a:xfrm>
            <a:off x="301625" y="6858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3491" name="Rectangle 3">
            <a:extLst>
              <a:ext uri="{FF2B5EF4-FFF2-40B4-BE49-F238E27FC236}">
                <a16:creationId xmlns:a16="http://schemas.microsoft.com/office/drawing/2014/main" id="{22693243-EA70-A4D0-F96C-3CD9E759E5F5}"/>
              </a:ext>
            </a:extLst>
          </p:cNvPr>
          <p:cNvSpPr>
            <a:spLocks noGrp="1" noRot="1" noChangeArrowheads="1"/>
          </p:cNvSpPr>
          <p:nvPr>
            <p:ph type="body" idx="1"/>
          </p:nvPr>
        </p:nvSpPr>
        <p:spPr bwMode="auto">
          <a:xfrm>
            <a:off x="304800" y="1981200"/>
            <a:ext cx="854075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3492" name="Rectangle 4">
            <a:extLst>
              <a:ext uri="{FF2B5EF4-FFF2-40B4-BE49-F238E27FC236}">
                <a16:creationId xmlns:a16="http://schemas.microsoft.com/office/drawing/2014/main" id="{05F6A8BF-CD93-4CBF-CE9B-AD6CFFD52CD2}"/>
              </a:ext>
            </a:extLst>
          </p:cNvPr>
          <p:cNvSpPr>
            <a:spLocks noGrp="1" noChangeArrowheads="1"/>
          </p:cNvSpPr>
          <p:nvPr>
            <p:ph type="dt" sz="half" idx="2"/>
          </p:nvPr>
        </p:nvSpPr>
        <p:spPr bwMode="auto">
          <a:xfrm>
            <a:off x="301625"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63493" name="Rectangle 5">
            <a:extLst>
              <a:ext uri="{FF2B5EF4-FFF2-40B4-BE49-F238E27FC236}">
                <a16:creationId xmlns:a16="http://schemas.microsoft.com/office/drawing/2014/main" id="{A8E628E7-8C8C-28EB-FCD7-0216AFD81A23}"/>
              </a:ext>
            </a:extLst>
          </p:cNvPr>
          <p:cNvSpPr>
            <a:spLocks noGrp="1" noChangeArrowheads="1"/>
          </p:cNvSpPr>
          <p:nvPr>
            <p:ph type="ftr" sz="quarter" idx="3"/>
          </p:nvPr>
        </p:nvSpPr>
        <p:spPr bwMode="auto">
          <a:xfrm>
            <a:off x="3124200" y="60198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63494" name="Rectangle 6">
            <a:extLst>
              <a:ext uri="{FF2B5EF4-FFF2-40B4-BE49-F238E27FC236}">
                <a16:creationId xmlns:a16="http://schemas.microsoft.com/office/drawing/2014/main" id="{FA80041E-48D7-E592-AA37-45023B5A0E19}"/>
              </a:ext>
            </a:extLst>
          </p:cNvPr>
          <p:cNvSpPr>
            <a:spLocks noGrp="1" noChangeArrowheads="1"/>
          </p:cNvSpPr>
          <p:nvPr>
            <p:ph type="sldNum" sz="quarter" idx="4"/>
          </p:nvPr>
        </p:nvSpPr>
        <p:spPr bwMode="auto">
          <a:xfrm>
            <a:off x="6553200" y="60198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3488ADC-9CB2-4725-AD7E-30BBE824A57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8CFFD1A-B2CF-7F86-D341-1FB591473E9E}"/>
              </a:ext>
            </a:extLst>
          </p:cNvPr>
          <p:cNvSpPr>
            <a:spLocks noGrp="1" noRot="1" noChangeArrowheads="1"/>
          </p:cNvSpPr>
          <p:nvPr>
            <p:ph type="ctrTitle"/>
          </p:nvPr>
        </p:nvSpPr>
        <p:spPr>
          <a:xfrm>
            <a:off x="2771775" y="1052513"/>
            <a:ext cx="4648200" cy="1981200"/>
          </a:xfrm>
        </p:spPr>
        <p:txBody>
          <a:bodyPr/>
          <a:lstStyle/>
          <a:p>
            <a:r>
              <a:rPr lang="en-US" altLang="zh-CN"/>
              <a:t>  </a:t>
            </a:r>
            <a:r>
              <a:rPr lang="zh-CN" altLang="en-US"/>
              <a:t>第八章   规模经济性</a:t>
            </a:r>
          </a:p>
        </p:txBody>
      </p:sp>
      <p:sp>
        <p:nvSpPr>
          <p:cNvPr id="2051" name="Rectangle 3">
            <a:extLst>
              <a:ext uri="{FF2B5EF4-FFF2-40B4-BE49-F238E27FC236}">
                <a16:creationId xmlns:a16="http://schemas.microsoft.com/office/drawing/2014/main" id="{A0370877-681F-756E-DF73-B471B859A77A}"/>
              </a:ext>
            </a:extLst>
          </p:cNvPr>
          <p:cNvSpPr>
            <a:spLocks noGrp="1" noRot="1" noChangeArrowheads="1"/>
          </p:cNvSpPr>
          <p:nvPr>
            <p:ph type="subTitle" idx="1"/>
          </p:nvPr>
        </p:nvSpPr>
        <p:spPr>
          <a:xfrm>
            <a:off x="2771775" y="3573463"/>
            <a:ext cx="4572000" cy="1676400"/>
          </a:xfrm>
        </p:spPr>
        <p:txBody>
          <a:bodyPr/>
          <a:lstStyle/>
          <a:p>
            <a:r>
              <a:rPr lang="zh-CN" altLang="en-US"/>
              <a:t>第一节  规模的经济性</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CE5A20D-0788-6BAB-B6AB-121B50125FD4}"/>
              </a:ext>
            </a:extLst>
          </p:cNvPr>
          <p:cNvSpPr>
            <a:spLocks noGrp="1" noRot="1" noChangeArrowheads="1"/>
          </p:cNvSpPr>
          <p:nvPr>
            <p:ph type="title"/>
          </p:nvPr>
        </p:nvSpPr>
        <p:spPr/>
        <p:txBody>
          <a:bodyPr/>
          <a:lstStyle/>
          <a:p>
            <a:endParaRPr lang="zh-CN" altLang="zh-CN"/>
          </a:p>
        </p:txBody>
      </p:sp>
      <p:sp>
        <p:nvSpPr>
          <p:cNvPr id="31747" name="Rectangle 3">
            <a:extLst>
              <a:ext uri="{FF2B5EF4-FFF2-40B4-BE49-F238E27FC236}">
                <a16:creationId xmlns:a16="http://schemas.microsoft.com/office/drawing/2014/main" id="{83B8FC8B-929D-B8C9-0D8D-32A1B34C07CC}"/>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800">
                <a:solidFill>
                  <a:srgbClr val="000000"/>
                </a:solidFill>
              </a:rPr>
              <a:t>一、长期成本函数</a:t>
            </a:r>
            <a:endParaRPr lang="zh-CN" altLang="en-US" sz="2800"/>
          </a:p>
          <a:p>
            <a:pPr>
              <a:buFont typeface="Wingdings" panose="05000000000000000000" pitchFamily="2" charset="2"/>
              <a:buNone/>
            </a:pPr>
            <a:r>
              <a:rPr lang="zh-CN" altLang="en-US" sz="2800"/>
              <a:t>　</a:t>
            </a:r>
            <a:r>
              <a:rPr lang="en-US" altLang="zh-CN" sz="2800">
                <a:cs typeface="Tahoma" panose="020B0604030504040204" pitchFamily="34" charset="0"/>
              </a:rPr>
              <a:t>•</a:t>
            </a:r>
            <a:r>
              <a:rPr lang="zh-CN" altLang="en-US" sz="2800"/>
              <a:t>　</a:t>
            </a:r>
            <a:r>
              <a:rPr lang="zh-CN" altLang="en-US" sz="2400">
                <a:solidFill>
                  <a:srgbClr val="000000"/>
                </a:solidFill>
              </a:rPr>
              <a:t>在生产的规模收益和长期成本函数之间存在直接对　　应关系。</a:t>
            </a:r>
            <a:r>
              <a:rPr lang="zh-CN" altLang="en-US" sz="2400"/>
              <a:t> </a:t>
            </a:r>
          </a:p>
          <a:p>
            <a:pPr>
              <a:buFont typeface="Wingdings" panose="05000000000000000000" pitchFamily="2" charset="2"/>
              <a:buNone/>
            </a:pPr>
            <a:r>
              <a:rPr lang="zh-CN" altLang="en-US" sz="2400"/>
              <a:t>　</a:t>
            </a:r>
            <a:r>
              <a:rPr lang="en-US" altLang="zh-CN" sz="2400">
                <a:cs typeface="Tahoma" panose="020B0604030504040204" pitchFamily="34" charset="0"/>
              </a:rPr>
              <a:t>•</a:t>
            </a:r>
            <a:r>
              <a:rPr lang="zh-CN" altLang="en-US" sz="2400"/>
              <a:t>　</a:t>
            </a:r>
            <a:r>
              <a:rPr lang="zh-CN" altLang="en-US" sz="2400">
                <a:solidFill>
                  <a:srgbClr val="000000"/>
                </a:solidFill>
              </a:rPr>
              <a:t>每条短期成本曲线都只与长期平均成本曲线上的某　一点相切，因此，长期平均成本曲线呈平滑的Ｕ型。</a:t>
            </a:r>
            <a:endParaRPr lang="zh-CN" altLang="en-US" sz="2400"/>
          </a:p>
          <a:p>
            <a:pPr>
              <a:buFont typeface="Wingdings" panose="05000000000000000000" pitchFamily="2" charset="2"/>
              <a:buNone/>
            </a:pP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EADE74D-B33C-4129-72F2-93E9819FD0CE}"/>
              </a:ext>
            </a:extLst>
          </p:cNvPr>
          <p:cNvSpPr>
            <a:spLocks noGrp="1" noRot="1" noChangeArrowheads="1"/>
          </p:cNvSpPr>
          <p:nvPr>
            <p:ph type="title"/>
          </p:nvPr>
        </p:nvSpPr>
        <p:spPr/>
        <p:txBody>
          <a:bodyPr/>
          <a:lstStyle/>
          <a:p>
            <a:endParaRPr lang="zh-CN" altLang="zh-CN"/>
          </a:p>
        </p:txBody>
      </p:sp>
      <p:sp>
        <p:nvSpPr>
          <p:cNvPr id="32771" name="Rectangle 3">
            <a:extLst>
              <a:ext uri="{FF2B5EF4-FFF2-40B4-BE49-F238E27FC236}">
                <a16:creationId xmlns:a16="http://schemas.microsoft.com/office/drawing/2014/main" id="{AFA13D1D-EDCC-A231-0E55-1831B39828EA}"/>
              </a:ext>
            </a:extLst>
          </p:cNvPr>
          <p:cNvSpPr>
            <a:spLocks noGrp="1" noRot="1" noChangeArrowheads="1"/>
          </p:cNvSpPr>
          <p:nvPr>
            <p:ph type="body" idx="1"/>
          </p:nvPr>
        </p:nvSpPr>
        <p:spPr/>
        <p:txBody>
          <a:bodyPr/>
          <a:lstStyle/>
          <a:p>
            <a:r>
              <a:rPr lang="zh-CN" altLang="en-US" sz="2800">
                <a:solidFill>
                  <a:srgbClr val="000000"/>
                </a:solidFill>
              </a:rPr>
              <a:t>长期成本函数的特点：</a:t>
            </a:r>
            <a:endParaRPr lang="zh-CN" altLang="en-US" sz="2800"/>
          </a:p>
          <a:p>
            <a:pPr>
              <a:buFont typeface="Wingdings" panose="05000000000000000000" pitchFamily="2" charset="2"/>
              <a:buNone/>
            </a:pPr>
            <a:r>
              <a:rPr lang="zh-CN" altLang="en-US" sz="2400">
                <a:solidFill>
                  <a:srgbClr val="000000"/>
                </a:solidFill>
              </a:rPr>
              <a:t>１、近似性</a:t>
            </a:r>
          </a:p>
          <a:p>
            <a:pPr>
              <a:buFont typeface="Wingdings" panose="05000000000000000000" pitchFamily="2" charset="2"/>
              <a:buNone/>
            </a:pPr>
            <a:r>
              <a:rPr lang="zh-CN" altLang="en-US" sz="2400">
                <a:solidFill>
                  <a:srgbClr val="000000"/>
                </a:solidFill>
                <a:latin typeface="Times New Roman" panose="02020603050405020304" pitchFamily="18" charset="0"/>
              </a:rPr>
              <a:t>２、受技术状况的影响</a:t>
            </a:r>
            <a:endParaRPr lang="zh-CN" altLang="en-US" sz="240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400">
                <a:solidFill>
                  <a:srgbClr val="000000"/>
                </a:solidFill>
              </a:rPr>
              <a:t>３、投入要素价格的影响</a:t>
            </a:r>
            <a:endParaRPr lang="zh-CN" altLang="en-US" sz="2400"/>
          </a:p>
          <a:p>
            <a:pPr>
              <a:buFont typeface="Wingdings" panose="05000000000000000000" pitchFamily="2" charset="2"/>
              <a:buNone/>
            </a:pPr>
            <a:endParaRPr lang="zh-CN" altLang="en-US" sz="2400"/>
          </a:p>
          <a:p>
            <a:endParaRPr lang="zh-CN" altLang="en-US"/>
          </a:p>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27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D3329AA-EDCF-2445-774D-ACEB9CD16739}"/>
              </a:ext>
            </a:extLst>
          </p:cNvPr>
          <p:cNvSpPr>
            <a:spLocks noGrp="1" noRot="1" noChangeArrowheads="1"/>
          </p:cNvSpPr>
          <p:nvPr>
            <p:ph type="title"/>
          </p:nvPr>
        </p:nvSpPr>
        <p:spPr/>
        <p:txBody>
          <a:bodyPr/>
          <a:lstStyle/>
          <a:p>
            <a:endParaRPr lang="zh-CN" altLang="zh-CN"/>
          </a:p>
        </p:txBody>
      </p:sp>
      <p:sp>
        <p:nvSpPr>
          <p:cNvPr id="7171" name="Rectangle 3">
            <a:extLst>
              <a:ext uri="{FF2B5EF4-FFF2-40B4-BE49-F238E27FC236}">
                <a16:creationId xmlns:a16="http://schemas.microsoft.com/office/drawing/2014/main" id="{9DDCF519-EFA5-6826-DC86-0C670E1C9E15}"/>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二、长期平均成本曲线的不同类型</a:t>
            </a:r>
          </a:p>
          <a:p>
            <a:pPr>
              <a:buFont typeface="Wingdings" panose="05000000000000000000" pitchFamily="2" charset="2"/>
              <a:buNone/>
            </a:pPr>
            <a:r>
              <a:rPr lang="zh-CN" altLang="en-US"/>
              <a:t>  ㈠常数的（不变的）长期平均成本曲线</a:t>
            </a:r>
          </a:p>
          <a:p>
            <a:pPr>
              <a:buFont typeface="Wingdings" panose="05000000000000000000" pitchFamily="2" charset="2"/>
              <a:buNone/>
            </a:pPr>
            <a:r>
              <a:rPr lang="zh-CN" altLang="en-US"/>
              <a:t>  ㈡递减的长期平均曲线</a:t>
            </a:r>
          </a:p>
          <a:p>
            <a:pPr>
              <a:buFont typeface="Wingdings" panose="05000000000000000000" pitchFamily="2" charset="2"/>
              <a:buNone/>
            </a:pPr>
            <a:r>
              <a:rPr lang="zh-CN" altLang="en-US"/>
              <a:t>  ㈢递增的长期平均成本曲线</a:t>
            </a:r>
          </a:p>
          <a:p>
            <a:pPr>
              <a:buFont typeface="Wingdings" panose="05000000000000000000" pitchFamily="2" charset="2"/>
              <a:buNone/>
            </a:pPr>
            <a:r>
              <a:rPr lang="zh-CN" altLang="en-US"/>
              <a:t>  ㈣Ｕ型长期平均成本曲线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1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16B5F93-67C1-F2F7-68E4-A3FDCDCB3F2A}"/>
              </a:ext>
            </a:extLst>
          </p:cNvPr>
          <p:cNvSpPr>
            <a:spLocks noGrp="1" noRot="1" noChangeArrowheads="1"/>
          </p:cNvSpPr>
          <p:nvPr>
            <p:ph type="title"/>
          </p:nvPr>
        </p:nvSpPr>
        <p:spPr/>
        <p:txBody>
          <a:bodyPr/>
          <a:lstStyle/>
          <a:p>
            <a:endParaRPr lang="zh-CN" altLang="zh-CN"/>
          </a:p>
        </p:txBody>
      </p:sp>
      <p:sp>
        <p:nvSpPr>
          <p:cNvPr id="8195" name="Rectangle 3">
            <a:extLst>
              <a:ext uri="{FF2B5EF4-FFF2-40B4-BE49-F238E27FC236}">
                <a16:creationId xmlns:a16="http://schemas.microsoft.com/office/drawing/2014/main" id="{8CDB2DEA-9D54-7055-30B2-1604B249265E}"/>
              </a:ext>
            </a:extLst>
          </p:cNvPr>
          <p:cNvSpPr>
            <a:spLocks noGrp="1" noRot="1" noChangeArrowheads="1"/>
          </p:cNvSpPr>
          <p:nvPr>
            <p:ph type="body" idx="1"/>
          </p:nvPr>
        </p:nvSpPr>
        <p:spPr/>
        <p:txBody>
          <a:bodyPr/>
          <a:lstStyle/>
          <a:p>
            <a:pPr>
              <a:buFont typeface="Wingdings" panose="05000000000000000000" pitchFamily="2" charset="2"/>
              <a:buNone/>
            </a:pPr>
            <a:r>
              <a:rPr lang="zh-CN" altLang="en-US"/>
              <a:t>三、若干相互关联的概念</a:t>
            </a:r>
          </a:p>
          <a:p>
            <a:r>
              <a:rPr lang="zh-CN" altLang="en-US"/>
              <a:t>最小有效规模与最大有效规模</a:t>
            </a:r>
          </a:p>
          <a:p>
            <a:endParaRPr lang="zh-CN" altLang="en-US"/>
          </a:p>
          <a:p>
            <a:r>
              <a:rPr lang="zh-CN" altLang="en-US"/>
              <a:t>最优规模范围与非有效的规模范围</a:t>
            </a:r>
          </a:p>
          <a:p>
            <a:endParaRPr lang="zh-CN" altLang="en-US"/>
          </a:p>
          <a:p>
            <a:r>
              <a:rPr lang="zh-CN" altLang="en-US"/>
              <a:t>规模的经济性与规模的不经济性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blinds(horizontal)">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blinds(horizontal)">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195">
                                            <p:txEl>
                                              <p:pRg st="3" end="3"/>
                                            </p:txEl>
                                          </p:spTgt>
                                        </p:tgtEl>
                                        <p:attrNameLst>
                                          <p:attrName>style.visibility</p:attrName>
                                        </p:attrNameLst>
                                      </p:cBhvr>
                                      <p:to>
                                        <p:strVal val="visible"/>
                                      </p:to>
                                    </p:set>
                                    <p:animEffect transition="in" filter="blinds(horizontal)">
                                      <p:cBhvr>
                                        <p:cTn id="17" dur="500"/>
                                        <p:tgtEl>
                                          <p:spTgt spid="81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195">
                                            <p:txEl>
                                              <p:pRg st="5" end="5"/>
                                            </p:txEl>
                                          </p:spTgt>
                                        </p:tgtEl>
                                        <p:attrNameLst>
                                          <p:attrName>style.visibility</p:attrName>
                                        </p:attrNameLst>
                                      </p:cBhvr>
                                      <p:to>
                                        <p:strVal val="visible"/>
                                      </p:to>
                                    </p:set>
                                    <p:animEffect transition="in" filter="blinds(horizontal)">
                                      <p:cBhvr>
                                        <p:cTn id="2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1E51158-CCA5-CE4F-AEA1-C122273BCC4F}"/>
              </a:ext>
            </a:extLst>
          </p:cNvPr>
          <p:cNvSpPr>
            <a:spLocks noGrp="1" noRot="1" noChangeArrowheads="1"/>
          </p:cNvSpPr>
          <p:nvPr>
            <p:ph type="title"/>
          </p:nvPr>
        </p:nvSpPr>
        <p:spPr/>
        <p:txBody>
          <a:bodyPr/>
          <a:lstStyle/>
          <a:p>
            <a:endParaRPr lang="zh-CN" altLang="zh-CN"/>
          </a:p>
        </p:txBody>
      </p:sp>
      <p:sp>
        <p:nvSpPr>
          <p:cNvPr id="9219" name="Rectangle 3">
            <a:extLst>
              <a:ext uri="{FF2B5EF4-FFF2-40B4-BE49-F238E27FC236}">
                <a16:creationId xmlns:a16="http://schemas.microsoft.com/office/drawing/2014/main" id="{DC256E95-0745-79AA-E58C-3936D043897B}"/>
              </a:ext>
            </a:extLst>
          </p:cNvPr>
          <p:cNvSpPr>
            <a:spLocks noGrp="1" noRot="1" noChangeArrowheads="1"/>
          </p:cNvSpPr>
          <p:nvPr>
            <p:ph type="body" idx="1"/>
          </p:nvPr>
        </p:nvSpPr>
        <p:spPr/>
        <p:txBody>
          <a:bodyPr/>
          <a:lstStyle/>
          <a:p>
            <a:pPr>
              <a:lnSpc>
                <a:spcPct val="80000"/>
              </a:lnSpc>
              <a:buFont typeface="Wingdings" panose="05000000000000000000" pitchFamily="2" charset="2"/>
              <a:buNone/>
            </a:pPr>
            <a:r>
              <a:rPr lang="zh-CN" altLang="en-US" sz="2800"/>
              <a:t>四、Ｌ型规模曲线─长期成本曲线　　</a:t>
            </a:r>
          </a:p>
          <a:p>
            <a:pPr>
              <a:lnSpc>
                <a:spcPct val="80000"/>
              </a:lnSpc>
            </a:pPr>
            <a:r>
              <a:rPr lang="zh-CN" altLang="en-US" sz="2800"/>
              <a:t>Ｕ型规模曲线是更多地用于理论分析的长期成本曲线。它把因规模的变化所带来的平均成本变化分为</a:t>
            </a:r>
            <a:r>
              <a:rPr lang="en-US" altLang="zh-CN" sz="2800"/>
              <a:t>3</a:t>
            </a:r>
            <a:r>
              <a:rPr lang="zh-CN" altLang="en-US" sz="2800"/>
              <a:t>个阶段。这就是随着规模的增大，在最初阶段平均成本急剧下降，继而下降趋缓并在一段产量范围内保持收益不变，当产量继续增加时，平均成本可能呈上升趋势。     </a:t>
            </a:r>
          </a:p>
          <a:p>
            <a:pPr>
              <a:lnSpc>
                <a:spcPct val="80000"/>
              </a:lnSpc>
            </a:pPr>
            <a:r>
              <a:rPr lang="zh-CN" altLang="en-US" sz="2800"/>
              <a:t>但是对于规模与成本关系的大量经验研究表明，很少有人发现在过高产量水平上出现规模收益递减的情况。这就使得一些学者提出了长期平均成本曲线一般呈“Ｌ”型的假设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checkerboard(across)">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checkerboard(across)">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checkerboard(across)">
                                      <p:cBhvr>
                                        <p:cTn id="17"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43D2293-BBAF-9DA7-1237-DC1FAF07B2DF}"/>
              </a:ext>
            </a:extLst>
          </p:cNvPr>
          <p:cNvSpPr>
            <a:spLocks noGrp="1" noRot="1" noChangeArrowheads="1"/>
          </p:cNvSpPr>
          <p:nvPr>
            <p:ph type="title"/>
          </p:nvPr>
        </p:nvSpPr>
        <p:spPr>
          <a:xfrm>
            <a:off x="687388" y="817563"/>
            <a:ext cx="7799387" cy="920750"/>
          </a:xfrm>
        </p:spPr>
        <p:txBody>
          <a:bodyPr/>
          <a:lstStyle/>
          <a:p>
            <a:r>
              <a:rPr lang="zh-CN" altLang="en-US" sz="4000"/>
              <a:t>第二节  规模经济性的决定因素</a:t>
            </a:r>
          </a:p>
        </p:txBody>
      </p:sp>
      <p:sp>
        <p:nvSpPr>
          <p:cNvPr id="10243" name="Rectangle 3">
            <a:extLst>
              <a:ext uri="{FF2B5EF4-FFF2-40B4-BE49-F238E27FC236}">
                <a16:creationId xmlns:a16="http://schemas.microsoft.com/office/drawing/2014/main" id="{80682E52-B23D-8AF2-2A3A-1ABB4884AF75}"/>
              </a:ext>
            </a:extLst>
          </p:cNvPr>
          <p:cNvSpPr>
            <a:spLocks noGrp="1" noRot="1" noChangeArrowheads="1"/>
          </p:cNvSpPr>
          <p:nvPr>
            <p:ph type="body" idx="1"/>
          </p:nvPr>
        </p:nvSpPr>
        <p:spPr>
          <a:xfrm>
            <a:off x="685800" y="1828800"/>
            <a:ext cx="7772400" cy="4648200"/>
          </a:xfrm>
        </p:spPr>
        <p:txBody>
          <a:bodyPr/>
          <a:lstStyle/>
          <a:p>
            <a:pPr>
              <a:lnSpc>
                <a:spcPct val="90000"/>
              </a:lnSpc>
              <a:buFont typeface="Wingdings" panose="05000000000000000000" pitchFamily="2" charset="2"/>
              <a:buNone/>
            </a:pPr>
            <a:r>
              <a:rPr lang="en-US" altLang="zh-CN" sz="2400" b="1"/>
              <a:t>   </a:t>
            </a:r>
            <a:r>
              <a:rPr lang="zh-CN" altLang="en-US" sz="2400" b="1"/>
              <a:t>一、技术的规模经济性</a:t>
            </a:r>
          </a:p>
          <a:p>
            <a:pPr>
              <a:lnSpc>
                <a:spcPct val="90000"/>
              </a:lnSpc>
              <a:buFont typeface="Wingdings" panose="05000000000000000000" pitchFamily="2" charset="2"/>
              <a:buNone/>
            </a:pPr>
            <a:r>
              <a:rPr lang="zh-CN" altLang="en-US" sz="2400" b="1"/>
              <a:t>   　　㈠不可分性</a:t>
            </a:r>
          </a:p>
          <a:p>
            <a:pPr>
              <a:lnSpc>
                <a:spcPct val="90000"/>
              </a:lnSpc>
              <a:buFont typeface="Wingdings" panose="05000000000000000000" pitchFamily="2" charset="2"/>
              <a:buNone/>
            </a:pPr>
            <a:r>
              <a:rPr lang="zh-CN" altLang="en-US" sz="2400" b="1"/>
              <a:t>    　　　　案例：中国联通</a:t>
            </a:r>
          </a:p>
          <a:p>
            <a:pPr>
              <a:lnSpc>
                <a:spcPct val="90000"/>
              </a:lnSpc>
              <a:buFont typeface="Wingdings" panose="05000000000000000000" pitchFamily="2" charset="2"/>
              <a:buNone/>
            </a:pPr>
            <a:r>
              <a:rPr lang="zh-CN" altLang="en-US" sz="2400" b="1"/>
              <a:t>   　　㈡设备的几何属性与</a:t>
            </a:r>
            <a:r>
              <a:rPr lang="en-US" altLang="zh-CN" sz="2400" b="1"/>
              <a:t>0.6</a:t>
            </a:r>
            <a:r>
              <a:rPr lang="zh-CN" altLang="en-US" sz="2400" b="1"/>
              <a:t>经验原则</a:t>
            </a:r>
          </a:p>
          <a:p>
            <a:pPr>
              <a:lnSpc>
                <a:spcPct val="90000"/>
              </a:lnSpc>
              <a:buFont typeface="Wingdings" panose="05000000000000000000" pitchFamily="2" charset="2"/>
              <a:buNone/>
            </a:pPr>
            <a:r>
              <a:rPr lang="zh-CN" altLang="en-US" sz="2400" b="1"/>
              <a:t>   　　㈢较大规模设备在热效率和动力性等方面的相对有效性</a:t>
            </a:r>
          </a:p>
          <a:p>
            <a:pPr>
              <a:lnSpc>
                <a:spcPct val="90000"/>
              </a:lnSpc>
              <a:buFont typeface="Wingdings" panose="05000000000000000000" pitchFamily="2" charset="2"/>
              <a:buNone/>
            </a:pPr>
            <a:r>
              <a:rPr lang="zh-CN" altLang="en-US" sz="2400" b="1"/>
              <a:t>   二、专业化生产</a:t>
            </a:r>
          </a:p>
          <a:p>
            <a:pPr>
              <a:lnSpc>
                <a:spcPct val="90000"/>
              </a:lnSpc>
              <a:buFont typeface="Wingdings" panose="05000000000000000000" pitchFamily="2" charset="2"/>
              <a:buNone/>
            </a:pPr>
            <a:r>
              <a:rPr lang="zh-CN" altLang="en-US" sz="2400" b="1"/>
              <a:t>   　　　　案例研究：格力电器</a:t>
            </a:r>
          </a:p>
          <a:p>
            <a:pPr>
              <a:lnSpc>
                <a:spcPct val="90000"/>
              </a:lnSpc>
              <a:buFont typeface="Wingdings" panose="05000000000000000000" pitchFamily="2" charset="2"/>
              <a:buNone/>
            </a:pPr>
            <a:r>
              <a:rPr lang="zh-CN" altLang="en-US" sz="2400" b="1"/>
              <a:t>   　　　　思考：</a:t>
            </a:r>
            <a:r>
              <a:rPr lang="zh-CN" altLang="en-US" sz="2400" b="1" i="1">
                <a:solidFill>
                  <a:srgbClr val="000000"/>
                </a:solidFill>
                <a:latin typeface="Times New Roman" panose="02020603050405020304" pitchFamily="18" charset="0"/>
              </a:rPr>
              <a:t>在多元化和专业化之间作出恰当选择</a:t>
            </a:r>
            <a:endParaRPr lang="zh-CN" altLang="en-US" sz="2400" b="1">
              <a:latin typeface="Times New Roman" panose="02020603050405020304" pitchFamily="18" charset="0"/>
              <a:cs typeface="Times New Roman" panose="02020603050405020304" pitchFamily="18" charset="0"/>
            </a:endParaRPr>
          </a:p>
          <a:p>
            <a:pPr>
              <a:lnSpc>
                <a:spcPct val="90000"/>
              </a:lnSpc>
              <a:buFont typeface="Wingdings" panose="05000000000000000000" pitchFamily="2" charset="2"/>
              <a:buNone/>
            </a:pPr>
            <a:r>
              <a:rPr lang="zh-CN" altLang="en-US" sz="2400" b="1"/>
              <a:t>   三、大规模筹供的经济性</a:t>
            </a:r>
            <a:r>
              <a:rPr lang="en-US" altLang="zh-CN" sz="2400" b="1"/>
              <a:t>(The economics of massed resources)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10243">
                                            <p:txEl>
                                              <p:pRg st="8" end="8"/>
                                            </p:txEl>
                                          </p:spTgt>
                                        </p:tgtEl>
                                        <p:attrNameLst>
                                          <p:attrName>style.visibility</p:attrName>
                                        </p:attrNameLst>
                                      </p:cBhvr>
                                      <p:to>
                                        <p:strVal val="visible"/>
                                      </p:to>
                                    </p:set>
                                    <p:anim calcmode="lin" valueType="num">
                                      <p:cBhvr additive="base">
                                        <p:cTn id="55" dur="500" fill="hold"/>
                                        <p:tgtEl>
                                          <p:spTgt spid="10243">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24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989877B-5551-9D15-4BE1-654E98880DEE}"/>
              </a:ext>
            </a:extLst>
          </p:cNvPr>
          <p:cNvSpPr>
            <a:spLocks noGrp="1" noRot="1" noChangeArrowheads="1"/>
          </p:cNvSpPr>
          <p:nvPr>
            <p:ph type="title"/>
          </p:nvPr>
        </p:nvSpPr>
        <p:spPr/>
        <p:txBody>
          <a:bodyPr/>
          <a:lstStyle/>
          <a:p>
            <a:endParaRPr lang="zh-CN" altLang="zh-CN"/>
          </a:p>
        </p:txBody>
      </p:sp>
      <p:sp>
        <p:nvSpPr>
          <p:cNvPr id="40963" name="Rectangle 3">
            <a:extLst>
              <a:ext uri="{FF2B5EF4-FFF2-40B4-BE49-F238E27FC236}">
                <a16:creationId xmlns:a16="http://schemas.microsoft.com/office/drawing/2014/main" id="{27640809-B7D3-DF6C-3FD2-94DF40014810}"/>
              </a:ext>
            </a:extLst>
          </p:cNvPr>
          <p:cNvSpPr>
            <a:spLocks noGrp="1" noRot="1" noChangeArrowheads="1"/>
          </p:cNvSpPr>
          <p:nvPr>
            <p:ph type="body" idx="1"/>
          </p:nvPr>
        </p:nvSpPr>
        <p:spPr/>
        <p:txBody>
          <a:bodyPr/>
          <a:lstStyle/>
          <a:p>
            <a:pPr>
              <a:lnSpc>
                <a:spcPct val="90000"/>
              </a:lnSpc>
            </a:pPr>
            <a:endParaRPr lang="en-US" altLang="zh-CN" sz="2800" b="1"/>
          </a:p>
          <a:p>
            <a:pPr>
              <a:lnSpc>
                <a:spcPct val="90000"/>
              </a:lnSpc>
              <a:buFont typeface="Wingdings" panose="05000000000000000000" pitchFamily="2" charset="2"/>
              <a:buNone/>
            </a:pPr>
            <a:r>
              <a:rPr lang="zh-CN" altLang="en-US" sz="2400" b="1"/>
              <a:t>四、先进技术或有效的生产组织</a:t>
            </a:r>
          </a:p>
          <a:p>
            <a:pPr>
              <a:lnSpc>
                <a:spcPct val="90000"/>
              </a:lnSpc>
            </a:pPr>
            <a:r>
              <a:rPr lang="zh-CN" altLang="en-US" sz="1800" b="1">
                <a:solidFill>
                  <a:srgbClr val="000000"/>
                </a:solidFill>
              </a:rPr>
              <a:t>日本经济学家斋藤优认为：</a:t>
            </a:r>
            <a:r>
              <a:rPr lang="zh-CN" altLang="en-US" sz="1800" b="1">
                <a:solidFill>
                  <a:srgbClr val="000000"/>
                </a:solidFill>
                <a:latin typeface="MS Sans Serif"/>
              </a:rPr>
              <a:t>“</a:t>
            </a:r>
            <a:r>
              <a:rPr lang="zh-CN" altLang="en-US" sz="1800" b="1">
                <a:solidFill>
                  <a:srgbClr val="000000"/>
                </a:solidFill>
              </a:rPr>
              <a:t>现在的产业垄断已经从资本垄断向着技术垄断的时代迈进。因此，倘若失去了技术垄断，则其产业竞争的垄断地位就难以保证，垄断性的利润也难以获得。</a:t>
            </a:r>
            <a:r>
              <a:rPr lang="zh-CN" altLang="en-US" sz="1800" b="1">
                <a:solidFill>
                  <a:srgbClr val="000000"/>
                </a:solidFill>
                <a:latin typeface="MS Sans Serif"/>
              </a:rPr>
              <a:t>”</a:t>
            </a:r>
            <a:r>
              <a:rPr lang="zh-CN" altLang="en-US" sz="1800" b="1"/>
              <a:t> </a:t>
            </a:r>
          </a:p>
          <a:p>
            <a:pPr>
              <a:lnSpc>
                <a:spcPct val="90000"/>
              </a:lnSpc>
            </a:pPr>
            <a:r>
              <a:rPr lang="zh-CN" altLang="en-US" sz="1800" b="1">
                <a:solidFill>
                  <a:srgbClr val="000000"/>
                </a:solidFill>
              </a:rPr>
              <a:t>以美国的著名大公司为例，按费用规模排名前三位的通用汽车公司、福特汽车公司、国际商用机器公司的研究与开发费用分别为</a:t>
            </a:r>
            <a:r>
              <a:rPr lang="en-US" altLang="zh-CN" sz="1800" b="1">
                <a:solidFill>
                  <a:srgbClr val="000000"/>
                </a:solidFill>
              </a:rPr>
              <a:t>89</a:t>
            </a:r>
            <a:r>
              <a:rPr lang="zh-CN" altLang="en-US" sz="1800" b="1">
                <a:solidFill>
                  <a:srgbClr val="000000"/>
                </a:solidFill>
              </a:rPr>
              <a:t>、</a:t>
            </a:r>
            <a:r>
              <a:rPr lang="en-US" altLang="zh-CN" sz="1800" b="1">
                <a:solidFill>
                  <a:srgbClr val="000000"/>
                </a:solidFill>
              </a:rPr>
              <a:t>68.2</a:t>
            </a:r>
            <a:r>
              <a:rPr lang="zh-CN" altLang="en-US" sz="1800" b="1">
                <a:solidFill>
                  <a:srgbClr val="000000"/>
                </a:solidFill>
              </a:rPr>
              <a:t>、和</a:t>
            </a:r>
            <a:r>
              <a:rPr lang="en-US" altLang="zh-CN" sz="1800" b="1">
                <a:solidFill>
                  <a:srgbClr val="000000"/>
                </a:solidFill>
              </a:rPr>
              <a:t>39.3</a:t>
            </a:r>
            <a:r>
              <a:rPr lang="zh-CN" altLang="en-US" sz="1800" b="1">
                <a:solidFill>
                  <a:srgbClr val="000000"/>
                </a:solidFill>
              </a:rPr>
              <a:t>亿美元，分别占销售收入的</a:t>
            </a:r>
            <a:r>
              <a:rPr lang="en-US" altLang="zh-CN" sz="1800" b="1">
                <a:solidFill>
                  <a:srgbClr val="000000"/>
                </a:solidFill>
              </a:rPr>
              <a:t>5.6</a:t>
            </a:r>
            <a:r>
              <a:rPr lang="zh-CN" altLang="en-US" sz="1800" b="1">
                <a:solidFill>
                  <a:srgbClr val="000000"/>
                </a:solidFill>
              </a:rPr>
              <a:t>％、</a:t>
            </a:r>
            <a:r>
              <a:rPr lang="en-US" altLang="zh-CN" sz="1800" b="1">
                <a:solidFill>
                  <a:srgbClr val="000000"/>
                </a:solidFill>
              </a:rPr>
              <a:t>4.6</a:t>
            </a:r>
            <a:r>
              <a:rPr lang="zh-CN" altLang="en-US" sz="1800" b="1">
                <a:solidFill>
                  <a:srgbClr val="000000"/>
                </a:solidFill>
              </a:rPr>
              <a:t>％、</a:t>
            </a:r>
            <a:r>
              <a:rPr lang="en-US" altLang="zh-CN" sz="1800" b="1">
                <a:solidFill>
                  <a:srgbClr val="000000"/>
                </a:solidFill>
              </a:rPr>
              <a:t>5.2</a:t>
            </a:r>
            <a:r>
              <a:rPr lang="zh-CN" altLang="en-US" sz="1800" b="1">
                <a:solidFill>
                  <a:srgbClr val="000000"/>
                </a:solidFill>
              </a:rPr>
              <a:t>％，而微软公司的研发费用占销售收入的比重更是高达</a:t>
            </a:r>
            <a:r>
              <a:rPr lang="en-US" altLang="zh-CN" sz="1800" b="1">
                <a:solidFill>
                  <a:srgbClr val="000000"/>
                </a:solidFill>
              </a:rPr>
              <a:t>16.5</a:t>
            </a:r>
            <a:r>
              <a:rPr lang="zh-CN" altLang="en-US" sz="1800" b="1">
                <a:solidFill>
                  <a:srgbClr val="000000"/>
                </a:solidFill>
              </a:rPr>
              <a:t>％。</a:t>
            </a:r>
            <a:r>
              <a:rPr lang="zh-CN" altLang="en-US" sz="1800" b="1"/>
              <a:t> </a:t>
            </a:r>
          </a:p>
          <a:p>
            <a:pPr>
              <a:lnSpc>
                <a:spcPct val="90000"/>
              </a:lnSpc>
            </a:pPr>
            <a:r>
              <a:rPr lang="zh-CN" altLang="en-US" sz="1800" b="1"/>
              <a:t>业务流程再造</a:t>
            </a:r>
          </a:p>
          <a:p>
            <a:pPr>
              <a:lnSpc>
                <a:spcPct val="90000"/>
              </a:lnSpc>
            </a:pPr>
            <a:r>
              <a:rPr lang="zh-CN" altLang="en-US" sz="1800" b="1"/>
              <a:t>　　　　　　　案例研究１：福特汽车公司</a:t>
            </a:r>
          </a:p>
          <a:p>
            <a:pPr>
              <a:lnSpc>
                <a:spcPct val="90000"/>
              </a:lnSpc>
            </a:pPr>
            <a:r>
              <a:rPr lang="zh-CN" altLang="en-US" sz="1800" b="1"/>
              <a:t>　　　　　　　案例研究２：</a:t>
            </a:r>
            <a:r>
              <a:rPr lang="en-US" altLang="zh-CN" sz="1800" b="1"/>
              <a:t>IBM</a:t>
            </a:r>
            <a:r>
              <a:rPr lang="zh-CN" altLang="en-US" sz="1800" b="1"/>
              <a:t>信贷公司</a:t>
            </a:r>
          </a:p>
          <a:p>
            <a:pPr>
              <a:lnSpc>
                <a:spcPct val="90000"/>
              </a:lnSpc>
              <a:buFont typeface="Wingdings" panose="05000000000000000000" pitchFamily="2" charset="2"/>
              <a:buNone/>
            </a:pPr>
            <a:r>
              <a:rPr lang="zh-CN" altLang="en-US" sz="2400" b="1"/>
              <a:t>五、熟能生巧</a:t>
            </a:r>
          </a:p>
          <a:p>
            <a:pPr>
              <a:lnSpc>
                <a:spcPct val="90000"/>
              </a:lnSpc>
            </a:pPr>
            <a:endParaRPr lang="zh-CN" altLang="en-US" sz="2400" b="1"/>
          </a:p>
          <a:p>
            <a:pPr>
              <a:lnSpc>
                <a:spcPct val="90000"/>
              </a:lnSpc>
            </a:pP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animEffect transition="in" filter="randombar(horizontal)">
                                      <p:cBhvr>
                                        <p:cTn id="7" dur="500"/>
                                        <p:tgtEl>
                                          <p:spTgt spid="409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40963">
                                            <p:txEl>
                                              <p:pRg st="2" end="2"/>
                                            </p:txEl>
                                          </p:spTgt>
                                        </p:tgtEl>
                                        <p:attrNameLst>
                                          <p:attrName>style.visibility</p:attrName>
                                        </p:attrNameLst>
                                      </p:cBhvr>
                                      <p:to>
                                        <p:strVal val="visible"/>
                                      </p:to>
                                    </p:set>
                                    <p:animEffect transition="in" filter="randombar(horizontal)">
                                      <p:cBhvr>
                                        <p:cTn id="12" dur="500"/>
                                        <p:tgtEl>
                                          <p:spTgt spid="409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40963">
                                            <p:txEl>
                                              <p:pRg st="3" end="3"/>
                                            </p:txEl>
                                          </p:spTgt>
                                        </p:tgtEl>
                                        <p:attrNameLst>
                                          <p:attrName>style.visibility</p:attrName>
                                        </p:attrNameLst>
                                      </p:cBhvr>
                                      <p:to>
                                        <p:strVal val="visible"/>
                                      </p:to>
                                    </p:set>
                                    <p:animEffect transition="in" filter="randombar(horizontal)">
                                      <p:cBhvr>
                                        <p:cTn id="17" dur="500"/>
                                        <p:tgtEl>
                                          <p:spTgt spid="4096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40963">
                                            <p:txEl>
                                              <p:pRg st="4" end="4"/>
                                            </p:txEl>
                                          </p:spTgt>
                                        </p:tgtEl>
                                        <p:attrNameLst>
                                          <p:attrName>style.visibility</p:attrName>
                                        </p:attrNameLst>
                                      </p:cBhvr>
                                      <p:to>
                                        <p:strVal val="visible"/>
                                      </p:to>
                                    </p:set>
                                    <p:animEffect transition="in" filter="randombar(horizontal)">
                                      <p:cBhvr>
                                        <p:cTn id="22" dur="500"/>
                                        <p:tgtEl>
                                          <p:spTgt spid="4096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40963">
                                            <p:txEl>
                                              <p:pRg st="5" end="5"/>
                                            </p:txEl>
                                          </p:spTgt>
                                        </p:tgtEl>
                                        <p:attrNameLst>
                                          <p:attrName>style.visibility</p:attrName>
                                        </p:attrNameLst>
                                      </p:cBhvr>
                                      <p:to>
                                        <p:strVal val="visible"/>
                                      </p:to>
                                    </p:set>
                                    <p:animEffect transition="in" filter="randombar(horizontal)">
                                      <p:cBhvr>
                                        <p:cTn id="27" dur="500"/>
                                        <p:tgtEl>
                                          <p:spTgt spid="4096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40963">
                                            <p:txEl>
                                              <p:pRg st="6" end="6"/>
                                            </p:txEl>
                                          </p:spTgt>
                                        </p:tgtEl>
                                        <p:attrNameLst>
                                          <p:attrName>style.visibility</p:attrName>
                                        </p:attrNameLst>
                                      </p:cBhvr>
                                      <p:to>
                                        <p:strVal val="visible"/>
                                      </p:to>
                                    </p:set>
                                    <p:animEffect transition="in" filter="randombar(horizontal)">
                                      <p:cBhvr>
                                        <p:cTn id="32" dur="500"/>
                                        <p:tgtEl>
                                          <p:spTgt spid="4096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4" presetClass="entr" presetSubtype="10" fill="hold" nodeType="clickEffect">
                                  <p:stCondLst>
                                    <p:cond delay="0"/>
                                  </p:stCondLst>
                                  <p:childTnLst>
                                    <p:set>
                                      <p:cBhvr>
                                        <p:cTn id="36" dur="1" fill="hold">
                                          <p:stCondLst>
                                            <p:cond delay="0"/>
                                          </p:stCondLst>
                                        </p:cTn>
                                        <p:tgtEl>
                                          <p:spTgt spid="40963">
                                            <p:txEl>
                                              <p:pRg st="7" end="7"/>
                                            </p:txEl>
                                          </p:spTgt>
                                        </p:tgtEl>
                                        <p:attrNameLst>
                                          <p:attrName>style.visibility</p:attrName>
                                        </p:attrNameLst>
                                      </p:cBhvr>
                                      <p:to>
                                        <p:strVal val="visible"/>
                                      </p:to>
                                    </p:set>
                                    <p:animEffect transition="in" filter="randombar(horizontal)">
                                      <p:cBhvr>
                                        <p:cTn id="37" dur="500"/>
                                        <p:tgtEl>
                                          <p:spTgt spid="409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3F88ED3-1E58-4209-017F-C83835C9DDB1}"/>
              </a:ext>
            </a:extLst>
          </p:cNvPr>
          <p:cNvSpPr>
            <a:spLocks noGrp="1" noRot="1" noChangeArrowheads="1"/>
          </p:cNvSpPr>
          <p:nvPr>
            <p:ph type="title"/>
          </p:nvPr>
        </p:nvSpPr>
        <p:spPr/>
        <p:txBody>
          <a:bodyPr/>
          <a:lstStyle/>
          <a:p>
            <a:endParaRPr lang="zh-CN" altLang="zh-CN"/>
          </a:p>
        </p:txBody>
      </p:sp>
      <p:sp>
        <p:nvSpPr>
          <p:cNvPr id="41987" name="Rectangle 3">
            <a:extLst>
              <a:ext uri="{FF2B5EF4-FFF2-40B4-BE49-F238E27FC236}">
                <a16:creationId xmlns:a16="http://schemas.microsoft.com/office/drawing/2014/main" id="{0D8616E1-74DF-C470-A579-3CF93F579B78}"/>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400"/>
              <a:t>六、范围的规模经济性</a:t>
            </a:r>
          </a:p>
          <a:p>
            <a:r>
              <a:rPr lang="zh-CN" altLang="en-US" sz="1800">
                <a:solidFill>
                  <a:srgbClr val="000000"/>
                </a:solidFill>
              </a:rPr>
              <a:t>　范围经济性的简单数学描述是：设</a:t>
            </a:r>
            <a:r>
              <a:rPr lang="en-US" altLang="zh-CN" sz="1800">
                <a:solidFill>
                  <a:srgbClr val="000000"/>
                </a:solidFill>
              </a:rPr>
              <a:t>Xi</a:t>
            </a:r>
            <a:r>
              <a:rPr lang="zh-CN" altLang="en-US" sz="1800">
                <a:solidFill>
                  <a:srgbClr val="000000"/>
                </a:solidFill>
              </a:rPr>
              <a:t>为第</a:t>
            </a:r>
            <a:r>
              <a:rPr lang="en-US" altLang="zh-CN" sz="1800">
                <a:solidFill>
                  <a:srgbClr val="000000"/>
                </a:solidFill>
              </a:rPr>
              <a:t>i</a:t>
            </a:r>
            <a:r>
              <a:rPr lang="zh-CN" altLang="en-US" sz="1800">
                <a:solidFill>
                  <a:srgbClr val="000000"/>
                </a:solidFill>
              </a:rPr>
              <a:t>个产品组合，，</a:t>
            </a:r>
            <a:r>
              <a:rPr lang="en-US" altLang="zh-CN" sz="1800">
                <a:solidFill>
                  <a:srgbClr val="000000"/>
                </a:solidFill>
              </a:rPr>
              <a:t>i=1</a:t>
            </a:r>
            <a:r>
              <a:rPr lang="zh-CN" altLang="en-US" sz="1800">
                <a:solidFill>
                  <a:srgbClr val="000000"/>
                </a:solidFill>
              </a:rPr>
              <a:t>，</a:t>
            </a:r>
            <a:r>
              <a:rPr lang="en-US" altLang="zh-CN" sz="1800">
                <a:solidFill>
                  <a:srgbClr val="000000"/>
                </a:solidFill>
                <a:latin typeface="MS Sans Serif"/>
              </a:rPr>
              <a:t>……</a:t>
            </a:r>
            <a:r>
              <a:rPr lang="en-US" altLang="zh-CN" sz="1800">
                <a:solidFill>
                  <a:srgbClr val="000000"/>
                </a:solidFill>
              </a:rPr>
              <a:t>m</a:t>
            </a:r>
            <a:r>
              <a:rPr lang="zh-CN" altLang="en-US" sz="1800">
                <a:solidFill>
                  <a:srgbClr val="000000"/>
                </a:solidFill>
              </a:rPr>
              <a:t>，当下述成本函数</a:t>
            </a:r>
            <a:r>
              <a:rPr lang="en-US" altLang="zh-CN" sz="1800">
                <a:solidFill>
                  <a:srgbClr val="000000"/>
                </a:solidFill>
              </a:rPr>
              <a:t>C</a:t>
            </a:r>
            <a:r>
              <a:rPr lang="zh-CN" altLang="en-US" sz="1800">
                <a:solidFill>
                  <a:srgbClr val="000000"/>
                </a:solidFill>
              </a:rPr>
              <a:t>与</a:t>
            </a:r>
            <a:r>
              <a:rPr lang="en-US" altLang="zh-CN" sz="1800">
                <a:solidFill>
                  <a:srgbClr val="000000"/>
                </a:solidFill>
              </a:rPr>
              <a:t>Ci</a:t>
            </a:r>
            <a:r>
              <a:rPr lang="zh-CN" altLang="en-US" sz="1800">
                <a:solidFill>
                  <a:srgbClr val="000000"/>
                </a:solidFill>
              </a:rPr>
              <a:t>之间的不等式成立时，则范围经济性存在：</a:t>
            </a:r>
            <a:endParaRPr lang="zh-CN" altLang="en-US" sz="1800"/>
          </a:p>
          <a:p>
            <a:pPr>
              <a:buFont typeface="Wingdings" panose="05000000000000000000" pitchFamily="2" charset="2"/>
              <a:buNone/>
            </a:pPr>
            <a:r>
              <a:rPr lang="zh-CN" altLang="en-US" sz="1800">
                <a:solidFill>
                  <a:srgbClr val="000000"/>
                </a:solidFill>
              </a:rPr>
              <a:t>　</a:t>
            </a:r>
            <a:r>
              <a:rPr lang="en-US" altLang="zh-CN" sz="1800">
                <a:solidFill>
                  <a:srgbClr val="000000"/>
                </a:solidFill>
              </a:rPr>
              <a:t>C</a:t>
            </a:r>
            <a:r>
              <a:rPr lang="zh-CN" altLang="en-US" sz="1800">
                <a:solidFill>
                  <a:srgbClr val="000000"/>
                </a:solidFill>
              </a:rPr>
              <a:t>（</a:t>
            </a:r>
            <a:r>
              <a:rPr lang="en-US" altLang="zh-CN" sz="1800">
                <a:solidFill>
                  <a:srgbClr val="000000"/>
                </a:solidFill>
              </a:rPr>
              <a:t>X1</a:t>
            </a:r>
            <a:r>
              <a:rPr lang="zh-CN" altLang="en-US" sz="1800">
                <a:solidFill>
                  <a:srgbClr val="000000"/>
                </a:solidFill>
              </a:rPr>
              <a:t>，</a:t>
            </a:r>
            <a:r>
              <a:rPr lang="en-US" altLang="zh-CN" sz="1800">
                <a:solidFill>
                  <a:srgbClr val="000000"/>
                </a:solidFill>
              </a:rPr>
              <a:t>X2</a:t>
            </a:r>
            <a:r>
              <a:rPr lang="zh-CN" altLang="en-US" sz="1800">
                <a:solidFill>
                  <a:srgbClr val="000000"/>
                </a:solidFill>
              </a:rPr>
              <a:t>，</a:t>
            </a:r>
            <a:r>
              <a:rPr lang="en-US" altLang="zh-CN" sz="1800">
                <a:solidFill>
                  <a:srgbClr val="000000"/>
                </a:solidFill>
                <a:latin typeface="MS Sans Serif"/>
              </a:rPr>
              <a:t>……</a:t>
            </a:r>
            <a:r>
              <a:rPr lang="en-US" altLang="zh-CN" sz="1800">
                <a:solidFill>
                  <a:srgbClr val="000000"/>
                </a:solidFill>
              </a:rPr>
              <a:t>Xm</a:t>
            </a:r>
            <a:r>
              <a:rPr lang="zh-CN" altLang="en-US" sz="1800">
                <a:solidFill>
                  <a:srgbClr val="000000"/>
                </a:solidFill>
              </a:rPr>
              <a:t>）</a:t>
            </a:r>
            <a:r>
              <a:rPr lang="en-US" altLang="zh-CN" sz="1800">
                <a:solidFill>
                  <a:srgbClr val="000000"/>
                </a:solidFill>
              </a:rPr>
              <a:t>&lt;C1</a:t>
            </a:r>
            <a:r>
              <a:rPr lang="zh-CN" altLang="en-US" sz="1800">
                <a:solidFill>
                  <a:srgbClr val="000000"/>
                </a:solidFill>
              </a:rPr>
              <a:t>（</a:t>
            </a:r>
            <a:r>
              <a:rPr lang="en-US" altLang="zh-CN" sz="1800">
                <a:solidFill>
                  <a:srgbClr val="000000"/>
                </a:solidFill>
              </a:rPr>
              <a:t>X1</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latin typeface="MS Sans Serif"/>
              </a:rPr>
              <a:t>……</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rPr>
              <a:t>+C2</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rPr>
              <a:t>X2</a:t>
            </a:r>
            <a:r>
              <a:rPr lang="zh-CN" altLang="en-US" sz="1800">
                <a:solidFill>
                  <a:srgbClr val="000000"/>
                </a:solidFill>
              </a:rPr>
              <a:t>，　　</a:t>
            </a:r>
            <a:r>
              <a:rPr lang="en-US" altLang="zh-CN" sz="1800">
                <a:solidFill>
                  <a:srgbClr val="000000"/>
                </a:solidFill>
              </a:rPr>
              <a:t>0</a:t>
            </a:r>
            <a:r>
              <a:rPr lang="zh-CN" altLang="en-US" sz="1800">
                <a:solidFill>
                  <a:srgbClr val="000000"/>
                </a:solidFill>
              </a:rPr>
              <a:t>，</a:t>
            </a:r>
            <a:r>
              <a:rPr lang="en-US" altLang="zh-CN" sz="1800">
                <a:solidFill>
                  <a:srgbClr val="000000"/>
                </a:solidFill>
                <a:latin typeface="MS Sans Serif"/>
              </a:rPr>
              <a:t>……</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rPr>
              <a:t>+</a:t>
            </a:r>
            <a:r>
              <a:rPr lang="en-US" altLang="zh-CN" sz="1800">
                <a:solidFill>
                  <a:srgbClr val="000000"/>
                </a:solidFill>
                <a:latin typeface="MS Sans Serif"/>
              </a:rPr>
              <a:t>……</a:t>
            </a:r>
            <a:r>
              <a:rPr lang="en-US" altLang="zh-CN" sz="1800">
                <a:solidFill>
                  <a:srgbClr val="000000"/>
                </a:solidFill>
              </a:rPr>
              <a:t>+Cm</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rPr>
              <a:t>0</a:t>
            </a:r>
            <a:r>
              <a:rPr lang="zh-CN" altLang="en-US" sz="1800">
                <a:solidFill>
                  <a:srgbClr val="000000"/>
                </a:solidFill>
              </a:rPr>
              <a:t>，</a:t>
            </a:r>
            <a:r>
              <a:rPr lang="en-US" altLang="zh-CN" sz="1800">
                <a:solidFill>
                  <a:srgbClr val="000000"/>
                </a:solidFill>
                <a:latin typeface="MS Sans Serif"/>
              </a:rPr>
              <a:t>……</a:t>
            </a:r>
            <a:r>
              <a:rPr lang="zh-CN" altLang="en-US" sz="1800">
                <a:solidFill>
                  <a:srgbClr val="000000"/>
                </a:solidFill>
              </a:rPr>
              <a:t>，</a:t>
            </a:r>
            <a:r>
              <a:rPr lang="en-US" altLang="zh-CN" sz="1800">
                <a:solidFill>
                  <a:srgbClr val="000000"/>
                </a:solidFill>
              </a:rPr>
              <a:t>Xm</a:t>
            </a:r>
            <a:r>
              <a:rPr lang="zh-CN" altLang="en-US" sz="1800">
                <a:solidFill>
                  <a:srgbClr val="000000"/>
                </a:solidFill>
              </a:rPr>
              <a:t>）</a:t>
            </a:r>
            <a:endParaRPr lang="zh-CN" altLang="en-US" sz="1800"/>
          </a:p>
          <a:p>
            <a:r>
              <a:rPr lang="zh-CN" altLang="en-US" sz="1800">
                <a:solidFill>
                  <a:srgbClr val="000000"/>
                </a:solidFill>
              </a:rPr>
              <a:t>范围经济性来自以下几个方面：</a:t>
            </a:r>
          </a:p>
          <a:p>
            <a:pPr>
              <a:buFont typeface="Wingdings" panose="05000000000000000000" pitchFamily="2" charset="2"/>
              <a:buNone/>
            </a:pPr>
            <a:r>
              <a:rPr lang="zh-CN" altLang="en-US" sz="1800">
                <a:solidFill>
                  <a:srgbClr val="000000"/>
                </a:solidFill>
              </a:rPr>
              <a:t>　</a:t>
            </a:r>
            <a:r>
              <a:rPr lang="en-US" altLang="zh-CN" sz="1800">
                <a:solidFill>
                  <a:srgbClr val="000000"/>
                </a:solidFill>
                <a:latin typeface="MS Sans Serif"/>
                <a:cs typeface="Tahoma" panose="020B0604030504040204" pitchFamily="34" charset="0"/>
              </a:rPr>
              <a:t>•</a:t>
            </a:r>
            <a:r>
              <a:rPr lang="zh-CN" altLang="en-US" sz="1800">
                <a:solidFill>
                  <a:srgbClr val="000000"/>
                </a:solidFill>
              </a:rPr>
              <a:t>　把连续加工生产过程统一在一个大企业中，生产和销售在这个过程中　可能获得所有收益的产品。</a:t>
            </a:r>
            <a:r>
              <a:rPr lang="zh-CN" altLang="en-US" sz="1800"/>
              <a:t> </a:t>
            </a:r>
          </a:p>
          <a:p>
            <a:pPr>
              <a:buFont typeface="Wingdings" panose="05000000000000000000" pitchFamily="2" charset="2"/>
              <a:buNone/>
            </a:pPr>
            <a:r>
              <a:rPr lang="zh-CN" altLang="en-US" sz="1800">
                <a:solidFill>
                  <a:srgbClr val="000000"/>
                </a:solidFill>
              </a:rPr>
              <a:t>　</a:t>
            </a:r>
            <a:r>
              <a:rPr lang="en-US" altLang="zh-CN" sz="1800">
                <a:solidFill>
                  <a:srgbClr val="000000"/>
                </a:solidFill>
                <a:latin typeface="MS Sans Serif"/>
                <a:cs typeface="Tahoma" panose="020B0604030504040204" pitchFamily="34" charset="0"/>
              </a:rPr>
              <a:t>•</a:t>
            </a:r>
            <a:r>
              <a:rPr lang="zh-CN" altLang="en-US" sz="1800">
                <a:solidFill>
                  <a:srgbClr val="000000"/>
                </a:solidFill>
              </a:rPr>
              <a:t>　企业进行相关多角化扩张，充分利用内部未被充分利用的资源剩余，　及资源共享。</a:t>
            </a:r>
            <a:r>
              <a:rPr lang="zh-CN" altLang="en-US" sz="1800"/>
              <a:t> </a:t>
            </a:r>
          </a:p>
          <a:p>
            <a:r>
              <a:rPr lang="zh-CN" altLang="en-US" sz="1800">
                <a:solidFill>
                  <a:srgbClr val="000000"/>
                </a:solidFill>
              </a:rPr>
              <a:t>　问题：企业追求范围经济性的重要条件是什么？</a:t>
            </a:r>
            <a:endParaRPr lang="zh-CN" altLang="en-US" sz="1800"/>
          </a:p>
          <a:p>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box(in)">
                                      <p:cBhvr>
                                        <p:cTn id="7" dur="500"/>
                                        <p:tgtEl>
                                          <p:spTgt spid="41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Effect transition="in" filter="box(in)">
                                      <p:cBhvr>
                                        <p:cTn id="12" dur="500"/>
                                        <p:tgtEl>
                                          <p:spTgt spid="41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987">
                                            <p:txEl>
                                              <p:pRg st="2" end="2"/>
                                            </p:txEl>
                                          </p:spTgt>
                                        </p:tgtEl>
                                        <p:attrNameLst>
                                          <p:attrName>style.visibility</p:attrName>
                                        </p:attrNameLst>
                                      </p:cBhvr>
                                      <p:to>
                                        <p:strVal val="visible"/>
                                      </p:to>
                                    </p:set>
                                    <p:animEffect transition="in" filter="box(in)">
                                      <p:cBhvr>
                                        <p:cTn id="17" dur="500"/>
                                        <p:tgtEl>
                                          <p:spTgt spid="419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1987">
                                            <p:txEl>
                                              <p:pRg st="3" end="3"/>
                                            </p:txEl>
                                          </p:spTgt>
                                        </p:tgtEl>
                                        <p:attrNameLst>
                                          <p:attrName>style.visibility</p:attrName>
                                        </p:attrNameLst>
                                      </p:cBhvr>
                                      <p:to>
                                        <p:strVal val="visible"/>
                                      </p:to>
                                    </p:set>
                                    <p:animEffect transition="in" filter="box(in)">
                                      <p:cBhvr>
                                        <p:cTn id="22" dur="500"/>
                                        <p:tgtEl>
                                          <p:spTgt spid="419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1987">
                                            <p:txEl>
                                              <p:pRg st="4" end="4"/>
                                            </p:txEl>
                                          </p:spTgt>
                                        </p:tgtEl>
                                        <p:attrNameLst>
                                          <p:attrName>style.visibility</p:attrName>
                                        </p:attrNameLst>
                                      </p:cBhvr>
                                      <p:to>
                                        <p:strVal val="visible"/>
                                      </p:to>
                                    </p:set>
                                    <p:animEffect transition="in" filter="box(in)">
                                      <p:cBhvr>
                                        <p:cTn id="27" dur="500"/>
                                        <p:tgtEl>
                                          <p:spTgt spid="419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1987">
                                            <p:txEl>
                                              <p:pRg st="5" end="5"/>
                                            </p:txEl>
                                          </p:spTgt>
                                        </p:tgtEl>
                                        <p:attrNameLst>
                                          <p:attrName>style.visibility</p:attrName>
                                        </p:attrNameLst>
                                      </p:cBhvr>
                                      <p:to>
                                        <p:strVal val="visible"/>
                                      </p:to>
                                    </p:set>
                                    <p:animEffect transition="in" filter="box(in)">
                                      <p:cBhvr>
                                        <p:cTn id="32" dur="500"/>
                                        <p:tgtEl>
                                          <p:spTgt spid="4198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1987">
                                            <p:txEl>
                                              <p:pRg st="6" end="6"/>
                                            </p:txEl>
                                          </p:spTgt>
                                        </p:tgtEl>
                                        <p:attrNameLst>
                                          <p:attrName>style.visibility</p:attrName>
                                        </p:attrNameLst>
                                      </p:cBhvr>
                                      <p:to>
                                        <p:strVal val="visible"/>
                                      </p:to>
                                    </p:set>
                                    <p:animEffect transition="in" filter="box(in)">
                                      <p:cBhvr>
                                        <p:cTn id="37" dur="500"/>
                                        <p:tgtEl>
                                          <p:spTgt spid="419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10935F6-20AF-F753-A970-6DF07089C13B}"/>
              </a:ext>
            </a:extLst>
          </p:cNvPr>
          <p:cNvSpPr>
            <a:spLocks noGrp="1" noRot="1" noChangeArrowheads="1"/>
          </p:cNvSpPr>
          <p:nvPr>
            <p:ph type="title"/>
          </p:nvPr>
        </p:nvSpPr>
        <p:spPr/>
        <p:txBody>
          <a:bodyPr/>
          <a:lstStyle/>
          <a:p>
            <a:r>
              <a:rPr lang="zh-CN" altLang="en-US"/>
              <a:t>规模经济性的衡量方法</a:t>
            </a:r>
          </a:p>
        </p:txBody>
      </p:sp>
      <p:sp>
        <p:nvSpPr>
          <p:cNvPr id="12291" name="Rectangle 3">
            <a:extLst>
              <a:ext uri="{FF2B5EF4-FFF2-40B4-BE49-F238E27FC236}">
                <a16:creationId xmlns:a16="http://schemas.microsoft.com/office/drawing/2014/main" id="{541B1F9E-EAC8-59E0-746A-A1511D15354B}"/>
              </a:ext>
            </a:extLst>
          </p:cNvPr>
          <p:cNvSpPr>
            <a:spLocks noGrp="1" noRot="1" noChangeArrowheads="1"/>
          </p:cNvSpPr>
          <p:nvPr>
            <p:ph type="body" idx="1"/>
          </p:nvPr>
        </p:nvSpPr>
        <p:spPr/>
        <p:txBody>
          <a:bodyPr/>
          <a:lstStyle/>
          <a:p>
            <a:r>
              <a:rPr lang="zh-CN" altLang="en-US"/>
              <a:t>把利润作为规模的函数的分析法</a:t>
            </a:r>
          </a:p>
          <a:p>
            <a:r>
              <a:rPr lang="zh-CN" altLang="en-US"/>
              <a:t>适存检验法</a:t>
            </a:r>
          </a:p>
          <a:p>
            <a:r>
              <a:rPr lang="zh-CN" altLang="en-US"/>
              <a:t>统计分析法</a:t>
            </a:r>
          </a:p>
          <a:p>
            <a:r>
              <a:rPr lang="zh-CN" altLang="en-US"/>
              <a:t>工程法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DDECAE7-45EF-2AE1-8A87-6B1474C1DBDD}"/>
              </a:ext>
            </a:extLst>
          </p:cNvPr>
          <p:cNvSpPr>
            <a:spLocks noGrp="1" noRot="1" noChangeArrowheads="1"/>
          </p:cNvSpPr>
          <p:nvPr>
            <p:ph type="title"/>
          </p:nvPr>
        </p:nvSpPr>
        <p:spPr/>
        <p:txBody>
          <a:bodyPr/>
          <a:lstStyle/>
          <a:p>
            <a:r>
              <a:rPr lang="zh-CN" altLang="en-US"/>
              <a:t>利润作为规模的函数的分析法</a:t>
            </a:r>
          </a:p>
        </p:txBody>
      </p:sp>
      <p:sp>
        <p:nvSpPr>
          <p:cNvPr id="13315" name="Rectangle 3">
            <a:extLst>
              <a:ext uri="{FF2B5EF4-FFF2-40B4-BE49-F238E27FC236}">
                <a16:creationId xmlns:a16="http://schemas.microsoft.com/office/drawing/2014/main" id="{66D165E0-C917-022F-2ACC-4FFFC94D5543}"/>
              </a:ext>
            </a:extLst>
          </p:cNvPr>
          <p:cNvSpPr>
            <a:spLocks noGrp="1" noRot="1" noChangeArrowheads="1"/>
          </p:cNvSpPr>
          <p:nvPr>
            <p:ph type="body" idx="1"/>
          </p:nvPr>
        </p:nvSpPr>
        <p:spPr/>
        <p:txBody>
          <a:bodyPr/>
          <a:lstStyle/>
          <a:p>
            <a:pPr>
              <a:buFont typeface="Wingdings" panose="05000000000000000000" pitchFamily="2" charset="2"/>
              <a:buNone/>
            </a:pPr>
            <a:r>
              <a:rPr lang="en-US" altLang="zh-CN"/>
              <a:t>   ㈠</a:t>
            </a:r>
            <a:r>
              <a:rPr lang="zh-CN" altLang="en-US"/>
              <a:t>方法原则及其衡量方式</a:t>
            </a:r>
          </a:p>
          <a:p>
            <a:pPr>
              <a:buFont typeface="Wingdings" panose="05000000000000000000" pitchFamily="2" charset="2"/>
              <a:buNone/>
            </a:pPr>
            <a:r>
              <a:rPr lang="zh-CN" altLang="en-US"/>
              <a:t>　　利润作为规模的函数的分析方法是通过考察公司的规模与利润之间的关系来研究公司最优规模。　</a:t>
            </a:r>
          </a:p>
          <a:p>
            <a:pPr>
              <a:buFont typeface="Wingdings" panose="05000000000000000000" pitchFamily="2" charset="2"/>
              <a:buNone/>
            </a:pPr>
            <a:r>
              <a:rPr lang="zh-CN" altLang="en-US"/>
              <a:t>   ㈡应用实例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9176000-0C63-4E70-528F-6A65C14776BD}"/>
              </a:ext>
            </a:extLst>
          </p:cNvPr>
          <p:cNvSpPr>
            <a:spLocks noGrp="1" noRot="1" noChangeArrowheads="1"/>
          </p:cNvSpPr>
          <p:nvPr>
            <p:ph type="title"/>
          </p:nvPr>
        </p:nvSpPr>
        <p:spPr/>
        <p:txBody>
          <a:bodyPr/>
          <a:lstStyle/>
          <a:p>
            <a:r>
              <a:rPr lang="zh-CN" altLang="en-US"/>
              <a:t>利润作为分析标准的评价</a:t>
            </a:r>
          </a:p>
        </p:txBody>
      </p:sp>
      <p:sp>
        <p:nvSpPr>
          <p:cNvPr id="15363" name="Rectangle 3">
            <a:extLst>
              <a:ext uri="{FF2B5EF4-FFF2-40B4-BE49-F238E27FC236}">
                <a16:creationId xmlns:a16="http://schemas.microsoft.com/office/drawing/2014/main" id="{9D4FCADC-EB81-5F5E-5093-6BDFF4C6D883}"/>
              </a:ext>
            </a:extLst>
          </p:cNvPr>
          <p:cNvSpPr>
            <a:spLocks noGrp="1" noRot="1" noChangeArrowheads="1"/>
          </p:cNvSpPr>
          <p:nvPr>
            <p:ph type="body" idx="1"/>
          </p:nvPr>
        </p:nvSpPr>
        <p:spPr/>
        <p:txBody>
          <a:bodyPr/>
          <a:lstStyle/>
          <a:p>
            <a:pPr>
              <a:lnSpc>
                <a:spcPct val="90000"/>
              </a:lnSpc>
            </a:pPr>
            <a:r>
              <a:rPr lang="zh-CN" altLang="en-US" sz="2800"/>
              <a:t>利润作为规模函数的分析方法的优点是简单易行，而且容易获得资料。</a:t>
            </a:r>
          </a:p>
          <a:p>
            <a:pPr>
              <a:lnSpc>
                <a:spcPct val="90000"/>
              </a:lnSpc>
            </a:pPr>
            <a:r>
              <a:rPr lang="zh-CN" altLang="en-US" sz="2800"/>
              <a:t>问题：</a:t>
            </a:r>
          </a:p>
          <a:p>
            <a:pPr>
              <a:lnSpc>
                <a:spcPct val="90000"/>
              </a:lnSpc>
              <a:buFont typeface="Wingdings" panose="05000000000000000000" pitchFamily="2" charset="2"/>
              <a:buNone/>
            </a:pPr>
            <a:r>
              <a:rPr lang="zh-CN" altLang="en-US" sz="2800"/>
              <a:t>    </a:t>
            </a:r>
            <a:r>
              <a:rPr lang="en-US" altLang="zh-CN" sz="2800"/>
              <a:t>1</a:t>
            </a:r>
            <a:r>
              <a:rPr lang="zh-CN" altLang="en-US" sz="2800"/>
              <a:t>、利润不一定简单地与规模经济性相联系。</a:t>
            </a:r>
          </a:p>
          <a:p>
            <a:pPr>
              <a:lnSpc>
                <a:spcPct val="90000"/>
              </a:lnSpc>
              <a:buFont typeface="Wingdings" panose="05000000000000000000" pitchFamily="2" charset="2"/>
              <a:buNone/>
            </a:pPr>
            <a:r>
              <a:rPr lang="zh-CN" altLang="en-US" sz="2800"/>
              <a:t>    </a:t>
            </a:r>
            <a:r>
              <a:rPr lang="en-US" altLang="zh-CN" sz="2800"/>
              <a:t>2</a:t>
            </a:r>
            <a:r>
              <a:rPr lang="zh-CN" altLang="en-US" sz="2800"/>
              <a:t>、利润数字对确定折旧，对兼并所得资产的估价等会计原则很敏感</a:t>
            </a:r>
          </a:p>
          <a:p>
            <a:pPr>
              <a:lnSpc>
                <a:spcPct val="90000"/>
              </a:lnSpc>
              <a:buFont typeface="Wingdings" panose="05000000000000000000" pitchFamily="2" charset="2"/>
              <a:buNone/>
            </a:pPr>
            <a:r>
              <a:rPr lang="zh-CN" altLang="en-US" sz="2800"/>
              <a:t>    </a:t>
            </a:r>
            <a:r>
              <a:rPr lang="en-US" altLang="zh-CN" sz="2800"/>
              <a:t>3</a:t>
            </a:r>
            <a:r>
              <a:rPr lang="zh-CN" altLang="en-US" sz="2800"/>
              <a:t>、小公司比大公司的利润更易于随商业周期而变化，这反映了较大公司有较大的垄断能力。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A306AE2-2EA0-3C03-3FFC-DD5CBB91B7B4}"/>
              </a:ext>
            </a:extLst>
          </p:cNvPr>
          <p:cNvSpPr>
            <a:spLocks noGrp="1" noRot="1" noChangeArrowheads="1"/>
          </p:cNvSpPr>
          <p:nvPr>
            <p:ph type="title"/>
          </p:nvPr>
        </p:nvSpPr>
        <p:spPr>
          <a:xfrm>
            <a:off x="685800" y="381000"/>
            <a:ext cx="7772400" cy="1371600"/>
          </a:xfrm>
        </p:spPr>
        <p:txBody>
          <a:bodyPr/>
          <a:lstStyle/>
          <a:p>
            <a:r>
              <a:rPr lang="zh-CN" altLang="en-US"/>
              <a:t>适存检验法</a:t>
            </a:r>
          </a:p>
        </p:txBody>
      </p:sp>
      <p:sp>
        <p:nvSpPr>
          <p:cNvPr id="14339" name="Rectangle 3">
            <a:extLst>
              <a:ext uri="{FF2B5EF4-FFF2-40B4-BE49-F238E27FC236}">
                <a16:creationId xmlns:a16="http://schemas.microsoft.com/office/drawing/2014/main" id="{D05DAA81-A921-38B7-2A43-5FAA9716ADE3}"/>
              </a:ext>
            </a:extLst>
          </p:cNvPr>
          <p:cNvSpPr>
            <a:spLocks noGrp="1" noRot="1" noChangeArrowheads="1"/>
          </p:cNvSpPr>
          <p:nvPr>
            <p:ph type="body" idx="1"/>
          </p:nvPr>
        </p:nvSpPr>
        <p:spPr>
          <a:xfrm>
            <a:off x="685800" y="1981200"/>
            <a:ext cx="7772400" cy="4495800"/>
          </a:xfrm>
        </p:spPr>
        <p:txBody>
          <a:bodyPr/>
          <a:lstStyle/>
          <a:p>
            <a:pPr>
              <a:lnSpc>
                <a:spcPct val="80000"/>
              </a:lnSpc>
              <a:buFont typeface="Wingdings" panose="05000000000000000000" pitchFamily="2" charset="2"/>
              <a:buNone/>
            </a:pPr>
            <a:r>
              <a:rPr lang="zh-CN" altLang="en-US"/>
              <a:t>　　㈠适存检验原则及其衡量方式</a:t>
            </a:r>
          </a:p>
          <a:p>
            <a:pPr>
              <a:lnSpc>
                <a:spcPct val="80000"/>
              </a:lnSpc>
              <a:buFont typeface="Wingdings" panose="05000000000000000000" pitchFamily="2" charset="2"/>
              <a:buNone/>
            </a:pPr>
            <a:r>
              <a:rPr lang="zh-CN" altLang="en-US" sz="2400"/>
              <a:t>     适存检验法属于经验分析法中从某一基本合理的经济假设出发分析大量事实的模式。</a:t>
            </a:r>
          </a:p>
          <a:p>
            <a:pPr>
              <a:lnSpc>
                <a:spcPct val="80000"/>
              </a:lnSpc>
              <a:buFont typeface="Wingdings" panose="05000000000000000000" pitchFamily="2" charset="2"/>
              <a:buNone/>
            </a:pPr>
            <a:r>
              <a:rPr lang="zh-CN" altLang="en-US" sz="2400"/>
              <a:t>  　适存检验的基本假设是，不同规模公司的竞争将产生出更有效的企业。</a:t>
            </a:r>
          </a:p>
          <a:p>
            <a:pPr>
              <a:lnSpc>
                <a:spcPct val="80000"/>
              </a:lnSpc>
              <a:buFont typeface="Wingdings" panose="05000000000000000000" pitchFamily="2" charset="2"/>
              <a:buNone/>
            </a:pPr>
            <a:r>
              <a:rPr lang="zh-CN" altLang="en-US" sz="2400"/>
              <a:t>　　适存检验原则是这样来决定最优公司规模的：把行业中的公司按规模分类，计算某时期各类规模的行业产出崐份额。如果某类规模的产出份额下降，它就是相对无效的，并且一般来说规模越是无效，份额下降就越快。</a:t>
            </a:r>
          </a:p>
          <a:p>
            <a:pPr>
              <a:lnSpc>
                <a:spcPct val="80000"/>
              </a:lnSpc>
              <a:buFont typeface="Wingdings" panose="05000000000000000000" pitchFamily="2" charset="2"/>
              <a:buNone/>
            </a:pPr>
            <a:r>
              <a:rPr lang="zh-CN" altLang="en-US"/>
              <a:t>　　㈡适存检验法的应用实例 </a:t>
            </a:r>
          </a:p>
          <a:p>
            <a:pPr>
              <a:lnSpc>
                <a:spcPct val="80000"/>
              </a:lnSpc>
              <a:buFont typeface="Wingdings" panose="05000000000000000000" pitchFamily="2" charset="2"/>
              <a:buNone/>
            </a:pPr>
            <a:r>
              <a:rPr lang="zh-CN" altLang="en-US"/>
              <a:t>　　㈢简单评价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ox(in)">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ox(in)">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ox(in)">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ox(in)">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ox(in)">
                                      <p:cBhvr>
                                        <p:cTn id="27" dur="500"/>
                                        <p:tgtEl>
                                          <p:spTgt spid="14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box(in)">
                                      <p:cBhvr>
                                        <p:cTn id="32" dur="5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9830CF1-C144-7A71-E7A9-B1B18CFF93D5}"/>
              </a:ext>
            </a:extLst>
          </p:cNvPr>
          <p:cNvSpPr>
            <a:spLocks noGrp="1" noRot="1" noChangeArrowheads="1"/>
          </p:cNvSpPr>
          <p:nvPr>
            <p:ph type="title"/>
          </p:nvPr>
        </p:nvSpPr>
        <p:spPr/>
        <p:txBody>
          <a:bodyPr/>
          <a:lstStyle/>
          <a:p>
            <a:r>
              <a:rPr lang="zh-CN" altLang="en-US"/>
              <a:t>统计成本分析法</a:t>
            </a:r>
          </a:p>
        </p:txBody>
      </p:sp>
      <p:sp>
        <p:nvSpPr>
          <p:cNvPr id="16387" name="Rectangle 3">
            <a:extLst>
              <a:ext uri="{FF2B5EF4-FFF2-40B4-BE49-F238E27FC236}">
                <a16:creationId xmlns:a16="http://schemas.microsoft.com/office/drawing/2014/main" id="{BB122F00-5809-C176-AA87-98B316613425}"/>
              </a:ext>
            </a:extLst>
          </p:cNvPr>
          <p:cNvSpPr>
            <a:spLocks noGrp="1" noRot="1" noChangeArrowheads="1"/>
          </p:cNvSpPr>
          <p:nvPr>
            <p:ph type="body" idx="1"/>
          </p:nvPr>
        </p:nvSpPr>
        <p:spPr/>
        <p:txBody>
          <a:bodyPr/>
          <a:lstStyle/>
          <a:p>
            <a:pPr>
              <a:buFont typeface="Wingdings" panose="05000000000000000000" pitchFamily="2" charset="2"/>
              <a:buNone/>
            </a:pPr>
            <a:r>
              <a:rPr lang="zh-CN" altLang="en-US"/>
              <a:t>　㈠衡量方式</a:t>
            </a:r>
          </a:p>
          <a:p>
            <a:pPr>
              <a:buFont typeface="Wingdings" panose="05000000000000000000" pitchFamily="2" charset="2"/>
              <a:buNone/>
            </a:pPr>
            <a:r>
              <a:rPr lang="zh-CN" altLang="en-US"/>
              <a:t>　</a:t>
            </a:r>
          </a:p>
          <a:p>
            <a:pPr>
              <a:buFont typeface="Wingdings" panose="05000000000000000000" pitchFamily="2" charset="2"/>
              <a:buNone/>
            </a:pPr>
            <a:r>
              <a:rPr lang="zh-CN" altLang="en-US"/>
              <a:t>　㈡估计实例</a:t>
            </a:r>
          </a:p>
          <a:p>
            <a:pPr>
              <a:buFont typeface="Wingdings" panose="05000000000000000000" pitchFamily="2" charset="2"/>
              <a:buNone/>
            </a:pPr>
            <a:r>
              <a:rPr lang="zh-CN" altLang="en-US"/>
              <a:t>　</a:t>
            </a:r>
          </a:p>
          <a:p>
            <a:pPr>
              <a:buFont typeface="Wingdings" panose="05000000000000000000" pitchFamily="2" charset="2"/>
              <a:buNone/>
            </a:pPr>
            <a:r>
              <a:rPr lang="zh-CN" altLang="en-US"/>
              <a:t>　㈢简单评价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6" fill="hold"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6" fill="hold"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41CA473-E314-D7E3-32B3-89B088BF959F}"/>
              </a:ext>
            </a:extLst>
          </p:cNvPr>
          <p:cNvSpPr>
            <a:spLocks noGrp="1" noRot="1" noChangeArrowheads="1"/>
          </p:cNvSpPr>
          <p:nvPr>
            <p:ph type="title"/>
          </p:nvPr>
        </p:nvSpPr>
        <p:spPr/>
        <p:txBody>
          <a:bodyPr/>
          <a:lstStyle/>
          <a:p>
            <a:r>
              <a:rPr lang="zh-CN" altLang="en-US"/>
              <a:t>工程法</a:t>
            </a:r>
          </a:p>
        </p:txBody>
      </p:sp>
      <p:sp>
        <p:nvSpPr>
          <p:cNvPr id="18435" name="Rectangle 3">
            <a:extLst>
              <a:ext uri="{FF2B5EF4-FFF2-40B4-BE49-F238E27FC236}">
                <a16:creationId xmlns:a16="http://schemas.microsoft.com/office/drawing/2014/main" id="{926DE0D8-BFE2-3765-B40F-78A0FDD3B771}"/>
              </a:ext>
            </a:extLst>
          </p:cNvPr>
          <p:cNvSpPr>
            <a:spLocks noGrp="1" noRot="1" noChangeArrowheads="1"/>
          </p:cNvSpPr>
          <p:nvPr>
            <p:ph type="body" idx="1"/>
          </p:nvPr>
        </p:nvSpPr>
        <p:spPr/>
        <p:txBody>
          <a:bodyPr/>
          <a:lstStyle/>
          <a:p>
            <a:pPr>
              <a:buFont typeface="Wingdings" panose="05000000000000000000" pitchFamily="2" charset="2"/>
              <a:buNone/>
            </a:pPr>
            <a:r>
              <a:rPr lang="en-US" altLang="zh-CN" sz="2800"/>
              <a:t>  ㈠</a:t>
            </a:r>
            <a:r>
              <a:rPr lang="zh-CN" altLang="en-US" sz="2800"/>
              <a:t>衡量方式</a:t>
            </a:r>
          </a:p>
          <a:p>
            <a:pPr>
              <a:buFont typeface="Wingdings" panose="05000000000000000000" pitchFamily="2" charset="2"/>
              <a:buNone/>
            </a:pPr>
            <a:r>
              <a:rPr lang="zh-CN" altLang="en-US" sz="2800"/>
              <a:t>  ㈡估计实例</a:t>
            </a:r>
          </a:p>
          <a:p>
            <a:pPr>
              <a:buFont typeface="Wingdings" panose="05000000000000000000" pitchFamily="2" charset="2"/>
              <a:buNone/>
            </a:pPr>
            <a:r>
              <a:rPr lang="zh-CN" altLang="en-US" sz="2800"/>
              <a:t>  ㈢简单评价</a:t>
            </a:r>
          </a:p>
          <a:p>
            <a:r>
              <a:rPr lang="zh-CN" altLang="en-US" sz="2800"/>
              <a:t>优点：可以得出对规模经济性的额定估计；能对工程和生产方面的成本作出准确估计</a:t>
            </a:r>
          </a:p>
          <a:p>
            <a:r>
              <a:rPr lang="zh-CN" altLang="en-US" sz="2800"/>
              <a:t>缺点：有一定范围的误差且不严格。特别是在讨论某些非技术因素对规模的影响时更是如此。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9" fill="hold"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9" fill="hold"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9" fill="hold"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0F58752-58E4-9D39-E4BF-88F7FC8CE3C7}"/>
              </a:ext>
            </a:extLst>
          </p:cNvPr>
          <p:cNvSpPr>
            <a:spLocks noGrp="1" noRot="1" noChangeArrowheads="1"/>
          </p:cNvSpPr>
          <p:nvPr>
            <p:ph type="title"/>
          </p:nvPr>
        </p:nvSpPr>
        <p:spPr/>
        <p:txBody>
          <a:bodyPr/>
          <a:lstStyle/>
          <a:p>
            <a:r>
              <a:rPr lang="zh-CN" altLang="en-US"/>
              <a:t>中外规模经济性的经验研究</a:t>
            </a:r>
          </a:p>
        </p:txBody>
      </p:sp>
      <p:sp>
        <p:nvSpPr>
          <p:cNvPr id="23555" name="Rectangle 3">
            <a:extLst>
              <a:ext uri="{FF2B5EF4-FFF2-40B4-BE49-F238E27FC236}">
                <a16:creationId xmlns:a16="http://schemas.microsoft.com/office/drawing/2014/main" id="{42FD378B-5621-516B-F958-5FF52FCE7D74}"/>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800"/>
              <a:t>一、西方若干对规模经济性的经验研究结果</a:t>
            </a:r>
          </a:p>
          <a:p>
            <a:r>
              <a:rPr lang="zh-CN" altLang="en-US" sz="2800"/>
              <a:t>   从具体的研究结论看，大体可以分为两类：</a:t>
            </a:r>
          </a:p>
          <a:p>
            <a:pPr>
              <a:buFont typeface="Wingdings" panose="05000000000000000000" pitchFamily="2" charset="2"/>
              <a:buNone/>
            </a:pPr>
            <a:r>
              <a:rPr lang="zh-CN" altLang="en-US" sz="2800"/>
              <a:t>　　一类着重于对成本函数进行研究，目的在于确定行业长期平均成本曲线的形状。</a:t>
            </a:r>
          </a:p>
          <a:p>
            <a:pPr>
              <a:buFont typeface="Wingdings" panose="05000000000000000000" pitchFamily="2" charset="2"/>
              <a:buNone/>
            </a:pPr>
            <a:r>
              <a:rPr lang="zh-CN" altLang="en-US" sz="2800"/>
              <a:t>　  一类研究则着重在考察经济活动或经济组织的最小有效规模</a:t>
            </a:r>
            <a:r>
              <a:rPr lang="en-US" altLang="zh-CN" sz="2800"/>
              <a:t>(MES)</a:t>
            </a:r>
            <a:r>
              <a:rPr lang="zh-CN" altLang="en-US" sz="2800"/>
              <a:t>，或最优规模范围。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7" dur="500"/>
                                        <p:tgtEl>
                                          <p:spTgt spid="23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22"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D104EFA-E3C0-AD3D-DF36-151B597978A5}"/>
              </a:ext>
            </a:extLst>
          </p:cNvPr>
          <p:cNvSpPr>
            <a:spLocks noGrp="1" noRot="1" noChangeArrowheads="1"/>
          </p:cNvSpPr>
          <p:nvPr>
            <p:ph type="title"/>
          </p:nvPr>
        </p:nvSpPr>
        <p:spPr/>
        <p:txBody>
          <a:bodyPr/>
          <a:lstStyle/>
          <a:p>
            <a:r>
              <a:rPr lang="zh-CN" altLang="en-US"/>
              <a:t>几个实例</a:t>
            </a:r>
          </a:p>
        </p:txBody>
      </p:sp>
      <p:sp>
        <p:nvSpPr>
          <p:cNvPr id="24579" name="Rectangle 3">
            <a:extLst>
              <a:ext uri="{FF2B5EF4-FFF2-40B4-BE49-F238E27FC236}">
                <a16:creationId xmlns:a16="http://schemas.microsoft.com/office/drawing/2014/main" id="{70584D92-3C94-9786-62E2-652BDBFDCE89}"/>
              </a:ext>
            </a:extLst>
          </p:cNvPr>
          <p:cNvSpPr>
            <a:spLocks noGrp="1" noRot="1" noChangeArrowheads="1"/>
          </p:cNvSpPr>
          <p:nvPr>
            <p:ph type="body" idx="1"/>
          </p:nvPr>
        </p:nvSpPr>
        <p:spPr/>
        <p:txBody>
          <a:bodyPr/>
          <a:lstStyle/>
          <a:p>
            <a:pPr>
              <a:buFont typeface="Wingdings" panose="05000000000000000000" pitchFamily="2" charset="2"/>
              <a:buNone/>
            </a:pPr>
            <a:r>
              <a:rPr lang="zh-CN" altLang="en-US"/>
              <a:t>　</a:t>
            </a:r>
            <a:r>
              <a:rPr lang="en-US" altLang="zh-CN"/>
              <a:t>1</a:t>
            </a:r>
            <a:r>
              <a:rPr lang="zh-CN" altLang="en-US"/>
              <a:t>、美国农场数目与规模的变化</a:t>
            </a:r>
          </a:p>
          <a:p>
            <a:pPr>
              <a:buFont typeface="Wingdings" panose="05000000000000000000" pitchFamily="2" charset="2"/>
              <a:buNone/>
            </a:pPr>
            <a:r>
              <a:rPr lang="zh-CN" altLang="en-US"/>
              <a:t>　</a:t>
            </a:r>
            <a:r>
              <a:rPr lang="en-US" altLang="zh-CN"/>
              <a:t>2</a:t>
            </a:r>
            <a:r>
              <a:rPr lang="zh-CN" altLang="en-US"/>
              <a:t>、管道输油的规模经济性的证据</a:t>
            </a:r>
          </a:p>
          <a:p>
            <a:pPr>
              <a:buFont typeface="Wingdings" panose="05000000000000000000" pitchFamily="2" charset="2"/>
              <a:buNone/>
            </a:pPr>
            <a:r>
              <a:rPr lang="zh-CN" altLang="en-US"/>
              <a:t>　</a:t>
            </a:r>
            <a:r>
              <a:rPr lang="en-US" altLang="zh-CN"/>
              <a:t>3</a:t>
            </a:r>
            <a:r>
              <a:rPr lang="zh-CN" altLang="en-US"/>
              <a:t>、工厂的最小有效规模</a:t>
            </a:r>
            <a:r>
              <a:rPr lang="en-US" altLang="zh-CN"/>
              <a:t>(MES)</a:t>
            </a:r>
          </a:p>
          <a:p>
            <a:pPr>
              <a:buFont typeface="Wingdings" panose="05000000000000000000" pitchFamily="2" charset="2"/>
              <a:buNone/>
            </a:pPr>
            <a:r>
              <a:rPr lang="zh-CN" altLang="en-US"/>
              <a:t>　</a:t>
            </a:r>
            <a:r>
              <a:rPr lang="en-US" altLang="zh-CN"/>
              <a:t>4</a:t>
            </a:r>
            <a:r>
              <a:rPr lang="zh-CN" altLang="en-US"/>
              <a:t>、公司的规模经济性</a:t>
            </a:r>
          </a:p>
          <a:p>
            <a:pPr>
              <a:buFont typeface="Wingdings" panose="05000000000000000000" pitchFamily="2" charset="2"/>
              <a:buNone/>
            </a:pPr>
            <a:r>
              <a:rPr lang="zh-CN" altLang="en-US"/>
              <a:t>   </a:t>
            </a:r>
            <a:r>
              <a:rPr lang="en-US" altLang="zh-CN"/>
              <a:t>5</a:t>
            </a:r>
            <a:r>
              <a:rPr lang="zh-CN" altLang="en-US"/>
              <a:t>、若干长期成本函数的经验研究结果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5A90DF6-1551-E369-87B8-D5D90A7DB5D7}"/>
              </a:ext>
            </a:extLst>
          </p:cNvPr>
          <p:cNvSpPr>
            <a:spLocks noGrp="1" noRot="1" noChangeArrowheads="1"/>
          </p:cNvSpPr>
          <p:nvPr>
            <p:ph type="title"/>
          </p:nvPr>
        </p:nvSpPr>
        <p:spPr/>
        <p:txBody>
          <a:bodyPr/>
          <a:lstStyle/>
          <a:p>
            <a:r>
              <a:rPr lang="zh-CN" altLang="en-US"/>
              <a:t>关于我国水泥和棉纺业规模经济性的研究</a:t>
            </a:r>
          </a:p>
        </p:txBody>
      </p:sp>
      <p:sp>
        <p:nvSpPr>
          <p:cNvPr id="25603" name="Rectangle 3">
            <a:extLst>
              <a:ext uri="{FF2B5EF4-FFF2-40B4-BE49-F238E27FC236}">
                <a16:creationId xmlns:a16="http://schemas.microsoft.com/office/drawing/2014/main" id="{781DFE7A-969B-0BB9-19EB-D2567A2C52F4}"/>
              </a:ext>
            </a:extLst>
          </p:cNvPr>
          <p:cNvSpPr>
            <a:spLocks noGrp="1" noRot="1" noChangeArrowheads="1"/>
          </p:cNvSpPr>
          <p:nvPr>
            <p:ph type="body" idx="1"/>
          </p:nvPr>
        </p:nvSpPr>
        <p:spPr/>
        <p:txBody>
          <a:bodyPr/>
          <a:lstStyle/>
          <a:p>
            <a:pPr>
              <a:buFont typeface="Wingdings" panose="05000000000000000000" pitchFamily="2" charset="2"/>
              <a:buNone/>
            </a:pPr>
            <a:r>
              <a:rPr lang="en-US" altLang="zh-CN"/>
              <a:t> ㈠</a:t>
            </a:r>
            <a:r>
              <a:rPr lang="zh-CN" altLang="en-US"/>
              <a:t>对我国水泥行业规模经济性的实证分析</a:t>
            </a:r>
          </a:p>
          <a:p>
            <a:pPr>
              <a:buFont typeface="Wingdings" panose="05000000000000000000" pitchFamily="2" charset="2"/>
              <a:buNone/>
            </a:pPr>
            <a:r>
              <a:rPr lang="zh-CN" altLang="en-US"/>
              <a:t>　　⒈水泥行业的特点</a:t>
            </a:r>
          </a:p>
          <a:p>
            <a:pPr>
              <a:buFont typeface="Wingdings" panose="05000000000000000000" pitchFamily="2" charset="2"/>
              <a:buNone/>
            </a:pPr>
            <a:r>
              <a:rPr lang="zh-CN" altLang="en-US"/>
              <a:t>　　⒉研究方法与数据</a:t>
            </a:r>
          </a:p>
          <a:p>
            <a:pPr>
              <a:buFont typeface="Wingdings" panose="05000000000000000000" pitchFamily="2" charset="2"/>
              <a:buNone/>
            </a:pPr>
            <a:r>
              <a:rPr lang="zh-CN" altLang="en-US"/>
              <a:t>　　⒊数据分析与结论</a:t>
            </a:r>
          </a:p>
          <a:p>
            <a:pPr>
              <a:buFont typeface="Wingdings" panose="05000000000000000000" pitchFamily="2" charset="2"/>
              <a:buNone/>
            </a:pPr>
            <a:r>
              <a:rPr lang="zh-CN" altLang="en-US"/>
              <a:t> ㈡对我国棉纺织业规模经济性的考察</a:t>
            </a:r>
          </a:p>
          <a:p>
            <a:pPr>
              <a:buFont typeface="Wingdings" panose="05000000000000000000" pitchFamily="2" charset="2"/>
              <a:buNone/>
            </a:pPr>
            <a:r>
              <a:rPr lang="zh-CN" altLang="en-US"/>
              <a:t>　　⒈棉纺企业规模经济性的初步分析     </a:t>
            </a:r>
          </a:p>
          <a:p>
            <a:pPr>
              <a:buFont typeface="Wingdings" panose="05000000000000000000" pitchFamily="2" charset="2"/>
              <a:buNone/>
            </a:pPr>
            <a:r>
              <a:rPr lang="zh-CN" altLang="en-US"/>
              <a:t>   　⒉定量分析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E4F3CEF-9F78-39BE-C085-EC11A9AA7B7A}"/>
              </a:ext>
            </a:extLst>
          </p:cNvPr>
          <p:cNvSpPr>
            <a:spLocks noGrp="1" noRot="1" noChangeArrowheads="1"/>
          </p:cNvSpPr>
          <p:nvPr>
            <p:ph type="title"/>
          </p:nvPr>
        </p:nvSpPr>
        <p:spPr/>
        <p:txBody>
          <a:bodyPr/>
          <a:lstStyle/>
          <a:p>
            <a:endParaRPr lang="zh-CN" altLang="zh-CN"/>
          </a:p>
        </p:txBody>
      </p:sp>
      <p:sp>
        <p:nvSpPr>
          <p:cNvPr id="26627" name="Rectangle 3">
            <a:extLst>
              <a:ext uri="{FF2B5EF4-FFF2-40B4-BE49-F238E27FC236}">
                <a16:creationId xmlns:a16="http://schemas.microsoft.com/office/drawing/2014/main" id="{54382009-CC7A-F3EA-BF59-EAD7C8EE842C}"/>
              </a:ext>
            </a:extLst>
          </p:cNvPr>
          <p:cNvSpPr>
            <a:spLocks noGrp="1" noRot="1" noChangeArrowheads="1"/>
          </p:cNvSpPr>
          <p:nvPr>
            <p:ph type="body" idx="1"/>
          </p:nvPr>
        </p:nvSpPr>
        <p:spPr/>
        <p:txBody>
          <a:bodyPr/>
          <a:lstStyle/>
          <a:p>
            <a:pPr>
              <a:lnSpc>
                <a:spcPct val="90000"/>
              </a:lnSpc>
            </a:pPr>
            <a:r>
              <a:rPr lang="zh-CN" altLang="en-US"/>
              <a:t>规模经济性的决策含义</a:t>
            </a:r>
          </a:p>
          <a:p>
            <a:pPr>
              <a:lnSpc>
                <a:spcPct val="90000"/>
              </a:lnSpc>
              <a:buFont typeface="Wingdings" panose="05000000000000000000" pitchFamily="2" charset="2"/>
              <a:buNone/>
            </a:pPr>
            <a:r>
              <a:rPr lang="zh-CN" altLang="en-US"/>
              <a:t>㈠存在规模经济性时，存在扩大规模的动因或压力</a:t>
            </a:r>
          </a:p>
          <a:p>
            <a:pPr>
              <a:lnSpc>
                <a:spcPct val="90000"/>
              </a:lnSpc>
              <a:buFont typeface="Wingdings" panose="05000000000000000000" pitchFamily="2" charset="2"/>
              <a:buNone/>
            </a:pPr>
            <a:r>
              <a:rPr lang="zh-CN" altLang="en-US"/>
              <a:t>㈡产品能力与需要能力在经济性上的平衡──产品结构应与使用产品时的需求结构相配适</a:t>
            </a:r>
          </a:p>
          <a:p>
            <a:pPr>
              <a:lnSpc>
                <a:spcPct val="90000"/>
              </a:lnSpc>
              <a:buFont typeface="Wingdings" panose="05000000000000000000" pitchFamily="2" charset="2"/>
              <a:buNone/>
            </a:pPr>
            <a:r>
              <a:rPr lang="zh-CN" altLang="en-US"/>
              <a:t>㈢局限于某些行业</a:t>
            </a:r>
          </a:p>
          <a:p>
            <a:pPr>
              <a:lnSpc>
                <a:spcPct val="90000"/>
              </a:lnSpc>
              <a:buFont typeface="Wingdings" panose="05000000000000000000" pitchFamily="2" charset="2"/>
              <a:buNone/>
            </a:pPr>
            <a:r>
              <a:rPr lang="zh-CN" altLang="en-US"/>
              <a:t>㈣规模经济性可能为其它管理因素所抵销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6627">
                                            <p:txEl>
                                              <p:pRg st="4" end="4"/>
                                            </p:txEl>
                                          </p:spTgt>
                                        </p:tgtEl>
                                        <p:attrNameLst>
                                          <p:attrName>style.visibility</p:attrName>
                                        </p:attrNameLst>
                                      </p:cBhvr>
                                      <p:to>
                                        <p:strVal val="visible"/>
                                      </p:to>
                                    </p:set>
                                    <p:anim calcmode="lin" valueType="num">
                                      <p:cBhvr additive="base">
                                        <p:cTn id="31"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10C02A5-AF7E-5436-73E3-9ADC874FDE36}"/>
              </a:ext>
            </a:extLst>
          </p:cNvPr>
          <p:cNvSpPr>
            <a:spLocks noGrp="1" noRot="1" noChangeArrowheads="1"/>
          </p:cNvSpPr>
          <p:nvPr>
            <p:ph type="title"/>
          </p:nvPr>
        </p:nvSpPr>
        <p:spPr/>
        <p:txBody>
          <a:bodyPr/>
          <a:lstStyle/>
          <a:p>
            <a:endParaRPr lang="zh-CN" altLang="zh-CN"/>
          </a:p>
        </p:txBody>
      </p:sp>
      <p:sp>
        <p:nvSpPr>
          <p:cNvPr id="43011" name="Rectangle 3">
            <a:extLst>
              <a:ext uri="{FF2B5EF4-FFF2-40B4-BE49-F238E27FC236}">
                <a16:creationId xmlns:a16="http://schemas.microsoft.com/office/drawing/2014/main" id="{FF383BBC-0726-3F51-5F0E-6D214232CB5F}"/>
              </a:ext>
            </a:extLst>
          </p:cNvPr>
          <p:cNvSpPr>
            <a:spLocks noGrp="1" noRot="1" noChangeArrowheads="1"/>
          </p:cNvSpPr>
          <p:nvPr>
            <p:ph type="body" idx="1"/>
          </p:nvPr>
        </p:nvSpPr>
        <p:spPr/>
        <p:txBody>
          <a:bodyPr/>
          <a:lstStyle/>
          <a:p>
            <a:r>
              <a:rPr lang="zh-CN" altLang="en-US" i="1">
                <a:solidFill>
                  <a:srgbClr val="000000"/>
                </a:solidFill>
              </a:rPr>
              <a:t>问题：企业规模与效率之间是什么关系？</a:t>
            </a:r>
            <a:r>
              <a:rPr lang="zh-CN" altLang="en-US"/>
              <a:t> </a:t>
            </a:r>
          </a:p>
          <a:p>
            <a:r>
              <a:rPr lang="zh-CN" altLang="en-US"/>
              <a:t>大企业病与企业重构</a:t>
            </a:r>
          </a:p>
          <a:p>
            <a:r>
              <a:rPr lang="zh-CN" altLang="en-US"/>
              <a:t>案例研究：</a:t>
            </a:r>
            <a:r>
              <a:rPr lang="zh-CN" altLang="en-US">
                <a:solidFill>
                  <a:srgbClr val="000000"/>
                </a:solidFill>
              </a:rPr>
              <a:t>西尔斯</a:t>
            </a:r>
            <a:r>
              <a:rPr lang="en-US" altLang="zh-CN">
                <a:solidFill>
                  <a:srgbClr val="000000"/>
                </a:solidFill>
                <a:latin typeface="MS Sans Serif"/>
              </a:rPr>
              <a:t>·</a:t>
            </a:r>
            <a:r>
              <a:rPr lang="zh-CN" altLang="en-US">
                <a:solidFill>
                  <a:srgbClr val="000000"/>
                </a:solidFill>
              </a:rPr>
              <a:t>罗巴克公司</a:t>
            </a:r>
            <a:r>
              <a:rPr lang="zh-CN" altLang="en-US"/>
              <a:t> （</a:t>
            </a:r>
            <a:r>
              <a:rPr lang="en-US" altLang="zh-CN"/>
              <a:t>Sears)</a:t>
            </a:r>
          </a:p>
          <a:p>
            <a:pPr>
              <a:buFont typeface="Wingdings" panose="05000000000000000000" pitchFamily="2" charset="2"/>
              <a:buNone/>
            </a:pPr>
            <a:r>
              <a:rPr lang="zh-CN" altLang="en-US"/>
              <a:t>　　　　　　万科企业股份有限公司</a:t>
            </a:r>
          </a:p>
          <a:p>
            <a:pPr>
              <a:buFont typeface="Wingdings" panose="05000000000000000000" pitchFamily="2" charset="2"/>
              <a:buNone/>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9C2C3D0-8188-E76F-BA28-999D63061A57}"/>
              </a:ext>
            </a:extLst>
          </p:cNvPr>
          <p:cNvSpPr>
            <a:spLocks noGrp="1" noRot="1" noChangeArrowheads="1"/>
          </p:cNvSpPr>
          <p:nvPr>
            <p:ph type="title"/>
          </p:nvPr>
        </p:nvSpPr>
        <p:spPr/>
        <p:txBody>
          <a:bodyPr/>
          <a:lstStyle/>
          <a:p>
            <a:endParaRPr lang="zh-CN" altLang="zh-CN"/>
          </a:p>
        </p:txBody>
      </p:sp>
      <p:sp>
        <p:nvSpPr>
          <p:cNvPr id="44035" name="Rectangle 3">
            <a:extLst>
              <a:ext uri="{FF2B5EF4-FFF2-40B4-BE49-F238E27FC236}">
                <a16:creationId xmlns:a16="http://schemas.microsoft.com/office/drawing/2014/main" id="{14F739E9-EBAC-A6C3-E971-A326D14A9E58}"/>
              </a:ext>
            </a:extLst>
          </p:cNvPr>
          <p:cNvSpPr>
            <a:spLocks noGrp="1" noRot="1" noChangeArrowheads="1"/>
          </p:cNvSpPr>
          <p:nvPr>
            <p:ph type="body" idx="1"/>
          </p:nvPr>
        </p:nvSpPr>
        <p:spPr/>
        <p:txBody>
          <a:bodyPr/>
          <a:lstStyle/>
          <a:p>
            <a:pPr>
              <a:buFont typeface="Wingdings" panose="05000000000000000000" pitchFamily="2" charset="2"/>
              <a:buNone/>
            </a:pPr>
            <a:r>
              <a:rPr lang="zh-CN" altLang="en-US" b="1"/>
              <a:t>思考：中国大型企业何以立足？</a:t>
            </a:r>
          </a:p>
          <a:p>
            <a:pPr>
              <a:buFont typeface="Wingdings" panose="05000000000000000000" pitchFamily="2" charset="2"/>
              <a:buNone/>
            </a:pPr>
            <a:r>
              <a:rPr lang="zh-CN" altLang="en-US" sz="2400" b="1">
                <a:solidFill>
                  <a:srgbClr val="FF0066"/>
                </a:solidFill>
                <a:cs typeface="Arial" panose="020B0604020202020204" pitchFamily="34" charset="0"/>
              </a:rPr>
              <a:t>♣</a:t>
            </a:r>
            <a:r>
              <a:rPr lang="zh-CN" altLang="en-US" sz="2400" b="1">
                <a:solidFill>
                  <a:schemeClr val="hlink"/>
                </a:solidFill>
                <a:cs typeface="Arial" panose="020B0604020202020204" pitchFamily="34" charset="0"/>
              </a:rPr>
              <a:t>  </a:t>
            </a:r>
            <a:r>
              <a:rPr lang="zh-CN" altLang="en-US" sz="2400" b="1"/>
              <a:t>差距：</a:t>
            </a:r>
          </a:p>
          <a:p>
            <a:pPr>
              <a:buFont typeface="Wingdings" panose="05000000000000000000" pitchFamily="2" charset="2"/>
              <a:buNone/>
            </a:pPr>
            <a:r>
              <a:rPr lang="zh-CN" altLang="en-US" sz="2400" b="1">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航空与航天</a:t>
            </a:r>
            <a:r>
              <a:rPr lang="zh-CN" altLang="en-US" sz="2400" b="1"/>
              <a:t> </a:t>
            </a:r>
          </a:p>
          <a:p>
            <a:pPr>
              <a:buFont typeface="Wingdings" panose="05000000000000000000" pitchFamily="2" charset="2"/>
              <a:buNone/>
            </a:pPr>
            <a:r>
              <a:rPr lang="zh-CN" altLang="en-US" sz="2000" b="1"/>
              <a:t>     中国最具实力的企业：中航</a:t>
            </a:r>
          </a:p>
          <a:p>
            <a:pPr>
              <a:buFont typeface="Wingdings" panose="05000000000000000000" pitchFamily="2" charset="2"/>
              <a:buNone/>
            </a:pP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公司　　　　收入（</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亿） 税后利润（百万） 雇员（千人）研发费用</a:t>
            </a:r>
            <a:r>
              <a:rPr lang="zh-CN" altLang="en-US" sz="1600" b="1"/>
              <a:t> </a:t>
            </a:r>
            <a:r>
              <a:rPr lang="zh-CN" altLang="en-US" sz="1600" b="1">
                <a:solidFill>
                  <a:schemeClr val="tx2"/>
                </a:solidFill>
              </a:rPr>
              <a:t>（百万）</a:t>
            </a:r>
          </a:p>
          <a:p>
            <a:pPr>
              <a:buFont typeface="Wingdings" panose="05000000000000000000" pitchFamily="2" charset="2"/>
              <a:buNone/>
            </a:pPr>
            <a:r>
              <a:rPr lang="zh-CN" altLang="en-US" sz="1600" b="1"/>
              <a:t>　　</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波音</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b="1">
                <a:solidFill>
                  <a:srgbClr val="000000"/>
                </a:solidFill>
                <a:ea typeface="Arial Unicode MS" panose="020B0604020202020204" pitchFamily="34" charset="-122"/>
                <a:cs typeface="Arial Unicode MS" panose="020B0604020202020204" pitchFamily="34" charset="-122"/>
              </a:rPr>
              <a:t>‘</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45.8</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(178)</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239</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1,830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p>
          <a:p>
            <a:pPr>
              <a:buFont typeface="Wingdings" panose="05000000000000000000" pitchFamily="2" charset="2"/>
              <a:buNone/>
            </a:pP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洛克希德</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b="1">
                <a:solidFill>
                  <a:srgbClr val="000000"/>
                </a:solidFill>
                <a:ea typeface="Arial Unicode MS" panose="020B0604020202020204" pitchFamily="34" charset="-122"/>
                <a:cs typeface="Arial Unicode MS" panose="020B0604020202020204" pitchFamily="34" charset="-122"/>
              </a:rPr>
              <a:t>’</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28.1</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1,300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190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1,060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p>
          <a:p>
            <a:pPr>
              <a:buFont typeface="Wingdings" panose="05000000000000000000" pitchFamily="2" charset="2"/>
              <a:buNone/>
            </a:pP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600" b="1">
                <a:solidFill>
                  <a:srgbClr val="000000"/>
                </a:solidFill>
                <a:ea typeface="Arial Unicode MS" panose="020B0604020202020204" pitchFamily="34" charset="-122"/>
                <a:cs typeface="Arial Unicode MS" panose="020B0604020202020204" pitchFamily="34" charset="-122"/>
              </a:rPr>
              <a:t> </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英国航太</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b="1">
                <a:solidFill>
                  <a:srgbClr val="000000"/>
                </a:solidFill>
                <a:ea typeface="Arial Unicode MS" panose="020B0604020202020204" pitchFamily="34" charset="-122"/>
                <a:cs typeface="Arial Unicode MS" panose="020B0604020202020204" pitchFamily="34" charset="-122"/>
              </a:rPr>
              <a:t>‘</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10.4</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681</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44</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690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p>
          <a:p>
            <a:pPr>
              <a:buFont typeface="Wingdings" panose="05000000000000000000" pitchFamily="2" charset="2"/>
              <a:buNone/>
            </a:pP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600" b="1">
                <a:solidFill>
                  <a:srgbClr val="000000"/>
                </a:solidFill>
                <a:ea typeface="Arial Unicode MS" panose="020B0604020202020204" pitchFamily="34" charset="-122"/>
                <a:cs typeface="Arial Unicode MS" panose="020B0604020202020204" pitchFamily="34" charset="-122"/>
              </a:rPr>
              <a:t> </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中航</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600" b="1">
                <a:solidFill>
                  <a:srgbClr val="000000"/>
                </a:solidFill>
                <a:ea typeface="Arial Unicode MS" panose="020B0604020202020204" pitchFamily="34" charset="-122"/>
                <a:cs typeface="Arial Unicode MS" panose="020B0604020202020204" pitchFamily="34" charset="-122"/>
              </a:rPr>
              <a:t>‘</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3.1</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72</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560</a:t>
            </a:r>
            <a:r>
              <a:rPr lang="zh-CN" altLang="en-US" sz="16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缺　</a:t>
            </a:r>
            <a:r>
              <a:rPr lang="zh-CN" altLang="en-US" sz="16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40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4403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4403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440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BC51E28-2F7B-51DB-58E6-EB86E6E96340}"/>
              </a:ext>
            </a:extLst>
          </p:cNvPr>
          <p:cNvSpPr>
            <a:spLocks noGrp="1" noRot="1" noChangeArrowheads="1"/>
          </p:cNvSpPr>
          <p:nvPr>
            <p:ph type="title"/>
          </p:nvPr>
        </p:nvSpPr>
        <p:spPr/>
        <p:txBody>
          <a:bodyPr/>
          <a:lstStyle/>
          <a:p>
            <a:endParaRPr lang="zh-CN" altLang="zh-CN"/>
          </a:p>
        </p:txBody>
      </p:sp>
      <p:sp>
        <p:nvSpPr>
          <p:cNvPr id="45059" name="Rectangle 3">
            <a:extLst>
              <a:ext uri="{FF2B5EF4-FFF2-40B4-BE49-F238E27FC236}">
                <a16:creationId xmlns:a16="http://schemas.microsoft.com/office/drawing/2014/main" id="{66F81552-7BF4-9684-A72D-75DDAE5A31E9}"/>
              </a:ext>
            </a:extLst>
          </p:cNvPr>
          <p:cNvSpPr>
            <a:spLocks noGrp="1" noRot="1" noChangeArrowheads="1"/>
          </p:cNvSpPr>
          <p:nvPr>
            <p:ph type="body" idx="1"/>
          </p:nvPr>
        </p:nvSpPr>
        <p:spPr/>
        <p:txBody>
          <a:bodyPr/>
          <a:lstStyle/>
          <a:p>
            <a:pPr>
              <a:lnSpc>
                <a:spcPct val="80000"/>
              </a:lnSpc>
              <a:buFont typeface="Wingdings" panose="05000000000000000000" pitchFamily="2" charset="2"/>
              <a:buNone/>
            </a:pPr>
            <a:r>
              <a:rPr lang="en-US" altLang="zh-CN" sz="2400" b="1"/>
              <a:t> </a:t>
            </a:r>
            <a:r>
              <a:rPr lang="en-US" altLang="zh-CN" sz="2800" b="1">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a:solidFill>
                  <a:srgbClr val="FF9900"/>
                </a:solidFill>
              </a:rPr>
              <a:t>动力设备工业</a:t>
            </a:r>
          </a:p>
          <a:p>
            <a:pPr>
              <a:lnSpc>
                <a:spcPct val="80000"/>
              </a:lnSpc>
              <a:buFont typeface="Wingdings" panose="05000000000000000000" pitchFamily="2" charset="2"/>
              <a:buNone/>
            </a:pPr>
            <a:r>
              <a:rPr lang="zh-CN" altLang="en-US" sz="2000" b="1"/>
              <a:t>    中国最具实力的企业：</a:t>
            </a:r>
            <a:r>
              <a:rPr lang="zh-CN" altLang="en-US" sz="2000" b="1">
                <a:solidFill>
                  <a:schemeClr val="tx2"/>
                </a:solidFill>
              </a:rPr>
              <a:t>哈尔滨动力设备公司</a:t>
            </a:r>
          </a:p>
          <a:p>
            <a:pPr>
              <a:lnSpc>
                <a:spcPct val="80000"/>
              </a:lnSpc>
              <a:buFont typeface="Wingdings" panose="05000000000000000000" pitchFamily="2" charset="2"/>
              <a:buNone/>
            </a:pPr>
            <a:r>
              <a:rPr lang="zh-CN" altLang="en-US" sz="2000" b="1">
                <a:solidFill>
                  <a:schemeClr val="tx2"/>
                </a:solidFill>
                <a:latin typeface="Arial Unicode MS" panose="020B0604020202020204" pitchFamily="34" charset="-122"/>
              </a:rPr>
              <a:t>　</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公司　　             收入        税后利润             雇员            研发费用</a:t>
            </a:r>
          </a:p>
          <a:p>
            <a:pPr>
              <a:lnSpc>
                <a:spcPct val="80000"/>
              </a:lnSpc>
              <a:buFont typeface="Wingdings" panose="05000000000000000000" pitchFamily="2" charset="2"/>
              <a:buNone/>
            </a:pPr>
            <a:r>
              <a:rPr lang="zh-CN" altLang="en-US" sz="2000" b="1">
                <a:solidFill>
                  <a:schemeClr val="tx2"/>
                </a:solidFill>
              </a:rPr>
              <a:t>                            </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10</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亿）</a:t>
            </a:r>
            <a:r>
              <a:rPr lang="zh-CN" altLang="en-US" sz="2000" b="1">
                <a:solidFill>
                  <a:schemeClr val="tx2"/>
                </a:solidFill>
              </a:rPr>
              <a:t>   （百万）          </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（千人）</a:t>
            </a:r>
            <a:r>
              <a:rPr lang="zh-CN" altLang="en-US" sz="2000" b="1">
                <a:solidFill>
                  <a:schemeClr val="tx2"/>
                </a:solidFill>
              </a:rPr>
              <a:t>          </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（百万）</a:t>
            </a:r>
            <a:r>
              <a:rPr lang="zh-CN" altLang="en-US" sz="2000" b="1"/>
              <a:t> 　　　　　　　　　　　　　　　　　　　　　　　　</a:t>
            </a:r>
          </a:p>
          <a:p>
            <a:pPr>
              <a:lnSpc>
                <a:spcPct val="80000"/>
              </a:lnSpc>
              <a:buFont typeface="Wingdings" panose="05000000000000000000" pitchFamily="2" charset="2"/>
              <a:buNone/>
            </a:pPr>
            <a:r>
              <a:rPr lang="zh-CN" altLang="en-US" sz="2000" b="1">
                <a:latin typeface="Arial Unicode MS" panose="020B0604020202020204" pitchFamily="34" charset="-122"/>
              </a:rPr>
              <a:t>　</a:t>
            </a:r>
            <a:r>
              <a:rPr lang="zh-CN" altLang="en-US" sz="2000" b="1">
                <a:solidFill>
                  <a:schemeClr val="tx2"/>
                </a:solidFill>
                <a:latin typeface="Arial Unicode MS" panose="020B0604020202020204" pitchFamily="34" charset="-122"/>
              </a:rPr>
              <a:t>西门子　　　  　</a:t>
            </a:r>
            <a:r>
              <a:rPr lang="en-US" altLang="zh-CN" sz="2000" b="1">
                <a:solidFill>
                  <a:schemeClr val="tx2"/>
                </a:solidFill>
                <a:latin typeface="Arial Unicode MS" panose="020B0604020202020204" pitchFamily="34" charset="-122"/>
              </a:rPr>
              <a:t>57.95</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990</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376</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5,008 </a:t>
            </a:r>
            <a:r>
              <a:rPr lang="zh-CN" altLang="en-US" sz="2000" b="1">
                <a:solidFill>
                  <a:schemeClr val="tx2"/>
                </a:solidFill>
                <a:latin typeface="Arial Unicode MS" panose="020B0604020202020204" pitchFamily="34" charset="-122"/>
              </a:rPr>
              <a:t>　</a:t>
            </a:r>
          </a:p>
          <a:p>
            <a:pPr>
              <a:lnSpc>
                <a:spcPct val="80000"/>
              </a:lnSpc>
              <a:buFont typeface="Wingdings" panose="05000000000000000000" pitchFamily="2" charset="2"/>
              <a:buNone/>
            </a:pPr>
            <a:r>
              <a:rPr lang="zh-CN" altLang="en-US" sz="2000" b="1">
                <a:solidFill>
                  <a:schemeClr val="tx2"/>
                </a:solidFill>
                <a:latin typeface="Arial Unicode MS" panose="020B0604020202020204" pitchFamily="34" charset="-122"/>
              </a:rPr>
              <a:t>　：动力分公司　　</a:t>
            </a:r>
            <a:r>
              <a:rPr lang="en-US" altLang="zh-CN" sz="2000" b="1">
                <a:solidFill>
                  <a:schemeClr val="tx2"/>
                </a:solidFill>
                <a:latin typeface="Arial Unicode MS" panose="020B0604020202020204" pitchFamily="34" charset="-122"/>
              </a:rPr>
              <a:t>6.39</a:t>
            </a:r>
            <a:r>
              <a:rPr lang="zh-CN" altLang="en-US" sz="2000" b="1">
                <a:solidFill>
                  <a:schemeClr val="tx2"/>
                </a:solidFill>
                <a:latin typeface="Arial Unicode MS" panose="020B0604020202020204" pitchFamily="34" charset="-122"/>
              </a:rPr>
              <a:t>　　　缺　　　　　    缺　　　　　 缺</a:t>
            </a:r>
          </a:p>
          <a:p>
            <a:pPr>
              <a:lnSpc>
                <a:spcPct val="80000"/>
              </a:lnSpc>
              <a:buFont typeface="Wingdings" panose="05000000000000000000" pitchFamily="2" charset="2"/>
              <a:buNone/>
            </a:pP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ABB</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29.72</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2,500</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208</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2,368</a:t>
            </a:r>
          </a:p>
          <a:p>
            <a:pPr>
              <a:lnSpc>
                <a:spcPct val="80000"/>
              </a:lnSpc>
              <a:buFont typeface="Wingdings" panose="05000000000000000000" pitchFamily="2" charset="2"/>
              <a:buNone/>
            </a:pPr>
            <a:r>
              <a:rPr lang="zh-CN" altLang="en-US" sz="2000" b="1">
                <a:solidFill>
                  <a:schemeClr val="tx2"/>
                </a:solidFill>
                <a:latin typeface="Arial Unicode MS" panose="020B0604020202020204" pitchFamily="34" charset="-122"/>
              </a:rPr>
              <a:t>　 通用电气　   　</a:t>
            </a:r>
            <a:r>
              <a:rPr lang="en-US" altLang="zh-CN" sz="2000" b="1">
                <a:solidFill>
                  <a:schemeClr val="tx2"/>
                </a:solidFill>
                <a:latin typeface="Arial Unicode MS" panose="020B0604020202020204" pitchFamily="34" charset="-122"/>
              </a:rPr>
              <a:t>100.47</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9,296</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293</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1,930</a:t>
            </a:r>
          </a:p>
          <a:p>
            <a:pPr>
              <a:lnSpc>
                <a:spcPct val="80000"/>
              </a:lnSpc>
              <a:buFont typeface="Wingdings" panose="05000000000000000000" pitchFamily="2" charset="2"/>
              <a:buNone/>
            </a:pPr>
            <a:r>
              <a:rPr lang="en-US" altLang="zh-CN" sz="2000" b="1">
                <a:solidFill>
                  <a:schemeClr val="tx2"/>
                </a:solidFill>
                <a:latin typeface="Arial Unicode MS" panose="020B0604020202020204" pitchFamily="34" charset="-122"/>
              </a:rPr>
              <a:t> </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a:t>
            </a:r>
            <a:r>
              <a:rPr lang="zh-CN" altLang="en-US" sz="2000" b="1">
                <a:solidFill>
                  <a:schemeClr val="tx2"/>
                </a:solidFill>
                <a:latin typeface="Arial Unicode MS" panose="020B0604020202020204" pitchFamily="34" charset="-122"/>
              </a:rPr>
              <a:t>动力分公司　  　</a:t>
            </a:r>
            <a:r>
              <a:rPr lang="en-US" altLang="zh-CN" sz="2000" b="1">
                <a:solidFill>
                  <a:schemeClr val="tx2"/>
                </a:solidFill>
                <a:latin typeface="Arial Unicode MS" panose="020B0604020202020204" pitchFamily="34" charset="-122"/>
              </a:rPr>
              <a:t>8.47</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1,306</a:t>
            </a:r>
            <a:r>
              <a:rPr lang="zh-CN" altLang="en-US" sz="2000" b="1">
                <a:solidFill>
                  <a:schemeClr val="tx2"/>
                </a:solidFill>
                <a:latin typeface="Arial Unicode MS" panose="020B0604020202020204" pitchFamily="34" charset="-122"/>
              </a:rPr>
              <a:t>　　　　　缺　　　　　 缺</a:t>
            </a:r>
          </a:p>
          <a:p>
            <a:pPr>
              <a:lnSpc>
                <a:spcPct val="80000"/>
              </a:lnSpc>
              <a:buFont typeface="Wingdings" panose="05000000000000000000" pitchFamily="2" charset="2"/>
              <a:buNone/>
            </a:pPr>
            <a:r>
              <a:rPr lang="zh-CN" altLang="en-US" sz="2000" b="1">
                <a:solidFill>
                  <a:schemeClr val="tx2"/>
                </a:solidFill>
                <a:latin typeface="Arial Unicode MS" panose="020B0604020202020204" pitchFamily="34" charset="-122"/>
              </a:rPr>
              <a:t>　 哈尔滨动力设备   </a:t>
            </a:r>
            <a:r>
              <a:rPr lang="en-US" altLang="zh-CN" sz="2000" b="1">
                <a:solidFill>
                  <a:schemeClr val="tx2"/>
                </a:solidFill>
                <a:latin typeface="Arial Unicode MS" panose="020B0604020202020204" pitchFamily="34" charset="-122"/>
              </a:rPr>
              <a:t>0.35</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9</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27</a:t>
            </a:r>
            <a:r>
              <a:rPr lang="zh-CN" altLang="en-US" sz="2000" b="1">
                <a:solidFill>
                  <a:schemeClr val="tx2"/>
                </a:solidFill>
                <a:latin typeface="Arial Unicode MS" panose="020B0604020202020204" pitchFamily="34" charset="-122"/>
              </a:rPr>
              <a:t>　　　   　 </a:t>
            </a:r>
            <a:r>
              <a:rPr lang="en-US" altLang="zh-CN" sz="2000" b="1">
                <a:solidFill>
                  <a:schemeClr val="tx2"/>
                </a:solidFill>
                <a:latin typeface="Arial Unicode MS" panose="020B0604020202020204" pitchFamily="34" charset="-122"/>
              </a:rPr>
              <a:t>3 </a:t>
            </a:r>
            <a:endParaRPr lang="en-US" altLang="zh-CN" sz="2000" b="1">
              <a:solidFill>
                <a:schemeClr val="tx2"/>
              </a:solidFill>
            </a:endParaRPr>
          </a:p>
          <a:p>
            <a:pPr>
              <a:lnSpc>
                <a:spcPct val="80000"/>
              </a:lnSpc>
            </a:pPr>
            <a:endParaRPr lang="en-US" altLang="zh-CN" sz="2000" b="1">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2" dur="500"/>
                                        <p:tgtEl>
                                          <p:spTgt spid="45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7" dur="500"/>
                                        <p:tgtEl>
                                          <p:spTgt spid="45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2" dur="500"/>
                                        <p:tgtEl>
                                          <p:spTgt spid="450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7" dur="500"/>
                                        <p:tgtEl>
                                          <p:spTgt spid="450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32" dur="500"/>
                                        <p:tgtEl>
                                          <p:spTgt spid="450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37" dur="500"/>
                                        <p:tgtEl>
                                          <p:spTgt spid="450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42" dur="500"/>
                                        <p:tgtEl>
                                          <p:spTgt spid="450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47" dur="500"/>
                                        <p:tgtEl>
                                          <p:spTgt spid="4505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5059">
                                            <p:txEl>
                                              <p:pRg st="9" end="9"/>
                                            </p:txEl>
                                          </p:spTgt>
                                        </p:tgtEl>
                                        <p:attrNameLst>
                                          <p:attrName>style.visibility</p:attrName>
                                        </p:attrNameLst>
                                      </p:cBhvr>
                                      <p:to>
                                        <p:strVal val="visible"/>
                                      </p:to>
                                    </p:set>
                                    <p:animEffect transition="in" filter="blinds(horizontal)">
                                      <p:cBhvr>
                                        <p:cTn id="52" dur="500"/>
                                        <p:tgtEl>
                                          <p:spTgt spid="45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1EF8A65-C23F-6FA7-39B0-05A4837C1FE5}"/>
              </a:ext>
            </a:extLst>
          </p:cNvPr>
          <p:cNvSpPr>
            <a:spLocks noGrp="1" noRot="1" noChangeArrowheads="1"/>
          </p:cNvSpPr>
          <p:nvPr>
            <p:ph type="title"/>
          </p:nvPr>
        </p:nvSpPr>
        <p:spPr/>
        <p:txBody>
          <a:bodyPr/>
          <a:lstStyle/>
          <a:p>
            <a:endParaRPr lang="zh-CN" altLang="zh-CN"/>
          </a:p>
        </p:txBody>
      </p:sp>
      <p:sp>
        <p:nvSpPr>
          <p:cNvPr id="49155" name="Rectangle 3">
            <a:extLst>
              <a:ext uri="{FF2B5EF4-FFF2-40B4-BE49-F238E27FC236}">
                <a16:creationId xmlns:a16="http://schemas.microsoft.com/office/drawing/2014/main" id="{3042A039-A55D-B25B-C55B-562508D00BDE}"/>
              </a:ext>
            </a:extLst>
          </p:cNvPr>
          <p:cNvSpPr>
            <a:spLocks noGrp="1" noRot="1" noChangeArrowheads="1"/>
          </p:cNvSpPr>
          <p:nvPr>
            <p:ph type="body" idx="1"/>
          </p:nvPr>
        </p:nvSpPr>
        <p:spPr/>
        <p:txBody>
          <a:bodyPr/>
          <a:lstStyle/>
          <a:p>
            <a:pPr>
              <a:buFont typeface="Wingdings" panose="05000000000000000000" pitchFamily="2" charset="2"/>
              <a:buNone/>
            </a:pPr>
            <a:r>
              <a:rPr lang="en-US" altLang="zh-CN" sz="24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b="1">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石油／石化工业</a:t>
            </a:r>
          </a:p>
          <a:p>
            <a:pPr>
              <a:buFont typeface="Wingdings" panose="05000000000000000000" pitchFamily="2" charset="2"/>
              <a:buNone/>
            </a:pPr>
            <a:r>
              <a:rPr lang="zh-CN" altLang="en-US" sz="20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0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中国最具实力的企业：中国石油、中国石化、海洋石油</a:t>
            </a:r>
          </a:p>
          <a:p>
            <a:pPr>
              <a:buFont typeface="Wingdings" panose="05000000000000000000" pitchFamily="2" charset="2"/>
              <a:buNone/>
            </a:pP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公司　　　　　收入（</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亿） 税后利润（百万） 雇员（千人）研发费用</a:t>
            </a:r>
            <a:r>
              <a:rPr lang="zh-CN" altLang="en-US" sz="1800" b="1">
                <a:solidFill>
                  <a:schemeClr val="tx2"/>
                </a:solidFill>
              </a:rPr>
              <a:t> 　　　　　　　　　　　　　　　　　　　　　　　　　　　　</a:t>
            </a:r>
          </a:p>
          <a:p>
            <a:pPr>
              <a:buFont typeface="Wingdings" panose="05000000000000000000" pitchFamily="2" charset="2"/>
              <a:buNone/>
            </a:pPr>
            <a:r>
              <a:rPr lang="zh-CN" altLang="en-US" sz="1800" b="1">
                <a:solidFill>
                  <a:schemeClr val="tx2"/>
                </a:solidFill>
              </a:rPr>
              <a:t>                                                                                                       （百万） </a:t>
            </a:r>
          </a:p>
          <a:p>
            <a:pPr>
              <a:buFont typeface="Wingdings" panose="05000000000000000000" pitchFamily="2" charset="2"/>
              <a:buNone/>
            </a:pP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埃克森莫比尔</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b="1">
                <a:solidFill>
                  <a:schemeClr val="tx2"/>
                </a:solidFill>
                <a:ea typeface="Arial Unicode MS" panose="020B0604020202020204" pitchFamily="34" charset="-122"/>
                <a:cs typeface="Arial Unicode MS" panose="020B0604020202020204" pitchFamily="34" charset="-122"/>
              </a:rPr>
              <a:t>‘</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182.36</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11,730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123</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720</a:t>
            </a:r>
          </a:p>
          <a:p>
            <a:pPr>
              <a:buFont typeface="Wingdings" panose="05000000000000000000" pitchFamily="2" charset="2"/>
              <a:buNone/>
            </a:pPr>
            <a:r>
              <a:rPr lang="en-US" altLang="zh-CN" sz="1800" b="1">
                <a:solidFill>
                  <a:schemeClr val="tx2"/>
                </a:solidFill>
                <a:ea typeface="Arial Unicode MS" panose="020B0604020202020204" pitchFamily="34" charset="-122"/>
                <a:cs typeface="Arial Unicode MS" panose="020B0604020202020204" pitchFamily="34" charset="-122"/>
              </a:rPr>
              <a:t> </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皇家荷兰壳牌</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b="1">
                <a:solidFill>
                  <a:schemeClr val="tx2"/>
                </a:solidFill>
                <a:ea typeface="Arial Unicode MS" panose="020B0604020202020204" pitchFamily="34" charset="-122"/>
                <a:cs typeface="Arial Unicode MS" panose="020B0604020202020204" pitchFamily="34" charset="-122"/>
              </a:rPr>
              <a:t>‘</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97)       128.14</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7,760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105</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770</a:t>
            </a:r>
          </a:p>
          <a:p>
            <a:pPr>
              <a:buFont typeface="Wingdings" panose="05000000000000000000" pitchFamily="2" charset="2"/>
              <a:buNone/>
            </a:pPr>
            <a:r>
              <a:rPr lang="en-US" altLang="zh-CN" sz="1800" b="1">
                <a:solidFill>
                  <a:schemeClr val="tx2"/>
                </a:solidFill>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BP</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阿莫科</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b="1">
                <a:solidFill>
                  <a:schemeClr val="tx2"/>
                </a:solidFill>
                <a:ea typeface="Arial Unicode MS" panose="020B0604020202020204" pitchFamily="34" charset="-122"/>
                <a:cs typeface="Arial Unicode MS" panose="020B0604020202020204" pitchFamily="34" charset="-122"/>
              </a:rPr>
              <a:t>‘</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97)</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123.30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8,540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123</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390</a:t>
            </a:r>
          </a:p>
          <a:p>
            <a:pPr>
              <a:buFont typeface="Wingdings" panose="05000000000000000000" pitchFamily="2" charset="2"/>
              <a:buNone/>
            </a:pPr>
            <a:r>
              <a:rPr lang="en-US" altLang="zh-CN" sz="1800" b="1">
                <a:solidFill>
                  <a:schemeClr val="tx2"/>
                </a:solidFill>
                <a:ea typeface="Arial Unicode MS" panose="020B0604020202020204" pitchFamily="34" charset="-122"/>
                <a:cs typeface="Arial Unicode MS" panose="020B0604020202020204" pitchFamily="34" charset="-122"/>
              </a:rPr>
              <a:t> </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中国石油</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b="1">
                <a:solidFill>
                  <a:schemeClr val="tx2"/>
                </a:solidFill>
                <a:ea typeface="Arial Unicode MS" panose="020B0604020202020204" pitchFamily="34" charset="-122"/>
                <a:cs typeface="Arial Unicode MS" panose="020B0604020202020204" pitchFamily="34" charset="-122"/>
              </a:rPr>
              <a:t>‘</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98)</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32.6</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[107]</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1,540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缺</a:t>
            </a:r>
            <a:r>
              <a:rPr lang="zh-CN" altLang="en-US" sz="1800" b="1">
                <a:solidFill>
                  <a:schemeClr val="tx2"/>
                </a:solidFill>
                <a:ea typeface="Arial Unicode MS" panose="020B0604020202020204" pitchFamily="34" charset="-122"/>
                <a:cs typeface="Arial Unicode MS" panose="020B0604020202020204" pitchFamily="34" charset="-122"/>
              </a:rPr>
              <a:t> </a:t>
            </a:r>
            <a:endPar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中国石化</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b="1">
                <a:solidFill>
                  <a:schemeClr val="tx2"/>
                </a:solidFill>
                <a:ea typeface="Arial Unicode MS" panose="020B0604020202020204" pitchFamily="34" charset="-122"/>
                <a:cs typeface="Arial Unicode MS" panose="020B0604020202020204" pitchFamily="34" charset="-122"/>
              </a:rPr>
              <a:t>‘</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98)</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34.0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[194]</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1,190</a:t>
            </a:r>
            <a:r>
              <a:rPr lang="zh-CN" altLang="en-US" sz="1800" b="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缺</a:t>
            </a:r>
            <a:r>
              <a:rPr lang="zh-CN" altLang="en-US" sz="1800" b="1">
                <a:solidFill>
                  <a:schemeClr val="tx2"/>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blinds(horizontal)">
                                      <p:cBhvr>
                                        <p:cTn id="7" dur="500"/>
                                        <p:tgtEl>
                                          <p:spTgt spid="49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blinds(horizontal)">
                                      <p:cBhvr>
                                        <p:cTn id="12" dur="500"/>
                                        <p:tgtEl>
                                          <p:spTgt spid="49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7" dur="500"/>
                                        <p:tgtEl>
                                          <p:spTgt spid="49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22" dur="500"/>
                                        <p:tgtEl>
                                          <p:spTgt spid="491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27" dur="500"/>
                                        <p:tgtEl>
                                          <p:spTgt spid="491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9155">
                                            <p:txEl>
                                              <p:pRg st="5" end="5"/>
                                            </p:txEl>
                                          </p:spTgt>
                                        </p:tgtEl>
                                        <p:attrNameLst>
                                          <p:attrName>style.visibility</p:attrName>
                                        </p:attrNameLst>
                                      </p:cBhvr>
                                      <p:to>
                                        <p:strVal val="visible"/>
                                      </p:to>
                                    </p:set>
                                    <p:animEffect transition="in" filter="blinds(horizontal)">
                                      <p:cBhvr>
                                        <p:cTn id="32" dur="500"/>
                                        <p:tgtEl>
                                          <p:spTgt spid="491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37" dur="500"/>
                                        <p:tgtEl>
                                          <p:spTgt spid="4915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9155">
                                            <p:txEl>
                                              <p:pRg st="7" end="7"/>
                                            </p:txEl>
                                          </p:spTgt>
                                        </p:tgtEl>
                                        <p:attrNameLst>
                                          <p:attrName>style.visibility</p:attrName>
                                        </p:attrNameLst>
                                      </p:cBhvr>
                                      <p:to>
                                        <p:strVal val="visible"/>
                                      </p:to>
                                    </p:set>
                                    <p:animEffect transition="in" filter="blinds(horizontal)">
                                      <p:cBhvr>
                                        <p:cTn id="42" dur="500"/>
                                        <p:tgtEl>
                                          <p:spTgt spid="4915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9155">
                                            <p:txEl>
                                              <p:pRg st="8" end="8"/>
                                            </p:txEl>
                                          </p:spTgt>
                                        </p:tgtEl>
                                        <p:attrNameLst>
                                          <p:attrName>style.visibility</p:attrName>
                                        </p:attrNameLst>
                                      </p:cBhvr>
                                      <p:to>
                                        <p:strVal val="visible"/>
                                      </p:to>
                                    </p:set>
                                    <p:animEffect transition="in" filter="blinds(horizontal)">
                                      <p:cBhvr>
                                        <p:cTn id="47" dur="500"/>
                                        <p:tgtEl>
                                          <p:spTgt spid="491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DAC0EE1-4994-F59D-CA76-3CE7C72DBA35}"/>
              </a:ext>
            </a:extLst>
          </p:cNvPr>
          <p:cNvSpPr>
            <a:spLocks noGrp="1" noRot="1" noChangeArrowheads="1"/>
          </p:cNvSpPr>
          <p:nvPr>
            <p:ph type="title"/>
          </p:nvPr>
        </p:nvSpPr>
        <p:spPr/>
        <p:txBody>
          <a:bodyPr/>
          <a:lstStyle/>
          <a:p>
            <a:endParaRPr lang="zh-CN" altLang="zh-CN"/>
          </a:p>
        </p:txBody>
      </p:sp>
      <p:sp>
        <p:nvSpPr>
          <p:cNvPr id="46083" name="Rectangle 3">
            <a:extLst>
              <a:ext uri="{FF2B5EF4-FFF2-40B4-BE49-F238E27FC236}">
                <a16:creationId xmlns:a16="http://schemas.microsoft.com/office/drawing/2014/main" id="{A9DEB0E8-E9E1-8206-BBCB-9C50F480EE01}"/>
              </a:ext>
            </a:extLst>
          </p:cNvPr>
          <p:cNvSpPr>
            <a:spLocks noGrp="1" noRot="1" noChangeArrowheads="1"/>
          </p:cNvSpPr>
          <p:nvPr>
            <p:ph type="body" idx="1"/>
          </p:nvPr>
        </p:nvSpPr>
        <p:spPr/>
        <p:txBody>
          <a:bodyPr/>
          <a:lstStyle/>
          <a:p>
            <a:pPr>
              <a:lnSpc>
                <a:spcPct val="90000"/>
              </a:lnSpc>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表</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商业革命中的全球寡头垄断</a:t>
            </a:r>
            <a:r>
              <a:rPr lang="zh-CN" altLang="en-US" sz="1800">
                <a:solidFill>
                  <a:srgbClr val="000000"/>
                </a:solidFill>
                <a:ea typeface="Arial Unicode MS" panose="020B0604020202020204" pitchFamily="34" charset="-122"/>
                <a:cs typeface="Arial Unicode MS" panose="020B0604020202020204" pitchFamily="34" charset="-122"/>
              </a:rPr>
              <a:t> </a:t>
            </a:r>
            <a:endPar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90000"/>
              </a:lnSpc>
              <a:buFont typeface="Wingdings" panose="05000000000000000000" pitchFamily="2" charset="2"/>
              <a:buNone/>
            </a:pPr>
            <a:r>
              <a:rPr lang="zh-CN" altLang="en-US" sz="1800" b="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公司名　　　　部门　　　　　　　　　　全球市场份额（％）</a:t>
            </a:r>
            <a:r>
              <a:rPr lang="zh-CN" altLang="en-US" sz="1800" b="1">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航太</a:t>
            </a:r>
            <a:r>
              <a:rPr lang="en-US" altLang="zh-CN"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(MSDW.'98;FT,'98.3.6)</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波音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100</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座以上的商业飞机定购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70</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空中客车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100</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座以上的商业飞机定购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30</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劳斯莱斯　航空发动机定购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34</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通用电气　航空发动机定购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53</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普惠　　　航空发动机定购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13</a:t>
            </a: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p>
          <a:p>
            <a:pPr>
              <a:lnSpc>
                <a:spcPct val="90000"/>
              </a:lnSpc>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信息技术　</a:t>
            </a:r>
            <a:r>
              <a:rPr lang="en-US" altLang="zh-CN"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(MSDW.'98;FT.'99.10.27,11.8,11.15)</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朗讯　　　互联网与通信设备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17</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90000"/>
              </a:lnSpc>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英特尔　　微处理器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85</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90000"/>
              </a:lnSpc>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微软　　　计算机系统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90+</a:t>
            </a:r>
          </a:p>
          <a:p>
            <a:pPr>
              <a:lnSpc>
                <a:spcPct val="90000"/>
              </a:lnSpc>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Cisco</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计算机路由器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66</a:t>
            </a:r>
            <a:r>
              <a:rPr lang="en-US" altLang="zh-CN" sz="180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8600F38-49EA-4E17-E3B0-BA4E473C94C0}"/>
              </a:ext>
            </a:extLst>
          </p:cNvPr>
          <p:cNvSpPr>
            <a:spLocks noGrp="1" noRot="1" noChangeArrowheads="1"/>
          </p:cNvSpPr>
          <p:nvPr>
            <p:ph type="title"/>
          </p:nvPr>
        </p:nvSpPr>
        <p:spPr/>
        <p:txBody>
          <a:bodyPr/>
          <a:lstStyle/>
          <a:p>
            <a:endParaRPr lang="zh-CN" altLang="zh-CN"/>
          </a:p>
        </p:txBody>
      </p:sp>
      <p:sp>
        <p:nvSpPr>
          <p:cNvPr id="47107" name="Rectangle 3">
            <a:extLst>
              <a:ext uri="{FF2B5EF4-FFF2-40B4-BE49-F238E27FC236}">
                <a16:creationId xmlns:a16="http://schemas.microsoft.com/office/drawing/2014/main" id="{B9310796-2D37-0781-D0BD-2E1190912E48}"/>
              </a:ext>
            </a:extLst>
          </p:cNvPr>
          <p:cNvSpPr>
            <a:spLocks noGrp="1" noRot="1" noChangeArrowheads="1"/>
          </p:cNvSpPr>
          <p:nvPr>
            <p:ph type="body" idx="1"/>
          </p:nvPr>
        </p:nvSpPr>
        <p:spPr/>
        <p:txBody>
          <a:bodyPr/>
          <a:lstStyle/>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公司名　　　　部门　　　　　　　　　　全球市场份额（％）</a:t>
            </a:r>
            <a:r>
              <a:rPr lang="zh-CN" altLang="en-US" sz="1800">
                <a:solidFill>
                  <a:srgbClr val="000000"/>
                </a:solidFill>
                <a:ea typeface="Arial Unicode MS" panose="020B0604020202020204" pitchFamily="34" charset="-122"/>
                <a:cs typeface="Arial Unicode MS" panose="020B0604020202020204" pitchFamily="34" charset="-122"/>
              </a:rPr>
              <a:t> </a:t>
            </a:r>
            <a:r>
              <a:rPr lang="zh-CN" altLang="en-US">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p>
          <a:p>
            <a:pPr>
              <a:buFont typeface="Wingdings" panose="05000000000000000000" pitchFamily="2" charset="2"/>
              <a:buNone/>
            </a:pPr>
            <a:r>
              <a:rPr lang="zh-CN" altLang="en-US">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快速移动消费品　</a:t>
            </a:r>
            <a:r>
              <a:rPr lang="en-US" altLang="zh-CN"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可口可乐年度报告；</a:t>
            </a:r>
            <a:r>
              <a:rPr lang="en-US" altLang="zh-CN"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MSDW,'98</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1800">
                <a:solidFill>
                  <a:srgbClr val="000000"/>
                </a:solidFill>
                <a:ea typeface="Arial Unicode MS" panose="020B0604020202020204" pitchFamily="34" charset="-122"/>
                <a:cs typeface="Arial Unicode MS" panose="020B0604020202020204" pitchFamily="34" charset="-122"/>
              </a:rPr>
              <a:t> </a:t>
            </a:r>
            <a:endPar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可口可乐　　　 碳化软饮料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51</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吉列　　　　　 剃须刀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70</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富士胶卷　　　 照相机胶卷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35</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耐克　　　　　 旅游鞋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36</a:t>
            </a:r>
            <a:r>
              <a:rPr lang="en-US" altLang="zh-CN">
                <a:solidFill>
                  <a:srgbClr val="000000"/>
                </a:solidFill>
                <a:ea typeface="Arial Unicode MS" panose="020B0604020202020204" pitchFamily="34" charset="-122"/>
                <a:cs typeface="Arial Unicode MS" panose="020B0604020202020204" pitchFamily="34" charset="-122"/>
              </a:rPr>
              <a:t> </a:t>
            </a:r>
            <a:r>
              <a:rPr lang="en-US" altLang="zh-CN"/>
              <a:t> </a:t>
            </a: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动力设备（</a:t>
            </a:r>
            <a:r>
              <a:rPr lang="en-US" altLang="zh-CN"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FT,'99,3.24</a:t>
            </a:r>
            <a:r>
              <a:rPr lang="zh-CN" altLang="en-US" sz="1800" b="1" i="1">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t>
            </a: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通用电气　　　 　燃气轮机（</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1993-98</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34</a:t>
            </a:r>
            <a:r>
              <a:rPr lang="en-US" altLang="zh-CN" sz="1800">
                <a:solidFill>
                  <a:srgbClr val="000000"/>
                </a:solidFill>
                <a:ea typeface="Arial Unicode MS" panose="020B0604020202020204" pitchFamily="34" charset="-122"/>
                <a:cs typeface="Arial Unicode MS" panose="020B0604020202020204" pitchFamily="34" charset="-122"/>
              </a:rPr>
              <a:t> </a:t>
            </a:r>
            <a:endPar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buFont typeface="Wingdings" panose="05000000000000000000" pitchFamily="2" charset="2"/>
              <a:buNone/>
            </a:pP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西门子／西屋　 　燃气轮机（</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1993-98</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32</a:t>
            </a:r>
          </a:p>
          <a:p>
            <a:pPr>
              <a:buFont typeface="Wingdings" panose="05000000000000000000" pitchFamily="2" charset="2"/>
              <a:buNone/>
            </a:pPr>
            <a:r>
              <a:rPr lang="en-US" altLang="zh-CN" sz="1800">
                <a:solidFill>
                  <a:srgbClr val="000000"/>
                </a:solidFill>
                <a:ea typeface="Arial Unicode MS" panose="020B0604020202020204" pitchFamily="34" charset="-122"/>
                <a:cs typeface="Arial Unicode MS" panose="020B0604020202020204" pitchFamily="34" charset="-122"/>
              </a:rPr>
              <a:t>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ABB</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／阿拉斯通　燃气轮机（</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1993-98</a:t>
            </a:r>
            <a:r>
              <a:rPr lang="zh-CN" altLang="en-US"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a:solidFill>
                  <a:srgbClr val="000000"/>
                </a:solidFill>
                <a:latin typeface="Arial Unicode MS" panose="020B0604020202020204" pitchFamily="34" charset="-122"/>
                <a:ea typeface="Arial Unicode MS" panose="020B0604020202020204" pitchFamily="34" charset="-122"/>
                <a:cs typeface="Arial Unicode MS" panose="020B0604020202020204" pitchFamily="34" charset="-122"/>
              </a:rPr>
              <a:t>21</a:t>
            </a:r>
            <a:r>
              <a:rPr lang="en-US" altLang="zh-CN" sz="180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616DA56-1EB7-EE34-9F97-DE63716F97AA}"/>
              </a:ext>
            </a:extLst>
          </p:cNvPr>
          <p:cNvSpPr>
            <a:spLocks noGrp="1" noRot="1" noChangeArrowheads="1"/>
          </p:cNvSpPr>
          <p:nvPr>
            <p:ph type="title"/>
          </p:nvPr>
        </p:nvSpPr>
        <p:spPr/>
        <p:txBody>
          <a:bodyPr/>
          <a:lstStyle/>
          <a:p>
            <a:r>
              <a:rPr lang="zh-CN" altLang="en-US"/>
              <a:t>案例研究：宝钢</a:t>
            </a:r>
          </a:p>
        </p:txBody>
      </p:sp>
      <p:sp>
        <p:nvSpPr>
          <p:cNvPr id="65539" name="Rectangle 3">
            <a:extLst>
              <a:ext uri="{FF2B5EF4-FFF2-40B4-BE49-F238E27FC236}">
                <a16:creationId xmlns:a16="http://schemas.microsoft.com/office/drawing/2014/main" id="{B61A9FAB-787A-4371-9E7E-FD869D09139C}"/>
              </a:ext>
            </a:extLst>
          </p:cNvPr>
          <p:cNvSpPr>
            <a:spLocks noGrp="1" noRot="1" noChangeArrowheads="1"/>
          </p:cNvSpPr>
          <p:nvPr>
            <p:ph type="body" idx="1"/>
          </p:nvPr>
        </p:nvSpPr>
        <p:spPr/>
        <p:txBody>
          <a:bodyPr/>
          <a:lstStyle/>
          <a:p>
            <a:pPr>
              <a:buFont typeface="Wingdings" panose="05000000000000000000" pitchFamily="2" charset="2"/>
              <a:buNone/>
            </a:pPr>
            <a:r>
              <a:rPr lang="zh-CN" altLang="en-US" sz="2400"/>
              <a:t>一、宝钢进入汽车板市场的过程</a:t>
            </a:r>
          </a:p>
          <a:p>
            <a:pPr>
              <a:buFont typeface="Wingdings" panose="05000000000000000000" pitchFamily="2" charset="2"/>
              <a:buNone/>
            </a:pPr>
            <a:r>
              <a:rPr lang="zh-CN" altLang="en-US" sz="2400">
                <a:solidFill>
                  <a:srgbClr val="FF0066"/>
                </a:solidFill>
                <a:latin typeface="Arial Unicode MS" panose="020B0604020202020204" pitchFamily="34" charset="-122"/>
                <a:ea typeface="Arial Unicode MS" panose="020B0604020202020204" pitchFamily="34" charset="-122"/>
                <a:cs typeface="Arial Unicode MS" panose="020B0604020202020204" pitchFamily="34" charset="-122"/>
              </a:rPr>
              <a:t> ☢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进入汽车板市场的动机和企业的“抱负水平”。</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高抱负        战略定位       标杆竞争</a:t>
            </a:r>
          </a:p>
          <a:p>
            <a:pPr>
              <a:buFont typeface="Wingdings" panose="05000000000000000000" pitchFamily="2" charset="2"/>
              <a:buNone/>
            </a:pPr>
            <a:r>
              <a:rPr lang="zh-CN" altLang="en-US" sz="2400">
                <a:solidFill>
                  <a:srgbClr val="FF0066"/>
                </a:solidFill>
                <a:latin typeface="Arial Unicode MS" panose="020B0604020202020204" pitchFamily="34" charset="-122"/>
                <a:ea typeface="Arial Unicode MS" panose="020B0604020202020204" pitchFamily="34" charset="-122"/>
                <a:cs typeface="Arial Unicode MS" panose="020B0604020202020204" pitchFamily="34" charset="-122"/>
              </a:rPr>
              <a:t> ☢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能力、缄默知识与“干中学”</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hlink"/>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学习       先行者优势        竞争优势</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在具有复杂工艺技术特征的工业生产中，企业即使买来先进的设备也并不能够保证生产出高质量的产品，除非技术人员和工人掌握相应的技能、知识和技术诀窍，而这种学习需要大量的时间和顽强的努力。</a:t>
            </a:r>
          </a:p>
        </p:txBody>
      </p:sp>
      <p:sp>
        <p:nvSpPr>
          <p:cNvPr id="65540" name="Line 4">
            <a:extLst>
              <a:ext uri="{FF2B5EF4-FFF2-40B4-BE49-F238E27FC236}">
                <a16:creationId xmlns:a16="http://schemas.microsoft.com/office/drawing/2014/main" id="{7FCBE3A4-9512-80EA-3970-077725BC3279}"/>
              </a:ext>
            </a:extLst>
          </p:cNvPr>
          <p:cNvSpPr>
            <a:spLocks noChangeShapeType="1"/>
          </p:cNvSpPr>
          <p:nvPr/>
        </p:nvSpPr>
        <p:spPr bwMode="auto">
          <a:xfrm>
            <a:off x="2195513" y="3068638"/>
            <a:ext cx="503237"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541" name="Line 5">
            <a:extLst>
              <a:ext uri="{FF2B5EF4-FFF2-40B4-BE49-F238E27FC236}">
                <a16:creationId xmlns:a16="http://schemas.microsoft.com/office/drawing/2014/main" id="{E91A80E2-9843-262C-3480-A1428966300B}"/>
              </a:ext>
            </a:extLst>
          </p:cNvPr>
          <p:cNvSpPr>
            <a:spLocks noChangeShapeType="1"/>
          </p:cNvSpPr>
          <p:nvPr/>
        </p:nvSpPr>
        <p:spPr bwMode="auto">
          <a:xfrm>
            <a:off x="4140200" y="3068638"/>
            <a:ext cx="431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542" name="Line 6">
            <a:extLst>
              <a:ext uri="{FF2B5EF4-FFF2-40B4-BE49-F238E27FC236}">
                <a16:creationId xmlns:a16="http://schemas.microsoft.com/office/drawing/2014/main" id="{C246A957-6F65-6522-4435-F77FC68288A4}"/>
              </a:ext>
            </a:extLst>
          </p:cNvPr>
          <p:cNvSpPr>
            <a:spLocks noChangeShapeType="1"/>
          </p:cNvSpPr>
          <p:nvPr/>
        </p:nvSpPr>
        <p:spPr bwMode="auto">
          <a:xfrm>
            <a:off x="1979613" y="3933825"/>
            <a:ext cx="433387"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543" name="Line 7">
            <a:extLst>
              <a:ext uri="{FF2B5EF4-FFF2-40B4-BE49-F238E27FC236}">
                <a16:creationId xmlns:a16="http://schemas.microsoft.com/office/drawing/2014/main" id="{1837FDD6-A422-EC1B-3DC6-2BF1AFFC15ED}"/>
              </a:ext>
            </a:extLst>
          </p:cNvPr>
          <p:cNvSpPr>
            <a:spLocks noChangeShapeType="1"/>
          </p:cNvSpPr>
          <p:nvPr/>
        </p:nvSpPr>
        <p:spPr bwMode="auto">
          <a:xfrm>
            <a:off x="4067175" y="3933825"/>
            <a:ext cx="433388"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blinds(horizontal)">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17" dur="500"/>
                                        <p:tgtEl>
                                          <p:spTgt spid="65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5539">
                                            <p:txEl>
                                              <p:pRg st="3" end="3"/>
                                            </p:txEl>
                                          </p:spTgt>
                                        </p:tgtEl>
                                        <p:attrNameLst>
                                          <p:attrName>style.visibility</p:attrName>
                                        </p:attrNameLst>
                                      </p:cBhvr>
                                      <p:to>
                                        <p:strVal val="visible"/>
                                      </p:to>
                                    </p:set>
                                    <p:animEffect transition="in" filter="blinds(horizontal)">
                                      <p:cBhvr>
                                        <p:cTn id="22" dur="500"/>
                                        <p:tgtEl>
                                          <p:spTgt spid="65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5539">
                                            <p:txEl>
                                              <p:pRg st="4" end="4"/>
                                            </p:txEl>
                                          </p:spTgt>
                                        </p:tgtEl>
                                        <p:attrNameLst>
                                          <p:attrName>style.visibility</p:attrName>
                                        </p:attrNameLst>
                                      </p:cBhvr>
                                      <p:to>
                                        <p:strVal val="visible"/>
                                      </p:to>
                                    </p:set>
                                    <p:animEffect transition="in" filter="blinds(horizontal)">
                                      <p:cBhvr>
                                        <p:cTn id="27" dur="500"/>
                                        <p:tgtEl>
                                          <p:spTgt spid="655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5539">
                                            <p:txEl>
                                              <p:pRg st="5" end="5"/>
                                            </p:txEl>
                                          </p:spTgt>
                                        </p:tgtEl>
                                        <p:attrNameLst>
                                          <p:attrName>style.visibility</p:attrName>
                                        </p:attrNameLst>
                                      </p:cBhvr>
                                      <p:to>
                                        <p:strVal val="visible"/>
                                      </p:to>
                                    </p:set>
                                    <p:animEffect transition="in" filter="blinds(horizontal)">
                                      <p:cBhvr>
                                        <p:cTn id="32" dur="500"/>
                                        <p:tgtEl>
                                          <p:spTgt spid="655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F000119-DF4E-5144-EA3A-506E15A51932}"/>
              </a:ext>
            </a:extLst>
          </p:cNvPr>
          <p:cNvSpPr>
            <a:spLocks noGrp="1" noRot="1" noChangeArrowheads="1"/>
          </p:cNvSpPr>
          <p:nvPr>
            <p:ph type="title"/>
          </p:nvPr>
        </p:nvSpPr>
        <p:spPr/>
        <p:txBody>
          <a:bodyPr/>
          <a:lstStyle/>
          <a:p>
            <a:endParaRPr lang="zh-CN" altLang="zh-CN"/>
          </a:p>
        </p:txBody>
      </p:sp>
      <p:sp>
        <p:nvSpPr>
          <p:cNvPr id="66563" name="Rectangle 3">
            <a:extLst>
              <a:ext uri="{FF2B5EF4-FFF2-40B4-BE49-F238E27FC236}">
                <a16:creationId xmlns:a16="http://schemas.microsoft.com/office/drawing/2014/main" id="{7BE07606-CA61-D403-9854-622C47B2CC6D}"/>
              </a:ext>
            </a:extLst>
          </p:cNvPr>
          <p:cNvSpPr>
            <a:spLocks noGrp="1" noRot="1" noChangeArrowheads="1"/>
          </p:cNvSpPr>
          <p:nvPr>
            <p:ph type="body" idx="1"/>
          </p:nvPr>
        </p:nvSpPr>
        <p:spPr/>
        <p:txBody>
          <a:bodyPr/>
          <a:lstStyle/>
          <a:p>
            <a:pPr>
              <a:buFont typeface="Wingdings" panose="05000000000000000000" pitchFamily="2" charset="2"/>
              <a:buNone/>
            </a:pPr>
            <a:r>
              <a:rPr lang="en-US" altLang="zh-CN"/>
              <a:t> </a:t>
            </a:r>
            <a:r>
              <a:rPr lang="en-US" altLang="zh-CN" sz="2400">
                <a:solidFill>
                  <a:srgbClr val="FF0066"/>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向用户学习、与用户共同学习</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1997</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年放弃一直采用的钢厂标准，明确提出以用户的标准作为宝钢的标准进行生产。</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1997</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年开始采用德国企业的最终用途管理，按用户来生产。</a:t>
            </a:r>
            <a:r>
              <a:rPr lang="en-US" altLang="zh-CN"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1998</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年后发展为按零件管理。</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在和用户的密切合作中建立起了相互理解、相互信任的关系，把向用户的学习进一步发展成为与用户共同学习，使宝钢的学习更加有效。</a:t>
            </a:r>
            <a:endPar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Effect transition="in" filter="box(in)">
                                      <p:cBhvr>
                                        <p:cTn id="7" dur="500"/>
                                        <p:tgtEl>
                                          <p:spTgt spid="66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6563">
                                            <p:txEl>
                                              <p:pRg st="1" end="1"/>
                                            </p:txEl>
                                          </p:spTgt>
                                        </p:tgtEl>
                                        <p:attrNameLst>
                                          <p:attrName>style.visibility</p:attrName>
                                        </p:attrNameLst>
                                      </p:cBhvr>
                                      <p:to>
                                        <p:strVal val="visible"/>
                                      </p:to>
                                    </p:set>
                                    <p:animEffect transition="in" filter="box(in)">
                                      <p:cBhvr>
                                        <p:cTn id="12" dur="500"/>
                                        <p:tgtEl>
                                          <p:spTgt spid="66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box(in)">
                                      <p:cBhvr>
                                        <p:cTn id="17" dur="500"/>
                                        <p:tgtEl>
                                          <p:spTgt spid="665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6563">
                                            <p:txEl>
                                              <p:pRg st="3" end="3"/>
                                            </p:txEl>
                                          </p:spTgt>
                                        </p:tgtEl>
                                        <p:attrNameLst>
                                          <p:attrName>style.visibility</p:attrName>
                                        </p:attrNameLst>
                                      </p:cBhvr>
                                      <p:to>
                                        <p:strVal val="visible"/>
                                      </p:to>
                                    </p:set>
                                    <p:animEffect transition="in" filter="box(in)">
                                      <p:cBhvr>
                                        <p:cTn id="22" dur="500"/>
                                        <p:tgtEl>
                                          <p:spTgt spid="665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D490FE8F-2CFD-19DC-7218-4FA4FDF39484}"/>
              </a:ext>
            </a:extLst>
          </p:cNvPr>
          <p:cNvSpPr>
            <a:spLocks noGrp="1" noRot="1" noChangeArrowheads="1"/>
          </p:cNvSpPr>
          <p:nvPr>
            <p:ph type="title"/>
          </p:nvPr>
        </p:nvSpPr>
        <p:spPr/>
        <p:txBody>
          <a:bodyPr/>
          <a:lstStyle/>
          <a:p>
            <a:endParaRPr lang="zh-CN" altLang="zh-CN"/>
          </a:p>
        </p:txBody>
      </p:sp>
      <p:sp>
        <p:nvSpPr>
          <p:cNvPr id="67587" name="Rectangle 3">
            <a:extLst>
              <a:ext uri="{FF2B5EF4-FFF2-40B4-BE49-F238E27FC236}">
                <a16:creationId xmlns:a16="http://schemas.microsoft.com/office/drawing/2014/main" id="{0B95574C-1002-950D-66E1-6CD4071F60E9}"/>
              </a:ext>
            </a:extLst>
          </p:cNvPr>
          <p:cNvSpPr>
            <a:spLocks noGrp="1" noRot="1" noChangeArrowheads="1"/>
          </p:cNvSpPr>
          <p:nvPr>
            <p:ph type="body" idx="1"/>
          </p:nvPr>
        </p:nvSpPr>
        <p:spPr/>
        <p:txBody>
          <a:bodyPr/>
          <a:lstStyle/>
          <a:p>
            <a:pPr>
              <a:buFont typeface="Wingdings" panose="05000000000000000000" pitchFamily="2" charset="2"/>
              <a:buNone/>
            </a:pPr>
            <a:r>
              <a:rPr lang="en-US" altLang="zh-CN"/>
              <a:t>  </a:t>
            </a:r>
            <a:r>
              <a:rPr lang="en-US" altLang="zh-CN" sz="2400">
                <a:solidFill>
                  <a:srgbClr val="FF0066"/>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营销服务体系、互补资产和互相专属锁定</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0066"/>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宝钢的汽车板项目为什么能成功？</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宝钢已经拥有的优良设备和技术使宝钢能够发展出汽车板生产能力的基础。</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管理层较高的抱负水平所产生的进取心。</a:t>
            </a:r>
          </a:p>
          <a:p>
            <a:pPr>
              <a:buFont typeface="Wingdings" panose="05000000000000000000" pitchFamily="2" charset="2"/>
              <a:buNone/>
            </a:pP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rgbClr val="FF99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通过“集中一贯制”实现的管理控制。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checkerboard(across)">
                                      <p:cBhvr>
                                        <p:cTn id="7" dur="500"/>
                                        <p:tgtEl>
                                          <p:spTgt spid="67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7587">
                                            <p:txEl>
                                              <p:pRg st="1" end="1"/>
                                            </p:txEl>
                                          </p:spTgt>
                                        </p:tgtEl>
                                        <p:attrNameLst>
                                          <p:attrName>style.visibility</p:attrName>
                                        </p:attrNameLst>
                                      </p:cBhvr>
                                      <p:to>
                                        <p:strVal val="visible"/>
                                      </p:to>
                                    </p:set>
                                    <p:animEffect transition="in" filter="checkerboard(across)">
                                      <p:cBhvr>
                                        <p:cTn id="12" dur="500"/>
                                        <p:tgtEl>
                                          <p:spTgt spid="67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checkerboard(across)">
                                      <p:cBhvr>
                                        <p:cTn id="17" dur="500"/>
                                        <p:tgtEl>
                                          <p:spTgt spid="67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67587">
                                            <p:txEl>
                                              <p:pRg st="3" end="3"/>
                                            </p:txEl>
                                          </p:spTgt>
                                        </p:tgtEl>
                                        <p:attrNameLst>
                                          <p:attrName>style.visibility</p:attrName>
                                        </p:attrNameLst>
                                      </p:cBhvr>
                                      <p:to>
                                        <p:strVal val="visible"/>
                                      </p:to>
                                    </p:set>
                                    <p:animEffect transition="in" filter="checkerboard(across)">
                                      <p:cBhvr>
                                        <p:cTn id="22" dur="500"/>
                                        <p:tgtEl>
                                          <p:spTgt spid="67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67587">
                                            <p:txEl>
                                              <p:pRg st="4" end="4"/>
                                            </p:txEl>
                                          </p:spTgt>
                                        </p:tgtEl>
                                        <p:attrNameLst>
                                          <p:attrName>style.visibility</p:attrName>
                                        </p:attrNameLst>
                                      </p:cBhvr>
                                      <p:to>
                                        <p:strVal val="visible"/>
                                      </p:to>
                                    </p:set>
                                    <p:animEffect transition="in" filter="checkerboard(across)">
                                      <p:cBhvr>
                                        <p:cTn id="27" dur="500"/>
                                        <p:tgtEl>
                                          <p:spTgt spid="675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12A6384-D6A4-3296-43B5-517D6A3B920D}"/>
              </a:ext>
            </a:extLst>
          </p:cNvPr>
          <p:cNvSpPr>
            <a:spLocks noGrp="1" noRot="1" noChangeArrowheads="1"/>
          </p:cNvSpPr>
          <p:nvPr>
            <p:ph type="title"/>
          </p:nvPr>
        </p:nvSpPr>
        <p:spPr/>
        <p:txBody>
          <a:bodyPr/>
          <a:lstStyle/>
          <a:p>
            <a:endParaRPr lang="zh-CN" altLang="zh-CN"/>
          </a:p>
        </p:txBody>
      </p:sp>
      <p:sp>
        <p:nvSpPr>
          <p:cNvPr id="48131" name="Rectangle 3">
            <a:extLst>
              <a:ext uri="{FF2B5EF4-FFF2-40B4-BE49-F238E27FC236}">
                <a16:creationId xmlns:a16="http://schemas.microsoft.com/office/drawing/2014/main" id="{9A2C154D-325D-C47F-7E98-1AE4CEB2F805}"/>
              </a:ext>
            </a:extLst>
          </p:cNvPr>
          <p:cNvSpPr>
            <a:spLocks noGrp="1" noRot="1" noChangeArrowheads="1"/>
          </p:cNvSpPr>
          <p:nvPr>
            <p:ph type="body" idx="1"/>
          </p:nvPr>
        </p:nvSpPr>
        <p:spPr/>
        <p:txBody>
          <a:bodyPr/>
          <a:lstStyle/>
          <a:p>
            <a:r>
              <a:rPr lang="zh-CN" altLang="en-US"/>
              <a:t>讨论：</a:t>
            </a:r>
          </a:p>
          <a:p>
            <a:pPr>
              <a:buFont typeface="Wingdings" panose="05000000000000000000" pitchFamily="2" charset="2"/>
              <a:buNone/>
            </a:pPr>
            <a:r>
              <a:rPr lang="zh-CN" altLang="en-US"/>
              <a:t>　规模经济性能让中国的汽车赚钱吗？</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CA05559-6900-D005-BD7D-BA3F601DE517}"/>
              </a:ext>
            </a:extLst>
          </p:cNvPr>
          <p:cNvSpPr>
            <a:spLocks noGrp="1" noRot="1" noChangeArrowheads="1"/>
          </p:cNvSpPr>
          <p:nvPr>
            <p:ph type="title"/>
          </p:nvPr>
        </p:nvSpPr>
        <p:spPr>
          <a:xfrm>
            <a:off x="303213" y="1146175"/>
            <a:ext cx="7969250" cy="652463"/>
          </a:xfrm>
        </p:spPr>
        <p:txBody>
          <a:bodyPr/>
          <a:lstStyle/>
          <a:p>
            <a:r>
              <a:rPr lang="zh-CN" altLang="en-US"/>
              <a:t>关于本章的总结</a:t>
            </a:r>
          </a:p>
        </p:txBody>
      </p:sp>
      <p:sp>
        <p:nvSpPr>
          <p:cNvPr id="37891" name="Rectangle 3">
            <a:extLst>
              <a:ext uri="{FF2B5EF4-FFF2-40B4-BE49-F238E27FC236}">
                <a16:creationId xmlns:a16="http://schemas.microsoft.com/office/drawing/2014/main" id="{DF3C7E8B-7EED-59D8-905D-61A852337F9C}"/>
              </a:ext>
            </a:extLst>
          </p:cNvPr>
          <p:cNvSpPr>
            <a:spLocks noGrp="1" noRot="1" noChangeArrowheads="1"/>
          </p:cNvSpPr>
          <p:nvPr>
            <p:ph type="body" idx="1"/>
          </p:nvPr>
        </p:nvSpPr>
        <p:spPr>
          <a:xfrm>
            <a:off x="685800" y="2133600"/>
            <a:ext cx="7772400" cy="4267200"/>
          </a:xfrm>
        </p:spPr>
        <p:txBody>
          <a:bodyPr/>
          <a:lstStyle/>
          <a:p>
            <a:pPr>
              <a:lnSpc>
                <a:spcPct val="80000"/>
              </a:lnSpc>
            </a:pPr>
            <a:r>
              <a:rPr lang="zh-CN" altLang="en-US" sz="2000"/>
              <a:t>　　从规模经济分析的观点看，大规模生产往往具有成本低、效率高的特点。并且这种优点是可以通过成本核算得到证实，这就使得规模经济性的理论在</a:t>
            </a:r>
            <a:r>
              <a:rPr lang="en-US" altLang="zh-CN" sz="2000"/>
              <a:t>50-70</a:t>
            </a:r>
            <a:r>
              <a:rPr lang="zh-CN" altLang="en-US" sz="2000"/>
              <a:t>年代得以大行其道。企业规模也趋于大型化，并产生了一批成崐本导向型企业。但是管理、经营效果是多方面，多因素所决定的。许多其他因素虽有巨大作用，但难于直接计算。这些因素包括：人和群体的积极性与创造性，小规模组织的灵活性与应变能力强等优点。随着企业竞争的日益激崐烈，企业环境中的不定性因素进一步增加，大型企业的缺点，小型企业的优点都得到了较充分的认识。许多大企业纷纷实行小型化，结果充分发挥了人的积极性，适应了市场变化，成本也并不比原来高，而利润则不断上升。因此，实践中开始改变片面强调规模经济性原则，主张发展新性的</a:t>
            </a:r>
            <a:r>
              <a:rPr lang="zh-CN" altLang="en-US" sz="2000">
                <a:cs typeface="Arial" panose="020B0604020202020204" pitchFamily="34" charset="0"/>
              </a:rPr>
              <a:t>“</a:t>
            </a:r>
            <a:r>
              <a:rPr lang="zh-CN" altLang="en-US" sz="2000"/>
              <a:t>微型企业</a:t>
            </a:r>
            <a:r>
              <a:rPr lang="zh-CN" altLang="en-US" sz="2000">
                <a:cs typeface="Arial" panose="020B0604020202020204" pitchFamily="34" charset="0"/>
              </a:rPr>
              <a:t>”</a:t>
            </a:r>
            <a:r>
              <a:rPr lang="zh-CN" altLang="en-US" sz="200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61C652E-6A8B-7CD4-8870-50D1607D51EC}"/>
              </a:ext>
            </a:extLst>
          </p:cNvPr>
          <p:cNvSpPr>
            <a:spLocks noGrp="1" noRot="1" noChangeArrowheads="1"/>
          </p:cNvSpPr>
          <p:nvPr>
            <p:ph type="title"/>
          </p:nvPr>
        </p:nvSpPr>
        <p:spPr/>
        <p:txBody>
          <a:bodyPr/>
          <a:lstStyle/>
          <a:p>
            <a:r>
              <a:rPr lang="zh-CN" altLang="en-US"/>
              <a:t>引言</a:t>
            </a:r>
          </a:p>
        </p:txBody>
      </p:sp>
      <p:sp>
        <p:nvSpPr>
          <p:cNvPr id="34819" name="Rectangle 3">
            <a:extLst>
              <a:ext uri="{FF2B5EF4-FFF2-40B4-BE49-F238E27FC236}">
                <a16:creationId xmlns:a16="http://schemas.microsoft.com/office/drawing/2014/main" id="{DCEAF0B5-F145-2A41-E5B0-69F9DAC9EA44}"/>
              </a:ext>
            </a:extLst>
          </p:cNvPr>
          <p:cNvSpPr>
            <a:spLocks noGrp="1" noRot="1" noChangeArrowheads="1"/>
          </p:cNvSpPr>
          <p:nvPr>
            <p:ph type="body" idx="1"/>
          </p:nvPr>
        </p:nvSpPr>
        <p:spPr/>
        <p:txBody>
          <a:bodyPr/>
          <a:lstStyle/>
          <a:p>
            <a:r>
              <a:rPr lang="zh-CN" altLang="en-US"/>
              <a:t>规模经济性是关于所正确选择的所有生产投入组合的规模与企业产出率之间的关系的理论</a:t>
            </a:r>
          </a:p>
          <a:p>
            <a:endParaRPr lang="zh-CN" altLang="en-US"/>
          </a:p>
          <a:p>
            <a:r>
              <a:rPr lang="zh-CN" altLang="en-US"/>
              <a:t>规模经济性属于长期成本分析问题。</a:t>
            </a:r>
          </a:p>
          <a:p>
            <a:pPr>
              <a:buFont typeface="Wingdings" panose="05000000000000000000" pitchFamily="2" charset="2"/>
              <a:buNone/>
            </a:pPr>
            <a:r>
              <a:rPr lang="zh-CN" altLang="en-US"/>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6669DCD-F101-7D3A-F044-1E0C4D7E5CDD}"/>
              </a:ext>
            </a:extLst>
          </p:cNvPr>
          <p:cNvSpPr>
            <a:spLocks noGrp="1" noRot="1" noChangeArrowheads="1"/>
          </p:cNvSpPr>
          <p:nvPr>
            <p:ph type="title"/>
          </p:nvPr>
        </p:nvSpPr>
        <p:spPr/>
        <p:txBody>
          <a:bodyPr/>
          <a:lstStyle/>
          <a:p>
            <a:r>
              <a:rPr lang="zh-CN" altLang="en-US"/>
              <a:t>规模的经济性</a:t>
            </a:r>
          </a:p>
        </p:txBody>
      </p:sp>
      <p:sp>
        <p:nvSpPr>
          <p:cNvPr id="35843" name="Rectangle 3">
            <a:extLst>
              <a:ext uri="{FF2B5EF4-FFF2-40B4-BE49-F238E27FC236}">
                <a16:creationId xmlns:a16="http://schemas.microsoft.com/office/drawing/2014/main" id="{DE2F0BB8-8861-BBF0-7458-6282795C113E}"/>
              </a:ext>
            </a:extLst>
          </p:cNvPr>
          <p:cNvSpPr>
            <a:spLocks noGrp="1" noRot="1" noChangeArrowheads="1"/>
          </p:cNvSpPr>
          <p:nvPr>
            <p:ph type="body" idx="1"/>
          </p:nvPr>
        </p:nvSpPr>
        <p:spPr/>
        <p:txBody>
          <a:bodyPr/>
          <a:lstStyle/>
          <a:p>
            <a:r>
              <a:rPr lang="zh-CN" altLang="en-US"/>
              <a:t>规模的概念</a:t>
            </a:r>
          </a:p>
          <a:p>
            <a:r>
              <a:rPr lang="zh-CN" altLang="en-US"/>
              <a:t>　　⒈生产方面</a:t>
            </a:r>
          </a:p>
          <a:p>
            <a:endParaRPr lang="zh-CN" altLang="en-US"/>
          </a:p>
          <a:p>
            <a:r>
              <a:rPr lang="zh-CN" altLang="en-US"/>
              <a:t>　　⒉影响销售和分配成本的主要方面</a:t>
            </a:r>
          </a:p>
          <a:p>
            <a:endParaRPr lang="zh-CN" altLang="en-US"/>
          </a:p>
          <a:p>
            <a:r>
              <a:rPr lang="zh-CN" altLang="en-US"/>
              <a:t>　　⒊综合性规模的重要方面</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2756140-7EE6-5BC7-F10E-2BA00D8D1FBF}"/>
              </a:ext>
            </a:extLst>
          </p:cNvPr>
          <p:cNvSpPr>
            <a:spLocks noGrp="1" noRot="1" noChangeArrowheads="1"/>
          </p:cNvSpPr>
          <p:nvPr>
            <p:ph type="title"/>
          </p:nvPr>
        </p:nvSpPr>
        <p:spPr/>
        <p:txBody>
          <a:bodyPr/>
          <a:lstStyle/>
          <a:p>
            <a:r>
              <a:rPr lang="zh-CN" altLang="en-US"/>
              <a:t>规模曲线─</a:t>
            </a:r>
            <a:r>
              <a:rPr lang="en-US" altLang="zh-CN"/>
              <a:t>—</a:t>
            </a:r>
            <a:r>
              <a:rPr lang="zh-CN" altLang="en-US"/>
              <a:t>长期成本曲线</a:t>
            </a:r>
          </a:p>
        </p:txBody>
      </p:sp>
      <p:sp>
        <p:nvSpPr>
          <p:cNvPr id="38915" name="Rectangle 3">
            <a:extLst>
              <a:ext uri="{FF2B5EF4-FFF2-40B4-BE49-F238E27FC236}">
                <a16:creationId xmlns:a16="http://schemas.microsoft.com/office/drawing/2014/main" id="{E59F1FEE-0E29-92C7-4CA2-11ACCACCA424}"/>
              </a:ext>
            </a:extLst>
          </p:cNvPr>
          <p:cNvSpPr>
            <a:spLocks noGrp="1" noRot="1" noChangeArrowheads="1"/>
          </p:cNvSpPr>
          <p:nvPr>
            <p:ph type="body" idx="1"/>
          </p:nvPr>
        </p:nvSpPr>
        <p:spPr/>
        <p:txBody>
          <a:bodyPr/>
          <a:lstStyle/>
          <a:p>
            <a:r>
              <a:rPr lang="zh-CN" altLang="en-US"/>
              <a:t>　　　　通过建立各种规模的工厂来得出生产数据和比较成本是行不通的。但是可以采用某些方法，如工程技术法来估计某些规模的工厂的生产成本，也可以应用过去的生产数据作参考，来进行研究。所以在实际中对某行业的长期生产成本曲线或规模曲线的估计往往是近似的。</a:t>
            </a:r>
          </a:p>
          <a:p>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FB5F4D5-E41D-DDB0-0EBD-4CD149D8C517}"/>
              </a:ext>
            </a:extLst>
          </p:cNvPr>
          <p:cNvSpPr>
            <a:spLocks noGrp="1" noRot="1" noChangeArrowheads="1"/>
          </p:cNvSpPr>
          <p:nvPr>
            <p:ph type="title"/>
          </p:nvPr>
        </p:nvSpPr>
        <p:spPr/>
        <p:txBody>
          <a:bodyPr/>
          <a:lstStyle/>
          <a:p>
            <a:endParaRPr lang="zh-CN" altLang="zh-CN"/>
          </a:p>
        </p:txBody>
      </p:sp>
      <p:sp>
        <p:nvSpPr>
          <p:cNvPr id="33795" name="Rectangle 3">
            <a:extLst>
              <a:ext uri="{FF2B5EF4-FFF2-40B4-BE49-F238E27FC236}">
                <a16:creationId xmlns:a16="http://schemas.microsoft.com/office/drawing/2014/main" id="{B7B5E002-8816-2A43-CCA6-71243C140915}"/>
              </a:ext>
            </a:extLst>
          </p:cNvPr>
          <p:cNvSpPr>
            <a:spLocks noGrp="1" noRot="1" noChangeArrowheads="1"/>
          </p:cNvSpPr>
          <p:nvPr>
            <p:ph type="body" idx="1"/>
          </p:nvPr>
        </p:nvSpPr>
        <p:spPr/>
        <p:txBody>
          <a:bodyPr/>
          <a:lstStyle/>
          <a:p>
            <a:endParaRPr lang="zh-CN" altLang="zh-CN"/>
          </a:p>
        </p:txBody>
      </p:sp>
    </p:spTree>
  </p:cSld>
  <p:clrMapOvr>
    <a:masterClrMapping/>
  </p:clrMapOvr>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513</TotalTime>
  <Words>2396</Words>
  <Application>Microsoft Office PowerPoint</Application>
  <PresentationFormat>全屏显示(4:3)</PresentationFormat>
  <Paragraphs>195</Paragraphs>
  <Slides>34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Times New Roman</vt:lpstr>
      <vt:lpstr>宋体</vt:lpstr>
      <vt:lpstr>Arial</vt:lpstr>
      <vt:lpstr>Wingdings</vt:lpstr>
      <vt:lpstr>MS Sans Serif</vt:lpstr>
      <vt:lpstr>Tahoma</vt:lpstr>
      <vt:lpstr>Arial Unicode MS</vt:lpstr>
      <vt:lpstr>古瓶荷花</vt:lpstr>
      <vt:lpstr>  第八章   规模经济性</vt:lpstr>
      <vt:lpstr>PowerPoint 演示文稿</vt:lpstr>
      <vt:lpstr>PowerPoint 演示文稿</vt:lpstr>
      <vt:lpstr>PowerPoint 演示文稿</vt:lpstr>
      <vt:lpstr>PowerPoint 演示文稿</vt:lpstr>
      <vt:lpstr>PowerPoint 演示文稿</vt:lpstr>
      <vt:lpstr>第二节  规模经济性的决定因素</vt:lpstr>
      <vt:lpstr>PowerPoint 演示文稿</vt:lpstr>
      <vt:lpstr>PowerPoint 演示文稿</vt:lpstr>
      <vt:lpstr>规模经济性的衡量方法</vt:lpstr>
      <vt:lpstr>利润作为规模的函数的分析法</vt:lpstr>
      <vt:lpstr>利润作为分析标准的评价</vt:lpstr>
      <vt:lpstr>适存检验法</vt:lpstr>
      <vt:lpstr>统计成本分析法</vt:lpstr>
      <vt:lpstr>工程法</vt:lpstr>
      <vt:lpstr>中外规模经济性的经验研究</vt:lpstr>
      <vt:lpstr>几个实例</vt:lpstr>
      <vt:lpstr>关于我国水泥和棉纺业规模经济性的研究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案例研究：宝钢</vt:lpstr>
      <vt:lpstr>PowerPoint 演示文稿</vt:lpstr>
      <vt:lpstr>PowerPoint 演示文稿</vt:lpstr>
      <vt:lpstr>PowerPoint 演示文稿</vt:lpstr>
      <vt:lpstr>关于本章的总结</vt:lpstr>
      <vt:lpstr>引言</vt:lpstr>
      <vt:lpstr>规模的经济性</vt:lpstr>
      <vt:lpstr>规模曲线─—长期成本曲线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规模经济性──长期成本分析</dc:title>
  <dc:creator>mn20</dc:creator>
  <cp:lastModifiedBy>先生 刘</cp:lastModifiedBy>
  <cp:revision>15</cp:revision>
  <dcterms:created xsi:type="dcterms:W3CDTF">2000-12-22T13:20:27Z</dcterms:created>
  <dcterms:modified xsi:type="dcterms:W3CDTF">2023-10-22T14:22:49Z</dcterms:modified>
</cp:coreProperties>
</file>