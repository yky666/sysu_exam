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4610100" cy="3460750"/>
  <p:notesSz cx="4610100" cy="34607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0176" y="123139"/>
            <a:ext cx="3609746" cy="268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649"/>
            <a:ext cx="4608195" cy="444500"/>
          </a:xfrm>
          <a:custGeom>
            <a:avLst/>
            <a:gdLst/>
            <a:ahLst/>
            <a:cxnLst/>
            <a:rect l="l" t="t" r="r" b="b"/>
            <a:pathLst>
              <a:path w="4608195" h="444500">
                <a:moveTo>
                  <a:pt x="0" y="444004"/>
                </a:moveTo>
                <a:lnTo>
                  <a:pt x="4608004" y="444004"/>
                </a:lnTo>
                <a:lnTo>
                  <a:pt x="4608004" y="0"/>
                </a:lnTo>
                <a:lnTo>
                  <a:pt x="0" y="0"/>
                </a:lnTo>
                <a:lnTo>
                  <a:pt x="0" y="4440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0505" y="639940"/>
            <a:ext cx="2209088" cy="344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444" y="1121880"/>
            <a:ext cx="4295775" cy="835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81654" y="3352425"/>
            <a:ext cx="661670" cy="102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025561" y="3356656"/>
            <a:ext cx="556894" cy="93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Arial Unicode MS"/>
                <a:cs typeface="Arial Unicode MS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09237" y="3353670"/>
            <a:ext cx="346075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mailto:cesgf@mail.sysu.edu.cn" TargetMode="External"/><Relationship Id="rId6" Type="http://schemas.openxmlformats.org/officeDocument/2006/relationships/hyperlink" Target="http://202.116.83.148/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7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6.xml"/><Relationship Id="rId3" Type="http://schemas.openxmlformats.org/officeDocument/2006/relationships/slide" Target="slide11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595998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8544" y="1006513"/>
            <a:ext cx="101600" cy="10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344" y="993813"/>
            <a:ext cx="4381715" cy="114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20310" y="646569"/>
            <a:ext cx="50749" cy="3599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7743" y="640428"/>
            <a:ext cx="4432935" cy="417195"/>
          </a:xfrm>
          <a:custGeom>
            <a:avLst/>
            <a:gdLst/>
            <a:ahLst/>
            <a:cxnLst/>
            <a:rect l="l" t="t" r="r" b="b"/>
            <a:pathLst>
              <a:path w="4432935" h="417194">
                <a:moveTo>
                  <a:pt x="4432566" y="0"/>
                </a:moveTo>
                <a:lnTo>
                  <a:pt x="0" y="0"/>
                </a:lnTo>
                <a:lnTo>
                  <a:pt x="0" y="366084"/>
                </a:lnTo>
                <a:lnTo>
                  <a:pt x="4008" y="385808"/>
                </a:lnTo>
                <a:lnTo>
                  <a:pt x="14922" y="401961"/>
                </a:lnTo>
                <a:lnTo>
                  <a:pt x="31075" y="412876"/>
                </a:lnTo>
                <a:lnTo>
                  <a:pt x="50800" y="416884"/>
                </a:lnTo>
                <a:lnTo>
                  <a:pt x="4381765" y="416884"/>
                </a:lnTo>
                <a:lnTo>
                  <a:pt x="4401490" y="412876"/>
                </a:lnTo>
                <a:lnTo>
                  <a:pt x="4417643" y="401961"/>
                </a:lnTo>
                <a:lnTo>
                  <a:pt x="4428558" y="385808"/>
                </a:lnTo>
                <a:lnTo>
                  <a:pt x="4432566" y="366084"/>
                </a:lnTo>
                <a:lnTo>
                  <a:pt x="443256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520310" y="684666"/>
            <a:ext cx="0" cy="340995"/>
          </a:xfrm>
          <a:custGeom>
            <a:avLst/>
            <a:gdLst/>
            <a:ahLst/>
            <a:cxnLst/>
            <a:rect l="l" t="t" r="r" b="b"/>
            <a:pathLst>
              <a:path w="0" h="340994">
                <a:moveTo>
                  <a:pt x="0" y="34089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6719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6592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646566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6985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分</a:t>
            </a:r>
            <a:r>
              <a:rPr dirty="0" spc="-15"/>
              <a:t>析</a:t>
            </a:r>
            <a:r>
              <a:rPr dirty="0" spc="-10"/>
              <a:t>化学</a:t>
            </a:r>
            <a:r>
              <a:rPr dirty="0" spc="-15"/>
              <a:t>基</a:t>
            </a:r>
            <a:r>
              <a:rPr dirty="0" spc="-10"/>
              <a:t>础</a:t>
            </a:r>
            <a:r>
              <a:rPr dirty="0" spc="-15"/>
              <a:t>教</a:t>
            </a:r>
            <a:r>
              <a:rPr dirty="0" spc="-10"/>
              <a:t>程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68730" y="1251432"/>
            <a:ext cx="2070735" cy="1459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latin typeface="Arial Unicode MS"/>
                <a:cs typeface="Arial Unicode MS"/>
              </a:rPr>
              <a:t>甘</a:t>
            </a:r>
            <a:r>
              <a:rPr dirty="0" sz="1600" spc="220">
                <a:latin typeface="Arial Unicode MS"/>
                <a:cs typeface="Arial Unicode MS"/>
              </a:rPr>
              <a:t>峰</a:t>
            </a:r>
            <a:r>
              <a:rPr dirty="0" sz="1600" spc="-10">
                <a:latin typeface="Arial Unicode MS"/>
                <a:cs typeface="Arial Unicode MS"/>
              </a:rPr>
              <a:t>教授</a:t>
            </a:r>
            <a:endParaRPr sz="160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dirty="0" sz="1000" spc="-20">
                <a:latin typeface="Georgia"/>
                <a:cs typeface="Georgia"/>
              </a:rPr>
              <a:t>Email: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5"/>
              </a:rPr>
              <a:t>cesgf@mail.sysu.edu.cn</a:t>
            </a:r>
            <a:endParaRPr sz="10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1000" spc="-40">
                <a:latin typeface="Georgia"/>
                <a:cs typeface="Georgia"/>
              </a:rPr>
              <a:t>Homepage: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4C4CFF"/>
                </a:solidFill>
                <a:latin typeface="Courier New"/>
                <a:cs typeface="Courier New"/>
                <a:hlinkClick r:id="rId6"/>
              </a:rPr>
              <a:t>http://202.116.83.148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dirty="0" sz="900" spc="-5">
                <a:latin typeface="Arial Unicode MS"/>
                <a:cs typeface="Arial Unicode MS"/>
              </a:rPr>
              <a:t>中山大</a:t>
            </a:r>
            <a:r>
              <a:rPr dirty="0" sz="900" spc="-60">
                <a:latin typeface="Arial Unicode MS"/>
                <a:cs typeface="Arial Unicode MS"/>
              </a:rPr>
              <a:t>学</a:t>
            </a:r>
            <a:r>
              <a:rPr dirty="0" sz="900" spc="-140">
                <a:latin typeface="Arial Unicode MS"/>
                <a:cs typeface="Arial Unicode MS"/>
              </a:rPr>
              <a:t>，</a:t>
            </a:r>
            <a:r>
              <a:rPr dirty="0" sz="900" spc="-5">
                <a:latin typeface="Arial Unicode MS"/>
                <a:cs typeface="Arial Unicode MS"/>
              </a:rPr>
              <a:t>化学与化学工程学院</a:t>
            </a:r>
            <a:endParaRPr sz="9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</a:pPr>
            <a:r>
              <a:rPr dirty="0" sz="1100" spc="-65">
                <a:latin typeface="Georgia"/>
                <a:cs typeface="Georgia"/>
              </a:rPr>
              <a:t>2010 </a:t>
            </a:r>
            <a:r>
              <a:rPr dirty="0" sz="1200" spc="-5">
                <a:latin typeface="Arial Unicode MS"/>
                <a:cs typeface="Arial Unicode MS"/>
              </a:rPr>
              <a:t>年 </a:t>
            </a:r>
            <a:r>
              <a:rPr dirty="0" sz="1100" spc="-40">
                <a:latin typeface="Georgia"/>
                <a:cs typeface="Georgia"/>
              </a:rPr>
              <a:t>5 </a:t>
            </a:r>
            <a:r>
              <a:rPr dirty="0" sz="1200" spc="-5">
                <a:latin typeface="Arial Unicode MS"/>
                <a:cs typeface="Arial Unicode MS"/>
              </a:rPr>
              <a:t>月 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日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7258" y="723625"/>
            <a:ext cx="1733550" cy="128079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2650" spc="409">
                <a:latin typeface="Arial Unicode MS"/>
                <a:cs typeface="Arial Unicode MS"/>
              </a:rPr>
              <a:t>第</a:t>
            </a:r>
            <a:r>
              <a:rPr dirty="0" sz="5100" spc="395">
                <a:latin typeface="Berlin Sans FB"/>
                <a:cs typeface="Berlin Sans FB"/>
              </a:rPr>
              <a:t>8</a:t>
            </a:r>
            <a:r>
              <a:rPr dirty="0" sz="2650" spc="35">
                <a:latin typeface="Arial Unicode MS"/>
                <a:cs typeface="Arial Unicode MS"/>
              </a:rPr>
              <a:t>章</a:t>
            </a:r>
            <a:endParaRPr sz="2650">
              <a:latin typeface="Arial Unicode MS"/>
              <a:cs typeface="Arial Unicode MS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2650" spc="35">
                <a:latin typeface="Arial Unicode MS"/>
                <a:cs typeface="Arial Unicode MS"/>
              </a:rPr>
              <a:t>沉淀滴定法</a:t>
            </a:r>
            <a:endParaRPr sz="26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23139"/>
            <a:ext cx="103822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沉淀滴定法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17993"/>
            <a:ext cx="4356735" cy="1282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沉淀滴定法是以沉淀反应为基础的滴定方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用于沉淀滴定 </a:t>
            </a:r>
            <a:r>
              <a:rPr dirty="0" sz="1200" spc="-10">
                <a:latin typeface="Arial Unicode MS"/>
                <a:cs typeface="Arial Unicode MS"/>
              </a:rPr>
              <a:t>法的沉淀反应应很迅</a:t>
            </a:r>
            <a:r>
              <a:rPr dirty="0" sz="1200" spc="-80">
                <a:latin typeface="Arial Unicode MS"/>
                <a:cs typeface="Arial Unicode MS"/>
              </a:rPr>
              <a:t>速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并按一定的化学计量关系进</a:t>
            </a:r>
            <a:r>
              <a:rPr dirty="0" sz="1200" spc="-80">
                <a:latin typeface="Arial Unicode MS"/>
                <a:cs typeface="Arial Unicode MS"/>
              </a:rPr>
              <a:t>行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反应生</a:t>
            </a:r>
            <a:r>
              <a:rPr dirty="0" sz="1200" spc="-5">
                <a:latin typeface="Arial Unicode MS"/>
                <a:cs typeface="Arial Unicode MS"/>
              </a:rPr>
              <a:t>成 </a:t>
            </a:r>
            <a:r>
              <a:rPr dirty="0" sz="1200" spc="-5">
                <a:latin typeface="Arial Unicode MS"/>
                <a:cs typeface="Arial Unicode MS"/>
              </a:rPr>
              <a:t>的沉淀的溶解度必须很</a:t>
            </a:r>
            <a:r>
              <a:rPr dirty="0" sz="1200" spc="-80">
                <a:latin typeface="Arial Unicode MS"/>
                <a:cs typeface="Arial Unicode MS"/>
              </a:rPr>
              <a:t>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并且要有合适的指示剂指示终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Arial Unicode MS"/>
              <a:cs typeface="Arial Unicode MS"/>
            </a:endParaRPr>
          </a:p>
          <a:p>
            <a:pPr marL="12700" marR="116205" indent="30353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基于这些要</a:t>
            </a:r>
            <a:r>
              <a:rPr dirty="0" sz="1200" spc="-80">
                <a:latin typeface="Arial Unicode MS"/>
                <a:cs typeface="Arial Unicode MS"/>
              </a:rPr>
              <a:t>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实际可用的沉淀滴定法是基于难溶银盐沉淀 </a:t>
            </a:r>
            <a:r>
              <a:rPr dirty="0" sz="1200" spc="-5">
                <a:latin typeface="Arial Unicode MS"/>
                <a:cs typeface="Arial Unicode MS"/>
              </a:rPr>
              <a:t>的滴定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也称为银量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42418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银量法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9501" y="1047724"/>
            <a:ext cx="1837055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solidFill>
                  <a:srgbClr val="000000"/>
                </a:solidFill>
              </a:rPr>
              <a:t>银量法的反应可表示如</a:t>
            </a:r>
            <a:r>
              <a:rPr dirty="0" sz="1200" spc="-90">
                <a:solidFill>
                  <a:srgbClr val="000000"/>
                </a:solidFill>
              </a:rPr>
              <a:t>下</a:t>
            </a:r>
            <a:r>
              <a:rPr dirty="0" sz="1200" spc="-5">
                <a:solidFill>
                  <a:srgbClr val="000000"/>
                </a:solidFill>
              </a:rPr>
              <a:t>：</a:t>
            </a:r>
            <a:endParaRPr sz="1200"/>
          </a:p>
        </p:txBody>
      </p:sp>
      <p:sp>
        <p:nvSpPr>
          <p:cNvPr id="4" name="object 4"/>
          <p:cNvSpPr txBox="1"/>
          <p:nvPr/>
        </p:nvSpPr>
        <p:spPr>
          <a:xfrm>
            <a:off x="87744" y="1423885"/>
            <a:ext cx="4407535" cy="11436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24765">
              <a:lnSpc>
                <a:spcPct val="100000"/>
              </a:lnSpc>
              <a:spcBef>
                <a:spcPts val="90"/>
              </a:spcBef>
            </a:pPr>
            <a:r>
              <a:rPr dirty="0" sz="1100" spc="100">
                <a:latin typeface="Georgia"/>
                <a:cs typeface="Georgia"/>
              </a:rPr>
              <a:t>Ag</a:t>
            </a:r>
            <a:r>
              <a:rPr dirty="0" baseline="41666" sz="900" spc="150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35">
                <a:latin typeface="Georgia"/>
                <a:cs typeface="Georgia"/>
              </a:rPr>
              <a:t>X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AgX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endParaRPr sz="11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75">
                <a:latin typeface="Arial Unicode MS"/>
                <a:cs typeface="Arial Unicode MS"/>
              </a:rPr>
              <a:t>，</a:t>
            </a:r>
            <a:r>
              <a:rPr dirty="0" sz="1100" spc="-75">
                <a:latin typeface="Georgia"/>
                <a:cs typeface="Georgia"/>
              </a:rPr>
              <a:t>X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表示卤素离子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Cl</a:t>
            </a:r>
            <a:r>
              <a:rPr dirty="0" baseline="37037" sz="900" spc="44" i="1">
                <a:latin typeface="Arial"/>
                <a:cs typeface="Arial"/>
              </a:rPr>
              <a:t>−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Br</a:t>
            </a:r>
            <a:r>
              <a:rPr dirty="0" baseline="37037" sz="900" spc="44" i="1">
                <a:latin typeface="Arial"/>
                <a:cs typeface="Arial"/>
              </a:rPr>
              <a:t>−</a:t>
            </a:r>
            <a:r>
              <a:rPr dirty="0" sz="1200" spc="30">
                <a:latin typeface="Arial Unicode MS"/>
                <a:cs typeface="Arial Unicode MS"/>
              </a:rPr>
              <a:t>，</a:t>
            </a:r>
            <a:r>
              <a:rPr dirty="0" sz="1100" spc="30">
                <a:latin typeface="Georgia"/>
                <a:cs typeface="Georgia"/>
              </a:rPr>
              <a:t>I</a:t>
            </a:r>
            <a:r>
              <a:rPr dirty="0" baseline="37037" sz="900" spc="44" i="1">
                <a:latin typeface="Arial"/>
                <a:cs typeface="Arial"/>
              </a:rPr>
              <a:t>−</a:t>
            </a:r>
            <a:r>
              <a:rPr dirty="0" baseline="37037" sz="900" spc="60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75">
                <a:latin typeface="Georgia"/>
                <a:cs typeface="Georgia"/>
              </a:rPr>
              <a:t>SCN</a:t>
            </a:r>
            <a:r>
              <a:rPr dirty="0" baseline="37037" sz="900" spc="112" i="1">
                <a:latin typeface="Arial"/>
                <a:cs typeface="Arial"/>
              </a:rPr>
              <a:t>−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Arial Unicode MS"/>
              <a:cs typeface="Arial Unicode MS"/>
            </a:endParaRPr>
          </a:p>
          <a:p>
            <a:pPr marL="354330">
              <a:lnSpc>
                <a:spcPct val="100000"/>
              </a:lnSpc>
            </a:pPr>
            <a:r>
              <a:rPr dirty="0" sz="1200" spc="-10">
                <a:latin typeface="Arial Unicode MS"/>
                <a:cs typeface="Arial Unicode MS"/>
              </a:rPr>
              <a:t>常用的银量法有莫尔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佛尔哈德法和法扬斯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这三种方</a:t>
            </a:r>
            <a:r>
              <a:rPr dirty="0" sz="1200" spc="-5">
                <a:latin typeface="Arial Unicode MS"/>
                <a:cs typeface="Arial Unicode MS"/>
              </a:rPr>
              <a:t>法</a:t>
            </a:r>
            <a:endParaRPr sz="1200">
              <a:latin typeface="Arial Unicode MS"/>
              <a:cs typeface="Arial Unicode MS"/>
            </a:endParaRPr>
          </a:p>
          <a:p>
            <a:pPr marL="508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最大的区别是所选用的指示剂不</a:t>
            </a:r>
            <a:r>
              <a:rPr dirty="0" sz="1200" spc="-20">
                <a:latin typeface="Arial Unicode MS"/>
                <a:cs typeface="Arial Unicode MS"/>
              </a:rPr>
              <a:t>同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979805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latin typeface="Calibri"/>
                <a:cs typeface="Calibri"/>
              </a:rPr>
              <a:t>8.1</a:t>
            </a:r>
            <a:r>
              <a:rPr dirty="0" sz="1400" spc="220">
                <a:latin typeface="Calibri"/>
                <a:cs typeface="Calibri"/>
              </a:rPr>
              <a:t> </a:t>
            </a:r>
            <a:r>
              <a:rPr dirty="0" sz="1600" spc="-10"/>
              <a:t>莫尔法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947801"/>
            <a:ext cx="433070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莫尔法是以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55">
                <a:latin typeface="Georgia"/>
                <a:cs typeface="Georgia"/>
              </a:rPr>
              <a:t>K</a:t>
            </a:r>
            <a:r>
              <a:rPr dirty="0" baseline="-13888" sz="900" spc="82">
                <a:latin typeface="Times New Roman"/>
                <a:cs typeface="Times New Roman"/>
              </a:rPr>
              <a:t>2</a:t>
            </a:r>
            <a:r>
              <a:rPr dirty="0" sz="1100" spc="55">
                <a:latin typeface="Georgia"/>
                <a:cs typeface="Georgia"/>
              </a:rPr>
              <a:t>CrO</a:t>
            </a:r>
            <a:r>
              <a:rPr dirty="0" baseline="-13888" sz="900" spc="82">
                <a:latin typeface="Times New Roman"/>
                <a:cs typeface="Times New Roman"/>
              </a:rPr>
              <a:t>4</a:t>
            </a:r>
            <a:r>
              <a:rPr dirty="0" baseline="-13888" sz="900" spc="359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为指示剂的银量</a:t>
            </a:r>
            <a:r>
              <a:rPr dirty="0" sz="1200" spc="-80">
                <a:latin typeface="Arial Unicode MS"/>
                <a:cs typeface="Arial Unicode MS"/>
              </a:rPr>
              <a:t>法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它以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AgNO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作标准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直接滴定溶液中的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Cl</a:t>
            </a:r>
            <a:r>
              <a:rPr dirty="0" baseline="37037" sz="900" spc="30" i="1">
                <a:latin typeface="Arial"/>
                <a:cs typeface="Arial"/>
              </a:rPr>
              <a:t>−</a:t>
            </a:r>
            <a:r>
              <a:rPr dirty="0" sz="1200" spc="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反应式如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7365" y="1589163"/>
            <a:ext cx="1124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425"/>
              </a:lnSpc>
              <a:spcBef>
                <a:spcPts val="90"/>
              </a:spcBef>
            </a:pPr>
            <a:r>
              <a:rPr dirty="0" sz="1100" spc="95" b="0" i="1">
                <a:latin typeface="Bookman Old Style"/>
                <a:cs typeface="Bookman Old Style"/>
              </a:rPr>
              <a:t>K</a:t>
            </a:r>
            <a:r>
              <a:rPr dirty="0" baseline="-13888" sz="900" spc="142">
                <a:latin typeface="Times New Roman"/>
                <a:cs typeface="Times New Roman"/>
              </a:rPr>
              <a:t>sp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8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55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41666" sz="900" spc="82" i="1">
                <a:latin typeface="Arial"/>
                <a:cs typeface="Arial"/>
              </a:rPr>
              <a:t>−</a:t>
            </a:r>
            <a:endParaRPr baseline="41666" sz="900">
              <a:latin typeface="Arial"/>
              <a:cs typeface="Arial"/>
            </a:endParaRPr>
          </a:p>
          <a:p>
            <a:pPr algn="r" marR="30480">
              <a:lnSpc>
                <a:spcPts val="345"/>
              </a:lnSpc>
            </a:pPr>
            <a:r>
              <a:rPr dirty="0" sz="600" spc="6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113" y="1575879"/>
            <a:ext cx="2142490" cy="570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3855">
              <a:lnSpc>
                <a:spcPct val="100000"/>
              </a:lnSpc>
              <a:spcBef>
                <a:spcPts val="95"/>
              </a:spcBef>
            </a:pPr>
            <a:r>
              <a:rPr dirty="0" sz="1100" spc="100">
                <a:latin typeface="Georgia"/>
                <a:cs typeface="Georgia"/>
              </a:rPr>
              <a:t>Ag</a:t>
            </a:r>
            <a:r>
              <a:rPr dirty="0" baseline="41666" sz="900" spc="150">
                <a:latin typeface="Times New Roman"/>
                <a:cs typeface="Times New Roman"/>
              </a:rPr>
              <a:t>+</a:t>
            </a:r>
            <a:r>
              <a:rPr dirty="0" baseline="41666" sz="900" spc="19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95">
                <a:latin typeface="Georgia"/>
                <a:cs typeface="Georgia"/>
              </a:rPr>
              <a:t>Cl</a:t>
            </a:r>
            <a:r>
              <a:rPr dirty="0" baseline="41666" sz="900" spc="142" i="1">
                <a:latin typeface="Arial"/>
                <a:cs typeface="Arial"/>
              </a:rPr>
              <a:t>−</a:t>
            </a:r>
            <a:r>
              <a:rPr dirty="0" baseline="41666" sz="900" spc="254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AgCl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r>
              <a:rPr dirty="0" sz="1100" spc="-5">
                <a:latin typeface="Lucida Sans Unicode"/>
                <a:cs typeface="Lucida Sans Unicode"/>
              </a:rPr>
              <a:t> </a:t>
            </a:r>
            <a:r>
              <a:rPr dirty="0" sz="1100" spc="5">
                <a:latin typeface="Georgia"/>
                <a:cs typeface="Georgia"/>
              </a:rPr>
              <a:t>(</a:t>
            </a:r>
            <a:r>
              <a:rPr dirty="0" sz="1200" spc="-5">
                <a:latin typeface="Arial Unicode MS"/>
                <a:cs typeface="Arial Unicode MS"/>
              </a:rPr>
              <a:t>白色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1415"/>
              </a:spcBef>
            </a:pPr>
            <a:r>
              <a:rPr dirty="0" sz="1200" spc="-5">
                <a:latin typeface="Arial Unicode MS"/>
                <a:cs typeface="Arial Unicode MS"/>
              </a:rPr>
              <a:t>终点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指示剂的显色反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016" y="2320340"/>
            <a:ext cx="6540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1334" algn="l"/>
              </a:tabLst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8752" y="241179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2483" y="2398318"/>
            <a:ext cx="3867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702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5643" y="2314918"/>
            <a:ext cx="18764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29640" algn="l"/>
              </a:tabLst>
            </a:pPr>
            <a:r>
              <a:rPr dirty="0" sz="1100" spc="-5">
                <a:latin typeface="Georgia"/>
                <a:cs typeface="Georgia"/>
              </a:rPr>
              <a:t>2Ag  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25">
                <a:latin typeface="Georgia"/>
                <a:cs typeface="Georgia"/>
              </a:rPr>
              <a:t>CrO	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30">
                <a:latin typeface="Georgia"/>
                <a:cs typeface="Georgia"/>
              </a:rPr>
              <a:t>Ag </a:t>
            </a:r>
            <a:r>
              <a:rPr dirty="0" sz="1100" spc="25">
                <a:latin typeface="Georgia"/>
                <a:cs typeface="Georgia"/>
              </a:rPr>
              <a:t>CrO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r>
              <a:rPr dirty="0" sz="1100" spc="105">
                <a:latin typeface="Lucida Sans Unicode"/>
                <a:cs typeface="Lucida Sans Unicode"/>
              </a:rPr>
              <a:t> </a:t>
            </a:r>
            <a:r>
              <a:rPr dirty="0" sz="1100" spc="10">
                <a:latin typeface="Georgia"/>
                <a:cs typeface="Georgia"/>
              </a:rPr>
              <a:t>(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0438" y="2398318"/>
            <a:ext cx="1143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0899" y="2301633"/>
            <a:ext cx="193611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24230" algn="l"/>
                <a:tab pos="1075055" algn="l"/>
              </a:tabLst>
            </a:pPr>
            <a:r>
              <a:rPr dirty="0" sz="1200" spc="-5">
                <a:latin typeface="Arial Unicode MS"/>
                <a:cs typeface="Arial Unicode MS"/>
              </a:rPr>
              <a:t>砖红色</a:t>
            </a:r>
            <a:r>
              <a:rPr dirty="0" sz="1100" spc="10">
                <a:latin typeface="Georgia"/>
                <a:cs typeface="Georgia"/>
              </a:rPr>
              <a:t>)	</a:t>
            </a:r>
            <a:r>
              <a:rPr dirty="0" sz="1100" spc="130" b="0" i="1">
                <a:latin typeface="Bookman Old Style"/>
                <a:cs typeface="Bookman Old Style"/>
              </a:rPr>
              <a:t>K	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80">
                <a:latin typeface="Georgia"/>
                <a:cs typeface="Georgia"/>
              </a:rPr>
              <a:t>2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04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41666" sz="900" spc="82" i="1">
                <a:latin typeface="Arial"/>
                <a:cs typeface="Arial"/>
              </a:rPr>
              <a:t>−</a:t>
            </a:r>
            <a:r>
              <a:rPr dirty="0" baseline="41666" sz="900" spc="82">
                <a:latin typeface="Times New Roman"/>
                <a:cs typeface="Times New Roman"/>
              </a:rPr>
              <a:t>12</a:t>
            </a:r>
            <a:endParaRPr baseline="41666"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5568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滴定方程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4101" y="860844"/>
            <a:ext cx="40735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设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100">
                <a:latin typeface="Georgia"/>
                <a:cs typeface="Georgia"/>
              </a:rPr>
              <a:t>Ag</a:t>
            </a:r>
            <a:r>
              <a:rPr dirty="0" baseline="37037" sz="900" spc="150">
                <a:latin typeface="Times New Roman"/>
                <a:cs typeface="Times New Roman"/>
              </a:rPr>
              <a:t>+</a:t>
            </a:r>
            <a:r>
              <a:rPr dirty="0" baseline="37037" sz="900" spc="3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95">
                <a:latin typeface="Georgia"/>
                <a:cs typeface="Georgia"/>
              </a:rPr>
              <a:t>Cl</a:t>
            </a:r>
            <a:r>
              <a:rPr dirty="0" baseline="37037" sz="900" spc="142" i="1">
                <a:latin typeface="Arial"/>
                <a:cs typeface="Arial"/>
              </a:rPr>
              <a:t>−</a:t>
            </a:r>
            <a:r>
              <a:rPr dirty="0" baseline="37037" sz="900" spc="359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的分析浓度分别为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0" b="0" i="1">
                <a:latin typeface="Bookman Old Style"/>
                <a:cs typeface="Bookman Old Style"/>
              </a:rPr>
              <a:t>c</a:t>
            </a:r>
            <a:r>
              <a:rPr dirty="0" sz="1100" spc="50">
                <a:latin typeface="Georgia"/>
                <a:cs typeface="Georgia"/>
              </a:rPr>
              <a:t>(Ag</a:t>
            </a:r>
            <a:r>
              <a:rPr dirty="0" baseline="37037" sz="900" spc="75">
                <a:latin typeface="Times New Roman"/>
                <a:cs typeface="Times New Roman"/>
              </a:rPr>
              <a:t>+</a:t>
            </a:r>
            <a:r>
              <a:rPr dirty="0" sz="1100" spc="50">
                <a:latin typeface="Georgia"/>
                <a:cs typeface="Georgia"/>
              </a:rPr>
              <a:t>)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>
                <a:latin typeface="Georgia"/>
                <a:cs typeface="Georgia"/>
              </a:rPr>
              <a:t>(Cl</a:t>
            </a:r>
            <a:r>
              <a:rPr dirty="0" baseline="37037" sz="900" spc="7" i="1">
                <a:latin typeface="Arial"/>
                <a:cs typeface="Arial"/>
              </a:rPr>
              <a:t>−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200" spc="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指示剂的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096" y="111017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7096" y="119470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084541"/>
            <a:ext cx="169163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分析浓度为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>
                <a:latin typeface="Georgia"/>
                <a:cs typeface="Georgia"/>
              </a:rPr>
              <a:t>(CrO</a:t>
            </a:r>
            <a:r>
              <a:rPr dirty="0" sz="1100" spc="14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200" spc="-40">
                <a:latin typeface="Arial Unicode MS"/>
                <a:cs typeface="Arial Unicode MS"/>
              </a:rPr>
              <a:t>，</a:t>
            </a:r>
            <a:r>
              <a:rPr dirty="0" sz="1100" spc="-40">
                <a:latin typeface="Georgia"/>
                <a:cs typeface="Georgia"/>
              </a:rPr>
              <a:t>Cl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5061" y="1181227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56342" y="1110170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1474" y="1084541"/>
            <a:ext cx="26174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7037" sz="900" spc="337" i="1">
                <a:latin typeface="Arial"/>
                <a:cs typeface="Arial"/>
              </a:rPr>
              <a:t>− </a:t>
            </a:r>
            <a:r>
              <a:rPr dirty="0" sz="1200" spc="-5">
                <a:latin typeface="Arial Unicode MS"/>
                <a:cs typeface="Arial Unicode MS"/>
              </a:rPr>
              <a:t>的初始体积为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r>
              <a:rPr dirty="0" sz="1100" b="0" i="1">
                <a:latin typeface="Bookman Old Style"/>
                <a:cs typeface="Bookman Old Style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当加入的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</a:t>
            </a:r>
            <a:r>
              <a:rPr dirty="0" sz="1100" spc="10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的体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444" y="1308239"/>
            <a:ext cx="191960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积为 </a:t>
            </a:r>
            <a:r>
              <a:rPr dirty="0" sz="1100" spc="-40" b="0" i="1">
                <a:latin typeface="Bookman Old Style"/>
                <a:cs typeface="Bookman Old Style"/>
              </a:rPr>
              <a:t>V</a:t>
            </a:r>
            <a:r>
              <a:rPr dirty="0" baseline="-13888" sz="900" spc="-60" i="1">
                <a:latin typeface="Trebuchet MS"/>
                <a:cs typeface="Trebuchet MS"/>
              </a:rPr>
              <a:t>t</a:t>
            </a:r>
            <a:r>
              <a:rPr dirty="0" baseline="-13888" sz="900" spc="82" i="1">
                <a:latin typeface="Trebuchet MS"/>
                <a:cs typeface="Trebuchet MS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物料平衡如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4742" y="1605495"/>
            <a:ext cx="6134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25" b="0" i="1">
                <a:latin typeface="Bookman Old Style"/>
                <a:cs typeface="Bookman Old Style"/>
              </a:rPr>
              <a:t>c</a:t>
            </a:r>
            <a:r>
              <a:rPr dirty="0" sz="1100" spc="25">
                <a:latin typeface="Georgia"/>
                <a:cs typeface="Georgia"/>
              </a:rPr>
              <a:t>(Ag</a:t>
            </a:r>
            <a:r>
              <a:rPr dirty="0" baseline="37037" sz="900" spc="37">
                <a:latin typeface="Times New Roman"/>
                <a:cs typeface="Times New Roman"/>
              </a:rPr>
              <a:t>+</a:t>
            </a:r>
            <a:r>
              <a:rPr dirty="0" sz="1100" spc="25">
                <a:latin typeface="Georgia"/>
                <a:cs typeface="Georgia"/>
              </a:rPr>
              <a:t>)</a:t>
            </a:r>
            <a:r>
              <a:rPr dirty="0" sz="1100" spc="25" b="0" i="1">
                <a:latin typeface="Bookman Old Style"/>
                <a:cs typeface="Bookman Old Style"/>
              </a:rPr>
              <a:t>V</a:t>
            </a:r>
            <a:r>
              <a:rPr dirty="0" baseline="-13888" sz="900" spc="37" i="1">
                <a:latin typeface="Trebuchet MS"/>
                <a:cs typeface="Trebuchet MS"/>
              </a:rPr>
              <a:t>t</a:t>
            </a:r>
            <a:endParaRPr baseline="-13888" sz="9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52842" y="1815833"/>
            <a:ext cx="543560" cy="0"/>
          </a:xfrm>
          <a:custGeom>
            <a:avLst/>
            <a:gdLst/>
            <a:ahLst/>
            <a:cxnLst/>
            <a:rect l="l" t="t" r="r" b="b"/>
            <a:pathLst>
              <a:path w="543560" h="0">
                <a:moveTo>
                  <a:pt x="0" y="0"/>
                </a:moveTo>
                <a:lnTo>
                  <a:pt x="54348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98778" y="1794256"/>
            <a:ext cx="399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9588" y="1877669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dirty="0" sz="600" spc="30" i="1">
                <a:latin typeface="Trebuchet MS"/>
                <a:cs typeface="Trebuchet MS"/>
              </a:rPr>
              <a:t>t</a:t>
            </a:r>
            <a:r>
              <a:rPr dirty="0" sz="600" spc="30" i="1">
                <a:latin typeface="Trebuchet MS"/>
                <a:cs typeface="Trebuchet MS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73211" y="1704644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97313" y="1782635"/>
            <a:ext cx="3867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702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25333" y="1699222"/>
            <a:ext cx="20034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15">
                <a:latin typeface="Georgia"/>
                <a:cs typeface="Georgia"/>
              </a:rPr>
              <a:t>[Ag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>
                <a:latin typeface="Georgia"/>
                <a:cs typeface="Georgia"/>
              </a:rPr>
              <a:t>[AgCl]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30">
                <a:latin typeface="Georgia"/>
                <a:cs typeface="Georgia"/>
              </a:rPr>
              <a:t>2[Ag </a:t>
            </a:r>
            <a:r>
              <a:rPr dirty="0" sz="1100" spc="25">
                <a:latin typeface="Georgia"/>
                <a:cs typeface="Georgia"/>
              </a:rPr>
              <a:t>CrO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79722" y="1699222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(1)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77099" y="2179904"/>
            <a:ext cx="519430" cy="0"/>
          </a:xfrm>
          <a:custGeom>
            <a:avLst/>
            <a:gdLst/>
            <a:ahLst/>
            <a:cxnLst/>
            <a:rect l="l" t="t" r="r" b="b"/>
            <a:pathLst>
              <a:path w="519430" h="0">
                <a:moveTo>
                  <a:pt x="0" y="0"/>
                </a:moveTo>
                <a:lnTo>
                  <a:pt x="51922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38999" y="1947059"/>
            <a:ext cx="589280" cy="40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4455" marR="30480" indent="-46990">
              <a:lnSpc>
                <a:spcPct val="112599"/>
              </a:lnSpc>
              <a:spcBef>
                <a:spcPts val="100"/>
              </a:spcBef>
            </a:pPr>
            <a:r>
              <a:rPr dirty="0" sz="1100" spc="-65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(C</a:t>
            </a:r>
            <a:r>
              <a:rPr dirty="0" sz="1100" spc="10">
                <a:latin typeface="Georgia"/>
                <a:cs typeface="Georgia"/>
              </a:rPr>
              <a:t>l</a:t>
            </a:r>
            <a:r>
              <a:rPr dirty="0" baseline="37037" sz="900" spc="405" i="1">
                <a:latin typeface="Arial"/>
                <a:cs typeface="Arial"/>
              </a:rPr>
              <a:t>−</a:t>
            </a:r>
            <a:r>
              <a:rPr dirty="0" sz="1100" spc="5">
                <a:latin typeface="Georgia"/>
                <a:cs typeface="Georgia"/>
              </a:rPr>
              <a:t>)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r>
              <a:rPr dirty="0" baseline="-13888" sz="900" spc="60">
                <a:latin typeface="Times New Roman"/>
                <a:cs typeface="Times New Roman"/>
              </a:rPr>
              <a:t>0  </a:t>
            </a:r>
            <a:r>
              <a:rPr dirty="0" sz="1100" spc="-40" b="0" i="1">
                <a:latin typeface="Bookman Old Style"/>
                <a:cs typeface="Bookman Old Style"/>
              </a:rPr>
              <a:t>V</a:t>
            </a:r>
            <a:r>
              <a:rPr dirty="0" baseline="-13888" sz="900" spc="-60" i="1">
                <a:latin typeface="Trebuchet MS"/>
                <a:cs typeface="Trebuchet MS"/>
              </a:rPr>
              <a:t>t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75">
                <a:latin typeface="Georgia"/>
                <a:cs typeface="Georgia"/>
              </a:rPr>
              <a:t> </a:t>
            </a:r>
            <a:r>
              <a:rPr dirty="0" sz="1100" spc="-25" b="0" i="1">
                <a:latin typeface="Bookman Old Style"/>
                <a:cs typeface="Bookman Old Style"/>
              </a:rPr>
              <a:t>V</a:t>
            </a:r>
            <a:r>
              <a:rPr dirty="0" baseline="-13888" sz="900" spc="-37">
                <a:latin typeface="Times New Roman"/>
                <a:cs typeface="Times New Roman"/>
              </a:rPr>
              <a:t>0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99933" y="2063292"/>
            <a:ext cx="1176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20">
                <a:latin typeface="Georgia"/>
                <a:cs typeface="Georgia"/>
              </a:rPr>
              <a:t>[Cl</a:t>
            </a:r>
            <a:r>
              <a:rPr dirty="0" baseline="41666" sz="900" spc="30" i="1">
                <a:latin typeface="Arial"/>
                <a:cs typeface="Arial"/>
              </a:rPr>
              <a:t>−</a:t>
            </a:r>
            <a:r>
              <a:rPr dirty="0" sz="1100" spc="2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[AgCl]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79722" y="2063292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(2)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70380" y="2345969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4473" y="2430500"/>
            <a:ext cx="7150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7985" algn="l"/>
                <a:tab pos="701675" algn="l"/>
              </a:tabLst>
            </a:pPr>
            <a:r>
              <a:rPr dirty="0" u="sng" sz="6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	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4473" y="2333625"/>
            <a:ext cx="6623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5" b="0" i="1">
                <a:latin typeface="Bookman Old Style"/>
                <a:cs typeface="Bookman Old Style"/>
              </a:rPr>
              <a:t>c</a:t>
            </a:r>
            <a:r>
              <a:rPr dirty="0" sz="1100" spc="5">
                <a:latin typeface="Georgia"/>
                <a:cs typeface="Georgia"/>
              </a:rPr>
              <a:t>(CrO</a:t>
            </a:r>
            <a:r>
              <a:rPr dirty="0" sz="1100" spc="105">
                <a:latin typeface="Georgia"/>
                <a:cs typeface="Georgia"/>
              </a:rPr>
              <a:t> </a:t>
            </a:r>
            <a:r>
              <a:rPr dirty="0" sz="1100" spc="-55">
                <a:latin typeface="Georgia"/>
                <a:cs typeface="Georgia"/>
              </a:rPr>
              <a:t>)</a:t>
            </a:r>
            <a:r>
              <a:rPr dirty="0" sz="1100" spc="-55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30908" y="241702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25944" y="2522385"/>
            <a:ext cx="399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14" b="0" i="1">
                <a:latin typeface="Bookman Old Style"/>
                <a:cs typeface="Bookman Old Style"/>
              </a:rPr>
              <a:t>V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80">
                <a:latin typeface="Georgia"/>
                <a:cs typeface="Georgia"/>
              </a:rPr>
              <a:t> </a:t>
            </a:r>
            <a:r>
              <a:rPr dirty="0" sz="1100" spc="-114" b="0" i="1">
                <a:latin typeface="Bookman Old Style"/>
                <a:cs typeface="Bookman Old Style"/>
              </a:rPr>
              <a:t>V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06754" y="2605798"/>
            <a:ext cx="3644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dirty="0" sz="600" spc="30" i="1">
                <a:latin typeface="Trebuchet MS"/>
                <a:cs typeface="Trebuchet MS"/>
              </a:rPr>
              <a:t>t</a:t>
            </a:r>
            <a:r>
              <a:rPr dirty="0" sz="600" spc="30" i="1">
                <a:latin typeface="Trebuchet MS"/>
                <a:cs typeface="Trebuchet MS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60180" y="2432773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60180" y="252422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805480" y="2510751"/>
            <a:ext cx="3867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702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25333" y="2427351"/>
            <a:ext cx="15119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10">
                <a:latin typeface="Georgia"/>
                <a:cs typeface="Georgia"/>
              </a:rPr>
              <a:t>[CrO </a:t>
            </a:r>
            <a:r>
              <a:rPr dirty="0" sz="1100" spc="-110">
                <a:latin typeface="Georgia"/>
                <a:cs typeface="Georgia"/>
              </a:rPr>
              <a:t>]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15">
                <a:latin typeface="Georgia"/>
                <a:cs typeface="Georgia"/>
              </a:rPr>
              <a:t>[Ag </a:t>
            </a:r>
            <a:r>
              <a:rPr dirty="0" sz="1100" spc="25">
                <a:latin typeface="Georgia"/>
                <a:cs typeface="Georgia"/>
              </a:rPr>
              <a:t>CrO</a:t>
            </a:r>
            <a:r>
              <a:rPr dirty="0" sz="1100" spc="-9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79722" y="2427351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(3)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101" y="500087"/>
            <a:ext cx="335026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solidFill>
                  <a:srgbClr val="000000"/>
                </a:solidFill>
              </a:rPr>
              <a:t>令</a:t>
            </a:r>
            <a:r>
              <a:rPr dirty="0" sz="1200" spc="20">
                <a:solidFill>
                  <a:srgbClr val="000000"/>
                </a:solidFill>
              </a:rPr>
              <a:t> </a:t>
            </a:r>
            <a:r>
              <a:rPr dirty="0" sz="1100" spc="-30" b="0" i="1">
                <a:solidFill>
                  <a:srgbClr val="000000"/>
                </a:solidFill>
                <a:latin typeface="Bookman Old Style"/>
                <a:cs typeface="Bookman Old Style"/>
              </a:rPr>
              <a:t>ρ</a:t>
            </a:r>
            <a:r>
              <a:rPr dirty="0" sz="1100" spc="-40" b="0" i="1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dirty="0" sz="1100" spc="140">
                <a:solidFill>
                  <a:srgbClr val="000000"/>
                </a:solidFill>
                <a:latin typeface="Georgia"/>
                <a:cs typeface="Georgia"/>
              </a:rPr>
              <a:t>=</a:t>
            </a:r>
            <a:r>
              <a:rPr dirty="0" sz="1100" spc="25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 sz="1100" spc="-70" b="0" i="1">
                <a:solidFill>
                  <a:srgbClr val="000000"/>
                </a:solidFill>
                <a:latin typeface="Bookman Old Style"/>
                <a:cs typeface="Bookman Old Style"/>
              </a:rPr>
              <a:t>V</a:t>
            </a:r>
            <a:r>
              <a:rPr dirty="0" baseline="-13888" sz="900" spc="-104" i="1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1100" spc="-70" b="0" i="1">
                <a:solidFill>
                  <a:srgbClr val="000000"/>
                </a:solidFill>
                <a:latin typeface="Bookman Old Style"/>
                <a:cs typeface="Bookman Old Style"/>
              </a:rPr>
              <a:t>/V</a:t>
            </a:r>
            <a:r>
              <a:rPr dirty="0" baseline="-13888" sz="900" spc="-104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r>
              <a:rPr dirty="0" sz="1200" spc="-70">
                <a:solidFill>
                  <a:srgbClr val="000000"/>
                </a:solidFill>
              </a:rPr>
              <a:t>，</a:t>
            </a:r>
            <a:r>
              <a:rPr dirty="0" sz="1200" spc="-260">
                <a:solidFill>
                  <a:srgbClr val="000000"/>
                </a:solidFill>
              </a:rPr>
              <a:t>将</a:t>
            </a:r>
            <a:r>
              <a:rPr dirty="0" sz="1200" spc="-120">
                <a:solidFill>
                  <a:srgbClr val="000000"/>
                </a:solidFill>
              </a:rPr>
              <a:t>（</a:t>
            </a:r>
            <a:r>
              <a:rPr dirty="0" sz="1100" spc="-120">
                <a:solidFill>
                  <a:srgbClr val="000000"/>
                </a:solidFill>
                <a:latin typeface="Georgia"/>
                <a:cs typeface="Georgia"/>
                <a:hlinkClick r:id="rId2" action="ppaction://hlinksldjump"/>
              </a:rPr>
              <a:t>1</a:t>
            </a:r>
            <a:r>
              <a:rPr dirty="0" sz="1200" spc="-120">
                <a:solidFill>
                  <a:srgbClr val="000000"/>
                </a:solidFill>
              </a:rPr>
              <a:t>）</a:t>
            </a:r>
            <a:r>
              <a:rPr dirty="0" sz="1100" spc="-120">
                <a:solidFill>
                  <a:srgbClr val="000000"/>
                </a:solidFill>
                <a:latin typeface="Georgia"/>
                <a:cs typeface="Georgia"/>
              </a:rPr>
              <a:t>-</a:t>
            </a:r>
            <a:r>
              <a:rPr dirty="0" sz="1200" spc="-120">
                <a:solidFill>
                  <a:srgbClr val="000000"/>
                </a:solidFill>
              </a:rPr>
              <a:t>（</a:t>
            </a:r>
            <a:r>
              <a:rPr dirty="0" sz="1100" spc="-120">
                <a:solidFill>
                  <a:srgbClr val="000000"/>
                </a:solidFill>
                <a:latin typeface="Georgia"/>
                <a:cs typeface="Georgia"/>
                <a:hlinkClick r:id="rId2" action="ppaction://hlinksldjump"/>
              </a:rPr>
              <a:t>2</a:t>
            </a:r>
            <a:r>
              <a:rPr dirty="0" sz="1200" spc="-120">
                <a:solidFill>
                  <a:srgbClr val="000000"/>
                </a:solidFill>
              </a:rPr>
              <a:t>）</a:t>
            </a:r>
            <a:r>
              <a:rPr dirty="0" sz="1100" spc="-120">
                <a:solidFill>
                  <a:srgbClr val="000000"/>
                </a:solidFill>
                <a:latin typeface="Georgia"/>
                <a:cs typeface="Georgia"/>
              </a:rPr>
              <a:t>-</a:t>
            </a:r>
            <a:r>
              <a:rPr dirty="0" sz="1200" spc="-120">
                <a:solidFill>
                  <a:srgbClr val="000000"/>
                </a:solidFill>
              </a:rPr>
              <a:t>（</a:t>
            </a:r>
            <a:r>
              <a:rPr dirty="0" sz="1100" spc="-120">
                <a:solidFill>
                  <a:srgbClr val="000000"/>
                </a:solidFill>
                <a:latin typeface="Georgia"/>
                <a:cs typeface="Georgia"/>
                <a:hlinkClick r:id="rId2" action="ppaction://hlinksldjump"/>
              </a:rPr>
              <a:t>3</a:t>
            </a:r>
            <a:r>
              <a:rPr dirty="0" sz="1200" spc="-120">
                <a:solidFill>
                  <a:srgbClr val="000000"/>
                </a:solidFill>
              </a:rPr>
              <a:t>）</a:t>
            </a:r>
            <a:r>
              <a:rPr dirty="0" sz="1100" spc="-120">
                <a:solidFill>
                  <a:srgbClr val="000000"/>
                </a:solidFill>
                <a:latin typeface="Lucida Sans Unicode"/>
                <a:cs typeface="Lucida Sans Unicode"/>
              </a:rPr>
              <a:t>×</a:t>
            </a:r>
            <a:r>
              <a:rPr dirty="0" sz="1100" spc="-120">
                <a:solidFill>
                  <a:srgbClr val="000000"/>
                </a:solidFill>
                <a:latin typeface="Georgia"/>
                <a:cs typeface="Georgia"/>
              </a:rPr>
              <a:t>2</a:t>
            </a:r>
            <a:r>
              <a:rPr dirty="0" sz="1200" spc="-80">
                <a:solidFill>
                  <a:srgbClr val="000000"/>
                </a:solidFill>
              </a:rPr>
              <a:t>式</a:t>
            </a:r>
            <a:r>
              <a:rPr dirty="0" sz="1200" spc="-185">
                <a:solidFill>
                  <a:srgbClr val="000000"/>
                </a:solidFill>
              </a:rPr>
              <a:t>，</a:t>
            </a:r>
            <a:r>
              <a:rPr dirty="0" sz="1200" spc="-5">
                <a:solidFill>
                  <a:srgbClr val="000000"/>
                </a:solidFill>
              </a:rPr>
              <a:t>并整理</a:t>
            </a:r>
            <a:r>
              <a:rPr dirty="0" sz="1200" spc="-90">
                <a:solidFill>
                  <a:srgbClr val="000000"/>
                </a:solidFill>
              </a:rPr>
              <a:t>得</a:t>
            </a:r>
            <a:r>
              <a:rPr dirty="0" sz="1200" spc="-5">
                <a:solidFill>
                  <a:srgbClr val="000000"/>
                </a:solidFill>
              </a:rPr>
              <a:t>：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800531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544" y="1217257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9344" y="1204556"/>
            <a:ext cx="4381715" cy="114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20310" y="851090"/>
            <a:ext cx="50749" cy="3661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743" y="844951"/>
            <a:ext cx="4432935" cy="423545"/>
          </a:xfrm>
          <a:custGeom>
            <a:avLst/>
            <a:gdLst/>
            <a:ahLst/>
            <a:cxnLst/>
            <a:rect l="l" t="t" r="r" b="b"/>
            <a:pathLst>
              <a:path w="4432935" h="423544">
                <a:moveTo>
                  <a:pt x="4432566" y="0"/>
                </a:moveTo>
                <a:lnTo>
                  <a:pt x="0" y="0"/>
                </a:lnTo>
                <a:lnTo>
                  <a:pt x="0" y="372305"/>
                </a:lnTo>
                <a:lnTo>
                  <a:pt x="4008" y="392030"/>
                </a:lnTo>
                <a:lnTo>
                  <a:pt x="14922" y="408183"/>
                </a:lnTo>
                <a:lnTo>
                  <a:pt x="31075" y="419097"/>
                </a:lnTo>
                <a:lnTo>
                  <a:pt x="50800" y="423105"/>
                </a:lnTo>
                <a:lnTo>
                  <a:pt x="4381765" y="423105"/>
                </a:lnTo>
                <a:lnTo>
                  <a:pt x="4401490" y="419097"/>
                </a:lnTo>
                <a:lnTo>
                  <a:pt x="4417643" y="408183"/>
                </a:lnTo>
                <a:lnTo>
                  <a:pt x="4428558" y="392030"/>
                </a:lnTo>
                <a:lnTo>
                  <a:pt x="4432566" y="372305"/>
                </a:lnTo>
                <a:lnTo>
                  <a:pt x="4432566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20310" y="889188"/>
            <a:ext cx="0" cy="347345"/>
          </a:xfrm>
          <a:custGeom>
            <a:avLst/>
            <a:gdLst/>
            <a:ahLst/>
            <a:cxnLst/>
            <a:rect l="l" t="t" r="r" b="b"/>
            <a:pathLst>
              <a:path w="0" h="347344">
                <a:moveTo>
                  <a:pt x="0" y="34711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20310" y="87648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20310" y="86378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20310" y="851088"/>
            <a:ext cx="0" cy="12700"/>
          </a:xfrm>
          <a:custGeom>
            <a:avLst/>
            <a:gdLst/>
            <a:ahLst/>
            <a:cxnLst/>
            <a:rect l="l" t="t" r="r" b="b"/>
            <a:pathLst>
              <a:path w="0"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95958" y="883234"/>
            <a:ext cx="18014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82420" algn="l"/>
                <a:tab pos="1762125" algn="l"/>
              </a:tabLst>
            </a:pPr>
            <a:r>
              <a:rPr dirty="0" baseline="-22727" sz="1650" spc="-44" b="0" i="1">
                <a:latin typeface="Bookman Old Style"/>
                <a:cs typeface="Bookman Old Style"/>
              </a:rPr>
              <a:t>ρ </a:t>
            </a:r>
            <a:r>
              <a:rPr dirty="0" baseline="-22727" sz="1650" spc="209">
                <a:latin typeface="Georgia"/>
                <a:cs typeface="Georgia"/>
              </a:rPr>
              <a:t>=</a:t>
            </a:r>
            <a:r>
              <a:rPr dirty="0" u="sng" sz="1100" spc="14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	</a:t>
            </a:r>
            <a:r>
              <a:rPr dirty="0" u="sng" sz="6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	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67497" y="848982"/>
            <a:ext cx="15297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9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45" b="0" i="1">
                <a:latin typeface="Bookman Old Style"/>
                <a:cs typeface="Bookman Old Style"/>
              </a:rPr>
              <a:t>c</a:t>
            </a:r>
            <a:r>
              <a:rPr dirty="0" sz="1100" spc="45">
                <a:latin typeface="Georgia"/>
                <a:cs typeface="Georgia"/>
              </a:rPr>
              <a:t>(Cl</a:t>
            </a:r>
            <a:r>
              <a:rPr dirty="0" baseline="37037" sz="900" spc="67" i="1">
                <a:latin typeface="Arial"/>
                <a:cs typeface="Arial"/>
              </a:rPr>
              <a:t>−</a:t>
            </a:r>
            <a:r>
              <a:rPr dirty="0" sz="1100" spc="45">
                <a:latin typeface="Georgia"/>
                <a:cs typeface="Georgia"/>
              </a:rPr>
              <a:t>)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2</a:t>
            </a:r>
            <a:r>
              <a:rPr dirty="0" sz="1100" spc="30" b="0" i="1">
                <a:latin typeface="Bookman Old Style"/>
                <a:cs typeface="Bookman Old Style"/>
              </a:rPr>
              <a:t>c</a:t>
            </a:r>
            <a:r>
              <a:rPr dirty="0" sz="1100" spc="30">
                <a:latin typeface="Georgia"/>
                <a:cs typeface="Georgia"/>
              </a:rPr>
              <a:t>(CrO</a:t>
            </a:r>
            <a:r>
              <a:rPr dirty="0" baseline="37037" sz="900" spc="44">
                <a:latin typeface="Times New Roman"/>
                <a:cs typeface="Times New Roman"/>
              </a:rPr>
              <a:t>2</a:t>
            </a:r>
            <a:r>
              <a:rPr dirty="0" baseline="37037" sz="900" spc="44" i="1">
                <a:latin typeface="Arial"/>
                <a:cs typeface="Arial"/>
              </a:rPr>
              <a:t>−</a:t>
            </a:r>
            <a:r>
              <a:rPr dirty="0" sz="1100" spc="3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47392" y="1037742"/>
            <a:ext cx="7696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0" b="0" i="1">
                <a:latin typeface="Bookman Old Style"/>
                <a:cs typeface="Bookman Old Style"/>
              </a:rPr>
              <a:t>c</a:t>
            </a:r>
            <a:r>
              <a:rPr dirty="0" sz="1100" spc="50">
                <a:latin typeface="Georgia"/>
                <a:cs typeface="Georgia"/>
              </a:rPr>
              <a:t>(Ag</a:t>
            </a:r>
            <a:r>
              <a:rPr dirty="0" baseline="27777" sz="900" spc="75">
                <a:latin typeface="Times New Roman"/>
                <a:cs typeface="Times New Roman"/>
              </a:rPr>
              <a:t>+</a:t>
            </a:r>
            <a:r>
              <a:rPr dirty="0" sz="1100" spc="50">
                <a:latin typeface="Georgia"/>
                <a:cs typeface="Georgia"/>
              </a:rPr>
              <a:t>)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240">
                <a:latin typeface="Lucida Sans Unicode"/>
                <a:cs typeface="Lucida Sans Unicode"/>
              </a:rPr>
              <a:t> </a:t>
            </a:r>
            <a:r>
              <a:rPr dirty="0" sz="1100" spc="45" b="0" i="1">
                <a:latin typeface="Bookman Old Style"/>
                <a:cs typeface="Bookman Old Style"/>
              </a:rPr>
              <a:t>A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79722" y="942708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(4)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844" y="1377886"/>
            <a:ext cx="47053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其</a:t>
            </a:r>
            <a:r>
              <a:rPr dirty="0" sz="1200" spc="-90">
                <a:latin typeface="Arial Unicode MS"/>
                <a:cs typeface="Arial Unicode MS"/>
              </a:rPr>
              <a:t>中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5113" y="1630451"/>
            <a:ext cx="275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" b="0" i="1">
                <a:latin typeface="Bookman Old Style"/>
                <a:cs typeface="Bookman Old Style"/>
              </a:rPr>
              <a:t>A</a:t>
            </a:r>
            <a:r>
              <a:rPr dirty="0" sz="1100" spc="-105" b="0" i="1">
                <a:latin typeface="Bookman Old Style"/>
                <a:cs typeface="Bookman Old Style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51636" y="1747062"/>
            <a:ext cx="641985" cy="0"/>
          </a:xfrm>
          <a:custGeom>
            <a:avLst/>
            <a:gdLst/>
            <a:ahLst/>
            <a:cxnLst/>
            <a:rect l="l" t="t" r="r" b="b"/>
            <a:pathLst>
              <a:path w="641985" h="0">
                <a:moveTo>
                  <a:pt x="0" y="0"/>
                </a:moveTo>
                <a:lnTo>
                  <a:pt x="64174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13536" y="1514218"/>
            <a:ext cx="71183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sz="1100" spc="55">
                <a:latin typeface="Georgia"/>
                <a:cs typeface="Georgia"/>
              </a:rPr>
              <a:t>(AgCl)</a:t>
            </a:r>
            <a:r>
              <a:rPr dirty="0" baseline="-13888" sz="900" spc="82">
                <a:latin typeface="Times New Roman"/>
                <a:cs typeface="Times New Roman"/>
              </a:rPr>
              <a:t>sp</a:t>
            </a:r>
            <a:endParaRPr baseline="-13888" sz="900">
              <a:latin typeface="Times New Roman"/>
              <a:cs typeface="Times New Roman"/>
            </a:endParaRPr>
          </a:p>
          <a:p>
            <a:pPr algn="ctr" marL="5715">
              <a:lnSpc>
                <a:spcPct val="100000"/>
              </a:lnSpc>
              <a:spcBef>
                <a:spcPts val="170"/>
              </a:spcBef>
            </a:pPr>
            <a:r>
              <a:rPr dirty="0" sz="1100" spc="20">
                <a:latin typeface="Georgia"/>
                <a:cs typeface="Georgia"/>
              </a:rPr>
              <a:t>[Cl</a:t>
            </a:r>
            <a:r>
              <a:rPr dirty="0" baseline="27777" sz="900" spc="30" i="1">
                <a:latin typeface="Arial"/>
                <a:cs typeface="Arial"/>
              </a:rPr>
              <a:t>−</a:t>
            </a:r>
            <a:r>
              <a:rPr dirty="0" sz="1100" spc="2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01241" y="1630451"/>
            <a:ext cx="7486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30">
                <a:latin typeface="Lucida Sans Unicode"/>
                <a:cs typeface="Lucida Sans Unicode"/>
              </a:rPr>
              <a:t> </a:t>
            </a:r>
            <a:r>
              <a:rPr dirty="0" sz="1100" spc="20">
                <a:latin typeface="Georgia"/>
                <a:cs typeface="Georgia"/>
              </a:rPr>
              <a:t>[Cl</a:t>
            </a:r>
            <a:r>
              <a:rPr dirty="0" baseline="41666" sz="900" spc="30" i="1">
                <a:latin typeface="Arial"/>
                <a:cs typeface="Arial"/>
              </a:rPr>
              <a:t>−</a:t>
            </a:r>
            <a:r>
              <a:rPr dirty="0" sz="1100" spc="20">
                <a:latin typeface="Georgia"/>
                <a:cs typeface="Georgia"/>
              </a:rPr>
              <a:t>]</a:t>
            </a:r>
            <a:r>
              <a:rPr dirty="0" sz="1100" spc="-4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−</a:t>
            </a:r>
            <a:r>
              <a:rPr dirty="0" sz="1100" spc="-130">
                <a:latin typeface="Lucida Sans Unicode"/>
                <a:cs typeface="Lucida Sans Unicode"/>
              </a:rPr>
              <a:t> </a:t>
            </a:r>
            <a:r>
              <a:rPr dirty="0" sz="1100" spc="-70">
                <a:latin typeface="Georgia"/>
                <a:cs typeface="Georgia"/>
              </a:rPr>
              <a:t>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88526" y="1536725"/>
            <a:ext cx="1288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0" b="0" i="1">
                <a:latin typeface="Bookman Old Style"/>
                <a:cs typeface="Bookman Old Style"/>
              </a:rPr>
              <a:t>K</a:t>
            </a:r>
            <a:r>
              <a:rPr dirty="0" sz="1100" spc="50">
                <a:latin typeface="Georgia"/>
                <a:cs typeface="Georgia"/>
              </a:rPr>
              <a:t>(Ag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CrO</a:t>
            </a:r>
            <a:r>
              <a:rPr dirty="0" baseline="-13888" sz="900" spc="75">
                <a:latin typeface="Times New Roman"/>
                <a:cs typeface="Times New Roman"/>
              </a:rPr>
              <a:t>4</a:t>
            </a:r>
            <a:r>
              <a:rPr dirty="0" sz="1100" spc="50">
                <a:latin typeface="Georgia"/>
                <a:cs typeface="Georgia"/>
              </a:rPr>
              <a:t>)</a:t>
            </a:r>
            <a:r>
              <a:rPr dirty="0" baseline="-13888" sz="900" spc="75">
                <a:latin typeface="Times New Roman"/>
                <a:cs typeface="Times New Roman"/>
              </a:rPr>
              <a:t>sp</a:t>
            </a:r>
            <a:r>
              <a:rPr dirty="0" sz="1100" spc="50">
                <a:latin typeface="Georgia"/>
                <a:cs typeface="Georgia"/>
              </a:rPr>
              <a:t>[Cl</a:t>
            </a:r>
            <a:r>
              <a:rPr dirty="0" baseline="37037" sz="900" spc="75" i="1">
                <a:latin typeface="Arial"/>
                <a:cs typeface="Arial"/>
              </a:rPr>
              <a:t>−</a:t>
            </a:r>
            <a:r>
              <a:rPr dirty="0" sz="1100" spc="50">
                <a:latin typeface="Georgia"/>
                <a:cs typeface="Georgia"/>
              </a:rPr>
              <a:t>]</a:t>
            </a:r>
            <a:r>
              <a:rPr dirty="0" baseline="37037" sz="900" spc="75">
                <a:latin typeface="Times New Roman"/>
                <a:cs typeface="Times New Roman"/>
              </a:rPr>
              <a:t>2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26626" y="1747062"/>
            <a:ext cx="1218565" cy="0"/>
          </a:xfrm>
          <a:custGeom>
            <a:avLst/>
            <a:gdLst/>
            <a:ahLst/>
            <a:cxnLst/>
            <a:rect l="l" t="t" r="r" b="b"/>
            <a:pathLst>
              <a:path w="1218564" h="0">
                <a:moveTo>
                  <a:pt x="0" y="0"/>
                </a:moveTo>
                <a:lnTo>
                  <a:pt x="121838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750477" y="1725485"/>
            <a:ext cx="6762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baseline="27777" sz="900" spc="82">
                <a:latin typeface="Times New Roman"/>
                <a:cs typeface="Times New Roman"/>
              </a:rPr>
              <a:t>2</a:t>
            </a:r>
            <a:r>
              <a:rPr dirty="0" sz="1100" spc="55">
                <a:latin typeface="Georgia"/>
                <a:cs typeface="Georgia"/>
              </a:rPr>
              <a:t>(AgCl)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75659" y="1808899"/>
            <a:ext cx="1143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444" y="2191194"/>
            <a:ext cx="435927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09880">
              <a:lnSpc>
                <a:spcPct val="100000"/>
              </a:lnSpc>
              <a:spcBef>
                <a:spcPts val="420"/>
              </a:spcBef>
            </a:pPr>
            <a:r>
              <a:rPr dirty="0" sz="1200" spc="-110">
                <a:latin typeface="Arial Unicode MS"/>
                <a:cs typeface="Arial Unicode MS"/>
              </a:rPr>
              <a:t>（</a:t>
            </a:r>
            <a:r>
              <a:rPr dirty="0" sz="1100" spc="-110">
                <a:latin typeface="Georgia"/>
                <a:cs typeface="Georgia"/>
                <a:hlinkClick r:id="rId6" action="ppaction://hlinksldjump"/>
              </a:rPr>
              <a:t>4</a:t>
            </a:r>
            <a:r>
              <a:rPr dirty="0" sz="1200" spc="-11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式就是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100">
                <a:latin typeface="Georgia"/>
                <a:cs typeface="Georgia"/>
              </a:rPr>
              <a:t>Ag</a:t>
            </a:r>
            <a:r>
              <a:rPr dirty="0" baseline="37037" sz="900" spc="150">
                <a:latin typeface="Times New Roman"/>
                <a:cs typeface="Times New Roman"/>
              </a:rPr>
              <a:t>+</a:t>
            </a:r>
            <a:r>
              <a:rPr dirty="0" baseline="37037" sz="900" spc="3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95">
                <a:latin typeface="Georgia"/>
                <a:cs typeface="Georgia"/>
              </a:rPr>
              <a:t>Cl</a:t>
            </a:r>
            <a:r>
              <a:rPr dirty="0" baseline="37037" sz="900" spc="142" i="1">
                <a:latin typeface="Arial"/>
                <a:cs typeface="Arial"/>
              </a:rPr>
              <a:t>−</a:t>
            </a:r>
            <a:r>
              <a:rPr dirty="0" baseline="37037" sz="900" spc="337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的滴定方</a:t>
            </a:r>
            <a:r>
              <a:rPr dirty="0" sz="1200" spc="-20">
                <a:latin typeface="Arial Unicode MS"/>
                <a:cs typeface="Arial Unicode MS"/>
              </a:rPr>
              <a:t>程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滴定曲线如</a:t>
            </a:r>
            <a:r>
              <a:rPr dirty="0" sz="1200" spc="-260">
                <a:latin typeface="Arial Unicode MS"/>
                <a:cs typeface="Arial Unicode MS"/>
              </a:rPr>
              <a:t>图</a:t>
            </a:r>
            <a:r>
              <a:rPr dirty="0" sz="1200" spc="-60">
                <a:latin typeface="Arial Unicode MS"/>
                <a:cs typeface="Arial Unicode MS"/>
              </a:rPr>
              <a:t>（</a:t>
            </a:r>
            <a:r>
              <a:rPr dirty="0" sz="1100" spc="-60">
                <a:latin typeface="Georgia"/>
                <a:cs typeface="Georgia"/>
              </a:rPr>
              <a:t>1</a:t>
            </a:r>
            <a:r>
              <a:rPr dirty="0" sz="1200" spc="-60">
                <a:latin typeface="Arial Unicode MS"/>
                <a:cs typeface="Arial Unicode MS"/>
              </a:rPr>
              <a:t>）</a:t>
            </a:r>
            <a:r>
              <a:rPr dirty="0" sz="1200" spc="-5">
                <a:latin typeface="Arial Unicode MS"/>
                <a:cs typeface="Arial Unicode MS"/>
              </a:rPr>
              <a:t>所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20">
                <a:latin typeface="Arial Unicode MS"/>
                <a:cs typeface="Arial Unicode MS"/>
              </a:rPr>
              <a:t>示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6196" y="338887"/>
            <a:ext cx="2538730" cy="0"/>
          </a:xfrm>
          <a:custGeom>
            <a:avLst/>
            <a:gdLst/>
            <a:ahLst/>
            <a:cxnLst/>
            <a:rect l="l" t="t" r="r" b="b"/>
            <a:pathLst>
              <a:path w="2538729" h="0">
                <a:moveTo>
                  <a:pt x="0" y="0"/>
                </a:moveTo>
                <a:lnTo>
                  <a:pt x="25382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36196" y="2339827"/>
            <a:ext cx="2538730" cy="0"/>
          </a:xfrm>
          <a:custGeom>
            <a:avLst/>
            <a:gdLst/>
            <a:ahLst/>
            <a:cxnLst/>
            <a:rect l="l" t="t" r="r" b="b"/>
            <a:pathLst>
              <a:path w="2538729" h="0">
                <a:moveTo>
                  <a:pt x="0" y="0"/>
                </a:moveTo>
                <a:lnTo>
                  <a:pt x="25382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674411" y="338887"/>
            <a:ext cx="0" cy="2001520"/>
          </a:xfrm>
          <a:custGeom>
            <a:avLst/>
            <a:gdLst/>
            <a:ahLst/>
            <a:cxnLst/>
            <a:rect l="l" t="t" r="r" b="b"/>
            <a:pathLst>
              <a:path w="0" h="2001520">
                <a:moveTo>
                  <a:pt x="0" y="20009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36196" y="338887"/>
            <a:ext cx="0" cy="2001520"/>
          </a:xfrm>
          <a:custGeom>
            <a:avLst/>
            <a:gdLst/>
            <a:ahLst/>
            <a:cxnLst/>
            <a:rect l="l" t="t" r="r" b="b"/>
            <a:pathLst>
              <a:path w="0" h="2001520">
                <a:moveTo>
                  <a:pt x="0" y="20009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36196" y="2339827"/>
            <a:ext cx="2538730" cy="0"/>
          </a:xfrm>
          <a:custGeom>
            <a:avLst/>
            <a:gdLst/>
            <a:ahLst/>
            <a:cxnLst/>
            <a:rect l="l" t="t" r="r" b="b"/>
            <a:pathLst>
              <a:path w="2538729" h="0">
                <a:moveTo>
                  <a:pt x="0" y="0"/>
                </a:moveTo>
                <a:lnTo>
                  <a:pt x="25382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36196" y="338887"/>
            <a:ext cx="0" cy="2001520"/>
          </a:xfrm>
          <a:custGeom>
            <a:avLst/>
            <a:gdLst/>
            <a:ahLst/>
            <a:cxnLst/>
            <a:rect l="l" t="t" r="r" b="b"/>
            <a:pathLst>
              <a:path w="0" h="2001520">
                <a:moveTo>
                  <a:pt x="0" y="20009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36196" y="231426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6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36196" y="338887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8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03613" y="2334699"/>
            <a:ext cx="6540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>
                <a:latin typeface="Times New Roman"/>
                <a:cs typeface="Times New Roman"/>
              </a:rPr>
              <a:t>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982107" y="231426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6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82107" y="338887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8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919705" y="2334699"/>
            <a:ext cx="12509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>
                <a:latin typeface="Times New Roman"/>
                <a:cs typeface="Times New Roman"/>
              </a:rPr>
              <a:t>0.5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28024" y="231426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6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28024" y="338887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8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795442" y="2334699"/>
            <a:ext cx="6540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74411" y="2314265"/>
            <a:ext cx="0" cy="26034"/>
          </a:xfrm>
          <a:custGeom>
            <a:avLst/>
            <a:gdLst/>
            <a:ahLst/>
            <a:cxnLst/>
            <a:rect l="l" t="t" r="r" b="b"/>
            <a:pathLst>
              <a:path w="0" h="26035">
                <a:moveTo>
                  <a:pt x="0" y="2556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674411" y="338887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08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612008" y="2334699"/>
            <a:ext cx="12509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>
                <a:latin typeface="Times New Roman"/>
                <a:cs typeface="Times New Roman"/>
              </a:rPr>
              <a:t>1.5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36196" y="233982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648849" y="233982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067163" y="2276002"/>
            <a:ext cx="6540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36196" y="2117341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48849" y="2117341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36196" y="189485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48849" y="189485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36196" y="167284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648849" y="1672845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007518" y="1609021"/>
            <a:ext cx="125095" cy="5657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>
                <a:latin typeface="Times New Roman"/>
                <a:cs typeface="Times New Roman"/>
              </a:rPr>
              <a:t>5.5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5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</a:pPr>
            <a:r>
              <a:rPr dirty="0" sz="600" spc="10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600" spc="10">
                <a:latin typeface="Times New Roman"/>
                <a:cs typeface="Times New Roman"/>
              </a:rPr>
              <a:t>4.5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36196" y="1450359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48849" y="1450359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067163" y="1386537"/>
            <a:ext cx="6540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36196" y="122787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648849" y="1227878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36196" y="100586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648849" y="100586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136196" y="78338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48849" y="78338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007518" y="719557"/>
            <a:ext cx="12509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>
                <a:latin typeface="Times New Roman"/>
                <a:cs typeface="Times New Roman"/>
              </a:rPr>
              <a:t>7.5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36196" y="560896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648849" y="560896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136196" y="338887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 h="0">
                <a:moveTo>
                  <a:pt x="0" y="0"/>
                </a:moveTo>
                <a:lnTo>
                  <a:pt x="2508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48849" y="338887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 h="0">
                <a:moveTo>
                  <a:pt x="2556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007518" y="275060"/>
            <a:ext cx="125095" cy="3429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10">
                <a:latin typeface="Times New Roman"/>
                <a:cs typeface="Times New Roman"/>
              </a:rPr>
              <a:t>8.5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5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</a:pPr>
            <a:r>
              <a:rPr dirty="0" sz="600" spc="10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136196" y="338887"/>
            <a:ext cx="2538730" cy="0"/>
          </a:xfrm>
          <a:custGeom>
            <a:avLst/>
            <a:gdLst/>
            <a:ahLst/>
            <a:cxnLst/>
            <a:rect l="l" t="t" r="r" b="b"/>
            <a:pathLst>
              <a:path w="2538729" h="0">
                <a:moveTo>
                  <a:pt x="0" y="0"/>
                </a:moveTo>
                <a:lnTo>
                  <a:pt x="25382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136196" y="2339827"/>
            <a:ext cx="2538730" cy="0"/>
          </a:xfrm>
          <a:custGeom>
            <a:avLst/>
            <a:gdLst/>
            <a:ahLst/>
            <a:cxnLst/>
            <a:rect l="l" t="t" r="r" b="b"/>
            <a:pathLst>
              <a:path w="2538729" h="0">
                <a:moveTo>
                  <a:pt x="0" y="0"/>
                </a:moveTo>
                <a:lnTo>
                  <a:pt x="2538215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74411" y="338887"/>
            <a:ext cx="0" cy="2001520"/>
          </a:xfrm>
          <a:custGeom>
            <a:avLst/>
            <a:gdLst/>
            <a:ahLst/>
            <a:cxnLst/>
            <a:rect l="l" t="t" r="r" b="b"/>
            <a:pathLst>
              <a:path w="0" h="2001520">
                <a:moveTo>
                  <a:pt x="0" y="20009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136196" y="338887"/>
            <a:ext cx="0" cy="2001520"/>
          </a:xfrm>
          <a:custGeom>
            <a:avLst/>
            <a:gdLst/>
            <a:ahLst/>
            <a:cxnLst/>
            <a:rect l="l" t="t" r="r" b="b"/>
            <a:pathLst>
              <a:path w="0" h="2001520">
                <a:moveTo>
                  <a:pt x="0" y="200094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999148" y="541486"/>
            <a:ext cx="1675764" cy="1447165"/>
          </a:xfrm>
          <a:custGeom>
            <a:avLst/>
            <a:gdLst/>
            <a:ahLst/>
            <a:cxnLst/>
            <a:rect l="l" t="t" r="r" b="b"/>
            <a:pathLst>
              <a:path w="1675764" h="1447164">
                <a:moveTo>
                  <a:pt x="0" y="1447096"/>
                </a:moveTo>
                <a:lnTo>
                  <a:pt x="48971" y="1439443"/>
                </a:lnTo>
                <a:lnTo>
                  <a:pt x="97862" y="1431453"/>
                </a:lnTo>
                <a:lnTo>
                  <a:pt x="146666" y="1423059"/>
                </a:lnTo>
                <a:lnTo>
                  <a:pt x="195375" y="1414197"/>
                </a:lnTo>
                <a:lnTo>
                  <a:pt x="243982" y="1404803"/>
                </a:lnTo>
                <a:lnTo>
                  <a:pt x="292478" y="1394812"/>
                </a:lnTo>
                <a:lnTo>
                  <a:pt x="340857" y="1384158"/>
                </a:lnTo>
                <a:lnTo>
                  <a:pt x="389111" y="1372778"/>
                </a:lnTo>
                <a:lnTo>
                  <a:pt x="434172" y="1360549"/>
                </a:lnTo>
                <a:lnTo>
                  <a:pt x="481374" y="1346951"/>
                </a:lnTo>
                <a:lnTo>
                  <a:pt x="529542" y="1331457"/>
                </a:lnTo>
                <a:lnTo>
                  <a:pt x="577505" y="1313542"/>
                </a:lnTo>
                <a:lnTo>
                  <a:pt x="624088" y="1292677"/>
                </a:lnTo>
                <a:lnTo>
                  <a:pt x="668120" y="1268337"/>
                </a:lnTo>
                <a:lnTo>
                  <a:pt x="708426" y="1239994"/>
                </a:lnTo>
                <a:lnTo>
                  <a:pt x="743834" y="1207121"/>
                </a:lnTo>
                <a:lnTo>
                  <a:pt x="773171" y="1169191"/>
                </a:lnTo>
                <a:lnTo>
                  <a:pt x="795263" y="1125678"/>
                </a:lnTo>
                <a:lnTo>
                  <a:pt x="811833" y="1073134"/>
                </a:lnTo>
                <a:lnTo>
                  <a:pt x="828875" y="968994"/>
                </a:lnTo>
                <a:lnTo>
                  <a:pt x="845916" y="744616"/>
                </a:lnTo>
                <a:lnTo>
                  <a:pt x="862957" y="598816"/>
                </a:lnTo>
                <a:lnTo>
                  <a:pt x="879527" y="515029"/>
                </a:lnTo>
                <a:lnTo>
                  <a:pt x="894731" y="462127"/>
                </a:lnTo>
                <a:lnTo>
                  <a:pt x="913259" y="413636"/>
                </a:lnTo>
                <a:lnTo>
                  <a:pt x="935057" y="369267"/>
                </a:lnTo>
                <a:lnTo>
                  <a:pt x="960068" y="328729"/>
                </a:lnTo>
                <a:lnTo>
                  <a:pt x="988236" y="291731"/>
                </a:lnTo>
                <a:lnTo>
                  <a:pt x="1019505" y="257982"/>
                </a:lnTo>
                <a:lnTo>
                  <a:pt x="1053819" y="227193"/>
                </a:lnTo>
                <a:lnTo>
                  <a:pt x="1091123" y="199071"/>
                </a:lnTo>
                <a:lnTo>
                  <a:pt x="1131360" y="173328"/>
                </a:lnTo>
                <a:lnTo>
                  <a:pt x="1174474" y="149671"/>
                </a:lnTo>
                <a:lnTo>
                  <a:pt x="1220409" y="127811"/>
                </a:lnTo>
                <a:lnTo>
                  <a:pt x="1269110" y="107457"/>
                </a:lnTo>
                <a:lnTo>
                  <a:pt x="1317925" y="89410"/>
                </a:lnTo>
                <a:lnTo>
                  <a:pt x="1367747" y="72929"/>
                </a:lnTo>
                <a:lnTo>
                  <a:pt x="1418351" y="57890"/>
                </a:lnTo>
                <a:lnTo>
                  <a:pt x="1469513" y="44170"/>
                </a:lnTo>
                <a:lnTo>
                  <a:pt x="1521009" y="31645"/>
                </a:lnTo>
                <a:lnTo>
                  <a:pt x="1572615" y="20190"/>
                </a:lnTo>
                <a:lnTo>
                  <a:pt x="1624108" y="9683"/>
                </a:lnTo>
                <a:lnTo>
                  <a:pt x="1675263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136196" y="1988582"/>
            <a:ext cx="862965" cy="108585"/>
          </a:xfrm>
          <a:custGeom>
            <a:avLst/>
            <a:gdLst/>
            <a:ahLst/>
            <a:cxnLst/>
            <a:rect l="l" t="t" r="r" b="b"/>
            <a:pathLst>
              <a:path w="862964" h="108585">
                <a:moveTo>
                  <a:pt x="0" y="108405"/>
                </a:moveTo>
                <a:lnTo>
                  <a:pt x="50792" y="102592"/>
                </a:lnTo>
                <a:lnTo>
                  <a:pt x="101603" y="96788"/>
                </a:lnTo>
                <a:lnTo>
                  <a:pt x="152428" y="90977"/>
                </a:lnTo>
                <a:lnTo>
                  <a:pt x="203262" y="85143"/>
                </a:lnTo>
                <a:lnTo>
                  <a:pt x="254101" y="79271"/>
                </a:lnTo>
                <a:lnTo>
                  <a:pt x="304940" y="73344"/>
                </a:lnTo>
                <a:lnTo>
                  <a:pt x="355776" y="67347"/>
                </a:lnTo>
                <a:lnTo>
                  <a:pt x="406603" y="61263"/>
                </a:lnTo>
                <a:lnTo>
                  <a:pt x="457418" y="55077"/>
                </a:lnTo>
                <a:lnTo>
                  <a:pt x="508215" y="48773"/>
                </a:lnTo>
                <a:lnTo>
                  <a:pt x="558992" y="42335"/>
                </a:lnTo>
                <a:lnTo>
                  <a:pt x="609742" y="35747"/>
                </a:lnTo>
                <a:lnTo>
                  <a:pt x="660462" y="28993"/>
                </a:lnTo>
                <a:lnTo>
                  <a:pt x="711147" y="22057"/>
                </a:lnTo>
                <a:lnTo>
                  <a:pt x="761794" y="14923"/>
                </a:lnTo>
                <a:lnTo>
                  <a:pt x="812397" y="7576"/>
                </a:lnTo>
                <a:lnTo>
                  <a:pt x="862952" y="0"/>
                </a:lnTo>
              </a:path>
            </a:pathLst>
          </a:custGeom>
          <a:ln w="113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867747" y="1220409"/>
            <a:ext cx="140335" cy="237490"/>
          </a:xfrm>
          <a:prstGeom prst="rect">
            <a:avLst/>
          </a:prstGeom>
        </p:spPr>
        <p:txBody>
          <a:bodyPr wrap="square" lIns="0" tIns="3302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600" b="1">
                <a:latin typeface="Times New Roman"/>
                <a:cs typeface="Times New Roman"/>
              </a:rPr>
              <a:t>p[Cl</a:t>
            </a:r>
            <a:r>
              <a:rPr dirty="0" baseline="33333" sz="750" b="1">
                <a:latin typeface="Times New Roman"/>
                <a:cs typeface="Times New Roman"/>
              </a:rPr>
              <a:t>−</a:t>
            </a:r>
            <a:r>
              <a:rPr dirty="0" sz="600" b="1">
                <a:latin typeface="Times New Roman"/>
                <a:cs typeface="Times New Roman"/>
              </a:rPr>
              <a:t>]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24721" y="747959"/>
            <a:ext cx="824230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600" spc="5" b="1" i="1">
                <a:latin typeface="Times New Roman"/>
                <a:cs typeface="Times New Roman"/>
              </a:rPr>
              <a:t>c</a:t>
            </a:r>
            <a:r>
              <a:rPr dirty="0" sz="600" spc="5" b="1">
                <a:latin typeface="Times New Roman"/>
                <a:cs typeface="Times New Roman"/>
              </a:rPr>
              <a:t>(Ag</a:t>
            </a:r>
            <a:r>
              <a:rPr dirty="0" baseline="33333" sz="750" spc="7" b="1">
                <a:latin typeface="Times New Roman"/>
                <a:cs typeface="Times New Roman"/>
              </a:rPr>
              <a:t>+</a:t>
            </a:r>
            <a:r>
              <a:rPr dirty="0" sz="600" spc="5" b="1">
                <a:latin typeface="Times New Roman"/>
                <a:cs typeface="Times New Roman"/>
              </a:rPr>
              <a:t>) </a:t>
            </a:r>
            <a:r>
              <a:rPr dirty="0" sz="600" spc="10" b="1">
                <a:latin typeface="Times New Roman"/>
                <a:cs typeface="Times New Roman"/>
              </a:rPr>
              <a:t>= 0.1000</a:t>
            </a:r>
            <a:r>
              <a:rPr dirty="0" sz="600" spc="-35" b="1">
                <a:latin typeface="Times New Roman"/>
                <a:cs typeface="Times New Roman"/>
              </a:rPr>
              <a:t> </a:t>
            </a:r>
            <a:r>
              <a:rPr dirty="0" sz="600" spc="10" b="1">
                <a:latin typeface="Times New Roman"/>
                <a:cs typeface="Times New Roman"/>
              </a:rPr>
              <a:t>mol/L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94818" y="920550"/>
            <a:ext cx="1261110" cy="36449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295"/>
              </a:spcBef>
            </a:pPr>
            <a:r>
              <a:rPr dirty="0" sz="600" spc="10">
                <a:latin typeface="Times New Roman"/>
                <a:cs typeface="Times New Roman"/>
              </a:rPr>
              <a:t>7</a:t>
            </a:r>
            <a:endParaRPr sz="600">
              <a:latin typeface="Times New Roman"/>
              <a:cs typeface="Times New Roman"/>
            </a:endParaRPr>
          </a:p>
          <a:p>
            <a:pPr marL="467995">
              <a:lnSpc>
                <a:spcPct val="100000"/>
              </a:lnSpc>
              <a:spcBef>
                <a:spcPts val="200"/>
              </a:spcBef>
            </a:pPr>
            <a:r>
              <a:rPr dirty="0" sz="600" spc="5" b="1" i="1">
                <a:latin typeface="Times New Roman"/>
                <a:cs typeface="Times New Roman"/>
              </a:rPr>
              <a:t>c</a:t>
            </a:r>
            <a:r>
              <a:rPr dirty="0" sz="600" spc="5" b="1">
                <a:latin typeface="Times New Roman"/>
                <a:cs typeface="Times New Roman"/>
              </a:rPr>
              <a:t>(Cl</a:t>
            </a:r>
            <a:r>
              <a:rPr dirty="0" baseline="33333" sz="750" spc="7" b="1">
                <a:latin typeface="Times New Roman"/>
                <a:cs typeface="Times New Roman"/>
              </a:rPr>
              <a:t>−</a:t>
            </a:r>
            <a:r>
              <a:rPr dirty="0" sz="600" spc="5" b="1">
                <a:latin typeface="Times New Roman"/>
                <a:cs typeface="Times New Roman"/>
              </a:rPr>
              <a:t>) </a:t>
            </a:r>
            <a:r>
              <a:rPr dirty="0" sz="600" spc="10" b="1">
                <a:latin typeface="Times New Roman"/>
                <a:cs typeface="Times New Roman"/>
              </a:rPr>
              <a:t>= 0.1000</a:t>
            </a:r>
            <a:r>
              <a:rPr dirty="0" sz="600" spc="-30" b="1">
                <a:latin typeface="Times New Roman"/>
                <a:cs typeface="Times New Roman"/>
              </a:rPr>
              <a:t> </a:t>
            </a:r>
            <a:r>
              <a:rPr dirty="0" sz="600" spc="10" b="1">
                <a:latin typeface="Times New Roman"/>
                <a:cs typeface="Times New Roman"/>
              </a:rPr>
              <a:t>mol/L</a:t>
            </a:r>
            <a:endParaRPr sz="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z="600" spc="10">
                <a:latin typeface="Times New Roman"/>
                <a:cs typeface="Times New Roman"/>
              </a:rPr>
              <a:t>6.5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60298" y="1408785"/>
            <a:ext cx="5715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5" b="1"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419041" y="1351979"/>
            <a:ext cx="912494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600" spc="5" b="1" i="1">
                <a:latin typeface="Times New Roman"/>
                <a:cs typeface="Times New Roman"/>
              </a:rPr>
              <a:t>c</a:t>
            </a:r>
            <a:r>
              <a:rPr dirty="0" sz="600" spc="5" b="1">
                <a:latin typeface="Times New Roman"/>
                <a:cs typeface="Times New Roman"/>
              </a:rPr>
              <a:t>(CrO</a:t>
            </a:r>
            <a:r>
              <a:rPr dirty="0" baseline="33333" sz="750" spc="7" b="1">
                <a:latin typeface="Times New Roman"/>
                <a:cs typeface="Times New Roman"/>
              </a:rPr>
              <a:t>2−</a:t>
            </a:r>
            <a:r>
              <a:rPr dirty="0" sz="600" spc="5" b="1">
                <a:latin typeface="Times New Roman"/>
                <a:cs typeface="Times New Roman"/>
              </a:rPr>
              <a:t>) </a:t>
            </a:r>
            <a:r>
              <a:rPr dirty="0" sz="600" spc="10" b="1">
                <a:latin typeface="Times New Roman"/>
                <a:cs typeface="Times New Roman"/>
              </a:rPr>
              <a:t>= 0.0001</a:t>
            </a:r>
            <a:r>
              <a:rPr dirty="0" sz="600" spc="-30" b="1">
                <a:latin typeface="Times New Roman"/>
                <a:cs typeface="Times New Roman"/>
              </a:rPr>
              <a:t> </a:t>
            </a:r>
            <a:r>
              <a:rPr dirty="0" sz="600" spc="10" b="1">
                <a:latin typeface="Times New Roman"/>
                <a:cs typeface="Times New Roman"/>
              </a:rPr>
              <a:t>mol/L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32204" y="2411859"/>
            <a:ext cx="1943735" cy="497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201295">
              <a:lnSpc>
                <a:spcPct val="100000"/>
              </a:lnSpc>
              <a:spcBef>
                <a:spcPts val="114"/>
              </a:spcBef>
            </a:pPr>
            <a:r>
              <a:rPr dirty="0" sz="700" spc="5">
                <a:latin typeface="Symbol"/>
                <a:cs typeface="Symbol"/>
              </a:rPr>
              <a:t></a:t>
            </a:r>
            <a:endParaRPr sz="7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Symbol"/>
              <a:cs typeface="Symbol"/>
            </a:endParaRPr>
          </a:p>
          <a:p>
            <a:pPr marL="50800">
              <a:lnSpc>
                <a:spcPct val="100000"/>
              </a:lnSpc>
            </a:pPr>
            <a:r>
              <a:rPr dirty="0" sz="1050" spc="-5">
                <a:solidFill>
                  <a:srgbClr val="3333B2"/>
                </a:solidFill>
                <a:latin typeface="Arial Unicode MS"/>
                <a:cs typeface="Arial Unicode MS"/>
              </a:rPr>
              <a:t>图</a:t>
            </a:r>
            <a:r>
              <a:rPr dirty="0" sz="1050" spc="25">
                <a:solidFill>
                  <a:srgbClr val="3333B2"/>
                </a:solidFill>
                <a:latin typeface="Arial Unicode MS"/>
                <a:cs typeface="Arial Unicode MS"/>
              </a:rPr>
              <a:t> </a:t>
            </a:r>
            <a:r>
              <a:rPr dirty="0" sz="1000" spc="15">
                <a:solidFill>
                  <a:srgbClr val="3333B2"/>
                </a:solidFill>
                <a:latin typeface="Georgia"/>
                <a:cs typeface="Georgia"/>
              </a:rPr>
              <a:t>1:</a:t>
            </a:r>
            <a:r>
              <a:rPr dirty="0" sz="1000" spc="190">
                <a:solidFill>
                  <a:srgbClr val="3333B2"/>
                </a:solidFill>
                <a:latin typeface="Georgia"/>
                <a:cs typeface="Georgia"/>
              </a:rPr>
              <a:t> </a:t>
            </a:r>
            <a:r>
              <a:rPr dirty="0" sz="1000" spc="95">
                <a:latin typeface="Georgia"/>
                <a:cs typeface="Georgia"/>
              </a:rPr>
              <a:t>Ag</a:t>
            </a:r>
            <a:r>
              <a:rPr dirty="0" baseline="27777" sz="1050" spc="142">
                <a:latin typeface="Times New Roman"/>
                <a:cs typeface="Times New Roman"/>
              </a:rPr>
              <a:t>+</a:t>
            </a:r>
            <a:r>
              <a:rPr dirty="0" baseline="27777" sz="1050" spc="292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滴定</a:t>
            </a:r>
            <a:r>
              <a:rPr dirty="0" sz="1050" spc="30">
                <a:latin typeface="Arial Unicode MS"/>
                <a:cs typeface="Arial Unicode MS"/>
              </a:rPr>
              <a:t> </a:t>
            </a:r>
            <a:r>
              <a:rPr dirty="0" sz="1000" spc="90">
                <a:latin typeface="Georgia"/>
                <a:cs typeface="Georgia"/>
              </a:rPr>
              <a:t>Cl</a:t>
            </a:r>
            <a:r>
              <a:rPr dirty="0" baseline="27777" sz="1050" spc="135" i="1">
                <a:latin typeface="Arial"/>
                <a:cs typeface="Arial"/>
              </a:rPr>
              <a:t>−</a:t>
            </a:r>
            <a:r>
              <a:rPr dirty="0" baseline="27777" sz="1050" spc="254" i="1">
                <a:latin typeface="Arial"/>
                <a:cs typeface="Arial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的滴定</a:t>
            </a:r>
            <a:r>
              <a:rPr dirty="0" sz="1050" spc="-10">
                <a:latin typeface="Arial Unicode MS"/>
                <a:cs typeface="Arial Unicode MS"/>
              </a:rPr>
              <a:t>曲</a:t>
            </a:r>
            <a:r>
              <a:rPr dirty="0" sz="1050" spc="-5">
                <a:latin typeface="Arial Unicode MS"/>
                <a:cs typeface="Arial Unicode MS"/>
              </a:rPr>
              <a:t>线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144" y="373977"/>
            <a:ext cx="431736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289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为了准确地指示终</a:t>
            </a:r>
            <a:r>
              <a:rPr dirty="0" sz="1200" spc="-80">
                <a:latin typeface="Arial Unicode MS"/>
                <a:cs typeface="Arial Unicode MS"/>
              </a:rPr>
              <a:t>点</a:t>
            </a:r>
            <a:r>
              <a:rPr dirty="0" sz="1200" spc="20">
                <a:latin typeface="Arial Unicode MS"/>
                <a:cs typeface="Arial Unicode MS"/>
              </a:rPr>
              <a:t>，</a:t>
            </a:r>
            <a:r>
              <a:rPr dirty="0" sz="1100" spc="20">
                <a:latin typeface="Georgia"/>
                <a:cs typeface="Georgia"/>
              </a:rPr>
              <a:t>K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CrO</a:t>
            </a:r>
            <a:r>
              <a:rPr dirty="0" baseline="-13888" sz="900" spc="30">
                <a:latin typeface="Times New Roman"/>
                <a:cs typeface="Times New Roman"/>
              </a:rPr>
              <a:t>4</a:t>
            </a:r>
            <a:r>
              <a:rPr dirty="0" baseline="-13888" sz="900" spc="6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的浓度必须控制</a:t>
            </a:r>
            <a:r>
              <a:rPr dirty="0" sz="1200" spc="-80">
                <a:latin typeface="Arial Unicode MS"/>
                <a:cs typeface="Arial Unicode MS"/>
              </a:rPr>
              <a:t>好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浓度太大</a:t>
            </a:r>
            <a:endParaRPr sz="1200">
              <a:latin typeface="Arial Unicode MS"/>
              <a:cs typeface="Arial Unicode MS"/>
            </a:endParaRPr>
          </a:p>
          <a:p>
            <a:pPr marL="254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会引起终点提</a:t>
            </a:r>
            <a:r>
              <a:rPr dirty="0" sz="1200" spc="-80">
                <a:latin typeface="Arial Unicode MS"/>
                <a:cs typeface="Arial Unicode MS"/>
              </a:rPr>
              <a:t>前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而太小又会导致终点滞</a:t>
            </a:r>
            <a:r>
              <a:rPr dirty="0" sz="1200" spc="-20">
                <a:latin typeface="Arial Unicode MS"/>
                <a:cs typeface="Arial Unicode MS"/>
              </a:rPr>
              <a:t>后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7178" y="1098105"/>
            <a:ext cx="3867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702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4955" y="1027049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4955" y="111158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9513" y="1001420"/>
            <a:ext cx="39490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化学计量点时恰好析出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</a:t>
            </a:r>
            <a:r>
              <a:rPr dirty="0" sz="1100" spc="140">
                <a:latin typeface="Georgia"/>
                <a:cs typeface="Georgia"/>
              </a:rPr>
              <a:t> </a:t>
            </a:r>
            <a:r>
              <a:rPr dirty="0" sz="1100" spc="25">
                <a:latin typeface="Georgia"/>
                <a:cs typeface="Georgia"/>
              </a:rPr>
              <a:t>CrO</a:t>
            </a:r>
            <a:r>
              <a:rPr dirty="0" sz="1100" spc="21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沉淀所需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[CrO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的理论值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225118"/>
            <a:ext cx="122999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可通过下式计</a:t>
            </a:r>
            <a:r>
              <a:rPr dirty="0" sz="1200" spc="-90">
                <a:latin typeface="Arial Unicode MS"/>
                <a:cs typeface="Arial Unicode MS"/>
              </a:rPr>
              <a:t>算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4927" y="1606702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4927" y="16981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4356" y="1601279"/>
            <a:ext cx="7251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Georgia"/>
                <a:cs typeface="Georgia"/>
              </a:rPr>
              <a:t>[CrO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9823" y="1507553"/>
            <a:ext cx="94106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(Ag</a:t>
            </a:r>
            <a:r>
              <a:rPr dirty="0" u="sng" baseline="-13888" sz="900" spc="8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CrO</a:t>
            </a:r>
            <a:r>
              <a:rPr dirty="0" u="sng" baseline="-13888" sz="900" spc="8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baseline="-13888" sz="900" spc="8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88540" y="1696313"/>
            <a:ext cx="354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">
                <a:latin typeface="Georgia"/>
                <a:cs typeface="Georgia"/>
              </a:rPr>
              <a:t>[Ag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02129" y="1718919"/>
            <a:ext cx="1879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120">
                <a:latin typeface="Times New Roman"/>
                <a:cs typeface="Times New Roman"/>
              </a:rPr>
              <a:t> 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17940" y="1793189"/>
            <a:ext cx="1143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15757" y="1993569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39823" y="1877336"/>
            <a:ext cx="941069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u="sng" sz="1100" spc="-2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(Ag</a:t>
            </a:r>
            <a:r>
              <a:rPr dirty="0" u="sng" baseline="-13888" sz="900" spc="8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CrO</a:t>
            </a:r>
            <a:r>
              <a:rPr dirty="0" u="sng" baseline="-13888" sz="900" spc="8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u="sng" baseline="-13888" sz="900" spc="8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</a:t>
            </a:r>
            <a:endParaRPr baseline="-13888"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55" b="0" i="1">
                <a:latin typeface="Bookman Old Style"/>
                <a:cs typeface="Bookman Old Style"/>
              </a:rPr>
              <a:t>K</a:t>
            </a:r>
            <a:r>
              <a:rPr dirty="0" sz="1100" spc="55">
                <a:latin typeface="Georgia"/>
                <a:cs typeface="Georgia"/>
              </a:rPr>
              <a:t>(AgCl)</a:t>
            </a:r>
            <a:r>
              <a:rPr dirty="0" baseline="-13888" sz="900" spc="82">
                <a:latin typeface="Times New Roman"/>
                <a:cs typeface="Times New Roman"/>
              </a:rPr>
              <a:t>sp</a:t>
            </a:r>
            <a:endParaRPr baseline="-13888"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15757" y="2367686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65223" y="2273960"/>
            <a:ext cx="5105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2</a:t>
            </a:r>
            <a:r>
              <a:rPr dirty="0" sz="1100" spc="-80" b="0" i="1">
                <a:latin typeface="Bookman Old Style"/>
                <a:cs typeface="Bookman Old Style"/>
              </a:rPr>
              <a:t>.</a:t>
            </a:r>
            <a:r>
              <a:rPr dirty="0" sz="1100" spc="-80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2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50135" y="2286304"/>
            <a:ext cx="1917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77923" y="2484297"/>
            <a:ext cx="657225" cy="0"/>
          </a:xfrm>
          <a:custGeom>
            <a:avLst/>
            <a:gdLst/>
            <a:ahLst/>
            <a:cxnLst/>
            <a:rect l="l" t="t" r="r" b="b"/>
            <a:pathLst>
              <a:path w="657225" h="0">
                <a:moveTo>
                  <a:pt x="0" y="0"/>
                </a:moveTo>
                <a:lnTo>
                  <a:pt x="65712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765223" y="2462720"/>
            <a:ext cx="5105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Georgia"/>
                <a:cs typeface="Georgia"/>
              </a:rPr>
              <a:t>1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8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8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50135" y="2485326"/>
            <a:ext cx="1917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76017" y="2367686"/>
            <a:ext cx="6565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85">
                <a:latin typeface="Georgia"/>
                <a:cs typeface="Georgia"/>
              </a:rPr>
              <a:t> </a:t>
            </a:r>
            <a:r>
              <a:rPr dirty="0" sz="1100" spc="35">
                <a:latin typeface="Georgia"/>
                <a:cs typeface="Georgia"/>
              </a:rPr>
              <a:t>1</a:t>
            </a:r>
            <a:r>
              <a:rPr dirty="0" sz="1100" spc="35" b="0" i="1">
                <a:latin typeface="Bookman Old Style"/>
                <a:cs typeface="Bookman Old Style"/>
              </a:rPr>
              <a:t>.</a:t>
            </a:r>
            <a:r>
              <a:rPr dirty="0" sz="1100" spc="35">
                <a:latin typeface="Georgia"/>
                <a:cs typeface="Georgia"/>
              </a:rPr>
              <a:t>1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07169" y="2373109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79165" y="2367686"/>
            <a:ext cx="4044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120" b="0" i="1">
                <a:latin typeface="Bookman Old Style"/>
                <a:cs typeface="Bookman Old Style"/>
              </a:rPr>
              <a:t>/</a:t>
            </a:r>
            <a:r>
              <a:rPr dirty="0" sz="1100" spc="15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0532" y="56887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20532" y="653389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1401" y="543242"/>
            <a:ext cx="399796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当溶液中的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CrO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baseline="37037" sz="900" spc="337" i="1">
                <a:latin typeface="Arial"/>
                <a:cs typeface="Arial"/>
              </a:rPr>
              <a:t>−</a:t>
            </a:r>
            <a:r>
              <a:rPr dirty="0" baseline="37037" sz="900" spc="330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离子浓度达到上述值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溶液中的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444" y="766940"/>
            <a:ext cx="44075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Arial Unicode MS"/>
                <a:cs typeface="Arial Unicode MS"/>
              </a:rPr>
              <a:t>黄色显得太</a:t>
            </a:r>
            <a:r>
              <a:rPr dirty="0" sz="1200" spc="-80">
                <a:latin typeface="Arial Unicode MS"/>
                <a:cs typeface="Arial Unicode MS"/>
              </a:rPr>
              <a:t>深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影响到终点</a:t>
            </a:r>
            <a:r>
              <a:rPr dirty="0" sz="1200" spc="-5">
                <a:latin typeface="Arial Unicode MS"/>
                <a:cs typeface="Arial Unicode MS"/>
              </a:rPr>
              <a:t>时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Ag</a:t>
            </a:r>
            <a:r>
              <a:rPr dirty="0" baseline="-13888" sz="900" spc="67">
                <a:latin typeface="Times New Roman"/>
                <a:cs typeface="Times New Roman"/>
              </a:rPr>
              <a:t>2</a:t>
            </a:r>
            <a:r>
              <a:rPr dirty="0" sz="1100" spc="45">
                <a:latin typeface="Georgia"/>
                <a:cs typeface="Georgia"/>
              </a:rPr>
              <a:t>CrO</a:t>
            </a:r>
            <a:r>
              <a:rPr dirty="0" baseline="-13888" sz="900" spc="67">
                <a:latin typeface="Times New Roman"/>
                <a:cs typeface="Times New Roman"/>
              </a:rPr>
              <a:t>4</a:t>
            </a:r>
            <a:r>
              <a:rPr dirty="0" baseline="-13888" sz="900" spc="3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沉淀颜色的观</a:t>
            </a:r>
            <a:r>
              <a:rPr dirty="0" sz="1200" spc="-20">
                <a:latin typeface="Arial Unicode MS"/>
                <a:cs typeface="Arial Unicode MS"/>
              </a:rPr>
              <a:t>察</a:t>
            </a:r>
            <a:r>
              <a:rPr dirty="0" sz="1200" spc="-240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因</a:t>
            </a:r>
            <a:r>
              <a:rPr dirty="0" sz="1200" spc="-80">
                <a:latin typeface="Arial Unicode MS"/>
                <a:cs typeface="Arial Unicode MS"/>
              </a:rPr>
              <a:t>此</a:t>
            </a:r>
            <a:r>
              <a:rPr dirty="0" sz="1200" spc="-19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2526" y="1016266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2526" y="110078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44" y="990638"/>
            <a:ext cx="41211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实际的分析过程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5">
                <a:latin typeface="Arial Unicode MS"/>
                <a:cs typeface="Arial Unicode MS"/>
              </a:rPr>
              <a:t>，</a:t>
            </a:r>
            <a:r>
              <a:rPr dirty="0" sz="1100" spc="-25">
                <a:latin typeface="Georgia"/>
                <a:cs typeface="Georgia"/>
              </a:rPr>
              <a:t>CrO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baseline="37037" sz="900" spc="337" i="1">
                <a:latin typeface="Arial"/>
                <a:cs typeface="Arial"/>
              </a:rPr>
              <a:t>−</a:t>
            </a:r>
            <a:r>
              <a:rPr dirty="0" baseline="37037" sz="900" spc="322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离子的浓度要低于上述的理论</a:t>
            </a:r>
            <a:r>
              <a:rPr dirty="0" sz="1200" spc="-20">
                <a:latin typeface="Arial Unicode MS"/>
                <a:cs typeface="Arial Unicode MS"/>
              </a:rPr>
              <a:t>值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6358" y="1463040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56358" y="1378508"/>
            <a:ext cx="8686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596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513" y="1352880"/>
            <a:ext cx="4053204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33955" algn="l"/>
              </a:tabLst>
            </a:pPr>
            <a:r>
              <a:rPr dirty="0" sz="1200" spc="-10">
                <a:latin typeface="Arial Unicode MS"/>
                <a:cs typeface="Arial Unicode MS"/>
              </a:rPr>
              <a:t>实验证</a:t>
            </a:r>
            <a:r>
              <a:rPr dirty="0" sz="1200" spc="-80">
                <a:latin typeface="Arial Unicode MS"/>
                <a:cs typeface="Arial Unicode MS"/>
              </a:rPr>
              <a:t>明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终点</a:t>
            </a:r>
            <a:r>
              <a:rPr dirty="0" sz="1200" spc="-5">
                <a:latin typeface="Arial Unicode MS"/>
                <a:cs typeface="Arial Unicode MS"/>
              </a:rPr>
              <a:t>时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10">
                <a:latin typeface="Georgia"/>
                <a:cs typeface="Georgia"/>
              </a:rPr>
              <a:t>[CrO  </a:t>
            </a:r>
            <a:r>
              <a:rPr dirty="0" sz="1100" spc="22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40">
                <a:latin typeface="Georgia"/>
                <a:cs typeface="Georgia"/>
              </a:rPr>
              <a:t> </a:t>
            </a:r>
            <a:r>
              <a:rPr dirty="0" sz="1100" spc="-40">
                <a:latin typeface="Georgia"/>
                <a:cs typeface="Georgia"/>
              </a:rPr>
              <a:t>5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4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	</a:t>
            </a:r>
            <a:r>
              <a:rPr dirty="0" sz="1100" spc="-45">
                <a:latin typeface="Georgia"/>
                <a:cs typeface="Georgia"/>
              </a:rPr>
              <a:t>mol</a:t>
            </a:r>
            <a:r>
              <a:rPr dirty="0" sz="1100" spc="-45" b="0" i="1">
                <a:latin typeface="Bookman Old Style"/>
                <a:cs typeface="Bookman Old Style"/>
              </a:rPr>
              <a:t>/</a:t>
            </a:r>
            <a:r>
              <a:rPr dirty="0" sz="1100" spc="-45">
                <a:latin typeface="Georgia"/>
                <a:cs typeface="Georgia"/>
              </a:rPr>
              <a:t>L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比较合</a:t>
            </a:r>
            <a:r>
              <a:rPr dirty="0" sz="1200" spc="-80">
                <a:latin typeface="Arial Unicode MS"/>
                <a:cs typeface="Arial Unicode MS"/>
              </a:rPr>
              <a:t>适</a:t>
            </a:r>
            <a:r>
              <a:rPr dirty="0" sz="1200" spc="-19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而为</a:t>
            </a:r>
            <a:r>
              <a:rPr dirty="0" sz="1200" spc="-5">
                <a:latin typeface="Arial Unicode MS"/>
                <a:cs typeface="Arial Unicode MS"/>
              </a:rPr>
              <a:t>了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444" y="1576577"/>
            <a:ext cx="4295775" cy="10172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能观察到明显的色</a:t>
            </a:r>
            <a:r>
              <a:rPr dirty="0" sz="1200" spc="-80">
                <a:latin typeface="Arial Unicode MS"/>
                <a:cs typeface="Arial Unicode MS"/>
              </a:rPr>
              <a:t>变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则需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5">
                <a:latin typeface="Georgia"/>
                <a:cs typeface="Georgia"/>
              </a:rPr>
              <a:t>[Ag</a:t>
            </a:r>
            <a:r>
              <a:rPr dirty="0" baseline="-13888" sz="900" spc="22">
                <a:latin typeface="Times New Roman"/>
                <a:cs typeface="Times New Roman"/>
              </a:rPr>
              <a:t>2</a:t>
            </a:r>
            <a:r>
              <a:rPr dirty="0" sz="1100" spc="15">
                <a:latin typeface="Georgia"/>
                <a:cs typeface="Georgia"/>
              </a:rPr>
              <a:t>CrO</a:t>
            </a:r>
            <a:r>
              <a:rPr dirty="0" baseline="-13888" sz="900" spc="22">
                <a:latin typeface="Times New Roman"/>
                <a:cs typeface="Times New Roman"/>
              </a:rPr>
              <a:t>4</a:t>
            </a:r>
            <a:r>
              <a:rPr dirty="0" sz="1100" spc="15">
                <a:latin typeface="Georgia"/>
                <a:cs typeface="Georgia"/>
              </a:rPr>
              <a:t>]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≥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37037" sz="900" spc="82" i="1">
                <a:latin typeface="Arial"/>
                <a:cs typeface="Arial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5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Georgia"/>
                <a:cs typeface="Georgia"/>
              </a:rPr>
              <a:t>mol</a:t>
            </a:r>
            <a:r>
              <a:rPr dirty="0" sz="1100" spc="-50" b="0" i="1">
                <a:latin typeface="Bookman Old Style"/>
                <a:cs typeface="Bookman Old Style"/>
              </a:rPr>
              <a:t>/</a:t>
            </a:r>
            <a:r>
              <a:rPr dirty="0" sz="1100" spc="-50">
                <a:latin typeface="Georgia"/>
                <a:cs typeface="Georgia"/>
              </a:rPr>
              <a:t>L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just" marL="38100" marR="30480" indent="303530">
              <a:lnSpc>
                <a:spcPct val="122300"/>
              </a:lnSpc>
              <a:spcBef>
                <a:spcPts val="1090"/>
              </a:spcBef>
            </a:pPr>
            <a:r>
              <a:rPr dirty="0" sz="1200" spc="-5">
                <a:latin typeface="Arial Unicode MS"/>
                <a:cs typeface="Arial Unicode MS"/>
              </a:rPr>
              <a:t>由于实际使用的指示剂的量偏离了化学计量点时的</a:t>
            </a:r>
            <a:r>
              <a:rPr dirty="0" sz="1200" spc="-80">
                <a:latin typeface="Arial Unicode MS"/>
                <a:cs typeface="Arial Unicode MS"/>
              </a:rPr>
              <a:t>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所以 必然会产生终点误</a:t>
            </a:r>
            <a:r>
              <a:rPr dirty="0" sz="1200" spc="-80">
                <a:latin typeface="Arial Unicode MS"/>
                <a:cs typeface="Arial Unicode MS"/>
              </a:rPr>
              <a:t>差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我们从质量平衡的角度来分析一下终点误 </a:t>
            </a:r>
            <a:r>
              <a:rPr dirty="0" sz="1200" spc="-5">
                <a:latin typeface="Arial Unicode MS"/>
                <a:cs typeface="Arial Unicode MS"/>
              </a:rPr>
              <a:t>差的情</a:t>
            </a:r>
            <a:r>
              <a:rPr dirty="0" sz="1200" spc="-20">
                <a:latin typeface="Arial Unicode MS"/>
                <a:cs typeface="Arial Unicode MS"/>
              </a:rPr>
              <a:t>况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153" y="394220"/>
            <a:ext cx="207200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000000"/>
                </a:solidFill>
              </a:rPr>
              <a:t>令</a:t>
            </a:r>
            <a:r>
              <a:rPr dirty="0" sz="1050" spc="20">
                <a:solidFill>
                  <a:srgbClr val="000000"/>
                </a:solidFill>
              </a:rPr>
              <a:t> </a:t>
            </a:r>
            <a:r>
              <a:rPr dirty="0" sz="1000" spc="-25" b="0" i="1">
                <a:solidFill>
                  <a:srgbClr val="000000"/>
                </a:solidFill>
                <a:latin typeface="Bookman Old Style"/>
                <a:cs typeface="Bookman Old Style"/>
              </a:rPr>
              <a:t>ρ</a:t>
            </a:r>
            <a:r>
              <a:rPr dirty="0" sz="1000" spc="-40" b="0" i="1">
                <a:solidFill>
                  <a:srgbClr val="000000"/>
                </a:solidFill>
                <a:latin typeface="Bookman Old Style"/>
                <a:cs typeface="Bookman Old Style"/>
              </a:rPr>
              <a:t> </a:t>
            </a:r>
            <a:r>
              <a:rPr dirty="0" sz="1000" spc="130">
                <a:solidFill>
                  <a:srgbClr val="000000"/>
                </a:solidFill>
                <a:latin typeface="Georgia"/>
                <a:cs typeface="Georgia"/>
              </a:rPr>
              <a:t>=</a:t>
            </a:r>
            <a:r>
              <a:rPr dirty="0" sz="1000" spc="2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 sz="1000" spc="-65" b="0" i="1">
                <a:solidFill>
                  <a:srgbClr val="000000"/>
                </a:solidFill>
                <a:latin typeface="Bookman Old Style"/>
                <a:cs typeface="Bookman Old Style"/>
              </a:rPr>
              <a:t>V</a:t>
            </a:r>
            <a:r>
              <a:rPr dirty="0" baseline="-11904" sz="1050" spc="-97" i="1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1000" spc="-65" b="0" i="1">
                <a:solidFill>
                  <a:srgbClr val="000000"/>
                </a:solidFill>
                <a:latin typeface="Bookman Old Style"/>
                <a:cs typeface="Bookman Old Style"/>
              </a:rPr>
              <a:t>/V</a:t>
            </a:r>
            <a:r>
              <a:rPr dirty="0" baseline="-11904" sz="1050" spc="-97">
                <a:solidFill>
                  <a:srgbClr val="000000"/>
                </a:solidFill>
                <a:latin typeface="Times New Roman"/>
                <a:cs typeface="Times New Roman"/>
              </a:rPr>
              <a:t>0</a:t>
            </a:r>
            <a:r>
              <a:rPr dirty="0" sz="1050" spc="-65">
                <a:solidFill>
                  <a:srgbClr val="000000"/>
                </a:solidFill>
              </a:rPr>
              <a:t>，</a:t>
            </a:r>
            <a:r>
              <a:rPr dirty="0" sz="1050" spc="-225">
                <a:solidFill>
                  <a:srgbClr val="000000"/>
                </a:solidFill>
              </a:rPr>
              <a:t>将</a:t>
            </a:r>
            <a:r>
              <a:rPr dirty="0" sz="1050" spc="-100">
                <a:solidFill>
                  <a:srgbClr val="000000"/>
                </a:solidFill>
              </a:rPr>
              <a:t>（</a:t>
            </a:r>
            <a:r>
              <a:rPr dirty="0" sz="1000" spc="-100">
                <a:solidFill>
                  <a:srgbClr val="000000"/>
                </a:solidFill>
                <a:latin typeface="Georgia"/>
                <a:cs typeface="Georgia"/>
                <a:hlinkClick r:id="rId2" action="ppaction://hlinksldjump"/>
              </a:rPr>
              <a:t>1</a:t>
            </a:r>
            <a:r>
              <a:rPr dirty="0" sz="1050" spc="-100">
                <a:solidFill>
                  <a:srgbClr val="000000"/>
                </a:solidFill>
              </a:rPr>
              <a:t>）</a:t>
            </a:r>
            <a:r>
              <a:rPr dirty="0" sz="1000" spc="-100">
                <a:solidFill>
                  <a:srgbClr val="000000"/>
                </a:solidFill>
                <a:latin typeface="Lucida Sans Unicode"/>
                <a:cs typeface="Lucida Sans Unicode"/>
              </a:rPr>
              <a:t>−</a:t>
            </a:r>
            <a:r>
              <a:rPr dirty="0" sz="1050" spc="-100">
                <a:solidFill>
                  <a:srgbClr val="000000"/>
                </a:solidFill>
              </a:rPr>
              <a:t>（</a:t>
            </a:r>
            <a:r>
              <a:rPr dirty="0" sz="1000" spc="-100">
                <a:solidFill>
                  <a:srgbClr val="000000"/>
                </a:solidFill>
                <a:latin typeface="Georgia"/>
                <a:cs typeface="Georgia"/>
                <a:hlinkClick r:id="rId2" action="ppaction://hlinksldjump"/>
              </a:rPr>
              <a:t>2</a:t>
            </a:r>
            <a:r>
              <a:rPr dirty="0" sz="1050" spc="-100">
                <a:solidFill>
                  <a:srgbClr val="000000"/>
                </a:solidFill>
              </a:rPr>
              <a:t>）</a:t>
            </a:r>
            <a:r>
              <a:rPr dirty="0" sz="1050" spc="-5">
                <a:solidFill>
                  <a:srgbClr val="000000"/>
                </a:solidFill>
              </a:rPr>
              <a:t>式</a:t>
            </a:r>
            <a:r>
              <a:rPr dirty="0" sz="1050" spc="-80">
                <a:solidFill>
                  <a:srgbClr val="000000"/>
                </a:solidFill>
              </a:rPr>
              <a:t>得</a:t>
            </a:r>
            <a:r>
              <a:rPr dirty="0" sz="1050" spc="-5">
                <a:solidFill>
                  <a:srgbClr val="000000"/>
                </a:solidFill>
              </a:rPr>
              <a:t>：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3388" y="865301"/>
            <a:ext cx="982344" cy="0"/>
          </a:xfrm>
          <a:custGeom>
            <a:avLst/>
            <a:gdLst/>
            <a:ahLst/>
            <a:cxnLst/>
            <a:rect l="l" t="t" r="r" b="b"/>
            <a:pathLst>
              <a:path w="982344" h="0">
                <a:moveTo>
                  <a:pt x="0" y="0"/>
                </a:moveTo>
                <a:lnTo>
                  <a:pt x="98223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15288" y="672096"/>
            <a:ext cx="15570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40" b="0" i="1">
                <a:latin typeface="Bookman Old Style"/>
                <a:cs typeface="Bookman Old Style"/>
              </a:rPr>
              <a:t>ρc</a:t>
            </a:r>
            <a:r>
              <a:rPr dirty="0" sz="1000" spc="40">
                <a:latin typeface="Georgia"/>
                <a:cs typeface="Georgia"/>
              </a:rPr>
              <a:t>(Ag</a:t>
            </a:r>
            <a:r>
              <a:rPr dirty="0" baseline="27777" sz="1050" spc="60">
                <a:latin typeface="Times New Roman"/>
                <a:cs typeface="Times New Roman"/>
              </a:rPr>
              <a:t>+</a:t>
            </a:r>
            <a:r>
              <a:rPr dirty="0" sz="1000" spc="40">
                <a:latin typeface="Georgia"/>
                <a:cs typeface="Georgia"/>
              </a:rPr>
              <a:t>)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− </a:t>
            </a:r>
            <a:r>
              <a:rPr dirty="0" sz="1000" spc="45" b="0" i="1">
                <a:latin typeface="Bookman Old Style"/>
                <a:cs typeface="Bookman Old Style"/>
              </a:rPr>
              <a:t>c</a:t>
            </a:r>
            <a:r>
              <a:rPr dirty="0" sz="1000" spc="45">
                <a:latin typeface="Georgia"/>
                <a:cs typeface="Georgia"/>
              </a:rPr>
              <a:t>(Cl</a:t>
            </a:r>
            <a:r>
              <a:rPr dirty="0" baseline="27777" sz="1050" spc="67" i="1">
                <a:latin typeface="Arial"/>
                <a:cs typeface="Arial"/>
              </a:rPr>
              <a:t>−</a:t>
            </a:r>
            <a:r>
              <a:rPr dirty="0" sz="1000" spc="45">
                <a:latin typeface="Georgia"/>
                <a:cs typeface="Georgia"/>
              </a:rPr>
              <a:t>) </a:t>
            </a:r>
            <a:r>
              <a:rPr dirty="0" baseline="-36111" sz="1500" spc="195">
                <a:latin typeface="Georgia"/>
                <a:cs typeface="Georgia"/>
              </a:rPr>
              <a:t>=</a:t>
            </a:r>
            <a:r>
              <a:rPr dirty="0" baseline="-36111" sz="1500" spc="-67">
                <a:latin typeface="Georgia"/>
                <a:cs typeface="Georgia"/>
              </a:rPr>
              <a:t> </a:t>
            </a:r>
            <a:r>
              <a:rPr dirty="0" baseline="-36111" sz="1500" spc="37">
                <a:latin typeface="Georgia"/>
                <a:cs typeface="Georgia"/>
              </a:rPr>
              <a:t>[Ag</a:t>
            </a:r>
            <a:r>
              <a:rPr dirty="0" baseline="-19841" sz="1050" spc="37">
                <a:latin typeface="Times New Roman"/>
                <a:cs typeface="Times New Roman"/>
              </a:rPr>
              <a:t>+</a:t>
            </a:r>
            <a:r>
              <a:rPr dirty="0" baseline="-36111" sz="1500" spc="37">
                <a:latin typeface="Georgia"/>
                <a:cs typeface="Georgia"/>
              </a:rPr>
              <a:t>]</a:t>
            </a:r>
            <a:endParaRPr baseline="-36111" sz="15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9081" y="814641"/>
            <a:ext cx="3721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8610" algn="l"/>
              </a:tabLst>
            </a:pPr>
            <a:r>
              <a:rPr dirty="0" sz="700" spc="45">
                <a:latin typeface="Times New Roman"/>
                <a:cs typeface="Times New Roman"/>
              </a:rPr>
              <a:t>2</a:t>
            </a:r>
            <a:r>
              <a:rPr dirty="0" sz="700" spc="45">
                <a:latin typeface="Times New Roman"/>
                <a:cs typeface="Times New Roman"/>
              </a:rPr>
              <a:t>	</a:t>
            </a:r>
            <a:r>
              <a:rPr dirty="0" sz="700" spc="45"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23718" y="757694"/>
            <a:ext cx="12846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Lucida Sans Unicode"/>
                <a:cs typeface="Lucida Sans Unicode"/>
              </a:rPr>
              <a:t>− </a:t>
            </a:r>
            <a:r>
              <a:rPr dirty="0" sz="1000" spc="25">
                <a:latin typeface="Georgia"/>
                <a:cs typeface="Georgia"/>
              </a:rPr>
              <a:t>[Cl</a:t>
            </a:r>
            <a:r>
              <a:rPr dirty="0" baseline="31746" sz="1050" spc="37" i="1">
                <a:latin typeface="Arial"/>
                <a:cs typeface="Arial"/>
              </a:rPr>
              <a:t>−</a:t>
            </a:r>
            <a:r>
              <a:rPr dirty="0" sz="1000" spc="25">
                <a:latin typeface="Georgia"/>
                <a:cs typeface="Georgia"/>
              </a:rPr>
              <a:t>] </a:t>
            </a: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-25">
                <a:latin typeface="Georgia"/>
                <a:cs typeface="Georgia"/>
              </a:rPr>
              <a:t>2[Ag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25">
                <a:latin typeface="Georgia"/>
                <a:cs typeface="Georgia"/>
              </a:rPr>
              <a:t>CrO </a:t>
            </a:r>
            <a:r>
              <a:rPr dirty="0" sz="1000" spc="-100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5091" y="757694"/>
            <a:ext cx="1873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latin typeface="Georgia"/>
                <a:cs typeface="Georgia"/>
              </a:rPr>
              <a:t>(5)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553" y="844486"/>
            <a:ext cx="1603375" cy="441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1225">
              <a:lnSpc>
                <a:spcPct val="100000"/>
              </a:lnSpc>
              <a:spcBef>
                <a:spcPts val="95"/>
              </a:spcBef>
            </a:pPr>
            <a:r>
              <a:rPr dirty="0" sz="1000" spc="-25" b="0" i="1">
                <a:latin typeface="Bookman Old Style"/>
                <a:cs typeface="Bookman Old Style"/>
              </a:rPr>
              <a:t>ρ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00" spc="65"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050" spc="-225">
                <a:latin typeface="Arial Unicode MS"/>
                <a:cs typeface="Arial Unicode MS"/>
              </a:rPr>
              <a:t>令</a:t>
            </a:r>
            <a:r>
              <a:rPr dirty="0" sz="1050" spc="-90">
                <a:latin typeface="Arial Unicode MS"/>
                <a:cs typeface="Arial Unicode MS"/>
              </a:rPr>
              <a:t>（</a:t>
            </a:r>
            <a:r>
              <a:rPr dirty="0" sz="1000" spc="-90">
                <a:latin typeface="Georgia"/>
                <a:cs typeface="Georgia"/>
                <a:hlinkClick r:id="rId3" action="ppaction://hlinksldjump"/>
              </a:rPr>
              <a:t>5</a:t>
            </a:r>
            <a:r>
              <a:rPr dirty="0" sz="1050" spc="-90">
                <a:latin typeface="Arial Unicode MS"/>
                <a:cs typeface="Arial Unicode MS"/>
              </a:rPr>
              <a:t>）</a:t>
            </a:r>
            <a:r>
              <a:rPr dirty="0" sz="1050" spc="-5">
                <a:latin typeface="Arial Unicode MS"/>
                <a:cs typeface="Arial Unicode MS"/>
              </a:rPr>
              <a:t>式的右</a:t>
            </a:r>
            <a:r>
              <a:rPr dirty="0" sz="1050" spc="-10">
                <a:latin typeface="Arial Unicode MS"/>
                <a:cs typeface="Arial Unicode MS"/>
              </a:rPr>
              <a:t>边</a:t>
            </a:r>
            <a:r>
              <a:rPr dirty="0" sz="1050" spc="-5">
                <a:latin typeface="Arial Unicode MS"/>
                <a:cs typeface="Arial Unicode MS"/>
              </a:rPr>
              <a:t>为</a:t>
            </a:r>
            <a:r>
              <a:rPr dirty="0" sz="1050" spc="-15">
                <a:latin typeface="Arial Unicode MS"/>
                <a:cs typeface="Arial Unicode MS"/>
              </a:rPr>
              <a:t> </a:t>
            </a:r>
            <a:r>
              <a:rPr dirty="0" sz="1000" spc="-75" b="0" i="1">
                <a:latin typeface="Bookman Old Style"/>
                <a:cs typeface="Bookman Old Style"/>
              </a:rPr>
              <a:t>B</a:t>
            </a:r>
            <a:r>
              <a:rPr dirty="0" sz="1050" spc="-75">
                <a:latin typeface="Arial Unicode MS"/>
                <a:cs typeface="Arial Unicode MS"/>
              </a:rPr>
              <a:t>，</a:t>
            </a:r>
            <a:r>
              <a:rPr dirty="0" sz="1050" spc="-80">
                <a:latin typeface="Arial Unicode MS"/>
                <a:cs typeface="Arial Unicode MS"/>
              </a:rPr>
              <a:t>则</a:t>
            </a:r>
            <a:r>
              <a:rPr dirty="0" sz="1050" spc="-5">
                <a:latin typeface="Arial Unicode MS"/>
                <a:cs typeface="Arial Unicode MS"/>
              </a:rPr>
              <a:t>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771" y="1431010"/>
            <a:ext cx="20935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66700" algn="l"/>
              </a:tabLst>
            </a:pPr>
            <a:r>
              <a:rPr dirty="0" sz="1000" spc="35" b="0" i="1">
                <a:latin typeface="Bookman Old Style"/>
                <a:cs typeface="Bookman Old Style"/>
              </a:rPr>
              <a:t>B	</a:t>
            </a:r>
            <a:r>
              <a:rPr dirty="0" sz="1000" spc="130">
                <a:latin typeface="Georgia"/>
                <a:cs typeface="Georgia"/>
              </a:rPr>
              <a:t>= </a:t>
            </a:r>
            <a:r>
              <a:rPr dirty="0" sz="1000" spc="25">
                <a:latin typeface="Georgia"/>
                <a:cs typeface="Georgia"/>
              </a:rPr>
              <a:t>[Ag</a:t>
            </a:r>
            <a:r>
              <a:rPr dirty="0" baseline="31746" sz="1050" spc="37">
                <a:latin typeface="Times New Roman"/>
                <a:cs typeface="Times New Roman"/>
              </a:rPr>
              <a:t>+</a:t>
            </a:r>
            <a:r>
              <a:rPr dirty="0" sz="1000" spc="25">
                <a:latin typeface="Georgia"/>
                <a:cs typeface="Georgia"/>
              </a:rPr>
              <a:t>] </a:t>
            </a:r>
            <a:r>
              <a:rPr dirty="0" sz="1000" spc="-20">
                <a:latin typeface="Lucida Sans Unicode"/>
                <a:cs typeface="Lucida Sans Unicode"/>
              </a:rPr>
              <a:t>− </a:t>
            </a:r>
            <a:r>
              <a:rPr dirty="0" sz="1000" spc="25">
                <a:latin typeface="Georgia"/>
                <a:cs typeface="Georgia"/>
              </a:rPr>
              <a:t>[Cl</a:t>
            </a:r>
            <a:r>
              <a:rPr dirty="0" baseline="31746" sz="1050" spc="37" i="1">
                <a:latin typeface="Arial"/>
                <a:cs typeface="Arial"/>
              </a:rPr>
              <a:t>−</a:t>
            </a:r>
            <a:r>
              <a:rPr dirty="0" sz="1000" spc="25">
                <a:latin typeface="Georgia"/>
                <a:cs typeface="Georgia"/>
              </a:rPr>
              <a:t>]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15">
                <a:latin typeface="Georgia"/>
                <a:cs typeface="Georgia"/>
              </a:rPr>
              <a:t> </a:t>
            </a:r>
            <a:r>
              <a:rPr dirty="0" sz="1000" spc="5">
                <a:latin typeface="Georgia"/>
                <a:cs typeface="Georgia"/>
              </a:rPr>
              <a:t>2[Ag</a:t>
            </a:r>
            <a:r>
              <a:rPr dirty="0" baseline="-11904" sz="1050" spc="7">
                <a:latin typeface="Times New Roman"/>
                <a:cs typeface="Times New Roman"/>
              </a:rPr>
              <a:t>2</a:t>
            </a:r>
            <a:r>
              <a:rPr dirty="0" sz="1000" spc="5">
                <a:latin typeface="Georgia"/>
                <a:cs typeface="Georgia"/>
              </a:rPr>
              <a:t>CrO</a:t>
            </a:r>
            <a:r>
              <a:rPr dirty="0" baseline="-11904" sz="1050" spc="7">
                <a:latin typeface="Times New Roman"/>
                <a:cs typeface="Times New Roman"/>
              </a:rPr>
              <a:t>4</a:t>
            </a:r>
            <a:r>
              <a:rPr dirty="0" sz="1000" spc="5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6013" y="1744713"/>
            <a:ext cx="1244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3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0955" y="1523377"/>
            <a:ext cx="1524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715">
                <a:latin typeface="Arial Unicode MS"/>
                <a:cs typeface="Arial Unicode MS"/>
              </a:rPr>
              <a:t>I</a:t>
            </a:r>
            <a:endParaRPr sz="10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80172" y="1660080"/>
            <a:ext cx="859155" cy="0"/>
          </a:xfrm>
          <a:custGeom>
            <a:avLst/>
            <a:gdLst/>
            <a:ahLst/>
            <a:cxnLst/>
            <a:rect l="l" t="t" r="r" b="b"/>
            <a:pathLst>
              <a:path w="859155" h="0">
                <a:moveTo>
                  <a:pt x="0" y="0"/>
                </a:moveTo>
                <a:lnTo>
                  <a:pt x="85859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648523" y="1913699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45"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48638" y="1841995"/>
            <a:ext cx="5219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25">
                <a:latin typeface="Georgia"/>
                <a:cs typeface="Georgia"/>
              </a:rPr>
              <a:t>[CrO</a:t>
            </a:r>
            <a:r>
              <a:rPr dirty="0" baseline="35714" sz="1050" spc="37">
                <a:latin typeface="Times New Roman"/>
                <a:cs typeface="Times New Roman"/>
              </a:rPr>
              <a:t>2</a:t>
            </a:r>
            <a:r>
              <a:rPr dirty="0" baseline="35714" sz="1050" spc="37" i="1">
                <a:latin typeface="Arial"/>
                <a:cs typeface="Arial"/>
              </a:rPr>
              <a:t>−</a:t>
            </a:r>
            <a:r>
              <a:rPr dirty="0" sz="1000" spc="25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2662" y="1659115"/>
            <a:ext cx="17303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17295" algn="l"/>
              </a:tabLst>
            </a:pPr>
            <a:r>
              <a:rPr dirty="0" u="sng" sz="1000" spc="-254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19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K</a:t>
            </a:r>
            <a:r>
              <a:rPr dirty="0" u="sng" sz="1000" spc="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(Ag</a:t>
            </a:r>
            <a:r>
              <a:rPr dirty="0" sz="1000">
                <a:latin typeface="Georgia"/>
                <a:cs typeface="Georgia"/>
              </a:rPr>
              <a:t> </a:t>
            </a:r>
            <a:r>
              <a:rPr dirty="0" sz="1000" spc="-40">
                <a:latin typeface="Georgia"/>
                <a:cs typeface="Georgia"/>
              </a:rPr>
              <a:t> </a:t>
            </a:r>
            <a:r>
              <a:rPr dirty="0" u="sng" sz="1000" spc="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CrO</a:t>
            </a:r>
            <a:r>
              <a:rPr dirty="0" sz="1000">
                <a:latin typeface="Georgia"/>
                <a:cs typeface="Georgia"/>
              </a:rPr>
              <a:t> </a:t>
            </a:r>
            <a:r>
              <a:rPr dirty="0" sz="1000" spc="-40">
                <a:latin typeface="Georgia"/>
                <a:cs typeface="Georgia"/>
              </a:rPr>
              <a:t> </a:t>
            </a:r>
            <a:r>
              <a:rPr dirty="0" u="sng" sz="1000" spc="1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)</a:t>
            </a:r>
            <a:r>
              <a:rPr dirty="0" sz="1000">
                <a:latin typeface="Georgia"/>
                <a:cs typeface="Georgia"/>
              </a:rPr>
              <a:t>	</a:t>
            </a:r>
            <a:r>
              <a:rPr dirty="0" sz="1000" spc="195" b="0" i="1">
                <a:latin typeface="Bookman Old Style"/>
                <a:cs typeface="Bookman Old Style"/>
              </a:rPr>
              <a:t>K</a:t>
            </a:r>
            <a:r>
              <a:rPr dirty="0" sz="1000" spc="25">
                <a:latin typeface="Georgia"/>
                <a:cs typeface="Georgia"/>
              </a:rPr>
              <a:t>(AgCl)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06524" y="1716062"/>
            <a:ext cx="15024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8610" algn="l"/>
                <a:tab pos="1393190" algn="l"/>
              </a:tabLst>
            </a:pPr>
            <a:r>
              <a:rPr dirty="0" u="sng" sz="7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</a:t>
            </a:r>
            <a:r>
              <a:rPr dirty="0" sz="700" spc="45">
                <a:latin typeface="Times New Roman"/>
                <a:cs typeface="Times New Roman"/>
              </a:rPr>
              <a:t>	</a:t>
            </a:r>
            <a:r>
              <a:rPr dirty="0" u="sng" sz="7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sz="700" spc="45">
                <a:latin typeface="Times New Roman"/>
                <a:cs typeface="Times New Roman"/>
              </a:rPr>
              <a:t> </a:t>
            </a:r>
            <a:r>
              <a:rPr dirty="0" sz="700" spc="35">
                <a:latin typeface="Times New Roman"/>
                <a:cs typeface="Times New Roman"/>
              </a:rPr>
              <a:t> </a:t>
            </a:r>
            <a:r>
              <a:rPr dirty="0" u="sng" sz="7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</a:t>
            </a:r>
            <a:r>
              <a:rPr dirty="0" sz="700">
                <a:latin typeface="Times New Roman"/>
                <a:cs typeface="Times New Roman"/>
              </a:rPr>
              <a:t>	</a:t>
            </a:r>
            <a:r>
              <a:rPr dirty="0" sz="700" spc="65">
                <a:latin typeface="Times New Roman"/>
                <a:cs typeface="Times New Roman"/>
              </a:rPr>
              <a:t>sp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08606" y="1852320"/>
            <a:ext cx="985519" cy="0"/>
          </a:xfrm>
          <a:custGeom>
            <a:avLst/>
            <a:gdLst/>
            <a:ahLst/>
            <a:cxnLst/>
            <a:rect l="l" t="t" r="r" b="b"/>
            <a:pathLst>
              <a:path w="985519" h="0">
                <a:moveTo>
                  <a:pt x="0" y="0"/>
                </a:moveTo>
                <a:lnTo>
                  <a:pt x="98512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054186" y="1744713"/>
            <a:ext cx="2940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Lucida Sans Unicode"/>
                <a:cs typeface="Lucida Sans Unicode"/>
              </a:rPr>
              <a:t>−</a:t>
            </a:r>
            <a:r>
              <a:rPr dirty="0" sz="1000" spc="-55">
                <a:latin typeface="Lucida Sans Unicode"/>
                <a:cs typeface="Lucida Sans Unicode"/>
              </a:rPr>
              <a:t> </a:t>
            </a:r>
            <a:r>
              <a:rPr dirty="0" baseline="2777" sz="1500" spc="1072">
                <a:latin typeface="Arial Unicode MS"/>
                <a:cs typeface="Arial Unicode MS"/>
              </a:rPr>
              <a:t>I</a:t>
            </a:r>
            <a:endParaRPr baseline="2777" sz="1500">
              <a:latin typeface="Arial Unicode MS"/>
              <a:cs typeface="Arial Unicode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35123" y="1877618"/>
            <a:ext cx="859155" cy="0"/>
          </a:xfrm>
          <a:custGeom>
            <a:avLst/>
            <a:gdLst/>
            <a:ahLst/>
            <a:cxnLst/>
            <a:rect l="l" t="t" r="r" b="b"/>
            <a:pathLst>
              <a:path w="859155" h="0">
                <a:moveTo>
                  <a:pt x="0" y="0"/>
                </a:moveTo>
                <a:lnTo>
                  <a:pt x="85859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337612" y="1870481"/>
            <a:ext cx="7518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5" b="0" i="1">
                <a:latin typeface="Bookman Old Style"/>
                <a:cs typeface="Bookman Old Style"/>
              </a:rPr>
              <a:t>K</a:t>
            </a:r>
            <a:r>
              <a:rPr dirty="0" sz="1000" spc="65">
                <a:latin typeface="Georgia"/>
                <a:cs typeface="Georgia"/>
              </a:rPr>
              <a:t>(Ag </a:t>
            </a:r>
            <a:r>
              <a:rPr dirty="0" sz="1000" spc="25">
                <a:latin typeface="Georgia"/>
                <a:cs typeface="Georgia"/>
              </a:rPr>
              <a:t>CrO</a:t>
            </a:r>
            <a:r>
              <a:rPr dirty="0" sz="1000" spc="-35">
                <a:latin typeface="Georgia"/>
                <a:cs typeface="Georgia"/>
              </a:rPr>
              <a:t> </a:t>
            </a:r>
            <a:r>
              <a:rPr dirty="0" sz="1000" spc="1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61475" y="1927415"/>
            <a:ext cx="5238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8610" algn="l"/>
              </a:tabLst>
            </a:pPr>
            <a:r>
              <a:rPr dirty="0" sz="700" spc="45">
                <a:latin typeface="Times New Roman"/>
                <a:cs typeface="Times New Roman"/>
              </a:rPr>
              <a:t>2	4</a:t>
            </a:r>
            <a:r>
              <a:rPr dirty="0" sz="700" spc="180">
                <a:latin typeface="Times New Roman"/>
                <a:cs typeface="Times New Roman"/>
              </a:rPr>
              <a:t> </a:t>
            </a:r>
            <a:r>
              <a:rPr dirty="0" sz="700" spc="65">
                <a:latin typeface="Times New Roman"/>
                <a:cs typeface="Times New Roman"/>
              </a:rPr>
              <a:t>sp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50312" y="2063673"/>
            <a:ext cx="828675" cy="0"/>
          </a:xfrm>
          <a:custGeom>
            <a:avLst/>
            <a:gdLst/>
            <a:ahLst/>
            <a:cxnLst/>
            <a:rect l="l" t="t" r="r" b="b"/>
            <a:pathLst>
              <a:path w="828675" h="0">
                <a:moveTo>
                  <a:pt x="0" y="0"/>
                </a:moveTo>
                <a:lnTo>
                  <a:pt x="82823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803474" y="2125053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45"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03589" y="2053348"/>
            <a:ext cx="5219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25">
                <a:latin typeface="Georgia"/>
                <a:cs typeface="Georgia"/>
              </a:rPr>
              <a:t>[CrO</a:t>
            </a:r>
            <a:r>
              <a:rPr dirty="0" baseline="35714" sz="1050" spc="37">
                <a:latin typeface="Times New Roman"/>
                <a:cs typeface="Times New Roman"/>
              </a:rPr>
              <a:t>2</a:t>
            </a:r>
            <a:r>
              <a:rPr dirty="0" baseline="35714" sz="1050" spc="37" i="1">
                <a:latin typeface="Arial"/>
                <a:cs typeface="Arial"/>
              </a:rPr>
              <a:t>−</a:t>
            </a:r>
            <a:r>
              <a:rPr dirty="0" sz="1000" spc="25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07422" y="1801647"/>
            <a:ext cx="3721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8610" algn="l"/>
              </a:tabLst>
            </a:pPr>
            <a:r>
              <a:rPr dirty="0" sz="700" spc="45">
                <a:latin typeface="Times New Roman"/>
                <a:cs typeface="Times New Roman"/>
              </a:rPr>
              <a:t>2</a:t>
            </a:r>
            <a:r>
              <a:rPr dirty="0" sz="700" spc="45">
                <a:latin typeface="Times New Roman"/>
                <a:cs typeface="Times New Roman"/>
              </a:rPr>
              <a:t>	</a:t>
            </a:r>
            <a:r>
              <a:rPr dirty="0" sz="700" spc="45"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24326" y="1744713"/>
            <a:ext cx="7969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30">
                <a:latin typeface="Georgia"/>
                <a:cs typeface="Georgia"/>
              </a:rPr>
              <a:t>+ </a:t>
            </a:r>
            <a:r>
              <a:rPr dirty="0" sz="1000" spc="-25">
                <a:latin typeface="Georgia"/>
                <a:cs typeface="Georgia"/>
              </a:rPr>
              <a:t>2[Ag </a:t>
            </a:r>
            <a:r>
              <a:rPr dirty="0" sz="1000" spc="25">
                <a:latin typeface="Georgia"/>
                <a:cs typeface="Georgia"/>
              </a:rPr>
              <a:t>CrO</a:t>
            </a:r>
            <a:r>
              <a:rPr dirty="0" sz="1000" spc="-10">
                <a:latin typeface="Georgia"/>
                <a:cs typeface="Georgia"/>
              </a:rPr>
              <a:t> </a:t>
            </a:r>
            <a:r>
              <a:rPr dirty="0" sz="1000" spc="-100">
                <a:latin typeface="Georgia"/>
                <a:cs typeface="Georgia"/>
              </a:rPr>
              <a:t>]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09026" y="2451989"/>
            <a:ext cx="109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35">
                <a:latin typeface="Lucida Sans Unicode"/>
                <a:cs typeface="Lucida Sans Unicode"/>
              </a:rPr>
              <a:t>∴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17051" y="2559596"/>
            <a:ext cx="654050" cy="0"/>
          </a:xfrm>
          <a:custGeom>
            <a:avLst/>
            <a:gdLst/>
            <a:ahLst/>
            <a:cxnLst/>
            <a:rect l="l" t="t" r="r" b="b"/>
            <a:pathLst>
              <a:path w="654050" h="0">
                <a:moveTo>
                  <a:pt x="0" y="0"/>
                </a:moveTo>
                <a:lnTo>
                  <a:pt x="65403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929650" y="2345862"/>
            <a:ext cx="973455" cy="370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marR="30480" indent="-249554">
              <a:lnSpc>
                <a:spcPct val="113100"/>
              </a:lnSpc>
              <a:spcBef>
                <a:spcPts val="100"/>
              </a:spcBef>
            </a:pPr>
            <a:r>
              <a:rPr dirty="0" baseline="-36111" sz="1500" spc="-37" b="0" i="1">
                <a:latin typeface="Bookman Old Style"/>
                <a:cs typeface="Bookman Old Style"/>
              </a:rPr>
              <a:t>ρ </a:t>
            </a:r>
            <a:r>
              <a:rPr dirty="0" baseline="-36111" sz="1500" spc="195">
                <a:latin typeface="Georgia"/>
                <a:cs typeface="Georgia"/>
              </a:rPr>
              <a:t>= </a:t>
            </a:r>
            <a:r>
              <a:rPr dirty="0" sz="1000" spc="35" b="0" i="1">
                <a:latin typeface="Bookman Old Style"/>
                <a:cs typeface="Bookman Old Style"/>
              </a:rPr>
              <a:t>B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5">
                <a:latin typeface="Georgia"/>
                <a:cs typeface="Georgia"/>
              </a:rPr>
              <a:t> </a:t>
            </a:r>
            <a:r>
              <a:rPr dirty="0" sz="1000" spc="45" b="0" i="1">
                <a:latin typeface="Bookman Old Style"/>
                <a:cs typeface="Bookman Old Style"/>
              </a:rPr>
              <a:t>c</a:t>
            </a:r>
            <a:r>
              <a:rPr dirty="0" sz="1000" spc="45">
                <a:latin typeface="Georgia"/>
                <a:cs typeface="Georgia"/>
              </a:rPr>
              <a:t>(Cl</a:t>
            </a:r>
            <a:r>
              <a:rPr dirty="0" baseline="27777" sz="1050" spc="67" i="1">
                <a:latin typeface="Arial"/>
                <a:cs typeface="Arial"/>
              </a:rPr>
              <a:t>−</a:t>
            </a:r>
            <a:r>
              <a:rPr dirty="0" sz="1000" spc="45">
                <a:latin typeface="Georgia"/>
                <a:cs typeface="Georgia"/>
              </a:rPr>
              <a:t>)  </a:t>
            </a:r>
            <a:r>
              <a:rPr dirty="0" sz="1000" spc="50" b="0" i="1">
                <a:latin typeface="Bookman Old Style"/>
                <a:cs typeface="Bookman Old Style"/>
              </a:rPr>
              <a:t>c</a:t>
            </a:r>
            <a:r>
              <a:rPr dirty="0" sz="1000" spc="50">
                <a:latin typeface="Georgia"/>
                <a:cs typeface="Georgia"/>
              </a:rPr>
              <a:t>(Ag</a:t>
            </a:r>
            <a:r>
              <a:rPr dirty="0" baseline="23809" sz="1050" spc="75">
                <a:latin typeface="Times New Roman"/>
                <a:cs typeface="Times New Roman"/>
              </a:rPr>
              <a:t>+</a:t>
            </a:r>
            <a:r>
              <a:rPr dirty="0" sz="1000" spc="50">
                <a:latin typeface="Georgia"/>
                <a:cs typeface="Georgia"/>
              </a:rPr>
              <a:t>) </a:t>
            </a:r>
            <a:r>
              <a:rPr dirty="0" sz="1000" spc="-20">
                <a:latin typeface="Lucida Sans Unicode"/>
                <a:cs typeface="Lucida Sans Unicode"/>
              </a:rPr>
              <a:t>−</a:t>
            </a:r>
            <a:r>
              <a:rPr dirty="0" sz="1000" spc="-254">
                <a:latin typeface="Lucida Sans Unicode"/>
                <a:cs typeface="Lucida Sans Unicode"/>
              </a:rPr>
              <a:t> </a:t>
            </a:r>
            <a:r>
              <a:rPr dirty="0" sz="1000" spc="35" b="0" i="1">
                <a:latin typeface="Bookman Old Style"/>
                <a:cs typeface="Bookman Old Style"/>
              </a:rPr>
              <a:t>B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518645"/>
            <a:ext cx="4232275" cy="42037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303530">
              <a:lnSpc>
                <a:spcPct val="100000"/>
              </a:lnSpc>
              <a:spcBef>
                <a:spcPts val="395"/>
              </a:spcBef>
            </a:pPr>
            <a:r>
              <a:rPr dirty="0" sz="1050" spc="-5">
                <a:latin typeface="Arial Unicode MS"/>
                <a:cs typeface="Arial Unicode MS"/>
              </a:rPr>
              <a:t>设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95">
                <a:latin typeface="Georgia"/>
                <a:cs typeface="Georgia"/>
              </a:rPr>
              <a:t>Ag</a:t>
            </a:r>
            <a:r>
              <a:rPr dirty="0" baseline="27777" sz="1050" spc="142">
                <a:latin typeface="Times New Roman"/>
                <a:cs typeface="Times New Roman"/>
              </a:rPr>
              <a:t>+</a:t>
            </a:r>
            <a:r>
              <a:rPr dirty="0" baseline="27777" sz="1050" spc="307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和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90">
                <a:latin typeface="Georgia"/>
                <a:cs typeface="Georgia"/>
              </a:rPr>
              <a:t>Cl</a:t>
            </a:r>
            <a:r>
              <a:rPr dirty="0" baseline="27777" sz="1050" spc="135" i="1">
                <a:latin typeface="Arial"/>
                <a:cs typeface="Arial"/>
              </a:rPr>
              <a:t>−</a:t>
            </a:r>
            <a:r>
              <a:rPr dirty="0" baseline="27777" sz="1050" spc="277" i="1">
                <a:latin typeface="Arial"/>
                <a:cs typeface="Arial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的分</a:t>
            </a:r>
            <a:r>
              <a:rPr dirty="0" sz="1050" spc="-10">
                <a:latin typeface="Arial Unicode MS"/>
                <a:cs typeface="Arial Unicode MS"/>
              </a:rPr>
              <a:t>析</a:t>
            </a:r>
            <a:r>
              <a:rPr dirty="0" sz="1050" spc="-5">
                <a:latin typeface="Arial Unicode MS"/>
                <a:cs typeface="Arial Unicode MS"/>
              </a:rPr>
              <a:t>浓度分</a:t>
            </a:r>
            <a:r>
              <a:rPr dirty="0" sz="1050" spc="-10">
                <a:latin typeface="Arial Unicode MS"/>
                <a:cs typeface="Arial Unicode MS"/>
              </a:rPr>
              <a:t>别</a:t>
            </a:r>
            <a:r>
              <a:rPr dirty="0" sz="1050" spc="-5">
                <a:latin typeface="Arial Unicode MS"/>
                <a:cs typeface="Arial Unicode MS"/>
              </a:rPr>
              <a:t>为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50" b="0" i="1">
                <a:latin typeface="Bookman Old Style"/>
                <a:cs typeface="Bookman Old Style"/>
              </a:rPr>
              <a:t>c</a:t>
            </a:r>
            <a:r>
              <a:rPr dirty="0" sz="1000" spc="50">
                <a:latin typeface="Georgia"/>
                <a:cs typeface="Georgia"/>
              </a:rPr>
              <a:t>(Ag</a:t>
            </a:r>
            <a:r>
              <a:rPr dirty="0" baseline="27777" sz="1050" spc="75">
                <a:latin typeface="Times New Roman"/>
                <a:cs typeface="Times New Roman"/>
              </a:rPr>
              <a:t>+</a:t>
            </a:r>
            <a:r>
              <a:rPr dirty="0" sz="1000" spc="50">
                <a:latin typeface="Georgia"/>
                <a:cs typeface="Georgia"/>
              </a:rPr>
              <a:t>)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50">
                <a:latin typeface="Georgia"/>
                <a:cs typeface="Georgia"/>
              </a:rPr>
              <a:t>0</a:t>
            </a:r>
            <a:r>
              <a:rPr dirty="0" sz="1000" spc="-50" b="0" i="1">
                <a:latin typeface="Bookman Old Style"/>
                <a:cs typeface="Bookman Old Style"/>
              </a:rPr>
              <a:t>.</a:t>
            </a:r>
            <a:r>
              <a:rPr dirty="0" sz="1000" spc="-50">
                <a:latin typeface="Georgia"/>
                <a:cs typeface="Georgia"/>
              </a:rPr>
              <a:t>10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40">
                <a:latin typeface="Georgia"/>
                <a:cs typeface="Georgia"/>
              </a:rPr>
              <a:t>mol</a:t>
            </a:r>
            <a:r>
              <a:rPr dirty="0" sz="1000" spc="-40" b="0" i="1">
                <a:latin typeface="Bookman Old Style"/>
                <a:cs typeface="Bookman Old Style"/>
              </a:rPr>
              <a:t>/</a:t>
            </a:r>
            <a:r>
              <a:rPr dirty="0" sz="1000" spc="-40">
                <a:latin typeface="Georgia"/>
                <a:cs typeface="Georgia"/>
              </a:rPr>
              <a:t>L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和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45" b="0" i="1">
                <a:latin typeface="Bookman Old Style"/>
                <a:cs typeface="Bookman Old Style"/>
              </a:rPr>
              <a:t>c</a:t>
            </a:r>
            <a:r>
              <a:rPr dirty="0" sz="1000" spc="45">
                <a:latin typeface="Georgia"/>
                <a:cs typeface="Georgia"/>
              </a:rPr>
              <a:t>(Cl</a:t>
            </a:r>
            <a:r>
              <a:rPr dirty="0" baseline="27777" sz="1050" spc="67" i="1">
                <a:latin typeface="Arial"/>
                <a:cs typeface="Arial"/>
              </a:rPr>
              <a:t>−</a:t>
            </a:r>
            <a:r>
              <a:rPr dirty="0" sz="1000" spc="45">
                <a:latin typeface="Georgia"/>
                <a:cs typeface="Georgia"/>
              </a:rPr>
              <a:t>)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endParaRPr sz="10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295"/>
              </a:spcBef>
            </a:pPr>
            <a:r>
              <a:rPr dirty="0" sz="1000" spc="-50">
                <a:latin typeface="Georgia"/>
                <a:cs typeface="Georgia"/>
              </a:rPr>
              <a:t>0</a:t>
            </a:r>
            <a:r>
              <a:rPr dirty="0" sz="1000" spc="-50" b="0" i="1">
                <a:latin typeface="Bookman Old Style"/>
                <a:cs typeface="Bookman Old Style"/>
              </a:rPr>
              <a:t>.</a:t>
            </a:r>
            <a:r>
              <a:rPr dirty="0" sz="1000" spc="-50">
                <a:latin typeface="Georgia"/>
                <a:cs typeface="Georgia"/>
              </a:rPr>
              <a:t>10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mol</a:t>
            </a:r>
            <a:r>
              <a:rPr dirty="0" sz="1000" spc="-70" b="0" i="1">
                <a:latin typeface="Bookman Old Style"/>
                <a:cs typeface="Bookman Old Style"/>
              </a:rPr>
              <a:t>/</a:t>
            </a:r>
            <a:r>
              <a:rPr dirty="0" sz="1000" spc="-70">
                <a:latin typeface="Georgia"/>
                <a:cs typeface="Georgia"/>
              </a:rPr>
              <a:t>L</a:t>
            </a:r>
            <a:r>
              <a:rPr dirty="0" sz="1050" spc="-70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化学计量</a:t>
            </a:r>
            <a:r>
              <a:rPr dirty="0" sz="1050" spc="-10">
                <a:latin typeface="Arial Unicode MS"/>
                <a:cs typeface="Arial Unicode MS"/>
              </a:rPr>
              <a:t>点</a:t>
            </a:r>
            <a:r>
              <a:rPr dirty="0" sz="1050" spc="-5">
                <a:latin typeface="Arial Unicode MS"/>
                <a:cs typeface="Arial Unicode MS"/>
              </a:rPr>
              <a:t>时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35" b="0" i="1">
                <a:latin typeface="Bookman Old Style"/>
                <a:cs typeface="Bookman Old Style"/>
              </a:rPr>
              <a:t>ρ</a:t>
            </a:r>
            <a:r>
              <a:rPr dirty="0" baseline="-11904" sz="1050" spc="52">
                <a:latin typeface="Times New Roman"/>
                <a:cs typeface="Times New Roman"/>
              </a:rPr>
              <a:t>sp</a:t>
            </a:r>
            <a:r>
              <a:rPr dirty="0" baseline="-11904" sz="1050" spc="225">
                <a:latin typeface="Times New Roman"/>
                <a:cs typeface="Times New Roman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55">
                <a:latin typeface="Georgia"/>
                <a:cs typeface="Georgia"/>
              </a:rPr>
              <a:t>1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7931" y="1155916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45"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7931" y="1076261"/>
            <a:ext cx="823594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9460" algn="l"/>
              </a:tabLst>
            </a:pPr>
            <a:r>
              <a:rPr dirty="0" baseline="3968" sz="1050" spc="67">
                <a:latin typeface="Times New Roman"/>
                <a:cs typeface="Times New Roman"/>
              </a:rPr>
              <a:t>2</a:t>
            </a:r>
            <a:r>
              <a:rPr dirty="0" baseline="3968" sz="1050" spc="67">
                <a:latin typeface="Times New Roman"/>
                <a:cs typeface="Times New Roman"/>
              </a:rPr>
              <a:t>	</a:t>
            </a:r>
            <a:r>
              <a:rPr dirty="0" sz="700" spc="45">
                <a:latin typeface="Times New Roman"/>
                <a:cs typeface="Times New Roman"/>
              </a:rPr>
              <a:t>3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153" y="1077887"/>
            <a:ext cx="249491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15">
                <a:latin typeface="Arial Unicode MS"/>
                <a:cs typeface="Arial Unicode MS"/>
              </a:rPr>
              <a:t>如果滴定终点</a:t>
            </a:r>
            <a:r>
              <a:rPr dirty="0" sz="1050" spc="-75">
                <a:latin typeface="Arial Unicode MS"/>
                <a:cs typeface="Arial Unicode MS"/>
              </a:rPr>
              <a:t>时</a:t>
            </a:r>
            <a:r>
              <a:rPr dirty="0" sz="1050" spc="-50">
                <a:latin typeface="Arial Unicode MS"/>
                <a:cs typeface="Arial Unicode MS"/>
              </a:rPr>
              <a:t>，</a:t>
            </a:r>
            <a:r>
              <a:rPr dirty="0" sz="1000" spc="-50">
                <a:latin typeface="Georgia"/>
                <a:cs typeface="Georgia"/>
              </a:rPr>
              <a:t>[CrO </a:t>
            </a:r>
            <a:r>
              <a:rPr dirty="0" baseline="35714" sz="1050" spc="120" i="1">
                <a:latin typeface="Arial"/>
                <a:cs typeface="Arial"/>
              </a:rPr>
              <a:t>−</a:t>
            </a:r>
            <a:r>
              <a:rPr dirty="0" sz="1000" spc="80">
                <a:latin typeface="Georgia"/>
                <a:cs typeface="Georgia"/>
              </a:rPr>
              <a:t>]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-35">
                <a:latin typeface="Georgia"/>
                <a:cs typeface="Georgia"/>
              </a:rPr>
              <a:t>5</a:t>
            </a:r>
            <a:r>
              <a:rPr dirty="0" sz="1000" spc="-90">
                <a:latin typeface="Georgia"/>
                <a:cs typeface="Georgia"/>
              </a:rPr>
              <a:t> </a:t>
            </a:r>
            <a:r>
              <a:rPr dirty="0" sz="1000" spc="-20">
                <a:latin typeface="Lucida Sans Unicode"/>
                <a:cs typeface="Lucida Sans Unicode"/>
              </a:rPr>
              <a:t>×</a:t>
            </a:r>
            <a:r>
              <a:rPr dirty="0" sz="1000" spc="-160">
                <a:latin typeface="Lucida Sans Unicode"/>
                <a:cs typeface="Lucida Sans Unicode"/>
              </a:rPr>
              <a:t> </a:t>
            </a:r>
            <a:r>
              <a:rPr dirty="0" sz="1000" spc="55">
                <a:latin typeface="Georgia"/>
                <a:cs typeface="Georgia"/>
              </a:rPr>
              <a:t>10</a:t>
            </a:r>
            <a:r>
              <a:rPr dirty="0" baseline="27777" sz="1050" spc="82" i="1">
                <a:latin typeface="Arial"/>
                <a:cs typeface="Arial"/>
              </a:rPr>
              <a:t>−</a:t>
            </a:r>
            <a:r>
              <a:rPr dirty="0" baseline="27777" sz="1050" spc="419" i="1">
                <a:latin typeface="Arial"/>
                <a:cs typeface="Arial"/>
              </a:rPr>
              <a:t> </a:t>
            </a:r>
            <a:r>
              <a:rPr dirty="0" sz="1000" spc="-55">
                <a:latin typeface="Georgia"/>
                <a:cs typeface="Georgia"/>
              </a:rPr>
              <a:t>mol</a:t>
            </a:r>
            <a:r>
              <a:rPr dirty="0" sz="1000" spc="-55" b="0" i="1">
                <a:latin typeface="Bookman Old Style"/>
                <a:cs typeface="Bookman Old Style"/>
              </a:rPr>
              <a:t>/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7305" y="1141145"/>
            <a:ext cx="3721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8610" algn="l"/>
              </a:tabLst>
            </a:pPr>
            <a:r>
              <a:rPr dirty="0" sz="700" spc="45">
                <a:latin typeface="Times New Roman"/>
                <a:cs typeface="Times New Roman"/>
              </a:rPr>
              <a:t>2</a:t>
            </a:r>
            <a:r>
              <a:rPr dirty="0" sz="700" spc="45">
                <a:latin typeface="Times New Roman"/>
                <a:cs typeface="Times New Roman"/>
              </a:rPr>
              <a:t>	</a:t>
            </a:r>
            <a:r>
              <a:rPr dirty="0" sz="700" spc="45"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97238" y="1077887"/>
            <a:ext cx="122110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40">
                <a:latin typeface="Georgia"/>
                <a:cs typeface="Georgia"/>
              </a:rPr>
              <a:t>L</a:t>
            </a:r>
            <a:r>
              <a:rPr dirty="0" sz="1050" spc="-140">
                <a:latin typeface="Arial Unicode MS"/>
                <a:cs typeface="Arial Unicode MS"/>
              </a:rPr>
              <a:t>， </a:t>
            </a:r>
            <a:r>
              <a:rPr dirty="0" sz="1050" spc="-5">
                <a:latin typeface="Arial Unicode MS"/>
                <a:cs typeface="Arial Unicode MS"/>
              </a:rPr>
              <a:t>且 </a:t>
            </a:r>
            <a:r>
              <a:rPr dirty="0" sz="1000" spc="-15">
                <a:latin typeface="Georgia"/>
                <a:cs typeface="Georgia"/>
              </a:rPr>
              <a:t>[Ag </a:t>
            </a:r>
            <a:r>
              <a:rPr dirty="0" sz="1000" spc="25">
                <a:latin typeface="Georgia"/>
                <a:cs typeface="Georgia"/>
              </a:rPr>
              <a:t>CrO </a:t>
            </a:r>
            <a:r>
              <a:rPr dirty="0" sz="1000" spc="-100">
                <a:latin typeface="Georgia"/>
                <a:cs typeface="Georgia"/>
              </a:rPr>
              <a:t>] </a:t>
            </a:r>
            <a:r>
              <a:rPr dirty="0" sz="1000" spc="-20">
                <a:latin typeface="Lucida Sans Unicode"/>
                <a:cs typeface="Lucida Sans Unicode"/>
              </a:rPr>
              <a:t>≥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20">
                <a:latin typeface="Georgia"/>
                <a:cs typeface="Georgia"/>
              </a:rPr>
              <a:t>1</a:t>
            </a:r>
            <a:r>
              <a:rPr dirty="0" sz="1000" spc="20" b="0" i="1">
                <a:latin typeface="Bookman Old Style"/>
                <a:cs typeface="Bookman Old Style"/>
              </a:rPr>
              <a:t>.</a:t>
            </a:r>
            <a:endParaRPr sz="10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7022" y="1084211"/>
            <a:ext cx="4838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120">
                <a:latin typeface="Georgia"/>
                <a:cs typeface="Georgia"/>
              </a:rPr>
              <a:t>0 </a:t>
            </a:r>
            <a:r>
              <a:rPr dirty="0" sz="1000" spc="-20">
                <a:latin typeface="Lucida Sans Unicode"/>
                <a:cs typeface="Lucida Sans Unicode"/>
              </a:rPr>
              <a:t>×</a:t>
            </a:r>
            <a:r>
              <a:rPr dirty="0" sz="1000" spc="-175">
                <a:latin typeface="Lucida Sans Unicode"/>
                <a:cs typeface="Lucida Sans Unicode"/>
              </a:rPr>
              <a:t> </a:t>
            </a:r>
            <a:r>
              <a:rPr dirty="0" sz="1000" spc="55">
                <a:latin typeface="Georgia"/>
                <a:cs typeface="Georgia"/>
              </a:rPr>
              <a:t>10</a:t>
            </a:r>
            <a:r>
              <a:rPr dirty="0" baseline="27777" sz="1050" spc="82" i="1">
                <a:latin typeface="Arial"/>
                <a:cs typeface="Arial"/>
              </a:rPr>
              <a:t>−</a:t>
            </a:r>
            <a:endParaRPr baseline="27777" sz="1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99991" y="1076261"/>
            <a:ext cx="76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45">
                <a:latin typeface="Times New Roman"/>
                <a:cs typeface="Times New Roman"/>
              </a:rPr>
              <a:t>5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444" y="1275270"/>
            <a:ext cx="3288029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 spc="-70">
                <a:latin typeface="Georgia"/>
                <a:cs typeface="Georgia"/>
              </a:rPr>
              <a:t>mol</a:t>
            </a:r>
            <a:r>
              <a:rPr dirty="0" sz="1000" spc="-70" b="0" i="1">
                <a:latin typeface="Bookman Old Style"/>
                <a:cs typeface="Bookman Old Style"/>
              </a:rPr>
              <a:t>/</a:t>
            </a:r>
            <a:r>
              <a:rPr dirty="0" sz="1000" spc="-70">
                <a:latin typeface="Georgia"/>
                <a:cs typeface="Georgia"/>
              </a:rPr>
              <a:t>L</a:t>
            </a:r>
            <a:r>
              <a:rPr dirty="0" sz="1050" spc="-70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则可</a:t>
            </a:r>
            <a:r>
              <a:rPr dirty="0" sz="1050" spc="-10">
                <a:latin typeface="Arial Unicode MS"/>
                <a:cs typeface="Arial Unicode MS"/>
              </a:rPr>
              <a:t>根</a:t>
            </a:r>
            <a:r>
              <a:rPr dirty="0" sz="1050" spc="-5">
                <a:latin typeface="Arial Unicode MS"/>
                <a:cs typeface="Arial Unicode MS"/>
              </a:rPr>
              <a:t>据上式计</a:t>
            </a:r>
            <a:r>
              <a:rPr dirty="0" sz="1050" spc="-10">
                <a:latin typeface="Arial Unicode MS"/>
                <a:cs typeface="Arial Unicode MS"/>
              </a:rPr>
              <a:t>算</a:t>
            </a:r>
            <a:r>
              <a:rPr dirty="0" sz="1050" spc="-5">
                <a:latin typeface="Arial Unicode MS"/>
                <a:cs typeface="Arial Unicode MS"/>
              </a:rPr>
              <a:t>得</a:t>
            </a:r>
            <a:r>
              <a:rPr dirty="0" sz="1050" spc="20">
                <a:latin typeface="Arial Unicode MS"/>
                <a:cs typeface="Arial Unicode MS"/>
              </a:rPr>
              <a:t> </a:t>
            </a:r>
            <a:r>
              <a:rPr dirty="0" sz="1000" spc="35" b="0" i="1">
                <a:latin typeface="Bookman Old Style"/>
                <a:cs typeface="Bookman Old Style"/>
              </a:rPr>
              <a:t>ρ</a:t>
            </a:r>
            <a:r>
              <a:rPr dirty="0" baseline="-11904" sz="1050" spc="52">
                <a:latin typeface="Times New Roman"/>
                <a:cs typeface="Times New Roman"/>
              </a:rPr>
              <a:t>ep</a:t>
            </a:r>
            <a:r>
              <a:rPr dirty="0" baseline="-11904" sz="1050" spc="202">
                <a:latin typeface="Times New Roman"/>
                <a:cs typeface="Times New Roman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20">
                <a:latin typeface="Georgia"/>
                <a:cs typeface="Georgia"/>
              </a:rPr>
              <a:t> </a:t>
            </a:r>
            <a:r>
              <a:rPr dirty="0" sz="1000" spc="-60">
                <a:latin typeface="Georgia"/>
                <a:cs typeface="Georgia"/>
              </a:rPr>
              <a:t>1</a:t>
            </a:r>
            <a:r>
              <a:rPr dirty="0" sz="1000" spc="-60" b="0" i="1">
                <a:latin typeface="Bookman Old Style"/>
                <a:cs typeface="Bookman Old Style"/>
              </a:rPr>
              <a:t>.</a:t>
            </a:r>
            <a:r>
              <a:rPr dirty="0" sz="1000" spc="-60">
                <a:latin typeface="Georgia"/>
                <a:cs typeface="Georgia"/>
              </a:rPr>
              <a:t>001</a:t>
            </a:r>
            <a:r>
              <a:rPr dirty="0" sz="1050" spc="-60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终</a:t>
            </a:r>
            <a:r>
              <a:rPr dirty="0" sz="1050" spc="-5">
                <a:latin typeface="Arial Unicode MS"/>
                <a:cs typeface="Arial Unicode MS"/>
              </a:rPr>
              <a:t>点误差</a:t>
            </a:r>
            <a:r>
              <a:rPr dirty="0" sz="1050" spc="-80">
                <a:latin typeface="Arial Unicode MS"/>
                <a:cs typeface="Arial Unicode MS"/>
              </a:rPr>
              <a:t>为</a:t>
            </a:r>
            <a:r>
              <a:rPr dirty="0" sz="1050" spc="-5">
                <a:latin typeface="Arial Unicode MS"/>
                <a:cs typeface="Arial Unicode MS"/>
              </a:rPr>
              <a:t>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9265" y="1595450"/>
            <a:ext cx="4489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9725" algn="l"/>
              </a:tabLst>
            </a:pPr>
            <a:r>
              <a:rPr dirty="0" u="sng" sz="7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sng" sz="700" spc="9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dirty="0" u="sng" sz="700" spc="9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700" spc="-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	</a:t>
            </a:r>
            <a:r>
              <a:rPr dirty="0" u="sng" sz="70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2074" y="1729879"/>
            <a:ext cx="2381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8333" sz="1500" spc="52" b="0" i="1">
                <a:latin typeface="Bookman Old Style"/>
                <a:cs typeface="Bookman Old Style"/>
              </a:rPr>
              <a:t>ρ</a:t>
            </a:r>
            <a:r>
              <a:rPr dirty="0" sz="700" spc="35">
                <a:latin typeface="Times New Roman"/>
                <a:cs typeface="Times New Roman"/>
              </a:rPr>
              <a:t>sp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73847" y="1538503"/>
            <a:ext cx="15703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3360" algn="l"/>
                <a:tab pos="1050925" algn="l"/>
              </a:tabLst>
            </a:pPr>
            <a:r>
              <a:rPr dirty="0" u="sng" sz="1000" spc="-254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</a:t>
            </a:r>
            <a:r>
              <a:rPr dirty="0" sz="1000" spc="-25" b="0" i="1">
                <a:latin typeface="Bookman Old Style"/>
                <a:cs typeface="Bookman Old Style"/>
              </a:rPr>
              <a:t>	</a:t>
            </a:r>
            <a:r>
              <a:rPr dirty="0" u="sng" sz="1000" spc="-2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000" spc="-10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0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ρ</a:t>
            </a:r>
            <a:r>
              <a:rPr dirty="0" sz="1000" spc="-25" b="0" i="1">
                <a:latin typeface="Bookman Old Style"/>
                <a:cs typeface="Bookman Old Style"/>
              </a:rPr>
              <a:t>	</a:t>
            </a: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r>
              <a:rPr dirty="0" u="sng" sz="1000" spc="-25" b="0" i="1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.</a:t>
            </a:r>
            <a:r>
              <a:rPr dirty="0" u="sng" sz="1000" spc="-2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001 </a:t>
            </a:r>
            <a:r>
              <a:rPr dirty="0" u="sng" sz="1000" spc="-2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dirty="0" u="sng" sz="1000" spc="-17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000" spc="65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33725" y="1710893"/>
            <a:ext cx="88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5"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0945" y="1617776"/>
            <a:ext cx="318643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13510" algn="l"/>
                <a:tab pos="2463165" algn="l"/>
              </a:tabLst>
            </a:pPr>
            <a:r>
              <a:rPr dirty="0" sz="1050" spc="-5">
                <a:latin typeface="Arial Unicode MS"/>
                <a:cs typeface="Arial Unicode MS"/>
              </a:rPr>
              <a:t>终点误差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10">
                <a:latin typeface="Georgia"/>
                <a:cs typeface="Georgia"/>
              </a:rPr>
              <a:t>%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	</a:t>
            </a:r>
            <a:r>
              <a:rPr dirty="0" sz="1000" spc="-20">
                <a:latin typeface="Lucida Sans Unicode"/>
                <a:cs typeface="Lucida Sans Unicode"/>
              </a:rPr>
              <a:t>×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-55">
                <a:latin typeface="Georgia"/>
                <a:cs typeface="Georgia"/>
              </a:rPr>
              <a:t>100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	</a:t>
            </a:r>
            <a:r>
              <a:rPr dirty="0" sz="1000" spc="-20">
                <a:latin typeface="Lucida Sans Unicode"/>
                <a:cs typeface="Lucida Sans Unicode"/>
              </a:rPr>
              <a:t>× </a:t>
            </a:r>
            <a:r>
              <a:rPr dirty="0" sz="1000" spc="-55">
                <a:latin typeface="Georgia"/>
                <a:cs typeface="Georgia"/>
              </a:rPr>
              <a:t>100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-35">
                <a:latin typeface="Georgia"/>
                <a:cs typeface="Georgia"/>
              </a:rPr>
              <a:t> </a:t>
            </a:r>
            <a:r>
              <a:rPr dirty="0" sz="1000" spc="-50">
                <a:latin typeface="Georgia"/>
                <a:cs typeface="Georgia"/>
              </a:rPr>
              <a:t>0</a:t>
            </a:r>
            <a:r>
              <a:rPr dirty="0" sz="1000" spc="-50" b="0" i="1">
                <a:latin typeface="Bookman Old Style"/>
                <a:cs typeface="Bookman Old Style"/>
              </a:rPr>
              <a:t>.</a:t>
            </a:r>
            <a:r>
              <a:rPr dirty="0" sz="1000" spc="-50">
                <a:latin typeface="Georgia"/>
                <a:cs typeface="Georgia"/>
              </a:rPr>
              <a:t>10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444" y="1942734"/>
            <a:ext cx="4394200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265430">
              <a:lnSpc>
                <a:spcPct val="123300"/>
              </a:lnSpc>
              <a:spcBef>
                <a:spcPts val="100"/>
              </a:spcBef>
            </a:pPr>
            <a:r>
              <a:rPr dirty="0" sz="1050" spc="-10">
                <a:latin typeface="Arial Unicode MS"/>
                <a:cs typeface="Arial Unicode MS"/>
              </a:rPr>
              <a:t>同</a:t>
            </a:r>
            <a:r>
              <a:rPr dirty="0" sz="1050" spc="-5">
                <a:latin typeface="Arial Unicode MS"/>
                <a:cs typeface="Arial Unicode MS"/>
              </a:rPr>
              <a:t>理可以算</a:t>
            </a:r>
            <a:r>
              <a:rPr dirty="0" sz="1050" spc="-10">
                <a:latin typeface="Arial Unicode MS"/>
                <a:cs typeface="Arial Unicode MS"/>
              </a:rPr>
              <a:t>得</a:t>
            </a:r>
            <a:r>
              <a:rPr dirty="0" sz="1050" spc="-5">
                <a:latin typeface="Arial Unicode MS"/>
                <a:cs typeface="Arial Unicode MS"/>
              </a:rPr>
              <a:t>初始浓度</a:t>
            </a:r>
            <a:r>
              <a:rPr dirty="0" sz="1050" spc="40">
                <a:latin typeface="Arial Unicode MS"/>
                <a:cs typeface="Arial Unicode MS"/>
              </a:rPr>
              <a:t> </a:t>
            </a:r>
            <a:r>
              <a:rPr dirty="0" sz="1000" spc="50" b="0" i="1">
                <a:latin typeface="Bookman Old Style"/>
                <a:cs typeface="Bookman Old Style"/>
              </a:rPr>
              <a:t>c</a:t>
            </a:r>
            <a:r>
              <a:rPr dirty="0" sz="1000" spc="50">
                <a:latin typeface="Georgia"/>
                <a:cs typeface="Georgia"/>
              </a:rPr>
              <a:t>(Ag</a:t>
            </a:r>
            <a:r>
              <a:rPr dirty="0" baseline="27777" sz="1050" spc="75">
                <a:latin typeface="Times New Roman"/>
                <a:cs typeface="Times New Roman"/>
              </a:rPr>
              <a:t>+</a:t>
            </a:r>
            <a:r>
              <a:rPr dirty="0" sz="1000" spc="50">
                <a:latin typeface="Georgia"/>
                <a:cs typeface="Georgia"/>
              </a:rPr>
              <a:t>)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65">
                <a:latin typeface="Georgia"/>
                <a:cs typeface="Georgia"/>
              </a:rPr>
              <a:t>0</a:t>
            </a:r>
            <a:r>
              <a:rPr dirty="0" sz="1000" spc="-65" b="0" i="1">
                <a:latin typeface="Bookman Old Style"/>
                <a:cs typeface="Bookman Old Style"/>
              </a:rPr>
              <a:t>.</a:t>
            </a:r>
            <a:r>
              <a:rPr dirty="0" sz="1000" spc="-65">
                <a:latin typeface="Georgia"/>
                <a:cs typeface="Georgia"/>
              </a:rPr>
              <a:t>010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40">
                <a:latin typeface="Georgia"/>
                <a:cs typeface="Georgia"/>
              </a:rPr>
              <a:t>mol</a:t>
            </a:r>
            <a:r>
              <a:rPr dirty="0" sz="1000" spc="-40" b="0" i="1">
                <a:latin typeface="Bookman Old Style"/>
                <a:cs typeface="Bookman Old Style"/>
              </a:rPr>
              <a:t>/</a:t>
            </a:r>
            <a:r>
              <a:rPr dirty="0" sz="1000" spc="-40">
                <a:latin typeface="Georgia"/>
                <a:cs typeface="Georgia"/>
              </a:rPr>
              <a:t>L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和</a:t>
            </a:r>
            <a:r>
              <a:rPr dirty="0" sz="1050" spc="45">
                <a:latin typeface="Arial Unicode MS"/>
                <a:cs typeface="Arial Unicode MS"/>
              </a:rPr>
              <a:t> </a:t>
            </a:r>
            <a:r>
              <a:rPr dirty="0" sz="1000" spc="45" b="0" i="1">
                <a:latin typeface="Bookman Old Style"/>
                <a:cs typeface="Bookman Old Style"/>
              </a:rPr>
              <a:t>c</a:t>
            </a:r>
            <a:r>
              <a:rPr dirty="0" sz="1000" spc="45">
                <a:latin typeface="Georgia"/>
                <a:cs typeface="Georgia"/>
              </a:rPr>
              <a:t>(Cl</a:t>
            </a:r>
            <a:r>
              <a:rPr dirty="0" baseline="27777" sz="1050" spc="67" i="1">
                <a:latin typeface="Arial"/>
                <a:cs typeface="Arial"/>
              </a:rPr>
              <a:t>−</a:t>
            </a:r>
            <a:r>
              <a:rPr dirty="0" sz="1000" spc="45">
                <a:latin typeface="Georgia"/>
                <a:cs typeface="Georgia"/>
              </a:rPr>
              <a:t>)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65">
                <a:latin typeface="Georgia"/>
                <a:cs typeface="Georgia"/>
              </a:rPr>
              <a:t>0</a:t>
            </a:r>
            <a:r>
              <a:rPr dirty="0" sz="1000" spc="-65" b="0" i="1">
                <a:latin typeface="Bookman Old Style"/>
                <a:cs typeface="Bookman Old Style"/>
              </a:rPr>
              <a:t>.</a:t>
            </a:r>
            <a:r>
              <a:rPr dirty="0" sz="1000" spc="-65">
                <a:latin typeface="Georgia"/>
                <a:cs typeface="Georgia"/>
              </a:rPr>
              <a:t>010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40">
                <a:latin typeface="Georgia"/>
                <a:cs typeface="Georgia"/>
              </a:rPr>
              <a:t>mol</a:t>
            </a:r>
            <a:r>
              <a:rPr dirty="0" sz="1000" spc="-40" b="0" i="1">
                <a:latin typeface="Bookman Old Style"/>
                <a:cs typeface="Bookman Old Style"/>
              </a:rPr>
              <a:t>/</a:t>
            </a:r>
            <a:r>
              <a:rPr dirty="0" sz="1000" spc="-40">
                <a:latin typeface="Georgia"/>
                <a:cs typeface="Georgia"/>
              </a:rPr>
              <a:t>L  </a:t>
            </a:r>
            <a:r>
              <a:rPr dirty="0" sz="1050" spc="-70">
                <a:latin typeface="Arial Unicode MS"/>
                <a:cs typeface="Arial Unicode MS"/>
              </a:rPr>
              <a:t>时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采</a:t>
            </a:r>
            <a:r>
              <a:rPr dirty="0" sz="1050" spc="-10">
                <a:latin typeface="Arial Unicode MS"/>
                <a:cs typeface="Arial Unicode MS"/>
              </a:rPr>
              <a:t>用</a:t>
            </a:r>
            <a:r>
              <a:rPr dirty="0" sz="1050" spc="-5">
                <a:latin typeface="Arial Unicode MS"/>
                <a:cs typeface="Arial Unicode MS"/>
              </a:rPr>
              <a:t>同样的指</a:t>
            </a:r>
            <a:r>
              <a:rPr dirty="0" sz="1050" spc="-10">
                <a:latin typeface="Arial Unicode MS"/>
                <a:cs typeface="Arial Unicode MS"/>
              </a:rPr>
              <a:t>示</a:t>
            </a:r>
            <a:r>
              <a:rPr dirty="0" sz="1050" spc="-70">
                <a:latin typeface="Arial Unicode MS"/>
                <a:cs typeface="Arial Unicode MS"/>
              </a:rPr>
              <a:t>剂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则终</a:t>
            </a:r>
            <a:r>
              <a:rPr dirty="0" sz="1050" spc="-10">
                <a:latin typeface="Arial Unicode MS"/>
                <a:cs typeface="Arial Unicode MS"/>
              </a:rPr>
              <a:t>点</a:t>
            </a:r>
            <a:r>
              <a:rPr dirty="0" sz="1050" spc="-5">
                <a:latin typeface="Arial Unicode MS"/>
                <a:cs typeface="Arial Unicode MS"/>
              </a:rPr>
              <a:t>误差为</a:t>
            </a:r>
            <a:r>
              <a:rPr dirty="0" sz="1050">
                <a:latin typeface="Arial Unicode MS"/>
                <a:cs typeface="Arial Unicode MS"/>
              </a:rPr>
              <a:t> </a:t>
            </a:r>
            <a:r>
              <a:rPr dirty="0" sz="1000" spc="-25">
                <a:latin typeface="Georgia"/>
                <a:cs typeface="Georgia"/>
              </a:rPr>
              <a:t>1</a:t>
            </a:r>
            <a:r>
              <a:rPr dirty="0" sz="1000" spc="-25" b="0" i="1">
                <a:latin typeface="Bookman Old Style"/>
                <a:cs typeface="Bookman Old Style"/>
              </a:rPr>
              <a:t>.</a:t>
            </a:r>
            <a:r>
              <a:rPr dirty="0" sz="1000" spc="-25">
                <a:latin typeface="Georgia"/>
                <a:cs typeface="Georgia"/>
              </a:rPr>
              <a:t>0%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10">
                <a:latin typeface="Arial Unicode MS"/>
                <a:cs typeface="Arial Unicode MS"/>
              </a:rPr>
              <a:t>显</a:t>
            </a:r>
            <a:r>
              <a:rPr dirty="0" sz="1050" spc="-70">
                <a:latin typeface="Arial Unicode MS"/>
                <a:cs typeface="Arial Unicode MS"/>
              </a:rPr>
              <a:t>然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莫尔</a:t>
            </a:r>
            <a:r>
              <a:rPr dirty="0" sz="1050" spc="-10">
                <a:latin typeface="Arial Unicode MS"/>
                <a:cs typeface="Arial Unicode MS"/>
              </a:rPr>
              <a:t>法</a:t>
            </a:r>
            <a:r>
              <a:rPr dirty="0" sz="1050" spc="-5">
                <a:latin typeface="Arial Unicode MS"/>
                <a:cs typeface="Arial Unicode MS"/>
              </a:rPr>
              <a:t>中指示剂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影响 还是非</a:t>
            </a:r>
            <a:r>
              <a:rPr dirty="0" sz="1050" spc="-10">
                <a:latin typeface="Arial Unicode MS"/>
                <a:cs typeface="Arial Unicode MS"/>
              </a:rPr>
              <a:t>常</a:t>
            </a:r>
            <a:r>
              <a:rPr dirty="0" sz="1050" spc="-5">
                <a:latin typeface="Arial Unicode MS"/>
                <a:cs typeface="Arial Unicode MS"/>
              </a:rPr>
              <a:t>大</a:t>
            </a:r>
            <a:r>
              <a:rPr dirty="0" sz="1050" spc="-2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5568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酸度影响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15427" y="1207223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5427" y="129175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101" y="1181595"/>
            <a:ext cx="245872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Arial Unicode MS"/>
                <a:cs typeface="Arial Unicode MS"/>
              </a:rPr>
              <a:t>酸度太</a:t>
            </a:r>
            <a:r>
              <a:rPr dirty="0" sz="1200" spc="-80">
                <a:latin typeface="Arial Unicode MS"/>
                <a:cs typeface="Arial Unicode MS"/>
              </a:rPr>
              <a:t>高</a:t>
            </a:r>
            <a:r>
              <a:rPr dirty="0" sz="1200" spc="-30">
                <a:latin typeface="Arial Unicode MS"/>
                <a:cs typeface="Arial Unicode MS"/>
              </a:rPr>
              <a:t>，</a:t>
            </a:r>
            <a:r>
              <a:rPr dirty="0" sz="1100" spc="-30">
                <a:latin typeface="Georgia"/>
                <a:cs typeface="Georgia"/>
              </a:rPr>
              <a:t>CrO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baseline="37037" sz="900" spc="337" i="1">
                <a:latin typeface="Arial"/>
                <a:cs typeface="Arial"/>
              </a:rPr>
              <a:t>−</a:t>
            </a:r>
            <a:r>
              <a:rPr dirty="0" baseline="37037" sz="900" spc="307" i="1">
                <a:latin typeface="Arial"/>
                <a:cs typeface="Arial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的浓度将因酸效</a:t>
            </a:r>
            <a:r>
              <a:rPr dirty="0" sz="1200" spc="-5">
                <a:latin typeface="Arial Unicode MS"/>
                <a:cs typeface="Arial Unicode MS"/>
              </a:rPr>
              <a:t>应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92499" y="1278280"/>
            <a:ext cx="3867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7025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98965" y="1181595"/>
            <a:ext cx="168338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Arial Unicode MS"/>
                <a:cs typeface="Arial Unicode MS"/>
              </a:rPr>
              <a:t>而降</a:t>
            </a:r>
            <a:r>
              <a:rPr dirty="0" sz="1200" spc="-80">
                <a:latin typeface="Arial Unicode MS"/>
                <a:cs typeface="Arial Unicode MS"/>
              </a:rPr>
              <a:t>低</a:t>
            </a:r>
            <a:r>
              <a:rPr dirty="0" sz="1200" spc="-210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导</a:t>
            </a:r>
            <a:r>
              <a:rPr dirty="0" sz="1200" spc="-5">
                <a:latin typeface="Arial Unicode MS"/>
                <a:cs typeface="Arial Unicode MS"/>
              </a:rPr>
              <a:t>致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</a:t>
            </a:r>
            <a:r>
              <a:rPr dirty="0" sz="1100" spc="125">
                <a:latin typeface="Georgia"/>
                <a:cs typeface="Georgia"/>
              </a:rPr>
              <a:t> </a:t>
            </a:r>
            <a:r>
              <a:rPr dirty="0" sz="1100" spc="25">
                <a:latin typeface="Georgia"/>
                <a:cs typeface="Georgia"/>
              </a:rPr>
              <a:t>CrO</a:t>
            </a:r>
            <a:r>
              <a:rPr dirty="0" sz="1100" spc="17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沉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444" y="1363789"/>
            <a:ext cx="4384040" cy="100266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淀出现过</a:t>
            </a:r>
            <a:r>
              <a:rPr dirty="0" sz="1200" spc="-260">
                <a:latin typeface="Arial Unicode MS"/>
                <a:cs typeface="Arial Unicode MS"/>
              </a:rPr>
              <a:t>迟</a:t>
            </a:r>
            <a:r>
              <a:rPr dirty="0" sz="1200" spc="-5">
                <a:latin typeface="Arial Unicode MS"/>
                <a:cs typeface="Arial Unicode MS"/>
              </a:rPr>
              <a:t>（甚至不出</a:t>
            </a:r>
            <a:r>
              <a:rPr dirty="0" sz="1200" spc="30">
                <a:latin typeface="Arial Unicode MS"/>
                <a:cs typeface="Arial Unicode MS"/>
              </a:rPr>
              <a:t>现</a:t>
            </a:r>
            <a:r>
              <a:rPr dirty="0" sz="1200" spc="-450">
                <a:latin typeface="Arial Unicode MS"/>
                <a:cs typeface="Arial Unicode MS"/>
              </a:rPr>
              <a:t>）；</a:t>
            </a:r>
            <a:r>
              <a:rPr dirty="0" sz="1200" spc="-5">
                <a:latin typeface="Arial Unicode MS"/>
                <a:cs typeface="Arial Unicode MS"/>
              </a:rPr>
              <a:t>如果溶液的碱性太</a:t>
            </a:r>
            <a:r>
              <a:rPr dirty="0" sz="1200" spc="-80">
                <a:latin typeface="Arial Unicode MS"/>
                <a:cs typeface="Arial Unicode MS"/>
              </a:rPr>
              <a:t>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则会生成</a:t>
            </a:r>
            <a:r>
              <a:rPr dirty="0" sz="1200" spc="-15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Ag</a:t>
            </a:r>
            <a:r>
              <a:rPr dirty="0" baseline="-13888" sz="900" spc="75">
                <a:latin typeface="Times New Roman"/>
                <a:cs typeface="Times New Roman"/>
              </a:rPr>
              <a:t>2</a:t>
            </a:r>
            <a:r>
              <a:rPr dirty="0" sz="1100" spc="5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沉</a:t>
            </a:r>
            <a:r>
              <a:rPr dirty="0" sz="1200" spc="-90">
                <a:latin typeface="Arial Unicode MS"/>
                <a:cs typeface="Arial Unicode MS"/>
              </a:rPr>
              <a:t>淀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259205">
              <a:lnSpc>
                <a:spcPts val="990"/>
              </a:lnSpc>
              <a:spcBef>
                <a:spcPts val="425"/>
              </a:spcBef>
            </a:pPr>
            <a:r>
              <a:rPr dirty="0" sz="1100" spc="55">
                <a:latin typeface="Georgia"/>
                <a:cs typeface="Georgia"/>
              </a:rPr>
              <a:t>2Ag</a:t>
            </a:r>
            <a:r>
              <a:rPr dirty="0" baseline="41666" sz="900" spc="82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5">
                <a:latin typeface="Georgia"/>
                <a:cs typeface="Georgia"/>
              </a:rPr>
              <a:t>2OH</a:t>
            </a:r>
            <a:r>
              <a:rPr dirty="0" baseline="41666" sz="900" spc="37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30">
                <a:latin typeface="Georgia"/>
                <a:cs typeface="Georgia"/>
              </a:rPr>
              <a:t>Ag O </a:t>
            </a:r>
            <a:r>
              <a:rPr dirty="0" sz="1100" spc="-40">
                <a:latin typeface="Lucida Sans Unicode"/>
                <a:cs typeface="Lucida Sans Unicode"/>
              </a:rPr>
              <a:t>↓ </a:t>
            </a:r>
            <a:r>
              <a:rPr dirty="0" sz="1100" spc="30">
                <a:latin typeface="Georgia"/>
                <a:cs typeface="Georgia"/>
              </a:rPr>
              <a:t>+H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  <a:p>
            <a:pPr marL="2468245">
              <a:lnSpc>
                <a:spcPts val="390"/>
              </a:lnSpc>
              <a:tabLst>
                <a:tab pos="2987040" algn="l"/>
              </a:tabLst>
            </a:pPr>
            <a:r>
              <a:rPr dirty="0" sz="600" spc="65">
                <a:latin typeface="Times New Roman"/>
                <a:cs typeface="Times New Roman"/>
              </a:rPr>
              <a:t>2	2</a:t>
            </a: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800">
              <a:latin typeface="Times New Roman"/>
              <a:cs typeface="Times New Roman"/>
            </a:endParaRPr>
          </a:p>
          <a:p>
            <a:pPr marL="341630">
              <a:lnSpc>
                <a:spcPct val="100000"/>
              </a:lnSpc>
            </a:pPr>
            <a:r>
              <a:rPr dirty="0" sz="1200" spc="-5">
                <a:latin typeface="Arial Unicode MS"/>
                <a:cs typeface="Arial Unicode MS"/>
              </a:rPr>
              <a:t>所</a:t>
            </a:r>
            <a:r>
              <a:rPr dirty="0" sz="1200" spc="-80">
                <a:latin typeface="Arial Unicode MS"/>
                <a:cs typeface="Arial Unicode MS"/>
              </a:rPr>
              <a:t>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莫尔法的酸度一般控制在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55">
                <a:latin typeface="Georgia"/>
                <a:cs typeface="Georgia"/>
              </a:rPr>
              <a:t>pH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6</a:t>
            </a:r>
            <a:r>
              <a:rPr dirty="0" sz="1100" spc="-50" b="0" i="1">
                <a:latin typeface="Bookman Old Style"/>
                <a:cs typeface="Bookman Old Style"/>
              </a:rPr>
              <a:t>.</a:t>
            </a:r>
            <a:r>
              <a:rPr dirty="0" sz="1100" spc="-50">
                <a:latin typeface="Georgia"/>
                <a:cs typeface="Georgia"/>
              </a:rPr>
              <a:t>5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Georgia"/>
                <a:cs typeface="Georgia"/>
              </a:rPr>
              <a:t>10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5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968298"/>
            <a:ext cx="4407535" cy="92075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just"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莫尔法通常用于滴定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95">
                <a:latin typeface="Georgia"/>
                <a:cs typeface="Georgia"/>
              </a:rPr>
              <a:t>Cl</a:t>
            </a:r>
            <a:r>
              <a:rPr dirty="0" baseline="37037" sz="900" spc="142" i="1">
                <a:latin typeface="Arial"/>
                <a:cs typeface="Arial"/>
              </a:rPr>
              <a:t>−</a:t>
            </a:r>
            <a:r>
              <a:rPr dirty="0" baseline="37037" sz="900" spc="359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和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95">
                <a:latin typeface="Georgia"/>
                <a:cs typeface="Georgia"/>
              </a:rPr>
              <a:t>Br</a:t>
            </a:r>
            <a:r>
              <a:rPr dirty="0" baseline="37037" sz="900" spc="142" i="1">
                <a:latin typeface="Arial"/>
                <a:cs typeface="Arial"/>
              </a:rPr>
              <a:t>−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但由于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AgBr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沉淀会吸</a:t>
            </a:r>
            <a:endParaRPr sz="1200">
              <a:latin typeface="Arial Unicode MS"/>
              <a:cs typeface="Arial Unicode MS"/>
            </a:endParaRPr>
          </a:p>
          <a:p>
            <a:pPr algn="just" marL="38100" marR="30480">
              <a:lnSpc>
                <a:spcPct val="122300"/>
              </a:lnSpc>
            </a:pPr>
            <a:r>
              <a:rPr dirty="0" sz="1200" spc="-5">
                <a:latin typeface="Arial Unicode MS"/>
                <a:cs typeface="Arial Unicode MS"/>
              </a:rPr>
              <a:t>附</a:t>
            </a:r>
            <a:r>
              <a:rPr dirty="0" sz="1100" spc="10">
                <a:latin typeface="Georgia"/>
                <a:cs typeface="Georgia"/>
              </a:rPr>
              <a:t>Br</a:t>
            </a:r>
            <a:r>
              <a:rPr dirty="0" baseline="37037" sz="900" spc="15" i="1">
                <a:latin typeface="Arial"/>
                <a:cs typeface="Arial"/>
              </a:rPr>
              <a:t>−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故滴定过程中要剧烈摇动锥形</a:t>
            </a:r>
            <a:r>
              <a:rPr dirty="0" sz="1200" spc="-80">
                <a:latin typeface="Arial Unicode MS"/>
                <a:cs typeface="Arial Unicode MS"/>
              </a:rPr>
              <a:t>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使被吸附的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85">
                <a:latin typeface="Georgia"/>
                <a:cs typeface="Georgia"/>
              </a:rPr>
              <a:t>Br</a:t>
            </a:r>
            <a:r>
              <a:rPr dirty="0" baseline="37037" sz="900" spc="127" i="1">
                <a:latin typeface="Arial"/>
                <a:cs typeface="Arial"/>
              </a:rPr>
              <a:t>−</a:t>
            </a:r>
            <a:r>
              <a:rPr dirty="0" baseline="37037" sz="900" spc="330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释放出 </a:t>
            </a:r>
            <a:r>
              <a:rPr dirty="0" sz="1200" spc="-80">
                <a:latin typeface="Arial Unicode MS"/>
                <a:cs typeface="Arial Unicode MS"/>
              </a:rPr>
              <a:t>来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否则会导致较大的滴定误</a:t>
            </a:r>
            <a:r>
              <a:rPr dirty="0" sz="1200" spc="-20">
                <a:latin typeface="Arial Unicode MS"/>
                <a:cs typeface="Arial Unicode MS"/>
              </a:rPr>
              <a:t>差</a:t>
            </a:r>
            <a:r>
              <a:rPr dirty="0" sz="1200" spc="-254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滴定之前还需将溶液中存在的</a:t>
            </a:r>
            <a:r>
              <a:rPr dirty="0" sz="1200" spc="-5">
                <a:latin typeface="Arial Unicode MS"/>
                <a:cs typeface="Arial Unicode MS"/>
              </a:rPr>
              <a:t>各 </a:t>
            </a:r>
            <a:r>
              <a:rPr dirty="0" sz="1200" spc="-5">
                <a:latin typeface="Arial Unicode MS"/>
                <a:cs typeface="Arial Unicode MS"/>
              </a:rPr>
              <a:t>种干扰离子预先分离</a:t>
            </a:r>
            <a:r>
              <a:rPr dirty="0" sz="1200" spc="-20">
                <a:latin typeface="Arial Unicode MS"/>
                <a:cs typeface="Arial Unicode MS"/>
              </a:rPr>
              <a:t>掉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23139"/>
            <a:ext cx="1384935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8.2</a:t>
            </a:r>
            <a:r>
              <a:rPr dirty="0" sz="1400" spc="22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佛尔哈德法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1441856"/>
            <a:ext cx="4438650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r" marR="60960">
              <a:lnSpc>
                <a:spcPct val="100000"/>
              </a:lnSpc>
              <a:spcBef>
                <a:spcPts val="420"/>
              </a:spcBef>
            </a:pPr>
            <a:r>
              <a:rPr dirty="0" sz="1200" spc="-10">
                <a:latin typeface="Arial Unicode MS"/>
                <a:cs typeface="Arial Unicode MS"/>
              </a:rPr>
              <a:t>佛尔哈德法是以铁铵</a:t>
            </a:r>
            <a:r>
              <a:rPr dirty="0" sz="1200" spc="-5">
                <a:latin typeface="Arial Unicode MS"/>
                <a:cs typeface="Arial Unicode MS"/>
              </a:rPr>
              <a:t>钒</a:t>
            </a:r>
            <a:r>
              <a:rPr dirty="0" sz="1200" spc="-30">
                <a:latin typeface="Arial Unicode MS"/>
                <a:cs typeface="Arial Unicode MS"/>
              </a:rPr>
              <a:t> </a:t>
            </a:r>
            <a:r>
              <a:rPr dirty="0" sz="1100" spc="10">
                <a:latin typeface="Georgia"/>
                <a:cs typeface="Georgia"/>
              </a:rPr>
              <a:t>NH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Fe(SO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baseline="-13888" sz="900" spc="52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为指示剂的银量</a:t>
            </a:r>
            <a:r>
              <a:rPr dirty="0" sz="1200" spc="-25">
                <a:latin typeface="Arial Unicode MS"/>
                <a:cs typeface="Arial Unicode MS"/>
              </a:rPr>
              <a:t>法</a:t>
            </a:r>
            <a:r>
              <a:rPr dirty="0" sz="1200" spc="-285">
                <a:latin typeface="Arial Unicode MS"/>
                <a:cs typeface="Arial Unicode MS"/>
              </a:rPr>
              <a:t>。</a:t>
            </a:r>
            <a:r>
              <a:rPr dirty="0" sz="1200" spc="-10">
                <a:latin typeface="Arial Unicode MS"/>
                <a:cs typeface="Arial Unicode MS"/>
              </a:rPr>
              <a:t>根</a:t>
            </a:r>
            <a:r>
              <a:rPr dirty="0" sz="1200" spc="-5">
                <a:latin typeface="Arial Unicode MS"/>
                <a:cs typeface="Arial Unicode MS"/>
              </a:rPr>
              <a:t>据</a:t>
            </a:r>
            <a:endParaRPr sz="1200">
              <a:latin typeface="Arial Unicode MS"/>
              <a:cs typeface="Arial Unicode MS"/>
            </a:endParaRPr>
          </a:p>
          <a:p>
            <a:pPr algn="r" marR="30480">
              <a:lnSpc>
                <a:spcPct val="100000"/>
              </a:lnSpc>
              <a:spcBef>
                <a:spcPts val="320"/>
              </a:spcBef>
            </a:pPr>
            <a:r>
              <a:rPr dirty="0" sz="1200" spc="-10">
                <a:latin typeface="Arial Unicode MS"/>
                <a:cs typeface="Arial Unicode MS"/>
              </a:rPr>
              <a:t>测定的对象的不</a:t>
            </a:r>
            <a:r>
              <a:rPr dirty="0" sz="1200" spc="-80">
                <a:latin typeface="Arial Unicode MS"/>
                <a:cs typeface="Arial Unicode MS"/>
              </a:rPr>
              <a:t>同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佛尔哈德法又可分为直接滴定法和返滴定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776" y="192722"/>
            <a:ext cx="1286510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直接滴定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法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测定 </a:t>
            </a:r>
            <a:r>
              <a:rPr dirty="0" sz="1000" spc="95">
                <a:solidFill>
                  <a:srgbClr val="FFFFFF"/>
                </a:solidFill>
                <a:latin typeface="Georgia"/>
                <a:cs typeface="Georgia"/>
              </a:rPr>
              <a:t>Ag</a:t>
            </a:r>
            <a:r>
              <a:rPr dirty="0" baseline="27777" sz="1050" spc="142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endParaRPr baseline="27777" sz="10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947801"/>
            <a:ext cx="440753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在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-5">
                <a:latin typeface="Georgia"/>
                <a:cs typeface="Georgia"/>
              </a:rPr>
              <a:t>HNO</a:t>
            </a:r>
            <a:r>
              <a:rPr dirty="0" baseline="-13888" sz="900" spc="-7">
                <a:latin typeface="Times New Roman"/>
                <a:cs typeface="Times New Roman"/>
              </a:rPr>
              <a:t>3</a:t>
            </a:r>
            <a:r>
              <a:rPr dirty="0" baseline="-13888" sz="900" spc="142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溶液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21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10">
                <a:latin typeface="Georgia"/>
                <a:cs typeface="Georgia"/>
              </a:rPr>
              <a:t>NH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Fe(SO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baseline="-13888" sz="900" spc="1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为指示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21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NH</a:t>
            </a:r>
            <a:r>
              <a:rPr dirty="0" baseline="-13888" sz="900" spc="7">
                <a:latin typeface="Times New Roman"/>
                <a:cs typeface="Times New Roman"/>
              </a:rPr>
              <a:t>4</a:t>
            </a:r>
            <a:r>
              <a:rPr dirty="0" sz="1100" spc="5">
                <a:latin typeface="Georgia"/>
                <a:cs typeface="Georgia"/>
              </a:rPr>
              <a:t>SCN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标</a:t>
            </a:r>
            <a:r>
              <a:rPr dirty="0" sz="1200" spc="-5">
                <a:latin typeface="Arial Unicode MS"/>
                <a:cs typeface="Arial Unicode MS"/>
              </a:rPr>
              <a:t>准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溶液滴定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Ag</a:t>
            </a:r>
            <a:r>
              <a:rPr dirty="0" baseline="37037" sz="900" spc="30">
                <a:latin typeface="Times New Roman"/>
                <a:cs typeface="Times New Roman"/>
              </a:rPr>
              <a:t>+</a:t>
            </a:r>
            <a:r>
              <a:rPr dirty="0" sz="1200" spc="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9757" y="1589163"/>
            <a:ext cx="11245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425"/>
              </a:lnSpc>
              <a:spcBef>
                <a:spcPts val="90"/>
              </a:spcBef>
            </a:pPr>
            <a:r>
              <a:rPr dirty="0" sz="1100" spc="95" b="0" i="1">
                <a:latin typeface="Bookman Old Style"/>
                <a:cs typeface="Bookman Old Style"/>
              </a:rPr>
              <a:t>K</a:t>
            </a:r>
            <a:r>
              <a:rPr dirty="0" baseline="-13888" sz="900" spc="142">
                <a:latin typeface="Times New Roman"/>
                <a:cs typeface="Times New Roman"/>
              </a:rPr>
              <a:t>sp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35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4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41666" sz="900" spc="82" i="1">
                <a:latin typeface="Arial"/>
                <a:cs typeface="Arial"/>
              </a:rPr>
              <a:t>−</a:t>
            </a:r>
            <a:endParaRPr baseline="41666" sz="900">
              <a:latin typeface="Arial"/>
              <a:cs typeface="Arial"/>
            </a:endParaRPr>
          </a:p>
          <a:p>
            <a:pPr algn="r" marR="30480">
              <a:lnSpc>
                <a:spcPts val="345"/>
              </a:lnSpc>
            </a:pPr>
            <a:r>
              <a:rPr dirty="0" sz="600" spc="65">
                <a:latin typeface="Times New Roman"/>
                <a:cs typeface="Times New Roman"/>
              </a:rPr>
              <a:t>12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101" y="1575879"/>
            <a:ext cx="2494915" cy="570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18415">
              <a:lnSpc>
                <a:spcPct val="100000"/>
              </a:lnSpc>
              <a:spcBef>
                <a:spcPts val="95"/>
              </a:spcBef>
            </a:pPr>
            <a:r>
              <a:rPr dirty="0" sz="1100" spc="100">
                <a:latin typeface="Georgia"/>
                <a:cs typeface="Georgia"/>
              </a:rPr>
              <a:t>Ag</a:t>
            </a:r>
            <a:r>
              <a:rPr dirty="0" baseline="41666" sz="900" spc="150">
                <a:latin typeface="Times New Roman"/>
                <a:cs typeface="Times New Roman"/>
              </a:rPr>
              <a:t>+</a:t>
            </a:r>
            <a:r>
              <a:rPr dirty="0" baseline="41666" sz="900" spc="19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SCN</a:t>
            </a:r>
            <a:r>
              <a:rPr dirty="0" baseline="41666" sz="900" spc="97" i="1">
                <a:latin typeface="Arial"/>
                <a:cs typeface="Arial"/>
              </a:rPr>
              <a:t>−</a:t>
            </a:r>
            <a:r>
              <a:rPr dirty="0" baseline="41666" sz="900" spc="262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AgSCN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r>
              <a:rPr dirty="0" sz="1100" spc="-5">
                <a:latin typeface="Lucida Sans Unicode"/>
                <a:cs typeface="Lucida Sans Unicode"/>
              </a:rPr>
              <a:t> </a:t>
            </a:r>
            <a:r>
              <a:rPr dirty="0" sz="1100" spc="5">
                <a:latin typeface="Georgia"/>
                <a:cs typeface="Georgia"/>
              </a:rPr>
              <a:t>(</a:t>
            </a:r>
            <a:r>
              <a:rPr dirty="0" sz="1200" spc="-5">
                <a:latin typeface="Arial Unicode MS"/>
                <a:cs typeface="Arial Unicode MS"/>
              </a:rPr>
              <a:t>白色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415"/>
              </a:spcBef>
            </a:pPr>
            <a:r>
              <a:rPr dirty="0" sz="1200" spc="-5">
                <a:latin typeface="Arial Unicode MS"/>
                <a:cs typeface="Arial Unicode MS"/>
              </a:rPr>
              <a:t>滴定终点时指示剂的显色反应如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4237" y="2301633"/>
            <a:ext cx="205803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41666" sz="900" spc="67">
                <a:latin typeface="Times New Roman"/>
                <a:cs typeface="Times New Roman"/>
              </a:rPr>
              <a:t>3+</a:t>
            </a:r>
            <a:r>
              <a:rPr dirty="0" baseline="41666" sz="900" spc="19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65">
                <a:latin typeface="Georgia"/>
                <a:cs typeface="Georgia"/>
              </a:rPr>
              <a:t>SCN</a:t>
            </a:r>
            <a:r>
              <a:rPr dirty="0" baseline="41666" sz="900" spc="97" i="1">
                <a:latin typeface="Arial"/>
                <a:cs typeface="Arial"/>
              </a:rPr>
              <a:t>−</a:t>
            </a:r>
            <a:r>
              <a:rPr dirty="0" baseline="41666" sz="900" spc="262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FeSCN</a:t>
            </a:r>
            <a:r>
              <a:rPr dirty="0" baseline="41666" sz="900" spc="44">
                <a:latin typeface="Times New Roman"/>
                <a:cs typeface="Times New Roman"/>
              </a:rPr>
              <a:t>2+</a:t>
            </a:r>
            <a:r>
              <a:rPr dirty="0" baseline="41666" sz="900" spc="104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Georgia"/>
                <a:cs typeface="Georgia"/>
              </a:rPr>
              <a:t>(</a:t>
            </a:r>
            <a:r>
              <a:rPr dirty="0" sz="1200" spc="-5">
                <a:latin typeface="Arial Unicode MS"/>
                <a:cs typeface="Arial Unicode MS"/>
              </a:rPr>
              <a:t>红色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92665" y="2314918"/>
            <a:ext cx="6813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95" b="0" i="1">
                <a:latin typeface="Bookman Old Style"/>
                <a:cs typeface="Bookman Old Style"/>
              </a:rPr>
              <a:t>K</a:t>
            </a:r>
            <a:r>
              <a:rPr dirty="0" baseline="-13888" sz="900" spc="142">
                <a:latin typeface="Times New Roman"/>
                <a:cs typeface="Times New Roman"/>
              </a:rPr>
              <a:t>sp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-165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138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597420"/>
            <a:ext cx="4399915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实验证</a:t>
            </a:r>
            <a:r>
              <a:rPr dirty="0" sz="1200" spc="-80">
                <a:latin typeface="Arial Unicode MS"/>
                <a:cs typeface="Arial Unicode MS"/>
              </a:rPr>
              <a:t>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为了使终点时能够观察到明显的红</a:t>
            </a:r>
            <a:r>
              <a:rPr dirty="0" sz="1200" spc="-80">
                <a:latin typeface="Arial Unicode MS"/>
                <a:cs typeface="Arial Unicode MS"/>
              </a:rPr>
              <a:t>色</a:t>
            </a:r>
            <a:r>
              <a:rPr dirty="0" sz="1200" spc="5">
                <a:latin typeface="Arial Unicode MS"/>
                <a:cs typeface="Arial Unicode MS"/>
              </a:rPr>
              <a:t>，</a:t>
            </a:r>
            <a:r>
              <a:rPr dirty="0" sz="1100" spc="5">
                <a:latin typeface="Georgia"/>
                <a:cs typeface="Georgia"/>
              </a:rPr>
              <a:t>FeSCN</a:t>
            </a:r>
            <a:r>
              <a:rPr dirty="0" baseline="37037" sz="900" spc="7">
                <a:latin typeface="Times New Roman"/>
                <a:cs typeface="Times New Roman"/>
              </a:rPr>
              <a:t>2+</a:t>
            </a:r>
            <a:r>
              <a:rPr dirty="0" baseline="37037" sz="900" spc="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浓度要达到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80">
                <a:latin typeface="Georgia"/>
                <a:cs typeface="Georgia"/>
              </a:rPr>
              <a:t>6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20">
                <a:latin typeface="Georgia"/>
                <a:cs typeface="Georgia"/>
              </a:rPr>
              <a:t>10</a:t>
            </a:r>
            <a:r>
              <a:rPr dirty="0" baseline="37037" sz="900" spc="30" i="1">
                <a:latin typeface="Arial"/>
                <a:cs typeface="Arial"/>
              </a:rPr>
              <a:t>−</a:t>
            </a:r>
            <a:r>
              <a:rPr dirty="0" baseline="37037" sz="900" spc="30">
                <a:latin typeface="Times New Roman"/>
                <a:cs typeface="Times New Roman"/>
              </a:rPr>
              <a:t>6</a:t>
            </a:r>
            <a:r>
              <a:rPr dirty="0" sz="1100" spc="20">
                <a:latin typeface="Georgia"/>
                <a:cs typeface="Georgia"/>
              </a:rPr>
              <a:t>mol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10">
                <a:latin typeface="Lucida Sans Unicode"/>
                <a:cs typeface="Lucida Sans Unicode"/>
              </a:rPr>
              <a:t> </a:t>
            </a:r>
            <a:r>
              <a:rPr dirty="0" sz="1100" spc="20">
                <a:latin typeface="Georgia"/>
                <a:cs typeface="Georgia"/>
              </a:rPr>
              <a:t>L</a:t>
            </a:r>
            <a:r>
              <a:rPr dirty="0" baseline="37037" sz="900" spc="30" i="1">
                <a:latin typeface="Arial"/>
                <a:cs typeface="Arial"/>
              </a:rPr>
              <a:t>−</a:t>
            </a:r>
            <a:r>
              <a:rPr dirty="0" baseline="37037" sz="900" spc="30">
                <a:latin typeface="Times New Roman"/>
                <a:cs typeface="Times New Roman"/>
              </a:rPr>
              <a:t>1</a:t>
            </a:r>
            <a:r>
              <a:rPr dirty="0" sz="1200" spc="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37037" sz="900" spc="67">
                <a:latin typeface="Times New Roman"/>
                <a:cs typeface="Times New Roman"/>
              </a:rPr>
              <a:t>3+</a:t>
            </a:r>
            <a:r>
              <a:rPr dirty="0" baseline="37037" sz="900" spc="9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的浓度应</a:t>
            </a:r>
            <a:r>
              <a:rPr dirty="0" sz="1200" spc="-90">
                <a:latin typeface="Arial Unicode MS"/>
                <a:cs typeface="Arial Unicode MS"/>
              </a:rPr>
              <a:t>为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565" y="1253617"/>
            <a:ext cx="6521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Georgia"/>
                <a:cs typeface="Georgia"/>
              </a:rPr>
              <a:t>[Fe</a:t>
            </a:r>
            <a:r>
              <a:rPr dirty="0" baseline="41666" sz="900">
                <a:latin typeface="Times New Roman"/>
                <a:cs typeface="Times New Roman"/>
              </a:rPr>
              <a:t>3+</a:t>
            </a:r>
            <a:r>
              <a:rPr dirty="0" sz="1100">
                <a:latin typeface="Georgia"/>
                <a:cs typeface="Georgia"/>
              </a:rPr>
              <a:t>]</a:t>
            </a:r>
            <a:r>
              <a:rPr dirty="0" sz="1100" spc="13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23809" y="1370215"/>
            <a:ext cx="1312545" cy="0"/>
          </a:xfrm>
          <a:custGeom>
            <a:avLst/>
            <a:gdLst/>
            <a:ahLst/>
            <a:cxnLst/>
            <a:rect l="l" t="t" r="r" b="b"/>
            <a:pathLst>
              <a:path w="1312545" h="0">
                <a:moveTo>
                  <a:pt x="0" y="0"/>
                </a:moveTo>
                <a:lnTo>
                  <a:pt x="131248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85709" y="1137358"/>
            <a:ext cx="138874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1100" spc="5">
                <a:latin typeface="Georgia"/>
                <a:cs typeface="Georgia"/>
              </a:rPr>
              <a:t>[FeSCN</a:t>
            </a:r>
            <a:r>
              <a:rPr dirty="0" baseline="37037" sz="900" spc="7">
                <a:latin typeface="Times New Roman"/>
                <a:cs typeface="Times New Roman"/>
              </a:rPr>
              <a:t>2+</a:t>
            </a:r>
            <a:r>
              <a:rPr dirty="0" sz="1100" spc="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40" b="0" i="1">
                <a:latin typeface="Bookman Old Style"/>
                <a:cs typeface="Bookman Old Style"/>
              </a:rPr>
              <a:t>K</a:t>
            </a:r>
            <a:r>
              <a:rPr dirty="0" sz="1100" spc="40">
                <a:latin typeface="Georgia"/>
                <a:cs typeface="Georgia"/>
              </a:rPr>
              <a:t>(FeSCN</a:t>
            </a:r>
            <a:r>
              <a:rPr dirty="0" baseline="27777" sz="900" spc="60">
                <a:latin typeface="Times New Roman"/>
                <a:cs typeface="Times New Roman"/>
              </a:rPr>
              <a:t>2+</a:t>
            </a:r>
            <a:r>
              <a:rPr dirty="0" sz="1100" spc="40">
                <a:latin typeface="Georgia"/>
                <a:cs typeface="Georgia"/>
              </a:rPr>
              <a:t>)</a:t>
            </a:r>
            <a:r>
              <a:rPr dirty="0" baseline="-13888" sz="900" spc="60">
                <a:latin typeface="Times New Roman"/>
                <a:cs typeface="Times New Roman"/>
              </a:rPr>
              <a:t>sp</a:t>
            </a:r>
            <a:r>
              <a:rPr dirty="0" sz="1100" spc="40">
                <a:latin typeface="Georgia"/>
                <a:cs typeface="Georgia"/>
              </a:rPr>
              <a:t>[SCN</a:t>
            </a:r>
            <a:r>
              <a:rPr dirty="0" baseline="27777" sz="900" spc="60" i="1">
                <a:latin typeface="Arial"/>
                <a:cs typeface="Arial"/>
              </a:rPr>
              <a:t>−</a:t>
            </a:r>
            <a:r>
              <a:rPr dirty="0" sz="1100" spc="40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1643" y="1632432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3566" y="1538706"/>
            <a:ext cx="6985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5">
                <a:latin typeface="Georgia"/>
                <a:cs typeface="Georgia"/>
              </a:rPr>
              <a:t>[FeSCN</a:t>
            </a:r>
            <a:r>
              <a:rPr dirty="0" baseline="37037" sz="900" spc="7">
                <a:latin typeface="Times New Roman"/>
                <a:cs typeface="Times New Roman"/>
              </a:rPr>
              <a:t>2+</a:t>
            </a:r>
            <a:r>
              <a:rPr dirty="0" sz="1100" spc="5">
                <a:latin typeface="Georgia"/>
                <a:cs typeface="Georgia"/>
              </a:rPr>
              <a:t>]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23809" y="1749044"/>
            <a:ext cx="1798320" cy="0"/>
          </a:xfrm>
          <a:custGeom>
            <a:avLst/>
            <a:gdLst/>
            <a:ahLst/>
            <a:cxnLst/>
            <a:rect l="l" t="t" r="r" b="b"/>
            <a:pathLst>
              <a:path w="1798320" h="0">
                <a:moveTo>
                  <a:pt x="0" y="0"/>
                </a:moveTo>
                <a:lnTo>
                  <a:pt x="179782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213965" y="1768881"/>
            <a:ext cx="1428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86240" y="1628279"/>
            <a:ext cx="1644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60">
                <a:latin typeface="Arial Unicode MS"/>
                <a:cs typeface="Arial Unicode MS"/>
              </a:rPr>
              <a:t>✓</a:t>
            </a:r>
            <a:endParaRPr sz="11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37485" y="1776755"/>
            <a:ext cx="784225" cy="0"/>
          </a:xfrm>
          <a:custGeom>
            <a:avLst/>
            <a:gdLst/>
            <a:ahLst/>
            <a:cxnLst/>
            <a:rect l="l" t="t" r="r" b="b"/>
            <a:pathLst>
              <a:path w="784225" h="0">
                <a:moveTo>
                  <a:pt x="0" y="0"/>
                </a:moveTo>
                <a:lnTo>
                  <a:pt x="78413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11109" y="1746275"/>
            <a:ext cx="17291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26160" algn="l"/>
              </a:tabLst>
            </a:pP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sz="1100" spc="25">
                <a:latin typeface="Georgia"/>
                <a:cs typeface="Georgia"/>
              </a:rPr>
              <a:t>(</a:t>
            </a:r>
            <a:r>
              <a:rPr dirty="0" sz="1100" spc="-55">
                <a:latin typeface="Georgia"/>
                <a:cs typeface="Georgia"/>
              </a:rPr>
              <a:t>F</a:t>
            </a:r>
            <a:r>
              <a:rPr dirty="0" sz="1100" spc="-50">
                <a:latin typeface="Georgia"/>
                <a:cs typeface="Georgia"/>
              </a:rPr>
              <a:t>e</a:t>
            </a:r>
            <a:r>
              <a:rPr dirty="0" sz="1100" spc="-20">
                <a:latin typeface="Georgia"/>
                <a:cs typeface="Georgia"/>
              </a:rPr>
              <a:t>S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 spc="-30">
                <a:latin typeface="Georgia"/>
                <a:cs typeface="Georgia"/>
              </a:rPr>
              <a:t>N</a:t>
            </a:r>
            <a:r>
              <a:rPr dirty="0" sz="1100">
                <a:latin typeface="Georgia"/>
                <a:cs typeface="Georgia"/>
              </a:rPr>
              <a:t>   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100" spc="204" b="0" i="1">
                <a:latin typeface="Bookman Old Style"/>
                <a:cs typeface="Bookman Old Style"/>
              </a:rPr>
              <a:t>K</a:t>
            </a:r>
            <a:r>
              <a:rPr dirty="0" sz="1100" spc="15">
                <a:latin typeface="Georgia"/>
                <a:cs typeface="Georgia"/>
              </a:rPr>
              <a:t>(Ag</a:t>
            </a:r>
            <a:r>
              <a:rPr dirty="0" sz="1100" spc="10">
                <a:latin typeface="Georgia"/>
                <a:cs typeface="Georgia"/>
              </a:rPr>
              <a:t>S</a:t>
            </a:r>
            <a:r>
              <a:rPr dirty="0" sz="1100" spc="80">
                <a:latin typeface="Georgia"/>
                <a:cs typeface="Georgia"/>
              </a:rPr>
              <a:t>C</a:t>
            </a:r>
            <a:r>
              <a:rPr dirty="0" sz="1100" spc="-10">
                <a:latin typeface="Georgia"/>
                <a:cs typeface="Georgia"/>
              </a:rPr>
              <a:t>N)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1562" y="1829689"/>
            <a:ext cx="10369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34719" algn="l"/>
              </a:tabLst>
            </a:pPr>
            <a:r>
              <a:rPr dirty="0" sz="600" spc="80">
                <a:latin typeface="Times New Roman"/>
                <a:cs typeface="Times New Roman"/>
              </a:rPr>
              <a:t>sp</a:t>
            </a:r>
            <a:r>
              <a:rPr dirty="0" sz="600" spc="80">
                <a:latin typeface="Times New Roman"/>
                <a:cs typeface="Times New Roman"/>
              </a:rPr>
              <a:t>	</a:t>
            </a:r>
            <a:r>
              <a:rPr dirty="0" sz="600" spc="8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1643" y="2032533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8164" y="1938807"/>
            <a:ext cx="5734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80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37037" sz="900" spc="82" i="1">
                <a:latin typeface="Arial"/>
                <a:cs typeface="Arial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6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23809" y="2149144"/>
            <a:ext cx="988060" cy="0"/>
          </a:xfrm>
          <a:custGeom>
            <a:avLst/>
            <a:gdLst/>
            <a:ahLst/>
            <a:cxnLst/>
            <a:rect l="l" t="t" r="r" b="b"/>
            <a:pathLst>
              <a:path w="988060" h="0">
                <a:moveTo>
                  <a:pt x="0" y="0"/>
                </a:moveTo>
                <a:lnTo>
                  <a:pt x="9878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611109" y="2127567"/>
            <a:ext cx="8877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latin typeface="Georgia"/>
                <a:cs typeface="Georgia"/>
              </a:rPr>
              <a:t>138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35">
                <a:latin typeface="Georgia"/>
                <a:cs typeface="Georgia"/>
              </a:rPr>
              <a:t>1</a:t>
            </a:r>
            <a:r>
              <a:rPr dirty="0" sz="1100" spc="-35" b="0" i="1">
                <a:latin typeface="Bookman Old Style"/>
                <a:cs typeface="Bookman Old Style"/>
              </a:rPr>
              <a:t>.</a:t>
            </a:r>
            <a:r>
              <a:rPr dirty="0" sz="1100" spc="-35">
                <a:latin typeface="Georgia"/>
                <a:cs typeface="Georgia"/>
              </a:rPr>
              <a:t>0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3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73159" y="2150160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08933" y="2037943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52648" y="2032533"/>
            <a:ext cx="10617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60">
                <a:latin typeface="Georgia"/>
                <a:cs typeface="Georgia"/>
              </a:rPr>
              <a:t>0</a:t>
            </a:r>
            <a:r>
              <a:rPr dirty="0" sz="1100" spc="-60" b="0" i="1">
                <a:latin typeface="Bookman Old Style"/>
                <a:cs typeface="Bookman Old Style"/>
              </a:rPr>
              <a:t>.</a:t>
            </a:r>
            <a:r>
              <a:rPr dirty="0" sz="1100" spc="-60">
                <a:latin typeface="Georgia"/>
                <a:cs typeface="Georgia"/>
              </a:rPr>
              <a:t>04(mol </a:t>
            </a:r>
            <a:r>
              <a:rPr dirty="0" sz="1100" spc="-395">
                <a:latin typeface="Lucida Sans Unicode"/>
                <a:cs typeface="Lucida Sans Unicode"/>
              </a:rPr>
              <a:t>·</a:t>
            </a:r>
            <a:r>
              <a:rPr dirty="0" sz="1100" spc="-125">
                <a:latin typeface="Lucida Sans Unicode"/>
                <a:cs typeface="Lucida Sans Unicode"/>
              </a:rPr>
              <a:t> </a:t>
            </a:r>
            <a:r>
              <a:rPr dirty="0" sz="1100" spc="15">
                <a:latin typeface="Georgia"/>
                <a:cs typeface="Georgia"/>
              </a:rPr>
              <a:t>L</a:t>
            </a:r>
            <a:r>
              <a:rPr dirty="0" sz="1100" spc="20">
                <a:latin typeface="Georgia"/>
                <a:cs typeface="Georgia"/>
              </a:rPr>
              <a:t> 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44" y="486041"/>
            <a:ext cx="4342130" cy="9207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solidFill>
                  <a:srgbClr val="000000"/>
                </a:solidFill>
              </a:rPr>
              <a:t>然</a:t>
            </a:r>
            <a:r>
              <a:rPr dirty="0" sz="1200" spc="-80">
                <a:solidFill>
                  <a:srgbClr val="000000"/>
                </a:solidFill>
              </a:rPr>
              <a:t>而</a:t>
            </a:r>
            <a:r>
              <a:rPr dirty="0" sz="1200" spc="-185">
                <a:solidFill>
                  <a:srgbClr val="000000"/>
                </a:solidFill>
              </a:rPr>
              <a:t>，</a:t>
            </a:r>
            <a:r>
              <a:rPr dirty="0" sz="1200" spc="-5">
                <a:solidFill>
                  <a:srgbClr val="000000"/>
                </a:solidFill>
              </a:rPr>
              <a:t>如此高的</a:t>
            </a:r>
            <a:r>
              <a:rPr dirty="0" sz="1200">
                <a:solidFill>
                  <a:srgbClr val="000000"/>
                </a:solidFill>
              </a:rPr>
              <a:t> </a:t>
            </a:r>
            <a:r>
              <a:rPr dirty="0" sz="1100" spc="45">
                <a:solidFill>
                  <a:srgbClr val="000000"/>
                </a:solidFill>
                <a:latin typeface="Georgia"/>
                <a:cs typeface="Georgia"/>
              </a:rPr>
              <a:t>Fe</a:t>
            </a:r>
            <a:r>
              <a:rPr dirty="0" baseline="37037" sz="900" spc="67">
                <a:solidFill>
                  <a:srgbClr val="000000"/>
                </a:solidFill>
                <a:latin typeface="Times New Roman"/>
                <a:cs typeface="Times New Roman"/>
              </a:rPr>
              <a:t>3+</a:t>
            </a:r>
            <a:r>
              <a:rPr dirty="0" baseline="37037" sz="900" spc="3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000000"/>
                </a:solidFill>
              </a:rPr>
              <a:t>的浓度会使溶液呈现较深的橙黄</a:t>
            </a:r>
            <a:r>
              <a:rPr dirty="0" sz="1200" spc="-80">
                <a:solidFill>
                  <a:srgbClr val="000000"/>
                </a:solidFill>
              </a:rPr>
              <a:t>色</a:t>
            </a:r>
            <a:r>
              <a:rPr dirty="0" sz="1200" spc="-185">
                <a:solidFill>
                  <a:srgbClr val="000000"/>
                </a:solidFill>
              </a:rPr>
              <a:t>，</a:t>
            </a:r>
            <a:r>
              <a:rPr dirty="0" sz="1200" spc="-5">
                <a:solidFill>
                  <a:srgbClr val="000000"/>
                </a:solidFill>
              </a:rPr>
              <a:t>影 响终点观</a:t>
            </a:r>
            <a:r>
              <a:rPr dirty="0" sz="1200" spc="-20">
                <a:solidFill>
                  <a:srgbClr val="000000"/>
                </a:solidFill>
              </a:rPr>
              <a:t>察</a:t>
            </a:r>
            <a:r>
              <a:rPr dirty="0" sz="1200" spc="-235">
                <a:solidFill>
                  <a:srgbClr val="000000"/>
                </a:solidFill>
              </a:rPr>
              <a:t>。</a:t>
            </a:r>
            <a:r>
              <a:rPr dirty="0" sz="1200" spc="-5">
                <a:solidFill>
                  <a:srgbClr val="000000"/>
                </a:solidFill>
              </a:rPr>
              <a:t>为了消除</a:t>
            </a:r>
            <a:r>
              <a:rPr dirty="0" sz="1200">
                <a:solidFill>
                  <a:srgbClr val="000000"/>
                </a:solidFill>
              </a:rPr>
              <a:t> </a:t>
            </a:r>
            <a:r>
              <a:rPr dirty="0" sz="1100" spc="45">
                <a:solidFill>
                  <a:srgbClr val="000000"/>
                </a:solidFill>
                <a:latin typeface="Georgia"/>
                <a:cs typeface="Georgia"/>
              </a:rPr>
              <a:t>Fe</a:t>
            </a:r>
            <a:r>
              <a:rPr dirty="0" baseline="37037" sz="900" spc="67">
                <a:solidFill>
                  <a:srgbClr val="000000"/>
                </a:solidFill>
                <a:latin typeface="Times New Roman"/>
                <a:cs typeface="Times New Roman"/>
              </a:rPr>
              <a:t>3+</a:t>
            </a:r>
            <a:r>
              <a:rPr dirty="0" baseline="37037" sz="900" spc="352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000000"/>
                </a:solidFill>
              </a:rPr>
              <a:t>的颜色的影</a:t>
            </a:r>
            <a:r>
              <a:rPr dirty="0" sz="1200" spc="-80">
                <a:solidFill>
                  <a:srgbClr val="000000"/>
                </a:solidFill>
              </a:rPr>
              <a:t>响</a:t>
            </a:r>
            <a:r>
              <a:rPr dirty="0" sz="1200" spc="-185">
                <a:solidFill>
                  <a:srgbClr val="000000"/>
                </a:solidFill>
              </a:rPr>
              <a:t>，</a:t>
            </a:r>
            <a:r>
              <a:rPr dirty="0" sz="1200" spc="-5">
                <a:solidFill>
                  <a:srgbClr val="000000"/>
                </a:solidFill>
              </a:rPr>
              <a:t>通常使滴定终点时溶 液中</a:t>
            </a:r>
            <a:r>
              <a:rPr dirty="0" sz="1200" spc="25">
                <a:solidFill>
                  <a:srgbClr val="000000"/>
                </a:solidFill>
              </a:rPr>
              <a:t> </a:t>
            </a:r>
            <a:r>
              <a:rPr dirty="0" sz="1100" spc="45">
                <a:solidFill>
                  <a:srgbClr val="000000"/>
                </a:solidFill>
                <a:latin typeface="Georgia"/>
                <a:cs typeface="Georgia"/>
              </a:rPr>
              <a:t>Fe</a:t>
            </a:r>
            <a:r>
              <a:rPr dirty="0" baseline="37037" sz="900" spc="67">
                <a:solidFill>
                  <a:srgbClr val="000000"/>
                </a:solidFill>
                <a:latin typeface="Times New Roman"/>
                <a:cs typeface="Times New Roman"/>
              </a:rPr>
              <a:t>3+</a:t>
            </a:r>
            <a:r>
              <a:rPr dirty="0" baseline="37037" sz="900" spc="89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200" spc="-5">
                <a:solidFill>
                  <a:srgbClr val="000000"/>
                </a:solidFill>
              </a:rPr>
              <a:t>的浓度为</a:t>
            </a:r>
            <a:r>
              <a:rPr dirty="0" sz="1200" spc="25">
                <a:solidFill>
                  <a:srgbClr val="000000"/>
                </a:solidFill>
              </a:rPr>
              <a:t> </a:t>
            </a:r>
            <a:r>
              <a:rPr dirty="0" sz="1100" spc="-55">
                <a:solidFill>
                  <a:srgbClr val="000000"/>
                </a:solidFill>
                <a:latin typeface="Georgia"/>
                <a:cs typeface="Georgia"/>
              </a:rPr>
              <a:t>0</a:t>
            </a:r>
            <a:r>
              <a:rPr dirty="0" sz="1100" spc="-55" b="0" i="1">
                <a:solidFill>
                  <a:srgbClr val="000000"/>
                </a:solidFill>
                <a:latin typeface="Bookman Old Style"/>
                <a:cs typeface="Bookman Old Style"/>
              </a:rPr>
              <a:t>.</a:t>
            </a:r>
            <a:r>
              <a:rPr dirty="0" sz="1100" spc="-55">
                <a:solidFill>
                  <a:srgbClr val="000000"/>
                </a:solidFill>
                <a:latin typeface="Georgia"/>
                <a:cs typeface="Georgia"/>
              </a:rPr>
              <a:t>015</a:t>
            </a:r>
            <a:r>
              <a:rPr dirty="0" sz="1100" spc="9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 sz="1100" spc="-60">
                <a:solidFill>
                  <a:srgbClr val="000000"/>
                </a:solidFill>
                <a:latin typeface="Georgia"/>
                <a:cs typeface="Georgia"/>
              </a:rPr>
              <a:t>mol/L</a:t>
            </a:r>
            <a:r>
              <a:rPr dirty="0" sz="1200" spc="-60">
                <a:solidFill>
                  <a:srgbClr val="000000"/>
                </a:solidFill>
              </a:rPr>
              <a:t>，</a:t>
            </a:r>
            <a:r>
              <a:rPr dirty="0" sz="1200" spc="-5">
                <a:solidFill>
                  <a:srgbClr val="000000"/>
                </a:solidFill>
              </a:rPr>
              <a:t>为</a:t>
            </a:r>
            <a:r>
              <a:rPr dirty="0" sz="1200" spc="-80">
                <a:solidFill>
                  <a:srgbClr val="000000"/>
                </a:solidFill>
              </a:rPr>
              <a:t>此</a:t>
            </a:r>
            <a:r>
              <a:rPr dirty="0" sz="1200" spc="-185">
                <a:solidFill>
                  <a:srgbClr val="000000"/>
                </a:solidFill>
              </a:rPr>
              <a:t>，</a:t>
            </a:r>
            <a:r>
              <a:rPr dirty="0" sz="1200" spc="-5">
                <a:solidFill>
                  <a:srgbClr val="000000"/>
                </a:solidFill>
              </a:rPr>
              <a:t>溶液中的</a:t>
            </a:r>
            <a:r>
              <a:rPr dirty="0" sz="1200" spc="30">
                <a:solidFill>
                  <a:srgbClr val="000000"/>
                </a:solidFill>
              </a:rPr>
              <a:t> </a:t>
            </a:r>
            <a:r>
              <a:rPr dirty="0" sz="1100" spc="65">
                <a:solidFill>
                  <a:srgbClr val="000000"/>
                </a:solidFill>
                <a:latin typeface="Georgia"/>
                <a:cs typeface="Georgia"/>
              </a:rPr>
              <a:t>SCN</a:t>
            </a:r>
            <a:r>
              <a:rPr dirty="0" baseline="37037" sz="900" spc="97" i="1">
                <a:solidFill>
                  <a:srgbClr val="000000"/>
                </a:solidFill>
                <a:latin typeface="Arial"/>
                <a:cs typeface="Arial"/>
              </a:rPr>
              <a:t>−</a:t>
            </a:r>
            <a:r>
              <a:rPr dirty="0" baseline="37037" sz="900" spc="359" i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200" spc="-5">
                <a:solidFill>
                  <a:srgbClr val="000000"/>
                </a:solidFill>
              </a:rPr>
              <a:t>浓度应增 加</a:t>
            </a:r>
            <a:r>
              <a:rPr dirty="0" sz="1200" spc="-90">
                <a:solidFill>
                  <a:srgbClr val="000000"/>
                </a:solidFill>
              </a:rPr>
              <a:t>到</a:t>
            </a:r>
            <a:r>
              <a:rPr dirty="0" sz="1200" spc="-5">
                <a:solidFill>
                  <a:srgbClr val="000000"/>
                </a:solidFill>
              </a:rPr>
              <a:t>：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01" y="1580223"/>
            <a:ext cx="990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671" y="1574800"/>
            <a:ext cx="6096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Georgia"/>
                <a:cs typeface="Georgia"/>
              </a:rPr>
              <a:t>[SCN </a:t>
            </a:r>
            <a:r>
              <a:rPr dirty="0" sz="1100" spc="-110">
                <a:latin typeface="Georgia"/>
                <a:cs typeface="Georgia"/>
              </a:rPr>
              <a:t>]</a:t>
            </a:r>
            <a:r>
              <a:rPr dirty="0" sz="1100" spc="-160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2619" y="1691411"/>
            <a:ext cx="1216660" cy="0"/>
          </a:xfrm>
          <a:custGeom>
            <a:avLst/>
            <a:gdLst/>
            <a:ahLst/>
            <a:cxnLst/>
            <a:rect l="l" t="t" r="r" b="b"/>
            <a:pathLst>
              <a:path w="1216660" h="0">
                <a:moveTo>
                  <a:pt x="0" y="0"/>
                </a:moveTo>
                <a:lnTo>
                  <a:pt x="121629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32788" y="1692440"/>
            <a:ext cx="5943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600"/>
              </a:lnSpc>
              <a:spcBef>
                <a:spcPts val="95"/>
              </a:spcBef>
              <a:tabLst>
                <a:tab pos="463550" algn="l"/>
              </a:tabLst>
            </a:pPr>
            <a:r>
              <a:rPr dirty="0" sz="600" spc="140">
                <a:latin typeface="Times New Roman"/>
                <a:cs typeface="Times New Roman"/>
              </a:rPr>
              <a:t>2+</a:t>
            </a:r>
            <a:r>
              <a:rPr dirty="0" sz="600" spc="140">
                <a:latin typeface="Times New Roman"/>
                <a:cs typeface="Times New Roman"/>
              </a:rPr>
              <a:t>	</a:t>
            </a:r>
            <a:r>
              <a:rPr dirty="0" sz="600" spc="140">
                <a:latin typeface="Times New Roman"/>
                <a:cs typeface="Times New Roman"/>
              </a:rPr>
              <a:t>3+</a:t>
            </a:r>
            <a:endParaRPr sz="600">
              <a:latin typeface="Times New Roman"/>
              <a:cs typeface="Times New Roman"/>
            </a:endParaRPr>
          </a:p>
          <a:p>
            <a:pPr marL="189865">
              <a:lnSpc>
                <a:spcPts val="600"/>
              </a:lnSpc>
            </a:pPr>
            <a:r>
              <a:rPr dirty="0" sz="600" spc="80">
                <a:latin typeface="Times New Roman"/>
                <a:cs typeface="Times New Roman"/>
              </a:rPr>
              <a:t>sp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8923" y="1481074"/>
            <a:ext cx="18275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279525" algn="l"/>
              </a:tabLst>
            </a:pPr>
            <a:r>
              <a:rPr dirty="0" sz="1100" spc="5">
                <a:latin typeface="Georgia"/>
                <a:cs typeface="Georgia"/>
              </a:rPr>
              <a:t>[FeSCN</a:t>
            </a:r>
            <a:r>
              <a:rPr dirty="0" baseline="37037" sz="900" spc="7">
                <a:latin typeface="Times New Roman"/>
                <a:cs typeface="Times New Roman"/>
              </a:rPr>
              <a:t>2+</a:t>
            </a:r>
            <a:r>
              <a:rPr dirty="0" sz="1100" spc="5">
                <a:latin typeface="Georgia"/>
                <a:cs typeface="Georgia"/>
              </a:rPr>
              <a:t>]	</a:t>
            </a:r>
            <a:r>
              <a:rPr dirty="0" sz="1100" spc="-80">
                <a:latin typeface="Georgia"/>
                <a:cs typeface="Georgia"/>
              </a:rPr>
              <a:t>6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100">
                <a:latin typeface="Lucida Sans Unicode"/>
                <a:cs typeface="Lucida Sans Unicode"/>
              </a:rPr>
              <a:t> </a:t>
            </a:r>
            <a:r>
              <a:rPr dirty="0" sz="1100" spc="55">
                <a:latin typeface="Georgia"/>
                <a:cs typeface="Georgia"/>
              </a:rPr>
              <a:t>10</a:t>
            </a:r>
            <a:r>
              <a:rPr dirty="0" baseline="37037" sz="900" spc="82" i="1">
                <a:latin typeface="Arial"/>
                <a:cs typeface="Arial"/>
              </a:rPr>
              <a:t>−</a:t>
            </a:r>
            <a:r>
              <a:rPr dirty="0" baseline="37037" sz="900" spc="82">
                <a:latin typeface="Times New Roman"/>
                <a:cs typeface="Times New Roman"/>
              </a:rPr>
              <a:t>6</a:t>
            </a:r>
            <a:endParaRPr baseline="37037"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73998" y="1691411"/>
            <a:ext cx="692785" cy="0"/>
          </a:xfrm>
          <a:custGeom>
            <a:avLst/>
            <a:gdLst/>
            <a:ahLst/>
            <a:cxnLst/>
            <a:rect l="l" t="t" r="r" b="b"/>
            <a:pathLst>
              <a:path w="692785" h="0">
                <a:moveTo>
                  <a:pt x="0" y="0"/>
                </a:moveTo>
                <a:lnTo>
                  <a:pt x="69272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07728" y="1669834"/>
            <a:ext cx="64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9919" y="1669834"/>
            <a:ext cx="21501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43990" algn="l"/>
              </a:tabLst>
            </a:pPr>
            <a:r>
              <a:rPr dirty="0" sz="1100" spc="20" b="0" i="1">
                <a:latin typeface="Bookman Old Style"/>
                <a:cs typeface="Bookman Old Style"/>
              </a:rPr>
              <a:t>K</a:t>
            </a:r>
            <a:r>
              <a:rPr dirty="0" sz="1100" spc="20">
                <a:latin typeface="Georgia"/>
                <a:cs typeface="Georgia"/>
              </a:rPr>
              <a:t>(FeSCN    </a:t>
            </a:r>
            <a:r>
              <a:rPr dirty="0" sz="1100" spc="10">
                <a:latin typeface="Georgia"/>
                <a:cs typeface="Georgia"/>
              </a:rPr>
              <a:t>) </a:t>
            </a:r>
            <a:r>
              <a:rPr dirty="0" sz="1100" spc="50">
                <a:latin typeface="Georgia"/>
                <a:cs typeface="Georgia"/>
              </a:rPr>
              <a:t> </a:t>
            </a:r>
            <a:r>
              <a:rPr dirty="0" sz="1100" spc="-70">
                <a:latin typeface="Georgia"/>
                <a:cs typeface="Georgia"/>
              </a:rPr>
              <a:t>[Fe    </a:t>
            </a:r>
            <a:r>
              <a:rPr dirty="0" sz="1100" spc="-60">
                <a:latin typeface="Georgia"/>
                <a:cs typeface="Georgia"/>
              </a:rPr>
              <a:t> </a:t>
            </a:r>
            <a:r>
              <a:rPr dirty="0" sz="1100" spc="-110">
                <a:latin typeface="Georgia"/>
                <a:cs typeface="Georgia"/>
              </a:rPr>
              <a:t>]	</a:t>
            </a:r>
            <a:r>
              <a:rPr dirty="0" sz="1100" spc="-35">
                <a:latin typeface="Georgia"/>
                <a:cs typeface="Georgia"/>
              </a:rPr>
              <a:t>138 </a:t>
            </a:r>
            <a:r>
              <a:rPr dirty="0" sz="1100" spc="-30">
                <a:latin typeface="Lucida Sans Unicode"/>
                <a:cs typeface="Lucida Sans Unicode"/>
              </a:rPr>
              <a:t>× </a:t>
            </a:r>
            <a:r>
              <a:rPr dirty="0" sz="1100" spc="-130">
                <a:latin typeface="Georgia"/>
                <a:cs typeface="Georgia"/>
              </a:rPr>
              <a:t>0</a:t>
            </a:r>
            <a:r>
              <a:rPr dirty="0" sz="1100" spc="-105">
                <a:latin typeface="Georgia"/>
                <a:cs typeface="Georgia"/>
              </a:rPr>
              <a:t> </a:t>
            </a:r>
            <a:r>
              <a:rPr dirty="0" sz="1100" spc="-35">
                <a:latin typeface="Georgia"/>
                <a:cs typeface="Georgia"/>
              </a:rPr>
              <a:t>015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99881" y="1574800"/>
            <a:ext cx="15646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20115" algn="l"/>
              </a:tabLst>
            </a:pPr>
            <a:r>
              <a:rPr dirty="0" sz="1100" spc="140">
                <a:latin typeface="Georgia"/>
                <a:cs typeface="Georgia"/>
              </a:rPr>
              <a:t>=	= </a:t>
            </a:r>
            <a:r>
              <a:rPr dirty="0" sz="1100" spc="-65">
                <a:latin typeface="Georgia"/>
                <a:cs typeface="Georgia"/>
              </a:rPr>
              <a:t>2</a:t>
            </a:r>
            <a:r>
              <a:rPr dirty="0" sz="1100" spc="-65" b="0" i="1">
                <a:latin typeface="Bookman Old Style"/>
                <a:cs typeface="Bookman Old Style"/>
              </a:rPr>
              <a:t>.</a:t>
            </a:r>
            <a:r>
              <a:rPr dirty="0" sz="1100" spc="-65">
                <a:latin typeface="Georgia"/>
                <a:cs typeface="Georgia"/>
              </a:rPr>
              <a:t>9 </a:t>
            </a:r>
            <a:r>
              <a:rPr dirty="0" sz="1100" spc="-30">
                <a:latin typeface="Lucida Sans Unicode"/>
                <a:cs typeface="Lucida Sans Unicode"/>
              </a:rPr>
              <a:t>×</a:t>
            </a:r>
            <a:r>
              <a:rPr dirty="0" sz="1100" spc="-245"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Georgia"/>
                <a:cs typeface="Georgia"/>
              </a:rPr>
              <a:t>10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8854" y="1580223"/>
            <a:ext cx="14541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 i="1">
                <a:latin typeface="Arial"/>
                <a:cs typeface="Arial"/>
              </a:rPr>
              <a:t>−</a:t>
            </a:r>
            <a:r>
              <a:rPr dirty="0" sz="600" spc="65">
                <a:latin typeface="Times New Roman"/>
                <a:cs typeface="Times New Roman"/>
              </a:rPr>
              <a:t>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10850" y="1574800"/>
            <a:ext cx="4044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Georgia"/>
                <a:cs typeface="Georgia"/>
              </a:rPr>
              <a:t>mol</a:t>
            </a:r>
            <a:r>
              <a:rPr dirty="0" sz="1100" spc="-120" b="0" i="1">
                <a:latin typeface="Bookman Old Style"/>
                <a:cs typeface="Bookman Old Style"/>
              </a:rPr>
              <a:t>/</a:t>
            </a:r>
            <a:r>
              <a:rPr dirty="0" sz="1100" spc="15">
                <a:latin typeface="Georgia"/>
                <a:cs typeface="Georgia"/>
              </a:rPr>
              <a:t>L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444" y="1914931"/>
            <a:ext cx="439991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计算结果表</a:t>
            </a:r>
            <a:r>
              <a:rPr dirty="0" sz="1200" spc="-80">
                <a:latin typeface="Arial Unicode MS"/>
                <a:cs typeface="Arial Unicode MS"/>
              </a:rPr>
              <a:t>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如果用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75">
                <a:latin typeface="Georgia"/>
                <a:cs typeface="Georgia"/>
              </a:rPr>
              <a:t>0.1000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100" spc="-15">
                <a:latin typeface="Georgia"/>
                <a:cs typeface="Georgia"/>
              </a:rPr>
              <a:t>mol/L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NH</a:t>
            </a:r>
            <a:r>
              <a:rPr dirty="0" baseline="-13888" sz="900" spc="7">
                <a:latin typeface="Times New Roman"/>
                <a:cs typeface="Times New Roman"/>
              </a:rPr>
              <a:t>4</a:t>
            </a:r>
            <a:r>
              <a:rPr dirty="0" sz="1100" spc="5">
                <a:latin typeface="Georgia"/>
                <a:cs typeface="Georgia"/>
              </a:rPr>
              <a:t>SCN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滴定等浓度 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AgNO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则在计量点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20">
                <a:latin typeface="Arial Unicode MS"/>
                <a:cs typeface="Arial Unicode MS"/>
              </a:rPr>
              <a:t>，</a:t>
            </a:r>
            <a:r>
              <a:rPr dirty="0" sz="1100" spc="-20">
                <a:latin typeface="Georgia"/>
                <a:cs typeface="Georgia"/>
              </a:rPr>
              <a:t>NH</a:t>
            </a:r>
            <a:r>
              <a:rPr dirty="0" baseline="-13888" sz="900" spc="-30">
                <a:latin typeface="Times New Roman"/>
                <a:cs typeface="Times New Roman"/>
              </a:rPr>
              <a:t>4</a:t>
            </a:r>
            <a:r>
              <a:rPr dirty="0" sz="1100" spc="-20">
                <a:latin typeface="Georgia"/>
                <a:cs typeface="Georgia"/>
              </a:rPr>
              <a:t>SCN</a:t>
            </a:r>
            <a:r>
              <a:rPr dirty="0" sz="1100" spc="8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只需过量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0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1%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即可满足 上述要</a:t>
            </a:r>
            <a:r>
              <a:rPr dirty="0" sz="1200" spc="-80">
                <a:latin typeface="Arial Unicode MS"/>
                <a:cs typeface="Arial Unicode MS"/>
              </a:rPr>
              <a:t>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而此时的终点误差将不大于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-25">
                <a:latin typeface="Georgia"/>
                <a:cs typeface="Georgia"/>
              </a:rPr>
              <a:t>0</a:t>
            </a:r>
            <a:r>
              <a:rPr dirty="0" sz="1100" spc="-25" b="0" i="1">
                <a:latin typeface="Bookman Old Style"/>
                <a:cs typeface="Bookman Old Style"/>
              </a:rPr>
              <a:t>.</a:t>
            </a:r>
            <a:r>
              <a:rPr dirty="0" sz="1100" spc="-25">
                <a:latin typeface="Georgia"/>
                <a:cs typeface="Georgia"/>
              </a:rPr>
              <a:t>1%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35445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返滴定法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测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定卤素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离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子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044" y="736320"/>
            <a:ext cx="4444365" cy="214820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r" marR="153035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采用返滴定法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首先在含卤素离子的溶液中加入已知量且</a:t>
            </a:r>
            <a:endParaRPr sz="1200">
              <a:latin typeface="Arial Unicode MS"/>
              <a:cs typeface="Arial Unicode MS"/>
            </a:endParaRPr>
          </a:p>
          <a:p>
            <a:pPr algn="r" marR="12128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过量的</a:t>
            </a:r>
            <a:r>
              <a:rPr dirty="0" sz="1200" spc="-1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AgNO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baseline="-13888" sz="900" spc="6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使卤素离子生成银盐沉</a:t>
            </a:r>
            <a:r>
              <a:rPr dirty="0" sz="1200" spc="-80">
                <a:latin typeface="Arial Unicode MS"/>
                <a:cs typeface="Arial Unicode MS"/>
              </a:rPr>
              <a:t>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13970">
              <a:lnSpc>
                <a:spcPct val="100000"/>
              </a:lnSpc>
            </a:pPr>
            <a:r>
              <a:rPr dirty="0" sz="1100" spc="130">
                <a:latin typeface="Georgia"/>
                <a:cs typeface="Georgia"/>
              </a:rPr>
              <a:t>X</a:t>
            </a:r>
            <a:r>
              <a:rPr dirty="0" baseline="41666" sz="900" spc="195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00">
                <a:latin typeface="Georgia"/>
                <a:cs typeface="Georgia"/>
              </a:rPr>
              <a:t>Ag</a:t>
            </a:r>
            <a:r>
              <a:rPr dirty="0" baseline="41666" sz="900" spc="150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30">
                <a:latin typeface="Georgia"/>
                <a:cs typeface="Georgia"/>
              </a:rPr>
              <a:t>AgX</a:t>
            </a:r>
            <a:r>
              <a:rPr dirty="0" sz="1100" spc="-155">
                <a:latin typeface="Georgia"/>
                <a:cs typeface="Georgia"/>
              </a:rPr>
              <a:t>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endParaRPr sz="1100">
              <a:latin typeface="Lucida Sans Unicode"/>
              <a:cs typeface="Lucida Sans Unicode"/>
            </a:endParaRPr>
          </a:p>
          <a:p>
            <a:pPr marL="36703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然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10">
                <a:latin typeface="Georgia"/>
                <a:cs typeface="Georgia"/>
              </a:rPr>
              <a:t>NH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Fe(SO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为指示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65">
                <a:latin typeface="Georgia"/>
                <a:cs typeface="Georgia"/>
              </a:rPr>
              <a:t>SCN</a:t>
            </a:r>
            <a:r>
              <a:rPr dirty="0" baseline="37037" sz="900" spc="97" i="1">
                <a:latin typeface="Arial"/>
                <a:cs typeface="Arial"/>
              </a:rPr>
              <a:t>−</a:t>
            </a:r>
            <a:r>
              <a:rPr dirty="0" baseline="37037" sz="900" spc="352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标准溶液滴定剩余</a:t>
            </a:r>
            <a:endParaRPr sz="1200">
              <a:latin typeface="Arial Unicode MS"/>
              <a:cs typeface="Arial Unicode MS"/>
            </a:endParaRPr>
          </a:p>
          <a:p>
            <a:pPr marL="635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Ag</a:t>
            </a:r>
            <a:r>
              <a:rPr dirty="0" baseline="37037" sz="900" spc="30">
                <a:latin typeface="Times New Roman"/>
                <a:cs typeface="Times New Roman"/>
              </a:rPr>
              <a:t>+</a:t>
            </a:r>
            <a:r>
              <a:rPr dirty="0" sz="1200" spc="2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13970">
              <a:lnSpc>
                <a:spcPct val="100000"/>
              </a:lnSpc>
            </a:pPr>
            <a:r>
              <a:rPr dirty="0" sz="1100" spc="65">
                <a:latin typeface="Georgia"/>
                <a:cs typeface="Georgia"/>
              </a:rPr>
              <a:t>SCN</a:t>
            </a:r>
            <a:r>
              <a:rPr dirty="0" baseline="41666" sz="900" spc="97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100">
                <a:latin typeface="Georgia"/>
                <a:cs typeface="Georgia"/>
              </a:rPr>
              <a:t>Ag</a:t>
            </a:r>
            <a:r>
              <a:rPr dirty="0" baseline="41666" sz="900" spc="150">
                <a:latin typeface="Times New Roman"/>
                <a:cs typeface="Times New Roman"/>
              </a:rPr>
              <a:t>+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20">
                <a:latin typeface="Georgia"/>
                <a:cs typeface="Georgia"/>
              </a:rPr>
              <a:t>AgSCN</a:t>
            </a:r>
            <a:r>
              <a:rPr dirty="0" sz="1100" spc="-90">
                <a:latin typeface="Georgia"/>
                <a:cs typeface="Georgia"/>
              </a:rPr>
              <a:t>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endParaRPr sz="1100">
              <a:latin typeface="Lucida Sans Unicode"/>
              <a:cs typeface="Lucida Sans Unicode"/>
            </a:endParaRPr>
          </a:p>
          <a:p>
            <a:pPr algn="ctr" marL="13970">
              <a:lnSpc>
                <a:spcPct val="100000"/>
              </a:lnSpc>
              <a:spcBef>
                <a:spcPts val="1440"/>
              </a:spcBef>
            </a:pPr>
            <a:r>
              <a:rPr dirty="0" sz="1100" spc="65">
                <a:latin typeface="Georgia"/>
                <a:cs typeface="Georgia"/>
              </a:rPr>
              <a:t>SCN</a:t>
            </a:r>
            <a:r>
              <a:rPr dirty="0" baseline="41666" sz="900" spc="97" i="1">
                <a:latin typeface="Arial"/>
                <a:cs typeface="Arial"/>
              </a:rPr>
              <a:t>−</a:t>
            </a:r>
            <a:r>
              <a:rPr dirty="0" baseline="41666" sz="900" spc="179" i="1">
                <a:latin typeface="Arial"/>
                <a:cs typeface="Arial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Fe</a:t>
            </a:r>
            <a:r>
              <a:rPr dirty="0" baseline="41666" sz="900" spc="67">
                <a:latin typeface="Times New Roman"/>
                <a:cs typeface="Times New Roman"/>
              </a:rPr>
              <a:t>3+</a:t>
            </a:r>
            <a:r>
              <a:rPr dirty="0" baseline="41666" sz="900" spc="300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FeSCN</a:t>
            </a:r>
            <a:r>
              <a:rPr dirty="0" baseline="41666" sz="900" spc="44">
                <a:latin typeface="Times New Roman"/>
                <a:cs typeface="Times New Roman"/>
              </a:rPr>
              <a:t>2+</a:t>
            </a:r>
            <a:r>
              <a:rPr dirty="0" baseline="41666" sz="900" spc="120">
                <a:latin typeface="Times New Roman"/>
                <a:cs typeface="Times New Roman"/>
              </a:rPr>
              <a:t> </a:t>
            </a:r>
            <a:r>
              <a:rPr dirty="0" sz="1100" spc="5">
                <a:latin typeface="Georgia"/>
                <a:cs typeface="Georgia"/>
              </a:rPr>
              <a:t>(</a:t>
            </a:r>
            <a:r>
              <a:rPr dirty="0" sz="1200" spc="-5">
                <a:latin typeface="Arial Unicode MS"/>
                <a:cs typeface="Arial Unicode MS"/>
              </a:rPr>
              <a:t>红色</a:t>
            </a:r>
            <a:r>
              <a:rPr dirty="0" sz="1100" spc="1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5568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注意事项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44" y="629856"/>
            <a:ext cx="4474845" cy="237680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420"/>
              </a:spcBef>
            </a:pPr>
            <a:r>
              <a:rPr dirty="0" sz="550" spc="650">
                <a:latin typeface="宋体"/>
                <a:cs typeface="宋体"/>
              </a:rPr>
              <a:t>霆</a:t>
            </a:r>
            <a:r>
              <a:rPr dirty="0" sz="550" spc="434">
                <a:latin typeface="宋体"/>
                <a:cs typeface="宋体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第</a:t>
            </a:r>
            <a:r>
              <a:rPr dirty="0" sz="1200" spc="-80">
                <a:latin typeface="Arial Unicode MS"/>
                <a:cs typeface="Arial Unicode MS"/>
              </a:rPr>
              <a:t>一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测定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95">
                <a:latin typeface="Georgia"/>
                <a:cs typeface="Georgia"/>
              </a:rPr>
              <a:t>Cl</a:t>
            </a:r>
            <a:r>
              <a:rPr dirty="0" baseline="37037" sz="900" spc="142" i="1">
                <a:latin typeface="Arial"/>
                <a:cs typeface="Arial"/>
              </a:rPr>
              <a:t>−</a:t>
            </a:r>
            <a:r>
              <a:rPr dirty="0" baseline="37037" sz="900" spc="367" i="1">
                <a:latin typeface="Arial"/>
                <a:cs typeface="Arial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由于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AgCl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的溶解度比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0">
                <a:latin typeface="Georgia"/>
                <a:cs typeface="Georgia"/>
              </a:rPr>
              <a:t>AgSCN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大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当剩余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100">
                <a:latin typeface="Georgia"/>
                <a:cs typeface="Georgia"/>
              </a:rPr>
              <a:t>Ag</a:t>
            </a:r>
            <a:r>
              <a:rPr dirty="0" baseline="37037" sz="900" spc="150">
                <a:latin typeface="Times New Roman"/>
                <a:cs typeface="Times New Roman"/>
              </a:rPr>
              <a:t>+</a:t>
            </a:r>
            <a:r>
              <a:rPr dirty="0" baseline="37037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被滴定完毕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过量的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65">
                <a:latin typeface="Georgia"/>
                <a:cs typeface="Georgia"/>
              </a:rPr>
              <a:t>SCN</a:t>
            </a:r>
            <a:r>
              <a:rPr dirty="0" baseline="37037" sz="900" spc="97" i="1">
                <a:latin typeface="Arial"/>
                <a:cs typeface="Arial"/>
              </a:rPr>
              <a:t>−</a:t>
            </a:r>
            <a:r>
              <a:rPr dirty="0" baseline="37037" sz="900" spc="352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将与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AgCl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1905">
              <a:lnSpc>
                <a:spcPct val="100000"/>
              </a:lnSpc>
            </a:pPr>
            <a:r>
              <a:rPr dirty="0" sz="1100" spc="30">
                <a:latin typeface="Georgia"/>
                <a:cs typeface="Georgia"/>
              </a:rPr>
              <a:t>AgCl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65">
                <a:latin typeface="Georgia"/>
                <a:cs typeface="Georgia"/>
              </a:rPr>
              <a:t>SCN</a:t>
            </a:r>
            <a:r>
              <a:rPr dirty="0" baseline="41666" sz="900" spc="97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20">
                <a:latin typeface="Georgia"/>
                <a:cs typeface="Georgia"/>
              </a:rPr>
              <a:t>AgSCN </a:t>
            </a:r>
            <a:r>
              <a:rPr dirty="0" sz="1100" spc="-40">
                <a:latin typeface="Lucida Sans Unicode"/>
                <a:cs typeface="Lucida Sans Unicode"/>
              </a:rPr>
              <a:t>↓</a:t>
            </a:r>
            <a:r>
              <a:rPr dirty="0" sz="1100" spc="-254">
                <a:latin typeface="Lucida Sans Unicode"/>
                <a:cs typeface="Lucida Sans Unicode"/>
              </a:rPr>
              <a:t> </a:t>
            </a:r>
            <a:r>
              <a:rPr dirty="0" sz="1100" spc="105">
                <a:latin typeface="Georgia"/>
                <a:cs typeface="Georgia"/>
              </a:rPr>
              <a:t>+Cl</a:t>
            </a:r>
            <a:r>
              <a:rPr dirty="0" baseline="41666" sz="900" spc="157" i="1">
                <a:latin typeface="Arial"/>
                <a:cs typeface="Arial"/>
              </a:rPr>
              <a:t>−</a:t>
            </a:r>
            <a:endParaRPr baseline="41666" sz="900">
              <a:latin typeface="Arial"/>
              <a:cs typeface="Arial"/>
            </a:endParaRPr>
          </a:p>
          <a:p>
            <a:pPr marL="379730">
              <a:lnSpc>
                <a:spcPct val="100000"/>
              </a:lnSpc>
              <a:spcBef>
                <a:spcPts val="1435"/>
              </a:spcBef>
            </a:pPr>
            <a:r>
              <a:rPr dirty="0" sz="1200" spc="-5">
                <a:latin typeface="Arial Unicode MS"/>
                <a:cs typeface="Arial Unicode MS"/>
              </a:rPr>
              <a:t>这一反应消耗了 </a:t>
            </a:r>
            <a:r>
              <a:rPr dirty="0" sz="1100" spc="10">
                <a:latin typeface="Georgia"/>
                <a:cs typeface="Georgia"/>
              </a:rPr>
              <a:t>SCN</a:t>
            </a:r>
            <a:r>
              <a:rPr dirty="0" baseline="37037" sz="900" spc="15" i="1">
                <a:latin typeface="Arial"/>
                <a:cs typeface="Arial"/>
              </a:rPr>
              <a:t>−</a:t>
            </a:r>
            <a:r>
              <a:rPr dirty="0" sz="1200" spc="10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使其与指示剂的反应延迟而不能及时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指示化学计量</a:t>
            </a:r>
            <a:r>
              <a:rPr dirty="0" sz="1200" spc="-20">
                <a:latin typeface="Arial Unicode MS"/>
                <a:cs typeface="Arial Unicode MS"/>
              </a:rPr>
              <a:t>点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dirty="0" sz="550" spc="650">
                <a:latin typeface="宋体"/>
                <a:cs typeface="宋体"/>
              </a:rPr>
              <a:t>霆</a:t>
            </a:r>
            <a:r>
              <a:rPr dirty="0" sz="550" spc="430">
                <a:latin typeface="宋体"/>
                <a:cs typeface="宋体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第</a:t>
            </a:r>
            <a:r>
              <a:rPr dirty="0" sz="1200" spc="-80">
                <a:latin typeface="Arial Unicode MS"/>
                <a:cs typeface="Arial Unicode MS"/>
              </a:rPr>
              <a:t>二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在测定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95">
                <a:latin typeface="Georgia"/>
                <a:cs typeface="Georgia"/>
              </a:rPr>
              <a:t>I</a:t>
            </a:r>
            <a:r>
              <a:rPr dirty="0" baseline="37037" sz="900" spc="142" i="1">
                <a:latin typeface="Arial"/>
                <a:cs typeface="Arial"/>
              </a:rPr>
              <a:t>−</a:t>
            </a:r>
            <a:r>
              <a:rPr dirty="0" baseline="37037" sz="900" spc="352" i="1">
                <a:latin typeface="Arial"/>
                <a:cs typeface="Arial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指示剂必须在加入过量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AgNO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之后才能</a:t>
            </a:r>
            <a:endParaRPr sz="1200">
              <a:latin typeface="Arial Unicode MS"/>
              <a:cs typeface="Arial Unicode MS"/>
            </a:endParaRPr>
          </a:p>
          <a:p>
            <a:pPr marL="762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加</a:t>
            </a:r>
            <a:r>
              <a:rPr dirty="0" sz="1200" spc="-80">
                <a:latin typeface="Arial Unicode MS"/>
                <a:cs typeface="Arial Unicode MS"/>
              </a:rPr>
              <a:t>入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以免发生下述氧化还原反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algn="ctr" marL="1905">
              <a:lnSpc>
                <a:spcPts val="990"/>
              </a:lnSpc>
            </a:pPr>
            <a:r>
              <a:rPr dirty="0" sz="1100" spc="40">
                <a:latin typeface="Georgia"/>
                <a:cs typeface="Georgia"/>
              </a:rPr>
              <a:t>2I</a:t>
            </a:r>
            <a:r>
              <a:rPr dirty="0" baseline="41666" sz="900" spc="60" i="1">
                <a:latin typeface="Arial"/>
                <a:cs typeface="Arial"/>
              </a:rPr>
              <a:t>−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25">
                <a:latin typeface="Georgia"/>
                <a:cs typeface="Georgia"/>
              </a:rPr>
              <a:t>2Fe</a:t>
            </a:r>
            <a:r>
              <a:rPr dirty="0" baseline="41666" sz="900" spc="37">
                <a:latin typeface="Times New Roman"/>
                <a:cs typeface="Times New Roman"/>
              </a:rPr>
              <a:t>3+ 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-35">
                <a:latin typeface="Georgia"/>
                <a:cs typeface="Georgia"/>
              </a:rPr>
              <a:t>I 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35">
                <a:latin typeface="Georgia"/>
                <a:cs typeface="Georgia"/>
              </a:rPr>
              <a:t> </a:t>
            </a:r>
            <a:r>
              <a:rPr dirty="0" sz="1100" spc="25">
                <a:latin typeface="Georgia"/>
                <a:cs typeface="Georgia"/>
              </a:rPr>
              <a:t>2Fe</a:t>
            </a:r>
            <a:r>
              <a:rPr dirty="0" baseline="41666" sz="900" spc="37">
                <a:latin typeface="Times New Roman"/>
                <a:cs typeface="Times New Roman"/>
              </a:rPr>
              <a:t>2+</a:t>
            </a:r>
            <a:endParaRPr baseline="41666" sz="900">
              <a:latin typeface="Times New Roman"/>
              <a:cs typeface="Times New Roman"/>
            </a:endParaRPr>
          </a:p>
          <a:p>
            <a:pPr algn="ctr" marL="435609">
              <a:lnSpc>
                <a:spcPts val="390"/>
              </a:lnSpc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599" y="1131925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4599" y="1393583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878939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1553" y="692048"/>
            <a:ext cx="4090670" cy="151955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为避免第一种情况的出</a:t>
            </a:r>
            <a:r>
              <a:rPr dirty="0" sz="1200" spc="-80">
                <a:latin typeface="Arial Unicode MS"/>
                <a:cs typeface="Arial Unicode MS"/>
              </a:rPr>
              <a:t>现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可采取如下措</a:t>
            </a:r>
            <a:r>
              <a:rPr dirty="0" sz="1200" spc="-90">
                <a:latin typeface="Arial Unicode MS"/>
                <a:cs typeface="Arial Unicode MS"/>
              </a:rPr>
              <a:t>施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100" spc="30">
                <a:latin typeface="Georgia"/>
                <a:cs typeface="Georgia"/>
              </a:rPr>
              <a:t>AgCl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沉淀完毕后将其过滤</a:t>
            </a:r>
            <a:r>
              <a:rPr dirty="0" sz="1200" spc="-65">
                <a:latin typeface="Arial Unicode MS"/>
                <a:cs typeface="Arial Unicode MS"/>
              </a:rPr>
              <a:t>掉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10">
                <a:latin typeface="Arial Unicode MS"/>
                <a:cs typeface="Arial Unicode MS"/>
              </a:rPr>
              <a:t>生</a:t>
            </a:r>
            <a:r>
              <a:rPr dirty="0" sz="1200" spc="-5">
                <a:latin typeface="Arial Unicode MS"/>
                <a:cs typeface="Arial Unicode MS"/>
              </a:rPr>
              <a:t>成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AgCl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沉淀后将试液煮</a:t>
            </a:r>
            <a:r>
              <a:rPr dirty="0" sz="1200" spc="-80">
                <a:latin typeface="Arial Unicode MS"/>
                <a:cs typeface="Arial Unicode MS"/>
              </a:rPr>
              <a:t>沸</a:t>
            </a:r>
            <a:r>
              <a:rPr dirty="0" sz="1200" spc="-21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AgCl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凝</a:t>
            </a:r>
            <a:r>
              <a:rPr dirty="0" sz="1200" spc="-80">
                <a:latin typeface="Arial Unicode MS"/>
                <a:cs typeface="Arial Unicode MS"/>
              </a:rPr>
              <a:t>聚</a:t>
            </a:r>
            <a:r>
              <a:rPr dirty="0" sz="1200" spc="-21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从而减慢其转</a:t>
            </a:r>
            <a:r>
              <a:rPr dirty="0" sz="1200" spc="-5">
                <a:latin typeface="Arial Unicode MS"/>
                <a:cs typeface="Arial Unicode MS"/>
              </a:rPr>
              <a:t>化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速</a:t>
            </a:r>
            <a:r>
              <a:rPr dirty="0" sz="1200" spc="-65">
                <a:latin typeface="Arial Unicode MS"/>
                <a:cs typeface="Arial Unicode MS"/>
              </a:rPr>
              <a:t>率</a:t>
            </a:r>
            <a:r>
              <a:rPr dirty="0" sz="1200" spc="-5">
                <a:latin typeface="Arial Unicode MS"/>
                <a:cs typeface="Arial Unicode MS"/>
              </a:rPr>
              <a:t>；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10">
                <a:latin typeface="Arial Unicode MS"/>
                <a:cs typeface="Arial Unicode MS"/>
              </a:rPr>
              <a:t>生</a:t>
            </a:r>
            <a:r>
              <a:rPr dirty="0" sz="1200" spc="-5">
                <a:latin typeface="Arial Unicode MS"/>
                <a:cs typeface="Arial Unicode MS"/>
              </a:rPr>
              <a:t>成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AgCl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沉淀后加入少量有机溶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215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如硝基苯</a:t>
            </a:r>
            <a:r>
              <a:rPr dirty="0" sz="1200" spc="-80">
                <a:latin typeface="Arial Unicode MS"/>
                <a:cs typeface="Arial Unicode MS"/>
              </a:rPr>
              <a:t>等</a:t>
            </a:r>
            <a:r>
              <a:rPr dirty="0" sz="1200" spc="-21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AgCl</a:t>
            </a:r>
            <a:r>
              <a:rPr dirty="0" sz="1100" spc="65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表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面形成一层有机膜而与溶液隔</a:t>
            </a:r>
            <a:r>
              <a:rPr dirty="0" sz="1200" spc="-20">
                <a:latin typeface="Arial Unicode MS"/>
                <a:cs typeface="Arial Unicode MS"/>
              </a:rPr>
              <a:t>开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69024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/>
              <a:t>酸度的影响</a:t>
            </a:r>
            <a:endParaRPr sz="10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pc="-5"/>
              <a:t>佛尔哈德法因为采用铁铵钒</a:t>
            </a:r>
            <a:r>
              <a:rPr dirty="0" spc="5"/>
              <a:t> </a:t>
            </a:r>
            <a:r>
              <a:rPr dirty="0" sz="1100" spc="10">
                <a:latin typeface="Georgia"/>
                <a:cs typeface="Georgia"/>
              </a:rPr>
              <a:t>NH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Fe(SO</a:t>
            </a:r>
            <a:r>
              <a:rPr dirty="0" baseline="-13888" sz="900" spc="15">
                <a:latin typeface="Times New Roman"/>
                <a:cs typeface="Times New Roman"/>
              </a:rPr>
              <a:t>4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baseline="-13888" sz="900" spc="112">
                <a:latin typeface="Times New Roman"/>
                <a:cs typeface="Times New Roman"/>
              </a:rPr>
              <a:t> </a:t>
            </a:r>
            <a:r>
              <a:rPr dirty="0" sz="1200" spc="-5"/>
              <a:t>为指示</a:t>
            </a:r>
            <a:r>
              <a:rPr dirty="0" sz="1200" spc="-80"/>
              <a:t>剂</a:t>
            </a:r>
            <a:r>
              <a:rPr dirty="0" sz="1200" spc="-185"/>
              <a:t>，</a:t>
            </a:r>
            <a:r>
              <a:rPr dirty="0" sz="1200" spc="-5"/>
              <a:t>故滴定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pc="-5"/>
              <a:t>应在酸性条件下进</a:t>
            </a:r>
            <a:r>
              <a:rPr dirty="0" spc="-80"/>
              <a:t>行</a:t>
            </a:r>
            <a:r>
              <a:rPr dirty="0" spc="-185"/>
              <a:t>，</a:t>
            </a:r>
            <a:r>
              <a:rPr dirty="0" spc="-5"/>
              <a:t>通常是在</a:t>
            </a:r>
            <a:r>
              <a:rPr dirty="0" spc="25"/>
              <a:t> </a:t>
            </a:r>
            <a:r>
              <a:rPr dirty="0" sz="1100" spc="-30">
                <a:latin typeface="Georgia"/>
                <a:cs typeface="Georgia"/>
              </a:rPr>
              <a:t>0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30">
                <a:latin typeface="Georgia"/>
                <a:cs typeface="Georgia"/>
              </a:rPr>
              <a:t>1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∼</a:t>
            </a:r>
            <a:r>
              <a:rPr dirty="0" sz="1100" spc="-55">
                <a:latin typeface="Lucida Sans Unicode"/>
                <a:cs typeface="Lucida Sans Unicode"/>
              </a:rPr>
              <a:t> </a:t>
            </a:r>
            <a:r>
              <a:rPr dirty="0" sz="1100" spc="70">
                <a:latin typeface="Georgia"/>
                <a:cs typeface="Georgia"/>
              </a:rPr>
              <a:t>1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mol</a:t>
            </a:r>
            <a:r>
              <a:rPr dirty="0" sz="1100" spc="-50" b="0" i="1">
                <a:latin typeface="Bookman Old Style"/>
                <a:cs typeface="Bookman Old Style"/>
              </a:rPr>
              <a:t>/</a:t>
            </a:r>
            <a:r>
              <a:rPr dirty="0" sz="1100" spc="-50">
                <a:latin typeface="Georgia"/>
                <a:cs typeface="Georgia"/>
              </a:rPr>
              <a:t>L</a:t>
            </a:r>
            <a:r>
              <a:rPr dirty="0" sz="1100" spc="90">
                <a:latin typeface="Georgia"/>
                <a:cs typeface="Georgia"/>
              </a:rPr>
              <a:t> </a:t>
            </a:r>
            <a:r>
              <a:rPr dirty="0" sz="1100" spc="-5">
                <a:latin typeface="Georgia"/>
                <a:cs typeface="Georgia"/>
              </a:rPr>
              <a:t>HNO</a:t>
            </a:r>
            <a:r>
              <a:rPr dirty="0" baseline="-13888" sz="900" spc="-7">
                <a:latin typeface="Times New Roman"/>
                <a:cs typeface="Times New Roman"/>
              </a:rPr>
              <a:t>3</a:t>
            </a:r>
            <a:r>
              <a:rPr dirty="0" baseline="-13888" sz="900" spc="165">
                <a:latin typeface="Times New Roman"/>
                <a:cs typeface="Times New Roman"/>
              </a:rPr>
              <a:t> </a:t>
            </a:r>
            <a:r>
              <a:rPr dirty="0" sz="1200" spc="-5"/>
              <a:t>介质</a:t>
            </a:r>
            <a:r>
              <a:rPr dirty="0" sz="1200" spc="-20"/>
              <a:t>中</a:t>
            </a:r>
            <a:r>
              <a:rPr dirty="0" sz="1200" spc="-5"/>
              <a:t>。</a:t>
            </a:r>
            <a:endParaRPr sz="1200">
              <a:latin typeface="Times New Roman"/>
              <a:cs typeface="Times New Roman"/>
            </a:endParaRPr>
          </a:p>
          <a:p>
            <a:pPr marL="341630">
              <a:lnSpc>
                <a:spcPct val="100000"/>
              </a:lnSpc>
              <a:spcBef>
                <a:spcPts val="1415"/>
              </a:spcBef>
            </a:pPr>
            <a:r>
              <a:rPr dirty="0" spc="-5"/>
              <a:t>在酸性条件下进行滴定的另外一个好处</a:t>
            </a:r>
            <a:r>
              <a:rPr dirty="0" spc="-80"/>
              <a:t>是</a:t>
            </a:r>
            <a:r>
              <a:rPr dirty="0" spc="-185"/>
              <a:t>，</a:t>
            </a:r>
            <a:r>
              <a:rPr dirty="0" spc="-5"/>
              <a:t>一些在中性或弱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7413" y="1998649"/>
            <a:ext cx="9652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44" y="1973021"/>
            <a:ext cx="31584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latin typeface="Arial Unicode MS"/>
                <a:cs typeface="Arial Unicode MS"/>
              </a:rPr>
              <a:t>碱性条件下能</a:t>
            </a:r>
            <a:r>
              <a:rPr dirty="0" sz="1200" spc="-5">
                <a:latin typeface="Arial Unicode MS"/>
                <a:cs typeface="Arial Unicode MS"/>
              </a:rPr>
              <a:t>与</a:t>
            </a:r>
            <a:r>
              <a:rPr dirty="0" sz="1200">
                <a:latin typeface="Arial Unicode MS"/>
                <a:cs typeface="Arial Unicode MS"/>
              </a:rPr>
              <a:t> </a:t>
            </a:r>
            <a:r>
              <a:rPr dirty="0" sz="1100" spc="30">
                <a:latin typeface="Georgia"/>
                <a:cs typeface="Georgia"/>
              </a:rPr>
              <a:t>Ag</a:t>
            </a:r>
            <a:r>
              <a:rPr dirty="0" sz="1100" spc="75">
                <a:latin typeface="Georgia"/>
                <a:cs typeface="Georgia"/>
              </a:rPr>
              <a:t> </a:t>
            </a:r>
            <a:r>
              <a:rPr dirty="0" sz="1200" spc="-10">
                <a:latin typeface="Arial Unicode MS"/>
                <a:cs typeface="Arial Unicode MS"/>
              </a:rPr>
              <a:t>形成沉淀的阴离</a:t>
            </a:r>
            <a:r>
              <a:rPr dirty="0" sz="1200" spc="-80">
                <a:latin typeface="Arial Unicode MS"/>
                <a:cs typeface="Arial Unicode MS"/>
              </a:rPr>
              <a:t>子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如</a:t>
            </a:r>
            <a:r>
              <a:rPr dirty="0" sz="1200" spc="5">
                <a:latin typeface="Arial Unicode MS"/>
                <a:cs typeface="Arial Unicode MS"/>
              </a:rPr>
              <a:t> </a:t>
            </a:r>
            <a:r>
              <a:rPr dirty="0" sz="1100" spc="50">
                <a:latin typeface="Georgia"/>
                <a:cs typeface="Georgia"/>
              </a:rPr>
              <a:t>PO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8756" y="2083181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3356" y="1922741"/>
            <a:ext cx="39941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145">
                <a:latin typeface="Times New Roman"/>
                <a:cs typeface="Times New Roman"/>
              </a:rPr>
              <a:t>3</a:t>
            </a:r>
            <a:r>
              <a:rPr dirty="0" sz="600" spc="145" i="1">
                <a:latin typeface="Arial"/>
                <a:cs typeface="Arial"/>
              </a:rPr>
              <a:t>−</a:t>
            </a:r>
            <a:r>
              <a:rPr dirty="0" sz="600" spc="180" i="1">
                <a:latin typeface="Arial"/>
                <a:cs typeface="Arial"/>
              </a:rPr>
              <a:t> </a:t>
            </a:r>
            <a:r>
              <a:rPr dirty="0" baseline="-18518" sz="1800" spc="-7">
                <a:latin typeface="Arial Unicode MS"/>
                <a:cs typeface="Arial Unicode MS"/>
              </a:rPr>
              <a:t>等</a:t>
            </a:r>
            <a:endParaRPr baseline="-18518" sz="18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2052" y="1973021"/>
            <a:ext cx="91059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都不会干</a:t>
            </a:r>
            <a:r>
              <a:rPr dirty="0" sz="1200" spc="-5">
                <a:latin typeface="Arial Unicode MS"/>
                <a:cs typeface="Arial Unicode MS"/>
              </a:rPr>
              <a:t>扰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2196719"/>
            <a:ext cx="47942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测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23139"/>
            <a:ext cx="1182370" cy="2686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latin typeface="Calibri"/>
                <a:cs typeface="Calibri"/>
              </a:rPr>
              <a:t>8.3</a:t>
            </a:r>
            <a:r>
              <a:rPr dirty="0" sz="1400" spc="225">
                <a:latin typeface="Calibri"/>
                <a:cs typeface="Calibri"/>
              </a:rPr>
              <a:t> </a:t>
            </a:r>
            <a:r>
              <a:rPr dirty="0" sz="1600" spc="-10"/>
              <a:t>法扬司法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56" y="706554"/>
            <a:ext cx="4420870" cy="1731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165" marR="33655" indent="265430">
              <a:lnSpc>
                <a:spcPct val="123300"/>
              </a:lnSpc>
              <a:spcBef>
                <a:spcPts val="100"/>
              </a:spcBef>
            </a:pPr>
            <a:r>
              <a:rPr dirty="0" sz="1050" spc="-10">
                <a:latin typeface="Arial Unicode MS"/>
                <a:cs typeface="Arial Unicode MS"/>
              </a:rPr>
              <a:t>用</a:t>
            </a:r>
            <a:r>
              <a:rPr dirty="0" sz="1050" spc="-5">
                <a:latin typeface="Arial Unicode MS"/>
                <a:cs typeface="Arial Unicode MS"/>
              </a:rPr>
              <a:t>吸附指示</a:t>
            </a:r>
            <a:r>
              <a:rPr dirty="0" sz="1050" spc="-10">
                <a:latin typeface="Arial Unicode MS"/>
                <a:cs typeface="Arial Unicode MS"/>
              </a:rPr>
              <a:t>剂</a:t>
            </a:r>
            <a:r>
              <a:rPr dirty="0" sz="1050" spc="-5">
                <a:latin typeface="Arial Unicode MS"/>
                <a:cs typeface="Arial Unicode MS"/>
              </a:rPr>
              <a:t>指示终点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银量法</a:t>
            </a:r>
            <a:r>
              <a:rPr dirty="0" sz="1050" spc="-10">
                <a:latin typeface="Arial Unicode MS"/>
                <a:cs typeface="Arial Unicode MS"/>
              </a:rPr>
              <a:t>称</a:t>
            </a:r>
            <a:r>
              <a:rPr dirty="0" sz="1050" spc="-5">
                <a:latin typeface="Arial Unicode MS"/>
                <a:cs typeface="Arial Unicode MS"/>
              </a:rPr>
              <a:t>为法扬</a:t>
            </a:r>
            <a:r>
              <a:rPr dirty="0" sz="1050" spc="-10">
                <a:latin typeface="Arial Unicode MS"/>
                <a:cs typeface="Arial Unicode MS"/>
              </a:rPr>
              <a:t>司</a:t>
            </a:r>
            <a:r>
              <a:rPr dirty="0" sz="1050" spc="-20">
                <a:latin typeface="Arial Unicode MS"/>
                <a:cs typeface="Arial Unicode MS"/>
              </a:rPr>
              <a:t>法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吸附</a:t>
            </a:r>
            <a:r>
              <a:rPr dirty="0" sz="1050" spc="-10">
                <a:latin typeface="Arial Unicode MS"/>
                <a:cs typeface="Arial Unicode MS"/>
              </a:rPr>
              <a:t>指</a:t>
            </a:r>
            <a:r>
              <a:rPr dirty="0" sz="1050" spc="-5">
                <a:latin typeface="Arial Unicode MS"/>
                <a:cs typeface="Arial Unicode MS"/>
              </a:rPr>
              <a:t>示剂通</a:t>
            </a:r>
            <a:r>
              <a:rPr dirty="0" sz="1050" spc="-10">
                <a:latin typeface="Arial Unicode MS"/>
                <a:cs typeface="Arial Unicode MS"/>
              </a:rPr>
              <a:t>常</a:t>
            </a:r>
            <a:r>
              <a:rPr dirty="0" sz="1050" spc="-5">
                <a:latin typeface="Arial Unicode MS"/>
                <a:cs typeface="Arial Unicode MS"/>
              </a:rPr>
              <a:t>是有 </a:t>
            </a:r>
            <a:r>
              <a:rPr dirty="0" sz="1050" spc="-5">
                <a:latin typeface="Arial Unicode MS"/>
                <a:cs typeface="Arial Unicode MS"/>
              </a:rPr>
              <a:t>机染</a:t>
            </a:r>
            <a:r>
              <a:rPr dirty="0" sz="1050" spc="-70">
                <a:latin typeface="Arial Unicode MS"/>
                <a:cs typeface="Arial Unicode MS"/>
              </a:rPr>
              <a:t>料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它</a:t>
            </a:r>
            <a:r>
              <a:rPr dirty="0" sz="1050" spc="-5">
                <a:latin typeface="Arial Unicode MS"/>
                <a:cs typeface="Arial Unicode MS"/>
              </a:rPr>
              <a:t>在溶液</a:t>
            </a:r>
            <a:r>
              <a:rPr dirty="0" sz="1050" spc="-10">
                <a:latin typeface="Arial Unicode MS"/>
                <a:cs typeface="Arial Unicode MS"/>
              </a:rPr>
              <a:t>中</a:t>
            </a:r>
            <a:r>
              <a:rPr dirty="0" sz="1050" spc="-5">
                <a:latin typeface="Arial Unicode MS"/>
                <a:cs typeface="Arial Unicode MS"/>
              </a:rPr>
              <a:t>是具有一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颜色的</a:t>
            </a:r>
            <a:r>
              <a:rPr dirty="0" sz="1050" spc="-10">
                <a:latin typeface="Arial Unicode MS"/>
                <a:cs typeface="Arial Unicode MS"/>
              </a:rPr>
              <a:t>阴</a:t>
            </a:r>
            <a:r>
              <a:rPr dirty="0" sz="1050" spc="-5">
                <a:latin typeface="Arial Unicode MS"/>
                <a:cs typeface="Arial Unicode MS"/>
              </a:rPr>
              <a:t>离</a:t>
            </a:r>
            <a:r>
              <a:rPr dirty="0" sz="1050" spc="-70">
                <a:latin typeface="Arial Unicode MS"/>
                <a:cs typeface="Arial Unicode MS"/>
              </a:rPr>
              <a:t>子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而</a:t>
            </a:r>
            <a:r>
              <a:rPr dirty="0" sz="1050" spc="-10">
                <a:latin typeface="Arial Unicode MS"/>
                <a:cs typeface="Arial Unicode MS"/>
              </a:rPr>
              <a:t>此</a:t>
            </a:r>
            <a:r>
              <a:rPr dirty="0" sz="1050" spc="-5">
                <a:latin typeface="Arial Unicode MS"/>
                <a:cs typeface="Arial Unicode MS"/>
              </a:rPr>
              <a:t>阴离子容</a:t>
            </a:r>
            <a:r>
              <a:rPr dirty="0" sz="1050" spc="-10">
                <a:latin typeface="Arial Unicode MS"/>
                <a:cs typeface="Arial Unicode MS"/>
              </a:rPr>
              <a:t>易</a:t>
            </a:r>
            <a:r>
              <a:rPr dirty="0" sz="1050" spc="-5">
                <a:latin typeface="Arial Unicode MS"/>
                <a:cs typeface="Arial Unicode MS"/>
              </a:rPr>
              <a:t>被带正</a:t>
            </a:r>
            <a:r>
              <a:rPr dirty="0" sz="1050" spc="-10">
                <a:latin typeface="Arial Unicode MS"/>
                <a:cs typeface="Arial Unicode MS"/>
              </a:rPr>
              <a:t>电</a:t>
            </a:r>
            <a:r>
              <a:rPr dirty="0" sz="1050" spc="-5">
                <a:latin typeface="Arial Unicode MS"/>
                <a:cs typeface="Arial Unicode MS"/>
              </a:rPr>
              <a:t>荷 </a:t>
            </a:r>
            <a:r>
              <a:rPr dirty="0" sz="1050" spc="-5">
                <a:latin typeface="Arial Unicode MS"/>
                <a:cs typeface="Arial Unicode MS"/>
              </a:rPr>
              <a:t>的胶体</a:t>
            </a:r>
            <a:r>
              <a:rPr dirty="0" sz="1050" spc="-10">
                <a:latin typeface="Arial Unicode MS"/>
                <a:cs typeface="Arial Unicode MS"/>
              </a:rPr>
              <a:t>沉</a:t>
            </a:r>
            <a:r>
              <a:rPr dirty="0" sz="1050" spc="-5">
                <a:latin typeface="Arial Unicode MS"/>
                <a:cs typeface="Arial Unicode MS"/>
              </a:rPr>
              <a:t>淀所吸</a:t>
            </a:r>
            <a:r>
              <a:rPr dirty="0" sz="1050" spc="-70">
                <a:latin typeface="Arial Unicode MS"/>
                <a:cs typeface="Arial Unicode MS"/>
              </a:rPr>
              <a:t>附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并</a:t>
            </a:r>
            <a:r>
              <a:rPr dirty="0" sz="1050" spc="-5">
                <a:latin typeface="Arial Unicode MS"/>
                <a:cs typeface="Arial Unicode MS"/>
              </a:rPr>
              <a:t>发生颜</a:t>
            </a:r>
            <a:r>
              <a:rPr dirty="0" sz="1050" spc="-10">
                <a:latin typeface="Arial Unicode MS"/>
                <a:cs typeface="Arial Unicode MS"/>
              </a:rPr>
              <a:t>色</a:t>
            </a:r>
            <a:r>
              <a:rPr dirty="0" sz="1050" spc="-5">
                <a:latin typeface="Arial Unicode MS"/>
                <a:cs typeface="Arial Unicode MS"/>
              </a:rPr>
              <a:t>的改</a:t>
            </a:r>
            <a:r>
              <a:rPr dirty="0" sz="1050" spc="-20">
                <a:latin typeface="Arial Unicode MS"/>
                <a:cs typeface="Arial Unicode MS"/>
              </a:rPr>
              <a:t>变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550">
              <a:latin typeface="Arial Unicode MS"/>
              <a:cs typeface="Arial Unicode MS"/>
            </a:endParaRPr>
          </a:p>
          <a:p>
            <a:pPr marL="50800" marR="43180" indent="265430">
              <a:lnSpc>
                <a:spcPct val="123300"/>
              </a:lnSpc>
            </a:pPr>
            <a:r>
              <a:rPr dirty="0" sz="1050" spc="-5">
                <a:latin typeface="Arial Unicode MS"/>
                <a:cs typeface="Arial Unicode MS"/>
              </a:rPr>
              <a:t>例</a:t>
            </a:r>
            <a:r>
              <a:rPr dirty="0" sz="1050" spc="-70">
                <a:latin typeface="Arial Unicode MS"/>
                <a:cs typeface="Arial Unicode MS"/>
              </a:rPr>
              <a:t>如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用</a:t>
            </a:r>
            <a:r>
              <a:rPr dirty="0" sz="1050" spc="30">
                <a:latin typeface="Arial Unicode MS"/>
                <a:cs typeface="Arial Unicode MS"/>
              </a:rPr>
              <a:t> </a:t>
            </a:r>
            <a:r>
              <a:rPr dirty="0" sz="1000" spc="20">
                <a:latin typeface="Georgia"/>
                <a:cs typeface="Georgia"/>
              </a:rPr>
              <a:t>AgNO</a:t>
            </a:r>
            <a:r>
              <a:rPr dirty="0" baseline="-11904" sz="1050" spc="30">
                <a:latin typeface="Times New Roman"/>
                <a:cs typeface="Times New Roman"/>
              </a:rPr>
              <a:t>3</a:t>
            </a:r>
            <a:r>
              <a:rPr dirty="0" baseline="-11904" sz="1050" spc="284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滴定</a:t>
            </a:r>
            <a:r>
              <a:rPr dirty="0" sz="1050" spc="30">
                <a:latin typeface="Arial Unicode MS"/>
                <a:cs typeface="Arial Unicode MS"/>
              </a:rPr>
              <a:t> </a:t>
            </a:r>
            <a:r>
              <a:rPr dirty="0" sz="1000" spc="90">
                <a:latin typeface="Georgia"/>
                <a:cs typeface="Georgia"/>
              </a:rPr>
              <a:t>Cl</a:t>
            </a:r>
            <a:r>
              <a:rPr dirty="0" baseline="27777" sz="1050" spc="135" i="1">
                <a:latin typeface="Arial"/>
                <a:cs typeface="Arial"/>
              </a:rPr>
              <a:t>−</a:t>
            </a:r>
            <a:r>
              <a:rPr dirty="0" baseline="27777" sz="1050" spc="262" i="1">
                <a:latin typeface="Arial"/>
                <a:cs typeface="Arial"/>
              </a:rPr>
              <a:t> </a:t>
            </a:r>
            <a:r>
              <a:rPr dirty="0" sz="1050" spc="-70">
                <a:latin typeface="Arial Unicode MS"/>
                <a:cs typeface="Arial Unicode MS"/>
              </a:rPr>
              <a:t>时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常用</a:t>
            </a:r>
            <a:r>
              <a:rPr dirty="0" sz="1050" spc="-10">
                <a:latin typeface="Arial Unicode MS"/>
                <a:cs typeface="Arial Unicode MS"/>
              </a:rPr>
              <a:t>荧</a:t>
            </a:r>
            <a:r>
              <a:rPr dirty="0" sz="1050" spc="-5">
                <a:latin typeface="Arial Unicode MS"/>
                <a:cs typeface="Arial Unicode MS"/>
              </a:rPr>
              <a:t>光</a:t>
            </a:r>
            <a:r>
              <a:rPr dirty="0" sz="1050" spc="-225">
                <a:latin typeface="Arial Unicode MS"/>
                <a:cs typeface="Arial Unicode MS"/>
              </a:rPr>
              <a:t>黄</a:t>
            </a:r>
            <a:r>
              <a:rPr dirty="0" sz="1050" spc="-50">
                <a:latin typeface="Arial Unicode MS"/>
                <a:cs typeface="Arial Unicode MS"/>
              </a:rPr>
              <a:t>（</a:t>
            </a:r>
            <a:r>
              <a:rPr dirty="0" sz="1000" spc="-50">
                <a:latin typeface="Georgia"/>
                <a:cs typeface="Georgia"/>
              </a:rPr>
              <a:t>HFl</a:t>
            </a:r>
            <a:r>
              <a:rPr dirty="0" sz="1050" spc="-50">
                <a:latin typeface="Arial Unicode MS"/>
                <a:cs typeface="Arial Unicode MS"/>
              </a:rPr>
              <a:t>）</a:t>
            </a:r>
            <a:r>
              <a:rPr dirty="0" sz="1050" spc="-5">
                <a:latin typeface="Arial Unicode MS"/>
                <a:cs typeface="Arial Unicode MS"/>
              </a:rPr>
              <a:t>做指示</a:t>
            </a:r>
            <a:r>
              <a:rPr dirty="0" sz="1050" spc="-20">
                <a:latin typeface="Arial Unicode MS"/>
                <a:cs typeface="Arial Unicode MS"/>
              </a:rPr>
              <a:t>剂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化学</a:t>
            </a:r>
            <a:r>
              <a:rPr dirty="0" sz="1050" spc="-10">
                <a:latin typeface="Arial Unicode MS"/>
                <a:cs typeface="Arial Unicode MS"/>
              </a:rPr>
              <a:t>计</a:t>
            </a:r>
            <a:r>
              <a:rPr dirty="0" sz="1050" spc="-5">
                <a:latin typeface="Arial Unicode MS"/>
                <a:cs typeface="Arial Unicode MS"/>
              </a:rPr>
              <a:t>量 </a:t>
            </a:r>
            <a:r>
              <a:rPr dirty="0" sz="1050" spc="-10">
                <a:latin typeface="Arial Unicode MS"/>
                <a:cs typeface="Arial Unicode MS"/>
              </a:rPr>
              <a:t>点</a:t>
            </a:r>
            <a:r>
              <a:rPr dirty="0" sz="1050" spc="-70">
                <a:latin typeface="Arial Unicode MS"/>
                <a:cs typeface="Arial Unicode MS"/>
              </a:rPr>
              <a:t>前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溶液</a:t>
            </a:r>
            <a:r>
              <a:rPr dirty="0" sz="1050" spc="-10">
                <a:latin typeface="Arial Unicode MS"/>
                <a:cs typeface="Arial Unicode MS"/>
              </a:rPr>
              <a:t>中</a:t>
            </a:r>
            <a:r>
              <a:rPr dirty="0" sz="1050" spc="-5">
                <a:latin typeface="Arial Unicode MS"/>
                <a:cs typeface="Arial Unicode MS"/>
              </a:rPr>
              <a:t>有剩余的</a:t>
            </a:r>
            <a:r>
              <a:rPr dirty="0" sz="1050" spc="30">
                <a:latin typeface="Arial Unicode MS"/>
                <a:cs typeface="Arial Unicode MS"/>
              </a:rPr>
              <a:t> </a:t>
            </a:r>
            <a:r>
              <a:rPr dirty="0" sz="1000" spc="25">
                <a:latin typeface="Georgia"/>
                <a:cs typeface="Georgia"/>
              </a:rPr>
              <a:t>Cl</a:t>
            </a:r>
            <a:r>
              <a:rPr dirty="0" baseline="27777" sz="1050" spc="37" i="1">
                <a:latin typeface="Arial"/>
                <a:cs typeface="Arial"/>
              </a:rPr>
              <a:t>−</a:t>
            </a:r>
            <a:r>
              <a:rPr dirty="0" sz="1050" spc="2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所</a:t>
            </a:r>
            <a:r>
              <a:rPr dirty="0" sz="1050" spc="-70">
                <a:latin typeface="Arial Unicode MS"/>
                <a:cs typeface="Arial Unicode MS"/>
              </a:rPr>
              <a:t>以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生成的</a:t>
            </a:r>
            <a:r>
              <a:rPr dirty="0" sz="1050" spc="35">
                <a:latin typeface="Arial Unicode MS"/>
                <a:cs typeface="Arial Unicode MS"/>
              </a:rPr>
              <a:t> </a:t>
            </a:r>
            <a:r>
              <a:rPr dirty="0" sz="1000" spc="30">
                <a:latin typeface="Georgia"/>
                <a:cs typeface="Georgia"/>
              </a:rPr>
              <a:t>AgCl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沉淀优</a:t>
            </a:r>
            <a:r>
              <a:rPr dirty="0" sz="1050" spc="-10">
                <a:latin typeface="Arial Unicode MS"/>
                <a:cs typeface="Arial Unicode MS"/>
              </a:rPr>
              <a:t>先</a:t>
            </a:r>
            <a:r>
              <a:rPr dirty="0" sz="1050" spc="-5">
                <a:latin typeface="Arial Unicode MS"/>
                <a:cs typeface="Arial Unicode MS"/>
              </a:rPr>
              <a:t>吸附构</a:t>
            </a:r>
            <a:r>
              <a:rPr dirty="0" sz="1050" spc="-10">
                <a:latin typeface="Arial Unicode MS"/>
                <a:cs typeface="Arial Unicode MS"/>
              </a:rPr>
              <a:t>晶</a:t>
            </a:r>
            <a:r>
              <a:rPr dirty="0" sz="1050" spc="-5">
                <a:latin typeface="Arial Unicode MS"/>
                <a:cs typeface="Arial Unicode MS"/>
              </a:rPr>
              <a:t>离子 </a:t>
            </a:r>
            <a:r>
              <a:rPr dirty="0" sz="1000" spc="20">
                <a:latin typeface="Georgia"/>
                <a:cs typeface="Georgia"/>
              </a:rPr>
              <a:t>Cl</a:t>
            </a:r>
            <a:r>
              <a:rPr dirty="0" baseline="27777" sz="1050" spc="30" i="1">
                <a:latin typeface="Arial"/>
                <a:cs typeface="Arial"/>
              </a:rPr>
              <a:t>−</a:t>
            </a:r>
            <a:r>
              <a:rPr dirty="0" sz="1050" spc="20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而不</a:t>
            </a:r>
            <a:r>
              <a:rPr dirty="0" sz="1050" spc="-10">
                <a:latin typeface="Arial Unicode MS"/>
                <a:cs typeface="Arial Unicode MS"/>
              </a:rPr>
              <a:t>吸</a:t>
            </a:r>
            <a:r>
              <a:rPr dirty="0" sz="1050" spc="-5">
                <a:latin typeface="Arial Unicode MS"/>
                <a:cs typeface="Arial Unicode MS"/>
              </a:rPr>
              <a:t>附荧光</a:t>
            </a:r>
            <a:r>
              <a:rPr dirty="0" sz="1050" spc="-70">
                <a:latin typeface="Arial Unicode MS"/>
                <a:cs typeface="Arial Unicode MS"/>
              </a:rPr>
              <a:t>黄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此时溶液</a:t>
            </a:r>
            <a:r>
              <a:rPr dirty="0" sz="1050" spc="-10">
                <a:latin typeface="Arial Unicode MS"/>
                <a:cs typeface="Arial Unicode MS"/>
              </a:rPr>
              <a:t>呈</a:t>
            </a:r>
            <a:r>
              <a:rPr dirty="0" sz="1050" spc="-5">
                <a:latin typeface="Arial Unicode MS"/>
                <a:cs typeface="Arial Unicode MS"/>
              </a:rPr>
              <a:t>现荧光</a:t>
            </a:r>
            <a:r>
              <a:rPr dirty="0" sz="1050" spc="-10">
                <a:latin typeface="Arial Unicode MS"/>
                <a:cs typeface="Arial Unicode MS"/>
              </a:rPr>
              <a:t>黄</a:t>
            </a:r>
            <a:r>
              <a:rPr dirty="0" sz="1050" spc="-5">
                <a:latin typeface="Arial Unicode MS"/>
                <a:cs typeface="Arial Unicode MS"/>
              </a:rPr>
              <a:t>的绿</a:t>
            </a:r>
            <a:r>
              <a:rPr dirty="0" sz="1050" spc="-20">
                <a:latin typeface="Arial Unicode MS"/>
                <a:cs typeface="Arial Unicode MS"/>
              </a:rPr>
              <a:t>色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10">
                <a:latin typeface="Arial Unicode MS"/>
                <a:cs typeface="Arial Unicode MS"/>
              </a:rPr>
              <a:t>化</a:t>
            </a:r>
            <a:r>
              <a:rPr dirty="0" sz="1050" spc="-5">
                <a:latin typeface="Arial Unicode MS"/>
                <a:cs typeface="Arial Unicode MS"/>
              </a:rPr>
              <a:t>学计量</a:t>
            </a:r>
            <a:r>
              <a:rPr dirty="0" sz="1050" spc="-10">
                <a:latin typeface="Arial Unicode MS"/>
                <a:cs typeface="Arial Unicode MS"/>
              </a:rPr>
              <a:t>点</a:t>
            </a:r>
            <a:r>
              <a:rPr dirty="0" sz="1050" spc="-70">
                <a:latin typeface="Arial Unicode MS"/>
                <a:cs typeface="Arial Unicode MS"/>
              </a:rPr>
              <a:t>后</a:t>
            </a:r>
            <a:r>
              <a:rPr dirty="0" sz="1050" spc="-10">
                <a:latin typeface="Arial Unicode MS"/>
                <a:cs typeface="Arial Unicode MS"/>
              </a:rPr>
              <a:t>，</a:t>
            </a:r>
            <a:r>
              <a:rPr dirty="0" sz="1000" spc="-10">
                <a:latin typeface="Georgia"/>
                <a:cs typeface="Georgia"/>
              </a:rPr>
              <a:t>AgCl  </a:t>
            </a:r>
            <a:r>
              <a:rPr dirty="0" sz="1050" spc="-5">
                <a:latin typeface="Arial Unicode MS"/>
                <a:cs typeface="Arial Unicode MS"/>
              </a:rPr>
              <a:t>沉</a:t>
            </a:r>
            <a:r>
              <a:rPr dirty="0" sz="1050" spc="-10">
                <a:latin typeface="Arial Unicode MS"/>
                <a:cs typeface="Arial Unicode MS"/>
              </a:rPr>
              <a:t>淀</a:t>
            </a:r>
            <a:r>
              <a:rPr dirty="0" sz="1050" spc="-5">
                <a:latin typeface="Arial Unicode MS"/>
                <a:cs typeface="Arial Unicode MS"/>
              </a:rPr>
              <a:t>吸附构</a:t>
            </a:r>
            <a:r>
              <a:rPr dirty="0" sz="1050" spc="-10">
                <a:latin typeface="Arial Unicode MS"/>
                <a:cs typeface="Arial Unicode MS"/>
              </a:rPr>
              <a:t>晶</a:t>
            </a:r>
            <a:r>
              <a:rPr dirty="0" sz="1050" spc="-5">
                <a:latin typeface="Arial Unicode MS"/>
                <a:cs typeface="Arial Unicode MS"/>
              </a:rPr>
              <a:t>离子</a:t>
            </a:r>
            <a:r>
              <a:rPr dirty="0" sz="1050" spc="20">
                <a:latin typeface="Arial Unicode MS"/>
                <a:cs typeface="Arial Unicode MS"/>
              </a:rPr>
              <a:t> </a:t>
            </a:r>
            <a:r>
              <a:rPr dirty="0" sz="1000" spc="95">
                <a:latin typeface="Georgia"/>
                <a:cs typeface="Georgia"/>
              </a:rPr>
              <a:t>Ag</a:t>
            </a:r>
            <a:r>
              <a:rPr dirty="0" baseline="27777" sz="1050" spc="142">
                <a:latin typeface="Times New Roman"/>
                <a:cs typeface="Times New Roman"/>
              </a:rPr>
              <a:t>+</a:t>
            </a:r>
            <a:r>
              <a:rPr dirty="0" baseline="27777" sz="1050" spc="270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Arial Unicode MS"/>
                <a:cs typeface="Arial Unicode MS"/>
              </a:rPr>
              <a:t>而带上正</a:t>
            </a:r>
            <a:r>
              <a:rPr dirty="0" sz="1050" spc="-70">
                <a:latin typeface="Arial Unicode MS"/>
                <a:cs typeface="Arial Unicode MS"/>
              </a:rPr>
              <a:t>电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此时荧</a:t>
            </a:r>
            <a:r>
              <a:rPr dirty="0" sz="1050" spc="-10">
                <a:latin typeface="Arial Unicode MS"/>
                <a:cs typeface="Arial Unicode MS"/>
              </a:rPr>
              <a:t>光</a:t>
            </a:r>
            <a:r>
              <a:rPr dirty="0" sz="1050" spc="-5">
                <a:latin typeface="Arial Unicode MS"/>
                <a:cs typeface="Arial Unicode MS"/>
              </a:rPr>
              <a:t>黄被吸附</a:t>
            </a:r>
            <a:r>
              <a:rPr dirty="0" sz="1050" spc="-10">
                <a:latin typeface="Arial Unicode MS"/>
                <a:cs typeface="Arial Unicode MS"/>
              </a:rPr>
              <a:t>在</a:t>
            </a:r>
            <a:r>
              <a:rPr dirty="0" sz="1050" spc="-5">
                <a:latin typeface="Arial Unicode MS"/>
                <a:cs typeface="Arial Unicode MS"/>
              </a:rPr>
              <a:t>沉淀表</a:t>
            </a:r>
            <a:r>
              <a:rPr dirty="0" sz="1050" spc="-10">
                <a:latin typeface="Arial Unicode MS"/>
                <a:cs typeface="Arial Unicode MS"/>
              </a:rPr>
              <a:t>面</a:t>
            </a:r>
            <a:r>
              <a:rPr dirty="0" sz="1050" spc="-5">
                <a:latin typeface="Arial Unicode MS"/>
                <a:cs typeface="Arial Unicode MS"/>
              </a:rPr>
              <a:t>而呈现 粉</a:t>
            </a:r>
            <a:r>
              <a:rPr dirty="0" sz="1050" spc="-10">
                <a:latin typeface="Arial Unicode MS"/>
                <a:cs typeface="Arial Unicode MS"/>
              </a:rPr>
              <a:t>红</a:t>
            </a:r>
            <a:r>
              <a:rPr dirty="0" sz="1050" spc="-70">
                <a:latin typeface="Arial Unicode MS"/>
                <a:cs typeface="Arial Unicode MS"/>
              </a:rPr>
              <a:t>色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指示</a:t>
            </a:r>
            <a:r>
              <a:rPr dirty="0" sz="1050" spc="-10">
                <a:latin typeface="Arial Unicode MS"/>
                <a:cs typeface="Arial Unicode MS"/>
              </a:rPr>
              <a:t>终</a:t>
            </a:r>
            <a:r>
              <a:rPr dirty="0" sz="1050" spc="-5">
                <a:latin typeface="Arial Unicode MS"/>
                <a:cs typeface="Arial Unicode MS"/>
              </a:rPr>
              <a:t>点到</a:t>
            </a:r>
            <a:r>
              <a:rPr dirty="0" sz="1050" spc="-20">
                <a:latin typeface="Arial Unicode MS"/>
                <a:cs typeface="Arial Unicode MS"/>
              </a:rPr>
              <a:t>来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10">
                <a:latin typeface="Arial Unicode MS"/>
                <a:cs typeface="Arial Unicode MS"/>
              </a:rPr>
              <a:t>反</a:t>
            </a:r>
            <a:r>
              <a:rPr dirty="0" sz="1050" spc="-5">
                <a:latin typeface="Arial Unicode MS"/>
                <a:cs typeface="Arial Unicode MS"/>
              </a:rPr>
              <a:t>应式如</a:t>
            </a:r>
            <a:r>
              <a:rPr dirty="0" sz="1050" spc="-80">
                <a:latin typeface="Arial Unicode MS"/>
                <a:cs typeface="Arial Unicode MS"/>
              </a:rPr>
              <a:t>下</a:t>
            </a:r>
            <a:r>
              <a:rPr dirty="0" sz="1050" spc="-5">
                <a:latin typeface="Arial Unicode MS"/>
                <a:cs typeface="Arial Unicode MS"/>
              </a:rPr>
              <a:t>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4050" y="2538031"/>
            <a:ext cx="3800475" cy="252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72390">
              <a:lnSpc>
                <a:spcPts val="620"/>
              </a:lnSpc>
              <a:spcBef>
                <a:spcPts val="95"/>
              </a:spcBef>
            </a:pPr>
            <a:r>
              <a:rPr dirty="0" sz="600" spc="80">
                <a:latin typeface="Times New Roman"/>
                <a:cs typeface="Times New Roman"/>
              </a:rPr>
              <a:t>AgNO</a:t>
            </a:r>
            <a:r>
              <a:rPr dirty="0" baseline="-11111" sz="750" spc="120">
                <a:latin typeface="Verdana"/>
                <a:cs typeface="Verdana"/>
              </a:rPr>
              <a:t>3</a:t>
            </a:r>
            <a:endParaRPr baseline="-11111" sz="750">
              <a:latin typeface="Verdana"/>
              <a:cs typeface="Verdana"/>
            </a:endParaRPr>
          </a:p>
          <a:p>
            <a:pPr marL="50800">
              <a:lnSpc>
                <a:spcPts val="1160"/>
              </a:lnSpc>
            </a:pPr>
            <a:r>
              <a:rPr dirty="0" sz="1000" spc="45">
                <a:latin typeface="Georgia"/>
                <a:cs typeface="Georgia"/>
              </a:rPr>
              <a:t>(AgCl)Cl</a:t>
            </a:r>
            <a:r>
              <a:rPr dirty="0" baseline="31746" sz="1050" spc="67" i="1">
                <a:latin typeface="Arial"/>
                <a:cs typeface="Arial"/>
              </a:rPr>
              <a:t>−</a:t>
            </a:r>
            <a:r>
              <a:rPr dirty="0" baseline="31746" sz="1050" spc="104" i="1">
                <a:latin typeface="Arial"/>
                <a:cs typeface="Arial"/>
              </a:rPr>
              <a:t> </a:t>
            </a:r>
            <a:r>
              <a:rPr dirty="0" sz="1000" spc="130">
                <a:latin typeface="Georgia"/>
                <a:cs typeface="Georgia"/>
              </a:rPr>
              <a:t>+</a:t>
            </a:r>
            <a:r>
              <a:rPr dirty="0" sz="1000" spc="-20">
                <a:latin typeface="Georgia"/>
                <a:cs typeface="Georgia"/>
              </a:rPr>
              <a:t> </a:t>
            </a:r>
            <a:r>
              <a:rPr dirty="0" sz="1000" spc="75">
                <a:latin typeface="Georgia"/>
                <a:cs typeface="Georgia"/>
              </a:rPr>
              <a:t>Fl</a:t>
            </a:r>
            <a:r>
              <a:rPr dirty="0" baseline="31746" sz="1050" spc="112" i="1">
                <a:latin typeface="Arial"/>
                <a:cs typeface="Arial"/>
              </a:rPr>
              <a:t>−</a:t>
            </a:r>
            <a:r>
              <a:rPr dirty="0" sz="1000" spc="75">
                <a:latin typeface="Georgia"/>
                <a:cs typeface="Georgia"/>
              </a:rPr>
              <a:t>(</a:t>
            </a:r>
            <a:r>
              <a:rPr dirty="0" sz="1050" spc="-5">
                <a:latin typeface="Arial Unicode MS"/>
                <a:cs typeface="Arial Unicode MS"/>
              </a:rPr>
              <a:t>黄绿</a:t>
            </a:r>
            <a:r>
              <a:rPr dirty="0" sz="1050" spc="-10">
                <a:latin typeface="Arial Unicode MS"/>
                <a:cs typeface="Arial Unicode MS"/>
              </a:rPr>
              <a:t>色</a:t>
            </a:r>
            <a:r>
              <a:rPr dirty="0" sz="1000" spc="10">
                <a:latin typeface="Georgia"/>
                <a:cs typeface="Georgia"/>
              </a:rPr>
              <a:t>)</a:t>
            </a:r>
            <a:r>
              <a:rPr dirty="0" sz="1000" spc="200">
                <a:latin typeface="Georgia"/>
                <a:cs typeface="Georgia"/>
              </a:rPr>
              <a:t> </a:t>
            </a:r>
            <a:r>
              <a:rPr dirty="0" sz="350" spc="630">
                <a:latin typeface="Times New Roman"/>
                <a:cs typeface="Times New Roman"/>
              </a:rPr>
              <a:t>►</a:t>
            </a:r>
            <a:r>
              <a:rPr dirty="0" sz="350" spc="565">
                <a:latin typeface="Times New Roman"/>
                <a:cs typeface="Times New Roman"/>
              </a:rPr>
              <a:t> </a:t>
            </a:r>
            <a:r>
              <a:rPr dirty="0" sz="1000" spc="50">
                <a:latin typeface="Georgia"/>
                <a:cs typeface="Georgia"/>
              </a:rPr>
              <a:t>(AgCl)(Ag</a:t>
            </a:r>
            <a:r>
              <a:rPr dirty="0" baseline="31746" sz="1050" spc="75">
                <a:latin typeface="Times New Roman"/>
                <a:cs typeface="Times New Roman"/>
              </a:rPr>
              <a:t>+</a:t>
            </a:r>
            <a:r>
              <a:rPr dirty="0" sz="1000" spc="50">
                <a:latin typeface="Georgia"/>
                <a:cs typeface="Georgia"/>
              </a:rPr>
              <a:t>)(Fl</a:t>
            </a:r>
            <a:r>
              <a:rPr dirty="0" baseline="31746" sz="1050" spc="75" i="1">
                <a:latin typeface="Arial"/>
                <a:cs typeface="Arial"/>
              </a:rPr>
              <a:t>−</a:t>
            </a:r>
            <a:r>
              <a:rPr dirty="0" sz="1000" spc="50">
                <a:latin typeface="Georgia"/>
                <a:cs typeface="Georgia"/>
              </a:rPr>
              <a:t>)(</a:t>
            </a:r>
            <a:r>
              <a:rPr dirty="0" sz="1050" spc="-5">
                <a:latin typeface="Arial Unicode MS"/>
                <a:cs typeface="Arial Unicode MS"/>
              </a:rPr>
              <a:t>粉红色</a:t>
            </a:r>
            <a:r>
              <a:rPr dirty="0" sz="1000" spc="10"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55689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"/>
              <a:t>注意事项</a:t>
            </a:r>
            <a:endParaRPr sz="1050"/>
          </a:p>
        </p:txBody>
      </p:sp>
      <p:sp>
        <p:nvSpPr>
          <p:cNvPr id="3" name="object 3"/>
          <p:cNvSpPr/>
          <p:nvPr/>
        </p:nvSpPr>
        <p:spPr>
          <a:xfrm>
            <a:off x="274599" y="878332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743761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2214435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685110"/>
            <a:ext cx="63233" cy="632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91553" y="760580"/>
            <a:ext cx="4142740" cy="2226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3300"/>
              </a:lnSpc>
              <a:spcBef>
                <a:spcPts val="100"/>
              </a:spcBef>
            </a:pPr>
            <a:r>
              <a:rPr dirty="0" sz="1050" spc="-10">
                <a:latin typeface="Arial Unicode MS"/>
                <a:cs typeface="Arial Unicode MS"/>
              </a:rPr>
              <a:t>吸</a:t>
            </a:r>
            <a:r>
              <a:rPr dirty="0" sz="1050" spc="-5">
                <a:latin typeface="Arial Unicode MS"/>
                <a:cs typeface="Arial Unicode MS"/>
              </a:rPr>
              <a:t>附指示剂</a:t>
            </a:r>
            <a:r>
              <a:rPr dirty="0" sz="1050" spc="-10">
                <a:latin typeface="Arial Unicode MS"/>
                <a:cs typeface="Arial Unicode MS"/>
              </a:rPr>
              <a:t>是</a:t>
            </a:r>
            <a:r>
              <a:rPr dirty="0" sz="1050" spc="-5">
                <a:latin typeface="Arial Unicode MS"/>
                <a:cs typeface="Arial Unicode MS"/>
              </a:rPr>
              <a:t>通过吸</a:t>
            </a:r>
            <a:r>
              <a:rPr dirty="0" sz="1050" spc="-10">
                <a:latin typeface="Arial Unicode MS"/>
                <a:cs typeface="Arial Unicode MS"/>
              </a:rPr>
              <a:t>附</a:t>
            </a:r>
            <a:r>
              <a:rPr dirty="0" sz="1050" spc="-5">
                <a:latin typeface="Arial Unicode MS"/>
                <a:cs typeface="Arial Unicode MS"/>
              </a:rPr>
              <a:t>在卤化银</a:t>
            </a:r>
            <a:r>
              <a:rPr dirty="0" sz="1050" spc="-10">
                <a:latin typeface="Arial Unicode MS"/>
                <a:cs typeface="Arial Unicode MS"/>
              </a:rPr>
              <a:t>沉</a:t>
            </a:r>
            <a:r>
              <a:rPr dirty="0" sz="1050" spc="-5">
                <a:latin typeface="Arial Unicode MS"/>
                <a:cs typeface="Arial Unicode MS"/>
              </a:rPr>
              <a:t>淀的表</a:t>
            </a:r>
            <a:r>
              <a:rPr dirty="0" sz="1050" spc="-10">
                <a:latin typeface="Arial Unicode MS"/>
                <a:cs typeface="Arial Unicode MS"/>
              </a:rPr>
              <a:t>面</a:t>
            </a:r>
            <a:r>
              <a:rPr dirty="0" sz="1050" spc="-5">
                <a:latin typeface="Arial Unicode MS"/>
                <a:cs typeface="Arial Unicode MS"/>
              </a:rPr>
              <a:t>上从而产</a:t>
            </a:r>
            <a:r>
              <a:rPr dirty="0" sz="1050" spc="-10">
                <a:latin typeface="Arial Unicode MS"/>
                <a:cs typeface="Arial Unicode MS"/>
              </a:rPr>
              <a:t>生</a:t>
            </a:r>
            <a:r>
              <a:rPr dirty="0" sz="1050" spc="-5">
                <a:latin typeface="Arial Unicode MS"/>
                <a:cs typeface="Arial Unicode MS"/>
              </a:rPr>
              <a:t>颜色的</a:t>
            </a:r>
            <a:r>
              <a:rPr dirty="0" sz="1050" spc="-10">
                <a:latin typeface="Arial Unicode MS"/>
                <a:cs typeface="Arial Unicode MS"/>
              </a:rPr>
              <a:t>改</a:t>
            </a:r>
            <a:r>
              <a:rPr dirty="0" sz="1050" spc="-5">
                <a:latin typeface="Arial Unicode MS"/>
                <a:cs typeface="Arial Unicode MS"/>
              </a:rPr>
              <a:t>变</a:t>
            </a:r>
            <a:r>
              <a:rPr dirty="0" sz="1050" spc="-2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。 </a:t>
            </a:r>
            <a:r>
              <a:rPr dirty="0" sz="1050" spc="-5">
                <a:latin typeface="Arial Unicode MS"/>
                <a:cs typeface="Arial Unicode MS"/>
              </a:rPr>
              <a:t>为</a:t>
            </a:r>
            <a:r>
              <a:rPr dirty="0" sz="1050" spc="-10">
                <a:latin typeface="Arial Unicode MS"/>
                <a:cs typeface="Arial Unicode MS"/>
              </a:rPr>
              <a:t>达</a:t>
            </a:r>
            <a:r>
              <a:rPr dirty="0" sz="1050" spc="-5">
                <a:latin typeface="Arial Unicode MS"/>
                <a:cs typeface="Arial Unicode MS"/>
              </a:rPr>
              <a:t>到最好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变色效</a:t>
            </a:r>
            <a:r>
              <a:rPr dirty="0" sz="1050" spc="-70">
                <a:latin typeface="Arial Unicode MS"/>
                <a:cs typeface="Arial Unicode MS"/>
              </a:rPr>
              <a:t>果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应</a:t>
            </a:r>
            <a:r>
              <a:rPr dirty="0" sz="1050" spc="-5">
                <a:latin typeface="Arial Unicode MS"/>
                <a:cs typeface="Arial Unicode MS"/>
              </a:rPr>
              <a:t>使指示</a:t>
            </a:r>
            <a:r>
              <a:rPr dirty="0" sz="1050" spc="-10">
                <a:latin typeface="Arial Unicode MS"/>
                <a:cs typeface="Arial Unicode MS"/>
              </a:rPr>
              <a:t>剂</a:t>
            </a:r>
            <a:r>
              <a:rPr dirty="0" sz="1050" spc="-5">
                <a:latin typeface="Arial Unicode MS"/>
                <a:cs typeface="Arial Unicode MS"/>
              </a:rPr>
              <a:t>尽可能多</a:t>
            </a:r>
            <a:r>
              <a:rPr dirty="0" sz="1050" spc="-10">
                <a:latin typeface="Arial Unicode MS"/>
                <a:cs typeface="Arial Unicode MS"/>
              </a:rPr>
              <a:t>地</a:t>
            </a:r>
            <a:r>
              <a:rPr dirty="0" sz="1050" spc="-5">
                <a:latin typeface="Arial Unicode MS"/>
                <a:cs typeface="Arial Unicode MS"/>
              </a:rPr>
              <a:t>吸附到</a:t>
            </a:r>
            <a:r>
              <a:rPr dirty="0" sz="1050" spc="-10">
                <a:latin typeface="Arial Unicode MS"/>
                <a:cs typeface="Arial Unicode MS"/>
              </a:rPr>
              <a:t>沉</a:t>
            </a:r>
            <a:r>
              <a:rPr dirty="0" sz="1050" spc="-5">
                <a:latin typeface="Arial Unicode MS"/>
                <a:cs typeface="Arial Unicode MS"/>
              </a:rPr>
              <a:t>淀表</a:t>
            </a:r>
            <a:r>
              <a:rPr dirty="0" sz="1050" spc="-70">
                <a:latin typeface="Arial Unicode MS"/>
                <a:cs typeface="Arial Unicode MS"/>
              </a:rPr>
              <a:t>面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为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050" spc="-70">
                <a:latin typeface="Arial Unicode MS"/>
                <a:cs typeface="Arial Unicode MS"/>
              </a:rPr>
              <a:t>此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沉</a:t>
            </a:r>
            <a:r>
              <a:rPr dirty="0" sz="1050" spc="-5">
                <a:latin typeface="Arial Unicode MS"/>
                <a:cs typeface="Arial Unicode MS"/>
              </a:rPr>
              <a:t>淀的比表</a:t>
            </a:r>
            <a:r>
              <a:rPr dirty="0" sz="1050" spc="-10">
                <a:latin typeface="Arial Unicode MS"/>
                <a:cs typeface="Arial Unicode MS"/>
              </a:rPr>
              <a:t>面</a:t>
            </a:r>
            <a:r>
              <a:rPr dirty="0" sz="1050" spc="-5">
                <a:latin typeface="Arial Unicode MS"/>
                <a:cs typeface="Arial Unicode MS"/>
              </a:rPr>
              <a:t>积应尽</a:t>
            </a:r>
            <a:r>
              <a:rPr dirty="0" sz="1050" spc="-10">
                <a:latin typeface="Arial Unicode MS"/>
                <a:cs typeface="Arial Unicode MS"/>
              </a:rPr>
              <a:t>可</a:t>
            </a:r>
            <a:r>
              <a:rPr dirty="0" sz="1050" spc="-5">
                <a:latin typeface="Arial Unicode MS"/>
                <a:cs typeface="Arial Unicode MS"/>
              </a:rPr>
              <a:t>能</a:t>
            </a:r>
            <a:r>
              <a:rPr dirty="0" sz="1050" spc="-20">
                <a:latin typeface="Arial Unicode MS"/>
                <a:cs typeface="Arial Unicode MS"/>
              </a:rPr>
              <a:t>大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在滴</a:t>
            </a:r>
            <a:r>
              <a:rPr dirty="0" sz="1050" spc="-10">
                <a:latin typeface="Arial Unicode MS"/>
                <a:cs typeface="Arial Unicode MS"/>
              </a:rPr>
              <a:t>定</a:t>
            </a:r>
            <a:r>
              <a:rPr dirty="0" sz="1050" spc="-5">
                <a:latin typeface="Arial Unicode MS"/>
                <a:cs typeface="Arial Unicode MS"/>
              </a:rPr>
              <a:t>过程</a:t>
            </a:r>
            <a:r>
              <a:rPr dirty="0" sz="1050" spc="-70">
                <a:latin typeface="Arial Unicode MS"/>
                <a:cs typeface="Arial Unicode MS"/>
              </a:rPr>
              <a:t>中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为了使</a:t>
            </a:r>
            <a:r>
              <a:rPr dirty="0" sz="1050" spc="-10">
                <a:latin typeface="Arial Unicode MS"/>
                <a:cs typeface="Arial Unicode MS"/>
              </a:rPr>
              <a:t>沉</a:t>
            </a:r>
            <a:r>
              <a:rPr dirty="0" sz="1050" spc="-5">
                <a:latin typeface="Arial Unicode MS"/>
                <a:cs typeface="Arial Unicode MS"/>
              </a:rPr>
              <a:t>淀尽可能地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050" spc="-5">
                <a:latin typeface="Arial Unicode MS"/>
                <a:cs typeface="Arial Unicode MS"/>
              </a:rPr>
              <a:t>分散</a:t>
            </a:r>
            <a:r>
              <a:rPr dirty="0" sz="1050" spc="-10">
                <a:latin typeface="Arial Unicode MS"/>
                <a:cs typeface="Arial Unicode MS"/>
              </a:rPr>
              <a:t>以</a:t>
            </a:r>
            <a:r>
              <a:rPr dirty="0" sz="1050" spc="-5">
                <a:latin typeface="Arial Unicode MS"/>
                <a:cs typeface="Arial Unicode MS"/>
              </a:rPr>
              <a:t>获得大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比表面</a:t>
            </a:r>
            <a:r>
              <a:rPr dirty="0" sz="1050" spc="-70">
                <a:latin typeface="Arial Unicode MS"/>
                <a:cs typeface="Arial Unicode MS"/>
              </a:rPr>
              <a:t>积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通</a:t>
            </a:r>
            <a:r>
              <a:rPr dirty="0" sz="1050" spc="-5">
                <a:latin typeface="Arial Unicode MS"/>
                <a:cs typeface="Arial Unicode MS"/>
              </a:rPr>
              <a:t>常加入</a:t>
            </a:r>
            <a:r>
              <a:rPr dirty="0" sz="1050" spc="-10">
                <a:latin typeface="Arial Unicode MS"/>
                <a:cs typeface="Arial Unicode MS"/>
              </a:rPr>
              <a:t>糊</a:t>
            </a:r>
            <a:r>
              <a:rPr dirty="0" sz="1050" spc="-5">
                <a:latin typeface="Arial Unicode MS"/>
                <a:cs typeface="Arial Unicode MS"/>
              </a:rPr>
              <a:t>精和淀粉</a:t>
            </a:r>
            <a:r>
              <a:rPr dirty="0" sz="1050" spc="-10">
                <a:latin typeface="Arial Unicode MS"/>
                <a:cs typeface="Arial Unicode MS"/>
              </a:rPr>
              <a:t>以</a:t>
            </a:r>
            <a:r>
              <a:rPr dirty="0" sz="1050" spc="-5">
                <a:latin typeface="Arial Unicode MS"/>
                <a:cs typeface="Arial Unicode MS"/>
              </a:rPr>
              <a:t>防止沉</a:t>
            </a:r>
            <a:r>
              <a:rPr dirty="0" sz="1050" spc="-10">
                <a:latin typeface="Arial Unicode MS"/>
                <a:cs typeface="Arial Unicode MS"/>
              </a:rPr>
              <a:t>淀</a:t>
            </a:r>
            <a:r>
              <a:rPr dirty="0" sz="1050" spc="-5">
                <a:latin typeface="Arial Unicode MS"/>
                <a:cs typeface="Arial Unicode MS"/>
              </a:rPr>
              <a:t>凝</a:t>
            </a:r>
            <a:r>
              <a:rPr dirty="0" sz="1050" spc="-20">
                <a:latin typeface="Arial Unicode MS"/>
                <a:cs typeface="Arial Unicode MS"/>
              </a:rPr>
              <a:t>聚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050" spc="-10">
                <a:latin typeface="Arial Unicode MS"/>
                <a:cs typeface="Arial Unicode MS"/>
              </a:rPr>
              <a:t>吸</a:t>
            </a:r>
            <a:r>
              <a:rPr dirty="0" sz="1050" spc="-5">
                <a:latin typeface="Arial Unicode MS"/>
                <a:cs typeface="Arial Unicode MS"/>
              </a:rPr>
              <a:t>附指示剂</a:t>
            </a:r>
            <a:r>
              <a:rPr dirty="0" sz="1050" spc="-10">
                <a:latin typeface="Arial Unicode MS"/>
                <a:cs typeface="Arial Unicode MS"/>
              </a:rPr>
              <a:t>通</a:t>
            </a:r>
            <a:r>
              <a:rPr dirty="0" sz="1050" spc="-5">
                <a:latin typeface="Arial Unicode MS"/>
                <a:cs typeface="Arial Unicode MS"/>
              </a:rPr>
              <a:t>常是有</a:t>
            </a:r>
            <a:r>
              <a:rPr dirty="0" sz="1050" spc="-10">
                <a:latin typeface="Arial Unicode MS"/>
                <a:cs typeface="Arial Unicode MS"/>
              </a:rPr>
              <a:t>机</a:t>
            </a:r>
            <a:r>
              <a:rPr dirty="0" sz="1050" spc="-5">
                <a:latin typeface="Arial Unicode MS"/>
                <a:cs typeface="Arial Unicode MS"/>
              </a:rPr>
              <a:t>弱</a:t>
            </a:r>
            <a:r>
              <a:rPr dirty="0" sz="1050" spc="-70">
                <a:latin typeface="Arial Unicode MS"/>
                <a:cs typeface="Arial Unicode MS"/>
              </a:rPr>
              <a:t>酸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其</a:t>
            </a:r>
            <a:r>
              <a:rPr dirty="0" sz="1050" spc="-10">
                <a:latin typeface="Arial Unicode MS"/>
                <a:cs typeface="Arial Unicode MS"/>
              </a:rPr>
              <a:t>变</a:t>
            </a:r>
            <a:r>
              <a:rPr dirty="0" sz="1050" spc="-5">
                <a:latin typeface="Arial Unicode MS"/>
                <a:cs typeface="Arial Unicode MS"/>
              </a:rPr>
              <a:t>色形体是</a:t>
            </a:r>
            <a:r>
              <a:rPr dirty="0" sz="1050" spc="-10">
                <a:latin typeface="Arial Unicode MS"/>
                <a:cs typeface="Arial Unicode MS"/>
              </a:rPr>
              <a:t>其</a:t>
            </a:r>
            <a:r>
              <a:rPr dirty="0" sz="1050" spc="-5">
                <a:latin typeface="Arial Unicode MS"/>
                <a:cs typeface="Arial Unicode MS"/>
              </a:rPr>
              <a:t>共轭碱</a:t>
            </a:r>
            <a:r>
              <a:rPr dirty="0" sz="1050" spc="-10">
                <a:latin typeface="Arial Unicode MS"/>
                <a:cs typeface="Arial Unicode MS"/>
              </a:rPr>
              <a:t>阴</a:t>
            </a:r>
            <a:r>
              <a:rPr dirty="0" sz="1050" spc="-5">
                <a:latin typeface="Arial Unicode MS"/>
                <a:cs typeface="Arial Unicode MS"/>
              </a:rPr>
              <a:t>离</a:t>
            </a:r>
            <a:r>
              <a:rPr dirty="0" sz="1050" spc="-70">
                <a:latin typeface="Arial Unicode MS"/>
                <a:cs typeface="Arial Unicode MS"/>
              </a:rPr>
              <a:t>子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为</a:t>
            </a:r>
            <a:r>
              <a:rPr dirty="0" sz="1050" spc="-10">
                <a:latin typeface="Arial Unicode MS"/>
                <a:cs typeface="Arial Unicode MS"/>
              </a:rPr>
              <a:t>确</a:t>
            </a:r>
            <a:r>
              <a:rPr dirty="0" sz="1050" spc="-5">
                <a:latin typeface="Arial Unicode MS"/>
                <a:cs typeface="Arial Unicode MS"/>
              </a:rPr>
              <a:t>保足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050" spc="-5">
                <a:latin typeface="Arial Unicode MS"/>
                <a:cs typeface="Arial Unicode MS"/>
              </a:rPr>
              <a:t>够多</a:t>
            </a:r>
            <a:r>
              <a:rPr dirty="0" sz="1050" spc="-10">
                <a:latin typeface="Arial Unicode MS"/>
                <a:cs typeface="Arial Unicode MS"/>
              </a:rPr>
              <a:t>的</a:t>
            </a:r>
            <a:r>
              <a:rPr dirty="0" sz="1050" spc="-5">
                <a:latin typeface="Arial Unicode MS"/>
                <a:cs typeface="Arial Unicode MS"/>
              </a:rPr>
              <a:t>指示</a:t>
            </a:r>
            <a:r>
              <a:rPr dirty="0" sz="1050" spc="-10">
                <a:latin typeface="Arial Unicode MS"/>
                <a:cs typeface="Arial Unicode MS"/>
              </a:rPr>
              <a:t>剂</a:t>
            </a:r>
            <a:r>
              <a:rPr dirty="0" sz="1050" spc="-5">
                <a:latin typeface="Arial Unicode MS"/>
                <a:cs typeface="Arial Unicode MS"/>
              </a:rPr>
              <a:t>阴离</a:t>
            </a:r>
            <a:r>
              <a:rPr dirty="0" sz="1050" spc="-70">
                <a:latin typeface="Arial Unicode MS"/>
                <a:cs typeface="Arial Unicode MS"/>
              </a:rPr>
              <a:t>子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应</a:t>
            </a:r>
            <a:r>
              <a:rPr dirty="0" sz="1050" spc="-5">
                <a:latin typeface="Arial Unicode MS"/>
                <a:cs typeface="Arial Unicode MS"/>
              </a:rPr>
              <a:t>将溶液的</a:t>
            </a:r>
            <a:r>
              <a:rPr dirty="0" sz="1050" spc="-10">
                <a:latin typeface="Arial Unicode MS"/>
                <a:cs typeface="Arial Unicode MS"/>
              </a:rPr>
              <a:t>酸</a:t>
            </a:r>
            <a:r>
              <a:rPr dirty="0" sz="1050" spc="-5">
                <a:latin typeface="Arial Unicode MS"/>
                <a:cs typeface="Arial Unicode MS"/>
              </a:rPr>
              <a:t>度控制</a:t>
            </a:r>
            <a:r>
              <a:rPr dirty="0" sz="1050" spc="-10">
                <a:latin typeface="Arial Unicode MS"/>
                <a:cs typeface="Arial Unicode MS"/>
              </a:rPr>
              <a:t>在</a:t>
            </a:r>
            <a:r>
              <a:rPr dirty="0" sz="1050" spc="-5">
                <a:latin typeface="Arial Unicode MS"/>
                <a:cs typeface="Arial Unicode MS"/>
              </a:rPr>
              <a:t>适当的范</a:t>
            </a:r>
            <a:r>
              <a:rPr dirty="0" sz="1050" spc="-10">
                <a:latin typeface="Arial Unicode MS"/>
                <a:cs typeface="Arial Unicode MS"/>
              </a:rPr>
              <a:t>围</a:t>
            </a:r>
            <a:r>
              <a:rPr dirty="0" sz="1050" spc="-20">
                <a:latin typeface="Arial Unicode MS"/>
                <a:cs typeface="Arial Unicode MS"/>
              </a:rPr>
              <a:t>内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050" spc="-10">
                <a:latin typeface="Arial Unicode MS"/>
                <a:cs typeface="Arial Unicode MS"/>
              </a:rPr>
              <a:t>卤</a:t>
            </a:r>
            <a:r>
              <a:rPr dirty="0" sz="1050" spc="-5">
                <a:latin typeface="Arial Unicode MS"/>
                <a:cs typeface="Arial Unicode MS"/>
              </a:rPr>
              <a:t>化银沉淀</a:t>
            </a:r>
            <a:r>
              <a:rPr dirty="0" sz="1050" spc="-10">
                <a:latin typeface="Arial Unicode MS"/>
                <a:cs typeface="Arial Unicode MS"/>
              </a:rPr>
              <a:t>在</a:t>
            </a:r>
            <a:r>
              <a:rPr dirty="0" sz="1050" spc="-5">
                <a:latin typeface="Arial Unicode MS"/>
                <a:cs typeface="Arial Unicode MS"/>
              </a:rPr>
              <a:t>光照下</a:t>
            </a:r>
            <a:r>
              <a:rPr dirty="0" sz="1050" spc="-10">
                <a:latin typeface="Arial Unicode MS"/>
                <a:cs typeface="Arial Unicode MS"/>
              </a:rPr>
              <a:t>易</a:t>
            </a:r>
            <a:r>
              <a:rPr dirty="0" sz="1050" spc="-5">
                <a:latin typeface="Arial Unicode MS"/>
                <a:cs typeface="Arial Unicode MS"/>
              </a:rPr>
              <a:t>分解析出</a:t>
            </a:r>
            <a:r>
              <a:rPr dirty="0" sz="1050" spc="-70">
                <a:latin typeface="Arial Unicode MS"/>
                <a:cs typeface="Arial Unicode MS"/>
              </a:rPr>
              <a:t>银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使溶液</a:t>
            </a:r>
            <a:r>
              <a:rPr dirty="0" sz="1050" spc="-10">
                <a:latin typeface="Arial Unicode MS"/>
                <a:cs typeface="Arial Unicode MS"/>
              </a:rPr>
              <a:t>显</a:t>
            </a:r>
            <a:r>
              <a:rPr dirty="0" sz="1050" spc="-5">
                <a:latin typeface="Arial Unicode MS"/>
                <a:cs typeface="Arial Unicode MS"/>
              </a:rPr>
              <a:t>灰</a:t>
            </a:r>
            <a:r>
              <a:rPr dirty="0" sz="1050" spc="-70">
                <a:latin typeface="Arial Unicode MS"/>
                <a:cs typeface="Arial Unicode MS"/>
              </a:rPr>
              <a:t>色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影</a:t>
            </a:r>
            <a:r>
              <a:rPr dirty="0" sz="1050" spc="-10">
                <a:latin typeface="Arial Unicode MS"/>
                <a:cs typeface="Arial Unicode MS"/>
              </a:rPr>
              <a:t>响</a:t>
            </a:r>
            <a:r>
              <a:rPr dirty="0" sz="1050" spc="-5">
                <a:latin typeface="Arial Unicode MS"/>
                <a:cs typeface="Arial Unicode MS"/>
              </a:rPr>
              <a:t>滴定终点</a:t>
            </a:r>
            <a:r>
              <a:rPr dirty="0" sz="1050" spc="-10">
                <a:latin typeface="Arial Unicode MS"/>
                <a:cs typeface="Arial Unicode MS"/>
              </a:rPr>
              <a:t>颜</a:t>
            </a:r>
            <a:r>
              <a:rPr dirty="0" sz="1050" spc="-5">
                <a:latin typeface="Arial Unicode MS"/>
                <a:cs typeface="Arial Unicode MS"/>
              </a:rPr>
              <a:t>色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050" spc="-5">
                <a:latin typeface="Arial Unicode MS"/>
                <a:cs typeface="Arial Unicode MS"/>
              </a:rPr>
              <a:t>的</a:t>
            </a:r>
            <a:r>
              <a:rPr dirty="0" sz="1050" spc="-10">
                <a:latin typeface="Arial Unicode MS"/>
                <a:cs typeface="Arial Unicode MS"/>
              </a:rPr>
              <a:t>观</a:t>
            </a:r>
            <a:r>
              <a:rPr dirty="0" sz="1050" spc="-70">
                <a:latin typeface="Arial Unicode MS"/>
                <a:cs typeface="Arial Unicode MS"/>
              </a:rPr>
              <a:t>察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因此</a:t>
            </a:r>
            <a:r>
              <a:rPr dirty="0" sz="1050" spc="-10">
                <a:latin typeface="Arial Unicode MS"/>
                <a:cs typeface="Arial Unicode MS"/>
              </a:rPr>
              <a:t>在</a:t>
            </a:r>
            <a:r>
              <a:rPr dirty="0" sz="1050" spc="-5">
                <a:latin typeface="Arial Unicode MS"/>
                <a:cs typeface="Arial Unicode MS"/>
              </a:rPr>
              <a:t>滴定时应</a:t>
            </a:r>
            <a:r>
              <a:rPr dirty="0" sz="1050" spc="-10">
                <a:latin typeface="Arial Unicode MS"/>
                <a:cs typeface="Arial Unicode MS"/>
              </a:rPr>
              <a:t>避</a:t>
            </a:r>
            <a:r>
              <a:rPr dirty="0" sz="1050" spc="-5">
                <a:latin typeface="Arial Unicode MS"/>
                <a:cs typeface="Arial Unicode MS"/>
              </a:rPr>
              <a:t>免强光</a:t>
            </a:r>
            <a:r>
              <a:rPr dirty="0" sz="1050" spc="-10">
                <a:latin typeface="Arial Unicode MS"/>
                <a:cs typeface="Arial Unicode MS"/>
              </a:rPr>
              <a:t>照</a:t>
            </a:r>
            <a:r>
              <a:rPr dirty="0" sz="1050" spc="-20">
                <a:latin typeface="Arial Unicode MS"/>
                <a:cs typeface="Arial Unicode MS"/>
              </a:rPr>
              <a:t>射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050" spc="-10">
                <a:latin typeface="Arial Unicode MS"/>
                <a:cs typeface="Arial Unicode MS"/>
              </a:rPr>
              <a:t>胶</a:t>
            </a:r>
            <a:r>
              <a:rPr dirty="0" sz="1050" spc="-5">
                <a:latin typeface="Arial Unicode MS"/>
                <a:cs typeface="Arial Unicode MS"/>
              </a:rPr>
              <a:t>体对指示</a:t>
            </a:r>
            <a:r>
              <a:rPr dirty="0" sz="1050" spc="-10">
                <a:latin typeface="Arial Unicode MS"/>
                <a:cs typeface="Arial Unicode MS"/>
              </a:rPr>
              <a:t>剂</a:t>
            </a:r>
            <a:r>
              <a:rPr dirty="0" sz="1050" spc="-5">
                <a:latin typeface="Arial Unicode MS"/>
                <a:cs typeface="Arial Unicode MS"/>
              </a:rPr>
              <a:t>的吸附</a:t>
            </a:r>
            <a:r>
              <a:rPr dirty="0" sz="1050" spc="-10">
                <a:latin typeface="Arial Unicode MS"/>
                <a:cs typeface="Arial Unicode MS"/>
              </a:rPr>
              <a:t>能</a:t>
            </a:r>
            <a:r>
              <a:rPr dirty="0" sz="1050" spc="-5">
                <a:latin typeface="Arial Unicode MS"/>
                <a:cs typeface="Arial Unicode MS"/>
              </a:rPr>
              <a:t>力要恰</a:t>
            </a:r>
            <a:r>
              <a:rPr dirty="0" sz="1050" spc="-70">
                <a:latin typeface="Arial Unicode MS"/>
                <a:cs typeface="Arial Unicode MS"/>
              </a:rPr>
              <a:t>当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10">
                <a:latin typeface="Arial Unicode MS"/>
                <a:cs typeface="Arial Unicode MS"/>
              </a:rPr>
              <a:t>太</a:t>
            </a:r>
            <a:r>
              <a:rPr dirty="0" sz="1050" spc="-5">
                <a:latin typeface="Arial Unicode MS"/>
                <a:cs typeface="Arial Unicode MS"/>
              </a:rPr>
              <a:t>大或太</a:t>
            </a:r>
            <a:r>
              <a:rPr dirty="0" sz="1050" spc="-10">
                <a:latin typeface="Arial Unicode MS"/>
                <a:cs typeface="Arial Unicode MS"/>
              </a:rPr>
              <a:t>小</a:t>
            </a:r>
            <a:r>
              <a:rPr dirty="0" sz="1050" spc="-5">
                <a:latin typeface="Arial Unicode MS"/>
                <a:cs typeface="Arial Unicode MS"/>
              </a:rPr>
              <a:t>都不合</a:t>
            </a:r>
            <a:r>
              <a:rPr dirty="0" sz="1050" spc="-20">
                <a:latin typeface="Arial Unicode MS"/>
                <a:cs typeface="Arial Unicode MS"/>
              </a:rPr>
              <a:t>适</a:t>
            </a:r>
            <a:r>
              <a:rPr dirty="0" sz="1050" spc="-204">
                <a:latin typeface="Arial Unicode MS"/>
                <a:cs typeface="Arial Unicode MS"/>
              </a:rPr>
              <a:t>。</a:t>
            </a:r>
            <a:r>
              <a:rPr dirty="0" sz="1050" spc="-5">
                <a:latin typeface="Arial Unicode MS"/>
                <a:cs typeface="Arial Unicode MS"/>
              </a:rPr>
              <a:t>如果吸</a:t>
            </a:r>
            <a:r>
              <a:rPr dirty="0" sz="1050" spc="-10">
                <a:latin typeface="Arial Unicode MS"/>
                <a:cs typeface="Arial Unicode MS"/>
              </a:rPr>
              <a:t>附</a:t>
            </a:r>
            <a:r>
              <a:rPr dirty="0" sz="1050" spc="-5">
                <a:latin typeface="Arial Unicode MS"/>
                <a:cs typeface="Arial Unicode MS"/>
              </a:rPr>
              <a:t>能力</a:t>
            </a:r>
            <a:endParaRPr sz="10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050" spc="-5">
                <a:latin typeface="Arial Unicode MS"/>
                <a:cs typeface="Arial Unicode MS"/>
              </a:rPr>
              <a:t>太</a:t>
            </a:r>
            <a:r>
              <a:rPr dirty="0" sz="1050" spc="-70">
                <a:latin typeface="Arial Unicode MS"/>
                <a:cs typeface="Arial Unicode MS"/>
              </a:rPr>
              <a:t>强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则容易</a:t>
            </a:r>
            <a:r>
              <a:rPr dirty="0" sz="1050" spc="-10">
                <a:latin typeface="Arial Unicode MS"/>
                <a:cs typeface="Arial Unicode MS"/>
              </a:rPr>
              <a:t>导</a:t>
            </a:r>
            <a:r>
              <a:rPr dirty="0" sz="1050" spc="-5">
                <a:latin typeface="Arial Unicode MS"/>
                <a:cs typeface="Arial Unicode MS"/>
              </a:rPr>
              <a:t>致提前变</a:t>
            </a:r>
            <a:r>
              <a:rPr dirty="0" sz="1050" spc="-70">
                <a:latin typeface="Arial Unicode MS"/>
                <a:cs typeface="Arial Unicode MS"/>
              </a:rPr>
              <a:t>色</a:t>
            </a:r>
            <a:r>
              <a:rPr dirty="0" sz="1050" spc="-165">
                <a:latin typeface="Arial Unicode MS"/>
                <a:cs typeface="Arial Unicode MS"/>
              </a:rPr>
              <a:t>，</a:t>
            </a:r>
            <a:r>
              <a:rPr dirty="0" sz="1050" spc="-5">
                <a:latin typeface="Arial Unicode MS"/>
                <a:cs typeface="Arial Unicode MS"/>
              </a:rPr>
              <a:t>而太弱</a:t>
            </a:r>
            <a:r>
              <a:rPr dirty="0" sz="1050" spc="-10">
                <a:latin typeface="Arial Unicode MS"/>
                <a:cs typeface="Arial Unicode MS"/>
              </a:rPr>
              <a:t>则</a:t>
            </a:r>
            <a:r>
              <a:rPr dirty="0" sz="1050" spc="-5">
                <a:latin typeface="Arial Unicode MS"/>
                <a:cs typeface="Arial Unicode MS"/>
              </a:rPr>
              <a:t>使滴定</a:t>
            </a:r>
            <a:r>
              <a:rPr dirty="0" sz="1050" spc="-10">
                <a:latin typeface="Arial Unicode MS"/>
                <a:cs typeface="Arial Unicode MS"/>
              </a:rPr>
              <a:t>终</a:t>
            </a:r>
            <a:r>
              <a:rPr dirty="0" sz="1050" spc="-5">
                <a:latin typeface="Arial Unicode MS"/>
                <a:cs typeface="Arial Unicode MS"/>
              </a:rPr>
              <a:t>点推</a:t>
            </a:r>
            <a:r>
              <a:rPr dirty="0" sz="1050" spc="-20">
                <a:latin typeface="Arial Unicode MS"/>
                <a:cs typeface="Arial Unicode MS"/>
              </a:rPr>
              <a:t>迟</a:t>
            </a:r>
            <a:r>
              <a:rPr dirty="0" sz="1050" spc="-5">
                <a:latin typeface="Arial Unicode MS"/>
                <a:cs typeface="Arial Unicode MS"/>
              </a:rPr>
              <a:t>。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23139"/>
            <a:ext cx="1789430" cy="268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8.4</a:t>
            </a:r>
            <a:r>
              <a:rPr dirty="0" sz="14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 Unicode MS"/>
                <a:cs typeface="Arial Unicode MS"/>
              </a:rPr>
              <a:t>银量法应用示例</a:t>
            </a:r>
            <a:endParaRPr sz="160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4599" y="1279423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4599" y="1541081"/>
            <a:ext cx="63233" cy="63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599" y="1802739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4599" y="2064397"/>
            <a:ext cx="63233" cy="632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4599" y="2326055"/>
            <a:ext cx="63233" cy="63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1553" y="1101216"/>
            <a:ext cx="1847850" cy="13315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Arial Unicode MS"/>
                <a:cs typeface="Arial Unicode MS"/>
              </a:rPr>
              <a:t>天然水中氯含量的测定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银合金中银的测定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有机化合物中卤素的测定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200" spc="-5">
                <a:latin typeface="Arial Unicode MS"/>
                <a:cs typeface="Arial Unicode MS"/>
              </a:rPr>
              <a:t>可溶性氯化物氯含量的测定</a:t>
            </a:r>
            <a:endParaRPr sz="1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0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r>
              <a:rPr dirty="0" sz="1100" spc="-155" b="0" i="1">
                <a:latin typeface="Bookman Old Style"/>
                <a:cs typeface="Bookman Old Style"/>
              </a:rPr>
              <a:t> </a:t>
            </a:r>
            <a:r>
              <a:rPr dirty="0" sz="1100" spc="-30" b="0" i="1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698625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Georgia"/>
                <a:cs typeface="Georgia"/>
              </a:rPr>
              <a:t>8.4.1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50" spc="-5"/>
              <a:t>天然</a:t>
            </a:r>
            <a:r>
              <a:rPr dirty="0" sz="1050" spc="-10"/>
              <a:t>水</a:t>
            </a:r>
            <a:r>
              <a:rPr dirty="0" sz="1050" spc="-5"/>
              <a:t>中氯含</a:t>
            </a:r>
            <a:r>
              <a:rPr dirty="0" sz="1050" spc="-10"/>
              <a:t>量</a:t>
            </a:r>
            <a:r>
              <a:rPr dirty="0" sz="1050" spc="-5"/>
              <a:t>的测定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9501" y="1396238"/>
            <a:ext cx="403225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水中含有的氯离子通常以</a:t>
            </a:r>
            <a:r>
              <a:rPr dirty="0" sz="1200" spc="15">
                <a:latin typeface="Arial Unicode MS"/>
                <a:cs typeface="Arial Unicode MS"/>
              </a:rPr>
              <a:t>钠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15">
                <a:latin typeface="Arial Unicode MS"/>
                <a:cs typeface="Arial Unicode MS"/>
              </a:rPr>
              <a:t>镁</a:t>
            </a:r>
            <a:r>
              <a:rPr dirty="0" sz="1200" spc="-270">
                <a:latin typeface="Arial Unicode MS"/>
                <a:cs typeface="Arial Unicode MS"/>
              </a:rPr>
              <a:t>、</a:t>
            </a:r>
            <a:r>
              <a:rPr dirty="0" sz="1200" spc="-5">
                <a:latin typeface="Arial Unicode MS"/>
                <a:cs typeface="Arial Unicode MS"/>
              </a:rPr>
              <a:t>钙盐的形式存</a:t>
            </a:r>
            <a:r>
              <a:rPr dirty="0" sz="1200" spc="-80">
                <a:latin typeface="Arial Unicode MS"/>
                <a:cs typeface="Arial Unicode MS"/>
              </a:rPr>
              <a:t>在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其中氯离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5684" y="173009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55684" y="1645577"/>
            <a:ext cx="46799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5280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26231" y="1730095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00831" y="1569669"/>
            <a:ext cx="3543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600" spc="165">
                <a:latin typeface="Times New Roman"/>
                <a:cs typeface="Times New Roman"/>
              </a:rPr>
              <a:t>3</a:t>
            </a:r>
            <a:r>
              <a:rPr dirty="0" sz="600" spc="165" i="1">
                <a:latin typeface="Arial"/>
                <a:cs typeface="Arial"/>
              </a:rPr>
              <a:t>−</a:t>
            </a:r>
            <a:r>
              <a:rPr dirty="0" baseline="-18518" sz="1800" spc="-7">
                <a:latin typeface="Arial Unicode MS"/>
                <a:cs typeface="Arial Unicode MS"/>
              </a:rPr>
              <a:t>等</a:t>
            </a:r>
            <a:endParaRPr baseline="-18518" sz="180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1619935"/>
            <a:ext cx="42792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81095" algn="l"/>
              </a:tabLst>
            </a:pPr>
            <a:r>
              <a:rPr dirty="0" sz="1200" spc="-5">
                <a:latin typeface="Arial Unicode MS"/>
                <a:cs typeface="Arial Unicode MS"/>
              </a:rPr>
              <a:t>子的含量多用莫尔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若水中还含有</a:t>
            </a:r>
            <a:r>
              <a:rPr dirty="0" sz="1200" spc="30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SO</a:t>
            </a:r>
            <a:r>
              <a:rPr dirty="0" sz="1100">
                <a:latin typeface="Georgia"/>
                <a:cs typeface="Georgia"/>
              </a:rPr>
              <a:t>  </a:t>
            </a:r>
            <a:r>
              <a:rPr dirty="0" sz="1100" spc="120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100" spc="-15">
                <a:latin typeface="Georgia"/>
                <a:cs typeface="Georgia"/>
              </a:rPr>
              <a:t>S</a:t>
            </a:r>
            <a:r>
              <a:rPr dirty="0" sz="1100">
                <a:latin typeface="Georgia"/>
                <a:cs typeface="Georgia"/>
              </a:rPr>
              <a:t>  </a:t>
            </a:r>
            <a:r>
              <a:rPr dirty="0" sz="1100" spc="120">
                <a:latin typeface="Georgia"/>
                <a:cs typeface="Georgia"/>
              </a:rPr>
              <a:t> 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100" spc="50">
                <a:latin typeface="Georgia"/>
                <a:cs typeface="Georgia"/>
              </a:rPr>
              <a:t>PO</a:t>
            </a:r>
            <a:r>
              <a:rPr dirty="0" sz="1100">
                <a:latin typeface="Georgia"/>
                <a:cs typeface="Georgia"/>
              </a:rPr>
              <a:t>	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可采用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843633"/>
            <a:ext cx="93535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>
                <a:latin typeface="Arial Unicode MS"/>
                <a:cs typeface="Arial Unicode MS"/>
              </a:rPr>
              <a:t>佛尔哈德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43319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>
                <a:solidFill>
                  <a:srgbClr val="FFFFFF"/>
                </a:solidFill>
                <a:latin typeface="Georgia"/>
                <a:cs typeface="Georgia"/>
              </a:rPr>
              <a:t>8.4.2</a:t>
            </a:r>
            <a:r>
              <a:rPr dirty="0" sz="1000" spc="-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银合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金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中银的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测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682104"/>
            <a:ext cx="4100829" cy="47307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银合金中银的测定采用佛尔哈德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首</a:t>
            </a:r>
            <a:r>
              <a:rPr dirty="0" sz="1200" spc="-80">
                <a:latin typeface="Arial Unicode MS"/>
                <a:cs typeface="Arial Unicode MS"/>
              </a:rPr>
              <a:t>先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将银合金溶于</a:t>
            </a:r>
            <a:endParaRPr sz="1200">
              <a:latin typeface="Arial Unicode MS"/>
              <a:cs typeface="Arial Unicode MS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</a:pPr>
            <a:r>
              <a:rPr dirty="0" sz="1100" spc="-5">
                <a:latin typeface="Georgia"/>
                <a:cs typeface="Georgia"/>
              </a:rPr>
              <a:t>HNO</a:t>
            </a:r>
            <a:r>
              <a:rPr dirty="0" baseline="-13888" sz="900" spc="-7">
                <a:latin typeface="Times New Roman"/>
                <a:cs typeface="Times New Roman"/>
              </a:rPr>
              <a:t>3</a:t>
            </a:r>
            <a:r>
              <a:rPr dirty="0" baseline="-13888" sz="900" spc="165">
                <a:latin typeface="Times New Roman"/>
                <a:cs typeface="Times New Roman"/>
              </a:rPr>
              <a:t> </a:t>
            </a:r>
            <a:r>
              <a:rPr dirty="0" sz="1200" spc="-80">
                <a:latin typeface="Arial Unicode MS"/>
                <a:cs typeface="Arial Unicode MS"/>
              </a:rPr>
              <a:t>中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制成样品溶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反应如</a:t>
            </a:r>
            <a:r>
              <a:rPr dirty="0" sz="1200" spc="-90">
                <a:latin typeface="Arial Unicode MS"/>
                <a:cs typeface="Arial Unicode MS"/>
              </a:rPr>
              <a:t>下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4139" y="1420342"/>
            <a:ext cx="7239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5">
                <a:latin typeface="Times New Roman"/>
                <a:cs typeface="Times New Roman"/>
              </a:rPr>
              <a:t>3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4139" y="1328890"/>
            <a:ext cx="9556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4340" algn="l"/>
                <a:tab pos="871219" algn="l"/>
              </a:tabLst>
            </a:pPr>
            <a:r>
              <a:rPr dirty="0" sz="600" spc="225" i="1">
                <a:latin typeface="Arial"/>
                <a:cs typeface="Arial"/>
              </a:rPr>
              <a:t>−</a:t>
            </a:r>
            <a:r>
              <a:rPr dirty="0" sz="600" spc="225" i="1">
                <a:latin typeface="Arial"/>
                <a:cs typeface="Arial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r>
              <a:rPr dirty="0" sz="600" spc="220">
                <a:latin typeface="Times New Roman"/>
                <a:cs typeface="Times New Roman"/>
              </a:rPr>
              <a:t>	</a:t>
            </a:r>
            <a:r>
              <a:rPr dirty="0" sz="600" spc="220">
                <a:latin typeface="Times New Roman"/>
                <a:cs typeface="Times New Roman"/>
              </a:rPr>
              <a:t>+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41548" y="1406880"/>
            <a:ext cx="4826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2909" algn="l"/>
              </a:tabLst>
            </a:pPr>
            <a:r>
              <a:rPr dirty="0" sz="600" spc="65">
                <a:latin typeface="Times New Roman"/>
                <a:cs typeface="Times New Roman"/>
              </a:rPr>
              <a:t>2</a:t>
            </a:r>
            <a:r>
              <a:rPr dirty="0" sz="600" spc="65">
                <a:latin typeface="Times New Roman"/>
                <a:cs typeface="Times New Roman"/>
              </a:rPr>
              <a:t>	</a:t>
            </a:r>
            <a:r>
              <a:rPr dirty="0" sz="600" spc="6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9949" y="1323467"/>
            <a:ext cx="24682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30">
                <a:latin typeface="Georgia"/>
                <a:cs typeface="Georgia"/>
              </a:rPr>
              <a:t>Ag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>
                <a:latin typeface="Georgia"/>
                <a:cs typeface="Georgia"/>
              </a:rPr>
              <a:t>NO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 spc="-75">
                <a:latin typeface="Georgia"/>
                <a:cs typeface="Georgia"/>
              </a:rPr>
              <a:t>2H </a:t>
            </a:r>
            <a:r>
              <a:rPr dirty="0" sz="1100" spc="140">
                <a:latin typeface="Georgia"/>
                <a:cs typeface="Georgia"/>
              </a:rPr>
              <a:t>= </a:t>
            </a:r>
            <a:r>
              <a:rPr dirty="0" sz="1100" spc="30">
                <a:latin typeface="Georgia"/>
                <a:cs typeface="Georgia"/>
              </a:rPr>
              <a:t>Ag </a:t>
            </a:r>
            <a:r>
              <a:rPr dirty="0" sz="1100" spc="140">
                <a:latin typeface="Georgia"/>
                <a:cs typeface="Georgia"/>
              </a:rPr>
              <a:t>+ </a:t>
            </a:r>
            <a:r>
              <a:rPr dirty="0" sz="1100">
                <a:latin typeface="Georgia"/>
                <a:cs typeface="Georgia"/>
              </a:rPr>
              <a:t>NO </a:t>
            </a:r>
            <a:r>
              <a:rPr dirty="0" sz="1100" spc="-40">
                <a:latin typeface="Lucida Sans Unicode"/>
                <a:cs typeface="Lucida Sans Unicode"/>
              </a:rPr>
              <a:t>↑ </a:t>
            </a:r>
            <a:r>
              <a:rPr dirty="0" sz="1100" spc="30">
                <a:latin typeface="Georgia"/>
                <a:cs typeface="Georgia"/>
              </a:rPr>
              <a:t>+H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3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044" y="1631556"/>
            <a:ext cx="4434840" cy="1422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 marR="558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注</a:t>
            </a:r>
            <a:r>
              <a:rPr dirty="0" sz="1200" spc="-80">
                <a:latin typeface="Arial Unicode MS"/>
                <a:cs typeface="Arial Unicode MS"/>
              </a:rPr>
              <a:t>意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在溶解试样</a:t>
            </a:r>
            <a:r>
              <a:rPr dirty="0" sz="1200" spc="-80">
                <a:latin typeface="Arial Unicode MS"/>
                <a:cs typeface="Arial Unicode MS"/>
              </a:rPr>
              <a:t>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必须煮沸以除去氮的低价氧化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以免 </a:t>
            </a:r>
            <a:r>
              <a:rPr dirty="0" sz="1200" spc="-5">
                <a:latin typeface="Arial Unicode MS"/>
                <a:cs typeface="Arial Unicode MS"/>
              </a:rPr>
              <a:t>它们在后续的滴定过程中与</a:t>
            </a:r>
            <a:r>
              <a:rPr dirty="0" sz="1200" spc="10">
                <a:latin typeface="Arial Unicode MS"/>
                <a:cs typeface="Arial Unicode MS"/>
              </a:rPr>
              <a:t> </a:t>
            </a:r>
            <a:r>
              <a:rPr dirty="0" sz="1100" spc="65">
                <a:latin typeface="Georgia"/>
                <a:cs typeface="Georgia"/>
              </a:rPr>
              <a:t>SCN</a:t>
            </a:r>
            <a:r>
              <a:rPr dirty="0" baseline="37037" sz="900" spc="97" i="1">
                <a:latin typeface="Arial"/>
                <a:cs typeface="Arial"/>
              </a:rPr>
              <a:t>−</a:t>
            </a:r>
            <a:r>
              <a:rPr dirty="0" baseline="37037" sz="900" spc="330" i="1">
                <a:latin typeface="Arial"/>
                <a:cs typeface="Arial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作用生成红色化合</a:t>
            </a:r>
            <a:r>
              <a:rPr dirty="0" sz="1200" spc="-80">
                <a:latin typeface="Arial Unicode MS"/>
                <a:cs typeface="Arial Unicode MS"/>
              </a:rPr>
              <a:t>物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影响终 点的现</a:t>
            </a:r>
            <a:r>
              <a:rPr dirty="0" sz="1200" spc="-90">
                <a:latin typeface="Arial Unicode MS"/>
                <a:cs typeface="Arial Unicode MS"/>
              </a:rPr>
              <a:t>察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800">
              <a:latin typeface="Arial Unicode MS"/>
              <a:cs typeface="Arial Unicode MS"/>
            </a:endParaRPr>
          </a:p>
          <a:p>
            <a:pPr algn="ctr" marL="23495">
              <a:lnSpc>
                <a:spcPts val="735"/>
              </a:lnSpc>
            </a:pPr>
            <a:r>
              <a:rPr dirty="0" sz="1100" spc="-5">
                <a:latin typeface="Georgia"/>
                <a:cs typeface="Georgia"/>
              </a:rPr>
              <a:t>HNO</a:t>
            </a:r>
            <a:r>
              <a:rPr dirty="0" baseline="-13888" sz="900" spc="-7">
                <a:latin typeface="Times New Roman"/>
                <a:cs typeface="Times New Roman"/>
              </a:rPr>
              <a:t>2</a:t>
            </a:r>
            <a:r>
              <a:rPr dirty="0" baseline="-13888" sz="900" spc="202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-80">
                <a:latin typeface="Georgia"/>
                <a:cs typeface="Georgia"/>
              </a:rPr>
              <a:t>H</a:t>
            </a:r>
            <a:r>
              <a:rPr dirty="0" sz="1100" spc="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5">
                <a:latin typeface="Georgia"/>
                <a:cs typeface="Georgia"/>
              </a:rPr>
              <a:t>SCN</a:t>
            </a:r>
            <a:r>
              <a:rPr dirty="0" sz="1100" spc="9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=</a:t>
            </a:r>
            <a:r>
              <a:rPr dirty="0" sz="1100" spc="30">
                <a:latin typeface="Georgia"/>
                <a:cs typeface="Georgia"/>
              </a:rPr>
              <a:t> </a:t>
            </a:r>
            <a:r>
              <a:rPr dirty="0" sz="1100" spc="5">
                <a:latin typeface="Georgia"/>
                <a:cs typeface="Georgia"/>
              </a:rPr>
              <a:t>NOSCN(</a:t>
            </a:r>
            <a:r>
              <a:rPr dirty="0" sz="1200" spc="-5">
                <a:latin typeface="Arial Unicode MS"/>
                <a:cs typeface="Arial Unicode MS"/>
              </a:rPr>
              <a:t>红色</a:t>
            </a:r>
            <a:r>
              <a:rPr dirty="0" sz="1100" spc="10">
                <a:latin typeface="Georgia"/>
                <a:cs typeface="Georgia"/>
              </a:rPr>
              <a:t>)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25">
                <a:latin typeface="Georgia"/>
                <a:cs typeface="Georgia"/>
              </a:rPr>
              <a:t> </a:t>
            </a:r>
            <a:r>
              <a:rPr dirty="0" sz="1100" spc="20">
                <a:latin typeface="Georgia"/>
                <a:cs typeface="Georgia"/>
              </a:rPr>
              <a:t>H</a:t>
            </a:r>
            <a:r>
              <a:rPr dirty="0" baseline="-13888" sz="900" spc="30">
                <a:latin typeface="Times New Roman"/>
                <a:cs typeface="Times New Roman"/>
              </a:rPr>
              <a:t>2</a:t>
            </a:r>
            <a:r>
              <a:rPr dirty="0" sz="1100" spc="20">
                <a:latin typeface="Georgia"/>
                <a:cs typeface="Georgia"/>
              </a:rPr>
              <a:t>O</a:t>
            </a:r>
            <a:endParaRPr sz="1100">
              <a:latin typeface="Georgia"/>
              <a:cs typeface="Georgia"/>
            </a:endParaRPr>
          </a:p>
          <a:p>
            <a:pPr algn="ctr" marR="855980">
              <a:lnSpc>
                <a:spcPts val="135"/>
              </a:lnSpc>
              <a:tabLst>
                <a:tab pos="527050" algn="l"/>
              </a:tabLst>
            </a:pPr>
            <a:r>
              <a:rPr dirty="0" sz="600" spc="220">
                <a:latin typeface="Times New Roman"/>
                <a:cs typeface="Times New Roman"/>
              </a:rPr>
              <a:t>+	</a:t>
            </a:r>
            <a:r>
              <a:rPr dirty="0" sz="600" spc="225" i="1">
                <a:latin typeface="Arial"/>
                <a:cs typeface="Arial"/>
              </a:rPr>
              <a:t>−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367030">
              <a:lnSpc>
                <a:spcPct val="100000"/>
              </a:lnSpc>
              <a:spcBef>
                <a:spcPts val="835"/>
              </a:spcBef>
            </a:pPr>
            <a:r>
              <a:rPr dirty="0" sz="1200" spc="-5">
                <a:latin typeface="Arial Unicode MS"/>
                <a:cs typeface="Arial Unicode MS"/>
              </a:rPr>
              <a:t>试样溶解之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以铁铵矾作指示剂进行滴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176" y="192722"/>
            <a:ext cx="1831339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>
                <a:solidFill>
                  <a:srgbClr val="FFFFFF"/>
                </a:solidFill>
                <a:latin typeface="Georgia"/>
                <a:cs typeface="Georgia"/>
              </a:rPr>
              <a:t>8.4.3</a:t>
            </a:r>
            <a:r>
              <a:rPr dirty="0" sz="1000" spc="-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有机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化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合物中</a:t>
            </a:r>
            <a:r>
              <a:rPr dirty="0" sz="1050" spc="-10">
                <a:solidFill>
                  <a:srgbClr val="FFFFFF"/>
                </a:solidFill>
                <a:latin typeface="Arial Unicode MS"/>
                <a:cs typeface="Arial Unicode MS"/>
              </a:rPr>
              <a:t>卤</a:t>
            </a:r>
            <a:r>
              <a:rPr dirty="0" sz="1050" spc="-5">
                <a:solidFill>
                  <a:srgbClr val="FFFFFF"/>
                </a:solidFill>
                <a:latin typeface="Arial Unicode MS"/>
                <a:cs typeface="Arial Unicode MS"/>
              </a:rPr>
              <a:t>素的测定</a:t>
            </a:r>
            <a:endParaRPr sz="1050">
              <a:latin typeface="Arial Unicode MS"/>
              <a:cs typeface="Arial Unicode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56" y="798487"/>
            <a:ext cx="4432935" cy="20935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54330">
              <a:lnSpc>
                <a:spcPct val="100000"/>
              </a:lnSpc>
              <a:spcBef>
                <a:spcPts val="420"/>
              </a:spcBef>
            </a:pPr>
            <a:r>
              <a:rPr dirty="0" sz="1200" spc="-5">
                <a:latin typeface="Arial Unicode MS"/>
                <a:cs typeface="Arial Unicode MS"/>
              </a:rPr>
              <a:t>有机化合物中卤素的测定采用佛尔哈德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有机试样须先经</a:t>
            </a:r>
            <a:endParaRPr sz="1200">
              <a:latin typeface="Arial Unicode MS"/>
              <a:cs typeface="Arial Unicode MS"/>
            </a:endParaRPr>
          </a:p>
          <a:p>
            <a:pPr marL="5016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处</a:t>
            </a:r>
            <a:r>
              <a:rPr dirty="0" sz="1200" spc="-80">
                <a:latin typeface="Arial Unicode MS"/>
                <a:cs typeface="Arial Unicode MS"/>
              </a:rPr>
              <a:t>理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使其中的卤化物转化为卤离子</a:t>
            </a:r>
            <a:r>
              <a:rPr dirty="0" sz="1200" spc="-80">
                <a:latin typeface="Arial Unicode MS"/>
                <a:cs typeface="Arial Unicode MS"/>
              </a:rPr>
              <a:t>后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进行测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  <a:p>
            <a:pPr algn="r" marR="64769">
              <a:lnSpc>
                <a:spcPct val="100000"/>
              </a:lnSpc>
              <a:spcBef>
                <a:spcPts val="325"/>
              </a:spcBef>
            </a:pP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粮食中熏蒸剂溴甲烷残留量的测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首</a:t>
            </a:r>
            <a:r>
              <a:rPr dirty="0" sz="1200" spc="-80">
                <a:latin typeface="Arial Unicode MS"/>
                <a:cs typeface="Arial Unicode MS"/>
              </a:rPr>
              <a:t>先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利用吹风法</a:t>
            </a:r>
            <a:endParaRPr sz="1200">
              <a:latin typeface="Arial Unicode MS"/>
              <a:cs typeface="Arial Unicode MS"/>
            </a:endParaRPr>
          </a:p>
          <a:p>
            <a:pPr algn="r" marR="45085">
              <a:lnSpc>
                <a:spcPct val="100000"/>
              </a:lnSpc>
              <a:spcBef>
                <a:spcPts val="320"/>
              </a:spcBef>
            </a:pPr>
            <a:r>
              <a:rPr dirty="0" sz="1200" spc="-5">
                <a:latin typeface="Arial Unicode MS"/>
                <a:cs typeface="Arial Unicode MS"/>
              </a:rPr>
              <a:t>将粮食中残留的溴甲烷吹</a:t>
            </a:r>
            <a:r>
              <a:rPr dirty="0" sz="1200" spc="-80">
                <a:latin typeface="Arial Unicode MS"/>
                <a:cs typeface="Arial Unicode MS"/>
              </a:rPr>
              <a:t>出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用乙醇胺吸</a:t>
            </a:r>
            <a:r>
              <a:rPr dirty="0" sz="1200" spc="-80">
                <a:latin typeface="Arial Unicode MS"/>
                <a:cs typeface="Arial Unicode MS"/>
              </a:rPr>
              <a:t>收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此时发生如下反</a:t>
            </a:r>
            <a:r>
              <a:rPr dirty="0" sz="1200" spc="-90">
                <a:latin typeface="Arial Unicode MS"/>
                <a:cs typeface="Arial Unicode MS"/>
              </a:rPr>
              <a:t>应</a:t>
            </a:r>
            <a:r>
              <a:rPr dirty="0" sz="1200" spc="-5">
                <a:latin typeface="Arial Unicode MS"/>
                <a:cs typeface="Arial Unicode MS"/>
              </a:rPr>
              <a:t>：</a:t>
            </a:r>
            <a:endParaRPr sz="12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Arial Unicode MS"/>
              <a:cs typeface="Arial Unicode MS"/>
            </a:endParaRPr>
          </a:p>
          <a:p>
            <a:pPr marL="441325">
              <a:lnSpc>
                <a:spcPct val="100000"/>
              </a:lnSpc>
              <a:spcBef>
                <a:spcPts val="5"/>
              </a:spcBef>
              <a:tabLst>
                <a:tab pos="2136140" algn="l"/>
                <a:tab pos="2374900" algn="l"/>
              </a:tabLst>
            </a:pPr>
            <a:r>
              <a:rPr dirty="0" sz="1100" spc="10">
                <a:latin typeface="Georgia"/>
                <a:cs typeface="Georgia"/>
              </a:rPr>
              <a:t>HOCH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CH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NH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baseline="-13888" sz="900" spc="225">
                <a:latin typeface="Times New Roman"/>
                <a:cs typeface="Times New Roman"/>
              </a:rPr>
              <a:t>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15">
                <a:latin typeface="Georgia"/>
                <a:cs typeface="Georgia"/>
              </a:rPr>
              <a:t> </a:t>
            </a:r>
            <a:r>
              <a:rPr dirty="0" sz="1100" spc="25">
                <a:latin typeface="Georgia"/>
                <a:cs typeface="Georgia"/>
              </a:rPr>
              <a:t>CH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sz="1100" spc="25">
                <a:latin typeface="Georgia"/>
                <a:cs typeface="Georgia"/>
              </a:rPr>
              <a:t>Br	</a:t>
            </a:r>
            <a:r>
              <a:rPr dirty="0" sz="1100" spc="140">
                <a:latin typeface="Georgia"/>
                <a:cs typeface="Georgia"/>
              </a:rPr>
              <a:t>=	</a:t>
            </a:r>
            <a:r>
              <a:rPr dirty="0" sz="1100" spc="10">
                <a:latin typeface="Georgia"/>
                <a:cs typeface="Georgia"/>
              </a:rPr>
              <a:t>HOCH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CH</a:t>
            </a:r>
            <a:r>
              <a:rPr dirty="0" baseline="-13888" sz="900" spc="15">
                <a:latin typeface="Times New Roman"/>
                <a:cs typeface="Times New Roman"/>
              </a:rPr>
              <a:t>2</a:t>
            </a:r>
            <a:r>
              <a:rPr dirty="0" sz="1100" spc="10">
                <a:latin typeface="Georgia"/>
                <a:cs typeface="Georgia"/>
              </a:rPr>
              <a:t>NHCH</a:t>
            </a:r>
            <a:r>
              <a:rPr dirty="0" baseline="-13888" sz="900" spc="15">
                <a:latin typeface="Times New Roman"/>
                <a:cs typeface="Times New Roman"/>
              </a:rPr>
              <a:t>3 </a:t>
            </a:r>
            <a:r>
              <a:rPr dirty="0" sz="1100" spc="140">
                <a:latin typeface="Georgia"/>
                <a:cs typeface="Georgia"/>
              </a:rPr>
              <a:t>+</a:t>
            </a:r>
            <a:r>
              <a:rPr dirty="0" sz="1100" spc="-6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HBr</a:t>
            </a:r>
            <a:endParaRPr sz="1100">
              <a:latin typeface="Georgia"/>
              <a:cs typeface="Georgia"/>
            </a:endParaRPr>
          </a:p>
          <a:p>
            <a:pPr algn="just" marL="50800" marR="43180" indent="303530">
              <a:lnSpc>
                <a:spcPct val="122300"/>
              </a:lnSpc>
              <a:spcBef>
                <a:spcPts val="1115"/>
              </a:spcBef>
            </a:pPr>
            <a:r>
              <a:rPr dirty="0" sz="1200" spc="-10">
                <a:latin typeface="Arial Unicode MS"/>
                <a:cs typeface="Arial Unicode MS"/>
              </a:rPr>
              <a:t>将反应液用水稀</a:t>
            </a:r>
            <a:r>
              <a:rPr dirty="0" sz="1200" spc="-80">
                <a:latin typeface="Arial Unicode MS"/>
                <a:cs typeface="Arial Unicode MS"/>
              </a:rPr>
              <a:t>释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并加硝酸使呈酸</a:t>
            </a:r>
            <a:r>
              <a:rPr dirty="0" sz="1200" spc="-80">
                <a:latin typeface="Arial Unicode MS"/>
                <a:cs typeface="Arial Unicode MS"/>
              </a:rPr>
              <a:t>性</a:t>
            </a:r>
            <a:r>
              <a:rPr dirty="0" sz="1200" spc="-204">
                <a:latin typeface="Arial Unicode MS"/>
                <a:cs typeface="Arial Unicode MS"/>
              </a:rPr>
              <a:t>，</a:t>
            </a:r>
            <a:r>
              <a:rPr dirty="0" sz="1200" spc="-10">
                <a:latin typeface="Arial Unicode MS"/>
                <a:cs typeface="Arial Unicode MS"/>
              </a:rPr>
              <a:t>再加入一定量的过</a:t>
            </a:r>
            <a:r>
              <a:rPr dirty="0" sz="1200" spc="-5">
                <a:latin typeface="Arial Unicode MS"/>
                <a:cs typeface="Arial Unicode MS"/>
              </a:rPr>
              <a:t>量 </a:t>
            </a:r>
            <a:r>
              <a:rPr dirty="0" sz="1200" spc="-5">
                <a:latin typeface="Arial Unicode MS"/>
                <a:cs typeface="Arial Unicode MS"/>
              </a:rPr>
              <a:t>的</a:t>
            </a:r>
            <a:r>
              <a:rPr dirty="0" sz="1200" spc="15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AgNO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baseline="-13888" sz="900" spc="104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</a:t>
            </a:r>
            <a:r>
              <a:rPr dirty="0" sz="1200" spc="-80">
                <a:latin typeface="Arial Unicode MS"/>
                <a:cs typeface="Arial Unicode MS"/>
              </a:rPr>
              <a:t>液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以铁铵矾为指示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20">
                <a:latin typeface="Arial Unicode MS"/>
                <a:cs typeface="Arial Unicode MS"/>
              </a:rPr>
              <a:t> </a:t>
            </a:r>
            <a:r>
              <a:rPr dirty="0" sz="1100" spc="5">
                <a:latin typeface="Georgia"/>
                <a:cs typeface="Georgia"/>
              </a:rPr>
              <a:t>NH</a:t>
            </a:r>
            <a:r>
              <a:rPr dirty="0" baseline="-13888" sz="900" spc="7">
                <a:latin typeface="Times New Roman"/>
                <a:cs typeface="Times New Roman"/>
              </a:rPr>
              <a:t>4</a:t>
            </a:r>
            <a:r>
              <a:rPr dirty="0" sz="1100" spc="5">
                <a:latin typeface="Georgia"/>
                <a:cs typeface="Georgia"/>
              </a:rPr>
              <a:t>SCN</a:t>
            </a:r>
            <a:r>
              <a:rPr dirty="0" sz="1100" spc="80">
                <a:latin typeface="Georgia"/>
                <a:cs typeface="Georgia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 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176" y="192722"/>
            <a:ext cx="1964689" cy="1854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5">
                <a:latin typeface="Georgia"/>
                <a:cs typeface="Georgia"/>
              </a:rPr>
              <a:t>8.4.4</a:t>
            </a:r>
            <a:r>
              <a:rPr dirty="0" sz="1000" spc="-40">
                <a:latin typeface="Georgia"/>
                <a:cs typeface="Georgia"/>
              </a:rPr>
              <a:t> </a:t>
            </a:r>
            <a:r>
              <a:rPr dirty="0" sz="1050" spc="-5"/>
              <a:t>可溶</a:t>
            </a:r>
            <a:r>
              <a:rPr dirty="0" sz="1050" spc="-10"/>
              <a:t>性</a:t>
            </a:r>
            <a:r>
              <a:rPr dirty="0" sz="1050" spc="-5"/>
              <a:t>氯化物</a:t>
            </a:r>
            <a:r>
              <a:rPr dirty="0" sz="1050" spc="-10"/>
              <a:t>氯</a:t>
            </a:r>
            <a:r>
              <a:rPr dirty="0" sz="1050" spc="-5"/>
              <a:t>含量的测定</a:t>
            </a:r>
            <a:endParaRPr sz="10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1352372"/>
            <a:ext cx="438531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303530">
              <a:lnSpc>
                <a:spcPct val="122300"/>
              </a:lnSpc>
              <a:spcBef>
                <a:spcPts val="100"/>
              </a:spcBef>
            </a:pPr>
            <a:r>
              <a:rPr dirty="0" sz="1200" spc="-5">
                <a:latin typeface="Arial Unicode MS"/>
                <a:cs typeface="Arial Unicode MS"/>
              </a:rPr>
              <a:t>可溶性氯化物氯含量的测</a:t>
            </a:r>
            <a:r>
              <a:rPr dirty="0" sz="1200" spc="-80">
                <a:latin typeface="Arial Unicode MS"/>
                <a:cs typeface="Arial Unicode MS"/>
              </a:rPr>
              <a:t>定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通常采用莫尔</a:t>
            </a:r>
            <a:r>
              <a:rPr dirty="0" sz="1200" spc="-20">
                <a:latin typeface="Arial Unicode MS"/>
                <a:cs typeface="Arial Unicode MS"/>
              </a:rPr>
              <a:t>法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例</a:t>
            </a:r>
            <a:r>
              <a:rPr dirty="0" sz="1200" spc="-80">
                <a:latin typeface="Arial Unicode MS"/>
                <a:cs typeface="Arial Unicode MS"/>
              </a:rPr>
              <a:t>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食盐及 </a:t>
            </a:r>
            <a:r>
              <a:rPr dirty="0" sz="1200" spc="-5">
                <a:latin typeface="Arial Unicode MS"/>
                <a:cs typeface="Arial Unicode MS"/>
              </a:rPr>
              <a:t>味精等样品中氯化纳含量的测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235">
                <a:latin typeface="Arial Unicode MS"/>
                <a:cs typeface="Arial Unicode MS"/>
              </a:rPr>
              <a:t>。</a:t>
            </a:r>
            <a:r>
              <a:rPr dirty="0" sz="1200" spc="-5">
                <a:latin typeface="Arial Unicode MS"/>
                <a:cs typeface="Arial Unicode MS"/>
              </a:rPr>
              <a:t>将一定量的样品加水溶</a:t>
            </a:r>
            <a:r>
              <a:rPr dirty="0" sz="1200" spc="-80">
                <a:latin typeface="Arial Unicode MS"/>
                <a:cs typeface="Arial Unicode MS"/>
              </a:rPr>
              <a:t>解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以 </a:t>
            </a:r>
            <a:r>
              <a:rPr dirty="0" sz="1100" spc="55">
                <a:latin typeface="Georgia"/>
                <a:cs typeface="Georgia"/>
              </a:rPr>
              <a:t>K</a:t>
            </a:r>
            <a:r>
              <a:rPr dirty="0" baseline="-13888" sz="900" spc="82">
                <a:latin typeface="Times New Roman"/>
                <a:cs typeface="Times New Roman"/>
              </a:rPr>
              <a:t>2</a:t>
            </a:r>
            <a:r>
              <a:rPr dirty="0" sz="1100" spc="55">
                <a:latin typeface="Georgia"/>
                <a:cs typeface="Georgia"/>
              </a:rPr>
              <a:t>CrO</a:t>
            </a:r>
            <a:r>
              <a:rPr dirty="0" baseline="-13888" sz="900" spc="82">
                <a:latin typeface="Times New Roman"/>
                <a:cs typeface="Times New Roman"/>
              </a:rPr>
              <a:t>7</a:t>
            </a:r>
            <a:r>
              <a:rPr dirty="0" baseline="-13888" sz="900" spc="382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做指示</a:t>
            </a:r>
            <a:r>
              <a:rPr dirty="0" sz="1200" spc="-80">
                <a:latin typeface="Arial Unicode MS"/>
                <a:cs typeface="Arial Unicode MS"/>
              </a:rPr>
              <a:t>剂</a:t>
            </a:r>
            <a:r>
              <a:rPr dirty="0" sz="1200" spc="-185">
                <a:latin typeface="Arial Unicode MS"/>
                <a:cs typeface="Arial Unicode MS"/>
              </a:rPr>
              <a:t>，</a:t>
            </a:r>
            <a:r>
              <a:rPr dirty="0" sz="1200" spc="-5">
                <a:latin typeface="Arial Unicode MS"/>
                <a:cs typeface="Arial Unicode MS"/>
              </a:rPr>
              <a:t>用</a:t>
            </a:r>
            <a:r>
              <a:rPr dirty="0" sz="1200" spc="25">
                <a:latin typeface="Arial Unicode MS"/>
                <a:cs typeface="Arial Unicode MS"/>
              </a:rPr>
              <a:t> </a:t>
            </a:r>
            <a:r>
              <a:rPr dirty="0" sz="1100" spc="25">
                <a:latin typeface="Georgia"/>
                <a:cs typeface="Georgia"/>
              </a:rPr>
              <a:t>AgNO</a:t>
            </a:r>
            <a:r>
              <a:rPr dirty="0" baseline="-13888" sz="900" spc="37">
                <a:latin typeface="Times New Roman"/>
                <a:cs typeface="Times New Roman"/>
              </a:rPr>
              <a:t>3</a:t>
            </a:r>
            <a:r>
              <a:rPr dirty="0" baseline="-13888" sz="900" spc="12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Arial Unicode MS"/>
                <a:cs typeface="Arial Unicode MS"/>
              </a:rPr>
              <a:t>标准溶液滴</a:t>
            </a:r>
            <a:r>
              <a:rPr dirty="0" sz="1200" spc="-20">
                <a:latin typeface="Arial Unicode MS"/>
                <a:cs typeface="Arial Unicode MS"/>
              </a:rPr>
              <a:t>定</a:t>
            </a:r>
            <a:r>
              <a:rPr dirty="0" sz="1200" spc="-5">
                <a:latin typeface="Arial Unicode MS"/>
                <a:cs typeface="Arial Unicode MS"/>
              </a:rPr>
              <a:t>。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5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35976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71952" y="3349777"/>
            <a:ext cx="1536065" cy="106680"/>
          </a:xfrm>
          <a:custGeom>
            <a:avLst/>
            <a:gdLst/>
            <a:ahLst/>
            <a:cxnLst/>
            <a:rect l="l" t="t" r="r" b="b"/>
            <a:pathLst>
              <a:path w="1536064" h="106679">
                <a:moveTo>
                  <a:pt x="0" y="106222"/>
                </a:moveTo>
                <a:lnTo>
                  <a:pt x="1535976" y="106222"/>
                </a:lnTo>
                <a:lnTo>
                  <a:pt x="1535976" y="0"/>
                </a:lnTo>
                <a:lnTo>
                  <a:pt x="0" y="0"/>
                </a:lnTo>
                <a:lnTo>
                  <a:pt x="0" y="106222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7832" y="3353670"/>
            <a:ext cx="560705" cy="101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0"/>
              </a:lnSpc>
            </a:pP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甘峰</a:t>
            </a:r>
            <a:r>
              <a:rPr dirty="0" sz="500" spc="130">
                <a:solidFill>
                  <a:srgbClr val="FFFFFF"/>
                </a:solidFill>
                <a:latin typeface="Arial Unicode MS"/>
                <a:cs typeface="Arial Unicode MS"/>
              </a:rPr>
              <a:t> 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500" spc="20">
                <a:solidFill>
                  <a:srgbClr val="FFFFFF"/>
                </a:solidFill>
                <a:latin typeface="Arial Unicode MS"/>
                <a:cs typeface="Arial Unicode MS"/>
              </a:rPr>
              <a:t>中山大学</a:t>
            </a:r>
            <a:r>
              <a:rPr dirty="0" sz="600" spc="85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20"/>
              <a:t>分析化学基础教程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0"/>
              </a:lnSpc>
            </a:pPr>
            <a:r>
              <a:rPr dirty="0" spc="65"/>
              <a:t>2010 </a:t>
            </a:r>
            <a:r>
              <a:rPr dirty="0" sz="500" spc="20">
                <a:latin typeface="Arial Unicode MS"/>
                <a:cs typeface="Arial Unicode MS"/>
              </a:rPr>
              <a:t>年 </a:t>
            </a:r>
            <a:r>
              <a:rPr dirty="0" spc="65"/>
              <a:t>5 </a:t>
            </a:r>
            <a:r>
              <a:rPr dirty="0" sz="500" spc="20">
                <a:latin typeface="Arial Unicode MS"/>
                <a:cs typeface="Arial Unicode MS"/>
              </a:rPr>
              <a:t>月 </a:t>
            </a:r>
            <a:r>
              <a:rPr dirty="0" spc="65"/>
              <a:t>5</a:t>
            </a:r>
            <a:r>
              <a:rPr dirty="0" spc="-70"/>
              <a:t> </a:t>
            </a:r>
            <a:r>
              <a:rPr dirty="0" sz="500" spc="20">
                <a:latin typeface="Arial Unicode MS"/>
                <a:cs typeface="Arial Unicode MS"/>
              </a:rPr>
              <a:t>日</a:t>
            </a:r>
            <a:endParaRPr sz="500">
              <a:latin typeface="Arial Unicode MS"/>
              <a:cs typeface="Arial Unicode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dirty="0" spc="65"/>
              <a:t>10</a:t>
            </a:fld>
            <a:r>
              <a:rPr dirty="0" spc="65"/>
              <a:t> </a:t>
            </a:r>
            <a:r>
              <a:rPr dirty="0" spc="195"/>
              <a:t>/</a:t>
            </a:r>
            <a:r>
              <a:rPr dirty="0" spc="45"/>
              <a:t> </a:t>
            </a:r>
            <a:r>
              <a:rPr dirty="0" spc="65"/>
              <a:t>29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2023-10-22T14:04:18Z</dcterms:created>
  <dcterms:modified xsi:type="dcterms:W3CDTF">2023-10-22T14:04:18Z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2010-05-05T00:00:00Z</vt:filetime>
  </property>
  <property fmtid="{D5CDD505-2E9C-101B-9397-08002B2CF9AE}" pid="3" name="Creator">
    <vt:lpwstr>LaTeX with beamer class version 3.07</vt:lpwstr>
  </property>
  <property fmtid="{D5CDD505-2E9C-101B-9397-08002B2CF9AE}" pid="4" name="LastSaved">
    <vt:filetime>2010-05-05T00:00:00Z</vt:filetime>
  </property>
</Properties>
</file>