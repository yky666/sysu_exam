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CC00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CC00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3"/>
            <a:ext cx="9137902" cy="68518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246888" y="280416"/>
            <a:ext cx="1060704" cy="1054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1511808" y="594364"/>
            <a:ext cx="3840455" cy="4693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1362455" y="1100329"/>
            <a:ext cx="4142220" cy="1920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115823" y="112776"/>
            <a:ext cx="8891270" cy="6598920"/>
          </a:xfrm>
          <a:custGeom>
            <a:avLst/>
            <a:gdLst/>
            <a:ahLst/>
            <a:cxnLst/>
            <a:rect l="l" t="t" r="r" b="b"/>
            <a:pathLst>
              <a:path w="8891270" h="6598920">
                <a:moveTo>
                  <a:pt x="0" y="0"/>
                </a:moveTo>
                <a:lnTo>
                  <a:pt x="0" y="6598919"/>
                </a:lnTo>
                <a:lnTo>
                  <a:pt x="8891015" y="6598919"/>
                </a:lnTo>
                <a:lnTo>
                  <a:pt x="8891015" y="0"/>
                </a:lnTo>
                <a:lnTo>
                  <a:pt x="0" y="0"/>
                </a:lnTo>
              </a:path>
            </a:pathLst>
          </a:custGeom>
          <a:ln w="1828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679704" y="364388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0909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679704" y="364693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1212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k object 23"/>
          <p:cNvSpPr/>
          <p:nvPr/>
        </p:nvSpPr>
        <p:spPr>
          <a:xfrm>
            <a:off x="679704" y="364998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k object 24"/>
          <p:cNvSpPr/>
          <p:nvPr/>
        </p:nvSpPr>
        <p:spPr>
          <a:xfrm>
            <a:off x="679704" y="365302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2020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k object 25"/>
          <p:cNvSpPr/>
          <p:nvPr/>
        </p:nvSpPr>
        <p:spPr>
          <a:xfrm>
            <a:off x="679704" y="365607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k object 26"/>
          <p:cNvSpPr/>
          <p:nvPr/>
        </p:nvSpPr>
        <p:spPr>
          <a:xfrm>
            <a:off x="679704" y="365912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2A2A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k object 27"/>
          <p:cNvSpPr/>
          <p:nvPr/>
        </p:nvSpPr>
        <p:spPr>
          <a:xfrm>
            <a:off x="679704" y="366217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3131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k object 28"/>
          <p:cNvSpPr/>
          <p:nvPr/>
        </p:nvSpPr>
        <p:spPr>
          <a:xfrm>
            <a:off x="679704" y="366522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36363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k object 29"/>
          <p:cNvSpPr/>
          <p:nvPr/>
        </p:nvSpPr>
        <p:spPr>
          <a:xfrm>
            <a:off x="679704" y="366826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3C3C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k object 30"/>
          <p:cNvSpPr/>
          <p:nvPr/>
        </p:nvSpPr>
        <p:spPr>
          <a:xfrm>
            <a:off x="679704" y="367131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41414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k object 31"/>
          <p:cNvSpPr/>
          <p:nvPr/>
        </p:nvSpPr>
        <p:spPr>
          <a:xfrm>
            <a:off x="679704" y="367436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49494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bk object 32"/>
          <p:cNvSpPr/>
          <p:nvPr/>
        </p:nvSpPr>
        <p:spPr>
          <a:xfrm>
            <a:off x="679704" y="3677411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4E4E4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bk object 33"/>
          <p:cNvSpPr/>
          <p:nvPr/>
        </p:nvSpPr>
        <p:spPr>
          <a:xfrm>
            <a:off x="679704" y="368046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54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bk object 34"/>
          <p:cNvSpPr/>
          <p:nvPr/>
        </p:nvSpPr>
        <p:spPr>
          <a:xfrm>
            <a:off x="679704" y="368350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bk object 35"/>
          <p:cNvSpPr/>
          <p:nvPr/>
        </p:nvSpPr>
        <p:spPr>
          <a:xfrm>
            <a:off x="679704" y="3686555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61616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bk object 36"/>
          <p:cNvSpPr/>
          <p:nvPr/>
        </p:nvSpPr>
        <p:spPr>
          <a:xfrm>
            <a:off x="679704" y="368960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6767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bk object 37"/>
          <p:cNvSpPr/>
          <p:nvPr/>
        </p:nvSpPr>
        <p:spPr>
          <a:xfrm>
            <a:off x="679704" y="369265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6E6E6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bk object 38"/>
          <p:cNvSpPr/>
          <p:nvPr/>
        </p:nvSpPr>
        <p:spPr>
          <a:xfrm>
            <a:off x="679704" y="369570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7373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bk object 39"/>
          <p:cNvSpPr/>
          <p:nvPr/>
        </p:nvSpPr>
        <p:spPr>
          <a:xfrm>
            <a:off x="679704" y="369874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7979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bk object 40"/>
          <p:cNvSpPr/>
          <p:nvPr/>
        </p:nvSpPr>
        <p:spPr>
          <a:xfrm>
            <a:off x="679704" y="370179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bk object 41"/>
          <p:cNvSpPr/>
          <p:nvPr/>
        </p:nvSpPr>
        <p:spPr>
          <a:xfrm>
            <a:off x="679704" y="370484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86868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bk object 42"/>
          <p:cNvSpPr/>
          <p:nvPr/>
        </p:nvSpPr>
        <p:spPr>
          <a:xfrm>
            <a:off x="679704" y="370789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8C8C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bk object 43"/>
          <p:cNvSpPr/>
          <p:nvPr/>
        </p:nvSpPr>
        <p:spPr>
          <a:xfrm>
            <a:off x="679704" y="371094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91919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bk object 44"/>
          <p:cNvSpPr/>
          <p:nvPr/>
        </p:nvSpPr>
        <p:spPr>
          <a:xfrm>
            <a:off x="679704" y="371398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9898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bk object 45"/>
          <p:cNvSpPr/>
          <p:nvPr/>
        </p:nvSpPr>
        <p:spPr>
          <a:xfrm>
            <a:off x="679704" y="371703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9D9D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bk object 46"/>
          <p:cNvSpPr/>
          <p:nvPr/>
        </p:nvSpPr>
        <p:spPr>
          <a:xfrm>
            <a:off x="679704" y="372008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A2A2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bk object 47"/>
          <p:cNvSpPr/>
          <p:nvPr/>
        </p:nvSpPr>
        <p:spPr>
          <a:xfrm>
            <a:off x="679704" y="372313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bk object 48"/>
          <p:cNvSpPr/>
          <p:nvPr/>
        </p:nvSpPr>
        <p:spPr>
          <a:xfrm>
            <a:off x="679704" y="372618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bk object 49"/>
          <p:cNvSpPr/>
          <p:nvPr/>
        </p:nvSpPr>
        <p:spPr>
          <a:xfrm>
            <a:off x="679704" y="372922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0B0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bk object 50"/>
          <p:cNvSpPr/>
          <p:nvPr/>
        </p:nvSpPr>
        <p:spPr>
          <a:xfrm>
            <a:off x="679704" y="373227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4B4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bk object 51"/>
          <p:cNvSpPr/>
          <p:nvPr/>
        </p:nvSpPr>
        <p:spPr>
          <a:xfrm>
            <a:off x="679704" y="373532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8B8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bk object 52"/>
          <p:cNvSpPr/>
          <p:nvPr/>
        </p:nvSpPr>
        <p:spPr>
          <a:xfrm>
            <a:off x="679704" y="373837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ABA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bk object 53"/>
          <p:cNvSpPr/>
          <p:nvPr/>
        </p:nvSpPr>
        <p:spPr>
          <a:xfrm>
            <a:off x="679704" y="374142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bk object 54"/>
          <p:cNvSpPr/>
          <p:nvPr/>
        </p:nvSpPr>
        <p:spPr>
          <a:xfrm>
            <a:off x="679704" y="374446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2C2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bk object 55"/>
          <p:cNvSpPr/>
          <p:nvPr/>
        </p:nvSpPr>
        <p:spPr>
          <a:xfrm>
            <a:off x="679704" y="374751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4C4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bk object 56"/>
          <p:cNvSpPr/>
          <p:nvPr/>
        </p:nvSpPr>
        <p:spPr>
          <a:xfrm>
            <a:off x="679704" y="375056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7C7C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bk object 57"/>
          <p:cNvSpPr/>
          <p:nvPr/>
        </p:nvSpPr>
        <p:spPr>
          <a:xfrm>
            <a:off x="679704" y="3753611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ACAC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bk object 58"/>
          <p:cNvSpPr/>
          <p:nvPr/>
        </p:nvSpPr>
        <p:spPr>
          <a:xfrm>
            <a:off x="679704" y="375666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bk object 59"/>
          <p:cNvSpPr/>
          <p:nvPr/>
        </p:nvSpPr>
        <p:spPr>
          <a:xfrm>
            <a:off x="679704" y="375970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bk object 60"/>
          <p:cNvSpPr/>
          <p:nvPr/>
        </p:nvSpPr>
        <p:spPr>
          <a:xfrm>
            <a:off x="679704" y="3762755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FCF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bk object 61"/>
          <p:cNvSpPr/>
          <p:nvPr/>
        </p:nvSpPr>
        <p:spPr>
          <a:xfrm>
            <a:off x="679704" y="376580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bk object 62"/>
          <p:cNvSpPr/>
          <p:nvPr/>
        </p:nvSpPr>
        <p:spPr>
          <a:xfrm>
            <a:off x="679704" y="376885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1D1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bk object 63"/>
          <p:cNvSpPr/>
          <p:nvPr/>
        </p:nvSpPr>
        <p:spPr>
          <a:xfrm>
            <a:off x="679704" y="377190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3D3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bk object 64"/>
          <p:cNvSpPr/>
          <p:nvPr/>
        </p:nvSpPr>
        <p:spPr>
          <a:xfrm>
            <a:off x="679704" y="377494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4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bk object 65"/>
          <p:cNvSpPr/>
          <p:nvPr/>
        </p:nvSpPr>
        <p:spPr>
          <a:xfrm>
            <a:off x="679704" y="377799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bk object 66"/>
          <p:cNvSpPr/>
          <p:nvPr/>
        </p:nvSpPr>
        <p:spPr>
          <a:xfrm>
            <a:off x="679704" y="378104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bk object 67"/>
          <p:cNvSpPr/>
          <p:nvPr/>
        </p:nvSpPr>
        <p:spPr>
          <a:xfrm>
            <a:off x="679704" y="378409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CC00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3"/>
            <a:ext cx="9137902" cy="685189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33528" y="42672"/>
            <a:ext cx="2157984" cy="43281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140207" y="185928"/>
            <a:ext cx="8857615" cy="6553200"/>
          </a:xfrm>
          <a:custGeom>
            <a:avLst/>
            <a:gdLst/>
            <a:ahLst/>
            <a:cxnLst/>
            <a:rect l="l" t="t" r="r" b="b"/>
            <a:pathLst>
              <a:path w="8857615" h="6553200">
                <a:moveTo>
                  <a:pt x="0" y="0"/>
                </a:moveTo>
                <a:lnTo>
                  <a:pt x="0" y="6553199"/>
                </a:lnTo>
                <a:lnTo>
                  <a:pt x="8857487" y="6553199"/>
                </a:lnTo>
                <a:lnTo>
                  <a:pt x="8857487" y="0"/>
                </a:lnTo>
                <a:lnTo>
                  <a:pt x="0" y="0"/>
                </a:lnTo>
              </a:path>
            </a:pathLst>
          </a:custGeom>
          <a:ln w="1828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121920" y="141274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0909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121920" y="141579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1212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121920" y="141884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121920" y="142189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020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k object 23"/>
          <p:cNvSpPr/>
          <p:nvPr/>
        </p:nvSpPr>
        <p:spPr>
          <a:xfrm>
            <a:off x="121920" y="142494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k object 24"/>
          <p:cNvSpPr/>
          <p:nvPr/>
        </p:nvSpPr>
        <p:spPr>
          <a:xfrm>
            <a:off x="121920" y="142798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A2A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k object 25"/>
          <p:cNvSpPr/>
          <p:nvPr/>
        </p:nvSpPr>
        <p:spPr>
          <a:xfrm>
            <a:off x="121920" y="143103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131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k object 26"/>
          <p:cNvSpPr/>
          <p:nvPr/>
        </p:nvSpPr>
        <p:spPr>
          <a:xfrm>
            <a:off x="121920" y="143408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6363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k object 27"/>
          <p:cNvSpPr/>
          <p:nvPr/>
        </p:nvSpPr>
        <p:spPr>
          <a:xfrm>
            <a:off x="121920" y="143713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C3C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k object 28"/>
          <p:cNvSpPr/>
          <p:nvPr/>
        </p:nvSpPr>
        <p:spPr>
          <a:xfrm>
            <a:off x="121920" y="144018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1414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k object 29"/>
          <p:cNvSpPr/>
          <p:nvPr/>
        </p:nvSpPr>
        <p:spPr>
          <a:xfrm>
            <a:off x="121920" y="144322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9494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k object 30"/>
          <p:cNvSpPr/>
          <p:nvPr/>
        </p:nvSpPr>
        <p:spPr>
          <a:xfrm>
            <a:off x="121920" y="144627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E4E4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k object 31"/>
          <p:cNvSpPr/>
          <p:nvPr/>
        </p:nvSpPr>
        <p:spPr>
          <a:xfrm>
            <a:off x="121920" y="144932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54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bk object 32"/>
          <p:cNvSpPr/>
          <p:nvPr/>
        </p:nvSpPr>
        <p:spPr>
          <a:xfrm>
            <a:off x="121920" y="145237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bk object 33"/>
          <p:cNvSpPr/>
          <p:nvPr/>
        </p:nvSpPr>
        <p:spPr>
          <a:xfrm>
            <a:off x="121920" y="145542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1616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bk object 34"/>
          <p:cNvSpPr/>
          <p:nvPr/>
        </p:nvSpPr>
        <p:spPr>
          <a:xfrm>
            <a:off x="121920" y="145846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767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bk object 35"/>
          <p:cNvSpPr/>
          <p:nvPr/>
        </p:nvSpPr>
        <p:spPr>
          <a:xfrm>
            <a:off x="121920" y="146151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E6E6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bk object 36"/>
          <p:cNvSpPr/>
          <p:nvPr/>
        </p:nvSpPr>
        <p:spPr>
          <a:xfrm>
            <a:off x="121920" y="146456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7373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bk object 37"/>
          <p:cNvSpPr/>
          <p:nvPr/>
        </p:nvSpPr>
        <p:spPr>
          <a:xfrm>
            <a:off x="121920" y="146761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7979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bk object 38"/>
          <p:cNvSpPr/>
          <p:nvPr/>
        </p:nvSpPr>
        <p:spPr>
          <a:xfrm>
            <a:off x="121920" y="147066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bk object 39"/>
          <p:cNvSpPr/>
          <p:nvPr/>
        </p:nvSpPr>
        <p:spPr>
          <a:xfrm>
            <a:off x="121920" y="147370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6868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bk object 40"/>
          <p:cNvSpPr/>
          <p:nvPr/>
        </p:nvSpPr>
        <p:spPr>
          <a:xfrm>
            <a:off x="121920" y="147675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C8C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bk object 41"/>
          <p:cNvSpPr/>
          <p:nvPr/>
        </p:nvSpPr>
        <p:spPr>
          <a:xfrm>
            <a:off x="121920" y="147980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91919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bk object 42"/>
          <p:cNvSpPr/>
          <p:nvPr/>
        </p:nvSpPr>
        <p:spPr>
          <a:xfrm>
            <a:off x="121920" y="148285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9898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bk object 43"/>
          <p:cNvSpPr/>
          <p:nvPr/>
        </p:nvSpPr>
        <p:spPr>
          <a:xfrm>
            <a:off x="121920" y="148590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9D9D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bk object 44"/>
          <p:cNvSpPr/>
          <p:nvPr/>
        </p:nvSpPr>
        <p:spPr>
          <a:xfrm>
            <a:off x="121920" y="148894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A2A2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bk object 45"/>
          <p:cNvSpPr/>
          <p:nvPr/>
        </p:nvSpPr>
        <p:spPr>
          <a:xfrm>
            <a:off x="121920" y="149199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bk object 46"/>
          <p:cNvSpPr/>
          <p:nvPr/>
        </p:nvSpPr>
        <p:spPr>
          <a:xfrm>
            <a:off x="121920" y="149504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bk object 47"/>
          <p:cNvSpPr/>
          <p:nvPr/>
        </p:nvSpPr>
        <p:spPr>
          <a:xfrm>
            <a:off x="121920" y="149809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0B0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bk object 48"/>
          <p:cNvSpPr/>
          <p:nvPr/>
        </p:nvSpPr>
        <p:spPr>
          <a:xfrm>
            <a:off x="121920" y="150114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4B4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bk object 49"/>
          <p:cNvSpPr/>
          <p:nvPr/>
        </p:nvSpPr>
        <p:spPr>
          <a:xfrm>
            <a:off x="121920" y="150418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8B8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bk object 50"/>
          <p:cNvSpPr/>
          <p:nvPr/>
        </p:nvSpPr>
        <p:spPr>
          <a:xfrm>
            <a:off x="121920" y="150723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ABA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bk object 51"/>
          <p:cNvSpPr/>
          <p:nvPr/>
        </p:nvSpPr>
        <p:spPr>
          <a:xfrm>
            <a:off x="121920" y="151028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bk object 52"/>
          <p:cNvSpPr/>
          <p:nvPr/>
        </p:nvSpPr>
        <p:spPr>
          <a:xfrm>
            <a:off x="121920" y="151333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2C2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bk object 53"/>
          <p:cNvSpPr/>
          <p:nvPr/>
        </p:nvSpPr>
        <p:spPr>
          <a:xfrm>
            <a:off x="121920" y="151638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4C4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bk object 54"/>
          <p:cNvSpPr/>
          <p:nvPr/>
        </p:nvSpPr>
        <p:spPr>
          <a:xfrm>
            <a:off x="121920" y="151942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7C7C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bk object 55"/>
          <p:cNvSpPr/>
          <p:nvPr/>
        </p:nvSpPr>
        <p:spPr>
          <a:xfrm>
            <a:off x="121920" y="152247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ACAC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bk object 56"/>
          <p:cNvSpPr/>
          <p:nvPr/>
        </p:nvSpPr>
        <p:spPr>
          <a:xfrm>
            <a:off x="121920" y="152552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bk object 57"/>
          <p:cNvSpPr/>
          <p:nvPr/>
        </p:nvSpPr>
        <p:spPr>
          <a:xfrm>
            <a:off x="121920" y="152857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bk object 58"/>
          <p:cNvSpPr/>
          <p:nvPr/>
        </p:nvSpPr>
        <p:spPr>
          <a:xfrm>
            <a:off x="121920" y="153162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FCF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bk object 59"/>
          <p:cNvSpPr/>
          <p:nvPr/>
        </p:nvSpPr>
        <p:spPr>
          <a:xfrm>
            <a:off x="121920" y="153466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bk object 60"/>
          <p:cNvSpPr/>
          <p:nvPr/>
        </p:nvSpPr>
        <p:spPr>
          <a:xfrm>
            <a:off x="121920" y="153771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1D1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bk object 61"/>
          <p:cNvSpPr/>
          <p:nvPr/>
        </p:nvSpPr>
        <p:spPr>
          <a:xfrm>
            <a:off x="121920" y="154076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3D3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bk object 62"/>
          <p:cNvSpPr/>
          <p:nvPr/>
        </p:nvSpPr>
        <p:spPr>
          <a:xfrm>
            <a:off x="121920" y="154381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4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bk object 63"/>
          <p:cNvSpPr/>
          <p:nvPr/>
        </p:nvSpPr>
        <p:spPr>
          <a:xfrm>
            <a:off x="121920" y="154686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bk object 64"/>
          <p:cNvSpPr/>
          <p:nvPr/>
        </p:nvSpPr>
        <p:spPr>
          <a:xfrm>
            <a:off x="121920" y="154990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bk object 65"/>
          <p:cNvSpPr/>
          <p:nvPr/>
        </p:nvSpPr>
        <p:spPr>
          <a:xfrm>
            <a:off x="121920" y="155295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73376" y="587756"/>
            <a:ext cx="4397247" cy="6362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FCC00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47291" y="2857297"/>
            <a:ext cx="3811270" cy="2576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9860" y="2831084"/>
            <a:ext cx="629221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>
                <a:latin typeface="Microsoft JhengHei"/>
                <a:cs typeface="Microsoft JhengHei"/>
              </a:rPr>
              <a:t>第十二章</a:t>
            </a:r>
            <a:r>
              <a:rPr dirty="0" sz="4800" spc="45">
                <a:latin typeface="Microsoft JhengHei"/>
                <a:cs typeface="Microsoft JhengHei"/>
              </a:rPr>
              <a:t> </a:t>
            </a:r>
            <a:r>
              <a:rPr dirty="0" sz="4800">
                <a:latin typeface="Microsoft JhengHei"/>
                <a:cs typeface="Microsoft JhengHei"/>
              </a:rPr>
              <a:t>国际财务管理</a:t>
            </a:r>
            <a:endParaRPr sz="4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8220" y="639572"/>
            <a:ext cx="206184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本章要点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03067" y="2251964"/>
            <a:ext cx="3216910" cy="3013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外汇风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险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管理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基</a:t>
            </a:r>
            <a:r>
              <a:rPr dirty="0" sz="2800" spc="-245" b="1">
                <a:solidFill>
                  <a:srgbClr val="FFFFFF"/>
                </a:solidFill>
                <a:latin typeface="微软雅黑"/>
                <a:cs typeface="微软雅黑"/>
              </a:rPr>
              <a:t>础</a:t>
            </a:r>
            <a:endParaRPr sz="2800">
              <a:latin typeface="微软雅黑"/>
              <a:cs typeface="微软雅黑"/>
            </a:endParaRPr>
          </a:p>
          <a:p>
            <a:pPr algn="just" marL="12700" marR="5080">
              <a:lnSpc>
                <a:spcPct val="200000"/>
              </a:lnSpc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会计风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险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及其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管</a:t>
            </a:r>
            <a:r>
              <a:rPr dirty="0" sz="2800" spc="-335" b="1">
                <a:solidFill>
                  <a:srgbClr val="FFFFFF"/>
                </a:solidFill>
                <a:latin typeface="微软雅黑"/>
                <a:cs typeface="微软雅黑"/>
              </a:rPr>
              <a:t>理 </a:t>
            </a: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交易风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险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及其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管</a:t>
            </a:r>
            <a:r>
              <a:rPr dirty="0" sz="2800" spc="-335" b="1">
                <a:solidFill>
                  <a:srgbClr val="FFFFFF"/>
                </a:solidFill>
                <a:latin typeface="微软雅黑"/>
                <a:cs typeface="微软雅黑"/>
              </a:rPr>
              <a:t>理 </a:t>
            </a: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经营风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险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及其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管</a:t>
            </a:r>
            <a:r>
              <a:rPr dirty="0" sz="2800" spc="-335" b="1">
                <a:solidFill>
                  <a:srgbClr val="FFFFFF"/>
                </a:solidFill>
                <a:latin typeface="微软雅黑"/>
                <a:cs typeface="微软雅黑"/>
              </a:rPr>
              <a:t>理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3235" y="709676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外汇风</a:t>
            </a:r>
            <a:r>
              <a:rPr dirty="0" spc="-20"/>
              <a:t>险</a:t>
            </a:r>
            <a:r>
              <a:rPr dirty="0" spc="5"/>
              <a:t>管</a:t>
            </a:r>
            <a:r>
              <a:rPr dirty="0" spc="-20"/>
              <a:t>理</a:t>
            </a:r>
            <a:r>
              <a:rPr dirty="0" spc="5"/>
              <a:t>基础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1596" y="1819148"/>
            <a:ext cx="7484109" cy="24276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外汇风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险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是指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一家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公司受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汇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率变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动影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响的程</a:t>
            </a:r>
            <a:r>
              <a:rPr dirty="0" sz="2800" spc="-245" b="1">
                <a:solidFill>
                  <a:srgbClr val="FFFFFF"/>
                </a:solidFill>
                <a:latin typeface="微软雅黑"/>
                <a:cs typeface="微软雅黑"/>
              </a:rPr>
              <a:t>度</a:t>
            </a:r>
            <a:endParaRPr sz="2800">
              <a:latin typeface="微软雅黑"/>
              <a:cs typeface="微软雅黑"/>
            </a:endParaRPr>
          </a:p>
          <a:p>
            <a:pPr marL="469265">
              <a:lnSpc>
                <a:spcPct val="100000"/>
              </a:lnSpc>
              <a:spcBef>
                <a:spcPts val="232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会计风险</a:t>
            </a:r>
            <a:endParaRPr sz="2400">
              <a:latin typeface="微软雅黑"/>
              <a:cs typeface="微软雅黑"/>
            </a:endParaRPr>
          </a:p>
          <a:p>
            <a:pPr marL="469265">
              <a:lnSpc>
                <a:spcPct val="100000"/>
              </a:lnSpc>
              <a:spcBef>
                <a:spcPts val="228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交易风险</a:t>
            </a:r>
            <a:endParaRPr sz="2400">
              <a:latin typeface="微软雅黑"/>
              <a:cs typeface="微软雅黑"/>
            </a:endParaRPr>
          </a:p>
          <a:p>
            <a:pPr marL="469265">
              <a:lnSpc>
                <a:spcPct val="100000"/>
              </a:lnSpc>
              <a:spcBef>
                <a:spcPts val="230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经营风险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175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外汇风</a:t>
            </a:r>
            <a:r>
              <a:rPr dirty="0" spc="-20"/>
              <a:t>险</a:t>
            </a:r>
            <a:r>
              <a:rPr dirty="0" spc="5"/>
              <a:t>管</a:t>
            </a:r>
            <a:r>
              <a:rPr dirty="0" spc="-20"/>
              <a:t>理</a:t>
            </a:r>
            <a:r>
              <a:rPr dirty="0" spc="5"/>
              <a:t>基础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1596" y="1661956"/>
            <a:ext cx="7487284" cy="374269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会计风险</a:t>
            </a:r>
            <a:endParaRPr sz="2800">
              <a:latin typeface="微软雅黑"/>
              <a:cs typeface="微软雅黑"/>
            </a:endParaRPr>
          </a:p>
          <a:p>
            <a:pPr marL="756285" marR="5080" indent="-287020">
              <a:lnSpc>
                <a:spcPts val="2590"/>
              </a:lnSpc>
              <a:spcBef>
                <a:spcPts val="61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由于汇率变化而导致的资产负债表中资产和负债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的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账面价值以及损益表项目的变化</a:t>
            </a:r>
            <a:endParaRPr sz="2400">
              <a:latin typeface="微软雅黑"/>
              <a:cs typeface="微软雅黑"/>
            </a:endParaRPr>
          </a:p>
          <a:p>
            <a:pPr marL="756285" marR="5080" indent="-287020">
              <a:lnSpc>
                <a:spcPts val="2590"/>
              </a:lnSpc>
              <a:spcBef>
                <a:spcPts val="55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有关的资产负债表中的资产和负债项目以及损益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表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项目已经存在</a:t>
            </a:r>
            <a:endParaRPr sz="2400">
              <a:latin typeface="微软雅黑"/>
              <a:cs typeface="微软雅黑"/>
            </a:endParaRPr>
          </a:p>
          <a:p>
            <a:pPr marL="756285" marR="5080" indent="-287020">
              <a:lnSpc>
                <a:spcPts val="2590"/>
              </a:lnSpc>
              <a:spcBef>
                <a:spcPts val="58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所产生的汇兑损益由会计准则的具体规定来决定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，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并且仅仅是纸面上的</a:t>
            </a:r>
            <a:endParaRPr sz="2400">
              <a:latin typeface="微软雅黑"/>
              <a:cs typeface="微软雅黑"/>
            </a:endParaRPr>
          </a:p>
          <a:p>
            <a:pPr algn="just" marL="756285" marR="5080" indent="-287020">
              <a:lnSpc>
                <a:spcPts val="2590"/>
              </a:lnSpc>
              <a:spcBef>
                <a:spcPts val="55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由于会计风险是建立在发生在过去的企业活动的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基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础上的，因此，对会计风险的衡量实质上是面向过 去的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9332" y="572516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外汇风</a:t>
            </a:r>
            <a:r>
              <a:rPr dirty="0" spc="-20"/>
              <a:t>险</a:t>
            </a:r>
            <a:r>
              <a:rPr dirty="0" spc="5"/>
              <a:t>管</a:t>
            </a:r>
            <a:r>
              <a:rPr dirty="0" spc="-20"/>
              <a:t>理</a:t>
            </a:r>
            <a:r>
              <a:rPr dirty="0" spc="5"/>
              <a:t>基础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1596" y="1518700"/>
            <a:ext cx="7792084" cy="4803775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交易风险</a:t>
            </a:r>
            <a:endParaRPr sz="2800">
              <a:latin typeface="微软雅黑"/>
              <a:cs typeface="微软雅黑"/>
            </a:endParaRPr>
          </a:p>
          <a:p>
            <a:pPr algn="just" marL="756285" marR="309880" indent="-287020">
              <a:lnSpc>
                <a:spcPct val="89600"/>
              </a:lnSpc>
              <a:spcBef>
                <a:spcPts val="58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由于汇率变化而导致的在外未结算的、以外币计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价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的合约（即该合约会在未来产生以外币计量的现金 流量）价值所发生的变化</a:t>
            </a:r>
            <a:endParaRPr sz="2400">
              <a:latin typeface="微软雅黑"/>
              <a:cs typeface="微软雅黑"/>
            </a:endParaRPr>
          </a:p>
          <a:p>
            <a:pPr marL="756285" marR="5080" indent="-287020">
              <a:lnSpc>
                <a:spcPts val="2590"/>
              </a:lnSpc>
              <a:spcBef>
                <a:spcPts val="62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所产生的汇兑损益实际上是由已经存在的合约决定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，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并且是真实存在的</a:t>
            </a:r>
            <a:endParaRPr sz="2400">
              <a:latin typeface="微软雅黑"/>
              <a:cs typeface="微软雅黑"/>
            </a:endParaRPr>
          </a:p>
          <a:p>
            <a:pPr marL="469265">
              <a:lnSpc>
                <a:spcPct val="100000"/>
              </a:lnSpc>
              <a:spcBef>
                <a:spcPts val="25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合约已经存在，但将在未来某日进行结算</a:t>
            </a:r>
            <a:endParaRPr sz="2400">
              <a:latin typeface="微软雅黑"/>
              <a:cs typeface="微软雅黑"/>
            </a:endParaRPr>
          </a:p>
          <a:p>
            <a:pPr algn="just" marL="756285" marR="309880" indent="-287020">
              <a:lnSpc>
                <a:spcPct val="89600"/>
              </a:lnSpc>
              <a:spcBef>
                <a:spcPts val="58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由于交易风险是建立在发生于过去的企业活动、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但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将在未来进行结算的基础之上，因此，对交易风险 的衡量是面向过去与面向未来的混合</a:t>
            </a:r>
            <a:endParaRPr sz="2400">
              <a:latin typeface="微软雅黑"/>
              <a:cs typeface="微软雅黑"/>
            </a:endParaRPr>
          </a:p>
          <a:p>
            <a:pPr marL="756285" marR="5080" indent="-287020">
              <a:lnSpc>
                <a:spcPts val="2590"/>
              </a:lnSpc>
              <a:spcBef>
                <a:spcPts val="62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已经在资产负债表中反映的合约部分属于会计风险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，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而尚未在资产负债表中反映的合约部分属于经营风 险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60979" y="624332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外汇风</a:t>
            </a:r>
            <a:r>
              <a:rPr dirty="0" spc="-20"/>
              <a:t>险</a:t>
            </a:r>
            <a:r>
              <a:rPr dirty="0" spc="5"/>
              <a:t>管</a:t>
            </a:r>
            <a:r>
              <a:rPr dirty="0" spc="-20"/>
              <a:t>理</a:t>
            </a:r>
            <a:r>
              <a:rPr dirty="0" spc="5"/>
              <a:t>基础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1491" y="1560068"/>
            <a:ext cx="7572375" cy="47625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经营风险</a:t>
            </a:r>
            <a:endParaRPr sz="2800">
              <a:latin typeface="微软雅黑"/>
              <a:cs typeface="微软雅黑"/>
            </a:endParaRPr>
          </a:p>
          <a:p>
            <a:pPr marL="756285" marR="5080" indent="-287020">
              <a:lnSpc>
                <a:spcPts val="2740"/>
              </a:lnSpc>
              <a:spcBef>
                <a:spcPts val="34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由于汇率变化而导致的未</a:t>
            </a:r>
            <a:r>
              <a:rPr dirty="0" sz="2400" spc="20" b="1">
                <a:solidFill>
                  <a:srgbClr val="FFFFFF"/>
                </a:solidFill>
                <a:latin typeface="微软雅黑"/>
                <a:cs typeface="微软雅黑"/>
              </a:rPr>
              <a:t>来</a:t>
            </a:r>
            <a:r>
              <a:rPr dirty="0" sz="2400" spc="-20" b="1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预期经营现金流量的</a:t>
            </a:r>
            <a:r>
              <a:rPr dirty="0" sz="2400" spc="-60" b="1">
                <a:solidFill>
                  <a:srgbClr val="FFFFFF"/>
                </a:solidFill>
                <a:latin typeface="微软雅黑"/>
                <a:cs typeface="微软雅黑"/>
              </a:rPr>
              <a:t>变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化</a:t>
            </a:r>
            <a:endParaRPr sz="2400">
              <a:latin typeface="微软雅黑"/>
              <a:cs typeface="微软雅黑"/>
            </a:endParaRPr>
          </a:p>
          <a:p>
            <a:pPr algn="just" marL="756285" marR="90170" indent="-287020">
              <a:lnSpc>
                <a:spcPts val="2590"/>
              </a:lnSpc>
              <a:spcBef>
                <a:spcPts val="52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所产生的汇兑损益是由公司的未来竞争地位的变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化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来决定的，并且是真实存在的，如销售量的变化、 销售价格的变化、销售成本的变化等等</a:t>
            </a:r>
            <a:endParaRPr sz="2400">
              <a:latin typeface="微软雅黑"/>
              <a:cs typeface="微软雅黑"/>
            </a:endParaRPr>
          </a:p>
          <a:p>
            <a:pPr marL="469265">
              <a:lnSpc>
                <a:spcPct val="100000"/>
              </a:lnSpc>
              <a:spcBef>
                <a:spcPts val="254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与未来的销售相联系的收入和成本</a:t>
            </a:r>
            <a:endParaRPr sz="2400">
              <a:latin typeface="微软雅黑"/>
              <a:cs typeface="微软雅黑"/>
            </a:endParaRPr>
          </a:p>
          <a:p>
            <a:pPr algn="just" marL="756285" marR="90170" indent="-287020">
              <a:lnSpc>
                <a:spcPct val="89600"/>
              </a:lnSpc>
              <a:spcBef>
                <a:spcPts val="58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由于经营风险是建立在企业未来活动的基础之上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，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因此，对经营风险的衡量是面向未来的，很难进行 准确衡量</a:t>
            </a:r>
            <a:endParaRPr sz="2400">
              <a:latin typeface="微软雅黑"/>
              <a:cs typeface="微软雅黑"/>
            </a:endParaRPr>
          </a:p>
          <a:p>
            <a:pPr algn="just" marL="756285" marR="90170" indent="-287020">
              <a:lnSpc>
                <a:spcPts val="2590"/>
              </a:lnSpc>
              <a:spcBef>
                <a:spcPts val="62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任何收入和成本受到汇率变化影响的公司都存在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经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营风险，即使其是一个纯粹的国内公司，并且所有 的现金流量都由本国货币标价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9435" y="657860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外汇风</a:t>
            </a:r>
            <a:r>
              <a:rPr dirty="0" spc="-20"/>
              <a:t>险</a:t>
            </a:r>
            <a:r>
              <a:rPr dirty="0" spc="5"/>
              <a:t>管</a:t>
            </a:r>
            <a:r>
              <a:rPr dirty="0" spc="-20"/>
              <a:t>理</a:t>
            </a:r>
            <a:r>
              <a:rPr dirty="0" spc="5"/>
              <a:t>基础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1596" y="1512482"/>
            <a:ext cx="7487284" cy="411480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三种外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汇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风险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的比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较</a:t>
            </a:r>
            <a:endParaRPr sz="2800">
              <a:latin typeface="微软雅黑"/>
              <a:cs typeface="微软雅黑"/>
            </a:endParaRPr>
          </a:p>
          <a:p>
            <a:pPr marL="756285" marR="5080" indent="-287020">
              <a:lnSpc>
                <a:spcPct val="100000"/>
              </a:lnSpc>
              <a:spcBef>
                <a:spcPts val="56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交易风险和经营风险是现金流量风险，而会计风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险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是非现金流量风险</a:t>
            </a:r>
            <a:endParaRPr sz="2400">
              <a:latin typeface="微软雅黑"/>
              <a:cs typeface="微软雅黑"/>
            </a:endParaRPr>
          </a:p>
          <a:p>
            <a:pPr algn="just" marL="756285" marR="5080" indent="-287020">
              <a:lnSpc>
                <a:spcPct val="100000"/>
              </a:lnSpc>
              <a:spcBef>
                <a:spcPts val="55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经营风险是汇率变动对企业未来交易可能产生的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影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响，而交易风险和会计风险则是汇率变动对企业已 经发生的经济业务产生的影响</a:t>
            </a:r>
            <a:endParaRPr sz="2400">
              <a:latin typeface="微软雅黑"/>
              <a:cs typeface="微软雅黑"/>
            </a:endParaRPr>
          </a:p>
          <a:p>
            <a:pPr marL="756285" marR="5080" indent="-287020">
              <a:lnSpc>
                <a:spcPct val="100000"/>
              </a:lnSpc>
              <a:spcBef>
                <a:spcPts val="57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经营风险对企业的影响是持续的和长远的，而交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易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风险和会计风险对企业的影响是短期的、一次性的</a:t>
            </a:r>
            <a:endParaRPr sz="2400">
              <a:latin typeface="微软雅黑"/>
              <a:cs typeface="微软雅黑"/>
            </a:endParaRPr>
          </a:p>
          <a:p>
            <a:pPr marL="756285" marR="5080" indent="-287020">
              <a:lnSpc>
                <a:spcPct val="100000"/>
              </a:lnSpc>
              <a:spcBef>
                <a:spcPts val="55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经营风险的管理比较困难，而交易风险和折算风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险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管理起来相对容易一些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3235" y="639572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会计风</a:t>
            </a:r>
            <a:r>
              <a:rPr dirty="0" spc="-20"/>
              <a:t>险</a:t>
            </a:r>
            <a:r>
              <a:rPr dirty="0" spc="5"/>
              <a:t>及</a:t>
            </a:r>
            <a:r>
              <a:rPr dirty="0" spc="-20"/>
              <a:t>其</a:t>
            </a:r>
            <a:r>
              <a:rPr dirty="0" spc="5"/>
              <a:t>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1491" y="1596644"/>
            <a:ext cx="7484109" cy="26263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6870" marR="5080" indent="-344805">
              <a:lnSpc>
                <a:spcPct val="100000"/>
              </a:lnSpc>
              <a:spcBef>
                <a:spcPts val="10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会计风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险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的产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生是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由于需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要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将外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币帐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户、外</a:t>
            </a:r>
            <a:r>
              <a:rPr dirty="0" sz="2800" spc="-330" b="1">
                <a:solidFill>
                  <a:srgbClr val="FFFFFF"/>
                </a:solidFill>
                <a:latin typeface="微软雅黑"/>
                <a:cs typeface="微软雅黑"/>
              </a:rPr>
              <a:t>币 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收入、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外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币成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本费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用等转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换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成本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国货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币，主要 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影响因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素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包括：</a:t>
            </a:r>
            <a:endParaRPr sz="2800">
              <a:latin typeface="微软雅黑"/>
              <a:cs typeface="微软雅黑"/>
            </a:endParaRPr>
          </a:p>
          <a:p>
            <a:pPr marL="469265">
              <a:lnSpc>
                <a:spcPct val="100000"/>
              </a:lnSpc>
              <a:spcBef>
                <a:spcPts val="57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外国分支机构业务所占的比重</a:t>
            </a:r>
            <a:endParaRPr sz="2400">
              <a:latin typeface="微软雅黑"/>
              <a:cs typeface="微软雅黑"/>
            </a:endParaRPr>
          </a:p>
          <a:p>
            <a:pPr marL="469265">
              <a:lnSpc>
                <a:spcPct val="100000"/>
              </a:lnSpc>
              <a:spcBef>
                <a:spcPts val="57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外国分支机构所在国货币汇率变动的剧烈程度</a:t>
            </a:r>
            <a:endParaRPr sz="2400">
              <a:latin typeface="微软雅黑"/>
              <a:cs typeface="微软雅黑"/>
            </a:endParaRPr>
          </a:p>
          <a:p>
            <a:pPr marL="469265">
              <a:lnSpc>
                <a:spcPct val="100000"/>
              </a:lnSpc>
              <a:spcBef>
                <a:spcPts val="47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500" spc="-100">
                <a:solidFill>
                  <a:srgbClr val="FFFFFF"/>
                </a:solidFill>
                <a:latin typeface="宋体"/>
                <a:cs typeface="宋体"/>
              </a:rPr>
              <a:t>使用的折算方法</a:t>
            </a:r>
            <a:endParaRPr sz="25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3235" y="639572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会计风</a:t>
            </a:r>
            <a:r>
              <a:rPr dirty="0" spc="-20"/>
              <a:t>险</a:t>
            </a:r>
            <a:r>
              <a:rPr dirty="0" spc="5"/>
              <a:t>及</a:t>
            </a:r>
            <a:r>
              <a:rPr dirty="0" spc="-20"/>
              <a:t>其</a:t>
            </a:r>
            <a:r>
              <a:rPr dirty="0" spc="5"/>
              <a:t>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508855"/>
            <a:ext cx="8096884" cy="2994025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流动</a:t>
            </a:r>
            <a:r>
              <a:rPr dirty="0" sz="2800" spc="-15" b="1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非流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动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法：</a:t>
            </a:r>
            <a:endParaRPr sz="2800">
              <a:latin typeface="微软雅黑"/>
              <a:cs typeface="微软雅黑"/>
            </a:endParaRPr>
          </a:p>
          <a:p>
            <a:pPr marL="756285" marR="5080" indent="-287020">
              <a:lnSpc>
                <a:spcPct val="100000"/>
              </a:lnSpc>
              <a:spcBef>
                <a:spcPts val="73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子公司的所有流动资产和流动负债都按当前汇率折算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，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其他资产、负债和所有者权益则按历史汇率折算，汇 兑损益作为当期损益在损益表中列示</a:t>
            </a:r>
            <a:endParaRPr sz="2400">
              <a:latin typeface="微软雅黑"/>
              <a:cs typeface="微软雅黑"/>
            </a:endParaRPr>
          </a:p>
          <a:p>
            <a:pPr marL="469265">
              <a:lnSpc>
                <a:spcPct val="100000"/>
              </a:lnSpc>
              <a:spcBef>
                <a:spcPts val="55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会计风险暴露部分是其营运资本</a:t>
            </a:r>
            <a:endParaRPr sz="2400">
              <a:latin typeface="微软雅黑"/>
              <a:cs typeface="微软雅黑"/>
            </a:endParaRPr>
          </a:p>
          <a:p>
            <a:pPr marL="756285" marR="309880" indent="-287020">
              <a:lnSpc>
                <a:spcPct val="100000"/>
              </a:lnSpc>
              <a:spcBef>
                <a:spcPts val="57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折旧费用、摊销费用按历史汇率计算，损益表其他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项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目按平均汇率计算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3235" y="484124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会计风</a:t>
            </a:r>
            <a:r>
              <a:rPr dirty="0" spc="-20"/>
              <a:t>险</a:t>
            </a:r>
            <a:r>
              <a:rPr dirty="0" spc="5"/>
              <a:t>及</a:t>
            </a:r>
            <a:r>
              <a:rPr dirty="0" spc="-20"/>
              <a:t>其</a:t>
            </a:r>
            <a:r>
              <a:rPr dirty="0" spc="5"/>
              <a:t>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1596" y="1622271"/>
            <a:ext cx="7792084" cy="4331335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货币</a:t>
            </a:r>
            <a:r>
              <a:rPr dirty="0" sz="2800" spc="-15" b="1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非货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币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法：</a:t>
            </a:r>
            <a:endParaRPr sz="2800">
              <a:latin typeface="微软雅黑"/>
              <a:cs typeface="微软雅黑"/>
            </a:endParaRPr>
          </a:p>
          <a:p>
            <a:pPr algn="just" marL="756285" marR="309880" indent="-287020">
              <a:lnSpc>
                <a:spcPct val="89600"/>
              </a:lnSpc>
              <a:spcBef>
                <a:spcPts val="72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对货币性项目以当前汇率折算，对非货币性项目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采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用历史汇率折算，所有者权益也按历史汇率折算， 汇兑损益作为当期损益在损益表中列示</a:t>
            </a:r>
            <a:endParaRPr sz="2400">
              <a:latin typeface="微软雅黑"/>
              <a:cs typeface="微软雅黑"/>
            </a:endParaRPr>
          </a:p>
          <a:p>
            <a:pPr marL="1155700" indent="-229235">
              <a:lnSpc>
                <a:spcPct val="100000"/>
              </a:lnSpc>
              <a:spcBef>
                <a:spcPts val="204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会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计风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险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暴露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部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分是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其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净货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币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资产</a:t>
            </a:r>
            <a:endParaRPr sz="2000">
              <a:latin typeface="微软雅黑"/>
              <a:cs typeface="微软雅黑"/>
            </a:endParaRPr>
          </a:p>
          <a:p>
            <a:pPr marL="1155700" indent="-229235">
              <a:lnSpc>
                <a:spcPct val="100000"/>
              </a:lnSpc>
              <a:spcBef>
                <a:spcPts val="240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货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币性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资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产与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货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币性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负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债的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差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额</a:t>
            </a:r>
            <a:endParaRPr sz="2000">
              <a:latin typeface="微软雅黑"/>
              <a:cs typeface="微软雅黑"/>
            </a:endParaRPr>
          </a:p>
          <a:p>
            <a:pPr marL="1155700" indent="-229235">
              <a:lnSpc>
                <a:spcPct val="100000"/>
              </a:lnSpc>
              <a:spcBef>
                <a:spcPts val="240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货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币性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资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产：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现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金、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有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价证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券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、各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种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应收款</a:t>
            </a:r>
            <a:endParaRPr sz="2000">
              <a:latin typeface="微软雅黑"/>
              <a:cs typeface="微软雅黑"/>
            </a:endParaRPr>
          </a:p>
          <a:p>
            <a:pPr marL="1155700" indent="-229235">
              <a:lnSpc>
                <a:spcPct val="100000"/>
              </a:lnSpc>
              <a:spcBef>
                <a:spcPts val="240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货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币性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负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债：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应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付款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、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长期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负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债</a:t>
            </a:r>
            <a:endParaRPr sz="2000">
              <a:latin typeface="微软雅黑"/>
              <a:cs typeface="微软雅黑"/>
            </a:endParaRPr>
          </a:p>
          <a:p>
            <a:pPr marL="1155700" indent="-229235">
              <a:lnSpc>
                <a:spcPct val="100000"/>
              </a:lnSpc>
              <a:spcBef>
                <a:spcPts val="240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非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货币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性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资产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：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存货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、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固定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资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产、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长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期投资</a:t>
            </a:r>
            <a:endParaRPr sz="2000">
              <a:latin typeface="微软雅黑"/>
              <a:cs typeface="微软雅黑"/>
            </a:endParaRPr>
          </a:p>
          <a:p>
            <a:pPr marL="1155700" indent="-229235">
              <a:lnSpc>
                <a:spcPct val="100000"/>
              </a:lnSpc>
              <a:spcBef>
                <a:spcPts val="240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非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货币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性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负债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：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递延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款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项</a:t>
            </a:r>
            <a:endParaRPr sz="2000">
              <a:latin typeface="微软雅黑"/>
              <a:cs typeface="微软雅黑"/>
            </a:endParaRPr>
          </a:p>
          <a:p>
            <a:pPr marL="756285" marR="5080" indent="-287020">
              <a:lnSpc>
                <a:spcPts val="2570"/>
              </a:lnSpc>
              <a:spcBef>
                <a:spcPts val="66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折旧费用、摊销费用、和销售成本按历史汇率计算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，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损益表其他项目按平均汇率计算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35427" y="639572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会计风</a:t>
            </a:r>
            <a:r>
              <a:rPr dirty="0" spc="-20"/>
              <a:t>险</a:t>
            </a:r>
            <a:r>
              <a:rPr dirty="0" spc="5"/>
              <a:t>及</a:t>
            </a:r>
            <a:r>
              <a:rPr dirty="0" spc="-20"/>
              <a:t>其</a:t>
            </a:r>
            <a:r>
              <a:rPr dirty="0" spc="5"/>
              <a:t>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5083" y="1445549"/>
            <a:ext cx="7792084" cy="4949825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时态法：</a:t>
            </a:r>
            <a:endParaRPr sz="2800">
              <a:latin typeface="微软雅黑"/>
              <a:cs typeface="微软雅黑"/>
            </a:endParaRPr>
          </a:p>
          <a:p>
            <a:pPr marL="756285" marR="5080" indent="-287020">
              <a:lnSpc>
                <a:spcPts val="2590"/>
              </a:lnSpc>
              <a:spcBef>
                <a:spcPts val="61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以资产、负债项目的计量基础作为选择折算汇率依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据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的外币报表折算方法</a:t>
            </a:r>
            <a:endParaRPr sz="2400">
              <a:latin typeface="微软雅黑"/>
              <a:cs typeface="微软雅黑"/>
            </a:endParaRPr>
          </a:p>
          <a:p>
            <a:pPr marL="756285" marR="5080" indent="-287020">
              <a:lnSpc>
                <a:spcPts val="2590"/>
              </a:lnSpc>
              <a:spcBef>
                <a:spcPts val="55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按市价计价的现金、应收项目、存货、投资和应付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项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目以及其他负债项目按现行汇率折算</a:t>
            </a:r>
            <a:endParaRPr sz="2400">
              <a:latin typeface="微软雅黑"/>
              <a:cs typeface="微软雅黑"/>
            </a:endParaRPr>
          </a:p>
          <a:p>
            <a:pPr marL="756285" marR="5080" indent="-287020">
              <a:lnSpc>
                <a:spcPts val="2590"/>
              </a:lnSpc>
              <a:spcBef>
                <a:spcPts val="58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按历史成本计价的各项资产如固定资产、无形资产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等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按取得时的历史汇率折算</a:t>
            </a:r>
            <a:endParaRPr sz="2400">
              <a:latin typeface="微软雅黑"/>
              <a:cs typeface="微软雅黑"/>
            </a:endParaRPr>
          </a:p>
          <a:p>
            <a:pPr marL="469900">
              <a:lnSpc>
                <a:spcPct val="100000"/>
              </a:lnSpc>
              <a:spcBef>
                <a:spcPts val="254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实收资本项目仍旧按历史汇率折算</a:t>
            </a:r>
            <a:endParaRPr sz="2400">
              <a:latin typeface="微软雅黑"/>
              <a:cs typeface="微软雅黑"/>
            </a:endParaRPr>
          </a:p>
          <a:p>
            <a:pPr marL="469900">
              <a:lnSpc>
                <a:spcPct val="100000"/>
              </a:lnSpc>
              <a:spcBef>
                <a:spcPts val="26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汇兑损益作为当期损益在损益表中列示</a:t>
            </a:r>
            <a:endParaRPr sz="2400">
              <a:latin typeface="微软雅黑"/>
              <a:cs typeface="微软雅黑"/>
            </a:endParaRPr>
          </a:p>
          <a:p>
            <a:pPr marL="756285" marR="5080" indent="-287020">
              <a:lnSpc>
                <a:spcPts val="2590"/>
              </a:lnSpc>
              <a:spcBef>
                <a:spcPts val="62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承担会计风险的是按现行市价计价的资产和负债，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净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暴露资产等于按现行市价计价的资产与负债的差额</a:t>
            </a:r>
            <a:endParaRPr sz="2400">
              <a:latin typeface="微软雅黑"/>
              <a:cs typeface="微软雅黑"/>
            </a:endParaRPr>
          </a:p>
          <a:p>
            <a:pPr marL="756285" marR="5080" indent="-287020">
              <a:lnSpc>
                <a:spcPts val="2590"/>
              </a:lnSpc>
              <a:spcBef>
                <a:spcPts val="58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折旧费用、摊销费用按历史汇率计算，损益表其他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项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目按平均汇率计算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3235" y="639572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会计风</a:t>
            </a:r>
            <a:r>
              <a:rPr dirty="0" spc="-20"/>
              <a:t>险</a:t>
            </a:r>
            <a:r>
              <a:rPr dirty="0" spc="5"/>
              <a:t>及</a:t>
            </a:r>
            <a:r>
              <a:rPr dirty="0" spc="-20"/>
              <a:t>其</a:t>
            </a:r>
            <a:r>
              <a:rPr dirty="0" spc="5"/>
              <a:t>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1596" y="1566980"/>
            <a:ext cx="7487284" cy="3258820"/>
          </a:xfrm>
          <a:prstGeom prst="rect">
            <a:avLst/>
          </a:prstGeom>
        </p:spPr>
        <p:txBody>
          <a:bodyPr wrap="square" lIns="0" tIns="2260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现行汇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率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法：</a:t>
            </a:r>
            <a:endParaRPr sz="2800">
              <a:latin typeface="微软雅黑"/>
              <a:cs typeface="微软雅黑"/>
            </a:endParaRPr>
          </a:p>
          <a:p>
            <a:pPr algn="just" marL="756285" marR="5080" indent="-287020">
              <a:lnSpc>
                <a:spcPct val="130000"/>
              </a:lnSpc>
              <a:spcBef>
                <a:spcPts val="57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将外国子公司的所有资产和负债全部按当前汇率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折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算，汇兑损益作为所有者权益的一项内容在资产负 债表中反映，而不是在损益表中列示</a:t>
            </a:r>
            <a:endParaRPr sz="2400">
              <a:latin typeface="微软雅黑"/>
              <a:cs typeface="微软雅黑"/>
            </a:endParaRPr>
          </a:p>
          <a:p>
            <a:pPr marL="469265">
              <a:lnSpc>
                <a:spcPct val="100000"/>
              </a:lnSpc>
              <a:spcBef>
                <a:spcPts val="144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会计风险暴露部分是其净资产</a:t>
            </a:r>
            <a:endParaRPr sz="2400">
              <a:latin typeface="微软雅黑"/>
              <a:cs typeface="微软雅黑"/>
            </a:endParaRPr>
          </a:p>
          <a:p>
            <a:pPr marL="469265">
              <a:lnSpc>
                <a:spcPct val="100000"/>
              </a:lnSpc>
              <a:spcBef>
                <a:spcPts val="141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损益表项目按平均汇率计算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9435" y="657860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会计风</a:t>
            </a:r>
            <a:r>
              <a:rPr dirty="0" spc="-20"/>
              <a:t>险</a:t>
            </a:r>
            <a:r>
              <a:rPr dirty="0" spc="5"/>
              <a:t>及</a:t>
            </a:r>
            <a:r>
              <a:rPr dirty="0" spc="-20"/>
              <a:t>其</a:t>
            </a:r>
            <a:r>
              <a:rPr dirty="0" spc="5"/>
              <a:t>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8779" y="1516048"/>
            <a:ext cx="8096884" cy="4474210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会计风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险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是否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需要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企业投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入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过多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精力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加以管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理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？</a:t>
            </a:r>
            <a:endParaRPr sz="2800">
              <a:latin typeface="微软雅黑"/>
              <a:cs typeface="微软雅黑"/>
            </a:endParaRPr>
          </a:p>
          <a:p>
            <a:pPr marL="756285" marR="5080" indent="-287020">
              <a:lnSpc>
                <a:spcPts val="2740"/>
              </a:lnSpc>
              <a:spcBef>
                <a:spcPts val="75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企业应该将其精力投入到对汇率变化的经济效应上去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，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而不是其会计或账面效应上去</a:t>
            </a:r>
            <a:endParaRPr sz="2400">
              <a:latin typeface="微软雅黑"/>
              <a:cs typeface="微软雅黑"/>
            </a:endParaRPr>
          </a:p>
          <a:p>
            <a:pPr algn="just" marL="756285" marR="5080" indent="-287020">
              <a:lnSpc>
                <a:spcPct val="99700"/>
              </a:lnSpc>
              <a:spcBef>
                <a:spcPts val="65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分支机构收益在很多情况下不须实际兑成母国货币，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而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是被保留在当地用作再投资，因此，较弱的当地货币不 会影响分支机构的经营，也就并不存在严重的、实质意 义上的外汇风险</a:t>
            </a:r>
            <a:endParaRPr sz="2400">
              <a:latin typeface="微软雅黑"/>
              <a:cs typeface="微软雅黑"/>
            </a:endParaRPr>
          </a:p>
          <a:p>
            <a:pPr marL="756285" marR="5080" indent="-287020">
              <a:lnSpc>
                <a:spcPct val="100000"/>
              </a:lnSpc>
              <a:spcBef>
                <a:spcPts val="57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过分关注会计风险的管理会对公司的正常经营造成负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面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影响</a:t>
            </a:r>
            <a:endParaRPr sz="2400">
              <a:latin typeface="微软雅黑"/>
              <a:cs typeface="微软雅黑"/>
            </a:endParaRPr>
          </a:p>
          <a:p>
            <a:pPr marL="756285" marR="5080" indent="-287020">
              <a:lnSpc>
                <a:spcPts val="2860"/>
              </a:lnSpc>
              <a:spcBef>
                <a:spcPts val="69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过分关注会计风险的管理会导致对更为重要的、导致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未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来现金流量变化的汇率风险的影响视而不见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67076" y="560324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会计风</a:t>
            </a:r>
            <a:r>
              <a:rPr dirty="0" spc="-20"/>
              <a:t>险</a:t>
            </a:r>
            <a:r>
              <a:rPr dirty="0" spc="5"/>
              <a:t>及</a:t>
            </a:r>
            <a:r>
              <a:rPr dirty="0" spc="-20"/>
              <a:t>其</a:t>
            </a:r>
            <a:r>
              <a:rPr dirty="0" spc="5"/>
              <a:t>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8675" y="1518700"/>
            <a:ext cx="8096884" cy="327025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会计风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险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是否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需要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企业投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入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过多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精力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加以管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理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？</a:t>
            </a:r>
            <a:endParaRPr sz="2800">
              <a:latin typeface="微软雅黑"/>
              <a:cs typeface="微软雅黑"/>
            </a:endParaRPr>
          </a:p>
          <a:p>
            <a:pPr algn="just" marL="756285" marR="5080" indent="-287020">
              <a:lnSpc>
                <a:spcPct val="89700"/>
              </a:lnSpc>
              <a:spcBef>
                <a:spcPts val="58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会计风险本身不影响企业现金流量，但是会计风险的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保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值措施却会影响企业的现金流量，尤其是当汇率朝向与 企业预期相反的方向变化时，保值措施带来的损失却会 带来企业真正的现金流出</a:t>
            </a:r>
            <a:endParaRPr sz="2400">
              <a:latin typeface="微软雅黑"/>
              <a:cs typeface="微软雅黑"/>
            </a:endParaRPr>
          </a:p>
          <a:p>
            <a:pPr algn="just" marL="756285" marR="5080" indent="-287020">
              <a:lnSpc>
                <a:spcPts val="2590"/>
              </a:lnSpc>
              <a:spcBef>
                <a:spcPts val="61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只要保持充分、彻底、和完全的披露，不同折算方法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的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选择并不会对公司的市场价值（股票价格）造成影响。 </a:t>
            </a:r>
            <a:r>
              <a:rPr dirty="0" sz="2400" spc="20" b="1">
                <a:solidFill>
                  <a:srgbClr val="FFFFFF"/>
                </a:solidFill>
                <a:latin typeface="微软雅黑"/>
                <a:cs typeface="微软雅黑"/>
              </a:rPr>
              <a:t>在</a:t>
            </a:r>
            <a:r>
              <a:rPr dirty="0" u="heavy" sz="2500" spc="-1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有</a:t>
            </a:r>
            <a:r>
              <a:rPr dirty="0" u="heavy" sz="2500" spc="-12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效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的资本市场上，投资者可以对汇兑损益进行适当 的评价。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175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交易风</a:t>
            </a:r>
            <a:r>
              <a:rPr dirty="0" spc="-20"/>
              <a:t>险</a:t>
            </a:r>
            <a:r>
              <a:rPr dirty="0" spc="5"/>
              <a:t>及</a:t>
            </a:r>
            <a:r>
              <a:rPr dirty="0" spc="-20"/>
              <a:t>其</a:t>
            </a:r>
            <a:r>
              <a:rPr dirty="0" spc="5"/>
              <a:t>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187" y="1593596"/>
            <a:ext cx="7792084" cy="35915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3345"/>
              </a:lnSpc>
              <a:spcBef>
                <a:spcPts val="10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交易风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险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示例</a:t>
            </a:r>
            <a:endParaRPr sz="2800">
              <a:latin typeface="微软雅黑"/>
              <a:cs typeface="微软雅黑"/>
            </a:endParaRPr>
          </a:p>
          <a:p>
            <a:pPr marL="756285" marR="5080" indent="-287020">
              <a:lnSpc>
                <a:spcPct val="80000"/>
              </a:lnSpc>
              <a:spcBef>
                <a:spcPts val="56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我们通常所指的交易风险，往往存在于国际贸易信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用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买卖中产生的外汇应收账款或外汇应付账款之中。</a:t>
            </a:r>
            <a:endParaRPr sz="2400">
              <a:latin typeface="微软雅黑"/>
              <a:cs typeface="微软雅黑"/>
            </a:endParaRPr>
          </a:p>
          <a:p>
            <a:pPr algn="just" marL="756285" marR="5080" indent="-287020">
              <a:lnSpc>
                <a:spcPct val="79700"/>
              </a:lnSpc>
              <a:spcBef>
                <a:spcPts val="58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事实上，根据交易风险的定义，只要与外币相关的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经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济业务的入账时间和实际交割时间存在时间差，交易 风险就将确实存在，并对企业的未来现金流量产生实 际影响。</a:t>
            </a:r>
            <a:endParaRPr sz="2400">
              <a:latin typeface="微软雅黑"/>
              <a:cs typeface="微软雅黑"/>
            </a:endParaRPr>
          </a:p>
          <a:p>
            <a:pPr algn="just" marL="756285" marR="5080" indent="-287020">
              <a:lnSpc>
                <a:spcPts val="2300"/>
              </a:lnSpc>
              <a:spcBef>
                <a:spcPts val="56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进一步推广一下，即使有时经济业务还没有入账，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但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是，只要相关合约已经签定，从而在当前产生了确定 金额的、在未来进行外币收付的执行契约的义务，交 易风险就已经实实在在的产生了。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3235" y="639572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交易风</a:t>
            </a:r>
            <a:r>
              <a:rPr dirty="0" spc="-20"/>
              <a:t>险</a:t>
            </a:r>
            <a:r>
              <a:rPr dirty="0" spc="5"/>
              <a:t>及</a:t>
            </a:r>
            <a:r>
              <a:rPr dirty="0" spc="-20"/>
              <a:t>其</a:t>
            </a:r>
            <a:r>
              <a:rPr dirty="0" spc="5"/>
              <a:t>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1596" y="1739900"/>
            <a:ext cx="7792084" cy="4410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3354"/>
              </a:lnSpc>
              <a:spcBef>
                <a:spcPts val="10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交易风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险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衡量</a:t>
            </a:r>
            <a:endParaRPr sz="2800">
              <a:latin typeface="微软雅黑"/>
              <a:cs typeface="微软雅黑"/>
            </a:endParaRPr>
          </a:p>
          <a:p>
            <a:pPr marL="756285" marR="5080" indent="-287020">
              <a:lnSpc>
                <a:spcPct val="99600"/>
              </a:lnSpc>
              <a:spcBef>
                <a:spcPts val="1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单从一项交易的角度来衡量交易风险是比较容易的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，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但实际工作中，企业的财务管理者需要站在整个企 业的角度来考虑全部交易风险的净影响结果</a:t>
            </a:r>
            <a:endParaRPr sz="2400">
              <a:latin typeface="微软雅黑"/>
              <a:cs typeface="微软雅黑"/>
            </a:endParaRPr>
          </a:p>
          <a:p>
            <a:pPr marL="756285" marR="309880" indent="-287020">
              <a:lnSpc>
                <a:spcPct val="100000"/>
              </a:lnSpc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一种外币的交易风险取决于两个因素：货币暴露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净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头寸（敞口）的大小和汇率波动的幅度</a:t>
            </a:r>
            <a:endParaRPr sz="2400">
              <a:latin typeface="微软雅黑"/>
              <a:cs typeface="微软雅黑"/>
            </a:endParaRPr>
          </a:p>
          <a:p>
            <a:pPr algn="just" marL="1155065" marR="279400" indent="-228600">
              <a:lnSpc>
                <a:spcPts val="2400"/>
              </a:lnSpc>
              <a:spcBef>
                <a:spcPts val="70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单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个企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业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所承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担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的外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交易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风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险并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不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是所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有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业务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产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生交易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风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险的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总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和，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同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一企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业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内部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关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于该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外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币经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济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业务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所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产生的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头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寸以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及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跨国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公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司各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个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海外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子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公司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之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间关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于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该外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币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经济业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务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所产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生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的头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寸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存在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相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互抵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消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作用</a:t>
            </a:r>
            <a:endParaRPr sz="2000">
              <a:latin typeface="微软雅黑"/>
              <a:cs typeface="微软雅黑"/>
            </a:endParaRPr>
          </a:p>
          <a:p>
            <a:pPr algn="just" marL="1155700" indent="-229235">
              <a:lnSpc>
                <a:spcPts val="2320"/>
              </a:lnSpc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只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有时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间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上匹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配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的现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金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流量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才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能相抵</a:t>
            </a:r>
            <a:endParaRPr sz="2000">
              <a:latin typeface="微软雅黑"/>
              <a:cs typeface="微软雅黑"/>
            </a:endParaRPr>
          </a:p>
          <a:p>
            <a:pPr algn="just" marL="1155065" marR="279400" indent="-228600">
              <a:lnSpc>
                <a:spcPct val="100000"/>
              </a:lnSpc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企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业可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以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根据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些历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史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数据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来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评估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种外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币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可能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的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波动幅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度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，如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准差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，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此时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保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持动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态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的跟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踪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非常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重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要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3235" y="639572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交易风</a:t>
            </a:r>
            <a:r>
              <a:rPr dirty="0" spc="-20"/>
              <a:t>险</a:t>
            </a:r>
            <a:r>
              <a:rPr dirty="0" spc="5"/>
              <a:t>及</a:t>
            </a:r>
            <a:r>
              <a:rPr dirty="0" spc="-20"/>
              <a:t>其</a:t>
            </a:r>
            <a:r>
              <a:rPr dirty="0" spc="5"/>
              <a:t>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1596" y="1816100"/>
            <a:ext cx="7487284" cy="31318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交易风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险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衡量</a:t>
            </a:r>
            <a:endParaRPr sz="2800">
              <a:latin typeface="微软雅黑"/>
              <a:cs typeface="微软雅黑"/>
            </a:endParaRPr>
          </a:p>
          <a:p>
            <a:pPr marL="756285" marR="5080" indent="-287020">
              <a:lnSpc>
                <a:spcPct val="139200"/>
              </a:lnSpc>
              <a:spcBef>
                <a:spcPts val="64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跨国公司在考察其总体交易风险的时候，还要注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意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不能把各种货币的外汇风险孤立、割裂开来。</a:t>
            </a:r>
            <a:endParaRPr sz="2400">
              <a:latin typeface="微软雅黑"/>
              <a:cs typeface="微软雅黑"/>
            </a:endParaRPr>
          </a:p>
          <a:p>
            <a:pPr algn="just" marL="756285" marR="5080" indent="-287020">
              <a:lnSpc>
                <a:spcPct val="135800"/>
              </a:lnSpc>
              <a:spcBef>
                <a:spcPts val="69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跨国公司的外汇交易风险管理还应该考虑到不同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外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币之间的相关性问题，从而将存在相关性的各种货 币作为一个货币头寸的组合来进行管理。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3235" y="639572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交易风</a:t>
            </a:r>
            <a:r>
              <a:rPr dirty="0" spc="-20"/>
              <a:t>险</a:t>
            </a:r>
            <a:r>
              <a:rPr dirty="0" spc="5"/>
              <a:t>及</a:t>
            </a:r>
            <a:r>
              <a:rPr dirty="0" spc="-20"/>
              <a:t>其</a:t>
            </a:r>
            <a:r>
              <a:rPr dirty="0" spc="5"/>
              <a:t>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1596" y="1523492"/>
            <a:ext cx="7487284" cy="42348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3345"/>
              </a:lnSpc>
              <a:spcBef>
                <a:spcPts val="10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交易风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险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衡量</a:t>
            </a:r>
            <a:endParaRPr sz="2800">
              <a:latin typeface="微软雅黑"/>
              <a:cs typeface="微软雅黑"/>
            </a:endParaRPr>
          </a:p>
          <a:p>
            <a:pPr algn="just" marL="756285" marR="5080" indent="-287020">
              <a:lnSpc>
                <a:spcPct val="79700"/>
              </a:lnSpc>
              <a:spcBef>
                <a:spcPts val="57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假设一家跨国公司同时管理两种外币，一个表现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为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应收账款，一个表现为应付账款，如果这两种外币 之间的汇率变化是高度正相关的，则与不相关时相 比，其外汇敞口将会更小；</a:t>
            </a:r>
            <a:endParaRPr sz="2400">
              <a:latin typeface="微软雅黑"/>
              <a:cs typeface="微软雅黑"/>
            </a:endParaRPr>
          </a:p>
          <a:p>
            <a:pPr marL="756285" marR="5080" indent="-287020">
              <a:lnSpc>
                <a:spcPct val="80000"/>
              </a:lnSpc>
              <a:spcBef>
                <a:spcPts val="57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如果这两种外币之间的汇率变化是高度负相关的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，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则与不相关时相比，其外汇敞口将会更大。</a:t>
            </a:r>
            <a:endParaRPr sz="2400">
              <a:latin typeface="微软雅黑"/>
              <a:cs typeface="微软雅黑"/>
            </a:endParaRPr>
          </a:p>
          <a:p>
            <a:pPr algn="just" marL="756285" marR="5080" indent="-287020">
              <a:lnSpc>
                <a:spcPct val="79700"/>
              </a:lnSpc>
              <a:spcBef>
                <a:spcPts val="58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反之，假设一家跨国公司同时管理两种外币，均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为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应收账款或均为应付账款，那么，如果这两种外币 之间的汇率变化是高度正相关的，则与不相关时相 比，其外汇敞口将会更大；</a:t>
            </a:r>
            <a:endParaRPr sz="2400">
              <a:latin typeface="微软雅黑"/>
              <a:cs typeface="微软雅黑"/>
            </a:endParaRPr>
          </a:p>
          <a:p>
            <a:pPr marL="756285" marR="5080" indent="-287020">
              <a:lnSpc>
                <a:spcPct val="76700"/>
              </a:lnSpc>
              <a:spcBef>
                <a:spcPts val="67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如果这两种外币之间的汇率变化是高度负相关的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，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则与不相关时相比，其外汇敞口将会更小。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3235" y="639572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交易风</a:t>
            </a:r>
            <a:r>
              <a:rPr dirty="0" spc="-20"/>
              <a:t>险</a:t>
            </a:r>
            <a:r>
              <a:rPr dirty="0" spc="5"/>
              <a:t>及</a:t>
            </a:r>
            <a:r>
              <a:rPr dirty="0" spc="-20"/>
              <a:t>其</a:t>
            </a:r>
            <a:r>
              <a:rPr dirty="0" spc="5"/>
              <a:t>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561373"/>
            <a:ext cx="7792084" cy="275844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交易风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险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衡量</a:t>
            </a:r>
            <a:endParaRPr sz="2800">
              <a:latin typeface="微软雅黑"/>
              <a:cs typeface="微软雅黑"/>
            </a:endParaRPr>
          </a:p>
          <a:p>
            <a:pPr marL="756285" marR="5080" indent="-287020">
              <a:lnSpc>
                <a:spcPts val="2590"/>
              </a:lnSpc>
              <a:spcBef>
                <a:spcPts val="61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测算所有子公司的外汇敞口并加以合并，得到公司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范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围的预期外汇净流量</a:t>
            </a:r>
            <a:endParaRPr sz="2400">
              <a:latin typeface="微软雅黑"/>
              <a:cs typeface="微软雅黑"/>
            </a:endParaRPr>
          </a:p>
          <a:p>
            <a:pPr marL="756285" marR="5080" indent="-287020">
              <a:lnSpc>
                <a:spcPts val="2570"/>
              </a:lnSpc>
              <a:spcBef>
                <a:spcPts val="59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估计预期汇率变动幅度内外汇净流量的本币币值变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化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范围</a:t>
            </a:r>
            <a:endParaRPr sz="2400">
              <a:latin typeface="微软雅黑"/>
              <a:cs typeface="微软雅黑"/>
            </a:endParaRPr>
          </a:p>
          <a:p>
            <a:pPr marL="469265">
              <a:lnSpc>
                <a:spcPct val="100000"/>
              </a:lnSpc>
              <a:spcBef>
                <a:spcPts val="254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分析汇率变动的相关性</a:t>
            </a:r>
            <a:endParaRPr sz="2400">
              <a:latin typeface="微软雅黑"/>
              <a:cs typeface="微软雅黑"/>
            </a:endParaRPr>
          </a:p>
          <a:p>
            <a:pPr marL="469265">
              <a:lnSpc>
                <a:spcPct val="100000"/>
              </a:lnSpc>
              <a:spcBef>
                <a:spcPts val="28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综合分析公司的总体交易风险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3235" y="639572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交易风</a:t>
            </a:r>
            <a:r>
              <a:rPr dirty="0" spc="-20"/>
              <a:t>险</a:t>
            </a:r>
            <a:r>
              <a:rPr dirty="0" spc="5"/>
              <a:t>及</a:t>
            </a:r>
            <a:r>
              <a:rPr dirty="0" spc="-20"/>
              <a:t>其</a:t>
            </a:r>
            <a:r>
              <a:rPr dirty="0" spc="5"/>
              <a:t>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825244"/>
            <a:ext cx="5353685" cy="2317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交易风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险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管理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工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具</a:t>
            </a:r>
            <a:endParaRPr sz="2800">
              <a:latin typeface="微软雅黑"/>
              <a:cs typeface="微软雅黑"/>
            </a:endParaRPr>
          </a:p>
          <a:p>
            <a:pPr marL="469265">
              <a:lnSpc>
                <a:spcPct val="100000"/>
              </a:lnSpc>
              <a:spcBef>
                <a:spcPts val="203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基于市场运作的交易风险管理工具</a:t>
            </a:r>
            <a:endParaRPr sz="2400">
              <a:latin typeface="微软雅黑"/>
              <a:cs typeface="微软雅黑"/>
            </a:endParaRPr>
          </a:p>
          <a:p>
            <a:pPr marL="469265">
              <a:lnSpc>
                <a:spcPct val="100000"/>
              </a:lnSpc>
              <a:spcBef>
                <a:spcPts val="2014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基于合约安排的交易风险管理工具</a:t>
            </a:r>
            <a:endParaRPr sz="2400">
              <a:latin typeface="微软雅黑"/>
              <a:cs typeface="微软雅黑"/>
            </a:endParaRPr>
          </a:p>
          <a:p>
            <a:pPr marL="469265">
              <a:lnSpc>
                <a:spcPct val="100000"/>
              </a:lnSpc>
              <a:spcBef>
                <a:spcPts val="1989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基于经营调整的交易风险管理工具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3235" y="639572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交易风</a:t>
            </a:r>
            <a:r>
              <a:rPr dirty="0" spc="-20"/>
              <a:t>险</a:t>
            </a:r>
            <a:r>
              <a:rPr dirty="0" spc="5"/>
              <a:t>及</a:t>
            </a:r>
            <a:r>
              <a:rPr dirty="0" spc="-20"/>
              <a:t>其</a:t>
            </a:r>
            <a:r>
              <a:rPr dirty="0" spc="5"/>
              <a:t>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803908"/>
            <a:ext cx="8026400" cy="31394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基于市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场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运作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的交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易风险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管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理工具</a:t>
            </a:r>
            <a:endParaRPr sz="2800">
              <a:latin typeface="微软雅黑"/>
              <a:cs typeface="微软雅黑"/>
            </a:endParaRPr>
          </a:p>
          <a:p>
            <a:pPr marL="756285" marR="239395" indent="-287020">
              <a:lnSpc>
                <a:spcPct val="145000"/>
              </a:lnSpc>
              <a:spcBef>
                <a:spcPts val="62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参与具体的外汇市场、外汇期货市场、外汇期权市</a:t>
            </a:r>
            <a:r>
              <a:rPr dirty="0" sz="2400" spc="-60" b="1">
                <a:solidFill>
                  <a:srgbClr val="FFFFFF"/>
                </a:solidFill>
                <a:latin typeface="微软雅黑"/>
                <a:cs typeface="微软雅黑"/>
              </a:rPr>
              <a:t>场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和货币互换市场</a:t>
            </a:r>
            <a:endParaRPr sz="2400">
              <a:latin typeface="微软雅黑"/>
              <a:cs typeface="微软雅黑"/>
            </a:endParaRPr>
          </a:p>
          <a:p>
            <a:pPr marL="469265">
              <a:lnSpc>
                <a:spcPct val="100000"/>
              </a:lnSpc>
              <a:spcBef>
                <a:spcPts val="187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一个国家的金融市场发展水平</a:t>
            </a:r>
            <a:endParaRPr sz="2400">
              <a:latin typeface="微软雅黑"/>
              <a:cs typeface="微软雅黑"/>
            </a:endParaRPr>
          </a:p>
          <a:p>
            <a:pPr marL="1155700" marR="5080" indent="-228600">
              <a:lnSpc>
                <a:spcPct val="144000"/>
              </a:lnSpc>
              <a:spcBef>
                <a:spcPts val="520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金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融市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场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是否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能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够以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个比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较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低的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成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本来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提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供这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些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用于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交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易风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险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管理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的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套期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保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值工具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0188" y="532892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交易风</a:t>
            </a:r>
            <a:r>
              <a:rPr dirty="0" spc="-20"/>
              <a:t>险</a:t>
            </a:r>
            <a:r>
              <a:rPr dirty="0" spc="5"/>
              <a:t>及</a:t>
            </a:r>
            <a:r>
              <a:rPr dirty="0" spc="-20"/>
              <a:t>其</a:t>
            </a:r>
            <a:r>
              <a:rPr dirty="0" spc="5"/>
              <a:t>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1491" y="1491756"/>
            <a:ext cx="7572375" cy="3927475"/>
          </a:xfrm>
          <a:prstGeom prst="rect">
            <a:avLst/>
          </a:prstGeom>
        </p:spPr>
        <p:txBody>
          <a:bodyPr wrap="square" lIns="0" tIns="24002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dirty="0" sz="2800" spc="-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基于市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场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运作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的交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易风险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管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理工具</a:t>
            </a:r>
            <a:endParaRPr sz="2800">
              <a:latin typeface="微软雅黑"/>
              <a:cs typeface="微软雅黑"/>
            </a:endParaRPr>
          </a:p>
          <a:p>
            <a:pPr marL="417830">
              <a:lnSpc>
                <a:spcPct val="100000"/>
              </a:lnSpc>
              <a:spcBef>
                <a:spcPts val="153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远期外汇市场套期保值</a:t>
            </a:r>
            <a:endParaRPr sz="2400">
              <a:latin typeface="微软雅黑"/>
              <a:cs typeface="微软雅黑"/>
            </a:endParaRPr>
          </a:p>
          <a:p>
            <a:pPr marL="1024255" marR="5080" indent="-201295">
              <a:lnSpc>
                <a:spcPct val="140000"/>
              </a:lnSpc>
              <a:spcBef>
                <a:spcPts val="520"/>
              </a:spcBef>
              <a:buClr>
                <a:srgbClr val="FF6600"/>
              </a:buClr>
              <a:buFont typeface="Wingdings"/>
              <a:buChar char=""/>
              <a:tabLst>
                <a:tab pos="102489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设现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在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一美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国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公司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销售</a:t>
            </a:r>
            <a:r>
              <a:rPr dirty="0" sz="2000" spc="-20" b="1">
                <a:solidFill>
                  <a:srgbClr val="FFFFFF"/>
                </a:solidFill>
                <a:latin typeface="Arial"/>
                <a:cs typeface="Arial"/>
              </a:rPr>
              <a:t>1000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万</a:t>
            </a:r>
            <a:r>
              <a:rPr dirty="0" sz="2000" spc="5" b="1">
                <a:solidFill>
                  <a:srgbClr val="FFFFFF"/>
                </a:solidFill>
                <a:latin typeface="Times New Roman"/>
                <a:cs typeface="Times New Roman"/>
              </a:rPr>
              <a:t>€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的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产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品给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家欧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洲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公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司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， 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个月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后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付款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。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当前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的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现汇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价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格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是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$1.00/</a:t>
            </a:r>
            <a:r>
              <a:rPr dirty="0" sz="2000" spc="-10" b="1">
                <a:solidFill>
                  <a:srgbClr val="FFFFFF"/>
                </a:solidFill>
                <a:latin typeface="Times New Roman"/>
                <a:cs typeface="Times New Roman"/>
              </a:rPr>
              <a:t>€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，三月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期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远期汇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率为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$0.957/</a:t>
            </a:r>
            <a:r>
              <a:rPr dirty="0" sz="2000" spc="-10" b="1">
                <a:solidFill>
                  <a:srgbClr val="FFFFFF"/>
                </a:solidFill>
                <a:latin typeface="Times New Roman"/>
                <a:cs typeface="Times New Roman"/>
              </a:rPr>
              <a:t>€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。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此时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，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该美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国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公司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可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以销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售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份</a:t>
            </a:r>
            <a:r>
              <a:rPr dirty="0" sz="2000" spc="-15" b="1">
                <a:solidFill>
                  <a:srgbClr val="FFFFFF"/>
                </a:solidFill>
                <a:latin typeface="Arial"/>
                <a:cs typeface="Arial"/>
              </a:rPr>
              <a:t>1000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万</a:t>
            </a:r>
            <a:r>
              <a:rPr dirty="0" sz="2000" spc="5" b="1">
                <a:solidFill>
                  <a:srgbClr val="FFFFFF"/>
                </a:solidFill>
                <a:latin typeface="Times New Roman"/>
                <a:cs typeface="Times New Roman"/>
              </a:rPr>
              <a:t>€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的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月期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远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期合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约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，从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而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保证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在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到期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时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肯定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能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获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得</a:t>
            </a:r>
            <a:r>
              <a:rPr dirty="0" sz="2000" spc="-15" b="1">
                <a:solidFill>
                  <a:srgbClr val="FFFFFF"/>
                </a:solidFill>
                <a:latin typeface="Arial"/>
                <a:cs typeface="Arial"/>
              </a:rPr>
              <a:t>957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万</a:t>
            </a:r>
            <a:r>
              <a:rPr dirty="0" sz="2000" spc="-5" b="1">
                <a:solidFill>
                  <a:srgbClr val="FFFFFF"/>
                </a:solidFill>
                <a:latin typeface="Arial"/>
                <a:cs typeface="Arial"/>
              </a:rPr>
              <a:t>$</a:t>
            </a:r>
            <a:r>
              <a:rPr dirty="0" sz="20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 marL="1024255" marR="190500" indent="-201295">
              <a:lnSpc>
                <a:spcPct val="133000"/>
              </a:lnSpc>
              <a:spcBef>
                <a:spcPts val="815"/>
              </a:spcBef>
              <a:buClr>
                <a:srgbClr val="FF6600"/>
              </a:buClr>
              <a:buFont typeface="Wingdings"/>
              <a:buChar char=""/>
              <a:tabLst>
                <a:tab pos="102489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思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考：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美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国公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司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入帐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时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应收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外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汇帐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款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的美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圆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金额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是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多少？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这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个金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额与</a:t>
            </a:r>
            <a:r>
              <a:rPr dirty="0" sz="2000" spc="-15" b="1">
                <a:solidFill>
                  <a:srgbClr val="FFFFFF"/>
                </a:solidFill>
                <a:latin typeface="Arial"/>
                <a:cs typeface="Arial"/>
              </a:rPr>
              <a:t>957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万</a:t>
            </a:r>
            <a:r>
              <a:rPr dirty="0" sz="2000" spc="-5" b="1">
                <a:solidFill>
                  <a:srgbClr val="FFFFFF"/>
                </a:solidFill>
                <a:latin typeface="Arial"/>
                <a:cs typeface="Arial"/>
              </a:rPr>
              <a:t>$</a:t>
            </a:r>
            <a:r>
              <a:rPr dirty="0" sz="20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相比有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什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么差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异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？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3235" y="453644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交易风</a:t>
            </a:r>
            <a:r>
              <a:rPr dirty="0" spc="-20"/>
              <a:t>险</a:t>
            </a:r>
            <a:r>
              <a:rPr dirty="0" spc="5"/>
              <a:t>及</a:t>
            </a:r>
            <a:r>
              <a:rPr dirty="0" spc="-20"/>
              <a:t>其</a:t>
            </a:r>
            <a:r>
              <a:rPr dirty="0" spc="5"/>
              <a:t>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4747" y="1965452"/>
            <a:ext cx="6624320" cy="24079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-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基于市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场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运作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的交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易风险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管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理工具</a:t>
            </a:r>
            <a:endParaRPr sz="2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550">
              <a:latin typeface="微软雅黑"/>
              <a:cs typeface="微软雅黑"/>
            </a:endParaRPr>
          </a:p>
          <a:p>
            <a:pPr marL="417830">
              <a:lnSpc>
                <a:spcPct val="100000"/>
              </a:lnSpc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外汇期货市场套期保值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00">
              <a:latin typeface="微软雅黑"/>
              <a:cs typeface="微软雅黑"/>
            </a:endParaRPr>
          </a:p>
          <a:p>
            <a:pPr marL="1024255" indent="-201930">
              <a:lnSpc>
                <a:spcPct val="100000"/>
              </a:lnSpc>
              <a:buClr>
                <a:srgbClr val="FF6600"/>
              </a:buClr>
              <a:buFont typeface="Wingdings"/>
              <a:buChar char=""/>
              <a:tabLst>
                <a:tab pos="102489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与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远期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外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汇市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场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套期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保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值相似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FF6600"/>
              </a:buClr>
              <a:buFont typeface="Wingdings"/>
              <a:buChar char=""/>
            </a:pPr>
            <a:endParaRPr sz="1300">
              <a:latin typeface="微软雅黑"/>
              <a:cs typeface="微软雅黑"/>
            </a:endParaRPr>
          </a:p>
          <a:p>
            <a:pPr marL="1024255" indent="-201930">
              <a:lnSpc>
                <a:spcPct val="100000"/>
              </a:lnSpc>
              <a:buClr>
                <a:srgbClr val="FF6600"/>
              </a:buClr>
              <a:buFont typeface="Wingdings"/>
              <a:buChar char=""/>
              <a:tabLst>
                <a:tab pos="102489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有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时可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能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与企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业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保值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要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求的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金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额、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时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期等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不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相匹配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9435" y="538988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交易风</a:t>
            </a:r>
            <a:r>
              <a:rPr dirty="0" spc="-20"/>
              <a:t>险</a:t>
            </a:r>
            <a:r>
              <a:rPr dirty="0" spc="5"/>
              <a:t>及</a:t>
            </a:r>
            <a:r>
              <a:rPr dirty="0" spc="-20"/>
              <a:t>其</a:t>
            </a:r>
            <a:r>
              <a:rPr dirty="0" spc="5"/>
              <a:t>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1491" y="1532416"/>
            <a:ext cx="7740015" cy="4404995"/>
          </a:xfrm>
          <a:prstGeom prst="rect">
            <a:avLst/>
          </a:prstGeom>
        </p:spPr>
        <p:txBody>
          <a:bodyPr wrap="square" lIns="0" tIns="2330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3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基于市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场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运作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的交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易风险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管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理工具</a:t>
            </a:r>
            <a:endParaRPr sz="2800">
              <a:latin typeface="微软雅黑"/>
              <a:cs typeface="微软雅黑"/>
            </a:endParaRPr>
          </a:p>
          <a:p>
            <a:pPr marL="469265">
              <a:lnSpc>
                <a:spcPct val="100000"/>
              </a:lnSpc>
              <a:spcBef>
                <a:spcPts val="148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货币市场套期保值</a:t>
            </a:r>
            <a:endParaRPr sz="2400">
              <a:latin typeface="微软雅黑"/>
              <a:cs typeface="微软雅黑"/>
            </a:endParaRPr>
          </a:p>
          <a:p>
            <a:pPr marL="1155700" marR="5080" indent="-228600">
              <a:lnSpc>
                <a:spcPts val="3600"/>
              </a:lnSpc>
              <a:spcBef>
                <a:spcPts val="145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设现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在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一美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国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公司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销售</a:t>
            </a:r>
            <a:r>
              <a:rPr dirty="0" sz="2000" spc="-20" b="1">
                <a:solidFill>
                  <a:srgbClr val="FFFFFF"/>
                </a:solidFill>
                <a:latin typeface="Arial"/>
                <a:cs typeface="Arial"/>
              </a:rPr>
              <a:t>1000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万</a:t>
            </a:r>
            <a:r>
              <a:rPr dirty="0" sz="2000" spc="5" b="1">
                <a:solidFill>
                  <a:srgbClr val="FFFFFF"/>
                </a:solidFill>
                <a:latin typeface="Times New Roman"/>
                <a:cs typeface="Times New Roman"/>
              </a:rPr>
              <a:t>€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的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产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品给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家欧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洲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公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司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， 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个月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后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付款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。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当前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的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现汇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价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格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是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$1.00/</a:t>
            </a:r>
            <a:r>
              <a:rPr dirty="0" sz="2000" spc="-10" b="1">
                <a:solidFill>
                  <a:srgbClr val="FFFFFF"/>
                </a:solidFill>
                <a:latin typeface="Times New Roman"/>
                <a:cs typeface="Times New Roman"/>
              </a:rPr>
              <a:t>€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，三月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期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远期汇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率为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$0.957/</a:t>
            </a:r>
            <a:r>
              <a:rPr dirty="0" sz="2000" spc="-10" b="1">
                <a:solidFill>
                  <a:srgbClr val="FFFFFF"/>
                </a:solidFill>
                <a:latin typeface="Times New Roman"/>
                <a:cs typeface="Times New Roman"/>
              </a:rPr>
              <a:t>€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。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目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前</a:t>
            </a:r>
            <a:r>
              <a:rPr dirty="0" sz="2000" spc="-20" b="1">
                <a:solidFill>
                  <a:srgbClr val="FFFFFF"/>
                </a:solidFill>
                <a:latin typeface="Times New Roman"/>
                <a:cs typeface="Times New Roman"/>
              </a:rPr>
              <a:t>€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和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$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的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月期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利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率分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别是</a:t>
            </a:r>
            <a:r>
              <a:rPr dirty="0" sz="2000" spc="-20" b="1">
                <a:solidFill>
                  <a:srgbClr val="FFFFFF"/>
                </a:solidFill>
                <a:latin typeface="Arial"/>
                <a:cs typeface="Arial"/>
              </a:rPr>
              <a:t>15%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和</a:t>
            </a:r>
            <a:r>
              <a:rPr dirty="0" sz="2000" spc="-20" b="1">
                <a:solidFill>
                  <a:srgbClr val="FFFFFF"/>
                </a:solidFill>
                <a:latin typeface="Arial"/>
                <a:cs typeface="Arial"/>
              </a:rPr>
              <a:t>10%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 marL="1155700">
              <a:lnSpc>
                <a:spcPct val="100000"/>
              </a:lnSpc>
              <a:spcBef>
                <a:spcPts val="905"/>
              </a:spcBef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此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时，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该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美国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公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司可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以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通过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货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币市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场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借入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月期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的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1000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万</a:t>
            </a:r>
            <a:endParaRPr sz="2000">
              <a:latin typeface="微软雅黑"/>
              <a:cs typeface="微软雅黑"/>
            </a:endParaRPr>
          </a:p>
          <a:p>
            <a:pPr marL="1155700">
              <a:lnSpc>
                <a:spcPct val="100000"/>
              </a:lnSpc>
              <a:spcBef>
                <a:spcPts val="1175"/>
              </a:spcBef>
            </a:pPr>
            <a:r>
              <a:rPr dirty="0" sz="2000" spc="-10" b="1">
                <a:solidFill>
                  <a:srgbClr val="FFFFFF"/>
                </a:solidFill>
                <a:latin typeface="Times New Roman"/>
                <a:cs typeface="Times New Roman"/>
              </a:rPr>
              <a:t>€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/1.15=870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万</a:t>
            </a:r>
            <a:r>
              <a:rPr dirty="0" sz="2000" spc="5" b="1">
                <a:solidFill>
                  <a:srgbClr val="FFFFFF"/>
                </a:solidFill>
                <a:latin typeface="Times New Roman"/>
                <a:cs typeface="Times New Roman"/>
              </a:rPr>
              <a:t>€</a:t>
            </a:r>
            <a:r>
              <a:rPr dirty="0" sz="2000" spc="5" b="1">
                <a:solidFill>
                  <a:srgbClr val="FFFFFF"/>
                </a:solidFill>
                <a:latin typeface="微软雅黑"/>
                <a:cs typeface="微软雅黑"/>
              </a:rPr>
              <a:t>，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并将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这</a:t>
            </a:r>
            <a:r>
              <a:rPr dirty="0" sz="2000" spc="-15" b="1">
                <a:solidFill>
                  <a:srgbClr val="FFFFFF"/>
                </a:solidFill>
                <a:latin typeface="Arial"/>
                <a:cs typeface="Arial"/>
              </a:rPr>
              <a:t>870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万</a:t>
            </a:r>
            <a:r>
              <a:rPr dirty="0" sz="2000" spc="-20" b="1">
                <a:solidFill>
                  <a:srgbClr val="FFFFFF"/>
                </a:solidFill>
                <a:latin typeface="Times New Roman"/>
                <a:cs typeface="Times New Roman"/>
              </a:rPr>
              <a:t>€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兑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换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成</a:t>
            </a:r>
            <a:r>
              <a:rPr dirty="0" sz="2000" spc="-15" b="1">
                <a:solidFill>
                  <a:srgbClr val="FFFFFF"/>
                </a:solidFill>
                <a:latin typeface="Arial"/>
                <a:cs typeface="Arial"/>
              </a:rPr>
              <a:t>870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万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$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并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进行投</a:t>
            </a:r>
            <a:endParaRPr sz="2000">
              <a:latin typeface="微软雅黑"/>
              <a:cs typeface="微软雅黑"/>
            </a:endParaRPr>
          </a:p>
          <a:p>
            <a:pPr marL="1155700" marR="169545">
              <a:lnSpc>
                <a:spcPct val="149000"/>
              </a:lnSpc>
              <a:spcBef>
                <a:spcPts val="50"/>
              </a:spcBef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资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，从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而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在到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期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时获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得</a:t>
            </a:r>
            <a:r>
              <a:rPr dirty="0" sz="2000" spc="-15" b="1">
                <a:solidFill>
                  <a:srgbClr val="FFFFFF"/>
                </a:solidFill>
                <a:latin typeface="Arial"/>
                <a:cs typeface="Arial"/>
              </a:rPr>
              <a:t>870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万</a:t>
            </a:r>
            <a:r>
              <a:rPr dirty="0" sz="2000" spc="-15" b="1">
                <a:solidFill>
                  <a:srgbClr val="FFFFFF"/>
                </a:solidFill>
                <a:latin typeface="Arial"/>
                <a:cs typeface="Arial"/>
              </a:rPr>
              <a:t>$*1.10=957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万</a:t>
            </a:r>
            <a:r>
              <a:rPr dirty="0" sz="2000" spc="-5" b="1">
                <a:solidFill>
                  <a:srgbClr val="FFFFFF"/>
                </a:solidFill>
                <a:latin typeface="Arial"/>
                <a:cs typeface="Arial"/>
              </a:rPr>
              <a:t>$</a:t>
            </a:r>
            <a:r>
              <a:rPr dirty="0" sz="20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。同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时，三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个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月后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该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美国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公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司可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以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用收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到的</a:t>
            </a:r>
            <a:r>
              <a:rPr dirty="0" sz="2000" spc="-15" b="1">
                <a:solidFill>
                  <a:srgbClr val="FFFFFF"/>
                </a:solidFill>
                <a:latin typeface="Arial"/>
                <a:cs typeface="Arial"/>
              </a:rPr>
              <a:t>1000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万</a:t>
            </a:r>
            <a:r>
              <a:rPr dirty="0" sz="2000" spc="-20" b="1">
                <a:solidFill>
                  <a:srgbClr val="FFFFFF"/>
                </a:solidFill>
                <a:latin typeface="Times New Roman"/>
                <a:cs typeface="Times New Roman"/>
              </a:rPr>
              <a:t>€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偿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还</a:t>
            </a:r>
            <a:r>
              <a:rPr dirty="0" sz="2000" spc="5" b="1">
                <a:solidFill>
                  <a:srgbClr val="FFFFFF"/>
                </a:solidFill>
                <a:latin typeface="Times New Roman"/>
                <a:cs typeface="Times New Roman"/>
              </a:rPr>
              <a:t>€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借款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本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息。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0188" y="542036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交易风</a:t>
            </a:r>
            <a:r>
              <a:rPr dirty="0" spc="-20"/>
              <a:t>险</a:t>
            </a:r>
            <a:r>
              <a:rPr dirty="0" spc="5"/>
              <a:t>及</a:t>
            </a:r>
            <a:r>
              <a:rPr dirty="0" spc="-20"/>
              <a:t>其</a:t>
            </a:r>
            <a:r>
              <a:rPr dirty="0" spc="5"/>
              <a:t>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1596" y="1889252"/>
            <a:ext cx="7386320" cy="46513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-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基于市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场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运作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的交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易风险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管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理工具</a:t>
            </a:r>
            <a:endParaRPr sz="2800">
              <a:latin typeface="微软雅黑"/>
              <a:cs typeface="微软雅黑"/>
            </a:endParaRPr>
          </a:p>
          <a:p>
            <a:pPr marL="417830">
              <a:lnSpc>
                <a:spcPct val="100000"/>
              </a:lnSpc>
              <a:spcBef>
                <a:spcPts val="210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货币期权市场套期保值</a:t>
            </a:r>
            <a:endParaRPr sz="2400">
              <a:latin typeface="微软雅黑"/>
              <a:cs typeface="微软雅黑"/>
            </a:endParaRPr>
          </a:p>
          <a:p>
            <a:pPr algn="just" marL="1024255" marR="5080" indent="-201295">
              <a:lnSpc>
                <a:spcPct val="159700"/>
              </a:lnSpc>
              <a:spcBef>
                <a:spcPts val="745"/>
              </a:spcBef>
              <a:buClr>
                <a:srgbClr val="FF6600"/>
              </a:buClr>
              <a:buFont typeface="Wingdings"/>
              <a:buChar char=""/>
              <a:tabLst>
                <a:tab pos="102489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前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面三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种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套期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保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值手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段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的共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同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特点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是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锁定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了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未来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的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现金流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入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或支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出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水平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，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也就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是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说，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在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消除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了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汇率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波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动的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不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利变化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所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可能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带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来的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损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失的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同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时，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也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丧失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了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汇率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波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动的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有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利变化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所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可能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带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来的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潜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在收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益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 algn="just" marL="1024255" marR="5080" indent="-201295">
              <a:lnSpc>
                <a:spcPct val="160000"/>
              </a:lnSpc>
              <a:spcBef>
                <a:spcPts val="480"/>
              </a:spcBef>
              <a:buClr>
                <a:srgbClr val="FF6600"/>
              </a:buClr>
              <a:buFont typeface="Wingdings"/>
              <a:buChar char=""/>
              <a:tabLst>
                <a:tab pos="102489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期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权提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供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了一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种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更灵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活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的套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期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保值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手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段，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即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可以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规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避不利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变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化所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可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能带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来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的风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险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，又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可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以获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得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有利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变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化所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可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能带来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的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潜在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收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益。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3235" y="639572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交易风</a:t>
            </a:r>
            <a:r>
              <a:rPr dirty="0" spc="-20"/>
              <a:t>险</a:t>
            </a:r>
            <a:r>
              <a:rPr dirty="0" spc="5"/>
              <a:t>及</a:t>
            </a:r>
            <a:r>
              <a:rPr dirty="0" spc="-20"/>
              <a:t>其</a:t>
            </a:r>
            <a:r>
              <a:rPr dirty="0" spc="5"/>
              <a:t>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555155"/>
            <a:ext cx="7974965" cy="499491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基于市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场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运作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的交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易风险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管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理工具</a:t>
            </a:r>
            <a:endParaRPr sz="2800">
              <a:latin typeface="微软雅黑"/>
              <a:cs typeface="微软雅黑"/>
            </a:endParaRPr>
          </a:p>
          <a:p>
            <a:pPr marL="469265">
              <a:lnSpc>
                <a:spcPct val="100000"/>
              </a:lnSpc>
              <a:spcBef>
                <a:spcPts val="56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货币期权市场套期保值</a:t>
            </a:r>
            <a:endParaRPr sz="2400">
              <a:latin typeface="微软雅黑"/>
              <a:cs typeface="微软雅黑"/>
            </a:endParaRPr>
          </a:p>
          <a:p>
            <a:pPr marL="1155700" indent="-228600">
              <a:lnSpc>
                <a:spcPct val="100000"/>
              </a:lnSpc>
              <a:spcBef>
                <a:spcPts val="475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对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外汇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应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付帐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款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，购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买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一项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该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外汇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的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买入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期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权</a:t>
            </a:r>
            <a:endParaRPr sz="2000">
              <a:latin typeface="微软雅黑"/>
              <a:cs typeface="微软雅黑"/>
            </a:endParaRPr>
          </a:p>
          <a:p>
            <a:pPr lvl="1" marL="1612265" marR="5080" indent="-228600">
              <a:lnSpc>
                <a:spcPct val="100000"/>
              </a:lnSpc>
              <a:spcBef>
                <a:spcPts val="480"/>
              </a:spcBef>
              <a:buClr>
                <a:srgbClr val="FF6600"/>
              </a:buClr>
              <a:buFont typeface="Wingdings"/>
              <a:buChar char="►"/>
              <a:tabLst>
                <a:tab pos="161290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如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果该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外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币升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值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，可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以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按照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期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权合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约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中规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定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的执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行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价格</a:t>
            </a:r>
            <a:r>
              <a:rPr dirty="0" sz="2000" spc="-1595" b="1">
                <a:solidFill>
                  <a:srgbClr val="FFFFFF"/>
                </a:solidFill>
                <a:latin typeface="微软雅黑"/>
                <a:cs typeface="微软雅黑"/>
              </a:rPr>
              <a:t>来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买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入该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种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外汇</a:t>
            </a:r>
            <a:endParaRPr sz="2000">
              <a:latin typeface="微软雅黑"/>
              <a:cs typeface="微软雅黑"/>
            </a:endParaRPr>
          </a:p>
          <a:p>
            <a:pPr algn="just" lvl="1" marL="1612265" marR="5080" indent="-228600">
              <a:lnSpc>
                <a:spcPct val="100000"/>
              </a:lnSpc>
              <a:spcBef>
                <a:spcPts val="455"/>
              </a:spcBef>
              <a:buClr>
                <a:srgbClr val="FF6600"/>
              </a:buClr>
              <a:buFont typeface="Wingdings"/>
              <a:buChar char="►"/>
              <a:tabLst>
                <a:tab pos="161290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当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该货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币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贬值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时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，跨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国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公司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可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以不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必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执行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这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个期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权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合约</a:t>
            </a:r>
            <a:r>
              <a:rPr dirty="0" sz="2000" spc="-1595" b="1">
                <a:solidFill>
                  <a:srgbClr val="FFFFFF"/>
                </a:solidFill>
                <a:latin typeface="微软雅黑"/>
                <a:cs typeface="微软雅黑"/>
              </a:rPr>
              <a:t>， </a:t>
            </a:r>
            <a:r>
              <a:rPr dirty="0" sz="2000" spc="-590" b="1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而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是直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接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在当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时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的现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市场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上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以一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个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比较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低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的购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买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价格买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入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这种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货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币，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从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而获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得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货币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贬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值所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带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来的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好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处。</a:t>
            </a:r>
            <a:endParaRPr sz="2000">
              <a:latin typeface="微软雅黑"/>
              <a:cs typeface="微软雅黑"/>
            </a:endParaRPr>
          </a:p>
          <a:p>
            <a:pPr algn="just" marL="1155700" indent="-228600">
              <a:lnSpc>
                <a:spcPct val="100000"/>
              </a:lnSpc>
              <a:spcBef>
                <a:spcPts val="480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对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外汇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应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收帐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款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，购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买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一项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该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外汇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的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卖出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期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权</a:t>
            </a:r>
            <a:endParaRPr sz="2000">
              <a:latin typeface="微软雅黑"/>
              <a:cs typeface="微软雅黑"/>
            </a:endParaRPr>
          </a:p>
          <a:p>
            <a:pPr lvl="1" marL="1612265" marR="5080" indent="-228600">
              <a:lnSpc>
                <a:spcPct val="100000"/>
              </a:lnSpc>
              <a:spcBef>
                <a:spcPts val="480"/>
              </a:spcBef>
              <a:buClr>
                <a:srgbClr val="FF6600"/>
              </a:buClr>
              <a:buFont typeface="Wingdings"/>
              <a:buChar char="►"/>
              <a:tabLst>
                <a:tab pos="161290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如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果该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外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币贬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值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，可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以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按照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期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权合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约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中规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定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的执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行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价格</a:t>
            </a:r>
            <a:r>
              <a:rPr dirty="0" sz="2000" spc="-1595" b="1">
                <a:solidFill>
                  <a:srgbClr val="FFFFFF"/>
                </a:solidFill>
                <a:latin typeface="微软雅黑"/>
                <a:cs typeface="微软雅黑"/>
              </a:rPr>
              <a:t>来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卖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出该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种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外汇</a:t>
            </a:r>
            <a:endParaRPr sz="2000">
              <a:latin typeface="微软雅黑"/>
              <a:cs typeface="微软雅黑"/>
            </a:endParaRPr>
          </a:p>
          <a:p>
            <a:pPr algn="just" lvl="1" marL="1612265" marR="5080" indent="-228600">
              <a:lnSpc>
                <a:spcPct val="100000"/>
              </a:lnSpc>
              <a:spcBef>
                <a:spcPts val="480"/>
              </a:spcBef>
              <a:buClr>
                <a:srgbClr val="FF6600"/>
              </a:buClr>
              <a:buFont typeface="Wingdings"/>
              <a:buChar char="►"/>
              <a:tabLst>
                <a:tab pos="161290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当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该货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币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升值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时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，跨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国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公司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可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以不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必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执行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这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个期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权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合约</a:t>
            </a:r>
            <a:r>
              <a:rPr dirty="0" sz="2000" spc="-1595" b="1">
                <a:solidFill>
                  <a:srgbClr val="FFFFFF"/>
                </a:solidFill>
                <a:latin typeface="微软雅黑"/>
                <a:cs typeface="微软雅黑"/>
              </a:rPr>
              <a:t>， </a:t>
            </a:r>
            <a:r>
              <a:rPr dirty="0" sz="2000" spc="-590" b="1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而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是直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接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在当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时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的现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市场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上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以一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个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比较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高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的卖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出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价格卖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出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这种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货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币，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从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而获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得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货币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值所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带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来的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好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处。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3235" y="639572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交易风</a:t>
            </a:r>
            <a:r>
              <a:rPr dirty="0" spc="-20"/>
              <a:t>险</a:t>
            </a:r>
            <a:r>
              <a:rPr dirty="0" spc="5"/>
              <a:t>及</a:t>
            </a:r>
            <a:r>
              <a:rPr dirty="0" spc="-20"/>
              <a:t>其</a:t>
            </a:r>
            <a:r>
              <a:rPr dirty="0" spc="5"/>
              <a:t>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529825"/>
            <a:ext cx="8096884" cy="3777615"/>
          </a:xfrm>
          <a:prstGeom prst="rect">
            <a:avLst/>
          </a:prstGeom>
        </p:spPr>
        <p:txBody>
          <a:bodyPr wrap="square" lIns="0" tIns="250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7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基于合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约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安排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的交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易风险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管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理工具</a:t>
            </a:r>
            <a:endParaRPr sz="2800">
              <a:latin typeface="微软雅黑"/>
              <a:cs typeface="微软雅黑"/>
            </a:endParaRPr>
          </a:p>
          <a:p>
            <a:pPr algn="just" marL="756285" marR="309880" indent="-287020">
              <a:lnSpc>
                <a:spcPct val="135000"/>
              </a:lnSpc>
              <a:spcBef>
                <a:spcPts val="59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交易双方通过对结算货币、汇率选择等具体合约条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款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的谈判来实现交易风险的转移或分摊，从而实现降低 交易风险甚至消除交易风险的目的。</a:t>
            </a:r>
            <a:endParaRPr sz="2400">
              <a:latin typeface="微软雅黑"/>
              <a:cs typeface="微软雅黑"/>
            </a:endParaRPr>
          </a:p>
          <a:p>
            <a:pPr marL="756285" marR="5080" indent="-287020">
              <a:lnSpc>
                <a:spcPct val="131700"/>
              </a:lnSpc>
              <a:spcBef>
                <a:spcPts val="67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这些合约条款能否实现，主要视交易双方的谈判地位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、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交易双方的市场控制能力和影响力、以及产品市场上 的竞争激烈程度而定。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0188" y="651764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交易风</a:t>
            </a:r>
            <a:r>
              <a:rPr dirty="0" spc="-20"/>
              <a:t>险</a:t>
            </a:r>
            <a:r>
              <a:rPr dirty="0" spc="5"/>
              <a:t>及</a:t>
            </a:r>
            <a:r>
              <a:rPr dirty="0" spc="-20"/>
              <a:t>其</a:t>
            </a:r>
            <a:r>
              <a:rPr dirty="0" spc="5"/>
              <a:t>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1596" y="1479015"/>
            <a:ext cx="7538720" cy="3979545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2800" spc="-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基于合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约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安排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的交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易风险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管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理工具</a:t>
            </a:r>
            <a:endParaRPr sz="2800">
              <a:latin typeface="微软雅黑"/>
              <a:cs typeface="微软雅黑"/>
            </a:endParaRPr>
          </a:p>
          <a:p>
            <a:pPr marL="417830">
              <a:lnSpc>
                <a:spcPct val="100000"/>
              </a:lnSpc>
              <a:spcBef>
                <a:spcPts val="42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通过结算货币的选择对交易风险进行套期保值</a:t>
            </a:r>
            <a:endParaRPr sz="2400">
              <a:latin typeface="微软雅黑"/>
              <a:cs typeface="微软雅黑"/>
            </a:endParaRPr>
          </a:p>
          <a:p>
            <a:pPr marL="1024255" marR="158115" indent="-201295">
              <a:lnSpc>
                <a:spcPts val="2160"/>
              </a:lnSpc>
              <a:spcBef>
                <a:spcPts val="480"/>
              </a:spcBef>
              <a:buClr>
                <a:srgbClr val="FF6600"/>
              </a:buClr>
              <a:buFont typeface="Wingdings"/>
              <a:buChar char=""/>
              <a:tabLst>
                <a:tab pos="102489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通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过采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用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本国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货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币进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行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结算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，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企业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可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以将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外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汇交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易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风险进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行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转移</a:t>
            </a:r>
            <a:endParaRPr sz="2000">
              <a:latin typeface="微软雅黑"/>
              <a:cs typeface="微软雅黑"/>
            </a:endParaRPr>
          </a:p>
          <a:p>
            <a:pPr lvl="1" marL="1429385" marR="5080" indent="-204470">
              <a:lnSpc>
                <a:spcPts val="2160"/>
              </a:lnSpc>
              <a:spcBef>
                <a:spcPts val="480"/>
              </a:spcBef>
              <a:buClr>
                <a:srgbClr val="FF6600"/>
              </a:buClr>
              <a:buSzPct val="95000"/>
              <a:buFont typeface="Wingdings"/>
              <a:buChar char="►"/>
              <a:tabLst>
                <a:tab pos="143002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该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美国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公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司可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以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完全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避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免其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所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面临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的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交易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风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险，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如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果</a:t>
            </a:r>
            <a:r>
              <a:rPr dirty="0" sz="2000" spc="-1595" b="1">
                <a:solidFill>
                  <a:srgbClr val="FFFFFF"/>
                </a:solidFill>
                <a:latin typeface="微软雅黑"/>
                <a:cs typeface="微软雅黑"/>
              </a:rPr>
              <a:t>欧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洲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公司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同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意美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国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公司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按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美元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价销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售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其产品</a:t>
            </a:r>
            <a:endParaRPr sz="2000">
              <a:latin typeface="微软雅黑"/>
              <a:cs typeface="微软雅黑"/>
            </a:endParaRPr>
          </a:p>
          <a:p>
            <a:pPr lvl="1" marL="1429385" marR="90170" indent="-204470">
              <a:lnSpc>
                <a:spcPts val="2260"/>
              </a:lnSpc>
              <a:spcBef>
                <a:spcPts val="305"/>
              </a:spcBef>
              <a:buClr>
                <a:srgbClr val="FF6600"/>
              </a:buClr>
              <a:buSzPct val="95000"/>
              <a:buFont typeface="Wingdings"/>
              <a:buChar char="►"/>
              <a:tabLst>
                <a:tab pos="1430020" algn="l"/>
              </a:tabLst>
            </a:pP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[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思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考</a:t>
            </a:r>
            <a:r>
              <a:rPr dirty="0" sz="2000" spc="-25" b="1">
                <a:solidFill>
                  <a:srgbClr val="FFFFFF"/>
                </a:solidFill>
                <a:latin typeface="Arial"/>
                <a:cs typeface="Arial"/>
              </a:rPr>
              <a:t>]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参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考前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面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的示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例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，此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时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所成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交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的美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元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价格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应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该</a:t>
            </a:r>
            <a:r>
              <a:rPr dirty="0" sz="2000" spc="-1585" b="1">
                <a:solidFill>
                  <a:srgbClr val="FFFFFF"/>
                </a:solidFill>
                <a:latin typeface="微软雅黑"/>
                <a:cs typeface="微软雅黑"/>
              </a:rPr>
              <a:t>是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多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少？</a:t>
            </a:r>
            <a:endParaRPr sz="2000">
              <a:latin typeface="微软雅黑"/>
              <a:cs typeface="微软雅黑"/>
            </a:endParaRPr>
          </a:p>
          <a:p>
            <a:pPr algn="just" marL="1024255" marR="86995" indent="-201295">
              <a:lnSpc>
                <a:spcPct val="88000"/>
              </a:lnSpc>
              <a:spcBef>
                <a:spcPts val="470"/>
              </a:spcBef>
              <a:buClr>
                <a:srgbClr val="FF6600"/>
              </a:buClr>
              <a:buFont typeface="Wingdings"/>
              <a:buChar char=""/>
              <a:tabLst>
                <a:tab pos="102489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部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分交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易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金额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用本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国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货币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进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行结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算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，部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分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交易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金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额采用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外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国货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币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进行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结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算，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可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以</a:t>
            </a:r>
            <a:r>
              <a:rPr dirty="0" sz="2000" spc="-95" b="1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将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笔交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易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中的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全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部外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风险在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交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易双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方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之间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做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一个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分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摊。</a:t>
            </a:r>
            <a:endParaRPr sz="2000">
              <a:latin typeface="微软雅黑"/>
              <a:cs typeface="微软雅黑"/>
            </a:endParaRPr>
          </a:p>
          <a:p>
            <a:pPr marL="1024255" indent="-201930">
              <a:lnSpc>
                <a:spcPct val="100000"/>
              </a:lnSpc>
              <a:spcBef>
                <a:spcPts val="335"/>
              </a:spcBef>
              <a:buClr>
                <a:srgbClr val="FF6600"/>
              </a:buClr>
              <a:buFont typeface="Wingdings"/>
              <a:buChar char=""/>
              <a:tabLst>
                <a:tab pos="102489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用市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场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货币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篮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指数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（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如特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别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提款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权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）可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以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分散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外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汇风险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3235" y="639572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交易风</a:t>
            </a:r>
            <a:r>
              <a:rPr dirty="0" spc="-20"/>
              <a:t>险</a:t>
            </a:r>
            <a:r>
              <a:rPr dirty="0" spc="5"/>
              <a:t>及</a:t>
            </a:r>
            <a:r>
              <a:rPr dirty="0" spc="-20"/>
              <a:t>其</a:t>
            </a:r>
            <a:r>
              <a:rPr dirty="0" spc="5"/>
              <a:t>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555246"/>
            <a:ext cx="8322309" cy="4382135"/>
          </a:xfrm>
          <a:prstGeom prst="rect">
            <a:avLst/>
          </a:prstGeom>
        </p:spPr>
        <p:txBody>
          <a:bodyPr wrap="square" lIns="0" tIns="2438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基于合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约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安排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的交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易风险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管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理工具</a:t>
            </a:r>
            <a:endParaRPr sz="2800">
              <a:latin typeface="微软雅黑"/>
              <a:cs typeface="微软雅黑"/>
            </a:endParaRPr>
          </a:p>
          <a:p>
            <a:pPr marL="469265">
              <a:lnSpc>
                <a:spcPct val="100000"/>
              </a:lnSpc>
              <a:spcBef>
                <a:spcPts val="155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通过汇率调整条款进行交易风险的套期保值</a:t>
            </a:r>
            <a:endParaRPr sz="2400">
              <a:latin typeface="微软雅黑"/>
              <a:cs typeface="微软雅黑"/>
            </a:endParaRPr>
          </a:p>
          <a:p>
            <a:pPr algn="just" marL="1155700" marR="300355" indent="-228600">
              <a:lnSpc>
                <a:spcPct val="136500"/>
              </a:lnSpc>
              <a:spcBef>
                <a:spcPts val="775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在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合约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中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明确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规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定在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不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同的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到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期日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现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汇汇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水平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下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交易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双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方应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适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用的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结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算汇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水平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，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从而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实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现对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交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易风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险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进行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分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摊或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限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制的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目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的。</a:t>
            </a:r>
            <a:endParaRPr sz="2000">
              <a:latin typeface="微软雅黑"/>
              <a:cs typeface="微软雅黑"/>
            </a:endParaRPr>
          </a:p>
          <a:p>
            <a:pPr marL="1155700" marR="5080" indent="-228600">
              <a:lnSpc>
                <a:spcPct val="142300"/>
              </a:lnSpc>
              <a:spcBef>
                <a:spcPts val="425"/>
              </a:spcBef>
              <a:buClr>
                <a:srgbClr val="FF6600"/>
              </a:buClr>
              <a:buFont typeface="Wingdings"/>
              <a:buChar char=""/>
              <a:tabLst>
                <a:tab pos="1226185" algn="l"/>
              </a:tabLst>
            </a:pPr>
            <a:r>
              <a:rPr dirty="0"/>
              <a:t>	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[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例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]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一家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美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国公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司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当前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销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售</a:t>
            </a:r>
            <a:r>
              <a:rPr dirty="0" sz="2000" spc="-15" b="1">
                <a:solidFill>
                  <a:srgbClr val="FFFFFF"/>
                </a:solidFill>
                <a:latin typeface="Arial"/>
                <a:cs typeface="Arial"/>
              </a:rPr>
              <a:t>1000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万欧元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的产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品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给一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家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欧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洲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公司， 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个月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后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付款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。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当前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欧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元的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现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汇汇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率是</a:t>
            </a:r>
            <a:r>
              <a:rPr dirty="0" sz="2000" spc="-35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美元</a:t>
            </a:r>
            <a:r>
              <a:rPr dirty="0" sz="2000" spc="-35" b="1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欧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元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，三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月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期的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远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期汇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率为</a:t>
            </a:r>
            <a:r>
              <a:rPr dirty="0" sz="2000" spc="-15" b="1">
                <a:solidFill>
                  <a:srgbClr val="FFFFFF"/>
                </a:solidFill>
                <a:latin typeface="Arial"/>
                <a:cs typeface="Arial"/>
              </a:rPr>
              <a:t>0.980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美元</a:t>
            </a:r>
            <a:r>
              <a:rPr dirty="0" sz="2000" spc="-35" b="1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欧元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。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此时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，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交易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双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方可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以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通过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谈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判， 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订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立如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下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两种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率调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整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条款：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3235" y="639572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交易风</a:t>
            </a:r>
            <a:r>
              <a:rPr dirty="0" spc="-20"/>
              <a:t>险</a:t>
            </a:r>
            <a:r>
              <a:rPr dirty="0" spc="5"/>
              <a:t>及</a:t>
            </a:r>
            <a:r>
              <a:rPr dirty="0" spc="-20"/>
              <a:t>其</a:t>
            </a:r>
            <a:r>
              <a:rPr dirty="0" spc="5"/>
              <a:t>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542657"/>
            <a:ext cx="8279765" cy="5028565"/>
          </a:xfrm>
          <a:prstGeom prst="rect">
            <a:avLst/>
          </a:prstGeom>
        </p:spPr>
        <p:txBody>
          <a:bodyPr wrap="square" lIns="0" tIns="2044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10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基于合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约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安排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的交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易风险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管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理工具</a:t>
            </a:r>
            <a:endParaRPr sz="2800">
              <a:latin typeface="微软雅黑"/>
              <a:cs typeface="微软雅黑"/>
            </a:endParaRPr>
          </a:p>
          <a:p>
            <a:pPr marL="469265">
              <a:lnSpc>
                <a:spcPct val="100000"/>
              </a:lnSpc>
              <a:spcBef>
                <a:spcPts val="129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通过汇率调整条款进行交易风险的套期保值</a:t>
            </a:r>
            <a:endParaRPr sz="2400">
              <a:latin typeface="微软雅黑"/>
              <a:cs typeface="微软雅黑"/>
            </a:endParaRPr>
          </a:p>
          <a:p>
            <a:pPr marL="1155700" marR="257810" indent="-228600">
              <a:lnSpc>
                <a:spcPct val="125000"/>
              </a:lnSpc>
              <a:spcBef>
                <a:spcPts val="350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第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一种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，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交易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双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方约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定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，到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期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日现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汇率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大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于等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于</a:t>
            </a:r>
            <a:r>
              <a:rPr dirty="0" sz="2000" spc="-15" b="1">
                <a:solidFill>
                  <a:srgbClr val="FFFFFF"/>
                </a:solidFill>
                <a:latin typeface="Arial"/>
                <a:cs typeface="Arial"/>
              </a:rPr>
              <a:t>0.96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美元</a:t>
            </a:r>
            <a:r>
              <a:rPr dirty="0" sz="2000" spc="-5" b="1">
                <a:solidFill>
                  <a:srgbClr val="FFFFFF"/>
                </a:solidFill>
                <a:latin typeface="Arial"/>
                <a:cs typeface="Arial"/>
              </a:rPr>
              <a:t>/ 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欧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元，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但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小于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等于</a:t>
            </a:r>
            <a:r>
              <a:rPr dirty="0" sz="2000" spc="-15" b="1">
                <a:solidFill>
                  <a:srgbClr val="FFFFFF"/>
                </a:solidFill>
                <a:latin typeface="Arial"/>
                <a:cs typeface="Arial"/>
              </a:rPr>
              <a:t>1.04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美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元</a:t>
            </a:r>
            <a:r>
              <a:rPr dirty="0" sz="2000" spc="-35" b="1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欧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元时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，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结算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率仍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然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采用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合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约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订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立日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的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当前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现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汇汇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率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美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元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欧元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；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到期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日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现汇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率大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于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1.04 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美元</a:t>
            </a:r>
            <a:r>
              <a:rPr dirty="0" sz="2000" spc="-35" b="1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欧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元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时，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欧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元升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值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，出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口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方存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在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很大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的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利益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，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此时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，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出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口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方要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出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让一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部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分利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益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（如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dirty="0" sz="2000" spc="10" b="1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dirty="0" sz="2000" spc="-30" b="1">
                <a:solidFill>
                  <a:srgbClr val="FFFFFF"/>
                </a:solidFill>
                <a:latin typeface="Arial"/>
                <a:cs typeface="Arial"/>
              </a:rPr>
              <a:t>%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）以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弥补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进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口方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的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损失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，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此时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的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结算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率比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到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期日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现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汇汇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要小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；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到期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日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现汇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率小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于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0.96 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美元</a:t>
            </a:r>
            <a:r>
              <a:rPr dirty="0" sz="2000" spc="-35" b="1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欧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元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时，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欧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元贬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值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，出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口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方存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在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较大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损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失，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此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时，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出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口</a:t>
            </a:r>
            <a:endParaRPr sz="2000">
              <a:latin typeface="微软雅黑"/>
              <a:cs typeface="微软雅黑"/>
            </a:endParaRPr>
          </a:p>
          <a:p>
            <a:pPr marL="1155700" marR="5080">
              <a:lnSpc>
                <a:spcPct val="125000"/>
              </a:lnSpc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方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可以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从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进口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方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获得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部分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利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益（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如</a:t>
            </a:r>
            <a:r>
              <a:rPr dirty="0" sz="2000" spc="-15" b="1">
                <a:solidFill>
                  <a:srgbClr val="FFFFFF"/>
                </a:solidFill>
                <a:latin typeface="Arial"/>
                <a:cs typeface="Arial"/>
              </a:rPr>
              <a:t>50%</a:t>
            </a:r>
            <a:r>
              <a:rPr dirty="0" sz="2000" spc="-15" b="1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以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弥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补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自身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的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损失， 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此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时的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结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算汇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比到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期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日现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汇率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要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大。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这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种汇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调整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条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款把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交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易双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方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的汇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风险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做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了分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摊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3235" y="639572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交易风</a:t>
            </a:r>
            <a:r>
              <a:rPr dirty="0" spc="-20"/>
              <a:t>险</a:t>
            </a:r>
            <a:r>
              <a:rPr dirty="0" spc="5"/>
              <a:t>及</a:t>
            </a:r>
            <a:r>
              <a:rPr dirty="0" spc="-20"/>
              <a:t>其</a:t>
            </a:r>
            <a:r>
              <a:rPr dirty="0" spc="5"/>
              <a:t>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555155"/>
            <a:ext cx="6786245" cy="132461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基于合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约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安排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的交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易风险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管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理工具</a:t>
            </a:r>
            <a:endParaRPr sz="2800">
              <a:latin typeface="微软雅黑"/>
              <a:cs typeface="微软雅黑"/>
            </a:endParaRPr>
          </a:p>
          <a:p>
            <a:pPr marL="469265">
              <a:lnSpc>
                <a:spcPct val="100000"/>
              </a:lnSpc>
              <a:spcBef>
                <a:spcPts val="56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通过汇率调整条款进行交易风险的套期保值</a:t>
            </a:r>
            <a:endParaRPr sz="2400">
              <a:latin typeface="微软雅黑"/>
              <a:cs typeface="微软雅黑"/>
            </a:endParaRPr>
          </a:p>
          <a:p>
            <a:pPr marL="1155700" indent="-228600">
              <a:lnSpc>
                <a:spcPct val="100000"/>
              </a:lnSpc>
              <a:spcBef>
                <a:spcPts val="355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设结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算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汇率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为</a:t>
            </a:r>
            <a:r>
              <a:rPr dirty="0" sz="2000" spc="-15" b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dirty="0" sz="2000" spc="-15" b="1">
                <a:solidFill>
                  <a:srgbClr val="FFFFFF"/>
                </a:solidFill>
                <a:latin typeface="微软雅黑"/>
                <a:cs typeface="微软雅黑"/>
              </a:rPr>
              <a:t>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到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期日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现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汇汇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率为</a:t>
            </a:r>
            <a:r>
              <a:rPr dirty="0" sz="2000" spc="-15" b="1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dirty="0" sz="2000" spc="-15" b="1">
                <a:solidFill>
                  <a:srgbClr val="FFFFFF"/>
                </a:solidFill>
                <a:latin typeface="微软雅黑"/>
                <a:cs typeface="微软雅黑"/>
              </a:rPr>
              <a:t>，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我们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有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：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19291" y="2857297"/>
            <a:ext cx="1840864" cy="1116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7945">
              <a:lnSpc>
                <a:spcPct val="119000"/>
              </a:lnSpc>
              <a:spcBef>
                <a:spcPts val="100"/>
              </a:spcBef>
            </a:pPr>
            <a:r>
              <a:rPr dirty="0" sz="2000" spc="-15" b="1">
                <a:solidFill>
                  <a:srgbClr val="FFFFFF"/>
                </a:solidFill>
                <a:latin typeface="Arial"/>
                <a:cs typeface="Arial"/>
              </a:rPr>
              <a:t>y=1  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dirty="0" sz="2000" spc="-20" b="1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x­0.5(x</a:t>
            </a:r>
            <a:r>
              <a:rPr dirty="0" sz="2000" spc="5" b="1">
                <a:solidFill>
                  <a:srgbClr val="FFFFFF"/>
                </a:solidFill>
                <a:latin typeface="Arial"/>
                <a:cs typeface="Arial"/>
              </a:rPr>
              <a:t>­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dirty="0" sz="2000" spc="10" b="1">
                <a:solidFill>
                  <a:srgbClr val="FFFFFF"/>
                </a:solidFill>
                <a:latin typeface="Arial"/>
                <a:cs typeface="Arial"/>
              </a:rPr>
              <a:t>.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04)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y=x+0.5(0.96­x)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70485" rIns="0" bIns="0" rtlCol="0" vert="horz">
            <a:spAutoFit/>
          </a:bodyPr>
          <a:lstStyle/>
          <a:p>
            <a:pPr marL="698500" indent="-228600">
              <a:lnSpc>
                <a:spcPct val="100000"/>
              </a:lnSpc>
              <a:spcBef>
                <a:spcPts val="555"/>
              </a:spcBef>
              <a:buClr>
                <a:srgbClr val="FF6600"/>
              </a:buClr>
              <a:buFont typeface="Wingdings"/>
              <a:buChar char="►"/>
              <a:tabLst>
                <a:tab pos="698500" algn="l"/>
              </a:tabLst>
            </a:pPr>
            <a:r>
              <a:rPr dirty="0" spc="80"/>
              <a:t>0.96</a:t>
            </a:r>
            <a:r>
              <a:rPr dirty="0" spc="80">
                <a:latin typeface="微软雅黑"/>
                <a:cs typeface="微软雅黑"/>
              </a:rPr>
              <a:t>≤</a:t>
            </a:r>
            <a:r>
              <a:rPr dirty="0" spc="80"/>
              <a:t>x</a:t>
            </a:r>
            <a:r>
              <a:rPr dirty="0" spc="80">
                <a:latin typeface="微软雅黑"/>
                <a:cs typeface="微软雅黑"/>
              </a:rPr>
              <a:t>≤</a:t>
            </a:r>
            <a:r>
              <a:rPr dirty="0" spc="80"/>
              <a:t>1.04</a:t>
            </a:r>
            <a:r>
              <a:rPr dirty="0" spc="-10">
                <a:latin typeface="微软雅黑"/>
                <a:cs typeface="微软雅黑"/>
              </a:rPr>
              <a:t>时</a:t>
            </a:r>
          </a:p>
          <a:p>
            <a:pPr marL="698500" indent="-228600">
              <a:lnSpc>
                <a:spcPct val="100000"/>
              </a:lnSpc>
              <a:spcBef>
                <a:spcPts val="455"/>
              </a:spcBef>
              <a:buClr>
                <a:srgbClr val="FF6600"/>
              </a:buClr>
              <a:buFont typeface="Wingdings"/>
              <a:buChar char="►"/>
              <a:tabLst>
                <a:tab pos="698500" algn="l"/>
              </a:tabLst>
            </a:pPr>
            <a:r>
              <a:rPr dirty="0" spc="-10"/>
              <a:t>x</a:t>
            </a:r>
            <a:r>
              <a:rPr dirty="0" spc="-20"/>
              <a:t>&gt;</a:t>
            </a:r>
            <a:r>
              <a:rPr dirty="0" spc="-10"/>
              <a:t>1.</a:t>
            </a:r>
            <a:r>
              <a:rPr dirty="0" spc="10"/>
              <a:t>0</a:t>
            </a:r>
            <a:r>
              <a:rPr dirty="0" spc="-10"/>
              <a:t>4</a:t>
            </a:r>
            <a:r>
              <a:rPr dirty="0" spc="-10">
                <a:latin typeface="微软雅黑"/>
                <a:cs typeface="微软雅黑"/>
              </a:rPr>
              <a:t>时</a:t>
            </a:r>
          </a:p>
          <a:p>
            <a:pPr marL="698500" indent="-228600">
              <a:lnSpc>
                <a:spcPct val="100000"/>
              </a:lnSpc>
              <a:spcBef>
                <a:spcPts val="480"/>
              </a:spcBef>
              <a:buClr>
                <a:srgbClr val="FF6600"/>
              </a:buClr>
              <a:buFont typeface="Wingdings"/>
              <a:buChar char="►"/>
              <a:tabLst>
                <a:tab pos="698500" algn="l"/>
              </a:tabLst>
            </a:pPr>
            <a:r>
              <a:rPr dirty="0" spc="-10"/>
              <a:t>x</a:t>
            </a:r>
            <a:r>
              <a:rPr dirty="0" spc="-20"/>
              <a:t>&lt;</a:t>
            </a:r>
            <a:r>
              <a:rPr dirty="0" spc="-10"/>
              <a:t>0.</a:t>
            </a:r>
            <a:r>
              <a:rPr dirty="0" spc="10"/>
              <a:t>9</a:t>
            </a:r>
            <a:r>
              <a:rPr dirty="0" spc="-10"/>
              <a:t>6</a:t>
            </a:r>
            <a:r>
              <a:rPr dirty="0" spc="-10">
                <a:latin typeface="微软雅黑"/>
                <a:cs typeface="微软雅黑"/>
              </a:rPr>
              <a:t>时</a:t>
            </a:r>
          </a:p>
          <a:p>
            <a:pPr marL="2413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Wingdings"/>
              <a:buChar char=""/>
              <a:tabLst>
                <a:tab pos="241300" algn="l"/>
              </a:tabLst>
            </a:pPr>
            <a:r>
              <a:rPr dirty="0" spc="10">
                <a:latin typeface="微软雅黑"/>
                <a:cs typeface="微软雅黑"/>
              </a:rPr>
              <a:t>进</a:t>
            </a:r>
            <a:r>
              <a:rPr dirty="0" spc="-10">
                <a:latin typeface="微软雅黑"/>
                <a:cs typeface="微软雅黑"/>
              </a:rPr>
              <a:t>口商</a:t>
            </a:r>
            <a:r>
              <a:rPr dirty="0" spc="10">
                <a:latin typeface="微软雅黑"/>
                <a:cs typeface="微软雅黑"/>
              </a:rPr>
              <a:t>实</a:t>
            </a:r>
            <a:r>
              <a:rPr dirty="0" spc="-10">
                <a:latin typeface="微软雅黑"/>
                <a:cs typeface="微软雅黑"/>
              </a:rPr>
              <a:t>际支</a:t>
            </a:r>
            <a:r>
              <a:rPr dirty="0" spc="10">
                <a:latin typeface="微软雅黑"/>
                <a:cs typeface="微软雅黑"/>
              </a:rPr>
              <a:t>付</a:t>
            </a:r>
            <a:r>
              <a:rPr dirty="0" spc="-10">
                <a:latin typeface="微软雅黑"/>
                <a:cs typeface="微软雅黑"/>
              </a:rPr>
              <a:t>的欧</a:t>
            </a:r>
            <a:r>
              <a:rPr dirty="0" spc="10">
                <a:latin typeface="微软雅黑"/>
                <a:cs typeface="微软雅黑"/>
              </a:rPr>
              <a:t>元</a:t>
            </a:r>
            <a:r>
              <a:rPr dirty="0" spc="-10">
                <a:latin typeface="微软雅黑"/>
                <a:cs typeface="微软雅黑"/>
              </a:rPr>
              <a:t>金额</a:t>
            </a:r>
            <a:r>
              <a:rPr dirty="0" spc="10">
                <a:latin typeface="微软雅黑"/>
                <a:cs typeface="微软雅黑"/>
              </a:rPr>
              <a:t>为</a:t>
            </a:r>
            <a:r>
              <a:rPr dirty="0" spc="-10">
                <a:latin typeface="微软雅黑"/>
                <a:cs typeface="微软雅黑"/>
              </a:rPr>
              <a:t>：</a:t>
            </a:r>
          </a:p>
          <a:p>
            <a:pPr lvl="1" marL="698500" indent="-228600">
              <a:lnSpc>
                <a:spcPct val="100000"/>
              </a:lnSpc>
              <a:spcBef>
                <a:spcPts val="360"/>
              </a:spcBef>
              <a:buClr>
                <a:srgbClr val="FF6600"/>
              </a:buClr>
              <a:buFont typeface="Wingdings"/>
              <a:buChar char="►"/>
              <a:tabLst>
                <a:tab pos="698500" algn="l"/>
              </a:tabLst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(1000y)/x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Wingdings"/>
              <a:buChar char=""/>
              <a:tabLst>
                <a:tab pos="241300" algn="l"/>
              </a:tabLst>
            </a:pPr>
            <a:r>
              <a:rPr dirty="0" spc="10">
                <a:latin typeface="微软雅黑"/>
                <a:cs typeface="微软雅黑"/>
              </a:rPr>
              <a:t>出</a:t>
            </a:r>
            <a:r>
              <a:rPr dirty="0" spc="-10">
                <a:latin typeface="微软雅黑"/>
                <a:cs typeface="微软雅黑"/>
              </a:rPr>
              <a:t>口商</a:t>
            </a:r>
            <a:r>
              <a:rPr dirty="0" spc="10">
                <a:latin typeface="微软雅黑"/>
                <a:cs typeface="微软雅黑"/>
              </a:rPr>
              <a:t>实</a:t>
            </a:r>
            <a:r>
              <a:rPr dirty="0" spc="-10">
                <a:latin typeface="微软雅黑"/>
                <a:cs typeface="微软雅黑"/>
              </a:rPr>
              <a:t>际获</a:t>
            </a:r>
            <a:r>
              <a:rPr dirty="0" spc="10">
                <a:latin typeface="微软雅黑"/>
                <a:cs typeface="微软雅黑"/>
              </a:rPr>
              <a:t>得</a:t>
            </a:r>
            <a:r>
              <a:rPr dirty="0" spc="-10">
                <a:latin typeface="微软雅黑"/>
                <a:cs typeface="微软雅黑"/>
              </a:rPr>
              <a:t>的美</a:t>
            </a:r>
            <a:r>
              <a:rPr dirty="0" spc="10">
                <a:latin typeface="微软雅黑"/>
                <a:cs typeface="微软雅黑"/>
              </a:rPr>
              <a:t>圆</a:t>
            </a:r>
            <a:r>
              <a:rPr dirty="0" spc="-10">
                <a:latin typeface="微软雅黑"/>
                <a:cs typeface="微软雅黑"/>
              </a:rPr>
              <a:t>金额</a:t>
            </a:r>
            <a:r>
              <a:rPr dirty="0" spc="10">
                <a:latin typeface="微软雅黑"/>
                <a:cs typeface="微软雅黑"/>
              </a:rPr>
              <a:t>为</a:t>
            </a:r>
            <a:r>
              <a:rPr dirty="0" spc="-10">
                <a:latin typeface="微软雅黑"/>
                <a:cs typeface="微软雅黑"/>
              </a:rPr>
              <a:t>：</a:t>
            </a:r>
          </a:p>
          <a:p>
            <a:pPr lvl="1" marL="698500" indent="-228600">
              <a:lnSpc>
                <a:spcPct val="100000"/>
              </a:lnSpc>
              <a:spcBef>
                <a:spcPts val="340"/>
              </a:spcBef>
              <a:buClr>
                <a:srgbClr val="FF6600"/>
              </a:buClr>
              <a:buFont typeface="Wingdings"/>
              <a:buChar char="►"/>
              <a:tabLst>
                <a:tab pos="698500" algn="l"/>
              </a:tabLst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1000y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3235" y="639572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交易风</a:t>
            </a:r>
            <a:r>
              <a:rPr dirty="0" spc="-20"/>
              <a:t>险</a:t>
            </a:r>
            <a:r>
              <a:rPr dirty="0" spc="5"/>
              <a:t>及</a:t>
            </a:r>
            <a:r>
              <a:rPr dirty="0" spc="-20"/>
              <a:t>其</a:t>
            </a:r>
            <a:r>
              <a:rPr dirty="0" spc="5"/>
              <a:t>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539152"/>
            <a:ext cx="8081645" cy="4852035"/>
          </a:xfrm>
          <a:prstGeom prst="rect">
            <a:avLst/>
          </a:prstGeom>
        </p:spPr>
        <p:txBody>
          <a:bodyPr wrap="square" lIns="0" tIns="186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基于合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约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安排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的交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易风险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管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理工具</a:t>
            </a:r>
            <a:endParaRPr sz="2800">
              <a:latin typeface="微软雅黑"/>
              <a:cs typeface="微软雅黑"/>
            </a:endParaRPr>
          </a:p>
          <a:p>
            <a:pPr marL="469265">
              <a:lnSpc>
                <a:spcPct val="100000"/>
              </a:lnSpc>
              <a:spcBef>
                <a:spcPts val="117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通过汇率调整条款进行交易风险的套期保值</a:t>
            </a:r>
            <a:endParaRPr sz="2400">
              <a:latin typeface="微软雅黑"/>
              <a:cs typeface="微软雅黑"/>
            </a:endParaRPr>
          </a:p>
          <a:p>
            <a:pPr marL="1155700" marR="5080" indent="-228600">
              <a:lnSpc>
                <a:spcPct val="119800"/>
              </a:lnSpc>
              <a:spcBef>
                <a:spcPts val="355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第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二种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，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交易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双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方约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定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，到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期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日现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汇率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大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于等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于</a:t>
            </a:r>
            <a:r>
              <a:rPr dirty="0" sz="2000" spc="-15" b="1">
                <a:solidFill>
                  <a:srgbClr val="FFFFFF"/>
                </a:solidFill>
                <a:latin typeface="Arial"/>
                <a:cs typeface="Arial"/>
              </a:rPr>
              <a:t>0.96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美元</a:t>
            </a:r>
            <a:r>
              <a:rPr dirty="0" sz="2000" spc="-5" b="1">
                <a:solidFill>
                  <a:srgbClr val="FFFFFF"/>
                </a:solidFill>
                <a:latin typeface="Arial"/>
                <a:cs typeface="Arial"/>
              </a:rPr>
              <a:t>/ 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欧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元，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但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小于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等于</a:t>
            </a:r>
            <a:r>
              <a:rPr dirty="0" sz="2000" spc="-15" b="1">
                <a:solidFill>
                  <a:srgbClr val="FFFFFF"/>
                </a:solidFill>
                <a:latin typeface="Arial"/>
                <a:cs typeface="Arial"/>
              </a:rPr>
              <a:t>1.04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美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元</a:t>
            </a:r>
            <a:r>
              <a:rPr dirty="0" sz="2000" spc="-35" b="1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欧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元时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，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结算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率采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用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到期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日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的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现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汇汇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，不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做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调整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；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到期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日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现汇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率大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于</a:t>
            </a:r>
            <a:r>
              <a:rPr dirty="0" sz="2000" spc="-15" b="1">
                <a:solidFill>
                  <a:srgbClr val="FFFFFF"/>
                </a:solidFill>
                <a:latin typeface="Arial"/>
                <a:cs typeface="Arial"/>
              </a:rPr>
              <a:t>1.04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美元</a:t>
            </a:r>
            <a:r>
              <a:rPr dirty="0" sz="2000" spc="-35" b="1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欧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元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时， 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欧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元升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值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，出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口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方存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在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很大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的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利益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，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此时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的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结算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率锁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定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在 </a:t>
            </a:r>
            <a:r>
              <a:rPr dirty="0" sz="2000" spc="-15" b="1">
                <a:solidFill>
                  <a:srgbClr val="FFFFFF"/>
                </a:solidFill>
                <a:latin typeface="Arial"/>
                <a:cs typeface="Arial"/>
              </a:rPr>
              <a:t>1.04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美元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欧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元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；到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期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日现汇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率小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于</a:t>
            </a:r>
            <a:r>
              <a:rPr dirty="0" sz="2000" spc="-15" b="1">
                <a:solidFill>
                  <a:srgbClr val="FFFFFF"/>
                </a:solidFill>
                <a:latin typeface="Arial"/>
                <a:cs typeface="Arial"/>
              </a:rPr>
              <a:t>0.96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美元</a:t>
            </a:r>
            <a:r>
              <a:rPr dirty="0" sz="2000" spc="-35" b="1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欧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元时，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欧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元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贬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值，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出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口方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存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在较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大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损失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，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此时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的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结算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率锁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定在</a:t>
            </a:r>
            <a:r>
              <a:rPr dirty="0" sz="2000" spc="-20" b="1">
                <a:solidFill>
                  <a:srgbClr val="FFFFFF"/>
                </a:solidFill>
                <a:latin typeface="Arial"/>
                <a:cs typeface="Arial"/>
              </a:rPr>
              <a:t>0.96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美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元</a:t>
            </a:r>
            <a:endParaRPr sz="2000">
              <a:latin typeface="微软雅黑"/>
              <a:cs typeface="微软雅黑"/>
            </a:endParaRPr>
          </a:p>
          <a:p>
            <a:pPr marL="1155700">
              <a:lnSpc>
                <a:spcPct val="100000"/>
              </a:lnSpc>
              <a:spcBef>
                <a:spcPts val="455"/>
              </a:spcBef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欧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元。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这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种汇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调整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条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款把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交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易双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方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的交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易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风险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限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制在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定</a:t>
            </a:r>
            <a:endParaRPr sz="2000">
              <a:latin typeface="微软雅黑"/>
              <a:cs typeface="微软雅黑"/>
            </a:endParaRPr>
          </a:p>
          <a:p>
            <a:pPr algn="just" marL="1155700" marR="59690">
              <a:lnSpc>
                <a:spcPct val="120000"/>
              </a:lnSpc>
              <a:spcBef>
                <a:spcPts val="120"/>
              </a:spcBef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的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范围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之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内，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此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时，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尽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管出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口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商放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弃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了汇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发生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有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利变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化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的潜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在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收益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，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但是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，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出口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商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也同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时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在汇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发生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不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利变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化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时降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低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了可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能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的潜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在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损失。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3235" y="639572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交易风</a:t>
            </a:r>
            <a:r>
              <a:rPr dirty="0" spc="-20"/>
              <a:t>险</a:t>
            </a:r>
            <a:r>
              <a:rPr dirty="0" spc="5"/>
              <a:t>及</a:t>
            </a:r>
            <a:r>
              <a:rPr dirty="0" spc="-20"/>
              <a:t>其</a:t>
            </a:r>
            <a:r>
              <a:rPr dirty="0" spc="5"/>
              <a:t>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555155"/>
            <a:ext cx="6786245" cy="132461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基于合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约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安排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的交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易风险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管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理工具</a:t>
            </a:r>
            <a:endParaRPr sz="2800">
              <a:latin typeface="微软雅黑"/>
              <a:cs typeface="微软雅黑"/>
            </a:endParaRPr>
          </a:p>
          <a:p>
            <a:pPr marL="469265">
              <a:lnSpc>
                <a:spcPct val="100000"/>
              </a:lnSpc>
              <a:spcBef>
                <a:spcPts val="56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通过汇率调整条款进行交易风险的套期保值</a:t>
            </a:r>
            <a:endParaRPr sz="2400">
              <a:latin typeface="微软雅黑"/>
              <a:cs typeface="微软雅黑"/>
            </a:endParaRPr>
          </a:p>
          <a:p>
            <a:pPr marL="1155700" indent="-228600">
              <a:lnSpc>
                <a:spcPct val="100000"/>
              </a:lnSpc>
              <a:spcBef>
                <a:spcPts val="355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设结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算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汇率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为</a:t>
            </a:r>
            <a:r>
              <a:rPr dirty="0" sz="2000" spc="-15" b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dirty="0" sz="2000" spc="-15" b="1">
                <a:solidFill>
                  <a:srgbClr val="FFFFFF"/>
                </a:solidFill>
                <a:latin typeface="微软雅黑"/>
                <a:cs typeface="微软雅黑"/>
              </a:rPr>
              <a:t>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到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期日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现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汇汇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率为</a:t>
            </a:r>
            <a:r>
              <a:rPr dirty="0" sz="2000" spc="-15" b="1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dirty="0" sz="2000" spc="-15" b="1">
                <a:solidFill>
                  <a:srgbClr val="FFFFFF"/>
                </a:solidFill>
                <a:latin typeface="微软雅黑"/>
                <a:cs typeface="微软雅黑"/>
              </a:rPr>
              <a:t>，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我们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有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：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19291" y="2857297"/>
            <a:ext cx="806450" cy="11169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9500"/>
              </a:lnSpc>
              <a:spcBef>
                <a:spcPts val="90"/>
              </a:spcBef>
            </a:pPr>
            <a:r>
              <a:rPr dirty="0" sz="2000" spc="-15" b="1">
                <a:solidFill>
                  <a:srgbClr val="FFFFFF"/>
                </a:solidFill>
                <a:latin typeface="Arial"/>
                <a:cs typeface="Arial"/>
              </a:rPr>
              <a:t>y=x  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dirty="0" sz="2000" spc="-20" b="1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1.</a:t>
            </a:r>
            <a:r>
              <a:rPr dirty="0" sz="2000" spc="10" b="1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dirty="0" sz="2000" spc="-5" b="1">
                <a:solidFill>
                  <a:srgbClr val="FFFFFF"/>
                </a:solidFill>
                <a:latin typeface="Arial"/>
                <a:cs typeface="Arial"/>
              </a:rPr>
              <a:t>4  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dirty="0" sz="2000" spc="-20" b="1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0.</a:t>
            </a:r>
            <a:r>
              <a:rPr dirty="0" sz="2000" spc="10" b="1">
                <a:solidFill>
                  <a:srgbClr val="FFFFFF"/>
                </a:solidFill>
                <a:latin typeface="Arial"/>
                <a:cs typeface="Arial"/>
              </a:rPr>
              <a:t>9</a:t>
            </a:r>
            <a:r>
              <a:rPr dirty="0" sz="2000" spc="-5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70485" rIns="0" bIns="0" rtlCol="0" vert="horz">
            <a:spAutoFit/>
          </a:bodyPr>
          <a:lstStyle/>
          <a:p>
            <a:pPr marL="698500" indent="-228600">
              <a:lnSpc>
                <a:spcPct val="100000"/>
              </a:lnSpc>
              <a:spcBef>
                <a:spcPts val="555"/>
              </a:spcBef>
              <a:buClr>
                <a:srgbClr val="FF6600"/>
              </a:buClr>
              <a:buFont typeface="Wingdings"/>
              <a:buChar char="►"/>
              <a:tabLst>
                <a:tab pos="698500" algn="l"/>
              </a:tabLst>
            </a:pPr>
            <a:r>
              <a:rPr dirty="0" spc="80"/>
              <a:t>0.96</a:t>
            </a:r>
            <a:r>
              <a:rPr dirty="0" spc="80">
                <a:latin typeface="微软雅黑"/>
                <a:cs typeface="微软雅黑"/>
              </a:rPr>
              <a:t>≤</a:t>
            </a:r>
            <a:r>
              <a:rPr dirty="0" spc="80"/>
              <a:t>x</a:t>
            </a:r>
            <a:r>
              <a:rPr dirty="0" spc="80">
                <a:latin typeface="微软雅黑"/>
                <a:cs typeface="微软雅黑"/>
              </a:rPr>
              <a:t>≤</a:t>
            </a:r>
            <a:r>
              <a:rPr dirty="0" spc="80"/>
              <a:t>1.04</a:t>
            </a:r>
            <a:r>
              <a:rPr dirty="0" spc="-10">
                <a:latin typeface="微软雅黑"/>
                <a:cs typeface="微软雅黑"/>
              </a:rPr>
              <a:t>时</a:t>
            </a:r>
          </a:p>
          <a:p>
            <a:pPr marL="698500" indent="-228600">
              <a:lnSpc>
                <a:spcPct val="100000"/>
              </a:lnSpc>
              <a:spcBef>
                <a:spcPts val="455"/>
              </a:spcBef>
              <a:buClr>
                <a:srgbClr val="FF6600"/>
              </a:buClr>
              <a:buFont typeface="Wingdings"/>
              <a:buChar char="►"/>
              <a:tabLst>
                <a:tab pos="698500" algn="l"/>
              </a:tabLst>
            </a:pPr>
            <a:r>
              <a:rPr dirty="0" spc="-10"/>
              <a:t>x</a:t>
            </a:r>
            <a:r>
              <a:rPr dirty="0" spc="-20"/>
              <a:t>&gt;</a:t>
            </a:r>
            <a:r>
              <a:rPr dirty="0" spc="-10"/>
              <a:t>1.</a:t>
            </a:r>
            <a:r>
              <a:rPr dirty="0" spc="10"/>
              <a:t>0</a:t>
            </a:r>
            <a:r>
              <a:rPr dirty="0" spc="-10"/>
              <a:t>4</a:t>
            </a:r>
            <a:r>
              <a:rPr dirty="0" spc="-10">
                <a:latin typeface="微软雅黑"/>
                <a:cs typeface="微软雅黑"/>
              </a:rPr>
              <a:t>时</a:t>
            </a:r>
          </a:p>
          <a:p>
            <a:pPr marL="698500" indent="-228600">
              <a:lnSpc>
                <a:spcPct val="100000"/>
              </a:lnSpc>
              <a:spcBef>
                <a:spcPts val="480"/>
              </a:spcBef>
              <a:buClr>
                <a:srgbClr val="FF6600"/>
              </a:buClr>
              <a:buFont typeface="Wingdings"/>
              <a:buChar char="►"/>
              <a:tabLst>
                <a:tab pos="698500" algn="l"/>
              </a:tabLst>
            </a:pPr>
            <a:r>
              <a:rPr dirty="0" spc="-10"/>
              <a:t>x</a:t>
            </a:r>
            <a:r>
              <a:rPr dirty="0" spc="-20"/>
              <a:t>&lt;</a:t>
            </a:r>
            <a:r>
              <a:rPr dirty="0" spc="-10"/>
              <a:t>0.</a:t>
            </a:r>
            <a:r>
              <a:rPr dirty="0" spc="10"/>
              <a:t>9</a:t>
            </a:r>
            <a:r>
              <a:rPr dirty="0" spc="-10"/>
              <a:t>6</a:t>
            </a:r>
            <a:r>
              <a:rPr dirty="0" spc="-10">
                <a:latin typeface="微软雅黑"/>
                <a:cs typeface="微软雅黑"/>
              </a:rPr>
              <a:t>时</a:t>
            </a:r>
          </a:p>
          <a:p>
            <a:pPr marL="2413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Wingdings"/>
              <a:buChar char=""/>
              <a:tabLst>
                <a:tab pos="241300" algn="l"/>
              </a:tabLst>
            </a:pPr>
            <a:r>
              <a:rPr dirty="0" spc="10">
                <a:latin typeface="微软雅黑"/>
                <a:cs typeface="微软雅黑"/>
              </a:rPr>
              <a:t>进</a:t>
            </a:r>
            <a:r>
              <a:rPr dirty="0" spc="-10">
                <a:latin typeface="微软雅黑"/>
                <a:cs typeface="微软雅黑"/>
              </a:rPr>
              <a:t>口商</a:t>
            </a:r>
            <a:r>
              <a:rPr dirty="0" spc="10">
                <a:latin typeface="微软雅黑"/>
                <a:cs typeface="微软雅黑"/>
              </a:rPr>
              <a:t>实</a:t>
            </a:r>
            <a:r>
              <a:rPr dirty="0" spc="-10">
                <a:latin typeface="微软雅黑"/>
                <a:cs typeface="微软雅黑"/>
              </a:rPr>
              <a:t>际支</a:t>
            </a:r>
            <a:r>
              <a:rPr dirty="0" spc="10">
                <a:latin typeface="微软雅黑"/>
                <a:cs typeface="微软雅黑"/>
              </a:rPr>
              <a:t>付</a:t>
            </a:r>
            <a:r>
              <a:rPr dirty="0" spc="-10">
                <a:latin typeface="微软雅黑"/>
                <a:cs typeface="微软雅黑"/>
              </a:rPr>
              <a:t>的欧</a:t>
            </a:r>
            <a:r>
              <a:rPr dirty="0" spc="10">
                <a:latin typeface="微软雅黑"/>
                <a:cs typeface="微软雅黑"/>
              </a:rPr>
              <a:t>元</a:t>
            </a:r>
            <a:r>
              <a:rPr dirty="0" spc="-10">
                <a:latin typeface="微软雅黑"/>
                <a:cs typeface="微软雅黑"/>
              </a:rPr>
              <a:t>金额</a:t>
            </a:r>
            <a:r>
              <a:rPr dirty="0" spc="10">
                <a:latin typeface="微软雅黑"/>
                <a:cs typeface="微软雅黑"/>
              </a:rPr>
              <a:t>为</a:t>
            </a:r>
            <a:r>
              <a:rPr dirty="0" spc="-10">
                <a:latin typeface="微软雅黑"/>
                <a:cs typeface="微软雅黑"/>
              </a:rPr>
              <a:t>：</a:t>
            </a:r>
          </a:p>
          <a:p>
            <a:pPr lvl="1" marL="698500" indent="-228600">
              <a:lnSpc>
                <a:spcPct val="100000"/>
              </a:lnSpc>
              <a:spcBef>
                <a:spcPts val="360"/>
              </a:spcBef>
              <a:buClr>
                <a:srgbClr val="FF6600"/>
              </a:buClr>
              <a:buFont typeface="Wingdings"/>
              <a:buChar char="►"/>
              <a:tabLst>
                <a:tab pos="698500" algn="l"/>
              </a:tabLst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(1000y)/x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Wingdings"/>
              <a:buChar char=""/>
              <a:tabLst>
                <a:tab pos="241300" algn="l"/>
              </a:tabLst>
            </a:pPr>
            <a:r>
              <a:rPr dirty="0" spc="10">
                <a:latin typeface="微软雅黑"/>
                <a:cs typeface="微软雅黑"/>
              </a:rPr>
              <a:t>出</a:t>
            </a:r>
            <a:r>
              <a:rPr dirty="0" spc="-10">
                <a:latin typeface="微软雅黑"/>
                <a:cs typeface="微软雅黑"/>
              </a:rPr>
              <a:t>口商</a:t>
            </a:r>
            <a:r>
              <a:rPr dirty="0" spc="10">
                <a:latin typeface="微软雅黑"/>
                <a:cs typeface="微软雅黑"/>
              </a:rPr>
              <a:t>实</a:t>
            </a:r>
            <a:r>
              <a:rPr dirty="0" spc="-10">
                <a:latin typeface="微软雅黑"/>
                <a:cs typeface="微软雅黑"/>
              </a:rPr>
              <a:t>际获</a:t>
            </a:r>
            <a:r>
              <a:rPr dirty="0" spc="10">
                <a:latin typeface="微软雅黑"/>
                <a:cs typeface="微软雅黑"/>
              </a:rPr>
              <a:t>得</a:t>
            </a:r>
            <a:r>
              <a:rPr dirty="0" spc="-10">
                <a:latin typeface="微软雅黑"/>
                <a:cs typeface="微软雅黑"/>
              </a:rPr>
              <a:t>的美</a:t>
            </a:r>
            <a:r>
              <a:rPr dirty="0" spc="10">
                <a:latin typeface="微软雅黑"/>
                <a:cs typeface="微软雅黑"/>
              </a:rPr>
              <a:t>圆</a:t>
            </a:r>
            <a:r>
              <a:rPr dirty="0" spc="-10">
                <a:latin typeface="微软雅黑"/>
                <a:cs typeface="微软雅黑"/>
              </a:rPr>
              <a:t>金额</a:t>
            </a:r>
            <a:r>
              <a:rPr dirty="0" spc="10">
                <a:latin typeface="微软雅黑"/>
                <a:cs typeface="微软雅黑"/>
              </a:rPr>
              <a:t>为</a:t>
            </a:r>
            <a:r>
              <a:rPr dirty="0" spc="-10">
                <a:latin typeface="微软雅黑"/>
                <a:cs typeface="微软雅黑"/>
              </a:rPr>
              <a:t>：</a:t>
            </a:r>
          </a:p>
          <a:p>
            <a:pPr lvl="1" marL="698500" indent="-228600">
              <a:lnSpc>
                <a:spcPct val="100000"/>
              </a:lnSpc>
              <a:spcBef>
                <a:spcPts val="340"/>
              </a:spcBef>
              <a:buClr>
                <a:srgbClr val="FF6600"/>
              </a:buClr>
              <a:buFont typeface="Wingdings"/>
              <a:buChar char="►"/>
              <a:tabLst>
                <a:tab pos="698500" algn="l"/>
              </a:tabLst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1000y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3235" y="639572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交易风</a:t>
            </a:r>
            <a:r>
              <a:rPr dirty="0" spc="-20"/>
              <a:t>险</a:t>
            </a:r>
            <a:r>
              <a:rPr dirty="0" spc="5"/>
              <a:t>及</a:t>
            </a:r>
            <a:r>
              <a:rPr dirty="0" spc="-20"/>
              <a:t>其</a:t>
            </a:r>
            <a:r>
              <a:rPr dirty="0" spc="5"/>
              <a:t>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934972"/>
            <a:ext cx="7792084" cy="2470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基于经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营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调整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的交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易风险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管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理工具</a:t>
            </a:r>
            <a:endParaRPr sz="2800">
              <a:latin typeface="微软雅黑"/>
              <a:cs typeface="微软雅黑"/>
            </a:endParaRPr>
          </a:p>
          <a:p>
            <a:pPr algn="just" marL="756285" marR="5080" indent="-287020">
              <a:lnSpc>
                <a:spcPct val="175000"/>
              </a:lnSpc>
              <a:spcBef>
                <a:spcPts val="76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根据外币的预期汇率变化灵活调整企业的经营政策</a:t>
            </a:r>
            <a:r>
              <a:rPr dirty="0" sz="2400" spc="-65" b="1">
                <a:solidFill>
                  <a:srgbClr val="FFFFFF"/>
                </a:solidFill>
                <a:latin typeface="微软雅黑"/>
                <a:cs typeface="微软雅黑"/>
              </a:rPr>
              <a:t>，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从而减少发生不利变化所可能带来的损失，以及扩大 发生有利变化所可能带来的收益。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3235" y="517652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交易风</a:t>
            </a:r>
            <a:r>
              <a:rPr dirty="0" spc="-20"/>
              <a:t>险</a:t>
            </a:r>
            <a:r>
              <a:rPr dirty="0" spc="5"/>
              <a:t>及</a:t>
            </a:r>
            <a:r>
              <a:rPr dirty="0" spc="-20"/>
              <a:t>其</a:t>
            </a:r>
            <a:r>
              <a:rPr dirty="0" spc="5"/>
              <a:t>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1596" y="1925828"/>
            <a:ext cx="7386320" cy="35477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-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基于经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营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调整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的交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易风险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管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理工具</a:t>
            </a:r>
            <a:endParaRPr sz="2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700">
              <a:latin typeface="微软雅黑"/>
              <a:cs typeface="微软雅黑"/>
            </a:endParaRPr>
          </a:p>
          <a:p>
            <a:pPr marL="417830">
              <a:lnSpc>
                <a:spcPct val="100000"/>
              </a:lnSpc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提前或延迟收付款</a:t>
            </a:r>
            <a:endParaRPr sz="2400">
              <a:latin typeface="微软雅黑"/>
              <a:cs typeface="微软雅黑"/>
            </a:endParaRPr>
          </a:p>
          <a:p>
            <a:pPr marL="1024255" marR="5080" indent="-201295">
              <a:lnSpc>
                <a:spcPct val="180000"/>
              </a:lnSpc>
              <a:spcBef>
                <a:spcPts val="495"/>
              </a:spcBef>
              <a:buClr>
                <a:srgbClr val="FF6600"/>
              </a:buClr>
              <a:buFont typeface="Wingdings"/>
              <a:buChar char=""/>
              <a:tabLst>
                <a:tab pos="102489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如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果外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币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正处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于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升值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趋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势，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尽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早支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付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以该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外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币计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价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的应付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帐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款，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推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迟收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回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以该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外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币计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价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的应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收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外汇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帐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款</a:t>
            </a:r>
            <a:endParaRPr sz="2000">
              <a:latin typeface="微软雅黑"/>
              <a:cs typeface="微软雅黑"/>
            </a:endParaRPr>
          </a:p>
          <a:p>
            <a:pPr marL="1024255" marR="5080" indent="-201295">
              <a:lnSpc>
                <a:spcPct val="181000"/>
              </a:lnSpc>
              <a:spcBef>
                <a:spcPts val="459"/>
              </a:spcBef>
              <a:buClr>
                <a:srgbClr val="FF6600"/>
              </a:buClr>
              <a:buFont typeface="Wingdings"/>
              <a:buChar char=""/>
              <a:tabLst>
                <a:tab pos="102489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如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果外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币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正处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于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贬值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趋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势，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推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迟支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付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以该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外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币计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价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的应付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帐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款，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尽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早收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回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以该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外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币计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价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的应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收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外汇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帐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款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3235" y="639572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交易风</a:t>
            </a:r>
            <a:r>
              <a:rPr dirty="0" spc="-20"/>
              <a:t>险</a:t>
            </a:r>
            <a:r>
              <a:rPr dirty="0" spc="5"/>
              <a:t>及</a:t>
            </a:r>
            <a:r>
              <a:rPr dirty="0" spc="-20"/>
              <a:t>其</a:t>
            </a:r>
            <a:r>
              <a:rPr dirty="0" spc="5"/>
              <a:t>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934972"/>
            <a:ext cx="8026400" cy="4009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基于经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营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调整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的交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易风险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管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理工具</a:t>
            </a:r>
            <a:endParaRPr sz="2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550">
              <a:latin typeface="微软雅黑"/>
              <a:cs typeface="微软雅黑"/>
            </a:endParaRPr>
          </a:p>
          <a:p>
            <a:pPr marL="469265">
              <a:lnSpc>
                <a:spcPct val="100000"/>
              </a:lnSpc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再开票中心</a:t>
            </a:r>
            <a:endParaRPr sz="2400">
              <a:latin typeface="微软雅黑"/>
              <a:cs typeface="微软雅黑"/>
            </a:endParaRPr>
          </a:p>
          <a:p>
            <a:pPr marL="1155700" marR="5080" indent="-228600">
              <a:lnSpc>
                <a:spcPct val="180000"/>
              </a:lnSpc>
              <a:spcBef>
                <a:spcPts val="495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设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立再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开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票中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心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是跨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国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公司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管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理和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控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制整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个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企业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外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汇交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易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风险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的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一个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有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效措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施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har char=""/>
            </a:pPr>
            <a:endParaRPr sz="1300">
              <a:latin typeface="微软雅黑"/>
              <a:cs typeface="微软雅黑"/>
            </a:endParaRPr>
          </a:p>
          <a:p>
            <a:pPr marL="1155700" indent="-228600">
              <a:lnSpc>
                <a:spcPct val="100000"/>
              </a:lnSpc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再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开票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中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心专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门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管理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由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跨国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公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司内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部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贸易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产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生的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交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易风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险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 marL="1155700" marR="5080" indent="-228600">
              <a:lnSpc>
                <a:spcPct val="180000"/>
              </a:lnSpc>
              <a:spcBef>
                <a:spcPts val="484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1800" b="1">
                <a:solidFill>
                  <a:srgbClr val="FFFFFF"/>
                </a:solidFill>
                <a:latin typeface="微软雅黑"/>
                <a:cs typeface="微软雅黑"/>
              </a:rPr>
              <a:t>再开票中心统一负责各子公司外汇收支的发票和结算，但并不负责商 品的流动。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3235" y="639572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交易风</a:t>
            </a:r>
            <a:r>
              <a:rPr dirty="0" spc="-20"/>
              <a:t>险</a:t>
            </a:r>
            <a:r>
              <a:rPr dirty="0" spc="5"/>
              <a:t>及</a:t>
            </a:r>
            <a:r>
              <a:rPr dirty="0" spc="-20"/>
              <a:t>其</a:t>
            </a:r>
            <a:r>
              <a:rPr dirty="0" spc="5"/>
              <a:t>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892300"/>
            <a:ext cx="8026400" cy="4137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0"/>
              </a:spcBef>
              <a:buClr>
                <a:srgbClr val="FF6600"/>
              </a:buClr>
              <a:buFont typeface="Wingdings"/>
              <a:buChar char=""/>
              <a:tabLst>
                <a:tab pos="357505" algn="l"/>
              </a:tabLst>
            </a:pP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基于经营调整的交易风险管理工具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FF6600"/>
              </a:buClr>
              <a:buFont typeface="Wingdings"/>
              <a:buChar char=""/>
            </a:pPr>
            <a:endParaRPr sz="1300">
              <a:latin typeface="微软雅黑"/>
              <a:cs typeface="微软雅黑"/>
            </a:endParaRPr>
          </a:p>
          <a:p>
            <a:pPr algn="just" lvl="1" marL="756285" indent="-287655">
              <a:lnSpc>
                <a:spcPct val="100000"/>
              </a:lnSpc>
              <a:spcBef>
                <a:spcPts val="5"/>
              </a:spcBef>
              <a:buClr>
                <a:srgbClr val="FF6600"/>
              </a:buClr>
              <a:buFont typeface="Wingdings"/>
              <a:buChar char=""/>
              <a:tabLst>
                <a:tab pos="75692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再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开票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中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心</a:t>
            </a:r>
            <a:endParaRPr sz="2000">
              <a:latin typeface="微软雅黑"/>
              <a:cs typeface="微软雅黑"/>
            </a:endParaRPr>
          </a:p>
          <a:p>
            <a:pPr algn="just" lvl="2" marL="1155700" marR="5080" indent="-228600">
              <a:lnSpc>
                <a:spcPct val="180000"/>
              </a:lnSpc>
              <a:spcBef>
                <a:spcPts val="484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1800" b="1">
                <a:solidFill>
                  <a:srgbClr val="FFFFFF"/>
                </a:solidFill>
                <a:latin typeface="微软雅黑"/>
                <a:cs typeface="微软雅黑"/>
              </a:rPr>
              <a:t>当发生内部贸易时，出口方先将商品出售给再开票中心，但这种出售 只是账面上的，出口方用其本币向再开票中心开出发票，再开票中心 同时以进口方本币向进口方开出发票，将商品销售给进口方</a:t>
            </a:r>
            <a:endParaRPr sz="1800">
              <a:latin typeface="微软雅黑"/>
              <a:cs typeface="微软雅黑"/>
            </a:endParaRPr>
          </a:p>
          <a:p>
            <a:pPr lvl="2">
              <a:lnSpc>
                <a:spcPct val="100000"/>
              </a:lnSpc>
              <a:spcBef>
                <a:spcPts val="40"/>
              </a:spcBef>
              <a:buClr>
                <a:srgbClr val="FF6600"/>
              </a:buClr>
              <a:buFont typeface="Wingdings"/>
              <a:buChar char=""/>
            </a:pPr>
            <a:endParaRPr sz="1150">
              <a:latin typeface="微软雅黑"/>
              <a:cs typeface="微软雅黑"/>
            </a:endParaRPr>
          </a:p>
          <a:p>
            <a:pPr lvl="2" marL="1155700" indent="-228600">
              <a:lnSpc>
                <a:spcPct val="100000"/>
              </a:lnSpc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1800" b="1">
                <a:solidFill>
                  <a:srgbClr val="FFFFFF"/>
                </a:solidFill>
                <a:latin typeface="微软雅黑"/>
                <a:cs typeface="微软雅黑"/>
              </a:rPr>
              <a:t>商品实际从出口方直接运往进口方，并不经过再开票中心</a:t>
            </a:r>
            <a:endParaRPr sz="1800">
              <a:latin typeface="微软雅黑"/>
              <a:cs typeface="微软雅黑"/>
            </a:endParaRPr>
          </a:p>
          <a:p>
            <a:pPr algn="just" lvl="2" marL="1155700" marR="5080" indent="-228600">
              <a:lnSpc>
                <a:spcPct val="180000"/>
              </a:lnSpc>
              <a:spcBef>
                <a:spcPts val="434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1800" b="1">
                <a:solidFill>
                  <a:srgbClr val="FFFFFF"/>
                </a:solidFill>
                <a:latin typeface="微软雅黑"/>
                <a:cs typeface="微软雅黑"/>
              </a:rPr>
              <a:t>再开票中心可以通过提前或延迟付款的措施，或其他套期保值措施对 交易风险进行集中管理，使交易风险管理的效率大大提高。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3235" y="423164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经营风</a:t>
            </a:r>
            <a:r>
              <a:rPr dirty="0" spc="-20"/>
              <a:t>险</a:t>
            </a:r>
            <a:r>
              <a:rPr dirty="0" spc="5"/>
              <a:t>及</a:t>
            </a:r>
            <a:r>
              <a:rPr dirty="0" spc="-20"/>
              <a:t>其</a:t>
            </a:r>
            <a:r>
              <a:rPr dirty="0" spc="5"/>
              <a:t>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1596" y="1651508"/>
            <a:ext cx="7797800" cy="4122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0"/>
              </a:spcBef>
              <a:buClr>
                <a:srgbClr val="FF6600"/>
              </a:buClr>
              <a:buFont typeface="Wingdings"/>
              <a:buChar char=""/>
              <a:tabLst>
                <a:tab pos="357505" algn="l"/>
              </a:tabLst>
            </a:pP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经营风险示例</a:t>
            </a:r>
            <a:endParaRPr sz="2400">
              <a:latin typeface="微软雅黑"/>
              <a:cs typeface="微软雅黑"/>
            </a:endParaRPr>
          </a:p>
          <a:p>
            <a:pPr algn="just" lvl="1" marL="756285" indent="-287655">
              <a:lnSpc>
                <a:spcPct val="100000"/>
              </a:lnSpc>
              <a:spcBef>
                <a:spcPts val="1430"/>
              </a:spcBef>
              <a:buClr>
                <a:srgbClr val="FF6600"/>
              </a:buClr>
              <a:buFont typeface="Wingdings"/>
              <a:buChar char=""/>
              <a:tabLst>
                <a:tab pos="75692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销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售收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入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受到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的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影响</a:t>
            </a:r>
            <a:endParaRPr sz="2000">
              <a:latin typeface="微软雅黑"/>
              <a:cs typeface="微软雅黑"/>
            </a:endParaRPr>
          </a:p>
          <a:p>
            <a:pPr algn="just" lvl="2" marL="1155065" marR="233679" indent="-228600">
              <a:lnSpc>
                <a:spcPct val="140000"/>
              </a:lnSpc>
              <a:spcBef>
                <a:spcPts val="465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1800" b="1">
                <a:solidFill>
                  <a:srgbClr val="FFFFFF"/>
                </a:solidFill>
                <a:latin typeface="微软雅黑"/>
                <a:cs typeface="微软雅黑"/>
              </a:rPr>
              <a:t>如果子公司只在当地销售产品，所在国货币的升值可能导致其他 国家出口到该国的商品相对便宜，更具有竞争力，子公司的销售 收入可能因此下降</a:t>
            </a:r>
            <a:endParaRPr sz="1800">
              <a:latin typeface="微软雅黑"/>
              <a:cs typeface="微软雅黑"/>
            </a:endParaRPr>
          </a:p>
          <a:p>
            <a:pPr lvl="2" marL="1155065" marR="5080" indent="-228600">
              <a:lnSpc>
                <a:spcPct val="140000"/>
              </a:lnSpc>
              <a:spcBef>
                <a:spcPts val="430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1800" b="1">
                <a:solidFill>
                  <a:srgbClr val="FFFFFF"/>
                </a:solidFill>
                <a:latin typeface="微软雅黑"/>
                <a:cs typeface="微软雅黑"/>
              </a:rPr>
              <a:t>如果子公司的产品对外出口，由于该国货币的升值，出口产品在 国际上的竞争力也会降低，如果企业降低价格保持原有的销售量， 企业的销售收入仍旧会减少</a:t>
            </a:r>
            <a:endParaRPr sz="1800">
              <a:latin typeface="微软雅黑"/>
              <a:cs typeface="微软雅黑"/>
            </a:endParaRPr>
          </a:p>
          <a:p>
            <a:pPr lvl="2" marL="1155065" marR="233679" indent="-228600">
              <a:lnSpc>
                <a:spcPct val="140000"/>
              </a:lnSpc>
              <a:spcBef>
                <a:spcPts val="459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1800" b="1">
                <a:solidFill>
                  <a:srgbClr val="FFFFFF"/>
                </a:solidFill>
                <a:latin typeface="微软雅黑"/>
                <a:cs typeface="微软雅黑"/>
              </a:rPr>
              <a:t>子公司销售收入减少的幅度取决于该产品市场上外国商品的竞争 程度、出口商的市场地位以及该产品的价格弹性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0188" y="551180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经营风</a:t>
            </a:r>
            <a:r>
              <a:rPr dirty="0" spc="-20"/>
              <a:t>险</a:t>
            </a:r>
            <a:r>
              <a:rPr dirty="0" spc="5"/>
              <a:t>及</a:t>
            </a:r>
            <a:r>
              <a:rPr dirty="0" spc="-20"/>
              <a:t>其</a:t>
            </a:r>
            <a:r>
              <a:rPr dirty="0" spc="5"/>
              <a:t>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1491" y="1518700"/>
            <a:ext cx="7517765" cy="489077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经营风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险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示例</a:t>
            </a:r>
            <a:endParaRPr sz="2800">
              <a:latin typeface="微软雅黑"/>
              <a:cs typeface="微软雅黑"/>
            </a:endParaRPr>
          </a:p>
          <a:p>
            <a:pPr marL="469265">
              <a:lnSpc>
                <a:spcPct val="100000"/>
              </a:lnSpc>
              <a:spcBef>
                <a:spcPts val="28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销售成本受到的影响</a:t>
            </a:r>
            <a:endParaRPr sz="2400">
              <a:latin typeface="微软雅黑"/>
              <a:cs typeface="微软雅黑"/>
            </a:endParaRPr>
          </a:p>
          <a:p>
            <a:pPr algn="just" marL="1155700" marR="5080" indent="-228600">
              <a:lnSpc>
                <a:spcPts val="2160"/>
              </a:lnSpc>
              <a:spcBef>
                <a:spcPts val="480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如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果子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公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司使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用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的原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材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料均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在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所在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国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取得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，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则销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售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成本受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率变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化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的影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响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较小</a:t>
            </a:r>
            <a:endParaRPr sz="2000">
              <a:latin typeface="微软雅黑"/>
              <a:cs typeface="微软雅黑"/>
            </a:endParaRPr>
          </a:p>
          <a:p>
            <a:pPr algn="just" marL="1155700" marR="5080" indent="-228600">
              <a:lnSpc>
                <a:spcPts val="2160"/>
              </a:lnSpc>
              <a:spcBef>
                <a:spcPts val="480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如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果子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公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司有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部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分甚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至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全部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原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材料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需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要从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国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外进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口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，当所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在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国货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币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升值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时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，这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些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原材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料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的进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口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价格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可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能降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低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，销售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成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本下降</a:t>
            </a:r>
            <a:endParaRPr sz="2000">
              <a:latin typeface="微软雅黑"/>
              <a:cs typeface="微软雅黑"/>
            </a:endParaRPr>
          </a:p>
          <a:p>
            <a:pPr algn="just" marL="1155700" marR="5080" indent="-228600">
              <a:lnSpc>
                <a:spcPts val="2160"/>
              </a:lnSpc>
              <a:spcBef>
                <a:spcPts val="480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子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公司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销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售成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本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所受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影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响的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程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度与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其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对国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外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原材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料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的依赖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程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度有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直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接关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系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，依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赖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程度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越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大，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受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汇率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变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动的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影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响可能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越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大</a:t>
            </a:r>
            <a:endParaRPr sz="2000">
              <a:latin typeface="微软雅黑"/>
              <a:cs typeface="微软雅黑"/>
            </a:endParaRPr>
          </a:p>
          <a:p>
            <a:pPr marL="469265">
              <a:lnSpc>
                <a:spcPct val="100000"/>
              </a:lnSpc>
              <a:spcBef>
                <a:spcPts val="29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付现的期间费用</a:t>
            </a:r>
            <a:endParaRPr sz="2400">
              <a:latin typeface="微软雅黑"/>
              <a:cs typeface="微软雅黑"/>
            </a:endParaRPr>
          </a:p>
          <a:p>
            <a:pPr algn="just" marL="1155700" marR="5080" indent="-228600">
              <a:lnSpc>
                <a:spcPts val="2160"/>
              </a:lnSpc>
              <a:spcBef>
                <a:spcPts val="480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如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果子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公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司的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期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间费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用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主要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用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所在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国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货币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支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付，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则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所在国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货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币升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值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对期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间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费用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的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影响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不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大</a:t>
            </a:r>
            <a:endParaRPr sz="2000">
              <a:latin typeface="微软雅黑"/>
              <a:cs typeface="微软雅黑"/>
            </a:endParaRPr>
          </a:p>
          <a:p>
            <a:pPr algn="just" marL="1155700" marR="5080" indent="-228600">
              <a:lnSpc>
                <a:spcPts val="2160"/>
              </a:lnSpc>
              <a:spcBef>
                <a:spcPts val="480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如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果子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公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司的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期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间费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用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有一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部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分使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用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外币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支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付，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如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国外借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款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的利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息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，则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所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在国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货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币升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值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可导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致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期间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费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用减少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3235" y="517652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经营风</a:t>
            </a:r>
            <a:r>
              <a:rPr dirty="0" spc="-20"/>
              <a:t>险</a:t>
            </a:r>
            <a:r>
              <a:rPr dirty="0" spc="5"/>
              <a:t>及</a:t>
            </a:r>
            <a:r>
              <a:rPr dirty="0" spc="-20"/>
              <a:t>其</a:t>
            </a:r>
            <a:r>
              <a:rPr dirty="0" spc="5"/>
              <a:t>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4747" y="1819148"/>
            <a:ext cx="7435215" cy="287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-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经营风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险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的影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响因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素</a:t>
            </a:r>
            <a:endParaRPr sz="2800">
              <a:latin typeface="微软雅黑"/>
              <a:cs typeface="微软雅黑"/>
            </a:endParaRPr>
          </a:p>
          <a:p>
            <a:pPr marL="417830">
              <a:lnSpc>
                <a:spcPct val="100000"/>
              </a:lnSpc>
              <a:spcBef>
                <a:spcPts val="232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经营风险不能向会计风险和交易风险那样轻易确定</a:t>
            </a:r>
            <a:endParaRPr sz="2400">
              <a:latin typeface="微软雅黑"/>
              <a:cs typeface="微软雅黑"/>
            </a:endParaRPr>
          </a:p>
          <a:p>
            <a:pPr marL="417830">
              <a:lnSpc>
                <a:spcPct val="100000"/>
              </a:lnSpc>
              <a:spcBef>
                <a:spcPts val="228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一个公司外汇经营风险大小的主要影响因素有：</a:t>
            </a:r>
            <a:endParaRPr sz="2400">
              <a:latin typeface="微软雅黑"/>
              <a:cs typeface="微软雅黑"/>
            </a:endParaRPr>
          </a:p>
          <a:p>
            <a:pPr marL="1024255" indent="-201930">
              <a:lnSpc>
                <a:spcPct val="100000"/>
              </a:lnSpc>
              <a:spcBef>
                <a:spcPts val="1960"/>
              </a:spcBef>
              <a:buClr>
                <a:srgbClr val="FF6600"/>
              </a:buClr>
              <a:buFont typeface="Wingdings"/>
              <a:buChar char=""/>
              <a:tabLst>
                <a:tab pos="102489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该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公司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调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整其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市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场、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产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品、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资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源以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应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对汇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变化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的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能力</a:t>
            </a:r>
            <a:endParaRPr sz="2000">
              <a:latin typeface="微软雅黑"/>
              <a:cs typeface="微软雅黑"/>
            </a:endParaRPr>
          </a:p>
          <a:p>
            <a:pPr marL="1024255" indent="-201930">
              <a:lnSpc>
                <a:spcPct val="100000"/>
              </a:lnSpc>
              <a:spcBef>
                <a:spcPts val="1920"/>
              </a:spcBef>
              <a:buClr>
                <a:srgbClr val="FF6600"/>
              </a:buClr>
              <a:buFont typeface="Wingdings"/>
              <a:buChar char=""/>
              <a:tabLst>
                <a:tab pos="102489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市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场竞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争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态势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：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竞争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还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是垄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断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？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3235" y="639572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经营风</a:t>
            </a:r>
            <a:r>
              <a:rPr dirty="0" spc="-20"/>
              <a:t>险</a:t>
            </a:r>
            <a:r>
              <a:rPr dirty="0" spc="5"/>
              <a:t>及</a:t>
            </a:r>
            <a:r>
              <a:rPr dirty="0" spc="-20"/>
              <a:t>其</a:t>
            </a:r>
            <a:r>
              <a:rPr dirty="0" spc="5"/>
              <a:t>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529825"/>
            <a:ext cx="7895590" cy="4108450"/>
          </a:xfrm>
          <a:prstGeom prst="rect">
            <a:avLst/>
          </a:prstGeom>
        </p:spPr>
        <p:txBody>
          <a:bodyPr wrap="square" lIns="0" tIns="250825" rIns="0" bIns="0" rtlCol="0" vert="horz">
            <a:spAutoFit/>
          </a:bodyPr>
          <a:lstStyle/>
          <a:p>
            <a:pPr algn="ctr" marR="3631565">
              <a:lnSpc>
                <a:spcPct val="100000"/>
              </a:lnSpc>
              <a:spcBef>
                <a:spcPts val="1975"/>
              </a:spcBef>
            </a:pPr>
            <a:r>
              <a:rPr dirty="0" sz="2800" spc="-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经营风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险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管理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的基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本方</a:t>
            </a:r>
            <a:r>
              <a:rPr dirty="0" sz="2800" spc="-135" b="1">
                <a:solidFill>
                  <a:srgbClr val="FFFFFF"/>
                </a:solidFill>
                <a:latin typeface="微软雅黑"/>
                <a:cs typeface="微软雅黑"/>
              </a:rPr>
              <a:t>法</a:t>
            </a:r>
            <a:endParaRPr sz="2800">
              <a:latin typeface="微软雅黑"/>
              <a:cs typeface="微软雅黑"/>
            </a:endParaRPr>
          </a:p>
          <a:p>
            <a:pPr algn="ctr" marR="3704590">
              <a:lnSpc>
                <a:spcPct val="100000"/>
              </a:lnSpc>
              <a:spcBef>
                <a:spcPts val="160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选择低成本的生产地点</a:t>
            </a:r>
            <a:endParaRPr sz="2400">
              <a:latin typeface="微软雅黑"/>
              <a:cs typeface="微软雅黑"/>
            </a:endParaRPr>
          </a:p>
          <a:p>
            <a:pPr marL="1024255" indent="-201930">
              <a:lnSpc>
                <a:spcPct val="100000"/>
              </a:lnSpc>
              <a:spcBef>
                <a:spcPts val="1340"/>
              </a:spcBef>
              <a:buClr>
                <a:srgbClr val="FF6600"/>
              </a:buClr>
              <a:buFont typeface="Wingdings"/>
              <a:buChar char=""/>
              <a:tabLst>
                <a:tab pos="102489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在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全球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几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个工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厂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之间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灵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活安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排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生产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以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降低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外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汇经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营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风险</a:t>
            </a:r>
            <a:endParaRPr sz="2000">
              <a:latin typeface="微软雅黑"/>
              <a:cs typeface="微软雅黑"/>
            </a:endParaRPr>
          </a:p>
          <a:p>
            <a:pPr lvl="1" marL="1430020" indent="-204470">
              <a:lnSpc>
                <a:spcPct val="100000"/>
              </a:lnSpc>
              <a:spcBef>
                <a:spcPts val="1295"/>
              </a:spcBef>
              <a:buClr>
                <a:srgbClr val="FF6600"/>
              </a:buClr>
              <a:buSzPct val="95000"/>
              <a:buFont typeface="Wingdings"/>
              <a:buChar char="►"/>
              <a:tabLst>
                <a:tab pos="143002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与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规模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经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济的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潜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在损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失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进行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权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衡</a:t>
            </a:r>
            <a:endParaRPr sz="2000">
              <a:latin typeface="微软雅黑"/>
              <a:cs typeface="微软雅黑"/>
            </a:endParaRPr>
          </a:p>
          <a:p>
            <a:pPr marL="417830">
              <a:lnSpc>
                <a:spcPct val="100000"/>
              </a:lnSpc>
              <a:spcBef>
                <a:spcPts val="156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全球资源整合</a:t>
            </a:r>
            <a:endParaRPr sz="2400">
              <a:latin typeface="微软雅黑"/>
              <a:cs typeface="微软雅黑"/>
            </a:endParaRPr>
          </a:p>
          <a:p>
            <a:pPr marL="1024255" marR="5080" indent="-201295">
              <a:lnSpc>
                <a:spcPct val="135000"/>
              </a:lnSpc>
              <a:spcBef>
                <a:spcPts val="500"/>
              </a:spcBef>
              <a:buClr>
                <a:srgbClr val="FF6600"/>
              </a:buClr>
              <a:buFont typeface="Wingdings"/>
              <a:buChar char=""/>
              <a:tabLst>
                <a:tab pos="102489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跨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国公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司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可以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通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过对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全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球资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源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进行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整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合，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来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处理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其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所面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对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的外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经营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风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险</a:t>
            </a:r>
            <a:endParaRPr sz="2000">
              <a:latin typeface="微软雅黑"/>
              <a:cs typeface="微软雅黑"/>
            </a:endParaRPr>
          </a:p>
          <a:p>
            <a:pPr lvl="1" marL="1430020" indent="-204470">
              <a:lnSpc>
                <a:spcPct val="100000"/>
              </a:lnSpc>
              <a:spcBef>
                <a:spcPts val="1175"/>
              </a:spcBef>
              <a:buClr>
                <a:srgbClr val="FF6600"/>
              </a:buClr>
              <a:buSzPct val="95000"/>
              <a:buFont typeface="Wingdings"/>
              <a:buChar char="►"/>
              <a:tabLst>
                <a:tab pos="143002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海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外采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购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灵活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安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排生产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8683" y="538988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经营风</a:t>
            </a:r>
            <a:r>
              <a:rPr dirty="0" spc="-20"/>
              <a:t>险</a:t>
            </a:r>
            <a:r>
              <a:rPr dirty="0" spc="5"/>
              <a:t>及</a:t>
            </a:r>
            <a:r>
              <a:rPr dirty="0" spc="-20"/>
              <a:t>其</a:t>
            </a:r>
            <a:r>
              <a:rPr dirty="0" spc="5"/>
              <a:t>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1596" y="1567986"/>
            <a:ext cx="7538720" cy="445770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 sz="2800" spc="-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经营风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险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管理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的基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本方法</a:t>
            </a:r>
            <a:endParaRPr sz="2800">
              <a:latin typeface="微软雅黑"/>
              <a:cs typeface="微软雅黑"/>
            </a:endParaRPr>
          </a:p>
          <a:p>
            <a:pPr marL="417830">
              <a:lnSpc>
                <a:spcPct val="100000"/>
              </a:lnSpc>
              <a:spcBef>
                <a:spcPts val="254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市场多元化</a:t>
            </a:r>
            <a:endParaRPr sz="2400">
              <a:latin typeface="微软雅黑"/>
              <a:cs typeface="微软雅黑"/>
            </a:endParaRPr>
          </a:p>
          <a:p>
            <a:pPr marL="417830">
              <a:lnSpc>
                <a:spcPct val="100000"/>
              </a:lnSpc>
              <a:spcBef>
                <a:spcPts val="14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加强研发和产品差异化策略</a:t>
            </a:r>
            <a:endParaRPr sz="2400">
              <a:latin typeface="微软雅黑"/>
              <a:cs typeface="微软雅黑"/>
            </a:endParaRPr>
          </a:p>
          <a:p>
            <a:pPr marL="1024255" indent="-201930">
              <a:lnSpc>
                <a:spcPct val="100000"/>
              </a:lnSpc>
              <a:spcBef>
                <a:spcPts val="350"/>
              </a:spcBef>
              <a:buClr>
                <a:srgbClr val="FF6600"/>
              </a:buClr>
              <a:buFont typeface="Wingdings"/>
              <a:buChar char=""/>
              <a:tabLst>
                <a:tab pos="102489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成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功的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研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发可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以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：</a:t>
            </a:r>
            <a:endParaRPr sz="2000">
              <a:latin typeface="微软雅黑"/>
              <a:cs typeface="微软雅黑"/>
            </a:endParaRPr>
          </a:p>
          <a:p>
            <a:pPr lvl="1" marL="1430020" indent="-204470">
              <a:lnSpc>
                <a:spcPct val="100000"/>
              </a:lnSpc>
              <a:spcBef>
                <a:spcPts val="240"/>
              </a:spcBef>
              <a:buClr>
                <a:srgbClr val="FF6600"/>
              </a:buClr>
              <a:buSzPct val="95000"/>
              <a:buFont typeface="Wingdings"/>
              <a:buChar char="►"/>
              <a:tabLst>
                <a:tab pos="143002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降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低成本</a:t>
            </a:r>
            <a:endParaRPr sz="2000">
              <a:latin typeface="微软雅黑"/>
              <a:cs typeface="微软雅黑"/>
            </a:endParaRPr>
          </a:p>
          <a:p>
            <a:pPr lvl="1" marL="1430020" indent="-204470">
              <a:lnSpc>
                <a:spcPct val="100000"/>
              </a:lnSpc>
              <a:spcBef>
                <a:spcPts val="240"/>
              </a:spcBef>
              <a:buClr>
                <a:srgbClr val="FF6600"/>
              </a:buClr>
              <a:buSzPct val="95000"/>
              <a:buFont typeface="Wingdings"/>
              <a:buChar char="►"/>
              <a:tabLst>
                <a:tab pos="143002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提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高生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产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效率</a:t>
            </a:r>
            <a:endParaRPr sz="2000">
              <a:latin typeface="微软雅黑"/>
              <a:cs typeface="微软雅黑"/>
            </a:endParaRPr>
          </a:p>
          <a:p>
            <a:pPr lvl="1" marL="1430020" indent="-204470">
              <a:lnSpc>
                <a:spcPct val="100000"/>
              </a:lnSpc>
              <a:spcBef>
                <a:spcPts val="240"/>
              </a:spcBef>
              <a:buClr>
                <a:srgbClr val="FF6600"/>
              </a:buClr>
              <a:buSzPct val="95000"/>
              <a:buFont typeface="Wingdings"/>
              <a:buChar char="►"/>
              <a:tabLst>
                <a:tab pos="143002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实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现产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品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差异化</a:t>
            </a:r>
            <a:endParaRPr sz="2000">
              <a:latin typeface="微软雅黑"/>
              <a:cs typeface="微软雅黑"/>
            </a:endParaRPr>
          </a:p>
          <a:p>
            <a:pPr marL="1024255" indent="-201930">
              <a:lnSpc>
                <a:spcPct val="100000"/>
              </a:lnSpc>
              <a:spcBef>
                <a:spcPts val="240"/>
              </a:spcBef>
              <a:buClr>
                <a:srgbClr val="FF6600"/>
              </a:buClr>
              <a:buFont typeface="Wingdings"/>
              <a:buChar char=""/>
              <a:tabLst>
                <a:tab pos="102489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成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功的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产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品差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异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化可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以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：</a:t>
            </a:r>
            <a:endParaRPr sz="2000">
              <a:latin typeface="微软雅黑"/>
              <a:cs typeface="微软雅黑"/>
            </a:endParaRPr>
          </a:p>
          <a:p>
            <a:pPr lvl="1" marL="1429385" marR="5080" indent="-204470">
              <a:lnSpc>
                <a:spcPts val="2160"/>
              </a:lnSpc>
              <a:spcBef>
                <a:spcPts val="515"/>
              </a:spcBef>
              <a:buClr>
                <a:srgbClr val="FF6600"/>
              </a:buClr>
              <a:buSzPct val="95000"/>
              <a:buFont typeface="Wingdings"/>
              <a:buChar char="►"/>
              <a:tabLst>
                <a:tab pos="143002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降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低其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产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品的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价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格需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求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弹性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，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从而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降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低其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所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面临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的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外</a:t>
            </a:r>
            <a:r>
              <a:rPr dirty="0" sz="2000" spc="-1595" b="1">
                <a:solidFill>
                  <a:srgbClr val="FFFFFF"/>
                </a:solidFill>
                <a:latin typeface="微软雅黑"/>
                <a:cs typeface="微软雅黑"/>
              </a:rPr>
              <a:t>汇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经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营风险</a:t>
            </a:r>
            <a:endParaRPr sz="2000">
              <a:latin typeface="微软雅黑"/>
              <a:cs typeface="微软雅黑"/>
            </a:endParaRPr>
          </a:p>
          <a:p>
            <a:pPr algn="just" lvl="1" marL="1429385" marR="5080" indent="-204470">
              <a:lnSpc>
                <a:spcPts val="2160"/>
              </a:lnSpc>
              <a:spcBef>
                <a:spcPts val="480"/>
              </a:spcBef>
              <a:buClr>
                <a:srgbClr val="FF6600"/>
              </a:buClr>
              <a:buSzPct val="95000"/>
              <a:buFont typeface="Wingdings"/>
              <a:buChar char="►"/>
              <a:tabLst>
                <a:tab pos="143002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产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品的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价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格需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求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弹性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越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高，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跨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国公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司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所面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临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的外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经</a:t>
            </a:r>
            <a:r>
              <a:rPr dirty="0" sz="2000" spc="-1595" b="1">
                <a:solidFill>
                  <a:srgbClr val="FFFFFF"/>
                </a:solidFill>
                <a:latin typeface="微软雅黑"/>
                <a:cs typeface="微软雅黑"/>
              </a:rPr>
              <a:t>营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风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险越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高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（原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因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在于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率发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生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变化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时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，没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有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太多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的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价格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调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整空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间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3235" y="639572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经营风</a:t>
            </a:r>
            <a:r>
              <a:rPr dirty="0" spc="-20"/>
              <a:t>险</a:t>
            </a:r>
            <a:r>
              <a:rPr dirty="0" spc="5"/>
              <a:t>及</a:t>
            </a:r>
            <a:r>
              <a:rPr dirty="0" spc="-20"/>
              <a:t>其</a:t>
            </a:r>
            <a:r>
              <a:rPr dirty="0" spc="5"/>
              <a:t>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532934"/>
            <a:ext cx="8026400" cy="3785235"/>
          </a:xfrm>
          <a:prstGeom prst="rect">
            <a:avLst/>
          </a:prstGeom>
        </p:spPr>
        <p:txBody>
          <a:bodyPr wrap="square" lIns="0" tIns="2298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经营风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险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管理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的基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本方法</a:t>
            </a:r>
            <a:endParaRPr sz="2800">
              <a:latin typeface="微软雅黑"/>
              <a:cs typeface="微软雅黑"/>
            </a:endParaRPr>
          </a:p>
          <a:p>
            <a:pPr marL="469265">
              <a:lnSpc>
                <a:spcPct val="100000"/>
              </a:lnSpc>
              <a:spcBef>
                <a:spcPts val="1455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定价策略</a:t>
            </a:r>
            <a:endParaRPr sz="2400">
              <a:latin typeface="微软雅黑"/>
              <a:cs typeface="微软雅黑"/>
            </a:endParaRPr>
          </a:p>
          <a:p>
            <a:pPr marL="1155700" marR="5080" indent="-228600">
              <a:lnSpc>
                <a:spcPct val="130000"/>
              </a:lnSpc>
              <a:spcBef>
                <a:spcPts val="495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跨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国公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司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在应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对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汇率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变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化的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可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能影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响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时，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必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须首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先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明确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其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经营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目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标是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追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求市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场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份额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，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还是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边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际利润</a:t>
            </a:r>
            <a:endParaRPr sz="2000">
              <a:latin typeface="微软雅黑"/>
              <a:cs typeface="微软雅黑"/>
            </a:endParaRPr>
          </a:p>
          <a:p>
            <a:pPr marL="1155700" marR="5080" indent="-228600">
              <a:lnSpc>
                <a:spcPct val="131000"/>
              </a:lnSpc>
              <a:spcBef>
                <a:spcPts val="455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在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处理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本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币贬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值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时，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公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司必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须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认识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到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目前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的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本币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涨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价可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能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会失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去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未来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的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出口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市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场份额</a:t>
            </a:r>
            <a:endParaRPr sz="2000">
              <a:latin typeface="微软雅黑"/>
              <a:cs typeface="微软雅黑"/>
            </a:endParaRPr>
          </a:p>
          <a:p>
            <a:pPr marL="1155700" marR="5080" indent="-228600">
              <a:lnSpc>
                <a:spcPct val="130000"/>
              </a:lnSpc>
              <a:spcBef>
                <a:spcPts val="480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在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处理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本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币升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值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时，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公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司为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维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持出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口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市场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份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额，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可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能不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得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不降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低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本币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价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格，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从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而降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低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边际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利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润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3235" y="453644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经营风</a:t>
            </a:r>
            <a:r>
              <a:rPr dirty="0" spc="-20"/>
              <a:t>险</a:t>
            </a:r>
            <a:r>
              <a:rPr dirty="0" spc="5"/>
              <a:t>及</a:t>
            </a:r>
            <a:r>
              <a:rPr dirty="0" spc="-20"/>
              <a:t>其</a:t>
            </a:r>
            <a:r>
              <a:rPr dirty="0" spc="5"/>
              <a:t>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661956"/>
            <a:ext cx="7517765" cy="4011295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经营风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险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管理</a:t>
            </a:r>
            <a:r>
              <a:rPr dirty="0" sz="2800" spc="-20" b="1">
                <a:solidFill>
                  <a:srgbClr val="FFFFFF"/>
                </a:solidFill>
                <a:latin typeface="微软雅黑"/>
                <a:cs typeface="微软雅黑"/>
              </a:rPr>
              <a:t>的基</a:t>
            </a:r>
            <a:r>
              <a:rPr dirty="0" sz="2800" spc="5" b="1">
                <a:solidFill>
                  <a:srgbClr val="FFFFFF"/>
                </a:solidFill>
                <a:latin typeface="微软雅黑"/>
                <a:cs typeface="微软雅黑"/>
              </a:rPr>
              <a:t>本方法</a:t>
            </a:r>
            <a:endParaRPr sz="2800">
              <a:latin typeface="微软雅黑"/>
              <a:cs typeface="微软雅黑"/>
            </a:endParaRPr>
          </a:p>
          <a:p>
            <a:pPr marL="469900">
              <a:lnSpc>
                <a:spcPct val="100000"/>
              </a:lnSpc>
              <a:spcBef>
                <a:spcPts val="28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情景分析</a:t>
            </a:r>
            <a:endParaRPr sz="2400">
              <a:latin typeface="微软雅黑"/>
              <a:cs typeface="微软雅黑"/>
            </a:endParaRPr>
          </a:p>
          <a:p>
            <a:pPr marL="1155700" marR="5080" indent="-228600">
              <a:lnSpc>
                <a:spcPts val="2160"/>
              </a:lnSpc>
              <a:spcBef>
                <a:spcPts val="480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公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司可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以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通过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情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景分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析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的方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法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来对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未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预期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的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汇率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波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动作出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计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划</a:t>
            </a:r>
            <a:endParaRPr sz="2000">
              <a:latin typeface="微软雅黑"/>
              <a:cs typeface="微软雅黑"/>
            </a:endParaRPr>
          </a:p>
          <a:p>
            <a:pPr lvl="1" marL="1612900" marR="53340" indent="-228600">
              <a:lnSpc>
                <a:spcPts val="2160"/>
              </a:lnSpc>
              <a:spcBef>
                <a:spcPts val="480"/>
              </a:spcBef>
              <a:buClr>
                <a:srgbClr val="FF6600"/>
              </a:buClr>
              <a:buFont typeface="Wingdings"/>
              <a:buChar char="►"/>
              <a:tabLst>
                <a:tab pos="161290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首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先根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据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一个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预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测汇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水平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分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别预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计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损益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表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项目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的</a:t>
            </a:r>
            <a:r>
              <a:rPr dirty="0" sz="2000" spc="-1595" b="1">
                <a:solidFill>
                  <a:srgbClr val="FFFFFF"/>
                </a:solidFill>
                <a:latin typeface="微软雅黑"/>
                <a:cs typeface="微软雅黑"/>
              </a:rPr>
              <a:t>现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金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流量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水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平</a:t>
            </a:r>
            <a:endParaRPr sz="2000">
              <a:latin typeface="微软雅黑"/>
              <a:cs typeface="微软雅黑"/>
            </a:endParaRPr>
          </a:p>
          <a:p>
            <a:pPr lvl="1" marL="1612900" marR="53340" indent="-228600">
              <a:lnSpc>
                <a:spcPts val="2160"/>
              </a:lnSpc>
              <a:spcBef>
                <a:spcPts val="480"/>
              </a:spcBef>
              <a:buClr>
                <a:srgbClr val="FF6600"/>
              </a:buClr>
              <a:buFont typeface="Wingdings"/>
              <a:buChar char="►"/>
              <a:tabLst>
                <a:tab pos="161290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然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后改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变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预测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的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汇率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，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并预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计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损益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表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项目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的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新的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现</a:t>
            </a:r>
            <a:r>
              <a:rPr dirty="0" sz="2000" spc="-1595" b="1">
                <a:solidFill>
                  <a:srgbClr val="FFFFFF"/>
                </a:solidFill>
                <a:latin typeface="微软雅黑"/>
                <a:cs typeface="微软雅黑"/>
              </a:rPr>
              <a:t>金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流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量水平</a:t>
            </a:r>
            <a:endParaRPr sz="2000">
              <a:latin typeface="微软雅黑"/>
              <a:cs typeface="微软雅黑"/>
            </a:endParaRPr>
          </a:p>
          <a:p>
            <a:pPr algn="just" lvl="1" marL="1612900" marR="53340" indent="-228600">
              <a:lnSpc>
                <a:spcPts val="2160"/>
              </a:lnSpc>
              <a:spcBef>
                <a:spcPts val="480"/>
              </a:spcBef>
              <a:buClr>
                <a:srgbClr val="FF6600"/>
              </a:buClr>
              <a:buFont typeface="Wingdings"/>
              <a:buChar char="►"/>
              <a:tabLst>
                <a:tab pos="1612900" algn="l"/>
              </a:tabLst>
            </a:pP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通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过分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析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损益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表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中税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前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利润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随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不同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的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预测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率变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化</a:t>
            </a:r>
            <a:r>
              <a:rPr dirty="0" sz="2000" spc="-1595" b="1">
                <a:solidFill>
                  <a:srgbClr val="FFFFFF"/>
                </a:solidFill>
                <a:latin typeface="微软雅黑"/>
                <a:cs typeface="微软雅黑"/>
              </a:rPr>
              <a:t>而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变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化的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值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，企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业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就可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以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衡量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汇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率变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动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对企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业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税前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利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润 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和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现金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流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量的</a:t>
            </a:r>
            <a:r>
              <a:rPr dirty="0" sz="2000" spc="10" b="1">
                <a:solidFill>
                  <a:srgbClr val="FFFFFF"/>
                </a:solidFill>
                <a:latin typeface="微软雅黑"/>
                <a:cs typeface="微软雅黑"/>
              </a:rPr>
              <a:t>影</a:t>
            </a:r>
            <a:r>
              <a:rPr dirty="0" sz="2000" spc="-10" b="1">
                <a:solidFill>
                  <a:srgbClr val="FFFFFF"/>
                </a:solidFill>
                <a:latin typeface="微软雅黑"/>
                <a:cs typeface="微软雅黑"/>
              </a:rPr>
              <a:t>响</a:t>
            </a:r>
            <a:endParaRPr sz="2000">
              <a:latin typeface="微软雅黑"/>
              <a:cs typeface="微软雅黑"/>
            </a:endParaRPr>
          </a:p>
          <a:p>
            <a:pPr marL="469900">
              <a:lnSpc>
                <a:spcPct val="100000"/>
              </a:lnSpc>
              <a:spcBef>
                <a:spcPts val="290"/>
              </a:spcBef>
            </a:pPr>
            <a:r>
              <a:rPr dirty="0" sz="2400" spc="-2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弹性投资策略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2023-10-22T13:39:50Z</dcterms:created>
  <dcterms:modified xsi:type="dcterms:W3CDTF">2023-10-22T13:39:50Z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2006-06-02T00:00:00Z</vt:filetime>
  </property>
  <property fmtid="{D5CDD505-2E9C-101B-9397-08002B2CF9AE}" pid="3" name="LastSaved">
    <vt:filetime>2006-06-02T00:00:00Z</vt:filetime>
  </property>
</Properties>
</file>