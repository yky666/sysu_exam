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2891" y="1825244"/>
            <a:ext cx="3570604" cy="400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29988" y="1794764"/>
            <a:ext cx="3570604" cy="403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85336" y="712724"/>
            <a:ext cx="973327" cy="512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8293" y="1564335"/>
            <a:ext cx="7487412" cy="4774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2834132"/>
            <a:ext cx="45974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dirty="0" sz="4800">
                <a:latin typeface="Microsoft JhengHei"/>
                <a:cs typeface="Microsoft JhengHei"/>
              </a:rPr>
              <a:t>第三章</a:t>
            </a:r>
            <a:r>
              <a:rPr dirty="0" sz="4800">
                <a:latin typeface="Microsoft JhengHei"/>
                <a:cs typeface="Microsoft JhengHei"/>
              </a:rPr>
              <a:t>	</a:t>
            </a:r>
            <a:r>
              <a:rPr dirty="0" sz="4800">
                <a:latin typeface="Microsoft JhengHei"/>
                <a:cs typeface="Microsoft JhengHei"/>
              </a:rPr>
              <a:t>长期融资</a:t>
            </a:r>
            <a:endParaRPr sz="4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本章要点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126739" y="1889252"/>
            <a:ext cx="2506980" cy="4215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长期融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概</a:t>
            </a:r>
            <a:r>
              <a:rPr dirty="0" sz="2800" spc="-2445" b="1">
                <a:solidFill>
                  <a:srgbClr val="FFFFFF"/>
                </a:solidFill>
                <a:latin typeface="微软雅黑"/>
                <a:cs typeface="微软雅黑"/>
              </a:rPr>
              <a:t>述</a:t>
            </a:r>
            <a:endParaRPr sz="2800">
              <a:latin typeface="微软雅黑"/>
              <a:cs typeface="微软雅黑"/>
            </a:endParaRPr>
          </a:p>
          <a:p>
            <a:pPr algn="just" marL="12700" marR="5080">
              <a:lnSpc>
                <a:spcPct val="220000"/>
              </a:lnSpc>
              <a:spcBef>
                <a:spcPts val="2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权益资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本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融</a:t>
            </a:r>
            <a:r>
              <a:rPr dirty="0" sz="2800" spc="-2535" b="1">
                <a:solidFill>
                  <a:srgbClr val="FFFFFF"/>
                </a:solidFill>
                <a:latin typeface="微软雅黑"/>
                <a:cs typeface="微软雅黑"/>
              </a:rPr>
              <a:t>资 </a:t>
            </a: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长期债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融</a:t>
            </a:r>
            <a:r>
              <a:rPr dirty="0" sz="2800" spc="-2535" b="1">
                <a:solidFill>
                  <a:srgbClr val="FFFFFF"/>
                </a:solidFill>
                <a:latin typeface="微软雅黑"/>
                <a:cs typeface="微软雅黑"/>
              </a:rPr>
              <a:t>资 </a:t>
            </a: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租赁融资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项目融资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63957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长期融</a:t>
            </a:r>
            <a:r>
              <a:rPr dirty="0" sz="4000" spc="-20"/>
              <a:t>资</a:t>
            </a:r>
            <a:r>
              <a:rPr dirty="0" sz="4000" spc="5"/>
              <a:t>概述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2891" y="1672844"/>
            <a:ext cx="6813550" cy="4215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典型的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资决策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5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选择何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权进行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Arial"/>
              <a:buChar char="•"/>
            </a:pPr>
            <a:endParaRPr sz="31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如何确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出售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的债务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Arial"/>
              <a:buChar char="•"/>
            </a:pPr>
            <a:endParaRPr sz="31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何时出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和股权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Arial"/>
              <a:buChar char="•"/>
            </a:pPr>
            <a:endParaRPr sz="315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以何种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例出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售这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些债务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股权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602996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长期融</a:t>
            </a:r>
            <a:r>
              <a:rPr dirty="0" sz="4000" spc="-20"/>
              <a:t>资</a:t>
            </a:r>
            <a:r>
              <a:rPr dirty="0" sz="4000" spc="5"/>
              <a:t>概述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2891" y="1533855"/>
            <a:ext cx="7883525" cy="4573270"/>
          </a:xfrm>
          <a:prstGeom prst="rect">
            <a:avLst/>
          </a:prstGeom>
        </p:spPr>
        <p:txBody>
          <a:bodyPr wrap="square" lIns="0" tIns="2470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创造有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会的方法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85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前提：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有效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87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包装证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诈投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资者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85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降低成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高津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贴</a:t>
            </a:r>
            <a:endParaRPr sz="2800">
              <a:latin typeface="宋体"/>
              <a:cs typeface="宋体"/>
            </a:endParaRPr>
          </a:p>
          <a:p>
            <a:pPr marL="756285" marR="5080" indent="-287020">
              <a:lnSpc>
                <a:spcPct val="135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创新证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开发和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有独创性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的证券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获取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处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85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如果资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呢？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621284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权益资</a:t>
            </a:r>
            <a:r>
              <a:rPr dirty="0" sz="4000" spc="-20"/>
              <a:t>本</a:t>
            </a:r>
            <a:r>
              <a:rPr dirty="0" sz="4000" spc="5"/>
              <a:t>融资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849372" y="1372731"/>
            <a:ext cx="3208020" cy="519938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69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普通股概述</a:t>
            </a:r>
            <a:endParaRPr sz="24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普通股的一般权</a:t>
            </a:r>
            <a:r>
              <a:rPr dirty="0" sz="2400" spc="-1855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endParaRPr sz="24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IPO</a:t>
            </a:r>
            <a:endParaRPr sz="24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上市与下市</a:t>
            </a:r>
            <a:endParaRPr sz="24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股票赎回</a:t>
            </a:r>
            <a:endParaRPr sz="24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普通股融资的特</a:t>
            </a:r>
            <a:r>
              <a:rPr dirty="0" sz="2400" spc="-1855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优先股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69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优先股概述</a:t>
            </a:r>
            <a:endParaRPr sz="24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发行优先股的目</a:t>
            </a:r>
            <a:r>
              <a:rPr dirty="0" sz="2400" spc="-185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endParaRPr sz="24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融资特点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普通股</a:t>
            </a:r>
            <a:r>
              <a:rPr dirty="0" sz="4000" spc="-20"/>
              <a:t>概</a:t>
            </a:r>
            <a:r>
              <a:rPr dirty="0" sz="4000" spc="5"/>
              <a:t>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2891" y="1331773"/>
            <a:ext cx="7962900" cy="269113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中国股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票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市场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的历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史与现状</a:t>
            </a:r>
            <a:endParaRPr sz="2800">
              <a:latin typeface="微软雅黑"/>
              <a:cs typeface="微软雅黑"/>
            </a:endParaRPr>
          </a:p>
          <a:p>
            <a:pPr algn="just" marL="356870" marR="5080" indent="642620">
              <a:lnSpc>
                <a:spcPct val="100000"/>
              </a:lnSpc>
              <a:spcBef>
                <a:spcPts val="655"/>
              </a:spcBef>
            </a:pP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1990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海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、深圳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券交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易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立，中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国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证券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市场依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赖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电子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技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术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迅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速形成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模，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性市场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展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成为全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国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性的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现有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上市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1200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多家。</a:t>
            </a:r>
            <a:endParaRPr sz="2600">
              <a:latin typeface="宋体"/>
              <a:cs typeface="宋体"/>
            </a:endParaRPr>
          </a:p>
          <a:p>
            <a:pPr marL="1000125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1992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证券市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全年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只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94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亿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，到</a:t>
            </a:r>
            <a:endParaRPr sz="2600">
              <a:latin typeface="宋体"/>
              <a:cs typeface="宋体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2001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2103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亿元</a:t>
            </a:r>
            <a:r>
              <a:rPr dirty="0" sz="26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11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累计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8663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亿元</a:t>
            </a:r>
            <a:r>
              <a:rPr dirty="0" sz="26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6296" y="4026408"/>
            <a:ext cx="5849620" cy="2441575"/>
          </a:xfrm>
          <a:custGeom>
            <a:avLst/>
            <a:gdLst/>
            <a:ahLst/>
            <a:cxnLst/>
            <a:rect l="l" t="t" r="r" b="b"/>
            <a:pathLst>
              <a:path w="5849620" h="2441575">
                <a:moveTo>
                  <a:pt x="0" y="0"/>
                </a:moveTo>
                <a:lnTo>
                  <a:pt x="0" y="2441448"/>
                </a:lnTo>
                <a:lnTo>
                  <a:pt x="5849112" y="2441448"/>
                </a:lnTo>
                <a:lnTo>
                  <a:pt x="5849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03247" y="4023360"/>
            <a:ext cx="5852160" cy="2444750"/>
          </a:xfrm>
          <a:custGeom>
            <a:avLst/>
            <a:gdLst/>
            <a:ahLst/>
            <a:cxnLst/>
            <a:rect l="l" t="t" r="r" b="b"/>
            <a:pathLst>
              <a:path w="5852159" h="2444750">
                <a:moveTo>
                  <a:pt x="0" y="0"/>
                </a:moveTo>
                <a:lnTo>
                  <a:pt x="0" y="2444495"/>
                </a:lnTo>
                <a:lnTo>
                  <a:pt x="5852159" y="2444495"/>
                </a:lnTo>
                <a:lnTo>
                  <a:pt x="5852159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67127" y="4248912"/>
            <a:ext cx="5184775" cy="1789430"/>
          </a:xfrm>
          <a:custGeom>
            <a:avLst/>
            <a:gdLst/>
            <a:ahLst/>
            <a:cxnLst/>
            <a:rect l="l" t="t" r="r" b="b"/>
            <a:pathLst>
              <a:path w="5184775" h="1789429">
                <a:moveTo>
                  <a:pt x="0" y="0"/>
                </a:moveTo>
                <a:lnTo>
                  <a:pt x="0" y="1789176"/>
                </a:lnTo>
                <a:lnTo>
                  <a:pt x="5184648" y="1789176"/>
                </a:lnTo>
                <a:lnTo>
                  <a:pt x="51846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96328" y="5675376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 h="0">
                <a:moveTo>
                  <a:pt x="0" y="0"/>
                </a:moveTo>
                <a:lnTo>
                  <a:pt x="15544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75120" y="567537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53912" y="567537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44896" y="567537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23688" y="567537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67127" y="5675376"/>
            <a:ext cx="2740660" cy="0"/>
          </a:xfrm>
          <a:custGeom>
            <a:avLst/>
            <a:gdLst/>
            <a:ahLst/>
            <a:cxnLst/>
            <a:rect l="l" t="t" r="r" b="b"/>
            <a:pathLst>
              <a:path w="2740660" h="0">
                <a:moveTo>
                  <a:pt x="0" y="0"/>
                </a:moveTo>
                <a:lnTo>
                  <a:pt x="27401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96328" y="5324856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 h="0">
                <a:moveTo>
                  <a:pt x="0" y="0"/>
                </a:moveTo>
                <a:lnTo>
                  <a:pt x="15544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75120" y="532485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23688" y="5324856"/>
            <a:ext cx="1335405" cy="0"/>
          </a:xfrm>
          <a:custGeom>
            <a:avLst/>
            <a:gdLst/>
            <a:ahLst/>
            <a:cxnLst/>
            <a:rect l="l" t="t" r="r" b="b"/>
            <a:pathLst>
              <a:path w="1335404" h="0">
                <a:moveTo>
                  <a:pt x="0" y="0"/>
                </a:moveTo>
                <a:lnTo>
                  <a:pt x="1335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67127" y="5324856"/>
            <a:ext cx="2740660" cy="0"/>
          </a:xfrm>
          <a:custGeom>
            <a:avLst/>
            <a:gdLst/>
            <a:ahLst/>
            <a:cxnLst/>
            <a:rect l="l" t="t" r="r" b="b"/>
            <a:pathLst>
              <a:path w="2740660" h="0">
                <a:moveTo>
                  <a:pt x="0" y="0"/>
                </a:moveTo>
                <a:lnTo>
                  <a:pt x="27401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96328" y="4962144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 h="0">
                <a:moveTo>
                  <a:pt x="0" y="0"/>
                </a:moveTo>
                <a:lnTo>
                  <a:pt x="15544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75120" y="4962144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67127" y="4962144"/>
            <a:ext cx="4291965" cy="0"/>
          </a:xfrm>
          <a:custGeom>
            <a:avLst/>
            <a:gdLst/>
            <a:ahLst/>
            <a:cxnLst/>
            <a:rect l="l" t="t" r="r" b="b"/>
            <a:pathLst>
              <a:path w="4291965" h="0">
                <a:moveTo>
                  <a:pt x="0" y="0"/>
                </a:moveTo>
                <a:lnTo>
                  <a:pt x="42915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96328" y="4611624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 h="0">
                <a:moveTo>
                  <a:pt x="0" y="0"/>
                </a:moveTo>
                <a:lnTo>
                  <a:pt x="15544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67127" y="4611624"/>
            <a:ext cx="4813300" cy="0"/>
          </a:xfrm>
          <a:custGeom>
            <a:avLst/>
            <a:gdLst/>
            <a:ahLst/>
            <a:cxnLst/>
            <a:rect l="l" t="t" r="r" b="b"/>
            <a:pathLst>
              <a:path w="4813300" h="0">
                <a:moveTo>
                  <a:pt x="0" y="0"/>
                </a:moveTo>
                <a:lnTo>
                  <a:pt x="481279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67127" y="4248912"/>
            <a:ext cx="5184775" cy="0"/>
          </a:xfrm>
          <a:custGeom>
            <a:avLst/>
            <a:gdLst/>
            <a:ahLst/>
            <a:cxnLst/>
            <a:rect l="l" t="t" r="r" b="b"/>
            <a:pathLst>
              <a:path w="5184775" h="0">
                <a:moveTo>
                  <a:pt x="0" y="0"/>
                </a:moveTo>
                <a:lnTo>
                  <a:pt x="518464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67127" y="4248912"/>
            <a:ext cx="5184775" cy="0"/>
          </a:xfrm>
          <a:custGeom>
            <a:avLst/>
            <a:gdLst/>
            <a:ahLst/>
            <a:cxnLst/>
            <a:rect l="l" t="t" r="r" b="b"/>
            <a:pathLst>
              <a:path w="5184775" h="0">
                <a:moveTo>
                  <a:pt x="0" y="0"/>
                </a:moveTo>
                <a:lnTo>
                  <a:pt x="5184647" y="0"/>
                </a:lnTo>
              </a:path>
            </a:pathLst>
          </a:custGeom>
          <a:ln w="9143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51776" y="4248912"/>
            <a:ext cx="0" cy="1786255"/>
          </a:xfrm>
          <a:custGeom>
            <a:avLst/>
            <a:gdLst/>
            <a:ahLst/>
            <a:cxnLst/>
            <a:rect l="l" t="t" r="r" b="b"/>
            <a:pathLst>
              <a:path w="0" h="1786254">
                <a:moveTo>
                  <a:pt x="0" y="0"/>
                </a:moveTo>
                <a:lnTo>
                  <a:pt x="0" y="1786127"/>
                </a:lnTo>
              </a:path>
            </a:pathLst>
          </a:custGeom>
          <a:ln w="9143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67127" y="6035040"/>
            <a:ext cx="5184775" cy="0"/>
          </a:xfrm>
          <a:custGeom>
            <a:avLst/>
            <a:gdLst/>
            <a:ahLst/>
            <a:cxnLst/>
            <a:rect l="l" t="t" r="r" b="b"/>
            <a:pathLst>
              <a:path w="5184775" h="0">
                <a:moveTo>
                  <a:pt x="518464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67127" y="4248912"/>
            <a:ext cx="0" cy="1786255"/>
          </a:xfrm>
          <a:custGeom>
            <a:avLst/>
            <a:gdLst/>
            <a:ahLst/>
            <a:cxnLst/>
            <a:rect l="l" t="t" r="r" b="b"/>
            <a:pathLst>
              <a:path w="0" h="1786254">
                <a:moveTo>
                  <a:pt x="0" y="1786127"/>
                </a:moveTo>
                <a:lnTo>
                  <a:pt x="0" y="0"/>
                </a:lnTo>
              </a:path>
            </a:pathLst>
          </a:custGeom>
          <a:ln w="9143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16480" y="6001512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5" h="0">
                <a:moveTo>
                  <a:pt x="0" y="0"/>
                </a:moveTo>
                <a:lnTo>
                  <a:pt x="216408" y="0"/>
                </a:lnTo>
              </a:path>
            </a:pathLst>
          </a:custGeom>
          <a:ln w="67056">
            <a:solidFill>
              <a:srgbClr val="99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16479" y="5967984"/>
            <a:ext cx="216535" cy="67310"/>
          </a:xfrm>
          <a:custGeom>
            <a:avLst/>
            <a:gdLst/>
            <a:ahLst/>
            <a:cxnLst/>
            <a:rect l="l" t="t" r="r" b="b"/>
            <a:pathLst>
              <a:path w="216535" h="67310">
                <a:moveTo>
                  <a:pt x="0" y="0"/>
                </a:moveTo>
                <a:lnTo>
                  <a:pt x="0" y="67055"/>
                </a:lnTo>
                <a:lnTo>
                  <a:pt x="216407" y="67055"/>
                </a:lnTo>
                <a:lnTo>
                  <a:pt x="21640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34640" y="5763768"/>
            <a:ext cx="216535" cy="271780"/>
          </a:xfrm>
          <a:custGeom>
            <a:avLst/>
            <a:gdLst/>
            <a:ahLst/>
            <a:cxnLst/>
            <a:rect l="l" t="t" r="r" b="b"/>
            <a:pathLst>
              <a:path w="216535" h="271779">
                <a:moveTo>
                  <a:pt x="0" y="0"/>
                </a:moveTo>
                <a:lnTo>
                  <a:pt x="0" y="271272"/>
                </a:lnTo>
                <a:lnTo>
                  <a:pt x="216408" y="271272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34639" y="5763768"/>
            <a:ext cx="216535" cy="271780"/>
          </a:xfrm>
          <a:custGeom>
            <a:avLst/>
            <a:gdLst/>
            <a:ahLst/>
            <a:cxnLst/>
            <a:rect l="l" t="t" r="r" b="b"/>
            <a:pathLst>
              <a:path w="216535" h="271779">
                <a:moveTo>
                  <a:pt x="0" y="0"/>
                </a:moveTo>
                <a:lnTo>
                  <a:pt x="0" y="271271"/>
                </a:lnTo>
                <a:lnTo>
                  <a:pt x="216407" y="271271"/>
                </a:lnTo>
                <a:lnTo>
                  <a:pt x="21640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55848" y="5797296"/>
            <a:ext cx="204470" cy="238125"/>
          </a:xfrm>
          <a:custGeom>
            <a:avLst/>
            <a:gdLst/>
            <a:ahLst/>
            <a:cxnLst/>
            <a:rect l="l" t="t" r="r" b="b"/>
            <a:pathLst>
              <a:path w="204470" h="238125">
                <a:moveTo>
                  <a:pt x="0" y="0"/>
                </a:moveTo>
                <a:lnTo>
                  <a:pt x="0" y="237744"/>
                </a:lnTo>
                <a:lnTo>
                  <a:pt x="204216" y="237744"/>
                </a:lnTo>
                <a:lnTo>
                  <a:pt x="204216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55847" y="5797296"/>
            <a:ext cx="204470" cy="238125"/>
          </a:xfrm>
          <a:custGeom>
            <a:avLst/>
            <a:gdLst/>
            <a:ahLst/>
            <a:cxnLst/>
            <a:rect l="l" t="t" r="r" b="b"/>
            <a:pathLst>
              <a:path w="204470" h="238125">
                <a:moveTo>
                  <a:pt x="0" y="0"/>
                </a:moveTo>
                <a:lnTo>
                  <a:pt x="0" y="237743"/>
                </a:lnTo>
                <a:lnTo>
                  <a:pt x="204215" y="237743"/>
                </a:lnTo>
                <a:lnTo>
                  <a:pt x="20421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64864" y="5934456"/>
            <a:ext cx="216535" cy="100965"/>
          </a:xfrm>
          <a:custGeom>
            <a:avLst/>
            <a:gdLst/>
            <a:ahLst/>
            <a:cxnLst/>
            <a:rect l="l" t="t" r="r" b="b"/>
            <a:pathLst>
              <a:path w="216535" h="100964">
                <a:moveTo>
                  <a:pt x="0" y="0"/>
                </a:moveTo>
                <a:lnTo>
                  <a:pt x="0" y="100584"/>
                </a:lnTo>
                <a:lnTo>
                  <a:pt x="216408" y="100584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864864" y="5934456"/>
            <a:ext cx="216535" cy="100965"/>
          </a:xfrm>
          <a:custGeom>
            <a:avLst/>
            <a:gdLst/>
            <a:ahLst/>
            <a:cxnLst/>
            <a:rect l="l" t="t" r="r" b="b"/>
            <a:pathLst>
              <a:path w="216535" h="100964">
                <a:moveTo>
                  <a:pt x="0" y="0"/>
                </a:moveTo>
                <a:lnTo>
                  <a:pt x="0" y="100583"/>
                </a:lnTo>
                <a:lnTo>
                  <a:pt x="216407" y="100583"/>
                </a:lnTo>
                <a:lnTo>
                  <a:pt x="21640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386072" y="5730240"/>
            <a:ext cx="216535" cy="304800"/>
          </a:xfrm>
          <a:custGeom>
            <a:avLst/>
            <a:gdLst/>
            <a:ahLst/>
            <a:cxnLst/>
            <a:rect l="l" t="t" r="r" b="b"/>
            <a:pathLst>
              <a:path w="216535" h="304800">
                <a:moveTo>
                  <a:pt x="0" y="0"/>
                </a:moveTo>
                <a:lnTo>
                  <a:pt x="0" y="304800"/>
                </a:lnTo>
                <a:lnTo>
                  <a:pt x="216408" y="304800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386071" y="5730240"/>
            <a:ext cx="216535" cy="304800"/>
          </a:xfrm>
          <a:custGeom>
            <a:avLst/>
            <a:gdLst/>
            <a:ahLst/>
            <a:cxnLst/>
            <a:rect l="l" t="t" r="r" b="b"/>
            <a:pathLst>
              <a:path w="216535" h="304800">
                <a:moveTo>
                  <a:pt x="0" y="0"/>
                </a:moveTo>
                <a:lnTo>
                  <a:pt x="0" y="304799"/>
                </a:lnTo>
                <a:lnTo>
                  <a:pt x="216407" y="304799"/>
                </a:lnTo>
                <a:lnTo>
                  <a:pt x="21640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907280" y="5108448"/>
            <a:ext cx="216535" cy="927100"/>
          </a:xfrm>
          <a:custGeom>
            <a:avLst/>
            <a:gdLst/>
            <a:ahLst/>
            <a:cxnLst/>
            <a:rect l="l" t="t" r="r" b="b"/>
            <a:pathLst>
              <a:path w="216535" h="927100">
                <a:moveTo>
                  <a:pt x="0" y="0"/>
                </a:moveTo>
                <a:lnTo>
                  <a:pt x="0" y="926592"/>
                </a:lnTo>
                <a:lnTo>
                  <a:pt x="216408" y="926592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07279" y="5108448"/>
            <a:ext cx="216535" cy="927100"/>
          </a:xfrm>
          <a:custGeom>
            <a:avLst/>
            <a:gdLst/>
            <a:ahLst/>
            <a:cxnLst/>
            <a:rect l="l" t="t" r="r" b="b"/>
            <a:pathLst>
              <a:path w="216535" h="927100">
                <a:moveTo>
                  <a:pt x="0" y="0"/>
                </a:moveTo>
                <a:lnTo>
                  <a:pt x="0" y="926591"/>
                </a:lnTo>
                <a:lnTo>
                  <a:pt x="216407" y="926591"/>
                </a:lnTo>
                <a:lnTo>
                  <a:pt x="21640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428488" y="5437632"/>
            <a:ext cx="216535" cy="597535"/>
          </a:xfrm>
          <a:custGeom>
            <a:avLst/>
            <a:gdLst/>
            <a:ahLst/>
            <a:cxnLst/>
            <a:rect l="l" t="t" r="r" b="b"/>
            <a:pathLst>
              <a:path w="216535" h="597535">
                <a:moveTo>
                  <a:pt x="0" y="0"/>
                </a:moveTo>
                <a:lnTo>
                  <a:pt x="0" y="597408"/>
                </a:lnTo>
                <a:lnTo>
                  <a:pt x="216408" y="597408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428488" y="5437632"/>
            <a:ext cx="216535" cy="597535"/>
          </a:xfrm>
          <a:custGeom>
            <a:avLst/>
            <a:gdLst/>
            <a:ahLst/>
            <a:cxnLst/>
            <a:rect l="l" t="t" r="r" b="b"/>
            <a:pathLst>
              <a:path w="216535" h="597535">
                <a:moveTo>
                  <a:pt x="0" y="0"/>
                </a:moveTo>
                <a:lnTo>
                  <a:pt x="0" y="597408"/>
                </a:lnTo>
                <a:lnTo>
                  <a:pt x="216407" y="597408"/>
                </a:lnTo>
                <a:lnTo>
                  <a:pt x="21640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49696" y="5367528"/>
            <a:ext cx="204470" cy="668020"/>
          </a:xfrm>
          <a:custGeom>
            <a:avLst/>
            <a:gdLst/>
            <a:ahLst/>
            <a:cxnLst/>
            <a:rect l="l" t="t" r="r" b="b"/>
            <a:pathLst>
              <a:path w="204470" h="668020">
                <a:moveTo>
                  <a:pt x="0" y="0"/>
                </a:moveTo>
                <a:lnTo>
                  <a:pt x="0" y="667512"/>
                </a:lnTo>
                <a:lnTo>
                  <a:pt x="204216" y="667512"/>
                </a:lnTo>
                <a:lnTo>
                  <a:pt x="204216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49695" y="5367528"/>
            <a:ext cx="204470" cy="668020"/>
          </a:xfrm>
          <a:custGeom>
            <a:avLst/>
            <a:gdLst/>
            <a:ahLst/>
            <a:cxnLst/>
            <a:rect l="l" t="t" r="r" b="b"/>
            <a:pathLst>
              <a:path w="204470" h="668020">
                <a:moveTo>
                  <a:pt x="0" y="0"/>
                </a:moveTo>
                <a:lnTo>
                  <a:pt x="0" y="667511"/>
                </a:lnTo>
                <a:lnTo>
                  <a:pt x="204215" y="667511"/>
                </a:lnTo>
                <a:lnTo>
                  <a:pt x="20421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458712" y="4937760"/>
            <a:ext cx="216535" cy="1097280"/>
          </a:xfrm>
          <a:custGeom>
            <a:avLst/>
            <a:gdLst/>
            <a:ahLst/>
            <a:cxnLst/>
            <a:rect l="l" t="t" r="r" b="b"/>
            <a:pathLst>
              <a:path w="216534" h="1097279">
                <a:moveTo>
                  <a:pt x="0" y="0"/>
                </a:moveTo>
                <a:lnTo>
                  <a:pt x="0" y="1097280"/>
                </a:lnTo>
                <a:lnTo>
                  <a:pt x="216408" y="1097280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458711" y="4937760"/>
            <a:ext cx="216535" cy="1097280"/>
          </a:xfrm>
          <a:custGeom>
            <a:avLst/>
            <a:gdLst/>
            <a:ahLst/>
            <a:cxnLst/>
            <a:rect l="l" t="t" r="r" b="b"/>
            <a:pathLst>
              <a:path w="216534" h="1097279">
                <a:moveTo>
                  <a:pt x="0" y="0"/>
                </a:moveTo>
                <a:lnTo>
                  <a:pt x="0" y="1097279"/>
                </a:lnTo>
                <a:lnTo>
                  <a:pt x="216407" y="1097279"/>
                </a:lnTo>
                <a:lnTo>
                  <a:pt x="21640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979920" y="4532376"/>
            <a:ext cx="216535" cy="1503045"/>
          </a:xfrm>
          <a:custGeom>
            <a:avLst/>
            <a:gdLst/>
            <a:ahLst/>
            <a:cxnLst/>
            <a:rect l="l" t="t" r="r" b="b"/>
            <a:pathLst>
              <a:path w="216534" h="1503045">
                <a:moveTo>
                  <a:pt x="0" y="0"/>
                </a:moveTo>
                <a:lnTo>
                  <a:pt x="0" y="1502664"/>
                </a:lnTo>
                <a:lnTo>
                  <a:pt x="216408" y="1502664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979919" y="4532376"/>
            <a:ext cx="216535" cy="1503045"/>
          </a:xfrm>
          <a:custGeom>
            <a:avLst/>
            <a:gdLst/>
            <a:ahLst/>
            <a:cxnLst/>
            <a:rect l="l" t="t" r="r" b="b"/>
            <a:pathLst>
              <a:path w="216534" h="1503045">
                <a:moveTo>
                  <a:pt x="0" y="0"/>
                </a:moveTo>
                <a:lnTo>
                  <a:pt x="0" y="1502664"/>
                </a:lnTo>
                <a:lnTo>
                  <a:pt x="216407" y="1502664"/>
                </a:lnTo>
                <a:lnTo>
                  <a:pt x="21640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67127" y="4248912"/>
            <a:ext cx="0" cy="1786255"/>
          </a:xfrm>
          <a:custGeom>
            <a:avLst/>
            <a:gdLst/>
            <a:ahLst/>
            <a:cxnLst/>
            <a:rect l="l" t="t" r="r" b="b"/>
            <a:pathLst>
              <a:path w="0" h="1786254">
                <a:moveTo>
                  <a:pt x="0" y="0"/>
                </a:moveTo>
                <a:lnTo>
                  <a:pt x="0" y="178612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167127" y="6035040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 h="0">
                <a:moveTo>
                  <a:pt x="0" y="0"/>
                </a:moveTo>
                <a:lnTo>
                  <a:pt x="457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67127" y="5675376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 h="0">
                <a:moveTo>
                  <a:pt x="0" y="0"/>
                </a:moveTo>
                <a:lnTo>
                  <a:pt x="457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167127" y="5324856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 h="0">
                <a:moveTo>
                  <a:pt x="0" y="0"/>
                </a:moveTo>
                <a:lnTo>
                  <a:pt x="457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167127" y="4962144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 h="0">
                <a:moveTo>
                  <a:pt x="0" y="0"/>
                </a:moveTo>
                <a:lnTo>
                  <a:pt x="457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167127" y="4611624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 h="0">
                <a:moveTo>
                  <a:pt x="0" y="0"/>
                </a:moveTo>
                <a:lnTo>
                  <a:pt x="457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167127" y="4248912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 h="0">
                <a:moveTo>
                  <a:pt x="0" y="0"/>
                </a:moveTo>
                <a:lnTo>
                  <a:pt x="457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167127" y="6035040"/>
            <a:ext cx="5184775" cy="0"/>
          </a:xfrm>
          <a:custGeom>
            <a:avLst/>
            <a:gdLst/>
            <a:ahLst/>
            <a:cxnLst/>
            <a:rect l="l" t="t" r="r" b="b"/>
            <a:pathLst>
              <a:path w="5184775" h="0">
                <a:moveTo>
                  <a:pt x="0" y="0"/>
                </a:moveTo>
                <a:lnTo>
                  <a:pt x="518464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167127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688335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209544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718559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239767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760976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282183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803391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312407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830567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351776" y="5992368"/>
            <a:ext cx="0" cy="43180"/>
          </a:xfrm>
          <a:custGeom>
            <a:avLst/>
            <a:gdLst/>
            <a:ahLst/>
            <a:cxnLst/>
            <a:rect l="l" t="t" r="r" b="b"/>
            <a:pathLst>
              <a:path w="0" h="43179">
                <a:moveTo>
                  <a:pt x="0" y="426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2359151" y="5772137"/>
            <a:ext cx="121285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55">
                <a:latin typeface="宋体"/>
                <a:cs typeface="宋体"/>
              </a:rPr>
              <a:t>9</a:t>
            </a:r>
            <a:r>
              <a:rPr dirty="0" sz="800" spc="-5">
                <a:latin typeface="宋体"/>
                <a:cs typeface="宋体"/>
              </a:rPr>
              <a:t>4</a:t>
            </a:r>
            <a:endParaRPr sz="800">
              <a:latin typeface="宋体"/>
              <a:cs typeface="宋体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859023" y="5570969"/>
            <a:ext cx="175895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30">
                <a:latin typeface="宋体"/>
                <a:cs typeface="宋体"/>
              </a:rPr>
              <a:t>3</a:t>
            </a:r>
            <a:r>
              <a:rPr dirty="0" sz="800" spc="55">
                <a:latin typeface="宋体"/>
                <a:cs typeface="宋体"/>
              </a:rPr>
              <a:t>7</a:t>
            </a:r>
            <a:r>
              <a:rPr dirty="0" sz="800" spc="-5">
                <a:latin typeface="宋体"/>
                <a:cs typeface="宋体"/>
              </a:rPr>
              <a:t>5</a:t>
            </a:r>
            <a:endParaRPr sz="800">
              <a:latin typeface="宋体"/>
              <a:cs typeface="宋体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380232" y="5604497"/>
            <a:ext cx="175895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30">
                <a:latin typeface="宋体"/>
                <a:cs typeface="宋体"/>
              </a:rPr>
              <a:t>3</a:t>
            </a:r>
            <a:r>
              <a:rPr dirty="0" sz="800" spc="55">
                <a:latin typeface="宋体"/>
                <a:cs typeface="宋体"/>
              </a:rPr>
              <a:t>2</a:t>
            </a:r>
            <a:r>
              <a:rPr dirty="0" sz="800" spc="-5">
                <a:latin typeface="宋体"/>
                <a:cs typeface="宋体"/>
              </a:rPr>
              <a:t>7</a:t>
            </a:r>
            <a:endParaRPr sz="800">
              <a:latin typeface="宋体"/>
              <a:cs typeface="宋体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889247" y="5738609"/>
            <a:ext cx="175895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30">
                <a:latin typeface="宋体"/>
                <a:cs typeface="宋体"/>
              </a:rPr>
              <a:t>1</a:t>
            </a:r>
            <a:r>
              <a:rPr dirty="0" sz="800" spc="55">
                <a:latin typeface="宋体"/>
                <a:cs typeface="宋体"/>
              </a:rPr>
              <a:t>5</a:t>
            </a:r>
            <a:r>
              <a:rPr dirty="0" sz="800" spc="-5">
                <a:latin typeface="宋体"/>
                <a:cs typeface="宋体"/>
              </a:rPr>
              <a:t>0</a:t>
            </a:r>
            <a:endParaRPr sz="800">
              <a:latin typeface="宋体"/>
              <a:cs typeface="宋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410455" y="5534393"/>
            <a:ext cx="175895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30">
                <a:latin typeface="宋体"/>
                <a:cs typeface="宋体"/>
              </a:rPr>
              <a:t>4</a:t>
            </a:r>
            <a:r>
              <a:rPr dirty="0" sz="800" spc="55">
                <a:latin typeface="宋体"/>
                <a:cs typeface="宋体"/>
              </a:rPr>
              <a:t>2</a:t>
            </a:r>
            <a:r>
              <a:rPr dirty="0" sz="800" spc="-5">
                <a:latin typeface="宋体"/>
                <a:cs typeface="宋体"/>
              </a:rPr>
              <a:t>5</a:t>
            </a:r>
            <a:endParaRPr sz="800">
              <a:latin typeface="宋体"/>
              <a:cs typeface="宋体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895088" y="4912601"/>
            <a:ext cx="233679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55">
                <a:latin typeface="宋体"/>
                <a:cs typeface="宋体"/>
              </a:rPr>
              <a:t>12</a:t>
            </a:r>
            <a:r>
              <a:rPr dirty="0" sz="800" spc="30">
                <a:latin typeface="宋体"/>
                <a:cs typeface="宋体"/>
              </a:rPr>
              <a:t>9</a:t>
            </a:r>
            <a:r>
              <a:rPr dirty="0" sz="800" spc="-5">
                <a:latin typeface="宋体"/>
                <a:cs typeface="宋体"/>
              </a:rPr>
              <a:t>4</a:t>
            </a:r>
            <a:endParaRPr sz="800">
              <a:latin typeface="宋体"/>
              <a:cs typeface="宋体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449823" y="5241785"/>
            <a:ext cx="175895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55">
                <a:latin typeface="宋体"/>
                <a:cs typeface="宋体"/>
              </a:rPr>
              <a:t>8</a:t>
            </a:r>
            <a:r>
              <a:rPr dirty="0" sz="800" spc="30">
                <a:latin typeface="宋体"/>
                <a:cs typeface="宋体"/>
              </a:rPr>
              <a:t>3</a:t>
            </a:r>
            <a:r>
              <a:rPr dirty="0" sz="800" spc="-5">
                <a:latin typeface="宋体"/>
                <a:cs typeface="宋体"/>
              </a:rPr>
              <a:t>7</a:t>
            </a:r>
            <a:endParaRPr sz="800">
              <a:latin typeface="宋体"/>
              <a:cs typeface="宋体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971032" y="5174729"/>
            <a:ext cx="175895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55">
                <a:latin typeface="宋体"/>
                <a:cs typeface="宋体"/>
              </a:rPr>
              <a:t>9</a:t>
            </a:r>
            <a:r>
              <a:rPr dirty="0" sz="800" spc="30">
                <a:latin typeface="宋体"/>
                <a:cs typeface="宋体"/>
              </a:rPr>
              <a:t>2</a:t>
            </a:r>
            <a:r>
              <a:rPr dirty="0" sz="800" spc="-5">
                <a:latin typeface="宋体"/>
                <a:cs typeface="宋体"/>
              </a:rPr>
              <a:t>6</a:t>
            </a:r>
            <a:endParaRPr sz="800">
              <a:latin typeface="宋体"/>
              <a:cs typeface="宋体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446520" y="4744961"/>
            <a:ext cx="233679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55">
                <a:latin typeface="宋体"/>
                <a:cs typeface="宋体"/>
              </a:rPr>
              <a:t>1</a:t>
            </a:r>
            <a:r>
              <a:rPr dirty="0" sz="800" spc="30">
                <a:latin typeface="宋体"/>
                <a:cs typeface="宋体"/>
              </a:rPr>
              <a:t>5</a:t>
            </a:r>
            <a:r>
              <a:rPr dirty="0" sz="800" spc="55">
                <a:latin typeface="宋体"/>
                <a:cs typeface="宋体"/>
              </a:rPr>
              <a:t>4</a:t>
            </a:r>
            <a:r>
              <a:rPr dirty="0" sz="800" spc="-5">
                <a:latin typeface="宋体"/>
                <a:cs typeface="宋体"/>
              </a:rPr>
              <a:t>1</a:t>
            </a:r>
            <a:endParaRPr sz="800">
              <a:latin typeface="宋体"/>
              <a:cs typeface="宋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967728" y="4336529"/>
            <a:ext cx="233679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800" spc="55">
                <a:latin typeface="宋体"/>
                <a:cs typeface="宋体"/>
              </a:rPr>
              <a:t>2</a:t>
            </a:r>
            <a:r>
              <a:rPr dirty="0" sz="800" spc="30">
                <a:latin typeface="宋体"/>
                <a:cs typeface="宋体"/>
              </a:rPr>
              <a:t>1</a:t>
            </a:r>
            <a:r>
              <a:rPr dirty="0" sz="800" spc="55">
                <a:latin typeface="宋体"/>
                <a:cs typeface="宋体"/>
              </a:rPr>
              <a:t>0</a:t>
            </a:r>
            <a:r>
              <a:rPr dirty="0" sz="800" spc="-5">
                <a:latin typeface="宋体"/>
                <a:cs typeface="宋体"/>
              </a:rPr>
              <a:t>3</a:t>
            </a:r>
            <a:endParaRPr sz="800">
              <a:latin typeface="宋体"/>
              <a:cs typeface="宋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816607" y="5570987"/>
            <a:ext cx="2444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45">
                <a:latin typeface="宋体"/>
                <a:cs typeface="宋体"/>
              </a:rPr>
              <a:t>50</a:t>
            </a:r>
            <a:r>
              <a:rPr dirty="0" sz="115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737360" y="5220467"/>
            <a:ext cx="3238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45">
                <a:latin typeface="宋体"/>
                <a:cs typeface="宋体"/>
              </a:rPr>
              <a:t>100</a:t>
            </a:r>
            <a:r>
              <a:rPr dirty="0" sz="115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737360" y="4857755"/>
            <a:ext cx="3238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45">
                <a:latin typeface="宋体"/>
                <a:cs typeface="宋体"/>
              </a:rPr>
              <a:t>150</a:t>
            </a:r>
            <a:r>
              <a:rPr dirty="0" sz="115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737360" y="4507235"/>
            <a:ext cx="3238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45">
                <a:latin typeface="宋体"/>
                <a:cs typeface="宋体"/>
              </a:rPr>
              <a:t>200</a:t>
            </a:r>
            <a:r>
              <a:rPr dirty="0" sz="115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737360" y="4147571"/>
            <a:ext cx="3238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45">
                <a:latin typeface="宋体"/>
                <a:cs typeface="宋体"/>
              </a:rPr>
              <a:t>250</a:t>
            </a:r>
            <a:r>
              <a:rPr dirty="0" sz="115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975104" y="5904978"/>
            <a:ext cx="5283200" cy="43434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115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  <a:p>
            <a:pPr marL="295275">
              <a:lnSpc>
                <a:spcPct val="100000"/>
              </a:lnSpc>
              <a:spcBef>
                <a:spcPts val="229"/>
              </a:spcBef>
              <a:tabLst>
                <a:tab pos="816610" algn="l"/>
                <a:tab pos="1334770" algn="l"/>
                <a:tab pos="1846580" algn="l"/>
                <a:tab pos="2364740" algn="l"/>
                <a:tab pos="2886075" algn="l"/>
                <a:tab pos="3407410" algn="l"/>
                <a:tab pos="3928745" algn="l"/>
                <a:tab pos="4437380" algn="l"/>
                <a:tab pos="4958715" algn="l"/>
              </a:tabLst>
            </a:pPr>
            <a:r>
              <a:rPr dirty="0" sz="1150" spc="45">
                <a:latin typeface="宋体"/>
                <a:cs typeface="宋体"/>
              </a:rPr>
              <a:t>199</a:t>
            </a:r>
            <a:r>
              <a:rPr dirty="0" sz="1150">
                <a:latin typeface="宋体"/>
                <a:cs typeface="宋体"/>
              </a:rPr>
              <a:t>2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199</a:t>
            </a:r>
            <a:r>
              <a:rPr dirty="0" sz="1150">
                <a:latin typeface="宋体"/>
                <a:cs typeface="宋体"/>
              </a:rPr>
              <a:t>3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199</a:t>
            </a:r>
            <a:r>
              <a:rPr dirty="0" sz="1150">
                <a:latin typeface="宋体"/>
                <a:cs typeface="宋体"/>
              </a:rPr>
              <a:t>4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199</a:t>
            </a:r>
            <a:r>
              <a:rPr dirty="0" sz="1150">
                <a:latin typeface="宋体"/>
                <a:cs typeface="宋体"/>
              </a:rPr>
              <a:t>5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199</a:t>
            </a:r>
            <a:r>
              <a:rPr dirty="0" sz="1150">
                <a:latin typeface="宋体"/>
                <a:cs typeface="宋体"/>
              </a:rPr>
              <a:t>6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199</a:t>
            </a:r>
            <a:r>
              <a:rPr dirty="0" sz="1150">
                <a:latin typeface="宋体"/>
                <a:cs typeface="宋体"/>
              </a:rPr>
              <a:t>7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199</a:t>
            </a:r>
            <a:r>
              <a:rPr dirty="0" sz="1150">
                <a:latin typeface="宋体"/>
                <a:cs typeface="宋体"/>
              </a:rPr>
              <a:t>8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199</a:t>
            </a:r>
            <a:r>
              <a:rPr dirty="0" sz="1150">
                <a:latin typeface="宋体"/>
                <a:cs typeface="宋体"/>
              </a:rPr>
              <a:t>9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200</a:t>
            </a:r>
            <a:r>
              <a:rPr dirty="0" sz="1150">
                <a:latin typeface="宋体"/>
                <a:cs typeface="宋体"/>
              </a:rPr>
              <a:t>0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 spc="45">
                <a:latin typeface="宋体"/>
                <a:cs typeface="宋体"/>
              </a:rPr>
              <a:t>200</a:t>
            </a:r>
            <a:r>
              <a:rPr dirty="0" sz="115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603247" y="4023360"/>
            <a:ext cx="5852160" cy="2444750"/>
          </a:xfrm>
          <a:custGeom>
            <a:avLst/>
            <a:gdLst/>
            <a:ahLst/>
            <a:cxnLst/>
            <a:rect l="l" t="t" r="r" b="b"/>
            <a:pathLst>
              <a:path w="5852159" h="2444750">
                <a:moveTo>
                  <a:pt x="0" y="0"/>
                </a:moveTo>
                <a:lnTo>
                  <a:pt x="0" y="2444495"/>
                </a:lnTo>
                <a:lnTo>
                  <a:pt x="5852159" y="2444495"/>
                </a:lnTo>
                <a:lnTo>
                  <a:pt x="5852159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普通股</a:t>
            </a:r>
            <a:r>
              <a:rPr dirty="0" sz="4000" spc="-20"/>
              <a:t>概</a:t>
            </a:r>
            <a:r>
              <a:rPr dirty="0" sz="4000" spc="5"/>
              <a:t>述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60831" y="3169920"/>
            <a:ext cx="8107680" cy="3456940"/>
          </a:xfrm>
          <a:custGeom>
            <a:avLst/>
            <a:gdLst/>
            <a:ahLst/>
            <a:cxnLst/>
            <a:rect l="l" t="t" r="r" b="b"/>
            <a:pathLst>
              <a:path w="8107680" h="3456940">
                <a:moveTo>
                  <a:pt x="0" y="0"/>
                </a:moveTo>
                <a:lnTo>
                  <a:pt x="0" y="3456432"/>
                </a:lnTo>
                <a:lnTo>
                  <a:pt x="8107680" y="3456432"/>
                </a:lnTo>
                <a:lnTo>
                  <a:pt x="8107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7783" y="3166872"/>
            <a:ext cx="8110855" cy="3459479"/>
          </a:xfrm>
          <a:custGeom>
            <a:avLst/>
            <a:gdLst/>
            <a:ahLst/>
            <a:cxnLst/>
            <a:rect l="l" t="t" r="r" b="b"/>
            <a:pathLst>
              <a:path w="8110855" h="3459479">
                <a:moveTo>
                  <a:pt x="0" y="0"/>
                </a:moveTo>
                <a:lnTo>
                  <a:pt x="0" y="3459479"/>
                </a:lnTo>
                <a:lnTo>
                  <a:pt x="8110727" y="3459479"/>
                </a:lnTo>
                <a:lnTo>
                  <a:pt x="8110727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93336" y="4736592"/>
            <a:ext cx="302260" cy="536575"/>
          </a:xfrm>
          <a:custGeom>
            <a:avLst/>
            <a:gdLst/>
            <a:ahLst/>
            <a:cxnLst/>
            <a:rect l="l" t="t" r="r" b="b"/>
            <a:pathLst>
              <a:path w="302260" h="536575">
                <a:moveTo>
                  <a:pt x="301752" y="0"/>
                </a:moveTo>
                <a:lnTo>
                  <a:pt x="0" y="259080"/>
                </a:lnTo>
                <a:lnTo>
                  <a:pt x="0" y="536448"/>
                </a:lnTo>
                <a:lnTo>
                  <a:pt x="301752" y="277368"/>
                </a:lnTo>
                <a:lnTo>
                  <a:pt x="301752" y="0"/>
                </a:lnTo>
                <a:close/>
              </a:path>
            </a:pathLst>
          </a:custGeom>
          <a:solidFill>
            <a:srgbClr val="4D4D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93335" y="4736592"/>
            <a:ext cx="302260" cy="536575"/>
          </a:xfrm>
          <a:custGeom>
            <a:avLst/>
            <a:gdLst/>
            <a:ahLst/>
            <a:cxnLst/>
            <a:rect l="l" t="t" r="r" b="b"/>
            <a:pathLst>
              <a:path w="302260" h="536575">
                <a:moveTo>
                  <a:pt x="0" y="259079"/>
                </a:moveTo>
                <a:lnTo>
                  <a:pt x="301751" y="0"/>
                </a:lnTo>
                <a:lnTo>
                  <a:pt x="301751" y="277367"/>
                </a:lnTo>
                <a:lnTo>
                  <a:pt x="0" y="536447"/>
                </a:lnTo>
                <a:lnTo>
                  <a:pt x="0" y="259079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93336" y="4736592"/>
            <a:ext cx="302260" cy="259079"/>
          </a:xfrm>
          <a:custGeom>
            <a:avLst/>
            <a:gdLst/>
            <a:ahLst/>
            <a:cxnLst/>
            <a:rect l="l" t="t" r="r" b="b"/>
            <a:pathLst>
              <a:path w="302260" h="259079">
                <a:moveTo>
                  <a:pt x="301752" y="0"/>
                </a:moveTo>
                <a:lnTo>
                  <a:pt x="0" y="0"/>
                </a:lnTo>
                <a:lnTo>
                  <a:pt x="0" y="259080"/>
                </a:lnTo>
                <a:lnTo>
                  <a:pt x="301752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93335" y="4736592"/>
            <a:ext cx="302260" cy="259079"/>
          </a:xfrm>
          <a:custGeom>
            <a:avLst/>
            <a:gdLst/>
            <a:ahLst/>
            <a:cxnLst/>
            <a:rect l="l" t="t" r="r" b="b"/>
            <a:pathLst>
              <a:path w="302260" h="259079">
                <a:moveTo>
                  <a:pt x="0" y="0"/>
                </a:moveTo>
                <a:lnTo>
                  <a:pt x="0" y="0"/>
                </a:lnTo>
                <a:lnTo>
                  <a:pt x="301751" y="0"/>
                </a:lnTo>
                <a:lnTo>
                  <a:pt x="0" y="259079"/>
                </a:lnTo>
                <a:lnTo>
                  <a:pt x="0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13047" y="4258056"/>
            <a:ext cx="55244" cy="0"/>
          </a:xfrm>
          <a:custGeom>
            <a:avLst/>
            <a:gdLst/>
            <a:ahLst/>
            <a:cxnLst/>
            <a:rect l="l" t="t" r="r" b="b"/>
            <a:pathLst>
              <a:path w="55245" h="0">
                <a:moveTo>
                  <a:pt x="0" y="0"/>
                </a:moveTo>
                <a:lnTo>
                  <a:pt x="548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67911" y="4258056"/>
            <a:ext cx="866140" cy="457200"/>
          </a:xfrm>
          <a:custGeom>
            <a:avLst/>
            <a:gdLst/>
            <a:ahLst/>
            <a:cxnLst/>
            <a:rect l="l" t="t" r="r" b="b"/>
            <a:pathLst>
              <a:path w="866139" h="457200">
                <a:moveTo>
                  <a:pt x="0" y="0"/>
                </a:moveTo>
                <a:lnTo>
                  <a:pt x="865631" y="45719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93336" y="4834128"/>
            <a:ext cx="744220" cy="439420"/>
          </a:xfrm>
          <a:custGeom>
            <a:avLst/>
            <a:gdLst/>
            <a:ahLst/>
            <a:cxnLst/>
            <a:rect l="l" t="t" r="r" b="b"/>
            <a:pathLst>
              <a:path w="744220" h="439420">
                <a:moveTo>
                  <a:pt x="743712" y="0"/>
                </a:moveTo>
                <a:lnTo>
                  <a:pt x="0" y="161544"/>
                </a:lnTo>
                <a:lnTo>
                  <a:pt x="0" y="438912"/>
                </a:lnTo>
                <a:lnTo>
                  <a:pt x="743712" y="280416"/>
                </a:lnTo>
                <a:lnTo>
                  <a:pt x="743712" y="0"/>
                </a:lnTo>
                <a:close/>
              </a:path>
            </a:pathLst>
          </a:custGeom>
          <a:solidFill>
            <a:srgbClr val="4D1A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93335" y="4834128"/>
            <a:ext cx="744220" cy="439420"/>
          </a:xfrm>
          <a:custGeom>
            <a:avLst/>
            <a:gdLst/>
            <a:ahLst/>
            <a:cxnLst/>
            <a:rect l="l" t="t" r="r" b="b"/>
            <a:pathLst>
              <a:path w="744220" h="439420">
                <a:moveTo>
                  <a:pt x="0" y="161543"/>
                </a:moveTo>
                <a:lnTo>
                  <a:pt x="743711" y="0"/>
                </a:lnTo>
                <a:lnTo>
                  <a:pt x="743711" y="280415"/>
                </a:lnTo>
                <a:lnTo>
                  <a:pt x="0" y="438911"/>
                </a:lnTo>
                <a:lnTo>
                  <a:pt x="0" y="161543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93336" y="4736592"/>
            <a:ext cx="762000" cy="259079"/>
          </a:xfrm>
          <a:custGeom>
            <a:avLst/>
            <a:gdLst/>
            <a:ahLst/>
            <a:cxnLst/>
            <a:rect l="l" t="t" r="r" b="b"/>
            <a:pathLst>
              <a:path w="762000" h="259079">
                <a:moveTo>
                  <a:pt x="301752" y="0"/>
                </a:moveTo>
                <a:lnTo>
                  <a:pt x="0" y="259080"/>
                </a:lnTo>
                <a:lnTo>
                  <a:pt x="762000" y="97536"/>
                </a:lnTo>
                <a:lnTo>
                  <a:pt x="707136" y="97536"/>
                </a:lnTo>
                <a:lnTo>
                  <a:pt x="673608" y="79248"/>
                </a:lnTo>
                <a:lnTo>
                  <a:pt x="618744" y="57912"/>
                </a:lnTo>
                <a:lnTo>
                  <a:pt x="585216" y="57912"/>
                </a:lnTo>
                <a:lnTo>
                  <a:pt x="530352" y="39624"/>
                </a:lnTo>
                <a:lnTo>
                  <a:pt x="478536" y="39624"/>
                </a:lnTo>
                <a:lnTo>
                  <a:pt x="423672" y="18288"/>
                </a:lnTo>
                <a:lnTo>
                  <a:pt x="371856" y="18288"/>
                </a:lnTo>
                <a:lnTo>
                  <a:pt x="301752" y="0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93335" y="4736592"/>
            <a:ext cx="762000" cy="259079"/>
          </a:xfrm>
          <a:custGeom>
            <a:avLst/>
            <a:gdLst/>
            <a:ahLst/>
            <a:cxnLst/>
            <a:rect l="l" t="t" r="r" b="b"/>
            <a:pathLst>
              <a:path w="762000" h="259079">
                <a:moveTo>
                  <a:pt x="301751" y="0"/>
                </a:moveTo>
                <a:lnTo>
                  <a:pt x="371855" y="18287"/>
                </a:lnTo>
                <a:lnTo>
                  <a:pt x="423671" y="18287"/>
                </a:lnTo>
                <a:lnTo>
                  <a:pt x="478535" y="39623"/>
                </a:lnTo>
                <a:lnTo>
                  <a:pt x="530351" y="39623"/>
                </a:lnTo>
                <a:lnTo>
                  <a:pt x="585215" y="57911"/>
                </a:lnTo>
                <a:lnTo>
                  <a:pt x="618743" y="57911"/>
                </a:lnTo>
                <a:lnTo>
                  <a:pt x="673607" y="79247"/>
                </a:lnTo>
                <a:lnTo>
                  <a:pt x="707135" y="97535"/>
                </a:lnTo>
                <a:lnTo>
                  <a:pt x="761999" y="97535"/>
                </a:lnTo>
                <a:lnTo>
                  <a:pt x="0" y="259079"/>
                </a:lnTo>
                <a:lnTo>
                  <a:pt x="301751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72840" y="5013960"/>
            <a:ext cx="1859280" cy="536575"/>
          </a:xfrm>
          <a:custGeom>
            <a:avLst/>
            <a:gdLst/>
            <a:ahLst/>
            <a:cxnLst/>
            <a:rect l="l" t="t" r="r" b="b"/>
            <a:pathLst>
              <a:path w="1859279" h="536575">
                <a:moveTo>
                  <a:pt x="1115568" y="518160"/>
                </a:moveTo>
                <a:lnTo>
                  <a:pt x="725424" y="518160"/>
                </a:lnTo>
                <a:lnTo>
                  <a:pt x="813816" y="536448"/>
                </a:lnTo>
                <a:lnTo>
                  <a:pt x="1042416" y="536448"/>
                </a:lnTo>
                <a:lnTo>
                  <a:pt x="1115568" y="518160"/>
                </a:lnTo>
                <a:close/>
              </a:path>
              <a:path w="1859279" h="536575">
                <a:moveTo>
                  <a:pt x="1310640" y="496824"/>
                </a:moveTo>
                <a:lnTo>
                  <a:pt x="530352" y="496824"/>
                </a:lnTo>
                <a:lnTo>
                  <a:pt x="582168" y="518160"/>
                </a:lnTo>
                <a:lnTo>
                  <a:pt x="1255776" y="518160"/>
                </a:lnTo>
                <a:lnTo>
                  <a:pt x="1310640" y="496824"/>
                </a:lnTo>
                <a:close/>
              </a:path>
              <a:path w="1859279" h="536575">
                <a:moveTo>
                  <a:pt x="1450848" y="478536"/>
                </a:moveTo>
                <a:lnTo>
                  <a:pt x="390144" y="478536"/>
                </a:lnTo>
                <a:lnTo>
                  <a:pt x="460248" y="496824"/>
                </a:lnTo>
                <a:lnTo>
                  <a:pt x="1399032" y="496824"/>
                </a:lnTo>
                <a:lnTo>
                  <a:pt x="1450848" y="478536"/>
                </a:lnTo>
                <a:close/>
              </a:path>
              <a:path w="1859279" h="536575">
                <a:moveTo>
                  <a:pt x="1716024" y="399288"/>
                </a:moveTo>
                <a:lnTo>
                  <a:pt x="140208" y="399288"/>
                </a:lnTo>
                <a:lnTo>
                  <a:pt x="176784" y="417576"/>
                </a:lnTo>
                <a:lnTo>
                  <a:pt x="228600" y="438912"/>
                </a:lnTo>
                <a:lnTo>
                  <a:pt x="283464" y="457200"/>
                </a:lnTo>
                <a:lnTo>
                  <a:pt x="335280" y="478536"/>
                </a:lnTo>
                <a:lnTo>
                  <a:pt x="1505712" y="478536"/>
                </a:lnTo>
                <a:lnTo>
                  <a:pt x="1575816" y="457200"/>
                </a:lnTo>
                <a:lnTo>
                  <a:pt x="1609344" y="438912"/>
                </a:lnTo>
                <a:lnTo>
                  <a:pt x="1664208" y="417576"/>
                </a:lnTo>
                <a:lnTo>
                  <a:pt x="1716024" y="399288"/>
                </a:lnTo>
                <a:close/>
              </a:path>
              <a:path w="1859279" h="536575">
                <a:moveTo>
                  <a:pt x="1804416" y="338328"/>
                </a:moveTo>
                <a:lnTo>
                  <a:pt x="33528" y="338328"/>
                </a:lnTo>
                <a:lnTo>
                  <a:pt x="70104" y="377952"/>
                </a:lnTo>
                <a:lnTo>
                  <a:pt x="106680" y="399288"/>
                </a:lnTo>
                <a:lnTo>
                  <a:pt x="1752600" y="399288"/>
                </a:lnTo>
                <a:lnTo>
                  <a:pt x="1789176" y="377952"/>
                </a:lnTo>
                <a:lnTo>
                  <a:pt x="1804416" y="338328"/>
                </a:lnTo>
                <a:close/>
              </a:path>
              <a:path w="1859279" h="536575">
                <a:moveTo>
                  <a:pt x="0" y="21336"/>
                </a:moveTo>
                <a:lnTo>
                  <a:pt x="0" y="298704"/>
                </a:lnTo>
                <a:lnTo>
                  <a:pt x="15240" y="338328"/>
                </a:lnTo>
                <a:lnTo>
                  <a:pt x="1822704" y="338328"/>
                </a:lnTo>
                <a:lnTo>
                  <a:pt x="1840992" y="298704"/>
                </a:lnTo>
                <a:lnTo>
                  <a:pt x="1859280" y="277368"/>
                </a:lnTo>
                <a:lnTo>
                  <a:pt x="1859280" y="259080"/>
                </a:lnTo>
                <a:lnTo>
                  <a:pt x="813816" y="259080"/>
                </a:lnTo>
                <a:lnTo>
                  <a:pt x="725424" y="237744"/>
                </a:lnTo>
                <a:lnTo>
                  <a:pt x="582168" y="237744"/>
                </a:lnTo>
                <a:lnTo>
                  <a:pt x="530352" y="219456"/>
                </a:lnTo>
                <a:lnTo>
                  <a:pt x="460248" y="219456"/>
                </a:lnTo>
                <a:lnTo>
                  <a:pt x="390144" y="198120"/>
                </a:lnTo>
                <a:lnTo>
                  <a:pt x="335280" y="198120"/>
                </a:lnTo>
                <a:lnTo>
                  <a:pt x="283464" y="179832"/>
                </a:lnTo>
                <a:lnTo>
                  <a:pt x="228600" y="158496"/>
                </a:lnTo>
                <a:lnTo>
                  <a:pt x="176784" y="140208"/>
                </a:lnTo>
                <a:lnTo>
                  <a:pt x="140208" y="118872"/>
                </a:lnTo>
                <a:lnTo>
                  <a:pt x="106680" y="118872"/>
                </a:lnTo>
                <a:lnTo>
                  <a:pt x="70104" y="100584"/>
                </a:lnTo>
                <a:lnTo>
                  <a:pt x="33528" y="60960"/>
                </a:lnTo>
                <a:lnTo>
                  <a:pt x="15240" y="60960"/>
                </a:lnTo>
                <a:lnTo>
                  <a:pt x="0" y="21336"/>
                </a:lnTo>
                <a:close/>
              </a:path>
              <a:path w="1859279" h="536575">
                <a:moveTo>
                  <a:pt x="1859280" y="0"/>
                </a:moveTo>
                <a:lnTo>
                  <a:pt x="1840992" y="21336"/>
                </a:lnTo>
                <a:lnTo>
                  <a:pt x="1822704" y="60960"/>
                </a:lnTo>
                <a:lnTo>
                  <a:pt x="1804416" y="60960"/>
                </a:lnTo>
                <a:lnTo>
                  <a:pt x="1789176" y="100584"/>
                </a:lnTo>
                <a:lnTo>
                  <a:pt x="1752600" y="118872"/>
                </a:lnTo>
                <a:lnTo>
                  <a:pt x="1716024" y="118872"/>
                </a:lnTo>
                <a:lnTo>
                  <a:pt x="1664208" y="140208"/>
                </a:lnTo>
                <a:lnTo>
                  <a:pt x="1609344" y="158496"/>
                </a:lnTo>
                <a:lnTo>
                  <a:pt x="1575816" y="179832"/>
                </a:lnTo>
                <a:lnTo>
                  <a:pt x="1505712" y="198120"/>
                </a:lnTo>
                <a:lnTo>
                  <a:pt x="1450848" y="198120"/>
                </a:lnTo>
                <a:lnTo>
                  <a:pt x="1399032" y="219456"/>
                </a:lnTo>
                <a:lnTo>
                  <a:pt x="1310640" y="219456"/>
                </a:lnTo>
                <a:lnTo>
                  <a:pt x="1255776" y="237744"/>
                </a:lnTo>
                <a:lnTo>
                  <a:pt x="1115568" y="237744"/>
                </a:lnTo>
                <a:lnTo>
                  <a:pt x="1042416" y="259080"/>
                </a:lnTo>
                <a:lnTo>
                  <a:pt x="1859280" y="259080"/>
                </a:lnTo>
                <a:lnTo>
                  <a:pt x="1859280" y="0"/>
                </a:lnTo>
                <a:close/>
              </a:path>
            </a:pathLst>
          </a:custGeom>
          <a:solidFill>
            <a:srgbClr val="808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72839" y="4995672"/>
            <a:ext cx="1859280" cy="554990"/>
          </a:xfrm>
          <a:custGeom>
            <a:avLst/>
            <a:gdLst/>
            <a:ahLst/>
            <a:cxnLst/>
            <a:rect l="l" t="t" r="r" b="b"/>
            <a:pathLst>
              <a:path w="1859279" h="554989">
                <a:moveTo>
                  <a:pt x="1859279" y="0"/>
                </a:moveTo>
                <a:lnTo>
                  <a:pt x="1859279" y="18287"/>
                </a:lnTo>
                <a:lnTo>
                  <a:pt x="1840991" y="39623"/>
                </a:lnTo>
                <a:lnTo>
                  <a:pt x="1822703" y="79247"/>
                </a:lnTo>
                <a:lnTo>
                  <a:pt x="1804415" y="79247"/>
                </a:lnTo>
                <a:lnTo>
                  <a:pt x="1789175" y="118871"/>
                </a:lnTo>
                <a:lnTo>
                  <a:pt x="1752599" y="137159"/>
                </a:lnTo>
                <a:lnTo>
                  <a:pt x="1716023" y="137159"/>
                </a:lnTo>
                <a:lnTo>
                  <a:pt x="1664207" y="158495"/>
                </a:lnTo>
                <a:lnTo>
                  <a:pt x="1609343" y="176783"/>
                </a:lnTo>
                <a:lnTo>
                  <a:pt x="1575815" y="198119"/>
                </a:lnTo>
                <a:lnTo>
                  <a:pt x="1505711" y="216407"/>
                </a:lnTo>
                <a:lnTo>
                  <a:pt x="1450847" y="216407"/>
                </a:lnTo>
                <a:lnTo>
                  <a:pt x="1399031" y="237743"/>
                </a:lnTo>
                <a:lnTo>
                  <a:pt x="1310639" y="237743"/>
                </a:lnTo>
                <a:lnTo>
                  <a:pt x="1255775" y="256031"/>
                </a:lnTo>
                <a:lnTo>
                  <a:pt x="1185671" y="256031"/>
                </a:lnTo>
                <a:lnTo>
                  <a:pt x="1115567" y="256031"/>
                </a:lnTo>
                <a:lnTo>
                  <a:pt x="1042415" y="277367"/>
                </a:lnTo>
                <a:lnTo>
                  <a:pt x="954023" y="277367"/>
                </a:lnTo>
                <a:lnTo>
                  <a:pt x="883919" y="277367"/>
                </a:lnTo>
                <a:lnTo>
                  <a:pt x="813815" y="277367"/>
                </a:lnTo>
                <a:lnTo>
                  <a:pt x="725423" y="256031"/>
                </a:lnTo>
                <a:lnTo>
                  <a:pt x="670559" y="256031"/>
                </a:lnTo>
                <a:lnTo>
                  <a:pt x="582167" y="256031"/>
                </a:lnTo>
                <a:lnTo>
                  <a:pt x="530351" y="237743"/>
                </a:lnTo>
                <a:lnTo>
                  <a:pt x="460247" y="237743"/>
                </a:lnTo>
                <a:lnTo>
                  <a:pt x="390143" y="216407"/>
                </a:lnTo>
                <a:lnTo>
                  <a:pt x="335279" y="216407"/>
                </a:lnTo>
                <a:lnTo>
                  <a:pt x="283463" y="198119"/>
                </a:lnTo>
                <a:lnTo>
                  <a:pt x="228599" y="176783"/>
                </a:lnTo>
                <a:lnTo>
                  <a:pt x="176783" y="158495"/>
                </a:lnTo>
                <a:lnTo>
                  <a:pt x="140207" y="137159"/>
                </a:lnTo>
                <a:lnTo>
                  <a:pt x="106679" y="137159"/>
                </a:lnTo>
                <a:lnTo>
                  <a:pt x="70103" y="118871"/>
                </a:lnTo>
                <a:lnTo>
                  <a:pt x="33527" y="79247"/>
                </a:lnTo>
                <a:lnTo>
                  <a:pt x="15239" y="79247"/>
                </a:lnTo>
                <a:lnTo>
                  <a:pt x="0" y="39623"/>
                </a:lnTo>
                <a:lnTo>
                  <a:pt x="0" y="18287"/>
                </a:lnTo>
                <a:lnTo>
                  <a:pt x="0" y="0"/>
                </a:lnTo>
                <a:lnTo>
                  <a:pt x="0" y="277367"/>
                </a:lnTo>
                <a:lnTo>
                  <a:pt x="0" y="295655"/>
                </a:lnTo>
                <a:lnTo>
                  <a:pt x="0" y="316991"/>
                </a:lnTo>
                <a:lnTo>
                  <a:pt x="15239" y="356615"/>
                </a:lnTo>
                <a:lnTo>
                  <a:pt x="33527" y="356615"/>
                </a:lnTo>
                <a:lnTo>
                  <a:pt x="70103" y="396239"/>
                </a:lnTo>
                <a:lnTo>
                  <a:pt x="106679" y="417575"/>
                </a:lnTo>
                <a:lnTo>
                  <a:pt x="140207" y="417575"/>
                </a:lnTo>
                <a:lnTo>
                  <a:pt x="176783" y="435863"/>
                </a:lnTo>
                <a:lnTo>
                  <a:pt x="228599" y="457199"/>
                </a:lnTo>
                <a:lnTo>
                  <a:pt x="283463" y="475487"/>
                </a:lnTo>
                <a:lnTo>
                  <a:pt x="335279" y="496823"/>
                </a:lnTo>
                <a:lnTo>
                  <a:pt x="390143" y="496823"/>
                </a:lnTo>
                <a:lnTo>
                  <a:pt x="460247" y="515111"/>
                </a:lnTo>
                <a:lnTo>
                  <a:pt x="530351" y="515111"/>
                </a:lnTo>
                <a:lnTo>
                  <a:pt x="582167" y="536447"/>
                </a:lnTo>
                <a:lnTo>
                  <a:pt x="670559" y="536447"/>
                </a:lnTo>
                <a:lnTo>
                  <a:pt x="725423" y="536447"/>
                </a:lnTo>
                <a:lnTo>
                  <a:pt x="813815" y="554735"/>
                </a:lnTo>
                <a:lnTo>
                  <a:pt x="883919" y="554735"/>
                </a:lnTo>
                <a:lnTo>
                  <a:pt x="954023" y="554735"/>
                </a:lnTo>
                <a:lnTo>
                  <a:pt x="1042415" y="554735"/>
                </a:lnTo>
                <a:lnTo>
                  <a:pt x="1115567" y="536447"/>
                </a:lnTo>
                <a:lnTo>
                  <a:pt x="1185671" y="536447"/>
                </a:lnTo>
                <a:lnTo>
                  <a:pt x="1255775" y="536447"/>
                </a:lnTo>
                <a:lnTo>
                  <a:pt x="1310639" y="515111"/>
                </a:lnTo>
                <a:lnTo>
                  <a:pt x="1399031" y="515111"/>
                </a:lnTo>
                <a:lnTo>
                  <a:pt x="1450847" y="496823"/>
                </a:lnTo>
                <a:lnTo>
                  <a:pt x="1505711" y="496823"/>
                </a:lnTo>
                <a:lnTo>
                  <a:pt x="1575815" y="475487"/>
                </a:lnTo>
                <a:lnTo>
                  <a:pt x="1609343" y="457199"/>
                </a:lnTo>
                <a:lnTo>
                  <a:pt x="1664207" y="435863"/>
                </a:lnTo>
                <a:lnTo>
                  <a:pt x="1716023" y="417575"/>
                </a:lnTo>
                <a:lnTo>
                  <a:pt x="1752599" y="417575"/>
                </a:lnTo>
                <a:lnTo>
                  <a:pt x="1789175" y="396239"/>
                </a:lnTo>
                <a:lnTo>
                  <a:pt x="1804415" y="356615"/>
                </a:lnTo>
                <a:lnTo>
                  <a:pt x="1822703" y="356615"/>
                </a:lnTo>
                <a:lnTo>
                  <a:pt x="1840991" y="316991"/>
                </a:lnTo>
                <a:lnTo>
                  <a:pt x="1859279" y="295655"/>
                </a:lnTo>
                <a:lnTo>
                  <a:pt x="1859279" y="277367"/>
                </a:lnTo>
                <a:lnTo>
                  <a:pt x="1859279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72840" y="4736592"/>
            <a:ext cx="1859280" cy="536575"/>
          </a:xfrm>
          <a:custGeom>
            <a:avLst/>
            <a:gdLst/>
            <a:ahLst/>
            <a:cxnLst/>
            <a:rect l="l" t="t" r="r" b="b"/>
            <a:pathLst>
              <a:path w="1859279" h="536575">
                <a:moveTo>
                  <a:pt x="1167384" y="515112"/>
                </a:moveTo>
                <a:lnTo>
                  <a:pt x="707136" y="515112"/>
                </a:lnTo>
                <a:lnTo>
                  <a:pt x="795528" y="536448"/>
                </a:lnTo>
                <a:lnTo>
                  <a:pt x="1078992" y="536448"/>
                </a:lnTo>
                <a:lnTo>
                  <a:pt x="1167384" y="515112"/>
                </a:lnTo>
                <a:close/>
              </a:path>
              <a:path w="1859279" h="536575">
                <a:moveTo>
                  <a:pt x="1380744" y="496824"/>
                </a:moveTo>
                <a:lnTo>
                  <a:pt x="493776" y="496824"/>
                </a:lnTo>
                <a:lnTo>
                  <a:pt x="582168" y="515112"/>
                </a:lnTo>
                <a:lnTo>
                  <a:pt x="1310640" y="515112"/>
                </a:lnTo>
                <a:lnTo>
                  <a:pt x="1380744" y="496824"/>
                </a:lnTo>
                <a:close/>
              </a:path>
              <a:path w="1859279" h="536575">
                <a:moveTo>
                  <a:pt x="920496" y="0"/>
                </a:moveTo>
                <a:lnTo>
                  <a:pt x="618744" y="0"/>
                </a:lnTo>
                <a:lnTo>
                  <a:pt x="566928" y="18288"/>
                </a:lnTo>
                <a:lnTo>
                  <a:pt x="493776" y="18288"/>
                </a:lnTo>
                <a:lnTo>
                  <a:pt x="423672" y="39624"/>
                </a:lnTo>
                <a:lnTo>
                  <a:pt x="371856" y="39624"/>
                </a:lnTo>
                <a:lnTo>
                  <a:pt x="298704" y="57912"/>
                </a:lnTo>
                <a:lnTo>
                  <a:pt x="246888" y="79248"/>
                </a:lnTo>
                <a:lnTo>
                  <a:pt x="195072" y="97536"/>
                </a:lnTo>
                <a:lnTo>
                  <a:pt x="158496" y="118872"/>
                </a:lnTo>
                <a:lnTo>
                  <a:pt x="121920" y="118872"/>
                </a:lnTo>
                <a:lnTo>
                  <a:pt x="88392" y="158496"/>
                </a:lnTo>
                <a:lnTo>
                  <a:pt x="51816" y="179832"/>
                </a:lnTo>
                <a:lnTo>
                  <a:pt x="33528" y="198120"/>
                </a:lnTo>
                <a:lnTo>
                  <a:pt x="15240" y="219456"/>
                </a:lnTo>
                <a:lnTo>
                  <a:pt x="0" y="237744"/>
                </a:lnTo>
                <a:lnTo>
                  <a:pt x="0" y="298704"/>
                </a:lnTo>
                <a:lnTo>
                  <a:pt x="33528" y="338328"/>
                </a:lnTo>
                <a:lnTo>
                  <a:pt x="88392" y="377952"/>
                </a:lnTo>
                <a:lnTo>
                  <a:pt x="121920" y="396240"/>
                </a:lnTo>
                <a:lnTo>
                  <a:pt x="158496" y="417576"/>
                </a:lnTo>
                <a:lnTo>
                  <a:pt x="210312" y="435864"/>
                </a:lnTo>
                <a:lnTo>
                  <a:pt x="246888" y="457200"/>
                </a:lnTo>
                <a:lnTo>
                  <a:pt x="316992" y="457200"/>
                </a:lnTo>
                <a:lnTo>
                  <a:pt x="371856" y="475488"/>
                </a:lnTo>
                <a:lnTo>
                  <a:pt x="423672" y="496824"/>
                </a:lnTo>
                <a:lnTo>
                  <a:pt x="1432560" y="496824"/>
                </a:lnTo>
                <a:lnTo>
                  <a:pt x="1505712" y="475488"/>
                </a:lnTo>
                <a:lnTo>
                  <a:pt x="1557528" y="457200"/>
                </a:lnTo>
                <a:lnTo>
                  <a:pt x="1609344" y="435864"/>
                </a:lnTo>
                <a:lnTo>
                  <a:pt x="1664208" y="435864"/>
                </a:lnTo>
                <a:lnTo>
                  <a:pt x="1697736" y="417576"/>
                </a:lnTo>
                <a:lnTo>
                  <a:pt x="1734312" y="396240"/>
                </a:lnTo>
                <a:lnTo>
                  <a:pt x="1770888" y="377952"/>
                </a:lnTo>
                <a:lnTo>
                  <a:pt x="1804416" y="356616"/>
                </a:lnTo>
                <a:lnTo>
                  <a:pt x="1822704" y="338328"/>
                </a:lnTo>
                <a:lnTo>
                  <a:pt x="1840992" y="316992"/>
                </a:lnTo>
                <a:lnTo>
                  <a:pt x="1840992" y="298704"/>
                </a:lnTo>
                <a:lnTo>
                  <a:pt x="1859280" y="259080"/>
                </a:lnTo>
                <a:lnTo>
                  <a:pt x="920496" y="259080"/>
                </a:lnTo>
                <a:lnTo>
                  <a:pt x="920496" y="0"/>
                </a:lnTo>
                <a:close/>
              </a:path>
              <a:path w="1859279" h="536575">
                <a:moveTo>
                  <a:pt x="1682496" y="97536"/>
                </a:moveTo>
                <a:lnTo>
                  <a:pt x="920496" y="259080"/>
                </a:lnTo>
                <a:lnTo>
                  <a:pt x="1859280" y="259080"/>
                </a:lnTo>
                <a:lnTo>
                  <a:pt x="1859280" y="237744"/>
                </a:lnTo>
                <a:lnTo>
                  <a:pt x="1840992" y="219456"/>
                </a:lnTo>
                <a:lnTo>
                  <a:pt x="1822704" y="198120"/>
                </a:lnTo>
                <a:lnTo>
                  <a:pt x="1804416" y="179832"/>
                </a:lnTo>
                <a:lnTo>
                  <a:pt x="1789176" y="158496"/>
                </a:lnTo>
                <a:lnTo>
                  <a:pt x="1752600" y="140208"/>
                </a:lnTo>
                <a:lnTo>
                  <a:pt x="1716024" y="118872"/>
                </a:lnTo>
                <a:lnTo>
                  <a:pt x="1682496" y="9753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72839" y="4736592"/>
            <a:ext cx="1859280" cy="536575"/>
          </a:xfrm>
          <a:custGeom>
            <a:avLst/>
            <a:gdLst/>
            <a:ahLst/>
            <a:cxnLst/>
            <a:rect l="l" t="t" r="r" b="b"/>
            <a:pathLst>
              <a:path w="1859279" h="536575">
                <a:moveTo>
                  <a:pt x="1682495" y="97535"/>
                </a:moveTo>
                <a:lnTo>
                  <a:pt x="1716023" y="118871"/>
                </a:lnTo>
                <a:lnTo>
                  <a:pt x="1752599" y="140207"/>
                </a:lnTo>
                <a:lnTo>
                  <a:pt x="1789175" y="158495"/>
                </a:lnTo>
                <a:lnTo>
                  <a:pt x="1804415" y="179831"/>
                </a:lnTo>
                <a:lnTo>
                  <a:pt x="1822703" y="198119"/>
                </a:lnTo>
                <a:lnTo>
                  <a:pt x="1840991" y="219455"/>
                </a:lnTo>
                <a:lnTo>
                  <a:pt x="1859279" y="237743"/>
                </a:lnTo>
                <a:lnTo>
                  <a:pt x="1859279" y="259079"/>
                </a:lnTo>
                <a:lnTo>
                  <a:pt x="1840991" y="298703"/>
                </a:lnTo>
                <a:lnTo>
                  <a:pt x="1840991" y="316991"/>
                </a:lnTo>
                <a:lnTo>
                  <a:pt x="1822703" y="338327"/>
                </a:lnTo>
                <a:lnTo>
                  <a:pt x="1804415" y="356615"/>
                </a:lnTo>
                <a:lnTo>
                  <a:pt x="1770887" y="377951"/>
                </a:lnTo>
                <a:lnTo>
                  <a:pt x="1734311" y="396239"/>
                </a:lnTo>
                <a:lnTo>
                  <a:pt x="1697735" y="417575"/>
                </a:lnTo>
                <a:lnTo>
                  <a:pt x="1664207" y="435863"/>
                </a:lnTo>
                <a:lnTo>
                  <a:pt x="1609343" y="435863"/>
                </a:lnTo>
                <a:lnTo>
                  <a:pt x="1557527" y="457199"/>
                </a:lnTo>
                <a:lnTo>
                  <a:pt x="1505711" y="475487"/>
                </a:lnTo>
                <a:lnTo>
                  <a:pt x="1432559" y="496823"/>
                </a:lnTo>
                <a:lnTo>
                  <a:pt x="1380743" y="496823"/>
                </a:lnTo>
                <a:lnTo>
                  <a:pt x="1310639" y="515111"/>
                </a:lnTo>
                <a:lnTo>
                  <a:pt x="1222247" y="515111"/>
                </a:lnTo>
                <a:lnTo>
                  <a:pt x="1167383" y="515111"/>
                </a:lnTo>
                <a:lnTo>
                  <a:pt x="1078991" y="536447"/>
                </a:lnTo>
                <a:lnTo>
                  <a:pt x="1008887" y="536447"/>
                </a:lnTo>
                <a:lnTo>
                  <a:pt x="938783" y="536447"/>
                </a:lnTo>
                <a:lnTo>
                  <a:pt x="865631" y="536447"/>
                </a:lnTo>
                <a:lnTo>
                  <a:pt x="795527" y="536447"/>
                </a:lnTo>
                <a:lnTo>
                  <a:pt x="707135" y="515111"/>
                </a:lnTo>
                <a:lnTo>
                  <a:pt x="637031" y="515111"/>
                </a:lnTo>
                <a:lnTo>
                  <a:pt x="582167" y="515111"/>
                </a:lnTo>
                <a:lnTo>
                  <a:pt x="493775" y="496823"/>
                </a:lnTo>
                <a:lnTo>
                  <a:pt x="423671" y="496823"/>
                </a:lnTo>
                <a:lnTo>
                  <a:pt x="371855" y="475487"/>
                </a:lnTo>
                <a:lnTo>
                  <a:pt x="316991" y="457199"/>
                </a:lnTo>
                <a:lnTo>
                  <a:pt x="246887" y="457199"/>
                </a:lnTo>
                <a:lnTo>
                  <a:pt x="210311" y="435863"/>
                </a:lnTo>
                <a:lnTo>
                  <a:pt x="158495" y="417575"/>
                </a:lnTo>
                <a:lnTo>
                  <a:pt x="121919" y="396239"/>
                </a:lnTo>
                <a:lnTo>
                  <a:pt x="88391" y="377951"/>
                </a:lnTo>
                <a:lnTo>
                  <a:pt x="51815" y="356615"/>
                </a:lnTo>
                <a:lnTo>
                  <a:pt x="33527" y="338327"/>
                </a:lnTo>
                <a:lnTo>
                  <a:pt x="15239" y="316991"/>
                </a:lnTo>
                <a:lnTo>
                  <a:pt x="0" y="298703"/>
                </a:lnTo>
                <a:lnTo>
                  <a:pt x="0" y="277367"/>
                </a:lnTo>
                <a:lnTo>
                  <a:pt x="0" y="259079"/>
                </a:lnTo>
                <a:lnTo>
                  <a:pt x="0" y="237743"/>
                </a:lnTo>
                <a:lnTo>
                  <a:pt x="15239" y="219455"/>
                </a:lnTo>
                <a:lnTo>
                  <a:pt x="33527" y="198119"/>
                </a:lnTo>
                <a:lnTo>
                  <a:pt x="51815" y="179831"/>
                </a:lnTo>
                <a:lnTo>
                  <a:pt x="88391" y="158495"/>
                </a:lnTo>
                <a:lnTo>
                  <a:pt x="121919" y="118871"/>
                </a:lnTo>
                <a:lnTo>
                  <a:pt x="158495" y="118871"/>
                </a:lnTo>
                <a:lnTo>
                  <a:pt x="195071" y="97535"/>
                </a:lnTo>
                <a:lnTo>
                  <a:pt x="246887" y="79247"/>
                </a:lnTo>
                <a:lnTo>
                  <a:pt x="298703" y="57911"/>
                </a:lnTo>
                <a:lnTo>
                  <a:pt x="371855" y="39623"/>
                </a:lnTo>
                <a:lnTo>
                  <a:pt x="423671" y="39623"/>
                </a:lnTo>
                <a:lnTo>
                  <a:pt x="493775" y="18287"/>
                </a:lnTo>
                <a:lnTo>
                  <a:pt x="566927" y="18287"/>
                </a:lnTo>
                <a:lnTo>
                  <a:pt x="618743" y="0"/>
                </a:lnTo>
                <a:lnTo>
                  <a:pt x="707135" y="0"/>
                </a:lnTo>
                <a:lnTo>
                  <a:pt x="777239" y="0"/>
                </a:lnTo>
                <a:lnTo>
                  <a:pt x="850391" y="0"/>
                </a:lnTo>
                <a:lnTo>
                  <a:pt x="920495" y="0"/>
                </a:lnTo>
                <a:lnTo>
                  <a:pt x="920495" y="259079"/>
                </a:lnTo>
                <a:lnTo>
                  <a:pt x="1682495" y="97535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32891" y="1439330"/>
            <a:ext cx="7837805" cy="21501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投资者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结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构：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中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endParaRPr sz="2800">
              <a:latin typeface="微软雅黑"/>
              <a:cs typeface="微软雅黑"/>
            </a:endParaRPr>
          </a:p>
          <a:p>
            <a:pPr algn="just" marL="356870" marR="5080" indent="569595">
              <a:lnSpc>
                <a:spcPct val="100000"/>
              </a:lnSpc>
              <a:spcBef>
                <a:spcPts val="56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截止2002年2月，中国投资者开户数为6689万户，其 中机构户数仅为34.12万户，占5－6‰；机构投资者持股 数约占总股本的15%左右。</a:t>
            </a:r>
            <a:endParaRPr sz="2400">
              <a:latin typeface="宋体"/>
              <a:cs typeface="宋体"/>
            </a:endParaRPr>
          </a:p>
          <a:p>
            <a:pPr algn="ctr" marL="334645">
              <a:lnSpc>
                <a:spcPct val="100000"/>
              </a:lnSpc>
              <a:spcBef>
                <a:spcPts val="1090"/>
              </a:spcBef>
            </a:pPr>
            <a:r>
              <a:rPr dirty="0" sz="2000" spc="-30">
                <a:latin typeface="宋体"/>
                <a:cs typeface="宋体"/>
              </a:rPr>
              <a:t>2000</a:t>
            </a:r>
            <a:r>
              <a:rPr dirty="0" sz="2000" spc="-180">
                <a:latin typeface="宋体"/>
                <a:cs typeface="宋体"/>
              </a:rPr>
              <a:t>年</a:t>
            </a:r>
            <a:r>
              <a:rPr dirty="0" sz="2000" spc="-200">
                <a:latin typeface="宋体"/>
                <a:cs typeface="宋体"/>
              </a:rPr>
              <a:t>中</a:t>
            </a:r>
            <a:r>
              <a:rPr dirty="0" sz="2000" spc="-180">
                <a:latin typeface="宋体"/>
                <a:cs typeface="宋体"/>
              </a:rPr>
              <a:t>国</a:t>
            </a:r>
            <a:r>
              <a:rPr dirty="0" sz="2000" spc="-200">
                <a:latin typeface="宋体"/>
                <a:cs typeface="宋体"/>
              </a:rPr>
              <a:t>上</a:t>
            </a:r>
            <a:r>
              <a:rPr dirty="0" sz="2000" spc="-180">
                <a:latin typeface="宋体"/>
                <a:cs typeface="宋体"/>
              </a:rPr>
              <a:t>市</a:t>
            </a:r>
            <a:r>
              <a:rPr dirty="0" sz="2000" spc="-200">
                <a:latin typeface="宋体"/>
                <a:cs typeface="宋体"/>
              </a:rPr>
              <a:t>公</a:t>
            </a:r>
            <a:r>
              <a:rPr dirty="0" sz="2000" spc="-180">
                <a:latin typeface="宋体"/>
                <a:cs typeface="宋体"/>
              </a:rPr>
              <a:t>司</a:t>
            </a:r>
            <a:r>
              <a:rPr dirty="0" sz="2000" spc="-200">
                <a:latin typeface="宋体"/>
                <a:cs typeface="宋体"/>
              </a:rPr>
              <a:t>发</a:t>
            </a:r>
            <a:r>
              <a:rPr dirty="0" sz="2000" spc="-180">
                <a:latin typeface="宋体"/>
                <a:cs typeface="宋体"/>
              </a:rPr>
              <a:t>行在</a:t>
            </a:r>
            <a:r>
              <a:rPr dirty="0" sz="2000" spc="-200">
                <a:latin typeface="宋体"/>
                <a:cs typeface="宋体"/>
              </a:rPr>
              <a:t>外</a:t>
            </a:r>
            <a:r>
              <a:rPr dirty="0" sz="2000" spc="-180">
                <a:latin typeface="宋体"/>
                <a:cs typeface="宋体"/>
              </a:rPr>
              <a:t>股</a:t>
            </a:r>
            <a:r>
              <a:rPr dirty="0" sz="2000" spc="-200">
                <a:latin typeface="宋体"/>
                <a:cs typeface="宋体"/>
              </a:rPr>
              <a:t>票</a:t>
            </a:r>
            <a:r>
              <a:rPr dirty="0" sz="2000" spc="-180">
                <a:latin typeface="宋体"/>
                <a:cs typeface="宋体"/>
              </a:rPr>
              <a:t>持</a:t>
            </a:r>
            <a:r>
              <a:rPr dirty="0" sz="2000" spc="-200">
                <a:latin typeface="宋体"/>
                <a:cs typeface="宋体"/>
              </a:rPr>
              <a:t>有</a:t>
            </a:r>
            <a:r>
              <a:rPr dirty="0" sz="2000" spc="-180">
                <a:latin typeface="宋体"/>
                <a:cs typeface="宋体"/>
              </a:rPr>
              <a:t>情</a:t>
            </a:r>
            <a:r>
              <a:rPr dirty="0" sz="2000" spc="-200">
                <a:latin typeface="宋体"/>
                <a:cs typeface="宋体"/>
              </a:rPr>
              <a:t>况</a:t>
            </a:r>
            <a:r>
              <a:rPr dirty="0" sz="2000" spc="-180">
                <a:latin typeface="宋体"/>
                <a:cs typeface="宋体"/>
              </a:rPr>
              <a:t>图</a:t>
            </a:r>
            <a:r>
              <a:rPr dirty="0" sz="2000" spc="-140">
                <a:latin typeface="宋体"/>
                <a:cs typeface="宋体"/>
              </a:rPr>
              <a:t>（%）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78552" y="3881923"/>
            <a:ext cx="1372235" cy="861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7100"/>
              </a:lnSpc>
              <a:spcBef>
                <a:spcPts val="100"/>
              </a:spcBef>
            </a:pPr>
            <a:r>
              <a:rPr dirty="0" sz="1700" spc="-190">
                <a:latin typeface="宋体"/>
                <a:cs typeface="宋体"/>
              </a:rPr>
              <a:t>其</a:t>
            </a:r>
            <a:r>
              <a:rPr dirty="0" sz="1700" spc="-170">
                <a:latin typeface="宋体"/>
                <a:cs typeface="宋体"/>
              </a:rPr>
              <a:t>他机构投资</a:t>
            </a:r>
            <a:r>
              <a:rPr dirty="0" sz="1700" spc="-145">
                <a:latin typeface="宋体"/>
                <a:cs typeface="宋体"/>
              </a:rPr>
              <a:t>者 </a:t>
            </a:r>
            <a:r>
              <a:rPr dirty="0" sz="1700" spc="-170">
                <a:latin typeface="宋体"/>
                <a:cs typeface="宋体"/>
              </a:rPr>
              <a:t>持</a:t>
            </a:r>
            <a:r>
              <a:rPr dirty="0" sz="1700" spc="-190">
                <a:latin typeface="宋体"/>
                <a:cs typeface="宋体"/>
              </a:rPr>
              <a:t>股</a:t>
            </a:r>
            <a:endParaRPr sz="17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dirty="0" sz="1700" spc="-45">
                <a:latin typeface="宋体"/>
                <a:cs typeface="宋体"/>
              </a:rPr>
              <a:t>10%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85872" y="5527843"/>
            <a:ext cx="1375410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0225" marR="5080" indent="-530860">
              <a:lnSpc>
                <a:spcPct val="108200"/>
              </a:lnSpc>
              <a:spcBef>
                <a:spcPts val="100"/>
              </a:spcBef>
            </a:pPr>
            <a:r>
              <a:rPr dirty="0" sz="1700" spc="-170">
                <a:latin typeface="宋体"/>
                <a:cs typeface="宋体"/>
              </a:rPr>
              <a:t>个人投资者持</a:t>
            </a:r>
            <a:r>
              <a:rPr dirty="0" sz="1700" spc="-130">
                <a:latin typeface="宋体"/>
                <a:cs typeface="宋体"/>
              </a:rPr>
              <a:t>股  </a:t>
            </a:r>
            <a:r>
              <a:rPr dirty="0" sz="1700" spc="-45">
                <a:latin typeface="宋体"/>
                <a:cs typeface="宋体"/>
              </a:rPr>
              <a:t>85%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32304" y="3820963"/>
            <a:ext cx="137223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8200"/>
              </a:lnSpc>
              <a:spcBef>
                <a:spcPts val="100"/>
              </a:spcBef>
            </a:pPr>
            <a:r>
              <a:rPr dirty="0" sz="1700" spc="-170">
                <a:latin typeface="宋体"/>
                <a:cs typeface="宋体"/>
              </a:rPr>
              <a:t>证券投资基</a:t>
            </a:r>
            <a:r>
              <a:rPr dirty="0" sz="1700" spc="-160">
                <a:latin typeface="宋体"/>
                <a:cs typeface="宋体"/>
              </a:rPr>
              <a:t>金持 </a:t>
            </a:r>
            <a:r>
              <a:rPr dirty="0" sz="1700" spc="-190">
                <a:latin typeface="宋体"/>
                <a:cs typeface="宋体"/>
              </a:rPr>
              <a:t>股</a:t>
            </a:r>
            <a:endParaRPr sz="1700">
              <a:latin typeface="宋体"/>
              <a:cs typeface="宋体"/>
            </a:endParaRPr>
          </a:p>
          <a:p>
            <a:pPr algn="ctr" marL="635">
              <a:lnSpc>
                <a:spcPct val="100000"/>
              </a:lnSpc>
              <a:spcBef>
                <a:spcPts val="145"/>
              </a:spcBef>
            </a:pPr>
            <a:r>
              <a:rPr dirty="0" sz="1700" spc="-55">
                <a:latin typeface="宋体"/>
                <a:cs typeface="宋体"/>
              </a:rPr>
              <a:t>5%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7783" y="3166872"/>
            <a:ext cx="8110855" cy="3459479"/>
          </a:xfrm>
          <a:custGeom>
            <a:avLst/>
            <a:gdLst/>
            <a:ahLst/>
            <a:cxnLst/>
            <a:rect l="l" t="t" r="r" b="b"/>
            <a:pathLst>
              <a:path w="8110855" h="3459479">
                <a:moveTo>
                  <a:pt x="0" y="0"/>
                </a:moveTo>
                <a:lnTo>
                  <a:pt x="0" y="3459479"/>
                </a:lnTo>
                <a:lnTo>
                  <a:pt x="8110727" y="3459479"/>
                </a:lnTo>
                <a:lnTo>
                  <a:pt x="8110727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5112" y="2374392"/>
            <a:ext cx="8208645" cy="4139565"/>
          </a:xfrm>
          <a:custGeom>
            <a:avLst/>
            <a:gdLst/>
            <a:ahLst/>
            <a:cxnLst/>
            <a:rect l="l" t="t" r="r" b="b"/>
            <a:pathLst>
              <a:path w="8208645" h="4139565">
                <a:moveTo>
                  <a:pt x="0" y="0"/>
                </a:moveTo>
                <a:lnTo>
                  <a:pt x="0" y="4139184"/>
                </a:lnTo>
                <a:lnTo>
                  <a:pt x="8208264" y="4139184"/>
                </a:lnTo>
                <a:lnTo>
                  <a:pt x="82082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2063" y="2371344"/>
            <a:ext cx="8211820" cy="4142740"/>
          </a:xfrm>
          <a:custGeom>
            <a:avLst/>
            <a:gdLst/>
            <a:ahLst/>
            <a:cxnLst/>
            <a:rect l="l" t="t" r="r" b="b"/>
            <a:pathLst>
              <a:path w="8211820" h="4142740">
                <a:moveTo>
                  <a:pt x="0" y="0"/>
                </a:moveTo>
                <a:lnTo>
                  <a:pt x="0" y="4142231"/>
                </a:lnTo>
                <a:lnTo>
                  <a:pt x="8211311" y="4142231"/>
                </a:lnTo>
                <a:lnTo>
                  <a:pt x="8211311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39311" y="4306824"/>
            <a:ext cx="841375" cy="539750"/>
          </a:xfrm>
          <a:custGeom>
            <a:avLst/>
            <a:gdLst/>
            <a:ahLst/>
            <a:cxnLst/>
            <a:rect l="l" t="t" r="r" b="b"/>
            <a:pathLst>
              <a:path w="841375" h="539750">
                <a:moveTo>
                  <a:pt x="0" y="0"/>
                </a:moveTo>
                <a:lnTo>
                  <a:pt x="0" y="347472"/>
                </a:lnTo>
                <a:lnTo>
                  <a:pt x="841248" y="539496"/>
                </a:lnTo>
                <a:lnTo>
                  <a:pt x="841248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39311" y="4306824"/>
            <a:ext cx="841375" cy="539750"/>
          </a:xfrm>
          <a:custGeom>
            <a:avLst/>
            <a:gdLst/>
            <a:ahLst/>
            <a:cxnLst/>
            <a:rect l="l" t="t" r="r" b="b"/>
            <a:pathLst>
              <a:path w="841375" h="539750">
                <a:moveTo>
                  <a:pt x="841247" y="192023"/>
                </a:moveTo>
                <a:lnTo>
                  <a:pt x="0" y="0"/>
                </a:lnTo>
                <a:lnTo>
                  <a:pt x="0" y="347471"/>
                </a:lnTo>
                <a:lnTo>
                  <a:pt x="841247" y="539495"/>
                </a:lnTo>
                <a:lnTo>
                  <a:pt x="841247" y="192023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24072" y="4169664"/>
            <a:ext cx="856615" cy="329565"/>
          </a:xfrm>
          <a:custGeom>
            <a:avLst/>
            <a:gdLst/>
            <a:ahLst/>
            <a:cxnLst/>
            <a:rect l="l" t="t" r="r" b="b"/>
            <a:pathLst>
              <a:path w="856614" h="329564">
                <a:moveTo>
                  <a:pt x="856488" y="0"/>
                </a:moveTo>
                <a:lnTo>
                  <a:pt x="603504" y="0"/>
                </a:lnTo>
                <a:lnTo>
                  <a:pt x="524256" y="21336"/>
                </a:lnTo>
                <a:lnTo>
                  <a:pt x="411480" y="21336"/>
                </a:lnTo>
                <a:lnTo>
                  <a:pt x="347472" y="39624"/>
                </a:lnTo>
                <a:lnTo>
                  <a:pt x="301752" y="39624"/>
                </a:lnTo>
                <a:lnTo>
                  <a:pt x="237744" y="57912"/>
                </a:lnTo>
                <a:lnTo>
                  <a:pt x="173736" y="79248"/>
                </a:lnTo>
                <a:lnTo>
                  <a:pt x="143256" y="79248"/>
                </a:lnTo>
                <a:lnTo>
                  <a:pt x="79248" y="97536"/>
                </a:lnTo>
                <a:lnTo>
                  <a:pt x="45720" y="115824"/>
                </a:lnTo>
                <a:lnTo>
                  <a:pt x="0" y="137160"/>
                </a:lnTo>
                <a:lnTo>
                  <a:pt x="856488" y="329184"/>
                </a:lnTo>
                <a:lnTo>
                  <a:pt x="856488" y="0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24071" y="4169664"/>
            <a:ext cx="856615" cy="329565"/>
          </a:xfrm>
          <a:custGeom>
            <a:avLst/>
            <a:gdLst/>
            <a:ahLst/>
            <a:cxnLst/>
            <a:rect l="l" t="t" r="r" b="b"/>
            <a:pathLst>
              <a:path w="856614" h="329564">
                <a:moveTo>
                  <a:pt x="0" y="137159"/>
                </a:moveTo>
                <a:lnTo>
                  <a:pt x="45719" y="115823"/>
                </a:lnTo>
                <a:lnTo>
                  <a:pt x="79247" y="97535"/>
                </a:lnTo>
                <a:lnTo>
                  <a:pt x="143255" y="79247"/>
                </a:lnTo>
                <a:lnTo>
                  <a:pt x="173735" y="79247"/>
                </a:lnTo>
                <a:lnTo>
                  <a:pt x="237743" y="57911"/>
                </a:lnTo>
                <a:lnTo>
                  <a:pt x="301751" y="39623"/>
                </a:lnTo>
                <a:lnTo>
                  <a:pt x="347471" y="39623"/>
                </a:lnTo>
                <a:lnTo>
                  <a:pt x="411479" y="21335"/>
                </a:lnTo>
                <a:lnTo>
                  <a:pt x="460247" y="21335"/>
                </a:lnTo>
                <a:lnTo>
                  <a:pt x="524255" y="21335"/>
                </a:lnTo>
                <a:lnTo>
                  <a:pt x="603503" y="0"/>
                </a:lnTo>
                <a:lnTo>
                  <a:pt x="649223" y="0"/>
                </a:lnTo>
                <a:lnTo>
                  <a:pt x="728471" y="0"/>
                </a:lnTo>
                <a:lnTo>
                  <a:pt x="777239" y="0"/>
                </a:lnTo>
                <a:lnTo>
                  <a:pt x="856487" y="0"/>
                </a:lnTo>
                <a:lnTo>
                  <a:pt x="856487" y="329183"/>
                </a:lnTo>
                <a:lnTo>
                  <a:pt x="0" y="137159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67072" y="4422648"/>
            <a:ext cx="1000125" cy="445134"/>
          </a:xfrm>
          <a:custGeom>
            <a:avLst/>
            <a:gdLst/>
            <a:ahLst/>
            <a:cxnLst/>
            <a:rect l="l" t="t" r="r" b="b"/>
            <a:pathLst>
              <a:path w="1000125" h="445135">
                <a:moveTo>
                  <a:pt x="999744" y="0"/>
                </a:moveTo>
                <a:lnTo>
                  <a:pt x="0" y="94488"/>
                </a:lnTo>
                <a:lnTo>
                  <a:pt x="0" y="445008"/>
                </a:lnTo>
                <a:lnTo>
                  <a:pt x="999744" y="347472"/>
                </a:lnTo>
                <a:lnTo>
                  <a:pt x="999744" y="0"/>
                </a:lnTo>
                <a:close/>
              </a:path>
            </a:pathLst>
          </a:custGeom>
          <a:solidFill>
            <a:srgbClr val="4D4D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67071" y="4422648"/>
            <a:ext cx="1000125" cy="445134"/>
          </a:xfrm>
          <a:custGeom>
            <a:avLst/>
            <a:gdLst/>
            <a:ahLst/>
            <a:cxnLst/>
            <a:rect l="l" t="t" r="r" b="b"/>
            <a:pathLst>
              <a:path w="1000125" h="445135">
                <a:moveTo>
                  <a:pt x="0" y="94487"/>
                </a:moveTo>
                <a:lnTo>
                  <a:pt x="999743" y="0"/>
                </a:lnTo>
                <a:lnTo>
                  <a:pt x="999743" y="347471"/>
                </a:lnTo>
                <a:lnTo>
                  <a:pt x="0" y="445007"/>
                </a:lnTo>
                <a:lnTo>
                  <a:pt x="0" y="94487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67072" y="4191000"/>
            <a:ext cx="1000125" cy="326390"/>
          </a:xfrm>
          <a:custGeom>
            <a:avLst/>
            <a:gdLst/>
            <a:ahLst/>
            <a:cxnLst/>
            <a:rect l="l" t="t" r="r" b="b"/>
            <a:pathLst>
              <a:path w="1000125" h="326389">
                <a:moveTo>
                  <a:pt x="301752" y="0"/>
                </a:moveTo>
                <a:lnTo>
                  <a:pt x="0" y="0"/>
                </a:lnTo>
                <a:lnTo>
                  <a:pt x="0" y="326136"/>
                </a:lnTo>
                <a:lnTo>
                  <a:pt x="999744" y="210312"/>
                </a:lnTo>
                <a:lnTo>
                  <a:pt x="969264" y="210312"/>
                </a:lnTo>
                <a:lnTo>
                  <a:pt x="954024" y="192024"/>
                </a:lnTo>
                <a:lnTo>
                  <a:pt x="920496" y="173736"/>
                </a:lnTo>
                <a:lnTo>
                  <a:pt x="890016" y="152400"/>
                </a:lnTo>
                <a:lnTo>
                  <a:pt x="856488" y="134112"/>
                </a:lnTo>
                <a:lnTo>
                  <a:pt x="810768" y="115824"/>
                </a:lnTo>
                <a:lnTo>
                  <a:pt x="777240" y="94488"/>
                </a:lnTo>
                <a:lnTo>
                  <a:pt x="731520" y="94488"/>
                </a:lnTo>
                <a:lnTo>
                  <a:pt x="633984" y="57912"/>
                </a:lnTo>
                <a:lnTo>
                  <a:pt x="588264" y="57912"/>
                </a:lnTo>
                <a:lnTo>
                  <a:pt x="539496" y="36576"/>
                </a:lnTo>
                <a:lnTo>
                  <a:pt x="475488" y="36576"/>
                </a:lnTo>
                <a:lnTo>
                  <a:pt x="429768" y="18288"/>
                </a:lnTo>
                <a:lnTo>
                  <a:pt x="365760" y="18288"/>
                </a:lnTo>
                <a:lnTo>
                  <a:pt x="301752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67071" y="4191000"/>
            <a:ext cx="1000125" cy="326390"/>
          </a:xfrm>
          <a:custGeom>
            <a:avLst/>
            <a:gdLst/>
            <a:ahLst/>
            <a:cxnLst/>
            <a:rect l="l" t="t" r="r" b="b"/>
            <a:pathLst>
              <a:path w="1000125" h="326389">
                <a:moveTo>
                  <a:pt x="0" y="0"/>
                </a:moveTo>
                <a:lnTo>
                  <a:pt x="0" y="0"/>
                </a:lnTo>
                <a:lnTo>
                  <a:pt x="301751" y="0"/>
                </a:lnTo>
                <a:lnTo>
                  <a:pt x="365759" y="18287"/>
                </a:lnTo>
                <a:lnTo>
                  <a:pt x="429767" y="18287"/>
                </a:lnTo>
                <a:lnTo>
                  <a:pt x="475487" y="36575"/>
                </a:lnTo>
                <a:lnTo>
                  <a:pt x="539495" y="36575"/>
                </a:lnTo>
                <a:lnTo>
                  <a:pt x="588263" y="57911"/>
                </a:lnTo>
                <a:lnTo>
                  <a:pt x="633983" y="57911"/>
                </a:lnTo>
                <a:lnTo>
                  <a:pt x="682751" y="76199"/>
                </a:lnTo>
                <a:lnTo>
                  <a:pt x="731519" y="94487"/>
                </a:lnTo>
                <a:lnTo>
                  <a:pt x="777239" y="94487"/>
                </a:lnTo>
                <a:lnTo>
                  <a:pt x="810767" y="115823"/>
                </a:lnTo>
                <a:lnTo>
                  <a:pt x="856487" y="134111"/>
                </a:lnTo>
                <a:lnTo>
                  <a:pt x="890015" y="152399"/>
                </a:lnTo>
                <a:lnTo>
                  <a:pt x="920495" y="173735"/>
                </a:lnTo>
                <a:lnTo>
                  <a:pt x="954023" y="192023"/>
                </a:lnTo>
                <a:lnTo>
                  <a:pt x="969263" y="210311"/>
                </a:lnTo>
                <a:lnTo>
                  <a:pt x="999743" y="210311"/>
                </a:lnTo>
                <a:lnTo>
                  <a:pt x="0" y="326135"/>
                </a:lnTo>
                <a:lnTo>
                  <a:pt x="0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88792" y="4614672"/>
            <a:ext cx="79375" cy="426720"/>
          </a:xfrm>
          <a:custGeom>
            <a:avLst/>
            <a:gdLst/>
            <a:ahLst/>
            <a:cxnLst/>
            <a:rect l="l" t="t" r="r" b="b"/>
            <a:pathLst>
              <a:path w="79375" h="426720">
                <a:moveTo>
                  <a:pt x="0" y="0"/>
                </a:moveTo>
                <a:lnTo>
                  <a:pt x="0" y="347472"/>
                </a:lnTo>
                <a:lnTo>
                  <a:pt x="15240" y="368808"/>
                </a:lnTo>
                <a:lnTo>
                  <a:pt x="33528" y="387096"/>
                </a:lnTo>
                <a:lnTo>
                  <a:pt x="48768" y="405384"/>
                </a:lnTo>
                <a:lnTo>
                  <a:pt x="79248" y="426720"/>
                </a:lnTo>
                <a:lnTo>
                  <a:pt x="79248" y="79248"/>
                </a:lnTo>
                <a:lnTo>
                  <a:pt x="48768" y="57912"/>
                </a:lnTo>
                <a:lnTo>
                  <a:pt x="33528" y="39624"/>
                </a:lnTo>
                <a:lnTo>
                  <a:pt x="1524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66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88791" y="4575048"/>
            <a:ext cx="79375" cy="466725"/>
          </a:xfrm>
          <a:custGeom>
            <a:avLst/>
            <a:gdLst/>
            <a:ahLst/>
            <a:cxnLst/>
            <a:rect l="l" t="t" r="r" b="b"/>
            <a:pathLst>
              <a:path w="79375" h="466725">
                <a:moveTo>
                  <a:pt x="79247" y="118871"/>
                </a:moveTo>
                <a:lnTo>
                  <a:pt x="48767" y="97535"/>
                </a:lnTo>
                <a:lnTo>
                  <a:pt x="33527" y="79247"/>
                </a:lnTo>
                <a:lnTo>
                  <a:pt x="15239" y="60959"/>
                </a:lnTo>
                <a:lnTo>
                  <a:pt x="0" y="39623"/>
                </a:lnTo>
                <a:lnTo>
                  <a:pt x="0" y="21335"/>
                </a:lnTo>
                <a:lnTo>
                  <a:pt x="0" y="0"/>
                </a:lnTo>
                <a:lnTo>
                  <a:pt x="0" y="350519"/>
                </a:lnTo>
                <a:lnTo>
                  <a:pt x="0" y="368807"/>
                </a:lnTo>
                <a:lnTo>
                  <a:pt x="0" y="387095"/>
                </a:lnTo>
                <a:lnTo>
                  <a:pt x="15239" y="408431"/>
                </a:lnTo>
                <a:lnTo>
                  <a:pt x="33527" y="426719"/>
                </a:lnTo>
                <a:lnTo>
                  <a:pt x="48767" y="445007"/>
                </a:lnTo>
                <a:lnTo>
                  <a:pt x="79247" y="466343"/>
                </a:lnTo>
                <a:lnTo>
                  <a:pt x="79247" y="118871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68040" y="4575048"/>
            <a:ext cx="969644" cy="466725"/>
          </a:xfrm>
          <a:custGeom>
            <a:avLst/>
            <a:gdLst/>
            <a:ahLst/>
            <a:cxnLst/>
            <a:rect l="l" t="t" r="r" b="b"/>
            <a:pathLst>
              <a:path w="969645" h="466725">
                <a:moveTo>
                  <a:pt x="969264" y="0"/>
                </a:moveTo>
                <a:lnTo>
                  <a:pt x="0" y="118872"/>
                </a:lnTo>
                <a:lnTo>
                  <a:pt x="0" y="466344"/>
                </a:lnTo>
                <a:lnTo>
                  <a:pt x="969264" y="350520"/>
                </a:lnTo>
                <a:lnTo>
                  <a:pt x="969264" y="0"/>
                </a:lnTo>
                <a:close/>
              </a:path>
            </a:pathLst>
          </a:custGeom>
          <a:solidFill>
            <a:srgbClr val="66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68039" y="4575048"/>
            <a:ext cx="969644" cy="466725"/>
          </a:xfrm>
          <a:custGeom>
            <a:avLst/>
            <a:gdLst/>
            <a:ahLst/>
            <a:cxnLst/>
            <a:rect l="l" t="t" r="r" b="b"/>
            <a:pathLst>
              <a:path w="969645" h="466725">
                <a:moveTo>
                  <a:pt x="969263" y="0"/>
                </a:moveTo>
                <a:lnTo>
                  <a:pt x="0" y="118871"/>
                </a:lnTo>
                <a:lnTo>
                  <a:pt x="0" y="466343"/>
                </a:lnTo>
                <a:lnTo>
                  <a:pt x="969263" y="350519"/>
                </a:lnTo>
                <a:lnTo>
                  <a:pt x="969263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88792" y="4383024"/>
            <a:ext cx="1049020" cy="311150"/>
          </a:xfrm>
          <a:custGeom>
            <a:avLst/>
            <a:gdLst/>
            <a:ahLst/>
            <a:cxnLst/>
            <a:rect l="l" t="t" r="r" b="b"/>
            <a:pathLst>
              <a:path w="1049020" h="311150">
                <a:moveTo>
                  <a:pt x="192024" y="0"/>
                </a:moveTo>
                <a:lnTo>
                  <a:pt x="158496" y="0"/>
                </a:lnTo>
                <a:lnTo>
                  <a:pt x="143256" y="18288"/>
                </a:lnTo>
                <a:lnTo>
                  <a:pt x="94488" y="39624"/>
                </a:lnTo>
                <a:lnTo>
                  <a:pt x="64008" y="76200"/>
                </a:lnTo>
                <a:lnTo>
                  <a:pt x="48768" y="97536"/>
                </a:lnTo>
                <a:lnTo>
                  <a:pt x="15240" y="115824"/>
                </a:lnTo>
                <a:lnTo>
                  <a:pt x="15240" y="134112"/>
                </a:lnTo>
                <a:lnTo>
                  <a:pt x="0" y="155448"/>
                </a:lnTo>
                <a:lnTo>
                  <a:pt x="0" y="231648"/>
                </a:lnTo>
                <a:lnTo>
                  <a:pt x="15240" y="231648"/>
                </a:lnTo>
                <a:lnTo>
                  <a:pt x="15240" y="252984"/>
                </a:lnTo>
                <a:lnTo>
                  <a:pt x="33528" y="271272"/>
                </a:lnTo>
                <a:lnTo>
                  <a:pt x="48768" y="289560"/>
                </a:lnTo>
                <a:lnTo>
                  <a:pt x="79248" y="310896"/>
                </a:lnTo>
                <a:lnTo>
                  <a:pt x="1048512" y="192024"/>
                </a:lnTo>
                <a:lnTo>
                  <a:pt x="192024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88791" y="4383024"/>
            <a:ext cx="1049020" cy="311150"/>
          </a:xfrm>
          <a:custGeom>
            <a:avLst/>
            <a:gdLst/>
            <a:ahLst/>
            <a:cxnLst/>
            <a:rect l="l" t="t" r="r" b="b"/>
            <a:pathLst>
              <a:path w="1049020" h="311150">
                <a:moveTo>
                  <a:pt x="79247" y="310895"/>
                </a:moveTo>
                <a:lnTo>
                  <a:pt x="48767" y="289559"/>
                </a:lnTo>
                <a:lnTo>
                  <a:pt x="33527" y="271271"/>
                </a:lnTo>
                <a:lnTo>
                  <a:pt x="15239" y="252983"/>
                </a:lnTo>
                <a:lnTo>
                  <a:pt x="15239" y="231647"/>
                </a:lnTo>
                <a:lnTo>
                  <a:pt x="0" y="231647"/>
                </a:lnTo>
                <a:lnTo>
                  <a:pt x="0" y="213359"/>
                </a:lnTo>
                <a:lnTo>
                  <a:pt x="0" y="173735"/>
                </a:lnTo>
                <a:lnTo>
                  <a:pt x="0" y="155447"/>
                </a:lnTo>
                <a:lnTo>
                  <a:pt x="15239" y="134111"/>
                </a:lnTo>
                <a:lnTo>
                  <a:pt x="15239" y="115823"/>
                </a:lnTo>
                <a:lnTo>
                  <a:pt x="48767" y="97535"/>
                </a:lnTo>
                <a:lnTo>
                  <a:pt x="64007" y="76199"/>
                </a:lnTo>
                <a:lnTo>
                  <a:pt x="79247" y="57911"/>
                </a:lnTo>
                <a:lnTo>
                  <a:pt x="94487" y="39623"/>
                </a:lnTo>
                <a:lnTo>
                  <a:pt x="143255" y="18287"/>
                </a:lnTo>
                <a:lnTo>
                  <a:pt x="158495" y="0"/>
                </a:lnTo>
                <a:lnTo>
                  <a:pt x="192023" y="0"/>
                </a:lnTo>
                <a:lnTo>
                  <a:pt x="1048511" y="192023"/>
                </a:lnTo>
                <a:lnTo>
                  <a:pt x="79247" y="310895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80816" y="4751832"/>
            <a:ext cx="792480" cy="561340"/>
          </a:xfrm>
          <a:custGeom>
            <a:avLst/>
            <a:gdLst/>
            <a:ahLst/>
            <a:cxnLst/>
            <a:rect l="l" t="t" r="r" b="b"/>
            <a:pathLst>
              <a:path w="792479" h="561339">
                <a:moveTo>
                  <a:pt x="0" y="0"/>
                </a:moveTo>
                <a:lnTo>
                  <a:pt x="0" y="347472"/>
                </a:lnTo>
                <a:lnTo>
                  <a:pt x="15240" y="365760"/>
                </a:lnTo>
                <a:lnTo>
                  <a:pt x="45720" y="387096"/>
                </a:lnTo>
                <a:lnTo>
                  <a:pt x="79248" y="405384"/>
                </a:lnTo>
                <a:lnTo>
                  <a:pt x="109728" y="423672"/>
                </a:lnTo>
                <a:lnTo>
                  <a:pt x="143256" y="423672"/>
                </a:lnTo>
                <a:lnTo>
                  <a:pt x="188976" y="445008"/>
                </a:lnTo>
                <a:lnTo>
                  <a:pt x="222504" y="463296"/>
                </a:lnTo>
                <a:lnTo>
                  <a:pt x="268224" y="463296"/>
                </a:lnTo>
                <a:lnTo>
                  <a:pt x="301752" y="481584"/>
                </a:lnTo>
                <a:lnTo>
                  <a:pt x="365760" y="502920"/>
                </a:lnTo>
                <a:lnTo>
                  <a:pt x="411480" y="502920"/>
                </a:lnTo>
                <a:lnTo>
                  <a:pt x="460248" y="521208"/>
                </a:lnTo>
                <a:lnTo>
                  <a:pt x="524256" y="521208"/>
                </a:lnTo>
                <a:lnTo>
                  <a:pt x="569976" y="539496"/>
                </a:lnTo>
                <a:lnTo>
                  <a:pt x="746760" y="539496"/>
                </a:lnTo>
                <a:lnTo>
                  <a:pt x="792480" y="560832"/>
                </a:lnTo>
                <a:lnTo>
                  <a:pt x="792480" y="210312"/>
                </a:lnTo>
                <a:lnTo>
                  <a:pt x="746760" y="192024"/>
                </a:lnTo>
                <a:lnTo>
                  <a:pt x="569976" y="192024"/>
                </a:lnTo>
                <a:lnTo>
                  <a:pt x="524256" y="173736"/>
                </a:lnTo>
                <a:lnTo>
                  <a:pt x="460248" y="173736"/>
                </a:lnTo>
                <a:lnTo>
                  <a:pt x="411480" y="152400"/>
                </a:lnTo>
                <a:lnTo>
                  <a:pt x="365760" y="152400"/>
                </a:lnTo>
                <a:lnTo>
                  <a:pt x="301752" y="134112"/>
                </a:lnTo>
                <a:lnTo>
                  <a:pt x="268224" y="115824"/>
                </a:lnTo>
                <a:lnTo>
                  <a:pt x="222504" y="115824"/>
                </a:lnTo>
                <a:lnTo>
                  <a:pt x="188976" y="94488"/>
                </a:lnTo>
                <a:lnTo>
                  <a:pt x="143256" y="76200"/>
                </a:lnTo>
                <a:lnTo>
                  <a:pt x="109728" y="76200"/>
                </a:lnTo>
                <a:lnTo>
                  <a:pt x="79248" y="57912"/>
                </a:lnTo>
                <a:lnTo>
                  <a:pt x="45720" y="36576"/>
                </a:lnTo>
                <a:lnTo>
                  <a:pt x="15240" y="18288"/>
                </a:lnTo>
                <a:lnTo>
                  <a:pt x="0" y="0"/>
                </a:lnTo>
                <a:close/>
              </a:path>
            </a:pathLst>
          </a:custGeom>
          <a:solidFill>
            <a:srgbClr val="808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80815" y="4751832"/>
            <a:ext cx="792480" cy="561340"/>
          </a:xfrm>
          <a:custGeom>
            <a:avLst/>
            <a:gdLst/>
            <a:ahLst/>
            <a:cxnLst/>
            <a:rect l="l" t="t" r="r" b="b"/>
            <a:pathLst>
              <a:path w="792479" h="561339">
                <a:moveTo>
                  <a:pt x="792479" y="210311"/>
                </a:moveTo>
                <a:lnTo>
                  <a:pt x="746759" y="192023"/>
                </a:lnTo>
                <a:lnTo>
                  <a:pt x="682751" y="192023"/>
                </a:lnTo>
                <a:lnTo>
                  <a:pt x="618743" y="192023"/>
                </a:lnTo>
                <a:lnTo>
                  <a:pt x="569975" y="192023"/>
                </a:lnTo>
                <a:lnTo>
                  <a:pt x="524255" y="173735"/>
                </a:lnTo>
                <a:lnTo>
                  <a:pt x="460247" y="173735"/>
                </a:lnTo>
                <a:lnTo>
                  <a:pt x="411479" y="152399"/>
                </a:lnTo>
                <a:lnTo>
                  <a:pt x="365759" y="152399"/>
                </a:lnTo>
                <a:lnTo>
                  <a:pt x="301751" y="134111"/>
                </a:lnTo>
                <a:lnTo>
                  <a:pt x="268223" y="115823"/>
                </a:lnTo>
                <a:lnTo>
                  <a:pt x="222503" y="115823"/>
                </a:lnTo>
                <a:lnTo>
                  <a:pt x="188975" y="94487"/>
                </a:lnTo>
                <a:lnTo>
                  <a:pt x="143255" y="76199"/>
                </a:lnTo>
                <a:lnTo>
                  <a:pt x="109727" y="76199"/>
                </a:lnTo>
                <a:lnTo>
                  <a:pt x="79247" y="57911"/>
                </a:lnTo>
                <a:lnTo>
                  <a:pt x="45719" y="36575"/>
                </a:lnTo>
                <a:lnTo>
                  <a:pt x="15239" y="18287"/>
                </a:lnTo>
                <a:lnTo>
                  <a:pt x="0" y="0"/>
                </a:lnTo>
                <a:lnTo>
                  <a:pt x="0" y="347471"/>
                </a:lnTo>
                <a:lnTo>
                  <a:pt x="15239" y="365759"/>
                </a:lnTo>
                <a:lnTo>
                  <a:pt x="45719" y="387095"/>
                </a:lnTo>
                <a:lnTo>
                  <a:pt x="79247" y="405383"/>
                </a:lnTo>
                <a:lnTo>
                  <a:pt x="109727" y="423671"/>
                </a:lnTo>
                <a:lnTo>
                  <a:pt x="143255" y="423671"/>
                </a:lnTo>
                <a:lnTo>
                  <a:pt x="188975" y="445007"/>
                </a:lnTo>
                <a:lnTo>
                  <a:pt x="222503" y="463295"/>
                </a:lnTo>
                <a:lnTo>
                  <a:pt x="268223" y="463295"/>
                </a:lnTo>
                <a:lnTo>
                  <a:pt x="301751" y="481583"/>
                </a:lnTo>
                <a:lnTo>
                  <a:pt x="365759" y="502919"/>
                </a:lnTo>
                <a:lnTo>
                  <a:pt x="411479" y="502919"/>
                </a:lnTo>
                <a:lnTo>
                  <a:pt x="460247" y="521207"/>
                </a:lnTo>
                <a:lnTo>
                  <a:pt x="524255" y="521207"/>
                </a:lnTo>
                <a:lnTo>
                  <a:pt x="569975" y="539495"/>
                </a:lnTo>
                <a:lnTo>
                  <a:pt x="618743" y="539495"/>
                </a:lnTo>
                <a:lnTo>
                  <a:pt x="682751" y="539495"/>
                </a:lnTo>
                <a:lnTo>
                  <a:pt x="746759" y="539495"/>
                </a:lnTo>
                <a:lnTo>
                  <a:pt x="792479" y="560831"/>
                </a:lnTo>
                <a:lnTo>
                  <a:pt x="792479" y="210311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91584" y="4636008"/>
            <a:ext cx="158750" cy="676910"/>
          </a:xfrm>
          <a:custGeom>
            <a:avLst/>
            <a:gdLst/>
            <a:ahLst/>
            <a:cxnLst/>
            <a:rect l="l" t="t" r="r" b="b"/>
            <a:pathLst>
              <a:path w="158750" h="676910">
                <a:moveTo>
                  <a:pt x="158496" y="0"/>
                </a:moveTo>
                <a:lnTo>
                  <a:pt x="0" y="326136"/>
                </a:lnTo>
                <a:lnTo>
                  <a:pt x="0" y="676656"/>
                </a:lnTo>
                <a:lnTo>
                  <a:pt x="158496" y="347472"/>
                </a:lnTo>
                <a:lnTo>
                  <a:pt x="158496" y="0"/>
                </a:lnTo>
                <a:close/>
              </a:path>
            </a:pathLst>
          </a:custGeom>
          <a:solidFill>
            <a:srgbClr val="808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91583" y="4636008"/>
            <a:ext cx="158750" cy="676910"/>
          </a:xfrm>
          <a:custGeom>
            <a:avLst/>
            <a:gdLst/>
            <a:ahLst/>
            <a:cxnLst/>
            <a:rect l="l" t="t" r="r" b="b"/>
            <a:pathLst>
              <a:path w="158750" h="676910">
                <a:moveTo>
                  <a:pt x="158495" y="0"/>
                </a:moveTo>
                <a:lnTo>
                  <a:pt x="0" y="326135"/>
                </a:lnTo>
                <a:lnTo>
                  <a:pt x="0" y="676655"/>
                </a:lnTo>
                <a:lnTo>
                  <a:pt x="158495" y="347471"/>
                </a:lnTo>
                <a:lnTo>
                  <a:pt x="15849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80816" y="4636008"/>
            <a:ext cx="969644" cy="326390"/>
          </a:xfrm>
          <a:custGeom>
            <a:avLst/>
            <a:gdLst/>
            <a:ahLst/>
            <a:cxnLst/>
            <a:rect l="l" t="t" r="r" b="b"/>
            <a:pathLst>
              <a:path w="969645" h="326389">
                <a:moveTo>
                  <a:pt x="969264" y="0"/>
                </a:moveTo>
                <a:lnTo>
                  <a:pt x="0" y="115824"/>
                </a:lnTo>
                <a:lnTo>
                  <a:pt x="15240" y="134112"/>
                </a:lnTo>
                <a:lnTo>
                  <a:pt x="45720" y="152400"/>
                </a:lnTo>
                <a:lnTo>
                  <a:pt x="79248" y="173736"/>
                </a:lnTo>
                <a:lnTo>
                  <a:pt x="109728" y="192024"/>
                </a:lnTo>
                <a:lnTo>
                  <a:pt x="143256" y="192024"/>
                </a:lnTo>
                <a:lnTo>
                  <a:pt x="188976" y="210312"/>
                </a:lnTo>
                <a:lnTo>
                  <a:pt x="222504" y="231648"/>
                </a:lnTo>
                <a:lnTo>
                  <a:pt x="268224" y="231648"/>
                </a:lnTo>
                <a:lnTo>
                  <a:pt x="301752" y="249936"/>
                </a:lnTo>
                <a:lnTo>
                  <a:pt x="365760" y="268224"/>
                </a:lnTo>
                <a:lnTo>
                  <a:pt x="411480" y="268224"/>
                </a:lnTo>
                <a:lnTo>
                  <a:pt x="460248" y="289560"/>
                </a:lnTo>
                <a:lnTo>
                  <a:pt x="524256" y="289560"/>
                </a:lnTo>
                <a:lnTo>
                  <a:pt x="569976" y="307848"/>
                </a:lnTo>
                <a:lnTo>
                  <a:pt x="746760" y="307848"/>
                </a:lnTo>
                <a:lnTo>
                  <a:pt x="792480" y="326136"/>
                </a:lnTo>
                <a:lnTo>
                  <a:pt x="969264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80815" y="4636008"/>
            <a:ext cx="969644" cy="326390"/>
          </a:xfrm>
          <a:custGeom>
            <a:avLst/>
            <a:gdLst/>
            <a:ahLst/>
            <a:cxnLst/>
            <a:rect l="l" t="t" r="r" b="b"/>
            <a:pathLst>
              <a:path w="969645" h="326389">
                <a:moveTo>
                  <a:pt x="792479" y="326135"/>
                </a:moveTo>
                <a:lnTo>
                  <a:pt x="746759" y="307847"/>
                </a:lnTo>
                <a:lnTo>
                  <a:pt x="682751" y="307847"/>
                </a:lnTo>
                <a:lnTo>
                  <a:pt x="618743" y="307847"/>
                </a:lnTo>
                <a:lnTo>
                  <a:pt x="569975" y="307847"/>
                </a:lnTo>
                <a:lnTo>
                  <a:pt x="524255" y="289559"/>
                </a:lnTo>
                <a:lnTo>
                  <a:pt x="460247" y="289559"/>
                </a:lnTo>
                <a:lnTo>
                  <a:pt x="411479" y="268223"/>
                </a:lnTo>
                <a:lnTo>
                  <a:pt x="365759" y="268223"/>
                </a:lnTo>
                <a:lnTo>
                  <a:pt x="301751" y="249935"/>
                </a:lnTo>
                <a:lnTo>
                  <a:pt x="268223" y="231647"/>
                </a:lnTo>
                <a:lnTo>
                  <a:pt x="222503" y="231647"/>
                </a:lnTo>
                <a:lnTo>
                  <a:pt x="188975" y="210311"/>
                </a:lnTo>
                <a:lnTo>
                  <a:pt x="143255" y="192023"/>
                </a:lnTo>
                <a:lnTo>
                  <a:pt x="109727" y="192023"/>
                </a:lnTo>
                <a:lnTo>
                  <a:pt x="79247" y="173735"/>
                </a:lnTo>
                <a:lnTo>
                  <a:pt x="45719" y="152399"/>
                </a:lnTo>
                <a:lnTo>
                  <a:pt x="15239" y="134111"/>
                </a:lnTo>
                <a:lnTo>
                  <a:pt x="0" y="115823"/>
                </a:lnTo>
                <a:lnTo>
                  <a:pt x="969263" y="0"/>
                </a:lnTo>
                <a:lnTo>
                  <a:pt x="792479" y="326135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39055" y="4654296"/>
            <a:ext cx="1225550" cy="658495"/>
          </a:xfrm>
          <a:custGeom>
            <a:avLst/>
            <a:gdLst/>
            <a:ahLst/>
            <a:cxnLst/>
            <a:rect l="l" t="t" r="r" b="b"/>
            <a:pathLst>
              <a:path w="1225550" h="658495">
                <a:moveTo>
                  <a:pt x="1225296" y="0"/>
                </a:moveTo>
                <a:lnTo>
                  <a:pt x="1207008" y="18288"/>
                </a:lnTo>
                <a:lnTo>
                  <a:pt x="1207008" y="39624"/>
                </a:lnTo>
                <a:lnTo>
                  <a:pt x="1176528" y="76200"/>
                </a:lnTo>
                <a:lnTo>
                  <a:pt x="1146048" y="97536"/>
                </a:lnTo>
                <a:lnTo>
                  <a:pt x="1112520" y="115824"/>
                </a:lnTo>
                <a:lnTo>
                  <a:pt x="1082040" y="134112"/>
                </a:lnTo>
                <a:lnTo>
                  <a:pt x="1048512" y="155448"/>
                </a:lnTo>
                <a:lnTo>
                  <a:pt x="1002792" y="173736"/>
                </a:lnTo>
                <a:lnTo>
                  <a:pt x="969264" y="192024"/>
                </a:lnTo>
                <a:lnTo>
                  <a:pt x="923544" y="213360"/>
                </a:lnTo>
                <a:lnTo>
                  <a:pt x="874776" y="213360"/>
                </a:lnTo>
                <a:lnTo>
                  <a:pt x="826008" y="231648"/>
                </a:lnTo>
                <a:lnTo>
                  <a:pt x="780288" y="249936"/>
                </a:lnTo>
                <a:lnTo>
                  <a:pt x="716280" y="249936"/>
                </a:lnTo>
                <a:lnTo>
                  <a:pt x="667512" y="271272"/>
                </a:lnTo>
                <a:lnTo>
                  <a:pt x="603504" y="271272"/>
                </a:lnTo>
                <a:lnTo>
                  <a:pt x="524256" y="289560"/>
                </a:lnTo>
                <a:lnTo>
                  <a:pt x="414528" y="289560"/>
                </a:lnTo>
                <a:lnTo>
                  <a:pt x="335280" y="307848"/>
                </a:lnTo>
                <a:lnTo>
                  <a:pt x="0" y="307848"/>
                </a:lnTo>
                <a:lnTo>
                  <a:pt x="0" y="658368"/>
                </a:lnTo>
                <a:lnTo>
                  <a:pt x="335280" y="658368"/>
                </a:lnTo>
                <a:lnTo>
                  <a:pt x="414528" y="637032"/>
                </a:lnTo>
                <a:lnTo>
                  <a:pt x="524256" y="637032"/>
                </a:lnTo>
                <a:lnTo>
                  <a:pt x="603504" y="618744"/>
                </a:lnTo>
                <a:lnTo>
                  <a:pt x="667512" y="618744"/>
                </a:lnTo>
                <a:lnTo>
                  <a:pt x="716280" y="600456"/>
                </a:lnTo>
                <a:lnTo>
                  <a:pt x="780288" y="600456"/>
                </a:lnTo>
                <a:lnTo>
                  <a:pt x="826008" y="579120"/>
                </a:lnTo>
                <a:lnTo>
                  <a:pt x="874776" y="560832"/>
                </a:lnTo>
                <a:lnTo>
                  <a:pt x="923544" y="560832"/>
                </a:lnTo>
                <a:lnTo>
                  <a:pt x="969264" y="542544"/>
                </a:lnTo>
                <a:lnTo>
                  <a:pt x="1002792" y="521208"/>
                </a:lnTo>
                <a:lnTo>
                  <a:pt x="1048512" y="502920"/>
                </a:lnTo>
                <a:lnTo>
                  <a:pt x="1082040" y="484632"/>
                </a:lnTo>
                <a:lnTo>
                  <a:pt x="1112520" y="463296"/>
                </a:lnTo>
                <a:lnTo>
                  <a:pt x="1146048" y="445008"/>
                </a:lnTo>
                <a:lnTo>
                  <a:pt x="1176528" y="426720"/>
                </a:lnTo>
                <a:lnTo>
                  <a:pt x="1191768" y="405384"/>
                </a:lnTo>
                <a:lnTo>
                  <a:pt x="1207008" y="387096"/>
                </a:lnTo>
                <a:lnTo>
                  <a:pt x="1207008" y="365760"/>
                </a:lnTo>
                <a:lnTo>
                  <a:pt x="1225296" y="347472"/>
                </a:lnTo>
                <a:lnTo>
                  <a:pt x="1225296" y="0"/>
                </a:lnTo>
                <a:close/>
              </a:path>
            </a:pathLst>
          </a:custGeom>
          <a:solidFill>
            <a:srgbClr val="4D1A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39055" y="4636008"/>
            <a:ext cx="1225550" cy="676910"/>
          </a:xfrm>
          <a:custGeom>
            <a:avLst/>
            <a:gdLst/>
            <a:ahLst/>
            <a:cxnLst/>
            <a:rect l="l" t="t" r="r" b="b"/>
            <a:pathLst>
              <a:path w="1225550" h="676910">
                <a:moveTo>
                  <a:pt x="1225295" y="0"/>
                </a:moveTo>
                <a:lnTo>
                  <a:pt x="1225295" y="18287"/>
                </a:lnTo>
                <a:lnTo>
                  <a:pt x="1207007" y="36575"/>
                </a:lnTo>
                <a:lnTo>
                  <a:pt x="1207007" y="57911"/>
                </a:lnTo>
                <a:lnTo>
                  <a:pt x="1191767" y="76199"/>
                </a:lnTo>
                <a:lnTo>
                  <a:pt x="1176527" y="94487"/>
                </a:lnTo>
                <a:lnTo>
                  <a:pt x="1146047" y="115823"/>
                </a:lnTo>
                <a:lnTo>
                  <a:pt x="1112519" y="134111"/>
                </a:lnTo>
                <a:lnTo>
                  <a:pt x="1082039" y="152399"/>
                </a:lnTo>
                <a:lnTo>
                  <a:pt x="1048511" y="173735"/>
                </a:lnTo>
                <a:lnTo>
                  <a:pt x="1002791" y="192023"/>
                </a:lnTo>
                <a:lnTo>
                  <a:pt x="969263" y="210311"/>
                </a:lnTo>
                <a:lnTo>
                  <a:pt x="923543" y="231647"/>
                </a:lnTo>
                <a:lnTo>
                  <a:pt x="874775" y="231647"/>
                </a:lnTo>
                <a:lnTo>
                  <a:pt x="826007" y="249935"/>
                </a:lnTo>
                <a:lnTo>
                  <a:pt x="780287" y="268223"/>
                </a:lnTo>
                <a:lnTo>
                  <a:pt x="716279" y="268223"/>
                </a:lnTo>
                <a:lnTo>
                  <a:pt x="667511" y="289559"/>
                </a:lnTo>
                <a:lnTo>
                  <a:pt x="603503" y="289559"/>
                </a:lnTo>
                <a:lnTo>
                  <a:pt x="524255" y="307847"/>
                </a:lnTo>
                <a:lnTo>
                  <a:pt x="478535" y="307847"/>
                </a:lnTo>
                <a:lnTo>
                  <a:pt x="414527" y="307847"/>
                </a:lnTo>
                <a:lnTo>
                  <a:pt x="335279" y="326135"/>
                </a:lnTo>
                <a:lnTo>
                  <a:pt x="286511" y="326135"/>
                </a:lnTo>
                <a:lnTo>
                  <a:pt x="207263" y="326135"/>
                </a:lnTo>
                <a:lnTo>
                  <a:pt x="128015" y="326135"/>
                </a:lnTo>
                <a:lnTo>
                  <a:pt x="79247" y="326135"/>
                </a:lnTo>
                <a:lnTo>
                  <a:pt x="0" y="326135"/>
                </a:lnTo>
                <a:lnTo>
                  <a:pt x="0" y="676655"/>
                </a:lnTo>
                <a:lnTo>
                  <a:pt x="335279" y="676655"/>
                </a:lnTo>
                <a:lnTo>
                  <a:pt x="414527" y="655319"/>
                </a:lnTo>
                <a:lnTo>
                  <a:pt x="478535" y="655319"/>
                </a:lnTo>
                <a:lnTo>
                  <a:pt x="524255" y="655319"/>
                </a:lnTo>
                <a:lnTo>
                  <a:pt x="603503" y="637031"/>
                </a:lnTo>
                <a:lnTo>
                  <a:pt x="667511" y="637031"/>
                </a:lnTo>
                <a:lnTo>
                  <a:pt x="716279" y="618743"/>
                </a:lnTo>
                <a:lnTo>
                  <a:pt x="780287" y="618743"/>
                </a:lnTo>
                <a:lnTo>
                  <a:pt x="826007" y="597407"/>
                </a:lnTo>
                <a:lnTo>
                  <a:pt x="874775" y="579119"/>
                </a:lnTo>
                <a:lnTo>
                  <a:pt x="923543" y="579119"/>
                </a:lnTo>
                <a:lnTo>
                  <a:pt x="969263" y="560831"/>
                </a:lnTo>
                <a:lnTo>
                  <a:pt x="1002791" y="539495"/>
                </a:lnTo>
                <a:lnTo>
                  <a:pt x="1048511" y="521207"/>
                </a:lnTo>
                <a:lnTo>
                  <a:pt x="1082039" y="502919"/>
                </a:lnTo>
                <a:lnTo>
                  <a:pt x="1112519" y="481583"/>
                </a:lnTo>
                <a:lnTo>
                  <a:pt x="1146047" y="463295"/>
                </a:lnTo>
                <a:lnTo>
                  <a:pt x="1176527" y="445007"/>
                </a:lnTo>
                <a:lnTo>
                  <a:pt x="1191767" y="423671"/>
                </a:lnTo>
                <a:lnTo>
                  <a:pt x="1207007" y="405383"/>
                </a:lnTo>
                <a:lnTo>
                  <a:pt x="1207007" y="384047"/>
                </a:lnTo>
                <a:lnTo>
                  <a:pt x="1225295" y="365759"/>
                </a:lnTo>
                <a:lnTo>
                  <a:pt x="1225295" y="347471"/>
                </a:lnTo>
                <a:lnTo>
                  <a:pt x="122529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39055" y="4517136"/>
            <a:ext cx="1225550" cy="445134"/>
          </a:xfrm>
          <a:custGeom>
            <a:avLst/>
            <a:gdLst/>
            <a:ahLst/>
            <a:cxnLst/>
            <a:rect l="l" t="t" r="r" b="b"/>
            <a:pathLst>
              <a:path w="1225550" h="445135">
                <a:moveTo>
                  <a:pt x="1176528" y="0"/>
                </a:moveTo>
                <a:lnTo>
                  <a:pt x="176784" y="118872"/>
                </a:lnTo>
                <a:lnTo>
                  <a:pt x="0" y="445008"/>
                </a:lnTo>
                <a:lnTo>
                  <a:pt x="335280" y="445008"/>
                </a:lnTo>
                <a:lnTo>
                  <a:pt x="381000" y="426720"/>
                </a:lnTo>
                <a:lnTo>
                  <a:pt x="509016" y="426720"/>
                </a:lnTo>
                <a:lnTo>
                  <a:pt x="588264" y="408432"/>
                </a:lnTo>
                <a:lnTo>
                  <a:pt x="637032" y="408432"/>
                </a:lnTo>
                <a:lnTo>
                  <a:pt x="701040" y="387096"/>
                </a:lnTo>
                <a:lnTo>
                  <a:pt x="762000" y="387096"/>
                </a:lnTo>
                <a:lnTo>
                  <a:pt x="795528" y="368808"/>
                </a:lnTo>
                <a:lnTo>
                  <a:pt x="859536" y="368808"/>
                </a:lnTo>
                <a:lnTo>
                  <a:pt x="905256" y="350520"/>
                </a:lnTo>
                <a:lnTo>
                  <a:pt x="954024" y="329184"/>
                </a:lnTo>
                <a:lnTo>
                  <a:pt x="984504" y="310896"/>
                </a:lnTo>
                <a:lnTo>
                  <a:pt x="1033272" y="310896"/>
                </a:lnTo>
                <a:lnTo>
                  <a:pt x="1063752" y="292608"/>
                </a:lnTo>
                <a:lnTo>
                  <a:pt x="1097280" y="271272"/>
                </a:lnTo>
                <a:lnTo>
                  <a:pt x="1127760" y="252984"/>
                </a:lnTo>
                <a:lnTo>
                  <a:pt x="1146048" y="234696"/>
                </a:lnTo>
                <a:lnTo>
                  <a:pt x="1176528" y="213360"/>
                </a:lnTo>
                <a:lnTo>
                  <a:pt x="1207008" y="176784"/>
                </a:lnTo>
                <a:lnTo>
                  <a:pt x="1207008" y="155448"/>
                </a:lnTo>
                <a:lnTo>
                  <a:pt x="1225296" y="137160"/>
                </a:lnTo>
                <a:lnTo>
                  <a:pt x="1225296" y="97536"/>
                </a:lnTo>
                <a:lnTo>
                  <a:pt x="1207008" y="79248"/>
                </a:lnTo>
                <a:lnTo>
                  <a:pt x="1207008" y="57912"/>
                </a:lnTo>
                <a:lnTo>
                  <a:pt x="1191768" y="39624"/>
                </a:lnTo>
                <a:lnTo>
                  <a:pt x="1176528" y="0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39055" y="4517136"/>
            <a:ext cx="1225550" cy="445134"/>
          </a:xfrm>
          <a:custGeom>
            <a:avLst/>
            <a:gdLst/>
            <a:ahLst/>
            <a:cxnLst/>
            <a:rect l="l" t="t" r="r" b="b"/>
            <a:pathLst>
              <a:path w="1225550" h="445135">
                <a:moveTo>
                  <a:pt x="1176527" y="0"/>
                </a:moveTo>
                <a:lnTo>
                  <a:pt x="1191767" y="39623"/>
                </a:lnTo>
                <a:lnTo>
                  <a:pt x="1207007" y="57911"/>
                </a:lnTo>
                <a:lnTo>
                  <a:pt x="1207007" y="79247"/>
                </a:lnTo>
                <a:lnTo>
                  <a:pt x="1225295" y="97535"/>
                </a:lnTo>
                <a:lnTo>
                  <a:pt x="1225295" y="118871"/>
                </a:lnTo>
                <a:lnTo>
                  <a:pt x="1225295" y="137159"/>
                </a:lnTo>
                <a:lnTo>
                  <a:pt x="1207007" y="155447"/>
                </a:lnTo>
                <a:lnTo>
                  <a:pt x="1207007" y="176783"/>
                </a:lnTo>
                <a:lnTo>
                  <a:pt x="1191767" y="195071"/>
                </a:lnTo>
                <a:lnTo>
                  <a:pt x="1176527" y="213359"/>
                </a:lnTo>
                <a:lnTo>
                  <a:pt x="1146047" y="234695"/>
                </a:lnTo>
                <a:lnTo>
                  <a:pt x="1127759" y="252983"/>
                </a:lnTo>
                <a:lnTo>
                  <a:pt x="1097279" y="271271"/>
                </a:lnTo>
                <a:lnTo>
                  <a:pt x="1063751" y="292607"/>
                </a:lnTo>
                <a:lnTo>
                  <a:pt x="1033271" y="310895"/>
                </a:lnTo>
                <a:lnTo>
                  <a:pt x="984503" y="310895"/>
                </a:lnTo>
                <a:lnTo>
                  <a:pt x="954023" y="329183"/>
                </a:lnTo>
                <a:lnTo>
                  <a:pt x="905255" y="350519"/>
                </a:lnTo>
                <a:lnTo>
                  <a:pt x="859535" y="368807"/>
                </a:lnTo>
                <a:lnTo>
                  <a:pt x="795527" y="368807"/>
                </a:lnTo>
                <a:lnTo>
                  <a:pt x="761999" y="387095"/>
                </a:lnTo>
                <a:lnTo>
                  <a:pt x="701039" y="387095"/>
                </a:lnTo>
                <a:lnTo>
                  <a:pt x="637031" y="408431"/>
                </a:lnTo>
                <a:lnTo>
                  <a:pt x="588263" y="408431"/>
                </a:lnTo>
                <a:lnTo>
                  <a:pt x="509015" y="426719"/>
                </a:lnTo>
                <a:lnTo>
                  <a:pt x="460247" y="426719"/>
                </a:lnTo>
                <a:lnTo>
                  <a:pt x="380999" y="426719"/>
                </a:lnTo>
                <a:lnTo>
                  <a:pt x="335279" y="445007"/>
                </a:lnTo>
                <a:lnTo>
                  <a:pt x="271271" y="445007"/>
                </a:lnTo>
                <a:lnTo>
                  <a:pt x="207263" y="445007"/>
                </a:lnTo>
                <a:lnTo>
                  <a:pt x="128015" y="445007"/>
                </a:lnTo>
                <a:lnTo>
                  <a:pt x="79247" y="445007"/>
                </a:lnTo>
                <a:lnTo>
                  <a:pt x="0" y="445007"/>
                </a:lnTo>
                <a:lnTo>
                  <a:pt x="176783" y="118871"/>
                </a:lnTo>
                <a:lnTo>
                  <a:pt x="1176527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55524" y="1663700"/>
            <a:ext cx="6414135" cy="1202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投资者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结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构：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英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微软雅黑"/>
              <a:cs typeface="微软雅黑"/>
            </a:endParaRPr>
          </a:p>
          <a:p>
            <a:pPr marL="2588260">
              <a:lnSpc>
                <a:spcPct val="100000"/>
              </a:lnSpc>
            </a:pPr>
            <a:r>
              <a:rPr dirty="0" sz="2400" spc="-195">
                <a:latin typeface="宋体"/>
                <a:cs typeface="宋体"/>
              </a:rPr>
              <a:t>20</a:t>
            </a:r>
            <a:r>
              <a:rPr dirty="0" sz="2400" spc="-409">
                <a:latin typeface="宋体"/>
                <a:cs typeface="宋体"/>
              </a:rPr>
              <a:t>世纪</a:t>
            </a:r>
            <a:r>
              <a:rPr dirty="0" sz="2400" spc="-195">
                <a:latin typeface="宋体"/>
                <a:cs typeface="宋体"/>
              </a:rPr>
              <a:t>80</a:t>
            </a:r>
            <a:r>
              <a:rPr dirty="0" sz="2400" spc="-409">
                <a:latin typeface="宋体"/>
                <a:cs typeface="宋体"/>
              </a:rPr>
              <a:t>年</a:t>
            </a:r>
            <a:r>
              <a:rPr dirty="0" sz="2400" spc="-390">
                <a:latin typeface="宋体"/>
                <a:cs typeface="宋体"/>
              </a:rPr>
              <a:t>代</a:t>
            </a:r>
            <a:r>
              <a:rPr dirty="0" sz="2400" spc="-409">
                <a:latin typeface="宋体"/>
                <a:cs typeface="宋体"/>
              </a:rPr>
              <a:t>英国</a:t>
            </a:r>
            <a:r>
              <a:rPr dirty="0" sz="2400" spc="-390">
                <a:latin typeface="宋体"/>
                <a:cs typeface="宋体"/>
              </a:rPr>
              <a:t>股</a:t>
            </a:r>
            <a:r>
              <a:rPr dirty="0" sz="2400" spc="-409">
                <a:latin typeface="宋体"/>
                <a:cs typeface="宋体"/>
              </a:rPr>
              <a:t>票</a:t>
            </a:r>
            <a:r>
              <a:rPr dirty="0" sz="2400" spc="-390">
                <a:latin typeface="宋体"/>
                <a:cs typeface="宋体"/>
              </a:rPr>
              <a:t>持</a:t>
            </a:r>
            <a:r>
              <a:rPr dirty="0" sz="2400" spc="-409">
                <a:latin typeface="宋体"/>
                <a:cs typeface="宋体"/>
              </a:rPr>
              <a:t>有结</a:t>
            </a:r>
            <a:r>
              <a:rPr dirty="0" sz="2400" spc="-390">
                <a:latin typeface="宋体"/>
                <a:cs typeface="宋体"/>
              </a:rPr>
              <a:t>构</a:t>
            </a:r>
            <a:r>
              <a:rPr dirty="0" sz="2400" spc="-409">
                <a:latin typeface="宋体"/>
                <a:cs typeface="宋体"/>
              </a:rPr>
              <a:t>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34584" y="3621796"/>
            <a:ext cx="391160" cy="5911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45720" marR="5080" indent="-45720">
              <a:lnSpc>
                <a:spcPts val="2280"/>
              </a:lnSpc>
              <a:spcBef>
                <a:spcPts val="85"/>
              </a:spcBef>
            </a:pPr>
            <a:r>
              <a:rPr dirty="0" sz="1800" spc="-235">
                <a:latin typeface="宋体"/>
                <a:cs typeface="宋体"/>
              </a:rPr>
              <a:t>个人  </a:t>
            </a:r>
            <a:r>
              <a:rPr dirty="0" sz="1800" spc="-150">
                <a:latin typeface="宋体"/>
                <a:cs typeface="宋体"/>
              </a:rPr>
              <a:t>20%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72328" y="5170180"/>
            <a:ext cx="774700" cy="5911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37490" marR="5080" indent="-238125">
              <a:lnSpc>
                <a:spcPts val="2280"/>
              </a:lnSpc>
              <a:spcBef>
                <a:spcPts val="85"/>
              </a:spcBef>
            </a:pPr>
            <a:r>
              <a:rPr dirty="0" sz="1800" spc="-295">
                <a:latin typeface="宋体"/>
                <a:cs typeface="宋体"/>
              </a:rPr>
              <a:t>养</a:t>
            </a:r>
            <a:r>
              <a:rPr dirty="0" sz="1800" spc="-315">
                <a:latin typeface="宋体"/>
                <a:cs typeface="宋体"/>
              </a:rPr>
              <a:t>老</a:t>
            </a:r>
            <a:r>
              <a:rPr dirty="0" sz="1800" spc="-295">
                <a:latin typeface="宋体"/>
                <a:cs typeface="宋体"/>
              </a:rPr>
              <a:t>基</a:t>
            </a:r>
            <a:r>
              <a:rPr dirty="0" sz="1800" spc="-210">
                <a:latin typeface="宋体"/>
                <a:cs typeface="宋体"/>
              </a:rPr>
              <a:t>金  </a:t>
            </a:r>
            <a:r>
              <a:rPr dirty="0" sz="1800" spc="-150">
                <a:latin typeface="宋体"/>
                <a:cs typeface="宋体"/>
              </a:rPr>
              <a:t>33%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87039" y="5267716"/>
            <a:ext cx="774700" cy="5911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37490" marR="5080" indent="-238125">
              <a:lnSpc>
                <a:spcPts val="2280"/>
              </a:lnSpc>
              <a:spcBef>
                <a:spcPts val="85"/>
              </a:spcBef>
            </a:pPr>
            <a:r>
              <a:rPr dirty="0" sz="1800" spc="-295">
                <a:latin typeface="宋体"/>
                <a:cs typeface="宋体"/>
              </a:rPr>
              <a:t>保</a:t>
            </a:r>
            <a:r>
              <a:rPr dirty="0" sz="1800" spc="-315">
                <a:latin typeface="宋体"/>
                <a:cs typeface="宋体"/>
              </a:rPr>
              <a:t>险</a:t>
            </a:r>
            <a:r>
              <a:rPr dirty="0" sz="1800" spc="-295">
                <a:latin typeface="宋体"/>
                <a:cs typeface="宋体"/>
              </a:rPr>
              <a:t>公</a:t>
            </a:r>
            <a:r>
              <a:rPr dirty="0" sz="1800" spc="-210">
                <a:latin typeface="宋体"/>
                <a:cs typeface="宋体"/>
              </a:rPr>
              <a:t>司  </a:t>
            </a:r>
            <a:r>
              <a:rPr dirty="0" sz="1800" spc="-150">
                <a:latin typeface="宋体"/>
                <a:cs typeface="宋体"/>
              </a:rPr>
              <a:t>16%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97023" y="4203964"/>
            <a:ext cx="1155700" cy="5911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429259" marR="5080" indent="-429895">
              <a:lnSpc>
                <a:spcPts val="2280"/>
              </a:lnSpc>
              <a:spcBef>
                <a:spcPts val="85"/>
              </a:spcBef>
            </a:pPr>
            <a:r>
              <a:rPr dirty="0" sz="1800" spc="-295">
                <a:latin typeface="宋体"/>
                <a:cs typeface="宋体"/>
              </a:rPr>
              <a:t>其</a:t>
            </a:r>
            <a:r>
              <a:rPr dirty="0" sz="1800" spc="-315">
                <a:latin typeface="宋体"/>
                <a:cs typeface="宋体"/>
              </a:rPr>
              <a:t>他</a:t>
            </a:r>
            <a:r>
              <a:rPr dirty="0" sz="1800" spc="-295">
                <a:latin typeface="宋体"/>
                <a:cs typeface="宋体"/>
              </a:rPr>
              <a:t>金</a:t>
            </a:r>
            <a:r>
              <a:rPr dirty="0" sz="1800" spc="-315">
                <a:latin typeface="宋体"/>
                <a:cs typeface="宋体"/>
              </a:rPr>
              <a:t>融</a:t>
            </a:r>
            <a:r>
              <a:rPr dirty="0" sz="1800" spc="-295">
                <a:latin typeface="宋体"/>
                <a:cs typeface="宋体"/>
              </a:rPr>
              <a:t>机</a:t>
            </a:r>
            <a:r>
              <a:rPr dirty="0" sz="1800" spc="-210">
                <a:latin typeface="宋体"/>
                <a:cs typeface="宋体"/>
              </a:rPr>
              <a:t>构  </a:t>
            </a:r>
            <a:r>
              <a:rPr dirty="0" sz="1800" spc="-150">
                <a:latin typeface="宋体"/>
                <a:cs typeface="宋体"/>
              </a:rPr>
              <a:t>16%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90544" y="3565771"/>
            <a:ext cx="393700" cy="610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260" marR="5080" indent="-48895">
              <a:lnSpc>
                <a:spcPct val="106700"/>
              </a:lnSpc>
              <a:spcBef>
                <a:spcPts val="95"/>
              </a:spcBef>
            </a:pPr>
            <a:r>
              <a:rPr dirty="0" sz="1800" spc="-295">
                <a:latin typeface="宋体"/>
                <a:cs typeface="宋体"/>
              </a:rPr>
              <a:t>其</a:t>
            </a:r>
            <a:r>
              <a:rPr dirty="0" sz="1800" spc="-210">
                <a:latin typeface="宋体"/>
                <a:cs typeface="宋体"/>
              </a:rPr>
              <a:t>他  </a:t>
            </a:r>
            <a:r>
              <a:rPr dirty="0" sz="1800" spc="-160">
                <a:latin typeface="宋体"/>
                <a:cs typeface="宋体"/>
              </a:rPr>
              <a:t>15%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2063" y="2371344"/>
            <a:ext cx="8211820" cy="4142740"/>
          </a:xfrm>
          <a:custGeom>
            <a:avLst/>
            <a:gdLst/>
            <a:ahLst/>
            <a:cxnLst/>
            <a:rect l="l" t="t" r="r" b="b"/>
            <a:pathLst>
              <a:path w="8211820" h="4142740">
                <a:moveTo>
                  <a:pt x="0" y="0"/>
                </a:moveTo>
                <a:lnTo>
                  <a:pt x="0" y="4142231"/>
                </a:lnTo>
                <a:lnTo>
                  <a:pt x="8211311" y="4142231"/>
                </a:lnTo>
                <a:lnTo>
                  <a:pt x="8211311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普通股</a:t>
            </a:r>
            <a:r>
              <a:rPr dirty="0" sz="4000" spc="-20"/>
              <a:t>概</a:t>
            </a:r>
            <a:r>
              <a:rPr dirty="0" sz="4000" spc="5"/>
              <a:t>述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0299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普通股</a:t>
            </a:r>
            <a:r>
              <a:rPr dirty="0" sz="4000" spc="-20"/>
              <a:t>的</a:t>
            </a:r>
            <a:r>
              <a:rPr dirty="0" sz="4000" spc="5"/>
              <a:t>一</a:t>
            </a:r>
            <a:r>
              <a:rPr dirty="0" sz="4000" spc="-20"/>
              <a:t>般</a:t>
            </a:r>
            <a:r>
              <a:rPr dirty="0" sz="4000" spc="5"/>
              <a:t>权利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53972" y="2233676"/>
            <a:ext cx="6414135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按比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例分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享股利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"/>
              <a:buChar char="•"/>
            </a:pPr>
            <a:endParaRPr sz="31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投票权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求偿（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按比例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享剩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余财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优先认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621284"/>
            <a:ext cx="67830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>
                <a:latin typeface="Tahoma"/>
                <a:cs typeface="Tahoma"/>
              </a:rPr>
              <a:t>IPO</a:t>
            </a:r>
            <a:r>
              <a:rPr dirty="0" sz="4000">
                <a:latin typeface="Tahoma"/>
                <a:cs typeface="Tahoma"/>
              </a:rPr>
              <a:t> </a:t>
            </a:r>
            <a:r>
              <a:rPr dirty="0" sz="4000" spc="-5" b="0">
                <a:latin typeface="宋体"/>
                <a:cs typeface="宋体"/>
              </a:rPr>
              <a:t>（</a:t>
            </a:r>
            <a:r>
              <a:rPr dirty="0" sz="4000" spc="-5" b="0">
                <a:latin typeface="Tahoma"/>
                <a:cs typeface="Tahoma"/>
              </a:rPr>
              <a:t>Initial</a:t>
            </a:r>
            <a:r>
              <a:rPr dirty="0" sz="4000" spc="-5" b="0">
                <a:latin typeface="Tahoma"/>
                <a:cs typeface="Tahoma"/>
              </a:rPr>
              <a:t> </a:t>
            </a:r>
            <a:r>
              <a:rPr dirty="0" sz="4000" spc="-5" b="0">
                <a:latin typeface="Tahoma"/>
                <a:cs typeface="Tahoma"/>
              </a:rPr>
              <a:t>public</a:t>
            </a:r>
            <a:r>
              <a:rPr dirty="0" sz="4000" spc="25" b="0">
                <a:latin typeface="Tahoma"/>
                <a:cs typeface="Tahoma"/>
              </a:rPr>
              <a:t> </a:t>
            </a:r>
            <a:r>
              <a:rPr dirty="0" sz="4000" spc="-5" b="0">
                <a:latin typeface="Tahoma"/>
                <a:cs typeface="Tahoma"/>
              </a:rPr>
              <a:t>offering</a:t>
            </a:r>
            <a:r>
              <a:rPr dirty="0" sz="4000" spc="-5" b="0">
                <a:latin typeface="宋体"/>
                <a:cs typeface="宋体"/>
              </a:rPr>
              <a:t>）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891" y="1555191"/>
            <a:ext cx="8072120" cy="352806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725805" algn="l"/>
              </a:tabLst>
            </a:pPr>
            <a:r>
              <a:rPr dirty="0" sz="2800" spc="-290" b="1">
                <a:solidFill>
                  <a:srgbClr val="FFFFFF"/>
                </a:solidFill>
                <a:latin typeface="微软雅黑"/>
                <a:cs typeface="微软雅黑"/>
              </a:rPr>
              <a:t>IPO	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成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功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的条件</a:t>
            </a:r>
            <a:endParaRPr sz="2800">
              <a:latin typeface="微软雅黑"/>
              <a:cs typeface="微软雅黑"/>
            </a:endParaRPr>
          </a:p>
          <a:p>
            <a:pPr marL="756285" indent="-28765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SzPct val="96428"/>
              <a:buFont typeface="Wingdings"/>
              <a:buChar char="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硬性约束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SzPct val="96428"/>
              <a:buFont typeface="Wingdings"/>
              <a:buChar char="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软性约束</a:t>
            </a:r>
            <a:endParaRPr sz="2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有能力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承销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lvl="1" marL="1155700" marR="5080" indent="-22860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合理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的发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价格（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依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赖盈利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力与未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展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前景）</a:t>
            </a:r>
            <a:endParaRPr sz="2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选择有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555191"/>
            <a:ext cx="8020684" cy="421068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国际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IPO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endParaRPr sz="2800">
              <a:latin typeface="宋体"/>
              <a:cs typeface="宋体"/>
            </a:endParaRPr>
          </a:p>
          <a:p>
            <a:pPr algn="just" marL="356870" marR="188595" indent="-344805">
              <a:lnSpc>
                <a:spcPct val="100699"/>
              </a:lnSpc>
              <a:spcBef>
                <a:spcPts val="64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“同股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础上，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挥“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”的功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来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确定价格</a:t>
            </a:r>
            <a:endParaRPr sz="2800">
              <a:latin typeface="宋体"/>
              <a:cs typeface="宋体"/>
            </a:endParaRPr>
          </a:p>
          <a:p>
            <a:pPr algn="just" marL="356870" marR="762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形成市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: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承销券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市场投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I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P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O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上市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"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同股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"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有的股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就都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上市流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全流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市场环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), 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大股东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了控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因素虽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出股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不改变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股票可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性质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4891" y="609092"/>
            <a:ext cx="65481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-5">
                <a:latin typeface="Arial"/>
                <a:cs typeface="Arial"/>
              </a:rPr>
              <a:t>IPO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5" b="0">
                <a:latin typeface="宋体"/>
                <a:cs typeface="宋体"/>
              </a:rPr>
              <a:t>（</a:t>
            </a:r>
            <a:r>
              <a:rPr dirty="0" sz="4000" spc="-5" b="0">
                <a:latin typeface="Arial"/>
                <a:cs typeface="Arial"/>
              </a:rPr>
              <a:t>Initial</a:t>
            </a:r>
            <a:r>
              <a:rPr dirty="0" sz="4000" spc="-5" b="0">
                <a:latin typeface="Arial"/>
                <a:cs typeface="Arial"/>
              </a:rPr>
              <a:t> </a:t>
            </a:r>
            <a:r>
              <a:rPr dirty="0" sz="4000" spc="-5" b="0">
                <a:latin typeface="Arial"/>
                <a:cs typeface="Arial"/>
              </a:rPr>
              <a:t>public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spc="-5" b="0">
                <a:latin typeface="Arial"/>
                <a:cs typeface="Arial"/>
              </a:rPr>
              <a:t>offering</a:t>
            </a:r>
            <a:r>
              <a:rPr dirty="0" sz="4000" spc="-5" b="0">
                <a:latin typeface="宋体"/>
                <a:cs typeface="宋体"/>
              </a:rPr>
              <a:t>）</a:t>
            </a:r>
            <a:endParaRPr sz="4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539951"/>
            <a:ext cx="8017509" cy="4472940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中国股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IPO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定价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2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发起公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份不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能流通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“同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股不同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” 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的问题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国股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市形成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I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P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O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格绝不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场化的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格。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2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中国股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I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P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O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格是通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“市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盈率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定价机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”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确定出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2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但“市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只是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一个评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不具备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的功能。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4891" y="609092"/>
            <a:ext cx="65481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-5">
                <a:latin typeface="Arial"/>
                <a:cs typeface="Arial"/>
              </a:rPr>
              <a:t>IPO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5" b="0">
                <a:latin typeface="宋体"/>
                <a:cs typeface="宋体"/>
              </a:rPr>
              <a:t>（</a:t>
            </a:r>
            <a:r>
              <a:rPr dirty="0" sz="4000" spc="-5" b="0">
                <a:latin typeface="Arial"/>
                <a:cs typeface="Arial"/>
              </a:rPr>
              <a:t>Initial</a:t>
            </a:r>
            <a:r>
              <a:rPr dirty="0" sz="4000" spc="-5" b="0">
                <a:latin typeface="Arial"/>
                <a:cs typeface="Arial"/>
              </a:rPr>
              <a:t> </a:t>
            </a:r>
            <a:r>
              <a:rPr dirty="0" sz="4000" spc="-5" b="0">
                <a:latin typeface="Arial"/>
                <a:cs typeface="Arial"/>
              </a:rPr>
              <a:t>public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spc="-5" b="0">
                <a:latin typeface="Arial"/>
                <a:cs typeface="Arial"/>
              </a:rPr>
              <a:t>offering</a:t>
            </a:r>
            <a:r>
              <a:rPr dirty="0" sz="4000" spc="-5" b="0">
                <a:latin typeface="宋体"/>
                <a:cs typeface="宋体"/>
              </a:rPr>
              <a:t>）</a:t>
            </a:r>
            <a:endParaRPr sz="4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756" y="551180"/>
            <a:ext cx="8943975" cy="621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43455" algn="l"/>
                <a:tab pos="6699884" algn="l"/>
              </a:tabLst>
            </a:pPr>
            <a:r>
              <a:rPr dirty="0" sz="3900" spc="10"/>
              <a:t>上市</a:t>
            </a:r>
            <a:r>
              <a:rPr dirty="0" sz="3900" spc="-15"/>
              <a:t>（</a:t>
            </a:r>
            <a:r>
              <a:rPr dirty="0" sz="3900" spc="-655"/>
              <a:t>g</a:t>
            </a:r>
            <a:r>
              <a:rPr dirty="0" sz="3900" spc="-610"/>
              <a:t>o</a:t>
            </a:r>
            <a:r>
              <a:rPr dirty="0" sz="3900"/>
              <a:t>	</a:t>
            </a:r>
            <a:r>
              <a:rPr dirty="0" sz="3900" spc="-660"/>
              <a:t>p</a:t>
            </a:r>
            <a:r>
              <a:rPr dirty="0" sz="3900" spc="-590"/>
              <a:t>u</a:t>
            </a:r>
            <a:r>
              <a:rPr dirty="0" sz="3900" spc="-660"/>
              <a:t>b</a:t>
            </a:r>
            <a:r>
              <a:rPr dirty="0" sz="3900" spc="810"/>
              <a:t>l</a:t>
            </a:r>
            <a:r>
              <a:rPr dirty="0" sz="3900" spc="785"/>
              <a:t>i</a:t>
            </a:r>
            <a:r>
              <a:rPr dirty="0" sz="3900" spc="-75"/>
              <a:t>c</a:t>
            </a:r>
            <a:r>
              <a:rPr dirty="0" sz="3900" spc="-830"/>
              <a:t>）</a:t>
            </a:r>
            <a:r>
              <a:rPr dirty="0" sz="3900" spc="-775"/>
              <a:t>&amp;</a:t>
            </a:r>
            <a:r>
              <a:rPr dirty="0" sz="3900" spc="10"/>
              <a:t>下</a:t>
            </a:r>
            <a:r>
              <a:rPr dirty="0" sz="3900" spc="-15"/>
              <a:t>市（</a:t>
            </a:r>
            <a:r>
              <a:rPr dirty="0" sz="3900" spc="-630"/>
              <a:t>g</a:t>
            </a:r>
            <a:r>
              <a:rPr dirty="0" sz="3900" spc="-610"/>
              <a:t>o</a:t>
            </a:r>
            <a:r>
              <a:rPr dirty="0" sz="3900"/>
              <a:t>	</a:t>
            </a:r>
            <a:r>
              <a:rPr dirty="0" sz="3900" spc="-660"/>
              <a:t>p</a:t>
            </a:r>
            <a:r>
              <a:rPr dirty="0" sz="3900" spc="310"/>
              <a:t>r</a:t>
            </a:r>
            <a:r>
              <a:rPr dirty="0" sz="3900" spc="785"/>
              <a:t>i</a:t>
            </a:r>
            <a:r>
              <a:rPr dirty="0" sz="3900" spc="-310"/>
              <a:t>v</a:t>
            </a:r>
            <a:r>
              <a:rPr dirty="0" sz="3900" spc="-315"/>
              <a:t>a</a:t>
            </a:r>
            <a:r>
              <a:rPr dirty="0" sz="3900" spc="350"/>
              <a:t>t</a:t>
            </a:r>
            <a:r>
              <a:rPr dirty="0" sz="3900" spc="-330"/>
              <a:t>e</a:t>
            </a:r>
            <a:r>
              <a:rPr dirty="0" sz="3900" spc="10"/>
              <a:t>）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1191260" y="1527070"/>
            <a:ext cx="6359525" cy="491236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4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  <a:tab pos="1728470" algn="l"/>
              </a:tabLst>
            </a:pPr>
            <a:r>
              <a:rPr dirty="0" sz="2400" spc="-180" b="1">
                <a:solidFill>
                  <a:srgbClr val="FFFFFF"/>
                </a:solidFill>
                <a:latin typeface="微软雅黑"/>
                <a:cs typeface="微软雅黑"/>
              </a:rPr>
              <a:t>上市</a:t>
            </a:r>
            <a:r>
              <a:rPr dirty="0" sz="2400" spc="-140" b="1">
                <a:solidFill>
                  <a:srgbClr val="FFFFFF"/>
                </a:solidFill>
                <a:latin typeface="微软雅黑"/>
                <a:cs typeface="微软雅黑"/>
              </a:rPr>
              <a:t>（go	</a:t>
            </a:r>
            <a:r>
              <a:rPr dirty="0" sz="2400" spc="-20" b="1">
                <a:solidFill>
                  <a:srgbClr val="FFFFFF"/>
                </a:solidFill>
                <a:latin typeface="微软雅黑"/>
                <a:cs typeface="微软雅黑"/>
              </a:rPr>
              <a:t>public）</a:t>
            </a:r>
            <a:r>
              <a:rPr dirty="0" sz="2400" spc="-30" b="1">
                <a:solidFill>
                  <a:srgbClr val="FFFFFF"/>
                </a:solidFill>
                <a:latin typeface="微软雅黑"/>
                <a:cs typeface="微软雅黑"/>
              </a:rPr>
              <a:t>的优点</a:t>
            </a:r>
            <a:endParaRPr sz="2400">
              <a:latin typeface="微软雅黑"/>
              <a:cs typeface="微软雅黑"/>
            </a:endParaRPr>
          </a:p>
          <a:p>
            <a:pPr lvl="1" marL="756285" indent="-287655">
              <a:lnSpc>
                <a:spcPct val="100000"/>
              </a:lnSpc>
              <a:spcBef>
                <a:spcPts val="51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以低成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迅速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措大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量资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0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现有股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东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获得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性和实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元化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确定市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价值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升值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提高信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形象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利用股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价格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波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动客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观反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映公司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7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上市的不利之处</a:t>
            </a:r>
            <a:endParaRPr sz="2400">
              <a:latin typeface="微软雅黑"/>
              <a:cs typeface="微软雅黑"/>
            </a:endParaRPr>
          </a:p>
          <a:p>
            <a:pPr lvl="1" marL="756285" indent="-287655">
              <a:lnSpc>
                <a:spcPct val="100000"/>
              </a:lnSpc>
              <a:spcBef>
                <a:spcPts val="509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负担发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筹资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所有权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益的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释，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失去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控制权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财务及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他信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公开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利于竞争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难以私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交易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股东与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场压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导致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短期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行为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931" y="1439367"/>
            <a:ext cx="8197215" cy="489648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下市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（go</a:t>
            </a:r>
            <a:r>
              <a:rPr dirty="0" sz="28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private）: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400"/>
              </a:lnSpc>
              <a:spcBef>
                <a:spcPts val="65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LBO（Leverage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Buyout）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主体通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-2205">
                <a:solidFill>
                  <a:srgbClr val="FFFFFF"/>
                </a:solidFill>
                <a:latin typeface="宋体"/>
                <a:cs typeface="宋体"/>
              </a:rPr>
              <a:t>高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融资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目标企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份，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从而改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 的所有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结构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制权结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至成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为非上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体：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专业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并购公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构投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资者、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-2250">
                <a:solidFill>
                  <a:srgbClr val="FFFFFF"/>
                </a:solidFill>
                <a:latin typeface="宋体"/>
                <a:cs typeface="宋体"/>
              </a:rPr>
              <a:t>市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人投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、目标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层</a:t>
            </a:r>
            <a:endParaRPr sz="28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下市的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提高价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——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潜在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的管理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率空间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节约管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增加激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理灵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活性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372" y="551180"/>
            <a:ext cx="82276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上市（</a:t>
            </a:r>
            <a:r>
              <a:rPr dirty="0" sz="3600">
                <a:latin typeface="Arial"/>
                <a:cs typeface="Arial"/>
              </a:rPr>
              <a:t>go</a:t>
            </a:r>
            <a:r>
              <a:rPr dirty="0" sz="3600">
                <a:latin typeface="Arial"/>
                <a:cs typeface="Arial"/>
              </a:rPr>
              <a:t> </a:t>
            </a:r>
            <a:r>
              <a:rPr dirty="0" sz="3600" spc="-10">
                <a:latin typeface="Arial"/>
                <a:cs typeface="Arial"/>
              </a:rPr>
              <a:t>public</a:t>
            </a:r>
            <a:r>
              <a:rPr dirty="0" sz="3600" spc="-10"/>
              <a:t>）</a:t>
            </a:r>
            <a:r>
              <a:rPr dirty="0" sz="3600" spc="-10">
                <a:latin typeface="Arial"/>
                <a:cs typeface="Arial"/>
              </a:rPr>
              <a:t>&amp;</a:t>
            </a:r>
            <a:r>
              <a:rPr dirty="0" sz="3600"/>
              <a:t>下市</a:t>
            </a:r>
            <a:r>
              <a:rPr dirty="0" sz="3600" spc="5"/>
              <a:t>（</a:t>
            </a:r>
            <a:r>
              <a:rPr dirty="0" sz="3600" spc="5">
                <a:latin typeface="Arial"/>
                <a:cs typeface="Arial"/>
              </a:rPr>
              <a:t>go</a:t>
            </a:r>
            <a:r>
              <a:rPr dirty="0" sz="3600" spc="-25">
                <a:latin typeface="Arial"/>
                <a:cs typeface="Arial"/>
              </a:rPr>
              <a:t> </a:t>
            </a:r>
            <a:r>
              <a:rPr dirty="0" sz="3600" spc="-10">
                <a:latin typeface="Arial"/>
                <a:cs typeface="Arial"/>
              </a:rPr>
              <a:t>private</a:t>
            </a:r>
            <a:r>
              <a:rPr dirty="0" sz="3600" spc="-10"/>
              <a:t>）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551180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股票赎</a:t>
            </a:r>
            <a:r>
              <a:rPr dirty="0" sz="4000" spc="-20"/>
              <a:t>回</a:t>
            </a:r>
            <a:r>
              <a:rPr dirty="0" sz="4000" spc="5"/>
              <a:t>（</a:t>
            </a:r>
            <a:r>
              <a:rPr dirty="0" sz="4000" spc="-20"/>
              <a:t>成</a:t>
            </a:r>
            <a:r>
              <a:rPr dirty="0" sz="4000" spc="5"/>
              <a:t>为库藏</a:t>
            </a:r>
            <a:r>
              <a:rPr dirty="0" sz="4000" spc="-20"/>
              <a:t>股</a:t>
            </a:r>
            <a:r>
              <a:rPr dirty="0" sz="4000" spc="5"/>
              <a:t>）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48003" y="1886204"/>
            <a:ext cx="6414135" cy="3105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用于股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转债或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票兼并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039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作为现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替代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形式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02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增加杠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EPS）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4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提高企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段：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值低估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信号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股票赎</a:t>
            </a:r>
            <a:r>
              <a:rPr dirty="0" sz="4000" spc="-20"/>
              <a:t>回</a:t>
            </a:r>
            <a:r>
              <a:rPr dirty="0" sz="4000" spc="5"/>
              <a:t>（</a:t>
            </a:r>
            <a:r>
              <a:rPr dirty="0" sz="4000" spc="-20"/>
              <a:t>续</a:t>
            </a:r>
            <a:r>
              <a:rPr dirty="0" sz="4000" spc="5"/>
              <a:t>）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91260" y="1532636"/>
            <a:ext cx="5393055" cy="4211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在我国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能存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问题：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回购价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如何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Arial"/>
              <a:buChar char="•"/>
            </a:pPr>
            <a:endParaRPr sz="31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回购的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什么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Arial"/>
              <a:buChar char="•"/>
            </a:pPr>
            <a:endParaRPr sz="315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回购的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果如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Arial"/>
              <a:buChar char="•"/>
            </a:pPr>
            <a:endParaRPr sz="31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是否保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中小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者的利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普通股</a:t>
            </a:r>
            <a:r>
              <a:rPr dirty="0" sz="4000" spc="-20"/>
              <a:t>融</a:t>
            </a:r>
            <a:r>
              <a:rPr dirty="0" sz="4000" spc="5"/>
              <a:t>资</a:t>
            </a:r>
            <a:r>
              <a:rPr dirty="0" sz="4000" spc="-20"/>
              <a:t>的</a:t>
            </a:r>
            <a:r>
              <a:rPr dirty="0" sz="4000" spc="5"/>
              <a:t>特点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51379" y="1688084"/>
            <a:ext cx="4683125" cy="4684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优点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218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221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218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永续</a:t>
            </a:r>
            <a:r>
              <a:rPr dirty="0" sz="2400" spc="5">
                <a:solidFill>
                  <a:srgbClr val="FFFFFF"/>
                </a:solidFill>
                <a:latin typeface="宋体"/>
                <a:cs typeface="宋体"/>
              </a:rPr>
              <a:t>资本，举债基础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18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缺点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218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包括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成本）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221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控制权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散；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盈利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稀释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538988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优先股</a:t>
            </a:r>
            <a:r>
              <a:rPr dirty="0" sz="4000" spc="-20"/>
              <a:t>概</a:t>
            </a:r>
            <a:r>
              <a:rPr dirty="0" sz="4000" spc="5"/>
              <a:t>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34516" y="1886204"/>
            <a:ext cx="7170420" cy="37026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混合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（Hybrid financing）</a:t>
            </a:r>
            <a:endParaRPr sz="2800">
              <a:latin typeface="宋体"/>
              <a:cs typeface="宋体"/>
            </a:endParaRPr>
          </a:p>
          <a:p>
            <a:pPr marL="399415" marR="218440" indent="-287020">
              <a:lnSpc>
                <a:spcPct val="14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400050" algn="l"/>
              </a:tabLst>
            </a:pP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权益特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征：股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定支付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可累积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永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续资本</a:t>
            </a:r>
            <a:endParaRPr sz="2800">
              <a:latin typeface="宋体"/>
              <a:cs typeface="宋体"/>
            </a:endParaRPr>
          </a:p>
          <a:p>
            <a:pPr marL="399415" marR="5080" indent="-287020">
              <a:lnSpc>
                <a:spcPct val="140000"/>
              </a:lnSpc>
              <a:spcBef>
                <a:spcPts val="700"/>
              </a:spcBef>
              <a:buClr>
                <a:srgbClr val="FF6600"/>
              </a:buClr>
              <a:buChar char="•"/>
              <a:tabLst>
                <a:tab pos="40005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债务特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先求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偿和分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利率；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无投票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399415" indent="-287020">
              <a:lnSpc>
                <a:spcPct val="100000"/>
              </a:lnSpc>
              <a:spcBef>
                <a:spcPts val="2014"/>
              </a:spcBef>
              <a:buClr>
                <a:srgbClr val="FF6600"/>
              </a:buClr>
              <a:buChar char="•"/>
              <a:tabLst>
                <a:tab pos="40005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其他特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强制性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赎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回条款；可转换条款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发行优</a:t>
            </a:r>
            <a:r>
              <a:rPr dirty="0" sz="4000" spc="-20"/>
              <a:t>先</a:t>
            </a:r>
            <a:r>
              <a:rPr dirty="0" sz="4000" spc="5"/>
              <a:t>股</a:t>
            </a:r>
            <a:r>
              <a:rPr dirty="0" sz="4000" spc="-20"/>
              <a:t>的</a:t>
            </a:r>
            <a:r>
              <a:rPr dirty="0" sz="4000" spc="5"/>
              <a:t>目的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818892" y="2005076"/>
            <a:ext cx="3216910" cy="3233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防止股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分散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Arial"/>
              <a:buChar char="•"/>
            </a:pPr>
            <a:endParaRPr sz="31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调节现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余缺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Arial"/>
              <a:buChar char="•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改善公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Font typeface="Arial"/>
              <a:buChar char="•"/>
            </a:pPr>
            <a:endParaRPr sz="29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维持举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能力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优先股</a:t>
            </a:r>
            <a:r>
              <a:rPr dirty="0" sz="4000" spc="-20"/>
              <a:t>融</a:t>
            </a:r>
            <a:r>
              <a:rPr dirty="0" sz="4000" spc="5"/>
              <a:t>资</a:t>
            </a:r>
            <a:r>
              <a:rPr dirty="0" sz="4000" spc="-20"/>
              <a:t>特</a:t>
            </a:r>
            <a:r>
              <a:rPr dirty="0" sz="4000" spc="5"/>
              <a:t>点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07667" y="1555191"/>
            <a:ext cx="7350125" cy="482600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3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优点：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小；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避免剩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稀释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避免控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扩大举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能力；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税收的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处（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机构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70%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税）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不利：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税后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）；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限制多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63957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长期债</a:t>
            </a:r>
            <a:r>
              <a:rPr dirty="0" sz="4000" spc="-20"/>
              <a:t>务</a:t>
            </a:r>
            <a:r>
              <a:rPr dirty="0" sz="4000" spc="5"/>
              <a:t>融资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812795" y="1889252"/>
            <a:ext cx="3223260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银行长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借款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负债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债务与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债券替续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银行长</a:t>
            </a:r>
            <a:r>
              <a:rPr dirty="0" sz="4000" spc="-20"/>
              <a:t>期</a:t>
            </a:r>
            <a:r>
              <a:rPr dirty="0" sz="4000" spc="5"/>
              <a:t>借</a:t>
            </a:r>
            <a:r>
              <a:rPr dirty="0" sz="4000" spc="-20"/>
              <a:t>款</a:t>
            </a:r>
            <a:r>
              <a:rPr dirty="0" sz="4000" spc="5"/>
              <a:t>融资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910588" y="1803908"/>
            <a:ext cx="5707380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速度快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手续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简单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18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贷款种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繁多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较灵活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方便；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21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18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可利用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作关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18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缺点：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制大，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额有限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公司长</a:t>
            </a:r>
            <a:r>
              <a:rPr dirty="0" sz="4000" spc="-20"/>
              <a:t>期</a:t>
            </a:r>
            <a:r>
              <a:rPr dirty="0" sz="4000" spc="5"/>
              <a:t>债</a:t>
            </a:r>
            <a:r>
              <a:rPr dirty="0" sz="4000" spc="-20"/>
              <a:t>券</a:t>
            </a:r>
            <a:r>
              <a:rPr dirty="0" sz="4000" spc="5"/>
              <a:t>融资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623820" y="2005076"/>
            <a:ext cx="3926840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长期债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征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Wingdings"/>
              <a:buChar char="►"/>
            </a:pPr>
            <a:endParaRPr sz="31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的动因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Wingdings"/>
              <a:buChar char="►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债券类型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Wingdings"/>
              <a:buChar char="►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缺</a:t>
            </a:r>
            <a:r>
              <a:rPr dirty="0" sz="2800" spc="-2175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5804" y="670052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长期债券的基本特征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901444" y="1931924"/>
            <a:ext cx="4993640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设定：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"/>
              <a:buChar char="•"/>
            </a:pPr>
            <a:endParaRPr sz="31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偿债基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计划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规律赎回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选择性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回条款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保护性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3004" y="670052"/>
            <a:ext cx="3225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债券融资的动因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685035" y="2005076"/>
            <a:ext cx="6527165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替代银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信贷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Arial"/>
              <a:buChar char="•"/>
            </a:pPr>
            <a:endParaRPr sz="315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在期限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量上有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灵活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维持公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Arial"/>
              <a:buChar char="•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获得财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8803" y="606044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债券类型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663444" y="1745996"/>
            <a:ext cx="4640580" cy="4406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有担保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保债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buClr>
                <a:srgbClr val="FF6600"/>
              </a:buClr>
              <a:buFont typeface=""/>
              <a:buChar char="•"/>
            </a:pPr>
            <a:endParaRPr sz="22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可转换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换债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6600"/>
              </a:buClr>
              <a:buFont typeface=""/>
              <a:buChar char="•"/>
            </a:pP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固定和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6600"/>
              </a:buClr>
              <a:buFont typeface=""/>
              <a:buChar char="•"/>
            </a:pP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可提前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提前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赎回债券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一次到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期债券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6600"/>
              </a:buClr>
              <a:buFont typeface=""/>
              <a:buChar char="•"/>
            </a:pP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垃圾债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与高收益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0203" y="670052"/>
            <a:ext cx="2311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可转换债券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2891" y="1526540"/>
            <a:ext cx="7962900" cy="48748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356870" marR="5080" indent="-344805">
              <a:lnSpc>
                <a:spcPct val="100800"/>
              </a:lnSpc>
              <a:spcBef>
                <a:spcPts val="6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给投资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提供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择权：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定情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以将债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兑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换成其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他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为普通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票）</a:t>
            </a:r>
            <a:endParaRPr sz="26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2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多数债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是可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司提前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赎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endParaRPr sz="2600">
              <a:latin typeface="宋体"/>
              <a:cs typeface="宋体"/>
            </a:endParaRPr>
          </a:p>
          <a:p>
            <a:pPr marL="12700" marR="337185">
              <a:lnSpc>
                <a:spcPct val="12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投资者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以在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票和将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券卖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给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之间选择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可转换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券价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定：</a:t>
            </a:r>
            <a:endParaRPr sz="26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56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转换率=股票数/可转换债券数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转换价格=可转换债券面值/转换率：</a:t>
            </a:r>
            <a:endParaRPr sz="2400">
              <a:latin typeface="宋体"/>
              <a:cs typeface="宋体"/>
            </a:endParaRPr>
          </a:p>
          <a:p>
            <a:pPr marL="469265" marR="1099185" indent="1203960">
              <a:lnSpc>
                <a:spcPct val="119200"/>
              </a:lnSpc>
              <a:spcBef>
                <a:spcPts val="2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说明股票价格到达什么水平转换才合算 转换价值=转换率*发行债券时股票价格：</a:t>
            </a:r>
            <a:endParaRPr sz="2400">
              <a:latin typeface="宋体"/>
              <a:cs typeface="宋体"/>
            </a:endParaRPr>
          </a:p>
          <a:p>
            <a:pPr marL="3044825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发行时的市场价值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转换溢价=可转换债券价格-转换价值：选择权的价值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404" y="670052"/>
            <a:ext cx="3683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可转换债券（续）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45083" y="1459484"/>
            <a:ext cx="8047990" cy="496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ts val="2875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可转换债券的风险和收益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ts val="2395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投资者</a:t>
            </a:r>
            <a:endParaRPr sz="2000">
              <a:latin typeface="宋体"/>
              <a:cs typeface="宋体"/>
            </a:endParaRPr>
          </a:p>
          <a:p>
            <a:pPr marL="1155065" marR="5080" indent="-228600">
              <a:lnSpc>
                <a:spcPts val="1920"/>
              </a:lnSpc>
              <a:spcBef>
                <a:spcPts val="459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如股价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上升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放弃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，仍然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以获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如果股价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上升，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endParaRPr sz="20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发行公司</a:t>
            </a:r>
            <a:endParaRPr sz="20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可以获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发行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本较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endParaRPr sz="2000">
              <a:latin typeface="宋体"/>
              <a:cs typeface="宋体"/>
            </a:endParaRPr>
          </a:p>
          <a:p>
            <a:pPr marL="927100" marR="2291080">
              <a:lnSpc>
                <a:spcPct val="100000"/>
              </a:lnSpc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可转换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券期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较长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于公司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期发展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有利与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见的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兼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endParaRPr sz="2000">
              <a:latin typeface="宋体"/>
              <a:cs typeface="宋体"/>
            </a:endParaRPr>
          </a:p>
          <a:p>
            <a:pPr marL="356870" indent="-344805">
              <a:lnSpc>
                <a:spcPts val="2875"/>
              </a:lnSpc>
              <a:spcBef>
                <a:spcPts val="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可转换债券的优缺点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ts val="2395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优点</a:t>
            </a:r>
            <a:endParaRPr sz="2000">
              <a:latin typeface="宋体"/>
              <a:cs typeface="宋体"/>
            </a:endParaRPr>
          </a:p>
          <a:p>
            <a:pPr marL="927100" marR="5339080">
              <a:lnSpc>
                <a:spcPct val="100000"/>
              </a:lnSpc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节约利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支出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增强融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灵活性</a:t>
            </a:r>
            <a:endParaRPr sz="20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稳定股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endParaRPr sz="20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缺点</a:t>
            </a:r>
            <a:endParaRPr sz="2000">
              <a:latin typeface="宋体"/>
              <a:cs typeface="宋体"/>
            </a:endParaRPr>
          </a:p>
          <a:p>
            <a:pPr marL="927100" marR="5339080">
              <a:lnSpc>
                <a:spcPct val="100000"/>
              </a:lnSpc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增加管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层压力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回购风险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70052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企业发行债券的优缺点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974595" y="1365554"/>
            <a:ext cx="4658360" cy="490093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优点：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3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可以带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正作用</a:t>
            </a:r>
            <a:endParaRPr sz="26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2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融资成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低</a:t>
            </a:r>
            <a:endParaRPr sz="26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4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筹集大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endParaRPr sz="26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2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不影响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有者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的控制权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Arial"/>
              <a:buChar char="•"/>
            </a:pPr>
            <a:endParaRPr sz="3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缺点：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63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融资风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较高</a:t>
            </a:r>
            <a:endParaRPr sz="26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64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可能带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作用</a:t>
            </a:r>
            <a:endParaRPr sz="26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62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融资金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受到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债务与</a:t>
            </a:r>
            <a:r>
              <a:rPr dirty="0" sz="4000" spc="-20"/>
              <a:t>权</a:t>
            </a:r>
            <a:r>
              <a:rPr dirty="0" sz="4000" spc="5"/>
              <a:t>益</a:t>
            </a:r>
            <a:r>
              <a:rPr dirty="0" sz="4000" spc="-20"/>
              <a:t>的</a:t>
            </a:r>
            <a:r>
              <a:rPr dirty="0" sz="4000" spc="5"/>
              <a:t>比较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固定索</a:t>
            </a:r>
            <a:r>
              <a:rPr dirty="0" spc="-20"/>
              <a:t>取</a:t>
            </a:r>
            <a:r>
              <a:rPr dirty="0" spc="5"/>
              <a:t>权</a:t>
            </a:r>
          </a:p>
          <a:p>
            <a:pPr marL="356870" indent="-344805">
              <a:lnSpc>
                <a:spcPct val="100000"/>
              </a:lnSpc>
              <a:spcBef>
                <a:spcPts val="235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可抵减</a:t>
            </a:r>
            <a:r>
              <a:rPr dirty="0" spc="-20"/>
              <a:t>所</a:t>
            </a:r>
            <a:r>
              <a:rPr dirty="0" spc="5"/>
              <a:t>得税</a:t>
            </a:r>
          </a:p>
          <a:p>
            <a:pPr marL="356870" marR="5080" indent="-344805">
              <a:lnSpc>
                <a:spcPct val="150000"/>
              </a:lnSpc>
              <a:spcBef>
                <a:spcPts val="69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在财务</a:t>
            </a:r>
            <a:r>
              <a:rPr dirty="0" spc="-20"/>
              <a:t>困</a:t>
            </a:r>
            <a:r>
              <a:rPr dirty="0" spc="5"/>
              <a:t>难时</a:t>
            </a:r>
            <a:r>
              <a:rPr dirty="0" spc="-20"/>
              <a:t>有较</a:t>
            </a:r>
            <a:r>
              <a:rPr dirty="0" spc="5"/>
              <a:t>高 </a:t>
            </a:r>
            <a:r>
              <a:rPr dirty="0" spc="5"/>
              <a:t>优先权</a:t>
            </a:r>
          </a:p>
          <a:p>
            <a:pPr marL="356870" indent="-344805">
              <a:lnSpc>
                <a:spcPct val="100000"/>
              </a:lnSpc>
              <a:spcBef>
                <a:spcPts val="237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固定期限</a:t>
            </a:r>
          </a:p>
          <a:p>
            <a:pPr marL="356870" indent="-344805">
              <a:lnSpc>
                <a:spcPct val="100000"/>
              </a:lnSpc>
              <a:spcBef>
                <a:spcPts val="235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无管理</a:t>
            </a:r>
            <a:r>
              <a:rPr dirty="0" spc="-20"/>
              <a:t>控</a:t>
            </a:r>
            <a:r>
              <a:rPr dirty="0" spc="5"/>
              <a:t>制权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剩余索</a:t>
            </a:r>
            <a:r>
              <a:rPr dirty="0" spc="-20"/>
              <a:t>取</a:t>
            </a:r>
            <a:r>
              <a:rPr dirty="0" spc="5"/>
              <a:t>权</a:t>
            </a:r>
          </a:p>
          <a:p>
            <a:pPr marL="356870" indent="-344805">
              <a:lnSpc>
                <a:spcPct val="100000"/>
              </a:lnSpc>
              <a:spcBef>
                <a:spcPts val="259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无税收</a:t>
            </a:r>
            <a:r>
              <a:rPr dirty="0" spc="-20"/>
              <a:t>减</a:t>
            </a:r>
            <a:r>
              <a:rPr dirty="0" spc="5"/>
              <a:t>免</a:t>
            </a:r>
          </a:p>
          <a:p>
            <a:pPr marL="356870" marR="5080" indent="-344805">
              <a:lnSpc>
                <a:spcPct val="150000"/>
              </a:lnSpc>
              <a:spcBef>
                <a:spcPts val="69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在财务</a:t>
            </a:r>
            <a:r>
              <a:rPr dirty="0" spc="-20"/>
              <a:t>困</a:t>
            </a:r>
            <a:r>
              <a:rPr dirty="0" spc="5"/>
              <a:t>难时</a:t>
            </a:r>
            <a:r>
              <a:rPr dirty="0" spc="-20"/>
              <a:t>优先</a:t>
            </a:r>
            <a:r>
              <a:rPr dirty="0" spc="5"/>
              <a:t>权 </a:t>
            </a:r>
            <a:r>
              <a:rPr dirty="0" spc="5"/>
              <a:t>最低</a:t>
            </a:r>
          </a:p>
          <a:p>
            <a:pPr marL="356870" indent="-344805">
              <a:lnSpc>
                <a:spcPct val="100000"/>
              </a:lnSpc>
              <a:spcBef>
                <a:spcPts val="237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无到期日</a:t>
            </a:r>
          </a:p>
          <a:p>
            <a:pPr marL="356870" indent="-344805">
              <a:lnSpc>
                <a:spcPct val="100000"/>
              </a:lnSpc>
              <a:spcBef>
                <a:spcPts val="235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pc="5"/>
              <a:t>有管理</a:t>
            </a:r>
            <a:r>
              <a:rPr dirty="0" spc="-20"/>
              <a:t>控</a:t>
            </a:r>
            <a:r>
              <a:rPr dirty="0" spc="5"/>
              <a:t>制权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债券替续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71675" y="1566164"/>
            <a:ext cx="6112510" cy="4952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发行新债换回即将到期的债券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动机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489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利用利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下降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少负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债成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废除限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性债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条款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延长未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偿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还债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的期限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9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债券替续决策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49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计算换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的实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际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支出</a:t>
            </a:r>
            <a:endParaRPr sz="22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2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实际支出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换债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收节约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计算换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后的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金流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约额</a:t>
            </a:r>
            <a:endParaRPr sz="22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30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年净现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流出量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税收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计算换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NPV</a:t>
            </a:r>
            <a:endParaRPr sz="22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NPV=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流的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约额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的年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金现值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际支出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70052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案例：换债是否可行？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2891" y="1619199"/>
            <a:ext cx="8017509" cy="408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marR="6350" indent="-344805">
              <a:lnSpc>
                <a:spcPct val="1304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松日集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前发行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，利率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%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总额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3000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议规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定收回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 优惠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8%，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还有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未摊销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48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万。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30400"/>
              </a:lnSpc>
              <a:spcBef>
                <a:spcPts val="66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新债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券替换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总额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3000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%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年，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70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万，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天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支付。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68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50%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7235" y="639572"/>
            <a:ext cx="1043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分析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1931" y="1322324"/>
            <a:ext cx="8197215" cy="5083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ts val="251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换债净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贴水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发行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endParaRPr sz="2200">
              <a:latin typeface="宋体"/>
              <a:cs typeface="宋体"/>
            </a:endParaRPr>
          </a:p>
          <a:p>
            <a:pPr marL="356870">
              <a:lnSpc>
                <a:spcPts val="2510"/>
              </a:lnSpc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=0.08*3000+0.12*3000*（25/360）+70=335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ts val="2510"/>
              </a:lnSpc>
              <a:spcBef>
                <a:spcPts val="26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税收节约</a:t>
            </a:r>
            <a:r>
              <a:rPr dirty="0" sz="2200" spc="-10">
                <a:solidFill>
                  <a:srgbClr val="FFFFFF"/>
                </a:solidFill>
                <a:latin typeface="宋体"/>
                <a:cs typeface="宋体"/>
              </a:rPr>
              <a:t>=（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贴水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未摊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削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发行费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）*t=</a:t>
            </a:r>
            <a:endParaRPr sz="2200">
              <a:latin typeface="宋体"/>
              <a:cs typeface="宋体"/>
            </a:endParaRPr>
          </a:p>
          <a:p>
            <a:pPr marL="356870">
              <a:lnSpc>
                <a:spcPts val="2510"/>
              </a:lnSpc>
            </a:pP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（240+25+48）*0.5=156.5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换债的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际支出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=335-156.5=178.5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ts val="2510"/>
              </a:lnSpc>
              <a:spcBef>
                <a:spcPts val="26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旧债年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出量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息支出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=3000*0.12-</a:t>
            </a:r>
            <a:endParaRPr sz="2200">
              <a:latin typeface="宋体"/>
              <a:cs typeface="宋体"/>
            </a:endParaRPr>
          </a:p>
          <a:p>
            <a:pPr marL="356870">
              <a:lnSpc>
                <a:spcPts val="2510"/>
              </a:lnSpc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（3000*0.12+48/20）*0.5=178.8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ts val="2510"/>
              </a:lnSpc>
              <a:spcBef>
                <a:spcPts val="26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新债年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出量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=3000*0.1-（3000*0.1-70/20）</a:t>
            </a:r>
            <a:endParaRPr sz="2200">
              <a:latin typeface="宋体"/>
              <a:cs typeface="宋体"/>
            </a:endParaRPr>
          </a:p>
          <a:p>
            <a:pPr marL="356870">
              <a:lnSpc>
                <a:spcPts val="2510"/>
              </a:lnSpc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*0.5=148.25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6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现金流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节约额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=178.8-148.25=30.55</a:t>
            </a:r>
            <a:endParaRPr sz="2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2800" spc="5" b="1">
                <a:solidFill>
                  <a:srgbClr val="FA2905"/>
                </a:solidFill>
                <a:latin typeface="微软雅黑"/>
                <a:cs typeface="微软雅黑"/>
              </a:rPr>
              <a:t>现金流</a:t>
            </a:r>
            <a:r>
              <a:rPr dirty="0" sz="2800" spc="-20" b="1">
                <a:solidFill>
                  <a:srgbClr val="FA2905"/>
                </a:solidFill>
                <a:latin typeface="微软雅黑"/>
                <a:cs typeface="微软雅黑"/>
              </a:rPr>
              <a:t>的</a:t>
            </a:r>
            <a:r>
              <a:rPr dirty="0" sz="2800" spc="5" b="1">
                <a:solidFill>
                  <a:srgbClr val="FA2905"/>
                </a:solidFill>
                <a:latin typeface="微软雅黑"/>
                <a:cs typeface="微软雅黑"/>
              </a:rPr>
              <a:t>节约</a:t>
            </a:r>
            <a:r>
              <a:rPr dirty="0" sz="2800" spc="-20" b="1">
                <a:solidFill>
                  <a:srgbClr val="FA2905"/>
                </a:solidFill>
                <a:latin typeface="微软雅黑"/>
                <a:cs typeface="微软雅黑"/>
              </a:rPr>
              <a:t>额</a:t>
            </a:r>
            <a:r>
              <a:rPr dirty="0" sz="2800" spc="5" b="1">
                <a:solidFill>
                  <a:srgbClr val="FA2905"/>
                </a:solidFill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356870" marR="59690" indent="-344805">
              <a:lnSpc>
                <a:spcPts val="2590"/>
              </a:lnSpc>
              <a:spcBef>
                <a:spcPts val="605"/>
              </a:spcBef>
              <a:buClr>
                <a:srgbClr val="FF6600"/>
              </a:buClr>
              <a:buChar char="•"/>
              <a:tabLst>
                <a:tab pos="357505" algn="l"/>
                <a:tab pos="966469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NPV	=现金流的节约额的年金现值-实际支出=30.55*年金现 值系数（20，10%）-178.5=155.5</a:t>
            </a:r>
            <a:endParaRPr sz="2400">
              <a:latin typeface="宋体"/>
              <a:cs typeface="宋体"/>
            </a:endParaRPr>
          </a:p>
          <a:p>
            <a:pPr algn="ctr" marL="76200">
              <a:lnSpc>
                <a:spcPct val="100000"/>
              </a:lnSpc>
              <a:spcBef>
                <a:spcPts val="310"/>
              </a:spcBef>
            </a:pPr>
            <a:r>
              <a:rPr dirty="0" sz="2800" spc="5" b="1">
                <a:solidFill>
                  <a:srgbClr val="FA2905"/>
                </a:solidFill>
                <a:latin typeface="微软雅黑"/>
                <a:cs typeface="微软雅黑"/>
              </a:rPr>
              <a:t>应该换债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租赁融资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980435" y="1675892"/>
            <a:ext cx="3223260" cy="4723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租赁的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述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租赁的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计处理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节税与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节税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租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赁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租赁的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租赁金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租赁与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买的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租赁概述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1596" y="1825244"/>
            <a:ext cx="7511415" cy="38309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租赁的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概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念</a:t>
            </a:r>
            <a:endParaRPr sz="2800">
              <a:latin typeface="微软雅黑"/>
              <a:cs typeface="微软雅黑"/>
            </a:endParaRPr>
          </a:p>
          <a:p>
            <a:pPr marL="356870" marR="32384" indent="-344805">
              <a:lnSpc>
                <a:spcPct val="150400"/>
              </a:lnSpc>
              <a:spcBef>
                <a:spcPts val="66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租赁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(Lease)：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（lessee）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期支付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租赁金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代价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出租人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l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e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ss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e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r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处取得资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产的使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50700"/>
              </a:lnSpc>
              <a:spcBef>
                <a:spcPts val="65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融资法：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某特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资产产生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提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供资金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酬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租赁概述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48003" y="1736852"/>
            <a:ext cx="7273925" cy="3663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营业（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经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营）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租赁</a:t>
            </a:r>
            <a:r>
              <a:rPr dirty="0" sz="3200" spc="-1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endParaRPr sz="32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257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由租赁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司根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租赁市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需要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买设备</a:t>
            </a:r>
            <a:endParaRPr sz="3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28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设备通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性强</a:t>
            </a:r>
            <a:endParaRPr sz="3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3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期限短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（租赁期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对于寿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期）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30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出租人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承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担风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及维修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租赁概述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1491" y="1555155"/>
            <a:ext cx="8035925" cy="500316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融资（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财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务）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租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赁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Financial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设备专用，由承租人选择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时间长（几乎为设备的有效使用期）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合同严格，稳定（无权终止合同）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承租人承担风险和维修保养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现代租赁的主要形式</a:t>
            </a:r>
            <a:endParaRPr sz="24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15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直接租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：典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形式</a:t>
            </a:r>
            <a:endParaRPr sz="2200">
              <a:latin typeface="宋体"/>
              <a:cs typeface="宋体"/>
            </a:endParaRPr>
          </a:p>
          <a:p>
            <a:pPr lvl="1" marL="756285" marR="5080" indent="-287020">
              <a:lnSpc>
                <a:spcPts val="2620"/>
              </a:lnSpc>
              <a:spcBef>
                <a:spcPts val="630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售后租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（sale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&amp;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lease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back)：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有权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，换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回资金，  保留使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endParaRPr sz="22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440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转租赁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目两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笔租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赁</a:t>
            </a:r>
            <a:endParaRPr sz="2200">
              <a:latin typeface="宋体"/>
              <a:cs typeface="宋体"/>
            </a:endParaRPr>
          </a:p>
          <a:p>
            <a:pPr lvl="1" marL="756285" marR="425450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第三方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租赁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：大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型设备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赁，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第三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方提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供60- 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80%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设备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贷款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抵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押，租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还贷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3276" y="697484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租赁的</a:t>
            </a:r>
            <a:r>
              <a:rPr dirty="0" sz="4000" spc="-20"/>
              <a:t>会</a:t>
            </a:r>
            <a:r>
              <a:rPr dirty="0" sz="4000" spc="5"/>
              <a:t>计</a:t>
            </a:r>
            <a:r>
              <a:rPr dirty="0" sz="4000" spc="-20"/>
              <a:t>处</a:t>
            </a:r>
            <a:r>
              <a:rPr dirty="0" sz="4000" spc="5"/>
              <a:t>理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962404"/>
            <a:ext cx="7837805" cy="3187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表外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（off—balance—sheet</a:t>
            </a:r>
            <a:r>
              <a:rPr dirty="0" sz="28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financing）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200000"/>
              </a:lnSpc>
              <a:spcBef>
                <a:spcPts val="7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对经营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赁—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—节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税租赁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承租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计入资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不提折旧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6600"/>
              </a:buClr>
              <a:buFont typeface=""/>
              <a:buChar char="•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对融资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赁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——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节税租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租方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计入资产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54813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 b="0">
                <a:latin typeface="宋体"/>
                <a:cs typeface="宋体"/>
              </a:rPr>
              <a:t>节税与</a:t>
            </a:r>
            <a:r>
              <a:rPr dirty="0" sz="4000" spc="-20" b="0">
                <a:latin typeface="宋体"/>
                <a:cs typeface="宋体"/>
              </a:rPr>
              <a:t>非</a:t>
            </a:r>
            <a:r>
              <a:rPr dirty="0" sz="4000" spc="5" b="0">
                <a:latin typeface="宋体"/>
                <a:cs typeface="宋体"/>
              </a:rPr>
              <a:t>节</a:t>
            </a:r>
            <a:r>
              <a:rPr dirty="0" sz="4000" spc="-20" b="0">
                <a:latin typeface="宋体"/>
                <a:cs typeface="宋体"/>
              </a:rPr>
              <a:t>税</a:t>
            </a:r>
            <a:r>
              <a:rPr dirty="0" sz="4000" spc="5" b="0">
                <a:latin typeface="宋体"/>
                <a:cs typeface="宋体"/>
              </a:rPr>
              <a:t>租赁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1491" y="1423328"/>
            <a:ext cx="7475220" cy="4661535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47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  <a:tab pos="2670175" algn="l"/>
                <a:tab pos="4270375" algn="l"/>
              </a:tabLst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节税租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赁</a:t>
            </a:r>
            <a:r>
              <a:rPr dirty="0" sz="2800" spc="-130" b="1">
                <a:solidFill>
                  <a:srgbClr val="FFFFFF"/>
                </a:solidFill>
                <a:latin typeface="微软雅黑"/>
                <a:cs typeface="微软雅黑"/>
              </a:rPr>
              <a:t>(Tax	</a:t>
            </a:r>
            <a:r>
              <a:rPr dirty="0" sz="2800" spc="-155" b="1">
                <a:solidFill>
                  <a:srgbClr val="FFFFFF"/>
                </a:solidFill>
                <a:latin typeface="微软雅黑"/>
                <a:cs typeface="微软雅黑"/>
              </a:rPr>
              <a:t>Oriented	</a:t>
            </a:r>
            <a:r>
              <a:rPr dirty="0" sz="2800" spc="-15" b="1">
                <a:solidFill>
                  <a:srgbClr val="FFFFFF"/>
                </a:solidFill>
                <a:latin typeface="微软雅黑"/>
                <a:cs typeface="微软雅黑"/>
              </a:rPr>
              <a:t>lease）</a:t>
            </a:r>
            <a:endParaRPr sz="2800">
              <a:latin typeface="微软雅黑"/>
              <a:cs typeface="微软雅黑"/>
            </a:endParaRPr>
          </a:p>
          <a:p>
            <a:pPr lvl="1" marL="756285" marR="5080" indent="-287020">
              <a:lnSpc>
                <a:spcPct val="120000"/>
              </a:lnSpc>
              <a:spcBef>
                <a:spcPts val="59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出租人被认定是租赁设备所有者，可享受折旧、投 资减税等优惠</a:t>
            </a:r>
            <a:endParaRPr sz="24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112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承租人可将租金作为费用，从应税所得中扣除。</a:t>
            </a:r>
            <a:endParaRPr sz="24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115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由于双方均可抵减税，对国家意味税收的减少。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35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非节税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租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赁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20000"/>
              </a:lnSpc>
              <a:spcBef>
                <a:spcPts val="57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承租人被认定是资产所有者，有资格享受折旧的税 收优惠</a:t>
            </a:r>
            <a:endParaRPr sz="24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15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租金不能列支费用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62433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租赁的</a:t>
            </a:r>
            <a:r>
              <a:rPr dirty="0" sz="4000" spc="-20"/>
              <a:t>特</a:t>
            </a:r>
            <a:r>
              <a:rPr dirty="0" sz="4000" spc="5"/>
              <a:t>点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1931" y="1589201"/>
            <a:ext cx="8169909" cy="415226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实质：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用权比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有权更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4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经营租赁的特点</a:t>
            </a:r>
            <a:endParaRPr sz="2400">
              <a:latin typeface="微软雅黑"/>
              <a:cs typeface="微软雅黑"/>
            </a:endParaRPr>
          </a:p>
          <a:p>
            <a:pPr marL="756285" marR="147955" indent="-287020">
              <a:lnSpc>
                <a:spcPct val="100000"/>
              </a:lnSpc>
              <a:spcBef>
                <a:spcPts val="509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优点：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迅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速，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供便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利；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表外融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保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留进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一步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融资能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；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限制较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；转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陈旧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;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节约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交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易成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2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缺点：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 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享受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权好处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折旧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减税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）；放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弃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残值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9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融资租赁的特点</a:t>
            </a:r>
            <a:endParaRPr sz="2400">
              <a:latin typeface="微软雅黑"/>
              <a:cs typeface="微软雅黑"/>
            </a:endParaRPr>
          </a:p>
          <a:p>
            <a:pPr lvl="1" marL="756285" indent="-287020">
              <a:lnSpc>
                <a:spcPct val="100000"/>
              </a:lnSpc>
              <a:spcBef>
                <a:spcPts val="49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提供灵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性，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保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留周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转资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金；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限制少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对中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有利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规避限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性债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契约；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成本高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51765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租赁金</a:t>
            </a:r>
            <a:r>
              <a:rPr dirty="0" sz="4000" spc="-20"/>
              <a:t>的</a:t>
            </a:r>
            <a:r>
              <a:rPr dirty="0" sz="4000" spc="5"/>
              <a:t>确定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1596" y="1532636"/>
            <a:ext cx="7340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租赁公司从租金中应得补偿：资产设置费用；资本成本 扣除拥有资产所有权可能的好处：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69746" y="2316670"/>
          <a:ext cx="7073900" cy="1036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/>
                <a:gridCol w="304800"/>
                <a:gridCol w="4267200"/>
                <a:gridCol w="1219200"/>
                <a:gridCol w="1022350"/>
              </a:tblGrid>
              <a:tr h="335279">
                <a:tc>
                  <a:txBody>
                    <a:bodyPr/>
                    <a:lstStyle/>
                    <a:p>
                      <a:pPr algn="ctr" marR="36830">
                        <a:lnSpc>
                          <a:spcPts val="254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t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54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=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540"/>
                        </a:lnSpc>
                        <a:tabLst>
                          <a:tab pos="3733165" algn="l"/>
                        </a:tabLst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0：投资减税（Investment	Tax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54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Credit,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54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ITC）;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</a:tr>
              <a:tr h="365760">
                <a:tc>
                  <a:txBody>
                    <a:bodyPr/>
                    <a:lstStyle/>
                    <a:p>
                      <a:pPr algn="ctr" marR="36830">
                        <a:lnSpc>
                          <a:spcPts val="278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t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78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=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780"/>
                        </a:lnSpc>
                        <a:tabLst>
                          <a:tab pos="532765" algn="l"/>
                          <a:tab pos="1142365" algn="l"/>
                        </a:tabLst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1,	…,	N：各期折旧税盾tD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；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5279">
                <a:tc>
                  <a:txBody>
                    <a:bodyPr/>
                    <a:lstStyle/>
                    <a:p>
                      <a:pPr algn="ctr" marR="36830">
                        <a:lnSpc>
                          <a:spcPts val="254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t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54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=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540"/>
                        </a:lnSpc>
                        <a:tabLst>
                          <a:tab pos="380365" algn="l"/>
                        </a:tabLst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N	：残值SAL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06195" y="3586988"/>
            <a:ext cx="49530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CC00"/>
                </a:solidFill>
                <a:latin typeface="微软雅黑"/>
                <a:cs typeface="微软雅黑"/>
              </a:rPr>
              <a:t>年租金计算</a:t>
            </a:r>
            <a:endParaRPr sz="2400">
              <a:latin typeface="微软雅黑"/>
              <a:cs typeface="微软雅黑"/>
            </a:endParaRPr>
          </a:p>
          <a:p>
            <a:pPr marL="494665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等额年金序列{A}</a:t>
            </a:r>
            <a:endParaRPr sz="2400">
              <a:latin typeface="宋体"/>
              <a:cs typeface="宋体"/>
            </a:endParaRPr>
          </a:p>
          <a:p>
            <a:pPr marL="494665">
              <a:lnSpc>
                <a:spcPct val="100000"/>
              </a:lnSpc>
              <a:tabLst>
                <a:tab pos="799465" algn="l"/>
                <a:tab pos="1256665" algn="l"/>
                <a:tab pos="2780665" algn="l"/>
                <a:tab pos="3390265" algn="l"/>
                <a:tab pos="36950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P	–	PV（CF）=	∑A	/	(1+k)</a:t>
            </a:r>
            <a:r>
              <a:rPr dirty="0" sz="2400" spc="-4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24305" sz="240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endParaRPr baseline="24305" sz="2400">
              <a:latin typeface="宋体"/>
              <a:cs typeface="宋体"/>
            </a:endParaRPr>
          </a:p>
          <a:p>
            <a:pPr marL="799465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P:资产购买价格</a:t>
            </a:r>
            <a:endParaRPr sz="2400">
              <a:latin typeface="宋体"/>
              <a:cs typeface="宋体"/>
            </a:endParaRPr>
          </a:p>
          <a:p>
            <a:pPr marL="799465">
              <a:lnSpc>
                <a:spcPct val="100000"/>
              </a:lnSpc>
              <a:tabLst>
                <a:tab pos="1866264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PV(CF)	：拥有资产好处的现值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9596" y="5424932"/>
            <a:ext cx="12763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N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3596" y="5412740"/>
            <a:ext cx="4850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  <a:tab pos="2554605" algn="l"/>
                <a:tab pos="3465829" algn="l"/>
                <a:tab pos="3770629" algn="l"/>
                <a:tab pos="4227830" algn="l"/>
                <a:tab pos="453263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ITC+SAL/	(1+k)	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∑tD	/	(1	+	k)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0980" y="5424932"/>
            <a:ext cx="12763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3596" y="5778500"/>
            <a:ext cx="3225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k：租赁公司的资本成本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0604" y="487172"/>
            <a:ext cx="4097654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25"/>
              <a:t>租</a:t>
            </a:r>
            <a:r>
              <a:rPr dirty="0" sz="4000" spc="5"/>
              <a:t>赁与购</a:t>
            </a:r>
            <a:r>
              <a:rPr dirty="0" sz="4000" spc="-20"/>
              <a:t>买</a:t>
            </a:r>
            <a:r>
              <a:rPr dirty="0" sz="4000" spc="5"/>
              <a:t>的比较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52704" y="1327816"/>
            <a:ext cx="8246109" cy="522414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73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租赁净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NAL（Net Advantage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to</a:t>
            </a:r>
            <a:r>
              <a:rPr dirty="0" sz="28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Leasing）</a:t>
            </a:r>
            <a:endParaRPr sz="2800">
              <a:latin typeface="宋体"/>
              <a:cs typeface="宋体"/>
            </a:endParaRPr>
          </a:p>
          <a:p>
            <a:pPr marL="508000">
              <a:lnSpc>
                <a:spcPct val="100000"/>
              </a:lnSpc>
              <a:spcBef>
                <a:spcPts val="505"/>
              </a:spcBef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NAL = P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–</a:t>
            </a:r>
            <a:r>
              <a:rPr dirty="0" sz="22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PV(NCF)</a:t>
            </a:r>
            <a:endParaRPr sz="2200">
              <a:latin typeface="宋体"/>
              <a:cs typeface="宋体"/>
            </a:endParaRPr>
          </a:p>
          <a:p>
            <a:pPr marL="965200">
              <a:lnSpc>
                <a:spcPct val="100000"/>
              </a:lnSpc>
              <a:spcBef>
                <a:spcPts val="52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P：购买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格（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赁的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本节余）</a:t>
            </a:r>
            <a:endParaRPr sz="2200">
              <a:latin typeface="宋体"/>
              <a:cs typeface="宋体"/>
            </a:endParaRPr>
          </a:p>
          <a:p>
            <a:pPr algn="just" marL="1193165" marR="143510" indent="-228600">
              <a:lnSpc>
                <a:spcPct val="100000"/>
              </a:lnSpc>
              <a:spcBef>
                <a:spcPts val="50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NCF：租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对承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来的成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增量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或节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）：</a:t>
            </a:r>
            <a:r>
              <a:rPr dirty="0" sz="22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ITC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SAL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税盾</a:t>
            </a:r>
            <a:r>
              <a:rPr dirty="0" sz="2200" spc="-10">
                <a:solidFill>
                  <a:srgbClr val="FFFFFF"/>
                </a:solidFill>
                <a:latin typeface="宋体"/>
                <a:cs typeface="宋体"/>
              </a:rPr>
              <a:t>tD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及租赁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购买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式比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较的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营业成 本增量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A-E</a:t>
            </a:r>
            <a:endParaRPr sz="22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595"/>
              </a:spcBef>
            </a:pPr>
            <a:r>
              <a:rPr dirty="0" sz="2400">
                <a:solidFill>
                  <a:srgbClr val="FFCC00"/>
                </a:solidFill>
                <a:latin typeface="宋体"/>
                <a:cs typeface="宋体"/>
              </a:rPr>
              <a:t>租赁与购买比较公式</a:t>
            </a:r>
            <a:endParaRPr sz="2400">
              <a:latin typeface="宋体"/>
              <a:cs typeface="宋体"/>
            </a:endParaRPr>
          </a:p>
          <a:p>
            <a:pPr marL="508000">
              <a:lnSpc>
                <a:spcPct val="100000"/>
              </a:lnSpc>
              <a:spcBef>
                <a:spcPts val="509"/>
              </a:spcBef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NAL = P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–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ITC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–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SAL / (1 +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r')</a:t>
            </a:r>
            <a:r>
              <a:rPr dirty="0" baseline="25925" sz="2250" spc="-7">
                <a:solidFill>
                  <a:srgbClr val="FFFFFF"/>
                </a:solidFill>
                <a:latin typeface="宋体"/>
                <a:cs typeface="宋体"/>
              </a:rPr>
              <a:t>N</a:t>
            </a:r>
            <a:r>
              <a:rPr dirty="0" baseline="25925" sz="2250" spc="-16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–</a:t>
            </a:r>
            <a:endParaRPr sz="2200">
              <a:latin typeface="宋体"/>
              <a:cs typeface="宋体"/>
            </a:endParaRPr>
          </a:p>
          <a:p>
            <a:pPr marL="134874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∑[(1-t)(A-E)+ </a:t>
            </a:r>
            <a:r>
              <a:rPr dirty="0" sz="2200" spc="-10">
                <a:solidFill>
                  <a:srgbClr val="FFFFFF"/>
                </a:solidFill>
                <a:latin typeface="宋体"/>
                <a:cs typeface="宋体"/>
              </a:rPr>
              <a:t>tD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]/ (1 +</a:t>
            </a:r>
            <a:r>
              <a:rPr dirty="0" sz="2200" spc="-1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r)</a:t>
            </a:r>
            <a:r>
              <a:rPr dirty="0" baseline="25925" sz="2250" spc="-7">
                <a:solidFill>
                  <a:srgbClr val="FFFFFF"/>
                </a:solidFill>
                <a:latin typeface="宋体"/>
                <a:cs typeface="宋体"/>
              </a:rPr>
              <a:t>t</a:t>
            </a:r>
            <a:endParaRPr baseline="25925" sz="225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565"/>
              </a:spcBef>
            </a:pPr>
            <a:r>
              <a:rPr dirty="0" sz="2400">
                <a:solidFill>
                  <a:srgbClr val="FFCC00"/>
                </a:solidFill>
                <a:latin typeface="宋体"/>
                <a:cs typeface="宋体"/>
              </a:rPr>
              <a:t>计算适用的贴现率</a:t>
            </a:r>
            <a:endParaRPr sz="2400">
              <a:latin typeface="宋体"/>
              <a:cs typeface="宋体"/>
            </a:endParaRPr>
          </a:p>
          <a:p>
            <a:pPr marL="794385" marR="43180" indent="554355">
              <a:lnSpc>
                <a:spcPct val="100000"/>
              </a:lnSpc>
              <a:spcBef>
                <a:spcPts val="515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贴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现率r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承租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有担保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务税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与无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担保债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税后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成本的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权平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200">
              <a:latin typeface="宋体"/>
              <a:cs typeface="宋体"/>
            </a:endParaRPr>
          </a:p>
          <a:p>
            <a:pPr marL="1348740">
              <a:lnSpc>
                <a:spcPct val="100000"/>
              </a:lnSpc>
              <a:spcBef>
                <a:spcPts val="525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值所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用的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贴现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率r’为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目的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必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要报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7844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项目融资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53588" y="1788668"/>
            <a:ext cx="2869565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项目融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的概</a:t>
            </a:r>
            <a:r>
              <a:rPr dirty="0" sz="2800" spc="-2715" b="1">
                <a:solidFill>
                  <a:srgbClr val="FFFFFF"/>
                </a:solidFill>
                <a:latin typeface="微软雅黑"/>
                <a:cs typeface="微软雅黑"/>
              </a:rPr>
              <a:t>念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项目融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的条</a:t>
            </a:r>
            <a:r>
              <a:rPr dirty="0" sz="2800" spc="-2715" b="1">
                <a:solidFill>
                  <a:srgbClr val="FFFFFF"/>
                </a:solidFill>
                <a:latin typeface="微软雅黑"/>
                <a:cs typeface="微软雅黑"/>
              </a:rPr>
              <a:t>件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1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项目融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的特</a:t>
            </a:r>
            <a:r>
              <a:rPr dirty="0" sz="2800" spc="-2715" b="1">
                <a:solidFill>
                  <a:srgbClr val="FFFFFF"/>
                </a:solidFill>
                <a:latin typeface="微软雅黑"/>
                <a:cs typeface="微软雅黑"/>
              </a:rPr>
              <a:t>点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1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项目融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的模</a:t>
            </a:r>
            <a:r>
              <a:rPr dirty="0" sz="2800" spc="-2715" b="1">
                <a:solidFill>
                  <a:srgbClr val="FFFFFF"/>
                </a:solidFill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5844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项目融</a:t>
            </a:r>
            <a:r>
              <a:rPr dirty="0" sz="4000" spc="-20"/>
              <a:t>资</a:t>
            </a:r>
            <a:r>
              <a:rPr dirty="0" sz="4000" spc="5"/>
              <a:t>的</a:t>
            </a:r>
            <a:r>
              <a:rPr dirty="0" sz="4000" spc="-20"/>
              <a:t>概</a:t>
            </a:r>
            <a:r>
              <a:rPr dirty="0" sz="4000" spc="5"/>
              <a:t>念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2891" y="1539152"/>
            <a:ext cx="8276590" cy="4473575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以单个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基础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进行融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整体脱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170"/>
              </a:spcBef>
            </a:pP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具体操作：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20700"/>
              </a:lnSpc>
              <a:spcBef>
                <a:spcPts val="6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立项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东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权益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占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项目资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25%左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 其余由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款解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6285" marR="358140" indent="-287020">
              <a:lnSpc>
                <a:spcPct val="12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贷款的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担保是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目本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身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在未来所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造的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加上有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参与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分担。</a:t>
            </a:r>
            <a:endParaRPr sz="2800">
              <a:latin typeface="宋体"/>
              <a:cs typeface="宋体"/>
            </a:endParaRPr>
          </a:p>
          <a:p>
            <a:pPr marL="756285" marR="358140" indent="-287020">
              <a:lnSpc>
                <a:spcPct val="12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项目成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功，贷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方正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收回本息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生各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种意外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贷款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以从风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中争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取补偿。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项目融</a:t>
            </a:r>
            <a:r>
              <a:rPr dirty="0" sz="4000" spc="-20"/>
              <a:t>资</a:t>
            </a:r>
            <a:r>
              <a:rPr dirty="0" sz="4000" spc="5"/>
              <a:t>的</a:t>
            </a:r>
            <a:r>
              <a:rPr dirty="0" sz="4000" spc="-20"/>
              <a:t>条</a:t>
            </a:r>
            <a:r>
              <a:rPr dirty="0" sz="4000" spc="5"/>
              <a:t>件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04747" y="1819148"/>
            <a:ext cx="7429500" cy="3614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立经济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位而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6600"/>
              </a:buClr>
              <a:buFont typeface="Arial"/>
              <a:buChar char="•"/>
            </a:pPr>
            <a:endParaRPr sz="26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315">
                <a:solidFill>
                  <a:srgbClr val="FFFFFF"/>
                </a:solidFill>
                <a:latin typeface="宋体"/>
                <a:cs typeface="宋体"/>
              </a:rPr>
              <a:t>该项目</a:t>
            </a:r>
            <a:r>
              <a:rPr dirty="0" sz="2800" spc="29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315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290">
                <a:solidFill>
                  <a:srgbClr val="FFFFFF"/>
                </a:solidFill>
                <a:latin typeface="宋体"/>
                <a:cs typeface="宋体"/>
              </a:rPr>
              <a:t>济前景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800" spc="-56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800" spc="290">
                <a:solidFill>
                  <a:srgbClr val="FFFFFF"/>
                </a:solidFill>
                <a:latin typeface="宋体"/>
                <a:cs typeface="宋体"/>
              </a:rPr>
              <a:t>加上发起人或</a:t>
            </a:r>
            <a:r>
              <a:rPr dirty="0" sz="2800" spc="315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2800" spc="290">
                <a:solidFill>
                  <a:srgbClr val="FFFFFF"/>
                </a:solidFill>
                <a:latin typeface="宋体"/>
                <a:cs typeface="宋体"/>
              </a:rPr>
              <a:t>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endParaRPr sz="2800">
              <a:latin typeface="宋体"/>
              <a:cs typeface="宋体"/>
            </a:endParaRPr>
          </a:p>
          <a:p>
            <a:pPr marL="356870">
              <a:lnSpc>
                <a:spcPct val="100000"/>
              </a:lnSpc>
              <a:spcBef>
                <a:spcPts val="2690"/>
              </a:spcBef>
            </a:pP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府或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买合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）的承诺，可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保证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endParaRPr sz="2800">
              <a:latin typeface="宋体"/>
              <a:cs typeface="宋体"/>
            </a:endParaRPr>
          </a:p>
          <a:p>
            <a:pPr marL="356870" marR="5080">
              <a:lnSpc>
                <a:spcPct val="180000"/>
              </a:lnSpc>
              <a:spcBef>
                <a:spcPts val="20"/>
              </a:spcBef>
            </a:pP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生足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够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的现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流，在扣除成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外，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足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以支付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220" y="602996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项目</a:t>
            </a:r>
            <a:r>
              <a:rPr dirty="0" sz="4000" spc="-20"/>
              <a:t>融</a:t>
            </a:r>
            <a:r>
              <a:rPr dirty="0" sz="4000" spc="5"/>
              <a:t>资</a:t>
            </a:r>
            <a:r>
              <a:rPr dirty="0" sz="4000" spc="-20"/>
              <a:t>的</a:t>
            </a:r>
            <a:r>
              <a:rPr dirty="0" sz="4000" spc="5"/>
              <a:t>特点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60045" marR="5080" indent="-344805">
              <a:lnSpc>
                <a:spcPct val="150700"/>
              </a:lnSpc>
              <a:spcBef>
                <a:spcPts val="95"/>
              </a:spcBef>
              <a:buClr>
                <a:srgbClr val="FF6600"/>
              </a:buClr>
              <a:buChar char="•"/>
              <a:tabLst>
                <a:tab pos="360680" algn="l"/>
              </a:tabLst>
            </a:pPr>
            <a:r>
              <a:rPr dirty="0" spc="5"/>
              <a:t>风险分</a:t>
            </a:r>
            <a:r>
              <a:rPr dirty="0" spc="-20"/>
              <a:t>担</a:t>
            </a:r>
            <a:r>
              <a:rPr dirty="0" spc="5"/>
              <a:t>——</a:t>
            </a:r>
            <a:r>
              <a:rPr dirty="0" spc="-20"/>
              <a:t>发起</a:t>
            </a:r>
            <a:r>
              <a:rPr dirty="0" spc="5"/>
              <a:t>人通过</a:t>
            </a:r>
            <a:r>
              <a:rPr dirty="0" spc="-20"/>
              <a:t>合</a:t>
            </a:r>
            <a:r>
              <a:rPr dirty="0" spc="5"/>
              <a:t>伙人</a:t>
            </a:r>
            <a:r>
              <a:rPr dirty="0" spc="-20"/>
              <a:t>（如</a:t>
            </a:r>
            <a:r>
              <a:rPr dirty="0" spc="5"/>
              <a:t>供货人、 </a:t>
            </a:r>
            <a:r>
              <a:rPr dirty="0" spc="5"/>
              <a:t>购买人</a:t>
            </a:r>
            <a:r>
              <a:rPr dirty="0" spc="-20"/>
              <a:t>）</a:t>
            </a:r>
            <a:r>
              <a:rPr dirty="0" spc="5"/>
              <a:t>分担</a:t>
            </a:r>
            <a:r>
              <a:rPr dirty="0" spc="-20"/>
              <a:t>风</a:t>
            </a:r>
            <a:r>
              <a:rPr dirty="0" spc="5"/>
              <a:t>险</a:t>
            </a:r>
          </a:p>
          <a:p>
            <a:pPr marL="360045" marR="361315" indent="-344805">
              <a:lnSpc>
                <a:spcPct val="150700"/>
              </a:lnSpc>
              <a:spcBef>
                <a:spcPts val="650"/>
              </a:spcBef>
              <a:buClr>
                <a:srgbClr val="FF6600"/>
              </a:buClr>
              <a:buChar char="•"/>
              <a:tabLst>
                <a:tab pos="360680" algn="l"/>
              </a:tabLst>
            </a:pPr>
            <a:r>
              <a:rPr dirty="0" spc="5"/>
              <a:t>扩大负</a:t>
            </a:r>
            <a:r>
              <a:rPr dirty="0" spc="-20"/>
              <a:t>债</a:t>
            </a:r>
            <a:r>
              <a:rPr dirty="0" spc="5"/>
              <a:t>能力</a:t>
            </a:r>
            <a:r>
              <a:rPr dirty="0" spc="-20"/>
              <a:t>——</a:t>
            </a:r>
            <a:r>
              <a:rPr dirty="0" spc="5"/>
              <a:t>以项目</a:t>
            </a:r>
            <a:r>
              <a:rPr dirty="0" spc="-20"/>
              <a:t>为</a:t>
            </a:r>
            <a:r>
              <a:rPr dirty="0" spc="5"/>
              <a:t>基础</a:t>
            </a:r>
            <a:r>
              <a:rPr dirty="0" spc="-20"/>
              <a:t>融资</a:t>
            </a:r>
            <a:r>
              <a:rPr dirty="0" spc="5"/>
              <a:t>，通过 </a:t>
            </a:r>
            <a:r>
              <a:rPr dirty="0" spc="5"/>
              <a:t>风险转</a:t>
            </a:r>
            <a:r>
              <a:rPr dirty="0" spc="-20"/>
              <a:t>移</a:t>
            </a:r>
            <a:r>
              <a:rPr dirty="0" spc="5"/>
              <a:t>，实</a:t>
            </a:r>
            <a:r>
              <a:rPr dirty="0" spc="-20"/>
              <a:t>现更</a:t>
            </a:r>
            <a:r>
              <a:rPr dirty="0" spc="5"/>
              <a:t>高的杠</a:t>
            </a:r>
            <a:r>
              <a:rPr dirty="0" spc="-20"/>
              <a:t>杆</a:t>
            </a:r>
            <a:r>
              <a:rPr dirty="0" spc="5"/>
              <a:t>度</a:t>
            </a:r>
          </a:p>
          <a:p>
            <a:pPr marL="360045" marR="361315" indent="-344805">
              <a:lnSpc>
                <a:spcPct val="150700"/>
              </a:lnSpc>
              <a:spcBef>
                <a:spcPts val="650"/>
              </a:spcBef>
              <a:buClr>
                <a:srgbClr val="FF6600"/>
              </a:buClr>
              <a:buChar char="•"/>
              <a:tabLst>
                <a:tab pos="360680" algn="l"/>
              </a:tabLst>
            </a:pPr>
            <a:r>
              <a:rPr dirty="0" spc="5"/>
              <a:t>较低的</a:t>
            </a:r>
            <a:r>
              <a:rPr dirty="0" spc="-20"/>
              <a:t>融</a:t>
            </a:r>
            <a:r>
              <a:rPr dirty="0" spc="5"/>
              <a:t>资成</a:t>
            </a:r>
            <a:r>
              <a:rPr dirty="0" spc="-20"/>
              <a:t>本—</a:t>
            </a:r>
            <a:r>
              <a:rPr dirty="0" spc="5"/>
              <a:t>—利用</a:t>
            </a:r>
            <a:r>
              <a:rPr dirty="0" spc="-20"/>
              <a:t>购</a:t>
            </a:r>
            <a:r>
              <a:rPr dirty="0" spc="5"/>
              <a:t>买人</a:t>
            </a:r>
            <a:r>
              <a:rPr dirty="0" spc="-20"/>
              <a:t>的信</a:t>
            </a:r>
            <a:r>
              <a:rPr dirty="0" spc="5"/>
              <a:t>用，而 </a:t>
            </a:r>
            <a:r>
              <a:rPr dirty="0" spc="5"/>
              <a:t>不是发</a:t>
            </a:r>
            <a:r>
              <a:rPr dirty="0" spc="-20"/>
              <a:t>起</a:t>
            </a:r>
            <a:r>
              <a:rPr dirty="0" spc="5"/>
              <a:t>人的</a:t>
            </a:r>
            <a:r>
              <a:rPr dirty="0" spc="-20"/>
              <a:t>信</a:t>
            </a:r>
            <a:r>
              <a:rPr dirty="0" spc="5"/>
              <a:t>用</a:t>
            </a:r>
          </a:p>
          <a:p>
            <a:pPr marL="360045" indent="-344805">
              <a:lnSpc>
                <a:spcPct val="100000"/>
              </a:lnSpc>
              <a:spcBef>
                <a:spcPts val="2350"/>
              </a:spcBef>
              <a:buClr>
                <a:srgbClr val="FF6600"/>
              </a:buClr>
              <a:buChar char="•"/>
              <a:tabLst>
                <a:tab pos="360680" algn="l"/>
              </a:tabLst>
            </a:pPr>
            <a:r>
              <a:rPr dirty="0" spc="5"/>
              <a:t>缺点</a:t>
            </a:r>
            <a:r>
              <a:rPr dirty="0" spc="-5"/>
              <a:t>——</a:t>
            </a:r>
            <a:r>
              <a:rPr dirty="0" spc="5"/>
              <a:t>交易</a:t>
            </a:r>
            <a:r>
              <a:rPr dirty="0" spc="-20"/>
              <a:t>成本</a:t>
            </a:r>
            <a:r>
              <a:rPr dirty="0" spc="5"/>
              <a:t>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项目融</a:t>
            </a:r>
            <a:r>
              <a:rPr dirty="0" sz="4000" spc="-20"/>
              <a:t>资</a:t>
            </a:r>
            <a:r>
              <a:rPr dirty="0" sz="4000" spc="5"/>
              <a:t>的</a:t>
            </a:r>
            <a:r>
              <a:rPr dirty="0" sz="4000" spc="-20"/>
              <a:t>模</a:t>
            </a:r>
            <a:r>
              <a:rPr dirty="0" sz="4000" spc="5"/>
              <a:t>式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559811" y="1739900"/>
            <a:ext cx="3038475" cy="1477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经营权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转</a:t>
            </a:r>
            <a:r>
              <a:rPr dirty="0" sz="2800" spc="229" b="1">
                <a:solidFill>
                  <a:srgbClr val="FFFFFF"/>
                </a:solidFill>
                <a:latin typeface="微软雅黑"/>
                <a:cs typeface="微软雅黑"/>
              </a:rPr>
              <a:t>让</a:t>
            </a:r>
            <a:r>
              <a:rPr dirty="0" sz="2800" spc="-415" b="1">
                <a:solidFill>
                  <a:srgbClr val="FFFFFF"/>
                </a:solidFill>
                <a:latin typeface="微软雅黑"/>
                <a:cs typeface="微软雅黑"/>
              </a:rPr>
              <a:t>(</a:t>
            </a:r>
            <a:r>
              <a:rPr dirty="0" sz="2800" spc="-855" b="1">
                <a:solidFill>
                  <a:srgbClr val="FFFFFF"/>
                </a:solidFill>
                <a:latin typeface="微软雅黑"/>
                <a:cs typeface="微软雅黑"/>
              </a:rPr>
              <a:t>T</a:t>
            </a:r>
            <a:r>
              <a:rPr dirty="0" sz="2800" spc="-1370" b="1">
                <a:solidFill>
                  <a:srgbClr val="FFFFFF"/>
                </a:solidFill>
                <a:latin typeface="微软雅黑"/>
                <a:cs typeface="微软雅黑"/>
              </a:rPr>
              <a:t>O</a:t>
            </a:r>
            <a:r>
              <a:rPr dirty="0" sz="2800" spc="-855" b="1">
                <a:solidFill>
                  <a:srgbClr val="FFFFFF"/>
                </a:solidFill>
                <a:latin typeface="微软雅黑"/>
                <a:cs typeface="微软雅黑"/>
              </a:rPr>
              <a:t>T</a:t>
            </a:r>
            <a:r>
              <a:rPr dirty="0" sz="2800" spc="-180" b="1">
                <a:solidFill>
                  <a:srgbClr val="FFFFFF"/>
                </a:solidFill>
                <a:latin typeface="微软雅黑"/>
                <a:cs typeface="微软雅黑"/>
              </a:rPr>
              <a:t>)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1069975" algn="l"/>
              </a:tabLst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-585" b="1">
                <a:solidFill>
                  <a:srgbClr val="FFFFFF"/>
                </a:solidFill>
                <a:latin typeface="微软雅黑"/>
                <a:cs typeface="微软雅黑"/>
              </a:rPr>
              <a:t>BOT	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项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目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融资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8204" y="639572"/>
            <a:ext cx="3837304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经营权</a:t>
            </a:r>
            <a:r>
              <a:rPr dirty="0" sz="4000" spc="-20"/>
              <a:t>转</a:t>
            </a:r>
            <a:r>
              <a:rPr dirty="0" sz="4000" spc="325"/>
              <a:t>让</a:t>
            </a:r>
            <a:r>
              <a:rPr dirty="0" sz="4000" spc="-350"/>
              <a:t>(TOT)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2891" y="1566164"/>
            <a:ext cx="7990205" cy="48831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英文TRANSFER—OPERATE—TRANSFER的缩写</a:t>
            </a:r>
            <a:endParaRPr sz="2400">
              <a:latin typeface="宋体"/>
              <a:cs typeface="宋体"/>
            </a:endParaRPr>
          </a:p>
          <a:p>
            <a:pPr algn="just" marL="356870" marR="5080" indent="-344805">
              <a:lnSpc>
                <a:spcPts val="2860"/>
              </a:lnSpc>
              <a:spcBef>
                <a:spcPts val="68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它是指通过出售现有投产项目在一定期限内的产权，获得 资金来建设新项目的一种融资方式</a:t>
            </a:r>
            <a:endParaRPr sz="24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也是利用民间资本运营基础设施项目的一种模式或结构， 特许经营期结束后，政府再将其所有权收回的一种经营模 式。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TOT的主要特点</a:t>
            </a:r>
            <a:endParaRPr sz="2400">
              <a:latin typeface="宋体"/>
              <a:cs typeface="宋体"/>
            </a:endParaRPr>
          </a:p>
          <a:p>
            <a:pPr lvl="1" marL="756285" marR="117475" indent="-287020">
              <a:lnSpc>
                <a:spcPct val="100000"/>
              </a:lnSpc>
              <a:spcBef>
                <a:spcPts val="44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以现有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低了民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入基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施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产业的进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入壁垒。</a:t>
            </a:r>
            <a:endParaRPr sz="2000">
              <a:latin typeface="宋体"/>
              <a:cs typeface="宋体"/>
            </a:endParaRPr>
          </a:p>
          <a:p>
            <a:pPr lvl="1" marL="756285" marR="117475" indent="-28702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在转让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程中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一般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目一段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营权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国有民营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的企业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度，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效的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目的经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效益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利益。</a:t>
            </a:r>
            <a:endParaRPr sz="2000">
              <a:latin typeface="宋体"/>
              <a:cs typeface="宋体"/>
            </a:endParaRPr>
          </a:p>
          <a:p>
            <a:pPr lvl="1" marL="756285" marR="117475" indent="-28702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在项目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许经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期结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项目无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归还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政府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防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了国有资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产的流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失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260" y="645668"/>
            <a:ext cx="29457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latin typeface="Arial"/>
                <a:cs typeface="Arial"/>
              </a:rPr>
              <a:t>BOT</a:t>
            </a:r>
            <a:r>
              <a:rPr dirty="0" sz="3600" spc="-95">
                <a:latin typeface="Arial"/>
                <a:cs typeface="Arial"/>
              </a:rPr>
              <a:t> </a:t>
            </a:r>
            <a:r>
              <a:rPr dirty="0" sz="3600"/>
              <a:t>项目融资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3204" y="1523492"/>
            <a:ext cx="7685405" cy="48412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21995">
              <a:lnSpc>
                <a:spcPct val="100099"/>
              </a:lnSpc>
              <a:spcBef>
                <a:spcPts val="105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BOT，build—operate—transfer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即建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—经 营—转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基础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设施建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式，指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道 国政府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过特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许协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议，在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特许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期内，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 目授予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起人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设立的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营公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司，由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 公司负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融资、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运营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和维护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 用经营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还贷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款，特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后，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将基础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施 无偿移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给东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道国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政府。</a:t>
            </a:r>
            <a:endParaRPr sz="2800">
              <a:latin typeface="宋体"/>
              <a:cs typeface="宋体"/>
            </a:endParaRPr>
          </a:p>
          <a:p>
            <a:pPr marL="125095">
              <a:lnSpc>
                <a:spcPct val="100000"/>
              </a:lnSpc>
              <a:spcBef>
                <a:spcPts val="670"/>
              </a:spcBef>
            </a:pP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三种具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体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的建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设方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式：</a:t>
            </a:r>
            <a:endParaRPr sz="2800">
              <a:latin typeface="微软雅黑"/>
              <a:cs typeface="微软雅黑"/>
            </a:endParaRPr>
          </a:p>
          <a:p>
            <a:pPr marL="411480" indent="-287020">
              <a:lnSpc>
                <a:spcPct val="100000"/>
              </a:lnSpc>
              <a:spcBef>
                <a:spcPts val="570"/>
              </a:spcBef>
              <a:buClr>
                <a:srgbClr val="FF6600"/>
              </a:buClr>
              <a:buChar char="•"/>
              <a:tabLst>
                <a:tab pos="412115" algn="l"/>
                <a:tab pos="102108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BOT	：即建设—经营—转让</a:t>
            </a:r>
            <a:endParaRPr sz="24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BOOT：即建设—拥有—经营—转让</a:t>
            </a:r>
            <a:endParaRPr sz="24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BOO：即建设—拥有—经营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636" y="703580"/>
            <a:ext cx="8374380" cy="5101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12065">
              <a:lnSpc>
                <a:spcPct val="100000"/>
              </a:lnSpc>
              <a:spcBef>
                <a:spcPts val="90"/>
              </a:spcBef>
            </a:pPr>
            <a:r>
              <a:rPr dirty="0" sz="3200" spc="-670" b="1">
                <a:solidFill>
                  <a:srgbClr val="FFCC00"/>
                </a:solidFill>
                <a:latin typeface="微软雅黑"/>
                <a:cs typeface="微软雅黑"/>
              </a:rPr>
              <a:t>BOT</a:t>
            </a:r>
            <a:endParaRPr sz="3200">
              <a:latin typeface="微软雅黑"/>
              <a:cs typeface="微软雅黑"/>
            </a:endParaRPr>
          </a:p>
          <a:p>
            <a:pPr algn="just" marL="356870" marR="5080" indent="-344805">
              <a:lnSpc>
                <a:spcPct val="170000"/>
              </a:lnSpc>
              <a:spcBef>
                <a:spcPts val="11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BOT，build—operate—transfer，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建设—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营—  转让</a:t>
            </a:r>
            <a:endParaRPr sz="2800">
              <a:latin typeface="宋体"/>
              <a:cs typeface="宋体"/>
            </a:endParaRPr>
          </a:p>
          <a:p>
            <a:pPr algn="just" marL="356870" marR="184785" indent="-344805">
              <a:lnSpc>
                <a:spcPct val="17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私人财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愿意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自己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融资、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础设施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在东 道国政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授予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特许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该基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础设施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以经 营收入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抵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偿建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设投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资，并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益，经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期满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后将此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施转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让给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东道国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府或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其它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公共机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90"/>
              </a:spcBef>
            </a:pPr>
            <a:r>
              <a:rPr dirty="0" spc="-585"/>
              <a:t>B</a:t>
            </a:r>
            <a:r>
              <a:rPr dirty="0" spc="-1015"/>
              <a:t>OO</a:t>
            </a:r>
            <a:r>
              <a:rPr dirty="0" spc="-409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898396"/>
            <a:ext cx="8374380" cy="34404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BOOT，build—own—operate—transfer，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设—</a:t>
            </a:r>
            <a:endParaRPr sz="2800">
              <a:latin typeface="宋体"/>
              <a:cs typeface="宋体"/>
            </a:endParaRPr>
          </a:p>
          <a:p>
            <a:pPr marL="356870">
              <a:lnSpc>
                <a:spcPct val="100000"/>
              </a:lnSpc>
              <a:spcBef>
                <a:spcPts val="235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拥有—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转让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356870" marR="541020" indent="-344805">
              <a:lnSpc>
                <a:spcPct val="17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私人合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人或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国际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财团融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建设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基础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设施项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项目建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定的期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有权并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满后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将所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有权和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移交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给政府。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712724"/>
            <a:ext cx="7843520" cy="46266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63855">
              <a:lnSpc>
                <a:spcPct val="100000"/>
              </a:lnSpc>
              <a:spcBef>
                <a:spcPts val="90"/>
              </a:spcBef>
            </a:pPr>
            <a:r>
              <a:rPr dirty="0" sz="3200" spc="-875" b="1">
                <a:solidFill>
                  <a:srgbClr val="FFCC00"/>
                </a:solidFill>
                <a:latin typeface="微软雅黑"/>
                <a:cs typeface="微软雅黑"/>
              </a:rPr>
              <a:t>BOO</a:t>
            </a:r>
            <a:endParaRPr sz="3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微软雅黑"/>
              <a:cs typeface="微软雅黑"/>
            </a:endParaRPr>
          </a:p>
          <a:p>
            <a:pPr algn="just" marL="356870" marR="5080" indent="-344805">
              <a:lnSpc>
                <a:spcPct val="17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BOO，build—own—operate，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建设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拥有—经 营。</a:t>
            </a:r>
            <a:endParaRPr sz="2800">
              <a:latin typeface="宋体"/>
              <a:cs typeface="宋体"/>
            </a:endParaRPr>
          </a:p>
          <a:p>
            <a:pPr algn="just" marL="356870" marR="10795" indent="-344805">
              <a:lnSpc>
                <a:spcPct val="17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这种方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包商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根据政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赋予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许权，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 并经营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础设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施，但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将基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础设施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交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给政府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门。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703580"/>
            <a:ext cx="3073400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755"/>
              <a:t>BOOT</a:t>
            </a:r>
            <a:r>
              <a:rPr dirty="0" spc="-360"/>
              <a:t>与</a:t>
            </a:r>
            <a:r>
              <a:rPr dirty="0" spc="-560"/>
              <a:t>BOT</a:t>
            </a:r>
            <a:r>
              <a:rPr dirty="0" spc="-10"/>
              <a:t>的区别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675" y="1613103"/>
            <a:ext cx="8374380" cy="3314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5080" indent="-344805">
              <a:lnSpc>
                <a:spcPct val="150000"/>
              </a:lnSpc>
              <a:spcBef>
                <a:spcPts val="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一是所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区别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O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成后，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人只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拥有所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但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BOOT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式，在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目建 成后，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规定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限内既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也有所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权。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50000"/>
              </a:lnSpc>
              <a:spcBef>
                <a:spcPts val="7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二是时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差别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O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到移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交给政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段时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间一般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BOOT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方式短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些。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5820" y="645668"/>
            <a:ext cx="23634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latin typeface="Arial"/>
                <a:cs typeface="Arial"/>
              </a:rPr>
              <a:t>B</a:t>
            </a:r>
            <a:r>
              <a:rPr dirty="0" sz="3600">
                <a:latin typeface="Arial"/>
                <a:cs typeface="Arial"/>
              </a:rPr>
              <a:t>O</a:t>
            </a:r>
            <a:r>
              <a:rPr dirty="0" sz="3600" spc="15">
                <a:latin typeface="Arial"/>
                <a:cs typeface="Arial"/>
              </a:rPr>
              <a:t>T</a:t>
            </a:r>
            <a:r>
              <a:rPr dirty="0" sz="3600"/>
              <a:t>的优点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891" y="1555191"/>
            <a:ext cx="8017509" cy="395732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有利于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少政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府直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接的财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负担。</a:t>
            </a:r>
            <a:endParaRPr sz="2800">
              <a:latin typeface="宋体"/>
              <a:cs typeface="宋体"/>
            </a:endParaRPr>
          </a:p>
          <a:p>
            <a:pPr marL="356870" marR="184785" indent="-344805">
              <a:lnSpc>
                <a:spcPct val="100699"/>
              </a:lnSpc>
              <a:spcBef>
                <a:spcPts val="64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避免了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府的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负担，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会影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响国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际金融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对政府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借贷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限额。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有利于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高项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运作效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可提前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足社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会与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公众的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求。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有利于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府对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重大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观管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699"/>
              </a:lnSpc>
              <a:spcBef>
                <a:spcPts val="64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O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施还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以为我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带来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先进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的设计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施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工、生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技术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目管理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验等。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1420" y="645668"/>
            <a:ext cx="41922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latin typeface="Arial"/>
                <a:cs typeface="Arial"/>
              </a:rPr>
              <a:t>B</a:t>
            </a:r>
            <a:r>
              <a:rPr dirty="0" sz="3600">
                <a:latin typeface="Arial"/>
                <a:cs typeface="Arial"/>
              </a:rPr>
              <a:t>O</a:t>
            </a:r>
            <a:r>
              <a:rPr dirty="0" sz="3600" spc="15">
                <a:latin typeface="Arial"/>
                <a:cs typeface="Arial"/>
              </a:rPr>
              <a:t>T</a:t>
            </a:r>
            <a:r>
              <a:rPr dirty="0" sz="3600"/>
              <a:t>项目的实施难点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67332" y="1819148"/>
            <a:ext cx="6414135" cy="2757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BOT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施的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律环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不健全。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buClr>
                <a:srgbClr val="FF6600"/>
              </a:buClr>
              <a:buFont typeface=""/>
              <a:buChar char="•"/>
            </a:pPr>
            <a:endParaRPr sz="2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缺少从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事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BOT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专业人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20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谈判难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较大。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20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外汇收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自求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平衡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难，汇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2023-10-22T13:36:00Z</dcterms:created>
  <dcterms:modified xsi:type="dcterms:W3CDTF">2023-10-22T13:36:00Z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