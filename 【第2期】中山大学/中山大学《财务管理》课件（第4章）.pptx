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121920" y="14767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121920" y="147980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121920" y="148285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121920" y="148590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121920" y="14889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121920" y="14919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121920" y="14950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121920" y="14980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121920" y="15011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121920" y="15041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121920" y="15072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121920" y="15102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121920" y="15133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121920" y="15163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121920" y="15194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121920" y="15224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121920" y="15255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121920" y="15285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121920" y="15316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121920" y="15346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121920" y="15377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121920" y="15407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121920" y="15438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121920" y="15468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121920" y="15499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121920" y="15529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7276" y="374396"/>
            <a:ext cx="8008620" cy="1276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7491" y="1559465"/>
            <a:ext cx="7995284" cy="4749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46888" y="280416"/>
            <a:ext cx="1060704" cy="1054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11808" y="594364"/>
            <a:ext cx="3840455" cy="4693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62455" y="1100329"/>
            <a:ext cx="4142220" cy="192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5823" y="112776"/>
            <a:ext cx="8891270" cy="6598920"/>
          </a:xfrm>
          <a:custGeom>
            <a:avLst/>
            <a:gdLst/>
            <a:ahLst/>
            <a:cxnLst/>
            <a:rect l="l" t="t" r="r" b="b"/>
            <a:pathLst>
              <a:path w="8891270" h="6598920">
                <a:moveTo>
                  <a:pt x="0" y="0"/>
                </a:moveTo>
                <a:lnTo>
                  <a:pt x="0" y="6598919"/>
                </a:lnTo>
                <a:lnTo>
                  <a:pt x="8891015" y="6598919"/>
                </a:lnTo>
                <a:lnTo>
                  <a:pt x="8891015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9704" y="36438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9704" y="36469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9704" y="36499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9704" y="36530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9704" y="36560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79704" y="36591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79704" y="36621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9704" y="36652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9704" y="36682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9704" y="36713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79704" y="36743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79704" y="36774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79704" y="36804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79704" y="36835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79704" y="36865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79704" y="36896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79704" y="36926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79704" y="36957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79704" y="36987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79704" y="37017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79704" y="37048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79704" y="37078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79704" y="371094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79704" y="371398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79704" y="371703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79704" y="37200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79704" y="37231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79704" y="37261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79704" y="37292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79704" y="37322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79704" y="37353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79704" y="37383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79704" y="37414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79704" y="37444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79704" y="37475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79704" y="37505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79704" y="37536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79704" y="37566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79704" y="37597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79704" y="37627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79704" y="37658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79704" y="37688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79704" y="37719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79704" y="37749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79704" y="37779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79704" y="37810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79704" y="37840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xfrm>
            <a:off x="743204" y="2846324"/>
            <a:ext cx="76454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5665" algn="l"/>
              </a:tabLst>
            </a:pPr>
            <a:r>
              <a:rPr dirty="0" sz="4800"/>
              <a:t>第四章</a:t>
            </a:r>
            <a:r>
              <a:rPr dirty="0" sz="4800"/>
              <a:t>	</a:t>
            </a:r>
            <a:r>
              <a:rPr dirty="0" sz="4800"/>
              <a:t>资本成本与资本结构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76220" y="1785620"/>
            <a:ext cx="3570604" cy="3876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资本成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本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的概念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039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资本成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本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估算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资本结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与风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险概</a:t>
            </a:r>
            <a:r>
              <a:rPr dirty="0" sz="2800" spc="-2440" b="1">
                <a:solidFill>
                  <a:srgbClr val="FFFFFF"/>
                </a:solidFill>
                <a:latin typeface="Microsoft JhengHei"/>
                <a:cs typeface="Microsoft JhengHei"/>
              </a:rPr>
              <a:t>念</a:t>
            </a:r>
            <a:endParaRPr sz="2800">
              <a:latin typeface="Microsoft JhengHei"/>
              <a:cs typeface="Microsoft JhengHei"/>
            </a:endParaRPr>
          </a:p>
          <a:p>
            <a:pPr marL="12700" marR="5080">
              <a:lnSpc>
                <a:spcPct val="160000"/>
              </a:lnSpc>
              <a:spcBef>
                <a:spcPts val="20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营业杠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杆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与财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务杠</a:t>
            </a:r>
            <a:r>
              <a:rPr dirty="0" sz="2800" spc="-2530" b="1">
                <a:solidFill>
                  <a:srgbClr val="FFFFFF"/>
                </a:solidFill>
                <a:latin typeface="Microsoft JhengHei"/>
                <a:cs typeface="Microsoft JhengHei"/>
              </a:rPr>
              <a:t>杆 </a:t>
            </a: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资本结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理论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039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资本结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管理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0403" y="627380"/>
            <a:ext cx="67341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资本成本</a:t>
            </a:r>
            <a:r>
              <a:rPr dirty="0" sz="3200" spc="-10" b="0">
                <a:latin typeface="宋体"/>
                <a:cs typeface="宋体"/>
              </a:rPr>
              <a:t>（</a:t>
            </a:r>
            <a:r>
              <a:rPr dirty="0" sz="3200" spc="-10" b="0">
                <a:latin typeface="Tahoma"/>
                <a:cs typeface="Tahoma"/>
              </a:rPr>
              <a:t>cost</a:t>
            </a:r>
            <a:r>
              <a:rPr dirty="0" sz="3200" spc="-35" b="0">
                <a:latin typeface="Tahoma"/>
                <a:cs typeface="Tahoma"/>
              </a:rPr>
              <a:t> </a:t>
            </a:r>
            <a:r>
              <a:rPr dirty="0" sz="3200" b="0">
                <a:latin typeface="Tahoma"/>
                <a:cs typeface="Tahoma"/>
              </a:rPr>
              <a:t>of</a:t>
            </a:r>
            <a:r>
              <a:rPr dirty="0" sz="3200" spc="-30" b="0">
                <a:latin typeface="Tahoma"/>
                <a:cs typeface="Tahoma"/>
              </a:rPr>
              <a:t> </a:t>
            </a:r>
            <a:r>
              <a:rPr dirty="0" sz="3200" spc="-5" b="0">
                <a:latin typeface="Tahoma"/>
                <a:cs typeface="Tahoma"/>
              </a:rPr>
              <a:t>capital</a:t>
            </a:r>
            <a:r>
              <a:rPr dirty="0" sz="3200" spc="-5" b="0">
                <a:latin typeface="宋体"/>
                <a:cs typeface="宋体"/>
              </a:rPr>
              <a:t>）</a:t>
            </a:r>
            <a:r>
              <a:rPr dirty="0" sz="3600" spc="20"/>
              <a:t>的</a:t>
            </a:r>
            <a:r>
              <a:rPr dirty="0" sz="3600"/>
              <a:t>概念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891" y="1645412"/>
            <a:ext cx="7679055" cy="3532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356870" marR="5080" indent="-344805">
              <a:lnSpc>
                <a:spcPct val="100000"/>
              </a:lnSpc>
              <a:spcBef>
                <a:spcPts val="9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资本成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是投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者就其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提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供的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金所要求 的期望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回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报率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而不是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各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种资金来 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源的历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史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成本。</a:t>
            </a:r>
            <a:endParaRPr sz="32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74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从资本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算的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角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度看，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本成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就是资本 预算项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的必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报酬率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所以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本成本与 投资者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必要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回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报率、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资者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期报酬率 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的含义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一样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639316"/>
            <a:ext cx="7837805" cy="4041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在有效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场上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，某一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刻，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对于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给定的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风</a:t>
            </a:r>
            <a:r>
              <a:rPr dirty="0" sz="2800" spc="-2525">
                <a:solidFill>
                  <a:srgbClr val="FFFFFF"/>
                </a:solidFill>
                <a:latin typeface="宋体"/>
                <a:cs typeface="宋体"/>
              </a:rPr>
              <a:t>险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水平只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必要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回报率。</a:t>
            </a:r>
            <a:endParaRPr sz="28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69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资本预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中的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成本不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业务的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必</a:t>
            </a:r>
            <a:r>
              <a:rPr dirty="0" sz="2800" spc="-2525">
                <a:solidFill>
                  <a:srgbClr val="FFFFFF"/>
                </a:solidFill>
                <a:latin typeface="宋体"/>
                <a:cs typeface="宋体"/>
              </a:rPr>
              <a:t>要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报酬率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因为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当前的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映了公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所 有现存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产中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均风险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而项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此平均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平不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67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当管理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按股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东利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益采取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动时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本成本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反</a:t>
            </a:r>
            <a:r>
              <a:rPr dirty="0" sz="2800" spc="-2525">
                <a:solidFill>
                  <a:srgbClr val="FFFFFF"/>
                </a:solidFill>
                <a:latin typeface="宋体"/>
                <a:cs typeface="宋体"/>
              </a:rPr>
              <a:t>映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了投资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比的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资本市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上，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即那些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险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相同的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能获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得的报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资本成</a:t>
            </a:r>
            <a:r>
              <a:rPr dirty="0" spc="-20"/>
              <a:t>本</a:t>
            </a:r>
            <a:r>
              <a:rPr dirty="0" spc="5"/>
              <a:t>的</a:t>
            </a:r>
            <a:r>
              <a:rPr dirty="0" spc="-20"/>
              <a:t>概</a:t>
            </a:r>
            <a:r>
              <a:rPr dirty="0" spc="5"/>
              <a:t>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2005076"/>
            <a:ext cx="7956550" cy="3272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加权平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6600"/>
              </a:buClr>
              <a:buFont typeface=""/>
              <a:buChar char="•"/>
            </a:pPr>
            <a:endParaRPr sz="315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（weighted average cost of capital,</a:t>
            </a:r>
            <a:r>
              <a:rPr dirty="0" sz="2800" spc="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WACC）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1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增量资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"/>
              <a:buChar char="•"/>
            </a:pPr>
            <a:endParaRPr sz="31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项目的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本成本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资本成</a:t>
            </a:r>
            <a:r>
              <a:rPr dirty="0" spc="-20"/>
              <a:t>本</a:t>
            </a:r>
            <a:r>
              <a:rPr dirty="0" spc="5"/>
              <a:t>的</a:t>
            </a:r>
            <a:r>
              <a:rPr dirty="0" spc="-20"/>
              <a:t>概</a:t>
            </a:r>
            <a:r>
              <a:rPr dirty="0" spc="5"/>
              <a:t>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2251" y="639572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资本成</a:t>
            </a:r>
            <a:r>
              <a:rPr dirty="0" spc="-20"/>
              <a:t>本</a:t>
            </a:r>
            <a:r>
              <a:rPr dirty="0" spc="5"/>
              <a:t>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85948" y="2020316"/>
            <a:ext cx="2869565" cy="3465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负债成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本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的估</a:t>
            </a:r>
            <a:r>
              <a:rPr dirty="0" sz="2800" spc="-2715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优先股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成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本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权益成本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公司的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本成</a:t>
            </a:r>
            <a:r>
              <a:rPr dirty="0" sz="2800" spc="-2715" b="1">
                <a:solidFill>
                  <a:srgbClr val="FFFFFF"/>
                </a:solidFill>
                <a:latin typeface="Microsoft JhengHei"/>
                <a:cs typeface="Microsoft JhengHei"/>
              </a:rPr>
              <a:t>本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负债成</a:t>
            </a:r>
            <a:r>
              <a:rPr dirty="0" spc="-20"/>
              <a:t>本</a:t>
            </a:r>
            <a:r>
              <a:rPr dirty="0" spc="5"/>
              <a:t>的</a:t>
            </a:r>
            <a:r>
              <a:rPr dirty="0" spc="-20"/>
              <a:t>估</a:t>
            </a:r>
            <a:r>
              <a:rPr dirty="0" spc="5"/>
              <a:t>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2495" y="1639316"/>
            <a:ext cx="8066405" cy="44818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394970" marR="43180" indent="569595">
              <a:lnSpc>
                <a:spcPct val="99600"/>
              </a:lnSpc>
              <a:spcBef>
                <a:spcPts val="11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尽管企业的负债有许多种，但计算债务成本时，关心 的是具有显性利息成本的债务，例如，银行举债和发行债 券的举债。</a:t>
            </a:r>
            <a:endParaRPr sz="2400">
              <a:latin typeface="宋体"/>
              <a:cs typeface="宋体"/>
            </a:endParaRPr>
          </a:p>
          <a:p>
            <a:pPr marL="394970" indent="-344805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Font typeface="Wingdings"/>
              <a:buChar char="►"/>
              <a:tabLst>
                <a:tab pos="39560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银行举债</a:t>
            </a:r>
            <a:endParaRPr sz="2400">
              <a:latin typeface="Microsoft JhengHei"/>
              <a:cs typeface="Microsoft JhengHei"/>
            </a:endParaRPr>
          </a:p>
          <a:p>
            <a:pPr lvl="1" marL="794385" marR="253365" indent="-28702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Font typeface=""/>
              <a:buChar char="•"/>
              <a:tabLst>
                <a:tab pos="79502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一个企业可以直接向银行举债，此时企业的负债成本 </a:t>
            </a:r>
            <a:r>
              <a:rPr dirty="0" sz="24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就是银行的利息率</a:t>
            </a:r>
            <a:r>
              <a:rPr dirty="0" sz="2400" spc="-125" b="1">
                <a:solidFill>
                  <a:srgbClr val="FFFFFF"/>
                </a:solidFill>
                <a:latin typeface="Microsoft JhengHei"/>
                <a:cs typeface="Microsoft JhengHei"/>
              </a:rPr>
              <a:t>k</a:t>
            </a:r>
            <a:r>
              <a:rPr dirty="0" baseline="-20833" sz="2400" spc="-187" b="1">
                <a:solidFill>
                  <a:srgbClr val="FFFFFF"/>
                </a:solidFill>
                <a:latin typeface="Microsoft JhengHei"/>
                <a:cs typeface="Microsoft JhengHei"/>
              </a:rPr>
              <a:t>d</a:t>
            </a:r>
            <a:endParaRPr baseline="-20833" sz="2400">
              <a:latin typeface="Microsoft JhengHei"/>
              <a:cs typeface="Microsoft JhengHei"/>
            </a:endParaRPr>
          </a:p>
          <a:p>
            <a:pPr marL="394970" indent="-344805">
              <a:lnSpc>
                <a:spcPct val="100000"/>
              </a:lnSpc>
              <a:spcBef>
                <a:spcPts val="580"/>
              </a:spcBef>
              <a:buClr>
                <a:srgbClr val="FF6600"/>
              </a:buClr>
              <a:buFont typeface="Wingdings"/>
              <a:buChar char="►"/>
              <a:tabLst>
                <a:tab pos="39560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发行债券</a:t>
            </a:r>
            <a:endParaRPr sz="2400">
              <a:latin typeface="Microsoft JhengHei"/>
              <a:cs typeface="Microsoft JhengHei"/>
            </a:endParaRPr>
          </a:p>
          <a:p>
            <a:pPr lvl="1" marL="794385" marR="253365" indent="-287020">
              <a:lnSpc>
                <a:spcPct val="100000"/>
              </a:lnSpc>
              <a:spcBef>
                <a:spcPts val="550"/>
              </a:spcBef>
              <a:buClr>
                <a:srgbClr val="FF6600"/>
              </a:buClr>
              <a:buFont typeface=""/>
              <a:buChar char="•"/>
              <a:tabLst>
                <a:tab pos="79502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如果企业的负债是通过发行债券而实现的，那么可以 </a:t>
            </a:r>
            <a:r>
              <a:rPr dirty="0" sz="2400" spc="-15" b="1">
                <a:solidFill>
                  <a:srgbClr val="FFFFFF"/>
                </a:solidFill>
                <a:latin typeface="Microsoft JhengHei"/>
                <a:cs typeface="Microsoft JhengHei"/>
              </a:rPr>
              <a:t>通过债券的定价模型来确定</a:t>
            </a:r>
            <a:r>
              <a:rPr dirty="0" sz="2400" spc="-114" b="1">
                <a:solidFill>
                  <a:srgbClr val="FFFFFF"/>
                </a:solidFill>
                <a:latin typeface="Microsoft JhengHei"/>
                <a:cs typeface="Microsoft JhengHei"/>
              </a:rPr>
              <a:t>k</a:t>
            </a:r>
            <a:r>
              <a:rPr dirty="0" baseline="-20833" sz="2400" spc="-172" b="1">
                <a:solidFill>
                  <a:srgbClr val="FFFFFF"/>
                </a:solidFill>
                <a:latin typeface="Microsoft JhengHei"/>
                <a:cs typeface="Microsoft JhengHei"/>
              </a:rPr>
              <a:t>d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。</a:t>
            </a:r>
            <a:endParaRPr sz="2400">
              <a:latin typeface="Microsoft JhengHei"/>
              <a:cs typeface="Microsoft JhengHei"/>
            </a:endParaRPr>
          </a:p>
          <a:p>
            <a:pPr marL="394970" indent="-344805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Font typeface="Wingdings"/>
              <a:buChar char="►"/>
              <a:tabLst>
                <a:tab pos="39560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税后负债成本</a:t>
            </a:r>
            <a:endParaRPr sz="2400">
              <a:latin typeface="Microsoft JhengHei"/>
              <a:cs typeface="Microsoft JhengHei"/>
            </a:endParaRPr>
          </a:p>
          <a:p>
            <a:pPr marL="1422400">
              <a:lnSpc>
                <a:spcPct val="100000"/>
              </a:lnSpc>
              <a:spcBef>
                <a:spcPts val="575"/>
              </a:spcBef>
              <a:tabLst>
                <a:tab pos="2287905" algn="l"/>
                <a:tab pos="2592705" algn="l"/>
                <a:tab pos="2897505" algn="l"/>
                <a:tab pos="3202305" algn="l"/>
                <a:tab pos="4418330" algn="l"/>
              </a:tabLst>
            </a:pPr>
            <a:r>
              <a:rPr dirty="0" sz="2400" spc="145" b="1">
                <a:solidFill>
                  <a:srgbClr val="FFFFFF"/>
                </a:solidFill>
                <a:latin typeface="Microsoft JhengHei"/>
                <a:cs typeface="Microsoft JhengHei"/>
              </a:rPr>
              <a:t>k</a:t>
            </a:r>
            <a:r>
              <a:rPr dirty="0" baseline="-20833" sz="2400" spc="217" b="1">
                <a:solidFill>
                  <a:srgbClr val="FFFFFF"/>
                </a:solidFill>
                <a:latin typeface="Microsoft JhengHei"/>
                <a:cs typeface="Microsoft JhengHei"/>
              </a:rPr>
              <a:t>d</a:t>
            </a:r>
            <a:r>
              <a:rPr dirty="0" sz="2400" spc="145" b="1">
                <a:solidFill>
                  <a:srgbClr val="FFFFFF"/>
                </a:solidFill>
                <a:latin typeface="Microsoft JhengHei"/>
                <a:cs typeface="Microsoft JhengHei"/>
              </a:rPr>
              <a:t>×(	</a:t>
            </a:r>
            <a:r>
              <a:rPr dirty="0" sz="2400" spc="-229" b="1">
                <a:solidFill>
                  <a:srgbClr val="FFFFFF"/>
                </a:solidFill>
                <a:latin typeface="Microsoft JhengHei"/>
                <a:cs typeface="Microsoft JhengHei"/>
              </a:rPr>
              <a:t>1	</a:t>
            </a:r>
            <a:r>
              <a:rPr dirty="0" sz="2400" spc="155" b="1">
                <a:solidFill>
                  <a:srgbClr val="FFFFFF"/>
                </a:solidFill>
                <a:latin typeface="Microsoft JhengHei"/>
                <a:cs typeface="Microsoft JhengHei"/>
              </a:rPr>
              <a:t>-	</a:t>
            </a:r>
            <a:r>
              <a:rPr dirty="0" sz="2400" spc="275" b="1">
                <a:solidFill>
                  <a:srgbClr val="FFFFFF"/>
                </a:solidFill>
                <a:latin typeface="Microsoft JhengHei"/>
                <a:cs typeface="Microsoft JhengHei"/>
              </a:rPr>
              <a:t>t	</a:t>
            </a:r>
            <a:r>
              <a:rPr dirty="0" sz="2400" spc="355" b="1">
                <a:solidFill>
                  <a:srgbClr val="FFFFFF"/>
                </a:solidFill>
                <a:latin typeface="Microsoft JhengHei"/>
                <a:cs typeface="Microsoft JhengHei"/>
              </a:rPr>
              <a:t>)	</a:t>
            </a:r>
            <a:r>
              <a:rPr dirty="0" sz="2400" spc="25" b="1">
                <a:solidFill>
                  <a:srgbClr val="FFFFFF"/>
                </a:solidFill>
                <a:latin typeface="Microsoft JhengHei"/>
                <a:cs typeface="Microsoft JhengHei"/>
              </a:rPr>
              <a:t>其中</a:t>
            </a:r>
            <a:r>
              <a:rPr dirty="0" sz="2400" spc="10" b="1">
                <a:solidFill>
                  <a:srgbClr val="FFFFFF"/>
                </a:solidFill>
                <a:latin typeface="Microsoft JhengHei"/>
                <a:cs typeface="Microsoft JhengHei"/>
              </a:rPr>
              <a:t>t</a:t>
            </a:r>
            <a:r>
              <a:rPr dirty="0" sz="2400" spc="25" b="1">
                <a:solidFill>
                  <a:srgbClr val="FFFFFF"/>
                </a:solidFill>
                <a:latin typeface="Microsoft JhengHei"/>
                <a:cs typeface="Microsoft JhengHei"/>
              </a:rPr>
              <a:t>为公司所得税率</a:t>
            </a:r>
            <a:endParaRPr sz="2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6983" y="1719783"/>
            <a:ext cx="8203565" cy="31343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394970" marR="43180" indent="-344805">
              <a:lnSpc>
                <a:spcPct val="130200"/>
              </a:lnSpc>
              <a:spcBef>
                <a:spcPts val="114"/>
              </a:spcBef>
            </a:pP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优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先股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成本主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是支付给优先股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东的股利。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优 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先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股的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利率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通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常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固定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，但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没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期日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 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司永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久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性资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源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，可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按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永续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对待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设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优先股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年的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D</a:t>
            </a:r>
            <a:r>
              <a:rPr dirty="0" baseline="-20467" sz="2850">
                <a:solidFill>
                  <a:srgbClr val="FFFFFF"/>
                </a:solidFill>
                <a:latin typeface="宋体"/>
                <a:cs typeface="宋体"/>
              </a:rPr>
              <a:t>p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先股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本为：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00">
              <a:latin typeface="宋体"/>
              <a:cs typeface="宋体"/>
            </a:endParaRPr>
          </a:p>
          <a:p>
            <a:pPr algn="ctr" marR="2540">
              <a:lnSpc>
                <a:spcPct val="100000"/>
              </a:lnSpc>
              <a:tabLst>
                <a:tab pos="478155" algn="l"/>
                <a:tab pos="831850" algn="l"/>
                <a:tab pos="1310005" algn="l"/>
                <a:tab pos="1663700" algn="l"/>
              </a:tabLst>
            </a:pPr>
            <a:r>
              <a:rPr dirty="0" sz="2800" spc="-220" b="1">
                <a:solidFill>
                  <a:srgbClr val="FFFFFF"/>
                </a:solidFill>
                <a:latin typeface="Microsoft JhengHei"/>
                <a:cs typeface="Microsoft JhengHei"/>
              </a:rPr>
              <a:t>k</a:t>
            </a:r>
            <a:r>
              <a:rPr dirty="0" baseline="-20467" sz="2850" spc="-330" b="1">
                <a:solidFill>
                  <a:srgbClr val="FFFFFF"/>
                </a:solidFill>
                <a:latin typeface="Microsoft JhengHei"/>
                <a:cs typeface="Microsoft JhengHei"/>
              </a:rPr>
              <a:t>p	</a:t>
            </a:r>
            <a:r>
              <a:rPr dirty="0" sz="2800" spc="-690" b="1">
                <a:solidFill>
                  <a:srgbClr val="FFFFFF"/>
                </a:solidFill>
                <a:latin typeface="Microsoft JhengHei"/>
                <a:cs typeface="Microsoft JhengHei"/>
              </a:rPr>
              <a:t>=	</a:t>
            </a:r>
            <a:r>
              <a:rPr dirty="0" sz="2800" spc="-515" b="1">
                <a:solidFill>
                  <a:srgbClr val="FFFFFF"/>
                </a:solidFill>
                <a:latin typeface="Microsoft JhengHei"/>
                <a:cs typeface="Microsoft JhengHei"/>
              </a:rPr>
              <a:t>D</a:t>
            </a:r>
            <a:r>
              <a:rPr dirty="0" baseline="-20467" sz="2850" spc="-772" b="1">
                <a:solidFill>
                  <a:srgbClr val="FFFFFF"/>
                </a:solidFill>
                <a:latin typeface="Microsoft JhengHei"/>
                <a:cs typeface="Microsoft JhengHei"/>
              </a:rPr>
              <a:t>p	</a:t>
            </a:r>
            <a:r>
              <a:rPr dirty="0" sz="2800" spc="165" b="1">
                <a:solidFill>
                  <a:srgbClr val="FFFFFF"/>
                </a:solidFill>
                <a:latin typeface="Microsoft JhengHei"/>
                <a:cs typeface="Microsoft JhengHei"/>
              </a:rPr>
              <a:t>/	</a:t>
            </a:r>
            <a:r>
              <a:rPr dirty="0" sz="2800" spc="-310" b="1">
                <a:solidFill>
                  <a:srgbClr val="FFFFFF"/>
                </a:solidFill>
                <a:latin typeface="Microsoft JhengHei"/>
                <a:cs typeface="Microsoft JhengHei"/>
              </a:rPr>
              <a:t>P</a:t>
            </a:r>
            <a:r>
              <a:rPr dirty="0" baseline="-20467" sz="2850" spc="-465" b="1">
                <a:solidFill>
                  <a:srgbClr val="FFFFFF"/>
                </a:solidFill>
                <a:latin typeface="Microsoft JhengHei"/>
                <a:cs typeface="Microsoft JhengHei"/>
              </a:rPr>
              <a:t>o</a:t>
            </a:r>
            <a:endParaRPr baseline="-20467" sz="285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5235" y="639572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优先股</a:t>
            </a:r>
            <a:r>
              <a:rPr dirty="0" spc="-20"/>
              <a:t>成</a:t>
            </a:r>
            <a:r>
              <a:rPr dirty="0" spc="5"/>
              <a:t>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5891" y="1658823"/>
            <a:ext cx="7647305" cy="464058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788670">
              <a:lnSpc>
                <a:spcPct val="100000"/>
              </a:lnSpc>
              <a:spcBef>
                <a:spcPts val="770"/>
              </a:spcBef>
            </a:pP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这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里的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权益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即包括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普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通股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，也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包括留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成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收益</a:t>
            </a:r>
            <a:endParaRPr sz="2800">
              <a:latin typeface="Microsoft JhengHei"/>
              <a:cs typeface="Microsoft JhengHei"/>
            </a:endParaRPr>
          </a:p>
          <a:p>
            <a:pPr marL="63500">
              <a:lnSpc>
                <a:spcPct val="100000"/>
              </a:lnSpc>
              <a:spcBef>
                <a:spcPts val="670"/>
              </a:spcBef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（保留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盈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余）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。估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算权益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成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本共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有</a:t>
            </a:r>
            <a:r>
              <a:rPr dirty="0" sz="2800" spc="-254" b="1">
                <a:solidFill>
                  <a:srgbClr val="FFFFFF"/>
                </a:solidFill>
                <a:latin typeface="Microsoft JhengHei"/>
                <a:cs typeface="Microsoft JhengHei"/>
              </a:rPr>
              <a:t>3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种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方法：</a:t>
            </a:r>
            <a:endParaRPr sz="2800">
              <a:latin typeface="Microsoft JhengHei"/>
              <a:cs typeface="Microsoft JhengHei"/>
            </a:endParaRPr>
          </a:p>
          <a:p>
            <a:pPr marL="861694" indent="-229235">
              <a:lnSpc>
                <a:spcPct val="100000"/>
              </a:lnSpc>
              <a:spcBef>
                <a:spcPts val="1345"/>
              </a:spcBef>
              <a:buClr>
                <a:srgbClr val="FF6600"/>
              </a:buClr>
              <a:buFont typeface=""/>
              <a:buChar char="•"/>
              <a:tabLst>
                <a:tab pos="862330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利用股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票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评价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模型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估算</a:t>
            </a:r>
            <a:endParaRPr sz="2800">
              <a:latin typeface="Microsoft JhengHei"/>
              <a:cs typeface="Microsoft JhengHei"/>
            </a:endParaRPr>
          </a:p>
          <a:p>
            <a:pPr marL="1169670">
              <a:lnSpc>
                <a:spcPct val="100000"/>
              </a:lnSpc>
              <a:spcBef>
                <a:spcPts val="1770"/>
              </a:spcBef>
              <a:tabLst>
                <a:tab pos="5281295" algn="l"/>
                <a:tab pos="5689600" algn="l"/>
                <a:tab pos="5994400" algn="l"/>
                <a:tab pos="6402705" algn="l"/>
                <a:tab pos="6704965" algn="l"/>
                <a:tab pos="7113270" algn="l"/>
                <a:tab pos="741807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例如，固定成长</a:t>
            </a:r>
            <a:r>
              <a:rPr dirty="0" sz="2400" spc="-25" b="1">
                <a:solidFill>
                  <a:srgbClr val="FFFFFF"/>
                </a:solidFill>
                <a:latin typeface="Microsoft JhengHei"/>
                <a:cs typeface="Microsoft JhengHei"/>
              </a:rPr>
              <a:t>股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评价模型：	</a:t>
            </a:r>
            <a:r>
              <a:rPr dirty="0" sz="2400" spc="-50" b="1">
                <a:solidFill>
                  <a:srgbClr val="FFFFFF"/>
                </a:solidFill>
                <a:latin typeface="Microsoft JhengHei"/>
                <a:cs typeface="Microsoft JhengHei"/>
              </a:rPr>
              <a:t>k</a:t>
            </a:r>
            <a:r>
              <a:rPr dirty="0" baseline="-20833" sz="2400" spc="-75" b="1">
                <a:solidFill>
                  <a:srgbClr val="FFFFFF"/>
                </a:solidFill>
                <a:latin typeface="Microsoft JhengHei"/>
                <a:cs typeface="Microsoft JhengHei"/>
              </a:rPr>
              <a:t>s	</a:t>
            </a:r>
            <a:r>
              <a:rPr dirty="0" sz="2400" spc="-595" b="1">
                <a:solidFill>
                  <a:srgbClr val="FFFFFF"/>
                </a:solidFill>
                <a:latin typeface="Microsoft JhengHei"/>
                <a:cs typeface="Microsoft JhengHei"/>
              </a:rPr>
              <a:t>=	</a:t>
            </a:r>
            <a:r>
              <a:rPr dirty="0" sz="2400" spc="-400" b="1">
                <a:solidFill>
                  <a:srgbClr val="FFFFFF"/>
                </a:solidFill>
                <a:latin typeface="Microsoft JhengHei"/>
                <a:cs typeface="Microsoft JhengHei"/>
              </a:rPr>
              <a:t>D</a:t>
            </a:r>
            <a:r>
              <a:rPr dirty="0" baseline="-20833" sz="2400" spc="-600" b="1">
                <a:solidFill>
                  <a:srgbClr val="FFFFFF"/>
                </a:solidFill>
                <a:latin typeface="Microsoft JhengHei"/>
                <a:cs typeface="Microsoft JhengHei"/>
              </a:rPr>
              <a:t>1	</a:t>
            </a:r>
            <a:r>
              <a:rPr dirty="0" sz="2400" spc="140" b="1">
                <a:solidFill>
                  <a:srgbClr val="FFFFFF"/>
                </a:solidFill>
                <a:latin typeface="Microsoft JhengHei"/>
                <a:cs typeface="Microsoft JhengHei"/>
              </a:rPr>
              <a:t>/	</a:t>
            </a:r>
            <a:r>
              <a:rPr dirty="0" sz="2400" spc="-265" b="1">
                <a:solidFill>
                  <a:srgbClr val="FFFFFF"/>
                </a:solidFill>
                <a:latin typeface="Microsoft JhengHei"/>
                <a:cs typeface="Microsoft JhengHei"/>
              </a:rPr>
              <a:t>P</a:t>
            </a:r>
            <a:r>
              <a:rPr dirty="0" baseline="-20833" sz="2400" spc="-397" b="1">
                <a:solidFill>
                  <a:srgbClr val="FFFFFF"/>
                </a:solidFill>
                <a:latin typeface="Microsoft JhengHei"/>
                <a:cs typeface="Microsoft JhengHei"/>
              </a:rPr>
              <a:t>o	</a:t>
            </a:r>
            <a:r>
              <a:rPr dirty="0" sz="2400" spc="-595" b="1">
                <a:solidFill>
                  <a:srgbClr val="FFFFFF"/>
                </a:solidFill>
                <a:latin typeface="Microsoft JhengHei"/>
                <a:cs typeface="Microsoft JhengHei"/>
              </a:rPr>
              <a:t>+	</a:t>
            </a:r>
            <a:r>
              <a:rPr dirty="0" sz="2400" spc="-355" b="1">
                <a:solidFill>
                  <a:srgbClr val="FFFFFF"/>
                </a:solidFill>
                <a:latin typeface="Microsoft JhengHei"/>
                <a:cs typeface="Microsoft JhengHei"/>
              </a:rPr>
              <a:t>g</a:t>
            </a:r>
            <a:endParaRPr sz="2400">
              <a:latin typeface="Microsoft JhengHei"/>
              <a:cs typeface="Microsoft JhengHei"/>
            </a:endParaRPr>
          </a:p>
          <a:p>
            <a:pPr marL="1166495" marR="2191385" indent="-533400">
              <a:lnSpc>
                <a:spcPct val="140000"/>
              </a:lnSpc>
              <a:spcBef>
                <a:spcPts val="80"/>
              </a:spcBef>
              <a:buClr>
                <a:srgbClr val="FF6600"/>
              </a:buClr>
              <a:buFont typeface=""/>
              <a:buChar char="•"/>
              <a:tabLst>
                <a:tab pos="862330" algn="l"/>
                <a:tab pos="1645285" algn="l"/>
                <a:tab pos="1998345" algn="l"/>
                <a:tab pos="2595880" algn="l"/>
                <a:tab pos="2952750" algn="l"/>
                <a:tab pos="3662679" algn="l"/>
                <a:tab pos="4141470" algn="l"/>
                <a:tab pos="4674870" algn="l"/>
                <a:tab pos="5269230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利用资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本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资产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定价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模型估算 </a:t>
            </a:r>
            <a:r>
              <a:rPr dirty="0" sz="2800" spc="-155" b="1">
                <a:solidFill>
                  <a:srgbClr val="FFFFFF"/>
                </a:solidFill>
                <a:latin typeface="Microsoft JhengHei"/>
                <a:cs typeface="Microsoft JhengHei"/>
              </a:rPr>
              <a:t>k</a:t>
            </a:r>
            <a:r>
              <a:rPr dirty="0" baseline="-20467" sz="2850" spc="75" b="1">
                <a:solidFill>
                  <a:srgbClr val="FFFFFF"/>
                </a:solidFill>
                <a:latin typeface="Microsoft JhengHei"/>
                <a:cs typeface="Microsoft JhengHei"/>
              </a:rPr>
              <a:t>s</a:t>
            </a:r>
            <a:r>
              <a:rPr dirty="0" baseline="-20467" sz="285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800" spc="-690" b="1">
                <a:solidFill>
                  <a:srgbClr val="FFFFFF"/>
                </a:solidFill>
                <a:latin typeface="Microsoft JhengHei"/>
                <a:cs typeface="Microsoft JhengHei"/>
              </a:rPr>
              <a:t>=</a:t>
            </a:r>
            <a:r>
              <a:rPr dirty="0" sz="280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800" spc="-155" b="1">
                <a:solidFill>
                  <a:srgbClr val="FFFFFF"/>
                </a:solidFill>
                <a:latin typeface="Microsoft JhengHei"/>
                <a:cs typeface="Microsoft JhengHei"/>
              </a:rPr>
              <a:t>k</a:t>
            </a:r>
            <a:r>
              <a:rPr dirty="0" baseline="-20467" sz="2850" spc="-502" b="1">
                <a:solidFill>
                  <a:srgbClr val="FFFFFF"/>
                </a:solidFill>
                <a:latin typeface="Microsoft JhengHei"/>
                <a:cs typeface="Microsoft JhengHei"/>
              </a:rPr>
              <a:t>R</a:t>
            </a:r>
            <a:r>
              <a:rPr dirty="0" baseline="-20467" sz="2850" spc="-120" b="1">
                <a:solidFill>
                  <a:srgbClr val="FFFFFF"/>
                </a:solidFill>
                <a:latin typeface="Microsoft JhengHei"/>
                <a:cs typeface="Microsoft JhengHei"/>
              </a:rPr>
              <a:t>F</a:t>
            </a:r>
            <a:r>
              <a:rPr dirty="0" baseline="-20467" sz="285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800" spc="-690" b="1">
                <a:solidFill>
                  <a:srgbClr val="FFFFFF"/>
                </a:solidFill>
                <a:latin typeface="Microsoft JhengHei"/>
                <a:cs typeface="Microsoft JhengHei"/>
              </a:rPr>
              <a:t>+</a:t>
            </a:r>
            <a:r>
              <a:rPr dirty="0" sz="280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800" spc="1045" b="1">
                <a:solidFill>
                  <a:srgbClr val="FFFFFF"/>
                </a:solidFill>
                <a:latin typeface="Microsoft JhengHei"/>
                <a:cs typeface="Microsoft JhengHei"/>
              </a:rPr>
              <a:t>β</a:t>
            </a:r>
            <a:r>
              <a:rPr dirty="0" sz="2800" spc="420" b="1">
                <a:solidFill>
                  <a:srgbClr val="FFFFFF"/>
                </a:solidFill>
                <a:latin typeface="Microsoft JhengHei"/>
                <a:cs typeface="Microsoft JhengHei"/>
              </a:rPr>
              <a:t>(</a:t>
            </a:r>
            <a:r>
              <a:rPr dirty="0" sz="280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800" spc="-155" b="1">
                <a:solidFill>
                  <a:srgbClr val="FFFFFF"/>
                </a:solidFill>
                <a:latin typeface="Microsoft JhengHei"/>
                <a:cs typeface="Microsoft JhengHei"/>
              </a:rPr>
              <a:t>k</a:t>
            </a:r>
            <a:r>
              <a:rPr dirty="0" baseline="-20467" sz="2850" spc="-1410" b="1">
                <a:solidFill>
                  <a:srgbClr val="FFFFFF"/>
                </a:solidFill>
                <a:latin typeface="Microsoft JhengHei"/>
                <a:cs typeface="Microsoft JhengHei"/>
              </a:rPr>
              <a:t>M</a:t>
            </a:r>
            <a:r>
              <a:rPr dirty="0" baseline="-20467" sz="285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800" spc="1295" b="1">
                <a:solidFill>
                  <a:srgbClr val="FFFFFF"/>
                </a:solidFill>
                <a:latin typeface="Microsoft JhengHei"/>
                <a:cs typeface="Microsoft JhengHei"/>
              </a:rPr>
              <a:t>–</a:t>
            </a:r>
            <a:r>
              <a:rPr dirty="0" sz="280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800" spc="-180" b="1">
                <a:solidFill>
                  <a:srgbClr val="FFFFFF"/>
                </a:solidFill>
                <a:latin typeface="Microsoft JhengHei"/>
                <a:cs typeface="Microsoft JhengHei"/>
              </a:rPr>
              <a:t>k</a:t>
            </a:r>
            <a:r>
              <a:rPr dirty="0" baseline="-20467" sz="2850" spc="-465" b="1">
                <a:solidFill>
                  <a:srgbClr val="FFFFFF"/>
                </a:solidFill>
                <a:latin typeface="Microsoft JhengHei"/>
                <a:cs typeface="Microsoft JhengHei"/>
              </a:rPr>
              <a:t>R</a:t>
            </a:r>
            <a:r>
              <a:rPr dirty="0" baseline="-20467" sz="2850" spc="-120" b="1">
                <a:solidFill>
                  <a:srgbClr val="FFFFFF"/>
                </a:solidFill>
                <a:latin typeface="Microsoft JhengHei"/>
                <a:cs typeface="Microsoft JhengHei"/>
              </a:rPr>
              <a:t>F</a:t>
            </a:r>
            <a:r>
              <a:rPr dirty="0" baseline="-20467" sz="285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800" spc="420" b="1">
                <a:solidFill>
                  <a:srgbClr val="FFFFFF"/>
                </a:solidFill>
                <a:latin typeface="Microsoft JhengHei"/>
                <a:cs typeface="Microsoft JhengHei"/>
              </a:rPr>
              <a:t>)</a:t>
            </a:r>
            <a:endParaRPr sz="2800">
              <a:latin typeface="Microsoft JhengHei"/>
              <a:cs typeface="Microsoft JhengHei"/>
            </a:endParaRPr>
          </a:p>
          <a:p>
            <a:pPr marL="861694" indent="-229235">
              <a:lnSpc>
                <a:spcPct val="100000"/>
              </a:lnSpc>
              <a:spcBef>
                <a:spcPts val="1365"/>
              </a:spcBef>
              <a:buClr>
                <a:srgbClr val="FF6600"/>
              </a:buClr>
              <a:buFont typeface=""/>
              <a:buChar char="•"/>
              <a:tabLst>
                <a:tab pos="862330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利用经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验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公式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估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endParaRPr sz="2800">
              <a:latin typeface="Microsoft JhengHei"/>
              <a:cs typeface="Microsoft JhengHei"/>
            </a:endParaRPr>
          </a:p>
          <a:p>
            <a:pPr marL="1166495">
              <a:lnSpc>
                <a:spcPct val="100000"/>
              </a:lnSpc>
              <a:spcBef>
                <a:spcPts val="1345"/>
              </a:spcBef>
              <a:tabLst>
                <a:tab pos="1645285" algn="l"/>
                <a:tab pos="2001520" algn="l"/>
                <a:tab pos="3598545" algn="l"/>
                <a:tab pos="3955415" algn="l"/>
              </a:tabLst>
            </a:pPr>
            <a:r>
              <a:rPr dirty="0" sz="2800" spc="-55" b="1">
                <a:solidFill>
                  <a:srgbClr val="FFFFFF"/>
                </a:solidFill>
                <a:latin typeface="Microsoft JhengHei"/>
                <a:cs typeface="Microsoft JhengHei"/>
              </a:rPr>
              <a:t>k</a:t>
            </a:r>
            <a:r>
              <a:rPr dirty="0" baseline="-20467" sz="2850" spc="-82" b="1">
                <a:solidFill>
                  <a:srgbClr val="FFFFFF"/>
                </a:solidFill>
                <a:latin typeface="Microsoft JhengHei"/>
                <a:cs typeface="Microsoft JhengHei"/>
              </a:rPr>
              <a:t>s	</a:t>
            </a:r>
            <a:r>
              <a:rPr dirty="0" sz="2800" spc="-690" b="1">
                <a:solidFill>
                  <a:srgbClr val="FFFFFF"/>
                </a:solidFill>
                <a:latin typeface="Microsoft JhengHei"/>
                <a:cs typeface="Microsoft JhengHei"/>
              </a:rPr>
              <a:t>=	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市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场利率	</a:t>
            </a:r>
            <a:r>
              <a:rPr dirty="0" sz="2800" spc="-690" b="1">
                <a:solidFill>
                  <a:srgbClr val="FFFFFF"/>
                </a:solidFill>
                <a:latin typeface="Microsoft JhengHei"/>
                <a:cs typeface="Microsoft JhengHei"/>
              </a:rPr>
              <a:t>+	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风险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溢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酬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权益成本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4791" y="2005076"/>
            <a:ext cx="7913370" cy="31877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公司的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本成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本即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加权平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均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资本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成</a:t>
            </a:r>
            <a:r>
              <a:rPr dirty="0" sz="2800" spc="-735" b="1">
                <a:solidFill>
                  <a:srgbClr val="FFFFFF"/>
                </a:solidFill>
                <a:latin typeface="Microsoft JhengHei"/>
                <a:cs typeface="Microsoft JhengHei"/>
              </a:rPr>
              <a:t>本</a:t>
            </a:r>
            <a:r>
              <a:rPr dirty="0" sz="2800" spc="-465" b="1">
                <a:solidFill>
                  <a:srgbClr val="FFFFFF"/>
                </a:solidFill>
                <a:latin typeface="Microsoft JhengHei"/>
                <a:cs typeface="Microsoft JhengHei"/>
              </a:rPr>
              <a:t>WACC：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Microsoft JhengHei"/>
              <a:cs typeface="Microsoft JhengHei"/>
            </a:endParaRPr>
          </a:p>
          <a:p>
            <a:pPr algn="ctr" marL="230504">
              <a:lnSpc>
                <a:spcPct val="100000"/>
              </a:lnSpc>
            </a:pPr>
            <a:r>
              <a:rPr dirty="0" sz="2800" spc="-215" b="1">
                <a:solidFill>
                  <a:srgbClr val="FFFFFF"/>
                </a:solidFill>
                <a:latin typeface="Microsoft JhengHei"/>
                <a:cs typeface="Microsoft JhengHei"/>
              </a:rPr>
              <a:t>WACC=k</a:t>
            </a:r>
            <a:r>
              <a:rPr dirty="0" baseline="-20467" sz="2850" spc="-322" b="1">
                <a:solidFill>
                  <a:srgbClr val="FFFFFF"/>
                </a:solidFill>
                <a:latin typeface="Microsoft JhengHei"/>
                <a:cs typeface="Microsoft JhengHei"/>
              </a:rPr>
              <a:t>d</a:t>
            </a:r>
            <a:r>
              <a:rPr dirty="0" sz="2800" spc="-215" b="1">
                <a:solidFill>
                  <a:srgbClr val="FFFFFF"/>
                </a:solidFill>
                <a:latin typeface="Microsoft JhengHei"/>
                <a:cs typeface="Microsoft JhengHei"/>
              </a:rPr>
              <a:t>(1-t)(D/D+E)+k</a:t>
            </a:r>
            <a:r>
              <a:rPr dirty="0" baseline="-20467" sz="2850" spc="-322" b="1">
                <a:solidFill>
                  <a:srgbClr val="FFFFFF"/>
                </a:solidFill>
                <a:latin typeface="Microsoft JhengHei"/>
                <a:cs typeface="Microsoft JhengHei"/>
              </a:rPr>
              <a:t>s</a:t>
            </a:r>
            <a:r>
              <a:rPr dirty="0" sz="2800" spc="-215" b="1">
                <a:solidFill>
                  <a:srgbClr val="FFFFFF"/>
                </a:solidFill>
                <a:latin typeface="Microsoft JhengHei"/>
                <a:cs typeface="Microsoft JhengHei"/>
              </a:rPr>
              <a:t>(E/D+E)</a:t>
            </a:r>
            <a:endParaRPr sz="2800">
              <a:latin typeface="Microsoft JhengHei"/>
              <a:cs typeface="Microsoft JhengHei"/>
            </a:endParaRPr>
          </a:p>
          <a:p>
            <a:pPr marL="394970" marR="30480" indent="725170">
              <a:lnSpc>
                <a:spcPct val="200000"/>
              </a:lnSpc>
              <a:spcBef>
                <a:spcPts val="675"/>
              </a:spcBef>
            </a:pP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严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格地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，计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算公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司</a:t>
            </a:r>
            <a:r>
              <a:rPr dirty="0" sz="2800" spc="-1490" b="1">
                <a:solidFill>
                  <a:srgbClr val="FFFFFF"/>
                </a:solidFill>
                <a:latin typeface="Microsoft JhengHei"/>
                <a:cs typeface="Microsoft JhengHei"/>
              </a:rPr>
              <a:t>W</a:t>
            </a:r>
            <a:r>
              <a:rPr dirty="0" sz="2800" spc="-625" b="1">
                <a:solidFill>
                  <a:srgbClr val="FFFFFF"/>
                </a:solidFill>
                <a:latin typeface="Microsoft JhengHei"/>
                <a:cs typeface="Microsoft JhengHei"/>
              </a:rPr>
              <a:t>A</a:t>
            </a:r>
            <a:r>
              <a:rPr dirty="0" sz="2800" spc="-490" b="1">
                <a:solidFill>
                  <a:srgbClr val="FFFFFF"/>
                </a:solidFill>
                <a:latin typeface="Microsoft JhengHei"/>
                <a:cs typeface="Microsoft JhengHei"/>
              </a:rPr>
              <a:t>C</a:t>
            </a:r>
            <a:r>
              <a:rPr dirty="0" sz="2800" spc="-465" b="1">
                <a:solidFill>
                  <a:srgbClr val="FFFFFF"/>
                </a:solidFill>
                <a:latin typeface="Microsoft JhengHei"/>
                <a:cs typeface="Microsoft JhengHei"/>
              </a:rPr>
              <a:t>C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所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需使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用的权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重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应使 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用市场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价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值而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不是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帐面价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值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来估算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公司的</a:t>
            </a:r>
            <a:r>
              <a:rPr dirty="0" spc="-20"/>
              <a:t>资</a:t>
            </a:r>
            <a:r>
              <a:rPr dirty="0" spc="5"/>
              <a:t>本</a:t>
            </a:r>
            <a:r>
              <a:rPr dirty="0" spc="-20"/>
              <a:t>成</a:t>
            </a:r>
            <a:r>
              <a:rPr dirty="0" spc="5"/>
              <a:t>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371" y="621284"/>
            <a:ext cx="877633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资本结构</a:t>
            </a:r>
            <a:r>
              <a:rPr dirty="0" sz="3200" spc="-10"/>
              <a:t>（</a:t>
            </a:r>
            <a:r>
              <a:rPr dirty="0" sz="3200" spc="-10">
                <a:latin typeface="Tahoma"/>
                <a:cs typeface="Tahoma"/>
              </a:rPr>
              <a:t>capital</a:t>
            </a:r>
            <a:r>
              <a:rPr dirty="0" sz="3200" spc="-50">
                <a:latin typeface="Tahoma"/>
                <a:cs typeface="Tahoma"/>
              </a:rPr>
              <a:t> </a:t>
            </a:r>
            <a:r>
              <a:rPr dirty="0" sz="3200" spc="-5">
                <a:latin typeface="Tahoma"/>
                <a:cs typeface="Tahoma"/>
              </a:rPr>
              <a:t>structure</a:t>
            </a:r>
            <a:r>
              <a:rPr dirty="0" sz="3200" spc="-5"/>
              <a:t>）</a:t>
            </a:r>
            <a:r>
              <a:rPr dirty="0" spc="5"/>
              <a:t>与风险概念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00148" y="1962404"/>
            <a:ext cx="3970020" cy="4215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资本结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的影响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影响资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本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结构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的因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素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150">
              <a:latin typeface="Microsoft JhengHei"/>
              <a:cs typeface="Microsoft JhengHei"/>
            </a:endParaRPr>
          </a:p>
          <a:p>
            <a:pPr marL="756285" indent="-287020">
              <a:lnSpc>
                <a:spcPct val="100000"/>
              </a:lnSpc>
              <a:buClr>
                <a:srgbClr val="FF6600"/>
              </a:buClr>
              <a:buSzPct val="96428"/>
              <a:buFont typeface="Wingdings"/>
              <a:buChar char="►"/>
              <a:tabLst>
                <a:tab pos="756920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公司的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经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营风险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FF6600"/>
              </a:buClr>
              <a:buFont typeface="Wingdings"/>
              <a:buChar char="►"/>
            </a:pPr>
            <a:endParaRPr sz="2150">
              <a:latin typeface="Microsoft JhengHei"/>
              <a:cs typeface="Microsoft JhengHei"/>
            </a:endParaRPr>
          </a:p>
          <a:p>
            <a:pPr marL="756285" indent="-287020">
              <a:lnSpc>
                <a:spcPct val="100000"/>
              </a:lnSpc>
              <a:buClr>
                <a:srgbClr val="FF6600"/>
              </a:buClr>
              <a:buSzPct val="96428"/>
              <a:buFont typeface="Wingdings"/>
              <a:buChar char="►"/>
              <a:tabLst>
                <a:tab pos="756920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公司的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所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得税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率高</a:t>
            </a:r>
            <a:r>
              <a:rPr dirty="0" sz="2800" spc="-2175" b="1">
                <a:solidFill>
                  <a:srgbClr val="FFFFFF"/>
                </a:solidFill>
                <a:latin typeface="Microsoft JhengHei"/>
                <a:cs typeface="Microsoft JhengHei"/>
              </a:rPr>
              <a:t>低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6600"/>
              </a:buClr>
              <a:buFont typeface="Wingdings"/>
              <a:buChar char="►"/>
            </a:pPr>
            <a:endParaRPr sz="2200">
              <a:latin typeface="Microsoft JhengHei"/>
              <a:cs typeface="Microsoft JhengHei"/>
            </a:endParaRPr>
          </a:p>
          <a:p>
            <a:pPr marL="756285" indent="-287020">
              <a:lnSpc>
                <a:spcPct val="100000"/>
              </a:lnSpc>
              <a:buClr>
                <a:srgbClr val="FF6600"/>
              </a:buClr>
              <a:buSzPct val="96428"/>
              <a:buFont typeface="Wingdings"/>
              <a:buChar char="►"/>
              <a:tabLst>
                <a:tab pos="756920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融资弹性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7451" y="606044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资本结</a:t>
            </a:r>
            <a:r>
              <a:rPr dirty="0" spc="-20"/>
              <a:t>构</a:t>
            </a:r>
            <a:r>
              <a:rPr dirty="0" spc="5"/>
              <a:t>的</a:t>
            </a:r>
            <a:r>
              <a:rPr dirty="0" spc="-20"/>
              <a:t>影</a:t>
            </a:r>
            <a:r>
              <a:rPr dirty="0" spc="5"/>
              <a:t>响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524" y="1567383"/>
            <a:ext cx="8550910" cy="4622165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77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平均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成本以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方案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的选择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68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普通股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必要报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每股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股价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1460"/>
              </a:spcBef>
            </a:pPr>
            <a:r>
              <a:rPr dirty="0" sz="2400" spc="231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目标资本结构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（target</a:t>
            </a:r>
            <a:r>
              <a:rPr dirty="0" sz="2000" spc="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5">
                <a:solidFill>
                  <a:srgbClr val="FFFFFF"/>
                </a:solidFill>
                <a:latin typeface="宋体"/>
                <a:cs typeface="宋体"/>
              </a:rPr>
              <a:t>or</a:t>
            </a:r>
            <a:r>
              <a:rPr dirty="0" sz="2000" spc="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optimal capital</a:t>
            </a:r>
            <a:r>
              <a:rPr dirty="0" sz="2000" spc="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structure, OCS）</a:t>
            </a:r>
            <a:endParaRPr sz="20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1440"/>
              </a:spcBef>
              <a:buClr>
                <a:srgbClr val="FF6600"/>
              </a:buClr>
              <a:buSzPct val="95833"/>
              <a:buFont typeface="Wingdings"/>
              <a:buChar char="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资本结构的决策涉及到风险与报酬的均衡。</a:t>
            </a:r>
            <a:endParaRPr sz="2400">
              <a:latin typeface="宋体"/>
              <a:cs typeface="宋体"/>
            </a:endParaRPr>
          </a:p>
          <a:p>
            <a:pPr lvl="1" marL="1155700" marR="224154" indent="-228600">
              <a:lnSpc>
                <a:spcPct val="130000"/>
              </a:lnSpc>
              <a:spcBef>
                <a:spcPts val="550"/>
              </a:spcBef>
              <a:buClr>
                <a:srgbClr val="FF6600"/>
              </a:buClr>
              <a:buSzPct val="95833"/>
              <a:buFont typeface="Wingdings"/>
              <a:buChar char=""/>
              <a:tabLst>
                <a:tab pos="1155700" algn="l"/>
                <a:tab pos="1917064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OCS	刚好使风险与收益达到平衡，并同时导致股票价 格最大化与公司整体资本成本最小化时的资本结构</a:t>
            </a:r>
            <a:endParaRPr sz="2400">
              <a:latin typeface="宋体"/>
              <a:cs typeface="宋体"/>
            </a:endParaRPr>
          </a:p>
          <a:p>
            <a:pPr marL="356870" marR="5080" indent="-344805">
              <a:lnSpc>
                <a:spcPct val="130700"/>
              </a:lnSpc>
              <a:spcBef>
                <a:spcPts val="63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从筹资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角度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看，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实现公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最大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化，可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从实现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资本成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最小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化进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行分析。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4" y="1931924"/>
            <a:ext cx="7874000" cy="3272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"/>
              <a:tabLst>
                <a:tab pos="545465" algn="l"/>
                <a:tab pos="54610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营风险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6600"/>
              </a:buClr>
              <a:buFont typeface="Wingdings"/>
              <a:buChar char=""/>
            </a:pPr>
            <a:endParaRPr sz="3450">
              <a:latin typeface="宋体"/>
              <a:cs typeface="宋体"/>
            </a:endParaRPr>
          </a:p>
          <a:p>
            <a:pPr marL="548640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企业经营面临的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风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险可以划分为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经营风险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财务风险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00">
              <a:latin typeface="宋体"/>
              <a:cs typeface="宋体"/>
            </a:endParaRPr>
          </a:p>
          <a:p>
            <a:pPr marL="546100" indent="-533400">
              <a:lnSpc>
                <a:spcPct val="100000"/>
              </a:lnSpc>
              <a:buClr>
                <a:srgbClr val="FF6600"/>
              </a:buClr>
              <a:buFont typeface="Wingdings"/>
              <a:buChar char=""/>
              <a:tabLst>
                <a:tab pos="545465" algn="l"/>
                <a:tab pos="54610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得税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低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Wingdings"/>
              <a:buChar char=""/>
            </a:pPr>
            <a:endParaRPr sz="3100">
              <a:latin typeface="宋体"/>
              <a:cs typeface="宋体"/>
            </a:endParaRPr>
          </a:p>
          <a:p>
            <a:pPr marL="546100" indent="-533400">
              <a:lnSpc>
                <a:spcPct val="100000"/>
              </a:lnSpc>
              <a:buClr>
                <a:srgbClr val="FF6600"/>
              </a:buClr>
              <a:buFont typeface="Wingdings"/>
              <a:buChar char=""/>
              <a:tabLst>
                <a:tab pos="545465" algn="l"/>
                <a:tab pos="54610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融资弹性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7204" y="542036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影响资</a:t>
            </a:r>
            <a:r>
              <a:rPr dirty="0" spc="-20"/>
              <a:t>本</a:t>
            </a:r>
            <a:r>
              <a:rPr dirty="0" spc="5"/>
              <a:t>结</a:t>
            </a:r>
            <a:r>
              <a:rPr dirty="0" spc="-20"/>
              <a:t>构</a:t>
            </a:r>
            <a:r>
              <a:rPr dirty="0" spc="5"/>
              <a:t>的因素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639316"/>
            <a:ext cx="8197215" cy="41262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marR="184785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（business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risk）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未曾使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负 债融资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运本身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具有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险。这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 险隐含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未来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的营运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入或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息税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前利润</a:t>
            </a:r>
            <a:endParaRPr sz="2800">
              <a:latin typeface="宋体"/>
              <a:cs typeface="宋体"/>
            </a:endParaRPr>
          </a:p>
          <a:p>
            <a:pPr marL="356870" marR="5080">
              <a:lnSpc>
                <a:spcPct val="100000"/>
              </a:lnSpc>
              <a:spcBef>
                <a:spcPts val="25"/>
              </a:spcBef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（earnings before interest 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and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taxes, EBIT） 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中的不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定性。</a:t>
            </a:r>
            <a:endParaRPr sz="2800">
              <a:latin typeface="宋体"/>
              <a:cs typeface="宋体"/>
            </a:endParaRPr>
          </a:p>
          <a:p>
            <a:pPr marL="356870" marR="36449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本结构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最重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要的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决定因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影响经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素有：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不可控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可控或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控因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38803" y="538988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经营风险</a:t>
            </a:r>
            <a:endParaRPr sz="3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898396"/>
            <a:ext cx="7849870" cy="34404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不可控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endParaRPr sz="2800">
              <a:latin typeface="宋体"/>
              <a:cs typeface="宋体"/>
            </a:endParaRPr>
          </a:p>
          <a:p>
            <a:pPr algn="just" marL="356870" marR="5080" indent="368300">
              <a:lnSpc>
                <a:spcPct val="170000"/>
              </a:lnSpc>
              <a:spcBef>
                <a:spcPts val="67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景气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程度、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格控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制、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具有竞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力的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新产品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发能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力。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由不可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因素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导致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来 营运收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下降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确定性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营风险</a:t>
            </a:r>
            <a:endParaRPr sz="2800">
              <a:latin typeface="宋体"/>
              <a:cs typeface="宋体"/>
            </a:endParaRPr>
          </a:p>
          <a:p>
            <a:pPr algn="just" marL="356870">
              <a:lnSpc>
                <a:spcPct val="100000"/>
              </a:lnSpc>
              <a:spcBef>
                <a:spcPts val="2350"/>
              </a:spcBef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（basic business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 risk）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38803" y="538988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经营风险</a:t>
            </a:r>
            <a:endParaRPr sz="3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533855"/>
            <a:ext cx="7950200" cy="3997325"/>
          </a:xfrm>
          <a:prstGeom prst="rect">
            <a:avLst/>
          </a:prstGeom>
        </p:spPr>
        <p:txBody>
          <a:bodyPr wrap="square" lIns="0" tIns="24701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94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可控或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控因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85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＊产品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求的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变异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87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＊产品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变异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85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＊投入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素价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格的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变异性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84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＊随着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入因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素价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格变动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调整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售价的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力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185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＊公司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固定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程度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38803" y="538988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经营风险</a:t>
            </a:r>
            <a:endParaRPr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2219" y="2044700"/>
            <a:ext cx="6414135" cy="1819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到期不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还本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付息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的风险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buClr>
                <a:srgbClr val="FF6600"/>
              </a:buClr>
              <a:buFont typeface="Arial"/>
              <a:buChar char="•"/>
            </a:pPr>
            <a:endParaRPr sz="31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6600"/>
              </a:buClr>
              <a:buFont typeface="Arial"/>
              <a:buChar char="•"/>
            </a:pPr>
            <a:endParaRPr sz="26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度越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大，财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就越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38803" y="538988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财务风险</a:t>
            </a:r>
            <a:endParaRPr sz="3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4" y="599948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营业杠</a:t>
            </a:r>
            <a:r>
              <a:rPr dirty="0" spc="-20"/>
              <a:t>杆</a:t>
            </a:r>
            <a:r>
              <a:rPr dirty="0" spc="5"/>
              <a:t>与</a:t>
            </a:r>
            <a:r>
              <a:rPr dirty="0" spc="-20"/>
              <a:t>财</a:t>
            </a:r>
            <a:r>
              <a:rPr dirty="0" spc="5"/>
              <a:t>务杠杆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3204" y="1366215"/>
            <a:ext cx="7849870" cy="405511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 marR="5080" indent="566420">
              <a:lnSpc>
                <a:spcPct val="145000"/>
              </a:lnSpc>
              <a:spcBef>
                <a:spcPts val="33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杆效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应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leverage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是指在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一点上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加的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力就可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转变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或放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大为另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点上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更大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的力或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动。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在物理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治学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中均有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杆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概念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582295">
              <a:lnSpc>
                <a:spcPct val="100000"/>
              </a:lnSpc>
              <a:spcBef>
                <a:spcPts val="242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营业杠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杆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（Operating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leverage）</a:t>
            </a:r>
            <a:endParaRPr sz="2800">
              <a:latin typeface="宋体"/>
              <a:cs typeface="宋体"/>
            </a:endParaRPr>
          </a:p>
          <a:p>
            <a:pPr marL="582295">
              <a:lnSpc>
                <a:spcPct val="100000"/>
              </a:lnSpc>
              <a:spcBef>
                <a:spcPts val="221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杆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（Financial</a:t>
            </a:r>
            <a:r>
              <a:rPr dirty="0" sz="28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leverage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582295">
              <a:lnSpc>
                <a:spcPct val="100000"/>
              </a:lnSpc>
              <a:spcBef>
                <a:spcPts val="216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总杠杆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（Total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leverage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526796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营业杠杆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9611" y="1652727"/>
            <a:ext cx="7538720" cy="4640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394970" indent="725170">
              <a:lnSpc>
                <a:spcPct val="130000"/>
              </a:lnSpc>
              <a:spcBef>
                <a:spcPts val="9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运中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固定成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用成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度。固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本的存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会销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售变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动一个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一个放大 了的营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利润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（或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损失）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动的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百分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比。</a:t>
            </a:r>
            <a:endParaRPr sz="2800">
              <a:latin typeface="宋体"/>
              <a:cs typeface="宋体"/>
            </a:endParaRPr>
          </a:p>
          <a:p>
            <a:pPr marL="411480" marR="361315" indent="-287020">
              <a:lnSpc>
                <a:spcPct val="130000"/>
              </a:lnSpc>
              <a:spcBef>
                <a:spcPts val="700"/>
              </a:spcBef>
              <a:buClr>
                <a:srgbClr val="FF6600"/>
              </a:buClr>
              <a:buChar char="•"/>
              <a:tabLst>
                <a:tab pos="41211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杠杆效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象一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把双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刃剑，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象公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利润可 以被放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司的损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也可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以被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放大。</a:t>
            </a:r>
            <a:endParaRPr sz="2800">
              <a:latin typeface="宋体"/>
              <a:cs typeface="宋体"/>
            </a:endParaRPr>
          </a:p>
          <a:p>
            <a:pPr marL="411480" marR="5080" indent="-287020">
              <a:lnSpc>
                <a:spcPct val="130400"/>
              </a:lnSpc>
              <a:spcBef>
                <a:spcPts val="655"/>
              </a:spcBef>
              <a:buClr>
                <a:srgbClr val="FF6600"/>
              </a:buClr>
              <a:buChar char="•"/>
              <a:tabLst>
                <a:tab pos="41211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高度的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杆意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味着只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销售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量产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生相当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小的变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营运收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息税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前利润）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就会产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相当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大的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变动。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4283" y="1639316"/>
            <a:ext cx="8308340" cy="3921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7670" marR="6858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407670" algn="l"/>
                <a:tab pos="4083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盈亏平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点是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使总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收入与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相等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所要求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销售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量。</a:t>
            </a:r>
            <a:endParaRPr sz="2800">
              <a:latin typeface="宋体"/>
              <a:cs typeface="宋体"/>
            </a:endParaRPr>
          </a:p>
          <a:p>
            <a:pPr marL="407670" marR="68580" indent="-344805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Font typeface="Arial"/>
              <a:buChar char="•"/>
              <a:tabLst>
                <a:tab pos="407670" algn="l"/>
                <a:tab pos="4083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盈亏平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技术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是研究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变动成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、利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润和销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量之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间关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系的一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技术。</a:t>
            </a:r>
            <a:endParaRPr sz="2800">
              <a:latin typeface="宋体"/>
              <a:cs typeface="宋体"/>
            </a:endParaRPr>
          </a:p>
          <a:p>
            <a:pPr marL="40767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Arial"/>
              <a:buChar char="•"/>
              <a:tabLst>
                <a:tab pos="407670" algn="l"/>
                <a:tab pos="4083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盈亏平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endParaRPr sz="2800">
              <a:latin typeface="宋体"/>
              <a:cs typeface="宋体"/>
            </a:endParaRPr>
          </a:p>
          <a:p>
            <a:pPr algn="ctr" marR="2259330">
              <a:lnSpc>
                <a:spcPct val="100000"/>
              </a:lnSpc>
              <a:spcBef>
                <a:spcPts val="425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EBIT = P Q –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VQ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FC</a:t>
            </a:r>
            <a:endParaRPr sz="2400">
              <a:latin typeface="Arial"/>
              <a:cs typeface="Arial"/>
            </a:endParaRPr>
          </a:p>
          <a:p>
            <a:pPr algn="ctr" marR="488315">
              <a:lnSpc>
                <a:spcPct val="100000"/>
              </a:lnSpc>
              <a:spcBef>
                <a:spcPts val="550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=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–V</a:t>
            </a:r>
            <a:r>
              <a:rPr dirty="0" sz="2400" spc="-10">
                <a:solidFill>
                  <a:srgbClr val="FFFFFF"/>
                </a:solidFill>
                <a:latin typeface="宋体"/>
                <a:cs typeface="宋体"/>
              </a:rPr>
              <a:t>）－</a:t>
            </a:r>
            <a:r>
              <a:rPr dirty="0" sz="2400" spc="-55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FC = 0</a:t>
            </a:r>
            <a:endParaRPr sz="2400">
              <a:latin typeface="Arial"/>
              <a:cs typeface="Arial"/>
            </a:endParaRPr>
          </a:p>
          <a:p>
            <a:pPr marL="1205865">
              <a:lnSpc>
                <a:spcPts val="2810"/>
              </a:lnSpc>
              <a:spcBef>
                <a:spcPts val="14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endParaRPr sz="2400">
              <a:latin typeface="宋体"/>
              <a:cs typeface="宋体"/>
            </a:endParaRPr>
          </a:p>
          <a:p>
            <a:pPr marL="1879600">
              <a:lnSpc>
                <a:spcPts val="2810"/>
              </a:lnSpc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dirty="0" baseline="-20833" sz="2400" spc="-7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= FC / </a:t>
            </a:r>
            <a:r>
              <a:rPr dirty="0" sz="2400" spc="-1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P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­</a:t>
            </a:r>
            <a:r>
              <a:rPr dirty="0" sz="2400" spc="-2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8627" y="581660"/>
            <a:ext cx="62007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盈亏平衡</a:t>
            </a:r>
            <a:r>
              <a:rPr dirty="0" sz="3200" spc="-10"/>
              <a:t>（</a:t>
            </a:r>
            <a:r>
              <a:rPr dirty="0" sz="3200" spc="-10">
                <a:latin typeface="Tahoma"/>
                <a:cs typeface="Tahoma"/>
              </a:rPr>
              <a:t>break­even</a:t>
            </a:r>
            <a:r>
              <a:rPr dirty="0" sz="3200" spc="-10"/>
              <a:t>）</a:t>
            </a:r>
            <a:r>
              <a:rPr dirty="0" spc="5"/>
              <a:t>分析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379" y="1596644"/>
            <a:ext cx="8001000" cy="4847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1869" marR="30480" indent="-954405">
              <a:lnSpc>
                <a:spcPct val="100000"/>
              </a:lnSpc>
              <a:spcBef>
                <a:spcPts val="100"/>
              </a:spcBef>
              <a:tabLst>
                <a:tab pos="1601470" algn="l"/>
                <a:tab pos="1906270" algn="l"/>
                <a:tab pos="3125470" algn="l"/>
                <a:tab pos="3237865" algn="l"/>
                <a:tab pos="3430270" algn="l"/>
                <a:tab pos="3695065" algn="l"/>
                <a:tab pos="4344670" algn="l"/>
                <a:tab pos="4649470" algn="l"/>
                <a:tab pos="5219065" algn="l"/>
                <a:tab pos="5411470" algn="l"/>
                <a:tab pos="5716270" algn="l"/>
                <a:tab pos="6021070" algn="l"/>
                <a:tab pos="6590665" algn="l"/>
                <a:tab pos="6895465" algn="l"/>
              </a:tabLst>
            </a:pPr>
            <a:r>
              <a:rPr dirty="0" sz="2400" spc="-100" b="1">
                <a:solidFill>
                  <a:srgbClr val="FFFFFF"/>
                </a:solidFill>
                <a:latin typeface="Microsoft JhengHei"/>
                <a:cs typeface="Microsoft JhengHei"/>
              </a:rPr>
              <a:t>营业杠杆系数（Degree</a:t>
            </a:r>
            <a:r>
              <a:rPr dirty="0" sz="2400" spc="-100" b="1">
                <a:solidFill>
                  <a:srgbClr val="FFFFFF"/>
                </a:solidFill>
                <a:latin typeface="Microsoft JhengHei"/>
                <a:cs typeface="Microsoft JhengHei"/>
              </a:rPr>
              <a:t>		</a:t>
            </a:r>
            <a:r>
              <a:rPr dirty="0" sz="2400" spc="-10" b="1">
                <a:solidFill>
                  <a:srgbClr val="FFFFFF"/>
                </a:solidFill>
                <a:latin typeface="Microsoft JhengHei"/>
                <a:cs typeface="Microsoft JhengHei"/>
              </a:rPr>
              <a:t>of</a:t>
            </a:r>
            <a:r>
              <a:rPr dirty="0" sz="2400" spc="-1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400" spc="-70" b="1">
                <a:solidFill>
                  <a:srgbClr val="FFFFFF"/>
                </a:solidFill>
                <a:latin typeface="Microsoft JhengHei"/>
                <a:cs typeface="Microsoft JhengHei"/>
              </a:rPr>
              <a:t>operating</a:t>
            </a:r>
            <a:r>
              <a:rPr dirty="0" sz="2400" spc="-7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400" spc="-45" b="1">
                <a:solidFill>
                  <a:srgbClr val="FFFFFF"/>
                </a:solidFill>
                <a:latin typeface="Microsoft JhengHei"/>
                <a:cs typeface="Microsoft JhengHei"/>
              </a:rPr>
              <a:t>leverage</a:t>
            </a:r>
            <a:r>
              <a:rPr dirty="0" sz="2400" spc="-45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400" spc="140" b="1">
                <a:solidFill>
                  <a:srgbClr val="FFFFFF"/>
                </a:solidFill>
                <a:latin typeface="Microsoft JhengHei"/>
                <a:cs typeface="Microsoft JhengHei"/>
              </a:rPr>
              <a:t>/</a:t>
            </a:r>
            <a:r>
              <a:rPr dirty="0" sz="2400" spc="14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400" spc="-235" b="1">
                <a:solidFill>
                  <a:srgbClr val="FFFFFF"/>
                </a:solidFill>
                <a:latin typeface="Microsoft JhengHei"/>
                <a:cs typeface="Microsoft JhengHei"/>
              </a:rPr>
              <a:t>DOL）：  </a:t>
            </a:r>
            <a:r>
              <a:rPr dirty="0" sz="2400" spc="-490" b="1">
                <a:solidFill>
                  <a:srgbClr val="FFFFFF"/>
                </a:solidFill>
                <a:latin typeface="Microsoft JhengHei"/>
                <a:cs typeface="Microsoft JhengHei"/>
              </a:rPr>
              <a:t>DOL	</a:t>
            </a:r>
            <a:r>
              <a:rPr dirty="0" sz="2400" spc="-595" b="1">
                <a:solidFill>
                  <a:srgbClr val="FFFFFF"/>
                </a:solidFill>
                <a:latin typeface="Microsoft JhengHei"/>
                <a:cs typeface="Microsoft JhengHei"/>
              </a:rPr>
              <a:t>=	</a:t>
            </a:r>
            <a:r>
              <a:rPr dirty="0" sz="2400" spc="135" b="1">
                <a:solidFill>
                  <a:srgbClr val="FFFFFF"/>
                </a:solidFill>
                <a:latin typeface="Microsoft JhengHei"/>
                <a:cs typeface="Microsoft JhengHei"/>
              </a:rPr>
              <a:t>(⊿EBIT	</a:t>
            </a:r>
            <a:r>
              <a:rPr dirty="0" sz="2400" spc="140" b="1">
                <a:solidFill>
                  <a:srgbClr val="FFFFFF"/>
                </a:solidFill>
                <a:latin typeface="Microsoft JhengHei"/>
                <a:cs typeface="Microsoft JhengHei"/>
              </a:rPr>
              <a:t>/	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EBIT)	</a:t>
            </a:r>
            <a:r>
              <a:rPr dirty="0" sz="2400" spc="140" b="1">
                <a:solidFill>
                  <a:srgbClr val="FFFFFF"/>
                </a:solidFill>
                <a:latin typeface="Microsoft JhengHei"/>
                <a:cs typeface="Microsoft JhengHei"/>
              </a:rPr>
              <a:t>/	</a:t>
            </a:r>
            <a:r>
              <a:rPr dirty="0" sz="2400" spc="95" b="1">
                <a:solidFill>
                  <a:srgbClr val="FFFFFF"/>
                </a:solidFill>
                <a:latin typeface="Microsoft JhengHei"/>
                <a:cs typeface="Microsoft JhengHei"/>
              </a:rPr>
              <a:t>(⊿Q	</a:t>
            </a:r>
            <a:r>
              <a:rPr dirty="0" sz="2400" spc="140" b="1">
                <a:solidFill>
                  <a:srgbClr val="FFFFFF"/>
                </a:solidFill>
                <a:latin typeface="Microsoft JhengHei"/>
                <a:cs typeface="Microsoft JhengHei"/>
              </a:rPr>
              <a:t>/	</a:t>
            </a:r>
            <a:r>
              <a:rPr dirty="0" sz="2400" spc="-760" b="1">
                <a:solidFill>
                  <a:srgbClr val="FFFFFF"/>
                </a:solidFill>
                <a:latin typeface="Microsoft JhengHei"/>
                <a:cs typeface="Microsoft JhengHei"/>
              </a:rPr>
              <a:t>Q	</a:t>
            </a:r>
            <a:r>
              <a:rPr dirty="0" sz="2400" spc="355" b="1">
                <a:solidFill>
                  <a:srgbClr val="FFFFFF"/>
                </a:solidFill>
                <a:latin typeface="Microsoft JhengHei"/>
                <a:cs typeface="Microsoft JhengHei"/>
              </a:rPr>
              <a:t>)</a:t>
            </a:r>
            <a:endParaRPr sz="2400">
              <a:latin typeface="Microsoft JhengHei"/>
              <a:cs typeface="Microsoft JhengHei"/>
            </a:endParaRPr>
          </a:p>
          <a:p>
            <a:pPr marL="382270">
              <a:lnSpc>
                <a:spcPts val="2855"/>
              </a:lnSpc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其中，</a:t>
            </a:r>
            <a:endParaRPr sz="2400">
              <a:latin typeface="Microsoft JhengHei"/>
              <a:cs typeface="Microsoft JhengHei"/>
            </a:endParaRPr>
          </a:p>
          <a:p>
            <a:pPr algn="ctr" marR="2656205">
              <a:lnSpc>
                <a:spcPct val="100000"/>
              </a:lnSpc>
              <a:tabLst>
                <a:tab pos="761365" algn="l"/>
                <a:tab pos="1066165" algn="l"/>
                <a:tab pos="1370965" algn="l"/>
                <a:tab pos="1675764" algn="l"/>
                <a:tab pos="2132965" algn="l"/>
                <a:tab pos="2437765" algn="l"/>
                <a:tab pos="2742565" algn="l"/>
              </a:tabLst>
            </a:pPr>
            <a:r>
              <a:rPr dirty="0" sz="2400" spc="-60" b="1">
                <a:solidFill>
                  <a:srgbClr val="FFFFFF"/>
                </a:solidFill>
                <a:latin typeface="Microsoft JhengHei"/>
                <a:cs typeface="Microsoft JhengHei"/>
              </a:rPr>
              <a:t>EBIT	</a:t>
            </a:r>
            <a:r>
              <a:rPr dirty="0" sz="2400" spc="-595" b="1">
                <a:solidFill>
                  <a:srgbClr val="FFFFFF"/>
                </a:solidFill>
                <a:latin typeface="Microsoft JhengHei"/>
                <a:cs typeface="Microsoft JhengHei"/>
              </a:rPr>
              <a:t>=	</a:t>
            </a:r>
            <a:r>
              <a:rPr dirty="0" sz="2400" spc="-305" b="1">
                <a:solidFill>
                  <a:srgbClr val="FFFFFF"/>
                </a:solidFill>
                <a:latin typeface="Microsoft JhengHei"/>
                <a:cs typeface="Microsoft JhengHei"/>
              </a:rPr>
              <a:t>P	</a:t>
            </a:r>
            <a:r>
              <a:rPr dirty="0" sz="2400" spc="-760" b="1">
                <a:solidFill>
                  <a:srgbClr val="FFFFFF"/>
                </a:solidFill>
                <a:latin typeface="Microsoft JhengHei"/>
                <a:cs typeface="Microsoft JhengHei"/>
              </a:rPr>
              <a:t>Q	</a:t>
            </a:r>
            <a:r>
              <a:rPr dirty="0" sz="2400" spc="1100" b="1">
                <a:solidFill>
                  <a:srgbClr val="FFFFFF"/>
                </a:solidFill>
                <a:latin typeface="Microsoft JhengHei"/>
                <a:cs typeface="Microsoft JhengHei"/>
              </a:rPr>
              <a:t>–	</a:t>
            </a:r>
            <a:r>
              <a:rPr dirty="0" sz="2400" spc="-455" b="1">
                <a:solidFill>
                  <a:srgbClr val="FFFFFF"/>
                </a:solidFill>
                <a:latin typeface="Microsoft JhengHei"/>
                <a:cs typeface="Microsoft JhengHei"/>
              </a:rPr>
              <a:t>V	</a:t>
            </a:r>
            <a:r>
              <a:rPr dirty="0" sz="2400" spc="-760" b="1">
                <a:solidFill>
                  <a:srgbClr val="FFFFFF"/>
                </a:solidFill>
                <a:latin typeface="Microsoft JhengHei"/>
                <a:cs typeface="Microsoft JhengHei"/>
              </a:rPr>
              <a:t>Q	</a:t>
            </a:r>
            <a:r>
              <a:rPr dirty="0" sz="2400" spc="200" b="1">
                <a:solidFill>
                  <a:srgbClr val="FFFFFF"/>
                </a:solidFill>
                <a:latin typeface="Microsoft JhengHei"/>
                <a:cs typeface="Microsoft JhengHei"/>
              </a:rPr>
              <a:t>–FC</a:t>
            </a:r>
            <a:endParaRPr sz="2400">
              <a:latin typeface="Microsoft JhengHei"/>
              <a:cs typeface="Microsoft JhengHei"/>
            </a:endParaRPr>
          </a:p>
          <a:p>
            <a:pPr algn="ctr" marR="2583180">
              <a:lnSpc>
                <a:spcPct val="100000"/>
              </a:lnSpc>
              <a:spcBef>
                <a:spcPts val="575"/>
              </a:spcBef>
              <a:tabLst>
                <a:tab pos="304165" algn="l"/>
                <a:tab pos="913765" algn="l"/>
                <a:tab pos="1370965" algn="l"/>
                <a:tab pos="1828164" algn="l"/>
                <a:tab pos="2285365" algn="l"/>
              </a:tabLst>
            </a:pPr>
            <a:r>
              <a:rPr dirty="0" sz="2400" spc="-595" b="1">
                <a:solidFill>
                  <a:srgbClr val="FFFFFF"/>
                </a:solidFill>
                <a:latin typeface="Microsoft JhengHei"/>
                <a:cs typeface="Microsoft JhengHei"/>
              </a:rPr>
              <a:t>=	</a:t>
            </a:r>
            <a:r>
              <a:rPr dirty="0" sz="2400" spc="-235" b="1">
                <a:solidFill>
                  <a:srgbClr val="FFFFFF"/>
                </a:solidFill>
                <a:latin typeface="Microsoft JhengHei"/>
                <a:cs typeface="Microsoft JhengHei"/>
              </a:rPr>
              <a:t>Q(P	</a:t>
            </a:r>
            <a:r>
              <a:rPr dirty="0" sz="2400" spc="1100" b="1">
                <a:solidFill>
                  <a:srgbClr val="FFFFFF"/>
                </a:solidFill>
                <a:latin typeface="Microsoft JhengHei"/>
                <a:cs typeface="Microsoft JhengHei"/>
              </a:rPr>
              <a:t>–	</a:t>
            </a:r>
            <a:r>
              <a:rPr dirty="0" sz="2400" spc="-50" b="1">
                <a:solidFill>
                  <a:srgbClr val="FFFFFF"/>
                </a:solidFill>
                <a:latin typeface="Microsoft JhengHei"/>
                <a:cs typeface="Microsoft JhengHei"/>
              </a:rPr>
              <a:t>V)	</a:t>
            </a:r>
            <a:r>
              <a:rPr dirty="0" sz="2400" spc="1100" b="1">
                <a:solidFill>
                  <a:srgbClr val="FFFFFF"/>
                </a:solidFill>
                <a:latin typeface="Microsoft JhengHei"/>
                <a:cs typeface="Microsoft JhengHei"/>
              </a:rPr>
              <a:t>–	</a:t>
            </a:r>
            <a:r>
              <a:rPr dirty="0" sz="2400" spc="-254" b="1">
                <a:solidFill>
                  <a:srgbClr val="FFFFFF"/>
                </a:solidFill>
                <a:latin typeface="Microsoft JhengHei"/>
                <a:cs typeface="Microsoft JhengHei"/>
              </a:rPr>
              <a:t>FC</a:t>
            </a:r>
            <a:endParaRPr sz="2400">
              <a:latin typeface="Microsoft JhengHei"/>
              <a:cs typeface="Microsoft JhengHei"/>
            </a:endParaRPr>
          </a:p>
          <a:p>
            <a:pPr algn="ctr" marR="3113405">
              <a:lnSpc>
                <a:spcPct val="100000"/>
              </a:lnSpc>
              <a:tabLst>
                <a:tab pos="1066165" algn="l"/>
                <a:tab pos="1370965" algn="l"/>
                <a:tab pos="1980564" algn="l"/>
                <a:tab pos="2437765" algn="l"/>
                <a:tab pos="2894965" algn="l"/>
              </a:tabLst>
            </a:pPr>
            <a:r>
              <a:rPr dirty="0" sz="2400" spc="90" b="1">
                <a:solidFill>
                  <a:srgbClr val="FFFFFF"/>
                </a:solidFill>
                <a:latin typeface="Microsoft JhengHei"/>
                <a:cs typeface="Microsoft JhengHei"/>
              </a:rPr>
              <a:t>⊿EBIT	</a:t>
            </a:r>
            <a:r>
              <a:rPr dirty="0" sz="2400" spc="-595" b="1">
                <a:solidFill>
                  <a:srgbClr val="FFFFFF"/>
                </a:solidFill>
                <a:latin typeface="Microsoft JhengHei"/>
                <a:cs typeface="Microsoft JhengHei"/>
              </a:rPr>
              <a:t>=	</a:t>
            </a:r>
            <a:r>
              <a:rPr dirty="0" sz="2400" spc="-35" b="1">
                <a:solidFill>
                  <a:srgbClr val="FFFFFF"/>
                </a:solidFill>
                <a:latin typeface="Microsoft JhengHei"/>
                <a:cs typeface="Microsoft JhengHei"/>
              </a:rPr>
              <a:t>⊿Q	</a:t>
            </a:r>
            <a:r>
              <a:rPr dirty="0" sz="2400" spc="25" b="1">
                <a:solidFill>
                  <a:srgbClr val="FFFFFF"/>
                </a:solidFill>
                <a:latin typeface="Microsoft JhengHei"/>
                <a:cs typeface="Microsoft JhengHei"/>
              </a:rPr>
              <a:t>(P	</a:t>
            </a:r>
            <a:r>
              <a:rPr dirty="0" sz="2400" spc="1100" b="1">
                <a:solidFill>
                  <a:srgbClr val="FFFFFF"/>
                </a:solidFill>
                <a:latin typeface="Microsoft JhengHei"/>
                <a:cs typeface="Microsoft JhengHei"/>
              </a:rPr>
              <a:t>–	</a:t>
            </a:r>
            <a:r>
              <a:rPr dirty="0" sz="2400" spc="-50" b="1">
                <a:solidFill>
                  <a:srgbClr val="FFFFFF"/>
                </a:solidFill>
                <a:latin typeface="Microsoft JhengHei"/>
                <a:cs typeface="Microsoft JhengHei"/>
              </a:rPr>
              <a:t>V)</a:t>
            </a:r>
            <a:endParaRPr sz="2400">
              <a:latin typeface="Microsoft JhengHei"/>
              <a:cs typeface="Microsoft JhengHei"/>
            </a:endParaRPr>
          </a:p>
          <a:p>
            <a:pPr marL="494665" marR="1097280" indent="-457200">
              <a:lnSpc>
                <a:spcPct val="116900"/>
              </a:lnSpc>
              <a:spcBef>
                <a:spcPts val="110"/>
              </a:spcBef>
              <a:tabLst>
                <a:tab pos="2933065" algn="l"/>
                <a:tab pos="3237865" algn="l"/>
                <a:tab pos="5984240" algn="l"/>
                <a:tab pos="6438265" algn="l"/>
                <a:tab pos="6743065" algn="l"/>
              </a:tabLst>
            </a:pPr>
            <a:r>
              <a:rPr dirty="0" sz="2400" spc="-25" b="1">
                <a:solidFill>
                  <a:srgbClr val="FFFFFF"/>
                </a:solidFill>
                <a:latin typeface="Microsoft JhengHei"/>
                <a:cs typeface="Microsoft JhengHei"/>
              </a:rPr>
              <a:t>在盈亏平衡时，EBIT</a:t>
            </a:r>
            <a:r>
              <a:rPr dirty="0" sz="2400" spc="-25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400" spc="-595" b="1">
                <a:solidFill>
                  <a:srgbClr val="FFFFFF"/>
                </a:solidFill>
                <a:latin typeface="Microsoft JhengHei"/>
                <a:cs typeface="Microsoft JhengHei"/>
              </a:rPr>
              <a:t>=</a:t>
            </a:r>
            <a:r>
              <a:rPr dirty="0" sz="2400" spc="-595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400" spc="-250" b="1">
                <a:solidFill>
                  <a:srgbClr val="FFFFFF"/>
                </a:solidFill>
                <a:latin typeface="Microsoft JhengHei"/>
                <a:cs typeface="Microsoft JhengHei"/>
              </a:rPr>
              <a:t>0，即Q</a:t>
            </a:r>
            <a:r>
              <a:rPr dirty="0" baseline="-20833" sz="2400" spc="-330" b="1">
                <a:solidFill>
                  <a:srgbClr val="FFFFFF"/>
                </a:solidFill>
                <a:latin typeface="Microsoft JhengHei"/>
                <a:cs typeface="Microsoft JhengHei"/>
              </a:rPr>
              <a:t>B</a:t>
            </a:r>
            <a:r>
              <a:rPr dirty="0" baseline="-20833" sz="2400" spc="-135" b="1">
                <a:solidFill>
                  <a:srgbClr val="FFFFFF"/>
                </a:solidFill>
                <a:latin typeface="Microsoft JhengHei"/>
                <a:cs typeface="Microsoft JhengHei"/>
              </a:rPr>
              <a:t>E</a:t>
            </a:r>
            <a:r>
              <a:rPr dirty="0" baseline="-20833" sz="2400" b="1">
                <a:solidFill>
                  <a:srgbClr val="FFFFFF"/>
                </a:solidFill>
                <a:latin typeface="Microsoft JhengHei"/>
                <a:cs typeface="Microsoft JhengHei"/>
              </a:rPr>
              <a:t>  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（</a:t>
            </a:r>
            <a:r>
              <a:rPr dirty="0" sz="2800" spc="9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400" spc="-90" b="1">
                <a:solidFill>
                  <a:srgbClr val="FFFFFF"/>
                </a:solidFill>
                <a:latin typeface="Microsoft JhengHei"/>
                <a:cs typeface="Microsoft JhengHei"/>
              </a:rPr>
              <a:t>P-V）-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400" spc="-120" b="1">
                <a:solidFill>
                  <a:srgbClr val="FFFFFF"/>
                </a:solidFill>
                <a:latin typeface="Microsoft JhengHei"/>
                <a:cs typeface="Microsoft JhengHei"/>
              </a:rPr>
              <a:t>F</a:t>
            </a:r>
            <a:r>
              <a:rPr dirty="0" sz="2400" spc="-409" b="1">
                <a:solidFill>
                  <a:srgbClr val="FFFFFF"/>
                </a:solidFill>
                <a:latin typeface="Microsoft JhengHei"/>
                <a:cs typeface="Microsoft JhengHei"/>
              </a:rPr>
              <a:t>C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400" spc="-595" b="1">
                <a:solidFill>
                  <a:srgbClr val="FFFFFF"/>
                </a:solidFill>
                <a:latin typeface="Microsoft JhengHei"/>
                <a:cs typeface="Microsoft JhengHei"/>
              </a:rPr>
              <a:t>=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	</a:t>
            </a:r>
            <a:r>
              <a:rPr dirty="0" sz="2400" spc="-165" b="1">
                <a:solidFill>
                  <a:srgbClr val="FFFFFF"/>
                </a:solidFill>
                <a:latin typeface="Microsoft JhengHei"/>
                <a:cs typeface="Microsoft JhengHei"/>
              </a:rPr>
              <a:t>0 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所以，</a:t>
            </a:r>
            <a:endParaRPr sz="2400">
              <a:latin typeface="Microsoft JhengHei"/>
              <a:cs typeface="Microsoft JhengHei"/>
            </a:endParaRPr>
          </a:p>
          <a:p>
            <a:pPr marL="800100">
              <a:lnSpc>
                <a:spcPct val="100000"/>
              </a:lnSpc>
              <a:spcBef>
                <a:spcPts val="555"/>
              </a:spcBef>
              <a:tabLst>
                <a:tab pos="1409065" algn="l"/>
                <a:tab pos="1866264" algn="l"/>
                <a:tab pos="3085465" algn="l"/>
                <a:tab pos="5371465" algn="l"/>
                <a:tab pos="5676265" algn="l"/>
              </a:tabLst>
            </a:pPr>
            <a:r>
              <a:rPr dirty="0" sz="2400" spc="-490" b="1">
                <a:solidFill>
                  <a:srgbClr val="FFFFFF"/>
                </a:solidFill>
                <a:latin typeface="Microsoft JhengHei"/>
                <a:cs typeface="Microsoft JhengHei"/>
              </a:rPr>
              <a:t>DOL	</a:t>
            </a:r>
            <a:r>
              <a:rPr dirty="0" sz="2400" spc="-120" b="1">
                <a:solidFill>
                  <a:srgbClr val="FFFFFF"/>
                </a:solidFill>
                <a:latin typeface="Microsoft JhengHei"/>
                <a:cs typeface="Microsoft JhengHei"/>
              </a:rPr>
              <a:t>=[	</a:t>
            </a:r>
            <a:r>
              <a:rPr dirty="0" sz="2400" spc="-75" b="1">
                <a:solidFill>
                  <a:srgbClr val="FFFFFF"/>
                </a:solidFill>
                <a:latin typeface="Microsoft JhengHei"/>
                <a:cs typeface="Microsoft JhengHei"/>
              </a:rPr>
              <a:t>Q(P-V)/	</a:t>
            </a:r>
            <a:r>
              <a:rPr dirty="0" sz="2400" spc="-45" b="1">
                <a:solidFill>
                  <a:srgbClr val="FFFFFF"/>
                </a:solidFill>
                <a:latin typeface="Microsoft JhengHei"/>
                <a:cs typeface="Microsoft JhengHei"/>
              </a:rPr>
              <a:t>Q(P-V)-FC]/⊿Q	</a:t>
            </a:r>
            <a:r>
              <a:rPr dirty="0" sz="2400" spc="140" b="1">
                <a:solidFill>
                  <a:srgbClr val="FFFFFF"/>
                </a:solidFill>
                <a:latin typeface="Microsoft JhengHei"/>
                <a:cs typeface="Microsoft JhengHei"/>
              </a:rPr>
              <a:t>/	</a:t>
            </a:r>
            <a:r>
              <a:rPr dirty="0" sz="2400" spc="-760" b="1">
                <a:solidFill>
                  <a:srgbClr val="FFFFFF"/>
                </a:solidFill>
                <a:latin typeface="Microsoft JhengHei"/>
                <a:cs typeface="Microsoft JhengHei"/>
              </a:rPr>
              <a:t>Q</a:t>
            </a:r>
            <a:endParaRPr sz="2400">
              <a:latin typeface="Microsoft JhengHei"/>
              <a:cs typeface="Microsoft JhengHei"/>
            </a:endParaRPr>
          </a:p>
          <a:p>
            <a:pPr marL="1409700">
              <a:lnSpc>
                <a:spcPct val="100000"/>
              </a:lnSpc>
              <a:spcBef>
                <a:spcPts val="575"/>
              </a:spcBef>
              <a:tabLst>
                <a:tab pos="1713864" algn="l"/>
                <a:tab pos="4609465" algn="l"/>
              </a:tabLst>
            </a:pPr>
            <a:r>
              <a:rPr dirty="0" sz="2400" spc="-595" b="1">
                <a:solidFill>
                  <a:srgbClr val="FFFFFF"/>
                </a:solidFill>
                <a:latin typeface="Microsoft JhengHei"/>
                <a:cs typeface="Microsoft JhengHei"/>
              </a:rPr>
              <a:t>=	</a:t>
            </a:r>
            <a:r>
              <a:rPr dirty="0" sz="2400" spc="-175" b="1">
                <a:solidFill>
                  <a:srgbClr val="FFFFFF"/>
                </a:solidFill>
                <a:latin typeface="Microsoft JhengHei"/>
                <a:cs typeface="Microsoft JhengHei"/>
              </a:rPr>
              <a:t>Q（P-V）/Q（P-V）-	</a:t>
            </a:r>
            <a:r>
              <a:rPr dirty="0" sz="2400" spc="-254" b="1">
                <a:solidFill>
                  <a:srgbClr val="FFFFFF"/>
                </a:solidFill>
                <a:latin typeface="Microsoft JhengHei"/>
                <a:cs typeface="Microsoft JhengHei"/>
              </a:rPr>
              <a:t>FC</a:t>
            </a:r>
            <a:endParaRPr sz="2400">
              <a:latin typeface="Microsoft JhengHei"/>
              <a:cs typeface="Microsoft JhengHei"/>
            </a:endParaRPr>
          </a:p>
          <a:p>
            <a:pPr marL="1391285">
              <a:lnSpc>
                <a:spcPct val="100000"/>
              </a:lnSpc>
              <a:tabLst>
                <a:tab pos="1696085" algn="l"/>
              </a:tabLst>
            </a:pPr>
            <a:r>
              <a:rPr dirty="0" sz="2400" spc="-595" b="1">
                <a:solidFill>
                  <a:srgbClr val="FFFFFF"/>
                </a:solidFill>
                <a:latin typeface="Microsoft JhengHei"/>
                <a:cs typeface="Microsoft JhengHei"/>
              </a:rPr>
              <a:t>=	</a:t>
            </a:r>
            <a:r>
              <a:rPr dirty="0" sz="2400" spc="-175" b="1">
                <a:solidFill>
                  <a:srgbClr val="FFFFFF"/>
                </a:solidFill>
                <a:latin typeface="Microsoft JhengHei"/>
                <a:cs typeface="Microsoft JhengHei"/>
              </a:rPr>
              <a:t>Q/(Q-Q</a:t>
            </a:r>
            <a:r>
              <a:rPr dirty="0" baseline="-20833" sz="2400" spc="-262" b="1">
                <a:solidFill>
                  <a:srgbClr val="FFFFFF"/>
                </a:solidFill>
                <a:latin typeface="Microsoft JhengHei"/>
                <a:cs typeface="Microsoft JhengHei"/>
              </a:rPr>
              <a:t>BE</a:t>
            </a:r>
            <a:r>
              <a:rPr dirty="0" sz="2400" spc="-175" b="1">
                <a:solidFill>
                  <a:srgbClr val="FFFFFF"/>
                </a:solidFill>
                <a:latin typeface="Microsoft JhengHei"/>
                <a:cs typeface="Microsoft JhengHei"/>
              </a:rPr>
              <a:t>)</a:t>
            </a:r>
            <a:endParaRPr sz="2400">
              <a:latin typeface="Microsoft JhengHei"/>
              <a:cs typeface="Microsoft JhengHei"/>
            </a:endParaRPr>
          </a:p>
          <a:p>
            <a:pPr marL="1391285">
              <a:lnSpc>
                <a:spcPct val="100000"/>
              </a:lnSpc>
              <a:tabLst>
                <a:tab pos="1696085" algn="l"/>
                <a:tab pos="2458085" algn="l"/>
                <a:tab pos="2762885" algn="l"/>
                <a:tab pos="3220085" algn="l"/>
              </a:tabLst>
            </a:pPr>
            <a:r>
              <a:rPr dirty="0" sz="2400" spc="-595" b="1">
                <a:solidFill>
                  <a:srgbClr val="FFFFFF"/>
                </a:solidFill>
                <a:latin typeface="Microsoft JhengHei"/>
                <a:cs typeface="Microsoft JhengHei"/>
              </a:rPr>
              <a:t>=	</a:t>
            </a:r>
            <a:r>
              <a:rPr dirty="0" sz="2400" spc="-60" b="1">
                <a:solidFill>
                  <a:srgbClr val="FFFFFF"/>
                </a:solidFill>
                <a:latin typeface="Microsoft JhengHei"/>
                <a:cs typeface="Microsoft JhengHei"/>
              </a:rPr>
              <a:t>EBIT	</a:t>
            </a:r>
            <a:r>
              <a:rPr dirty="0" sz="2400" spc="-595" b="1">
                <a:solidFill>
                  <a:srgbClr val="FFFFFF"/>
                </a:solidFill>
                <a:latin typeface="Microsoft JhengHei"/>
                <a:cs typeface="Microsoft JhengHei"/>
              </a:rPr>
              <a:t>+	</a:t>
            </a:r>
            <a:r>
              <a:rPr dirty="0" sz="2400" spc="-254" b="1">
                <a:solidFill>
                  <a:srgbClr val="FFFFFF"/>
                </a:solidFill>
                <a:latin typeface="Microsoft JhengHei"/>
                <a:cs typeface="Microsoft JhengHei"/>
              </a:rPr>
              <a:t>FC	</a:t>
            </a:r>
            <a:r>
              <a:rPr dirty="0" sz="2400" spc="-20" b="1">
                <a:solidFill>
                  <a:srgbClr val="FFFFFF"/>
                </a:solidFill>
                <a:latin typeface="Microsoft JhengHei"/>
                <a:cs typeface="Microsoft JhengHei"/>
              </a:rPr>
              <a:t>/EBIT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2251" y="593852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营业杠</a:t>
            </a:r>
            <a:r>
              <a:rPr dirty="0" spc="-20"/>
              <a:t>杆</a:t>
            </a:r>
            <a:r>
              <a:rPr dirty="0" spc="5"/>
              <a:t>系数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79" y="1736852"/>
            <a:ext cx="8474710" cy="4583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6870" marR="285115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可见营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杠杆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映了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固定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成本的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使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用程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定成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本占总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本的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比例越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高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业杠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杆越大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在其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他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情况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不变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下，营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杠杆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越高，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EBIT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的变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异性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来衡量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风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险就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越大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。因此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公司 对营业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杠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杆的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使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用程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度或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多或少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存有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干控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marL="356870" marR="5080" indent="-344805">
              <a:lnSpc>
                <a:spcPct val="99800"/>
              </a:lnSpc>
              <a:spcBef>
                <a:spcPts val="53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盈亏平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点移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得越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远，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企业的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业利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或亏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损的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绝对值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就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越大，  而用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DOL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量的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业利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对产出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变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动的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感性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就越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低。销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逼近 盈亏平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点时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，DOL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就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趋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向于正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负无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穷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大。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当销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售超过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盈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亏平 衡点进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增长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定成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本的存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对营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利润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造成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的放大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效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应逐 渐向一种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1：1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关系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减少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marL="356870" marR="285115" indent="-344805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即使公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有很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定资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产，但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果它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营水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平远远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超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过盈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亏平衡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，它们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DOL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水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平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也将较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低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样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定资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产水平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很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低的 企业如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靠近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盈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亏平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衡点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进行经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，它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也将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有巨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大的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DOL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2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营业杠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还与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所处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产业的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术性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有关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，例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如电力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司。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2251" y="593852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营业杠</a:t>
            </a:r>
            <a:r>
              <a:rPr dirty="0" spc="-20"/>
              <a:t>杆</a:t>
            </a:r>
            <a:r>
              <a:rPr dirty="0" spc="5"/>
              <a:t>系数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599948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财务杠杆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39316"/>
            <a:ext cx="7990205" cy="46081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356870" marR="5080" indent="-344805">
              <a:lnSpc>
                <a:spcPct val="99600"/>
              </a:lnSpc>
              <a:spcBef>
                <a:spcPts val="11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财务杠杆是指使用固定收益证券（负债和优先股）来融资 的程度，反映的是利息与EBIT之间的关系，尤其指利息及  EBIT对普通股每股收益变动的影响程度。</a:t>
            </a:r>
            <a:endParaRPr sz="2400">
              <a:latin typeface="宋体"/>
              <a:cs typeface="宋体"/>
            </a:endParaRPr>
          </a:p>
          <a:p>
            <a:pPr algn="just" marL="356870" indent="-344805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财务风险就是财务杠杆对普通股股东带来的额外风险。</a:t>
            </a:r>
            <a:endParaRPr sz="24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负债与优先股的使用会使公司的经营风险集中在普通股股 东身上。</a:t>
            </a:r>
            <a:endParaRPr sz="2400">
              <a:latin typeface="宋体"/>
              <a:cs typeface="宋体"/>
            </a:endParaRPr>
          </a:p>
          <a:p>
            <a:pPr algn="just" marL="356870" indent="-344805">
              <a:lnSpc>
                <a:spcPct val="100000"/>
              </a:lnSpc>
              <a:spcBef>
                <a:spcPts val="58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EBIT-EPS盈亏平衡（EBIT-EPS</a:t>
            </a:r>
            <a:r>
              <a:rPr dirty="0" sz="24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break-even）分析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484"/>
              </a:spcBef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EPS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：EPS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=[（EBIT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–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I）（1-T）-PD]/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宋体"/>
                <a:cs typeface="宋体"/>
              </a:rPr>
              <a:t>NS</a:t>
            </a:r>
            <a:endParaRPr sz="2200">
              <a:latin typeface="宋体"/>
              <a:cs typeface="宋体"/>
            </a:endParaRPr>
          </a:p>
          <a:p>
            <a:pPr marL="749935">
              <a:lnSpc>
                <a:spcPct val="100000"/>
              </a:lnSpc>
              <a:spcBef>
                <a:spcPts val="530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，I-----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每年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支付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的利息</a:t>
            </a:r>
            <a:endParaRPr sz="2200">
              <a:latin typeface="宋体"/>
              <a:cs typeface="宋体"/>
            </a:endParaRPr>
          </a:p>
          <a:p>
            <a:pPr marL="1457325">
              <a:lnSpc>
                <a:spcPct val="100000"/>
              </a:lnSpc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PD-----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年支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付的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优先股利</a:t>
            </a:r>
            <a:endParaRPr sz="2200">
              <a:latin typeface="宋体"/>
              <a:cs typeface="宋体"/>
            </a:endParaRPr>
          </a:p>
          <a:p>
            <a:pPr marL="1597025">
              <a:lnSpc>
                <a:spcPct val="100000"/>
              </a:lnSpc>
            </a:pP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T-----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司税率</a:t>
            </a:r>
            <a:endParaRPr sz="2200">
              <a:latin typeface="宋体"/>
              <a:cs typeface="宋体"/>
            </a:endParaRPr>
          </a:p>
          <a:p>
            <a:pPr marL="1457325">
              <a:lnSpc>
                <a:spcPct val="100000"/>
              </a:lnSpc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NS-----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通在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外的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普通股数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877316"/>
            <a:ext cx="7853045" cy="5492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725170">
              <a:lnSpc>
                <a:spcPct val="100000"/>
              </a:lnSpc>
              <a:spcBef>
                <a:spcPts val="10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财务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杠杆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EBIT－EPS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亏平衡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析， 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假定切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基轮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胎公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司完全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过普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通股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筹集到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期资 金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万美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生产扩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还希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望再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筹集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50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万美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元。它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三种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可能的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案。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它新发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476375" indent="-894080">
              <a:lnSpc>
                <a:spcPct val="100000"/>
              </a:lnSpc>
              <a:spcBef>
                <a:spcPts val="675"/>
              </a:spcBef>
              <a:buSzPct val="96428"/>
              <a:buAutoNum type="arabicPlain"/>
              <a:tabLst>
                <a:tab pos="147637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全为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通股；</a:t>
            </a:r>
            <a:endParaRPr sz="2800">
              <a:latin typeface="宋体"/>
              <a:cs typeface="宋体"/>
            </a:endParaRPr>
          </a:p>
          <a:p>
            <a:pPr marL="1476375" indent="-894080">
              <a:lnSpc>
                <a:spcPct val="100000"/>
              </a:lnSpc>
              <a:spcBef>
                <a:spcPts val="670"/>
              </a:spcBef>
              <a:buSzPct val="96428"/>
              <a:buAutoNum type="arabicPlain"/>
              <a:tabLst>
                <a:tab pos="147637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全部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12％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1476375" indent="-894080">
              <a:lnSpc>
                <a:spcPct val="100000"/>
              </a:lnSpc>
              <a:spcBef>
                <a:spcPts val="695"/>
              </a:spcBef>
              <a:buSzPct val="96428"/>
              <a:buAutoNum type="arabicPlain"/>
              <a:tabLst>
                <a:tab pos="147637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全部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优先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，股利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11％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 marR="7620" indent="725170">
              <a:lnSpc>
                <a:spcPct val="100000"/>
              </a:lnSpc>
              <a:spcBef>
                <a:spcPts val="67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前每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年的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息前税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收益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（EBIT）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150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万美 元，但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张后预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将上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升到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每年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270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万美 元。所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40％，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流通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的普通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20 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万股。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第一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种融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资案下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普通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每股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5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元出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售，从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将增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加普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通股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10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639316"/>
            <a:ext cx="7780020" cy="4335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6870" marR="139065" indent="-344805">
              <a:lnSpc>
                <a:spcPct val="100000"/>
              </a:lnSpc>
              <a:spcBef>
                <a:spcPts val="100"/>
              </a:spcBef>
              <a:tabLst>
                <a:tab pos="966469" algn="l"/>
                <a:tab pos="1271270" algn="l"/>
                <a:tab pos="2338070" algn="l"/>
                <a:tab pos="2642870" algn="l"/>
                <a:tab pos="3212465" algn="l"/>
                <a:tab pos="3404870" algn="l"/>
                <a:tab pos="3669665" algn="l"/>
                <a:tab pos="3709670" algn="l"/>
                <a:tab pos="4928870" algn="l"/>
                <a:tab pos="5193665" algn="l"/>
                <a:tab pos="5233670" algn="l"/>
                <a:tab pos="6565265" algn="l"/>
                <a:tab pos="68700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财务杠杆系数（Degree	of	financial	leverage	/	DFL）  DFL	=	(⊿EPA	/	EPS)	/		(⊿EBIT	/		EBIT)</a:t>
            </a:r>
            <a:endParaRPr sz="2400">
              <a:latin typeface="宋体"/>
              <a:cs typeface="宋体"/>
            </a:endParaRPr>
          </a:p>
          <a:p>
            <a:pPr marL="966469">
              <a:lnSpc>
                <a:spcPts val="2855"/>
              </a:lnSpc>
              <a:tabLst>
                <a:tab pos="1271270" algn="l"/>
                <a:tab pos="2033270" algn="l"/>
                <a:tab pos="2338070" algn="l"/>
                <a:tab pos="2642870" algn="l"/>
                <a:tab pos="3404870" algn="l"/>
                <a:tab pos="3862070" algn="l"/>
                <a:tab pos="4166870" algn="l"/>
                <a:tab pos="4624070" algn="l"/>
                <a:tab pos="508127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=	EBIT	/	[	EBIT	–	I	–	PD	/(1-T)]</a:t>
            </a:r>
            <a:endParaRPr sz="2400">
              <a:latin typeface="宋体"/>
              <a:cs typeface="宋体"/>
            </a:endParaRPr>
          </a:p>
          <a:p>
            <a:pPr marL="356870">
              <a:lnSpc>
                <a:spcPct val="100000"/>
              </a:lnSpc>
              <a:tabLst>
                <a:tab pos="1423670" algn="l"/>
                <a:tab pos="172847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假定PD	=	0，则</a:t>
            </a:r>
            <a:endParaRPr sz="2400">
              <a:latin typeface="宋体"/>
              <a:cs typeface="宋体"/>
            </a:endParaRPr>
          </a:p>
          <a:p>
            <a:pPr marL="1057910">
              <a:lnSpc>
                <a:spcPct val="100000"/>
              </a:lnSpc>
              <a:spcBef>
                <a:spcPts val="575"/>
              </a:spcBef>
              <a:tabLst>
                <a:tab pos="1667510" algn="l"/>
                <a:tab pos="1972310" algn="l"/>
                <a:tab pos="4105910" algn="l"/>
                <a:tab pos="4410710" algn="l"/>
                <a:tab pos="6391910" algn="l"/>
                <a:tab pos="6696709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DFL	=	[Q（P-V）-FC]	/	[Q（P-V）-FC	-	I]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财务杠杆对EPS的影响：</a:t>
            </a:r>
            <a:endParaRPr sz="2400">
              <a:latin typeface="宋体"/>
              <a:cs typeface="宋体"/>
            </a:endParaRPr>
          </a:p>
          <a:p>
            <a:pPr algn="just" marL="756285" marR="5080" indent="-287020">
              <a:lnSpc>
                <a:spcPct val="99600"/>
              </a:lnSpc>
              <a:spcBef>
                <a:spcPts val="590"/>
              </a:spcBef>
              <a:buClr>
                <a:srgbClr val="FF6600"/>
              </a:buClr>
              <a:buFont typeface="Arial"/>
              <a:buChar char="•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负债比率越高，则负债的风险越大，而借款公司所需 支付给贷款人的利率当然也越高，切呈加速增大的趋 势。</a:t>
            </a:r>
            <a:endParaRPr sz="2400">
              <a:latin typeface="宋体"/>
              <a:cs typeface="宋体"/>
            </a:endParaRPr>
          </a:p>
          <a:p>
            <a:pPr algn="just" marL="756285" marR="5080" indent="-28702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Font typeface="Arial"/>
              <a:buChar char="•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负债融资程度的改变将导致EPS的改变，而EPS的变化 又会影响股价。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2251" y="599948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财务杠</a:t>
            </a:r>
            <a:r>
              <a:rPr dirty="0" spc="-20"/>
              <a:t>杆</a:t>
            </a:r>
            <a:r>
              <a:rPr dirty="0" spc="5"/>
              <a:t>系数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79" y="1663699"/>
            <a:ext cx="8313420" cy="414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4069" marR="1586865" indent="-802005">
              <a:lnSpc>
                <a:spcPct val="110000"/>
              </a:lnSpc>
              <a:spcBef>
                <a:spcPts val="100"/>
              </a:spcBef>
              <a:tabLst>
                <a:tab pos="1423670" algn="l"/>
                <a:tab pos="1728470" algn="l"/>
                <a:tab pos="2338070" algn="l"/>
                <a:tab pos="2642870" algn="l"/>
                <a:tab pos="2907665" algn="l"/>
                <a:tab pos="3364865" algn="l"/>
                <a:tab pos="4279265" algn="l"/>
                <a:tab pos="5650865" algn="l"/>
                <a:tab pos="59556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总杠杆系数（Degree	of	total	leverage	/	DTL）  DTL	=	DOL	*	DFL</a:t>
            </a:r>
            <a:endParaRPr sz="2400">
              <a:latin typeface="宋体"/>
              <a:cs typeface="宋体"/>
            </a:endParaRPr>
          </a:p>
          <a:p>
            <a:pPr marL="1423670">
              <a:lnSpc>
                <a:spcPct val="100000"/>
              </a:lnSpc>
              <a:spcBef>
                <a:spcPts val="285"/>
              </a:spcBef>
              <a:tabLst>
                <a:tab pos="1728470" algn="l"/>
                <a:tab pos="3557270" algn="l"/>
                <a:tab pos="386207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=	(⊿EPS/EPS)	/	(⊿Q/Q)</a:t>
            </a:r>
            <a:endParaRPr sz="2400">
              <a:latin typeface="宋体"/>
              <a:cs typeface="宋体"/>
            </a:endParaRPr>
          </a:p>
          <a:p>
            <a:pPr marL="1423670">
              <a:lnSpc>
                <a:spcPct val="100000"/>
              </a:lnSpc>
              <a:spcBef>
                <a:spcPts val="290"/>
              </a:spcBef>
              <a:tabLst>
                <a:tab pos="1728470" algn="l"/>
                <a:tab pos="2033270" algn="l"/>
                <a:tab pos="294767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=	Q	(P-V)	/[Q(P-V)-FC-I]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DTL的作用：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775"/>
              </a:spcBef>
            </a:pPr>
            <a:r>
              <a:rPr dirty="0" sz="2200" spc="223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使企业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以估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出销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售额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或销售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变动对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E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PS所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成的影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响</a:t>
            </a:r>
            <a:r>
              <a:rPr dirty="0" sz="2200" spc="-103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795"/>
              </a:spcBef>
            </a:pPr>
            <a:r>
              <a:rPr dirty="0" sz="2200" spc="223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使企业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以显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存在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于财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务杠杆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营业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杠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杆之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间的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相互关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2200" spc="-21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algn="just" marL="756285" marR="281940" indent="-287020">
              <a:lnSpc>
                <a:spcPct val="110000"/>
              </a:lnSpc>
              <a:spcBef>
                <a:spcPts val="500"/>
              </a:spcBef>
            </a:pPr>
            <a:r>
              <a:rPr dirty="0" sz="2200" spc="223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杠杆程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对投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者也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相当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重要。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果产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中公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司系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按其总</a:t>
            </a:r>
            <a:r>
              <a:rPr dirty="0" sz="2200" spc="-2195">
                <a:solidFill>
                  <a:srgbClr val="FFFFFF"/>
                </a:solidFill>
                <a:latin typeface="宋体"/>
                <a:cs typeface="宋体"/>
              </a:rPr>
              <a:t>杠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杆程度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划分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话，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则一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位对该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司的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途看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好的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投资者可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能会看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那些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杠杆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程度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较高的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司；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之也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91203" y="599948"/>
            <a:ext cx="1552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总杠杆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6220" y="2044700"/>
            <a:ext cx="4646295" cy="3120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静态的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权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衡理论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动态的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权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衡理论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3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信息不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对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称的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资本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结构理</a:t>
            </a:r>
            <a:r>
              <a:rPr dirty="0" sz="2800" spc="-2715" b="1">
                <a:solidFill>
                  <a:srgbClr val="FFFFFF"/>
                </a:solidFill>
                <a:latin typeface="Microsoft JhengHei"/>
                <a:cs typeface="Microsoft JhengHei"/>
              </a:rPr>
              <a:t>论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2251" y="599948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资本结</a:t>
            </a:r>
            <a:r>
              <a:rPr dirty="0" spc="-20"/>
              <a:t>构</a:t>
            </a:r>
            <a:r>
              <a:rPr dirty="0" spc="5"/>
              <a:t>理论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8483" y="228092"/>
            <a:ext cx="6969759" cy="12153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4680"/>
              </a:lnSpc>
              <a:spcBef>
                <a:spcPts val="105"/>
              </a:spcBef>
            </a:pPr>
            <a:r>
              <a:rPr dirty="0" spc="5"/>
              <a:t>静态的</a:t>
            </a:r>
            <a:r>
              <a:rPr dirty="0" spc="-20"/>
              <a:t>权</a:t>
            </a:r>
            <a:r>
              <a:rPr dirty="0" spc="5"/>
              <a:t>衡</a:t>
            </a:r>
            <a:r>
              <a:rPr dirty="0" spc="-20"/>
              <a:t>理</a:t>
            </a:r>
            <a:r>
              <a:rPr dirty="0" spc="5"/>
              <a:t>论</a:t>
            </a:r>
          </a:p>
          <a:p>
            <a:pPr algn="ctr">
              <a:lnSpc>
                <a:spcPts val="4680"/>
              </a:lnSpc>
            </a:pPr>
            <a:r>
              <a:rPr dirty="0" spc="-160"/>
              <a:t>——</a:t>
            </a:r>
            <a:r>
              <a:rPr dirty="0" spc="-150"/>
              <a:t>现</a:t>
            </a:r>
            <a:r>
              <a:rPr dirty="0" spc="-175"/>
              <a:t>代</a:t>
            </a:r>
            <a:r>
              <a:rPr dirty="0" spc="5"/>
              <a:t>公</a:t>
            </a:r>
            <a:r>
              <a:rPr dirty="0" spc="-20"/>
              <a:t>司</a:t>
            </a:r>
            <a:r>
              <a:rPr dirty="0" spc="5"/>
              <a:t>财务的</a:t>
            </a:r>
            <a:r>
              <a:rPr dirty="0" spc="-20"/>
              <a:t>起</a:t>
            </a:r>
            <a:r>
              <a:rPr dirty="0" spc="5"/>
              <a:t>源</a:t>
            </a:r>
            <a:r>
              <a:rPr dirty="0" spc="-5"/>
              <a:t>：</a:t>
            </a:r>
            <a:r>
              <a:rPr dirty="0" spc="-5">
                <a:latin typeface="Arial"/>
                <a:cs typeface="Arial"/>
              </a:rPr>
              <a:t>MM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6227" y="1794764"/>
            <a:ext cx="7365365" cy="4117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企业定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价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的基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本方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法</a:t>
            </a:r>
            <a:endParaRPr sz="28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235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MM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模型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：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无公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司所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得税</a:t>
            </a:r>
            <a:endParaRPr sz="28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237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MM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模型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：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存在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公司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所得税</a:t>
            </a:r>
            <a:endParaRPr sz="28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235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MM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模型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：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同时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存在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公司所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得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税和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个人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所得</a:t>
            </a:r>
            <a:r>
              <a:rPr dirty="0" sz="2800" spc="-2165" b="1">
                <a:solidFill>
                  <a:srgbClr val="FFFFFF"/>
                </a:solidFill>
                <a:latin typeface="Microsoft JhengHei"/>
                <a:cs typeface="Microsoft JhengHei"/>
              </a:rPr>
              <a:t>税</a:t>
            </a:r>
            <a:endParaRPr sz="28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262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破产成本</a:t>
            </a:r>
            <a:endParaRPr sz="28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235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静态的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权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衡理论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7532" y="609092"/>
            <a:ext cx="240030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>
                <a:latin typeface="Arial"/>
                <a:cs typeface="Arial"/>
              </a:rPr>
              <a:t>M</a:t>
            </a:r>
            <a:r>
              <a:rPr dirty="0" spc="-5">
                <a:latin typeface="Arial"/>
                <a:cs typeface="Arial"/>
              </a:rPr>
              <a:t>M</a:t>
            </a:r>
            <a:r>
              <a:rPr dirty="0" spc="5"/>
              <a:t>的假设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555155"/>
            <a:ext cx="2942590" cy="21418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新古典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济学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endParaRPr sz="28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565"/>
              </a:spcBef>
              <a:buClr>
                <a:srgbClr val="FF6600"/>
              </a:buClr>
              <a:buFont typeface="Wingdings"/>
              <a:buChar char="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理性</a:t>
            </a:r>
            <a:endParaRPr sz="24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580"/>
              </a:spcBef>
              <a:buClr>
                <a:srgbClr val="FF6600"/>
              </a:buClr>
              <a:buFont typeface="Wingdings"/>
              <a:buChar char="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完备市场</a:t>
            </a:r>
            <a:endParaRPr sz="24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470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不存在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endParaRPr sz="20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455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不存在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交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易费用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16751" y="606552"/>
            <a:ext cx="2209800" cy="1143000"/>
          </a:xfrm>
          <a:custGeom>
            <a:avLst/>
            <a:gdLst/>
            <a:ahLst/>
            <a:cxnLst/>
            <a:rect l="l" t="t" r="r" b="b"/>
            <a:pathLst>
              <a:path w="2209800" h="1143000">
                <a:moveTo>
                  <a:pt x="2209799" y="573023"/>
                </a:moveTo>
                <a:lnTo>
                  <a:pt x="2202878" y="508373"/>
                </a:lnTo>
                <a:lnTo>
                  <a:pt x="2182609" y="445846"/>
                </a:lnTo>
                <a:lnTo>
                  <a:pt x="2149737" y="385826"/>
                </a:lnTo>
                <a:lnTo>
                  <a:pt x="2105005" y="328698"/>
                </a:lnTo>
                <a:lnTo>
                  <a:pt x="2078424" y="301338"/>
                </a:lnTo>
                <a:lnTo>
                  <a:pt x="2049157" y="274845"/>
                </a:lnTo>
                <a:lnTo>
                  <a:pt x="2017298" y="249266"/>
                </a:lnTo>
                <a:lnTo>
                  <a:pt x="1982938" y="224651"/>
                </a:lnTo>
                <a:lnTo>
                  <a:pt x="1946171" y="201046"/>
                </a:lnTo>
                <a:lnTo>
                  <a:pt x="1907091" y="178500"/>
                </a:lnTo>
                <a:lnTo>
                  <a:pt x="1865789" y="157061"/>
                </a:lnTo>
                <a:lnTo>
                  <a:pt x="1822359" y="136777"/>
                </a:lnTo>
                <a:lnTo>
                  <a:pt x="1776894" y="117695"/>
                </a:lnTo>
                <a:lnTo>
                  <a:pt x="1729487" y="99865"/>
                </a:lnTo>
                <a:lnTo>
                  <a:pt x="1680231" y="83332"/>
                </a:lnTo>
                <a:lnTo>
                  <a:pt x="1629219" y="68147"/>
                </a:lnTo>
                <a:lnTo>
                  <a:pt x="1576543" y="54356"/>
                </a:lnTo>
                <a:lnTo>
                  <a:pt x="1522297" y="42008"/>
                </a:lnTo>
                <a:lnTo>
                  <a:pt x="1466575" y="31151"/>
                </a:lnTo>
                <a:lnTo>
                  <a:pt x="1409468" y="21833"/>
                </a:lnTo>
                <a:lnTo>
                  <a:pt x="1351069" y="14101"/>
                </a:lnTo>
                <a:lnTo>
                  <a:pt x="1291473" y="8003"/>
                </a:lnTo>
                <a:lnTo>
                  <a:pt x="1230771" y="3589"/>
                </a:lnTo>
                <a:lnTo>
                  <a:pt x="1169057" y="905"/>
                </a:lnTo>
                <a:lnTo>
                  <a:pt x="1106423" y="0"/>
                </a:lnTo>
                <a:lnTo>
                  <a:pt x="1043486" y="905"/>
                </a:lnTo>
                <a:lnTo>
                  <a:pt x="981488" y="3589"/>
                </a:lnTo>
                <a:lnTo>
                  <a:pt x="920523" y="8003"/>
                </a:lnTo>
                <a:lnTo>
                  <a:pt x="860682" y="14101"/>
                </a:lnTo>
                <a:lnTo>
                  <a:pt x="802059" y="21833"/>
                </a:lnTo>
                <a:lnTo>
                  <a:pt x="744745" y="31151"/>
                </a:lnTo>
                <a:lnTo>
                  <a:pt x="688832" y="42008"/>
                </a:lnTo>
                <a:lnTo>
                  <a:pt x="634413" y="54356"/>
                </a:lnTo>
                <a:lnTo>
                  <a:pt x="581580" y="68147"/>
                </a:lnTo>
                <a:lnTo>
                  <a:pt x="530425" y="83332"/>
                </a:lnTo>
                <a:lnTo>
                  <a:pt x="481041" y="99865"/>
                </a:lnTo>
                <a:lnTo>
                  <a:pt x="433519" y="117695"/>
                </a:lnTo>
                <a:lnTo>
                  <a:pt x="387952" y="136777"/>
                </a:lnTo>
                <a:lnTo>
                  <a:pt x="344432" y="157061"/>
                </a:lnTo>
                <a:lnTo>
                  <a:pt x="303051" y="178500"/>
                </a:lnTo>
                <a:lnTo>
                  <a:pt x="263902" y="201046"/>
                </a:lnTo>
                <a:lnTo>
                  <a:pt x="227077" y="224651"/>
                </a:lnTo>
                <a:lnTo>
                  <a:pt x="192668" y="249266"/>
                </a:lnTo>
                <a:lnTo>
                  <a:pt x="160767" y="274845"/>
                </a:lnTo>
                <a:lnTo>
                  <a:pt x="131466" y="301338"/>
                </a:lnTo>
                <a:lnTo>
                  <a:pt x="104858" y="328698"/>
                </a:lnTo>
                <a:lnTo>
                  <a:pt x="60089" y="385826"/>
                </a:lnTo>
                <a:lnTo>
                  <a:pt x="27198" y="445846"/>
                </a:lnTo>
                <a:lnTo>
                  <a:pt x="6922" y="508373"/>
                </a:lnTo>
                <a:lnTo>
                  <a:pt x="0" y="573023"/>
                </a:lnTo>
                <a:lnTo>
                  <a:pt x="1746" y="605286"/>
                </a:lnTo>
                <a:lnTo>
                  <a:pt x="15437" y="668376"/>
                </a:lnTo>
                <a:lnTo>
                  <a:pt x="42113" y="729228"/>
                </a:lnTo>
                <a:lnTo>
                  <a:pt x="81035" y="787453"/>
                </a:lnTo>
                <a:lnTo>
                  <a:pt x="131466" y="842661"/>
                </a:lnTo>
                <a:lnTo>
                  <a:pt x="160767" y="869012"/>
                </a:lnTo>
                <a:lnTo>
                  <a:pt x="192668" y="894461"/>
                </a:lnTo>
                <a:lnTo>
                  <a:pt x="227077" y="918962"/>
                </a:lnTo>
                <a:lnTo>
                  <a:pt x="263902" y="942465"/>
                </a:lnTo>
                <a:lnTo>
                  <a:pt x="303051" y="964920"/>
                </a:lnTo>
                <a:lnTo>
                  <a:pt x="344432" y="986281"/>
                </a:lnTo>
                <a:lnTo>
                  <a:pt x="387952" y="1006497"/>
                </a:lnTo>
                <a:lnTo>
                  <a:pt x="433519" y="1025520"/>
                </a:lnTo>
                <a:lnTo>
                  <a:pt x="481041" y="1043301"/>
                </a:lnTo>
                <a:lnTo>
                  <a:pt x="530425" y="1059792"/>
                </a:lnTo>
                <a:lnTo>
                  <a:pt x="581580" y="1074943"/>
                </a:lnTo>
                <a:lnTo>
                  <a:pt x="634413" y="1088707"/>
                </a:lnTo>
                <a:lnTo>
                  <a:pt x="688832" y="1101033"/>
                </a:lnTo>
                <a:lnTo>
                  <a:pt x="744745" y="1111875"/>
                </a:lnTo>
                <a:lnTo>
                  <a:pt x="802059" y="1121182"/>
                </a:lnTo>
                <a:lnTo>
                  <a:pt x="860682" y="1128906"/>
                </a:lnTo>
                <a:lnTo>
                  <a:pt x="920523" y="1134999"/>
                </a:lnTo>
                <a:lnTo>
                  <a:pt x="981488" y="1139411"/>
                </a:lnTo>
                <a:lnTo>
                  <a:pt x="1043486" y="1142094"/>
                </a:lnTo>
                <a:lnTo>
                  <a:pt x="1106423" y="1142999"/>
                </a:lnTo>
                <a:lnTo>
                  <a:pt x="1169057" y="1142094"/>
                </a:lnTo>
                <a:lnTo>
                  <a:pt x="1230771" y="1139411"/>
                </a:lnTo>
                <a:lnTo>
                  <a:pt x="1291473" y="1134999"/>
                </a:lnTo>
                <a:lnTo>
                  <a:pt x="1351069" y="1128906"/>
                </a:lnTo>
                <a:lnTo>
                  <a:pt x="1409468" y="1121182"/>
                </a:lnTo>
                <a:lnTo>
                  <a:pt x="1466575" y="1111875"/>
                </a:lnTo>
                <a:lnTo>
                  <a:pt x="1522297" y="1101033"/>
                </a:lnTo>
                <a:lnTo>
                  <a:pt x="1576543" y="1088707"/>
                </a:lnTo>
                <a:lnTo>
                  <a:pt x="1629219" y="1074943"/>
                </a:lnTo>
                <a:lnTo>
                  <a:pt x="1680231" y="1059792"/>
                </a:lnTo>
                <a:lnTo>
                  <a:pt x="1729487" y="1043301"/>
                </a:lnTo>
                <a:lnTo>
                  <a:pt x="1776894" y="1025520"/>
                </a:lnTo>
                <a:lnTo>
                  <a:pt x="1822359" y="1006497"/>
                </a:lnTo>
                <a:lnTo>
                  <a:pt x="1865789" y="986281"/>
                </a:lnTo>
                <a:lnTo>
                  <a:pt x="1907091" y="964920"/>
                </a:lnTo>
                <a:lnTo>
                  <a:pt x="1946171" y="942465"/>
                </a:lnTo>
                <a:lnTo>
                  <a:pt x="1982938" y="918962"/>
                </a:lnTo>
                <a:lnTo>
                  <a:pt x="2017298" y="894461"/>
                </a:lnTo>
                <a:lnTo>
                  <a:pt x="2049157" y="869012"/>
                </a:lnTo>
                <a:lnTo>
                  <a:pt x="2078424" y="842661"/>
                </a:lnTo>
                <a:lnTo>
                  <a:pt x="2128807" y="787453"/>
                </a:lnTo>
                <a:lnTo>
                  <a:pt x="2167702" y="729228"/>
                </a:lnTo>
                <a:lnTo>
                  <a:pt x="2194365" y="668376"/>
                </a:lnTo>
                <a:lnTo>
                  <a:pt x="2208054" y="605286"/>
                </a:lnTo>
                <a:lnTo>
                  <a:pt x="2209799" y="573023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96076" y="990092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市场时机理论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40351" y="2054352"/>
            <a:ext cx="2362200" cy="1066800"/>
          </a:xfrm>
          <a:custGeom>
            <a:avLst/>
            <a:gdLst/>
            <a:ahLst/>
            <a:cxnLst/>
            <a:rect l="l" t="t" r="r" b="b"/>
            <a:pathLst>
              <a:path w="2362200" h="1066800">
                <a:moveTo>
                  <a:pt x="2362199" y="533399"/>
                </a:moveTo>
                <a:lnTo>
                  <a:pt x="2355288" y="475094"/>
                </a:lnTo>
                <a:lnTo>
                  <a:pt x="2335030" y="418652"/>
                </a:lnTo>
                <a:lnTo>
                  <a:pt x="2302142" y="364394"/>
                </a:lnTo>
                <a:lnTo>
                  <a:pt x="2257337" y="312639"/>
                </a:lnTo>
                <a:lnTo>
                  <a:pt x="2201333" y="263708"/>
                </a:lnTo>
                <a:lnTo>
                  <a:pt x="2169354" y="240401"/>
                </a:lnTo>
                <a:lnTo>
                  <a:pt x="2134843" y="217919"/>
                </a:lnTo>
                <a:lnTo>
                  <a:pt x="2097890" y="196303"/>
                </a:lnTo>
                <a:lnTo>
                  <a:pt x="2058583" y="175593"/>
                </a:lnTo>
                <a:lnTo>
                  <a:pt x="2017013" y="155828"/>
                </a:lnTo>
                <a:lnTo>
                  <a:pt x="1973269" y="137049"/>
                </a:lnTo>
                <a:lnTo>
                  <a:pt x="1927440" y="119296"/>
                </a:lnTo>
                <a:lnTo>
                  <a:pt x="1879616" y="102607"/>
                </a:lnTo>
                <a:lnTo>
                  <a:pt x="1829885" y="87025"/>
                </a:lnTo>
                <a:lnTo>
                  <a:pt x="1778338" y="72587"/>
                </a:lnTo>
                <a:lnTo>
                  <a:pt x="1725064" y="59335"/>
                </a:lnTo>
                <a:lnTo>
                  <a:pt x="1670152" y="47308"/>
                </a:lnTo>
                <a:lnTo>
                  <a:pt x="1613691" y="36546"/>
                </a:lnTo>
                <a:lnTo>
                  <a:pt x="1555772" y="27090"/>
                </a:lnTo>
                <a:lnTo>
                  <a:pt x="1496483" y="18979"/>
                </a:lnTo>
                <a:lnTo>
                  <a:pt x="1435914" y="12253"/>
                </a:lnTo>
                <a:lnTo>
                  <a:pt x="1374154" y="6952"/>
                </a:lnTo>
                <a:lnTo>
                  <a:pt x="1311292" y="3116"/>
                </a:lnTo>
                <a:lnTo>
                  <a:pt x="1247419" y="785"/>
                </a:lnTo>
                <a:lnTo>
                  <a:pt x="1182623" y="0"/>
                </a:lnTo>
                <a:lnTo>
                  <a:pt x="1117533" y="785"/>
                </a:lnTo>
                <a:lnTo>
                  <a:pt x="1053385" y="3116"/>
                </a:lnTo>
                <a:lnTo>
                  <a:pt x="990267" y="6952"/>
                </a:lnTo>
                <a:lnTo>
                  <a:pt x="928269" y="12253"/>
                </a:lnTo>
                <a:lnTo>
                  <a:pt x="867480" y="18979"/>
                </a:lnTo>
                <a:lnTo>
                  <a:pt x="807988" y="27090"/>
                </a:lnTo>
                <a:lnTo>
                  <a:pt x="749881" y="36546"/>
                </a:lnTo>
                <a:lnTo>
                  <a:pt x="693249" y="47308"/>
                </a:lnTo>
                <a:lnTo>
                  <a:pt x="638181" y="59335"/>
                </a:lnTo>
                <a:lnTo>
                  <a:pt x="584764" y="72587"/>
                </a:lnTo>
                <a:lnTo>
                  <a:pt x="533088" y="87025"/>
                </a:lnTo>
                <a:lnTo>
                  <a:pt x="483242" y="102607"/>
                </a:lnTo>
                <a:lnTo>
                  <a:pt x="435313" y="119296"/>
                </a:lnTo>
                <a:lnTo>
                  <a:pt x="389392" y="137049"/>
                </a:lnTo>
                <a:lnTo>
                  <a:pt x="345566" y="155828"/>
                </a:lnTo>
                <a:lnTo>
                  <a:pt x="303925" y="175593"/>
                </a:lnTo>
                <a:lnTo>
                  <a:pt x="264557" y="196303"/>
                </a:lnTo>
                <a:lnTo>
                  <a:pt x="227551" y="217919"/>
                </a:lnTo>
                <a:lnTo>
                  <a:pt x="192995" y="240401"/>
                </a:lnTo>
                <a:lnTo>
                  <a:pt x="160979" y="263708"/>
                </a:lnTo>
                <a:lnTo>
                  <a:pt x="104919" y="312639"/>
                </a:lnTo>
                <a:lnTo>
                  <a:pt x="60082" y="364394"/>
                </a:lnTo>
                <a:lnTo>
                  <a:pt x="27176" y="418652"/>
                </a:lnTo>
                <a:lnTo>
                  <a:pt x="6912" y="475094"/>
                </a:lnTo>
                <a:lnTo>
                  <a:pt x="0" y="533399"/>
                </a:lnTo>
                <a:lnTo>
                  <a:pt x="1742" y="562765"/>
                </a:lnTo>
                <a:lnTo>
                  <a:pt x="15419" y="620179"/>
                </a:lnTo>
                <a:lnTo>
                  <a:pt x="42093" y="675569"/>
                </a:lnTo>
                <a:lnTo>
                  <a:pt x="81053" y="728615"/>
                </a:lnTo>
                <a:lnTo>
                  <a:pt x="131591" y="778998"/>
                </a:lnTo>
                <a:lnTo>
                  <a:pt x="192995" y="826398"/>
                </a:lnTo>
                <a:lnTo>
                  <a:pt x="227551" y="848880"/>
                </a:lnTo>
                <a:lnTo>
                  <a:pt x="264557" y="870496"/>
                </a:lnTo>
                <a:lnTo>
                  <a:pt x="303925" y="891206"/>
                </a:lnTo>
                <a:lnTo>
                  <a:pt x="345566" y="910970"/>
                </a:lnTo>
                <a:lnTo>
                  <a:pt x="389392" y="929750"/>
                </a:lnTo>
                <a:lnTo>
                  <a:pt x="435313" y="947503"/>
                </a:lnTo>
                <a:lnTo>
                  <a:pt x="483242" y="964192"/>
                </a:lnTo>
                <a:lnTo>
                  <a:pt x="533088" y="979774"/>
                </a:lnTo>
                <a:lnTo>
                  <a:pt x="584764" y="994212"/>
                </a:lnTo>
                <a:lnTo>
                  <a:pt x="638181" y="1007464"/>
                </a:lnTo>
                <a:lnTo>
                  <a:pt x="693249" y="1019491"/>
                </a:lnTo>
                <a:lnTo>
                  <a:pt x="749881" y="1030252"/>
                </a:lnTo>
                <a:lnTo>
                  <a:pt x="807988" y="1039709"/>
                </a:lnTo>
                <a:lnTo>
                  <a:pt x="867480" y="1047820"/>
                </a:lnTo>
                <a:lnTo>
                  <a:pt x="928269" y="1054546"/>
                </a:lnTo>
                <a:lnTo>
                  <a:pt x="990267" y="1059847"/>
                </a:lnTo>
                <a:lnTo>
                  <a:pt x="1053385" y="1063683"/>
                </a:lnTo>
                <a:lnTo>
                  <a:pt x="1117533" y="1066014"/>
                </a:lnTo>
                <a:lnTo>
                  <a:pt x="1182623" y="1066799"/>
                </a:lnTo>
                <a:lnTo>
                  <a:pt x="1247419" y="1066014"/>
                </a:lnTo>
                <a:lnTo>
                  <a:pt x="1311292" y="1063683"/>
                </a:lnTo>
                <a:lnTo>
                  <a:pt x="1374154" y="1059847"/>
                </a:lnTo>
                <a:lnTo>
                  <a:pt x="1435914" y="1054546"/>
                </a:lnTo>
                <a:lnTo>
                  <a:pt x="1496483" y="1047820"/>
                </a:lnTo>
                <a:lnTo>
                  <a:pt x="1555772" y="1039709"/>
                </a:lnTo>
                <a:lnTo>
                  <a:pt x="1613691" y="1030252"/>
                </a:lnTo>
                <a:lnTo>
                  <a:pt x="1670152" y="1019491"/>
                </a:lnTo>
                <a:lnTo>
                  <a:pt x="1725064" y="1007464"/>
                </a:lnTo>
                <a:lnTo>
                  <a:pt x="1778338" y="994212"/>
                </a:lnTo>
                <a:lnTo>
                  <a:pt x="1829885" y="979774"/>
                </a:lnTo>
                <a:lnTo>
                  <a:pt x="1879616" y="964192"/>
                </a:lnTo>
                <a:lnTo>
                  <a:pt x="1927440" y="947503"/>
                </a:lnTo>
                <a:lnTo>
                  <a:pt x="1973269" y="929750"/>
                </a:lnTo>
                <a:lnTo>
                  <a:pt x="2017013" y="910970"/>
                </a:lnTo>
                <a:lnTo>
                  <a:pt x="2058583" y="891206"/>
                </a:lnTo>
                <a:lnTo>
                  <a:pt x="2097890" y="870496"/>
                </a:lnTo>
                <a:lnTo>
                  <a:pt x="2134843" y="848880"/>
                </a:lnTo>
                <a:lnTo>
                  <a:pt x="2169354" y="826398"/>
                </a:lnTo>
                <a:lnTo>
                  <a:pt x="2201333" y="803091"/>
                </a:lnTo>
                <a:lnTo>
                  <a:pt x="2257337" y="754160"/>
                </a:lnTo>
                <a:lnTo>
                  <a:pt x="2302142" y="702405"/>
                </a:lnTo>
                <a:lnTo>
                  <a:pt x="2335030" y="648147"/>
                </a:lnTo>
                <a:lnTo>
                  <a:pt x="2355288" y="591705"/>
                </a:lnTo>
                <a:lnTo>
                  <a:pt x="2362199" y="53339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595876" y="2401316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税收效应理论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18687" y="2776728"/>
            <a:ext cx="1146175" cy="350520"/>
          </a:xfrm>
          <a:custGeom>
            <a:avLst/>
            <a:gdLst/>
            <a:ahLst/>
            <a:cxnLst/>
            <a:rect l="l" t="t" r="r" b="b"/>
            <a:pathLst>
              <a:path w="1146175" h="350519">
                <a:moveTo>
                  <a:pt x="1146047" y="0"/>
                </a:moveTo>
                <a:lnTo>
                  <a:pt x="0" y="35051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30296" y="3081528"/>
            <a:ext cx="113030" cy="94615"/>
          </a:xfrm>
          <a:custGeom>
            <a:avLst/>
            <a:gdLst/>
            <a:ahLst/>
            <a:cxnLst/>
            <a:rect l="l" t="t" r="r" b="b"/>
            <a:pathLst>
              <a:path w="113030" h="94614">
                <a:moveTo>
                  <a:pt x="82296" y="0"/>
                </a:moveTo>
                <a:lnTo>
                  <a:pt x="0" y="73152"/>
                </a:lnTo>
                <a:lnTo>
                  <a:pt x="112776" y="94488"/>
                </a:lnTo>
                <a:lnTo>
                  <a:pt x="822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60064" y="5370576"/>
            <a:ext cx="2743200" cy="1295400"/>
          </a:xfrm>
          <a:custGeom>
            <a:avLst/>
            <a:gdLst/>
            <a:ahLst/>
            <a:cxnLst/>
            <a:rect l="l" t="t" r="r" b="b"/>
            <a:pathLst>
              <a:path w="2743200" h="1295400">
                <a:moveTo>
                  <a:pt x="2743199" y="649223"/>
                </a:moveTo>
                <a:lnTo>
                  <a:pt x="2737285" y="588294"/>
                </a:lnTo>
                <a:lnTo>
                  <a:pt x="2719890" y="528985"/>
                </a:lnTo>
                <a:lnTo>
                  <a:pt x="2691536" y="471540"/>
                </a:lnTo>
                <a:lnTo>
                  <a:pt x="2652745" y="416205"/>
                </a:lnTo>
                <a:lnTo>
                  <a:pt x="2604040" y="363227"/>
                </a:lnTo>
                <a:lnTo>
                  <a:pt x="2545942" y="312851"/>
                </a:lnTo>
                <a:lnTo>
                  <a:pt x="2513535" y="288715"/>
                </a:lnTo>
                <a:lnTo>
                  <a:pt x="2478974" y="265322"/>
                </a:lnTo>
                <a:lnTo>
                  <a:pt x="2442327" y="242702"/>
                </a:lnTo>
                <a:lnTo>
                  <a:pt x="2403658" y="220886"/>
                </a:lnTo>
                <a:lnTo>
                  <a:pt x="2363033" y="199905"/>
                </a:lnTo>
                <a:lnTo>
                  <a:pt x="2320516" y="179790"/>
                </a:lnTo>
                <a:lnTo>
                  <a:pt x="2276173" y="160570"/>
                </a:lnTo>
                <a:lnTo>
                  <a:pt x="2230069" y="142278"/>
                </a:lnTo>
                <a:lnTo>
                  <a:pt x="2182270" y="124943"/>
                </a:lnTo>
                <a:lnTo>
                  <a:pt x="2132840" y="108597"/>
                </a:lnTo>
                <a:lnTo>
                  <a:pt x="2081846" y="93269"/>
                </a:lnTo>
                <a:lnTo>
                  <a:pt x="2029352" y="78991"/>
                </a:lnTo>
                <a:lnTo>
                  <a:pt x="1975423" y="65794"/>
                </a:lnTo>
                <a:lnTo>
                  <a:pt x="1920126" y="53707"/>
                </a:lnTo>
                <a:lnTo>
                  <a:pt x="1863524" y="42763"/>
                </a:lnTo>
                <a:lnTo>
                  <a:pt x="1805683" y="32991"/>
                </a:lnTo>
                <a:lnTo>
                  <a:pt x="1746670" y="24422"/>
                </a:lnTo>
                <a:lnTo>
                  <a:pt x="1686548" y="17088"/>
                </a:lnTo>
                <a:lnTo>
                  <a:pt x="1625383" y="11018"/>
                </a:lnTo>
                <a:lnTo>
                  <a:pt x="1563240" y="6243"/>
                </a:lnTo>
                <a:lnTo>
                  <a:pt x="1500185" y="2795"/>
                </a:lnTo>
                <a:lnTo>
                  <a:pt x="1436283" y="704"/>
                </a:lnTo>
                <a:lnTo>
                  <a:pt x="1371599" y="0"/>
                </a:lnTo>
                <a:lnTo>
                  <a:pt x="1306916" y="704"/>
                </a:lnTo>
                <a:lnTo>
                  <a:pt x="1243014" y="2795"/>
                </a:lnTo>
                <a:lnTo>
                  <a:pt x="1179959" y="6243"/>
                </a:lnTo>
                <a:lnTo>
                  <a:pt x="1117816" y="11018"/>
                </a:lnTo>
                <a:lnTo>
                  <a:pt x="1056651" y="17088"/>
                </a:lnTo>
                <a:lnTo>
                  <a:pt x="996529" y="24422"/>
                </a:lnTo>
                <a:lnTo>
                  <a:pt x="937516" y="32991"/>
                </a:lnTo>
                <a:lnTo>
                  <a:pt x="879675" y="42763"/>
                </a:lnTo>
                <a:lnTo>
                  <a:pt x="823073" y="53707"/>
                </a:lnTo>
                <a:lnTo>
                  <a:pt x="767776" y="65794"/>
                </a:lnTo>
                <a:lnTo>
                  <a:pt x="713847" y="78991"/>
                </a:lnTo>
                <a:lnTo>
                  <a:pt x="661353" y="93269"/>
                </a:lnTo>
                <a:lnTo>
                  <a:pt x="610358" y="108597"/>
                </a:lnTo>
                <a:lnTo>
                  <a:pt x="560929" y="124943"/>
                </a:lnTo>
                <a:lnTo>
                  <a:pt x="513130" y="142278"/>
                </a:lnTo>
                <a:lnTo>
                  <a:pt x="467026" y="160570"/>
                </a:lnTo>
                <a:lnTo>
                  <a:pt x="422683" y="179790"/>
                </a:lnTo>
                <a:lnTo>
                  <a:pt x="380166" y="199905"/>
                </a:lnTo>
                <a:lnTo>
                  <a:pt x="339541" y="220886"/>
                </a:lnTo>
                <a:lnTo>
                  <a:pt x="300872" y="242702"/>
                </a:lnTo>
                <a:lnTo>
                  <a:pt x="264225" y="265322"/>
                </a:lnTo>
                <a:lnTo>
                  <a:pt x="229664" y="288715"/>
                </a:lnTo>
                <a:lnTo>
                  <a:pt x="197257" y="312851"/>
                </a:lnTo>
                <a:lnTo>
                  <a:pt x="167066" y="337698"/>
                </a:lnTo>
                <a:lnTo>
                  <a:pt x="113600" y="389406"/>
                </a:lnTo>
                <a:lnTo>
                  <a:pt x="69787" y="443593"/>
                </a:lnTo>
                <a:lnTo>
                  <a:pt x="36149" y="500014"/>
                </a:lnTo>
                <a:lnTo>
                  <a:pt x="13209" y="558422"/>
                </a:lnTo>
                <a:lnTo>
                  <a:pt x="1489" y="618572"/>
                </a:lnTo>
                <a:lnTo>
                  <a:pt x="0" y="649223"/>
                </a:lnTo>
                <a:lnTo>
                  <a:pt x="1489" y="679621"/>
                </a:lnTo>
                <a:lnTo>
                  <a:pt x="13209" y="739307"/>
                </a:lnTo>
                <a:lnTo>
                  <a:pt x="36149" y="797305"/>
                </a:lnTo>
                <a:lnTo>
                  <a:pt x="69787" y="853366"/>
                </a:lnTo>
                <a:lnTo>
                  <a:pt x="113600" y="907242"/>
                </a:lnTo>
                <a:lnTo>
                  <a:pt x="167066" y="958684"/>
                </a:lnTo>
                <a:lnTo>
                  <a:pt x="197257" y="983413"/>
                </a:lnTo>
                <a:lnTo>
                  <a:pt x="229664" y="1007441"/>
                </a:lnTo>
                <a:lnTo>
                  <a:pt x="264225" y="1030736"/>
                </a:lnTo>
                <a:lnTo>
                  <a:pt x="300872" y="1053266"/>
                </a:lnTo>
                <a:lnTo>
                  <a:pt x="339541" y="1075000"/>
                </a:lnTo>
                <a:lnTo>
                  <a:pt x="380166" y="1095908"/>
                </a:lnTo>
                <a:lnTo>
                  <a:pt x="422683" y="1115958"/>
                </a:lnTo>
                <a:lnTo>
                  <a:pt x="467026" y="1135120"/>
                </a:lnTo>
                <a:lnTo>
                  <a:pt x="513130" y="1153361"/>
                </a:lnTo>
                <a:lnTo>
                  <a:pt x="560929" y="1170651"/>
                </a:lnTo>
                <a:lnTo>
                  <a:pt x="610358" y="1186959"/>
                </a:lnTo>
                <a:lnTo>
                  <a:pt x="661353" y="1202253"/>
                </a:lnTo>
                <a:lnTo>
                  <a:pt x="713847" y="1216503"/>
                </a:lnTo>
                <a:lnTo>
                  <a:pt x="767776" y="1229676"/>
                </a:lnTo>
                <a:lnTo>
                  <a:pt x="823073" y="1241743"/>
                </a:lnTo>
                <a:lnTo>
                  <a:pt x="879675" y="1252672"/>
                </a:lnTo>
                <a:lnTo>
                  <a:pt x="937516" y="1262432"/>
                </a:lnTo>
                <a:lnTo>
                  <a:pt x="996529" y="1270992"/>
                </a:lnTo>
                <a:lnTo>
                  <a:pt x="1056651" y="1278320"/>
                </a:lnTo>
                <a:lnTo>
                  <a:pt x="1117816" y="1284386"/>
                </a:lnTo>
                <a:lnTo>
                  <a:pt x="1179959" y="1289157"/>
                </a:lnTo>
                <a:lnTo>
                  <a:pt x="1243014" y="1292604"/>
                </a:lnTo>
                <a:lnTo>
                  <a:pt x="1306916" y="1294696"/>
                </a:lnTo>
                <a:lnTo>
                  <a:pt x="1371599" y="1295399"/>
                </a:lnTo>
                <a:lnTo>
                  <a:pt x="1436283" y="1294696"/>
                </a:lnTo>
                <a:lnTo>
                  <a:pt x="1500185" y="1292604"/>
                </a:lnTo>
                <a:lnTo>
                  <a:pt x="1563240" y="1289157"/>
                </a:lnTo>
                <a:lnTo>
                  <a:pt x="1625383" y="1284386"/>
                </a:lnTo>
                <a:lnTo>
                  <a:pt x="1686548" y="1278320"/>
                </a:lnTo>
                <a:lnTo>
                  <a:pt x="1746670" y="1270992"/>
                </a:lnTo>
                <a:lnTo>
                  <a:pt x="1805683" y="1262432"/>
                </a:lnTo>
                <a:lnTo>
                  <a:pt x="1863524" y="1252672"/>
                </a:lnTo>
                <a:lnTo>
                  <a:pt x="1920126" y="1241743"/>
                </a:lnTo>
                <a:lnTo>
                  <a:pt x="1975423" y="1229676"/>
                </a:lnTo>
                <a:lnTo>
                  <a:pt x="2029352" y="1216503"/>
                </a:lnTo>
                <a:lnTo>
                  <a:pt x="2081846" y="1202253"/>
                </a:lnTo>
                <a:lnTo>
                  <a:pt x="2132840" y="1186959"/>
                </a:lnTo>
                <a:lnTo>
                  <a:pt x="2182270" y="1170651"/>
                </a:lnTo>
                <a:lnTo>
                  <a:pt x="2230069" y="1153361"/>
                </a:lnTo>
                <a:lnTo>
                  <a:pt x="2276173" y="1135120"/>
                </a:lnTo>
                <a:lnTo>
                  <a:pt x="2320516" y="1115958"/>
                </a:lnTo>
                <a:lnTo>
                  <a:pt x="2363033" y="1095908"/>
                </a:lnTo>
                <a:lnTo>
                  <a:pt x="2403658" y="1075000"/>
                </a:lnTo>
                <a:lnTo>
                  <a:pt x="2442327" y="1053266"/>
                </a:lnTo>
                <a:lnTo>
                  <a:pt x="2478974" y="1030736"/>
                </a:lnTo>
                <a:lnTo>
                  <a:pt x="2513535" y="1007441"/>
                </a:lnTo>
                <a:lnTo>
                  <a:pt x="2545942" y="983413"/>
                </a:lnTo>
                <a:lnTo>
                  <a:pt x="2576133" y="958684"/>
                </a:lnTo>
                <a:lnTo>
                  <a:pt x="2629599" y="907242"/>
                </a:lnTo>
                <a:lnTo>
                  <a:pt x="2673412" y="853366"/>
                </a:lnTo>
                <a:lnTo>
                  <a:pt x="2707050" y="797305"/>
                </a:lnTo>
                <a:lnTo>
                  <a:pt x="2729990" y="739307"/>
                </a:lnTo>
                <a:lnTo>
                  <a:pt x="2741710" y="679621"/>
                </a:lnTo>
                <a:lnTo>
                  <a:pt x="2743199" y="649223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64663" y="4703064"/>
            <a:ext cx="1369060" cy="1027430"/>
          </a:xfrm>
          <a:custGeom>
            <a:avLst/>
            <a:gdLst/>
            <a:ahLst/>
            <a:cxnLst/>
            <a:rect l="l" t="t" r="r" b="b"/>
            <a:pathLst>
              <a:path w="1369060" h="1027429">
                <a:moveTo>
                  <a:pt x="1368551" y="1027175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91512" y="4654296"/>
            <a:ext cx="113030" cy="97790"/>
          </a:xfrm>
          <a:custGeom>
            <a:avLst/>
            <a:gdLst/>
            <a:ahLst/>
            <a:cxnLst/>
            <a:rect l="l" t="t" r="r" b="b"/>
            <a:pathLst>
              <a:path w="113030" h="97789">
                <a:moveTo>
                  <a:pt x="0" y="0"/>
                </a:moveTo>
                <a:lnTo>
                  <a:pt x="51816" y="97536"/>
                </a:lnTo>
                <a:lnTo>
                  <a:pt x="112776" y="182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36647" y="1444752"/>
            <a:ext cx="3880485" cy="948055"/>
          </a:xfrm>
          <a:custGeom>
            <a:avLst/>
            <a:gdLst/>
            <a:ahLst/>
            <a:cxnLst/>
            <a:rect l="l" t="t" r="r" b="b"/>
            <a:pathLst>
              <a:path w="3880485" h="948055">
                <a:moveTo>
                  <a:pt x="3880103" y="0"/>
                </a:moveTo>
                <a:lnTo>
                  <a:pt x="0" y="947927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51304" y="2343912"/>
            <a:ext cx="106680" cy="97790"/>
          </a:xfrm>
          <a:custGeom>
            <a:avLst/>
            <a:gdLst/>
            <a:ahLst/>
            <a:cxnLst/>
            <a:rect l="l" t="t" r="r" b="b"/>
            <a:pathLst>
              <a:path w="106680" h="97789">
                <a:moveTo>
                  <a:pt x="82296" y="0"/>
                </a:moveTo>
                <a:lnTo>
                  <a:pt x="0" y="73152"/>
                </a:lnTo>
                <a:lnTo>
                  <a:pt x="106680" y="97536"/>
                </a:lnTo>
                <a:lnTo>
                  <a:pt x="822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431535" y="4145280"/>
            <a:ext cx="3505200" cy="1066800"/>
          </a:xfrm>
          <a:custGeom>
            <a:avLst/>
            <a:gdLst/>
            <a:ahLst/>
            <a:cxnLst/>
            <a:rect l="l" t="t" r="r" b="b"/>
            <a:pathLst>
              <a:path w="3505200" h="1066800">
                <a:moveTo>
                  <a:pt x="3505199" y="533399"/>
                </a:moveTo>
                <a:lnTo>
                  <a:pt x="3499677" y="490567"/>
                </a:lnTo>
                <a:lnTo>
                  <a:pt x="3483386" y="448687"/>
                </a:lnTo>
                <a:lnTo>
                  <a:pt x="3456744" y="407884"/>
                </a:lnTo>
                <a:lnTo>
                  <a:pt x="3420167" y="368283"/>
                </a:lnTo>
                <a:lnTo>
                  <a:pt x="3374069" y="330010"/>
                </a:lnTo>
                <a:lnTo>
                  <a:pt x="3318868" y="293191"/>
                </a:lnTo>
                <a:lnTo>
                  <a:pt x="3254980" y="257949"/>
                </a:lnTo>
                <a:lnTo>
                  <a:pt x="3219908" y="240960"/>
                </a:lnTo>
                <a:lnTo>
                  <a:pt x="3182820" y="224411"/>
                </a:lnTo>
                <a:lnTo>
                  <a:pt x="3143769" y="208320"/>
                </a:lnTo>
                <a:lnTo>
                  <a:pt x="3102805" y="192702"/>
                </a:lnTo>
                <a:lnTo>
                  <a:pt x="3059982" y="177573"/>
                </a:lnTo>
                <a:lnTo>
                  <a:pt x="3015351" y="162947"/>
                </a:lnTo>
                <a:lnTo>
                  <a:pt x="2968964" y="148842"/>
                </a:lnTo>
                <a:lnTo>
                  <a:pt x="2920873" y="135271"/>
                </a:lnTo>
                <a:lnTo>
                  <a:pt x="2871131" y="122252"/>
                </a:lnTo>
                <a:lnTo>
                  <a:pt x="2819788" y="109800"/>
                </a:lnTo>
                <a:lnTo>
                  <a:pt x="2766898" y="97930"/>
                </a:lnTo>
                <a:lnTo>
                  <a:pt x="2712512" y="86659"/>
                </a:lnTo>
                <a:lnTo>
                  <a:pt x="2656683" y="76001"/>
                </a:lnTo>
                <a:lnTo>
                  <a:pt x="2599462" y="65972"/>
                </a:lnTo>
                <a:lnTo>
                  <a:pt x="2540901" y="56589"/>
                </a:lnTo>
                <a:lnTo>
                  <a:pt x="2481052" y="47866"/>
                </a:lnTo>
                <a:lnTo>
                  <a:pt x="2419967" y="39819"/>
                </a:lnTo>
                <a:lnTo>
                  <a:pt x="2357699" y="32465"/>
                </a:lnTo>
                <a:lnTo>
                  <a:pt x="2294299" y="25818"/>
                </a:lnTo>
                <a:lnTo>
                  <a:pt x="2229820" y="19895"/>
                </a:lnTo>
                <a:lnTo>
                  <a:pt x="2164312" y="14710"/>
                </a:lnTo>
                <a:lnTo>
                  <a:pt x="2097829" y="10281"/>
                </a:lnTo>
                <a:lnTo>
                  <a:pt x="2030423" y="6621"/>
                </a:lnTo>
                <a:lnTo>
                  <a:pt x="1962144" y="3748"/>
                </a:lnTo>
                <a:lnTo>
                  <a:pt x="1893046" y="1676"/>
                </a:lnTo>
                <a:lnTo>
                  <a:pt x="1823181" y="421"/>
                </a:lnTo>
                <a:lnTo>
                  <a:pt x="1752599" y="0"/>
                </a:lnTo>
                <a:lnTo>
                  <a:pt x="1682018" y="421"/>
                </a:lnTo>
                <a:lnTo>
                  <a:pt x="1612153" y="1676"/>
                </a:lnTo>
                <a:lnTo>
                  <a:pt x="1543055" y="3748"/>
                </a:lnTo>
                <a:lnTo>
                  <a:pt x="1474776" y="6621"/>
                </a:lnTo>
                <a:lnTo>
                  <a:pt x="1407370" y="10281"/>
                </a:lnTo>
                <a:lnTo>
                  <a:pt x="1340887" y="14710"/>
                </a:lnTo>
                <a:lnTo>
                  <a:pt x="1275379" y="19895"/>
                </a:lnTo>
                <a:lnTo>
                  <a:pt x="1210900" y="25818"/>
                </a:lnTo>
                <a:lnTo>
                  <a:pt x="1147500" y="32465"/>
                </a:lnTo>
                <a:lnTo>
                  <a:pt x="1085232" y="39819"/>
                </a:lnTo>
                <a:lnTo>
                  <a:pt x="1024147" y="47866"/>
                </a:lnTo>
                <a:lnTo>
                  <a:pt x="964298" y="56589"/>
                </a:lnTo>
                <a:lnTo>
                  <a:pt x="905737" y="65972"/>
                </a:lnTo>
                <a:lnTo>
                  <a:pt x="848516" y="76001"/>
                </a:lnTo>
                <a:lnTo>
                  <a:pt x="792686" y="86659"/>
                </a:lnTo>
                <a:lnTo>
                  <a:pt x="738301" y="97930"/>
                </a:lnTo>
                <a:lnTo>
                  <a:pt x="685411" y="109800"/>
                </a:lnTo>
                <a:lnTo>
                  <a:pt x="634068" y="122252"/>
                </a:lnTo>
                <a:lnTo>
                  <a:pt x="584326" y="135271"/>
                </a:lnTo>
                <a:lnTo>
                  <a:pt x="536235" y="148842"/>
                </a:lnTo>
                <a:lnTo>
                  <a:pt x="489848" y="162947"/>
                </a:lnTo>
                <a:lnTo>
                  <a:pt x="445217" y="177573"/>
                </a:lnTo>
                <a:lnTo>
                  <a:pt x="402394" y="192702"/>
                </a:lnTo>
                <a:lnTo>
                  <a:pt x="361430" y="208320"/>
                </a:lnTo>
                <a:lnTo>
                  <a:pt x="322379" y="224411"/>
                </a:lnTo>
                <a:lnTo>
                  <a:pt x="285291" y="240960"/>
                </a:lnTo>
                <a:lnTo>
                  <a:pt x="250219" y="257949"/>
                </a:lnTo>
                <a:lnTo>
                  <a:pt x="186331" y="293191"/>
                </a:lnTo>
                <a:lnTo>
                  <a:pt x="131130" y="330010"/>
                </a:lnTo>
                <a:lnTo>
                  <a:pt x="85032" y="368283"/>
                </a:lnTo>
                <a:lnTo>
                  <a:pt x="48455" y="407884"/>
                </a:lnTo>
                <a:lnTo>
                  <a:pt x="21812" y="448687"/>
                </a:lnTo>
                <a:lnTo>
                  <a:pt x="5522" y="490567"/>
                </a:lnTo>
                <a:lnTo>
                  <a:pt x="0" y="533399"/>
                </a:lnTo>
                <a:lnTo>
                  <a:pt x="1389" y="554927"/>
                </a:lnTo>
                <a:lnTo>
                  <a:pt x="12347" y="597299"/>
                </a:lnTo>
                <a:lnTo>
                  <a:pt x="33866" y="638656"/>
                </a:lnTo>
                <a:lnTo>
                  <a:pt x="65527" y="678874"/>
                </a:lnTo>
                <a:lnTo>
                  <a:pt x="106917" y="717826"/>
                </a:lnTo>
                <a:lnTo>
                  <a:pt x="157618" y="755388"/>
                </a:lnTo>
                <a:lnTo>
                  <a:pt x="217215" y="791434"/>
                </a:lnTo>
                <a:lnTo>
                  <a:pt x="285291" y="825839"/>
                </a:lnTo>
                <a:lnTo>
                  <a:pt x="322379" y="842388"/>
                </a:lnTo>
                <a:lnTo>
                  <a:pt x="361430" y="858479"/>
                </a:lnTo>
                <a:lnTo>
                  <a:pt x="402394" y="874097"/>
                </a:lnTo>
                <a:lnTo>
                  <a:pt x="445217" y="889226"/>
                </a:lnTo>
                <a:lnTo>
                  <a:pt x="489848" y="903852"/>
                </a:lnTo>
                <a:lnTo>
                  <a:pt x="536235" y="917957"/>
                </a:lnTo>
                <a:lnTo>
                  <a:pt x="584326" y="931528"/>
                </a:lnTo>
                <a:lnTo>
                  <a:pt x="634068" y="944547"/>
                </a:lnTo>
                <a:lnTo>
                  <a:pt x="685411" y="956999"/>
                </a:lnTo>
                <a:lnTo>
                  <a:pt x="738301" y="968869"/>
                </a:lnTo>
                <a:lnTo>
                  <a:pt x="792686" y="980140"/>
                </a:lnTo>
                <a:lnTo>
                  <a:pt x="848516" y="990798"/>
                </a:lnTo>
                <a:lnTo>
                  <a:pt x="905737" y="1000827"/>
                </a:lnTo>
                <a:lnTo>
                  <a:pt x="964298" y="1010210"/>
                </a:lnTo>
                <a:lnTo>
                  <a:pt x="1024147" y="1018933"/>
                </a:lnTo>
                <a:lnTo>
                  <a:pt x="1085232" y="1026980"/>
                </a:lnTo>
                <a:lnTo>
                  <a:pt x="1147500" y="1034334"/>
                </a:lnTo>
                <a:lnTo>
                  <a:pt x="1210900" y="1040981"/>
                </a:lnTo>
                <a:lnTo>
                  <a:pt x="1275379" y="1046904"/>
                </a:lnTo>
                <a:lnTo>
                  <a:pt x="1340887" y="1052089"/>
                </a:lnTo>
                <a:lnTo>
                  <a:pt x="1407370" y="1056518"/>
                </a:lnTo>
                <a:lnTo>
                  <a:pt x="1474776" y="1060178"/>
                </a:lnTo>
                <a:lnTo>
                  <a:pt x="1543055" y="1063051"/>
                </a:lnTo>
                <a:lnTo>
                  <a:pt x="1612153" y="1065123"/>
                </a:lnTo>
                <a:lnTo>
                  <a:pt x="1682018" y="1066378"/>
                </a:lnTo>
                <a:lnTo>
                  <a:pt x="1752599" y="1066799"/>
                </a:lnTo>
                <a:lnTo>
                  <a:pt x="1823181" y="1066378"/>
                </a:lnTo>
                <a:lnTo>
                  <a:pt x="1893046" y="1065123"/>
                </a:lnTo>
                <a:lnTo>
                  <a:pt x="1962144" y="1063051"/>
                </a:lnTo>
                <a:lnTo>
                  <a:pt x="2030423" y="1060178"/>
                </a:lnTo>
                <a:lnTo>
                  <a:pt x="2097829" y="1056518"/>
                </a:lnTo>
                <a:lnTo>
                  <a:pt x="2164312" y="1052089"/>
                </a:lnTo>
                <a:lnTo>
                  <a:pt x="2229820" y="1046904"/>
                </a:lnTo>
                <a:lnTo>
                  <a:pt x="2294299" y="1040981"/>
                </a:lnTo>
                <a:lnTo>
                  <a:pt x="2357699" y="1034334"/>
                </a:lnTo>
                <a:lnTo>
                  <a:pt x="2419967" y="1026980"/>
                </a:lnTo>
                <a:lnTo>
                  <a:pt x="2481052" y="1018933"/>
                </a:lnTo>
                <a:lnTo>
                  <a:pt x="2540901" y="1010210"/>
                </a:lnTo>
                <a:lnTo>
                  <a:pt x="2599462" y="1000827"/>
                </a:lnTo>
                <a:lnTo>
                  <a:pt x="2656683" y="990798"/>
                </a:lnTo>
                <a:lnTo>
                  <a:pt x="2712512" y="980140"/>
                </a:lnTo>
                <a:lnTo>
                  <a:pt x="2766898" y="968869"/>
                </a:lnTo>
                <a:lnTo>
                  <a:pt x="2819788" y="956999"/>
                </a:lnTo>
                <a:lnTo>
                  <a:pt x="2871131" y="944547"/>
                </a:lnTo>
                <a:lnTo>
                  <a:pt x="2920873" y="931528"/>
                </a:lnTo>
                <a:lnTo>
                  <a:pt x="2968964" y="917957"/>
                </a:lnTo>
                <a:lnTo>
                  <a:pt x="3015351" y="903852"/>
                </a:lnTo>
                <a:lnTo>
                  <a:pt x="3059982" y="889226"/>
                </a:lnTo>
                <a:lnTo>
                  <a:pt x="3102805" y="874097"/>
                </a:lnTo>
                <a:lnTo>
                  <a:pt x="3143769" y="858479"/>
                </a:lnTo>
                <a:lnTo>
                  <a:pt x="3182820" y="842388"/>
                </a:lnTo>
                <a:lnTo>
                  <a:pt x="3219908" y="825839"/>
                </a:lnTo>
                <a:lnTo>
                  <a:pt x="3254980" y="808850"/>
                </a:lnTo>
                <a:lnTo>
                  <a:pt x="3318868" y="773608"/>
                </a:lnTo>
                <a:lnTo>
                  <a:pt x="3374069" y="736789"/>
                </a:lnTo>
                <a:lnTo>
                  <a:pt x="3420167" y="698516"/>
                </a:lnTo>
                <a:lnTo>
                  <a:pt x="3456744" y="658915"/>
                </a:lnTo>
                <a:lnTo>
                  <a:pt x="3483386" y="618112"/>
                </a:lnTo>
                <a:lnTo>
                  <a:pt x="3499677" y="576232"/>
                </a:lnTo>
                <a:lnTo>
                  <a:pt x="3505199" y="53339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90091" y="3671564"/>
            <a:ext cx="7273925" cy="273304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698500" indent="-22860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任何个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人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都能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与公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的市场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率借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贷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资本</a:t>
            </a:r>
            <a:endParaRPr sz="2000">
              <a:latin typeface="宋体"/>
              <a:cs typeface="宋体"/>
            </a:endParaRPr>
          </a:p>
          <a:p>
            <a:pPr marL="299085" indent="-287020">
              <a:lnSpc>
                <a:spcPct val="100000"/>
              </a:lnSpc>
              <a:spcBef>
                <a:spcPts val="585"/>
              </a:spcBef>
              <a:buClr>
                <a:srgbClr val="FF6600"/>
              </a:buClr>
              <a:buFont typeface="Wingdings"/>
              <a:buChar char=""/>
              <a:tabLst>
                <a:tab pos="2997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完全信息</a:t>
            </a:r>
            <a:endParaRPr sz="2400">
              <a:latin typeface="宋体"/>
              <a:cs typeface="宋体"/>
            </a:endParaRPr>
          </a:p>
          <a:p>
            <a:pPr marL="512699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动态的权衡理论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宋体"/>
              <a:cs typeface="宋体"/>
            </a:endParaRPr>
          </a:p>
          <a:p>
            <a:pPr marL="3027045" marR="2409825" indent="304800">
              <a:lnSpc>
                <a:spcPts val="2860"/>
              </a:lnSpc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信号理论 融资优序理论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575303" y="3605784"/>
            <a:ext cx="1929764" cy="756285"/>
          </a:xfrm>
          <a:custGeom>
            <a:avLst/>
            <a:gdLst/>
            <a:ahLst/>
            <a:cxnLst/>
            <a:rect l="l" t="t" r="r" b="b"/>
            <a:pathLst>
              <a:path w="1929764" h="756285">
                <a:moveTo>
                  <a:pt x="1929383" y="755903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489960" y="3560064"/>
            <a:ext cx="113030" cy="94615"/>
          </a:xfrm>
          <a:custGeom>
            <a:avLst/>
            <a:gdLst/>
            <a:ahLst/>
            <a:cxnLst/>
            <a:rect l="l" t="t" r="r" b="b"/>
            <a:pathLst>
              <a:path w="113029" h="94614">
                <a:moveTo>
                  <a:pt x="112776" y="0"/>
                </a:moveTo>
                <a:lnTo>
                  <a:pt x="0" y="9144"/>
                </a:lnTo>
                <a:lnTo>
                  <a:pt x="76200" y="94488"/>
                </a:lnTo>
                <a:lnTo>
                  <a:pt x="1127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555155"/>
            <a:ext cx="4427220" cy="1850389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其他重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假设</a:t>
            </a:r>
            <a:endParaRPr sz="28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565"/>
              </a:spcBef>
              <a:buClr>
                <a:srgbClr val="FF6600"/>
              </a:buClr>
              <a:buFont typeface="Wingdings"/>
              <a:buChar char="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不存在破产风险</a:t>
            </a:r>
            <a:endParaRPr sz="24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580"/>
              </a:spcBef>
              <a:buClr>
                <a:srgbClr val="FF6600"/>
              </a:buClr>
              <a:buFont typeface="Wingdings"/>
              <a:buChar char="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投资者与管理者的利益一致</a:t>
            </a:r>
            <a:endParaRPr sz="24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550"/>
              </a:spcBef>
              <a:buClr>
                <a:srgbClr val="FF6600"/>
              </a:buClr>
              <a:buFont typeface="Wingdings"/>
              <a:buChar char="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融资与产品市场的竞争无关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2951" y="762000"/>
            <a:ext cx="3045460" cy="1066800"/>
          </a:xfrm>
          <a:custGeom>
            <a:avLst/>
            <a:gdLst/>
            <a:ahLst/>
            <a:cxnLst/>
            <a:rect l="l" t="t" r="r" b="b"/>
            <a:pathLst>
              <a:path w="3045459" h="1066800">
                <a:moveTo>
                  <a:pt x="3044951" y="501218"/>
                </a:moveTo>
                <a:lnTo>
                  <a:pt x="3034813" y="462721"/>
                </a:lnTo>
                <a:lnTo>
                  <a:pt x="3011889" y="417155"/>
                </a:lnTo>
                <a:lnTo>
                  <a:pt x="2978237" y="373031"/>
                </a:lnTo>
                <a:lnTo>
                  <a:pt x="2934355" y="330518"/>
                </a:lnTo>
                <a:lnTo>
                  <a:pt x="2880739" y="289787"/>
                </a:lnTo>
                <a:lnTo>
                  <a:pt x="2817886" y="251009"/>
                </a:lnTo>
                <a:lnTo>
                  <a:pt x="2783150" y="232406"/>
                </a:lnTo>
                <a:lnTo>
                  <a:pt x="2746292" y="214354"/>
                </a:lnTo>
                <a:lnTo>
                  <a:pt x="2707373" y="196876"/>
                </a:lnTo>
                <a:lnTo>
                  <a:pt x="2666456" y="179992"/>
                </a:lnTo>
                <a:lnTo>
                  <a:pt x="2623601" y="163725"/>
                </a:lnTo>
                <a:lnTo>
                  <a:pt x="2578873" y="148094"/>
                </a:lnTo>
                <a:lnTo>
                  <a:pt x="2532331" y="133122"/>
                </a:lnTo>
                <a:lnTo>
                  <a:pt x="2484040" y="118830"/>
                </a:lnTo>
                <a:lnTo>
                  <a:pt x="2434060" y="105240"/>
                </a:lnTo>
                <a:lnTo>
                  <a:pt x="2382454" y="92371"/>
                </a:lnTo>
                <a:lnTo>
                  <a:pt x="2329284" y="80246"/>
                </a:lnTo>
                <a:lnTo>
                  <a:pt x="2274611" y="68887"/>
                </a:lnTo>
                <a:lnTo>
                  <a:pt x="2218500" y="58314"/>
                </a:lnTo>
                <a:lnTo>
                  <a:pt x="2161010" y="48548"/>
                </a:lnTo>
                <a:lnTo>
                  <a:pt x="2102205" y="39611"/>
                </a:lnTo>
                <a:lnTo>
                  <a:pt x="2042146" y="31525"/>
                </a:lnTo>
                <a:lnTo>
                  <a:pt x="1980896" y="24310"/>
                </a:lnTo>
                <a:lnTo>
                  <a:pt x="1918516" y="17988"/>
                </a:lnTo>
                <a:lnTo>
                  <a:pt x="1855069" y="12580"/>
                </a:lnTo>
                <a:lnTo>
                  <a:pt x="1790617" y="8108"/>
                </a:lnTo>
                <a:lnTo>
                  <a:pt x="1725222" y="4593"/>
                </a:lnTo>
                <a:lnTo>
                  <a:pt x="1658946" y="2055"/>
                </a:lnTo>
                <a:lnTo>
                  <a:pt x="1591851" y="517"/>
                </a:lnTo>
                <a:lnTo>
                  <a:pt x="1523999" y="0"/>
                </a:lnTo>
                <a:lnTo>
                  <a:pt x="1456148" y="517"/>
                </a:lnTo>
                <a:lnTo>
                  <a:pt x="1389053" y="2055"/>
                </a:lnTo>
                <a:lnTo>
                  <a:pt x="1322777" y="4593"/>
                </a:lnTo>
                <a:lnTo>
                  <a:pt x="1257382" y="8108"/>
                </a:lnTo>
                <a:lnTo>
                  <a:pt x="1192930" y="12580"/>
                </a:lnTo>
                <a:lnTo>
                  <a:pt x="1129483" y="17988"/>
                </a:lnTo>
                <a:lnTo>
                  <a:pt x="1067103" y="24310"/>
                </a:lnTo>
                <a:lnTo>
                  <a:pt x="1005853" y="31525"/>
                </a:lnTo>
                <a:lnTo>
                  <a:pt x="945794" y="39611"/>
                </a:lnTo>
                <a:lnTo>
                  <a:pt x="886989" y="48548"/>
                </a:lnTo>
                <a:lnTo>
                  <a:pt x="829499" y="58314"/>
                </a:lnTo>
                <a:lnTo>
                  <a:pt x="773387" y="68887"/>
                </a:lnTo>
                <a:lnTo>
                  <a:pt x="718715" y="80246"/>
                </a:lnTo>
                <a:lnTo>
                  <a:pt x="665545" y="92371"/>
                </a:lnTo>
                <a:lnTo>
                  <a:pt x="613939" y="105240"/>
                </a:lnTo>
                <a:lnTo>
                  <a:pt x="563959" y="118830"/>
                </a:lnTo>
                <a:lnTo>
                  <a:pt x="515668" y="133122"/>
                </a:lnTo>
                <a:lnTo>
                  <a:pt x="469126" y="148094"/>
                </a:lnTo>
                <a:lnTo>
                  <a:pt x="424397" y="163725"/>
                </a:lnTo>
                <a:lnTo>
                  <a:pt x="381543" y="179992"/>
                </a:lnTo>
                <a:lnTo>
                  <a:pt x="340625" y="196876"/>
                </a:lnTo>
                <a:lnTo>
                  <a:pt x="301707" y="214354"/>
                </a:lnTo>
                <a:lnTo>
                  <a:pt x="264848" y="232406"/>
                </a:lnTo>
                <a:lnTo>
                  <a:pt x="230113" y="251009"/>
                </a:lnTo>
                <a:lnTo>
                  <a:pt x="167260" y="289787"/>
                </a:lnTo>
                <a:lnTo>
                  <a:pt x="113644" y="330518"/>
                </a:lnTo>
                <a:lnTo>
                  <a:pt x="69762" y="373031"/>
                </a:lnTo>
                <a:lnTo>
                  <a:pt x="36110" y="417155"/>
                </a:lnTo>
                <a:lnTo>
                  <a:pt x="13186" y="462721"/>
                </a:lnTo>
                <a:lnTo>
                  <a:pt x="1485" y="509558"/>
                </a:lnTo>
                <a:lnTo>
                  <a:pt x="0" y="533399"/>
                </a:lnTo>
                <a:lnTo>
                  <a:pt x="1485" y="557241"/>
                </a:lnTo>
                <a:lnTo>
                  <a:pt x="13186" y="604078"/>
                </a:lnTo>
                <a:lnTo>
                  <a:pt x="36110" y="649644"/>
                </a:lnTo>
                <a:lnTo>
                  <a:pt x="69762" y="693768"/>
                </a:lnTo>
                <a:lnTo>
                  <a:pt x="113644" y="736281"/>
                </a:lnTo>
                <a:lnTo>
                  <a:pt x="167260" y="777011"/>
                </a:lnTo>
                <a:lnTo>
                  <a:pt x="230113" y="815790"/>
                </a:lnTo>
                <a:lnTo>
                  <a:pt x="264848" y="834393"/>
                </a:lnTo>
                <a:lnTo>
                  <a:pt x="301707" y="852445"/>
                </a:lnTo>
                <a:lnTo>
                  <a:pt x="340625" y="869923"/>
                </a:lnTo>
                <a:lnTo>
                  <a:pt x="381543" y="886807"/>
                </a:lnTo>
                <a:lnTo>
                  <a:pt x="424397" y="903074"/>
                </a:lnTo>
                <a:lnTo>
                  <a:pt x="469126" y="918705"/>
                </a:lnTo>
                <a:lnTo>
                  <a:pt x="515668" y="933677"/>
                </a:lnTo>
                <a:lnTo>
                  <a:pt x="563959" y="947969"/>
                </a:lnTo>
                <a:lnTo>
                  <a:pt x="613939" y="961559"/>
                </a:lnTo>
                <a:lnTo>
                  <a:pt x="665545" y="974428"/>
                </a:lnTo>
                <a:lnTo>
                  <a:pt x="718715" y="986553"/>
                </a:lnTo>
                <a:lnTo>
                  <a:pt x="773387" y="997912"/>
                </a:lnTo>
                <a:lnTo>
                  <a:pt x="829499" y="1008485"/>
                </a:lnTo>
                <a:lnTo>
                  <a:pt x="886989" y="1018251"/>
                </a:lnTo>
                <a:lnTo>
                  <a:pt x="945794" y="1027188"/>
                </a:lnTo>
                <a:lnTo>
                  <a:pt x="1005853" y="1035274"/>
                </a:lnTo>
                <a:lnTo>
                  <a:pt x="1067103" y="1042489"/>
                </a:lnTo>
                <a:lnTo>
                  <a:pt x="1129483" y="1048811"/>
                </a:lnTo>
                <a:lnTo>
                  <a:pt x="1192930" y="1054219"/>
                </a:lnTo>
                <a:lnTo>
                  <a:pt x="1257382" y="1058691"/>
                </a:lnTo>
                <a:lnTo>
                  <a:pt x="1322777" y="1062206"/>
                </a:lnTo>
                <a:lnTo>
                  <a:pt x="1389053" y="1064744"/>
                </a:lnTo>
                <a:lnTo>
                  <a:pt x="1456148" y="1066282"/>
                </a:lnTo>
                <a:lnTo>
                  <a:pt x="1523999" y="1066799"/>
                </a:lnTo>
                <a:lnTo>
                  <a:pt x="1591851" y="1066282"/>
                </a:lnTo>
                <a:lnTo>
                  <a:pt x="1658946" y="1064744"/>
                </a:lnTo>
                <a:lnTo>
                  <a:pt x="1725222" y="1062206"/>
                </a:lnTo>
                <a:lnTo>
                  <a:pt x="1790617" y="1058691"/>
                </a:lnTo>
                <a:lnTo>
                  <a:pt x="1855069" y="1054219"/>
                </a:lnTo>
                <a:lnTo>
                  <a:pt x="1918516" y="1048811"/>
                </a:lnTo>
                <a:lnTo>
                  <a:pt x="1980896" y="1042489"/>
                </a:lnTo>
                <a:lnTo>
                  <a:pt x="2042146" y="1035274"/>
                </a:lnTo>
                <a:lnTo>
                  <a:pt x="2102205" y="1027188"/>
                </a:lnTo>
                <a:lnTo>
                  <a:pt x="2161010" y="1018251"/>
                </a:lnTo>
                <a:lnTo>
                  <a:pt x="2218500" y="1008485"/>
                </a:lnTo>
                <a:lnTo>
                  <a:pt x="2274611" y="997912"/>
                </a:lnTo>
                <a:lnTo>
                  <a:pt x="2329284" y="986553"/>
                </a:lnTo>
                <a:lnTo>
                  <a:pt x="2382454" y="974428"/>
                </a:lnTo>
                <a:lnTo>
                  <a:pt x="2434060" y="961559"/>
                </a:lnTo>
                <a:lnTo>
                  <a:pt x="2484040" y="947969"/>
                </a:lnTo>
                <a:lnTo>
                  <a:pt x="2532331" y="933677"/>
                </a:lnTo>
                <a:lnTo>
                  <a:pt x="2578873" y="918705"/>
                </a:lnTo>
                <a:lnTo>
                  <a:pt x="2623601" y="903074"/>
                </a:lnTo>
                <a:lnTo>
                  <a:pt x="2666456" y="886807"/>
                </a:lnTo>
                <a:lnTo>
                  <a:pt x="2707373" y="869923"/>
                </a:lnTo>
                <a:lnTo>
                  <a:pt x="2746292" y="852445"/>
                </a:lnTo>
                <a:lnTo>
                  <a:pt x="2783150" y="834393"/>
                </a:lnTo>
                <a:lnTo>
                  <a:pt x="2817886" y="815790"/>
                </a:lnTo>
                <a:lnTo>
                  <a:pt x="2880739" y="777011"/>
                </a:lnTo>
                <a:lnTo>
                  <a:pt x="2934355" y="736281"/>
                </a:lnTo>
                <a:lnTo>
                  <a:pt x="2978237" y="693768"/>
                </a:lnTo>
                <a:lnTo>
                  <a:pt x="3011889" y="649644"/>
                </a:lnTo>
                <a:lnTo>
                  <a:pt x="3034813" y="604078"/>
                </a:lnTo>
                <a:lnTo>
                  <a:pt x="3044951" y="565581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89852" y="1108964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静态权衡理论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78351" y="1481328"/>
            <a:ext cx="2502535" cy="692150"/>
          </a:xfrm>
          <a:custGeom>
            <a:avLst/>
            <a:gdLst/>
            <a:ahLst/>
            <a:cxnLst/>
            <a:rect l="l" t="t" r="r" b="b"/>
            <a:pathLst>
              <a:path w="2502535" h="692150">
                <a:moveTo>
                  <a:pt x="2502407" y="0"/>
                </a:moveTo>
                <a:lnTo>
                  <a:pt x="0" y="691895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89960" y="2127504"/>
            <a:ext cx="113030" cy="94615"/>
          </a:xfrm>
          <a:custGeom>
            <a:avLst/>
            <a:gdLst/>
            <a:ahLst/>
            <a:cxnLst/>
            <a:rect l="l" t="t" r="r" b="b"/>
            <a:pathLst>
              <a:path w="113029" h="94614">
                <a:moveTo>
                  <a:pt x="82296" y="0"/>
                </a:moveTo>
                <a:lnTo>
                  <a:pt x="0" y="76200"/>
                </a:lnTo>
                <a:lnTo>
                  <a:pt x="112776" y="94488"/>
                </a:lnTo>
                <a:lnTo>
                  <a:pt x="822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16751" y="2054352"/>
            <a:ext cx="3121660" cy="1981200"/>
          </a:xfrm>
          <a:custGeom>
            <a:avLst/>
            <a:gdLst/>
            <a:ahLst/>
            <a:cxnLst/>
            <a:rect l="l" t="t" r="r" b="b"/>
            <a:pathLst>
              <a:path w="3121659" h="1981200">
                <a:moveTo>
                  <a:pt x="3121151" y="930934"/>
                </a:moveTo>
                <a:lnTo>
                  <a:pt x="3114634" y="880513"/>
                </a:lnTo>
                <a:lnTo>
                  <a:pt x="3097942" y="809004"/>
                </a:lnTo>
                <a:lnTo>
                  <a:pt x="3073349" y="739227"/>
                </a:lnTo>
                <a:lnTo>
                  <a:pt x="3041155" y="671377"/>
                </a:lnTo>
                <a:lnTo>
                  <a:pt x="3022301" y="638235"/>
                </a:lnTo>
                <a:lnTo>
                  <a:pt x="3001660" y="605647"/>
                </a:lnTo>
                <a:lnTo>
                  <a:pt x="2979269" y="573637"/>
                </a:lnTo>
                <a:lnTo>
                  <a:pt x="2955166" y="542231"/>
                </a:lnTo>
                <a:lnTo>
                  <a:pt x="2929388" y="511451"/>
                </a:lnTo>
                <a:lnTo>
                  <a:pt x="2901973" y="481323"/>
                </a:lnTo>
                <a:lnTo>
                  <a:pt x="2872958" y="451871"/>
                </a:lnTo>
                <a:lnTo>
                  <a:pt x="2842381" y="423118"/>
                </a:lnTo>
                <a:lnTo>
                  <a:pt x="2810280" y="395090"/>
                </a:lnTo>
                <a:lnTo>
                  <a:pt x="2776691" y="367810"/>
                </a:lnTo>
                <a:lnTo>
                  <a:pt x="2741654" y="341302"/>
                </a:lnTo>
                <a:lnTo>
                  <a:pt x="2705204" y="315592"/>
                </a:lnTo>
                <a:lnTo>
                  <a:pt x="2667380" y="290702"/>
                </a:lnTo>
                <a:lnTo>
                  <a:pt x="2628220" y="266659"/>
                </a:lnTo>
                <a:lnTo>
                  <a:pt x="2587761" y="243485"/>
                </a:lnTo>
                <a:lnTo>
                  <a:pt x="2546040" y="221204"/>
                </a:lnTo>
                <a:lnTo>
                  <a:pt x="2503095" y="199842"/>
                </a:lnTo>
                <a:lnTo>
                  <a:pt x="2458963" y="179423"/>
                </a:lnTo>
                <a:lnTo>
                  <a:pt x="2413683" y="159970"/>
                </a:lnTo>
                <a:lnTo>
                  <a:pt x="2367292" y="141509"/>
                </a:lnTo>
                <a:lnTo>
                  <a:pt x="2319827" y="124062"/>
                </a:lnTo>
                <a:lnTo>
                  <a:pt x="2271326" y="107655"/>
                </a:lnTo>
                <a:lnTo>
                  <a:pt x="2221827" y="92312"/>
                </a:lnTo>
                <a:lnTo>
                  <a:pt x="2171366" y="78057"/>
                </a:lnTo>
                <a:lnTo>
                  <a:pt x="2119982" y="64914"/>
                </a:lnTo>
                <a:lnTo>
                  <a:pt x="2067713" y="52908"/>
                </a:lnTo>
                <a:lnTo>
                  <a:pt x="2014595" y="42062"/>
                </a:lnTo>
                <a:lnTo>
                  <a:pt x="1960666" y="32402"/>
                </a:lnTo>
                <a:lnTo>
                  <a:pt x="1905964" y="23951"/>
                </a:lnTo>
                <a:lnTo>
                  <a:pt x="1850527" y="16734"/>
                </a:lnTo>
                <a:lnTo>
                  <a:pt x="1794392" y="10774"/>
                </a:lnTo>
                <a:lnTo>
                  <a:pt x="1737597" y="6097"/>
                </a:lnTo>
                <a:lnTo>
                  <a:pt x="1680178" y="2725"/>
                </a:lnTo>
                <a:lnTo>
                  <a:pt x="1622175" y="685"/>
                </a:lnTo>
                <a:lnTo>
                  <a:pt x="1563623" y="0"/>
                </a:lnTo>
                <a:lnTo>
                  <a:pt x="1504869" y="685"/>
                </a:lnTo>
                <a:lnTo>
                  <a:pt x="1446672" y="2725"/>
                </a:lnTo>
                <a:lnTo>
                  <a:pt x="1389068" y="6097"/>
                </a:lnTo>
                <a:lnTo>
                  <a:pt x="1332097" y="10774"/>
                </a:lnTo>
                <a:lnTo>
                  <a:pt x="1275794" y="16734"/>
                </a:lnTo>
                <a:lnTo>
                  <a:pt x="1220198" y="23951"/>
                </a:lnTo>
                <a:lnTo>
                  <a:pt x="1165345" y="32402"/>
                </a:lnTo>
                <a:lnTo>
                  <a:pt x="1111274" y="42062"/>
                </a:lnTo>
                <a:lnTo>
                  <a:pt x="1058021" y="52908"/>
                </a:lnTo>
                <a:lnTo>
                  <a:pt x="1005623" y="64914"/>
                </a:lnTo>
                <a:lnTo>
                  <a:pt x="954119" y="78057"/>
                </a:lnTo>
                <a:lnTo>
                  <a:pt x="903545" y="92312"/>
                </a:lnTo>
                <a:lnTo>
                  <a:pt x="853939" y="107655"/>
                </a:lnTo>
                <a:lnTo>
                  <a:pt x="805338" y="124062"/>
                </a:lnTo>
                <a:lnTo>
                  <a:pt x="757780" y="141509"/>
                </a:lnTo>
                <a:lnTo>
                  <a:pt x="711301" y="159970"/>
                </a:lnTo>
                <a:lnTo>
                  <a:pt x="665940" y="179423"/>
                </a:lnTo>
                <a:lnTo>
                  <a:pt x="621733" y="199842"/>
                </a:lnTo>
                <a:lnTo>
                  <a:pt x="578718" y="221204"/>
                </a:lnTo>
                <a:lnTo>
                  <a:pt x="536933" y="243485"/>
                </a:lnTo>
                <a:lnTo>
                  <a:pt x="496414" y="266659"/>
                </a:lnTo>
                <a:lnTo>
                  <a:pt x="457199" y="290702"/>
                </a:lnTo>
                <a:lnTo>
                  <a:pt x="419326" y="315592"/>
                </a:lnTo>
                <a:lnTo>
                  <a:pt x="382831" y="341302"/>
                </a:lnTo>
                <a:lnTo>
                  <a:pt x="347753" y="367810"/>
                </a:lnTo>
                <a:lnTo>
                  <a:pt x="314128" y="395090"/>
                </a:lnTo>
                <a:lnTo>
                  <a:pt x="281994" y="423118"/>
                </a:lnTo>
                <a:lnTo>
                  <a:pt x="251387" y="451871"/>
                </a:lnTo>
                <a:lnTo>
                  <a:pt x="222347" y="481323"/>
                </a:lnTo>
                <a:lnTo>
                  <a:pt x="194909" y="511451"/>
                </a:lnTo>
                <a:lnTo>
                  <a:pt x="169111" y="542231"/>
                </a:lnTo>
                <a:lnTo>
                  <a:pt x="144991" y="573637"/>
                </a:lnTo>
                <a:lnTo>
                  <a:pt x="122586" y="605647"/>
                </a:lnTo>
                <a:lnTo>
                  <a:pt x="101933" y="638235"/>
                </a:lnTo>
                <a:lnTo>
                  <a:pt x="83070" y="671377"/>
                </a:lnTo>
                <a:lnTo>
                  <a:pt x="50862" y="739227"/>
                </a:lnTo>
                <a:lnTo>
                  <a:pt x="26261" y="809004"/>
                </a:lnTo>
                <a:lnTo>
                  <a:pt x="9566" y="880513"/>
                </a:lnTo>
                <a:lnTo>
                  <a:pt x="1075" y="953560"/>
                </a:lnTo>
                <a:lnTo>
                  <a:pt x="0" y="990599"/>
                </a:lnTo>
                <a:lnTo>
                  <a:pt x="1075" y="1027639"/>
                </a:lnTo>
                <a:lnTo>
                  <a:pt x="9566" y="1100686"/>
                </a:lnTo>
                <a:lnTo>
                  <a:pt x="26261" y="1172195"/>
                </a:lnTo>
                <a:lnTo>
                  <a:pt x="50862" y="1241971"/>
                </a:lnTo>
                <a:lnTo>
                  <a:pt x="83070" y="1309822"/>
                </a:lnTo>
                <a:lnTo>
                  <a:pt x="101933" y="1342964"/>
                </a:lnTo>
                <a:lnTo>
                  <a:pt x="122586" y="1375552"/>
                </a:lnTo>
                <a:lnTo>
                  <a:pt x="144991" y="1407562"/>
                </a:lnTo>
                <a:lnTo>
                  <a:pt x="169111" y="1438968"/>
                </a:lnTo>
                <a:lnTo>
                  <a:pt x="194909" y="1469748"/>
                </a:lnTo>
                <a:lnTo>
                  <a:pt x="222347" y="1499876"/>
                </a:lnTo>
                <a:lnTo>
                  <a:pt x="251387" y="1529328"/>
                </a:lnTo>
                <a:lnTo>
                  <a:pt x="281994" y="1558081"/>
                </a:lnTo>
                <a:lnTo>
                  <a:pt x="314128" y="1586109"/>
                </a:lnTo>
                <a:lnTo>
                  <a:pt x="347753" y="1613389"/>
                </a:lnTo>
                <a:lnTo>
                  <a:pt x="382831" y="1639897"/>
                </a:lnTo>
                <a:lnTo>
                  <a:pt x="419326" y="1665607"/>
                </a:lnTo>
                <a:lnTo>
                  <a:pt x="457199" y="1690496"/>
                </a:lnTo>
                <a:lnTo>
                  <a:pt x="496414" y="1714540"/>
                </a:lnTo>
                <a:lnTo>
                  <a:pt x="536933" y="1737714"/>
                </a:lnTo>
                <a:lnTo>
                  <a:pt x="578718" y="1759995"/>
                </a:lnTo>
                <a:lnTo>
                  <a:pt x="621733" y="1781357"/>
                </a:lnTo>
                <a:lnTo>
                  <a:pt x="665940" y="1801776"/>
                </a:lnTo>
                <a:lnTo>
                  <a:pt x="711301" y="1821229"/>
                </a:lnTo>
                <a:lnTo>
                  <a:pt x="757780" y="1839690"/>
                </a:lnTo>
                <a:lnTo>
                  <a:pt x="805338" y="1857137"/>
                </a:lnTo>
                <a:lnTo>
                  <a:pt x="853939" y="1873544"/>
                </a:lnTo>
                <a:lnTo>
                  <a:pt x="903545" y="1888887"/>
                </a:lnTo>
                <a:lnTo>
                  <a:pt x="954119" y="1903142"/>
                </a:lnTo>
                <a:lnTo>
                  <a:pt x="1005623" y="1916285"/>
                </a:lnTo>
                <a:lnTo>
                  <a:pt x="1058021" y="1928291"/>
                </a:lnTo>
                <a:lnTo>
                  <a:pt x="1111274" y="1939137"/>
                </a:lnTo>
                <a:lnTo>
                  <a:pt x="1165345" y="1948797"/>
                </a:lnTo>
                <a:lnTo>
                  <a:pt x="1220198" y="1957248"/>
                </a:lnTo>
                <a:lnTo>
                  <a:pt x="1275794" y="1964465"/>
                </a:lnTo>
                <a:lnTo>
                  <a:pt x="1332097" y="1970425"/>
                </a:lnTo>
                <a:lnTo>
                  <a:pt x="1389068" y="1975102"/>
                </a:lnTo>
                <a:lnTo>
                  <a:pt x="1446672" y="1978473"/>
                </a:lnTo>
                <a:lnTo>
                  <a:pt x="1504869" y="1980514"/>
                </a:lnTo>
                <a:lnTo>
                  <a:pt x="1563623" y="1981199"/>
                </a:lnTo>
                <a:lnTo>
                  <a:pt x="1622175" y="1980514"/>
                </a:lnTo>
                <a:lnTo>
                  <a:pt x="1680178" y="1978473"/>
                </a:lnTo>
                <a:lnTo>
                  <a:pt x="1737597" y="1975102"/>
                </a:lnTo>
                <a:lnTo>
                  <a:pt x="1794392" y="1970425"/>
                </a:lnTo>
                <a:lnTo>
                  <a:pt x="1850527" y="1964465"/>
                </a:lnTo>
                <a:lnTo>
                  <a:pt x="1905964" y="1957248"/>
                </a:lnTo>
                <a:lnTo>
                  <a:pt x="1960666" y="1948797"/>
                </a:lnTo>
                <a:lnTo>
                  <a:pt x="2014595" y="1939137"/>
                </a:lnTo>
                <a:lnTo>
                  <a:pt x="2067713" y="1928291"/>
                </a:lnTo>
                <a:lnTo>
                  <a:pt x="2119982" y="1916285"/>
                </a:lnTo>
                <a:lnTo>
                  <a:pt x="2171366" y="1903142"/>
                </a:lnTo>
                <a:lnTo>
                  <a:pt x="2221827" y="1888887"/>
                </a:lnTo>
                <a:lnTo>
                  <a:pt x="2271326" y="1873544"/>
                </a:lnTo>
                <a:lnTo>
                  <a:pt x="2319827" y="1857137"/>
                </a:lnTo>
                <a:lnTo>
                  <a:pt x="2367292" y="1839690"/>
                </a:lnTo>
                <a:lnTo>
                  <a:pt x="2413683" y="1821229"/>
                </a:lnTo>
                <a:lnTo>
                  <a:pt x="2458963" y="1801776"/>
                </a:lnTo>
                <a:lnTo>
                  <a:pt x="2503095" y="1781357"/>
                </a:lnTo>
                <a:lnTo>
                  <a:pt x="2546040" y="1759995"/>
                </a:lnTo>
                <a:lnTo>
                  <a:pt x="2587761" y="1737714"/>
                </a:lnTo>
                <a:lnTo>
                  <a:pt x="2628220" y="1714540"/>
                </a:lnTo>
                <a:lnTo>
                  <a:pt x="2667380" y="1690496"/>
                </a:lnTo>
                <a:lnTo>
                  <a:pt x="2705204" y="1665607"/>
                </a:lnTo>
                <a:lnTo>
                  <a:pt x="2741654" y="1639897"/>
                </a:lnTo>
                <a:lnTo>
                  <a:pt x="2776691" y="1613389"/>
                </a:lnTo>
                <a:lnTo>
                  <a:pt x="2810280" y="1586109"/>
                </a:lnTo>
                <a:lnTo>
                  <a:pt x="2842381" y="1558081"/>
                </a:lnTo>
                <a:lnTo>
                  <a:pt x="2872958" y="1529328"/>
                </a:lnTo>
                <a:lnTo>
                  <a:pt x="2901973" y="1499876"/>
                </a:lnTo>
                <a:lnTo>
                  <a:pt x="2929388" y="1469748"/>
                </a:lnTo>
                <a:lnTo>
                  <a:pt x="2955166" y="1438968"/>
                </a:lnTo>
                <a:lnTo>
                  <a:pt x="2979269" y="1407562"/>
                </a:lnTo>
                <a:lnTo>
                  <a:pt x="3001660" y="1375552"/>
                </a:lnTo>
                <a:lnTo>
                  <a:pt x="3022301" y="1342964"/>
                </a:lnTo>
                <a:lnTo>
                  <a:pt x="3041155" y="1309822"/>
                </a:lnTo>
                <a:lnTo>
                  <a:pt x="3073349" y="1241971"/>
                </a:lnTo>
                <a:lnTo>
                  <a:pt x="3097942" y="1172195"/>
                </a:lnTo>
                <a:lnTo>
                  <a:pt x="3114634" y="1100686"/>
                </a:lnTo>
                <a:lnTo>
                  <a:pt x="3121151" y="1050265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96076" y="2492756"/>
            <a:ext cx="27686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资本结构的代理理论 自由现金流理论</a:t>
            </a:r>
            <a:endParaRPr sz="24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管理者的隧道理论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66359" y="2511552"/>
            <a:ext cx="1003300" cy="177165"/>
          </a:xfrm>
          <a:custGeom>
            <a:avLst/>
            <a:gdLst/>
            <a:ahLst/>
            <a:cxnLst/>
            <a:rect l="l" t="t" r="r" b="b"/>
            <a:pathLst>
              <a:path w="1003300" h="177164">
                <a:moveTo>
                  <a:pt x="1002791" y="0"/>
                </a:moveTo>
                <a:lnTo>
                  <a:pt x="0" y="176783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74920" y="2639568"/>
            <a:ext cx="109855" cy="100965"/>
          </a:xfrm>
          <a:custGeom>
            <a:avLst/>
            <a:gdLst/>
            <a:ahLst/>
            <a:cxnLst/>
            <a:rect l="l" t="t" r="r" b="b"/>
            <a:pathLst>
              <a:path w="109854" h="100964">
                <a:moveTo>
                  <a:pt x="91440" y="0"/>
                </a:moveTo>
                <a:lnTo>
                  <a:pt x="0" y="70104"/>
                </a:lnTo>
                <a:lnTo>
                  <a:pt x="109728" y="100584"/>
                </a:lnTo>
                <a:lnTo>
                  <a:pt x="914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02151" y="4873752"/>
            <a:ext cx="2895600" cy="1600200"/>
          </a:xfrm>
          <a:custGeom>
            <a:avLst/>
            <a:gdLst/>
            <a:ahLst/>
            <a:cxnLst/>
            <a:rect l="l" t="t" r="r" b="b"/>
            <a:pathLst>
              <a:path w="2895600" h="1600200">
                <a:moveTo>
                  <a:pt x="2895599" y="801623"/>
                </a:moveTo>
                <a:lnTo>
                  <a:pt x="2890545" y="734316"/>
                </a:lnTo>
                <a:lnTo>
                  <a:pt x="2875650" y="668532"/>
                </a:lnTo>
                <a:lnTo>
                  <a:pt x="2851321" y="604495"/>
                </a:lnTo>
                <a:lnTo>
                  <a:pt x="2817961" y="542431"/>
                </a:lnTo>
                <a:lnTo>
                  <a:pt x="2775974" y="482562"/>
                </a:lnTo>
                <a:lnTo>
                  <a:pt x="2725766" y="425114"/>
                </a:lnTo>
                <a:lnTo>
                  <a:pt x="2697705" y="397368"/>
                </a:lnTo>
                <a:lnTo>
                  <a:pt x="2667741" y="370312"/>
                </a:lnTo>
                <a:lnTo>
                  <a:pt x="2635923" y="343973"/>
                </a:lnTo>
                <a:lnTo>
                  <a:pt x="2602302" y="318379"/>
                </a:lnTo>
                <a:lnTo>
                  <a:pt x="2566930" y="293559"/>
                </a:lnTo>
                <a:lnTo>
                  <a:pt x="2529856" y="269540"/>
                </a:lnTo>
                <a:lnTo>
                  <a:pt x="2491131" y="246351"/>
                </a:lnTo>
                <a:lnTo>
                  <a:pt x="2450806" y="224020"/>
                </a:lnTo>
                <a:lnTo>
                  <a:pt x="2408931" y="202574"/>
                </a:lnTo>
                <a:lnTo>
                  <a:pt x="2365556" y="182043"/>
                </a:lnTo>
                <a:lnTo>
                  <a:pt x="2320733" y="162453"/>
                </a:lnTo>
                <a:lnTo>
                  <a:pt x="2274512" y="143833"/>
                </a:lnTo>
                <a:lnTo>
                  <a:pt x="2226943" y="126211"/>
                </a:lnTo>
                <a:lnTo>
                  <a:pt x="2178078" y="109615"/>
                </a:lnTo>
                <a:lnTo>
                  <a:pt x="2127965" y="94073"/>
                </a:lnTo>
                <a:lnTo>
                  <a:pt x="2076657" y="79613"/>
                </a:lnTo>
                <a:lnTo>
                  <a:pt x="2024204" y="66263"/>
                </a:lnTo>
                <a:lnTo>
                  <a:pt x="1970656" y="54052"/>
                </a:lnTo>
                <a:lnTo>
                  <a:pt x="1916063" y="43007"/>
                </a:lnTo>
                <a:lnTo>
                  <a:pt x="1860477" y="33156"/>
                </a:lnTo>
                <a:lnTo>
                  <a:pt x="1803948" y="24528"/>
                </a:lnTo>
                <a:lnTo>
                  <a:pt x="1746526" y="17150"/>
                </a:lnTo>
                <a:lnTo>
                  <a:pt x="1688263" y="11051"/>
                </a:lnTo>
                <a:lnTo>
                  <a:pt x="1629207" y="6258"/>
                </a:lnTo>
                <a:lnTo>
                  <a:pt x="1569412" y="2800"/>
                </a:lnTo>
                <a:lnTo>
                  <a:pt x="1508925" y="704"/>
                </a:lnTo>
                <a:lnTo>
                  <a:pt x="1447799" y="0"/>
                </a:lnTo>
                <a:lnTo>
                  <a:pt x="1386674" y="704"/>
                </a:lnTo>
                <a:lnTo>
                  <a:pt x="1326187" y="2800"/>
                </a:lnTo>
                <a:lnTo>
                  <a:pt x="1266391" y="6258"/>
                </a:lnTo>
                <a:lnTo>
                  <a:pt x="1207336" y="11051"/>
                </a:lnTo>
                <a:lnTo>
                  <a:pt x="1149073" y="17150"/>
                </a:lnTo>
                <a:lnTo>
                  <a:pt x="1091651" y="24528"/>
                </a:lnTo>
                <a:lnTo>
                  <a:pt x="1035122" y="33156"/>
                </a:lnTo>
                <a:lnTo>
                  <a:pt x="979536" y="43007"/>
                </a:lnTo>
                <a:lnTo>
                  <a:pt x="924943" y="54052"/>
                </a:lnTo>
                <a:lnTo>
                  <a:pt x="871395" y="66263"/>
                </a:lnTo>
                <a:lnTo>
                  <a:pt x="818942" y="79613"/>
                </a:lnTo>
                <a:lnTo>
                  <a:pt x="767633" y="94073"/>
                </a:lnTo>
                <a:lnTo>
                  <a:pt x="717521" y="109615"/>
                </a:lnTo>
                <a:lnTo>
                  <a:pt x="668655" y="126211"/>
                </a:lnTo>
                <a:lnTo>
                  <a:pt x="621087" y="143833"/>
                </a:lnTo>
                <a:lnTo>
                  <a:pt x="574866" y="162453"/>
                </a:lnTo>
                <a:lnTo>
                  <a:pt x="530042" y="182043"/>
                </a:lnTo>
                <a:lnTo>
                  <a:pt x="486668" y="202574"/>
                </a:lnTo>
                <a:lnTo>
                  <a:pt x="444793" y="224020"/>
                </a:lnTo>
                <a:lnTo>
                  <a:pt x="404468" y="246351"/>
                </a:lnTo>
                <a:lnTo>
                  <a:pt x="365743" y="269540"/>
                </a:lnTo>
                <a:lnTo>
                  <a:pt x="328669" y="293559"/>
                </a:lnTo>
                <a:lnTo>
                  <a:pt x="293296" y="318379"/>
                </a:lnTo>
                <a:lnTo>
                  <a:pt x="259676" y="343973"/>
                </a:lnTo>
                <a:lnTo>
                  <a:pt x="227858" y="370312"/>
                </a:lnTo>
                <a:lnTo>
                  <a:pt x="197894" y="397368"/>
                </a:lnTo>
                <a:lnTo>
                  <a:pt x="169833" y="425114"/>
                </a:lnTo>
                <a:lnTo>
                  <a:pt x="143726" y="453522"/>
                </a:lnTo>
                <a:lnTo>
                  <a:pt x="97579" y="512208"/>
                </a:lnTo>
                <a:lnTo>
                  <a:pt x="59855" y="573203"/>
                </a:lnTo>
                <a:lnTo>
                  <a:pt x="30959" y="636281"/>
                </a:lnTo>
                <a:lnTo>
                  <a:pt x="11297" y="701220"/>
                </a:lnTo>
                <a:lnTo>
                  <a:pt x="1272" y="767794"/>
                </a:lnTo>
                <a:lnTo>
                  <a:pt x="0" y="801623"/>
                </a:lnTo>
                <a:lnTo>
                  <a:pt x="1272" y="835225"/>
                </a:lnTo>
                <a:lnTo>
                  <a:pt x="11297" y="901376"/>
                </a:lnTo>
                <a:lnTo>
                  <a:pt x="30959" y="965937"/>
                </a:lnTo>
                <a:lnTo>
                  <a:pt x="59855" y="1028680"/>
                </a:lnTo>
                <a:lnTo>
                  <a:pt x="97579" y="1089379"/>
                </a:lnTo>
                <a:lnTo>
                  <a:pt x="143726" y="1147805"/>
                </a:lnTo>
                <a:lnTo>
                  <a:pt x="169833" y="1176096"/>
                </a:lnTo>
                <a:lnTo>
                  <a:pt x="197894" y="1203734"/>
                </a:lnTo>
                <a:lnTo>
                  <a:pt x="227858" y="1230690"/>
                </a:lnTo>
                <a:lnTo>
                  <a:pt x="259676" y="1256937"/>
                </a:lnTo>
                <a:lnTo>
                  <a:pt x="293296" y="1282445"/>
                </a:lnTo>
                <a:lnTo>
                  <a:pt x="328669" y="1307187"/>
                </a:lnTo>
                <a:lnTo>
                  <a:pt x="365743" y="1331135"/>
                </a:lnTo>
                <a:lnTo>
                  <a:pt x="404468" y="1354259"/>
                </a:lnTo>
                <a:lnTo>
                  <a:pt x="444793" y="1376532"/>
                </a:lnTo>
                <a:lnTo>
                  <a:pt x="486668" y="1397924"/>
                </a:lnTo>
                <a:lnTo>
                  <a:pt x="530042" y="1418409"/>
                </a:lnTo>
                <a:lnTo>
                  <a:pt x="574866" y="1437957"/>
                </a:lnTo>
                <a:lnTo>
                  <a:pt x="621087" y="1456540"/>
                </a:lnTo>
                <a:lnTo>
                  <a:pt x="668655" y="1474129"/>
                </a:lnTo>
                <a:lnTo>
                  <a:pt x="717521" y="1490697"/>
                </a:lnTo>
                <a:lnTo>
                  <a:pt x="767633" y="1506215"/>
                </a:lnTo>
                <a:lnTo>
                  <a:pt x="818942" y="1520654"/>
                </a:lnTo>
                <a:lnTo>
                  <a:pt x="871395" y="1533987"/>
                </a:lnTo>
                <a:lnTo>
                  <a:pt x="924943" y="1546185"/>
                </a:lnTo>
                <a:lnTo>
                  <a:pt x="979536" y="1557218"/>
                </a:lnTo>
                <a:lnTo>
                  <a:pt x="1035122" y="1567060"/>
                </a:lnTo>
                <a:lnTo>
                  <a:pt x="1091651" y="1575682"/>
                </a:lnTo>
                <a:lnTo>
                  <a:pt x="1149073" y="1583055"/>
                </a:lnTo>
                <a:lnTo>
                  <a:pt x="1207336" y="1589152"/>
                </a:lnTo>
                <a:lnTo>
                  <a:pt x="1266391" y="1593943"/>
                </a:lnTo>
                <a:lnTo>
                  <a:pt x="1326187" y="1597400"/>
                </a:lnTo>
                <a:lnTo>
                  <a:pt x="1386674" y="1599495"/>
                </a:lnTo>
                <a:lnTo>
                  <a:pt x="1447799" y="1600199"/>
                </a:lnTo>
                <a:lnTo>
                  <a:pt x="1508925" y="1599495"/>
                </a:lnTo>
                <a:lnTo>
                  <a:pt x="1569412" y="1597400"/>
                </a:lnTo>
                <a:lnTo>
                  <a:pt x="1629207" y="1593943"/>
                </a:lnTo>
                <a:lnTo>
                  <a:pt x="1688263" y="1589152"/>
                </a:lnTo>
                <a:lnTo>
                  <a:pt x="1746526" y="1583055"/>
                </a:lnTo>
                <a:lnTo>
                  <a:pt x="1803948" y="1575682"/>
                </a:lnTo>
                <a:lnTo>
                  <a:pt x="1860477" y="1567060"/>
                </a:lnTo>
                <a:lnTo>
                  <a:pt x="1916063" y="1557218"/>
                </a:lnTo>
                <a:lnTo>
                  <a:pt x="1970656" y="1546185"/>
                </a:lnTo>
                <a:lnTo>
                  <a:pt x="2024204" y="1533987"/>
                </a:lnTo>
                <a:lnTo>
                  <a:pt x="2076657" y="1520654"/>
                </a:lnTo>
                <a:lnTo>
                  <a:pt x="2127965" y="1506215"/>
                </a:lnTo>
                <a:lnTo>
                  <a:pt x="2178078" y="1490697"/>
                </a:lnTo>
                <a:lnTo>
                  <a:pt x="2226943" y="1474129"/>
                </a:lnTo>
                <a:lnTo>
                  <a:pt x="2274512" y="1456540"/>
                </a:lnTo>
                <a:lnTo>
                  <a:pt x="2320733" y="1437957"/>
                </a:lnTo>
                <a:lnTo>
                  <a:pt x="2365556" y="1418409"/>
                </a:lnTo>
                <a:lnTo>
                  <a:pt x="2408931" y="1397924"/>
                </a:lnTo>
                <a:lnTo>
                  <a:pt x="2450806" y="1376532"/>
                </a:lnTo>
                <a:lnTo>
                  <a:pt x="2491131" y="1354259"/>
                </a:lnTo>
                <a:lnTo>
                  <a:pt x="2529856" y="1331135"/>
                </a:lnTo>
                <a:lnTo>
                  <a:pt x="2566930" y="1307187"/>
                </a:lnTo>
                <a:lnTo>
                  <a:pt x="2602302" y="1282445"/>
                </a:lnTo>
                <a:lnTo>
                  <a:pt x="2635923" y="1256937"/>
                </a:lnTo>
                <a:lnTo>
                  <a:pt x="2667741" y="1230690"/>
                </a:lnTo>
                <a:lnTo>
                  <a:pt x="2697705" y="1203734"/>
                </a:lnTo>
                <a:lnTo>
                  <a:pt x="2725766" y="1176096"/>
                </a:lnTo>
                <a:lnTo>
                  <a:pt x="2751873" y="1147805"/>
                </a:lnTo>
                <a:lnTo>
                  <a:pt x="2798020" y="1089379"/>
                </a:lnTo>
                <a:lnTo>
                  <a:pt x="2835744" y="1028680"/>
                </a:lnTo>
                <a:lnTo>
                  <a:pt x="2864640" y="965937"/>
                </a:lnTo>
                <a:lnTo>
                  <a:pt x="2884302" y="901376"/>
                </a:lnTo>
                <a:lnTo>
                  <a:pt x="2894327" y="835225"/>
                </a:lnTo>
                <a:lnTo>
                  <a:pt x="2895599" y="801623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565652" y="5485892"/>
            <a:ext cx="2768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债务－产品市场理论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59479" y="3508248"/>
            <a:ext cx="698500" cy="1408430"/>
          </a:xfrm>
          <a:custGeom>
            <a:avLst/>
            <a:gdLst/>
            <a:ahLst/>
            <a:cxnLst/>
            <a:rect l="l" t="t" r="r" b="b"/>
            <a:pathLst>
              <a:path w="698500" h="1408429">
                <a:moveTo>
                  <a:pt x="697991" y="1408175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16808" y="3429000"/>
            <a:ext cx="91440" cy="109855"/>
          </a:xfrm>
          <a:custGeom>
            <a:avLst/>
            <a:gdLst/>
            <a:ahLst/>
            <a:cxnLst/>
            <a:rect l="l" t="t" r="r" b="b"/>
            <a:pathLst>
              <a:path w="91439" h="109854">
                <a:moveTo>
                  <a:pt x="0" y="0"/>
                </a:moveTo>
                <a:lnTo>
                  <a:pt x="0" y="109728"/>
                </a:lnTo>
                <a:lnTo>
                  <a:pt x="91440" y="670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477516" y="468884"/>
            <a:ext cx="420433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>
                <a:latin typeface="Arial"/>
                <a:cs typeface="Arial"/>
              </a:rPr>
              <a:t>M</a:t>
            </a:r>
            <a:r>
              <a:rPr dirty="0" spc="-5">
                <a:latin typeface="Arial"/>
                <a:cs typeface="Arial"/>
              </a:rPr>
              <a:t>M</a:t>
            </a:r>
            <a:r>
              <a:rPr dirty="0" spc="5"/>
              <a:t>的假设</a:t>
            </a:r>
            <a:r>
              <a:rPr dirty="0" spc="-20"/>
              <a:t>（</a:t>
            </a:r>
            <a:r>
              <a:rPr dirty="0" spc="5"/>
              <a:t>续</a:t>
            </a:r>
            <a:r>
              <a:rPr dirty="0" spc="-25">
                <a:latin typeface="Arial"/>
                <a:cs typeface="Arial"/>
              </a:rPr>
              <a:t>1</a:t>
            </a:r>
            <a:r>
              <a:rPr dirty="0" spc="5"/>
              <a:t>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555155"/>
            <a:ext cx="7780020" cy="265493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其他假定</a:t>
            </a:r>
            <a:endParaRPr sz="28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56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公司仅使用长期债务和普通股这两类资本</a:t>
            </a:r>
            <a:endParaRPr sz="2400">
              <a:latin typeface="宋体"/>
              <a:cs typeface="宋体"/>
            </a:endParaRPr>
          </a:p>
          <a:p>
            <a:pPr marL="756285" marR="5080" indent="-287020">
              <a:lnSpc>
                <a:spcPct val="100000"/>
              </a:lnSpc>
              <a:spcBef>
                <a:spcPts val="58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公司总资产是固定的，但是可通过出售债券赎回普通 股或者相反的操作改变其资本结构</a:t>
            </a:r>
            <a:endParaRPr sz="24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55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公司所有盈利均以现金股利的形式支付给股东</a:t>
            </a:r>
            <a:endParaRPr sz="24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公司的净现金流量保持不变，即无增长。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65323" y="609092"/>
            <a:ext cx="420433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>
                <a:latin typeface="Arial"/>
                <a:cs typeface="Arial"/>
              </a:rPr>
              <a:t>M</a:t>
            </a:r>
            <a:r>
              <a:rPr dirty="0" spc="-5">
                <a:latin typeface="Arial"/>
                <a:cs typeface="Arial"/>
              </a:rPr>
              <a:t>M</a:t>
            </a:r>
            <a:r>
              <a:rPr dirty="0" spc="5"/>
              <a:t>的假设</a:t>
            </a:r>
            <a:r>
              <a:rPr dirty="0" spc="-20"/>
              <a:t>（</a:t>
            </a:r>
            <a:r>
              <a:rPr dirty="0" spc="5"/>
              <a:t>续</a:t>
            </a:r>
            <a:r>
              <a:rPr dirty="0" spc="-25">
                <a:latin typeface="Arial"/>
                <a:cs typeface="Arial"/>
              </a:rPr>
              <a:t>2</a:t>
            </a:r>
            <a:r>
              <a:rPr dirty="0" spc="5"/>
              <a:t>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5532" y="609092"/>
            <a:ext cx="392430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>
                <a:latin typeface="Arial"/>
                <a:cs typeface="Arial"/>
              </a:rPr>
              <a:t>M</a:t>
            </a:r>
            <a:r>
              <a:rPr dirty="0" spc="-5">
                <a:latin typeface="Arial"/>
                <a:cs typeface="Arial"/>
              </a:rPr>
              <a:t>M</a:t>
            </a:r>
            <a:r>
              <a:rPr dirty="0" spc="5"/>
              <a:t>所使用</a:t>
            </a:r>
            <a:r>
              <a:rPr dirty="0" spc="-20"/>
              <a:t>的</a:t>
            </a:r>
            <a:r>
              <a:rPr dirty="0" spc="5"/>
              <a:t>符号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691" y="1555191"/>
            <a:ext cx="7421880" cy="45548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24485" indent="-287020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D：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场价值</a:t>
            </a:r>
            <a:endParaRPr sz="2800">
              <a:latin typeface="宋体"/>
              <a:cs typeface="宋体"/>
            </a:endParaRPr>
          </a:p>
          <a:p>
            <a:pPr marL="324485" indent="-287020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E：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股）的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市场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endParaRPr sz="2800">
              <a:latin typeface="宋体"/>
              <a:cs typeface="宋体"/>
            </a:endParaRPr>
          </a:p>
          <a:p>
            <a:pPr marL="324485" indent="-287020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V：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价值</a:t>
            </a:r>
            <a:endParaRPr sz="2800">
              <a:latin typeface="宋体"/>
              <a:cs typeface="宋体"/>
            </a:endParaRPr>
          </a:p>
          <a:p>
            <a:pPr marL="324485" indent="-287020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NOI：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净营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利润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相当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EBIT）</a:t>
            </a:r>
            <a:endParaRPr sz="2800">
              <a:latin typeface="宋体"/>
              <a:cs typeface="宋体"/>
            </a:endParaRPr>
          </a:p>
          <a:p>
            <a:pPr marL="324485" indent="-287020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NI：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入（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相当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于税前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润）</a:t>
            </a:r>
            <a:endParaRPr sz="2800">
              <a:latin typeface="宋体"/>
              <a:cs typeface="宋体"/>
            </a:endParaRPr>
          </a:p>
          <a:p>
            <a:pPr marL="324485" indent="-287020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K</a:t>
            </a:r>
            <a:r>
              <a:rPr dirty="0" baseline="-20467" sz="2850">
                <a:solidFill>
                  <a:srgbClr val="FFFFFF"/>
                </a:solidFill>
                <a:latin typeface="宋体"/>
                <a:cs typeface="宋体"/>
              </a:rPr>
              <a:t>e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边际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本成本</a:t>
            </a:r>
            <a:endParaRPr sz="2800">
              <a:latin typeface="宋体"/>
              <a:cs typeface="宋体"/>
            </a:endParaRPr>
          </a:p>
          <a:p>
            <a:pPr marL="324485" marR="30480" indent="-287020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K</a:t>
            </a:r>
            <a:r>
              <a:rPr dirty="0" baseline="-20467" sz="2850" spc="7">
                <a:solidFill>
                  <a:srgbClr val="FFFFFF"/>
                </a:solidFill>
                <a:latin typeface="宋体"/>
                <a:cs typeface="宋体"/>
              </a:rPr>
              <a:t>d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边际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本（在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述假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，相当于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无风险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率）</a:t>
            </a:r>
            <a:endParaRPr sz="2800">
              <a:latin typeface="宋体"/>
              <a:cs typeface="宋体"/>
            </a:endParaRPr>
          </a:p>
          <a:p>
            <a:pPr marL="324485" indent="-287020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K：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本成本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1604" y="1555191"/>
            <a:ext cx="7894320" cy="361632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24485" indent="-287020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L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杠杆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endParaRPr sz="2800">
              <a:latin typeface="宋体"/>
              <a:cs typeface="宋体"/>
            </a:endParaRPr>
          </a:p>
          <a:p>
            <a:pPr marL="324485" indent="-287020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U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杠杆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endParaRPr sz="2800">
              <a:latin typeface="宋体"/>
              <a:cs typeface="宋体"/>
            </a:endParaRPr>
          </a:p>
          <a:p>
            <a:pPr marL="324485" indent="-287020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a：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买的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份比例</a:t>
            </a:r>
            <a:endParaRPr sz="2800">
              <a:latin typeface="宋体"/>
              <a:cs typeface="宋体"/>
            </a:endParaRPr>
          </a:p>
          <a:p>
            <a:pPr marL="324485" indent="-287020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baseline="-20467" sz="2850">
                <a:solidFill>
                  <a:srgbClr val="FFFFFF"/>
                </a:solidFill>
                <a:latin typeface="宋体"/>
                <a:cs typeface="宋体"/>
              </a:rPr>
              <a:t>c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得税</a:t>
            </a:r>
            <a:endParaRPr sz="2800">
              <a:latin typeface="宋体"/>
              <a:cs typeface="宋体"/>
            </a:endParaRPr>
          </a:p>
          <a:p>
            <a:pPr marL="324485" indent="-287020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baseline="-20467" sz="2850">
                <a:solidFill>
                  <a:srgbClr val="FFFFFF"/>
                </a:solidFill>
                <a:latin typeface="宋体"/>
                <a:cs typeface="宋体"/>
              </a:rPr>
              <a:t>pd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所得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税（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对利息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征税）</a:t>
            </a:r>
            <a:endParaRPr sz="2800">
              <a:latin typeface="宋体"/>
              <a:cs typeface="宋体"/>
            </a:endParaRPr>
          </a:p>
          <a:p>
            <a:pPr marL="324485" indent="-287020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T</a:t>
            </a:r>
            <a:r>
              <a:rPr dirty="0" baseline="-20467" sz="2850">
                <a:solidFill>
                  <a:srgbClr val="FFFFFF"/>
                </a:solidFill>
                <a:latin typeface="宋体"/>
                <a:cs typeface="宋体"/>
              </a:rPr>
              <a:t>pe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所得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税（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对股利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者资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得的征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324485" indent="-287020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3251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一般地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，T</a:t>
            </a:r>
            <a:r>
              <a:rPr dirty="0" baseline="-20467" sz="2850" spc="-7">
                <a:solidFill>
                  <a:srgbClr val="FFFFFF"/>
                </a:solidFill>
                <a:latin typeface="宋体"/>
                <a:cs typeface="宋体"/>
              </a:rPr>
              <a:t>pe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&lt;T</a:t>
            </a:r>
            <a:r>
              <a:rPr dirty="0" baseline="-20467" sz="2850" spc="-7">
                <a:solidFill>
                  <a:srgbClr val="FFFFFF"/>
                </a:solidFill>
                <a:latin typeface="宋体"/>
                <a:cs typeface="宋体"/>
              </a:rPr>
              <a:t>pd</a:t>
            </a:r>
            <a:endParaRPr baseline="-20467" sz="285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3532" y="609092"/>
            <a:ext cx="544830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MM</a:t>
            </a:r>
            <a:r>
              <a:rPr dirty="0" spc="5"/>
              <a:t>所使用</a:t>
            </a:r>
            <a:r>
              <a:rPr dirty="0" spc="-20"/>
              <a:t>的</a:t>
            </a:r>
            <a:r>
              <a:rPr dirty="0" spc="5"/>
              <a:t>符号（</a:t>
            </a:r>
            <a:r>
              <a:rPr dirty="0" spc="-20"/>
              <a:t>续</a:t>
            </a:r>
            <a:r>
              <a:rPr dirty="0" spc="5"/>
              <a:t>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4" y="639572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企业定</a:t>
            </a:r>
            <a:r>
              <a:rPr dirty="0" spc="-20"/>
              <a:t>价</a:t>
            </a:r>
            <a:r>
              <a:rPr dirty="0" spc="5"/>
              <a:t>的</a:t>
            </a:r>
            <a:r>
              <a:rPr dirty="0" spc="-20"/>
              <a:t>基</a:t>
            </a:r>
            <a:r>
              <a:rPr dirty="0" spc="5"/>
              <a:t>本方法</a:t>
            </a:r>
          </a:p>
        </p:txBody>
      </p:sp>
      <p:sp>
        <p:nvSpPr>
          <p:cNvPr id="3" name="object 3"/>
          <p:cNvSpPr/>
          <p:nvPr/>
        </p:nvSpPr>
        <p:spPr>
          <a:xfrm>
            <a:off x="2840736" y="2706624"/>
            <a:ext cx="3023870" cy="914400"/>
          </a:xfrm>
          <a:custGeom>
            <a:avLst/>
            <a:gdLst/>
            <a:ahLst/>
            <a:cxnLst/>
            <a:rect l="l" t="t" r="r" b="b"/>
            <a:pathLst>
              <a:path w="3023870" h="914400">
                <a:moveTo>
                  <a:pt x="0" y="0"/>
                </a:moveTo>
                <a:lnTo>
                  <a:pt x="0" y="914400"/>
                </a:lnTo>
                <a:lnTo>
                  <a:pt x="3023616" y="914400"/>
                </a:lnTo>
                <a:lnTo>
                  <a:pt x="3023616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88079" y="3179064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 h="0">
                <a:moveTo>
                  <a:pt x="0" y="0"/>
                </a:moveTo>
                <a:lnTo>
                  <a:pt x="2093975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33400" y="4002024"/>
            <a:ext cx="8202295" cy="914400"/>
          </a:xfrm>
          <a:custGeom>
            <a:avLst/>
            <a:gdLst/>
            <a:ahLst/>
            <a:cxnLst/>
            <a:rect l="l" t="t" r="r" b="b"/>
            <a:pathLst>
              <a:path w="8202295" h="914400">
                <a:moveTo>
                  <a:pt x="0" y="0"/>
                </a:moveTo>
                <a:lnTo>
                  <a:pt x="0" y="914400"/>
                </a:lnTo>
                <a:lnTo>
                  <a:pt x="8202168" y="914400"/>
                </a:lnTo>
                <a:lnTo>
                  <a:pt x="82021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63951" y="4474464"/>
            <a:ext cx="1884045" cy="0"/>
          </a:xfrm>
          <a:custGeom>
            <a:avLst/>
            <a:gdLst/>
            <a:ahLst/>
            <a:cxnLst/>
            <a:rect l="l" t="t" r="r" b="b"/>
            <a:pathLst>
              <a:path w="1884045" h="0">
                <a:moveTo>
                  <a:pt x="0" y="0"/>
                </a:moveTo>
                <a:lnTo>
                  <a:pt x="1883663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663183" y="4474464"/>
            <a:ext cx="2987040" cy="0"/>
          </a:xfrm>
          <a:custGeom>
            <a:avLst/>
            <a:gdLst/>
            <a:ahLst/>
            <a:cxnLst/>
            <a:rect l="l" t="t" r="r" b="b"/>
            <a:pathLst>
              <a:path w="2987040" h="0">
                <a:moveTo>
                  <a:pt x="0" y="0"/>
                </a:moveTo>
                <a:lnTo>
                  <a:pt x="2987039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2091" y="1530252"/>
            <a:ext cx="8164195" cy="339344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407670" indent="-344805">
              <a:lnSpc>
                <a:spcPct val="100000"/>
              </a:lnSpc>
              <a:spcBef>
                <a:spcPts val="795"/>
              </a:spcBef>
              <a:buClr>
                <a:srgbClr val="FF6600"/>
              </a:buClr>
              <a:buChar char="•"/>
              <a:tabLst>
                <a:tab pos="407670" algn="l"/>
                <a:tab pos="408305" algn="l"/>
              </a:tabLst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NI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方法</a:t>
            </a:r>
            <a:endParaRPr sz="2800">
              <a:latin typeface="宋体"/>
              <a:cs typeface="宋体"/>
            </a:endParaRPr>
          </a:p>
          <a:p>
            <a:pPr marL="520065">
              <a:lnSpc>
                <a:spcPct val="100000"/>
              </a:lnSpc>
              <a:spcBef>
                <a:spcPts val="59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dirty="0" baseline="-20833" sz="2400" spc="-7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dirty="0" baseline="-20833" sz="2400" spc="-7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均为常数，且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dirty="0" baseline="-20833" sz="2400" spc="-7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&gt;k</a:t>
            </a:r>
            <a:r>
              <a:rPr dirty="0" baseline="-20833" sz="2400" spc="-7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endParaRPr sz="2400">
              <a:latin typeface="宋体"/>
              <a:cs typeface="宋体"/>
            </a:endParaRPr>
          </a:p>
          <a:p>
            <a:pPr algn="ctr" marR="516255">
              <a:lnSpc>
                <a:spcPct val="100000"/>
              </a:lnSpc>
              <a:spcBef>
                <a:spcPts val="1545"/>
              </a:spcBef>
              <a:tabLst>
                <a:tab pos="405130" algn="l"/>
                <a:tab pos="816610" algn="l"/>
                <a:tab pos="1724660" algn="l"/>
                <a:tab pos="2066289" algn="l"/>
              </a:tabLst>
            </a:pPr>
            <a:r>
              <a:rPr dirty="0" baseline="-35353" sz="4125" spc="30" i="1">
                <a:latin typeface="Times New Roman"/>
                <a:cs typeface="Times New Roman"/>
              </a:rPr>
              <a:t>E	</a:t>
            </a:r>
            <a:r>
              <a:rPr dirty="0" baseline="-35353" sz="4125" spc="22">
                <a:latin typeface="Symbol"/>
                <a:cs typeface="Symbol"/>
              </a:rPr>
              <a:t></a:t>
            </a:r>
            <a:r>
              <a:rPr dirty="0" baseline="-35353" sz="4125" spc="22">
                <a:latin typeface="Times New Roman"/>
                <a:cs typeface="Times New Roman"/>
              </a:rPr>
              <a:t>	</a:t>
            </a:r>
            <a:r>
              <a:rPr dirty="0" sz="2750" spc="10" i="1">
                <a:latin typeface="Times New Roman"/>
                <a:cs typeface="Times New Roman"/>
              </a:rPr>
              <a:t>NOI	</a:t>
            </a:r>
            <a:r>
              <a:rPr dirty="0" sz="2750" spc="-1225">
                <a:latin typeface="Symbol"/>
                <a:cs typeface="Symbol"/>
              </a:rPr>
              <a:t></a:t>
            </a:r>
            <a:r>
              <a:rPr dirty="0" sz="2750" spc="-1225">
                <a:latin typeface="Times New Roman"/>
                <a:cs typeface="Times New Roman"/>
              </a:rPr>
              <a:t>	</a:t>
            </a:r>
            <a:r>
              <a:rPr dirty="0" sz="2750" spc="20" i="1">
                <a:latin typeface="Times New Roman"/>
                <a:cs typeface="Times New Roman"/>
              </a:rPr>
              <a:t>K</a:t>
            </a:r>
            <a:r>
              <a:rPr dirty="0" sz="2750" spc="-325" i="1">
                <a:latin typeface="Times New Roman"/>
                <a:cs typeface="Times New Roman"/>
              </a:rPr>
              <a:t> </a:t>
            </a:r>
            <a:r>
              <a:rPr dirty="0" sz="1600" i="1">
                <a:latin typeface="Times New Roman"/>
                <a:cs typeface="Times New Roman"/>
              </a:rPr>
              <a:t>d </a:t>
            </a:r>
            <a:r>
              <a:rPr dirty="0" sz="2750" spc="20" i="1">
                <a:latin typeface="Times New Roman"/>
                <a:cs typeface="Times New Roman"/>
              </a:rPr>
              <a:t>D</a:t>
            </a:r>
            <a:endParaRPr sz="2750">
              <a:latin typeface="Times New Roman"/>
              <a:cs typeface="Times New Roman"/>
            </a:endParaRPr>
          </a:p>
          <a:p>
            <a:pPr algn="ctr" marL="332105">
              <a:lnSpc>
                <a:spcPct val="100000"/>
              </a:lnSpc>
              <a:spcBef>
                <a:spcPts val="635"/>
              </a:spcBef>
            </a:pPr>
            <a:r>
              <a:rPr dirty="0" sz="2750" spc="20" i="1">
                <a:latin typeface="Times New Roman"/>
                <a:cs typeface="Times New Roman"/>
              </a:rPr>
              <a:t>K</a:t>
            </a:r>
            <a:r>
              <a:rPr dirty="0" sz="2750" spc="-150" i="1">
                <a:latin typeface="Times New Roman"/>
                <a:cs typeface="Times New Roman"/>
              </a:rPr>
              <a:t> </a:t>
            </a:r>
            <a:r>
              <a:rPr dirty="0" sz="1600" i="1">
                <a:latin typeface="Times New Roman"/>
                <a:cs typeface="Times New Roman"/>
              </a:rPr>
              <a:t>e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50">
              <a:latin typeface="Times New Roman"/>
              <a:cs typeface="Times New Roman"/>
            </a:endParaRPr>
          </a:p>
          <a:p>
            <a:pPr marL="75565">
              <a:lnSpc>
                <a:spcPct val="100000"/>
              </a:lnSpc>
              <a:spcBef>
                <a:spcPts val="5"/>
              </a:spcBef>
              <a:tabLst>
                <a:tab pos="477520" algn="l"/>
                <a:tab pos="807085" algn="l"/>
                <a:tab pos="1855470" algn="l"/>
                <a:tab pos="2226945" algn="l"/>
                <a:tab pos="3044190" algn="l"/>
                <a:tab pos="4147185" algn="l"/>
                <a:tab pos="4857750" algn="l"/>
                <a:tab pos="5229225" algn="l"/>
                <a:tab pos="6046470" algn="l"/>
              </a:tabLst>
            </a:pPr>
            <a:r>
              <a:rPr dirty="0" baseline="-35353" sz="4125" spc="30" i="1">
                <a:latin typeface="Times New Roman"/>
                <a:cs typeface="Times New Roman"/>
              </a:rPr>
              <a:t>V	</a:t>
            </a:r>
            <a:r>
              <a:rPr dirty="0" baseline="-35353" sz="4125" spc="22">
                <a:latin typeface="Symbol"/>
                <a:cs typeface="Symbol"/>
              </a:rPr>
              <a:t></a:t>
            </a:r>
            <a:r>
              <a:rPr dirty="0" baseline="-35353" sz="4125" spc="22">
                <a:latin typeface="Times New Roman"/>
                <a:cs typeface="Times New Roman"/>
              </a:rPr>
              <a:t>	</a:t>
            </a:r>
            <a:r>
              <a:rPr dirty="0" baseline="-35353" sz="4125" spc="30" i="1">
                <a:latin typeface="Times New Roman"/>
                <a:cs typeface="Times New Roman"/>
              </a:rPr>
              <a:t>E</a:t>
            </a:r>
            <a:r>
              <a:rPr dirty="0" baseline="-35353" sz="4125" spc="412" i="1">
                <a:latin typeface="Times New Roman"/>
                <a:cs typeface="Times New Roman"/>
              </a:rPr>
              <a:t> </a:t>
            </a:r>
            <a:r>
              <a:rPr dirty="0" baseline="-35353" sz="4125" spc="22">
                <a:latin typeface="Symbol"/>
                <a:cs typeface="Symbol"/>
              </a:rPr>
              <a:t></a:t>
            </a:r>
            <a:r>
              <a:rPr dirty="0" baseline="-35353" sz="4125" spc="390">
                <a:latin typeface="Times New Roman"/>
                <a:cs typeface="Times New Roman"/>
              </a:rPr>
              <a:t> </a:t>
            </a:r>
            <a:r>
              <a:rPr dirty="0" baseline="-35353" sz="4125" spc="30" i="1">
                <a:latin typeface="Times New Roman"/>
                <a:cs typeface="Times New Roman"/>
              </a:rPr>
              <a:t>D	</a:t>
            </a:r>
            <a:r>
              <a:rPr dirty="0" baseline="-35353" sz="4125" spc="22">
                <a:latin typeface="Symbol"/>
                <a:cs typeface="Symbol"/>
              </a:rPr>
              <a:t></a:t>
            </a:r>
            <a:r>
              <a:rPr dirty="0" baseline="-35353" sz="4125" spc="22">
                <a:latin typeface="Times New Roman"/>
                <a:cs typeface="Times New Roman"/>
              </a:rPr>
              <a:t>	</a:t>
            </a:r>
            <a:r>
              <a:rPr dirty="0" sz="2750" spc="10" i="1">
                <a:latin typeface="Times New Roman"/>
                <a:cs typeface="Times New Roman"/>
              </a:rPr>
              <a:t>NOI	</a:t>
            </a:r>
            <a:r>
              <a:rPr dirty="0" sz="2750" spc="-1225">
                <a:latin typeface="Symbol"/>
                <a:cs typeface="Symbol"/>
              </a:rPr>
              <a:t></a:t>
            </a:r>
            <a:r>
              <a:rPr dirty="0" sz="2750" spc="185">
                <a:latin typeface="Times New Roman"/>
                <a:cs typeface="Times New Roman"/>
              </a:rPr>
              <a:t> </a:t>
            </a:r>
            <a:r>
              <a:rPr dirty="0" sz="2750" spc="20" i="1">
                <a:latin typeface="Times New Roman"/>
                <a:cs typeface="Times New Roman"/>
              </a:rPr>
              <a:t>K</a:t>
            </a:r>
            <a:r>
              <a:rPr dirty="0" sz="2750" spc="-385" i="1">
                <a:latin typeface="Times New Roman"/>
                <a:cs typeface="Times New Roman"/>
              </a:rPr>
              <a:t> </a:t>
            </a:r>
            <a:r>
              <a:rPr dirty="0" sz="1600" i="1">
                <a:latin typeface="Times New Roman"/>
                <a:cs typeface="Times New Roman"/>
              </a:rPr>
              <a:t>d</a:t>
            </a:r>
            <a:r>
              <a:rPr dirty="0" sz="1600" spc="-245" i="1">
                <a:latin typeface="Times New Roman"/>
                <a:cs typeface="Times New Roman"/>
              </a:rPr>
              <a:t> </a:t>
            </a:r>
            <a:r>
              <a:rPr dirty="0" sz="2750" spc="20" i="1">
                <a:latin typeface="Times New Roman"/>
                <a:cs typeface="Times New Roman"/>
              </a:rPr>
              <a:t>D	</a:t>
            </a:r>
            <a:r>
              <a:rPr dirty="0" baseline="-35353" sz="4125" spc="22">
                <a:latin typeface="Symbol"/>
                <a:cs typeface="Symbol"/>
              </a:rPr>
              <a:t></a:t>
            </a:r>
            <a:r>
              <a:rPr dirty="0" baseline="-35353" sz="4125" spc="390">
                <a:latin typeface="Times New Roman"/>
                <a:cs typeface="Times New Roman"/>
              </a:rPr>
              <a:t> </a:t>
            </a:r>
            <a:r>
              <a:rPr dirty="0" baseline="-35353" sz="4125" spc="30" i="1">
                <a:latin typeface="Times New Roman"/>
                <a:cs typeface="Times New Roman"/>
              </a:rPr>
              <a:t>D	</a:t>
            </a:r>
            <a:r>
              <a:rPr dirty="0" baseline="-35353" sz="4125" spc="22">
                <a:latin typeface="Symbol"/>
                <a:cs typeface="Symbol"/>
              </a:rPr>
              <a:t></a:t>
            </a:r>
            <a:r>
              <a:rPr dirty="0" baseline="-35353" sz="4125" spc="22">
                <a:latin typeface="Times New Roman"/>
                <a:cs typeface="Times New Roman"/>
              </a:rPr>
              <a:t>	</a:t>
            </a:r>
            <a:r>
              <a:rPr dirty="0" sz="2750" spc="10" i="1">
                <a:latin typeface="Times New Roman"/>
                <a:cs typeface="Times New Roman"/>
              </a:rPr>
              <a:t>NOI	</a:t>
            </a:r>
            <a:r>
              <a:rPr dirty="0" sz="2750" spc="15">
                <a:latin typeface="Symbol"/>
                <a:cs typeface="Symbol"/>
              </a:rPr>
              <a:t></a:t>
            </a:r>
            <a:r>
              <a:rPr dirty="0" sz="2750" spc="70">
                <a:latin typeface="Times New Roman"/>
                <a:cs typeface="Times New Roman"/>
              </a:rPr>
              <a:t> </a:t>
            </a:r>
            <a:r>
              <a:rPr dirty="0" sz="2750" spc="10">
                <a:latin typeface="Times New Roman"/>
                <a:cs typeface="Times New Roman"/>
              </a:rPr>
              <a:t>(</a:t>
            </a:r>
            <a:r>
              <a:rPr dirty="0" sz="2750" spc="-375">
                <a:latin typeface="Times New Roman"/>
                <a:cs typeface="Times New Roman"/>
              </a:rPr>
              <a:t> </a:t>
            </a:r>
            <a:r>
              <a:rPr dirty="0" sz="2750" spc="20" i="1">
                <a:latin typeface="Times New Roman"/>
                <a:cs typeface="Times New Roman"/>
              </a:rPr>
              <a:t>K</a:t>
            </a:r>
            <a:r>
              <a:rPr dirty="0" sz="2750" spc="-390" i="1">
                <a:latin typeface="Times New Roman"/>
                <a:cs typeface="Times New Roman"/>
              </a:rPr>
              <a:t> </a:t>
            </a:r>
            <a:r>
              <a:rPr dirty="0" sz="1600" i="1">
                <a:latin typeface="Times New Roman"/>
                <a:cs typeface="Times New Roman"/>
              </a:rPr>
              <a:t>e</a:t>
            </a:r>
            <a:r>
              <a:rPr dirty="0" sz="1600" spc="290" i="1">
                <a:latin typeface="Times New Roman"/>
                <a:cs typeface="Times New Roman"/>
              </a:rPr>
              <a:t> </a:t>
            </a:r>
            <a:r>
              <a:rPr dirty="0" sz="2750" spc="-1225">
                <a:latin typeface="Symbol"/>
                <a:cs typeface="Symbol"/>
              </a:rPr>
              <a:t></a:t>
            </a:r>
            <a:r>
              <a:rPr dirty="0" sz="2750" spc="190">
                <a:latin typeface="Times New Roman"/>
                <a:cs typeface="Times New Roman"/>
              </a:rPr>
              <a:t> </a:t>
            </a:r>
            <a:r>
              <a:rPr dirty="0" sz="2750" spc="20" i="1">
                <a:latin typeface="Times New Roman"/>
                <a:cs typeface="Times New Roman"/>
              </a:rPr>
              <a:t>K</a:t>
            </a:r>
            <a:r>
              <a:rPr dirty="0" sz="2750" spc="-390" i="1">
                <a:latin typeface="Times New Roman"/>
                <a:cs typeface="Times New Roman"/>
              </a:rPr>
              <a:t> </a:t>
            </a:r>
            <a:r>
              <a:rPr dirty="0" sz="1600" i="1">
                <a:latin typeface="Times New Roman"/>
                <a:cs typeface="Times New Roman"/>
              </a:rPr>
              <a:t>d</a:t>
            </a:r>
            <a:r>
              <a:rPr dirty="0" sz="1600" spc="-10" i="1">
                <a:latin typeface="Times New Roman"/>
                <a:cs typeface="Times New Roman"/>
              </a:rPr>
              <a:t> </a:t>
            </a:r>
            <a:r>
              <a:rPr dirty="0" sz="2750" spc="10">
                <a:latin typeface="Times New Roman"/>
                <a:cs typeface="Times New Roman"/>
              </a:rPr>
              <a:t>)</a:t>
            </a:r>
            <a:r>
              <a:rPr dirty="0" sz="2750" spc="-375">
                <a:latin typeface="Times New Roman"/>
                <a:cs typeface="Times New Roman"/>
              </a:rPr>
              <a:t> </a:t>
            </a:r>
            <a:r>
              <a:rPr dirty="0" sz="2750" spc="20" i="1">
                <a:latin typeface="Times New Roman"/>
                <a:cs typeface="Times New Roman"/>
              </a:rPr>
              <a:t>D</a:t>
            </a:r>
            <a:endParaRPr sz="2750">
              <a:latin typeface="Times New Roman"/>
              <a:cs typeface="Times New Roman"/>
            </a:endParaRPr>
          </a:p>
          <a:p>
            <a:pPr marL="2940685">
              <a:lnSpc>
                <a:spcPct val="100000"/>
              </a:lnSpc>
              <a:spcBef>
                <a:spcPts val="635"/>
              </a:spcBef>
              <a:tabLst>
                <a:tab pos="6491605" algn="l"/>
              </a:tabLst>
            </a:pPr>
            <a:r>
              <a:rPr dirty="0" sz="2750" spc="20" i="1">
                <a:latin typeface="Times New Roman"/>
                <a:cs typeface="Times New Roman"/>
              </a:rPr>
              <a:t>K</a:t>
            </a:r>
            <a:r>
              <a:rPr dirty="0" sz="2750" spc="-385" i="1">
                <a:latin typeface="Times New Roman"/>
                <a:cs typeface="Times New Roman"/>
              </a:rPr>
              <a:t> </a:t>
            </a:r>
            <a:r>
              <a:rPr dirty="0" sz="1600" i="1">
                <a:latin typeface="Times New Roman"/>
                <a:cs typeface="Times New Roman"/>
              </a:rPr>
              <a:t>e	</a:t>
            </a:r>
            <a:r>
              <a:rPr dirty="0" sz="2750" spc="20" i="1">
                <a:latin typeface="Times New Roman"/>
                <a:cs typeface="Times New Roman"/>
              </a:rPr>
              <a:t>K</a:t>
            </a:r>
            <a:r>
              <a:rPr dirty="0" sz="2750" spc="-390" i="1">
                <a:latin typeface="Times New Roman"/>
                <a:cs typeface="Times New Roman"/>
              </a:rPr>
              <a:t> </a:t>
            </a:r>
            <a:r>
              <a:rPr dirty="0" sz="1600" i="1">
                <a:latin typeface="Times New Roman"/>
                <a:cs typeface="Times New Roman"/>
              </a:rPr>
              <a:t>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75104" y="5266944"/>
            <a:ext cx="4800600" cy="887094"/>
          </a:xfrm>
          <a:custGeom>
            <a:avLst/>
            <a:gdLst/>
            <a:ahLst/>
            <a:cxnLst/>
            <a:rect l="l" t="t" r="r" b="b"/>
            <a:pathLst>
              <a:path w="4800600" h="887095">
                <a:moveTo>
                  <a:pt x="0" y="0"/>
                </a:moveTo>
                <a:lnTo>
                  <a:pt x="0" y="886968"/>
                </a:lnTo>
                <a:lnTo>
                  <a:pt x="4800600" y="886968"/>
                </a:lnTo>
                <a:lnTo>
                  <a:pt x="4800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39567" y="5696712"/>
            <a:ext cx="783590" cy="0"/>
          </a:xfrm>
          <a:custGeom>
            <a:avLst/>
            <a:gdLst/>
            <a:ahLst/>
            <a:cxnLst/>
            <a:rect l="l" t="t" r="r" b="b"/>
            <a:pathLst>
              <a:path w="783589" h="0">
                <a:moveTo>
                  <a:pt x="0" y="0"/>
                </a:moveTo>
                <a:lnTo>
                  <a:pt x="78333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37432" y="5696712"/>
            <a:ext cx="2865120" cy="0"/>
          </a:xfrm>
          <a:custGeom>
            <a:avLst/>
            <a:gdLst/>
            <a:ahLst/>
            <a:cxnLst/>
            <a:rect l="l" t="t" r="r" b="b"/>
            <a:pathLst>
              <a:path w="2865120" h="0">
                <a:moveTo>
                  <a:pt x="0" y="0"/>
                </a:moveTo>
                <a:lnTo>
                  <a:pt x="2865119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883152" y="5171948"/>
            <a:ext cx="2755900" cy="93408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855980">
              <a:lnSpc>
                <a:spcPct val="100000"/>
              </a:lnSpc>
              <a:spcBef>
                <a:spcPts val="670"/>
              </a:spcBef>
            </a:pPr>
            <a:r>
              <a:rPr dirty="0" sz="2500" spc="10" i="1">
                <a:latin typeface="Times New Roman"/>
                <a:cs typeface="Times New Roman"/>
              </a:rPr>
              <a:t>K</a:t>
            </a:r>
            <a:r>
              <a:rPr dirty="0" sz="2500" spc="-484" i="1">
                <a:latin typeface="Times New Roman"/>
                <a:cs typeface="Times New Roman"/>
              </a:rPr>
              <a:t> </a:t>
            </a:r>
            <a:r>
              <a:rPr dirty="0" sz="1450" spc="5" i="1">
                <a:latin typeface="Times New Roman"/>
                <a:cs typeface="Times New Roman"/>
              </a:rPr>
              <a:t>e </a:t>
            </a:r>
            <a:r>
              <a:rPr dirty="0" sz="2500" spc="25" i="1">
                <a:latin typeface="Times New Roman"/>
                <a:cs typeface="Times New Roman"/>
              </a:rPr>
              <a:t>NOI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"/>
              </a:spcBef>
              <a:tabLst>
                <a:tab pos="782955" algn="l"/>
              </a:tabLst>
            </a:pPr>
            <a:r>
              <a:rPr dirty="0" sz="2500" spc="25" i="1">
                <a:latin typeface="Times New Roman"/>
                <a:cs typeface="Times New Roman"/>
              </a:rPr>
              <a:t>NOI	</a:t>
            </a:r>
            <a:r>
              <a:rPr dirty="0" sz="2500" spc="10">
                <a:latin typeface="Symbol"/>
                <a:cs typeface="Symbol"/>
              </a:rPr>
              <a:t>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 spc="5">
                <a:latin typeface="Times New Roman"/>
                <a:cs typeface="Times New Roman"/>
              </a:rPr>
              <a:t>( </a:t>
            </a:r>
            <a:r>
              <a:rPr dirty="0" sz="2500" spc="10" i="1">
                <a:latin typeface="Times New Roman"/>
                <a:cs typeface="Times New Roman"/>
              </a:rPr>
              <a:t>K </a:t>
            </a:r>
            <a:r>
              <a:rPr dirty="0" sz="1450" spc="5" i="1">
                <a:latin typeface="Times New Roman"/>
                <a:cs typeface="Times New Roman"/>
              </a:rPr>
              <a:t>e </a:t>
            </a:r>
            <a:r>
              <a:rPr dirty="0" sz="2500" spc="-1120">
                <a:latin typeface="Symbol"/>
                <a:cs typeface="Symbol"/>
              </a:rPr>
              <a:t></a:t>
            </a:r>
            <a:r>
              <a:rPr dirty="0" sz="2500" spc="275">
                <a:latin typeface="Times New Roman"/>
                <a:cs typeface="Times New Roman"/>
              </a:rPr>
              <a:t> </a:t>
            </a:r>
            <a:r>
              <a:rPr dirty="0" sz="2500" spc="10" i="1">
                <a:latin typeface="Times New Roman"/>
                <a:cs typeface="Times New Roman"/>
              </a:rPr>
              <a:t>K </a:t>
            </a:r>
            <a:r>
              <a:rPr dirty="0" sz="1450" spc="5" i="1">
                <a:latin typeface="Times New Roman"/>
                <a:cs typeface="Times New Roman"/>
              </a:rPr>
              <a:t>d </a:t>
            </a:r>
            <a:r>
              <a:rPr dirty="0" sz="2500" spc="5">
                <a:latin typeface="Times New Roman"/>
                <a:cs typeface="Times New Roman"/>
              </a:rPr>
              <a:t>)</a:t>
            </a:r>
            <a:r>
              <a:rPr dirty="0" sz="2500" spc="-470">
                <a:latin typeface="Times New Roman"/>
                <a:cs typeface="Times New Roman"/>
              </a:rPr>
              <a:t> </a:t>
            </a:r>
            <a:r>
              <a:rPr dirty="0" sz="2500" spc="10" i="1">
                <a:latin typeface="Times New Roman"/>
                <a:cs typeface="Times New Roman"/>
              </a:rPr>
              <a:t>D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26535" y="5446268"/>
            <a:ext cx="188595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2500" spc="10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07616" y="5171948"/>
            <a:ext cx="1273810" cy="93408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70"/>
              </a:spcBef>
              <a:tabLst>
                <a:tab pos="320675" algn="l"/>
                <a:tab pos="677545" algn="l"/>
              </a:tabLst>
            </a:pPr>
            <a:r>
              <a:rPr dirty="0" baseline="-35555" sz="3750" spc="7" i="1">
                <a:latin typeface="Times New Roman"/>
                <a:cs typeface="Times New Roman"/>
              </a:rPr>
              <a:t>k	</a:t>
            </a:r>
            <a:r>
              <a:rPr dirty="0" baseline="-35555" sz="3750" spc="15">
                <a:latin typeface="Symbol"/>
                <a:cs typeface="Symbol"/>
              </a:rPr>
              <a:t></a:t>
            </a:r>
            <a:r>
              <a:rPr dirty="0" baseline="-35555" sz="3750" spc="15">
                <a:latin typeface="Times New Roman"/>
                <a:cs typeface="Times New Roman"/>
              </a:rPr>
              <a:t>	</a:t>
            </a:r>
            <a:r>
              <a:rPr dirty="0" sz="2500" spc="25" i="1">
                <a:latin typeface="Times New Roman"/>
                <a:cs typeface="Times New Roman"/>
              </a:rPr>
              <a:t>NOI</a:t>
            </a:r>
            <a:endParaRPr sz="2500">
              <a:latin typeface="Times New Roman"/>
              <a:cs typeface="Times New Roman"/>
            </a:endParaRPr>
          </a:p>
          <a:p>
            <a:pPr algn="r" marR="209550">
              <a:lnSpc>
                <a:spcPct val="100000"/>
              </a:lnSpc>
              <a:spcBef>
                <a:spcPts val="575"/>
              </a:spcBef>
            </a:pPr>
            <a:r>
              <a:rPr dirty="0" sz="2500" spc="10" i="1">
                <a:latin typeface="Times New Roman"/>
                <a:cs typeface="Times New Roman"/>
              </a:rPr>
              <a:t>V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530252"/>
            <a:ext cx="4902200" cy="982344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95"/>
              </a:spcBef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NOI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方法</a:t>
            </a:r>
            <a:endParaRPr sz="2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59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给定公司的资本成本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为常数，得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37816" y="2706624"/>
            <a:ext cx="2743200" cy="975360"/>
          </a:xfrm>
          <a:custGeom>
            <a:avLst/>
            <a:gdLst/>
            <a:ahLst/>
            <a:cxnLst/>
            <a:rect l="l" t="t" r="r" b="b"/>
            <a:pathLst>
              <a:path w="2743200" h="975360">
                <a:moveTo>
                  <a:pt x="0" y="0"/>
                </a:moveTo>
                <a:lnTo>
                  <a:pt x="0" y="975360"/>
                </a:lnTo>
                <a:lnTo>
                  <a:pt x="2743200" y="97536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81400" y="3209544"/>
            <a:ext cx="1362710" cy="0"/>
          </a:xfrm>
          <a:custGeom>
            <a:avLst/>
            <a:gdLst/>
            <a:ahLst/>
            <a:cxnLst/>
            <a:rect l="l" t="t" r="r" b="b"/>
            <a:pathLst>
              <a:path w="1362710" h="0">
                <a:moveTo>
                  <a:pt x="0" y="0"/>
                </a:moveTo>
                <a:lnTo>
                  <a:pt x="1362455" y="0"/>
                </a:lnTo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60647" y="2595169"/>
            <a:ext cx="664845" cy="109220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60"/>
              </a:spcBef>
            </a:pPr>
            <a:r>
              <a:rPr dirty="0" sz="2950" spc="20" i="1">
                <a:latin typeface="Times New Roman"/>
                <a:cs typeface="Times New Roman"/>
              </a:rPr>
              <a:t>N</a:t>
            </a:r>
            <a:r>
              <a:rPr dirty="0" sz="2950" spc="25" i="1">
                <a:latin typeface="Times New Roman"/>
                <a:cs typeface="Times New Roman"/>
              </a:rPr>
              <a:t>O</a:t>
            </a:r>
            <a:r>
              <a:rPr dirty="0" sz="2950" i="1">
                <a:latin typeface="Times New Roman"/>
                <a:cs typeface="Times New Roman"/>
              </a:rPr>
              <a:t>I</a:t>
            </a:r>
            <a:endParaRPr sz="2950">
              <a:latin typeface="Times New Roman"/>
              <a:cs typeface="Times New Roman"/>
            </a:endParaRPr>
          </a:p>
          <a:p>
            <a:pPr marL="429259">
              <a:lnSpc>
                <a:spcPct val="100000"/>
              </a:lnSpc>
              <a:spcBef>
                <a:spcPts val="660"/>
              </a:spcBef>
            </a:pPr>
            <a:r>
              <a:rPr dirty="0" sz="2950" i="1">
                <a:latin typeface="Times New Roman"/>
                <a:cs typeface="Times New Roman"/>
              </a:rPr>
              <a:t>k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7439" y="2916428"/>
            <a:ext cx="883285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64210" algn="l"/>
              </a:tabLst>
            </a:pPr>
            <a:r>
              <a:rPr dirty="0" sz="2950" i="1">
                <a:latin typeface="Times New Roman"/>
                <a:cs typeface="Times New Roman"/>
              </a:rPr>
              <a:t>V</a:t>
            </a:r>
            <a:r>
              <a:rPr dirty="0" sz="2950" i="1">
                <a:latin typeface="Times New Roman"/>
                <a:cs typeface="Times New Roman"/>
              </a:rPr>
              <a:t>	</a:t>
            </a:r>
            <a:r>
              <a:rPr dirty="0" sz="295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37816" y="4002024"/>
            <a:ext cx="3810000" cy="838200"/>
          </a:xfrm>
          <a:custGeom>
            <a:avLst/>
            <a:gdLst/>
            <a:ahLst/>
            <a:cxnLst/>
            <a:rect l="l" t="t" r="r" b="b"/>
            <a:pathLst>
              <a:path w="3810000" h="838200">
                <a:moveTo>
                  <a:pt x="0" y="0"/>
                </a:moveTo>
                <a:lnTo>
                  <a:pt x="0" y="838200"/>
                </a:lnTo>
                <a:lnTo>
                  <a:pt x="3810000" y="838200"/>
                </a:lnTo>
                <a:lnTo>
                  <a:pt x="381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183" y="4434840"/>
            <a:ext cx="826135" cy="0"/>
          </a:xfrm>
          <a:custGeom>
            <a:avLst/>
            <a:gdLst/>
            <a:ahLst/>
            <a:cxnLst/>
            <a:rect l="l" t="t" r="r" b="b"/>
            <a:pathLst>
              <a:path w="826135" h="0">
                <a:moveTo>
                  <a:pt x="0" y="0"/>
                </a:moveTo>
                <a:lnTo>
                  <a:pt x="826007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375916" y="4181348"/>
            <a:ext cx="3677920" cy="6661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2525"/>
              </a:lnSpc>
              <a:spcBef>
                <a:spcPts val="90"/>
              </a:spcBef>
              <a:tabLst>
                <a:tab pos="403225" algn="l"/>
                <a:tab pos="1086485" algn="l"/>
                <a:tab pos="1418590" algn="l"/>
                <a:tab pos="1818005" algn="l"/>
                <a:tab pos="2189480" algn="l"/>
                <a:tab pos="3073400" algn="l"/>
                <a:tab pos="3405504" algn="l"/>
              </a:tabLst>
            </a:pPr>
            <a:r>
              <a:rPr dirty="0" sz="2550" spc="-5" i="1">
                <a:latin typeface="Times New Roman"/>
                <a:cs typeface="Times New Roman"/>
              </a:rPr>
              <a:t>E	</a:t>
            </a:r>
            <a:r>
              <a:rPr dirty="0" sz="2550" spc="-5">
                <a:latin typeface="Symbol"/>
                <a:cs typeface="Symbol"/>
              </a:rPr>
              <a:t></a:t>
            </a:r>
            <a:r>
              <a:rPr dirty="0" sz="2550" spc="170">
                <a:latin typeface="Times New Roman"/>
                <a:cs typeface="Times New Roman"/>
              </a:rPr>
              <a:t> </a:t>
            </a:r>
            <a:r>
              <a:rPr dirty="0" sz="2550" spc="-5" i="1">
                <a:latin typeface="Times New Roman"/>
                <a:cs typeface="Times New Roman"/>
              </a:rPr>
              <a:t>V	</a:t>
            </a:r>
            <a:r>
              <a:rPr dirty="0" sz="2550" spc="-1155">
                <a:latin typeface="Symbol"/>
                <a:cs typeface="Symbol"/>
              </a:rPr>
              <a:t></a:t>
            </a:r>
            <a:r>
              <a:rPr dirty="0" sz="2550" spc="-1155">
                <a:latin typeface="Times New Roman"/>
                <a:cs typeface="Times New Roman"/>
              </a:rPr>
              <a:t>	</a:t>
            </a:r>
            <a:r>
              <a:rPr dirty="0" sz="2550" spc="-5" i="1">
                <a:latin typeface="Times New Roman"/>
                <a:cs typeface="Times New Roman"/>
              </a:rPr>
              <a:t>D	</a:t>
            </a:r>
            <a:r>
              <a:rPr dirty="0" sz="2550" spc="-5">
                <a:latin typeface="Symbol"/>
                <a:cs typeface="Symbol"/>
              </a:rPr>
              <a:t></a:t>
            </a:r>
            <a:r>
              <a:rPr dirty="0" sz="2550" spc="-5">
                <a:latin typeface="Times New Roman"/>
                <a:cs typeface="Times New Roman"/>
              </a:rPr>
              <a:t>	</a:t>
            </a:r>
            <a:r>
              <a:rPr dirty="0" baseline="35947" sz="3825" i="1">
                <a:latin typeface="Times New Roman"/>
                <a:cs typeface="Times New Roman"/>
              </a:rPr>
              <a:t>NOI	</a:t>
            </a:r>
            <a:r>
              <a:rPr dirty="0" sz="2550" spc="-1155">
                <a:latin typeface="Symbol"/>
                <a:cs typeface="Symbol"/>
              </a:rPr>
              <a:t></a:t>
            </a:r>
            <a:r>
              <a:rPr dirty="0" sz="2550" spc="-1155">
                <a:latin typeface="Times New Roman"/>
                <a:cs typeface="Times New Roman"/>
              </a:rPr>
              <a:t>	</a:t>
            </a:r>
            <a:r>
              <a:rPr dirty="0" sz="2550" spc="-5" i="1">
                <a:latin typeface="Times New Roman"/>
                <a:cs typeface="Times New Roman"/>
              </a:rPr>
              <a:t>D</a:t>
            </a:r>
            <a:endParaRPr sz="2550">
              <a:latin typeface="Times New Roman"/>
              <a:cs typeface="Times New Roman"/>
            </a:endParaRPr>
          </a:p>
          <a:p>
            <a:pPr algn="r" marR="1074420">
              <a:lnSpc>
                <a:spcPts val="2525"/>
              </a:lnSpc>
            </a:pPr>
            <a:r>
              <a:rPr dirty="0" sz="2550" spc="-5" i="1">
                <a:latin typeface="Times New Roman"/>
                <a:cs typeface="Times New Roman"/>
              </a:rPr>
              <a:t>k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13432" y="5154168"/>
            <a:ext cx="4087495" cy="914400"/>
          </a:xfrm>
          <a:custGeom>
            <a:avLst/>
            <a:gdLst/>
            <a:ahLst/>
            <a:cxnLst/>
            <a:rect l="l" t="t" r="r" b="b"/>
            <a:pathLst>
              <a:path w="4087495" h="914400">
                <a:moveTo>
                  <a:pt x="0" y="0"/>
                </a:moveTo>
                <a:lnTo>
                  <a:pt x="0" y="914400"/>
                </a:lnTo>
                <a:lnTo>
                  <a:pt x="4087368" y="914400"/>
                </a:lnTo>
                <a:lnTo>
                  <a:pt x="40873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72255" y="5626608"/>
            <a:ext cx="2694940" cy="0"/>
          </a:xfrm>
          <a:custGeom>
            <a:avLst/>
            <a:gdLst/>
            <a:ahLst/>
            <a:cxnLst/>
            <a:rect l="l" t="t" r="r" b="b"/>
            <a:pathLst>
              <a:path w="2694940" h="0">
                <a:moveTo>
                  <a:pt x="0" y="0"/>
                </a:moveTo>
                <a:lnTo>
                  <a:pt x="2694431" y="0"/>
                </a:lnTo>
              </a:path>
            </a:pathLst>
          </a:custGeom>
          <a:ln w="213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739640" y="5626100"/>
            <a:ext cx="216535" cy="4502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2750" spc="20" i="1">
                <a:latin typeface="Times New Roman"/>
                <a:cs typeface="Times New Roman"/>
              </a:rPr>
              <a:t>E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39311" y="5126228"/>
            <a:ext cx="2435225" cy="4502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1167130" algn="l"/>
                <a:tab pos="1602740" algn="l"/>
                <a:tab pos="1995805" algn="l"/>
              </a:tabLst>
            </a:pPr>
            <a:r>
              <a:rPr dirty="0" sz="2750" spc="10" i="1">
                <a:latin typeface="Times New Roman"/>
                <a:cs typeface="Times New Roman"/>
              </a:rPr>
              <a:t>NOI	</a:t>
            </a:r>
            <a:r>
              <a:rPr dirty="0" sz="2750" spc="-1225">
                <a:latin typeface="Symbol"/>
                <a:cs typeface="Symbol"/>
              </a:rPr>
              <a:t></a:t>
            </a:r>
            <a:r>
              <a:rPr dirty="0" sz="2750" spc="-1225">
                <a:latin typeface="Times New Roman"/>
                <a:cs typeface="Times New Roman"/>
              </a:rPr>
              <a:t>	</a:t>
            </a:r>
            <a:r>
              <a:rPr dirty="0" sz="2750" spc="20" i="1">
                <a:latin typeface="Times New Roman"/>
                <a:cs typeface="Times New Roman"/>
              </a:rPr>
              <a:t>K	</a:t>
            </a:r>
            <a:r>
              <a:rPr dirty="0" sz="1600" i="1">
                <a:latin typeface="Times New Roman"/>
                <a:cs typeface="Times New Roman"/>
              </a:rPr>
              <a:t>d</a:t>
            </a:r>
            <a:r>
              <a:rPr dirty="0" sz="1600" spc="60" i="1">
                <a:latin typeface="Times New Roman"/>
                <a:cs typeface="Times New Roman"/>
              </a:rPr>
              <a:t> </a:t>
            </a:r>
            <a:r>
              <a:rPr dirty="0" sz="2750" spc="20" i="1">
                <a:latin typeface="Times New Roman"/>
                <a:cs typeface="Times New Roman"/>
              </a:rPr>
              <a:t>D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0111" y="5348732"/>
            <a:ext cx="892810" cy="4502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393065" algn="l"/>
                <a:tab pos="685165" algn="l"/>
              </a:tabLst>
            </a:pPr>
            <a:r>
              <a:rPr dirty="0" sz="2750" spc="20" i="1">
                <a:latin typeface="Times New Roman"/>
                <a:cs typeface="Times New Roman"/>
              </a:rPr>
              <a:t>K</a:t>
            </a:r>
            <a:r>
              <a:rPr dirty="0" sz="2750" spc="20" i="1">
                <a:latin typeface="Times New Roman"/>
                <a:cs typeface="Times New Roman"/>
              </a:rPr>
              <a:t>	</a:t>
            </a:r>
            <a:r>
              <a:rPr dirty="0" sz="1600" i="1">
                <a:latin typeface="Times New Roman"/>
                <a:cs typeface="Times New Roman"/>
              </a:rPr>
              <a:t>e</a:t>
            </a:r>
            <a:r>
              <a:rPr dirty="0" sz="1600" i="1">
                <a:latin typeface="Times New Roman"/>
                <a:cs typeface="Times New Roman"/>
              </a:rPr>
              <a:t>	</a:t>
            </a:r>
            <a:r>
              <a:rPr dirty="0" sz="2750" spc="15">
                <a:latin typeface="Symbol"/>
                <a:cs typeface="Symbol"/>
              </a:rPr>
              <a:t>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261107" y="639572"/>
            <a:ext cx="46126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企</a:t>
            </a:r>
            <a:r>
              <a:rPr dirty="0" spc="25"/>
              <a:t>业</a:t>
            </a:r>
            <a:r>
              <a:rPr dirty="0" spc="5"/>
              <a:t>定价的基本</a:t>
            </a:r>
            <a:r>
              <a:rPr dirty="0" spc="25"/>
              <a:t>方</a:t>
            </a:r>
            <a:r>
              <a:rPr dirty="0" spc="5"/>
              <a:t>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5076" y="639572"/>
            <a:ext cx="512508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955"/>
              <a:t>MM</a:t>
            </a:r>
            <a:r>
              <a:rPr dirty="0" spc="5"/>
              <a:t>模型：</a:t>
            </a:r>
            <a:r>
              <a:rPr dirty="0" spc="25"/>
              <a:t>无</a:t>
            </a:r>
            <a:r>
              <a:rPr dirty="0" spc="5"/>
              <a:t>公司</a:t>
            </a:r>
            <a:r>
              <a:rPr dirty="0" spc="25"/>
              <a:t>所</a:t>
            </a:r>
            <a:r>
              <a:rPr dirty="0" spc="5"/>
              <a:t>得税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779" y="1432052"/>
            <a:ext cx="7919720" cy="132842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algn="just" marL="356870" marR="5080" indent="-344805">
              <a:lnSpc>
                <a:spcPct val="102499"/>
              </a:lnSpc>
              <a:spcBef>
                <a:spcPts val="2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MM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定理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：任何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司的总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场价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其资本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无关，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只是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其预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期收益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净营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益）按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险 等级所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应的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贴现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率进行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到的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贴现值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4327" y="2849880"/>
            <a:ext cx="1691639" cy="1082040"/>
          </a:xfrm>
          <a:custGeom>
            <a:avLst/>
            <a:gdLst/>
            <a:ahLst/>
            <a:cxnLst/>
            <a:rect l="l" t="t" r="r" b="b"/>
            <a:pathLst>
              <a:path w="1691639" h="1082039">
                <a:moveTo>
                  <a:pt x="0" y="0"/>
                </a:moveTo>
                <a:lnTo>
                  <a:pt x="0" y="1082040"/>
                </a:lnTo>
                <a:lnTo>
                  <a:pt x="1691640" y="1082040"/>
                </a:lnTo>
                <a:lnTo>
                  <a:pt x="1691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01567" y="3407664"/>
            <a:ext cx="844550" cy="0"/>
          </a:xfrm>
          <a:custGeom>
            <a:avLst/>
            <a:gdLst/>
            <a:ahLst/>
            <a:cxnLst/>
            <a:rect l="l" t="t" r="r" b="b"/>
            <a:pathLst>
              <a:path w="844550" h="0">
                <a:moveTo>
                  <a:pt x="0" y="0"/>
                </a:moveTo>
                <a:lnTo>
                  <a:pt x="84429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598927" y="2728671"/>
            <a:ext cx="1742439" cy="120840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844"/>
              </a:spcBef>
              <a:tabLst>
                <a:tab pos="466725" algn="l"/>
                <a:tab pos="850900" algn="l"/>
              </a:tabLst>
            </a:pPr>
            <a:r>
              <a:rPr dirty="0" baseline="-35897" sz="4875" spc="30" i="1">
                <a:latin typeface="Times New Roman"/>
                <a:cs typeface="Times New Roman"/>
              </a:rPr>
              <a:t>V	</a:t>
            </a:r>
            <a:r>
              <a:rPr dirty="0" baseline="-35897" sz="4875" spc="30">
                <a:latin typeface="Symbol"/>
                <a:cs typeface="Symbol"/>
              </a:rPr>
              <a:t></a:t>
            </a:r>
            <a:r>
              <a:rPr dirty="0" baseline="-35897" sz="4875" spc="30">
                <a:latin typeface="Times New Roman"/>
                <a:cs typeface="Times New Roman"/>
              </a:rPr>
              <a:t>	</a:t>
            </a:r>
            <a:r>
              <a:rPr dirty="0" sz="3250" spc="15" i="1">
                <a:latin typeface="Times New Roman"/>
                <a:cs typeface="Times New Roman"/>
              </a:rPr>
              <a:t>NOI</a:t>
            </a:r>
            <a:endParaRPr sz="3250">
              <a:latin typeface="Times New Roman"/>
              <a:cs typeface="Times New Roman"/>
            </a:endParaRPr>
          </a:p>
          <a:p>
            <a:pPr marL="1119505">
              <a:lnSpc>
                <a:spcPct val="100000"/>
              </a:lnSpc>
              <a:spcBef>
                <a:spcPts val="760"/>
              </a:spcBef>
            </a:pPr>
            <a:r>
              <a:rPr dirty="0" sz="3250" spc="15" i="1">
                <a:latin typeface="Times New Roman"/>
                <a:cs typeface="Times New Roman"/>
              </a:rPr>
              <a:t>k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1179" y="3538220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证明：见黑板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0491" y="4086860"/>
            <a:ext cx="7837805" cy="2249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6870" marR="508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在假定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件下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杠杆作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值与无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杆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作用的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－－MM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无关论</a:t>
            </a:r>
            <a:endParaRPr sz="28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任何企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构并不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其资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本构成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而 是与其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同风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险等级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净资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合的贴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相等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－－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本重述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了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MM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论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1617980"/>
            <a:ext cx="7919720" cy="90170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356870" marR="5080" indent="-344805">
              <a:lnSpc>
                <a:spcPts val="3529"/>
              </a:lnSpc>
              <a:spcBef>
                <a:spcPts val="80"/>
              </a:spcBef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MM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定理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：普通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的回报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益资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本成本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资本结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之间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于为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05000" y="2563368"/>
            <a:ext cx="5105400" cy="862965"/>
          </a:xfrm>
          <a:custGeom>
            <a:avLst/>
            <a:gdLst/>
            <a:ahLst/>
            <a:cxnLst/>
            <a:rect l="l" t="t" r="r" b="b"/>
            <a:pathLst>
              <a:path w="5105400" h="862964">
                <a:moveTo>
                  <a:pt x="0" y="0"/>
                </a:moveTo>
                <a:lnTo>
                  <a:pt x="0" y="862584"/>
                </a:lnTo>
                <a:lnTo>
                  <a:pt x="5105400" y="862584"/>
                </a:lnTo>
                <a:lnTo>
                  <a:pt x="510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288023" y="2904236"/>
            <a:ext cx="283210" cy="556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3450" spc="15" i="1">
                <a:latin typeface="Times New Roman"/>
                <a:cs typeface="Times New Roman"/>
              </a:rPr>
              <a:t>E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9007" y="2669540"/>
            <a:ext cx="208915" cy="556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3450" spc="10" i="1">
                <a:latin typeface="Times New Roman"/>
                <a:cs typeface="Times New Roman"/>
              </a:rPr>
              <a:t>k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48271" y="3190748"/>
            <a:ext cx="10795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350" spc="-5" i="1">
                <a:latin typeface="Times New Roman"/>
                <a:cs typeface="Times New Roman"/>
              </a:rPr>
              <a:t>L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43015" y="2962148"/>
            <a:ext cx="9842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350" spc="-5" i="1">
                <a:latin typeface="Times New Roman"/>
                <a:cs typeface="Times New Roman"/>
              </a:rPr>
              <a:t>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22576" y="2962148"/>
            <a:ext cx="18351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350" spc="-5" i="1">
                <a:latin typeface="Times New Roman"/>
                <a:cs typeface="Times New Roman"/>
              </a:rPr>
              <a:t>eL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88303" y="2535428"/>
            <a:ext cx="977900" cy="3803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250825" algn="l"/>
                <a:tab pos="939165" algn="l"/>
              </a:tabLst>
            </a:pPr>
            <a:r>
              <a:rPr dirty="0" baseline="-36231" sz="3450" spc="7">
                <a:latin typeface="Times New Roman"/>
                <a:cs typeface="Times New Roman"/>
              </a:rPr>
              <a:t>)	</a:t>
            </a:r>
            <a:r>
              <a:rPr dirty="0" u="heavy" sz="23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300" spc="2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	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0932" y="2578100"/>
            <a:ext cx="3115310" cy="556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30"/>
              </a:spcBef>
              <a:tabLst>
                <a:tab pos="407670" algn="l"/>
                <a:tab pos="1203325" algn="l"/>
                <a:tab pos="1553845" algn="l"/>
                <a:tab pos="2510790" algn="l"/>
                <a:tab pos="2854960" algn="l"/>
              </a:tabLst>
            </a:pPr>
            <a:r>
              <a:rPr dirty="0" sz="2300" spc="15">
                <a:latin typeface="Symbol"/>
                <a:cs typeface="Symbol"/>
              </a:rPr>
              <a:t></a:t>
            </a:r>
            <a:r>
              <a:rPr dirty="0" sz="2300" spc="15">
                <a:latin typeface="Times New Roman"/>
                <a:cs typeface="Times New Roman"/>
              </a:rPr>
              <a:t>	</a:t>
            </a:r>
            <a:r>
              <a:rPr dirty="0" baseline="-11272" sz="5175" spc="15" i="1">
                <a:latin typeface="Times New Roman"/>
                <a:cs typeface="Times New Roman"/>
              </a:rPr>
              <a:t>k</a:t>
            </a:r>
            <a:r>
              <a:rPr dirty="0" baseline="-11272" sz="5175" spc="525" i="1">
                <a:latin typeface="Times New Roman"/>
                <a:cs typeface="Times New Roman"/>
              </a:rPr>
              <a:t> </a:t>
            </a:r>
            <a:r>
              <a:rPr dirty="0" baseline="-37037" sz="2025" spc="-7" i="1">
                <a:latin typeface="Times New Roman"/>
                <a:cs typeface="Times New Roman"/>
              </a:rPr>
              <a:t>eU	</a:t>
            </a:r>
            <a:r>
              <a:rPr dirty="0" sz="2300" spc="15">
                <a:latin typeface="Symbol"/>
                <a:cs typeface="Symbol"/>
              </a:rPr>
              <a:t></a:t>
            </a:r>
            <a:r>
              <a:rPr dirty="0" sz="2300" spc="15">
                <a:latin typeface="Times New Roman"/>
                <a:cs typeface="Times New Roman"/>
              </a:rPr>
              <a:t>	</a:t>
            </a:r>
            <a:r>
              <a:rPr dirty="0" sz="2300" spc="5">
                <a:latin typeface="Times New Roman"/>
                <a:cs typeface="Times New Roman"/>
              </a:rPr>
              <a:t>(</a:t>
            </a:r>
            <a:r>
              <a:rPr dirty="0" sz="2300" spc="-105">
                <a:latin typeface="Times New Roman"/>
                <a:cs typeface="Times New Roman"/>
              </a:rPr>
              <a:t> </a:t>
            </a:r>
            <a:r>
              <a:rPr dirty="0" baseline="-11272" sz="5175" spc="15" i="1">
                <a:latin typeface="Times New Roman"/>
                <a:cs typeface="Times New Roman"/>
              </a:rPr>
              <a:t>k</a:t>
            </a:r>
            <a:r>
              <a:rPr dirty="0" baseline="-11272" sz="5175" spc="569" i="1">
                <a:latin typeface="Times New Roman"/>
                <a:cs typeface="Times New Roman"/>
              </a:rPr>
              <a:t> </a:t>
            </a:r>
            <a:r>
              <a:rPr dirty="0" baseline="-37037" sz="2025" spc="-7" i="1">
                <a:latin typeface="Times New Roman"/>
                <a:cs typeface="Times New Roman"/>
              </a:rPr>
              <a:t>eU	</a:t>
            </a:r>
            <a:r>
              <a:rPr dirty="0" sz="2300" spc="-1025">
                <a:latin typeface="Symbol"/>
                <a:cs typeface="Symbol"/>
              </a:rPr>
              <a:t></a:t>
            </a:r>
            <a:r>
              <a:rPr dirty="0" sz="2300" spc="-1025">
                <a:latin typeface="Times New Roman"/>
                <a:cs typeface="Times New Roman"/>
              </a:rPr>
              <a:t>	</a:t>
            </a:r>
            <a:r>
              <a:rPr dirty="0" baseline="-11272" sz="5175" spc="15" i="1">
                <a:latin typeface="Times New Roman"/>
                <a:cs typeface="Times New Roman"/>
              </a:rPr>
              <a:t>k</a:t>
            </a:r>
            <a:endParaRPr baseline="-11272" sz="5175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05000" y="3496055"/>
            <a:ext cx="4724400" cy="722630"/>
          </a:xfrm>
          <a:custGeom>
            <a:avLst/>
            <a:gdLst/>
            <a:ahLst/>
            <a:cxnLst/>
            <a:rect l="l" t="t" r="r" b="b"/>
            <a:pathLst>
              <a:path w="4724400" h="722629">
                <a:moveTo>
                  <a:pt x="0" y="0"/>
                </a:moveTo>
                <a:lnTo>
                  <a:pt x="0" y="722376"/>
                </a:lnTo>
                <a:lnTo>
                  <a:pt x="4724400" y="722376"/>
                </a:lnTo>
                <a:lnTo>
                  <a:pt x="472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913120" y="3782060"/>
            <a:ext cx="238125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900" i="1">
                <a:latin typeface="Times New Roman"/>
                <a:cs typeface="Times New Roman"/>
              </a:rPr>
              <a:t>E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69007" y="3583940"/>
            <a:ext cx="1143000" cy="467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965835" algn="l"/>
              </a:tabLst>
            </a:pPr>
            <a:r>
              <a:rPr dirty="0" sz="2900" i="1">
                <a:latin typeface="Times New Roman"/>
                <a:cs typeface="Times New Roman"/>
              </a:rPr>
              <a:t>k</a:t>
            </a:r>
            <a:r>
              <a:rPr dirty="0" sz="2900" i="1">
                <a:latin typeface="Times New Roman"/>
                <a:cs typeface="Times New Roman"/>
              </a:rPr>
              <a:t>	</a:t>
            </a:r>
            <a:r>
              <a:rPr dirty="0" sz="2900" i="1">
                <a:latin typeface="Times New Roman"/>
                <a:cs typeface="Times New Roman"/>
              </a:rPr>
              <a:t>k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73367" y="4019804"/>
            <a:ext cx="9271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5" i="1">
                <a:latin typeface="Times New Roman"/>
                <a:cs typeface="Times New Roman"/>
              </a:rPr>
              <a:t>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68111" y="3827780"/>
            <a:ext cx="8445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0" i="1">
                <a:latin typeface="Times New Roman"/>
                <a:cs typeface="Times New Roman"/>
              </a:rPr>
              <a:t>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37888" y="3827780"/>
            <a:ext cx="11620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20" i="1">
                <a:latin typeface="Times New Roman"/>
                <a:cs typeface="Times New Roman"/>
              </a:rPr>
              <a:t>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67455" y="3827780"/>
            <a:ext cx="11620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20" i="1">
                <a:latin typeface="Times New Roman"/>
                <a:cs typeface="Times New Roman"/>
              </a:rPr>
              <a:t>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34767" y="3827780"/>
            <a:ext cx="9271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15" i="1">
                <a:latin typeface="Times New Roman"/>
                <a:cs typeface="Times New Roman"/>
              </a:rPr>
              <a:t>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13400" y="3471164"/>
            <a:ext cx="97536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250825" algn="l"/>
                <a:tab pos="439420" algn="l"/>
                <a:tab pos="936625" algn="l"/>
              </a:tabLst>
            </a:pPr>
            <a:r>
              <a:rPr dirty="0" baseline="-35612" sz="2925" spc="-7">
                <a:latin typeface="Times New Roman"/>
                <a:cs typeface="Times New Roman"/>
              </a:rPr>
              <a:t>)	</a:t>
            </a:r>
            <a:r>
              <a:rPr dirty="0" u="heavy" sz="195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u="heavy" sz="1950" spc="-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	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58540" y="3507740"/>
            <a:ext cx="1767839" cy="467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8620" indent="-350520">
              <a:lnSpc>
                <a:spcPct val="100000"/>
              </a:lnSpc>
              <a:spcBef>
                <a:spcPts val="105"/>
              </a:spcBef>
              <a:buFont typeface="Symbol"/>
              <a:buChar char=""/>
              <a:tabLst>
                <a:tab pos="387985" algn="l"/>
                <a:tab pos="388620" algn="l"/>
                <a:tab pos="1208405" algn="l"/>
                <a:tab pos="1552575" algn="l"/>
              </a:tabLst>
            </a:pPr>
            <a:r>
              <a:rPr dirty="0" sz="1950" spc="-5">
                <a:latin typeface="Times New Roman"/>
                <a:cs typeface="Times New Roman"/>
              </a:rPr>
              <a:t>(</a:t>
            </a:r>
            <a:r>
              <a:rPr dirty="0" sz="1950" spc="110">
                <a:latin typeface="Times New Roman"/>
                <a:cs typeface="Times New Roman"/>
              </a:rPr>
              <a:t> </a:t>
            </a:r>
            <a:r>
              <a:rPr dirty="0" baseline="-11494" sz="4350" i="1">
                <a:latin typeface="Times New Roman"/>
                <a:cs typeface="Times New Roman"/>
              </a:rPr>
              <a:t>k	</a:t>
            </a:r>
            <a:r>
              <a:rPr dirty="0" sz="1950" spc="-885">
                <a:latin typeface="Symbol"/>
                <a:cs typeface="Symbol"/>
              </a:rPr>
              <a:t></a:t>
            </a:r>
            <a:r>
              <a:rPr dirty="0" sz="1950" spc="-885">
                <a:latin typeface="Times New Roman"/>
                <a:cs typeface="Times New Roman"/>
              </a:rPr>
              <a:t>	</a:t>
            </a:r>
            <a:r>
              <a:rPr dirty="0" baseline="-11494" sz="4350" i="1">
                <a:latin typeface="Times New Roman"/>
                <a:cs typeface="Times New Roman"/>
              </a:rPr>
              <a:t>k</a:t>
            </a:r>
            <a:endParaRPr baseline="-11494" sz="4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90800" y="3629660"/>
            <a:ext cx="14859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950" spc="-5">
                <a:latin typeface="Symbol"/>
                <a:cs typeface="Symbol"/>
              </a:rPr>
              <a:t>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35571" y="3754628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证明：见黑板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837435" y="609092"/>
            <a:ext cx="546036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MM</a:t>
            </a:r>
            <a:r>
              <a:rPr dirty="0" spc="25"/>
              <a:t>模</a:t>
            </a:r>
            <a:r>
              <a:rPr dirty="0" spc="5"/>
              <a:t>型：无公</a:t>
            </a:r>
            <a:r>
              <a:rPr dirty="0" spc="25"/>
              <a:t>司</a:t>
            </a:r>
            <a:r>
              <a:rPr dirty="0" spc="5"/>
              <a:t>所得税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07491" y="4449572"/>
            <a:ext cx="7952740" cy="1733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2270" marR="3048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829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有杠杆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益资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本成本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于无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杠杆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时的权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本成本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上风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酬，而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险溢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酬的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大小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k</a:t>
            </a:r>
            <a:r>
              <a:rPr dirty="0" baseline="-20467" sz="2850" spc="7">
                <a:solidFill>
                  <a:srgbClr val="FFFFFF"/>
                </a:solidFill>
                <a:latin typeface="宋体"/>
                <a:cs typeface="宋体"/>
              </a:rPr>
              <a:t>e</a:t>
            </a:r>
            <a:r>
              <a:rPr dirty="0" baseline="-20467" sz="2850" spc="-30">
                <a:solidFill>
                  <a:srgbClr val="FFFFFF"/>
                </a:solidFill>
                <a:latin typeface="宋体"/>
                <a:cs typeface="宋体"/>
              </a:rPr>
              <a:t>U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债务的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差乘以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之比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D/E</a:t>
            </a:r>
            <a:r>
              <a:rPr dirty="0" baseline="-20467" sz="2850">
                <a:solidFill>
                  <a:srgbClr val="FFFFFF"/>
                </a:solidFill>
                <a:latin typeface="宋体"/>
                <a:cs typeface="宋体"/>
              </a:rPr>
              <a:t>L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而后者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映了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4452" y="609092"/>
            <a:ext cx="596900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MM</a:t>
            </a:r>
            <a:r>
              <a:rPr dirty="0" spc="25"/>
              <a:t>模</a:t>
            </a:r>
            <a:r>
              <a:rPr dirty="0" spc="5"/>
              <a:t>型：存在</a:t>
            </a:r>
            <a:r>
              <a:rPr dirty="0" spc="25"/>
              <a:t>公</a:t>
            </a:r>
            <a:r>
              <a:rPr dirty="0" spc="5"/>
              <a:t>司所得税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17980"/>
            <a:ext cx="8276590" cy="90170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356870" marR="5080" indent="-344805">
              <a:lnSpc>
                <a:spcPts val="3529"/>
              </a:lnSpc>
              <a:spcBef>
                <a:spcPts val="8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经修正的</a:t>
            </a:r>
            <a:r>
              <a:rPr dirty="0" sz="2800" spc="-10">
                <a:solidFill>
                  <a:srgbClr val="FFFFFF"/>
                </a:solidFill>
                <a:latin typeface="Arial"/>
                <a:cs typeface="Arial"/>
              </a:rPr>
              <a:t>MM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定理</a:t>
            </a:r>
            <a:r>
              <a:rPr dirty="0" sz="2800" spc="-3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：在存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所得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税的情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下，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构的无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性不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再成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立，此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39368" y="2993136"/>
            <a:ext cx="5562600" cy="981710"/>
          </a:xfrm>
          <a:custGeom>
            <a:avLst/>
            <a:gdLst/>
            <a:ahLst/>
            <a:cxnLst/>
            <a:rect l="l" t="t" r="r" b="b"/>
            <a:pathLst>
              <a:path w="5562600" h="981710">
                <a:moveTo>
                  <a:pt x="0" y="0"/>
                </a:moveTo>
                <a:lnTo>
                  <a:pt x="0" y="981456"/>
                </a:lnTo>
                <a:lnTo>
                  <a:pt x="5562600" y="981456"/>
                </a:lnTo>
                <a:lnTo>
                  <a:pt x="5562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29716" y="2922524"/>
            <a:ext cx="563880" cy="1082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900" spc="20" i="1">
                <a:latin typeface="Times New Roman"/>
                <a:cs typeface="Times New Roman"/>
              </a:rPr>
              <a:t>V</a:t>
            </a:r>
            <a:endParaRPr sz="6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1444" y="3501644"/>
            <a:ext cx="21526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20" i="1">
                <a:latin typeface="Times New Roman"/>
                <a:cs typeface="Times New Roman"/>
              </a:rPr>
              <a:t>L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67711" y="2736596"/>
            <a:ext cx="4126865" cy="1082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35"/>
              </a:spcBef>
              <a:tabLst>
                <a:tab pos="1917064" algn="l"/>
                <a:tab pos="3663315" algn="l"/>
              </a:tabLst>
            </a:pPr>
            <a:r>
              <a:rPr dirty="0" sz="4600" spc="15">
                <a:latin typeface="Symbol"/>
                <a:cs typeface="Symbol"/>
              </a:rPr>
              <a:t></a:t>
            </a:r>
            <a:r>
              <a:rPr dirty="0" sz="4600">
                <a:latin typeface="Times New Roman"/>
                <a:cs typeface="Times New Roman"/>
              </a:rPr>
              <a:t> </a:t>
            </a:r>
            <a:r>
              <a:rPr dirty="0" baseline="-11674" sz="10350" spc="30" i="1">
                <a:latin typeface="Times New Roman"/>
                <a:cs typeface="Times New Roman"/>
              </a:rPr>
              <a:t>V</a:t>
            </a:r>
            <a:r>
              <a:rPr dirty="0" baseline="-11674" sz="10350" spc="735" i="1">
                <a:latin typeface="Times New Roman"/>
                <a:cs typeface="Times New Roman"/>
              </a:rPr>
              <a:t> </a:t>
            </a:r>
            <a:r>
              <a:rPr dirty="0" baseline="-37735" sz="3975" spc="37" i="1">
                <a:latin typeface="Times New Roman"/>
                <a:cs typeface="Times New Roman"/>
              </a:rPr>
              <a:t>U	</a:t>
            </a:r>
            <a:r>
              <a:rPr dirty="0" sz="4600" spc="15">
                <a:latin typeface="Symbol"/>
                <a:cs typeface="Symbol"/>
              </a:rPr>
              <a:t></a:t>
            </a:r>
            <a:r>
              <a:rPr dirty="0" sz="4600" spc="385">
                <a:latin typeface="Times New Roman"/>
                <a:cs typeface="Times New Roman"/>
              </a:rPr>
              <a:t> </a:t>
            </a:r>
            <a:r>
              <a:rPr dirty="0" baseline="-12077" sz="10350" spc="30" i="1">
                <a:latin typeface="Times New Roman"/>
                <a:cs typeface="Times New Roman"/>
              </a:rPr>
              <a:t>T</a:t>
            </a:r>
            <a:r>
              <a:rPr dirty="0" baseline="-12077" sz="10350" spc="592" i="1">
                <a:latin typeface="Times New Roman"/>
                <a:cs typeface="Times New Roman"/>
              </a:rPr>
              <a:t> </a:t>
            </a:r>
            <a:r>
              <a:rPr dirty="0" baseline="-36687" sz="3975" spc="37" i="1">
                <a:latin typeface="Times New Roman"/>
                <a:cs typeface="Times New Roman"/>
              </a:rPr>
              <a:t>C	</a:t>
            </a:r>
            <a:r>
              <a:rPr dirty="0" sz="4600" spc="20" i="1">
                <a:latin typeface="Times New Roman"/>
                <a:cs typeface="Times New Roman"/>
              </a:rPr>
              <a:t>D</a:t>
            </a:r>
            <a:endParaRPr sz="4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5468" y="3538220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证明：见黑板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2891" y="4233164"/>
            <a:ext cx="8194040" cy="2160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由于负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前列支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到税收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利益，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杠杆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的价值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无杠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杆企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业的价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大， 其差额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负债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乘以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利息节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额，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其也意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着，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负债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越多，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值越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高，企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最 佳的资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结构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100％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使用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5672" y="2919984"/>
            <a:ext cx="5791200" cy="1066800"/>
          </a:xfrm>
          <a:custGeom>
            <a:avLst/>
            <a:gdLst/>
            <a:ahLst/>
            <a:cxnLst/>
            <a:rect l="l" t="t" r="r" b="b"/>
            <a:pathLst>
              <a:path w="5791200" h="1066800">
                <a:moveTo>
                  <a:pt x="0" y="0"/>
                </a:moveTo>
                <a:lnTo>
                  <a:pt x="0" y="1066800"/>
                </a:lnTo>
                <a:lnTo>
                  <a:pt x="5791200" y="1066800"/>
                </a:lnTo>
                <a:lnTo>
                  <a:pt x="5791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43583" y="3053588"/>
            <a:ext cx="256540" cy="6838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4300" spc="5" i="1">
                <a:latin typeface="Times New Roman"/>
                <a:cs typeface="Times New Roman"/>
              </a:rPr>
              <a:t>k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25567" y="3413252"/>
            <a:ext cx="26162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15" i="1">
                <a:latin typeface="Times New Roman"/>
                <a:cs typeface="Times New Roman"/>
              </a:rPr>
              <a:t>eU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32888" y="3413252"/>
            <a:ext cx="26162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15" i="1">
                <a:latin typeface="Times New Roman"/>
                <a:cs typeface="Times New Roman"/>
              </a:rPr>
              <a:t>eU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3624" y="3413252"/>
            <a:ext cx="22669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15" i="1">
                <a:latin typeface="Times New Roman"/>
                <a:cs typeface="Times New Roman"/>
              </a:rPr>
              <a:t>eL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8104" y="2937764"/>
            <a:ext cx="5060950" cy="10896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0800">
              <a:lnSpc>
                <a:spcPts val="4175"/>
              </a:lnSpc>
              <a:spcBef>
                <a:spcPts val="120"/>
              </a:spcBef>
              <a:tabLst>
                <a:tab pos="1086485" algn="l"/>
                <a:tab pos="3479165" algn="l"/>
              </a:tabLst>
            </a:pPr>
            <a:r>
              <a:rPr dirty="0" sz="2850" spc="15">
                <a:latin typeface="Symbol"/>
                <a:cs typeface="Symbol"/>
              </a:rPr>
              <a:t></a:t>
            </a:r>
            <a:r>
              <a:rPr dirty="0" sz="2850" spc="175">
                <a:latin typeface="Times New Roman"/>
                <a:cs typeface="Times New Roman"/>
              </a:rPr>
              <a:t> </a:t>
            </a:r>
            <a:r>
              <a:rPr dirty="0" baseline="-11627" sz="6450" spc="7" i="1">
                <a:latin typeface="Times New Roman"/>
                <a:cs typeface="Times New Roman"/>
              </a:rPr>
              <a:t>k	</a:t>
            </a:r>
            <a:r>
              <a:rPr dirty="0" sz="2850" spc="15">
                <a:latin typeface="Symbol"/>
                <a:cs typeface="Symbol"/>
              </a:rPr>
              <a:t></a:t>
            </a:r>
            <a:r>
              <a:rPr dirty="0" sz="2850" spc="15">
                <a:latin typeface="Times New Roman"/>
                <a:cs typeface="Times New Roman"/>
              </a:rPr>
              <a:t> </a:t>
            </a:r>
            <a:r>
              <a:rPr dirty="0" sz="2850" spc="-75">
                <a:latin typeface="Times New Roman"/>
                <a:cs typeface="Times New Roman"/>
              </a:rPr>
              <a:t>(1 </a:t>
            </a:r>
            <a:r>
              <a:rPr dirty="0" sz="2850" spc="-1270">
                <a:latin typeface="Symbol"/>
                <a:cs typeface="Symbol"/>
              </a:rPr>
              <a:t></a:t>
            </a:r>
            <a:r>
              <a:rPr dirty="0" sz="2850" spc="-1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Tc</a:t>
            </a:r>
            <a:r>
              <a:rPr dirty="0" sz="2850" spc="-110" i="1">
                <a:latin typeface="Times New Roman"/>
                <a:cs typeface="Times New Roman"/>
              </a:rPr>
              <a:t> </a:t>
            </a:r>
            <a:r>
              <a:rPr dirty="0" sz="2850" spc="10">
                <a:latin typeface="Times New Roman"/>
                <a:cs typeface="Times New Roman"/>
              </a:rPr>
              <a:t>)(</a:t>
            </a:r>
            <a:r>
              <a:rPr dirty="0" sz="2850" spc="-425">
                <a:latin typeface="Times New Roman"/>
                <a:cs typeface="Times New Roman"/>
              </a:rPr>
              <a:t> </a:t>
            </a:r>
            <a:r>
              <a:rPr dirty="0" baseline="-11627" sz="6450" spc="7" i="1">
                <a:latin typeface="Times New Roman"/>
                <a:cs typeface="Times New Roman"/>
              </a:rPr>
              <a:t>k	</a:t>
            </a:r>
            <a:r>
              <a:rPr dirty="0" sz="2850" spc="-1270">
                <a:latin typeface="Symbol"/>
                <a:cs typeface="Symbol"/>
              </a:rPr>
              <a:t></a:t>
            </a:r>
            <a:r>
              <a:rPr dirty="0" sz="2850" spc="185">
                <a:latin typeface="Times New Roman"/>
                <a:cs typeface="Times New Roman"/>
              </a:rPr>
              <a:t> </a:t>
            </a:r>
            <a:r>
              <a:rPr dirty="0" sz="2850" spc="10" i="1">
                <a:latin typeface="Times New Roman"/>
                <a:cs typeface="Times New Roman"/>
              </a:rPr>
              <a:t>kd </a:t>
            </a:r>
            <a:r>
              <a:rPr dirty="0" sz="2850" spc="10">
                <a:latin typeface="Times New Roman"/>
                <a:cs typeface="Times New Roman"/>
              </a:rPr>
              <a:t>)</a:t>
            </a:r>
            <a:r>
              <a:rPr dirty="0" u="heavy" baseline="35087" sz="4275" spc="6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35087" sz="4275" spc="3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endParaRPr baseline="35087" sz="4275">
              <a:latin typeface="Times New Roman"/>
              <a:cs typeface="Times New Roman"/>
            </a:endParaRPr>
          </a:p>
          <a:p>
            <a:pPr algn="r" marR="43180">
              <a:lnSpc>
                <a:spcPts val="4175"/>
              </a:lnSpc>
            </a:pPr>
            <a:r>
              <a:rPr dirty="0" sz="4300" spc="10" i="1">
                <a:latin typeface="Times New Roman"/>
                <a:cs typeface="Times New Roman"/>
              </a:rPr>
              <a:t>E</a:t>
            </a:r>
            <a:r>
              <a:rPr dirty="0" sz="4300" spc="-530" i="1">
                <a:latin typeface="Times New Roman"/>
                <a:cs typeface="Times New Roman"/>
              </a:rPr>
              <a:t> </a:t>
            </a:r>
            <a:r>
              <a:rPr dirty="0" baseline="-5050" sz="2475" spc="22" i="1">
                <a:latin typeface="Times New Roman"/>
                <a:cs typeface="Times New Roman"/>
              </a:rPr>
              <a:t>L</a:t>
            </a:r>
            <a:endParaRPr baseline="-5050" sz="247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8723" y="4547108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证明：见黑板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85672" y="4072128"/>
            <a:ext cx="5562600" cy="1082040"/>
          </a:xfrm>
          <a:custGeom>
            <a:avLst/>
            <a:gdLst/>
            <a:ahLst/>
            <a:cxnLst/>
            <a:rect l="l" t="t" r="r" b="b"/>
            <a:pathLst>
              <a:path w="5562600" h="1082039">
                <a:moveTo>
                  <a:pt x="0" y="0"/>
                </a:moveTo>
                <a:lnTo>
                  <a:pt x="0" y="1082040"/>
                </a:lnTo>
                <a:lnTo>
                  <a:pt x="5562600" y="1082040"/>
                </a:lnTo>
                <a:lnTo>
                  <a:pt x="5562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46632" y="4208780"/>
            <a:ext cx="259079" cy="691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4350" spc="5" i="1">
                <a:latin typeface="Times New Roman"/>
                <a:cs typeface="Times New Roman"/>
              </a:rPr>
              <a:t>k</a:t>
            </a:r>
            <a:endParaRPr sz="4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64023" y="4577588"/>
            <a:ext cx="16700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20" i="1">
                <a:latin typeface="Times New Roman"/>
                <a:cs typeface="Times New Roman"/>
              </a:rPr>
              <a:t>U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78023" y="4577588"/>
            <a:ext cx="16700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20" i="1">
                <a:latin typeface="Times New Roman"/>
                <a:cs typeface="Times New Roman"/>
              </a:rPr>
              <a:t>U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911" y="4577588"/>
            <a:ext cx="13144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650" spc="15" i="1">
                <a:latin typeface="Times New Roman"/>
                <a:cs typeface="Times New Roman"/>
              </a:rPr>
              <a:t>L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84095" y="4092956"/>
            <a:ext cx="4871720" cy="11029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ts val="4230"/>
              </a:lnSpc>
              <a:spcBef>
                <a:spcPts val="114"/>
              </a:spcBef>
              <a:tabLst>
                <a:tab pos="992505" algn="l"/>
                <a:tab pos="3275329" algn="l"/>
              </a:tabLst>
            </a:pPr>
            <a:r>
              <a:rPr dirty="0" sz="2900">
                <a:latin typeface="Symbol"/>
                <a:cs typeface="Symbol"/>
              </a:rPr>
              <a:t></a:t>
            </a:r>
            <a:r>
              <a:rPr dirty="0" sz="2900" spc="345">
                <a:latin typeface="Times New Roman"/>
                <a:cs typeface="Times New Roman"/>
              </a:rPr>
              <a:t> </a:t>
            </a:r>
            <a:r>
              <a:rPr dirty="0" baseline="-11494" sz="6525" spc="7" i="1">
                <a:latin typeface="Times New Roman"/>
                <a:cs typeface="Times New Roman"/>
              </a:rPr>
              <a:t>k	</a:t>
            </a:r>
            <a:r>
              <a:rPr dirty="0" sz="2900">
                <a:latin typeface="Symbol"/>
                <a:cs typeface="Symbol"/>
              </a:rPr>
              <a:t></a:t>
            </a:r>
            <a:r>
              <a:rPr dirty="0" sz="2900">
                <a:latin typeface="Times New Roman"/>
                <a:cs typeface="Times New Roman"/>
              </a:rPr>
              <a:t> </a:t>
            </a:r>
            <a:r>
              <a:rPr dirty="0" sz="2900" spc="-80">
                <a:latin typeface="Times New Roman"/>
                <a:cs typeface="Times New Roman"/>
              </a:rPr>
              <a:t>(1 </a:t>
            </a:r>
            <a:r>
              <a:rPr dirty="0" sz="2900" spc="-1310">
                <a:latin typeface="Symbol"/>
                <a:cs typeface="Symbol"/>
              </a:rPr>
              <a:t>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 spc="-5" i="1">
                <a:latin typeface="Times New Roman"/>
                <a:cs typeface="Times New Roman"/>
              </a:rPr>
              <a:t>Tc</a:t>
            </a:r>
            <a:r>
              <a:rPr dirty="0" sz="2900" spc="-150" i="1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)(</a:t>
            </a:r>
            <a:r>
              <a:rPr dirty="0" sz="2900" spc="-400">
                <a:latin typeface="Times New Roman"/>
                <a:cs typeface="Times New Roman"/>
              </a:rPr>
              <a:t> </a:t>
            </a:r>
            <a:r>
              <a:rPr dirty="0" baseline="-11494" sz="6525" spc="7" i="1">
                <a:latin typeface="Times New Roman"/>
                <a:cs typeface="Times New Roman"/>
              </a:rPr>
              <a:t>k	</a:t>
            </a:r>
            <a:r>
              <a:rPr dirty="0" sz="2900" spc="-1310">
                <a:latin typeface="Symbol"/>
                <a:cs typeface="Symbol"/>
              </a:rPr>
              <a:t></a:t>
            </a:r>
            <a:r>
              <a:rPr dirty="0" sz="2900" spc="160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kd </a:t>
            </a:r>
            <a:r>
              <a:rPr dirty="0" sz="2900">
                <a:latin typeface="Times New Roman"/>
                <a:cs typeface="Times New Roman"/>
              </a:rPr>
              <a:t>)</a:t>
            </a:r>
            <a:r>
              <a:rPr dirty="0" u="heavy" baseline="34482" sz="4350" spc="70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baseline="34482" sz="43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endParaRPr baseline="34482" sz="4350">
              <a:latin typeface="Times New Roman"/>
              <a:cs typeface="Times New Roman"/>
            </a:endParaRPr>
          </a:p>
          <a:p>
            <a:pPr algn="r" marR="43180">
              <a:lnSpc>
                <a:spcPts val="4230"/>
              </a:lnSpc>
            </a:pPr>
            <a:r>
              <a:rPr dirty="0" sz="4350" spc="10" i="1">
                <a:latin typeface="Times New Roman"/>
                <a:cs typeface="Times New Roman"/>
              </a:rPr>
              <a:t>E</a:t>
            </a:r>
            <a:r>
              <a:rPr dirty="0" sz="4350" spc="-520" i="1">
                <a:latin typeface="Times New Roman"/>
                <a:cs typeface="Times New Roman"/>
              </a:rPr>
              <a:t> </a:t>
            </a:r>
            <a:r>
              <a:rPr dirty="0" baseline="-3367" sz="2475" spc="22" i="1">
                <a:latin typeface="Times New Roman"/>
                <a:cs typeface="Times New Roman"/>
              </a:rPr>
              <a:t>L</a:t>
            </a:r>
            <a:endParaRPr baseline="-3367" sz="247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2891" y="609092"/>
            <a:ext cx="8017509" cy="23374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54610">
              <a:lnSpc>
                <a:spcPct val="100000"/>
              </a:lnSpc>
              <a:spcBef>
                <a:spcPts val="105"/>
              </a:spcBef>
            </a:pPr>
            <a:r>
              <a:rPr dirty="0" sz="4000" b="1">
                <a:solidFill>
                  <a:srgbClr val="FFCC00"/>
                </a:solidFill>
                <a:latin typeface="Arial"/>
                <a:cs typeface="Arial"/>
              </a:rPr>
              <a:t>MM</a:t>
            </a:r>
            <a:r>
              <a:rPr dirty="0" sz="4000" spc="25" b="1">
                <a:solidFill>
                  <a:srgbClr val="FFCC00"/>
                </a:solidFill>
                <a:latin typeface="Microsoft JhengHei"/>
                <a:cs typeface="Microsoft JhengHei"/>
              </a:rPr>
              <a:t>模</a:t>
            </a:r>
            <a:r>
              <a:rPr dirty="0" sz="4000" spc="5" b="1">
                <a:solidFill>
                  <a:srgbClr val="FFCC00"/>
                </a:solidFill>
                <a:latin typeface="Microsoft JhengHei"/>
                <a:cs typeface="Microsoft JhengHei"/>
              </a:rPr>
              <a:t>型：存在</a:t>
            </a:r>
            <a:r>
              <a:rPr dirty="0" sz="4000" spc="25" b="1">
                <a:solidFill>
                  <a:srgbClr val="FFCC00"/>
                </a:solidFill>
                <a:latin typeface="Microsoft JhengHei"/>
                <a:cs typeface="Microsoft JhengHei"/>
              </a:rPr>
              <a:t>公</a:t>
            </a:r>
            <a:r>
              <a:rPr dirty="0" sz="4000" spc="5" b="1">
                <a:solidFill>
                  <a:srgbClr val="FFCC00"/>
                </a:solidFill>
                <a:latin typeface="Microsoft JhengHei"/>
                <a:cs typeface="Microsoft JhengHei"/>
              </a:rPr>
              <a:t>司所得税</a:t>
            </a:r>
            <a:endParaRPr sz="4000">
              <a:latin typeface="Microsoft JhengHei"/>
              <a:cs typeface="Microsoft JhengHei"/>
            </a:endParaRPr>
          </a:p>
          <a:p>
            <a:pPr marL="356870" marR="5080" indent="-344805">
              <a:lnSpc>
                <a:spcPct val="100000"/>
              </a:lnSpc>
              <a:spcBef>
                <a:spcPts val="331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经修正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M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M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在存在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得税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的情形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普通股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回报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资本成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）与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结构的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系 如下：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7491" y="5312156"/>
            <a:ext cx="8244840" cy="1310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82270" marR="30480" indent="-344805">
              <a:lnSpc>
                <a:spcPct val="100400"/>
              </a:lnSpc>
              <a:spcBef>
                <a:spcPts val="95"/>
              </a:spcBef>
              <a:buClr>
                <a:srgbClr val="FF6600"/>
              </a:buClr>
              <a:buChar char="•"/>
              <a:tabLst>
                <a:tab pos="3829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有杠杆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益的税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回报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于无杠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作用 的税后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报率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加上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之和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的大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小不仅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D/E</a:t>
            </a:r>
            <a:r>
              <a:rPr dirty="0" baseline="-20467" sz="2850">
                <a:solidFill>
                  <a:srgbClr val="FFFFFF"/>
                </a:solidFill>
                <a:latin typeface="宋体"/>
                <a:cs typeface="宋体"/>
              </a:rPr>
              <a:t>L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kd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Tc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有关。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4916" y="404876"/>
            <a:ext cx="7673340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16860" marR="5080" indent="-2804160">
              <a:lnSpc>
                <a:spcPct val="100000"/>
              </a:lnSpc>
              <a:spcBef>
                <a:spcPts val="105"/>
              </a:spcBef>
            </a:pPr>
            <a:r>
              <a:rPr dirty="0" sz="4000" spc="-1955" b="1">
                <a:solidFill>
                  <a:srgbClr val="FFCC00"/>
                </a:solidFill>
                <a:latin typeface="Microsoft JhengHei"/>
                <a:cs typeface="Microsoft JhengHei"/>
              </a:rPr>
              <a:t>MM</a:t>
            </a:r>
            <a:r>
              <a:rPr dirty="0" sz="4000" spc="5" b="1">
                <a:solidFill>
                  <a:srgbClr val="FFCC00"/>
                </a:solidFill>
                <a:latin typeface="Microsoft JhengHei"/>
                <a:cs typeface="Microsoft JhengHei"/>
              </a:rPr>
              <a:t>模型：</a:t>
            </a:r>
            <a:r>
              <a:rPr dirty="0" sz="4000" spc="25" b="1">
                <a:solidFill>
                  <a:srgbClr val="FFCC00"/>
                </a:solidFill>
                <a:latin typeface="Microsoft JhengHei"/>
                <a:cs typeface="Microsoft JhengHei"/>
              </a:rPr>
              <a:t>同</a:t>
            </a:r>
            <a:r>
              <a:rPr dirty="0" sz="4000" spc="5" b="1">
                <a:solidFill>
                  <a:srgbClr val="FFCC00"/>
                </a:solidFill>
                <a:latin typeface="Microsoft JhengHei"/>
                <a:cs typeface="Microsoft JhengHei"/>
              </a:rPr>
              <a:t>时存</a:t>
            </a:r>
            <a:r>
              <a:rPr dirty="0" sz="4000" spc="25" b="1">
                <a:solidFill>
                  <a:srgbClr val="FFCC00"/>
                </a:solidFill>
                <a:latin typeface="Microsoft JhengHei"/>
                <a:cs typeface="Microsoft JhengHei"/>
              </a:rPr>
              <a:t>在</a:t>
            </a:r>
            <a:r>
              <a:rPr dirty="0" sz="4000" spc="5" b="1">
                <a:solidFill>
                  <a:srgbClr val="FFCC00"/>
                </a:solidFill>
                <a:latin typeface="Microsoft JhengHei"/>
                <a:cs typeface="Microsoft JhengHei"/>
              </a:rPr>
              <a:t>公司所得税</a:t>
            </a:r>
            <a:r>
              <a:rPr dirty="0" sz="4000" spc="25" b="1">
                <a:solidFill>
                  <a:srgbClr val="FFCC00"/>
                </a:solidFill>
                <a:latin typeface="Microsoft JhengHei"/>
                <a:cs typeface="Microsoft JhengHei"/>
              </a:rPr>
              <a:t>和</a:t>
            </a:r>
            <a:r>
              <a:rPr dirty="0" sz="4000" spc="5" b="1">
                <a:solidFill>
                  <a:srgbClr val="FFCC00"/>
                </a:solidFill>
                <a:latin typeface="Microsoft JhengHei"/>
                <a:cs typeface="Microsoft JhengHei"/>
              </a:rPr>
              <a:t>个</a:t>
            </a:r>
            <a:r>
              <a:rPr dirty="0" sz="4000" spc="-4029" b="1">
                <a:solidFill>
                  <a:srgbClr val="FFCC00"/>
                </a:solidFill>
                <a:latin typeface="Microsoft JhengHei"/>
                <a:cs typeface="Microsoft JhengHei"/>
              </a:rPr>
              <a:t>人 </a:t>
            </a:r>
            <a:r>
              <a:rPr dirty="0" sz="4000" spc="25" b="1">
                <a:solidFill>
                  <a:srgbClr val="FFCC00"/>
                </a:solidFill>
                <a:latin typeface="Microsoft JhengHei"/>
                <a:cs typeface="Microsoft JhengHei"/>
              </a:rPr>
              <a:t>所</a:t>
            </a:r>
            <a:r>
              <a:rPr dirty="0" sz="4000" spc="5" b="1">
                <a:solidFill>
                  <a:srgbClr val="FFCC00"/>
                </a:solidFill>
                <a:latin typeface="Microsoft JhengHei"/>
                <a:cs typeface="Microsoft JhengHei"/>
              </a:rPr>
              <a:t>得税</a:t>
            </a:r>
            <a:endParaRPr sz="40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9164" y="5123180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证明：见黑板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2856" y="2633472"/>
            <a:ext cx="7775575" cy="2377440"/>
          </a:xfrm>
          <a:custGeom>
            <a:avLst/>
            <a:gdLst/>
            <a:ahLst/>
            <a:cxnLst/>
            <a:rect l="l" t="t" r="r" b="b"/>
            <a:pathLst>
              <a:path w="7775575" h="2377440">
                <a:moveTo>
                  <a:pt x="0" y="0"/>
                </a:moveTo>
                <a:lnTo>
                  <a:pt x="0" y="2377440"/>
                </a:lnTo>
                <a:lnTo>
                  <a:pt x="7775448" y="2377440"/>
                </a:lnTo>
                <a:lnTo>
                  <a:pt x="7775448" y="0"/>
                </a:lnTo>
                <a:lnTo>
                  <a:pt x="0" y="0"/>
                </a:lnTo>
                <a:close/>
              </a:path>
            </a:pathLst>
          </a:custGeom>
          <a:solidFill>
            <a:srgbClr val="BADF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52855" y="2834132"/>
            <a:ext cx="497205" cy="9766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6250" spc="-10" i="1">
                <a:latin typeface="Times New Roman"/>
                <a:cs typeface="Times New Roman"/>
              </a:rPr>
              <a:t>V</a:t>
            </a:r>
            <a:endParaRPr sz="6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3791" y="3355340"/>
            <a:ext cx="1470025" cy="3949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1233805" algn="l"/>
              </a:tabLst>
            </a:pPr>
            <a:r>
              <a:rPr dirty="0" sz="2400" spc="10" i="1">
                <a:latin typeface="Times New Roman"/>
                <a:cs typeface="Times New Roman"/>
              </a:rPr>
              <a:t>L</a:t>
            </a:r>
            <a:r>
              <a:rPr dirty="0" sz="2400" spc="10" i="1">
                <a:latin typeface="Times New Roman"/>
                <a:cs typeface="Times New Roman"/>
              </a:rPr>
              <a:t>	</a:t>
            </a:r>
            <a:r>
              <a:rPr dirty="0" sz="2400" spc="15" i="1">
                <a:latin typeface="Times New Roman"/>
                <a:cs typeface="Times New Roman"/>
              </a:rPr>
              <a:t>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9751" y="3903980"/>
            <a:ext cx="2562225" cy="9766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1350645" algn="l"/>
              </a:tabLst>
            </a:pPr>
            <a:r>
              <a:rPr dirty="0" sz="4150">
                <a:latin typeface="Symbol"/>
                <a:cs typeface="Symbol"/>
              </a:rPr>
              <a:t></a:t>
            </a:r>
            <a:r>
              <a:rPr dirty="0" sz="4150" spc="-655">
                <a:latin typeface="Times New Roman"/>
                <a:cs typeface="Times New Roman"/>
              </a:rPr>
              <a:t> </a:t>
            </a:r>
            <a:r>
              <a:rPr dirty="0" baseline="-11555" sz="9375" spc="-15" i="1">
                <a:latin typeface="Times New Roman"/>
                <a:cs typeface="Times New Roman"/>
              </a:rPr>
              <a:t>V</a:t>
            </a:r>
            <a:r>
              <a:rPr dirty="0" baseline="-11555" sz="9375" spc="-1117" i="1">
                <a:latin typeface="Times New Roman"/>
                <a:cs typeface="Times New Roman"/>
              </a:rPr>
              <a:t> </a:t>
            </a:r>
            <a:r>
              <a:rPr dirty="0" baseline="-37037" sz="3600" spc="22" i="1">
                <a:latin typeface="Times New Roman"/>
                <a:cs typeface="Times New Roman"/>
              </a:rPr>
              <a:t>U	</a:t>
            </a:r>
            <a:r>
              <a:rPr dirty="0" sz="4150">
                <a:latin typeface="Symbol"/>
                <a:cs typeface="Symbol"/>
              </a:rPr>
              <a:t></a:t>
            </a:r>
            <a:r>
              <a:rPr dirty="0" sz="4150" spc="-150">
                <a:latin typeface="Times New Roman"/>
                <a:cs typeface="Times New Roman"/>
              </a:rPr>
              <a:t> </a:t>
            </a:r>
            <a:r>
              <a:rPr dirty="0" sz="4150" spc="-5" i="1">
                <a:latin typeface="Times New Roman"/>
                <a:cs typeface="Times New Roman"/>
              </a:rPr>
              <a:t>GD</a:t>
            </a:r>
            <a:endParaRPr sz="4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66239" y="2666492"/>
            <a:ext cx="886460" cy="9766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sz="4150">
                <a:latin typeface="Symbol"/>
                <a:cs typeface="Symbol"/>
              </a:rPr>
              <a:t></a:t>
            </a:r>
            <a:r>
              <a:rPr dirty="0" sz="4150" spc="-710">
                <a:latin typeface="Times New Roman"/>
                <a:cs typeface="Times New Roman"/>
              </a:rPr>
              <a:t> </a:t>
            </a:r>
            <a:r>
              <a:rPr dirty="0" baseline="-11555" sz="9375" spc="-15" i="1">
                <a:latin typeface="Times New Roman"/>
                <a:cs typeface="Times New Roman"/>
              </a:rPr>
              <a:t>V</a:t>
            </a:r>
            <a:endParaRPr baseline="-11555" sz="937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6255" y="3346196"/>
            <a:ext cx="1962785" cy="658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4150" spc="-165">
                <a:latin typeface="Times New Roman"/>
                <a:cs typeface="Times New Roman"/>
              </a:rPr>
              <a:t>(1 </a:t>
            </a:r>
            <a:r>
              <a:rPr dirty="0" sz="4150" spc="-1875">
                <a:latin typeface="Symbol"/>
                <a:cs typeface="Symbol"/>
              </a:rPr>
              <a:t></a:t>
            </a:r>
            <a:r>
              <a:rPr dirty="0" sz="4150" spc="-330">
                <a:latin typeface="Times New Roman"/>
                <a:cs typeface="Times New Roman"/>
              </a:rPr>
              <a:t> </a:t>
            </a:r>
            <a:r>
              <a:rPr dirty="0" sz="4150" i="1">
                <a:latin typeface="Times New Roman"/>
                <a:cs typeface="Times New Roman"/>
              </a:rPr>
              <a:t>Tpd</a:t>
            </a:r>
            <a:r>
              <a:rPr dirty="0" sz="4150" spc="-625" i="1">
                <a:latin typeface="Times New Roman"/>
                <a:cs typeface="Times New Roman"/>
              </a:rPr>
              <a:t> </a:t>
            </a:r>
            <a:r>
              <a:rPr dirty="0" sz="4150">
                <a:latin typeface="Times New Roman"/>
                <a:cs typeface="Times New Roman"/>
              </a:rPr>
              <a:t>)</a:t>
            </a:r>
            <a:endParaRPr sz="4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989072" y="2596388"/>
            <a:ext cx="5483225" cy="6584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baseline="-35475" sz="6225" b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dirty="0" baseline="-35475" sz="6225" spc="-419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baseline="-35475" sz="6225" spc="-232" b="0">
                <a:solidFill>
                  <a:srgbClr val="000000"/>
                </a:solidFill>
                <a:latin typeface="Times New Roman"/>
                <a:cs typeface="Times New Roman"/>
              </a:rPr>
              <a:t>[1</a:t>
            </a:r>
            <a:r>
              <a:rPr dirty="0" baseline="-35475" sz="6225" spc="-652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baseline="-35475" sz="6225" spc="-2812" b="0">
                <a:solidFill>
                  <a:srgbClr val="000000"/>
                </a:solidFill>
                <a:latin typeface="Symbol"/>
                <a:cs typeface="Symbol"/>
              </a:rPr>
              <a:t></a:t>
            </a:r>
            <a:r>
              <a:rPr dirty="0" baseline="-35475" sz="6225" spc="40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u="heavy" sz="4150" spc="-155" b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(1</a:t>
            </a:r>
            <a:r>
              <a:rPr dirty="0" u="heavy" sz="4150" spc="-434" b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4150" spc="-1875" b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</a:t>
            </a:r>
            <a:r>
              <a:rPr dirty="0" u="heavy" sz="4150" spc="-300" b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4150" spc="-5" b="0" i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Tc</a:t>
            </a:r>
            <a:r>
              <a:rPr dirty="0" sz="4150" spc="-750" b="0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u="heavy" sz="4150" spc="-100" b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)(1</a:t>
            </a:r>
            <a:r>
              <a:rPr dirty="0" u="heavy" sz="4150" spc="-409" b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4150" spc="-1875" b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</a:t>
            </a:r>
            <a:r>
              <a:rPr dirty="0" u="heavy" sz="4150" spc="-305" b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4150" b="0" i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Tpe</a:t>
            </a:r>
            <a:r>
              <a:rPr dirty="0" sz="4150" spc="-770" b="0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u="heavy" sz="4150" b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)</a:t>
            </a:r>
            <a:r>
              <a:rPr dirty="0" sz="4150" spc="-60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baseline="-35475" sz="6225" spc="75" b="0">
                <a:solidFill>
                  <a:srgbClr val="000000"/>
                </a:solidFill>
                <a:latin typeface="Times New Roman"/>
                <a:cs typeface="Times New Roman"/>
              </a:rPr>
              <a:t>]</a:t>
            </a:r>
            <a:r>
              <a:rPr dirty="0" baseline="-35475" sz="6225" spc="75" b="0" i="1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endParaRPr baseline="-35475" sz="6225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2871" y="4601972"/>
            <a:ext cx="2975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其中</a:t>
            </a:r>
            <a:r>
              <a:rPr dirty="0" sz="2400" spc="-10">
                <a:latin typeface="Times New Roman"/>
                <a:cs typeface="Times New Roman"/>
              </a:rPr>
              <a:t>G</a:t>
            </a:r>
            <a:r>
              <a:rPr dirty="0" sz="2400">
                <a:latin typeface="宋体"/>
                <a:cs typeface="宋体"/>
              </a:rPr>
              <a:t>为杠杆作用利得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33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dirty="0" spc="5"/>
              <a:t>分析</a:t>
            </a:r>
          </a:p>
          <a:p>
            <a:pPr marL="781685" indent="-287655">
              <a:lnSpc>
                <a:spcPct val="100000"/>
              </a:lnSpc>
              <a:spcBef>
                <a:spcPts val="505"/>
              </a:spcBef>
              <a:buClr>
                <a:srgbClr val="FF6600"/>
              </a:buClr>
              <a:buChar char="•"/>
              <a:tabLst>
                <a:tab pos="782320" algn="l"/>
              </a:tabLst>
            </a:pPr>
            <a:r>
              <a:rPr dirty="0" sz="2200" spc="5"/>
              <a:t>当所有</a:t>
            </a:r>
            <a:r>
              <a:rPr dirty="0" sz="2200" spc="-20"/>
              <a:t>的</a:t>
            </a:r>
            <a:r>
              <a:rPr dirty="0" sz="2200" spc="5"/>
              <a:t>税率</a:t>
            </a:r>
            <a:r>
              <a:rPr dirty="0" sz="2200" spc="-20"/>
              <a:t>为</a:t>
            </a:r>
            <a:r>
              <a:rPr dirty="0" sz="2200" spc="5"/>
              <a:t>零时</a:t>
            </a:r>
            <a:r>
              <a:rPr dirty="0" sz="2200"/>
              <a:t>，G＝0，</a:t>
            </a:r>
            <a:r>
              <a:rPr dirty="0" sz="2200" spc="5"/>
              <a:t>回</a:t>
            </a:r>
            <a:r>
              <a:rPr dirty="0" sz="2200" spc="-20"/>
              <a:t>到</a:t>
            </a:r>
            <a:r>
              <a:rPr dirty="0" sz="2200" spc="5"/>
              <a:t>无税</a:t>
            </a:r>
            <a:r>
              <a:rPr dirty="0" sz="2200" spc="-20"/>
              <a:t>收</a:t>
            </a:r>
            <a:r>
              <a:rPr dirty="0" sz="2200" spc="5"/>
              <a:t>的</a:t>
            </a:r>
            <a:r>
              <a:rPr dirty="0" sz="2200"/>
              <a:t>MM</a:t>
            </a:r>
            <a:r>
              <a:rPr dirty="0" sz="2200" spc="-20"/>
              <a:t>定</a:t>
            </a:r>
            <a:r>
              <a:rPr dirty="0" sz="2200" spc="5"/>
              <a:t>理</a:t>
            </a:r>
            <a:endParaRPr sz="2200"/>
          </a:p>
          <a:p>
            <a:pPr marL="781685" indent="-287655">
              <a:lnSpc>
                <a:spcPct val="100000"/>
              </a:lnSpc>
              <a:spcBef>
                <a:spcPts val="525"/>
              </a:spcBef>
              <a:buClr>
                <a:srgbClr val="FF6600"/>
              </a:buClr>
              <a:buChar char="•"/>
              <a:tabLst>
                <a:tab pos="782320" algn="l"/>
              </a:tabLst>
            </a:pPr>
            <a:r>
              <a:rPr dirty="0" sz="2200" spc="5"/>
              <a:t>当</a:t>
            </a:r>
            <a:r>
              <a:rPr dirty="0" sz="2200"/>
              <a:t>T</a:t>
            </a:r>
            <a:r>
              <a:rPr dirty="0" baseline="-22222" sz="2250"/>
              <a:t>pe</a:t>
            </a:r>
            <a:r>
              <a:rPr dirty="0" sz="2200"/>
              <a:t>=T</a:t>
            </a:r>
            <a:r>
              <a:rPr dirty="0" baseline="-22222" sz="2250"/>
              <a:t>pd</a:t>
            </a:r>
            <a:r>
              <a:rPr dirty="0" sz="2200"/>
              <a:t>=0</a:t>
            </a:r>
            <a:r>
              <a:rPr dirty="0" sz="2200" spc="-20"/>
              <a:t>时</a:t>
            </a:r>
            <a:r>
              <a:rPr dirty="0" sz="2200" spc="5"/>
              <a:t>，回</a:t>
            </a:r>
            <a:r>
              <a:rPr dirty="0" sz="2200" spc="-20"/>
              <a:t>到</a:t>
            </a:r>
            <a:r>
              <a:rPr dirty="0" sz="2200" spc="5"/>
              <a:t>存</a:t>
            </a:r>
            <a:r>
              <a:rPr dirty="0" sz="2200" spc="-20"/>
              <a:t>在</a:t>
            </a:r>
            <a:r>
              <a:rPr dirty="0" sz="2200" spc="5"/>
              <a:t>公司所</a:t>
            </a:r>
            <a:r>
              <a:rPr dirty="0" sz="2200" spc="-20"/>
              <a:t>得</a:t>
            </a:r>
            <a:r>
              <a:rPr dirty="0" sz="2200" spc="5"/>
              <a:t>税的</a:t>
            </a:r>
            <a:r>
              <a:rPr dirty="0" sz="2200" spc="-20"/>
              <a:t>经</a:t>
            </a:r>
            <a:r>
              <a:rPr dirty="0" sz="2200" spc="5"/>
              <a:t>调整的</a:t>
            </a:r>
            <a:r>
              <a:rPr dirty="0" sz="2200" spc="-25"/>
              <a:t>MM</a:t>
            </a:r>
            <a:r>
              <a:rPr dirty="0" sz="2200" spc="5"/>
              <a:t>定理</a:t>
            </a:r>
            <a:endParaRPr sz="2200"/>
          </a:p>
          <a:p>
            <a:pPr marL="781685" indent="-287655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Char char="•"/>
              <a:tabLst>
                <a:tab pos="782320" algn="l"/>
              </a:tabLst>
            </a:pPr>
            <a:r>
              <a:rPr dirty="0" sz="2200" spc="5"/>
              <a:t>当</a:t>
            </a:r>
            <a:r>
              <a:rPr dirty="0" sz="2200"/>
              <a:t>T</a:t>
            </a:r>
            <a:r>
              <a:rPr dirty="0" baseline="-19841" sz="2100"/>
              <a:t>pe</a:t>
            </a:r>
            <a:r>
              <a:rPr dirty="0" sz="2200"/>
              <a:t>=T</a:t>
            </a:r>
            <a:r>
              <a:rPr dirty="0" baseline="-22222" sz="2250"/>
              <a:t>pd</a:t>
            </a:r>
            <a:r>
              <a:rPr dirty="0" sz="2200" spc="-20"/>
              <a:t>时</a:t>
            </a:r>
            <a:r>
              <a:rPr dirty="0" sz="2200" spc="5"/>
              <a:t>，经</a:t>
            </a:r>
            <a:r>
              <a:rPr dirty="0" sz="2200" spc="-20"/>
              <a:t>调</a:t>
            </a:r>
            <a:r>
              <a:rPr dirty="0" sz="2200" spc="5"/>
              <a:t>整的</a:t>
            </a:r>
            <a:r>
              <a:rPr dirty="0" sz="2200" spc="-10"/>
              <a:t>MM</a:t>
            </a:r>
            <a:r>
              <a:rPr dirty="0" sz="2200" spc="5"/>
              <a:t>定理也</a:t>
            </a:r>
            <a:r>
              <a:rPr dirty="0" sz="2200" spc="-20"/>
              <a:t>成</a:t>
            </a:r>
            <a:r>
              <a:rPr dirty="0" sz="2200" spc="5"/>
              <a:t>立</a:t>
            </a:r>
            <a:endParaRPr sz="2200"/>
          </a:p>
          <a:p>
            <a:pPr marL="781685" indent="-287655">
              <a:lnSpc>
                <a:spcPct val="100000"/>
              </a:lnSpc>
              <a:spcBef>
                <a:spcPts val="505"/>
              </a:spcBef>
              <a:buClr>
                <a:srgbClr val="FF6600"/>
              </a:buClr>
              <a:buChar char="•"/>
              <a:tabLst>
                <a:tab pos="782320" algn="l"/>
              </a:tabLst>
            </a:pPr>
            <a:r>
              <a:rPr dirty="0" sz="2200" spc="5"/>
              <a:t>当T</a:t>
            </a:r>
            <a:r>
              <a:rPr dirty="0" baseline="-22222" sz="2250" spc="-15"/>
              <a:t>p</a:t>
            </a:r>
            <a:r>
              <a:rPr dirty="0" baseline="-22222" sz="2250" spc="22"/>
              <a:t>e</a:t>
            </a:r>
            <a:r>
              <a:rPr dirty="0" sz="2200"/>
              <a:t>&lt;</a:t>
            </a:r>
            <a:r>
              <a:rPr dirty="0" sz="2200" spc="-25"/>
              <a:t>T</a:t>
            </a:r>
            <a:r>
              <a:rPr dirty="0" baseline="-22222" sz="2250" spc="-15"/>
              <a:t>p</a:t>
            </a:r>
            <a:r>
              <a:rPr dirty="0" baseline="-22222" sz="2250" spc="22"/>
              <a:t>d</a:t>
            </a:r>
            <a:r>
              <a:rPr dirty="0" sz="2200" spc="5"/>
              <a:t>时</a:t>
            </a:r>
            <a:r>
              <a:rPr dirty="0" sz="2200" spc="-20"/>
              <a:t>，</a:t>
            </a:r>
            <a:r>
              <a:rPr dirty="0" sz="2200" spc="5"/>
              <a:t>债务</a:t>
            </a:r>
            <a:r>
              <a:rPr dirty="0" sz="2200" spc="-20"/>
              <a:t>杠</a:t>
            </a:r>
            <a:r>
              <a:rPr dirty="0" sz="2200" spc="5"/>
              <a:t>杆</a:t>
            </a:r>
            <a:r>
              <a:rPr dirty="0" sz="2200" spc="-20"/>
              <a:t>产</a:t>
            </a:r>
            <a:r>
              <a:rPr dirty="0" sz="2200" spc="5"/>
              <a:t>生的利</a:t>
            </a:r>
            <a:r>
              <a:rPr dirty="0" sz="2200" spc="-20"/>
              <a:t>得</a:t>
            </a:r>
            <a:r>
              <a:rPr dirty="0" sz="2200" spc="5"/>
              <a:t>少于</a:t>
            </a:r>
            <a:r>
              <a:rPr dirty="0" sz="2200" spc="-25"/>
              <a:t>T</a:t>
            </a:r>
            <a:r>
              <a:rPr dirty="0" baseline="-22222" sz="2250" spc="22"/>
              <a:t>c</a:t>
            </a:r>
            <a:r>
              <a:rPr dirty="0" sz="2200"/>
              <a:t>D</a:t>
            </a:r>
            <a:endParaRPr sz="2200"/>
          </a:p>
          <a:p>
            <a:pPr marL="781685" indent="-287655">
              <a:lnSpc>
                <a:spcPct val="100000"/>
              </a:lnSpc>
              <a:spcBef>
                <a:spcPts val="525"/>
              </a:spcBef>
              <a:buClr>
                <a:srgbClr val="FF6600"/>
              </a:buClr>
              <a:buChar char="•"/>
              <a:tabLst>
                <a:tab pos="782320" algn="l"/>
              </a:tabLst>
            </a:pPr>
            <a:r>
              <a:rPr dirty="0" sz="2200" spc="5"/>
              <a:t>当T</a:t>
            </a:r>
            <a:r>
              <a:rPr dirty="0" baseline="-19841" sz="2100" spc="-7"/>
              <a:t>pe</a:t>
            </a:r>
            <a:r>
              <a:rPr dirty="0" sz="2200"/>
              <a:t>&gt;T</a:t>
            </a:r>
            <a:r>
              <a:rPr dirty="0" baseline="-22222" sz="2250" spc="-15"/>
              <a:t>p</a:t>
            </a:r>
            <a:r>
              <a:rPr dirty="0" baseline="-22222" sz="2250" spc="22"/>
              <a:t>d</a:t>
            </a:r>
            <a:r>
              <a:rPr dirty="0" sz="2200" spc="-20"/>
              <a:t>时</a:t>
            </a:r>
            <a:r>
              <a:rPr dirty="0" sz="2200" spc="5"/>
              <a:t>，债</a:t>
            </a:r>
            <a:r>
              <a:rPr dirty="0" sz="2200" spc="-20"/>
              <a:t>务</a:t>
            </a:r>
            <a:r>
              <a:rPr dirty="0" sz="2200" spc="5"/>
              <a:t>杠杆</a:t>
            </a:r>
            <a:r>
              <a:rPr dirty="0" sz="2200" spc="-20"/>
              <a:t>产</a:t>
            </a:r>
            <a:r>
              <a:rPr dirty="0" sz="2200" spc="5"/>
              <a:t>生的利</a:t>
            </a:r>
            <a:r>
              <a:rPr dirty="0" sz="2200" spc="-20"/>
              <a:t>得</a:t>
            </a:r>
            <a:r>
              <a:rPr dirty="0" sz="2200" spc="5"/>
              <a:t>多于</a:t>
            </a:r>
            <a:r>
              <a:rPr dirty="0" sz="2200" spc="-25"/>
              <a:t>T</a:t>
            </a:r>
            <a:r>
              <a:rPr dirty="0" baseline="-22222" sz="2250" spc="22"/>
              <a:t>c</a:t>
            </a:r>
            <a:r>
              <a:rPr dirty="0" sz="2200"/>
              <a:t>D</a:t>
            </a:r>
            <a:endParaRPr sz="2200"/>
          </a:p>
          <a:p>
            <a:pPr marL="781685" marR="33020" indent="-287020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Char char="•"/>
              <a:tabLst>
                <a:tab pos="782320" algn="l"/>
              </a:tabLst>
            </a:pPr>
            <a:r>
              <a:rPr dirty="0" sz="2200" spc="5"/>
              <a:t>当</a:t>
            </a:r>
            <a:r>
              <a:rPr dirty="0" sz="2200" spc="-5"/>
              <a:t>（1－T</a:t>
            </a:r>
            <a:r>
              <a:rPr dirty="0" baseline="-22222" sz="2250" spc="-7"/>
              <a:t>pd</a:t>
            </a:r>
            <a:r>
              <a:rPr dirty="0" sz="2200" spc="-5"/>
              <a:t>）＝（1－T</a:t>
            </a:r>
            <a:r>
              <a:rPr dirty="0" baseline="-22222" sz="2250" spc="-7"/>
              <a:t>c</a:t>
            </a:r>
            <a:r>
              <a:rPr dirty="0" sz="2200" spc="-5"/>
              <a:t>）（1－T</a:t>
            </a:r>
            <a:r>
              <a:rPr dirty="0" baseline="-19841" sz="2100" spc="-7"/>
              <a:t>pe</a:t>
            </a:r>
            <a:r>
              <a:rPr dirty="0" sz="2200" spc="-5"/>
              <a:t>）</a:t>
            </a:r>
            <a:r>
              <a:rPr dirty="0" sz="2200" spc="-20"/>
              <a:t>时</a:t>
            </a:r>
            <a:r>
              <a:rPr dirty="0" sz="2200"/>
              <a:t>，G＝0，</a:t>
            </a:r>
            <a:r>
              <a:rPr dirty="0" sz="2200" spc="-20"/>
              <a:t>即</a:t>
            </a:r>
            <a:r>
              <a:rPr dirty="0" sz="2200" spc="5"/>
              <a:t>公司债务 产生的</a:t>
            </a:r>
            <a:r>
              <a:rPr dirty="0" sz="2200" spc="-20"/>
              <a:t>利</a:t>
            </a:r>
            <a:r>
              <a:rPr dirty="0" sz="2200" spc="5"/>
              <a:t>息节</a:t>
            </a:r>
            <a:r>
              <a:rPr dirty="0" sz="2200" spc="-20"/>
              <a:t>税</a:t>
            </a:r>
            <a:r>
              <a:rPr dirty="0" sz="2200" spc="5"/>
              <a:t>额消失</a:t>
            </a:r>
            <a:endParaRPr sz="2200"/>
          </a:p>
          <a:p>
            <a:pPr marL="781685" marR="30480" indent="-287020">
              <a:lnSpc>
                <a:spcPts val="2620"/>
              </a:lnSpc>
              <a:spcBef>
                <a:spcPts val="630"/>
              </a:spcBef>
              <a:buClr>
                <a:srgbClr val="FF6600"/>
              </a:buClr>
              <a:buChar char="•"/>
              <a:tabLst>
                <a:tab pos="782320" algn="l"/>
              </a:tabLst>
            </a:pPr>
            <a:r>
              <a:rPr dirty="0" sz="2200" spc="5"/>
              <a:t>当（1－</a:t>
            </a:r>
            <a:r>
              <a:rPr dirty="0" sz="2200" spc="-25"/>
              <a:t>T</a:t>
            </a:r>
            <a:r>
              <a:rPr dirty="0" baseline="-22222" sz="2250" spc="-15"/>
              <a:t>p</a:t>
            </a:r>
            <a:r>
              <a:rPr dirty="0" baseline="-22222" sz="2250" spc="22"/>
              <a:t>d</a:t>
            </a:r>
            <a:r>
              <a:rPr dirty="0" sz="2200" spc="5"/>
              <a:t>）</a:t>
            </a:r>
            <a:r>
              <a:rPr dirty="0" sz="2200" spc="-25"/>
              <a:t>&lt;</a:t>
            </a:r>
            <a:r>
              <a:rPr dirty="0" sz="2200" spc="5"/>
              <a:t>（1－</a:t>
            </a:r>
            <a:r>
              <a:rPr dirty="0" sz="2200" spc="-25"/>
              <a:t>T</a:t>
            </a:r>
            <a:r>
              <a:rPr dirty="0" baseline="-22222" sz="2250" spc="22"/>
              <a:t>c</a:t>
            </a:r>
            <a:r>
              <a:rPr dirty="0" sz="2200" spc="-20"/>
              <a:t>）</a:t>
            </a:r>
            <a:r>
              <a:rPr dirty="0" sz="2200" spc="5"/>
              <a:t>（1－T</a:t>
            </a:r>
            <a:r>
              <a:rPr dirty="0" baseline="-19841" sz="2100" spc="-7"/>
              <a:t>pe</a:t>
            </a:r>
            <a:r>
              <a:rPr dirty="0" sz="2200" spc="5"/>
              <a:t>）</a:t>
            </a:r>
            <a:r>
              <a:rPr dirty="0" sz="2200" spc="-20"/>
              <a:t>时</a:t>
            </a:r>
            <a:r>
              <a:rPr dirty="0" sz="2200" spc="5"/>
              <a:t>，G&lt;0</a:t>
            </a:r>
            <a:r>
              <a:rPr dirty="0" sz="2200" spc="-20"/>
              <a:t>，</a:t>
            </a:r>
            <a:r>
              <a:rPr dirty="0" sz="2200" spc="5"/>
              <a:t>即</a:t>
            </a:r>
            <a:r>
              <a:rPr dirty="0" sz="2200" spc="-20"/>
              <a:t>公</a:t>
            </a:r>
            <a:r>
              <a:rPr dirty="0" sz="2200" spc="5"/>
              <a:t>司债务产 </a:t>
            </a:r>
            <a:r>
              <a:rPr dirty="0" sz="2200" spc="5"/>
              <a:t>生的利</a:t>
            </a:r>
            <a:r>
              <a:rPr dirty="0" sz="2200" spc="-20"/>
              <a:t>息</a:t>
            </a:r>
            <a:r>
              <a:rPr dirty="0" sz="2200" spc="5"/>
              <a:t>节税</a:t>
            </a:r>
            <a:r>
              <a:rPr dirty="0" sz="2200" spc="-20"/>
              <a:t>额</a:t>
            </a:r>
            <a:r>
              <a:rPr dirty="0" sz="2200" spc="5"/>
              <a:t>为负</a:t>
            </a:r>
            <a:endParaRPr sz="2200"/>
          </a:p>
          <a:p>
            <a:pPr marL="781685" marR="30480" indent="-287020">
              <a:lnSpc>
                <a:spcPct val="100000"/>
              </a:lnSpc>
              <a:spcBef>
                <a:spcPts val="440"/>
              </a:spcBef>
              <a:buClr>
                <a:srgbClr val="FF6600"/>
              </a:buClr>
              <a:buChar char="•"/>
              <a:tabLst>
                <a:tab pos="782320" algn="l"/>
              </a:tabLst>
            </a:pPr>
            <a:r>
              <a:rPr dirty="0" sz="2200" spc="5"/>
              <a:t>当（1－</a:t>
            </a:r>
            <a:r>
              <a:rPr dirty="0" sz="2200" spc="-25"/>
              <a:t>T</a:t>
            </a:r>
            <a:r>
              <a:rPr dirty="0" baseline="-22222" sz="2250" spc="-15"/>
              <a:t>p</a:t>
            </a:r>
            <a:r>
              <a:rPr dirty="0" baseline="-22222" sz="2250" spc="22"/>
              <a:t>d</a:t>
            </a:r>
            <a:r>
              <a:rPr dirty="0" sz="2200" spc="5"/>
              <a:t>）</a:t>
            </a:r>
            <a:r>
              <a:rPr dirty="0" sz="2200" spc="-25"/>
              <a:t>&gt;</a:t>
            </a:r>
            <a:r>
              <a:rPr dirty="0" sz="2200" spc="5"/>
              <a:t>（1－</a:t>
            </a:r>
            <a:r>
              <a:rPr dirty="0" sz="2200" spc="-25"/>
              <a:t>T</a:t>
            </a:r>
            <a:r>
              <a:rPr dirty="0" baseline="-22222" sz="2250" spc="22"/>
              <a:t>c</a:t>
            </a:r>
            <a:r>
              <a:rPr dirty="0" sz="2200" spc="-20"/>
              <a:t>）</a:t>
            </a:r>
            <a:r>
              <a:rPr dirty="0" sz="2200" spc="5"/>
              <a:t>（1－T</a:t>
            </a:r>
            <a:r>
              <a:rPr dirty="0" baseline="-19841" sz="2100" spc="-7"/>
              <a:t>pe</a:t>
            </a:r>
            <a:r>
              <a:rPr dirty="0" sz="2200" spc="5"/>
              <a:t>）</a:t>
            </a:r>
            <a:r>
              <a:rPr dirty="0" sz="2200" spc="-20"/>
              <a:t>时</a:t>
            </a:r>
            <a:r>
              <a:rPr dirty="0" sz="2200" spc="5"/>
              <a:t>，G&gt;0</a:t>
            </a:r>
            <a:r>
              <a:rPr dirty="0" sz="2200" spc="-20"/>
              <a:t>，</a:t>
            </a:r>
            <a:r>
              <a:rPr dirty="0" sz="2200" spc="5"/>
              <a:t>即</a:t>
            </a:r>
            <a:r>
              <a:rPr dirty="0" sz="2200" spc="-20"/>
              <a:t>公</a:t>
            </a:r>
            <a:r>
              <a:rPr dirty="0" sz="2200" spc="5"/>
              <a:t>司债务产 </a:t>
            </a:r>
            <a:r>
              <a:rPr dirty="0" sz="2200" spc="5"/>
              <a:t>生的利</a:t>
            </a:r>
            <a:r>
              <a:rPr dirty="0" sz="2200" spc="-20"/>
              <a:t>息</a:t>
            </a:r>
            <a:r>
              <a:rPr dirty="0" sz="2200" spc="5"/>
              <a:t>节税</a:t>
            </a:r>
            <a:r>
              <a:rPr dirty="0" sz="2200" spc="-20"/>
              <a:t>额</a:t>
            </a:r>
            <a:r>
              <a:rPr dirty="0" sz="2200" spc="5"/>
              <a:t>出现</a:t>
            </a:r>
            <a:endParaRPr sz="22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2984500" marR="5080" indent="-2971800">
              <a:lnSpc>
                <a:spcPts val="5040"/>
              </a:lnSpc>
              <a:spcBef>
                <a:spcPts val="75"/>
              </a:spcBef>
            </a:pPr>
            <a:r>
              <a:rPr dirty="0" spc="5">
                <a:latin typeface="Arial"/>
                <a:cs typeface="Arial"/>
              </a:rPr>
              <a:t>M</a:t>
            </a:r>
            <a:r>
              <a:rPr dirty="0" spc="-5">
                <a:latin typeface="Arial"/>
                <a:cs typeface="Arial"/>
              </a:rPr>
              <a:t>M</a:t>
            </a:r>
            <a:r>
              <a:rPr dirty="0" spc="25"/>
              <a:t>模</a:t>
            </a:r>
            <a:r>
              <a:rPr dirty="0" spc="5"/>
              <a:t>型：同时</a:t>
            </a:r>
            <a:r>
              <a:rPr dirty="0" spc="25"/>
              <a:t>存</a:t>
            </a:r>
            <a:r>
              <a:rPr dirty="0" spc="5"/>
              <a:t>在公司所得</a:t>
            </a:r>
            <a:r>
              <a:rPr dirty="0" spc="25"/>
              <a:t>税</a:t>
            </a:r>
            <a:r>
              <a:rPr dirty="0" spc="5"/>
              <a:t>和个 </a:t>
            </a:r>
            <a:r>
              <a:rPr dirty="0" spc="5"/>
              <a:t>人</a:t>
            </a:r>
            <a:r>
              <a:rPr dirty="0" spc="25"/>
              <a:t>所</a:t>
            </a:r>
            <a:r>
              <a:rPr dirty="0" spc="5"/>
              <a:t>得税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1500" y="1864868"/>
            <a:ext cx="8080375" cy="4413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Miller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1977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税收和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场均衡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800">
              <a:latin typeface="宋体"/>
              <a:cs typeface="宋体"/>
            </a:endParaRPr>
          </a:p>
          <a:p>
            <a:pPr marL="781685" marR="142875" indent="-287020">
              <a:lnSpc>
                <a:spcPct val="130000"/>
              </a:lnSpc>
              <a:spcBef>
                <a:spcPts val="900"/>
              </a:spcBef>
              <a:buClr>
                <a:srgbClr val="FF6600"/>
              </a:buClr>
              <a:buChar char="•"/>
              <a:tabLst>
                <a:tab pos="782320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给定T</a:t>
            </a:r>
            <a:r>
              <a:rPr dirty="0" baseline="-22875" sz="2550" spc="15">
                <a:solidFill>
                  <a:srgbClr val="FFFFFF"/>
                </a:solidFill>
                <a:latin typeface="宋体"/>
                <a:cs typeface="宋体"/>
              </a:rPr>
              <a:t>pe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＝0，且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债券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均为无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风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险，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交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易成本、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发行成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以及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监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督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endParaRPr sz="2600">
              <a:latin typeface="宋体"/>
              <a:cs typeface="宋体"/>
            </a:endParaRPr>
          </a:p>
          <a:p>
            <a:pPr marL="781685" indent="-287020">
              <a:lnSpc>
                <a:spcPct val="100000"/>
              </a:lnSpc>
              <a:spcBef>
                <a:spcPts val="1560"/>
              </a:spcBef>
              <a:buClr>
                <a:srgbClr val="FF6600"/>
              </a:buClr>
              <a:buChar char="•"/>
              <a:tabLst>
                <a:tab pos="782320" algn="l"/>
              </a:tabLst>
            </a:pPr>
            <a:r>
              <a:rPr dirty="0" sz="2600" spc="-10">
                <a:solidFill>
                  <a:srgbClr val="009999"/>
                </a:solidFill>
                <a:latin typeface="宋体"/>
                <a:cs typeface="宋体"/>
              </a:rPr>
              <a:t>税收与</a:t>
            </a:r>
            <a:r>
              <a:rPr dirty="0" sz="2600" spc="10">
                <a:solidFill>
                  <a:srgbClr val="009999"/>
                </a:solidFill>
                <a:latin typeface="宋体"/>
                <a:cs typeface="宋体"/>
              </a:rPr>
              <a:t>市</a:t>
            </a:r>
            <a:r>
              <a:rPr dirty="0" sz="2600" spc="-10">
                <a:solidFill>
                  <a:srgbClr val="009999"/>
                </a:solidFill>
                <a:latin typeface="宋体"/>
                <a:cs typeface="宋体"/>
              </a:rPr>
              <a:t>场供</a:t>
            </a:r>
            <a:r>
              <a:rPr dirty="0" sz="2600" spc="10">
                <a:solidFill>
                  <a:srgbClr val="009999"/>
                </a:solidFill>
                <a:latin typeface="宋体"/>
                <a:cs typeface="宋体"/>
              </a:rPr>
              <a:t>求</a:t>
            </a:r>
            <a:r>
              <a:rPr dirty="0" sz="2600" spc="-10">
                <a:solidFill>
                  <a:srgbClr val="009999"/>
                </a:solidFill>
                <a:latin typeface="宋体"/>
                <a:cs typeface="宋体"/>
              </a:rPr>
              <a:t>的</a:t>
            </a:r>
            <a:r>
              <a:rPr dirty="0" sz="2600" spc="10">
                <a:solidFill>
                  <a:srgbClr val="009999"/>
                </a:solidFill>
                <a:latin typeface="宋体"/>
                <a:cs typeface="宋体"/>
              </a:rPr>
              <a:t>均</a:t>
            </a:r>
            <a:r>
              <a:rPr dirty="0" sz="2600" spc="-10">
                <a:solidFill>
                  <a:srgbClr val="009999"/>
                </a:solidFill>
                <a:latin typeface="宋体"/>
                <a:cs typeface="宋体"/>
              </a:rPr>
              <a:t>衡关系</a:t>
            </a:r>
            <a:r>
              <a:rPr dirty="0" sz="2600" spc="10">
                <a:solidFill>
                  <a:srgbClr val="009999"/>
                </a:solidFill>
                <a:latin typeface="宋体"/>
                <a:cs typeface="宋体"/>
              </a:rPr>
              <a:t>见</a:t>
            </a:r>
            <a:r>
              <a:rPr dirty="0" sz="2600" spc="-10">
                <a:solidFill>
                  <a:srgbClr val="009999"/>
                </a:solidFill>
                <a:latin typeface="宋体"/>
                <a:cs typeface="宋体"/>
              </a:rPr>
              <a:t>附图</a:t>
            </a:r>
            <a:endParaRPr sz="2600">
              <a:latin typeface="宋体"/>
              <a:cs typeface="宋体"/>
            </a:endParaRPr>
          </a:p>
          <a:p>
            <a:pPr algn="just" marL="781685" indent="-287020">
              <a:lnSpc>
                <a:spcPct val="100000"/>
              </a:lnSpc>
              <a:spcBef>
                <a:spcPts val="1560"/>
              </a:spcBef>
              <a:buClr>
                <a:srgbClr val="FF6600"/>
              </a:buClr>
              <a:buChar char="•"/>
              <a:tabLst>
                <a:tab pos="782320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在均衡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态，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任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何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业的价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都与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结构无关</a:t>
            </a:r>
            <a:endParaRPr sz="2600">
              <a:latin typeface="宋体"/>
              <a:cs typeface="宋体"/>
            </a:endParaRPr>
          </a:p>
          <a:p>
            <a:pPr algn="just" marL="781685" marR="30480" indent="-287020">
              <a:lnSpc>
                <a:spcPct val="130000"/>
              </a:lnSpc>
              <a:spcBef>
                <a:spcPts val="645"/>
              </a:spcBef>
              <a:buClr>
                <a:srgbClr val="FF6600"/>
              </a:buClr>
              <a:buChar char="•"/>
              <a:tabLst>
                <a:tab pos="782320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推论：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低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税率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者会从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高杠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杆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的投资中 获益；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高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税率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者会从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低杠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杆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的投资中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获益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7276" y="374396"/>
            <a:ext cx="8008620" cy="1276350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2984500" marR="5080" indent="-2971800">
              <a:lnSpc>
                <a:spcPts val="5040"/>
              </a:lnSpc>
              <a:spcBef>
                <a:spcPts val="75"/>
              </a:spcBef>
            </a:pPr>
            <a:r>
              <a:rPr dirty="0" spc="5">
                <a:latin typeface="Arial"/>
                <a:cs typeface="Arial"/>
              </a:rPr>
              <a:t>M</a:t>
            </a:r>
            <a:r>
              <a:rPr dirty="0" spc="-5">
                <a:latin typeface="Arial"/>
                <a:cs typeface="Arial"/>
              </a:rPr>
              <a:t>M</a:t>
            </a:r>
            <a:r>
              <a:rPr dirty="0" spc="25"/>
              <a:t>模</a:t>
            </a:r>
            <a:r>
              <a:rPr dirty="0" spc="5"/>
              <a:t>型：同时</a:t>
            </a:r>
            <a:r>
              <a:rPr dirty="0" spc="25"/>
              <a:t>存</a:t>
            </a:r>
            <a:r>
              <a:rPr dirty="0" spc="5"/>
              <a:t>在公司所得</a:t>
            </a:r>
            <a:r>
              <a:rPr dirty="0" spc="25"/>
              <a:t>税</a:t>
            </a:r>
            <a:r>
              <a:rPr dirty="0" spc="5"/>
              <a:t>和个</a:t>
            </a:r>
            <a:r>
              <a:rPr dirty="0" spc="-4029"/>
              <a:t>人 </a:t>
            </a:r>
            <a:r>
              <a:rPr dirty="0" spc="25"/>
              <a:t>所</a:t>
            </a:r>
            <a:r>
              <a:rPr dirty="0" spc="5"/>
              <a:t>得税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破</a:t>
            </a:r>
            <a:r>
              <a:rPr dirty="0" spc="25"/>
              <a:t>产</a:t>
            </a:r>
            <a:r>
              <a:rPr dirty="0" spc="5"/>
              <a:t>成本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316" y="1639316"/>
            <a:ext cx="7734300" cy="4382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734060">
              <a:lnSpc>
                <a:spcPct val="100099"/>
              </a:lnSpc>
              <a:spcBef>
                <a:spcPts val="105"/>
              </a:spcBef>
            </a:pP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破产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包括财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务重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组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与公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所有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移 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的过程。即使某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已经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被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清算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仍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能保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留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 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些可以对其他人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用价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的资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破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产是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济 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失败的结果，并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原因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下跌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员 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工失去工作一般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破产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事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件相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联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，实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上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也是将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向破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产法庭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力量。</a:t>
            </a:r>
            <a:endParaRPr sz="2800">
              <a:latin typeface="宋体"/>
              <a:cs typeface="宋体"/>
            </a:endParaRPr>
          </a:p>
          <a:p>
            <a:pPr algn="just" marL="12700" marR="5080" indent="740410">
              <a:lnSpc>
                <a:spcPct val="101699"/>
              </a:lnSpc>
              <a:spcBef>
                <a:spcPts val="445"/>
              </a:spcBef>
            </a:pP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由于企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业发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破产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者财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失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败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时需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出 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巨大的成本，这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就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使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得企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运用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融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资的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力 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少了许多，甚至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完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美的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本市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这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种现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也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会发生。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1931" y="1450340"/>
            <a:ext cx="8136255" cy="514731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破产成本有直接成本和间接成本之分。</a:t>
            </a:r>
            <a:endParaRPr sz="2400">
              <a:latin typeface="宋体"/>
              <a:cs typeface="宋体"/>
            </a:endParaRPr>
          </a:p>
          <a:p>
            <a:pPr marL="356870" marR="5080" indent="-344805">
              <a:lnSpc>
                <a:spcPts val="2860"/>
              </a:lnSpc>
              <a:spcBef>
                <a:spcPts val="68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直接的破产成本是与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正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式的破产程序启动之后发生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本 有关，这笔费用与破产前的公司价值相比仍是比较小。</a:t>
            </a:r>
            <a:endParaRPr sz="24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间接的破产成本并不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花在破产过程本身的资金耗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而 是由于破产所产生的费用和经济损失，包括</a:t>
            </a:r>
            <a:endParaRPr sz="24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1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日益不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条件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筹措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资金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日益增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加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的利率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2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关键雇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员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的流失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0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供应商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失</a:t>
            </a:r>
            <a:endParaRPr sz="2200">
              <a:latin typeface="宋体"/>
              <a:cs typeface="宋体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25">
                <a:solidFill>
                  <a:srgbClr val="FFFFFF"/>
                </a:solidFill>
                <a:latin typeface="宋体"/>
                <a:cs typeface="宋体"/>
              </a:rPr>
              <a:t>由</a:t>
            </a:r>
            <a:r>
              <a:rPr dirty="0" sz="2200" spc="5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200" spc="25">
                <a:solidFill>
                  <a:srgbClr val="FFFFFF"/>
                </a:solidFill>
                <a:latin typeface="宋体"/>
                <a:cs typeface="宋体"/>
              </a:rPr>
              <a:t>客户对</a:t>
            </a:r>
            <a:r>
              <a:rPr dirty="0" sz="2200" spc="5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200" spc="25">
                <a:solidFill>
                  <a:srgbClr val="FFFFFF"/>
                </a:solidFill>
                <a:latin typeface="宋体"/>
                <a:cs typeface="宋体"/>
              </a:rPr>
              <a:t>业能否继续</a:t>
            </a:r>
            <a:r>
              <a:rPr dirty="0" sz="2200" spc="50">
                <a:solidFill>
                  <a:srgbClr val="FFFFFF"/>
                </a:solidFill>
                <a:latin typeface="宋体"/>
                <a:cs typeface="宋体"/>
              </a:rPr>
              <a:t>提</a:t>
            </a:r>
            <a:r>
              <a:rPr dirty="0" sz="2200" spc="25">
                <a:solidFill>
                  <a:srgbClr val="FFFFFF"/>
                </a:solidFill>
                <a:latin typeface="宋体"/>
                <a:cs typeface="宋体"/>
              </a:rPr>
              <a:t>供产品缺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乏</a:t>
            </a:r>
            <a:r>
              <a:rPr dirty="0" sz="2200" spc="25">
                <a:solidFill>
                  <a:srgbClr val="FFFFFF"/>
                </a:solidFill>
                <a:latin typeface="宋体"/>
                <a:cs typeface="宋体"/>
              </a:rPr>
              <a:t>信息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而导</a:t>
            </a:r>
            <a:r>
              <a:rPr dirty="0" sz="2200" spc="25">
                <a:solidFill>
                  <a:srgbClr val="FFFFFF"/>
                </a:solidFill>
                <a:latin typeface="宋体"/>
                <a:cs typeface="宋体"/>
              </a:rPr>
              <a:t>致的销售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下 降或者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失</a:t>
            </a:r>
            <a:endParaRPr sz="2200">
              <a:latin typeface="宋体"/>
              <a:cs typeface="宋体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52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25">
                <a:solidFill>
                  <a:srgbClr val="FFFFFF"/>
                </a:solidFill>
                <a:latin typeface="宋体"/>
                <a:cs typeface="宋体"/>
              </a:rPr>
              <a:t>无</a:t>
            </a:r>
            <a:r>
              <a:rPr dirty="0" sz="2200" spc="5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200" spc="25">
                <a:solidFill>
                  <a:srgbClr val="FFFFFF"/>
                </a:solidFill>
                <a:latin typeface="宋体"/>
                <a:cs typeface="宋体"/>
              </a:rPr>
              <a:t>在任何</a:t>
            </a:r>
            <a:r>
              <a:rPr dirty="0" sz="2200" spc="50">
                <a:solidFill>
                  <a:srgbClr val="FFFFFF"/>
                </a:solidFill>
                <a:latin typeface="宋体"/>
                <a:cs typeface="宋体"/>
              </a:rPr>
              <a:t>条</a:t>
            </a:r>
            <a:r>
              <a:rPr dirty="0" sz="2200" spc="25">
                <a:solidFill>
                  <a:srgbClr val="FFFFFF"/>
                </a:solidFill>
                <a:latin typeface="宋体"/>
                <a:cs typeface="宋体"/>
              </a:rPr>
              <a:t>件和利率水</a:t>
            </a:r>
            <a:r>
              <a:rPr dirty="0" sz="2200" spc="50">
                <a:solidFill>
                  <a:srgbClr val="FFFFFF"/>
                </a:solidFill>
                <a:latin typeface="宋体"/>
                <a:cs typeface="宋体"/>
              </a:rPr>
              <a:t>平</a:t>
            </a:r>
            <a:r>
              <a:rPr dirty="0" sz="2200" spc="25">
                <a:solidFill>
                  <a:srgbClr val="FFFFFF"/>
                </a:solidFill>
                <a:latin typeface="宋体"/>
                <a:cs typeface="宋体"/>
              </a:rPr>
              <a:t>下获得资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200" spc="25">
                <a:solidFill>
                  <a:srgbClr val="FFFFFF"/>
                </a:solidFill>
                <a:latin typeface="宋体"/>
                <a:cs typeface="宋体"/>
              </a:rPr>
              <a:t>在进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行有</a:t>
            </a:r>
            <a:r>
              <a:rPr dirty="0" sz="2200" spc="25">
                <a:solidFill>
                  <a:srgbClr val="FFFFFF"/>
                </a:solidFill>
                <a:latin typeface="宋体"/>
                <a:cs typeface="宋体"/>
              </a:rPr>
              <a:t>利但又有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风 险的投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0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被迫缩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业务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模。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破</a:t>
            </a:r>
            <a:r>
              <a:rPr dirty="0" spc="25"/>
              <a:t>产</a:t>
            </a:r>
            <a:r>
              <a:rPr dirty="0" spc="5"/>
              <a:t>成本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1691132"/>
            <a:ext cx="7639684" cy="465963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10795" indent="734060">
              <a:lnSpc>
                <a:spcPct val="100699"/>
              </a:lnSpc>
              <a:spcBef>
                <a:spcPts val="85"/>
              </a:spcBef>
            </a:pP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只有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破产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和财务困境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成本在以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条 件下才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影响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对对杠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411480" marR="7620" indent="-287020">
              <a:lnSpc>
                <a:spcPct val="100000"/>
              </a:lnSpc>
              <a:spcBef>
                <a:spcPts val="540"/>
              </a:spcBef>
              <a:buClr>
                <a:srgbClr val="FF6600"/>
              </a:buClr>
              <a:buChar char="•"/>
              <a:tabLst>
                <a:tab pos="412115" algn="l"/>
              </a:tabLst>
            </a:pP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财务困境会减少市</a:t>
            </a:r>
            <a:r>
              <a:rPr dirty="0" sz="2400" spc="95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对该企业产品的需求或者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增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加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产 品成本；</a:t>
            </a:r>
            <a:endParaRPr sz="2400">
              <a:latin typeface="宋体"/>
              <a:cs typeface="宋体"/>
            </a:endParaRPr>
          </a:p>
          <a:p>
            <a:pPr marL="411480" marR="7620" indent="-287020">
              <a:lnSpc>
                <a:spcPct val="100000"/>
              </a:lnSpc>
              <a:spcBef>
                <a:spcPts val="580"/>
              </a:spcBef>
              <a:buClr>
                <a:srgbClr val="FF6600"/>
              </a:buClr>
              <a:buChar char="•"/>
              <a:tabLst>
                <a:tab pos="412115" algn="l"/>
              </a:tabLst>
            </a:pP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财务困境会使得企</a:t>
            </a:r>
            <a:r>
              <a:rPr dirty="0" sz="2400" spc="95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的经理人，也就是代理人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恶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意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经 营或由于财务上的动机采取减少企业总价值的行为；</a:t>
            </a:r>
            <a:endParaRPr sz="2400">
              <a:latin typeface="宋体"/>
              <a:cs typeface="宋体"/>
            </a:endParaRPr>
          </a:p>
          <a:p>
            <a:pPr marL="411480" marR="7620" indent="-287020">
              <a:lnSpc>
                <a:spcPct val="100000"/>
              </a:lnSpc>
              <a:spcBef>
                <a:spcPts val="550"/>
              </a:spcBef>
              <a:buClr>
                <a:srgbClr val="FF6600"/>
              </a:buClr>
              <a:buChar char="•"/>
              <a:tabLst>
                <a:tab pos="412115" algn="l"/>
              </a:tabLst>
            </a:pP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进入破产的企业将</a:t>
            </a:r>
            <a:r>
              <a:rPr dirty="0" sz="2400" spc="95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担同类没有破产的企业不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担 的巨额成本。</a:t>
            </a:r>
            <a:endParaRPr sz="2400">
              <a:latin typeface="宋体"/>
              <a:cs typeface="宋体"/>
            </a:endParaRPr>
          </a:p>
          <a:p>
            <a:pPr algn="just" marL="12700" marR="5080" indent="721995">
              <a:lnSpc>
                <a:spcPct val="100400"/>
              </a:lnSpc>
              <a:spcBef>
                <a:spcPts val="665"/>
              </a:spcBef>
            </a:pP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破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产成本的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实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证研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究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明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破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产的直接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 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很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小但很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重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要，当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直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接成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与间接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本合并时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  其数量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很大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到企业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20％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左右。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5171" y="639572"/>
            <a:ext cx="20650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破</a:t>
            </a:r>
            <a:r>
              <a:rPr dirty="0" spc="25"/>
              <a:t>产</a:t>
            </a:r>
            <a:r>
              <a:rPr dirty="0" spc="5"/>
              <a:t>成本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3476" y="279908"/>
            <a:ext cx="7868284" cy="13658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252980" marR="5080" indent="-2240280">
              <a:lnSpc>
                <a:spcPct val="100000"/>
              </a:lnSpc>
              <a:spcBef>
                <a:spcPts val="90"/>
              </a:spcBef>
            </a:pPr>
            <a:r>
              <a:rPr dirty="0" sz="4400" spc="10"/>
              <a:t>静态的权</a:t>
            </a:r>
            <a:r>
              <a:rPr dirty="0" sz="4400" spc="-10"/>
              <a:t>衡</a:t>
            </a:r>
            <a:r>
              <a:rPr dirty="0" sz="4400" spc="10"/>
              <a:t>理论：税</a:t>
            </a:r>
            <a:r>
              <a:rPr dirty="0" sz="4400" spc="-10"/>
              <a:t>收</a:t>
            </a:r>
            <a:r>
              <a:rPr dirty="0" sz="4400" spc="10"/>
              <a:t>利益与</a:t>
            </a:r>
            <a:r>
              <a:rPr dirty="0" sz="4400" spc="-5"/>
              <a:t>破 </a:t>
            </a:r>
            <a:r>
              <a:rPr dirty="0" sz="4400" spc="10"/>
              <a:t>产成本的</a:t>
            </a:r>
            <a:r>
              <a:rPr dirty="0" sz="4400" spc="-10"/>
              <a:t>权衡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328927" y="1840992"/>
            <a:ext cx="6120384" cy="4206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891" y="2005076"/>
            <a:ext cx="7837805" cy="3272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在静态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构模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型中纳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时间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因素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：多期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模</a:t>
            </a:r>
            <a:r>
              <a:rPr dirty="0" sz="2800" spc="-2170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6600"/>
              </a:buClr>
              <a:buFont typeface="Wingdings"/>
              <a:buChar char="►"/>
            </a:pPr>
            <a:endParaRPr sz="31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构建动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的两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个重要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因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素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Wingdings"/>
              <a:buChar char="►"/>
            </a:pPr>
            <a:endParaRPr sz="31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预期：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的边际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资额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Clr>
                <a:srgbClr val="FF6600"/>
              </a:buClr>
              <a:buFont typeface="Arial"/>
              <a:buChar char="•"/>
            </a:pPr>
            <a:endParaRPr sz="31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调整成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交易成本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0123" y="526796"/>
            <a:ext cx="359156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动</a:t>
            </a:r>
            <a:r>
              <a:rPr dirty="0" spc="25"/>
              <a:t>态</a:t>
            </a:r>
            <a:r>
              <a:rPr dirty="0" spc="5"/>
              <a:t>的权衡理论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6155" y="639572"/>
            <a:ext cx="308292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关</a:t>
            </a:r>
            <a:r>
              <a:rPr dirty="0" spc="25"/>
              <a:t>于</a:t>
            </a:r>
            <a:r>
              <a:rPr dirty="0" spc="5"/>
              <a:t>“预期”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34439"/>
            <a:ext cx="8194040" cy="4783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361315" indent="-344805">
              <a:lnSpc>
                <a:spcPct val="114999"/>
              </a:lnSpc>
              <a:spcBef>
                <a:spcPts val="95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假设有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有较高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盈利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性，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那么应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将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盈利在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放还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是到下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118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取决于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成长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机会以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税率</a:t>
            </a:r>
            <a:endParaRPr sz="2800">
              <a:latin typeface="宋体"/>
              <a:cs typeface="宋体"/>
            </a:endParaRPr>
          </a:p>
          <a:p>
            <a:pPr lvl="1" marL="756285" marR="135890" indent="-287020">
              <a:lnSpc>
                <a:spcPct val="114999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盈利性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有较低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杠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杆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-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--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-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-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盈利性对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杠杆的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响是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动态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理论的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要关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14999"/>
              </a:lnSpc>
              <a:spcBef>
                <a:spcPts val="670"/>
              </a:spcBef>
              <a:buClr>
                <a:srgbClr val="FF6600"/>
              </a:buClr>
              <a:buFont typeface="Wingdings"/>
              <a:buChar char="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假设有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当期具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其在当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望投资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多，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且在未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者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内需要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该这么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办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118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税收将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动企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留盈余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092" y="639572"/>
            <a:ext cx="563118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动</a:t>
            </a:r>
            <a:r>
              <a:rPr dirty="0" spc="25"/>
              <a:t>态</a:t>
            </a:r>
            <a:r>
              <a:rPr dirty="0" spc="5"/>
              <a:t>资本结构模</a:t>
            </a:r>
            <a:r>
              <a:rPr dirty="0" spc="25"/>
              <a:t>型</a:t>
            </a:r>
            <a:r>
              <a:rPr dirty="0" spc="5"/>
              <a:t>的建立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32964" y="2020316"/>
            <a:ext cx="3228975" cy="24593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不</a:t>
            </a:r>
            <a:r>
              <a:rPr dirty="0" sz="2800" spc="25" b="1">
                <a:solidFill>
                  <a:srgbClr val="FFFFFF"/>
                </a:solidFill>
                <a:latin typeface="Microsoft JhengHei"/>
                <a:cs typeface="Microsoft JhengHei"/>
              </a:rPr>
              <a:t>确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定性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6600"/>
              </a:buClr>
              <a:buFont typeface="Wingdings"/>
              <a:buChar char="►"/>
            </a:pPr>
            <a:endParaRPr sz="245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交</a:t>
            </a:r>
            <a:r>
              <a:rPr dirty="0" sz="2800" spc="25" b="1">
                <a:solidFill>
                  <a:srgbClr val="FFFFFF"/>
                </a:solidFill>
                <a:latin typeface="Microsoft JhengHei"/>
                <a:cs typeface="Microsoft JhengHei"/>
              </a:rPr>
              <a:t>易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成本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6600"/>
              </a:buClr>
              <a:buFont typeface="Wingdings"/>
              <a:buChar char="►"/>
            </a:pPr>
            <a:endParaRPr sz="245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税</a:t>
            </a:r>
            <a:r>
              <a:rPr dirty="0" sz="2800" spc="25" b="1">
                <a:solidFill>
                  <a:srgbClr val="FFFFFF"/>
                </a:solidFill>
                <a:latin typeface="Microsoft JhengHei"/>
                <a:cs typeface="Microsoft JhengHei"/>
              </a:rPr>
              <a:t>收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－破产的</a:t>
            </a:r>
            <a:r>
              <a:rPr dirty="0" sz="2800" spc="25" b="1">
                <a:solidFill>
                  <a:srgbClr val="FFFFFF"/>
                </a:solidFill>
                <a:latin typeface="Microsoft JhengHei"/>
                <a:cs typeface="Microsoft JhengHei"/>
              </a:rPr>
              <a:t>均</a:t>
            </a:r>
            <a:r>
              <a:rPr dirty="0" sz="2800" spc="-2170" b="1">
                <a:solidFill>
                  <a:srgbClr val="FFFFFF"/>
                </a:solidFill>
                <a:latin typeface="Microsoft JhengHei"/>
                <a:cs typeface="Microsoft JhengHei"/>
              </a:rPr>
              <a:t>衡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7139" y="639572"/>
            <a:ext cx="4100829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动</a:t>
            </a:r>
            <a:r>
              <a:rPr dirty="0" spc="25"/>
              <a:t>态</a:t>
            </a:r>
            <a:r>
              <a:rPr dirty="0" spc="5"/>
              <a:t>资本结构模型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639316"/>
            <a:ext cx="7914005" cy="48107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2390"/>
              </a:lnSpc>
              <a:spcBef>
                <a:spcPts val="90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Stiglitz(1973)</a:t>
            </a:r>
            <a:endParaRPr sz="2000">
              <a:latin typeface="宋体"/>
              <a:cs typeface="宋体"/>
            </a:endParaRPr>
          </a:p>
          <a:p>
            <a:pPr marL="356870" indent="-344805">
              <a:lnSpc>
                <a:spcPts val="2150"/>
              </a:lnSpc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假定不存在不确定性，但考虑了税收</a:t>
            </a:r>
            <a:endParaRPr sz="1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企业尽可能使用保留盈余融资，不够的话再使用债务来融资－－融资优序</a:t>
            </a:r>
            <a:endParaRPr sz="1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可观察到的杠杆比率是企业盈利性和历史投资作用的结果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Kane et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al(1984)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and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Brennan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and</a:t>
            </a:r>
            <a:r>
              <a:rPr dirty="0" sz="2000" spc="4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Schwartz(1984)</a:t>
            </a:r>
            <a:endParaRPr sz="20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0"/>
              </a:spcBef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均考虑不确定性、税收利益－破产成本，但没有考虑交易成本。</a:t>
            </a:r>
            <a:endParaRPr sz="1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企业维持相对较高的负债水平来获得税盾的好处。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ts val="2390"/>
              </a:lnSpc>
              <a:spcBef>
                <a:spcPts val="1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Fischer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et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 al(1989)－</a:t>
            </a:r>
            <a:r>
              <a:rPr dirty="0" sz="2000" spc="-35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流模型</a:t>
            </a:r>
            <a:endParaRPr sz="2000">
              <a:latin typeface="宋体"/>
              <a:cs typeface="宋体"/>
            </a:endParaRPr>
          </a:p>
          <a:p>
            <a:pPr marL="356870" indent="-344805">
              <a:lnSpc>
                <a:spcPts val="2150"/>
              </a:lnSpc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引入交易成本概念－－企业允许资本结构漂移</a:t>
            </a:r>
            <a:endParaRPr sz="18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由于交易成本的存在，企业调整资本结构是消极的－－只有当实际的资本结 构偏离目标值足够大时才进行调整</a:t>
            </a:r>
            <a:endParaRPr sz="1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即使交易成本较小，也会导致再平衡行动推迟。</a:t>
            </a:r>
            <a:endParaRPr sz="18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波动性（不确定性）将导致企业的杠杆再更大的范围内波动，并会引起目标 值的降低－－波动性与杠杆呈负相关。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ts val="2390"/>
              </a:lnSpc>
              <a:spcBef>
                <a:spcPts val="15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当前的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要模型</a:t>
            </a:r>
            <a:endParaRPr sz="2000">
              <a:latin typeface="宋体"/>
              <a:cs typeface="宋体"/>
            </a:endParaRPr>
          </a:p>
          <a:p>
            <a:pPr marL="356870" indent="-344805">
              <a:lnSpc>
                <a:spcPts val="2150"/>
              </a:lnSpc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Hennessy and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Whited(2004)</a:t>
            </a:r>
            <a:endParaRPr sz="1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Titman 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and Tsyplakov(2004)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9108" y="639572"/>
            <a:ext cx="613981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资</a:t>
            </a:r>
            <a:r>
              <a:rPr dirty="0" spc="25"/>
              <a:t>本</a:t>
            </a:r>
            <a:r>
              <a:rPr dirty="0" spc="5"/>
              <a:t>结构的信息</a:t>
            </a:r>
            <a:r>
              <a:rPr dirty="0" spc="25"/>
              <a:t>不</a:t>
            </a:r>
            <a:r>
              <a:rPr dirty="0" spc="5"/>
              <a:t>对称理论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7900" y="1625295"/>
            <a:ext cx="7261859" cy="4216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356870" marR="5080" indent="-344805">
              <a:lnSpc>
                <a:spcPct val="120200"/>
              </a:lnSpc>
              <a:spcBef>
                <a:spcPts val="114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信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息不对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理论引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了逆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向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选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择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概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念。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当 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具有充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信息的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理人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签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，信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息 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充分的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理人面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临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着逆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向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选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择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果，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因 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他不知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道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具有充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信息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人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相应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特 征是好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是坏。</a:t>
            </a:r>
            <a:endParaRPr sz="28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20000"/>
              </a:lnSpc>
              <a:spcBef>
                <a:spcPts val="695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这种信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不对称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模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型下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具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信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的代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理 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人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率先采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取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行动，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分离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均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衡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更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常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被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认为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 信号均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9108" y="639572"/>
            <a:ext cx="613981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资</a:t>
            </a:r>
            <a:r>
              <a:rPr dirty="0" spc="25"/>
              <a:t>本</a:t>
            </a:r>
            <a:r>
              <a:rPr dirty="0" spc="5"/>
              <a:t>结构的信息</a:t>
            </a:r>
            <a:r>
              <a:rPr dirty="0" spc="25"/>
              <a:t>不</a:t>
            </a:r>
            <a:r>
              <a:rPr dirty="0" spc="5"/>
              <a:t>对称理论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083" y="1527070"/>
            <a:ext cx="7895590" cy="506476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4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投资不变下的信号模型</a:t>
            </a:r>
            <a:endParaRPr sz="24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1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Ross（1977）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0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Leland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and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Pyle(1977)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Heinkel（1982）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Blazenko(1987)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John(1987)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以及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Raviv</a:t>
            </a:r>
            <a:r>
              <a:rPr dirty="0" sz="2200" spc="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and</a:t>
            </a:r>
            <a:r>
              <a:rPr dirty="0" sz="2200" spc="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Sarig(1991)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2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Brick, Frierman and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Kim(1998)</a:t>
            </a: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新增投资下的信号模型</a:t>
            </a:r>
            <a:endParaRPr sz="24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09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Myers-Majluf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 （1984）－－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模型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3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新权益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号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endParaRPr sz="22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52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新债务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新权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下的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价值信号</a:t>
            </a:r>
            <a:endParaRPr sz="22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425"/>
              </a:spcBef>
              <a:buClr>
                <a:srgbClr val="FF6600"/>
              </a:buClr>
              <a:buFont typeface="Wingdings"/>
              <a:buChar char=""/>
              <a:tabLst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Noe（1988）</a:t>
            </a:r>
            <a:endParaRPr sz="18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434"/>
              </a:spcBef>
              <a:buClr>
                <a:srgbClr val="FF6600"/>
              </a:buClr>
              <a:buFont typeface="Wingdings"/>
              <a:buChar char=""/>
              <a:tabLst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Narayanan（1988）</a:t>
            </a:r>
            <a:endParaRPr sz="18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415"/>
              </a:spcBef>
              <a:buClr>
                <a:srgbClr val="FF6600"/>
              </a:buClr>
              <a:buFont typeface="Wingdings"/>
              <a:buChar char=""/>
              <a:tabLst>
                <a:tab pos="1155700" algn="l"/>
              </a:tabLst>
            </a:pP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Brennan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and</a:t>
            </a:r>
            <a:r>
              <a:rPr dirty="0" sz="16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Kraus(1987)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Constantinides</a:t>
            </a:r>
            <a:r>
              <a:rPr dirty="0" sz="16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and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Grundy（1989）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6060" y="639572"/>
            <a:ext cx="614616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4"/>
              <a:t>Ross（1977）——</a:t>
            </a:r>
            <a:r>
              <a:rPr dirty="0" spc="5"/>
              <a:t>信号理论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439367"/>
            <a:ext cx="8078470" cy="517398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Akerlof（1970）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资本结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理论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上的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直接运用</a:t>
            </a:r>
            <a:endParaRPr sz="2800">
              <a:latin typeface="宋体"/>
              <a:cs typeface="宋体"/>
            </a:endParaRPr>
          </a:p>
          <a:p>
            <a:pPr marL="356870" marR="245745" indent="-344805">
              <a:lnSpc>
                <a:spcPct val="100699"/>
              </a:lnSpc>
              <a:spcBef>
                <a:spcPts val="64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具有充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信息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理者具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激励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通过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对债务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平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的选择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出私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人信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息的信号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好企业能够通过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足够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多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数量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而向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场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发出这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信息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号。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模型说明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实证预期</a:t>
            </a:r>
            <a:endParaRPr sz="2800">
              <a:latin typeface="宋体"/>
              <a:cs typeface="宋体"/>
            </a:endParaRPr>
          </a:p>
          <a:p>
            <a:pPr lvl="1" marL="1167765" indent="-241300">
              <a:lnSpc>
                <a:spcPct val="100000"/>
              </a:lnSpc>
              <a:spcBef>
                <a:spcPts val="565"/>
              </a:spcBef>
              <a:buClr>
                <a:srgbClr val="FF6600"/>
              </a:buClr>
              <a:buSzPct val="95833"/>
              <a:buFont typeface="Wingdings"/>
              <a:buChar char=""/>
              <a:tabLst>
                <a:tab pos="11684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企业质量与杠杆之间存在正相关性</a:t>
            </a:r>
            <a:endParaRPr sz="2400">
              <a:latin typeface="宋体"/>
              <a:cs typeface="宋体"/>
            </a:endParaRPr>
          </a:p>
          <a:p>
            <a:pPr algn="just" lvl="1" marL="1155700" marR="7620" indent="-22860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SzPct val="95833"/>
              <a:buFont typeface="Wingdings"/>
              <a:buChar char=""/>
              <a:tabLst>
                <a:tab pos="1168400" algn="l"/>
              </a:tabLst>
            </a:pP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在横截面上，企业</a:t>
            </a:r>
            <a:r>
              <a:rPr dirty="0" sz="2400" spc="9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价值将随杠杆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增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加</a:t>
            </a:r>
            <a:r>
              <a:rPr dirty="0" sz="2400" spc="70">
                <a:solidFill>
                  <a:srgbClr val="FFFFFF"/>
                </a:solidFill>
                <a:latin typeface="宋体"/>
                <a:cs typeface="宋体"/>
              </a:rPr>
              <a:t>而增加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2400" spc="165">
                <a:solidFill>
                  <a:srgbClr val="FFFFFF"/>
                </a:solidFill>
                <a:latin typeface="宋体"/>
                <a:cs typeface="宋体"/>
              </a:rPr>
              <a:t>这是因为</a:t>
            </a:r>
            <a:r>
              <a:rPr dirty="0" sz="2800" spc="145">
                <a:solidFill>
                  <a:srgbClr val="FFFFFF"/>
                </a:solidFill>
                <a:latin typeface="宋体"/>
                <a:cs typeface="宋体"/>
              </a:rPr>
              <a:t>增加了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145">
                <a:solidFill>
                  <a:srgbClr val="FFFFFF"/>
                </a:solidFill>
                <a:latin typeface="宋体"/>
                <a:cs typeface="宋体"/>
              </a:rPr>
              <a:t>杠杆增强了市场</a:t>
            </a:r>
            <a:r>
              <a:rPr dirty="0" sz="2800" spc="125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145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 值的了解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6500" y="612140"/>
            <a:ext cx="6723380" cy="6953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15965" algn="l"/>
              </a:tabLst>
            </a:pPr>
            <a:r>
              <a:rPr dirty="0" sz="4400" spc="-2160"/>
              <a:t>M</a:t>
            </a:r>
            <a:r>
              <a:rPr dirty="0" sz="4400" spc="-160"/>
              <a:t>y</a:t>
            </a:r>
            <a:r>
              <a:rPr dirty="0" sz="4400" spc="-310"/>
              <a:t>e</a:t>
            </a:r>
            <a:r>
              <a:rPr dirty="0" sz="4400" spc="470"/>
              <a:t>r</a:t>
            </a:r>
            <a:r>
              <a:rPr dirty="0" sz="4400" spc="150"/>
              <a:t>s</a:t>
            </a:r>
            <a:r>
              <a:rPr dirty="0" sz="4400" spc="-275"/>
              <a:t>（</a:t>
            </a:r>
            <a:r>
              <a:rPr dirty="0" sz="4400" spc="-155"/>
              <a:t>1</a:t>
            </a:r>
            <a:r>
              <a:rPr dirty="0" sz="4400" spc="-420"/>
              <a:t>9</a:t>
            </a:r>
            <a:r>
              <a:rPr dirty="0" sz="4400" spc="-395"/>
              <a:t>8</a:t>
            </a:r>
            <a:r>
              <a:rPr dirty="0" sz="4400" spc="-420"/>
              <a:t>4</a:t>
            </a:r>
            <a:r>
              <a:rPr dirty="0" sz="4400" spc="10"/>
              <a:t>）</a:t>
            </a:r>
            <a:r>
              <a:rPr dirty="0" sz="2800" spc="-130"/>
              <a:t>－－</a:t>
            </a:r>
            <a:r>
              <a:rPr dirty="0" sz="2800" spc="-70"/>
              <a:t>P</a:t>
            </a:r>
            <a:r>
              <a:rPr dirty="0" sz="2800" spc="-190"/>
              <a:t>e</a:t>
            </a:r>
            <a:r>
              <a:rPr dirty="0" sz="2800" spc="-5"/>
              <a:t>c</a:t>
            </a:r>
            <a:r>
              <a:rPr dirty="0" sz="2800" spc="-155"/>
              <a:t>k</a:t>
            </a:r>
            <a:r>
              <a:rPr dirty="0" sz="2800" spc="640"/>
              <a:t>i</a:t>
            </a:r>
            <a:r>
              <a:rPr dirty="0" sz="2800" spc="-340"/>
              <a:t>n</a:t>
            </a:r>
            <a:r>
              <a:rPr dirty="0" sz="2800" spc="-409"/>
              <a:t>g</a:t>
            </a:r>
            <a:r>
              <a:rPr dirty="0" sz="2800"/>
              <a:t>	</a:t>
            </a:r>
            <a:r>
              <a:rPr dirty="0" sz="2800" spc="-875"/>
              <a:t>O</a:t>
            </a:r>
            <a:r>
              <a:rPr dirty="0" sz="2800" spc="280"/>
              <a:t>r</a:t>
            </a:r>
            <a:r>
              <a:rPr dirty="0" sz="2800" spc="-400"/>
              <a:t>d</a:t>
            </a:r>
            <a:r>
              <a:rPr dirty="0" sz="2800" spc="-190"/>
              <a:t>e</a:t>
            </a:r>
            <a:r>
              <a:rPr dirty="0" sz="2800" spc="295"/>
              <a:t>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2891" y="1639316"/>
            <a:ext cx="8194040" cy="446786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356870" marR="5080" indent="-344805">
              <a:lnSpc>
                <a:spcPct val="98900"/>
              </a:lnSpc>
              <a:spcBef>
                <a:spcPts val="14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简单的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序理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论：由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信息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不对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称引起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逆 向选择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所以</a:t>
            </a:r>
            <a:r>
              <a:rPr dirty="0" sz="2950" spc="-145">
                <a:solidFill>
                  <a:srgbClr val="FFFFFF"/>
                </a:solidFill>
                <a:latin typeface="宋体"/>
                <a:cs typeface="宋体"/>
              </a:rPr>
              <a:t>在其他</a:t>
            </a:r>
            <a:r>
              <a:rPr dirty="0" sz="2950" spc="-170">
                <a:solidFill>
                  <a:srgbClr val="FFFFFF"/>
                </a:solidFill>
                <a:latin typeface="宋体"/>
                <a:cs typeface="宋体"/>
              </a:rPr>
              <a:t>条</a:t>
            </a:r>
            <a:r>
              <a:rPr dirty="0" sz="2950" spc="-145">
                <a:solidFill>
                  <a:srgbClr val="FFFFFF"/>
                </a:solidFill>
                <a:latin typeface="宋体"/>
                <a:cs typeface="宋体"/>
              </a:rPr>
              <a:t>件不</a:t>
            </a:r>
            <a:r>
              <a:rPr dirty="0" sz="2950" spc="-170">
                <a:solidFill>
                  <a:srgbClr val="FFFFFF"/>
                </a:solidFill>
                <a:latin typeface="宋体"/>
                <a:cs typeface="宋体"/>
              </a:rPr>
              <a:t>变下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，企业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于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新增投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要而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融资时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首先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偏好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于内源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然后是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全债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务融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资与风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融资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，最后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 权益融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－－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融资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优序</a:t>
            </a:r>
            <a:endParaRPr sz="2800">
              <a:latin typeface="宋体"/>
              <a:cs typeface="宋体"/>
            </a:endParaRPr>
          </a:p>
          <a:p>
            <a:pPr algn="just" marL="35687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模型说明</a:t>
            </a:r>
            <a:endParaRPr sz="2800">
              <a:latin typeface="宋体"/>
              <a:cs typeface="宋体"/>
            </a:endParaRPr>
          </a:p>
          <a:p>
            <a:pPr algn="just" marL="356870" marR="361315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Arial"/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修正的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序理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论：在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虑当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期与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未来的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 需要后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保持融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弹性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其他条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 变下，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能在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当期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首先筹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内源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之后，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考 虑采用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融资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，然后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考虑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使用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债务融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516" y="2564079"/>
            <a:ext cx="7758430" cy="1049655"/>
          </a:xfrm>
          <a:prstGeom prst="rect"/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b="0">
                <a:solidFill>
                  <a:srgbClr val="FFFFFF"/>
                </a:solidFill>
                <a:latin typeface="Arial"/>
                <a:cs typeface="Arial"/>
              </a:rPr>
              <a:t>PO</a:t>
            </a:r>
            <a:r>
              <a:rPr dirty="0" sz="2800" b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spc="-640" b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 b="0">
                <a:solidFill>
                  <a:srgbClr val="FFFFFF"/>
                </a:solidFill>
                <a:latin typeface="宋体"/>
                <a:cs typeface="宋体"/>
              </a:rPr>
              <a:t>Pecking Order</a:t>
            </a:r>
            <a:r>
              <a:rPr dirty="0" sz="2000" spc="-220" b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宋体"/>
                <a:cs typeface="宋体"/>
              </a:rPr>
              <a:t>）？</a:t>
            </a:r>
            <a:r>
              <a:rPr dirty="0" sz="2800" spc="5" b="0">
                <a:solidFill>
                  <a:srgbClr val="FFFFFF"/>
                </a:solidFill>
                <a:latin typeface="宋体"/>
                <a:cs typeface="宋体"/>
              </a:rPr>
              <a:t>还是</a:t>
            </a:r>
            <a:r>
              <a:rPr dirty="0" sz="2800" b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800" b="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800" b="0">
                <a:solidFill>
                  <a:srgbClr val="FFFFFF"/>
                </a:solidFill>
                <a:latin typeface="Arial"/>
                <a:cs typeface="Arial"/>
              </a:rPr>
              <a:t>Trade</a:t>
            </a:r>
            <a:r>
              <a:rPr dirty="0" sz="2800" spc="-2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b="0">
                <a:solidFill>
                  <a:srgbClr val="FFFFFF"/>
                </a:solidFill>
                <a:latin typeface="Arial"/>
                <a:cs typeface="Arial"/>
              </a:rPr>
              <a:t>Off</a:t>
            </a:r>
            <a:r>
              <a:rPr dirty="0" sz="2800" b="0">
                <a:solidFill>
                  <a:srgbClr val="FFFFFF"/>
                </a:solidFill>
                <a:latin typeface="宋体"/>
                <a:cs typeface="宋体"/>
              </a:rPr>
              <a:t>）？</a:t>
            </a:r>
            <a:endParaRPr sz="2800">
              <a:latin typeface="宋体"/>
              <a:cs typeface="宋体"/>
            </a:endParaRPr>
          </a:p>
          <a:p>
            <a:pPr marL="4901565">
              <a:lnSpc>
                <a:spcPct val="100000"/>
              </a:lnSpc>
              <a:spcBef>
                <a:spcPts val="670"/>
              </a:spcBef>
            </a:pPr>
            <a:r>
              <a:rPr dirty="0" sz="2800" spc="-20" b="0">
                <a:solidFill>
                  <a:srgbClr val="FFFFFF"/>
                </a:solidFill>
                <a:latin typeface="宋体"/>
                <a:cs typeface="宋体"/>
              </a:rPr>
              <a:t>－－</a:t>
            </a:r>
            <a:r>
              <a:rPr dirty="0" sz="2800" spc="5" b="0">
                <a:solidFill>
                  <a:srgbClr val="FFFFFF"/>
                </a:solidFill>
                <a:latin typeface="宋体"/>
                <a:cs typeface="宋体"/>
              </a:rPr>
              <a:t>仍是一</a:t>
            </a:r>
            <a:r>
              <a:rPr dirty="0" sz="2800" spc="-20" b="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5" b="0">
                <a:solidFill>
                  <a:srgbClr val="FFFFFF"/>
                </a:solidFill>
                <a:latin typeface="宋体"/>
                <a:cs typeface="宋体"/>
              </a:rPr>
              <a:t>迷！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2023-10-22T13:36:29Z</dcterms:created>
  <dcterms:modified xsi:type="dcterms:W3CDTF">2023-10-22T13:36:29Z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2006-06-02T00:00:00Z</vt:filetime>
  </property>
  <property fmtid="{D5CDD505-2E9C-101B-9397-08002B2CF9AE}" pid="3" name="LastSaved">
    <vt:filetime>2006-06-02T00:00:00Z</vt:filetime>
  </property>
</Properties>
</file>